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0" r:id="rId6"/>
    <p:sldId id="261" r:id="rId7"/>
    <p:sldId id="351" r:id="rId8"/>
    <p:sldId id="262" r:id="rId9"/>
    <p:sldId id="352" r:id="rId10"/>
    <p:sldId id="263" r:id="rId11"/>
    <p:sldId id="264" r:id="rId12"/>
    <p:sldId id="265" r:id="rId13"/>
    <p:sldId id="354" r:id="rId14"/>
    <p:sldId id="266" r:id="rId15"/>
    <p:sldId id="267" r:id="rId16"/>
    <p:sldId id="268" r:id="rId17"/>
    <p:sldId id="350" r:id="rId18"/>
    <p:sldId id="355" r:id="rId19"/>
    <p:sldId id="269" r:id="rId20"/>
    <p:sldId id="356" r:id="rId21"/>
    <p:sldId id="270" r:id="rId22"/>
    <p:sldId id="271" r:id="rId23"/>
    <p:sldId id="272" r:id="rId24"/>
    <p:sldId id="357" r:id="rId25"/>
    <p:sldId id="273" r:id="rId26"/>
    <p:sldId id="274" r:id="rId27"/>
    <p:sldId id="359" r:id="rId28"/>
    <p:sldId id="360" r:id="rId29"/>
    <p:sldId id="361" r:id="rId30"/>
    <p:sldId id="348" r:id="rId31"/>
    <p:sldId id="341" r:id="rId32"/>
    <p:sldId id="342" r:id="rId33"/>
    <p:sldId id="343" r:id="rId34"/>
    <p:sldId id="344" r:id="rId35"/>
    <p:sldId id="345" r:id="rId36"/>
    <p:sldId id="346" r:id="rId37"/>
    <p:sldId id="347" r:id="rId38"/>
    <p:sldId id="362" r:id="rId39"/>
    <p:sldId id="363" r:id="rId40"/>
    <p:sldId id="364"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 id="293" r:id="rId56"/>
    <p:sldId id="294" r:id="rId57"/>
    <p:sldId id="295" r:id="rId58"/>
    <p:sldId id="365" r:id="rId59"/>
    <p:sldId id="297" r:id="rId60"/>
    <p:sldId id="349" r:id="rId61"/>
    <p:sldId id="372" r:id="rId62"/>
    <p:sldId id="299" r:id="rId63"/>
    <p:sldId id="300" r:id="rId64"/>
    <p:sldId id="301" r:id="rId65"/>
    <p:sldId id="302" r:id="rId66"/>
    <p:sldId id="369" r:id="rId67"/>
    <p:sldId id="370" r:id="rId68"/>
    <p:sldId id="371" r:id="rId69"/>
    <p:sldId id="366" r:id="rId70"/>
    <p:sldId id="304" r:id="rId71"/>
    <p:sldId id="368" r:id="rId72"/>
    <p:sldId id="305" r:id="rId73"/>
    <p:sldId id="309" r:id="rId74"/>
    <p:sldId id="310" r:id="rId75"/>
    <p:sldId id="311" r:id="rId76"/>
    <p:sldId id="312" r:id="rId77"/>
    <p:sldId id="313" r:id="rId78"/>
    <p:sldId id="314" r:id="rId79"/>
    <p:sldId id="315" r:id="rId80"/>
    <p:sldId id="316" r:id="rId81"/>
    <p:sldId id="317" r:id="rId82"/>
    <p:sldId id="319" r:id="rId83"/>
    <p:sldId id="320" r:id="rId84"/>
    <p:sldId id="321" r:id="rId85"/>
    <p:sldId id="322" r:id="rId86"/>
    <p:sldId id="323" r:id="rId87"/>
    <p:sldId id="324" r:id="rId88"/>
    <p:sldId id="325" r:id="rId89"/>
    <p:sldId id="326" r:id="rId90"/>
    <p:sldId id="327" r:id="rId91"/>
    <p:sldId id="328" r:id="rId92"/>
    <p:sldId id="330" r:id="rId93"/>
    <p:sldId id="331" r:id="rId94"/>
    <p:sldId id="332" r:id="rId95"/>
    <p:sldId id="333" r:id="rId96"/>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sym typeface="Symbol" panose="05050102010706020507" pitchFamily="18" charset="2"/>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15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howGuides="1">
      <p:cViewPr varScale="1">
        <p:scale>
          <a:sx n="68" d="100"/>
          <a:sy n="68" d="100"/>
        </p:scale>
        <p:origin x="1224" y="78"/>
      </p:cViewPr>
      <p:guideLst>
        <p:guide orient="horz" pos="2160"/>
        <p:guide pos="2880"/>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1.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2"/>
          <p:cNvSpPr>
            <a:spLocks noChangeArrowheads="1"/>
          </p:cNvSpPr>
          <p:nvPr/>
        </p:nvSpPr>
        <p:spPr bwMode="ltGray">
          <a:xfrm>
            <a:off x="0" y="6611938"/>
            <a:ext cx="9144000" cy="2603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1pPr>
            <a:lvl2pPr marL="742950" indent="-28575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2pPr>
            <a:lvl3pPr marL="11430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3pPr>
            <a:lvl4pPr marL="16002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4pPr>
            <a:lvl5pPr marL="20574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5pPr>
            <a:lvl6pPr marL="25146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6pPr>
            <a:lvl7pPr marL="29718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7pPr>
            <a:lvl8pPr marL="34290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8pPr>
            <a:lvl9pPr marL="38862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9pPr>
          </a:lstStyle>
          <a:p>
            <a:pPr eaLnBrk="1" hangingPunct="1">
              <a:defRPr/>
            </a:pPr>
            <a:endParaRPr lang="zh-CN" altLang="en-US" dirty="0" smtClean="0">
              <a:latin typeface="Times New Roman" panose="02020603050405020304" pitchFamily="18" charset="0"/>
              <a:ea typeface="华文楷体" panose="02010600040101010101" pitchFamily="2" charset="-122"/>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376238" y="228600"/>
            <a:ext cx="11477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1pPr>
            <a:lvl2pPr marL="742950" indent="-28575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2pPr>
            <a:lvl3pPr marL="11430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3pPr>
            <a:lvl4pPr marL="16002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4pPr>
            <a:lvl5pPr marL="20574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5pPr>
            <a:lvl6pPr marL="25146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6pPr>
            <a:lvl7pPr marL="29718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7pPr>
            <a:lvl8pPr marL="34290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8pPr>
            <a:lvl9pPr marL="38862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9pPr>
          </a:lstStyle>
          <a:p>
            <a:pPr eaLnBrk="1" hangingPunct="1">
              <a:spcBef>
                <a:spcPct val="0"/>
              </a:spcBef>
              <a:buClrTx/>
              <a:buFontTx/>
              <a:buNone/>
              <a:defRPr/>
            </a:pPr>
            <a:r>
              <a:rPr lang="en-US" altLang="zh-CN" sz="1600" b="1" dirty="0" smtClean="0">
                <a:solidFill>
                  <a:schemeClr val="tx2"/>
                </a:solidFill>
                <a:latin typeface="Times New Roman" panose="02020603050405020304" pitchFamily="18" charset="0"/>
                <a:ea typeface="华文楷体" panose="02010600040101010101" pitchFamily="2" charset="-122"/>
              </a:rPr>
              <a:t>BUPT</a:t>
            </a:r>
            <a:endParaRPr lang="en-US" altLang="zh-CN" b="1" dirty="0" smtClean="0">
              <a:latin typeface="Times New Roman" panose="02020603050405020304" pitchFamily="18" charset="0"/>
              <a:ea typeface="华文楷体" panose="02010600040101010101" pitchFamily="2" charset="-122"/>
            </a:endParaRPr>
          </a:p>
        </p:txBody>
      </p:sp>
      <p:sp>
        <p:nvSpPr>
          <p:cNvPr id="7172" name="Rectangle 4"/>
          <p:cNvSpPr>
            <a:spLocks noGrp="1" noChangeArrowheads="1"/>
          </p:cNvSpPr>
          <p:nvPr>
            <p:ph type="subTitle" idx="1"/>
          </p:nvPr>
        </p:nvSpPr>
        <p:spPr bwMode="gray">
          <a:xfrm>
            <a:off x="1371600" y="5867400"/>
            <a:ext cx="6553200" cy="533400"/>
          </a:xfrm>
        </p:spPr>
        <p:txBody>
          <a:bodyPr/>
          <a:lstStyle>
            <a:lvl1pPr marL="0" indent="0" algn="ctr">
              <a:buFont typeface="Wingdings" panose="05000000000000000000" pitchFamily="2" charset="2"/>
              <a:buNone/>
              <a:defRPr sz="1800" b="1">
                <a:solidFill>
                  <a:schemeClr val="tx2"/>
                </a:solidFill>
                <a:latin typeface="Verdana" panose="020B0604030504040204" pitchFamily="34" charset="0"/>
              </a:defRPr>
            </a:lvl1pPr>
          </a:lstStyle>
          <a:p>
            <a:pPr lvl="0"/>
            <a:r>
              <a:rPr lang="en-US" altLang="zh-CN" noProof="0" smtClean="0"/>
              <a:t>Click to edit Master subtitle style</a:t>
            </a:r>
            <a:endParaRPr lang="en-US" altLang="zh-CN" noProof="0" smtClean="0"/>
          </a:p>
        </p:txBody>
      </p:sp>
      <p:sp>
        <p:nvSpPr>
          <p:cNvPr id="7174" name="Rectangle 6"/>
          <p:cNvSpPr>
            <a:spLocks noGrp="1" noChangeArrowheads="1"/>
          </p:cNvSpPr>
          <p:nvPr>
            <p:ph type="ctrTitle" sz="quarter"/>
          </p:nvPr>
        </p:nvSpPr>
        <p:spPr bwMode="gray">
          <a:xfrm>
            <a:off x="0" y="4868863"/>
            <a:ext cx="9144000" cy="720725"/>
          </a:xfrm>
          <a:gradFill rotWithShape="1">
            <a:gsLst>
              <a:gs pos="0">
                <a:schemeClr val="tx1">
                  <a:gamma/>
                  <a:shade val="46275"/>
                  <a:invGamma/>
                </a:schemeClr>
              </a:gs>
              <a:gs pos="50000">
                <a:schemeClr val="tx1"/>
              </a:gs>
              <a:gs pos="100000">
                <a:schemeClr val="tx1">
                  <a:gamma/>
                  <a:shade val="46275"/>
                  <a:invGamma/>
                </a:schemeClr>
              </a:gs>
            </a:gsLst>
            <a:lin ang="0" scaled="1"/>
          </a:gradFill>
          <a:extLst>
            <a:ext uri="{AF507438-7753-43E0-B8FC-AC1667EBCBE1}">
              <a14:hiddenEffects xmlns:a14="http://schemas.microsoft.com/office/drawing/2010/main">
                <a:effectLst>
                  <a:outerShdw dist="81320" dir="3080412" algn="ctr" rotWithShape="0">
                    <a:schemeClr val="tx2">
                      <a:alpha val="50000"/>
                    </a:schemeClr>
                  </a:outerShdw>
                </a:effectLst>
              </a14:hiddenEffects>
            </a:ext>
          </a:extLst>
        </p:spPr>
        <p:txBody>
          <a:bodyPr/>
          <a:lstStyle>
            <a:lvl1pPr>
              <a:defRPr sz="4000"/>
            </a:lvl1pPr>
          </a:lstStyle>
          <a:p>
            <a:pPr lvl="0"/>
            <a:r>
              <a:rPr lang="zh-CN" altLang="en-US" noProof="0" smtClean="0"/>
              <a:t>单击此处编辑母版标题样式</a:t>
            </a:r>
            <a:endParaRPr lang="en-US" altLang="ko-KR"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5683A769-C302-430F-9ABE-345DB49C081E}"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smtClean="0"/>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smtClean="0"/>
              <a:t>编辑母版文本样式</a:t>
            </a:r>
            <a:endParaRPr lang="zh-CN" altLang="en-US" noProof="1" smtClean="0"/>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1335ABCF-BBB8-4364-8274-C1F43591ECAC}"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hasCustomPrompt="1"/>
          </p:nvPr>
        </p:nvSpPr>
        <p:spPr>
          <a:xfrm>
            <a:off x="457200" y="1152525"/>
            <a:ext cx="4038600" cy="5248275"/>
          </a:xfrm>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hasCustomPrompt="1"/>
          </p:nvPr>
        </p:nvSpPr>
        <p:spPr>
          <a:xfrm>
            <a:off x="4648200" y="1152525"/>
            <a:ext cx="4038600" cy="5248275"/>
          </a:xfrm>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B32B85F4-EC37-4DDF-8108-69DFAB65DEB0}"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编辑母版文本样式</a:t>
            </a:r>
            <a:endParaRPr lang="zh-CN" altLang="en-US" noProof="1" smtClean="0"/>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编辑母版文本样式</a:t>
            </a:r>
            <a:endParaRPr lang="zh-CN" altLang="en-US" noProof="1" smtClean="0"/>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8" name="Rectangle 5"/>
          <p:cNvSpPr>
            <a:spLocks noGrp="1" noChangeArrowheads="1"/>
          </p:cNvSpPr>
          <p:nvPr>
            <p:ph type="sldNum" sz="quarter" idx="11"/>
          </p:nvPr>
        </p:nvSpPr>
        <p:spPr/>
        <p:txBody>
          <a:bodyPr/>
          <a:lstStyle>
            <a:lvl1pPr>
              <a:defRPr/>
            </a:lvl1pPr>
          </a:lstStyle>
          <a:p>
            <a:pPr>
              <a:defRPr/>
            </a:pPr>
            <a:fld id="{FBD553D5-53BD-46AA-A049-3FCB8D5D6E68}" type="slidenum">
              <a:rPr lang="en-US" altLang="zh-CN"/>
            </a:fld>
            <a:endParaRPr lang="en-US" altLang="zh-CN"/>
          </a:p>
        </p:txBody>
      </p:sp>
      <p:sp>
        <p:nvSpPr>
          <p:cNvPr id="9"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4" name="Rectangle 5"/>
          <p:cNvSpPr>
            <a:spLocks noGrp="1" noChangeArrowheads="1"/>
          </p:cNvSpPr>
          <p:nvPr>
            <p:ph type="sldNum" sz="quarter" idx="11"/>
          </p:nvPr>
        </p:nvSpPr>
        <p:spPr/>
        <p:txBody>
          <a:bodyPr/>
          <a:lstStyle>
            <a:lvl1pPr>
              <a:defRPr/>
            </a:lvl1pPr>
          </a:lstStyle>
          <a:p>
            <a:pPr>
              <a:defRPr/>
            </a:pPr>
            <a:fld id="{A5A83AAA-89A0-41C4-B29E-B7A7EBC5D1A2}" type="slidenum">
              <a:rPr lang="en-US" altLang="zh-CN"/>
            </a:fld>
            <a:endParaRPr lang="en-US" altLang="zh-CN"/>
          </a:p>
        </p:txBody>
      </p:sp>
      <p:sp>
        <p:nvSpPr>
          <p:cNvPr id="5"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3" name="Rectangle 5"/>
          <p:cNvSpPr>
            <a:spLocks noGrp="1" noChangeArrowheads="1"/>
          </p:cNvSpPr>
          <p:nvPr>
            <p:ph type="sldNum" sz="quarter" idx="11"/>
          </p:nvPr>
        </p:nvSpPr>
        <p:spPr/>
        <p:txBody>
          <a:bodyPr/>
          <a:lstStyle>
            <a:lvl1pPr>
              <a:defRPr/>
            </a:lvl1pPr>
          </a:lstStyle>
          <a:p>
            <a:pPr>
              <a:defRPr/>
            </a:pPr>
            <a:fld id="{D6DCAC4F-F33F-4856-9B21-D4830B398AB4}" type="slidenum">
              <a:rPr lang="en-US" altLang="zh-CN"/>
            </a:fld>
            <a:endParaRPr lang="en-US" altLang="zh-CN"/>
          </a:p>
        </p:txBody>
      </p:sp>
      <p:sp>
        <p:nvSpPr>
          <p:cNvPr id="4"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编辑母版文本样式</a:t>
            </a:r>
            <a:endParaRPr lang="zh-CN" altLang="en-US" noProof="1"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9005AACA-5194-4515-9B3C-389A52B30B59}"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编辑母版文本样式</a:t>
            </a:r>
            <a:endParaRPr lang="zh-CN" altLang="en-US" noProof="1"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CA247A29-C217-4C5D-875B-89CAFA05F502}"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hasCustomPrompt="1"/>
          </p:nvPr>
        </p:nvSpPr>
        <p:spPr/>
        <p:txBody>
          <a:bodyPr vert="eaVert"/>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B2A86B59-BB1F-4A09-BC97-0A1E7C92E9ED}"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hasCustomPrompt="1"/>
          </p:nvPr>
        </p:nvSpPr>
        <p:spPr>
          <a:xfrm>
            <a:off x="304800" y="152400"/>
            <a:ext cx="6191250" cy="6248400"/>
          </a:xfrm>
        </p:spPr>
        <p:txBody>
          <a:bodyPr vert="eaVert"/>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1DB8E4A2-501C-43D4-B3C1-CCA1514AB5AF}"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hasCustomPrompt="1"/>
          </p:nvPr>
        </p:nvSpPr>
        <p:spPr>
          <a:xfrm>
            <a:off x="457200" y="1152525"/>
            <a:ext cx="4038600" cy="5248275"/>
          </a:xfrm>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联机映像占位符 3"/>
          <p:cNvSpPr>
            <a:spLocks noGrp="1"/>
          </p:cNvSpPr>
          <p:nvPr>
            <p:ph type="clipArt" sz="half" idx="2"/>
          </p:nvPr>
        </p:nvSpPr>
        <p:spPr>
          <a:xfrm>
            <a:off x="4648200" y="1152525"/>
            <a:ext cx="4038600" cy="5248275"/>
          </a:xfrm>
        </p:spPr>
        <p:txBody>
          <a:bodyPr/>
          <a:lstStyle/>
          <a:p>
            <a:pPr lvl="0"/>
            <a:endParaRPr lang="zh-CN" altLang="en-US" noProof="0"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C7BE0959-EC8F-4044-84A3-A41DCB75E6C5}"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hasCustomPrompt="1"/>
          </p:nvPr>
        </p:nvSpPr>
        <p:spPr>
          <a:xfrm>
            <a:off x="457200" y="1152525"/>
            <a:ext cx="4038600" cy="5248275"/>
          </a:xfrm>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hasCustomPrompt="1"/>
          </p:nvPr>
        </p:nvSpPr>
        <p:spPr>
          <a:xfrm>
            <a:off x="4648200" y="1152525"/>
            <a:ext cx="4038600" cy="5248275"/>
          </a:xfrm>
        </p:spPr>
        <p:txBody>
          <a:bodyPr/>
          <a:lstStyle/>
          <a:p>
            <a:pPr lvl="0"/>
            <a:r>
              <a:rPr lang="zh-CN" altLang="en-US" noProof="1" smtClean="0"/>
              <a:t>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ABF87BA3-EDEE-449A-8761-16D5FB415FBF}"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ltGray">
          <a:xfrm>
            <a:off x="0" y="0"/>
            <a:ext cx="9144000" cy="836613"/>
          </a:xfrm>
          <a:prstGeom prst="rect">
            <a:avLst/>
          </a:prstGeom>
          <a:gradFill rotWithShape="1">
            <a:gsLst>
              <a:gs pos="0">
                <a:schemeClr val="tx1">
                  <a:gamma/>
                  <a:shade val="46275"/>
                  <a:invGamma/>
                </a:schemeClr>
              </a:gs>
              <a:gs pos="50000">
                <a:schemeClr val="tx1"/>
              </a:gs>
              <a:gs pos="100000">
                <a:schemeClr val="tx1">
                  <a:gamma/>
                  <a:shade val="46275"/>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spcBef>
                <a:spcPct val="20000"/>
              </a:spcBef>
              <a:buClr>
                <a:schemeClr val="hlink"/>
              </a:buClr>
              <a:buFont typeface="Wingdings" panose="05000000000000000000" pitchFamily="2" charset="2"/>
              <a:buChar char="v"/>
              <a:defRPr/>
            </a:pPr>
            <a:endParaRPr lang="zh-CN" altLang="en-US" dirty="0">
              <a:latin typeface="Times New Roman" panose="02020603050405020304" pitchFamily="18" charset="0"/>
              <a:ea typeface="华文楷体" panose="02010600040101010101" pitchFamily="2" charset="-122"/>
            </a:endParaRPr>
          </a:p>
        </p:txBody>
      </p:sp>
      <p:sp>
        <p:nvSpPr>
          <p:cNvPr id="1027" name="Rectangle 3"/>
          <p:cNvSpPr>
            <a:spLocks noGrp="1" noChangeArrowheads="1"/>
          </p:cNvSpPr>
          <p:nvPr>
            <p:ph type="body" idx="4294967295"/>
          </p:nvPr>
        </p:nvSpPr>
        <p:spPr bwMode="auto">
          <a:xfrm>
            <a:off x="457200" y="11525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dirty="0" smtClean="0"/>
              <a:t>Click to edit Master text styles</a:t>
            </a:r>
            <a:endParaRPr lang="en-US" altLang="zh-CN" dirty="0" smtClean="0"/>
          </a:p>
          <a:p>
            <a:pPr lvl="1"/>
            <a:r>
              <a:rPr lang="en-US" altLang="zh-CN" dirty="0" smtClean="0"/>
              <a:t>Second level</a:t>
            </a:r>
            <a:endParaRPr lang="en-US" altLang="zh-CN" dirty="0" smtClean="0"/>
          </a:p>
          <a:p>
            <a:pPr lvl="2"/>
            <a:r>
              <a:rPr lang="en-US" altLang="zh-CN" dirty="0" smtClean="0"/>
              <a:t>Third level</a:t>
            </a:r>
            <a:endParaRPr lang="en-US" altLang="zh-CN" dirty="0" smtClean="0"/>
          </a:p>
          <a:p>
            <a:pPr lvl="3"/>
            <a:r>
              <a:rPr lang="en-US" altLang="zh-CN" dirty="0" smtClean="0"/>
              <a:t>Fourth level</a:t>
            </a:r>
            <a:endParaRPr lang="en-US" altLang="zh-CN" dirty="0" smtClean="0"/>
          </a:p>
          <a:p>
            <a:pPr lvl="4"/>
            <a:r>
              <a:rPr lang="en-US" altLang="zh-CN" dirty="0" smtClean="0"/>
              <a:t>Fifth level</a:t>
            </a:r>
            <a:endParaRPr lang="en-US" altLang="zh-CN" dirty="0" smtClean="0"/>
          </a:p>
        </p:txBody>
      </p:sp>
      <p:sp>
        <p:nvSpPr>
          <p:cNvPr id="6148" name="Rectangle 4"/>
          <p:cNvSpPr>
            <a:spLocks noGrp="1" noChangeArrowheads="1"/>
          </p:cNvSpPr>
          <p:nvPr>
            <p:ph type="ftr" sz="quarter" idx="3"/>
          </p:nvPr>
        </p:nvSpPr>
        <p:spPr bwMode="auto">
          <a:xfrm>
            <a:off x="3851275" y="6461125"/>
            <a:ext cx="49117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buClrTx/>
              <a:buFontTx/>
              <a:buNone/>
              <a:defRPr sz="1200" b="1">
                <a:latin typeface="+mj-lt"/>
                <a:ea typeface="华文楷体" panose="02010600040101010101" pitchFamily="2" charset="-122"/>
              </a:defRPr>
            </a:lvl1pPr>
          </a:lstStyle>
          <a:p>
            <a:pPr>
              <a:defRPr/>
            </a:pPr>
            <a:r>
              <a:rPr lang="en-US" altLang="zh-CN" dirty="0" smtClean="0"/>
              <a:t>BUPT SCST</a:t>
            </a:r>
            <a:endParaRPr lang="en-US" altLang="zh-CN" dirty="0"/>
          </a:p>
        </p:txBody>
      </p:sp>
      <p:sp>
        <p:nvSpPr>
          <p:cNvPr id="6149" name="Rectangle 5"/>
          <p:cNvSpPr>
            <a:spLocks noGrp="1" noChangeArrowheads="1"/>
          </p:cNvSpPr>
          <p:nvPr>
            <p:ph type="sldNum" sz="quarter" idx="4"/>
          </p:nvPr>
        </p:nvSpPr>
        <p:spPr bwMode="auto">
          <a:xfrm>
            <a:off x="107950" y="6421438"/>
            <a:ext cx="79216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spcBef>
                <a:spcPct val="0"/>
              </a:spcBef>
              <a:buClrTx/>
              <a:buFontTx/>
              <a:buNone/>
              <a:defRPr sz="1200">
                <a:latin typeface="+mj-lt"/>
                <a:ea typeface="华文楷体" panose="02010600040101010101" pitchFamily="2" charset="-122"/>
              </a:defRPr>
            </a:lvl1pPr>
          </a:lstStyle>
          <a:p>
            <a:pPr>
              <a:defRPr/>
            </a:pPr>
            <a:fld id="{B0AF3E39-B851-415F-A56E-BDAABF2160E5}" type="slidenum">
              <a:rPr lang="en-US" altLang="zh-CN" smtClean="0"/>
            </a:fld>
            <a:endParaRPr lang="en-US" altLang="zh-CN" dirty="0"/>
          </a:p>
        </p:txBody>
      </p:sp>
      <p:sp>
        <p:nvSpPr>
          <p:cNvPr id="1030" name="Rectangle 6"/>
          <p:cNvSpPr>
            <a:spLocks noGrp="1" noChangeArrowheads="1"/>
          </p:cNvSpPr>
          <p:nvPr>
            <p:ph type="title" idx="9"/>
          </p:nvPr>
        </p:nvSpPr>
        <p:spPr bwMode="auto">
          <a:xfrm>
            <a:off x="304800" y="152400"/>
            <a:ext cx="8458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31" name="Text Box 7"/>
          <p:cNvSpPr txBox="1">
            <a:spLocks noChangeArrowheads="1"/>
          </p:cNvSpPr>
          <p:nvPr/>
        </p:nvSpPr>
        <p:spPr bwMode="gray">
          <a:xfrm>
            <a:off x="0" y="838200"/>
            <a:ext cx="9144000" cy="24447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1pPr>
            <a:lvl2pPr marL="742950" indent="-28575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2pPr>
            <a:lvl3pPr marL="11430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3pPr>
            <a:lvl4pPr marL="16002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4pPr>
            <a:lvl5pPr marL="2057400" indent="-228600">
              <a:spcBef>
                <a:spcPct val="20000"/>
              </a:spcBef>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5pPr>
            <a:lvl6pPr marL="25146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6pPr>
            <a:lvl7pPr marL="29718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7pPr>
            <a:lvl8pPr marL="34290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8pPr>
            <a:lvl9pPr marL="3886200" indent="-228600" eaLnBrk="0" fontAlgn="base" hangingPunct="0">
              <a:spcBef>
                <a:spcPct val="20000"/>
              </a:spcBef>
              <a:spcAft>
                <a:spcPct val="0"/>
              </a:spcAft>
              <a:buClr>
                <a:schemeClr val="hlink"/>
              </a:buClr>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sym typeface="Symbol" panose="05050102010706020507" pitchFamily="18" charset="2"/>
              </a:defRPr>
            </a:lvl9pPr>
          </a:lstStyle>
          <a:p>
            <a:pPr eaLnBrk="1" hangingPunct="1">
              <a:spcBef>
                <a:spcPct val="50000"/>
              </a:spcBef>
              <a:buClrTx/>
              <a:buFontTx/>
              <a:buNone/>
              <a:defRPr/>
            </a:pPr>
            <a:endParaRPr lang="zh-CN" altLang="zh-CN" sz="1000" b="1" dirty="0" smtClean="0">
              <a:solidFill>
                <a:schemeClr val="bg1"/>
              </a:solidFill>
              <a:latin typeface="Verdana" panose="020B0604030504040204" pitchFamily="34" charset="0"/>
              <a:ea typeface="华文楷体" panose="02010600040101010101" pitchFamily="2" charset="-122"/>
            </a:endParaRPr>
          </a:p>
        </p:txBody>
      </p:sp>
      <p:sp>
        <p:nvSpPr>
          <p:cNvPr id="6152" name="Rectangle 8"/>
          <p:cNvSpPr>
            <a:spLocks noGrp="1" noChangeArrowheads="1"/>
          </p:cNvSpPr>
          <p:nvPr>
            <p:ph type="dt" sz="half" idx="2"/>
          </p:nvPr>
        </p:nvSpPr>
        <p:spPr bwMode="gray">
          <a:xfrm>
            <a:off x="14288" y="838200"/>
            <a:ext cx="8458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spcBef>
                <a:spcPct val="0"/>
              </a:spcBef>
              <a:buClrTx/>
              <a:buFontTx/>
              <a:buNone/>
              <a:defRPr sz="1000" b="1">
                <a:solidFill>
                  <a:schemeClr val="bg1"/>
                </a:solidFill>
                <a:latin typeface="+mj-lt"/>
                <a:ea typeface="华文楷体" panose="02010600040101010101" pitchFamily="2" charset="-122"/>
              </a:defRPr>
            </a:lvl1pPr>
          </a:lstStyle>
          <a:p>
            <a:pPr>
              <a:defRPr/>
            </a:pPr>
            <a:r>
              <a:rPr lang="en-US" altLang="zh-CN" dirty="0" smtClean="0"/>
              <a:t>BUPT</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p:txStyles>
    <p:titleStyle>
      <a:lvl1pPr algn="ctr" rtl="0" eaLnBrk="0" fontAlgn="base" hangingPunct="0">
        <a:spcBef>
          <a:spcPct val="0"/>
        </a:spcBef>
        <a:spcAft>
          <a:spcPct val="0"/>
        </a:spcAft>
        <a:defRPr sz="3200" b="1" kern="1200">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fontAlgn="base">
        <a:spcBef>
          <a:spcPct val="0"/>
        </a:spcBef>
        <a:spcAft>
          <a:spcPct val="0"/>
        </a:spcAft>
        <a:defRPr sz="3200" b="1">
          <a:solidFill>
            <a:schemeClr val="bg1"/>
          </a:solidFill>
          <a:latin typeface="Verdana" panose="020B0604030504040204" pitchFamily="34" charset="0"/>
        </a:defRPr>
      </a:lvl6pPr>
      <a:lvl7pPr marL="914400" algn="ctr" rtl="0" fontAlgn="base">
        <a:spcBef>
          <a:spcPct val="0"/>
        </a:spcBef>
        <a:spcAft>
          <a:spcPct val="0"/>
        </a:spcAft>
        <a:defRPr sz="3200" b="1">
          <a:solidFill>
            <a:schemeClr val="bg1"/>
          </a:solidFill>
          <a:latin typeface="Verdana" panose="020B0604030504040204" pitchFamily="34" charset="0"/>
        </a:defRPr>
      </a:lvl7pPr>
      <a:lvl8pPr marL="1371600" algn="ctr" rtl="0" fontAlgn="base">
        <a:spcBef>
          <a:spcPct val="0"/>
        </a:spcBef>
        <a:spcAft>
          <a:spcPct val="0"/>
        </a:spcAft>
        <a:defRPr sz="3200" b="1">
          <a:solidFill>
            <a:schemeClr val="bg1"/>
          </a:solidFill>
          <a:latin typeface="Verdana" panose="020B0604030504040204" pitchFamily="34" charset="0"/>
        </a:defRPr>
      </a:lvl8pPr>
      <a:lvl9pPr marL="1828800" algn="ctr" rtl="0" fontAlgn="base">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9" Type="http://schemas.openxmlformats.org/officeDocument/2006/relationships/image" Target="../media/image18.emf"/><Relationship Id="rId8" Type="http://schemas.openxmlformats.org/officeDocument/2006/relationships/image" Target="../media/image17.emf"/><Relationship Id="rId7" Type="http://schemas.openxmlformats.org/officeDocument/2006/relationships/image" Target="../media/image16.emf"/><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 Id="rId3" Type="http://schemas.openxmlformats.org/officeDocument/2006/relationships/image" Target="../media/image12.emf"/><Relationship Id="rId23" Type="http://schemas.openxmlformats.org/officeDocument/2006/relationships/slideLayout" Target="../slideLayouts/slideLayout2.xml"/><Relationship Id="rId22" Type="http://schemas.openxmlformats.org/officeDocument/2006/relationships/image" Target="../media/image31.emf"/><Relationship Id="rId21" Type="http://schemas.openxmlformats.org/officeDocument/2006/relationships/image" Target="../media/image30.emf"/><Relationship Id="rId20" Type="http://schemas.openxmlformats.org/officeDocument/2006/relationships/image" Target="../media/image29.emf"/><Relationship Id="rId2" Type="http://schemas.openxmlformats.org/officeDocument/2006/relationships/image" Target="../media/image11.emf"/><Relationship Id="rId19" Type="http://schemas.openxmlformats.org/officeDocument/2006/relationships/image" Target="../media/image28.emf"/><Relationship Id="rId18" Type="http://schemas.openxmlformats.org/officeDocument/2006/relationships/image" Target="../media/image27.emf"/><Relationship Id="rId17" Type="http://schemas.openxmlformats.org/officeDocument/2006/relationships/image" Target="../media/image26.emf"/><Relationship Id="rId16" Type="http://schemas.openxmlformats.org/officeDocument/2006/relationships/image" Target="../media/image25.emf"/><Relationship Id="rId15" Type="http://schemas.openxmlformats.org/officeDocument/2006/relationships/image" Target="../media/image24.emf"/><Relationship Id="rId14" Type="http://schemas.openxmlformats.org/officeDocument/2006/relationships/image" Target="../media/image23.emf"/><Relationship Id="rId13" Type="http://schemas.openxmlformats.org/officeDocument/2006/relationships/image" Target="../media/image22.emf"/><Relationship Id="rId12" Type="http://schemas.openxmlformats.org/officeDocument/2006/relationships/image" Target="../media/image21.emf"/><Relationship Id="rId11" Type="http://schemas.openxmlformats.org/officeDocument/2006/relationships/image" Target="../media/image20.emf"/><Relationship Id="rId10" Type="http://schemas.openxmlformats.org/officeDocument/2006/relationships/image" Target="../media/image19.emf"/><Relationship Id="rId1" Type="http://schemas.openxmlformats.org/officeDocument/2006/relationships/image" Target="../media/image10.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9" Type="http://schemas.openxmlformats.org/officeDocument/2006/relationships/image" Target="../media/image40.emf"/><Relationship Id="rId8" Type="http://schemas.openxmlformats.org/officeDocument/2006/relationships/image" Target="../media/image39.emf"/><Relationship Id="rId7" Type="http://schemas.openxmlformats.org/officeDocument/2006/relationships/image" Target="../media/image38.emf"/><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 Id="rId3" Type="http://schemas.openxmlformats.org/officeDocument/2006/relationships/image" Target="../media/image34.emf"/><Relationship Id="rId2" Type="http://schemas.openxmlformats.org/officeDocument/2006/relationships/image" Target="../media/image33.emf"/><Relationship Id="rId15" Type="http://schemas.openxmlformats.org/officeDocument/2006/relationships/slideLayout" Target="../slideLayouts/slideLayout2.xml"/><Relationship Id="rId14" Type="http://schemas.openxmlformats.org/officeDocument/2006/relationships/image" Target="../media/image45.emf"/><Relationship Id="rId13" Type="http://schemas.openxmlformats.org/officeDocument/2006/relationships/image" Target="../media/image44.emf"/><Relationship Id="rId12" Type="http://schemas.openxmlformats.org/officeDocument/2006/relationships/image" Target="../media/image43.emf"/><Relationship Id="rId11" Type="http://schemas.openxmlformats.org/officeDocument/2006/relationships/image" Target="../media/image42.emf"/><Relationship Id="rId10" Type="http://schemas.openxmlformats.org/officeDocument/2006/relationships/image" Target="../media/image41.emf"/><Relationship Id="rId1" Type="http://schemas.openxmlformats.org/officeDocument/2006/relationships/image" Target="../media/image32.emf"/></Relationships>
</file>

<file path=ppt/slides/_rels/slide28.xml.rels><?xml version="1.0" encoding="UTF-8" standalone="yes"?>
<Relationships xmlns="http://schemas.openxmlformats.org/package/2006/relationships"><Relationship Id="rId9" Type="http://schemas.openxmlformats.org/officeDocument/2006/relationships/image" Target="../media/image54.emf"/><Relationship Id="rId8" Type="http://schemas.openxmlformats.org/officeDocument/2006/relationships/image" Target="../media/image53.emf"/><Relationship Id="rId7" Type="http://schemas.openxmlformats.org/officeDocument/2006/relationships/image" Target="../media/image52.emf"/><Relationship Id="rId6"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 Id="rId3" Type="http://schemas.openxmlformats.org/officeDocument/2006/relationships/image" Target="../media/image48.emf"/><Relationship Id="rId2" Type="http://schemas.openxmlformats.org/officeDocument/2006/relationships/image" Target="../media/image47.emf"/><Relationship Id="rId15" Type="http://schemas.openxmlformats.org/officeDocument/2006/relationships/slideLayout" Target="../slideLayouts/slideLayout2.xml"/><Relationship Id="rId14" Type="http://schemas.openxmlformats.org/officeDocument/2006/relationships/image" Target="../media/image59.emf"/><Relationship Id="rId13" Type="http://schemas.openxmlformats.org/officeDocument/2006/relationships/image" Target="../media/image58.emf"/><Relationship Id="rId12" Type="http://schemas.openxmlformats.org/officeDocument/2006/relationships/image" Target="../media/image57.emf"/><Relationship Id="rId11" Type="http://schemas.openxmlformats.org/officeDocument/2006/relationships/image" Target="../media/image56.emf"/><Relationship Id="rId10" Type="http://schemas.openxmlformats.org/officeDocument/2006/relationships/image" Target="../media/image55.emf"/><Relationship Id="rId1" Type="http://schemas.openxmlformats.org/officeDocument/2006/relationships/image" Target="../media/image46.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emf"/></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4.emf"/><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image" Target="../media/image61.emf"/></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0.emf"/><Relationship Id="rId5" Type="http://schemas.openxmlformats.org/officeDocument/2006/relationships/image" Target="../media/image69.emf"/><Relationship Id="rId4" Type="http://schemas.openxmlformats.org/officeDocument/2006/relationships/image" Target="../media/image68.emf"/><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image" Target="../media/image65.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2.wav"/></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72.wmf"/><Relationship Id="rId1" Type="http://schemas.openxmlformats.org/officeDocument/2006/relationships/oleObject" Target="../embeddings/oleObject2.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3.wav"/></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e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5.emf"/><Relationship Id="rId1" Type="http://schemas.openxmlformats.org/officeDocument/2006/relationships/oleObject" Target="../embeddings/oleObject3.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13.xml"/><Relationship Id="rId3" Type="http://schemas.openxmlformats.org/officeDocument/2006/relationships/image" Target="../media/image81.wmf"/><Relationship Id="rId2" Type="http://schemas.openxmlformats.org/officeDocument/2006/relationships/oleObject" Target="../embeddings/oleObject4.bin"/><Relationship Id="rId1" Type="http://schemas.openxmlformats.org/officeDocument/2006/relationships/image" Target="../media/image80.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sz="quarter" hasCustomPrompt="1"/>
          </p:nvPr>
        </p:nvSpPr>
        <p:spPr/>
        <p:txBody>
          <a:bodyPr/>
          <a:lstStyle/>
          <a:p>
            <a:pPr eaLnBrk="1" hangingPunct="1">
              <a:defRPr/>
            </a:pPr>
            <a:r>
              <a:rPr lang="zh-CN" altLang="en-US" dirty="0" smtClean="0">
                <a:ea typeface="华文楷体" panose="02010600040101010101" pitchFamily="2" charset="-122"/>
              </a:rPr>
              <a:t>第六章    树与二叉树</a:t>
            </a:r>
            <a:endParaRPr lang="zh-CN" altLang="en-US" dirty="0" smtClean="0">
              <a:ea typeface="华文楷体" panose="02010600040101010101" pitchFamily="2" charset="-122"/>
            </a:endParaRPr>
          </a:p>
        </p:txBody>
      </p:sp>
      <p:sp>
        <p:nvSpPr>
          <p:cNvPr id="3075" name="Rectangle 3"/>
          <p:cNvSpPr>
            <a:spLocks noGrp="1"/>
          </p:cNvSpPr>
          <p:nvPr>
            <p:ph type="subTitle" idx="1"/>
          </p:nvPr>
        </p:nvSpPr>
        <p:spPr bwMode="auto"/>
        <p:txBody>
          <a:bodyPr/>
          <a:lstStyle/>
          <a:p>
            <a:pPr eaLnBrk="1" hangingPunct="1"/>
            <a:r>
              <a:rPr lang="zh-CN" altLang="en-US" noProof="1" smtClean="0">
                <a:ea typeface="华文楷体" panose="02010600040101010101" pitchFamily="2" charset="-122"/>
              </a:rPr>
              <a:t>杨震    计算机学院</a:t>
            </a:r>
            <a:endParaRPr lang="zh-CN" altLang="en-US" noProof="1" smtClean="0">
              <a:ea typeface="华文楷体"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4100"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6.1 </a:t>
            </a:r>
            <a:r>
              <a:rPr lang="zh-CN" altLang="en-US" sz="2800" dirty="0" smtClean="0">
                <a:ea typeface="华文楷体" panose="02010600040101010101" pitchFamily="2" charset="-122"/>
              </a:rPr>
              <a:t>树的结构及基本操作</a:t>
            </a:r>
            <a:endParaRPr lang="zh-CN" altLang="en-US" sz="2800" dirty="0" smtClean="0">
              <a:ea typeface="华文楷体" panose="02010600040101010101" pitchFamily="2" charset="-122"/>
            </a:endParaRPr>
          </a:p>
        </p:txBody>
      </p:sp>
      <p:sp>
        <p:nvSpPr>
          <p:cNvPr id="4101" name="Rectangle 3"/>
          <p:cNvSpPr>
            <a:spLocks noGrp="1" noChangeArrowheads="1"/>
          </p:cNvSpPr>
          <p:nvPr>
            <p:ph idx="1"/>
          </p:nvPr>
        </p:nvSpPr>
        <p:spPr/>
        <p:txBody>
          <a:bodyPr/>
          <a:lstStyle/>
          <a:p>
            <a:pPr eaLnBrk="1" hangingPunct="1">
              <a:buFont typeface="Wingdings" panose="05000000000000000000" pitchFamily="2" charset="2"/>
              <a:buNone/>
            </a:pPr>
            <a:r>
              <a:rPr lang="zh-CN" altLang="en-US" sz="2800" b="1" dirty="0" smtClean="0">
                <a:solidFill>
                  <a:schemeClr val="accent2"/>
                </a:solidFill>
                <a:ea typeface="华文楷体" panose="02010600040101010101" pitchFamily="2" charset="-122"/>
              </a:rPr>
              <a:t>树</a:t>
            </a:r>
            <a:r>
              <a:rPr lang="zh-CN" altLang="en-US" sz="2800" dirty="0" smtClean="0">
                <a:ea typeface="华文楷体" panose="02010600040101010101" pitchFamily="2" charset="-122"/>
              </a:rPr>
              <a:t>是一类重要的</a:t>
            </a:r>
            <a:r>
              <a:rPr lang="zh-CN" altLang="en-US" sz="2800" dirty="0" smtClean="0">
                <a:solidFill>
                  <a:schemeClr val="accent2"/>
                </a:solidFill>
                <a:ea typeface="华文楷体" panose="02010600040101010101" pitchFamily="2" charset="-122"/>
              </a:rPr>
              <a:t>非线性</a:t>
            </a:r>
            <a:r>
              <a:rPr lang="zh-CN" altLang="en-US" sz="2800" dirty="0" smtClean="0">
                <a:ea typeface="华文楷体" panose="02010600040101010101" pitchFamily="2" charset="-122"/>
              </a:rPr>
              <a:t>数据结构，是以</a:t>
            </a:r>
            <a:r>
              <a:rPr lang="zh-CN" altLang="en-US" sz="2800" dirty="0" smtClean="0">
                <a:solidFill>
                  <a:schemeClr val="accent2"/>
                </a:solidFill>
                <a:ea typeface="华文楷体" panose="02010600040101010101" pitchFamily="2" charset="-122"/>
              </a:rPr>
              <a:t>分支关系</a:t>
            </a:r>
            <a:r>
              <a:rPr lang="zh-CN" altLang="en-US" sz="2800" dirty="0" smtClean="0">
                <a:ea typeface="华文楷体" panose="02010600040101010101" pitchFamily="2" charset="-122"/>
              </a:rPr>
              <a:t>定义的层次结构。</a:t>
            </a:r>
            <a:endParaRPr lang="zh-CN" altLang="en-US" sz="2800" dirty="0" smtClean="0">
              <a:ea typeface="华文楷体" panose="02010600040101010101" pitchFamily="2" charset="-122"/>
            </a:endParaRPr>
          </a:p>
          <a:p>
            <a:pPr eaLnBrk="1" hangingPunct="1">
              <a:buFont typeface="Wingdings" panose="05000000000000000000" pitchFamily="2" charset="2"/>
              <a:buNone/>
            </a:pPr>
            <a:endParaRPr lang="zh-CN" altLang="en-US" sz="28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2800" b="1" dirty="0" smtClean="0">
                <a:solidFill>
                  <a:schemeClr val="accent2"/>
                </a:solidFill>
                <a:ea typeface="华文楷体" panose="02010600040101010101" pitchFamily="2" charset="-122"/>
              </a:rPr>
              <a:t>[</a:t>
            </a:r>
            <a:r>
              <a:rPr lang="zh-CN" altLang="en-US" sz="2800" b="1" dirty="0" smtClean="0">
                <a:solidFill>
                  <a:schemeClr val="accent2"/>
                </a:solidFill>
                <a:ea typeface="华文楷体" panose="02010600040101010101" pitchFamily="2" charset="-122"/>
              </a:rPr>
              <a:t>树的定义</a:t>
            </a:r>
            <a:r>
              <a:rPr lang="en-US" altLang="zh-CN" sz="2800" b="1" dirty="0" smtClean="0">
                <a:solidFill>
                  <a:schemeClr val="accent2"/>
                </a:solidFill>
                <a:ea typeface="华文楷体" panose="02010600040101010101" pitchFamily="2" charset="-122"/>
              </a:rPr>
              <a:t>]</a:t>
            </a:r>
            <a:endParaRPr lang="en-US" altLang="zh-CN" sz="28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800" b="1" dirty="0" smtClean="0">
                <a:solidFill>
                  <a:srgbClr val="FF3300"/>
                </a:solidFill>
                <a:ea typeface="华文楷体" panose="02010600040101010101" pitchFamily="2" charset="-122"/>
              </a:rPr>
              <a:t>树</a:t>
            </a:r>
            <a:r>
              <a:rPr lang="zh-CN" altLang="en-US" sz="2800" dirty="0" smtClean="0">
                <a:ea typeface="华文楷体" panose="02010600040101010101" pitchFamily="2" charset="-122"/>
              </a:rPr>
              <a:t>是由</a:t>
            </a:r>
            <a:r>
              <a:rPr lang="en-US" altLang="zh-CN" sz="2800" dirty="0" smtClean="0">
                <a:ea typeface="华文楷体" panose="02010600040101010101" pitchFamily="2" charset="-122"/>
              </a:rPr>
              <a:t>n(n</a:t>
            </a:r>
            <a:r>
              <a:rPr lang="en-US" altLang="zh-CN" sz="2800" dirty="0" smtClean="0">
                <a:ea typeface="华文楷体" panose="02010600040101010101" pitchFamily="2" charset="-122"/>
                <a:sym typeface="Symbol" panose="05050102010706020507" pitchFamily="18" charset="2"/>
              </a:rPr>
              <a:t>0)</a:t>
            </a:r>
            <a:r>
              <a:rPr lang="zh-CN" altLang="en-US" sz="2800" dirty="0" smtClean="0">
                <a:ea typeface="华文楷体" panose="02010600040101010101" pitchFamily="2" charset="-122"/>
                <a:sym typeface="Symbol" panose="05050102010706020507" pitchFamily="18" charset="2"/>
              </a:rPr>
              <a:t>个结点组成的有限集合</a:t>
            </a:r>
            <a:r>
              <a:rPr lang="en-US" altLang="zh-CN" sz="2800" dirty="0" smtClean="0">
                <a:ea typeface="华文楷体" panose="02010600040101010101" pitchFamily="2" charset="-122"/>
                <a:sym typeface="Symbol" panose="05050102010706020507" pitchFamily="18" charset="2"/>
              </a:rPr>
              <a:t>T</a:t>
            </a:r>
            <a:r>
              <a:rPr lang="zh-CN" altLang="en-US" sz="2800" dirty="0" smtClean="0">
                <a:ea typeface="华文楷体" panose="02010600040101010101" pitchFamily="2" charset="-122"/>
                <a:sym typeface="Symbol" panose="05050102010706020507" pitchFamily="18" charset="2"/>
              </a:rPr>
              <a:t>，</a:t>
            </a:r>
            <a:r>
              <a:rPr lang="zh-CN" altLang="zh-CN" sz="2800" dirty="0" smtClean="0">
                <a:ea typeface="华文楷体" panose="02010600040101010101" pitchFamily="2" charset="-122"/>
                <a:sym typeface="Symbol" panose="05050102010706020507" pitchFamily="18" charset="2"/>
              </a:rPr>
              <a:t>非空树</a:t>
            </a:r>
            <a:r>
              <a:rPr lang="zh-CN" altLang="en-US" sz="2800" dirty="0" smtClean="0">
                <a:ea typeface="华文楷体" panose="02010600040101010101" pitchFamily="2" charset="-122"/>
                <a:sym typeface="Symbol" panose="05050102010706020507" pitchFamily="18" charset="2"/>
              </a:rPr>
              <a:t>满足：</a:t>
            </a:r>
            <a:endParaRPr lang="zh-CN" altLang="en-US" sz="2800" dirty="0" smtClean="0">
              <a:ea typeface="华文楷体" panose="02010600040101010101" pitchFamily="2" charset="-122"/>
            </a:endParaRPr>
          </a:p>
          <a:p>
            <a:pPr eaLnBrk="1" hangingPunct="1">
              <a:buFont typeface="Wingdings" panose="05000000000000000000" pitchFamily="2" charset="2"/>
              <a:buNone/>
            </a:pPr>
            <a:r>
              <a:rPr lang="zh-CN" altLang="en-US" sz="2800" dirty="0" smtClean="0">
                <a:ea typeface="华文楷体" panose="02010600040101010101" pitchFamily="2" charset="-122"/>
              </a:rPr>
              <a:t>    </a:t>
            </a:r>
            <a:r>
              <a:rPr lang="en-US" altLang="zh-CN" sz="2800" dirty="0" smtClean="0">
                <a:ea typeface="华文楷体" panose="02010600040101010101" pitchFamily="2" charset="-122"/>
              </a:rPr>
              <a:t>1)</a:t>
            </a:r>
            <a:r>
              <a:rPr lang="zh-CN" altLang="en-US" sz="2800" dirty="0" smtClean="0">
                <a:ea typeface="华文楷体" panose="02010600040101010101" pitchFamily="2" charset="-122"/>
              </a:rPr>
              <a:t>有一个称之为</a:t>
            </a:r>
            <a:r>
              <a:rPr lang="zh-CN" altLang="en-US" sz="2800" b="1" dirty="0" smtClean="0">
                <a:solidFill>
                  <a:srgbClr val="FF3300"/>
                </a:solidFill>
                <a:ea typeface="华文楷体" panose="02010600040101010101" pitchFamily="2" charset="-122"/>
              </a:rPr>
              <a:t>根</a:t>
            </a:r>
            <a:r>
              <a:rPr lang="en-US" altLang="zh-CN" sz="2800" b="1" dirty="0" smtClean="0">
                <a:ea typeface="华文楷体" panose="02010600040101010101" pitchFamily="2" charset="-122"/>
              </a:rPr>
              <a:t>(root)</a:t>
            </a:r>
            <a:r>
              <a:rPr lang="zh-CN" altLang="en-US" sz="2800" dirty="0" smtClean="0">
                <a:ea typeface="华文楷体" panose="02010600040101010101" pitchFamily="2" charset="-122"/>
              </a:rPr>
              <a:t>的结点。</a:t>
            </a:r>
            <a:endParaRPr lang="zh-CN" altLang="en-US" sz="2800" dirty="0" smtClean="0">
              <a:ea typeface="华文楷体" panose="02010600040101010101" pitchFamily="2" charset="-122"/>
            </a:endParaRPr>
          </a:p>
          <a:p>
            <a:pPr eaLnBrk="1" hangingPunct="1">
              <a:buFont typeface="Wingdings" panose="05000000000000000000" pitchFamily="2" charset="2"/>
              <a:buNone/>
            </a:pPr>
            <a:r>
              <a:rPr lang="zh-CN" altLang="en-US" sz="2800" dirty="0" smtClean="0">
                <a:ea typeface="华文楷体" panose="02010600040101010101" pitchFamily="2" charset="-122"/>
              </a:rPr>
              <a:t>    </a:t>
            </a:r>
            <a:r>
              <a:rPr lang="en-US" altLang="zh-CN" sz="2800" dirty="0" smtClean="0">
                <a:ea typeface="华文楷体" panose="02010600040101010101" pitchFamily="2" charset="-122"/>
              </a:rPr>
              <a:t>2)</a:t>
            </a:r>
            <a:r>
              <a:rPr lang="zh-CN" altLang="en-US" sz="2800" dirty="0" smtClean="0">
                <a:ea typeface="华文楷体" panose="02010600040101010101" pitchFamily="2" charset="-122"/>
              </a:rPr>
              <a:t>除根以外的其余结点被分成</a:t>
            </a:r>
            <a:r>
              <a:rPr lang="en-US" altLang="zh-CN" sz="2800" dirty="0" smtClean="0">
                <a:ea typeface="华文楷体" panose="02010600040101010101" pitchFamily="2" charset="-122"/>
              </a:rPr>
              <a:t>m(0</a:t>
            </a:r>
            <a:r>
              <a:rPr lang="en-US" altLang="zh-CN" sz="2800" dirty="0" smtClean="0">
                <a:ea typeface="华文楷体" panose="02010600040101010101" pitchFamily="2" charset="-122"/>
                <a:sym typeface="Symbol" panose="05050102010706020507" pitchFamily="18" charset="2"/>
              </a:rPr>
              <a:t>m&lt;n)</a:t>
            </a:r>
            <a:r>
              <a:rPr lang="zh-CN" altLang="en-US" sz="2800" dirty="0" smtClean="0">
                <a:ea typeface="华文楷体" panose="02010600040101010101" pitchFamily="2" charset="-122"/>
                <a:sym typeface="Symbol" panose="05050102010706020507" pitchFamily="18" charset="2"/>
              </a:rPr>
              <a:t>个互不相交的集合</a:t>
            </a:r>
            <a:r>
              <a:rPr lang="en-US" altLang="zh-CN" sz="2800" dirty="0" smtClean="0">
                <a:ea typeface="华文楷体" panose="02010600040101010101" pitchFamily="2" charset="-122"/>
                <a:sym typeface="Symbol" panose="05050102010706020507" pitchFamily="18" charset="2"/>
              </a:rPr>
              <a:t>T</a:t>
            </a:r>
            <a:r>
              <a:rPr lang="en-US" altLang="zh-CN" sz="2800" baseline="-25000" dirty="0" smtClean="0">
                <a:ea typeface="华文楷体" panose="02010600040101010101" pitchFamily="2" charset="-122"/>
                <a:sym typeface="Symbol" panose="05050102010706020507" pitchFamily="18" charset="2"/>
              </a:rPr>
              <a:t>1</a:t>
            </a: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T</a:t>
            </a:r>
            <a:r>
              <a:rPr lang="en-US" altLang="zh-CN" sz="2800" baseline="-25000" dirty="0" smtClean="0">
                <a:ea typeface="华文楷体" panose="02010600040101010101" pitchFamily="2" charset="-122"/>
                <a:sym typeface="Symbol" panose="05050102010706020507" pitchFamily="18" charset="2"/>
              </a:rPr>
              <a:t>2</a:t>
            </a:r>
            <a:r>
              <a:rPr lang="en-US" altLang="zh-CN" sz="2800" dirty="0" smtClean="0">
                <a:ea typeface="华文楷体" panose="02010600040101010101" pitchFamily="2" charset="-122"/>
                <a:sym typeface="Symbol" panose="05050102010706020507" pitchFamily="18" charset="2"/>
              </a:rPr>
              <a:t> </a:t>
            </a: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T</a:t>
            </a:r>
            <a:r>
              <a:rPr lang="en-US" altLang="zh-CN" sz="2800" baseline="-25000" dirty="0" smtClean="0">
                <a:ea typeface="华文楷体" panose="02010600040101010101" pitchFamily="2" charset="-122"/>
                <a:sym typeface="Symbol" panose="05050102010706020507" pitchFamily="18" charset="2"/>
              </a:rPr>
              <a:t>m</a:t>
            </a:r>
            <a:r>
              <a:rPr lang="zh-CN" altLang="en-US" sz="2800" dirty="0" smtClean="0">
                <a:ea typeface="华文楷体" panose="02010600040101010101" pitchFamily="2" charset="-122"/>
                <a:sym typeface="Symbol" panose="05050102010706020507" pitchFamily="18" charset="2"/>
              </a:rPr>
              <a:t>，其中每一个集合本身又是一棵树，且称为根的</a:t>
            </a:r>
            <a:r>
              <a:rPr lang="zh-CN" altLang="en-US" sz="2800" b="1" dirty="0" smtClean="0">
                <a:solidFill>
                  <a:srgbClr val="FF3300"/>
                </a:solidFill>
                <a:ea typeface="华文楷体" panose="02010600040101010101" pitchFamily="2" charset="-122"/>
                <a:sym typeface="Symbol" panose="05050102010706020507" pitchFamily="18" charset="2"/>
              </a:rPr>
              <a:t>子树</a:t>
            </a:r>
            <a:r>
              <a:rPr lang="zh-CN" altLang="en-US" sz="2800" dirty="0" smtClean="0">
                <a:ea typeface="华文楷体" panose="02010600040101010101" pitchFamily="2" charset="-122"/>
                <a:sym typeface="Symbol" panose="05050102010706020507" pitchFamily="18" charset="2"/>
              </a:rPr>
              <a:t>。</a:t>
            </a:r>
            <a:endParaRPr lang="zh-CN" altLang="en-US" sz="2800" dirty="0" smtClean="0">
              <a:ea typeface="华文楷体" panose="02010600040101010101" pitchFamily="2" charset="-122"/>
              <a:sym typeface="Symbol" panose="05050102010706020507" pitchFamily="18" charset="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页脚占位符 4"/>
          <p:cNvSpPr>
            <a:spLocks noGrp="1"/>
          </p:cNvSpPr>
          <p:nvPr>
            <p:ph type="ftr" sz="quarter" idx="10"/>
          </p:nvPr>
        </p:nvSpPr>
        <p:spPr/>
        <p:txBody>
          <a:bodyPr/>
          <a:lstStyle/>
          <a:p>
            <a:pPr>
              <a:defRPr/>
            </a:pPr>
            <a:r>
              <a:rPr lang="en-US" altLang="zh-CN"/>
              <a:t>BUPT SCST</a:t>
            </a:r>
            <a:endParaRPr lang="en-US" altLang="zh-CN"/>
          </a:p>
        </p:txBody>
      </p:sp>
      <p:sp>
        <p:nvSpPr>
          <p:cNvPr id="38" name="日期占位符 6"/>
          <p:cNvSpPr>
            <a:spLocks noGrp="1"/>
          </p:cNvSpPr>
          <p:nvPr>
            <p:ph type="dt" sz="quarter" idx="12"/>
          </p:nvPr>
        </p:nvSpPr>
        <p:spPr/>
        <p:txBody>
          <a:bodyPr/>
          <a:lstStyle/>
          <a:p>
            <a:pPr>
              <a:defRPr/>
            </a:pPr>
            <a:r>
              <a:rPr lang="en-US" altLang="zh-CN"/>
              <a:t>BUPT</a:t>
            </a:r>
            <a:endParaRPr lang="en-US" altLang="zh-CN"/>
          </a:p>
        </p:txBody>
      </p:sp>
      <p:sp>
        <p:nvSpPr>
          <p:cNvPr id="5124" name="Rectangle 37"/>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125" name="Rectangle 3"/>
          <p:cNvSpPr>
            <a:spLocks noGrp="1" noChangeArrowheads="1"/>
          </p:cNvSpPr>
          <p:nvPr>
            <p:ph type="body" sz="half" idx="1"/>
          </p:nvPr>
        </p:nvSpPr>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树的特点</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p:txBody>
      </p:sp>
      <p:sp>
        <p:nvSpPr>
          <p:cNvPr id="5126" name="Text Box 4"/>
          <p:cNvSpPr txBox="1">
            <a:spLocks noChangeArrowheads="1"/>
          </p:cNvSpPr>
          <p:nvPr/>
        </p:nvSpPr>
        <p:spPr bwMode="auto">
          <a:xfrm>
            <a:off x="2184400" y="2057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5127" name="Text Box 5"/>
          <p:cNvSpPr txBox="1">
            <a:spLocks noChangeArrowheads="1"/>
          </p:cNvSpPr>
          <p:nvPr/>
        </p:nvSpPr>
        <p:spPr bwMode="auto">
          <a:xfrm>
            <a:off x="1117600" y="32004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           C            D</a:t>
            </a:r>
            <a:endParaRPr lang="en-US" altLang="zh-CN" sz="2400" dirty="0">
              <a:latin typeface="Times New Roman" panose="02020603050405020304" pitchFamily="18" charset="0"/>
              <a:ea typeface="华文楷体" panose="02010600040101010101" pitchFamily="2" charset="-122"/>
            </a:endParaRPr>
          </a:p>
        </p:txBody>
      </p:sp>
      <p:sp>
        <p:nvSpPr>
          <p:cNvPr id="5128" name="Text Box 6"/>
          <p:cNvSpPr txBox="1">
            <a:spLocks noChangeArrowheads="1"/>
          </p:cNvSpPr>
          <p:nvPr/>
        </p:nvSpPr>
        <p:spPr bwMode="auto">
          <a:xfrm>
            <a:off x="584200" y="419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    F     G             H        I</a:t>
            </a:r>
            <a:endParaRPr lang="en-US" altLang="zh-CN" sz="2400" dirty="0">
              <a:latin typeface="Times New Roman" panose="02020603050405020304" pitchFamily="18" charset="0"/>
              <a:ea typeface="华文楷体" panose="02010600040101010101" pitchFamily="2" charset="-122"/>
            </a:endParaRPr>
          </a:p>
        </p:txBody>
      </p:sp>
      <p:sp>
        <p:nvSpPr>
          <p:cNvPr id="5129" name="Text Box 7"/>
          <p:cNvSpPr txBox="1">
            <a:spLocks noChangeArrowheads="1"/>
          </p:cNvSpPr>
          <p:nvPr/>
        </p:nvSpPr>
        <p:spPr bwMode="auto">
          <a:xfrm>
            <a:off x="1117600" y="5181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J</a:t>
            </a:r>
            <a:endParaRPr lang="en-US" altLang="zh-CN" sz="2400" dirty="0">
              <a:latin typeface="Times New Roman" panose="02020603050405020304" pitchFamily="18" charset="0"/>
              <a:ea typeface="华文楷体" panose="02010600040101010101" pitchFamily="2" charset="-122"/>
            </a:endParaRPr>
          </a:p>
        </p:txBody>
      </p:sp>
      <p:sp>
        <p:nvSpPr>
          <p:cNvPr id="5130" name="Oval 8"/>
          <p:cNvSpPr>
            <a:spLocks noChangeArrowheads="1"/>
          </p:cNvSpPr>
          <p:nvPr/>
        </p:nvSpPr>
        <p:spPr bwMode="auto">
          <a:xfrm>
            <a:off x="2184400" y="2057400"/>
            <a:ext cx="3810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1" name="Oval 9"/>
          <p:cNvSpPr>
            <a:spLocks noChangeArrowheads="1"/>
          </p:cNvSpPr>
          <p:nvPr/>
        </p:nvSpPr>
        <p:spPr bwMode="auto">
          <a:xfrm>
            <a:off x="1117600" y="32004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2" name="Oval 10"/>
          <p:cNvSpPr>
            <a:spLocks noChangeArrowheads="1"/>
          </p:cNvSpPr>
          <p:nvPr/>
        </p:nvSpPr>
        <p:spPr bwMode="auto">
          <a:xfrm>
            <a:off x="3251200" y="32004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3" name="Oval 11"/>
          <p:cNvSpPr>
            <a:spLocks noChangeArrowheads="1"/>
          </p:cNvSpPr>
          <p:nvPr/>
        </p:nvSpPr>
        <p:spPr bwMode="auto">
          <a:xfrm>
            <a:off x="2108200" y="32004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4" name="Oval 12"/>
          <p:cNvSpPr>
            <a:spLocks noChangeArrowheads="1"/>
          </p:cNvSpPr>
          <p:nvPr/>
        </p:nvSpPr>
        <p:spPr bwMode="auto">
          <a:xfrm>
            <a:off x="584200" y="4191000"/>
            <a:ext cx="3810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5" name="Oval 13"/>
          <p:cNvSpPr>
            <a:spLocks noChangeArrowheads="1"/>
          </p:cNvSpPr>
          <p:nvPr/>
        </p:nvSpPr>
        <p:spPr bwMode="auto">
          <a:xfrm>
            <a:off x="1117600" y="41910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6" name="Oval 14"/>
          <p:cNvSpPr>
            <a:spLocks noChangeArrowheads="1"/>
          </p:cNvSpPr>
          <p:nvPr/>
        </p:nvSpPr>
        <p:spPr bwMode="auto">
          <a:xfrm>
            <a:off x="1651000" y="41910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7" name="Oval 15"/>
          <p:cNvSpPr>
            <a:spLocks noChangeArrowheads="1"/>
          </p:cNvSpPr>
          <p:nvPr/>
        </p:nvSpPr>
        <p:spPr bwMode="auto">
          <a:xfrm>
            <a:off x="2870200" y="41910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8" name="Oval 16"/>
          <p:cNvSpPr>
            <a:spLocks noChangeArrowheads="1"/>
          </p:cNvSpPr>
          <p:nvPr/>
        </p:nvSpPr>
        <p:spPr bwMode="auto">
          <a:xfrm>
            <a:off x="3632200" y="41910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39" name="Oval 17"/>
          <p:cNvSpPr>
            <a:spLocks noChangeArrowheads="1"/>
          </p:cNvSpPr>
          <p:nvPr/>
        </p:nvSpPr>
        <p:spPr bwMode="auto">
          <a:xfrm>
            <a:off x="1117600" y="5181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40" name="Line 18"/>
          <p:cNvSpPr>
            <a:spLocks noChangeShapeType="1"/>
          </p:cNvSpPr>
          <p:nvPr/>
        </p:nvSpPr>
        <p:spPr bwMode="auto">
          <a:xfrm flipH="1">
            <a:off x="1346200" y="2514600"/>
            <a:ext cx="9906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1" name="Line 19"/>
          <p:cNvSpPr>
            <a:spLocks noChangeShapeType="1"/>
          </p:cNvSpPr>
          <p:nvPr/>
        </p:nvSpPr>
        <p:spPr bwMode="auto">
          <a:xfrm>
            <a:off x="2336800" y="2514600"/>
            <a:ext cx="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2" name="Line 20"/>
          <p:cNvSpPr>
            <a:spLocks noChangeShapeType="1"/>
          </p:cNvSpPr>
          <p:nvPr/>
        </p:nvSpPr>
        <p:spPr bwMode="auto">
          <a:xfrm>
            <a:off x="2336800" y="2514600"/>
            <a:ext cx="11430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3" name="Line 21"/>
          <p:cNvSpPr>
            <a:spLocks noChangeShapeType="1"/>
          </p:cNvSpPr>
          <p:nvPr/>
        </p:nvSpPr>
        <p:spPr bwMode="auto">
          <a:xfrm flipH="1">
            <a:off x="736600" y="3657600"/>
            <a:ext cx="6096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4" name="Line 22"/>
          <p:cNvSpPr>
            <a:spLocks noChangeShapeType="1"/>
          </p:cNvSpPr>
          <p:nvPr/>
        </p:nvSpPr>
        <p:spPr bwMode="auto">
          <a:xfrm>
            <a:off x="1346200" y="36576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5" name="Line 23"/>
          <p:cNvSpPr>
            <a:spLocks noChangeShapeType="1"/>
          </p:cNvSpPr>
          <p:nvPr/>
        </p:nvSpPr>
        <p:spPr bwMode="auto">
          <a:xfrm>
            <a:off x="1346200" y="3657600"/>
            <a:ext cx="4572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6" name="Line 24"/>
          <p:cNvSpPr>
            <a:spLocks noChangeShapeType="1"/>
          </p:cNvSpPr>
          <p:nvPr/>
        </p:nvSpPr>
        <p:spPr bwMode="auto">
          <a:xfrm flipH="1">
            <a:off x="3022600" y="3657600"/>
            <a:ext cx="4572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7" name="Line 25"/>
          <p:cNvSpPr>
            <a:spLocks noChangeShapeType="1"/>
          </p:cNvSpPr>
          <p:nvPr/>
        </p:nvSpPr>
        <p:spPr bwMode="auto">
          <a:xfrm>
            <a:off x="3479800" y="3657600"/>
            <a:ext cx="3810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8" name="Line 26"/>
          <p:cNvSpPr>
            <a:spLocks noChangeShapeType="1"/>
          </p:cNvSpPr>
          <p:nvPr/>
        </p:nvSpPr>
        <p:spPr bwMode="auto">
          <a:xfrm>
            <a:off x="1346200" y="4572000"/>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49" name="Line 27"/>
          <p:cNvSpPr>
            <a:spLocks noChangeShapeType="1"/>
          </p:cNvSpPr>
          <p:nvPr/>
        </p:nvSpPr>
        <p:spPr bwMode="auto">
          <a:xfrm>
            <a:off x="2565400" y="2209800"/>
            <a:ext cx="1752600" cy="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50" name="Line 28"/>
          <p:cNvSpPr>
            <a:spLocks noChangeShapeType="1"/>
          </p:cNvSpPr>
          <p:nvPr/>
        </p:nvSpPr>
        <p:spPr bwMode="auto">
          <a:xfrm>
            <a:off x="3708400" y="3429000"/>
            <a:ext cx="685800" cy="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51" name="Line 29"/>
          <p:cNvSpPr>
            <a:spLocks noChangeShapeType="1"/>
          </p:cNvSpPr>
          <p:nvPr/>
        </p:nvSpPr>
        <p:spPr bwMode="auto">
          <a:xfrm>
            <a:off x="4013200" y="4343400"/>
            <a:ext cx="457200" cy="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52" name="Line 30"/>
          <p:cNvSpPr>
            <a:spLocks noChangeShapeType="1"/>
          </p:cNvSpPr>
          <p:nvPr/>
        </p:nvSpPr>
        <p:spPr bwMode="auto">
          <a:xfrm>
            <a:off x="1498600" y="5410200"/>
            <a:ext cx="2971800" cy="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53" name="Text Box 31"/>
          <p:cNvSpPr txBox="1">
            <a:spLocks noChangeArrowheads="1"/>
          </p:cNvSpPr>
          <p:nvPr/>
        </p:nvSpPr>
        <p:spPr bwMode="auto">
          <a:xfrm>
            <a:off x="4394200" y="1981200"/>
            <a:ext cx="9906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r>
              <a:rPr lang="zh-CN" altLang="en-US" sz="2400" dirty="0">
                <a:latin typeface="Times New Roman" panose="02020603050405020304" pitchFamily="18" charset="0"/>
                <a:ea typeface="华文楷体" panose="02010600040101010101" pitchFamily="2" charset="-122"/>
              </a:rPr>
              <a:t>层</a:t>
            </a:r>
            <a:endParaRPr lang="zh-CN" altLang="en-US"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endParaRPr lang="zh-CN" altLang="en-US"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2</a:t>
            </a:r>
            <a:r>
              <a:rPr lang="zh-CN" altLang="en-US" sz="2400" dirty="0">
                <a:latin typeface="Times New Roman" panose="02020603050405020304" pitchFamily="18" charset="0"/>
                <a:ea typeface="华文楷体" panose="02010600040101010101" pitchFamily="2" charset="-122"/>
              </a:rPr>
              <a:t>层</a:t>
            </a:r>
            <a:endParaRPr lang="zh-CN" altLang="en-US"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endParaRPr lang="zh-CN" altLang="en-US"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3</a:t>
            </a:r>
            <a:r>
              <a:rPr lang="zh-CN" altLang="en-US" sz="2400" dirty="0">
                <a:latin typeface="Times New Roman" panose="02020603050405020304" pitchFamily="18" charset="0"/>
                <a:ea typeface="华文楷体" panose="02010600040101010101" pitchFamily="2" charset="-122"/>
              </a:rPr>
              <a:t>层</a:t>
            </a:r>
            <a:endParaRPr lang="zh-CN" altLang="en-US"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endParaRPr lang="zh-CN" altLang="en-US"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4</a:t>
            </a:r>
            <a:r>
              <a:rPr lang="zh-CN" altLang="en-US" sz="2400" dirty="0">
                <a:latin typeface="Times New Roman" panose="02020603050405020304" pitchFamily="18" charset="0"/>
                <a:ea typeface="华文楷体" panose="02010600040101010101" pitchFamily="2" charset="-122"/>
              </a:rPr>
              <a:t>层</a:t>
            </a:r>
            <a:endParaRPr lang="zh-CN" altLang="en-US" sz="2400" dirty="0">
              <a:latin typeface="Times New Roman" panose="02020603050405020304" pitchFamily="18" charset="0"/>
              <a:ea typeface="华文楷体" panose="02010600040101010101" pitchFamily="2" charset="-122"/>
            </a:endParaRPr>
          </a:p>
        </p:txBody>
      </p:sp>
      <p:sp>
        <p:nvSpPr>
          <p:cNvPr id="5154" name="Freeform 32"/>
          <p:cNvSpPr>
            <a:spLocks noChangeArrowheads="1"/>
          </p:cNvSpPr>
          <p:nvPr/>
        </p:nvSpPr>
        <p:spPr bwMode="auto">
          <a:xfrm>
            <a:off x="304800" y="2819400"/>
            <a:ext cx="2120900" cy="3048000"/>
          </a:xfrm>
          <a:custGeom>
            <a:avLst/>
            <a:gdLst>
              <a:gd name="T0" fmla="*/ 1411287500 w 1336"/>
              <a:gd name="T1" fmla="*/ 120967500 h 1920"/>
              <a:gd name="T2" fmla="*/ 806450000 w 1336"/>
              <a:gd name="T3" fmla="*/ 725805000 h 1920"/>
              <a:gd name="T4" fmla="*/ 80645000 w 1336"/>
              <a:gd name="T5" fmla="*/ 2056447500 h 1920"/>
              <a:gd name="T6" fmla="*/ 322580000 w 1336"/>
              <a:gd name="T7" fmla="*/ 2147483646 h 1920"/>
              <a:gd name="T8" fmla="*/ 927417500 w 1336"/>
              <a:gd name="T9" fmla="*/ 2147483646 h 1920"/>
              <a:gd name="T10" fmla="*/ 1653222500 w 1336"/>
              <a:gd name="T11" fmla="*/ 2147483646 h 1920"/>
              <a:gd name="T12" fmla="*/ 2147483646 w 1336"/>
              <a:gd name="T13" fmla="*/ 2147483646 h 1920"/>
              <a:gd name="T14" fmla="*/ 2147483646 w 1336"/>
              <a:gd name="T15" fmla="*/ 2147483646 h 1920"/>
              <a:gd name="T16" fmla="*/ 2147483646 w 1336"/>
              <a:gd name="T17" fmla="*/ 2147483646 h 1920"/>
              <a:gd name="T18" fmla="*/ 2147483646 w 1336"/>
              <a:gd name="T19" fmla="*/ 1693545000 h 1920"/>
              <a:gd name="T20" fmla="*/ 2137092500 w 1336"/>
              <a:gd name="T21" fmla="*/ 1330642500 h 1920"/>
              <a:gd name="T22" fmla="*/ 2137092500 w 1336"/>
              <a:gd name="T23" fmla="*/ 483870000 h 1920"/>
              <a:gd name="T24" fmla="*/ 2016125000 w 1336"/>
              <a:gd name="T25" fmla="*/ 120967500 h 1920"/>
              <a:gd name="T26" fmla="*/ 1774190000 w 1336"/>
              <a:gd name="T27" fmla="*/ 0 h 1920"/>
              <a:gd name="T28" fmla="*/ 1411287500 w 1336"/>
              <a:gd name="T29" fmla="*/ 120967500 h 19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36" h="1920">
                <a:moveTo>
                  <a:pt x="560" y="48"/>
                </a:moveTo>
                <a:cubicBezTo>
                  <a:pt x="496" y="96"/>
                  <a:pt x="408" y="160"/>
                  <a:pt x="320" y="288"/>
                </a:cubicBezTo>
                <a:cubicBezTo>
                  <a:pt x="232" y="416"/>
                  <a:pt x="64" y="624"/>
                  <a:pt x="32" y="816"/>
                </a:cubicBezTo>
                <a:cubicBezTo>
                  <a:pt x="0" y="1008"/>
                  <a:pt x="72" y="1272"/>
                  <a:pt x="128" y="1440"/>
                </a:cubicBezTo>
                <a:cubicBezTo>
                  <a:pt x="184" y="1608"/>
                  <a:pt x="280" y="1744"/>
                  <a:pt x="368" y="1824"/>
                </a:cubicBezTo>
                <a:cubicBezTo>
                  <a:pt x="456" y="1904"/>
                  <a:pt x="512" y="1920"/>
                  <a:pt x="656" y="1920"/>
                </a:cubicBezTo>
                <a:cubicBezTo>
                  <a:pt x="800" y="1920"/>
                  <a:pt x="1128" y="1904"/>
                  <a:pt x="1232" y="1824"/>
                </a:cubicBezTo>
                <a:cubicBezTo>
                  <a:pt x="1336" y="1744"/>
                  <a:pt x="1280" y="1576"/>
                  <a:pt x="1280" y="1440"/>
                </a:cubicBezTo>
                <a:cubicBezTo>
                  <a:pt x="1280" y="1304"/>
                  <a:pt x="1288" y="1136"/>
                  <a:pt x="1232" y="1008"/>
                </a:cubicBezTo>
                <a:cubicBezTo>
                  <a:pt x="1176" y="880"/>
                  <a:pt x="1008" y="752"/>
                  <a:pt x="944" y="672"/>
                </a:cubicBezTo>
                <a:cubicBezTo>
                  <a:pt x="880" y="592"/>
                  <a:pt x="864" y="608"/>
                  <a:pt x="848" y="528"/>
                </a:cubicBezTo>
                <a:cubicBezTo>
                  <a:pt x="832" y="448"/>
                  <a:pt x="856" y="272"/>
                  <a:pt x="848" y="192"/>
                </a:cubicBezTo>
                <a:cubicBezTo>
                  <a:pt x="840" y="112"/>
                  <a:pt x="824" y="80"/>
                  <a:pt x="800" y="48"/>
                </a:cubicBezTo>
                <a:cubicBezTo>
                  <a:pt x="776" y="16"/>
                  <a:pt x="744" y="0"/>
                  <a:pt x="704" y="0"/>
                </a:cubicBezTo>
                <a:cubicBezTo>
                  <a:pt x="664" y="0"/>
                  <a:pt x="624" y="0"/>
                  <a:pt x="560" y="48"/>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55" name="Freeform 33"/>
          <p:cNvSpPr>
            <a:spLocks noChangeArrowheads="1"/>
          </p:cNvSpPr>
          <p:nvPr/>
        </p:nvSpPr>
        <p:spPr bwMode="auto">
          <a:xfrm>
            <a:off x="1968500" y="2806700"/>
            <a:ext cx="749300" cy="1384300"/>
          </a:xfrm>
          <a:custGeom>
            <a:avLst/>
            <a:gdLst>
              <a:gd name="T0" fmla="*/ 342741250 w 472"/>
              <a:gd name="T1" fmla="*/ 141128750 h 872"/>
              <a:gd name="T2" fmla="*/ 100806250 w 472"/>
              <a:gd name="T3" fmla="*/ 624998750 h 872"/>
              <a:gd name="T4" fmla="*/ 100806250 w 472"/>
              <a:gd name="T5" fmla="*/ 1471771250 h 872"/>
              <a:gd name="T6" fmla="*/ 705643750 w 472"/>
              <a:gd name="T7" fmla="*/ 2147483646 h 872"/>
              <a:gd name="T8" fmla="*/ 1068546250 w 472"/>
              <a:gd name="T9" fmla="*/ 1471771250 h 872"/>
              <a:gd name="T10" fmla="*/ 1189513750 w 472"/>
              <a:gd name="T11" fmla="*/ 866933750 h 872"/>
              <a:gd name="T12" fmla="*/ 1068546250 w 472"/>
              <a:gd name="T13" fmla="*/ 262096250 h 872"/>
              <a:gd name="T14" fmla="*/ 705643750 w 472"/>
              <a:gd name="T15" fmla="*/ 20161250 h 872"/>
              <a:gd name="T16" fmla="*/ 342741250 w 472"/>
              <a:gd name="T17" fmla="*/ 141128750 h 8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72" h="872">
                <a:moveTo>
                  <a:pt x="136" y="56"/>
                </a:moveTo>
                <a:cubicBezTo>
                  <a:pt x="96" y="96"/>
                  <a:pt x="56" y="160"/>
                  <a:pt x="40" y="248"/>
                </a:cubicBezTo>
                <a:cubicBezTo>
                  <a:pt x="24" y="336"/>
                  <a:pt x="0" y="480"/>
                  <a:pt x="40" y="584"/>
                </a:cubicBezTo>
                <a:cubicBezTo>
                  <a:pt x="80" y="688"/>
                  <a:pt x="216" y="872"/>
                  <a:pt x="280" y="872"/>
                </a:cubicBezTo>
                <a:cubicBezTo>
                  <a:pt x="344" y="872"/>
                  <a:pt x="392" y="672"/>
                  <a:pt x="424" y="584"/>
                </a:cubicBezTo>
                <a:cubicBezTo>
                  <a:pt x="456" y="496"/>
                  <a:pt x="472" y="424"/>
                  <a:pt x="472" y="344"/>
                </a:cubicBezTo>
                <a:cubicBezTo>
                  <a:pt x="472" y="264"/>
                  <a:pt x="456" y="160"/>
                  <a:pt x="424" y="104"/>
                </a:cubicBezTo>
                <a:cubicBezTo>
                  <a:pt x="392" y="48"/>
                  <a:pt x="320" y="16"/>
                  <a:pt x="280" y="8"/>
                </a:cubicBezTo>
                <a:cubicBezTo>
                  <a:pt x="240" y="0"/>
                  <a:pt x="176" y="16"/>
                  <a:pt x="136" y="56"/>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56" name="Freeform 34"/>
          <p:cNvSpPr>
            <a:spLocks noChangeArrowheads="1"/>
          </p:cNvSpPr>
          <p:nvPr/>
        </p:nvSpPr>
        <p:spPr bwMode="auto">
          <a:xfrm>
            <a:off x="2705100" y="2717800"/>
            <a:ext cx="1511300" cy="2095500"/>
          </a:xfrm>
          <a:custGeom>
            <a:avLst/>
            <a:gdLst>
              <a:gd name="T0" fmla="*/ 1108868750 w 952"/>
              <a:gd name="T1" fmla="*/ 282257500 h 1320"/>
              <a:gd name="T2" fmla="*/ 624998750 w 952"/>
              <a:gd name="T3" fmla="*/ 766127500 h 1320"/>
              <a:gd name="T4" fmla="*/ 504031250 w 952"/>
              <a:gd name="T5" fmla="*/ 1370965000 h 1320"/>
              <a:gd name="T6" fmla="*/ 262096250 w 952"/>
              <a:gd name="T7" fmla="*/ 1854835000 h 1320"/>
              <a:gd name="T8" fmla="*/ 20161250 w 952"/>
              <a:gd name="T9" fmla="*/ 2147483646 h 1320"/>
              <a:gd name="T10" fmla="*/ 141128750 w 952"/>
              <a:gd name="T11" fmla="*/ 2147483646 h 1320"/>
              <a:gd name="T12" fmla="*/ 866933750 w 952"/>
              <a:gd name="T13" fmla="*/ 2147483646 h 1320"/>
              <a:gd name="T14" fmla="*/ 1834673750 w 952"/>
              <a:gd name="T15" fmla="*/ 2147483646 h 1320"/>
              <a:gd name="T16" fmla="*/ 2147483646 w 952"/>
              <a:gd name="T17" fmla="*/ 2147483646 h 1320"/>
              <a:gd name="T18" fmla="*/ 2147483646 w 952"/>
              <a:gd name="T19" fmla="*/ 1854835000 h 1320"/>
              <a:gd name="T20" fmla="*/ 1834673750 w 952"/>
              <a:gd name="T21" fmla="*/ 524192500 h 1320"/>
              <a:gd name="T22" fmla="*/ 1471771250 w 952"/>
              <a:gd name="T23" fmla="*/ 40322500 h 1320"/>
              <a:gd name="T24" fmla="*/ 1108868750 w 952"/>
              <a:gd name="T25" fmla="*/ 282257500 h 13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52" h="1320">
                <a:moveTo>
                  <a:pt x="440" y="112"/>
                </a:moveTo>
                <a:cubicBezTo>
                  <a:pt x="384" y="160"/>
                  <a:pt x="288" y="232"/>
                  <a:pt x="248" y="304"/>
                </a:cubicBezTo>
                <a:cubicBezTo>
                  <a:pt x="208" y="376"/>
                  <a:pt x="224" y="472"/>
                  <a:pt x="200" y="544"/>
                </a:cubicBezTo>
                <a:cubicBezTo>
                  <a:pt x="176" y="616"/>
                  <a:pt x="136" y="664"/>
                  <a:pt x="104" y="736"/>
                </a:cubicBezTo>
                <a:cubicBezTo>
                  <a:pt x="72" y="808"/>
                  <a:pt x="16" y="896"/>
                  <a:pt x="8" y="976"/>
                </a:cubicBezTo>
                <a:cubicBezTo>
                  <a:pt x="0" y="1056"/>
                  <a:pt x="0" y="1160"/>
                  <a:pt x="56" y="1216"/>
                </a:cubicBezTo>
                <a:cubicBezTo>
                  <a:pt x="112" y="1272"/>
                  <a:pt x="232" y="1304"/>
                  <a:pt x="344" y="1312"/>
                </a:cubicBezTo>
                <a:cubicBezTo>
                  <a:pt x="456" y="1320"/>
                  <a:pt x="632" y="1296"/>
                  <a:pt x="728" y="1264"/>
                </a:cubicBezTo>
                <a:cubicBezTo>
                  <a:pt x="824" y="1232"/>
                  <a:pt x="888" y="1208"/>
                  <a:pt x="920" y="1120"/>
                </a:cubicBezTo>
                <a:cubicBezTo>
                  <a:pt x="952" y="1032"/>
                  <a:pt x="952" y="888"/>
                  <a:pt x="920" y="736"/>
                </a:cubicBezTo>
                <a:cubicBezTo>
                  <a:pt x="888" y="584"/>
                  <a:pt x="784" y="328"/>
                  <a:pt x="728" y="208"/>
                </a:cubicBezTo>
                <a:cubicBezTo>
                  <a:pt x="672" y="88"/>
                  <a:pt x="632" y="32"/>
                  <a:pt x="584" y="16"/>
                </a:cubicBezTo>
                <a:cubicBezTo>
                  <a:pt x="536" y="0"/>
                  <a:pt x="496" y="64"/>
                  <a:pt x="440" y="112"/>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57" name="Text Box 35"/>
          <p:cNvSpPr txBox="1">
            <a:spLocks noChangeArrowheads="1"/>
          </p:cNvSpPr>
          <p:nvPr/>
        </p:nvSpPr>
        <p:spPr bwMode="auto">
          <a:xfrm>
            <a:off x="5334000" y="2133600"/>
            <a:ext cx="2819400" cy="1200329"/>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zh-CN" altLang="en-US" sz="2400" b="1" dirty="0">
                <a:solidFill>
                  <a:srgbClr val="CC6600"/>
                </a:solidFill>
                <a:latin typeface="Times New Roman" panose="02020603050405020304" pitchFamily="18" charset="0"/>
                <a:ea typeface="华文楷体" panose="02010600040101010101" pitchFamily="2" charset="-122"/>
              </a:rPr>
              <a:t>特点  </a:t>
            </a:r>
            <a:r>
              <a:rPr lang="zh-CN" altLang="en-US" sz="2400" dirty="0">
                <a:latin typeface="Times New Roman" panose="02020603050405020304" pitchFamily="18" charset="0"/>
                <a:ea typeface="华文楷体" panose="02010600040101010101" pitchFamily="2" charset="-122"/>
              </a:rPr>
              <a:t>除根结点外，每个结点都</a:t>
            </a:r>
            <a:r>
              <a:rPr lang="zh-CN" altLang="en-US" sz="2400" dirty="0">
                <a:solidFill>
                  <a:schemeClr val="accent2"/>
                </a:solidFill>
                <a:latin typeface="Times New Roman" panose="02020603050405020304" pitchFamily="18" charset="0"/>
                <a:ea typeface="华文楷体" panose="02010600040101010101" pitchFamily="2" charset="-122"/>
              </a:rPr>
              <a:t>仅有一个</a:t>
            </a:r>
            <a:r>
              <a:rPr lang="zh-CN" altLang="en-US" sz="2400" dirty="0">
                <a:latin typeface="Times New Roman" panose="02020603050405020304" pitchFamily="18" charset="0"/>
                <a:ea typeface="华文楷体" panose="02010600040101010101" pitchFamily="2" charset="-122"/>
              </a:rPr>
              <a:t>前趋</a:t>
            </a:r>
            <a:r>
              <a:rPr lang="en-US" altLang="zh-CN" sz="24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父</a:t>
            </a:r>
            <a:r>
              <a:rPr lang="en-US" altLang="zh-CN" sz="24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结点。</a:t>
            </a:r>
            <a:endParaRPr lang="zh-CN" altLang="en-US" sz="2800" dirty="0">
              <a:latin typeface="Times New Roman" panose="02020603050405020304" pitchFamily="18" charset="0"/>
              <a:ea typeface="华文楷体" panose="02010600040101010101" pitchFamily="2" charset="-122"/>
            </a:endParaRPr>
          </a:p>
        </p:txBody>
      </p:sp>
      <p:graphicFrame>
        <p:nvGraphicFramePr>
          <p:cNvPr id="5158" name="Object 36"/>
          <p:cNvGraphicFramePr>
            <a:graphicFrameLocks noGrp="1" noChangeAspect="1"/>
          </p:cNvGraphicFramePr>
          <p:nvPr>
            <p:ph type="dgm" sz="half" idx="2"/>
          </p:nvPr>
        </p:nvGraphicFramePr>
        <p:xfrm>
          <a:off x="6553200" y="3810000"/>
          <a:ext cx="1854200" cy="1981200"/>
        </p:xfrm>
        <a:graphic>
          <a:graphicData uri="http://schemas.openxmlformats.org/presentationml/2006/ole">
            <mc:AlternateContent xmlns:mc="http://schemas.openxmlformats.org/markup-compatibility/2006">
              <mc:Choice xmlns:v="urn:schemas-microsoft-com:vml" Requires="v">
                <p:oleObj spid="_x0000_s5368" name="" r:id="rId1" imgW="831850" imgH="889635" progId="MS_ClipArt_Gallery.2">
                  <p:embed/>
                </p:oleObj>
              </mc:Choice>
              <mc:Fallback>
                <p:oleObj name="" r:id="rId1" imgW="831850" imgH="889635" progId="MS_ClipArt_Gallery.2">
                  <p:embed/>
                  <p:pic>
                    <p:nvPicPr>
                      <p:cNvPr id="0" name="Object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3810000"/>
                        <a:ext cx="1854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14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149" name="Rectangle 3"/>
          <p:cNvSpPr>
            <a:spLocks noGrp="1" noChangeArrowheads="1"/>
          </p:cNvSpPr>
          <p:nvPr>
            <p:ph idx="1"/>
          </p:nvPr>
        </p:nvSpPr>
        <p:spPr>
          <a:xfrm>
            <a:off x="457200" y="1752644"/>
            <a:ext cx="8229600" cy="4648156"/>
          </a:xfrm>
          <a:ln>
            <a:solidFill>
              <a:schemeClr val="accent1"/>
            </a:solidFill>
          </a:ln>
        </p:spPr>
        <p:txBody>
          <a:bodyPr/>
          <a:lstStyle/>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结点的度    </a:t>
            </a:r>
            <a:r>
              <a:rPr lang="zh-CN" altLang="en-US" sz="2800" dirty="0" smtClean="0">
                <a:ea typeface="华文楷体" panose="02010600040101010101" pitchFamily="2" charset="-122"/>
              </a:rPr>
              <a:t>结点拥有的子树数目。</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叶子</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终端</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结点</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度为</a:t>
            </a:r>
            <a:r>
              <a:rPr lang="en-US" altLang="zh-CN" sz="2800" dirty="0" smtClean="0">
                <a:ea typeface="华文楷体" panose="02010600040101010101" pitchFamily="2" charset="-122"/>
              </a:rPr>
              <a:t>0</a:t>
            </a:r>
            <a:r>
              <a:rPr lang="zh-CN" altLang="en-US" sz="2800" dirty="0" smtClean="0">
                <a:ea typeface="华文楷体" panose="02010600040101010101" pitchFamily="2" charset="-122"/>
              </a:rPr>
              <a:t>的结点。</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分支</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非终端</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结点</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度不为</a:t>
            </a:r>
            <a:r>
              <a:rPr lang="en-US" altLang="zh-CN" sz="2800" dirty="0" smtClean="0">
                <a:ea typeface="华文楷体" panose="02010600040101010101" pitchFamily="2" charset="-122"/>
              </a:rPr>
              <a:t>0</a:t>
            </a:r>
            <a:r>
              <a:rPr lang="zh-CN" altLang="en-US" sz="2800" dirty="0" smtClean="0">
                <a:ea typeface="华文楷体" panose="02010600040101010101" pitchFamily="2" charset="-122"/>
              </a:rPr>
              <a:t>的结点。</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树的度</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树的各结点度的最大值。</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内部结点</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除根结点之外的分支结点。</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双亲与孩子</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父与子</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结点</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结点的子树的根称为该结点的孩子；该结点称为孩子的双亲。</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兄弟</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属于同一双亲的孩子。</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结点的祖先</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从根到该结点所经分支上的所有结点。</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结点的子孙</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该结点为根的子树中的任一结点。</a:t>
            </a:r>
            <a:endParaRPr lang="zh-CN" altLang="en-US" sz="2800" dirty="0" smtClean="0">
              <a:ea typeface="华文楷体" panose="02010600040101010101" pitchFamily="2" charset="-122"/>
            </a:endParaRPr>
          </a:p>
        </p:txBody>
      </p:sp>
      <p:sp>
        <p:nvSpPr>
          <p:cNvPr id="2" name="矩形 1"/>
          <p:cNvSpPr/>
          <p:nvPr/>
        </p:nvSpPr>
        <p:spPr>
          <a:xfrm>
            <a:off x="457200" y="1189037"/>
            <a:ext cx="1861407" cy="480131"/>
          </a:xfrm>
          <a:prstGeom prst="rect">
            <a:avLst/>
          </a:prstGeom>
        </p:spPr>
        <p:txBody>
          <a:bodyPr wrap="none">
            <a:spAutoFit/>
          </a:bodyPr>
          <a:lstStyle/>
          <a:p>
            <a:pPr eaLnBrk="1" hangingPunct="1">
              <a:lnSpc>
                <a:spcPct val="90000"/>
              </a:lnSpc>
              <a:buFont typeface="Wingdings" panose="05000000000000000000" pitchFamily="2" charset="2"/>
              <a:buNone/>
            </a:pPr>
            <a:r>
              <a:rPr lang="en-US" altLang="zh-CN" sz="2800" b="1" dirty="0">
                <a:solidFill>
                  <a:schemeClr val="accent2"/>
                </a:solidFill>
                <a:ea typeface="华文楷体" panose="02010600040101010101" pitchFamily="2" charset="-122"/>
              </a:rPr>
              <a:t>[</a:t>
            </a:r>
            <a:r>
              <a:rPr lang="zh-CN" altLang="en-US" sz="2800" b="1" dirty="0">
                <a:solidFill>
                  <a:schemeClr val="accent2"/>
                </a:solidFill>
                <a:ea typeface="华文楷体" panose="02010600040101010101" pitchFamily="2" charset="-122"/>
              </a:rPr>
              <a:t>基本术语</a:t>
            </a:r>
            <a:r>
              <a:rPr lang="en-US" altLang="zh-CN" sz="2800" b="1" dirty="0">
                <a:solidFill>
                  <a:schemeClr val="accent2"/>
                </a:solidFill>
                <a:ea typeface="华文楷体" panose="02010600040101010101" pitchFamily="2" charset="-122"/>
              </a:rPr>
              <a:t>]</a:t>
            </a:r>
            <a:endParaRPr lang="en-US" altLang="zh-CN" sz="2800" b="1" dirty="0">
              <a:solidFill>
                <a:schemeClr val="accent2"/>
              </a:solidFill>
              <a:ea typeface="华文楷体" panose="020106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17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173" name="Rectangle 3"/>
          <p:cNvSpPr>
            <a:spLocks noGrp="1" noChangeArrowheads="1"/>
          </p:cNvSpPr>
          <p:nvPr>
            <p:ph idx="1"/>
          </p:nvPr>
        </p:nvSpPr>
        <p:spPr>
          <a:xfrm>
            <a:off x="457200" y="1152525"/>
            <a:ext cx="8229600" cy="5629275"/>
          </a:xfrm>
          <a:ln>
            <a:solidFill>
              <a:schemeClr val="accent1"/>
            </a:solidFill>
          </a:ln>
        </p:spPr>
        <p:txBody>
          <a:bodyPr/>
          <a:lstStyle/>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结点的层次</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表示该结点在树中的相对位置。根为第一层，其它的结点依次下推；若某结点在第</a:t>
            </a:r>
            <a:r>
              <a:rPr lang="en-US" altLang="zh-CN" sz="2800" dirty="0" smtClean="0">
                <a:ea typeface="华文楷体" panose="02010600040101010101" pitchFamily="2" charset="-122"/>
              </a:rPr>
              <a:t>L</a:t>
            </a:r>
            <a:r>
              <a:rPr lang="zh-CN" altLang="en-US" sz="2800" dirty="0" smtClean="0">
                <a:ea typeface="华文楷体" panose="02010600040101010101" pitchFamily="2" charset="-122"/>
              </a:rPr>
              <a:t>层上，则其孩子在第</a:t>
            </a:r>
            <a:r>
              <a:rPr lang="en-US" altLang="zh-CN" sz="2800" dirty="0" smtClean="0">
                <a:ea typeface="华文楷体" panose="02010600040101010101" pitchFamily="2" charset="-122"/>
              </a:rPr>
              <a:t>L+1</a:t>
            </a:r>
            <a:r>
              <a:rPr lang="zh-CN" altLang="en-US" sz="2800" dirty="0" smtClean="0">
                <a:ea typeface="华文楷体" panose="02010600040101010101" pitchFamily="2" charset="-122"/>
              </a:rPr>
              <a:t>层上。</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堂兄弟  </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双亲在同一层的结点互为堂兄弟。</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树的深</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高</a:t>
            </a:r>
            <a:r>
              <a:rPr lang="en-US" altLang="zh-CN" sz="2800" b="1" dirty="0" smtClean="0">
                <a:solidFill>
                  <a:srgbClr val="FF3300"/>
                </a:solidFill>
                <a:ea typeface="华文楷体" panose="02010600040101010101" pitchFamily="2" charset="-122"/>
              </a:rPr>
              <a:t>)</a:t>
            </a:r>
            <a:r>
              <a:rPr lang="zh-CN" altLang="en-US" sz="2800" b="1" dirty="0" smtClean="0">
                <a:solidFill>
                  <a:srgbClr val="FF3300"/>
                </a:solidFill>
                <a:ea typeface="华文楷体" panose="02010600040101010101" pitchFamily="2" charset="-122"/>
              </a:rPr>
              <a:t>度   </a:t>
            </a:r>
            <a:r>
              <a:rPr lang="zh-CN" altLang="en-US" sz="2800" dirty="0" smtClean="0">
                <a:ea typeface="华文楷体" panose="02010600040101010101" pitchFamily="2" charset="-122"/>
              </a:rPr>
              <a:t>树中结点的最大层次。</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有序树   </a:t>
            </a:r>
            <a:r>
              <a:rPr lang="zh-CN" altLang="en-US" sz="2800" dirty="0" smtClean="0">
                <a:ea typeface="华文楷体" panose="02010600040101010101" pitchFamily="2" charset="-122"/>
              </a:rPr>
              <a:t>树中各结点的子树从左至右是有次序的，不能互换。否则，称为</a:t>
            </a:r>
            <a:r>
              <a:rPr lang="zh-CN" altLang="en-US" sz="2800" b="1" dirty="0" smtClean="0">
                <a:solidFill>
                  <a:srgbClr val="FF3300"/>
                </a:solidFill>
                <a:ea typeface="华文楷体" panose="02010600040101010101" pitchFamily="2" charset="-122"/>
              </a:rPr>
              <a:t>无序树</a:t>
            </a:r>
            <a:r>
              <a:rPr lang="zh-CN" altLang="en-US" sz="2800" dirty="0" smtClean="0">
                <a:ea typeface="华文楷体" panose="02010600040101010101" pitchFamily="2" charset="-122"/>
              </a:rPr>
              <a:t>。</a:t>
            </a:r>
            <a:endParaRPr lang="zh-CN" altLang="en-US"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路径长度</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从树中某结点</a:t>
            </a:r>
            <a:r>
              <a:rPr lang="en-US" altLang="zh-CN" sz="2800" dirty="0" smtClean="0">
                <a:ea typeface="华文楷体" panose="02010600040101010101" pitchFamily="2" charset="-122"/>
              </a:rPr>
              <a:t>N</a:t>
            </a:r>
            <a:r>
              <a:rPr lang="en-US" altLang="zh-CN" sz="2800" baseline="-25000" dirty="0" smtClean="0">
                <a:ea typeface="华文楷体" panose="02010600040101010101" pitchFamily="2" charset="-122"/>
              </a:rPr>
              <a:t>i</a:t>
            </a:r>
            <a:r>
              <a:rPr lang="zh-CN" altLang="en-US" sz="2800" dirty="0" smtClean="0">
                <a:ea typeface="华文楷体" panose="02010600040101010101" pitchFamily="2" charset="-122"/>
              </a:rPr>
              <a:t>出发，能够“自上而下地”通过树中结点到达结点</a:t>
            </a:r>
            <a:r>
              <a:rPr lang="en-US" altLang="zh-CN" sz="2800" dirty="0" err="1" smtClean="0">
                <a:ea typeface="华文楷体" panose="02010600040101010101" pitchFamily="2" charset="-122"/>
              </a:rPr>
              <a:t>N</a:t>
            </a:r>
            <a:r>
              <a:rPr lang="en-US" altLang="zh-CN" sz="2800" baseline="-25000" dirty="0" err="1" smtClean="0">
                <a:ea typeface="华文楷体" panose="02010600040101010101" pitchFamily="2" charset="-122"/>
              </a:rPr>
              <a:t>j</a:t>
            </a:r>
            <a:r>
              <a:rPr lang="zh-CN" altLang="en-US" sz="2800" dirty="0" smtClean="0">
                <a:ea typeface="华文楷体" panose="02010600040101010101" pitchFamily="2" charset="-122"/>
              </a:rPr>
              <a:t>，则称</a:t>
            </a:r>
            <a:r>
              <a:rPr lang="en-US" altLang="zh-CN" sz="2800" dirty="0" smtClean="0">
                <a:ea typeface="华文楷体" panose="02010600040101010101" pitchFamily="2" charset="-122"/>
              </a:rPr>
              <a:t>N</a:t>
            </a:r>
            <a:r>
              <a:rPr lang="en-US" altLang="zh-CN" sz="2800" baseline="-25000" dirty="0" smtClean="0">
                <a:ea typeface="华文楷体" panose="02010600040101010101" pitchFamily="2" charset="-122"/>
              </a:rPr>
              <a:t>i</a:t>
            </a:r>
            <a:r>
              <a:rPr lang="zh-CN" altLang="en-US" sz="2800" dirty="0" smtClean="0">
                <a:ea typeface="华文楷体" panose="02010600040101010101" pitchFamily="2" charset="-122"/>
              </a:rPr>
              <a:t>到</a:t>
            </a:r>
            <a:r>
              <a:rPr lang="en-US" altLang="zh-CN" sz="2800" dirty="0" err="1" smtClean="0">
                <a:ea typeface="华文楷体" panose="02010600040101010101" pitchFamily="2" charset="-122"/>
              </a:rPr>
              <a:t>N</a:t>
            </a:r>
            <a:r>
              <a:rPr lang="en-US" altLang="zh-CN" sz="2800" baseline="-25000" dirty="0" err="1" smtClean="0">
                <a:ea typeface="华文楷体" panose="02010600040101010101" pitchFamily="2" charset="-122"/>
              </a:rPr>
              <a:t>j</a:t>
            </a:r>
            <a:r>
              <a:rPr lang="zh-CN" altLang="en-US" sz="2800" dirty="0" smtClean="0">
                <a:ea typeface="华文楷体" panose="02010600040101010101" pitchFamily="2" charset="-122"/>
              </a:rPr>
              <a:t>存在一条路径，路径长度等于这两个结点之间的分支数。</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树的路径长度</a:t>
            </a:r>
            <a:r>
              <a:rPr lang="zh-CN" altLang="en-US" sz="2800" b="1" dirty="0" smtClean="0">
                <a:solidFill>
                  <a:schemeClr val="accent2"/>
                </a:solidFill>
                <a:ea typeface="华文楷体" panose="02010600040101010101" pitchFamily="2" charset="-122"/>
              </a:rPr>
              <a:t>   </a:t>
            </a:r>
            <a:r>
              <a:rPr lang="zh-CN" altLang="en-US" sz="2800" dirty="0" smtClean="0">
                <a:ea typeface="华文楷体" panose="02010600040101010101" pitchFamily="2" charset="-122"/>
              </a:rPr>
              <a:t>从根到每个结点的路径长度之和。</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b="1" dirty="0" smtClean="0">
                <a:solidFill>
                  <a:srgbClr val="FF3300"/>
                </a:solidFill>
                <a:ea typeface="华文楷体" panose="02010600040101010101" pitchFamily="2" charset="-122"/>
              </a:rPr>
              <a:t>森林   </a:t>
            </a:r>
            <a:r>
              <a:rPr lang="zh-CN" altLang="en-US" sz="2800" dirty="0" smtClean="0">
                <a:ea typeface="华文楷体" panose="02010600040101010101" pitchFamily="2" charset="-122"/>
              </a:rPr>
              <a:t>是</a:t>
            </a:r>
            <a:r>
              <a:rPr lang="en-US" altLang="zh-CN" sz="2800" dirty="0" smtClean="0">
                <a:ea typeface="华文楷体" panose="02010600040101010101" pitchFamily="2" charset="-122"/>
              </a:rPr>
              <a:t>m(m</a:t>
            </a:r>
            <a:r>
              <a:rPr lang="en-US" altLang="zh-CN" sz="2800" dirty="0" smtClean="0">
                <a:ea typeface="华文楷体" panose="02010600040101010101" pitchFamily="2" charset="-122"/>
                <a:sym typeface="Symbol" panose="05050102010706020507" pitchFamily="18" charset="2"/>
              </a:rPr>
              <a:t>0)</a:t>
            </a:r>
            <a:r>
              <a:rPr lang="zh-CN" altLang="en-US" sz="2800" dirty="0" smtClean="0">
                <a:ea typeface="华文楷体" panose="02010600040101010101" pitchFamily="2" charset="-122"/>
                <a:sym typeface="Symbol" panose="05050102010706020507" pitchFamily="18" charset="2"/>
              </a:rPr>
              <a:t>棵互不相交的树的集合。</a:t>
            </a:r>
            <a:endParaRPr lang="zh-CN" altLang="en-US" sz="2800" dirty="0" smtClean="0">
              <a:ea typeface="华文楷体" panose="02010600040101010101" pitchFamily="2" charset="-122"/>
              <a:sym typeface="Symbol" panose="05050102010706020507" pitchFamily="18" charset="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1109" y="1828842"/>
            <a:ext cx="3880009" cy="4876672"/>
          </a:xfrm>
          <a:ln>
            <a:solidFill>
              <a:schemeClr val="accent1"/>
            </a:solidFill>
          </a:ln>
        </p:spPr>
        <p:txBody>
          <a:bodyPr/>
          <a:lstStyle/>
          <a:p>
            <a:pPr marL="0" indent="0">
              <a:buNone/>
            </a:pPr>
            <a:r>
              <a:rPr lang="zh-CN" altLang="en-US" sz="2000" dirty="0" smtClean="0">
                <a:latin typeface="华文楷体" panose="02010600040101010101" pitchFamily="2" charset="-122"/>
                <a:ea typeface="华文楷体" panose="02010600040101010101" pitchFamily="2" charset="-122"/>
              </a:rPr>
              <a:t>①树形表示法：用圆圈表示一个结点，连线表示分支。</a:t>
            </a:r>
            <a:endParaRPr lang="en-US" altLang="zh-CN" sz="2000" dirty="0" smtClean="0">
              <a:latin typeface="华文楷体" panose="02010600040101010101" pitchFamily="2" charset="-122"/>
              <a:ea typeface="华文楷体" panose="02010600040101010101" pitchFamily="2" charset="-122"/>
            </a:endParaRPr>
          </a:p>
          <a:p>
            <a:pPr marL="0" indent="0">
              <a:buNone/>
            </a:pPr>
            <a:r>
              <a:rPr lang="en-US" altLang="zh-CN" sz="2000" dirty="0" smtClean="0">
                <a:latin typeface="华文楷体" panose="02010600040101010101" pitchFamily="2" charset="-122"/>
                <a:ea typeface="华文楷体" panose="02010600040101010101" pitchFamily="2" charset="-122"/>
              </a:rPr>
              <a:t>②</a:t>
            </a:r>
            <a:r>
              <a:rPr lang="zh-CN" altLang="en-US" sz="2000" dirty="0" smtClean="0">
                <a:latin typeface="华文楷体" panose="02010600040101010101" pitchFamily="2" charset="-122"/>
                <a:ea typeface="华文楷体" panose="02010600040101010101" pitchFamily="2" charset="-122"/>
              </a:rPr>
              <a:t>文氏图表示法：每棵树对应一个圆圈，圆圈里包含根结点和子树圆圈，同一结点子树圆圈不相交。</a:t>
            </a:r>
            <a:endParaRPr lang="en-US" altLang="zh-CN" sz="2000" dirty="0" smtClean="0">
              <a:latin typeface="华文楷体" panose="02010600040101010101" pitchFamily="2" charset="-122"/>
              <a:ea typeface="华文楷体" panose="02010600040101010101" pitchFamily="2" charset="-122"/>
            </a:endParaRPr>
          </a:p>
          <a:p>
            <a:pPr marL="0" indent="0">
              <a:buNone/>
            </a:pPr>
            <a:r>
              <a:rPr lang="zh-CN" altLang="zh-CN" sz="2000" dirty="0" smtClean="0">
                <a:latin typeface="华文楷体" panose="02010600040101010101" pitchFamily="2" charset="-122"/>
                <a:ea typeface="华文楷体" panose="02010600040101010101" pitchFamily="2" charset="-122"/>
              </a:rPr>
              <a:t>③</a:t>
            </a:r>
            <a:r>
              <a:rPr lang="zh-CN" altLang="en-US" sz="2000" dirty="0" smtClean="0">
                <a:latin typeface="华文楷体" panose="02010600040101010101" pitchFamily="2" charset="-122"/>
                <a:ea typeface="华文楷体" panose="02010600040101010101" pitchFamily="2" charset="-122"/>
              </a:rPr>
              <a:t>凹入表表示法：每</a:t>
            </a:r>
            <a:r>
              <a:rPr lang="zh-CN" altLang="en-US" sz="2000" dirty="0">
                <a:latin typeface="华文楷体" panose="02010600040101010101" pitchFamily="2" charset="-122"/>
                <a:ea typeface="华文楷体" panose="02010600040101010101" pitchFamily="2" charset="-122"/>
              </a:rPr>
              <a:t>棵</a:t>
            </a:r>
            <a:r>
              <a:rPr lang="zh-CN" altLang="en-US" sz="2000" dirty="0" smtClean="0">
                <a:latin typeface="华文楷体" panose="02010600040101010101" pitchFamily="2" charset="-122"/>
                <a:ea typeface="华文楷体" panose="02010600040101010101" pitchFamily="2" charset="-122"/>
              </a:rPr>
              <a:t>树一个条形，子树的根对应较短的条形。同一结点的子树根条形长度一样。</a:t>
            </a:r>
            <a:endParaRPr lang="en-US" altLang="zh-CN" sz="2000" dirty="0" smtClean="0">
              <a:latin typeface="华文楷体" panose="02010600040101010101" pitchFamily="2" charset="-122"/>
              <a:ea typeface="华文楷体" panose="02010600040101010101" pitchFamily="2" charset="-122"/>
            </a:endParaRPr>
          </a:p>
          <a:p>
            <a:pPr marL="0" indent="0">
              <a:buNone/>
            </a:pPr>
            <a:r>
              <a:rPr lang="zh-CN" altLang="zh-CN" sz="2000" dirty="0" smtClean="0">
                <a:latin typeface="华文楷体" panose="02010600040101010101" pitchFamily="2" charset="-122"/>
                <a:ea typeface="华文楷体" panose="02010600040101010101" pitchFamily="2" charset="-122"/>
              </a:rPr>
              <a:t>④</a:t>
            </a:r>
            <a:r>
              <a:rPr lang="zh-CN" altLang="en-US" sz="2000" dirty="0">
                <a:latin typeface="华文楷体" panose="02010600040101010101" pitchFamily="2" charset="-122"/>
                <a:ea typeface="华文楷体" panose="02010600040101010101" pitchFamily="2" charset="-122"/>
              </a:rPr>
              <a:t>广义</a:t>
            </a:r>
            <a:r>
              <a:rPr lang="zh-CN" altLang="en-US" sz="2000" dirty="0" smtClean="0">
                <a:latin typeface="华文楷体" panose="02010600040101010101" pitchFamily="2" charset="-122"/>
                <a:ea typeface="华文楷体" panose="02010600040101010101" pitchFamily="2" charset="-122"/>
              </a:rPr>
              <a:t>表</a:t>
            </a:r>
            <a:r>
              <a:rPr lang="en-US" altLang="zh-CN" sz="2000" dirty="0" smtClean="0">
                <a:latin typeface="华文楷体" panose="02010600040101010101" pitchFamily="2" charset="-122"/>
                <a:ea typeface="华文楷体" panose="02010600040101010101" pitchFamily="2" charset="-122"/>
              </a:rPr>
              <a:t>(</a:t>
            </a:r>
            <a:r>
              <a:rPr lang="zh-CN" altLang="en-US" sz="2000" dirty="0" smtClean="0">
                <a:latin typeface="华文楷体" panose="02010600040101010101" pitchFamily="2" charset="-122"/>
                <a:ea typeface="华文楷体" panose="02010600040101010101" pitchFamily="2" charset="-122"/>
              </a:rPr>
              <a:t>括号</a:t>
            </a:r>
            <a:r>
              <a:rPr lang="en-US" altLang="zh-CN" sz="2000" dirty="0" smtClean="0">
                <a:latin typeface="华文楷体" panose="02010600040101010101" pitchFamily="2" charset="-122"/>
                <a:ea typeface="华文楷体" panose="02010600040101010101" pitchFamily="2" charset="-122"/>
              </a:rPr>
              <a:t>)</a:t>
            </a:r>
            <a:r>
              <a:rPr lang="zh-CN" altLang="en-US" sz="2000" dirty="0" smtClean="0">
                <a:latin typeface="华文楷体" panose="02010600040101010101" pitchFamily="2" charset="-122"/>
                <a:ea typeface="华文楷体" panose="02010600040101010101" pitchFamily="2" charset="-122"/>
              </a:rPr>
              <a:t>表示法：每棵树对应一个以根为名的字符串，串名放左边，串是由括号里的各个子树对应的子串构成，子串之间用逗号隔开。</a:t>
            </a:r>
            <a:endParaRPr lang="zh-CN" altLang="en-US" sz="2000" dirty="0">
              <a:latin typeface="华文楷体" panose="02010600040101010101" pitchFamily="2" charset="-122"/>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5" name="矩形 4"/>
          <p:cNvSpPr/>
          <p:nvPr/>
        </p:nvSpPr>
        <p:spPr>
          <a:xfrm>
            <a:off x="457308" y="1247172"/>
            <a:ext cx="2198038" cy="461665"/>
          </a:xfrm>
          <a:prstGeom prst="rect">
            <a:avLst/>
          </a:prstGeom>
        </p:spPr>
        <p:txBody>
          <a:bodyPr wrap="none">
            <a:spAutoFit/>
          </a:bodyPr>
          <a:lstStyle/>
          <a:p>
            <a:pPr marL="0" indent="0">
              <a:buNone/>
            </a:pPr>
            <a:r>
              <a:rPr lang="en-US" altLang="zh-CN" b="1" dirty="0">
                <a:solidFill>
                  <a:srgbClr val="C00000"/>
                </a:solidFill>
                <a:latin typeface="华文楷体" panose="02010600040101010101" pitchFamily="2" charset="-122"/>
                <a:ea typeface="华文楷体" panose="02010600040101010101" pitchFamily="2" charset="-122"/>
              </a:rPr>
              <a:t>[</a:t>
            </a:r>
            <a:r>
              <a:rPr lang="zh-CN" altLang="en-US" b="1" dirty="0">
                <a:solidFill>
                  <a:srgbClr val="C00000"/>
                </a:solidFill>
                <a:latin typeface="华文楷体" panose="02010600040101010101" pitchFamily="2" charset="-122"/>
                <a:ea typeface="华文楷体" panose="02010600040101010101" pitchFamily="2" charset="-122"/>
              </a:rPr>
              <a:t>树的逻辑表示</a:t>
            </a:r>
            <a:r>
              <a:rPr lang="en-US" altLang="zh-CN" b="1" dirty="0">
                <a:solidFill>
                  <a:srgbClr val="C00000"/>
                </a:solidFill>
                <a:latin typeface="华文楷体" panose="02010600040101010101" pitchFamily="2" charset="-122"/>
                <a:ea typeface="华文楷体" panose="02010600040101010101" pitchFamily="2" charset="-122"/>
              </a:rPr>
              <a:t>]</a:t>
            </a:r>
            <a:endParaRPr lang="zh-CN" altLang="en-US" b="1" dirty="0">
              <a:solidFill>
                <a:srgbClr val="C00000"/>
              </a:solidFill>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1"/>
          <a:stretch>
            <a:fillRect/>
          </a:stretch>
        </p:blipFill>
        <p:spPr>
          <a:xfrm>
            <a:off x="6886026" y="2009214"/>
            <a:ext cx="1876974" cy="1876974"/>
          </a:xfrm>
          <a:prstGeom prst="rect">
            <a:avLst/>
          </a:prstGeom>
        </p:spPr>
      </p:pic>
      <p:pic>
        <p:nvPicPr>
          <p:cNvPr id="9" name="图片 8"/>
          <p:cNvPicPr>
            <a:picLocks noChangeAspect="1"/>
          </p:cNvPicPr>
          <p:nvPr/>
        </p:nvPicPr>
        <p:blipFill>
          <a:blip r:embed="rId2"/>
          <a:stretch>
            <a:fillRect/>
          </a:stretch>
        </p:blipFill>
        <p:spPr>
          <a:xfrm>
            <a:off x="4343406" y="4199783"/>
            <a:ext cx="1628789" cy="2048543"/>
          </a:xfrm>
          <a:prstGeom prst="rect">
            <a:avLst/>
          </a:prstGeom>
        </p:spPr>
      </p:pic>
      <p:sp>
        <p:nvSpPr>
          <p:cNvPr id="10" name="文本框 9"/>
          <p:cNvSpPr txBox="1"/>
          <p:nvPr/>
        </p:nvSpPr>
        <p:spPr>
          <a:xfrm>
            <a:off x="6041390" y="4257040"/>
            <a:ext cx="3072130" cy="337185"/>
          </a:xfrm>
          <a:prstGeom prst="rect">
            <a:avLst/>
          </a:prstGeom>
          <a:noFill/>
          <a:ln>
            <a:solidFill>
              <a:schemeClr val="accent1"/>
            </a:solidFill>
          </a:ln>
        </p:spPr>
        <p:txBody>
          <a:bodyPr wrap="square" rtlCol="0">
            <a:spAutoFit/>
          </a:bodyPr>
          <a:lstStyle/>
          <a:p>
            <a:r>
              <a:rPr lang="en-US" altLang="zh-CN" sz="1600" dirty="0" smtClean="0">
                <a:latin typeface="Times New Roman" panose="02020603050405020304" pitchFamily="18" charset="0"/>
                <a:cs typeface="Times New Roman" panose="02020603050405020304" pitchFamily="18" charset="0"/>
              </a:rPr>
              <a:t>A(B(E,F),C(G(J)),D(H,J(K,L,M)))</a:t>
            </a:r>
            <a:endParaRPr lang="zh-CN" altLang="en-US" sz="1600" dirty="0">
              <a:latin typeface="Times New Roman" panose="02020603050405020304" pitchFamily="18" charset="0"/>
              <a:cs typeface="Times New Roman" panose="02020603050405020304" pitchFamily="18" charset="0"/>
            </a:endParaRPr>
          </a:p>
        </p:txBody>
      </p:sp>
      <p:cxnSp>
        <p:nvCxnSpPr>
          <p:cNvPr id="12" name="直接连接符 11"/>
          <p:cNvCxnSpPr/>
          <p:nvPr/>
        </p:nvCxnSpPr>
        <p:spPr bwMode="auto">
          <a:xfrm flipV="1">
            <a:off x="4343406" y="3886188"/>
            <a:ext cx="1066772" cy="30153"/>
          </a:xfrm>
          <a:prstGeom prst="line">
            <a:avLst/>
          </a:prstGeom>
          <a:solidFill>
            <a:schemeClr val="accent1"/>
          </a:solidFill>
          <a:ln>
            <a:noFill/>
          </a:ln>
        </p:spPr>
      </p:cxnSp>
      <p:cxnSp>
        <p:nvCxnSpPr>
          <p:cNvPr id="22" name="直接连接符 21"/>
          <p:cNvCxnSpPr/>
          <p:nvPr/>
        </p:nvCxnSpPr>
        <p:spPr bwMode="auto">
          <a:xfrm>
            <a:off x="4540301" y="3982679"/>
            <a:ext cx="4191000" cy="3015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直接连接符 23"/>
          <p:cNvCxnSpPr/>
          <p:nvPr/>
        </p:nvCxnSpPr>
        <p:spPr bwMode="auto">
          <a:xfrm>
            <a:off x="6553148" y="1608989"/>
            <a:ext cx="0" cy="238522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直接连接符 25"/>
          <p:cNvCxnSpPr/>
          <p:nvPr/>
        </p:nvCxnSpPr>
        <p:spPr bwMode="auto">
          <a:xfrm>
            <a:off x="6054483" y="4012832"/>
            <a:ext cx="0" cy="224704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7" name="图片 26"/>
          <p:cNvPicPr>
            <a:picLocks noChangeAspect="1"/>
          </p:cNvPicPr>
          <p:nvPr/>
        </p:nvPicPr>
        <p:blipFill>
          <a:blip r:embed="rId3"/>
          <a:stretch>
            <a:fillRect/>
          </a:stretch>
        </p:blipFill>
        <p:spPr>
          <a:xfrm>
            <a:off x="4261118" y="2209833"/>
            <a:ext cx="2258744" cy="13970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81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197"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b="1" dirty="0" smtClean="0">
                <a:solidFill>
                  <a:schemeClr val="accent2"/>
                </a:solidFill>
                <a:ea typeface="华文楷体" panose="02010600040101010101" pitchFamily="2" charset="-122"/>
              </a:rPr>
              <a:t>[</a:t>
            </a:r>
            <a:r>
              <a:rPr lang="zh-CN" altLang="en-US" b="1" dirty="0" smtClean="0">
                <a:solidFill>
                  <a:schemeClr val="accent2"/>
                </a:solidFill>
                <a:ea typeface="华文楷体" panose="02010600040101010101" pitchFamily="2" charset="-122"/>
              </a:rPr>
              <a:t>树的基本操作</a:t>
            </a:r>
            <a:r>
              <a:rPr lang="en-US" altLang="zh-CN" b="1" dirty="0" smtClean="0">
                <a:solidFill>
                  <a:schemeClr val="accent2"/>
                </a:solidFill>
                <a:ea typeface="华文楷体" panose="02010600040101010101" pitchFamily="2" charset="-122"/>
              </a:rPr>
              <a:t>]</a:t>
            </a:r>
            <a:endParaRPr lang="en-US" altLang="zh-CN"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初始化操作                  </a:t>
            </a:r>
            <a:r>
              <a:rPr lang="en-US" altLang="zh-CN" sz="2400" dirty="0" smtClean="0">
                <a:ea typeface="华文楷体" panose="02010600040101010101" pitchFamily="2" charset="-122"/>
              </a:rPr>
              <a:t>initiate(T)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求根函数                      </a:t>
            </a:r>
            <a:r>
              <a:rPr lang="en-US" altLang="zh-CN" sz="2400" dirty="0" smtClean="0">
                <a:ea typeface="华文楷体" panose="02010600040101010101" pitchFamily="2" charset="-122"/>
              </a:rPr>
              <a:t>root(T) / root(x)</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求双亲函数                  </a:t>
            </a:r>
            <a:r>
              <a:rPr lang="en-US" altLang="zh-CN" sz="2400" dirty="0" smtClean="0">
                <a:ea typeface="华文楷体" panose="02010600040101010101" pitchFamily="2" charset="-122"/>
              </a:rPr>
              <a:t>parent(</a:t>
            </a:r>
            <a:r>
              <a:rPr lang="en-US" altLang="zh-CN" sz="2400" dirty="0" err="1" smtClean="0">
                <a:ea typeface="华文楷体" panose="02010600040101010101" pitchFamily="2" charset="-122"/>
              </a:rPr>
              <a:t>T,x</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4)</a:t>
            </a:r>
            <a:r>
              <a:rPr lang="zh-CN" altLang="en-US" sz="2400" dirty="0" smtClean="0">
                <a:ea typeface="华文楷体" panose="02010600040101010101" pitchFamily="2" charset="-122"/>
              </a:rPr>
              <a:t>求孩子结点函数          </a:t>
            </a:r>
            <a:r>
              <a:rPr lang="en-US" altLang="zh-CN" sz="2400" dirty="0" smtClean="0">
                <a:ea typeface="华文楷体" panose="02010600040101010101" pitchFamily="2" charset="-122"/>
              </a:rPr>
              <a:t>child(</a:t>
            </a:r>
            <a:r>
              <a:rPr lang="en-US" altLang="zh-CN" sz="2400" dirty="0" err="1" smtClean="0">
                <a:ea typeface="华文楷体" panose="02010600040101010101" pitchFamily="2" charset="-122"/>
              </a:rPr>
              <a:t>T,x,i</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5)</a:t>
            </a:r>
            <a:r>
              <a:rPr lang="zh-CN" altLang="en-US" sz="2400" dirty="0" smtClean="0">
                <a:ea typeface="华文楷体" panose="02010600040101010101" pitchFamily="2" charset="-122"/>
              </a:rPr>
              <a:t>求右兄弟函数              </a:t>
            </a:r>
            <a:r>
              <a:rPr lang="en-US" altLang="zh-CN" sz="2400" dirty="0" err="1" smtClean="0">
                <a:ea typeface="华文楷体" panose="02010600040101010101" pitchFamily="2" charset="-122"/>
              </a:rPr>
              <a:t>right_sibling</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T,x</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6)</a:t>
            </a:r>
            <a:r>
              <a:rPr lang="zh-CN" altLang="en-US" sz="2400" dirty="0" smtClean="0">
                <a:ea typeface="华文楷体" panose="02010600040101010101" pitchFamily="2" charset="-122"/>
              </a:rPr>
              <a:t>建树函数                      </a:t>
            </a:r>
            <a:r>
              <a:rPr lang="en-US" altLang="zh-CN" sz="2400" dirty="0" err="1" smtClean="0">
                <a:ea typeface="华文楷体" panose="02010600040101010101" pitchFamily="2" charset="-122"/>
              </a:rPr>
              <a:t>crt_tree</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x,F</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7)</a:t>
            </a:r>
            <a:r>
              <a:rPr lang="zh-CN" altLang="en-US" sz="2400" dirty="0" smtClean="0">
                <a:ea typeface="华文楷体" panose="02010600040101010101" pitchFamily="2" charset="-122"/>
              </a:rPr>
              <a:t>插入子树操作              </a:t>
            </a:r>
            <a:r>
              <a:rPr lang="en-US" altLang="zh-CN" sz="2400" dirty="0" err="1" smtClean="0">
                <a:ea typeface="华文楷体" panose="02010600040101010101" pitchFamily="2" charset="-122"/>
              </a:rPr>
              <a:t>ins_child</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y,i,x</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8)</a:t>
            </a:r>
            <a:r>
              <a:rPr lang="zh-CN" altLang="en-US" sz="2400" dirty="0" smtClean="0">
                <a:ea typeface="华文楷体" panose="02010600040101010101" pitchFamily="2" charset="-122"/>
              </a:rPr>
              <a:t>删除子树操作              </a:t>
            </a:r>
            <a:r>
              <a:rPr lang="en-US" altLang="zh-CN" sz="2400" dirty="0" err="1" smtClean="0">
                <a:ea typeface="华文楷体" panose="02010600040101010101" pitchFamily="2" charset="-122"/>
              </a:rPr>
              <a:t>del_child</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x,i</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9)</a:t>
            </a:r>
            <a:r>
              <a:rPr lang="zh-CN" altLang="en-US" sz="2400" dirty="0" smtClean="0">
                <a:ea typeface="华文楷体" panose="02010600040101010101" pitchFamily="2" charset="-122"/>
              </a:rPr>
              <a:t>遍历操作                      </a:t>
            </a:r>
            <a:r>
              <a:rPr lang="en-US" altLang="zh-CN" sz="2400" dirty="0" smtClean="0">
                <a:ea typeface="华文楷体" panose="02010600040101010101" pitchFamily="2" charset="-122"/>
              </a:rPr>
              <a:t>traverse(T)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10)</a:t>
            </a:r>
            <a:r>
              <a:rPr lang="zh-CN" altLang="en-US" sz="2400" dirty="0" smtClean="0">
                <a:ea typeface="华文楷体" panose="02010600040101010101" pitchFamily="2" charset="-122"/>
              </a:rPr>
              <a:t>清除结构操作            </a:t>
            </a:r>
            <a:r>
              <a:rPr lang="en-US" altLang="zh-CN" sz="2400" dirty="0" smtClean="0">
                <a:ea typeface="华文楷体" panose="02010600040101010101" pitchFamily="2" charset="-122"/>
              </a:rPr>
              <a:t>clear(T)</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28714" y="1459680"/>
                <a:ext cx="8584350" cy="1981148"/>
              </a:xfrm>
              <a:ln>
                <a:solidFill>
                  <a:schemeClr val="accent1"/>
                </a:solidFill>
              </a:ln>
            </p:spPr>
            <p:txBody>
              <a:bodyPr/>
              <a:lstStyle/>
              <a:p>
                <a:pPr marL="0" indent="0">
                  <a:buNone/>
                </a:pPr>
                <a:r>
                  <a:rPr lang="zh-CN" altLang="en-US" sz="2000" b="1" dirty="0" smtClean="0">
                    <a:solidFill>
                      <a:srgbClr val="C00000"/>
                    </a:solidFill>
                    <a:ea typeface="华文楷体" panose="02010600040101010101" pitchFamily="2" charset="-122"/>
                  </a:rPr>
                  <a:t>性质①</a:t>
                </a:r>
                <a:r>
                  <a:rPr lang="zh-CN" altLang="en-US" sz="2000" dirty="0">
                    <a:ea typeface="华文楷体" panose="02010600040101010101" pitchFamily="2" charset="-122"/>
                  </a:rPr>
                  <a:t>：树中结点数</a:t>
                </a:r>
                <a:r>
                  <a:rPr lang="en-US" altLang="zh-CN" sz="2000" dirty="0">
                    <a:ea typeface="华文楷体" panose="02010600040101010101" pitchFamily="2" charset="-122"/>
                  </a:rPr>
                  <a:t>=</a:t>
                </a:r>
                <a:r>
                  <a:rPr lang="zh-CN" altLang="en-US" sz="2000" dirty="0">
                    <a:ea typeface="华文楷体" panose="02010600040101010101" pitchFamily="2" charset="-122"/>
                  </a:rPr>
                  <a:t>所有结点度之和</a:t>
                </a:r>
                <a:r>
                  <a:rPr lang="en-US" altLang="zh-CN" sz="2000" dirty="0">
                    <a:ea typeface="华文楷体" panose="02010600040101010101" pitchFamily="2" charset="-122"/>
                  </a:rPr>
                  <a:t>+</a:t>
                </a: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zh-CN" altLang="en-US" sz="2000" b="1" dirty="0">
                    <a:solidFill>
                      <a:srgbClr val="C00000"/>
                    </a:solidFill>
                    <a:ea typeface="华文楷体" panose="02010600040101010101" pitchFamily="2" charset="-122"/>
                  </a:rPr>
                  <a:t>性质②</a:t>
                </a:r>
                <a:r>
                  <a:rPr lang="zh-CN" altLang="en-US" sz="2000" dirty="0" smtClean="0">
                    <a:ea typeface="华文楷体" panose="02010600040101010101" pitchFamily="2" charset="-122"/>
                  </a:rPr>
                  <a:t>：度为</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的树第</a:t>
                </a:r>
                <a:r>
                  <a:rPr lang="en-US" altLang="zh-CN" sz="2000" dirty="0" err="1" smtClean="0">
                    <a:ea typeface="华文楷体" panose="02010600040101010101" pitchFamily="2" charset="-122"/>
                  </a:rPr>
                  <a:t>i</a:t>
                </a:r>
                <a:r>
                  <a:rPr lang="zh-CN" altLang="en-US" sz="2000" dirty="0" smtClean="0">
                    <a:ea typeface="华文楷体" panose="02010600040101010101" pitchFamily="2" charset="-122"/>
                  </a:rPr>
                  <a:t>层至多有</a:t>
                </a:r>
                <a:r>
                  <a:rPr lang="en-US" altLang="zh-CN" sz="2000" dirty="0" smtClean="0">
                    <a:ea typeface="华文楷体" panose="02010600040101010101" pitchFamily="2" charset="-122"/>
                  </a:rPr>
                  <a:t>m</a:t>
                </a:r>
                <a:r>
                  <a:rPr lang="en-US" altLang="zh-CN" sz="2000" baseline="30000" dirty="0" smtClean="0">
                    <a:ea typeface="华文楷体" panose="02010600040101010101" pitchFamily="2" charset="-122"/>
                  </a:rPr>
                  <a:t>i-1</a:t>
                </a:r>
                <a:r>
                  <a:rPr lang="zh-CN" altLang="en-US" sz="2000" dirty="0" smtClean="0">
                    <a:ea typeface="华文楷体" panose="02010600040101010101" pitchFamily="2" charset="-122"/>
                  </a:rPr>
                  <a:t>个结点，其中</a:t>
                </a:r>
                <a:r>
                  <a:rPr lang="en-US" altLang="zh-CN" sz="2000" dirty="0" smtClean="0">
                    <a:ea typeface="华文楷体" panose="02010600040101010101" pitchFamily="2" charset="-122"/>
                  </a:rPr>
                  <a:t>i≤1</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zh-CN" altLang="en-US" sz="2000" dirty="0" smtClean="0">
                    <a:ea typeface="华文楷体" panose="02010600040101010101" pitchFamily="2" charset="-122"/>
                  </a:rPr>
                  <a:t>说明：通常树根结点层次为</a:t>
                </a: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，依次类推。</a:t>
                </a:r>
                <a:endParaRPr lang="en-US" altLang="zh-CN" sz="2000" dirty="0" smtClean="0">
                  <a:ea typeface="华文楷体" panose="02010600040101010101" pitchFamily="2" charset="-122"/>
                </a:endParaRPr>
              </a:p>
              <a:p>
                <a:pPr marL="0" indent="0">
                  <a:buNone/>
                </a:pPr>
                <a:r>
                  <a:rPr lang="zh-CN" altLang="en-US" sz="2000" b="1" dirty="0">
                    <a:solidFill>
                      <a:srgbClr val="C00000"/>
                    </a:solidFill>
                    <a:ea typeface="华文楷体" panose="02010600040101010101" pitchFamily="2" charset="-122"/>
                  </a:rPr>
                  <a:t>性质③</a:t>
                </a:r>
                <a:r>
                  <a:rPr lang="zh-CN" altLang="en-US" sz="2000" dirty="0" smtClean="0">
                    <a:ea typeface="华文楷体" panose="02010600040101010101" pitchFamily="2" charset="-122"/>
                  </a:rPr>
                  <a:t>：高度为</a:t>
                </a:r>
                <a:r>
                  <a:rPr lang="en-US" altLang="zh-CN" sz="2000" dirty="0" smtClean="0">
                    <a:ea typeface="华文楷体" panose="02010600040101010101" pitchFamily="2" charset="-122"/>
                  </a:rPr>
                  <a:t>h</a:t>
                </a:r>
                <a:r>
                  <a:rPr lang="zh-CN" altLang="en-US" sz="2000" dirty="0" smtClean="0">
                    <a:ea typeface="华文楷体" panose="02010600040101010101" pitchFamily="2" charset="-122"/>
                  </a:rPr>
                  <a:t>，度为</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的树，最多有</a:t>
                </a:r>
                <a14:m>
                  <m:oMath xmlns:m="http://schemas.openxmlformats.org/officeDocument/2006/math">
                    <m:r>
                      <a:rPr lang="en-US" altLang="zh-CN" sz="2000" b="0" i="0"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𝑚</m:t>
                    </m:r>
                    <m:r>
                      <a:rPr lang="en-US" altLang="zh-CN" sz="2000" b="0" i="1" baseline="30000" smtClean="0">
                        <a:latin typeface="Cambria Math" panose="02040503050406030204" pitchFamily="18" charset="0"/>
                        <a:ea typeface="华文楷体" panose="02010600040101010101" pitchFamily="2" charset="-122"/>
                      </a:rPr>
                      <m:t>𝑘</m:t>
                    </m:r>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𝑚</m:t>
                    </m:r>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r>
                      <a:rPr lang="en-US" altLang="zh-CN" sz="2000" b="0" i="1" smtClean="0">
                        <a:latin typeface="Cambria Math" panose="02040503050406030204" pitchFamily="18" charset="0"/>
                        <a:ea typeface="华文楷体" panose="02010600040101010101" pitchFamily="2" charset="-122"/>
                      </a:rPr>
                      <m:t>)</m:t>
                    </m:r>
                    <m:r>
                      <a:rPr lang="zh-CN" altLang="en-US" sz="2000" i="1">
                        <a:latin typeface="Cambria Math" panose="02040503050406030204" pitchFamily="18" charset="0"/>
                        <a:ea typeface="华文楷体" panose="02010600040101010101" pitchFamily="2" charset="-122"/>
                      </a:rPr>
                      <m:t>个</m:t>
                    </m:r>
                  </m:oMath>
                </a14:m>
                <a:r>
                  <a:rPr lang="zh-CN" altLang="en-US" sz="2000" dirty="0" smtClean="0">
                    <a:ea typeface="华文楷体" panose="02010600040101010101" pitchFamily="2" charset="-122"/>
                  </a:rPr>
                  <a:t>结点。</a:t>
                </a:r>
                <a:endParaRPr lang="en-US" altLang="zh-CN" sz="2000" dirty="0" smtClean="0">
                  <a:ea typeface="华文楷体" panose="02010600040101010101" pitchFamily="2" charset="-122"/>
                </a:endParaRPr>
              </a:p>
              <a:p>
                <a:pPr marL="0" indent="0">
                  <a:buNone/>
                </a:pPr>
                <a:r>
                  <a:rPr lang="zh-CN" altLang="en-US" sz="2000" b="1" dirty="0">
                    <a:solidFill>
                      <a:srgbClr val="C00000"/>
                    </a:solidFill>
                    <a:ea typeface="华文楷体" panose="02010600040101010101" pitchFamily="2" charset="-122"/>
                  </a:rPr>
                  <a:t>性质④</a:t>
                </a:r>
                <a:r>
                  <a:rPr lang="zh-CN" altLang="en-US" sz="2000" dirty="0" smtClean="0">
                    <a:latin typeface="华文楷体" panose="02010600040101010101" pitchFamily="2" charset="-122"/>
                    <a:ea typeface="华文楷体" panose="02010600040101010101" pitchFamily="2" charset="-122"/>
                  </a:rPr>
                  <a:t>：具有</a:t>
                </a:r>
                <a:r>
                  <a:rPr lang="en-US" altLang="zh-CN" sz="2000" dirty="0" smtClean="0">
                    <a:latin typeface="华文楷体" panose="02010600040101010101" pitchFamily="2" charset="-122"/>
                    <a:ea typeface="华文楷体" panose="02010600040101010101" pitchFamily="2" charset="-122"/>
                  </a:rPr>
                  <a:t>n</a:t>
                </a:r>
                <a:r>
                  <a:rPr lang="zh-CN" altLang="en-US" sz="2000" dirty="0" smtClean="0">
                    <a:latin typeface="华文楷体" panose="02010600040101010101" pitchFamily="2" charset="-122"/>
                    <a:ea typeface="华文楷体" panose="02010600040101010101" pitchFamily="2" charset="-122"/>
                  </a:rPr>
                  <a:t>个结点，</a:t>
                </a:r>
                <a:r>
                  <a:rPr lang="zh-CN" altLang="en-US" sz="2000" dirty="0">
                    <a:ea typeface="华文楷体" panose="02010600040101010101" pitchFamily="2" charset="-122"/>
                  </a:rPr>
                  <a:t>度为</a:t>
                </a:r>
                <a:r>
                  <a:rPr lang="en-US" altLang="zh-CN" sz="2000" dirty="0">
                    <a:ea typeface="华文楷体" panose="02010600040101010101" pitchFamily="2" charset="-122"/>
                  </a:rPr>
                  <a:t>m</a:t>
                </a:r>
                <a:r>
                  <a:rPr lang="zh-CN" altLang="en-US" sz="2000" dirty="0">
                    <a:ea typeface="华文楷体" panose="02010600040101010101" pitchFamily="2" charset="-122"/>
                  </a:rPr>
                  <a:t>的树</a:t>
                </a:r>
                <a:r>
                  <a:rPr lang="zh-CN" altLang="en-US" sz="2000" dirty="0" smtClean="0">
                    <a:ea typeface="华文楷体" panose="02010600040101010101" pitchFamily="2" charset="-122"/>
                  </a:rPr>
                  <a:t>，最小高度为</a:t>
                </a:r>
                <a14:m>
                  <m:oMath xmlns:m="http://schemas.openxmlformats.org/officeDocument/2006/math">
                    <m:d>
                      <m:dPr>
                        <m:begChr m:val="⌈"/>
                        <m:endChr m:val="⌉"/>
                        <m:ctrlPr>
                          <a:rPr lang="zh-CN" altLang="en-US" sz="2000" i="1" smtClean="0">
                            <a:latin typeface="Cambria Math" panose="02040503050406030204" pitchFamily="18" charset="0"/>
                            <a:ea typeface="华文楷体" panose="02010600040101010101" pitchFamily="2" charset="-122"/>
                          </a:rPr>
                        </m:ctrlPr>
                      </m:dPr>
                      <m:e>
                        <m:sSub>
                          <m:sSubPr>
                            <m:ctrlPr>
                              <a:rPr lang="en-US" altLang="zh-CN" sz="2000" i="1" smtClean="0">
                                <a:latin typeface="Cambria Math" panose="02040503050406030204" pitchFamily="18" charset="0"/>
                                <a:ea typeface="华文楷体" panose="02010600040101010101" pitchFamily="2" charset="-122"/>
                              </a:rPr>
                            </m:ctrlPr>
                          </m:sSubPr>
                          <m:e>
                            <m:r>
                              <m:rPr>
                                <m:sty m:val="p"/>
                              </m:rPr>
                              <a:rPr lang="en-US" altLang="zh-CN" sz="2000" i="1">
                                <a:latin typeface="Cambria Math" panose="02040503050406030204" pitchFamily="18" charset="0"/>
                                <a:ea typeface="华文楷体" panose="02010600040101010101" pitchFamily="2" charset="-122"/>
                              </a:rPr>
                              <m:t>log</m:t>
                            </m:r>
                          </m:e>
                          <m:sub>
                            <m:r>
                              <m:rPr>
                                <m:sty m:val="p"/>
                              </m:rPr>
                              <a:rPr lang="en-US" altLang="zh-CN" sz="2000" i="1">
                                <a:latin typeface="Cambria Math" panose="02040503050406030204" pitchFamily="18" charset="0"/>
                                <a:ea typeface="华文楷体" panose="02010600040101010101" pitchFamily="2" charset="-122"/>
                              </a:rPr>
                              <m:t>m</m:t>
                            </m:r>
                          </m:sub>
                        </m:sSub>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𝑛</m:t>
                        </m:r>
                        <m:r>
                          <a:rPr lang="en-US" altLang="zh-CN" sz="2000" b="0" i="1" smtClean="0">
                            <a:latin typeface="Cambria Math" panose="02040503050406030204" pitchFamily="18" charset="0"/>
                            <a:ea typeface="华文楷体" panose="02010600040101010101" pitchFamily="2" charset="-122"/>
                          </a:rPr>
                          <m:t>∗</m:t>
                        </m:r>
                        <m:d>
                          <m:dPr>
                            <m:ctrlPr>
                              <a:rPr lang="en-US" altLang="zh-CN" sz="2000" b="0" i="1" smtClean="0">
                                <a:latin typeface="Cambria Math" panose="02040503050406030204" pitchFamily="18" charset="0"/>
                                <a:ea typeface="华文楷体" panose="02010600040101010101" pitchFamily="2" charset="-122"/>
                              </a:rPr>
                            </m:ctrlPr>
                          </m:dPr>
                          <m:e>
                            <m:r>
                              <a:rPr lang="en-US" altLang="zh-CN" sz="2000" i="1">
                                <a:latin typeface="Cambria Math" panose="02040503050406030204" pitchFamily="18" charset="0"/>
                                <a:ea typeface="华文楷体" panose="02010600040101010101" pitchFamily="2" charset="-122"/>
                              </a:rPr>
                              <m:t>𝑚</m:t>
                            </m:r>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e>
                        </m:d>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r>
                          <a:rPr lang="en-US" altLang="zh-CN" sz="2000" b="0" i="1" smtClean="0">
                            <a:latin typeface="Cambria Math" panose="02040503050406030204" pitchFamily="18" charset="0"/>
                            <a:ea typeface="华文楷体" panose="02010600040101010101" pitchFamily="2" charset="-122"/>
                          </a:rPr>
                          <m:t>)</m:t>
                        </m:r>
                      </m:e>
                    </m:d>
                    <m:r>
                      <a:rPr lang="zh-CN" altLang="en-US" sz="2000" i="1">
                        <a:latin typeface="Cambria Math" panose="02040503050406030204" pitchFamily="18" charset="0"/>
                        <a:ea typeface="华文楷体" panose="02010600040101010101" pitchFamily="2" charset="-122"/>
                      </a:rPr>
                      <m:t>。</m:t>
                    </m:r>
                  </m:oMath>
                </a14:m>
                <a:endParaRPr lang="zh-CN" altLang="en-US" sz="20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228714" y="1459680"/>
                <a:ext cx="8584350" cy="1981148"/>
              </a:xfrm>
              <a:blipFill rotWithShape="1">
                <a:blip r:embed="rId1"/>
                <a:stretch>
                  <a:fillRect l="-61" t="-247" r="-53" b="-236"/>
                </a:stretch>
              </a:blipFill>
              <a:ln>
                <a:solidFill>
                  <a:schemeClr val="accent1"/>
                </a:solidFill>
              </a:ln>
            </p:spPr>
            <p:txBody>
              <a:bodyPr/>
              <a:lstStyle/>
              <a:p>
                <a:r>
                  <a:rPr lang="zh-CN" altLang="en-US">
                    <a:noFill/>
                  </a:rPr>
                  <a:t> </a:t>
                </a:r>
              </a:p>
            </p:txBody>
          </p:sp>
        </mc:Fallback>
      </mc:AlternateContent>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5" name="矩形 4"/>
          <p:cNvSpPr/>
          <p:nvPr/>
        </p:nvSpPr>
        <p:spPr>
          <a:xfrm>
            <a:off x="457308" y="998015"/>
            <a:ext cx="1582484" cy="461665"/>
          </a:xfrm>
          <a:prstGeom prst="rect">
            <a:avLst/>
          </a:prstGeom>
        </p:spPr>
        <p:txBody>
          <a:bodyPr wrap="none">
            <a:spAutoFit/>
          </a:bodyPr>
          <a:lstStyle/>
          <a:p>
            <a:pPr marL="0" indent="0">
              <a:buNone/>
            </a:pPr>
            <a:r>
              <a:rPr lang="en-US" altLang="zh-CN" b="1" dirty="0">
                <a:solidFill>
                  <a:srgbClr val="C00000"/>
                </a:solidFill>
                <a:latin typeface="华文楷体" panose="02010600040101010101" pitchFamily="2" charset="-122"/>
                <a:ea typeface="华文楷体" panose="02010600040101010101" pitchFamily="2" charset="-122"/>
              </a:rPr>
              <a:t>[</a:t>
            </a:r>
            <a:r>
              <a:rPr lang="zh-CN" altLang="en-US" b="1" dirty="0">
                <a:solidFill>
                  <a:srgbClr val="C00000"/>
                </a:solidFill>
                <a:latin typeface="华文楷体" panose="02010600040101010101" pitchFamily="2" charset="-122"/>
                <a:ea typeface="华文楷体" panose="02010600040101010101" pitchFamily="2" charset="-122"/>
              </a:rPr>
              <a:t>树</a:t>
            </a:r>
            <a:r>
              <a:rPr lang="zh-CN" altLang="en-US" b="1" dirty="0" smtClean="0">
                <a:solidFill>
                  <a:srgbClr val="C00000"/>
                </a:solidFill>
                <a:latin typeface="华文楷体" panose="02010600040101010101" pitchFamily="2" charset="-122"/>
                <a:ea typeface="华文楷体" panose="02010600040101010101" pitchFamily="2" charset="-122"/>
              </a:rPr>
              <a:t>的性质</a:t>
            </a:r>
            <a:r>
              <a:rPr lang="en-US" altLang="zh-CN" b="1" dirty="0" smtClean="0">
                <a:solidFill>
                  <a:srgbClr val="C00000"/>
                </a:solidFill>
                <a:latin typeface="华文楷体" panose="02010600040101010101" pitchFamily="2" charset="-122"/>
                <a:ea typeface="华文楷体" panose="02010600040101010101" pitchFamily="2" charset="-122"/>
              </a:rPr>
              <a:t>]</a:t>
            </a:r>
            <a:endParaRPr lang="zh-CN" altLang="en-US" b="1" dirty="0">
              <a:solidFill>
                <a:srgbClr val="C00000"/>
              </a:solidFill>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6" name="内容占位符 2"/>
              <p:cNvSpPr txBox="1"/>
              <p:nvPr/>
            </p:nvSpPr>
            <p:spPr bwMode="auto">
              <a:xfrm>
                <a:off x="228714" y="3505198"/>
                <a:ext cx="8838968" cy="3276514"/>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sz="2000" b="1" dirty="0" smtClean="0">
                    <a:solidFill>
                      <a:srgbClr val="C00000"/>
                    </a:solidFill>
                    <a:ea typeface="华文楷体" panose="02010600040101010101" pitchFamily="2" charset="-122"/>
                  </a:rPr>
                  <a:t>求解方法归纳</a:t>
                </a:r>
                <a:endParaRPr lang="en-US" altLang="zh-CN" sz="2000" b="1" dirty="0" smtClean="0">
                  <a:solidFill>
                    <a:srgbClr val="C00000"/>
                  </a:solidFill>
                  <a:ea typeface="华文楷体" panose="02010600040101010101" pitchFamily="2" charset="-122"/>
                </a:endParaRPr>
              </a:p>
              <a:p>
                <a:pPr marL="0" indent="0">
                  <a:buNone/>
                </a:pPr>
                <a:r>
                  <a:rPr lang="zh-CN" altLang="en-US" sz="2000" dirty="0">
                    <a:ea typeface="华文楷体" panose="02010600040101010101" pitchFamily="2" charset="-122"/>
                  </a:rPr>
                  <a:t>利用</a:t>
                </a:r>
                <a:r>
                  <a:rPr lang="zh-CN" altLang="en-US" sz="2000" dirty="0" smtClean="0">
                    <a:ea typeface="华文楷体" panose="02010600040101010101" pitchFamily="2" charset="-122"/>
                  </a:rPr>
                  <a:t>树的性质求解树中结点个数的一般方法：对于</a:t>
                </a:r>
                <a:r>
                  <a:rPr lang="zh-CN" altLang="en-US" sz="2000" dirty="0">
                    <a:ea typeface="华文楷体" panose="02010600040101010101" pitchFamily="2" charset="-122"/>
                  </a:rPr>
                  <a:t>度为</a:t>
                </a:r>
                <a:r>
                  <a:rPr lang="en-US" altLang="zh-CN" sz="2000" dirty="0">
                    <a:ea typeface="华文楷体" panose="02010600040101010101" pitchFamily="2" charset="-122"/>
                  </a:rPr>
                  <a:t>m</a:t>
                </a:r>
                <a:r>
                  <a:rPr lang="zh-CN" altLang="en-US" sz="2000" dirty="0">
                    <a:ea typeface="华文楷体" panose="02010600040101010101" pitchFamily="2" charset="-122"/>
                  </a:rPr>
                  <a:t>的</a:t>
                </a:r>
                <a:r>
                  <a:rPr lang="zh-CN" altLang="en-US" sz="2000" dirty="0" smtClean="0">
                    <a:ea typeface="华文楷体" panose="02010600040101010101" pitchFamily="2" charset="-122"/>
                  </a:rPr>
                  <a:t>树，有：</a:t>
                </a:r>
                <a:endParaRPr lang="en-US" altLang="zh-CN" sz="2000" dirty="0" smtClean="0">
                  <a:ea typeface="华文楷体" panose="02010600040101010101" pitchFamily="2" charset="-122"/>
                </a:endParaRPr>
              </a:p>
              <a:p>
                <a:pPr marL="0" indent="0">
                  <a:buNone/>
                </a:pPr>
                <a14:m>
                  <m:oMath xmlns:m="http://schemas.openxmlformats.org/officeDocument/2006/math">
                    <m:r>
                      <a:rPr lang="en-US" altLang="zh-CN" sz="2000" b="0" i="1" smtClean="0">
                        <a:latin typeface="Cambria Math" panose="02040503050406030204" pitchFamily="18" charset="0"/>
                        <a:ea typeface="华文楷体" panose="02010600040101010101" pitchFamily="2" charset="-122"/>
                      </a:rPr>
                      <m:t>𝑛</m:t>
                    </m:r>
                    <m:r>
                      <a:rPr lang="en-US" altLang="zh-CN" sz="2000" b="0" i="1" smtClean="0">
                        <a:latin typeface="Cambria Math" panose="02040503050406030204" pitchFamily="18" charset="0"/>
                        <a:ea typeface="华文楷体" panose="02010600040101010101" pitchFamily="2" charset="-122"/>
                      </a:rPr>
                      <m:t>=</m:t>
                    </m:r>
                    <m:sSub>
                      <m:sSubPr>
                        <m:ctrlPr>
                          <a:rPr lang="en-US" altLang="zh-CN" sz="2000" b="0" i="1" smtClean="0">
                            <a:latin typeface="Cambria Math" panose="02040503050406030204" pitchFamily="18" charset="0"/>
                            <a:ea typeface="华文楷体" panose="02010600040101010101" pitchFamily="2" charset="-122"/>
                          </a:rPr>
                        </m:ctrlPr>
                      </m:sSubPr>
                      <m:e>
                        <m:r>
                          <a:rPr lang="en-US" altLang="zh-CN" sz="2000" b="0" i="1" smtClean="0">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0</m:t>
                        </m:r>
                      </m:sub>
                    </m:sSub>
                    <m:r>
                      <a:rPr lang="en-US" altLang="zh-CN" sz="2000" b="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1</m:t>
                        </m:r>
                      </m:sub>
                    </m:sSub>
                    <m:r>
                      <a:rPr lang="en-US" altLang="zh-CN" sz="2000" b="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𝑚</m:t>
                        </m:r>
                      </m:sub>
                    </m:sSub>
                  </m:oMath>
                </a14:m>
                <a:r>
                  <a:rPr lang="zh-CN" altLang="en-US" sz="2000" dirty="0" smtClean="0">
                    <a:ea typeface="华文楷体" panose="02010600040101010101" pitchFamily="2" charset="-122"/>
                  </a:rPr>
                  <a:t>                  </a:t>
                </a:r>
                <a:r>
                  <a:rPr lang="zh-CN" altLang="en-US" sz="2000" dirty="0" smtClean="0">
                    <a:latin typeface="华文楷体" panose="02010600040101010101" pitchFamily="2" charset="-122"/>
                    <a:ea typeface="华文楷体" panose="02010600040101010101" pitchFamily="2" charset="-122"/>
                  </a:rPr>
                  <a:t>① </a:t>
                </a:r>
                <a14:m>
                  <m:oMath xmlns:m="http://schemas.openxmlformats.org/officeDocument/2006/math">
                    <m:r>
                      <a:rPr lang="en-US" altLang="zh-CN" sz="2000" b="0" i="0" dirty="0" smtClean="0">
                        <a:latin typeface="Cambria Math" panose="02040503050406030204" pitchFamily="18" charset="0"/>
                        <a:ea typeface="华文楷体" panose="02010600040101010101" pitchFamily="2" charset="-122"/>
                      </a:rPr>
                      <m:t>     </m:t>
                    </m:r>
                    <m:r>
                      <m:rPr>
                        <m:nor/>
                      </m:rPr>
                      <a:rPr lang="zh-CN" altLang="en-US" sz="2000" dirty="0">
                        <a:latin typeface="Cambria Math" panose="02040503050406030204" pitchFamily="18" charset="0"/>
                        <a:ea typeface="华文楷体" panose="02010600040101010101" pitchFamily="2" charset="-122"/>
                      </a:rPr>
                      <m:t>度</m:t>
                    </m:r>
                    <m:r>
                      <a:rPr lang="zh-CN" altLang="en-US" sz="2000" i="1" smtClean="0">
                        <a:latin typeface="Cambria Math" panose="02040503050406030204" pitchFamily="18" charset="0"/>
                        <a:ea typeface="华文楷体" panose="02010600040101010101" pitchFamily="2" charset="-122"/>
                      </a:rPr>
                      <m:t>之和</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𝑛</m:t>
                    </m:r>
                    <m:r>
                      <a:rPr lang="en-US" altLang="zh-CN" sz="200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oMath>
                </a14:m>
                <a:r>
                  <a:rPr lang="en-US" altLang="zh-CN" sz="2000" dirty="0" smtClean="0">
                    <a:ea typeface="华文楷体" panose="02010600040101010101" pitchFamily="2" charset="-122"/>
                  </a:rPr>
                  <a:t>                              </a:t>
                </a:r>
                <a:r>
                  <a:rPr lang="en-US" altLang="zh-CN" sz="2000" dirty="0" smtClean="0">
                    <a:latin typeface="华文楷体" panose="02010600040101010101" pitchFamily="2" charset="-122"/>
                    <a:ea typeface="华文楷体" panose="02010600040101010101" pitchFamily="2" charset="-122"/>
                  </a:rPr>
                  <a:t>②</a:t>
                </a:r>
                <a:endParaRPr lang="en-US" altLang="zh-CN" sz="2000" dirty="0">
                  <a:ea typeface="华文楷体" panose="02010600040101010101" pitchFamily="2" charset="-122"/>
                </a:endParaRPr>
              </a:p>
              <a:p>
                <a:pPr marL="0" indent="0">
                  <a:buNone/>
                </a:pPr>
                <a14:m>
                  <m:oMath xmlns:m="http://schemas.openxmlformats.org/officeDocument/2006/math">
                    <m:r>
                      <m:rPr>
                        <m:nor/>
                      </m:rPr>
                      <a:rPr lang="zh-CN" altLang="en-US" sz="2000" dirty="0">
                        <a:latin typeface="Cambria Math" panose="02040503050406030204" pitchFamily="18" charset="0"/>
                        <a:ea typeface="华文楷体" panose="02010600040101010101" pitchFamily="2" charset="-122"/>
                      </a:rPr>
                      <m:t>度</m:t>
                    </m:r>
                    <m:r>
                      <a:rPr lang="zh-CN" altLang="en-US" sz="2000" i="1">
                        <a:latin typeface="Cambria Math" panose="02040503050406030204" pitchFamily="18" charset="0"/>
                        <a:ea typeface="华文楷体" panose="02010600040101010101" pitchFamily="2" charset="-122"/>
                      </a:rPr>
                      <m:t>之和</m:t>
                    </m:r>
                    <m:r>
                      <a:rPr lang="en-US" altLang="zh-CN"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1</m:t>
                        </m:r>
                      </m:sub>
                    </m:sSub>
                    <m:r>
                      <a:rPr lang="en-US" altLang="zh-CN" sz="200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2</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2</m:t>
                        </m:r>
                      </m:sub>
                    </m:sSub>
                    <m:r>
                      <a:rPr lang="en-US" altLang="zh-CN" sz="200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𝑚</m:t>
                    </m:r>
                    <m:r>
                      <a:rPr lang="zh-CN" altLang="en-US"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𝑚</m:t>
                        </m:r>
                      </m:sub>
                    </m:sSub>
                  </m:oMath>
                </a14:m>
                <a:r>
                  <a:rPr lang="zh-CN" altLang="en-US" sz="2000" dirty="0" smtClean="0">
                    <a:ea typeface="华文楷体" panose="02010600040101010101" pitchFamily="2" charset="-122"/>
                  </a:rPr>
                  <a:t>  </a:t>
                </a:r>
                <a:r>
                  <a:rPr lang="zh-CN" altLang="en-US" sz="2000" dirty="0" smtClean="0">
                    <a:latin typeface="华文楷体" panose="02010600040101010101" pitchFamily="2" charset="-122"/>
                    <a:ea typeface="华文楷体" panose="02010600040101010101" pitchFamily="2" charset="-122"/>
                  </a:rPr>
                  <a:t>③</a:t>
                </a:r>
                <a:endParaRPr lang="en-US" altLang="zh-CN" sz="2000" dirty="0" smtClean="0">
                  <a:latin typeface="华文楷体" panose="02010600040101010101" pitchFamily="2" charset="-122"/>
                  <a:ea typeface="华文楷体" panose="02010600040101010101" pitchFamily="2" charset="-122"/>
                </a:endParaRPr>
              </a:p>
              <a:p>
                <a:pPr marL="0" indent="0">
                  <a:buNone/>
                </a:pPr>
                <a:r>
                  <a:rPr lang="zh-CN" altLang="en-US" sz="2000" dirty="0" smtClean="0">
                    <a:latin typeface="华文楷体" panose="02010600040101010101" pitchFamily="2" charset="-122"/>
                    <a:ea typeface="华文楷体" panose="02010600040101010101" pitchFamily="2" charset="-122"/>
                  </a:rPr>
                  <a:t>联合①②③可得：</a:t>
                </a:r>
                <a:endParaRPr lang="en-US" altLang="zh-CN" sz="2000" dirty="0" smtClean="0">
                  <a:latin typeface="华文楷体" panose="02010600040101010101" pitchFamily="2" charset="-122"/>
                  <a:ea typeface="华文楷体" panose="02010600040101010101" pitchFamily="2" charset="-122"/>
                </a:endParaRPr>
              </a:p>
              <a:p>
                <a:pPr marL="0" indent="0">
                  <a:buNone/>
                </a:pPr>
                <a14:m>
                  <m:oMath xmlns:m="http://schemas.openxmlformats.org/officeDocument/2006/math">
                    <m:r>
                      <a:rPr lang="en-US" altLang="zh-CN" sz="2000" i="1">
                        <a:latin typeface="Cambria Math" panose="02040503050406030204" pitchFamily="18" charset="0"/>
                        <a:ea typeface="华文楷体" panose="02010600040101010101" pitchFamily="2" charset="-122"/>
                      </a:rPr>
                      <m:t>𝑛</m:t>
                    </m:r>
                    <m:r>
                      <a:rPr lang="en-US" altLang="zh-CN" sz="2000" i="1">
                        <a:latin typeface="Cambria Math" panose="02040503050406030204" pitchFamily="18" charset="0"/>
                        <a:ea typeface="华文楷体" panose="02010600040101010101" pitchFamily="2" charset="-122"/>
                      </a:rPr>
                      <m:t>=</m:t>
                    </m:r>
                    <m:sSub>
                      <m:sSubPr>
                        <m:ctrlPr>
                          <a:rPr lang="en-US" altLang="zh-CN" sz="2000" i="1" smtClean="0">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1</m:t>
                        </m:r>
                      </m:sub>
                    </m:sSub>
                    <m:r>
                      <a:rPr lang="en-US" altLang="zh-CN" sz="2000" i="1">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2</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2</m:t>
                        </m:r>
                      </m:sub>
                    </m:sSub>
                    <m:r>
                      <a:rPr lang="en-US" altLang="zh-CN"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b="0" i="1" smtClean="0">
                            <a:latin typeface="Cambria Math" panose="02040503050406030204" pitchFamily="18" charset="0"/>
                            <a:ea typeface="华文楷体" panose="02010600040101010101" pitchFamily="2" charset="-122"/>
                          </a:rPr>
                          <m:t>𝑚</m:t>
                        </m:r>
                        <m:r>
                          <a:rPr lang="en-US" altLang="zh-CN" sz="2000" b="0" i="1" smtClean="0">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𝑚</m:t>
                        </m:r>
                      </m:sub>
                    </m:sSub>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r>
                      <a:rPr lang="en-US" altLang="zh-CN" sz="2000" b="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0</m:t>
                        </m:r>
                      </m:sub>
                    </m:sSub>
                    <m:r>
                      <a:rPr lang="en-US" altLang="zh-CN"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1</m:t>
                        </m:r>
                      </m:sub>
                    </m:sSub>
                    <m:r>
                      <a:rPr lang="en-US" altLang="zh-CN"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𝑚</m:t>
                        </m:r>
                      </m:sub>
                    </m:sSub>
                  </m:oMath>
                </a14:m>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None/>
                </a:pP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0</m:t>
                        </m:r>
                      </m:sub>
                    </m:sSub>
                    <m:r>
                      <a:rPr lang="en-US" altLang="zh-CN" sz="2000" b="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2</m:t>
                        </m:r>
                      </m:sub>
                    </m:sSub>
                    <m:r>
                      <a:rPr lang="en-US" altLang="zh-CN" sz="2000" i="1">
                        <a:latin typeface="Cambria Math" panose="02040503050406030204" pitchFamily="18" charset="0"/>
                        <a:ea typeface="华文楷体" panose="02010600040101010101" pitchFamily="2" charset="-122"/>
                      </a:rPr>
                      <m:t>+…+</m:t>
                    </m:r>
                    <m:d>
                      <m:dPr>
                        <m:ctrlPr>
                          <a:rPr lang="en-US" altLang="zh-CN" sz="2000" b="0" i="1" smtClean="0">
                            <a:latin typeface="Cambria Math" panose="02040503050406030204" pitchFamily="18" charset="0"/>
                            <a:ea typeface="华文楷体" panose="02010600040101010101" pitchFamily="2" charset="-122"/>
                          </a:rPr>
                        </m:ctrlPr>
                      </m:dPr>
                      <m:e>
                        <m:r>
                          <a:rPr lang="en-US" altLang="zh-CN" sz="2000" b="0" i="1" smtClean="0">
                            <a:latin typeface="Cambria Math" panose="02040503050406030204" pitchFamily="18" charset="0"/>
                            <a:ea typeface="华文楷体" panose="02010600040101010101" pitchFamily="2" charset="-122"/>
                          </a:rPr>
                          <m:t>𝑚</m:t>
                        </m:r>
                        <m:r>
                          <a:rPr lang="en-US" altLang="zh-CN" sz="2000" b="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e>
                    </m:d>
                    <m:r>
                      <a:rPr lang="en-US" altLang="zh-CN" sz="2000" b="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𝑚</m:t>
                        </m:r>
                      </m:sub>
                    </m:sSub>
                    <m:r>
                      <a:rPr lang="en-US" altLang="zh-CN" sz="2000" i="1">
                        <a:latin typeface="Cambria Math" panose="02040503050406030204" pitchFamily="18" charset="0"/>
                        <a:ea typeface="华文楷体" panose="02010600040101010101" pitchFamily="2" charset="-122"/>
                      </a:rPr>
                      <m:t>+</m:t>
                    </m:r>
                  </m:oMath>
                </a14:m>
                <a:r>
                  <a:rPr lang="en-US" altLang="zh-CN" sz="2000" dirty="0" smtClean="0">
                    <a:ea typeface="华文楷体" panose="02010600040101010101" pitchFamily="2" charset="-122"/>
                  </a:rPr>
                  <a:t>1 </a:t>
                </a:r>
                <a:endParaRPr lang="en-US" altLang="zh-CN" sz="2000" dirty="0" smtClean="0">
                  <a:ea typeface="华文楷体" panose="02010600040101010101" pitchFamily="2" charset="-122"/>
                </a:endParaRPr>
              </a:p>
              <a:p>
                <a:pPr marL="0" indent="0">
                  <a:buNone/>
                </a:pPr>
                <a:r>
                  <a:rPr lang="zh-CN" altLang="en-US" sz="2000" b="1" dirty="0" smtClean="0">
                    <a:solidFill>
                      <a:srgbClr val="C00000"/>
                    </a:solidFill>
                    <a:ea typeface="华文楷体" panose="02010600040101010101" pitchFamily="2" charset="-122"/>
                  </a:rPr>
                  <a:t>例</a:t>
                </a:r>
                <a:r>
                  <a:rPr lang="zh-CN" altLang="en-US" sz="2000" dirty="0" smtClean="0">
                    <a:ea typeface="华文楷体" panose="02010600040101010101" pitchFamily="2" charset="-122"/>
                  </a:rPr>
                  <a:t> 一棵度为</a:t>
                </a:r>
                <a:r>
                  <a:rPr lang="en-US" altLang="zh-CN" sz="2000" dirty="0" smtClean="0">
                    <a:ea typeface="华文楷体" panose="02010600040101010101" pitchFamily="2" charset="-122"/>
                  </a:rPr>
                  <a:t>3</a:t>
                </a:r>
                <a:r>
                  <a:rPr lang="zh-CN" altLang="en-US" sz="2000" dirty="0" smtClean="0">
                    <a:ea typeface="华文楷体" panose="02010600040101010101" pitchFamily="2" charset="-122"/>
                  </a:rPr>
                  <a:t>的树中有</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个</a:t>
                </a:r>
                <a:r>
                  <a:rPr lang="zh-CN" altLang="en-US" sz="2000" dirty="0">
                    <a:ea typeface="华文楷体" panose="02010600040101010101" pitchFamily="2" charset="-122"/>
                  </a:rPr>
                  <a:t>度</a:t>
                </a:r>
                <a:r>
                  <a:rPr lang="zh-CN" altLang="en-US" sz="2000" dirty="0" smtClean="0">
                    <a:ea typeface="华文楷体" panose="02010600040101010101" pitchFamily="2" charset="-122"/>
                  </a:rPr>
                  <a:t>为</a:t>
                </a:r>
                <a:r>
                  <a:rPr lang="en-US" altLang="zh-CN" sz="2000" dirty="0" smtClean="0">
                    <a:ea typeface="华文楷体" panose="02010600040101010101" pitchFamily="2" charset="-122"/>
                  </a:rPr>
                  <a:t>3</a:t>
                </a:r>
                <a:r>
                  <a:rPr lang="zh-CN" altLang="en-US" sz="2000" dirty="0" smtClean="0">
                    <a:ea typeface="华文楷体" panose="02010600040101010101" pitchFamily="2" charset="-122"/>
                  </a:rPr>
                  <a:t>的结点，</a:t>
                </a: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个度为</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的结点，</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个度为</a:t>
                </a: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的结点，则共有</a:t>
                </a:r>
                <a:r>
                  <a:rPr lang="en-US" altLang="zh-CN" sz="2000" b="1" u="sng" dirty="0" smtClean="0">
                    <a:solidFill>
                      <a:srgbClr val="C00000"/>
                    </a:solidFill>
                    <a:ea typeface="华文楷体" panose="02010600040101010101" pitchFamily="2" charset="-122"/>
                  </a:rPr>
                  <a:t>11</a:t>
                </a:r>
                <a:r>
                  <a:rPr lang="zh-CN" altLang="en-US" sz="2000" dirty="0" smtClean="0">
                    <a:ea typeface="华文楷体" panose="02010600040101010101" pitchFamily="2" charset="-122"/>
                  </a:rPr>
                  <a:t>个结点。</a:t>
                </a:r>
                <a:endParaRPr lang="en-US" altLang="zh-CN" sz="2000" dirty="0" smtClean="0">
                  <a:ea typeface="华文楷体" panose="02010600040101010101" pitchFamily="2" charset="-122"/>
                </a:endParaRPr>
              </a:p>
              <a:p>
                <a:pPr marL="0" indent="0">
                  <a:buNone/>
                </a:pPr>
                <a:endParaRPr lang="en-US" altLang="zh-CN" sz="2000" dirty="0" smtClean="0">
                  <a:ea typeface="华文楷体" panose="02010600040101010101" pitchFamily="2" charset="-122"/>
                </a:endParaRPr>
              </a:p>
              <a:p>
                <a:pPr marL="0" indent="0">
                  <a:buNone/>
                </a:pPr>
                <a:endParaRPr lang="zh-CN" altLang="en-US" sz="2000" dirty="0">
                  <a:ea typeface="华文楷体" panose="02010600040101010101" pitchFamily="2" charset="-122"/>
                </a:endParaRPr>
              </a:p>
              <a:p>
                <a:pPr marL="0" indent="0">
                  <a:buNone/>
                </a:pPr>
                <a:endParaRPr lang="zh-CN" altLang="en-US" sz="2000" dirty="0">
                  <a:ea typeface="华文楷体" panose="02010600040101010101" pitchFamily="2" charset="-122"/>
                </a:endParaRPr>
              </a:p>
            </p:txBody>
          </p:sp>
        </mc:Choice>
        <mc:Fallback>
          <p:sp>
            <p:nvSpPr>
              <p:cNvPr id="6" name="内容占位符 2"/>
              <p:cNvSpPr txBox="1">
                <a:spLocks noRot="1" noChangeAspect="1" noMove="1" noResize="1" noEditPoints="1" noAdjustHandles="1" noChangeArrowheads="1" noChangeShapeType="1" noTextEdit="1"/>
              </p:cNvSpPr>
              <p:nvPr/>
            </p:nvSpPr>
            <p:spPr bwMode="auto">
              <a:xfrm>
                <a:off x="228714" y="3505198"/>
                <a:ext cx="8838968" cy="3276514"/>
              </a:xfrm>
              <a:prstGeom prst="rect">
                <a:avLst/>
              </a:prstGeom>
              <a:blipFill rotWithShape="1">
                <a:blip r:embed="rId2"/>
                <a:stretch>
                  <a:fillRect l="-59" t="-155" r="-52" b="-33376"/>
                </a:stretch>
              </a:blipFill>
              <a:ln>
                <a:solidFill>
                  <a:schemeClr val="accent1"/>
                </a:solidFill>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页脚占位符 3"/>
          <p:cNvSpPr>
            <a:spLocks noGrp="1"/>
          </p:cNvSpPr>
          <p:nvPr>
            <p:ph type="ftr" sz="quarter" idx="10"/>
          </p:nvPr>
        </p:nvSpPr>
        <p:spPr/>
        <p:txBody>
          <a:bodyPr/>
          <a:lstStyle/>
          <a:p>
            <a:pPr>
              <a:defRPr/>
            </a:pPr>
            <a:r>
              <a:rPr lang="en-US" altLang="zh-CN"/>
              <a:t>BUPT SCST</a:t>
            </a:r>
            <a:endParaRPr lang="en-US" altLang="zh-CN"/>
          </a:p>
        </p:txBody>
      </p:sp>
      <p:sp>
        <p:nvSpPr>
          <p:cNvPr id="20" name="日期占位符 5"/>
          <p:cNvSpPr>
            <a:spLocks noGrp="1"/>
          </p:cNvSpPr>
          <p:nvPr>
            <p:ph type="dt" sz="quarter" idx="12"/>
          </p:nvPr>
        </p:nvSpPr>
        <p:spPr/>
        <p:txBody>
          <a:bodyPr/>
          <a:lstStyle/>
          <a:p>
            <a:pPr>
              <a:defRPr/>
            </a:pPr>
            <a:r>
              <a:rPr lang="en-US" altLang="zh-CN"/>
              <a:t>BUPT</a:t>
            </a:r>
            <a:endParaRPr lang="en-US" altLang="zh-CN"/>
          </a:p>
        </p:txBody>
      </p:sp>
      <p:sp>
        <p:nvSpPr>
          <p:cNvPr id="9220"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6.2 </a:t>
            </a:r>
            <a:r>
              <a:rPr lang="zh-CN" altLang="en-US" sz="2800" dirty="0" smtClean="0">
                <a:ea typeface="华文楷体" panose="02010600040101010101" pitchFamily="2" charset="-122"/>
              </a:rPr>
              <a:t>二叉树的定义与性质</a:t>
            </a:r>
            <a:endParaRPr lang="zh-CN" altLang="en-US" sz="2800" dirty="0" smtClean="0">
              <a:ea typeface="华文楷体" panose="02010600040101010101" pitchFamily="2" charset="-122"/>
            </a:endParaRPr>
          </a:p>
        </p:txBody>
      </p:sp>
      <p:sp>
        <p:nvSpPr>
          <p:cNvPr id="9221"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800" b="1" dirty="0" smtClean="0">
                <a:solidFill>
                  <a:schemeClr val="accent2"/>
                </a:solidFill>
                <a:ea typeface="华文楷体" panose="02010600040101010101" pitchFamily="2" charset="-122"/>
              </a:rPr>
              <a:t>[</a:t>
            </a:r>
            <a:r>
              <a:rPr lang="zh-CN" altLang="en-US" sz="2800" b="1" dirty="0" smtClean="0">
                <a:solidFill>
                  <a:schemeClr val="accent2"/>
                </a:solidFill>
                <a:ea typeface="华文楷体" panose="02010600040101010101" pitchFamily="2" charset="-122"/>
              </a:rPr>
              <a:t>二叉树的概念</a:t>
            </a:r>
            <a:r>
              <a:rPr lang="en-US" altLang="zh-CN" sz="2800" b="1" dirty="0" smtClean="0">
                <a:solidFill>
                  <a:schemeClr val="accent2"/>
                </a:solidFill>
                <a:ea typeface="华文楷体" panose="02010600040101010101" pitchFamily="2" charset="-122"/>
              </a:rPr>
              <a:t>]</a:t>
            </a:r>
            <a:endParaRPr lang="en-US" altLang="zh-CN" sz="2800" b="1" dirty="0" smtClean="0">
              <a:solidFill>
                <a:schemeClr val="accent2"/>
              </a:solidFill>
              <a:ea typeface="华文楷体" panose="02010600040101010101" pitchFamily="2" charset="-122"/>
            </a:endParaRPr>
          </a:p>
          <a:p>
            <a:pPr eaLnBrk="1" hangingPunct="1">
              <a:buFont typeface="Wingdings" panose="05000000000000000000" pitchFamily="2" charset="2"/>
              <a:buNone/>
            </a:pPr>
            <a:endParaRPr lang="en-US" altLang="zh-CN" sz="28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CC6600"/>
                </a:solidFill>
                <a:ea typeface="华文楷体" panose="02010600040101010101" pitchFamily="2" charset="-122"/>
              </a:rPr>
              <a:t>二叉树的定义  </a:t>
            </a:r>
            <a:r>
              <a:rPr lang="zh-CN" altLang="en-US" sz="2400" dirty="0" smtClean="0">
                <a:ea typeface="华文楷体" panose="02010600040101010101" pitchFamily="2" charset="-122"/>
              </a:rPr>
              <a:t>二叉树是</a:t>
            </a:r>
            <a:r>
              <a:rPr lang="en-US" altLang="zh-CN" sz="2400" dirty="0" smtClean="0">
                <a:ea typeface="华文楷体" panose="02010600040101010101" pitchFamily="2" charset="-122"/>
              </a:rPr>
              <a:t>n(n</a:t>
            </a:r>
            <a:r>
              <a:rPr lang="en-US" altLang="zh-CN" sz="2400" dirty="0" smtClean="0">
                <a:ea typeface="华文楷体" panose="02010600040101010101" pitchFamily="2" charset="-122"/>
                <a:sym typeface="Symbol" panose="05050102010706020507" pitchFamily="18" charset="2"/>
              </a:rPr>
              <a:t>0)</a:t>
            </a:r>
            <a:r>
              <a:rPr lang="zh-CN" altLang="en-US" sz="2400" dirty="0" smtClean="0">
                <a:ea typeface="华文楷体" panose="02010600040101010101" pitchFamily="2" charset="-122"/>
              </a:rPr>
              <a:t>个结点的有限集合，它或为</a:t>
            </a:r>
            <a:r>
              <a:rPr lang="zh-CN" altLang="en-US" sz="2400" b="1" dirty="0" smtClean="0">
                <a:solidFill>
                  <a:srgbClr val="FF3300"/>
                </a:solidFill>
                <a:ea typeface="华文楷体" panose="02010600040101010101" pitchFamily="2" charset="-122"/>
              </a:rPr>
              <a:t>空树</a:t>
            </a:r>
            <a:r>
              <a:rPr lang="en-US" altLang="zh-CN" sz="2400" dirty="0" smtClean="0">
                <a:ea typeface="华文楷体" panose="02010600040101010101" pitchFamily="2" charset="-122"/>
              </a:rPr>
              <a:t>(n=0)</a:t>
            </a:r>
            <a:r>
              <a:rPr lang="zh-CN" altLang="en-US" sz="2400" dirty="0" smtClean="0">
                <a:ea typeface="华文楷体" panose="02010600040101010101" pitchFamily="2" charset="-122"/>
              </a:rPr>
              <a:t>，或由一个</a:t>
            </a:r>
            <a:r>
              <a:rPr lang="zh-CN" altLang="en-US" sz="2400" b="1" dirty="0" smtClean="0">
                <a:solidFill>
                  <a:srgbClr val="FF3300"/>
                </a:solidFill>
                <a:ea typeface="华文楷体" panose="02010600040101010101" pitchFamily="2" charset="-122"/>
              </a:rPr>
              <a:t>根</a:t>
            </a:r>
            <a:r>
              <a:rPr lang="zh-CN" altLang="en-US" sz="2400" dirty="0" smtClean="0">
                <a:ea typeface="华文楷体" panose="02010600040101010101" pitchFamily="2" charset="-122"/>
              </a:rPr>
              <a:t>结点和两棵互不相交的</a:t>
            </a:r>
            <a:r>
              <a:rPr lang="zh-CN" altLang="en-US" sz="2400" b="1" dirty="0" smtClean="0">
                <a:solidFill>
                  <a:srgbClr val="FF3300"/>
                </a:solidFill>
                <a:ea typeface="华文楷体" panose="02010600040101010101" pitchFamily="2" charset="-122"/>
              </a:rPr>
              <a:t>左子树</a:t>
            </a:r>
            <a:r>
              <a:rPr lang="zh-CN" altLang="en-US" sz="2400" dirty="0" smtClean="0">
                <a:ea typeface="华文楷体" panose="02010600040101010101" pitchFamily="2" charset="-122"/>
              </a:rPr>
              <a:t>和</a:t>
            </a:r>
            <a:r>
              <a:rPr lang="zh-CN" altLang="en-US" sz="2400" b="1" dirty="0" smtClean="0">
                <a:solidFill>
                  <a:srgbClr val="FF3300"/>
                </a:solidFill>
                <a:ea typeface="华文楷体" panose="02010600040101010101" pitchFamily="2" charset="-122"/>
              </a:rPr>
              <a:t>右子树</a:t>
            </a:r>
            <a:r>
              <a:rPr lang="zh-CN" altLang="en-US" sz="2400" dirty="0" smtClean="0">
                <a:ea typeface="华文楷体" panose="02010600040101010101" pitchFamily="2" charset="-122"/>
              </a:rPr>
              <a:t>的二叉树组成。</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CC6600"/>
                </a:solidFill>
                <a:ea typeface="华文楷体" panose="02010600040101010101" pitchFamily="2" charset="-122"/>
              </a:rPr>
              <a:t>二叉树的特点</a:t>
            </a:r>
            <a:endParaRPr lang="zh-CN" altLang="en-US" sz="2400" b="1" dirty="0" smtClean="0">
              <a:solidFill>
                <a:srgbClr val="CC6600"/>
              </a:solidFill>
              <a:ea typeface="华文楷体" panose="02010600040101010101" pitchFamily="2" charset="-122"/>
            </a:endParaRPr>
          </a:p>
          <a:p>
            <a:pPr eaLnBrk="1" hangingPunct="1"/>
            <a:r>
              <a:rPr lang="zh-CN" altLang="en-US" sz="2400" dirty="0" smtClean="0">
                <a:ea typeface="华文楷体" panose="02010600040101010101" pitchFamily="2" charset="-122"/>
              </a:rPr>
              <a:t>定义是递归的</a:t>
            </a:r>
            <a:endParaRPr lang="zh-CN" altLang="en-US" sz="2400" dirty="0" smtClean="0">
              <a:ea typeface="华文楷体" panose="02010600040101010101" pitchFamily="2" charset="-122"/>
            </a:endParaRPr>
          </a:p>
          <a:p>
            <a:pPr eaLnBrk="1" hangingPunct="1"/>
            <a:r>
              <a:rPr lang="en-US" altLang="zh-CN" sz="2400" dirty="0" smtClean="0">
                <a:ea typeface="华文楷体" panose="02010600040101010101" pitchFamily="2" charset="-122"/>
              </a:rPr>
              <a:t>0</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结点的度</a:t>
            </a:r>
            <a:r>
              <a:rPr lang="en-US" altLang="zh-CN" sz="2400" dirty="0" smtClean="0">
                <a:ea typeface="华文楷体" panose="02010600040101010101" pitchFamily="2" charset="-122"/>
                <a:sym typeface="Symbol" panose="05050102010706020507" pitchFamily="18" charset="2"/>
              </a:rPr>
              <a:t>2</a:t>
            </a:r>
            <a:endParaRPr lang="en-US" altLang="zh-CN" sz="2400" dirty="0" smtClean="0">
              <a:ea typeface="华文楷体" panose="02010600040101010101" pitchFamily="2" charset="-122"/>
              <a:sym typeface="Symbol" panose="05050102010706020507" pitchFamily="18" charset="2"/>
            </a:endParaRPr>
          </a:p>
          <a:p>
            <a:pPr eaLnBrk="1" hangingPunct="1"/>
            <a:r>
              <a:rPr lang="zh-CN" altLang="en-US" sz="2400" dirty="0" smtClean="0">
                <a:ea typeface="华文楷体" panose="02010600040101010101" pitchFamily="2" charset="-122"/>
                <a:sym typeface="Symbol" panose="05050102010706020507" pitchFamily="18" charset="2"/>
              </a:rPr>
              <a:t>是有序树</a:t>
            </a:r>
            <a:endParaRPr lang="zh-CN" altLang="en-US" sz="2400" b="1" dirty="0" smtClean="0">
              <a:ea typeface="华文楷体" panose="02010600040101010101" pitchFamily="2" charset="-122"/>
            </a:endParaRPr>
          </a:p>
          <a:p>
            <a:pPr eaLnBrk="1" hangingPunct="1">
              <a:buFont typeface="Wingdings" panose="05000000000000000000" pitchFamily="2" charset="2"/>
              <a:buNone/>
            </a:pPr>
            <a:endParaRPr lang="en-US" altLang="zh-CN" sz="2400" b="1" dirty="0" smtClean="0">
              <a:ea typeface="华文楷体" panose="02010600040101010101" pitchFamily="2" charset="-122"/>
            </a:endParaRPr>
          </a:p>
        </p:txBody>
      </p:sp>
      <p:sp>
        <p:nvSpPr>
          <p:cNvPr id="9222" name="Oval 4"/>
          <p:cNvSpPr>
            <a:spLocks noChangeArrowheads="1"/>
          </p:cNvSpPr>
          <p:nvPr/>
        </p:nvSpPr>
        <p:spPr bwMode="auto">
          <a:xfrm>
            <a:off x="5854700" y="34417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223" name="Oval 5"/>
          <p:cNvSpPr>
            <a:spLocks noChangeArrowheads="1"/>
          </p:cNvSpPr>
          <p:nvPr/>
        </p:nvSpPr>
        <p:spPr bwMode="auto">
          <a:xfrm>
            <a:off x="5016500" y="40513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224" name="Oval 6"/>
          <p:cNvSpPr>
            <a:spLocks noChangeArrowheads="1"/>
          </p:cNvSpPr>
          <p:nvPr/>
        </p:nvSpPr>
        <p:spPr bwMode="auto">
          <a:xfrm>
            <a:off x="4559300" y="49657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225" name="Oval 7"/>
          <p:cNvSpPr>
            <a:spLocks noChangeArrowheads="1"/>
          </p:cNvSpPr>
          <p:nvPr/>
        </p:nvSpPr>
        <p:spPr bwMode="auto">
          <a:xfrm>
            <a:off x="5626100" y="49657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226" name="Oval 8"/>
          <p:cNvSpPr>
            <a:spLocks noChangeArrowheads="1"/>
          </p:cNvSpPr>
          <p:nvPr/>
        </p:nvSpPr>
        <p:spPr bwMode="auto">
          <a:xfrm>
            <a:off x="7378700" y="57277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227" name="Oval 9"/>
          <p:cNvSpPr>
            <a:spLocks noChangeArrowheads="1"/>
          </p:cNvSpPr>
          <p:nvPr/>
        </p:nvSpPr>
        <p:spPr bwMode="auto">
          <a:xfrm>
            <a:off x="6616700" y="50419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228" name="Oval 10"/>
          <p:cNvSpPr>
            <a:spLocks noChangeArrowheads="1"/>
          </p:cNvSpPr>
          <p:nvPr/>
        </p:nvSpPr>
        <p:spPr bwMode="auto">
          <a:xfrm>
            <a:off x="6921500" y="40513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229" name="Line 11"/>
          <p:cNvSpPr>
            <a:spLocks noChangeShapeType="1"/>
          </p:cNvSpPr>
          <p:nvPr/>
        </p:nvSpPr>
        <p:spPr bwMode="auto">
          <a:xfrm flipH="1">
            <a:off x="5245100" y="3746500"/>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230" name="Line 12"/>
          <p:cNvSpPr>
            <a:spLocks noChangeShapeType="1"/>
          </p:cNvSpPr>
          <p:nvPr/>
        </p:nvSpPr>
        <p:spPr bwMode="auto">
          <a:xfrm>
            <a:off x="6083300" y="3746500"/>
            <a:ext cx="914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231" name="Line 13"/>
          <p:cNvSpPr>
            <a:spLocks noChangeShapeType="1"/>
          </p:cNvSpPr>
          <p:nvPr/>
        </p:nvSpPr>
        <p:spPr bwMode="auto">
          <a:xfrm flipH="1">
            <a:off x="4787900" y="4356100"/>
            <a:ext cx="3810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232" name="Line 14"/>
          <p:cNvSpPr>
            <a:spLocks noChangeShapeType="1"/>
          </p:cNvSpPr>
          <p:nvPr/>
        </p:nvSpPr>
        <p:spPr bwMode="auto">
          <a:xfrm>
            <a:off x="5245100" y="4356100"/>
            <a:ext cx="5334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233" name="Line 15"/>
          <p:cNvSpPr>
            <a:spLocks noChangeShapeType="1"/>
          </p:cNvSpPr>
          <p:nvPr/>
        </p:nvSpPr>
        <p:spPr bwMode="auto">
          <a:xfrm flipH="1">
            <a:off x="6769100" y="4356100"/>
            <a:ext cx="3048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234" name="Line 16"/>
          <p:cNvSpPr>
            <a:spLocks noChangeShapeType="1"/>
          </p:cNvSpPr>
          <p:nvPr/>
        </p:nvSpPr>
        <p:spPr bwMode="auto">
          <a:xfrm>
            <a:off x="6845300" y="5346700"/>
            <a:ext cx="685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235" name="Freeform 17"/>
          <p:cNvSpPr>
            <a:spLocks noChangeArrowheads="1"/>
          </p:cNvSpPr>
          <p:nvPr/>
        </p:nvSpPr>
        <p:spPr bwMode="auto">
          <a:xfrm>
            <a:off x="4279900" y="3733800"/>
            <a:ext cx="1828800" cy="1917700"/>
          </a:xfrm>
          <a:custGeom>
            <a:avLst/>
            <a:gdLst>
              <a:gd name="T0" fmla="*/ 1290320000 w 1152"/>
              <a:gd name="T1" fmla="*/ 20161250 h 1208"/>
              <a:gd name="T2" fmla="*/ 685482500 w 1152"/>
              <a:gd name="T3" fmla="*/ 866933750 h 1208"/>
              <a:gd name="T4" fmla="*/ 322580000 w 1152"/>
              <a:gd name="T5" fmla="*/ 1592738750 h 1208"/>
              <a:gd name="T6" fmla="*/ 201612500 w 1152"/>
              <a:gd name="T7" fmla="*/ 2147483646 h 1208"/>
              <a:gd name="T8" fmla="*/ 1532255000 w 1152"/>
              <a:gd name="T9" fmla="*/ 2147483646 h 1208"/>
              <a:gd name="T10" fmla="*/ 2147483646 w 1152"/>
              <a:gd name="T11" fmla="*/ 2147483646 h 1208"/>
              <a:gd name="T12" fmla="*/ 2147483646 w 1152"/>
              <a:gd name="T13" fmla="*/ 2147483646 h 1208"/>
              <a:gd name="T14" fmla="*/ 2147483646 w 1152"/>
              <a:gd name="T15" fmla="*/ 987901250 h 1208"/>
              <a:gd name="T16" fmla="*/ 1290320000 w 1152"/>
              <a:gd name="T17" fmla="*/ 20161250 h 12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52" h="1208">
                <a:moveTo>
                  <a:pt x="512" y="8"/>
                </a:moveTo>
                <a:cubicBezTo>
                  <a:pt x="408" y="0"/>
                  <a:pt x="336" y="240"/>
                  <a:pt x="272" y="344"/>
                </a:cubicBezTo>
                <a:cubicBezTo>
                  <a:pt x="208" y="448"/>
                  <a:pt x="160" y="512"/>
                  <a:pt x="128" y="632"/>
                </a:cubicBezTo>
                <a:cubicBezTo>
                  <a:pt x="96" y="752"/>
                  <a:pt x="0" y="968"/>
                  <a:pt x="80" y="1064"/>
                </a:cubicBezTo>
                <a:cubicBezTo>
                  <a:pt x="160" y="1160"/>
                  <a:pt x="456" y="1208"/>
                  <a:pt x="608" y="1208"/>
                </a:cubicBezTo>
                <a:cubicBezTo>
                  <a:pt x="760" y="1208"/>
                  <a:pt x="904" y="1120"/>
                  <a:pt x="992" y="1064"/>
                </a:cubicBezTo>
                <a:cubicBezTo>
                  <a:pt x="1080" y="1008"/>
                  <a:pt x="1152" y="984"/>
                  <a:pt x="1136" y="872"/>
                </a:cubicBezTo>
                <a:cubicBezTo>
                  <a:pt x="1120" y="760"/>
                  <a:pt x="992" y="544"/>
                  <a:pt x="896" y="392"/>
                </a:cubicBezTo>
                <a:cubicBezTo>
                  <a:pt x="800" y="240"/>
                  <a:pt x="616" y="16"/>
                  <a:pt x="512" y="8"/>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236" name="Freeform 18"/>
          <p:cNvSpPr>
            <a:spLocks noChangeArrowheads="1"/>
          </p:cNvSpPr>
          <p:nvPr/>
        </p:nvSpPr>
        <p:spPr bwMode="auto">
          <a:xfrm>
            <a:off x="6299200" y="3746500"/>
            <a:ext cx="2006600" cy="2501900"/>
          </a:xfrm>
          <a:custGeom>
            <a:avLst/>
            <a:gdLst>
              <a:gd name="T0" fmla="*/ 1108868750 w 1264"/>
              <a:gd name="T1" fmla="*/ 0 h 1576"/>
              <a:gd name="T2" fmla="*/ 504031250 w 1264"/>
              <a:gd name="T3" fmla="*/ 1330642500 h 1576"/>
              <a:gd name="T4" fmla="*/ 141128750 w 1264"/>
              <a:gd name="T5" fmla="*/ 2147483646 h 1576"/>
              <a:gd name="T6" fmla="*/ 1350803750 w 1264"/>
              <a:gd name="T7" fmla="*/ 2147483646 h 1576"/>
              <a:gd name="T8" fmla="*/ 2076608750 w 1264"/>
              <a:gd name="T9" fmla="*/ 2147483646 h 1576"/>
              <a:gd name="T10" fmla="*/ 2147483646 w 1264"/>
              <a:gd name="T11" fmla="*/ 2147483646 h 1576"/>
              <a:gd name="T12" fmla="*/ 2147483646 w 1264"/>
              <a:gd name="T13" fmla="*/ 2147483646 h 1576"/>
              <a:gd name="T14" fmla="*/ 2147483646 w 1264"/>
              <a:gd name="T15" fmla="*/ 1330642500 h 1576"/>
              <a:gd name="T16" fmla="*/ 1108868750 w 1264"/>
              <a:gd name="T17" fmla="*/ 0 h 15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4" h="1576">
                <a:moveTo>
                  <a:pt x="440" y="0"/>
                </a:moveTo>
                <a:cubicBezTo>
                  <a:pt x="288" y="0"/>
                  <a:pt x="264" y="344"/>
                  <a:pt x="200" y="528"/>
                </a:cubicBezTo>
                <a:cubicBezTo>
                  <a:pt x="136" y="712"/>
                  <a:pt x="0" y="944"/>
                  <a:pt x="56" y="1104"/>
                </a:cubicBezTo>
                <a:cubicBezTo>
                  <a:pt x="112" y="1264"/>
                  <a:pt x="408" y="1416"/>
                  <a:pt x="536" y="1488"/>
                </a:cubicBezTo>
                <a:cubicBezTo>
                  <a:pt x="664" y="1560"/>
                  <a:pt x="720" y="1576"/>
                  <a:pt x="824" y="1536"/>
                </a:cubicBezTo>
                <a:cubicBezTo>
                  <a:pt x="928" y="1496"/>
                  <a:pt x="1088" y="1344"/>
                  <a:pt x="1160" y="1248"/>
                </a:cubicBezTo>
                <a:cubicBezTo>
                  <a:pt x="1232" y="1152"/>
                  <a:pt x="1264" y="1080"/>
                  <a:pt x="1256" y="960"/>
                </a:cubicBezTo>
                <a:cubicBezTo>
                  <a:pt x="1248" y="840"/>
                  <a:pt x="1240" y="696"/>
                  <a:pt x="1112" y="528"/>
                </a:cubicBezTo>
                <a:cubicBezTo>
                  <a:pt x="984" y="360"/>
                  <a:pt x="592" y="0"/>
                  <a:pt x="440" y="0"/>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页脚占位符 3"/>
          <p:cNvSpPr>
            <a:spLocks noGrp="1"/>
          </p:cNvSpPr>
          <p:nvPr>
            <p:ph type="ftr" sz="quarter" idx="10"/>
          </p:nvPr>
        </p:nvSpPr>
        <p:spPr/>
        <p:txBody>
          <a:bodyPr/>
          <a:lstStyle/>
          <a:p>
            <a:pPr>
              <a:defRPr/>
            </a:pPr>
            <a:r>
              <a:rPr lang="en-US" altLang="zh-CN"/>
              <a:t>BUPT SCST</a:t>
            </a:r>
            <a:endParaRPr lang="en-US" altLang="zh-CN"/>
          </a:p>
        </p:txBody>
      </p:sp>
      <p:sp>
        <p:nvSpPr>
          <p:cNvPr id="58" name="日期占位符 5"/>
          <p:cNvSpPr>
            <a:spLocks noGrp="1"/>
          </p:cNvSpPr>
          <p:nvPr>
            <p:ph type="dt" sz="quarter" idx="12"/>
          </p:nvPr>
        </p:nvSpPr>
        <p:spPr/>
        <p:txBody>
          <a:bodyPr/>
          <a:lstStyle/>
          <a:p>
            <a:pPr>
              <a:defRPr/>
            </a:pPr>
            <a:r>
              <a:rPr lang="en-US" altLang="zh-CN"/>
              <a:t>BUPT</a:t>
            </a:r>
            <a:endParaRPr lang="en-US" altLang="zh-CN"/>
          </a:p>
        </p:txBody>
      </p:sp>
      <p:sp>
        <p:nvSpPr>
          <p:cNvPr id="1024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245" name="Rectangle 3"/>
          <p:cNvSpPr>
            <a:spLocks noGrp="1" noChangeArrowheads="1"/>
          </p:cNvSpPr>
          <p:nvPr>
            <p:ph idx="1"/>
          </p:nvPr>
        </p:nvSpPr>
        <p:spPr/>
        <p:txBody>
          <a:bodyPr/>
          <a:lstStyle/>
          <a:p>
            <a:pPr eaLnBrk="1" hangingPunct="1">
              <a:buFont typeface="Wingdings" panose="05000000000000000000" pitchFamily="2" charset="2"/>
              <a:buNone/>
            </a:pPr>
            <a:r>
              <a:rPr lang="zh-CN" altLang="en-US" sz="2400" b="1" dirty="0" smtClean="0">
                <a:solidFill>
                  <a:srgbClr val="CC6600"/>
                </a:solidFill>
                <a:ea typeface="华文楷体" panose="02010600040101010101" pitchFamily="2" charset="-122"/>
              </a:rPr>
              <a:t>二叉树的五种基本形态</a:t>
            </a:r>
            <a:endParaRPr lang="zh-CN" altLang="en-US" sz="2400" b="1" dirty="0" smtClean="0">
              <a:solidFill>
                <a:srgbClr val="CC6600"/>
              </a:solidFill>
              <a:ea typeface="华文楷体" panose="02010600040101010101" pitchFamily="2" charset="-122"/>
            </a:endParaRPr>
          </a:p>
        </p:txBody>
      </p:sp>
      <p:sp>
        <p:nvSpPr>
          <p:cNvPr id="10246" name="Line 4"/>
          <p:cNvSpPr>
            <a:spLocks noChangeShapeType="1"/>
          </p:cNvSpPr>
          <p:nvPr/>
        </p:nvSpPr>
        <p:spPr bwMode="auto">
          <a:xfrm flipH="1">
            <a:off x="3454400" y="1993900"/>
            <a:ext cx="2286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47" name="Text Box 5"/>
          <p:cNvSpPr txBox="1">
            <a:spLocks noChangeArrowheads="1"/>
          </p:cNvSpPr>
          <p:nvPr/>
        </p:nvSpPr>
        <p:spPr bwMode="auto">
          <a:xfrm>
            <a:off x="838200" y="2133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p:txBody>
      </p:sp>
      <p:sp>
        <p:nvSpPr>
          <p:cNvPr id="10248" name="Oval 6"/>
          <p:cNvSpPr>
            <a:spLocks noChangeArrowheads="1"/>
          </p:cNvSpPr>
          <p:nvPr/>
        </p:nvSpPr>
        <p:spPr bwMode="auto">
          <a:xfrm>
            <a:off x="1981200" y="2286000"/>
            <a:ext cx="304800" cy="3048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49" name="Oval 7"/>
          <p:cNvSpPr>
            <a:spLocks noChangeArrowheads="1"/>
          </p:cNvSpPr>
          <p:nvPr/>
        </p:nvSpPr>
        <p:spPr bwMode="auto">
          <a:xfrm>
            <a:off x="3530600" y="1689100"/>
            <a:ext cx="304800" cy="3048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50" name="Freeform 8"/>
          <p:cNvSpPr>
            <a:spLocks noChangeArrowheads="1"/>
          </p:cNvSpPr>
          <p:nvPr/>
        </p:nvSpPr>
        <p:spPr bwMode="auto">
          <a:xfrm>
            <a:off x="2895600" y="2514600"/>
            <a:ext cx="711200" cy="685800"/>
          </a:xfrm>
          <a:custGeom>
            <a:avLst/>
            <a:gdLst>
              <a:gd name="T0" fmla="*/ 766127500 w 448"/>
              <a:gd name="T1" fmla="*/ 20161250 h 432"/>
              <a:gd name="T2" fmla="*/ 282257500 w 448"/>
              <a:gd name="T3" fmla="*/ 141128750 h 432"/>
              <a:gd name="T4" fmla="*/ 40322500 w 448"/>
              <a:gd name="T5" fmla="*/ 866933750 h 432"/>
              <a:gd name="T6" fmla="*/ 524192500 w 448"/>
              <a:gd name="T7" fmla="*/ 987901250 h 432"/>
              <a:gd name="T8" fmla="*/ 887095000 w 448"/>
              <a:gd name="T9" fmla="*/ 262096250 h 432"/>
              <a:gd name="T10" fmla="*/ 1129030000 w 448"/>
              <a:gd name="T11" fmla="*/ 141128750 h 432"/>
              <a:gd name="T12" fmla="*/ 766127500 w 448"/>
              <a:gd name="T13" fmla="*/ 20161250 h 4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32">
                <a:moveTo>
                  <a:pt x="304" y="8"/>
                </a:moveTo>
                <a:cubicBezTo>
                  <a:pt x="248" y="8"/>
                  <a:pt x="160" y="0"/>
                  <a:pt x="112" y="56"/>
                </a:cubicBezTo>
                <a:cubicBezTo>
                  <a:pt x="64" y="112"/>
                  <a:pt x="0" y="288"/>
                  <a:pt x="16" y="344"/>
                </a:cubicBezTo>
                <a:cubicBezTo>
                  <a:pt x="32" y="400"/>
                  <a:pt x="152" y="432"/>
                  <a:pt x="208" y="392"/>
                </a:cubicBezTo>
                <a:cubicBezTo>
                  <a:pt x="264" y="352"/>
                  <a:pt x="312" y="160"/>
                  <a:pt x="352" y="104"/>
                </a:cubicBezTo>
                <a:cubicBezTo>
                  <a:pt x="392" y="48"/>
                  <a:pt x="448" y="72"/>
                  <a:pt x="448" y="56"/>
                </a:cubicBezTo>
                <a:cubicBezTo>
                  <a:pt x="448" y="40"/>
                  <a:pt x="360" y="8"/>
                  <a:pt x="304" y="8"/>
                </a:cubicBezTo>
                <a:close/>
              </a:path>
            </a:pathLst>
          </a:custGeom>
          <a:solidFill>
            <a:schemeClr val="hlink"/>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51" name="Line 9"/>
          <p:cNvSpPr>
            <a:spLocks noChangeShapeType="1"/>
          </p:cNvSpPr>
          <p:nvPr/>
        </p:nvSpPr>
        <p:spPr bwMode="auto">
          <a:xfrm>
            <a:off x="4724400" y="1981200"/>
            <a:ext cx="2286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52" name="Oval 10"/>
          <p:cNvSpPr>
            <a:spLocks noChangeArrowheads="1"/>
          </p:cNvSpPr>
          <p:nvPr/>
        </p:nvSpPr>
        <p:spPr bwMode="auto">
          <a:xfrm flipH="1">
            <a:off x="4572000" y="1676400"/>
            <a:ext cx="304800" cy="3048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53" name="Freeform 11"/>
          <p:cNvSpPr>
            <a:spLocks noChangeArrowheads="1"/>
          </p:cNvSpPr>
          <p:nvPr/>
        </p:nvSpPr>
        <p:spPr bwMode="auto">
          <a:xfrm flipH="1">
            <a:off x="4724400" y="2514600"/>
            <a:ext cx="711200" cy="685800"/>
          </a:xfrm>
          <a:custGeom>
            <a:avLst/>
            <a:gdLst>
              <a:gd name="T0" fmla="*/ 766127500 w 448"/>
              <a:gd name="T1" fmla="*/ 20161250 h 432"/>
              <a:gd name="T2" fmla="*/ 282257500 w 448"/>
              <a:gd name="T3" fmla="*/ 141128750 h 432"/>
              <a:gd name="T4" fmla="*/ 40322500 w 448"/>
              <a:gd name="T5" fmla="*/ 866933750 h 432"/>
              <a:gd name="T6" fmla="*/ 524192500 w 448"/>
              <a:gd name="T7" fmla="*/ 987901250 h 432"/>
              <a:gd name="T8" fmla="*/ 887095000 w 448"/>
              <a:gd name="T9" fmla="*/ 262096250 h 432"/>
              <a:gd name="T10" fmla="*/ 1129030000 w 448"/>
              <a:gd name="T11" fmla="*/ 141128750 h 432"/>
              <a:gd name="T12" fmla="*/ 766127500 w 448"/>
              <a:gd name="T13" fmla="*/ 20161250 h 4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32">
                <a:moveTo>
                  <a:pt x="304" y="8"/>
                </a:moveTo>
                <a:cubicBezTo>
                  <a:pt x="248" y="8"/>
                  <a:pt x="160" y="0"/>
                  <a:pt x="112" y="56"/>
                </a:cubicBezTo>
                <a:cubicBezTo>
                  <a:pt x="64" y="112"/>
                  <a:pt x="0" y="288"/>
                  <a:pt x="16" y="344"/>
                </a:cubicBezTo>
                <a:cubicBezTo>
                  <a:pt x="32" y="400"/>
                  <a:pt x="152" y="432"/>
                  <a:pt x="208" y="392"/>
                </a:cubicBezTo>
                <a:cubicBezTo>
                  <a:pt x="264" y="352"/>
                  <a:pt x="312" y="160"/>
                  <a:pt x="352" y="104"/>
                </a:cubicBezTo>
                <a:cubicBezTo>
                  <a:pt x="392" y="48"/>
                  <a:pt x="448" y="72"/>
                  <a:pt x="448" y="56"/>
                </a:cubicBezTo>
                <a:cubicBezTo>
                  <a:pt x="448" y="40"/>
                  <a:pt x="360" y="8"/>
                  <a:pt x="304" y="8"/>
                </a:cubicBezTo>
                <a:close/>
              </a:path>
            </a:pathLst>
          </a:custGeom>
          <a:solidFill>
            <a:schemeClr val="hlink"/>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54" name="Line 12"/>
          <p:cNvSpPr>
            <a:spLocks noChangeShapeType="1"/>
          </p:cNvSpPr>
          <p:nvPr/>
        </p:nvSpPr>
        <p:spPr bwMode="auto">
          <a:xfrm flipH="1">
            <a:off x="6629400" y="1981200"/>
            <a:ext cx="2286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55" name="Oval 13"/>
          <p:cNvSpPr>
            <a:spLocks noChangeArrowheads="1"/>
          </p:cNvSpPr>
          <p:nvPr/>
        </p:nvSpPr>
        <p:spPr bwMode="auto">
          <a:xfrm>
            <a:off x="6705600" y="1676400"/>
            <a:ext cx="304800" cy="3048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56" name="Freeform 14"/>
          <p:cNvSpPr>
            <a:spLocks noChangeArrowheads="1"/>
          </p:cNvSpPr>
          <p:nvPr/>
        </p:nvSpPr>
        <p:spPr bwMode="auto">
          <a:xfrm>
            <a:off x="6070600" y="2501900"/>
            <a:ext cx="711200" cy="685800"/>
          </a:xfrm>
          <a:custGeom>
            <a:avLst/>
            <a:gdLst>
              <a:gd name="T0" fmla="*/ 766127500 w 448"/>
              <a:gd name="T1" fmla="*/ 20161250 h 432"/>
              <a:gd name="T2" fmla="*/ 282257500 w 448"/>
              <a:gd name="T3" fmla="*/ 141128750 h 432"/>
              <a:gd name="T4" fmla="*/ 40322500 w 448"/>
              <a:gd name="T5" fmla="*/ 866933750 h 432"/>
              <a:gd name="T6" fmla="*/ 524192500 w 448"/>
              <a:gd name="T7" fmla="*/ 987901250 h 432"/>
              <a:gd name="T8" fmla="*/ 887095000 w 448"/>
              <a:gd name="T9" fmla="*/ 262096250 h 432"/>
              <a:gd name="T10" fmla="*/ 1129030000 w 448"/>
              <a:gd name="T11" fmla="*/ 141128750 h 432"/>
              <a:gd name="T12" fmla="*/ 766127500 w 448"/>
              <a:gd name="T13" fmla="*/ 20161250 h 4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32">
                <a:moveTo>
                  <a:pt x="304" y="8"/>
                </a:moveTo>
                <a:cubicBezTo>
                  <a:pt x="248" y="8"/>
                  <a:pt x="160" y="0"/>
                  <a:pt x="112" y="56"/>
                </a:cubicBezTo>
                <a:cubicBezTo>
                  <a:pt x="64" y="112"/>
                  <a:pt x="0" y="288"/>
                  <a:pt x="16" y="344"/>
                </a:cubicBezTo>
                <a:cubicBezTo>
                  <a:pt x="32" y="400"/>
                  <a:pt x="152" y="432"/>
                  <a:pt x="208" y="392"/>
                </a:cubicBezTo>
                <a:cubicBezTo>
                  <a:pt x="264" y="352"/>
                  <a:pt x="312" y="160"/>
                  <a:pt x="352" y="104"/>
                </a:cubicBezTo>
                <a:cubicBezTo>
                  <a:pt x="392" y="48"/>
                  <a:pt x="448" y="72"/>
                  <a:pt x="448" y="56"/>
                </a:cubicBezTo>
                <a:cubicBezTo>
                  <a:pt x="448" y="40"/>
                  <a:pt x="360" y="8"/>
                  <a:pt x="304" y="8"/>
                </a:cubicBezTo>
                <a:close/>
              </a:path>
            </a:pathLst>
          </a:custGeom>
          <a:solidFill>
            <a:schemeClr val="hlink"/>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57" name="Line 15"/>
          <p:cNvSpPr>
            <a:spLocks noChangeShapeType="1"/>
          </p:cNvSpPr>
          <p:nvPr/>
        </p:nvSpPr>
        <p:spPr bwMode="auto">
          <a:xfrm>
            <a:off x="6934200" y="1981200"/>
            <a:ext cx="2286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58" name="Freeform 16"/>
          <p:cNvSpPr>
            <a:spLocks noChangeArrowheads="1"/>
          </p:cNvSpPr>
          <p:nvPr/>
        </p:nvSpPr>
        <p:spPr bwMode="auto">
          <a:xfrm flipH="1">
            <a:off x="7010400" y="2514600"/>
            <a:ext cx="711200" cy="685800"/>
          </a:xfrm>
          <a:custGeom>
            <a:avLst/>
            <a:gdLst>
              <a:gd name="T0" fmla="*/ 766127500 w 448"/>
              <a:gd name="T1" fmla="*/ 20161250 h 432"/>
              <a:gd name="T2" fmla="*/ 282257500 w 448"/>
              <a:gd name="T3" fmla="*/ 141128750 h 432"/>
              <a:gd name="T4" fmla="*/ 40322500 w 448"/>
              <a:gd name="T5" fmla="*/ 866933750 h 432"/>
              <a:gd name="T6" fmla="*/ 524192500 w 448"/>
              <a:gd name="T7" fmla="*/ 987901250 h 432"/>
              <a:gd name="T8" fmla="*/ 887095000 w 448"/>
              <a:gd name="T9" fmla="*/ 262096250 h 432"/>
              <a:gd name="T10" fmla="*/ 1129030000 w 448"/>
              <a:gd name="T11" fmla="*/ 141128750 h 432"/>
              <a:gd name="T12" fmla="*/ 766127500 w 448"/>
              <a:gd name="T13" fmla="*/ 20161250 h 4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32">
                <a:moveTo>
                  <a:pt x="304" y="8"/>
                </a:moveTo>
                <a:cubicBezTo>
                  <a:pt x="248" y="8"/>
                  <a:pt x="160" y="0"/>
                  <a:pt x="112" y="56"/>
                </a:cubicBezTo>
                <a:cubicBezTo>
                  <a:pt x="64" y="112"/>
                  <a:pt x="0" y="288"/>
                  <a:pt x="16" y="344"/>
                </a:cubicBezTo>
                <a:cubicBezTo>
                  <a:pt x="32" y="400"/>
                  <a:pt x="152" y="432"/>
                  <a:pt x="208" y="392"/>
                </a:cubicBezTo>
                <a:cubicBezTo>
                  <a:pt x="264" y="352"/>
                  <a:pt x="312" y="160"/>
                  <a:pt x="352" y="104"/>
                </a:cubicBezTo>
                <a:cubicBezTo>
                  <a:pt x="392" y="48"/>
                  <a:pt x="448" y="72"/>
                  <a:pt x="448" y="56"/>
                </a:cubicBezTo>
                <a:cubicBezTo>
                  <a:pt x="448" y="40"/>
                  <a:pt x="360" y="8"/>
                  <a:pt x="304" y="8"/>
                </a:cubicBezTo>
                <a:close/>
              </a:path>
            </a:pathLst>
          </a:custGeom>
          <a:solidFill>
            <a:schemeClr val="hlink"/>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59" name="Rectangle 18"/>
          <p:cNvSpPr>
            <a:spLocks noChangeArrowheads="1"/>
          </p:cNvSpPr>
          <p:nvPr/>
        </p:nvSpPr>
        <p:spPr bwMode="auto">
          <a:xfrm>
            <a:off x="457200" y="1600200"/>
            <a:ext cx="8077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endParaRPr lang="en-US" altLang="zh-CN"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endParaRPr lang="en-US" altLang="zh-CN"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endParaRPr lang="en-US" altLang="zh-CN" sz="2400" b="1" dirty="0">
              <a:solidFill>
                <a:srgbClr val="FF0066"/>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b="1" dirty="0">
                <a:solidFill>
                  <a:srgbClr val="CC6600"/>
                </a:solidFill>
                <a:latin typeface="Times New Roman" panose="02020603050405020304" pitchFamily="18" charset="0"/>
                <a:ea typeface="华文楷体" panose="02010600040101010101" pitchFamily="2" charset="-122"/>
              </a:rPr>
              <a:t>两种特殊的二叉树</a:t>
            </a:r>
            <a:endParaRPr lang="zh-CN" altLang="en-US" sz="2400" b="1" dirty="0">
              <a:solidFill>
                <a:srgbClr val="CC6600"/>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b="1" dirty="0">
                <a:solidFill>
                  <a:srgbClr val="FF3300"/>
                </a:solidFill>
                <a:latin typeface="Times New Roman" panose="02020603050405020304" pitchFamily="18" charset="0"/>
                <a:ea typeface="华文楷体" panose="02010600040101010101" pitchFamily="2" charset="-122"/>
              </a:rPr>
              <a:t>    满二叉树</a:t>
            </a:r>
            <a:r>
              <a:rPr lang="zh-CN" altLang="en-US" sz="2400" b="1" dirty="0">
                <a:solidFill>
                  <a:schemeClr val="accent2"/>
                </a:solidFill>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每一层上的结点数都是最大结点数。</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b="1" dirty="0">
                <a:solidFill>
                  <a:schemeClr val="accent2"/>
                </a:solidFill>
                <a:latin typeface="Times New Roman" panose="02020603050405020304" pitchFamily="18" charset="0"/>
                <a:ea typeface="华文楷体" panose="02010600040101010101" pitchFamily="2" charset="-122"/>
              </a:rPr>
              <a:t>    </a:t>
            </a:r>
            <a:r>
              <a:rPr lang="zh-CN" altLang="en-US" sz="2400" b="1" dirty="0">
                <a:solidFill>
                  <a:srgbClr val="FF3300"/>
                </a:solidFill>
                <a:latin typeface="Times New Roman" panose="02020603050405020304" pitchFamily="18" charset="0"/>
                <a:ea typeface="华文楷体" panose="02010600040101010101" pitchFamily="2" charset="-122"/>
              </a:rPr>
              <a:t>完全二叉树</a:t>
            </a:r>
            <a:r>
              <a:rPr lang="zh-CN" altLang="en-US" sz="2400" b="1" dirty="0">
                <a:solidFill>
                  <a:schemeClr val="accent2"/>
                </a:solidFill>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只有最下面两层结点的度可小于</a:t>
            </a:r>
            <a:r>
              <a:rPr lang="en-US" altLang="zh-CN" sz="2400" dirty="0">
                <a:latin typeface="Times New Roman" panose="02020603050405020304" pitchFamily="18" charset="0"/>
                <a:ea typeface="华文楷体" panose="02010600040101010101" pitchFamily="2" charset="-122"/>
              </a:rPr>
              <a:t>2</a:t>
            </a:r>
            <a:r>
              <a:rPr lang="zh-CN" altLang="en-US" sz="2400" dirty="0">
                <a:latin typeface="Times New Roman" panose="02020603050405020304" pitchFamily="18" charset="0"/>
                <a:ea typeface="华文楷体" panose="02010600040101010101" pitchFamily="2" charset="-122"/>
              </a:rPr>
              <a:t>，而最下一层的叶结点集中在左边若干位置上。</a:t>
            </a:r>
            <a:endParaRPr lang="zh-CN" altLang="en-US" sz="2800" b="1" dirty="0">
              <a:latin typeface="Times New Roman" panose="02020603050405020304" pitchFamily="18" charset="0"/>
              <a:ea typeface="华文楷体" panose="02010600040101010101" pitchFamily="2" charset="-122"/>
            </a:endParaRPr>
          </a:p>
        </p:txBody>
      </p:sp>
      <p:sp>
        <p:nvSpPr>
          <p:cNvPr id="10260" name="Oval 19"/>
          <p:cNvSpPr>
            <a:spLocks noChangeArrowheads="1"/>
          </p:cNvSpPr>
          <p:nvPr/>
        </p:nvSpPr>
        <p:spPr bwMode="auto">
          <a:xfrm>
            <a:off x="2057400" y="49371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61" name="Oval 20"/>
          <p:cNvSpPr>
            <a:spLocks noChangeArrowheads="1"/>
          </p:cNvSpPr>
          <p:nvPr/>
        </p:nvSpPr>
        <p:spPr bwMode="auto">
          <a:xfrm>
            <a:off x="1752600" y="53181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62" name="Oval 21"/>
          <p:cNvSpPr>
            <a:spLocks noChangeArrowheads="1"/>
          </p:cNvSpPr>
          <p:nvPr/>
        </p:nvSpPr>
        <p:spPr bwMode="auto">
          <a:xfrm>
            <a:off x="2438400" y="53181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63" name="Oval 22"/>
          <p:cNvSpPr>
            <a:spLocks noChangeArrowheads="1"/>
          </p:cNvSpPr>
          <p:nvPr/>
        </p:nvSpPr>
        <p:spPr bwMode="auto">
          <a:xfrm>
            <a:off x="1447800" y="57753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64" name="Oval 23"/>
          <p:cNvSpPr>
            <a:spLocks noChangeArrowheads="1"/>
          </p:cNvSpPr>
          <p:nvPr/>
        </p:nvSpPr>
        <p:spPr bwMode="auto">
          <a:xfrm>
            <a:off x="1905000" y="57753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65" name="Oval 24"/>
          <p:cNvSpPr>
            <a:spLocks noChangeArrowheads="1"/>
          </p:cNvSpPr>
          <p:nvPr/>
        </p:nvSpPr>
        <p:spPr bwMode="auto">
          <a:xfrm>
            <a:off x="2819400" y="57753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66" name="Line 25"/>
          <p:cNvSpPr>
            <a:spLocks noChangeShapeType="1"/>
          </p:cNvSpPr>
          <p:nvPr/>
        </p:nvSpPr>
        <p:spPr bwMode="auto">
          <a:xfrm flipH="1">
            <a:off x="1828800" y="5089525"/>
            <a:ext cx="228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67" name="Line 26"/>
          <p:cNvSpPr>
            <a:spLocks noChangeShapeType="1"/>
          </p:cNvSpPr>
          <p:nvPr/>
        </p:nvSpPr>
        <p:spPr bwMode="auto">
          <a:xfrm flipH="1">
            <a:off x="1524000" y="5470525"/>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68" name="Line 27"/>
          <p:cNvSpPr>
            <a:spLocks noChangeShapeType="1"/>
          </p:cNvSpPr>
          <p:nvPr/>
        </p:nvSpPr>
        <p:spPr bwMode="auto">
          <a:xfrm>
            <a:off x="2209800" y="5089525"/>
            <a:ext cx="304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69" name="Line 28"/>
          <p:cNvSpPr>
            <a:spLocks noChangeShapeType="1"/>
          </p:cNvSpPr>
          <p:nvPr/>
        </p:nvSpPr>
        <p:spPr bwMode="auto">
          <a:xfrm>
            <a:off x="1828800" y="5470525"/>
            <a:ext cx="152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70" name="Line 29"/>
          <p:cNvSpPr>
            <a:spLocks noChangeShapeType="1"/>
          </p:cNvSpPr>
          <p:nvPr/>
        </p:nvSpPr>
        <p:spPr bwMode="auto">
          <a:xfrm flipH="1">
            <a:off x="2362200" y="5470525"/>
            <a:ext cx="152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71" name="Line 30"/>
          <p:cNvSpPr>
            <a:spLocks noChangeShapeType="1"/>
          </p:cNvSpPr>
          <p:nvPr/>
        </p:nvSpPr>
        <p:spPr bwMode="auto">
          <a:xfrm>
            <a:off x="2514600" y="5470525"/>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72" name="Oval 31"/>
          <p:cNvSpPr>
            <a:spLocks noChangeArrowheads="1"/>
          </p:cNvSpPr>
          <p:nvPr/>
        </p:nvSpPr>
        <p:spPr bwMode="auto">
          <a:xfrm>
            <a:off x="6781800" y="48609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CN" altLang="zh-CN" sz="2400" dirty="0">
              <a:latin typeface="Times New Roman" panose="02020603050405020304" pitchFamily="18" charset="0"/>
              <a:ea typeface="华文楷体" panose="02010600040101010101" pitchFamily="2" charset="-122"/>
            </a:endParaRPr>
          </a:p>
        </p:txBody>
      </p:sp>
      <p:sp>
        <p:nvSpPr>
          <p:cNvPr id="10273" name="Oval 32"/>
          <p:cNvSpPr>
            <a:spLocks noChangeArrowheads="1"/>
          </p:cNvSpPr>
          <p:nvPr/>
        </p:nvSpPr>
        <p:spPr bwMode="auto">
          <a:xfrm>
            <a:off x="6096000" y="51657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74" name="Oval 33"/>
          <p:cNvSpPr>
            <a:spLocks noChangeArrowheads="1"/>
          </p:cNvSpPr>
          <p:nvPr/>
        </p:nvSpPr>
        <p:spPr bwMode="auto">
          <a:xfrm>
            <a:off x="7467600" y="51657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75" name="Oval 34"/>
          <p:cNvSpPr>
            <a:spLocks noChangeArrowheads="1"/>
          </p:cNvSpPr>
          <p:nvPr/>
        </p:nvSpPr>
        <p:spPr bwMode="auto">
          <a:xfrm>
            <a:off x="5791200" y="55467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76" name="Oval 35"/>
          <p:cNvSpPr>
            <a:spLocks noChangeArrowheads="1"/>
          </p:cNvSpPr>
          <p:nvPr/>
        </p:nvSpPr>
        <p:spPr bwMode="auto">
          <a:xfrm>
            <a:off x="6477000" y="55467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77" name="Oval 36"/>
          <p:cNvSpPr>
            <a:spLocks noChangeArrowheads="1"/>
          </p:cNvSpPr>
          <p:nvPr/>
        </p:nvSpPr>
        <p:spPr bwMode="auto">
          <a:xfrm>
            <a:off x="7086600" y="55467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CN" altLang="zh-CN" sz="2400" dirty="0">
              <a:latin typeface="Times New Roman" panose="02020603050405020304" pitchFamily="18" charset="0"/>
              <a:ea typeface="华文楷体" panose="02010600040101010101" pitchFamily="2" charset="-122"/>
            </a:endParaRPr>
          </a:p>
        </p:txBody>
      </p:sp>
      <p:sp>
        <p:nvSpPr>
          <p:cNvPr id="10278" name="Oval 37"/>
          <p:cNvSpPr>
            <a:spLocks noChangeArrowheads="1"/>
          </p:cNvSpPr>
          <p:nvPr/>
        </p:nvSpPr>
        <p:spPr bwMode="auto">
          <a:xfrm>
            <a:off x="7848600" y="55467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CN" altLang="zh-CN" sz="2400" dirty="0">
              <a:latin typeface="Times New Roman" panose="02020603050405020304" pitchFamily="18" charset="0"/>
              <a:ea typeface="华文楷体" panose="02010600040101010101" pitchFamily="2" charset="-122"/>
            </a:endParaRPr>
          </a:p>
        </p:txBody>
      </p:sp>
      <p:sp>
        <p:nvSpPr>
          <p:cNvPr id="10279" name="Oval 38"/>
          <p:cNvSpPr>
            <a:spLocks noChangeArrowheads="1"/>
          </p:cNvSpPr>
          <p:nvPr/>
        </p:nvSpPr>
        <p:spPr bwMode="auto">
          <a:xfrm>
            <a:off x="5562600" y="60039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80" name="Oval 39"/>
          <p:cNvSpPr>
            <a:spLocks noChangeArrowheads="1"/>
          </p:cNvSpPr>
          <p:nvPr/>
        </p:nvSpPr>
        <p:spPr bwMode="auto">
          <a:xfrm>
            <a:off x="6019800" y="60039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81" name="Oval 40"/>
          <p:cNvSpPr>
            <a:spLocks noChangeArrowheads="1"/>
          </p:cNvSpPr>
          <p:nvPr/>
        </p:nvSpPr>
        <p:spPr bwMode="auto">
          <a:xfrm>
            <a:off x="6324600" y="60039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82" name="Line 41"/>
          <p:cNvSpPr>
            <a:spLocks noChangeShapeType="1"/>
          </p:cNvSpPr>
          <p:nvPr/>
        </p:nvSpPr>
        <p:spPr bwMode="auto">
          <a:xfrm flipH="1">
            <a:off x="6172200" y="4937125"/>
            <a:ext cx="609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83" name="Line 42"/>
          <p:cNvSpPr>
            <a:spLocks noChangeShapeType="1"/>
          </p:cNvSpPr>
          <p:nvPr/>
        </p:nvSpPr>
        <p:spPr bwMode="auto">
          <a:xfrm>
            <a:off x="6934200" y="4937125"/>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84" name="Line 43"/>
          <p:cNvSpPr>
            <a:spLocks noChangeShapeType="1"/>
          </p:cNvSpPr>
          <p:nvPr/>
        </p:nvSpPr>
        <p:spPr bwMode="auto">
          <a:xfrm flipH="1">
            <a:off x="5867400" y="5318125"/>
            <a:ext cx="228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85" name="Line 44"/>
          <p:cNvSpPr>
            <a:spLocks noChangeShapeType="1"/>
          </p:cNvSpPr>
          <p:nvPr/>
        </p:nvSpPr>
        <p:spPr bwMode="auto">
          <a:xfrm>
            <a:off x="6172200" y="5318125"/>
            <a:ext cx="381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86" name="Line 45"/>
          <p:cNvSpPr>
            <a:spLocks noChangeShapeType="1"/>
          </p:cNvSpPr>
          <p:nvPr/>
        </p:nvSpPr>
        <p:spPr bwMode="auto">
          <a:xfrm flipH="1">
            <a:off x="5638800" y="5699125"/>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87" name="Line 46"/>
          <p:cNvSpPr>
            <a:spLocks noChangeShapeType="1"/>
          </p:cNvSpPr>
          <p:nvPr/>
        </p:nvSpPr>
        <p:spPr bwMode="auto">
          <a:xfrm>
            <a:off x="5867400" y="5699125"/>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88" name="Line 47"/>
          <p:cNvSpPr>
            <a:spLocks noChangeShapeType="1"/>
          </p:cNvSpPr>
          <p:nvPr/>
        </p:nvSpPr>
        <p:spPr bwMode="auto">
          <a:xfrm flipH="1">
            <a:off x="6400800" y="5699125"/>
            <a:ext cx="152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89" name="Line 48"/>
          <p:cNvSpPr>
            <a:spLocks noChangeShapeType="1"/>
          </p:cNvSpPr>
          <p:nvPr/>
        </p:nvSpPr>
        <p:spPr bwMode="auto">
          <a:xfrm flipH="1">
            <a:off x="7162800" y="5318125"/>
            <a:ext cx="381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90" name="Line 49"/>
          <p:cNvSpPr>
            <a:spLocks noChangeShapeType="1"/>
          </p:cNvSpPr>
          <p:nvPr/>
        </p:nvSpPr>
        <p:spPr bwMode="auto">
          <a:xfrm>
            <a:off x="7543800" y="5318125"/>
            <a:ext cx="381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0291" name="Text Box 50"/>
          <p:cNvSpPr txBox="1">
            <a:spLocks noChangeArrowheads="1"/>
          </p:cNvSpPr>
          <p:nvPr/>
        </p:nvSpPr>
        <p:spPr bwMode="auto">
          <a:xfrm>
            <a:off x="1828800" y="47847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1</a:t>
            </a:r>
            <a:endParaRPr lang="en-US" altLang="zh-CN" sz="2000" dirty="0">
              <a:latin typeface="Times New Roman" panose="02020603050405020304" pitchFamily="18" charset="0"/>
              <a:ea typeface="华文楷体" panose="02010600040101010101" pitchFamily="2" charset="-122"/>
            </a:endParaRPr>
          </a:p>
        </p:txBody>
      </p:sp>
      <p:sp>
        <p:nvSpPr>
          <p:cNvPr id="10292" name="Text Box 51"/>
          <p:cNvSpPr txBox="1">
            <a:spLocks noChangeArrowheads="1"/>
          </p:cNvSpPr>
          <p:nvPr/>
        </p:nvSpPr>
        <p:spPr bwMode="auto">
          <a:xfrm>
            <a:off x="1524000" y="5165725"/>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2         3</a:t>
            </a:r>
            <a:endParaRPr lang="en-US" altLang="zh-CN" sz="2000" dirty="0">
              <a:latin typeface="Times New Roman" panose="02020603050405020304" pitchFamily="18" charset="0"/>
              <a:ea typeface="华文楷体" panose="02010600040101010101" pitchFamily="2" charset="-122"/>
            </a:endParaRPr>
          </a:p>
        </p:txBody>
      </p:sp>
      <p:sp>
        <p:nvSpPr>
          <p:cNvPr id="10293" name="Text Box 52"/>
          <p:cNvSpPr txBox="1">
            <a:spLocks noChangeArrowheads="1"/>
          </p:cNvSpPr>
          <p:nvPr/>
        </p:nvSpPr>
        <p:spPr bwMode="auto">
          <a:xfrm>
            <a:off x="1371600" y="5851525"/>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4     5   6       7</a:t>
            </a:r>
            <a:endParaRPr lang="en-US" altLang="zh-CN" sz="2000" dirty="0">
              <a:latin typeface="Times New Roman" panose="02020603050405020304" pitchFamily="18" charset="0"/>
              <a:ea typeface="华文楷体" panose="02010600040101010101" pitchFamily="2" charset="-122"/>
            </a:endParaRPr>
          </a:p>
        </p:txBody>
      </p:sp>
      <p:sp>
        <p:nvSpPr>
          <p:cNvPr id="10294" name="Oval 53"/>
          <p:cNvSpPr>
            <a:spLocks noChangeArrowheads="1"/>
          </p:cNvSpPr>
          <p:nvPr/>
        </p:nvSpPr>
        <p:spPr bwMode="auto">
          <a:xfrm>
            <a:off x="2286000" y="5775325"/>
            <a:ext cx="152400" cy="152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0295" name="Text Box 54"/>
          <p:cNvSpPr txBox="1">
            <a:spLocks noChangeArrowheads="1"/>
          </p:cNvSpPr>
          <p:nvPr/>
        </p:nvSpPr>
        <p:spPr bwMode="auto">
          <a:xfrm>
            <a:off x="6553200" y="470852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1</a:t>
            </a:r>
            <a:endParaRPr lang="en-US" altLang="zh-CN" sz="2000" dirty="0">
              <a:latin typeface="Times New Roman" panose="02020603050405020304" pitchFamily="18" charset="0"/>
              <a:ea typeface="华文楷体" panose="02010600040101010101" pitchFamily="2" charset="-122"/>
            </a:endParaRPr>
          </a:p>
        </p:txBody>
      </p:sp>
      <p:sp>
        <p:nvSpPr>
          <p:cNvPr id="10296" name="Text Box 55"/>
          <p:cNvSpPr txBox="1">
            <a:spLocks noChangeArrowheads="1"/>
          </p:cNvSpPr>
          <p:nvPr/>
        </p:nvSpPr>
        <p:spPr bwMode="auto">
          <a:xfrm>
            <a:off x="5867400" y="5013325"/>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2                         3</a:t>
            </a:r>
            <a:endParaRPr lang="en-US" altLang="zh-CN" sz="2000" dirty="0">
              <a:latin typeface="Times New Roman" panose="02020603050405020304" pitchFamily="18" charset="0"/>
              <a:ea typeface="华文楷体" panose="02010600040101010101" pitchFamily="2" charset="-122"/>
            </a:endParaRPr>
          </a:p>
        </p:txBody>
      </p:sp>
      <p:sp>
        <p:nvSpPr>
          <p:cNvPr id="10297" name="Text Box 56"/>
          <p:cNvSpPr txBox="1">
            <a:spLocks noChangeArrowheads="1"/>
          </p:cNvSpPr>
          <p:nvPr/>
        </p:nvSpPr>
        <p:spPr bwMode="auto">
          <a:xfrm>
            <a:off x="5562600" y="5394325"/>
            <a:ext cx="2514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4        5        6          7</a:t>
            </a:r>
            <a:endParaRPr lang="en-US" altLang="zh-CN" sz="2000" dirty="0">
              <a:latin typeface="Times New Roman" panose="02020603050405020304" pitchFamily="18" charset="0"/>
              <a:ea typeface="华文楷体" panose="02010600040101010101" pitchFamily="2" charset="-122"/>
            </a:endParaRPr>
          </a:p>
        </p:txBody>
      </p:sp>
      <p:sp>
        <p:nvSpPr>
          <p:cNvPr id="10298" name="Text Box 57"/>
          <p:cNvSpPr txBox="1">
            <a:spLocks noChangeArrowheads="1"/>
          </p:cNvSpPr>
          <p:nvPr/>
        </p:nvSpPr>
        <p:spPr bwMode="auto">
          <a:xfrm>
            <a:off x="5486400" y="6080125"/>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8    9  10</a:t>
            </a:r>
            <a:endParaRPr lang="en-US" altLang="zh-CN" sz="20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1126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1269" name="Rectangle 3"/>
          <p:cNvSpPr>
            <a:spLocks noGrp="1" noChangeArrowheads="1"/>
          </p:cNvSpPr>
          <p:nvPr>
            <p:ph idx="1"/>
          </p:nvPr>
        </p:nvSpPr>
        <p:spPr>
          <a:xfrm>
            <a:off x="381000" y="1828800"/>
            <a:ext cx="8229600" cy="4572000"/>
          </a:xfrm>
          <a:ln>
            <a:solidFill>
              <a:schemeClr val="accent1"/>
            </a:solidFill>
          </a:ln>
        </p:spPr>
        <p:txBody>
          <a:bodyPr/>
          <a:lstStyle/>
          <a:p>
            <a:pPr eaLnBrk="1" hangingPunct="1">
              <a:lnSpc>
                <a:spcPct val="90000"/>
              </a:lnSpc>
              <a:buFont typeface="Wingdings" panose="05000000000000000000" pitchFamily="2" charset="2"/>
              <a:buNone/>
            </a:pPr>
            <a:r>
              <a:rPr lang="zh-CN" altLang="en-US" sz="2400" b="1" dirty="0" smtClean="0">
                <a:solidFill>
                  <a:srgbClr val="CC6600"/>
                </a:solidFill>
                <a:ea typeface="华文楷体" panose="02010600040101010101" pitchFamily="2" charset="-122"/>
              </a:rPr>
              <a:t>性质</a:t>
            </a:r>
            <a:r>
              <a:rPr lang="en-US" altLang="zh-CN" sz="2400" b="1" dirty="0" smtClean="0">
                <a:solidFill>
                  <a:srgbClr val="CC6600"/>
                </a:solidFill>
                <a:ea typeface="华文楷体" panose="02010600040101010101" pitchFamily="2" charset="-122"/>
              </a:rPr>
              <a:t>1</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二叉树的第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层上至多有</a:t>
            </a:r>
            <a:r>
              <a:rPr lang="en-US" altLang="zh-CN" sz="2400" b="1" dirty="0" smtClean="0">
                <a:solidFill>
                  <a:srgbClr val="FF3300"/>
                </a:solidFill>
                <a:ea typeface="华文楷体" panose="02010600040101010101" pitchFamily="2" charset="-122"/>
              </a:rPr>
              <a:t>2</a:t>
            </a:r>
            <a:r>
              <a:rPr lang="en-US" altLang="zh-CN" sz="2400" b="1" baseline="30000" dirty="0" smtClean="0">
                <a:solidFill>
                  <a:srgbClr val="FF3300"/>
                </a:solidFill>
                <a:ea typeface="华文楷体" panose="02010600040101010101" pitchFamily="2" charset="-122"/>
              </a:rPr>
              <a:t>i-1</a:t>
            </a:r>
            <a:r>
              <a:rPr lang="en-US" altLang="zh-CN" sz="2400" dirty="0" smtClean="0">
                <a:ea typeface="华文楷体" panose="02010600040101010101" pitchFamily="2" charset="-122"/>
              </a:rPr>
              <a:t>(i</a:t>
            </a:r>
            <a:r>
              <a:rPr lang="en-US" altLang="zh-CN" sz="2400" dirty="0" smtClean="0">
                <a:ea typeface="华文楷体" panose="02010600040101010101" pitchFamily="2" charset="-122"/>
                <a:sym typeface="Symbol" panose="05050102010706020507" pitchFamily="18" charset="2"/>
              </a:rPr>
              <a:t>1)</a:t>
            </a:r>
            <a:r>
              <a:rPr lang="zh-CN" altLang="zh-CN" sz="2400" dirty="0" smtClean="0">
                <a:ea typeface="华文楷体" panose="02010600040101010101" pitchFamily="2" charset="-122"/>
                <a:sym typeface="Symbol" panose="05050102010706020507" pitchFamily="18" charset="2"/>
              </a:rPr>
              <a:t>个结点。</a:t>
            </a:r>
            <a:endParaRPr lang="zh-CN" altLang="zh-CN"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zh-CN" altLang="en-US" sz="2400" b="1" dirty="0" smtClean="0">
                <a:solidFill>
                  <a:srgbClr val="CC6600"/>
                </a:solidFill>
                <a:ea typeface="华文楷体" panose="02010600040101010101" pitchFamily="2" charset="-122"/>
              </a:rPr>
              <a:t>性质</a:t>
            </a:r>
            <a:r>
              <a:rPr lang="en-US" altLang="zh-CN" sz="2400" b="1" dirty="0" smtClean="0">
                <a:solidFill>
                  <a:srgbClr val="CC6600"/>
                </a:solidFill>
                <a:ea typeface="华文楷体" panose="02010600040101010101" pitchFamily="2" charset="-122"/>
              </a:rPr>
              <a:t>2</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深度为</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的二叉树至多有</a:t>
            </a:r>
            <a:r>
              <a:rPr lang="en-US" altLang="zh-CN" sz="2400" b="1" dirty="0" smtClean="0">
                <a:solidFill>
                  <a:srgbClr val="FF3300"/>
                </a:solidFill>
                <a:ea typeface="华文楷体" panose="02010600040101010101" pitchFamily="2" charset="-122"/>
              </a:rPr>
              <a:t>2</a:t>
            </a:r>
            <a:r>
              <a:rPr lang="en-US" altLang="zh-CN" sz="2400" b="1" baseline="30000" dirty="0" smtClean="0">
                <a:solidFill>
                  <a:srgbClr val="FF3300"/>
                </a:solidFill>
                <a:ea typeface="华文楷体" panose="02010600040101010101" pitchFamily="2" charset="-122"/>
              </a:rPr>
              <a:t>k</a:t>
            </a:r>
            <a:r>
              <a:rPr lang="en-US" altLang="zh-CN" sz="2400" b="1" dirty="0" smtClean="0">
                <a:solidFill>
                  <a:srgbClr val="FF3300"/>
                </a:solidFill>
                <a:ea typeface="华文楷体" panose="02010600040101010101" pitchFamily="2" charset="-122"/>
              </a:rPr>
              <a:t>-1</a:t>
            </a:r>
            <a:r>
              <a:rPr lang="zh-CN" altLang="en-US" sz="2400" dirty="0" smtClean="0">
                <a:ea typeface="华文楷体" panose="02010600040101010101" pitchFamily="2" charset="-122"/>
              </a:rPr>
              <a:t>个结点</a:t>
            </a:r>
            <a:r>
              <a:rPr lang="en-US" altLang="zh-CN" sz="2400" dirty="0" smtClean="0">
                <a:ea typeface="华文楷体" panose="02010600040101010101" pitchFamily="2" charset="-122"/>
              </a:rPr>
              <a:t>(k</a:t>
            </a:r>
            <a:r>
              <a:rPr lang="en-US" altLang="zh-CN" sz="2400" dirty="0" smtClean="0">
                <a:ea typeface="华文楷体" panose="02010600040101010101" pitchFamily="2" charset="-122"/>
                <a:sym typeface="Symbol" panose="05050102010706020507" pitchFamily="18" charset="2"/>
              </a:rPr>
              <a:t>1)</a:t>
            </a:r>
            <a:r>
              <a:rPr lang="zh-CN" altLang="en-US" sz="2400" dirty="0" smtClean="0">
                <a:ea typeface="华文楷体" panose="02010600040101010101" pitchFamily="2" charset="-122"/>
                <a:sym typeface="Symbol" panose="05050102010706020507" pitchFamily="18" charset="2"/>
              </a:rPr>
              <a:t>。</a:t>
            </a:r>
            <a:endParaRPr lang="zh-CN" altLang="en-US"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zh-CN" altLang="en-US" sz="2400" b="1" dirty="0" smtClean="0">
                <a:solidFill>
                  <a:srgbClr val="CC6600"/>
                </a:solidFill>
                <a:ea typeface="华文楷体" panose="02010600040101010101" pitchFamily="2" charset="-122"/>
              </a:rPr>
              <a:t>性质</a:t>
            </a:r>
            <a:r>
              <a:rPr lang="en-US" altLang="zh-CN" sz="2400" b="1" dirty="0" smtClean="0">
                <a:solidFill>
                  <a:srgbClr val="CC6600"/>
                </a:solidFill>
                <a:ea typeface="华文楷体" panose="02010600040101010101" pitchFamily="2" charset="-122"/>
              </a:rPr>
              <a:t>3</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对任何一棵二叉树</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，如果其终端结点数为</a:t>
            </a:r>
            <a:r>
              <a:rPr lang="en-US" altLang="zh-CN" sz="2400" dirty="0" smtClean="0">
                <a:ea typeface="华文楷体" panose="02010600040101010101" pitchFamily="2" charset="-122"/>
              </a:rPr>
              <a:t>n</a:t>
            </a:r>
            <a:r>
              <a:rPr lang="en-US" altLang="zh-CN" sz="2400" baseline="-25000" dirty="0" smtClean="0">
                <a:ea typeface="华文楷体" panose="02010600040101010101" pitchFamily="2" charset="-122"/>
              </a:rPr>
              <a:t>0</a:t>
            </a:r>
            <a:r>
              <a:rPr lang="zh-CN" altLang="en-US" sz="2400" dirty="0" smtClean="0">
                <a:ea typeface="华文楷体" panose="02010600040101010101" pitchFamily="2" charset="-122"/>
              </a:rPr>
              <a:t>，度为</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的结点数为</a:t>
            </a:r>
            <a:r>
              <a:rPr lang="en-US" altLang="zh-CN" sz="2400" dirty="0" smtClean="0">
                <a:ea typeface="华文楷体" panose="02010600040101010101" pitchFamily="2" charset="-122"/>
              </a:rPr>
              <a:t>n</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，则</a:t>
            </a:r>
            <a:r>
              <a:rPr lang="en-US" altLang="zh-CN" sz="2400" b="1" dirty="0" smtClean="0">
                <a:solidFill>
                  <a:srgbClr val="FF3300"/>
                </a:solidFill>
                <a:ea typeface="华文楷体" panose="02010600040101010101" pitchFamily="2" charset="-122"/>
              </a:rPr>
              <a:t>n</a:t>
            </a:r>
            <a:r>
              <a:rPr lang="en-US" altLang="zh-CN" sz="2400" b="1" baseline="-25000" dirty="0" smtClean="0">
                <a:solidFill>
                  <a:srgbClr val="FF3300"/>
                </a:solidFill>
                <a:ea typeface="华文楷体" panose="02010600040101010101" pitchFamily="2" charset="-122"/>
              </a:rPr>
              <a:t>0</a:t>
            </a:r>
            <a:r>
              <a:rPr lang="en-US" altLang="zh-CN" sz="2400" b="1" dirty="0" smtClean="0">
                <a:solidFill>
                  <a:srgbClr val="FF3300"/>
                </a:solidFill>
                <a:ea typeface="华文楷体" panose="02010600040101010101" pitchFamily="2" charset="-122"/>
              </a:rPr>
              <a:t> = n</a:t>
            </a:r>
            <a:r>
              <a:rPr lang="en-US" altLang="zh-CN" sz="2400" b="1" baseline="-25000" dirty="0" smtClean="0">
                <a:solidFill>
                  <a:srgbClr val="FF3300"/>
                </a:solidFill>
                <a:ea typeface="华文楷体" panose="02010600040101010101" pitchFamily="2" charset="-122"/>
              </a:rPr>
              <a:t>2</a:t>
            </a:r>
            <a:r>
              <a:rPr lang="en-US" altLang="zh-CN" sz="2400" b="1" dirty="0" smtClean="0">
                <a:solidFill>
                  <a:srgbClr val="FF3300"/>
                </a:solidFill>
                <a:ea typeface="华文楷体" panose="02010600040101010101" pitchFamily="2" charset="-122"/>
              </a:rPr>
              <a:t> + 1</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CC6600"/>
                </a:solidFill>
                <a:ea typeface="华文楷体" panose="02010600040101010101" pitchFamily="2" charset="-122"/>
              </a:rPr>
              <a:t>性质</a:t>
            </a:r>
            <a:r>
              <a:rPr lang="en-US" altLang="zh-CN" sz="2400" b="1" dirty="0" smtClean="0">
                <a:solidFill>
                  <a:srgbClr val="CC6600"/>
                </a:solidFill>
                <a:ea typeface="华文楷体" panose="02010600040101010101" pitchFamily="2" charset="-122"/>
              </a:rPr>
              <a:t>4</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具有</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个结点的完全二叉树的深度为 </a:t>
            </a:r>
            <a:r>
              <a:rPr lang="zh-CN" altLang="en-US" sz="2400" b="1" dirty="0" smtClean="0">
                <a:solidFill>
                  <a:srgbClr val="FF3300"/>
                </a:solidFill>
                <a:ea typeface="华文楷体" panose="02010600040101010101" pitchFamily="2" charset="-122"/>
                <a:sym typeface="Symbol" panose="05050102010706020507" pitchFamily="18" charset="2"/>
              </a:rPr>
              <a:t></a:t>
            </a:r>
            <a:r>
              <a:rPr lang="en-US" altLang="zh-CN" sz="2400" b="1" dirty="0" smtClean="0">
                <a:solidFill>
                  <a:srgbClr val="FF3300"/>
                </a:solidFill>
                <a:ea typeface="华文楷体" panose="02010600040101010101" pitchFamily="2" charset="-122"/>
                <a:sym typeface="Symbol" panose="05050102010706020507" pitchFamily="18" charset="2"/>
              </a:rPr>
              <a:t>log</a:t>
            </a:r>
            <a:r>
              <a:rPr lang="en-US" altLang="zh-CN" sz="2400" b="1" baseline="-25000" dirty="0" smtClean="0">
                <a:solidFill>
                  <a:srgbClr val="FF3300"/>
                </a:solidFill>
                <a:ea typeface="华文楷体" panose="02010600040101010101" pitchFamily="2" charset="-122"/>
                <a:sym typeface="Symbol" panose="05050102010706020507" pitchFamily="18" charset="2"/>
              </a:rPr>
              <a:t>2</a:t>
            </a:r>
            <a:r>
              <a:rPr lang="en-US" altLang="zh-CN" sz="2400" b="1" dirty="0" smtClean="0">
                <a:solidFill>
                  <a:srgbClr val="FF3300"/>
                </a:solidFill>
                <a:ea typeface="华文楷体" panose="02010600040101010101" pitchFamily="2" charset="-122"/>
                <a:sym typeface="Symbol" panose="05050102010706020507" pitchFamily="18" charset="2"/>
              </a:rPr>
              <a:t>n+1</a:t>
            </a:r>
            <a:r>
              <a:rPr lang="zh-CN" altLang="en-US" sz="2400" dirty="0" smtClean="0">
                <a:ea typeface="华文楷体" panose="02010600040101010101" pitchFamily="2" charset="-122"/>
                <a:sym typeface="Symbol" panose="05050102010706020507" pitchFamily="18" charset="2"/>
              </a:rPr>
              <a:t>。</a:t>
            </a:r>
            <a:endParaRPr lang="zh-CN" altLang="en-US"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zh-CN" altLang="en-US" sz="2400" b="1" dirty="0" smtClean="0">
                <a:solidFill>
                  <a:srgbClr val="CC6600"/>
                </a:solidFill>
                <a:ea typeface="华文楷体" panose="02010600040101010101" pitchFamily="2" charset="-122"/>
              </a:rPr>
              <a:t>性质</a:t>
            </a:r>
            <a:r>
              <a:rPr lang="en-US" altLang="zh-CN" sz="2400" b="1" dirty="0" smtClean="0">
                <a:solidFill>
                  <a:srgbClr val="CC6600"/>
                </a:solidFill>
                <a:ea typeface="华文楷体" panose="02010600040101010101" pitchFamily="2" charset="-122"/>
              </a:rPr>
              <a:t>5</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一棵具有</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个结点的完全二叉树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又称顺序二叉树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，对其结点按层从上至下</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每层从左至右</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进行</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至</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的编号，则对任一结点</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(1</a:t>
            </a:r>
            <a:r>
              <a:rPr lang="en-US" altLang="zh-CN" sz="2400" dirty="0" smtClean="0">
                <a:ea typeface="华文楷体" panose="02010600040101010101" pitchFamily="2" charset="-122"/>
                <a:sym typeface="Symbol" panose="05050102010706020507" pitchFamily="18" charset="2"/>
              </a:rPr>
              <a:t>in)</a:t>
            </a:r>
            <a:r>
              <a:rPr lang="zh-CN" altLang="en-US" sz="2400" dirty="0" smtClean="0">
                <a:ea typeface="华文楷体" panose="02010600040101010101" pitchFamily="2" charset="-122"/>
              </a:rPr>
              <a:t>有：</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若</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&gt;1</a:t>
            </a:r>
            <a:r>
              <a:rPr lang="zh-CN" altLang="en-US" sz="2400" dirty="0" smtClean="0">
                <a:ea typeface="华文楷体" panose="02010600040101010101" pitchFamily="2" charset="-122"/>
              </a:rPr>
              <a:t>，则</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的双亲是</a:t>
            </a:r>
            <a:r>
              <a:rPr lang="zh-CN" altLang="en-US" sz="2400" b="1" dirty="0" smtClean="0">
                <a:solidFill>
                  <a:srgbClr val="FF3300"/>
                </a:solidFill>
                <a:ea typeface="华文楷体" panose="02010600040101010101" pitchFamily="2" charset="-122"/>
                <a:sym typeface="Symbol" panose="05050102010706020507" pitchFamily="18" charset="2"/>
              </a:rPr>
              <a:t></a:t>
            </a:r>
            <a:r>
              <a:rPr lang="en-US" altLang="zh-CN" sz="2400" b="1" dirty="0" err="1" smtClean="0">
                <a:solidFill>
                  <a:srgbClr val="FF3300"/>
                </a:solidFill>
                <a:ea typeface="华文楷体" panose="02010600040101010101" pitchFamily="2" charset="-122"/>
                <a:sym typeface="Symbol" panose="05050102010706020507" pitchFamily="18" charset="2"/>
              </a:rPr>
              <a:t>i</a:t>
            </a:r>
            <a:r>
              <a:rPr lang="en-US" altLang="zh-CN" sz="2400" b="1" dirty="0" smtClean="0">
                <a:solidFill>
                  <a:srgbClr val="FF3300"/>
                </a:solidFill>
                <a:ea typeface="华文楷体" panose="02010600040101010101" pitchFamily="2" charset="-122"/>
                <a:sym typeface="Symbol" panose="05050102010706020507" pitchFamily="18" charset="2"/>
              </a:rPr>
              <a:t>/2</a:t>
            </a:r>
            <a:r>
              <a:rPr lang="zh-CN" altLang="en-US"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rPr>
              <a:t>若</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，则</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是根，无双亲。</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若</a:t>
            </a:r>
            <a:r>
              <a:rPr lang="en-US" altLang="zh-CN" sz="2400" dirty="0" smtClean="0">
                <a:ea typeface="华文楷体" panose="02010600040101010101" pitchFamily="2" charset="-122"/>
              </a:rPr>
              <a:t>2</a:t>
            </a:r>
            <a:r>
              <a:rPr lang="en-US" altLang="zh-CN" sz="2400" dirty="0" smtClean="0">
                <a:ea typeface="华文楷体" panose="02010600040101010101" pitchFamily="2" charset="-122"/>
                <a:sym typeface="Symbol" panose="05050102010706020507" pitchFamily="18" charset="2"/>
              </a:rPr>
              <a:t>in</a:t>
            </a:r>
            <a:r>
              <a:rPr lang="zh-CN" altLang="en-US" sz="2400" dirty="0" smtClean="0">
                <a:ea typeface="华文楷体" panose="02010600040101010101" pitchFamily="2" charset="-122"/>
                <a:sym typeface="Symbol" panose="05050102010706020507" pitchFamily="18" charset="2"/>
              </a:rPr>
              <a:t>，则</a:t>
            </a:r>
            <a:r>
              <a:rPr lang="en-US" altLang="zh-CN" sz="2400" dirty="0" err="1"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sym typeface="Symbol" panose="05050102010706020507" pitchFamily="18" charset="2"/>
              </a:rPr>
              <a:t>的左孩子是</a:t>
            </a:r>
            <a:r>
              <a:rPr lang="en-US" altLang="zh-CN" sz="2400" b="1" dirty="0" smtClean="0">
                <a:solidFill>
                  <a:srgbClr val="FF3300"/>
                </a:solidFill>
                <a:ea typeface="华文楷体" panose="02010600040101010101" pitchFamily="2" charset="-122"/>
                <a:sym typeface="Symbol" panose="05050102010706020507" pitchFamily="18" charset="2"/>
              </a:rPr>
              <a:t>2i</a:t>
            </a:r>
            <a:r>
              <a:rPr lang="zh-CN" altLang="en-US" sz="2400" dirty="0" smtClean="0">
                <a:ea typeface="华文楷体" panose="02010600040101010101" pitchFamily="2" charset="-122"/>
                <a:sym typeface="Symbol" panose="05050102010706020507" pitchFamily="18" charset="2"/>
              </a:rPr>
              <a:t>；否则， </a:t>
            </a:r>
            <a:r>
              <a:rPr lang="en-US" altLang="zh-CN" sz="2400" dirty="0" err="1"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sym typeface="Symbol" panose="05050102010706020507" pitchFamily="18" charset="2"/>
              </a:rPr>
              <a:t>无左孩子。</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若</a:t>
            </a:r>
            <a:r>
              <a:rPr lang="en-US" altLang="zh-CN" sz="2400" dirty="0" smtClean="0">
                <a:ea typeface="华文楷体" panose="02010600040101010101" pitchFamily="2" charset="-122"/>
              </a:rPr>
              <a:t>2</a:t>
            </a:r>
            <a:r>
              <a:rPr lang="en-US" altLang="zh-CN" sz="2400" dirty="0" smtClean="0">
                <a:ea typeface="华文楷体" panose="02010600040101010101" pitchFamily="2" charset="-122"/>
                <a:sym typeface="Symbol" panose="05050102010706020507" pitchFamily="18" charset="2"/>
              </a:rPr>
              <a:t>i+1n</a:t>
            </a:r>
            <a:r>
              <a:rPr lang="zh-CN" altLang="en-US" sz="2400" dirty="0" smtClean="0">
                <a:ea typeface="华文楷体" panose="02010600040101010101" pitchFamily="2" charset="-122"/>
                <a:sym typeface="Symbol" panose="05050102010706020507" pitchFamily="18" charset="2"/>
              </a:rPr>
              <a:t>，则</a:t>
            </a:r>
            <a:r>
              <a:rPr lang="en-US" altLang="zh-CN" sz="2400" dirty="0" err="1"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sym typeface="Symbol" panose="05050102010706020507" pitchFamily="18" charset="2"/>
              </a:rPr>
              <a:t>的右孩子是</a:t>
            </a:r>
            <a:r>
              <a:rPr lang="en-US" altLang="zh-CN" sz="2400" b="1" dirty="0" smtClean="0">
                <a:solidFill>
                  <a:srgbClr val="FF3300"/>
                </a:solidFill>
                <a:ea typeface="华文楷体" panose="02010600040101010101" pitchFamily="2" charset="-122"/>
                <a:sym typeface="Symbol" panose="05050102010706020507" pitchFamily="18" charset="2"/>
              </a:rPr>
              <a:t>2i+1</a:t>
            </a:r>
            <a:r>
              <a:rPr lang="zh-CN" altLang="en-US" sz="2400" dirty="0" smtClean="0">
                <a:ea typeface="华文楷体" panose="02010600040101010101" pitchFamily="2" charset="-122"/>
                <a:sym typeface="Symbol" panose="05050102010706020507" pitchFamily="18" charset="2"/>
              </a:rPr>
              <a:t>；否则， </a:t>
            </a:r>
            <a:r>
              <a:rPr lang="en-US" altLang="zh-CN" sz="2400" dirty="0" err="1"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sym typeface="Symbol" panose="05050102010706020507" pitchFamily="18" charset="2"/>
              </a:rPr>
              <a:t>无右孩子。</a:t>
            </a:r>
            <a:endParaRPr lang="zh-CN" altLang="en-US"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sp>
        <p:nvSpPr>
          <p:cNvPr id="11270" name="Text Box 4"/>
          <p:cNvSpPr txBox="1">
            <a:spLocks noChangeArrowheads="1"/>
          </p:cNvSpPr>
          <p:nvPr/>
        </p:nvSpPr>
        <p:spPr bwMode="auto">
          <a:xfrm>
            <a:off x="381000" y="1233488"/>
            <a:ext cx="25891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800" b="1" dirty="0">
                <a:solidFill>
                  <a:schemeClr val="accent2"/>
                </a:solidFill>
                <a:latin typeface="Times New Roman" panose="02020603050405020304" pitchFamily="18" charset="0"/>
                <a:ea typeface="华文楷体" panose="02010600040101010101" pitchFamily="2" charset="-122"/>
              </a:rPr>
              <a:t>[</a:t>
            </a:r>
            <a:r>
              <a:rPr lang="zh-CN" altLang="en-US" sz="2800" b="1" dirty="0">
                <a:solidFill>
                  <a:schemeClr val="accent2"/>
                </a:solidFill>
                <a:latin typeface="Times New Roman" panose="02020603050405020304" pitchFamily="18" charset="0"/>
                <a:ea typeface="华文楷体" panose="02010600040101010101" pitchFamily="2" charset="-122"/>
              </a:rPr>
              <a:t>二叉树的性质</a:t>
            </a:r>
            <a:r>
              <a:rPr lang="en-US" altLang="zh-CN" sz="2800" b="1" dirty="0">
                <a:solidFill>
                  <a:schemeClr val="accent2"/>
                </a:solidFill>
                <a:latin typeface="Times New Roman" panose="02020603050405020304" pitchFamily="18" charset="0"/>
                <a:ea typeface="华文楷体" panose="02010600040101010101" pitchFamily="2" charset="-122"/>
              </a:rPr>
              <a:t>]</a:t>
            </a:r>
            <a:endParaRPr lang="en-US" altLang="zh-CN" sz="2800" b="1" dirty="0">
              <a:solidFill>
                <a:schemeClr val="accent2"/>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mc:AlternateContent xmlns:mc="http://schemas.openxmlformats.org/markup-compatibility/2006">
        <mc:Choice xmlns:a14="http://schemas.microsoft.com/office/drawing/2010/main" Requires="a14">
          <p:sp>
            <p:nvSpPr>
              <p:cNvPr id="6" name="内容占位符 2"/>
              <p:cNvSpPr txBox="1"/>
              <p:nvPr/>
            </p:nvSpPr>
            <p:spPr bwMode="auto">
              <a:xfrm>
                <a:off x="228714" y="1189037"/>
                <a:ext cx="8838968" cy="559267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sz="2000" b="1" dirty="0" smtClean="0">
                    <a:solidFill>
                      <a:srgbClr val="C00000"/>
                    </a:solidFill>
                    <a:ea typeface="华文楷体" panose="02010600040101010101" pitchFamily="2" charset="-122"/>
                  </a:rPr>
                  <a:t>求解方法归纳</a:t>
                </a:r>
                <a:endParaRPr lang="en-US" altLang="zh-CN" sz="2000" b="1" dirty="0" smtClean="0">
                  <a:solidFill>
                    <a:srgbClr val="C00000"/>
                  </a:solidFill>
                  <a:ea typeface="华文楷体" panose="02010600040101010101" pitchFamily="2" charset="-122"/>
                </a:endParaRPr>
              </a:p>
              <a:p>
                <a:pPr marL="0" indent="0">
                  <a:buNone/>
                </a:pPr>
                <a:r>
                  <a:rPr lang="zh-CN" altLang="en-US" sz="2000" b="1" dirty="0" smtClean="0">
                    <a:solidFill>
                      <a:srgbClr val="C00000"/>
                    </a:solidFill>
                    <a:latin typeface="华文楷体" panose="02010600040101010101" pitchFamily="2" charset="-122"/>
                    <a:ea typeface="华文楷体" panose="02010600040101010101" pitchFamily="2" charset="-122"/>
                  </a:rPr>
                  <a:t>①</a:t>
                </a:r>
                <a:r>
                  <a:rPr lang="zh-CN" altLang="en-US" sz="2000" dirty="0" smtClean="0">
                    <a:ea typeface="华文楷体" panose="02010600040101010101" pitchFamily="2" charset="-122"/>
                  </a:rPr>
                  <a:t>利用二叉树的性质求结点个数的一般方法：</a:t>
                </a:r>
                <a:endParaRPr lang="en-US" altLang="zh-CN" sz="2000" dirty="0" smtClean="0">
                  <a:ea typeface="华文楷体" panose="02010600040101010101" pitchFamily="2" charset="-122"/>
                </a:endParaRPr>
              </a:p>
              <a:p>
                <a:pPr marL="0" indent="0">
                  <a:buNone/>
                </a:pPr>
                <a14:m>
                  <m:oMath xmlns:m="http://schemas.openxmlformats.org/officeDocument/2006/math">
                    <m:r>
                      <a:rPr lang="en-US" altLang="zh-CN" sz="2000" b="0" i="1" smtClean="0">
                        <a:latin typeface="Cambria Math" panose="02040503050406030204" pitchFamily="18" charset="0"/>
                        <a:ea typeface="华文楷体" panose="02010600040101010101" pitchFamily="2" charset="-122"/>
                      </a:rPr>
                      <m:t>𝑛</m:t>
                    </m:r>
                    <m:r>
                      <a:rPr lang="en-US" altLang="zh-CN" sz="2000" b="0" i="1" smtClean="0">
                        <a:latin typeface="Cambria Math" panose="02040503050406030204" pitchFamily="18" charset="0"/>
                        <a:ea typeface="华文楷体" panose="02010600040101010101" pitchFamily="2" charset="-122"/>
                      </a:rPr>
                      <m:t>=</m:t>
                    </m:r>
                    <m:sSub>
                      <m:sSubPr>
                        <m:ctrlPr>
                          <a:rPr lang="en-US" altLang="zh-CN" sz="2000" b="0" i="1" smtClean="0">
                            <a:latin typeface="Cambria Math" panose="02040503050406030204" pitchFamily="18" charset="0"/>
                            <a:ea typeface="华文楷体" panose="02010600040101010101" pitchFamily="2" charset="-122"/>
                          </a:rPr>
                        </m:ctrlPr>
                      </m:sSubPr>
                      <m:e>
                        <m:r>
                          <a:rPr lang="en-US" altLang="zh-CN" sz="2000" b="0" i="1" smtClean="0">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0</m:t>
                        </m:r>
                      </m:sub>
                    </m:sSub>
                    <m:r>
                      <a:rPr lang="en-US" altLang="zh-CN" sz="2000" b="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1</m:t>
                        </m:r>
                      </m:sub>
                    </m:sSub>
                    <m:r>
                      <a:rPr lang="en-US" altLang="zh-CN" sz="2000" b="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2</m:t>
                        </m:r>
                      </m:sub>
                    </m:sSub>
                  </m:oMath>
                </a14:m>
                <a:r>
                  <a:rPr lang="zh-CN" altLang="en-US"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None/>
                </a:pPr>
                <a14:m>
                  <m:oMath xmlns:m="http://schemas.openxmlformats.org/officeDocument/2006/math">
                    <m:r>
                      <m:rPr>
                        <m:nor/>
                      </m:rPr>
                      <a:rPr lang="zh-CN" altLang="en-US" sz="2000" dirty="0">
                        <a:latin typeface="Cambria Math" panose="02040503050406030204" pitchFamily="18" charset="0"/>
                        <a:ea typeface="华文楷体" panose="02010600040101010101" pitchFamily="2" charset="-122"/>
                      </a:rPr>
                      <m:t>度</m:t>
                    </m:r>
                    <m:r>
                      <a:rPr lang="zh-CN" altLang="en-US" sz="2000" i="1" smtClean="0">
                        <a:latin typeface="Cambria Math" panose="02040503050406030204" pitchFamily="18" charset="0"/>
                        <a:ea typeface="华文楷体" panose="02010600040101010101" pitchFamily="2" charset="-122"/>
                      </a:rPr>
                      <m:t>之和</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𝑛</m:t>
                    </m:r>
                    <m:r>
                      <a:rPr lang="en-US" altLang="zh-CN" sz="200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oMath>
                </a14:m>
                <a:r>
                  <a:rPr lang="en-US" altLang="zh-CN" sz="2000" dirty="0" smtClean="0">
                    <a:ea typeface="华文楷体" panose="02010600040101010101" pitchFamily="2" charset="-122"/>
                  </a:rPr>
                  <a:t>                           </a:t>
                </a:r>
                <a:endParaRPr lang="en-US" altLang="zh-CN" sz="2000" dirty="0">
                  <a:ea typeface="华文楷体" panose="02010600040101010101" pitchFamily="2" charset="-122"/>
                </a:endParaRPr>
              </a:p>
              <a:p>
                <a:pPr marL="0" indent="0">
                  <a:buNone/>
                </a:pPr>
                <a14:m>
                  <m:oMath xmlns:m="http://schemas.openxmlformats.org/officeDocument/2006/math">
                    <m:r>
                      <m:rPr>
                        <m:nor/>
                      </m:rPr>
                      <a:rPr lang="zh-CN" altLang="en-US" sz="2000" dirty="0">
                        <a:latin typeface="Cambria Math" panose="02040503050406030204" pitchFamily="18" charset="0"/>
                        <a:ea typeface="华文楷体" panose="02010600040101010101" pitchFamily="2" charset="-122"/>
                      </a:rPr>
                      <m:t>度</m:t>
                    </m:r>
                    <m:r>
                      <a:rPr lang="zh-CN" altLang="en-US" sz="2000" i="1">
                        <a:latin typeface="Cambria Math" panose="02040503050406030204" pitchFamily="18" charset="0"/>
                        <a:ea typeface="华文楷体" panose="02010600040101010101" pitchFamily="2" charset="-122"/>
                      </a:rPr>
                      <m:t>之和</m:t>
                    </m:r>
                    <m:r>
                      <a:rPr lang="en-US" altLang="zh-CN"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1</m:t>
                        </m:r>
                      </m:sub>
                    </m:sSub>
                    <m:r>
                      <a:rPr lang="en-US" altLang="zh-CN" sz="200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2</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2</m:t>
                        </m:r>
                      </m:sub>
                    </m:sSub>
                  </m:oMath>
                </a14:m>
                <a:r>
                  <a:rPr lang="zh-CN" altLang="en-US"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None/>
                </a:pP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0</m:t>
                        </m:r>
                      </m:sub>
                    </m:sSub>
                    <m:r>
                      <a:rPr lang="en-US" altLang="zh-CN" sz="2000" i="1" smtClean="0">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2</m:t>
                        </m:r>
                      </m:sub>
                    </m:sSub>
                    <m:r>
                      <a:rPr lang="en-US" altLang="zh-CN" sz="2000" i="1">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oMath>
                </a14:m>
                <a:r>
                  <a:rPr lang="zh-CN" altLang="en-US" sz="2000" dirty="0" smtClean="0">
                    <a:ea typeface="华文楷体" panose="02010600040101010101" pitchFamily="2" charset="-122"/>
                  </a:rPr>
                  <a:t> </a:t>
                </a:r>
                <a:endParaRPr lang="en-US" altLang="zh-CN" sz="2000" dirty="0" smtClean="0">
                  <a:latin typeface="华文楷体" panose="02010600040101010101" pitchFamily="2" charset="-122"/>
                  <a:ea typeface="华文楷体" panose="02010600040101010101" pitchFamily="2" charset="-122"/>
                </a:endParaRPr>
              </a:p>
              <a:p>
                <a:pPr marL="0" indent="0">
                  <a:buNone/>
                </a:pPr>
                <a:r>
                  <a:rPr lang="en-US" altLang="zh-CN" sz="2000" b="1" dirty="0" smtClean="0">
                    <a:solidFill>
                      <a:srgbClr val="C00000"/>
                    </a:solidFill>
                    <a:latin typeface="华文楷体" panose="02010600040101010101" pitchFamily="2" charset="-122"/>
                    <a:ea typeface="华文楷体" panose="02010600040101010101" pitchFamily="2" charset="-122"/>
                  </a:rPr>
                  <a:t>②</a:t>
                </a:r>
                <a:r>
                  <a:rPr lang="zh-CN" altLang="en-US" sz="2000" dirty="0" smtClean="0">
                    <a:latin typeface="华文楷体" panose="02010600040101010101" pitchFamily="2" charset="-122"/>
                    <a:ea typeface="华文楷体" panose="02010600040101010101" pitchFamily="2" charset="-122"/>
                  </a:rPr>
                  <a:t>求解完成二叉树结点数的一般方法：</a:t>
                </a:r>
                <a:endParaRPr lang="en-US" altLang="zh-CN" sz="2000" dirty="0">
                  <a:latin typeface="华文楷体" panose="02010600040101010101" pitchFamily="2" charset="-122"/>
                  <a:ea typeface="华文楷体" panose="02010600040101010101" pitchFamily="2" charset="-122"/>
                </a:endParaRPr>
              </a:p>
              <a:p>
                <a:pPr marL="0" indent="0">
                  <a:buNone/>
                </a:pPr>
                <a14:m>
                  <m:oMath xmlns:m="http://schemas.openxmlformats.org/officeDocument/2006/math">
                    <m:r>
                      <a:rPr lang="en-US" altLang="zh-CN" sz="2000" i="1">
                        <a:latin typeface="Cambria Math" panose="02040503050406030204" pitchFamily="18" charset="0"/>
                        <a:ea typeface="华文楷体" panose="02010600040101010101" pitchFamily="2" charset="-122"/>
                      </a:rPr>
                      <m:t>𝑛</m:t>
                    </m:r>
                  </m:oMath>
                </a14:m>
                <a:r>
                  <a:rPr lang="zh-CN" altLang="en-US" sz="2000" dirty="0" smtClean="0">
                    <a:latin typeface="华文楷体" panose="02010600040101010101" pitchFamily="2" charset="-122"/>
                    <a:ea typeface="华文楷体" panose="02010600040101010101" pitchFamily="2" charset="-122"/>
                  </a:rPr>
                  <a:t>为偶数，</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1</m:t>
                        </m:r>
                      </m:sub>
                    </m:sSub>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1</m:t>
                    </m:r>
                    <m:r>
                      <a:rPr lang="en-US" altLang="zh-CN" sz="2000" b="0" i="1" smtClean="0">
                        <a:latin typeface="Cambria Math" panose="02040503050406030204" pitchFamily="18" charset="0"/>
                        <a:ea typeface="华文楷体" panose="02010600040101010101" pitchFamily="2" charset="-122"/>
                      </a:rPr>
                      <m:t>; </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2</m:t>
                        </m:r>
                      </m:sub>
                    </m:sSub>
                    <m:r>
                      <a:rPr lang="en-US" altLang="zh-CN" sz="2000" i="1">
                        <a:latin typeface="Cambria Math" panose="02040503050406030204" pitchFamily="18" charset="0"/>
                        <a:ea typeface="华文楷体" panose="02010600040101010101" pitchFamily="2" charset="-122"/>
                      </a:rPr>
                      <m:t>=</m:t>
                    </m:r>
                    <m:f>
                      <m:fPr>
                        <m:ctrlPr>
                          <a:rPr lang="en-US" altLang="zh-CN" sz="2000" b="0" i="1" smtClean="0">
                            <a:latin typeface="Cambria Math" panose="02040503050406030204" pitchFamily="18" charset="0"/>
                            <a:ea typeface="华文楷体" panose="02010600040101010101" pitchFamily="2" charset="-122"/>
                          </a:rPr>
                        </m:ctrlPr>
                      </m:fPr>
                      <m:num>
                        <m:r>
                          <a:rPr lang="en-US" altLang="zh-CN" sz="2000" b="0" i="1" smtClean="0">
                            <a:latin typeface="Cambria Math" panose="02040503050406030204" pitchFamily="18" charset="0"/>
                            <a:ea typeface="华文楷体" panose="02010600040101010101" pitchFamily="2" charset="-122"/>
                          </a:rPr>
                          <m:t>𝑛</m:t>
                        </m:r>
                      </m:num>
                      <m:den>
                        <m:r>
                          <a:rPr lang="en-US" altLang="zh-CN" sz="2000" b="0" i="1" smtClean="0">
                            <a:latin typeface="Cambria Math" panose="02040503050406030204" pitchFamily="18" charset="0"/>
                            <a:ea typeface="华文楷体" panose="02010600040101010101" pitchFamily="2" charset="-122"/>
                          </a:rPr>
                          <m:t>2</m:t>
                        </m:r>
                      </m:den>
                    </m:f>
                    <m:r>
                      <a:rPr lang="en-US" altLang="zh-CN" sz="2000" b="0" i="1" smtClean="0">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1</m:t>
                    </m:r>
                  </m:oMath>
                </a14:m>
                <a:r>
                  <a:rPr lang="en-US" altLang="zh-CN" sz="2000" dirty="0" smtClean="0">
                    <a:ea typeface="华文楷体" panose="02010600040101010101" pitchFamily="2" charset="-122"/>
                  </a:rPr>
                  <a:t>;</a:t>
                </a:r>
                <a:r>
                  <a:rPr lang="en-US" altLang="zh-CN" sz="2000" dirty="0">
                    <a:ea typeface="华文楷体" panose="02010600040101010101" pitchFamily="2" charset="-122"/>
                  </a:rPr>
                  <a:t> </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b="0" i="1" smtClean="0">
                            <a:latin typeface="Cambria Math" panose="02040503050406030204" pitchFamily="18" charset="0"/>
                            <a:ea typeface="华文楷体" panose="02010600040101010101" pitchFamily="2" charset="-122"/>
                          </a:rPr>
                          <m:t>0</m:t>
                        </m:r>
                      </m:sub>
                    </m:sSub>
                    <m:r>
                      <a:rPr lang="en-US" altLang="zh-CN" sz="2000" i="1">
                        <a:latin typeface="Cambria Math" panose="02040503050406030204" pitchFamily="18" charset="0"/>
                        <a:ea typeface="华文楷体" panose="02010600040101010101" pitchFamily="2" charset="-122"/>
                      </a:rPr>
                      <m:t>=</m:t>
                    </m:r>
                    <m:f>
                      <m:fPr>
                        <m:ctrlPr>
                          <a:rPr lang="en-US" altLang="zh-CN" sz="2000" i="1">
                            <a:latin typeface="Cambria Math" panose="02040503050406030204" pitchFamily="18" charset="0"/>
                            <a:ea typeface="华文楷体" panose="02010600040101010101" pitchFamily="2" charset="-122"/>
                          </a:rPr>
                        </m:ctrlPr>
                      </m:fPr>
                      <m:num>
                        <m:r>
                          <a:rPr lang="en-US" altLang="zh-CN" sz="2000" i="1">
                            <a:latin typeface="Cambria Math" panose="02040503050406030204" pitchFamily="18" charset="0"/>
                            <a:ea typeface="华文楷体" panose="02010600040101010101" pitchFamily="2" charset="-122"/>
                          </a:rPr>
                          <m:t>𝑛</m:t>
                        </m:r>
                      </m:num>
                      <m:den>
                        <m:r>
                          <a:rPr lang="en-US" altLang="zh-CN" sz="2000" i="1">
                            <a:latin typeface="Cambria Math" panose="02040503050406030204" pitchFamily="18" charset="0"/>
                            <a:ea typeface="华文楷体" panose="02010600040101010101" pitchFamily="2" charset="-122"/>
                          </a:rPr>
                          <m:t>2</m:t>
                        </m:r>
                      </m:den>
                    </m:f>
                  </m:oMath>
                </a14:m>
                <a:endParaRPr lang="en-US" altLang="zh-CN" sz="2000" dirty="0" smtClean="0">
                  <a:latin typeface="华文楷体" panose="02010600040101010101" pitchFamily="2" charset="-122"/>
                  <a:ea typeface="华文楷体" panose="02010600040101010101" pitchFamily="2" charset="-122"/>
                </a:endParaRPr>
              </a:p>
              <a:p>
                <a:pPr marL="0" indent="0">
                  <a:buNone/>
                </a:pPr>
                <a14:m>
                  <m:oMath xmlns:m="http://schemas.openxmlformats.org/officeDocument/2006/math">
                    <m:r>
                      <a:rPr lang="en-US" altLang="zh-CN" sz="2000" i="1">
                        <a:latin typeface="Cambria Math" panose="02040503050406030204" pitchFamily="18" charset="0"/>
                        <a:ea typeface="华文楷体" panose="02010600040101010101" pitchFamily="2" charset="-122"/>
                      </a:rPr>
                      <m:t>𝑛</m:t>
                    </m:r>
                  </m:oMath>
                </a14:m>
                <a:r>
                  <a:rPr lang="zh-CN" altLang="en-US" sz="2000" dirty="0" smtClean="0">
                    <a:latin typeface="华文楷体" panose="02010600040101010101" pitchFamily="2" charset="-122"/>
                    <a:ea typeface="华文楷体" panose="02010600040101010101" pitchFamily="2" charset="-122"/>
                  </a:rPr>
                  <a:t>为奇数</a:t>
                </a:r>
                <a:r>
                  <a:rPr lang="zh-CN" altLang="en-US" sz="2000" dirty="0">
                    <a:latin typeface="华文楷体" panose="02010600040101010101" pitchFamily="2" charset="-122"/>
                    <a:ea typeface="华文楷体" panose="02010600040101010101" pitchFamily="2" charset="-122"/>
                  </a:rPr>
                  <a:t>，</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1</m:t>
                        </m:r>
                      </m:sub>
                    </m:sSub>
                    <m:r>
                      <a:rPr lang="en-US" altLang="zh-CN" sz="2000" i="1">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0</m:t>
                    </m:r>
                    <m:r>
                      <a:rPr lang="en-US" altLang="zh-CN" sz="2000" b="0" i="1" smtClean="0">
                        <a:latin typeface="Cambria Math" panose="02040503050406030204" pitchFamily="18" charset="0"/>
                        <a:ea typeface="华文楷体" panose="02010600040101010101" pitchFamily="2" charset="-122"/>
                      </a:rPr>
                      <m:t>; </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2</m:t>
                        </m:r>
                      </m:sub>
                    </m:sSub>
                    <m:r>
                      <a:rPr lang="en-US" altLang="zh-CN" sz="2000" i="1">
                        <a:latin typeface="Cambria Math" panose="02040503050406030204" pitchFamily="18" charset="0"/>
                        <a:ea typeface="华文楷体" panose="02010600040101010101" pitchFamily="2" charset="-122"/>
                      </a:rPr>
                      <m:t>=</m:t>
                    </m:r>
                    <m:f>
                      <m:fPr>
                        <m:ctrlPr>
                          <a:rPr lang="en-US" altLang="zh-CN" sz="2000" i="1">
                            <a:latin typeface="Cambria Math" panose="02040503050406030204" pitchFamily="18" charset="0"/>
                            <a:ea typeface="华文楷体" panose="02010600040101010101" pitchFamily="2" charset="-122"/>
                          </a:rPr>
                        </m:ctrlPr>
                      </m:fPr>
                      <m:num>
                        <m:r>
                          <a:rPr lang="en-US" altLang="zh-CN" sz="2000" i="1">
                            <a:latin typeface="Cambria Math" panose="02040503050406030204" pitchFamily="18" charset="0"/>
                            <a:ea typeface="华文楷体" panose="02010600040101010101" pitchFamily="2" charset="-122"/>
                          </a:rPr>
                          <m:t>𝑛</m:t>
                        </m:r>
                        <m:r>
                          <a:rPr lang="en-US" altLang="zh-CN" sz="2000" i="1" smtClean="0">
                            <a:latin typeface="Cambria Math" panose="02040503050406030204" pitchFamily="18" charset="0"/>
                            <a:ea typeface="华文楷体" panose="02010600040101010101" pitchFamily="2" charset="-122"/>
                          </a:rPr>
                          <m:t>−</m:t>
                        </m:r>
                        <m:r>
                          <a:rPr lang="en-US" altLang="zh-CN" sz="2000" b="0" i="1" smtClean="0">
                            <a:latin typeface="Cambria Math" panose="02040503050406030204" pitchFamily="18" charset="0"/>
                            <a:ea typeface="华文楷体" panose="02010600040101010101" pitchFamily="2" charset="-122"/>
                          </a:rPr>
                          <m:t>1</m:t>
                        </m:r>
                      </m:num>
                      <m:den>
                        <m:r>
                          <a:rPr lang="en-US" altLang="zh-CN" sz="2000" i="1">
                            <a:latin typeface="Cambria Math" panose="02040503050406030204" pitchFamily="18" charset="0"/>
                            <a:ea typeface="华文楷体" panose="02010600040101010101" pitchFamily="2" charset="-122"/>
                          </a:rPr>
                          <m:t>2</m:t>
                        </m:r>
                      </m:den>
                    </m:f>
                  </m:oMath>
                </a14:m>
                <a:r>
                  <a:rPr lang="en-US" altLang="zh-CN" sz="2000" dirty="0" smtClean="0">
                    <a:ea typeface="华文楷体" panose="02010600040101010101" pitchFamily="2" charset="-122"/>
                  </a:rPr>
                  <a:t>; </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0</m:t>
                        </m:r>
                      </m:sub>
                    </m:sSub>
                    <m:r>
                      <a:rPr lang="en-US" altLang="zh-CN" sz="2000" i="1">
                        <a:latin typeface="Cambria Math" panose="02040503050406030204" pitchFamily="18" charset="0"/>
                        <a:ea typeface="华文楷体" panose="02010600040101010101" pitchFamily="2" charset="-122"/>
                      </a:rPr>
                      <m:t>=</m:t>
                    </m:r>
                    <m:f>
                      <m:fPr>
                        <m:ctrlPr>
                          <a:rPr lang="en-US" altLang="zh-CN" sz="2000" i="1">
                            <a:latin typeface="Cambria Math" panose="02040503050406030204" pitchFamily="18" charset="0"/>
                            <a:ea typeface="华文楷体" panose="02010600040101010101" pitchFamily="2" charset="-122"/>
                          </a:rPr>
                        </m:ctrlPr>
                      </m:fPr>
                      <m:num>
                        <m:r>
                          <a:rPr lang="en-US" altLang="zh-CN" sz="2000" i="1">
                            <a:latin typeface="Cambria Math" panose="02040503050406030204" pitchFamily="18" charset="0"/>
                            <a:ea typeface="华文楷体" panose="02010600040101010101" pitchFamily="2" charset="-122"/>
                          </a:rPr>
                          <m:t>𝑛</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1</m:t>
                        </m:r>
                      </m:num>
                      <m:den>
                        <m:r>
                          <a:rPr lang="en-US" altLang="zh-CN" sz="2000" i="1">
                            <a:latin typeface="Cambria Math" panose="02040503050406030204" pitchFamily="18" charset="0"/>
                            <a:ea typeface="华文楷体" panose="02010600040101010101" pitchFamily="2" charset="-122"/>
                          </a:rPr>
                          <m:t>2</m:t>
                        </m:r>
                      </m:den>
                    </m:f>
                  </m:oMath>
                </a14:m>
                <a:endParaRPr lang="en-US" altLang="zh-CN" sz="2000" dirty="0" smtClean="0">
                  <a:latin typeface="华文楷体" panose="02010600040101010101" pitchFamily="2" charset="-122"/>
                  <a:ea typeface="华文楷体" panose="02010600040101010101" pitchFamily="2" charset="-122"/>
                </a:endParaRPr>
              </a:p>
              <a:p>
                <a:pPr marL="0" indent="0">
                  <a:buNone/>
                </a:pPr>
                <a:r>
                  <a:rPr lang="en-US" altLang="zh-CN" sz="2000" b="1" dirty="0">
                    <a:solidFill>
                      <a:srgbClr val="C00000"/>
                    </a:solidFill>
                    <a:latin typeface="华文楷体" panose="02010600040101010101" pitchFamily="2" charset="-122"/>
                    <a:ea typeface="华文楷体" panose="02010600040101010101" pitchFamily="2" charset="-122"/>
                  </a:rPr>
                  <a:t>③</a:t>
                </a:r>
                <a:r>
                  <a:rPr lang="zh-CN" altLang="en-US" sz="2000" dirty="0">
                    <a:latin typeface="华文楷体" panose="02010600040101010101" pitchFamily="2" charset="-122"/>
                    <a:ea typeface="华文楷体" panose="02010600040101010101" pitchFamily="2" charset="-122"/>
                  </a:rPr>
                  <a:t>满二叉树高度</a:t>
                </a:r>
                <a:r>
                  <a:rPr lang="en-US" altLang="zh-CN" sz="2000" dirty="0">
                    <a:latin typeface="华文楷体" panose="02010600040101010101" pitchFamily="2" charset="-122"/>
                    <a:ea typeface="华文楷体" panose="02010600040101010101" pitchFamily="2" charset="-122"/>
                  </a:rPr>
                  <a:t>h</a:t>
                </a:r>
                <a:r>
                  <a:rPr lang="zh-CN" altLang="en-US" sz="2000" dirty="0">
                    <a:latin typeface="华文楷体" panose="02010600040101010101" pitchFamily="2" charset="-122"/>
                    <a:ea typeface="华文楷体" panose="02010600040101010101" pitchFamily="2" charset="-122"/>
                  </a:rPr>
                  <a:t>与</a:t>
                </a:r>
                <a14:m>
                  <m:oMath xmlns:m="http://schemas.openxmlformats.org/officeDocument/2006/math">
                    <m:r>
                      <a:rPr lang="en-US" altLang="zh-CN" sz="2000" i="1">
                        <a:latin typeface="Cambria Math" panose="02040503050406030204" pitchFamily="18" charset="0"/>
                        <a:ea typeface="华文楷体" panose="02010600040101010101" pitchFamily="2" charset="-122"/>
                      </a:rPr>
                      <m:t>𝑛</m:t>
                    </m:r>
                    <m:r>
                      <a:rPr lang="en-US" altLang="zh-CN" sz="2000" i="1">
                        <a:latin typeface="Cambria Math" panose="02040503050406030204" pitchFamily="18" charset="0"/>
                        <a:ea typeface="华文楷体" panose="02010600040101010101" pitchFamily="2" charset="-122"/>
                      </a:rPr>
                      <m:t> </m:t>
                    </m:r>
                    <m:r>
                      <a:rPr lang="zh-CN" altLang="en-US"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0</m:t>
                        </m:r>
                      </m:sub>
                    </m:sSub>
                    <m:r>
                      <a:rPr lang="zh-CN" altLang="en-US" sz="2000" i="1">
                        <a:latin typeface="Cambria Math" panose="02040503050406030204" pitchFamily="18" charset="0"/>
                        <a:ea typeface="华文楷体" panose="02010600040101010101" pitchFamily="2" charset="-122"/>
                      </a:rPr>
                      <m:t>，</m:t>
                    </m:r>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1</m:t>
                        </m:r>
                      </m:sub>
                    </m:sSub>
                  </m:oMath>
                </a14:m>
                <a:r>
                  <a:rPr lang="zh-CN" altLang="en-US" sz="2000" dirty="0">
                    <a:ea typeface="华文楷体" panose="02010600040101010101" pitchFamily="2" charset="-122"/>
                  </a:rPr>
                  <a:t>，</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2</m:t>
                        </m:r>
                      </m:sub>
                    </m:sSub>
                  </m:oMath>
                </a14:m>
                <a:r>
                  <a:rPr lang="zh-CN" altLang="en-US" sz="2000" dirty="0">
                    <a:ea typeface="华文楷体" panose="02010600040101010101" pitchFamily="2" charset="-122"/>
                  </a:rPr>
                  <a:t>之间关系求解方法：</a:t>
                </a:r>
                <a:endParaRPr lang="en-US" altLang="zh-CN" sz="2000" dirty="0">
                  <a:ea typeface="华文楷体" panose="02010600040101010101" pitchFamily="2" charset="-122"/>
                </a:endParaRPr>
              </a:p>
              <a:p>
                <a:pPr marL="0" indent="0">
                  <a:buNone/>
                </a:pPr>
                <a14:m>
                  <m:oMath xmlns:m="http://schemas.openxmlformats.org/officeDocument/2006/math">
                    <m:r>
                      <a:rPr lang="en-US" altLang="zh-CN" sz="2000" i="1">
                        <a:latin typeface="Cambria Math" panose="02040503050406030204" pitchFamily="18" charset="0"/>
                        <a:ea typeface="华文楷体" panose="02010600040101010101" pitchFamily="2" charset="-122"/>
                      </a:rPr>
                      <m:t>ℎ</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𝑙𝑜𝑔</m:t>
                    </m:r>
                    <m:r>
                      <a:rPr lang="en-US" altLang="zh-CN" sz="2000" i="1" baseline="-25000">
                        <a:latin typeface="Cambria Math" panose="02040503050406030204" pitchFamily="18" charset="0"/>
                        <a:ea typeface="华文楷体" panose="02010600040101010101" pitchFamily="2" charset="-122"/>
                      </a:rPr>
                      <m:t>2</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𝑛</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1</m:t>
                    </m:r>
                    <m:r>
                      <a:rPr lang="en-US" altLang="zh-CN" sz="2000" i="1">
                        <a:latin typeface="Cambria Math" panose="02040503050406030204" pitchFamily="18" charset="0"/>
                        <a:ea typeface="华文楷体" panose="02010600040101010101" pitchFamily="2" charset="-122"/>
                      </a:rPr>
                      <m:t>)</m:t>
                    </m:r>
                  </m:oMath>
                </a14:m>
                <a:r>
                  <a:rPr lang="en-US" altLang="zh-CN" sz="2000" dirty="0">
                    <a:ea typeface="华文楷体" panose="02010600040101010101" pitchFamily="2" charset="-122"/>
                  </a:rPr>
                  <a:t> ; </a:t>
                </a:r>
                <a14:m>
                  <m:oMath xmlns:m="http://schemas.openxmlformats.org/officeDocument/2006/math">
                    <m:sSub>
                      <m:sSubPr>
                        <m:ctrlPr>
                          <a:rPr lang="en-US" altLang="zh-CN" sz="2000" i="1">
                            <a:latin typeface="Cambria Math" panose="02040503050406030204" pitchFamily="18" charset="0"/>
                            <a:ea typeface="华文楷体" panose="02010600040101010101" pitchFamily="2" charset="-122"/>
                          </a:rPr>
                        </m:ctrlPr>
                      </m:sSubPr>
                      <m:e>
                        <m:r>
                          <a:rPr lang="en-US" altLang="zh-CN" sz="2000" i="1">
                            <a:latin typeface="Cambria Math" panose="02040503050406030204" pitchFamily="18" charset="0"/>
                            <a:ea typeface="华文楷体" panose="02010600040101010101" pitchFamily="2" charset="-122"/>
                          </a:rPr>
                          <m:t>𝑛</m:t>
                        </m:r>
                      </m:e>
                      <m:sub>
                        <m:r>
                          <a:rPr lang="en-US" altLang="zh-CN" sz="2000" i="1">
                            <a:latin typeface="Cambria Math" panose="02040503050406030204" pitchFamily="18" charset="0"/>
                            <a:ea typeface="华文楷体" panose="02010600040101010101" pitchFamily="2" charset="-122"/>
                          </a:rPr>
                          <m:t>1</m:t>
                        </m:r>
                      </m:sub>
                    </m:sSub>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0</m:t>
                    </m:r>
                  </m:oMath>
                </a14:m>
                <a:r>
                  <a:rPr lang="en-US" altLang="zh-CN" sz="2000" dirty="0">
                    <a:ea typeface="华文楷体" panose="02010600040101010101" pitchFamily="2" charset="-122"/>
                  </a:rPr>
                  <a:t>; </a:t>
                </a:r>
                <a14:m>
                  <m:oMath xmlns:m="http://schemas.openxmlformats.org/officeDocument/2006/math">
                    <m:r>
                      <a:rPr lang="en-US" altLang="zh-CN" sz="2000" i="1">
                        <a:latin typeface="Cambria Math" panose="02040503050406030204" pitchFamily="18" charset="0"/>
                        <a:ea typeface="华文楷体" panose="02010600040101010101" pitchFamily="2" charset="-122"/>
                      </a:rPr>
                      <m:t>𝑛</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2</m:t>
                    </m:r>
                    <m:r>
                      <a:rPr lang="en-US" altLang="zh-CN" sz="2000" i="1" baseline="30000">
                        <a:latin typeface="Cambria Math" panose="02040503050406030204" pitchFamily="18" charset="0"/>
                        <a:ea typeface="华文楷体" panose="02010600040101010101" pitchFamily="2" charset="-122"/>
                      </a:rPr>
                      <m:t>ℎ</m:t>
                    </m:r>
                    <m:r>
                      <a:rPr lang="en-US" altLang="zh-CN" sz="2000" i="1">
                        <a:latin typeface="Cambria Math" panose="02040503050406030204" pitchFamily="18" charset="0"/>
                        <a:ea typeface="华文楷体" panose="02010600040101010101" pitchFamily="2" charset="-122"/>
                      </a:rPr>
                      <m:t>−</m:t>
                    </m:r>
                    <m:r>
                      <a:rPr lang="en-US" altLang="zh-CN" sz="2000" i="1">
                        <a:latin typeface="Cambria Math" panose="02040503050406030204" pitchFamily="18" charset="0"/>
                        <a:ea typeface="华文楷体" panose="02010600040101010101" pitchFamily="2" charset="-122"/>
                      </a:rPr>
                      <m:t>1</m:t>
                    </m:r>
                  </m:oMath>
                </a14:m>
                <a:r>
                  <a:rPr lang="en-US" altLang="zh-CN" sz="2000" dirty="0">
                    <a:ea typeface="华文楷体" panose="02010600040101010101" pitchFamily="2" charset="-122"/>
                  </a:rPr>
                  <a:t>;</a:t>
                </a:r>
                <a14:m>
                  <m:oMath xmlns:m="http://schemas.openxmlformats.org/officeDocument/2006/math">
                    <m:r>
                      <a:rPr lang="en-US" altLang="zh-CN" sz="2000" i="1" dirty="0">
                        <a:latin typeface="Cambria Math" panose="02040503050406030204" pitchFamily="18" charset="0"/>
                        <a:ea typeface="华文楷体" panose="02010600040101010101" pitchFamily="2" charset="-122"/>
                      </a:rPr>
                      <m:t>𝑛</m:t>
                    </m:r>
                    <m:r>
                      <a:rPr lang="en-US" altLang="zh-CN" sz="2000" i="1" baseline="-25000" dirty="0">
                        <a:latin typeface="Cambria Math" panose="02040503050406030204" pitchFamily="18" charset="0"/>
                        <a:ea typeface="华文楷体" panose="02010600040101010101" pitchFamily="2" charset="-122"/>
                      </a:rPr>
                      <m:t>0</m:t>
                    </m:r>
                    <m:r>
                      <a:rPr lang="en-US" altLang="zh-CN" sz="2000" i="1" dirty="0">
                        <a:latin typeface="Cambria Math" panose="02040503050406030204" pitchFamily="18" charset="0"/>
                        <a:ea typeface="华文楷体" panose="02010600040101010101" pitchFamily="2" charset="-122"/>
                      </a:rPr>
                      <m:t>=</m:t>
                    </m:r>
                    <m:sSup>
                      <m:sSupPr>
                        <m:ctrlPr>
                          <a:rPr lang="en-US" altLang="zh-CN" sz="2000" i="1" dirty="0">
                            <a:latin typeface="Cambria Math" panose="02040503050406030204" pitchFamily="18" charset="0"/>
                            <a:ea typeface="华文楷体" panose="02010600040101010101" pitchFamily="2" charset="-122"/>
                          </a:rPr>
                        </m:ctrlPr>
                      </m:sSupPr>
                      <m:e>
                        <m:r>
                          <a:rPr lang="en-US" altLang="zh-CN" sz="2000" i="1" dirty="0">
                            <a:latin typeface="Cambria Math" panose="02040503050406030204" pitchFamily="18" charset="0"/>
                            <a:ea typeface="华文楷体" panose="02010600040101010101" pitchFamily="2" charset="-122"/>
                          </a:rPr>
                          <m:t>2</m:t>
                        </m:r>
                      </m:e>
                      <m:sup>
                        <m:r>
                          <a:rPr lang="en-US" altLang="zh-CN" sz="2000" i="1" dirty="0">
                            <a:latin typeface="Cambria Math" panose="02040503050406030204" pitchFamily="18" charset="0"/>
                            <a:ea typeface="华文楷体" panose="02010600040101010101" pitchFamily="2" charset="-122"/>
                          </a:rPr>
                          <m:t>ℎ</m:t>
                        </m:r>
                        <m:r>
                          <a:rPr lang="en-US" altLang="zh-CN" sz="2000" i="1" dirty="0">
                            <a:latin typeface="Cambria Math" panose="02040503050406030204" pitchFamily="18" charset="0"/>
                            <a:ea typeface="华文楷体" panose="02010600040101010101" pitchFamily="2" charset="-122"/>
                          </a:rPr>
                          <m:t>−</m:t>
                        </m:r>
                        <m:r>
                          <a:rPr lang="en-US" altLang="zh-CN" sz="2000" i="1" dirty="0">
                            <a:latin typeface="Cambria Math" panose="02040503050406030204" pitchFamily="18" charset="0"/>
                            <a:ea typeface="华文楷体" panose="02010600040101010101" pitchFamily="2" charset="-122"/>
                          </a:rPr>
                          <m:t>1</m:t>
                        </m:r>
                      </m:sup>
                    </m:sSup>
                  </m:oMath>
                </a14:m>
                <a:r>
                  <a:rPr lang="en-US" altLang="zh-CN" sz="2000" dirty="0">
                    <a:ea typeface="华文楷体" panose="02010600040101010101" pitchFamily="2" charset="-122"/>
                  </a:rPr>
                  <a:t>; </a:t>
                </a:r>
                <a14:m>
                  <m:oMath xmlns:m="http://schemas.openxmlformats.org/officeDocument/2006/math">
                    <m:r>
                      <a:rPr lang="en-US" altLang="zh-CN" sz="2000" i="1" dirty="0">
                        <a:latin typeface="Cambria Math" panose="02040503050406030204" pitchFamily="18" charset="0"/>
                        <a:ea typeface="华文楷体" panose="02010600040101010101" pitchFamily="2" charset="-122"/>
                      </a:rPr>
                      <m:t>𝑛</m:t>
                    </m:r>
                    <m:r>
                      <a:rPr lang="en-US" altLang="zh-CN" sz="2000" i="1" baseline="-25000" dirty="0">
                        <a:latin typeface="Cambria Math" panose="02040503050406030204" pitchFamily="18" charset="0"/>
                        <a:ea typeface="华文楷体" panose="02010600040101010101" pitchFamily="2" charset="-122"/>
                      </a:rPr>
                      <m:t>2</m:t>
                    </m:r>
                    <m:r>
                      <a:rPr lang="en-US" altLang="zh-CN" sz="2000" i="1" dirty="0">
                        <a:latin typeface="Cambria Math" panose="02040503050406030204" pitchFamily="18" charset="0"/>
                        <a:ea typeface="华文楷体" panose="02010600040101010101" pitchFamily="2" charset="-122"/>
                      </a:rPr>
                      <m:t>=</m:t>
                    </m:r>
                    <m:sSup>
                      <m:sSupPr>
                        <m:ctrlPr>
                          <a:rPr lang="en-US" altLang="zh-CN" sz="2000" i="1" dirty="0">
                            <a:latin typeface="Cambria Math" panose="02040503050406030204" pitchFamily="18" charset="0"/>
                            <a:ea typeface="华文楷体" panose="02010600040101010101" pitchFamily="2" charset="-122"/>
                          </a:rPr>
                        </m:ctrlPr>
                      </m:sSupPr>
                      <m:e>
                        <m:r>
                          <a:rPr lang="en-US" altLang="zh-CN" sz="2000" i="1" dirty="0">
                            <a:latin typeface="Cambria Math" panose="02040503050406030204" pitchFamily="18" charset="0"/>
                            <a:ea typeface="华文楷体" panose="02010600040101010101" pitchFamily="2" charset="-122"/>
                          </a:rPr>
                          <m:t>2</m:t>
                        </m:r>
                      </m:e>
                      <m:sup>
                        <m:r>
                          <a:rPr lang="en-US" altLang="zh-CN" sz="2000" i="1" dirty="0">
                            <a:latin typeface="Cambria Math" panose="02040503050406030204" pitchFamily="18" charset="0"/>
                            <a:ea typeface="华文楷体" panose="02010600040101010101" pitchFamily="2" charset="-122"/>
                          </a:rPr>
                          <m:t>ℎ</m:t>
                        </m:r>
                        <m:r>
                          <a:rPr lang="en-US" altLang="zh-CN" sz="2000" i="1" dirty="0">
                            <a:latin typeface="Cambria Math" panose="02040503050406030204" pitchFamily="18" charset="0"/>
                            <a:ea typeface="华文楷体" panose="02010600040101010101" pitchFamily="2" charset="-122"/>
                          </a:rPr>
                          <m:t>−</m:t>
                        </m:r>
                        <m:r>
                          <a:rPr lang="en-US" altLang="zh-CN" sz="2000" i="1" dirty="0">
                            <a:latin typeface="Cambria Math" panose="02040503050406030204" pitchFamily="18" charset="0"/>
                            <a:ea typeface="华文楷体" panose="02010600040101010101" pitchFamily="2" charset="-122"/>
                          </a:rPr>
                          <m:t>1</m:t>
                        </m:r>
                      </m:sup>
                    </m:sSup>
                    <m:r>
                      <a:rPr lang="en-US" altLang="zh-CN" sz="2000" i="1" dirty="0">
                        <a:latin typeface="Cambria Math" panose="02040503050406030204" pitchFamily="18" charset="0"/>
                        <a:ea typeface="华文楷体" panose="02010600040101010101" pitchFamily="2" charset="-122"/>
                      </a:rPr>
                      <m:t>−</m:t>
                    </m:r>
                    <m:r>
                      <a:rPr lang="en-US" altLang="zh-CN" sz="2000" i="1" dirty="0">
                        <a:latin typeface="Cambria Math" panose="02040503050406030204" pitchFamily="18" charset="0"/>
                        <a:ea typeface="华文楷体" panose="02010600040101010101" pitchFamily="2" charset="-122"/>
                      </a:rPr>
                      <m:t>1</m:t>
                    </m:r>
                    <m:r>
                      <a:rPr lang="zh-CN" altLang="en-US" sz="2000" i="1" dirty="0">
                        <a:latin typeface="Cambria Math" panose="02040503050406030204" pitchFamily="18" charset="0"/>
                        <a:ea typeface="华文楷体" panose="02010600040101010101" pitchFamily="2" charset="-122"/>
                      </a:rPr>
                      <m:t>。</m:t>
                    </m:r>
                  </m:oMath>
                </a14:m>
                <a:endParaRPr lang="en-US" altLang="zh-CN" sz="2000" dirty="0">
                  <a:latin typeface="华文楷体" panose="02010600040101010101" pitchFamily="2" charset="-122"/>
                  <a:ea typeface="华文楷体" panose="02010600040101010101" pitchFamily="2" charset="-122"/>
                </a:endParaRPr>
              </a:p>
              <a:p>
                <a:pPr marL="0" indent="0">
                  <a:buNone/>
                </a:pPr>
                <a:r>
                  <a:rPr lang="zh-CN" altLang="en-US" sz="2000" b="1" dirty="0" smtClean="0">
                    <a:solidFill>
                      <a:srgbClr val="C00000"/>
                    </a:solidFill>
                    <a:ea typeface="华文楷体" panose="02010600040101010101" pitchFamily="2" charset="-122"/>
                  </a:rPr>
                  <a:t>例</a:t>
                </a:r>
                <a:r>
                  <a:rPr lang="en-US" altLang="zh-CN" sz="2000" b="1" dirty="0" smtClean="0">
                    <a:solidFill>
                      <a:srgbClr val="C00000"/>
                    </a:solidFill>
                    <a:ea typeface="华文楷体" panose="02010600040101010101" pitchFamily="2" charset="-122"/>
                  </a:rPr>
                  <a:t>1</a:t>
                </a:r>
                <a:r>
                  <a:rPr lang="zh-CN" altLang="en-US" sz="2000" dirty="0" smtClean="0">
                    <a:ea typeface="华文楷体" panose="02010600040101010101" pitchFamily="2" charset="-122"/>
                  </a:rPr>
                  <a:t> 一棵二叉树中有</a:t>
                </a:r>
                <a:r>
                  <a:rPr lang="en-US" altLang="zh-CN" sz="2000" dirty="0" smtClean="0">
                    <a:ea typeface="华文楷体" panose="02010600040101010101" pitchFamily="2" charset="-122"/>
                  </a:rPr>
                  <a:t>7</a:t>
                </a:r>
                <a:r>
                  <a:rPr lang="zh-CN" altLang="en-US" sz="2000" dirty="0" smtClean="0">
                    <a:ea typeface="华文楷体" panose="02010600040101010101" pitchFamily="2" charset="-122"/>
                  </a:rPr>
                  <a:t>个叶子，</a:t>
                </a:r>
                <a:r>
                  <a:rPr lang="en-US" altLang="zh-CN" sz="2000" dirty="0" smtClean="0">
                    <a:ea typeface="华文楷体" panose="02010600040101010101" pitchFamily="2" charset="-122"/>
                  </a:rPr>
                  <a:t>5</a:t>
                </a:r>
                <a:r>
                  <a:rPr lang="zh-CN" altLang="en-US" sz="2000" dirty="0" smtClean="0">
                    <a:ea typeface="华文楷体" panose="02010600040101010101" pitchFamily="2" charset="-122"/>
                  </a:rPr>
                  <a:t>个度为</a:t>
                </a: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的结点，则共有</a:t>
                </a:r>
                <a:r>
                  <a:rPr lang="en-US" altLang="zh-CN" sz="2000" b="1" u="sng" dirty="0" smtClean="0">
                    <a:solidFill>
                      <a:srgbClr val="C00000"/>
                    </a:solidFill>
                    <a:ea typeface="华文楷体" panose="02010600040101010101" pitchFamily="2" charset="-122"/>
                  </a:rPr>
                  <a:t>18</a:t>
                </a:r>
                <a:r>
                  <a:rPr lang="zh-CN" altLang="en-US" sz="2000" dirty="0" smtClean="0">
                    <a:ea typeface="华文楷体" panose="02010600040101010101" pitchFamily="2" charset="-122"/>
                  </a:rPr>
                  <a:t>个结点。</a:t>
                </a:r>
                <a:endParaRPr lang="en-US" altLang="zh-CN" sz="2000" dirty="0" smtClean="0">
                  <a:ea typeface="华文楷体" panose="02010600040101010101" pitchFamily="2" charset="-122"/>
                </a:endParaRPr>
              </a:p>
              <a:p>
                <a:pPr marL="0" indent="0">
                  <a:buNone/>
                </a:pPr>
                <a:r>
                  <a:rPr lang="zh-CN" altLang="en-US" sz="2000" b="1" dirty="0" smtClean="0">
                    <a:solidFill>
                      <a:srgbClr val="C00000"/>
                    </a:solidFill>
                    <a:ea typeface="华文楷体" panose="02010600040101010101" pitchFamily="2" charset="-122"/>
                  </a:rPr>
                  <a:t>例</a:t>
                </a:r>
                <a:r>
                  <a:rPr lang="en-US" altLang="zh-CN" sz="2000" b="1" dirty="0" smtClean="0">
                    <a:solidFill>
                      <a:srgbClr val="C00000"/>
                    </a:solidFill>
                    <a:ea typeface="华文楷体" panose="02010600040101010101" pitchFamily="2" charset="-122"/>
                  </a:rPr>
                  <a:t>2</a:t>
                </a:r>
                <a:r>
                  <a:rPr lang="zh-CN" altLang="en-US" sz="2000" b="1" dirty="0" smtClean="0">
                    <a:solidFill>
                      <a:srgbClr val="C00000"/>
                    </a:solidFill>
                    <a:ea typeface="华文楷体" panose="02010600040101010101" pitchFamily="2" charset="-122"/>
                  </a:rPr>
                  <a:t> </a:t>
                </a:r>
                <a:r>
                  <a:rPr lang="zh-CN" altLang="en-US" sz="2000" dirty="0" smtClean="0">
                    <a:ea typeface="华文楷体" panose="02010600040101010101" pitchFamily="2" charset="-122"/>
                  </a:rPr>
                  <a:t>一颗完全二叉树共有</a:t>
                </a:r>
                <a:r>
                  <a:rPr lang="en-US" altLang="zh-CN" sz="2000" dirty="0" smtClean="0">
                    <a:ea typeface="华文楷体" panose="02010600040101010101" pitchFamily="2" charset="-122"/>
                  </a:rPr>
                  <a:t>1001</a:t>
                </a:r>
                <a:r>
                  <a:rPr lang="zh-CN" altLang="en-US" sz="2000" dirty="0" smtClean="0">
                    <a:ea typeface="华文楷体" panose="02010600040101010101" pitchFamily="2" charset="-122"/>
                  </a:rPr>
                  <a:t>个</a:t>
                </a:r>
                <a:r>
                  <a:rPr lang="zh-CN" altLang="en-US" sz="2000" dirty="0">
                    <a:ea typeface="华文楷体" panose="02010600040101010101" pitchFamily="2" charset="-122"/>
                  </a:rPr>
                  <a:t>结点</a:t>
                </a:r>
                <a:r>
                  <a:rPr lang="zh-CN" altLang="en-US" sz="2000" dirty="0" smtClean="0">
                    <a:ea typeface="华文楷体" panose="02010600040101010101" pitchFamily="2" charset="-122"/>
                  </a:rPr>
                  <a:t>，</a:t>
                </a:r>
                <a:r>
                  <a:rPr lang="zh-CN" altLang="en-US" sz="2000" dirty="0">
                    <a:ea typeface="华文楷体" panose="02010600040101010101" pitchFamily="2" charset="-122"/>
                  </a:rPr>
                  <a:t>则叶子</a:t>
                </a:r>
                <a:r>
                  <a:rPr lang="zh-CN" altLang="en-US" sz="2000" dirty="0" smtClean="0">
                    <a:ea typeface="华文楷体" panose="02010600040101010101" pitchFamily="2" charset="-122"/>
                  </a:rPr>
                  <a:t>有</a:t>
                </a:r>
                <a:r>
                  <a:rPr lang="en-US" altLang="zh-CN" sz="2000" b="1" u="sng" dirty="0" smtClean="0">
                    <a:solidFill>
                      <a:srgbClr val="C00000"/>
                    </a:solidFill>
                    <a:ea typeface="华文楷体" panose="02010600040101010101" pitchFamily="2" charset="-122"/>
                  </a:rPr>
                  <a:t>501</a:t>
                </a:r>
                <a:r>
                  <a:rPr lang="zh-CN" altLang="en-US" sz="2000" dirty="0" smtClean="0">
                    <a:ea typeface="华文楷体" panose="02010600040101010101" pitchFamily="2" charset="-122"/>
                  </a:rPr>
                  <a:t>个。</a:t>
                </a:r>
                <a:endParaRPr lang="en-US" altLang="zh-CN" sz="2000" dirty="0" smtClean="0">
                  <a:ea typeface="华文楷体" panose="02010600040101010101" pitchFamily="2" charset="-122"/>
                </a:endParaRPr>
              </a:p>
              <a:p>
                <a:pPr marL="0" indent="0">
                  <a:buNone/>
                </a:pPr>
                <a:r>
                  <a:rPr lang="zh-CN" altLang="en-US" sz="2000" b="1" dirty="0" smtClean="0">
                    <a:solidFill>
                      <a:srgbClr val="C00000"/>
                    </a:solidFill>
                    <a:ea typeface="华文楷体" panose="02010600040101010101" pitchFamily="2" charset="-122"/>
                  </a:rPr>
                  <a:t>例</a:t>
                </a:r>
                <a:r>
                  <a:rPr lang="en-US" altLang="zh-CN" sz="2000" b="1" dirty="0" smtClean="0">
                    <a:solidFill>
                      <a:srgbClr val="C00000"/>
                    </a:solidFill>
                    <a:ea typeface="华文楷体" panose="02010600040101010101" pitchFamily="2" charset="-122"/>
                  </a:rPr>
                  <a:t>3</a:t>
                </a:r>
                <a:r>
                  <a:rPr lang="zh-CN" altLang="en-US" sz="2000" b="1" dirty="0" smtClean="0">
                    <a:solidFill>
                      <a:srgbClr val="C00000"/>
                    </a:solidFill>
                    <a:ea typeface="华文楷体" panose="02010600040101010101" pitchFamily="2" charset="-122"/>
                  </a:rPr>
                  <a:t> </a:t>
                </a:r>
                <a:r>
                  <a:rPr lang="zh-CN" altLang="en-US" sz="2000" dirty="0" smtClean="0">
                    <a:ea typeface="华文楷体" panose="02010600040101010101" pitchFamily="2" charset="-122"/>
                  </a:rPr>
                  <a:t>一颗满二叉树共有</a:t>
                </a:r>
                <a:r>
                  <a:rPr lang="en-US" altLang="zh-CN" sz="2000" dirty="0" smtClean="0">
                    <a:ea typeface="华文楷体" panose="02010600040101010101" pitchFamily="2" charset="-122"/>
                  </a:rPr>
                  <a:t>64</a:t>
                </a:r>
                <a:r>
                  <a:rPr lang="zh-CN" altLang="en-US" sz="2000" dirty="0" smtClean="0">
                    <a:ea typeface="华文楷体" panose="02010600040101010101" pitchFamily="2" charset="-122"/>
                  </a:rPr>
                  <a:t>个叶子，则树高为</a:t>
                </a:r>
                <a:r>
                  <a:rPr lang="en-US" altLang="zh-CN" sz="2000" b="1" u="sng" dirty="0" smtClean="0">
                    <a:solidFill>
                      <a:srgbClr val="C00000"/>
                    </a:solidFill>
                    <a:ea typeface="华文楷体" panose="02010600040101010101" pitchFamily="2" charset="-122"/>
                  </a:rPr>
                  <a:t>7</a:t>
                </a:r>
                <a:r>
                  <a:rPr lang="zh-CN" altLang="en-US" sz="2000" dirty="0" smtClean="0">
                    <a:ea typeface="华文楷体" panose="02010600040101010101" pitchFamily="2" charset="-122"/>
                  </a:rPr>
                  <a:t>。</a:t>
                </a:r>
                <a:endParaRPr lang="zh-CN" altLang="en-US" sz="2000" dirty="0">
                  <a:ea typeface="华文楷体" panose="02010600040101010101" pitchFamily="2" charset="-122"/>
                </a:endParaRPr>
              </a:p>
            </p:txBody>
          </p:sp>
        </mc:Choice>
        <mc:Fallback>
          <p:sp>
            <p:nvSpPr>
              <p:cNvPr id="6" name="内容占位符 2"/>
              <p:cNvSpPr txBox="1">
                <a:spLocks noRot="1" noChangeAspect="1" noMove="1" noResize="1" noEditPoints="1" noAdjustHandles="1" noChangeArrowheads="1" noChangeShapeType="1" noTextEdit="1"/>
              </p:cNvSpPr>
              <p:nvPr/>
            </p:nvSpPr>
            <p:spPr bwMode="auto">
              <a:xfrm>
                <a:off x="228714" y="1189037"/>
                <a:ext cx="8838968" cy="5592675"/>
              </a:xfrm>
              <a:prstGeom prst="rect">
                <a:avLst/>
              </a:prstGeom>
              <a:blipFill rotWithShape="1">
                <a:blip r:embed="rId1"/>
                <a:stretch>
                  <a:fillRect l="-59" t="-97" r="-52" b="-81"/>
                </a:stretch>
              </a:blipFill>
              <a:ln>
                <a:solidFill>
                  <a:schemeClr val="accent1"/>
                </a:solidFill>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39" name="日期占位符 5"/>
          <p:cNvSpPr>
            <a:spLocks noGrp="1"/>
          </p:cNvSpPr>
          <p:nvPr>
            <p:ph type="dt" sz="quarter" idx="12"/>
          </p:nvPr>
        </p:nvSpPr>
        <p:spPr/>
        <p:txBody>
          <a:bodyPr/>
          <a:lstStyle/>
          <a:p>
            <a:pPr>
              <a:defRPr/>
            </a:pPr>
            <a:r>
              <a:rPr lang="en-US" altLang="zh-CN"/>
              <a:t>BUPT</a:t>
            </a:r>
            <a:endParaRPr lang="en-US" altLang="zh-CN"/>
          </a:p>
        </p:txBody>
      </p:sp>
      <p:sp>
        <p:nvSpPr>
          <p:cNvPr id="12292"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6.3 </a:t>
            </a:r>
            <a:r>
              <a:rPr lang="zh-CN" altLang="en-US" sz="2800" dirty="0" smtClean="0">
                <a:ea typeface="华文楷体" panose="02010600040101010101" pitchFamily="2" charset="-122"/>
              </a:rPr>
              <a:t>二叉树的存储结构</a:t>
            </a:r>
            <a:endParaRPr lang="zh-CN" altLang="en-US" sz="2800" dirty="0" smtClean="0">
              <a:ea typeface="华文楷体" panose="02010600040101010101" pitchFamily="2" charset="-122"/>
            </a:endParaRPr>
          </a:p>
        </p:txBody>
      </p:sp>
      <p:sp>
        <p:nvSpPr>
          <p:cNvPr id="12293" name="Rectangle 4"/>
          <p:cNvSpPr>
            <a:spLocks noGrp="1" noChangeArrowheads="1"/>
          </p:cNvSpPr>
          <p:nvPr>
            <p:ph idx="1"/>
          </p:nvPr>
        </p:nvSpPr>
        <p:spPr>
          <a:xfrm>
            <a:off x="685800" y="1371600"/>
            <a:ext cx="8153400" cy="4800600"/>
          </a:xfrm>
          <a:ln>
            <a:solidFill>
              <a:schemeClr val="accent1"/>
            </a:solidFill>
          </a:ln>
        </p:spPr>
        <p:txBody>
          <a:bodyPr/>
          <a:lstStyle/>
          <a:p>
            <a:pPr eaLnBrk="1" hangingPunct="1">
              <a:lnSpc>
                <a:spcPct val="90000"/>
              </a:lnSpc>
              <a:buFont typeface="Wingdings" panose="05000000000000000000" pitchFamily="2" charset="2"/>
              <a:buNone/>
            </a:pPr>
            <a:r>
              <a:rPr lang="zh-CN" altLang="en-US" sz="2400" b="1" dirty="0" smtClean="0">
                <a:ea typeface="华文楷体" panose="02010600040101010101" pitchFamily="2" charset="-122"/>
              </a:rPr>
              <a:t>顺序存储结构</a:t>
            </a:r>
            <a:endParaRPr lang="zh-CN" altLang="en-US"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solidFill>
                  <a:srgbClr val="A41506"/>
                </a:solidFill>
                <a:ea typeface="华文楷体" panose="02010600040101010101" pitchFamily="2" charset="-122"/>
              </a:rPr>
              <a:t>[</a:t>
            </a:r>
            <a:r>
              <a:rPr lang="zh-CN" altLang="en-US" sz="2400" b="1" dirty="0" smtClean="0">
                <a:solidFill>
                  <a:srgbClr val="A41506"/>
                </a:solidFill>
                <a:ea typeface="华文楷体" panose="02010600040101010101" pitchFamily="2" charset="-122"/>
              </a:rPr>
              <a:t>完全二叉树</a:t>
            </a:r>
            <a:r>
              <a:rPr lang="zh-CN" altLang="en-US" sz="2400" dirty="0" smtClean="0">
                <a:solidFill>
                  <a:srgbClr val="A41506"/>
                </a:solidFill>
                <a:ea typeface="华文楷体" panose="02010600040101010101" pitchFamily="2" charset="-122"/>
              </a:rPr>
              <a:t>：按完全二叉树编号存放</a:t>
            </a:r>
            <a:r>
              <a:rPr lang="en-US" altLang="zh-CN" sz="2400" dirty="0" smtClean="0">
                <a:solidFill>
                  <a:srgbClr val="A41506"/>
                </a:solidFill>
                <a:ea typeface="华文楷体" panose="02010600040101010101" pitchFamily="2" charset="-122"/>
              </a:rPr>
              <a:t>]</a:t>
            </a:r>
            <a:endParaRPr lang="en-US" altLang="zh-CN" sz="2400" dirty="0" smtClean="0">
              <a:solidFill>
                <a:srgbClr val="A41506"/>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  B  C            D              E</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1  2   3            6              13</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solidFill>
                  <a:srgbClr val="A41506"/>
                </a:solidFill>
                <a:ea typeface="华文楷体" panose="02010600040101010101" pitchFamily="2" charset="-122"/>
              </a:rPr>
              <a:t>[</a:t>
            </a:r>
            <a:r>
              <a:rPr lang="zh-CN" altLang="en-US" sz="2400" b="1" dirty="0" smtClean="0">
                <a:solidFill>
                  <a:srgbClr val="A41506"/>
                </a:solidFill>
                <a:ea typeface="华文楷体" panose="02010600040101010101" pitchFamily="2" charset="-122"/>
              </a:rPr>
              <a:t>三元组</a:t>
            </a:r>
            <a:r>
              <a:rPr lang="zh-CN" altLang="en-US" sz="2400" dirty="0" smtClean="0">
                <a:solidFill>
                  <a:srgbClr val="A41506"/>
                </a:solidFill>
                <a:ea typeface="华文楷体" panose="02010600040101010101" pitchFamily="2" charset="-122"/>
              </a:rPr>
              <a:t>：存储结点数据和</a:t>
            </a:r>
            <a:endParaRPr lang="zh-CN" altLang="en-US" sz="2400" dirty="0" smtClean="0">
              <a:solidFill>
                <a:srgbClr val="A41506"/>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solidFill>
                  <a:srgbClr val="A41506"/>
                </a:solidFill>
                <a:ea typeface="华文楷体" panose="02010600040101010101" pitchFamily="2" charset="-122"/>
              </a:rPr>
              <a:t>左、右孩子在向量中的序号</a:t>
            </a:r>
            <a:r>
              <a:rPr lang="en-US" altLang="zh-CN" sz="2400" dirty="0" smtClean="0">
                <a:solidFill>
                  <a:srgbClr val="A41506"/>
                </a:solidFill>
                <a:ea typeface="华文楷体" panose="02010600040101010101" pitchFamily="2" charset="-122"/>
              </a:rPr>
              <a:t>]</a:t>
            </a:r>
            <a:endParaRPr lang="en-US" altLang="zh-CN" sz="2400" dirty="0" smtClean="0">
              <a:solidFill>
                <a:srgbClr val="A41506"/>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0    1    2    3    4</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data  A    B   C  D   E                        1    2    3   4    5</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lc</a:t>
            </a:r>
            <a:r>
              <a:rPr lang="en-US" altLang="zh-CN" sz="2400" dirty="0" smtClean="0">
                <a:ea typeface="华文楷体" panose="02010600040101010101" pitchFamily="2" charset="-122"/>
              </a:rPr>
              <a:t>   1     -1  3   -1  -1             data   A   B   C   D   E</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rc</a:t>
            </a:r>
            <a:r>
              <a:rPr lang="en-US" altLang="zh-CN" sz="2400" dirty="0" smtClean="0">
                <a:ea typeface="华文楷体" panose="02010600040101010101" pitchFamily="2" charset="-122"/>
              </a:rPr>
              <a:t>   2    -1  -1   4   -1          parent    0   1   -1  3   -4</a:t>
            </a:r>
            <a:endParaRPr lang="en-US" altLang="zh-CN" sz="2400" dirty="0" smtClean="0">
              <a:ea typeface="华文楷体" panose="02010600040101010101" pitchFamily="2" charset="-122"/>
            </a:endParaRPr>
          </a:p>
        </p:txBody>
      </p:sp>
      <p:sp>
        <p:nvSpPr>
          <p:cNvPr id="12294" name="Rectangle 5"/>
          <p:cNvSpPr>
            <a:spLocks noChangeArrowheads="1"/>
          </p:cNvSpPr>
          <p:nvPr/>
        </p:nvSpPr>
        <p:spPr bwMode="auto">
          <a:xfrm>
            <a:off x="1143000" y="2209800"/>
            <a:ext cx="3505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295" name="Line 6"/>
          <p:cNvSpPr>
            <a:spLocks noChangeShapeType="1"/>
          </p:cNvSpPr>
          <p:nvPr/>
        </p:nvSpPr>
        <p:spPr bwMode="auto">
          <a:xfrm>
            <a:off x="1524000" y="2209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296" name="Line 7"/>
          <p:cNvSpPr>
            <a:spLocks noChangeShapeType="1"/>
          </p:cNvSpPr>
          <p:nvPr/>
        </p:nvSpPr>
        <p:spPr bwMode="auto">
          <a:xfrm>
            <a:off x="1905000" y="2209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297" name="Line 8"/>
          <p:cNvSpPr>
            <a:spLocks noChangeShapeType="1"/>
          </p:cNvSpPr>
          <p:nvPr/>
        </p:nvSpPr>
        <p:spPr bwMode="auto">
          <a:xfrm>
            <a:off x="2286000" y="2209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298" name="Line 9"/>
          <p:cNvSpPr>
            <a:spLocks noChangeShapeType="1"/>
          </p:cNvSpPr>
          <p:nvPr/>
        </p:nvSpPr>
        <p:spPr bwMode="auto">
          <a:xfrm>
            <a:off x="2971800" y="2209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299" name="Line 10"/>
          <p:cNvSpPr>
            <a:spLocks noChangeShapeType="1"/>
          </p:cNvSpPr>
          <p:nvPr/>
        </p:nvSpPr>
        <p:spPr bwMode="auto">
          <a:xfrm>
            <a:off x="3276600" y="2209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0" name="Line 11"/>
          <p:cNvSpPr>
            <a:spLocks noChangeShapeType="1"/>
          </p:cNvSpPr>
          <p:nvPr/>
        </p:nvSpPr>
        <p:spPr bwMode="auto">
          <a:xfrm>
            <a:off x="4267200" y="2209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1" name="Rectangle 12"/>
          <p:cNvSpPr>
            <a:spLocks noChangeArrowheads="1"/>
          </p:cNvSpPr>
          <p:nvPr/>
        </p:nvSpPr>
        <p:spPr bwMode="auto">
          <a:xfrm>
            <a:off x="2209800" y="4114800"/>
            <a:ext cx="2209800" cy="1295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302" name="Line 13"/>
          <p:cNvSpPr>
            <a:spLocks noChangeShapeType="1"/>
          </p:cNvSpPr>
          <p:nvPr/>
        </p:nvSpPr>
        <p:spPr bwMode="auto">
          <a:xfrm>
            <a:off x="2209800" y="4572000"/>
            <a:ext cx="2209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3" name="Line 14"/>
          <p:cNvSpPr>
            <a:spLocks noChangeShapeType="1"/>
          </p:cNvSpPr>
          <p:nvPr/>
        </p:nvSpPr>
        <p:spPr bwMode="auto">
          <a:xfrm>
            <a:off x="2209800" y="5029200"/>
            <a:ext cx="2209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4" name="Line 15"/>
          <p:cNvSpPr>
            <a:spLocks noChangeShapeType="1"/>
          </p:cNvSpPr>
          <p:nvPr/>
        </p:nvSpPr>
        <p:spPr bwMode="auto">
          <a:xfrm>
            <a:off x="2667000" y="41148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5" name="Line 16"/>
          <p:cNvSpPr>
            <a:spLocks noChangeShapeType="1"/>
          </p:cNvSpPr>
          <p:nvPr/>
        </p:nvSpPr>
        <p:spPr bwMode="auto">
          <a:xfrm>
            <a:off x="3124200" y="41148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6" name="Line 17"/>
          <p:cNvSpPr>
            <a:spLocks noChangeShapeType="1"/>
          </p:cNvSpPr>
          <p:nvPr/>
        </p:nvSpPr>
        <p:spPr bwMode="auto">
          <a:xfrm>
            <a:off x="3581400" y="41148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7" name="Line 18"/>
          <p:cNvSpPr>
            <a:spLocks noChangeShapeType="1"/>
          </p:cNvSpPr>
          <p:nvPr/>
        </p:nvSpPr>
        <p:spPr bwMode="auto">
          <a:xfrm>
            <a:off x="4038600" y="4114800"/>
            <a:ext cx="0" cy="1295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08" name="Oval 19"/>
          <p:cNvSpPr>
            <a:spLocks noChangeArrowheads="1"/>
          </p:cNvSpPr>
          <p:nvPr/>
        </p:nvSpPr>
        <p:spPr bwMode="auto">
          <a:xfrm>
            <a:off x="7467600" y="1524000"/>
            <a:ext cx="533400" cy="533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309" name="Oval 20"/>
          <p:cNvSpPr>
            <a:spLocks noChangeArrowheads="1"/>
          </p:cNvSpPr>
          <p:nvPr/>
        </p:nvSpPr>
        <p:spPr bwMode="auto">
          <a:xfrm>
            <a:off x="6705600" y="2362200"/>
            <a:ext cx="533400" cy="533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310" name="Oval 21"/>
          <p:cNvSpPr>
            <a:spLocks noChangeArrowheads="1"/>
          </p:cNvSpPr>
          <p:nvPr/>
        </p:nvSpPr>
        <p:spPr bwMode="auto">
          <a:xfrm>
            <a:off x="8153400" y="2438400"/>
            <a:ext cx="533400" cy="533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311" name="Oval 22"/>
          <p:cNvSpPr>
            <a:spLocks noChangeArrowheads="1"/>
          </p:cNvSpPr>
          <p:nvPr/>
        </p:nvSpPr>
        <p:spPr bwMode="auto">
          <a:xfrm>
            <a:off x="7620000" y="3352800"/>
            <a:ext cx="533400" cy="533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312" name="Oval 23"/>
          <p:cNvSpPr>
            <a:spLocks noChangeArrowheads="1"/>
          </p:cNvSpPr>
          <p:nvPr/>
        </p:nvSpPr>
        <p:spPr bwMode="auto">
          <a:xfrm>
            <a:off x="8229600" y="4419600"/>
            <a:ext cx="533400" cy="5334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313" name="Line 24"/>
          <p:cNvSpPr>
            <a:spLocks noChangeShapeType="1"/>
          </p:cNvSpPr>
          <p:nvPr/>
        </p:nvSpPr>
        <p:spPr bwMode="auto">
          <a:xfrm flipH="1">
            <a:off x="6934200" y="2057400"/>
            <a:ext cx="762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14" name="Line 25"/>
          <p:cNvSpPr>
            <a:spLocks noChangeShapeType="1"/>
          </p:cNvSpPr>
          <p:nvPr/>
        </p:nvSpPr>
        <p:spPr bwMode="auto">
          <a:xfrm>
            <a:off x="7772400" y="2057400"/>
            <a:ext cx="6096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15" name="Line 26"/>
          <p:cNvSpPr>
            <a:spLocks noChangeShapeType="1"/>
          </p:cNvSpPr>
          <p:nvPr/>
        </p:nvSpPr>
        <p:spPr bwMode="auto">
          <a:xfrm flipH="1">
            <a:off x="7848600" y="2971800"/>
            <a:ext cx="6096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16" name="Line 27"/>
          <p:cNvSpPr>
            <a:spLocks noChangeShapeType="1"/>
          </p:cNvSpPr>
          <p:nvPr/>
        </p:nvSpPr>
        <p:spPr bwMode="auto">
          <a:xfrm>
            <a:off x="7848600" y="3886200"/>
            <a:ext cx="5334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17" name="Text Box 28"/>
          <p:cNvSpPr txBox="1">
            <a:spLocks noChangeArrowheads="1"/>
          </p:cNvSpPr>
          <p:nvPr/>
        </p:nvSpPr>
        <p:spPr bwMode="auto">
          <a:xfrm>
            <a:off x="7543800" y="1524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12318" name="Text Box 29"/>
          <p:cNvSpPr txBox="1">
            <a:spLocks noChangeArrowheads="1"/>
          </p:cNvSpPr>
          <p:nvPr/>
        </p:nvSpPr>
        <p:spPr bwMode="auto">
          <a:xfrm>
            <a:off x="6781800" y="24384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                C</a:t>
            </a:r>
            <a:endParaRPr lang="en-US" altLang="zh-CN" sz="2400" dirty="0">
              <a:latin typeface="Times New Roman" panose="02020603050405020304" pitchFamily="18" charset="0"/>
              <a:ea typeface="华文楷体" panose="02010600040101010101" pitchFamily="2" charset="-122"/>
            </a:endParaRPr>
          </a:p>
        </p:txBody>
      </p:sp>
      <p:sp>
        <p:nvSpPr>
          <p:cNvPr id="12319" name="Text Box 30"/>
          <p:cNvSpPr txBox="1">
            <a:spLocks noChangeArrowheads="1"/>
          </p:cNvSpPr>
          <p:nvPr/>
        </p:nvSpPr>
        <p:spPr bwMode="auto">
          <a:xfrm>
            <a:off x="7696200" y="3429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a:t>
            </a:r>
            <a:endParaRPr lang="en-US" altLang="zh-CN" sz="2400" dirty="0">
              <a:latin typeface="Times New Roman" panose="02020603050405020304" pitchFamily="18" charset="0"/>
              <a:ea typeface="华文楷体" panose="02010600040101010101" pitchFamily="2" charset="-122"/>
            </a:endParaRPr>
          </a:p>
        </p:txBody>
      </p:sp>
      <p:sp>
        <p:nvSpPr>
          <p:cNvPr id="12320" name="Text Box 31"/>
          <p:cNvSpPr txBox="1">
            <a:spLocks noChangeArrowheads="1"/>
          </p:cNvSpPr>
          <p:nvPr/>
        </p:nvSpPr>
        <p:spPr bwMode="auto">
          <a:xfrm>
            <a:off x="8305800" y="44958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12321" name="Rectangle 32"/>
          <p:cNvSpPr>
            <a:spLocks noChangeArrowheads="1"/>
          </p:cNvSpPr>
          <p:nvPr/>
        </p:nvSpPr>
        <p:spPr bwMode="auto">
          <a:xfrm>
            <a:off x="5943600" y="4572000"/>
            <a:ext cx="2133600" cy="838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2322" name="Line 33"/>
          <p:cNvSpPr>
            <a:spLocks noChangeShapeType="1"/>
          </p:cNvSpPr>
          <p:nvPr/>
        </p:nvSpPr>
        <p:spPr bwMode="auto">
          <a:xfrm>
            <a:off x="5943600" y="5029200"/>
            <a:ext cx="2133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23" name="Line 34"/>
          <p:cNvSpPr>
            <a:spLocks noChangeShapeType="1"/>
          </p:cNvSpPr>
          <p:nvPr/>
        </p:nvSpPr>
        <p:spPr bwMode="auto">
          <a:xfrm>
            <a:off x="6400800" y="4572000"/>
            <a:ext cx="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24" name="Line 35"/>
          <p:cNvSpPr>
            <a:spLocks noChangeShapeType="1"/>
          </p:cNvSpPr>
          <p:nvPr/>
        </p:nvSpPr>
        <p:spPr bwMode="auto">
          <a:xfrm>
            <a:off x="6858000" y="4572000"/>
            <a:ext cx="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25" name="Line 36"/>
          <p:cNvSpPr>
            <a:spLocks noChangeShapeType="1"/>
          </p:cNvSpPr>
          <p:nvPr/>
        </p:nvSpPr>
        <p:spPr bwMode="auto">
          <a:xfrm>
            <a:off x="7239000" y="4572000"/>
            <a:ext cx="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26" name="Line 37"/>
          <p:cNvSpPr>
            <a:spLocks noChangeShapeType="1"/>
          </p:cNvSpPr>
          <p:nvPr/>
        </p:nvSpPr>
        <p:spPr bwMode="auto">
          <a:xfrm>
            <a:off x="7696200" y="4572000"/>
            <a:ext cx="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2327" name="Text Box 38"/>
          <p:cNvSpPr txBox="1">
            <a:spLocks noChangeArrowheads="1"/>
          </p:cNvSpPr>
          <p:nvPr/>
        </p:nvSpPr>
        <p:spPr bwMode="auto">
          <a:xfrm>
            <a:off x="4572000" y="3352800"/>
            <a:ext cx="3200400" cy="6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80000"/>
              </a:lnSpc>
              <a:spcBef>
                <a:spcPct val="50000"/>
              </a:spcBef>
              <a:buClrTx/>
              <a:buFontTx/>
              <a:buNone/>
            </a:pPr>
            <a:r>
              <a:rPr lang="en-US" altLang="zh-CN" sz="2400" dirty="0">
                <a:solidFill>
                  <a:srgbClr val="FF0066"/>
                </a:solidFill>
                <a:latin typeface="Times New Roman" panose="02020603050405020304" pitchFamily="18" charset="0"/>
                <a:ea typeface="华文楷体" panose="02010600040101010101" pitchFamily="2" charset="-122"/>
              </a:rPr>
              <a:t>[</a:t>
            </a:r>
            <a:r>
              <a:rPr lang="zh-CN" altLang="en-US" sz="2400" b="1" dirty="0">
                <a:solidFill>
                  <a:srgbClr val="FF0066"/>
                </a:solidFill>
                <a:latin typeface="Times New Roman" panose="02020603050405020304" pitchFamily="18" charset="0"/>
                <a:ea typeface="华文楷体" panose="02010600040101010101" pitchFamily="2" charset="-122"/>
              </a:rPr>
              <a:t>双亲</a:t>
            </a:r>
            <a:r>
              <a:rPr lang="zh-CN" altLang="en-US" sz="2400" dirty="0">
                <a:solidFill>
                  <a:srgbClr val="FF0066"/>
                </a:solidFill>
                <a:latin typeface="Times New Roman" panose="02020603050405020304" pitchFamily="18" charset="0"/>
                <a:ea typeface="华文楷体" panose="02010600040101010101" pitchFamily="2" charset="-122"/>
              </a:rPr>
              <a:t>：存储结点数据和 其父结点的序号</a:t>
            </a:r>
            <a:r>
              <a:rPr lang="en-US" altLang="zh-CN" sz="2400" dirty="0">
                <a:solidFill>
                  <a:srgbClr val="FF0066"/>
                </a:solidFill>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页脚占位符 3"/>
          <p:cNvSpPr>
            <a:spLocks noGrp="1"/>
          </p:cNvSpPr>
          <p:nvPr>
            <p:ph type="ftr" sz="quarter" idx="10"/>
          </p:nvPr>
        </p:nvSpPr>
        <p:spPr/>
        <p:txBody>
          <a:bodyPr/>
          <a:lstStyle/>
          <a:p>
            <a:pPr>
              <a:defRPr/>
            </a:pPr>
            <a:r>
              <a:rPr lang="en-US" altLang="zh-CN"/>
              <a:t>BUPT SCST</a:t>
            </a:r>
            <a:endParaRPr lang="en-US" altLang="zh-CN"/>
          </a:p>
        </p:txBody>
      </p:sp>
      <p:sp>
        <p:nvSpPr>
          <p:cNvPr id="65" name="日期占位符 5"/>
          <p:cNvSpPr>
            <a:spLocks noGrp="1"/>
          </p:cNvSpPr>
          <p:nvPr>
            <p:ph type="dt" sz="quarter" idx="12"/>
          </p:nvPr>
        </p:nvSpPr>
        <p:spPr/>
        <p:txBody>
          <a:bodyPr/>
          <a:lstStyle/>
          <a:p>
            <a:pPr>
              <a:defRPr/>
            </a:pPr>
            <a:r>
              <a:rPr lang="en-US" altLang="zh-CN"/>
              <a:t>BUPT</a:t>
            </a:r>
            <a:endParaRPr lang="en-US" altLang="zh-CN"/>
          </a:p>
        </p:txBody>
      </p:sp>
      <p:sp>
        <p:nvSpPr>
          <p:cNvPr id="1331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3317" name="Rectangle 4"/>
          <p:cNvSpPr>
            <a:spLocks noGrp="1" noChangeArrowheads="1"/>
          </p:cNvSpPr>
          <p:nvPr>
            <p:ph idx="1"/>
          </p:nvPr>
        </p:nvSpPr>
        <p:spPr>
          <a:xfrm>
            <a:off x="438150" y="1231952"/>
            <a:ext cx="3810000" cy="4724400"/>
          </a:xfrm>
        </p:spPr>
        <p:txBody>
          <a:bodyPr/>
          <a:lstStyle/>
          <a:p>
            <a:pPr eaLnBrk="1" hangingPunct="1">
              <a:buFont typeface="Wingdings" panose="05000000000000000000" pitchFamily="2" charset="2"/>
              <a:buNone/>
            </a:pPr>
            <a:r>
              <a:rPr lang="en-US" altLang="zh-CN" sz="2400" dirty="0" smtClean="0">
                <a:solidFill>
                  <a:srgbClr val="C00000"/>
                </a:solidFill>
                <a:ea typeface="华文楷体" panose="02010600040101010101" pitchFamily="2" charset="-122"/>
              </a:rPr>
              <a:t>[</a:t>
            </a:r>
            <a:r>
              <a:rPr lang="zh-CN" altLang="en-US" sz="2400" dirty="0" smtClean="0">
                <a:solidFill>
                  <a:srgbClr val="C00000"/>
                </a:solidFill>
                <a:ea typeface="华文楷体" panose="02010600040101010101" pitchFamily="2" charset="-122"/>
              </a:rPr>
              <a:t>二叉链表</a:t>
            </a:r>
            <a:r>
              <a:rPr lang="en-US" altLang="zh-CN" sz="2400" dirty="0" smtClean="0">
                <a:solidFill>
                  <a:srgbClr val="C00000"/>
                </a:solidFill>
                <a:ea typeface="华文楷体" panose="02010600040101010101" pitchFamily="2" charset="-122"/>
              </a:rPr>
              <a:t>]</a:t>
            </a:r>
            <a:endParaRPr lang="en-US" altLang="zh-CN" sz="2400" dirty="0" smtClean="0">
              <a:solidFill>
                <a:srgbClr val="C00000"/>
              </a:solidFill>
              <a:ea typeface="华文楷体" panose="02010600040101010101" pitchFamily="2" charset="-122"/>
            </a:endParaRPr>
          </a:p>
        </p:txBody>
      </p:sp>
      <p:sp>
        <p:nvSpPr>
          <p:cNvPr id="13318" name="Rectangle 5"/>
          <p:cNvSpPr>
            <a:spLocks noChangeArrowheads="1"/>
          </p:cNvSpPr>
          <p:nvPr/>
        </p:nvSpPr>
        <p:spPr bwMode="auto">
          <a:xfrm>
            <a:off x="4648200" y="1143000"/>
            <a:ext cx="411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dirty="0">
                <a:solidFill>
                  <a:srgbClr val="C00000"/>
                </a:solidFill>
                <a:latin typeface="Times New Roman" panose="02020603050405020304" pitchFamily="18" charset="0"/>
                <a:ea typeface="华文楷体" panose="02010600040101010101" pitchFamily="2" charset="-122"/>
              </a:rPr>
              <a:t>[</a:t>
            </a:r>
            <a:r>
              <a:rPr lang="zh-CN" altLang="en-US" sz="2400" dirty="0">
                <a:solidFill>
                  <a:srgbClr val="C00000"/>
                </a:solidFill>
                <a:latin typeface="Times New Roman" panose="02020603050405020304" pitchFamily="18" charset="0"/>
                <a:ea typeface="华文楷体" panose="02010600040101010101" pitchFamily="2" charset="-122"/>
              </a:rPr>
              <a:t>三叉</a:t>
            </a:r>
            <a:r>
              <a:rPr lang="zh-CN" altLang="en-US" sz="2400" dirty="0" smtClean="0">
                <a:solidFill>
                  <a:srgbClr val="C00000"/>
                </a:solidFill>
                <a:latin typeface="Times New Roman" panose="02020603050405020304" pitchFamily="18" charset="0"/>
                <a:ea typeface="华文楷体" panose="02010600040101010101" pitchFamily="2" charset="-122"/>
              </a:rPr>
              <a:t>链表</a:t>
            </a:r>
            <a:r>
              <a:rPr lang="en-US" altLang="zh-CN" sz="2400" dirty="0">
                <a:solidFill>
                  <a:srgbClr val="C00000"/>
                </a:solidFill>
                <a:latin typeface="Times New Roman" panose="02020603050405020304" pitchFamily="18" charset="0"/>
                <a:ea typeface="华文楷体" panose="02010600040101010101" pitchFamily="2" charset="-122"/>
              </a:rPr>
              <a:t>]</a:t>
            </a:r>
            <a:endParaRPr lang="zh-CN" altLang="en-US" sz="2400" dirty="0">
              <a:solidFill>
                <a:srgbClr val="C00000"/>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smtClean="0">
                <a:solidFill>
                  <a:srgbClr val="C00000"/>
                </a:solidFill>
                <a:latin typeface="Times New Roman" panose="02020603050405020304" pitchFamily="18" charset="0"/>
                <a:ea typeface="华文楷体" panose="02010600040101010101" pitchFamily="2" charset="-122"/>
              </a:rPr>
              <a:t>又称带</a:t>
            </a:r>
            <a:r>
              <a:rPr lang="zh-CN" altLang="en-US" sz="2400" dirty="0">
                <a:solidFill>
                  <a:srgbClr val="C00000"/>
                </a:solidFill>
                <a:latin typeface="Times New Roman" panose="02020603050405020304" pitchFamily="18" charset="0"/>
                <a:ea typeface="华文楷体" panose="02010600040101010101" pitchFamily="2" charset="-122"/>
              </a:rPr>
              <a:t>双亲的二叉</a:t>
            </a:r>
            <a:r>
              <a:rPr lang="zh-CN" altLang="en-US" sz="2400" dirty="0" smtClean="0">
                <a:solidFill>
                  <a:srgbClr val="C00000"/>
                </a:solidFill>
                <a:latin typeface="Times New Roman" panose="02020603050405020304" pitchFamily="18" charset="0"/>
                <a:ea typeface="华文楷体" panose="02010600040101010101" pitchFamily="2" charset="-122"/>
              </a:rPr>
              <a:t>链表</a:t>
            </a:r>
            <a:endParaRPr lang="en-US" altLang="zh-CN" sz="2800" dirty="0">
              <a:solidFill>
                <a:srgbClr val="C00000"/>
              </a:solidFill>
              <a:latin typeface="Times New Roman" panose="02020603050405020304" pitchFamily="18" charset="0"/>
              <a:ea typeface="华文楷体" panose="02010600040101010101" pitchFamily="2" charset="-122"/>
            </a:endParaRPr>
          </a:p>
        </p:txBody>
      </p:sp>
      <p:sp>
        <p:nvSpPr>
          <p:cNvPr id="13319" name="Text Box 6"/>
          <p:cNvSpPr txBox="1">
            <a:spLocks noChangeArrowheads="1"/>
          </p:cNvSpPr>
          <p:nvPr/>
        </p:nvSpPr>
        <p:spPr bwMode="auto">
          <a:xfrm>
            <a:off x="1371600" y="2286000"/>
            <a:ext cx="2362200" cy="466725"/>
          </a:xfrm>
          <a:prstGeom prst="rect">
            <a:avLst/>
          </a:prstGeom>
          <a:solidFill>
            <a:schemeClr val="accent1"/>
          </a:solidFill>
          <a:ln w="9525">
            <a:solidFill>
              <a:schemeClr val="tx1"/>
            </a:solidFill>
            <a:miter lim="800000"/>
          </a:ln>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     data     </a:t>
            </a:r>
            <a:r>
              <a:rPr lang="en-US" altLang="zh-CN" sz="2400" dirty="0" err="1">
                <a:latin typeface="Times New Roman" panose="02020603050405020304" pitchFamily="18" charset="0"/>
                <a:ea typeface="华文楷体" panose="02010600040101010101" pitchFamily="2" charset="-122"/>
              </a:rPr>
              <a:t>rc</a:t>
            </a:r>
            <a:endParaRPr lang="en-US" altLang="zh-CN" sz="2400" dirty="0">
              <a:latin typeface="Times New Roman" panose="02020603050405020304" pitchFamily="18" charset="0"/>
              <a:ea typeface="华文楷体" panose="02010600040101010101" pitchFamily="2" charset="-122"/>
            </a:endParaRPr>
          </a:p>
        </p:txBody>
      </p:sp>
      <p:sp>
        <p:nvSpPr>
          <p:cNvPr id="13320" name="Line 7"/>
          <p:cNvSpPr>
            <a:spLocks noChangeShapeType="1"/>
          </p:cNvSpPr>
          <p:nvPr/>
        </p:nvSpPr>
        <p:spPr bwMode="auto">
          <a:xfrm>
            <a:off x="20574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21" name="Line 8"/>
          <p:cNvSpPr>
            <a:spLocks noChangeShapeType="1"/>
          </p:cNvSpPr>
          <p:nvPr/>
        </p:nvSpPr>
        <p:spPr bwMode="auto">
          <a:xfrm>
            <a:off x="29718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22" name="Text Box 9"/>
          <p:cNvSpPr txBox="1">
            <a:spLocks noChangeArrowheads="1"/>
          </p:cNvSpPr>
          <p:nvPr/>
        </p:nvSpPr>
        <p:spPr bwMode="auto">
          <a:xfrm>
            <a:off x="5257800" y="2286000"/>
            <a:ext cx="2743200" cy="466725"/>
          </a:xfrm>
          <a:prstGeom prst="rect">
            <a:avLst/>
          </a:prstGeom>
          <a:solidFill>
            <a:schemeClr val="accent1"/>
          </a:solidFill>
          <a:ln w="9525">
            <a:solidFill>
              <a:schemeClr val="tx1"/>
            </a:solidFill>
            <a:miter lim="800000"/>
          </a:ln>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  data   parent   </a:t>
            </a:r>
            <a:r>
              <a:rPr lang="en-US" altLang="zh-CN" sz="2400" dirty="0" err="1">
                <a:latin typeface="Times New Roman" panose="02020603050405020304" pitchFamily="18" charset="0"/>
                <a:ea typeface="华文楷体" panose="02010600040101010101" pitchFamily="2" charset="-122"/>
              </a:rPr>
              <a:t>rc</a:t>
            </a:r>
            <a:endParaRPr lang="en-US" altLang="zh-CN" sz="2400" dirty="0">
              <a:latin typeface="Times New Roman" panose="02020603050405020304" pitchFamily="18" charset="0"/>
              <a:ea typeface="华文楷体" panose="02010600040101010101" pitchFamily="2" charset="-122"/>
            </a:endParaRPr>
          </a:p>
        </p:txBody>
      </p:sp>
      <p:sp>
        <p:nvSpPr>
          <p:cNvPr id="13323" name="Line 10"/>
          <p:cNvSpPr>
            <a:spLocks noChangeShapeType="1"/>
          </p:cNvSpPr>
          <p:nvPr/>
        </p:nvSpPr>
        <p:spPr bwMode="auto">
          <a:xfrm>
            <a:off x="57912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24" name="Line 11"/>
          <p:cNvSpPr>
            <a:spLocks noChangeShapeType="1"/>
          </p:cNvSpPr>
          <p:nvPr/>
        </p:nvSpPr>
        <p:spPr bwMode="auto">
          <a:xfrm>
            <a:off x="64770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25" name="Line 12"/>
          <p:cNvSpPr>
            <a:spLocks noChangeShapeType="1"/>
          </p:cNvSpPr>
          <p:nvPr/>
        </p:nvSpPr>
        <p:spPr bwMode="auto">
          <a:xfrm>
            <a:off x="74676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26" name="Text Box 13"/>
          <p:cNvSpPr txBox="1">
            <a:spLocks noChangeArrowheads="1"/>
          </p:cNvSpPr>
          <p:nvPr/>
        </p:nvSpPr>
        <p:spPr bwMode="auto">
          <a:xfrm>
            <a:off x="1905000" y="3276600"/>
            <a:ext cx="9906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A</a:t>
            </a:r>
            <a:endParaRPr lang="en-US" altLang="zh-CN" sz="2400" dirty="0">
              <a:latin typeface="Times New Roman" panose="02020603050405020304" pitchFamily="18" charset="0"/>
              <a:ea typeface="华文楷体" panose="02010600040101010101" pitchFamily="2" charset="-122"/>
            </a:endParaRPr>
          </a:p>
        </p:txBody>
      </p:sp>
      <p:sp>
        <p:nvSpPr>
          <p:cNvPr id="13327" name="Text Box 14"/>
          <p:cNvSpPr txBox="1">
            <a:spLocks noChangeArrowheads="1"/>
          </p:cNvSpPr>
          <p:nvPr/>
        </p:nvSpPr>
        <p:spPr bwMode="auto">
          <a:xfrm>
            <a:off x="1143000" y="4114800"/>
            <a:ext cx="9906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B  ^</a:t>
            </a:r>
            <a:endParaRPr lang="en-US" altLang="zh-CN" sz="2400" dirty="0">
              <a:latin typeface="Times New Roman" panose="02020603050405020304" pitchFamily="18" charset="0"/>
              <a:ea typeface="华文楷体" panose="02010600040101010101" pitchFamily="2" charset="-122"/>
            </a:endParaRPr>
          </a:p>
        </p:txBody>
      </p:sp>
      <p:sp>
        <p:nvSpPr>
          <p:cNvPr id="13328" name="Text Box 15"/>
          <p:cNvSpPr txBox="1">
            <a:spLocks noChangeArrowheads="1"/>
          </p:cNvSpPr>
          <p:nvPr/>
        </p:nvSpPr>
        <p:spPr bwMode="auto">
          <a:xfrm>
            <a:off x="2590800" y="4114800"/>
            <a:ext cx="1066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C  ^</a:t>
            </a:r>
            <a:endParaRPr lang="en-US" altLang="zh-CN" sz="2400" dirty="0">
              <a:latin typeface="Times New Roman" panose="02020603050405020304" pitchFamily="18" charset="0"/>
              <a:ea typeface="华文楷体" panose="02010600040101010101" pitchFamily="2" charset="-122"/>
            </a:endParaRPr>
          </a:p>
        </p:txBody>
      </p:sp>
      <p:sp>
        <p:nvSpPr>
          <p:cNvPr id="13329" name="Text Box 16"/>
          <p:cNvSpPr txBox="1">
            <a:spLocks noChangeArrowheads="1"/>
          </p:cNvSpPr>
          <p:nvPr/>
        </p:nvSpPr>
        <p:spPr bwMode="auto">
          <a:xfrm>
            <a:off x="1981200" y="4953000"/>
            <a:ext cx="1066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D</a:t>
            </a:r>
            <a:endParaRPr lang="en-US" altLang="zh-CN" sz="2400" dirty="0">
              <a:latin typeface="Times New Roman" panose="02020603050405020304" pitchFamily="18" charset="0"/>
              <a:ea typeface="华文楷体" panose="02010600040101010101" pitchFamily="2" charset="-122"/>
            </a:endParaRPr>
          </a:p>
        </p:txBody>
      </p:sp>
      <p:sp>
        <p:nvSpPr>
          <p:cNvPr id="13330" name="Text Box 17"/>
          <p:cNvSpPr txBox="1">
            <a:spLocks noChangeArrowheads="1"/>
          </p:cNvSpPr>
          <p:nvPr/>
        </p:nvSpPr>
        <p:spPr bwMode="auto">
          <a:xfrm>
            <a:off x="2819400" y="5791200"/>
            <a:ext cx="1143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E   ^</a:t>
            </a:r>
            <a:endParaRPr lang="en-US" altLang="zh-CN" sz="2400" dirty="0">
              <a:latin typeface="Times New Roman" panose="02020603050405020304" pitchFamily="18" charset="0"/>
              <a:ea typeface="华文楷体" panose="02010600040101010101" pitchFamily="2" charset="-122"/>
            </a:endParaRPr>
          </a:p>
        </p:txBody>
      </p:sp>
      <p:sp>
        <p:nvSpPr>
          <p:cNvPr id="13331" name="Line 18"/>
          <p:cNvSpPr>
            <a:spLocks noChangeShapeType="1"/>
          </p:cNvSpPr>
          <p:nvPr/>
        </p:nvSpPr>
        <p:spPr bwMode="auto">
          <a:xfrm>
            <a:off x="2209800" y="3276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2" name="Line 19"/>
          <p:cNvSpPr>
            <a:spLocks noChangeShapeType="1"/>
          </p:cNvSpPr>
          <p:nvPr/>
        </p:nvSpPr>
        <p:spPr bwMode="auto">
          <a:xfrm>
            <a:off x="2590800" y="3276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3" name="Line 20"/>
          <p:cNvSpPr>
            <a:spLocks noChangeShapeType="1"/>
          </p:cNvSpPr>
          <p:nvPr/>
        </p:nvSpPr>
        <p:spPr bwMode="auto">
          <a:xfrm>
            <a:off x="14478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4" name="Line 21"/>
          <p:cNvSpPr>
            <a:spLocks noChangeShapeType="1"/>
          </p:cNvSpPr>
          <p:nvPr/>
        </p:nvSpPr>
        <p:spPr bwMode="auto">
          <a:xfrm>
            <a:off x="18288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5" name="Line 22"/>
          <p:cNvSpPr>
            <a:spLocks noChangeShapeType="1"/>
          </p:cNvSpPr>
          <p:nvPr/>
        </p:nvSpPr>
        <p:spPr bwMode="auto">
          <a:xfrm>
            <a:off x="28956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6" name="Line 23"/>
          <p:cNvSpPr>
            <a:spLocks noChangeShapeType="1"/>
          </p:cNvSpPr>
          <p:nvPr/>
        </p:nvSpPr>
        <p:spPr bwMode="auto">
          <a:xfrm>
            <a:off x="32766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7" name="Line 24"/>
          <p:cNvSpPr>
            <a:spLocks noChangeShapeType="1"/>
          </p:cNvSpPr>
          <p:nvPr/>
        </p:nvSpPr>
        <p:spPr bwMode="auto">
          <a:xfrm>
            <a:off x="2362200" y="4953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8" name="Line 25"/>
          <p:cNvSpPr>
            <a:spLocks noChangeShapeType="1"/>
          </p:cNvSpPr>
          <p:nvPr/>
        </p:nvSpPr>
        <p:spPr bwMode="auto">
          <a:xfrm>
            <a:off x="2743200" y="4953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39" name="Line 26"/>
          <p:cNvSpPr>
            <a:spLocks noChangeShapeType="1"/>
          </p:cNvSpPr>
          <p:nvPr/>
        </p:nvSpPr>
        <p:spPr bwMode="auto">
          <a:xfrm>
            <a:off x="3200400" y="579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40" name="Line 27"/>
          <p:cNvSpPr>
            <a:spLocks noChangeShapeType="1"/>
          </p:cNvSpPr>
          <p:nvPr/>
        </p:nvSpPr>
        <p:spPr bwMode="auto">
          <a:xfrm>
            <a:off x="3581400" y="579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41" name="Line 28"/>
          <p:cNvSpPr>
            <a:spLocks noChangeShapeType="1"/>
          </p:cNvSpPr>
          <p:nvPr/>
        </p:nvSpPr>
        <p:spPr bwMode="auto">
          <a:xfrm flipH="1">
            <a:off x="1600200" y="3505200"/>
            <a:ext cx="4572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42" name="Line 29"/>
          <p:cNvSpPr>
            <a:spLocks noChangeShapeType="1"/>
          </p:cNvSpPr>
          <p:nvPr/>
        </p:nvSpPr>
        <p:spPr bwMode="auto">
          <a:xfrm>
            <a:off x="2743200" y="3505200"/>
            <a:ext cx="3810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43" name="Line 30"/>
          <p:cNvSpPr>
            <a:spLocks noChangeShapeType="1"/>
          </p:cNvSpPr>
          <p:nvPr/>
        </p:nvSpPr>
        <p:spPr bwMode="auto">
          <a:xfrm flipH="1">
            <a:off x="2514600" y="4343400"/>
            <a:ext cx="2286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44" name="Line 31"/>
          <p:cNvSpPr>
            <a:spLocks noChangeShapeType="1"/>
          </p:cNvSpPr>
          <p:nvPr/>
        </p:nvSpPr>
        <p:spPr bwMode="auto">
          <a:xfrm>
            <a:off x="2895600" y="5181600"/>
            <a:ext cx="5334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45" name="Text Box 32"/>
          <p:cNvSpPr txBox="1">
            <a:spLocks noChangeArrowheads="1"/>
          </p:cNvSpPr>
          <p:nvPr/>
        </p:nvSpPr>
        <p:spPr bwMode="auto">
          <a:xfrm>
            <a:off x="5715000" y="3200400"/>
            <a:ext cx="12954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A  </a:t>
            </a:r>
            <a:r>
              <a:rPr lang="en-US" altLang="zh-CN" sz="2400" dirty="0">
                <a:solidFill>
                  <a:schemeClr val="accent2"/>
                </a:solidFill>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13346" name="Text Box 33"/>
          <p:cNvSpPr txBox="1">
            <a:spLocks noChangeArrowheads="1"/>
          </p:cNvSpPr>
          <p:nvPr/>
        </p:nvSpPr>
        <p:spPr bwMode="auto">
          <a:xfrm>
            <a:off x="4876800" y="4114800"/>
            <a:ext cx="1219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B     ^</a:t>
            </a:r>
            <a:endParaRPr lang="en-US" altLang="zh-CN" sz="2400" dirty="0">
              <a:latin typeface="Times New Roman" panose="02020603050405020304" pitchFamily="18" charset="0"/>
              <a:ea typeface="华文楷体" panose="02010600040101010101" pitchFamily="2" charset="-122"/>
            </a:endParaRPr>
          </a:p>
        </p:txBody>
      </p:sp>
      <p:sp>
        <p:nvSpPr>
          <p:cNvPr id="13347" name="Text Box 34"/>
          <p:cNvSpPr txBox="1">
            <a:spLocks noChangeArrowheads="1"/>
          </p:cNvSpPr>
          <p:nvPr/>
        </p:nvSpPr>
        <p:spPr bwMode="auto">
          <a:xfrm>
            <a:off x="6629400" y="4114800"/>
            <a:ext cx="13716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C      ^</a:t>
            </a:r>
            <a:endParaRPr lang="en-US" altLang="zh-CN" sz="2400" dirty="0">
              <a:latin typeface="Times New Roman" panose="02020603050405020304" pitchFamily="18" charset="0"/>
              <a:ea typeface="华文楷体" panose="02010600040101010101" pitchFamily="2" charset="-122"/>
            </a:endParaRPr>
          </a:p>
        </p:txBody>
      </p:sp>
      <p:sp>
        <p:nvSpPr>
          <p:cNvPr id="13348" name="Text Box 35"/>
          <p:cNvSpPr txBox="1">
            <a:spLocks noChangeArrowheads="1"/>
          </p:cNvSpPr>
          <p:nvPr/>
        </p:nvSpPr>
        <p:spPr bwMode="auto">
          <a:xfrm>
            <a:off x="6096000" y="4953000"/>
            <a:ext cx="1219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D</a:t>
            </a:r>
            <a:endParaRPr lang="en-US" altLang="zh-CN" sz="2400" dirty="0">
              <a:latin typeface="Times New Roman" panose="02020603050405020304" pitchFamily="18" charset="0"/>
              <a:ea typeface="华文楷体" panose="02010600040101010101" pitchFamily="2" charset="-122"/>
            </a:endParaRPr>
          </a:p>
        </p:txBody>
      </p:sp>
      <p:sp>
        <p:nvSpPr>
          <p:cNvPr id="13349" name="Text Box 36"/>
          <p:cNvSpPr txBox="1">
            <a:spLocks noChangeArrowheads="1"/>
          </p:cNvSpPr>
          <p:nvPr/>
        </p:nvSpPr>
        <p:spPr bwMode="auto">
          <a:xfrm>
            <a:off x="6858000" y="5791200"/>
            <a:ext cx="12954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E      ^ </a:t>
            </a:r>
            <a:endParaRPr lang="en-US" altLang="zh-CN" sz="2400" dirty="0">
              <a:latin typeface="Times New Roman" panose="02020603050405020304" pitchFamily="18" charset="0"/>
              <a:ea typeface="华文楷体" panose="02010600040101010101" pitchFamily="2" charset="-122"/>
            </a:endParaRPr>
          </a:p>
        </p:txBody>
      </p:sp>
      <p:sp>
        <p:nvSpPr>
          <p:cNvPr id="13350" name="Line 37"/>
          <p:cNvSpPr>
            <a:spLocks noChangeShapeType="1"/>
          </p:cNvSpPr>
          <p:nvPr/>
        </p:nvSpPr>
        <p:spPr bwMode="auto">
          <a:xfrm>
            <a:off x="60198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1" name="Line 38"/>
          <p:cNvSpPr>
            <a:spLocks noChangeShapeType="1"/>
          </p:cNvSpPr>
          <p:nvPr/>
        </p:nvSpPr>
        <p:spPr bwMode="auto">
          <a:xfrm>
            <a:off x="64008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2" name="Line 39"/>
          <p:cNvSpPr>
            <a:spLocks noChangeShapeType="1"/>
          </p:cNvSpPr>
          <p:nvPr/>
        </p:nvSpPr>
        <p:spPr bwMode="auto">
          <a:xfrm>
            <a:off x="67056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3" name="Line 40"/>
          <p:cNvSpPr>
            <a:spLocks noChangeShapeType="1"/>
          </p:cNvSpPr>
          <p:nvPr/>
        </p:nvSpPr>
        <p:spPr bwMode="auto">
          <a:xfrm flipH="1">
            <a:off x="5410200" y="3505200"/>
            <a:ext cx="4572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4" name="Line 41"/>
          <p:cNvSpPr>
            <a:spLocks noChangeShapeType="1"/>
          </p:cNvSpPr>
          <p:nvPr/>
        </p:nvSpPr>
        <p:spPr bwMode="auto">
          <a:xfrm>
            <a:off x="6858000" y="3429000"/>
            <a:ext cx="990600" cy="685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5" name="Line 42"/>
          <p:cNvSpPr>
            <a:spLocks noChangeShapeType="1"/>
          </p:cNvSpPr>
          <p:nvPr/>
        </p:nvSpPr>
        <p:spPr bwMode="auto">
          <a:xfrm>
            <a:off x="51816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6" name="Line 43"/>
          <p:cNvSpPr>
            <a:spLocks noChangeShapeType="1"/>
          </p:cNvSpPr>
          <p:nvPr/>
        </p:nvSpPr>
        <p:spPr bwMode="auto">
          <a:xfrm>
            <a:off x="54864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7" name="Line 44"/>
          <p:cNvSpPr>
            <a:spLocks noChangeShapeType="1"/>
          </p:cNvSpPr>
          <p:nvPr/>
        </p:nvSpPr>
        <p:spPr bwMode="auto">
          <a:xfrm>
            <a:off x="57912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8" name="Line 45"/>
          <p:cNvSpPr>
            <a:spLocks noChangeShapeType="1"/>
          </p:cNvSpPr>
          <p:nvPr/>
        </p:nvSpPr>
        <p:spPr bwMode="auto">
          <a:xfrm>
            <a:off x="69342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59" name="Line 46"/>
          <p:cNvSpPr>
            <a:spLocks noChangeShapeType="1"/>
          </p:cNvSpPr>
          <p:nvPr/>
        </p:nvSpPr>
        <p:spPr bwMode="auto">
          <a:xfrm>
            <a:off x="73152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0" name="Line 47"/>
          <p:cNvSpPr>
            <a:spLocks noChangeShapeType="1"/>
          </p:cNvSpPr>
          <p:nvPr/>
        </p:nvSpPr>
        <p:spPr bwMode="auto">
          <a:xfrm>
            <a:off x="7620000" y="4114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1" name="Line 48"/>
          <p:cNvSpPr>
            <a:spLocks noChangeShapeType="1"/>
          </p:cNvSpPr>
          <p:nvPr/>
        </p:nvSpPr>
        <p:spPr bwMode="auto">
          <a:xfrm flipV="1">
            <a:off x="5638800" y="3657600"/>
            <a:ext cx="609600" cy="6858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2" name="Line 49"/>
          <p:cNvSpPr>
            <a:spLocks noChangeShapeType="1"/>
          </p:cNvSpPr>
          <p:nvPr/>
        </p:nvSpPr>
        <p:spPr bwMode="auto">
          <a:xfrm flipH="1" flipV="1">
            <a:off x="6477000" y="3657600"/>
            <a:ext cx="990600" cy="6096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3" name="Line 50"/>
          <p:cNvSpPr>
            <a:spLocks noChangeShapeType="1"/>
          </p:cNvSpPr>
          <p:nvPr/>
        </p:nvSpPr>
        <p:spPr bwMode="auto">
          <a:xfrm flipH="1">
            <a:off x="6553200" y="4343400"/>
            <a:ext cx="2286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4" name="Line 51"/>
          <p:cNvSpPr>
            <a:spLocks noChangeShapeType="1"/>
          </p:cNvSpPr>
          <p:nvPr/>
        </p:nvSpPr>
        <p:spPr bwMode="auto">
          <a:xfrm>
            <a:off x="6400800" y="4953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5" name="Line 52"/>
          <p:cNvSpPr>
            <a:spLocks noChangeShapeType="1"/>
          </p:cNvSpPr>
          <p:nvPr/>
        </p:nvSpPr>
        <p:spPr bwMode="auto">
          <a:xfrm>
            <a:off x="6781800" y="4953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6" name="Line 53"/>
          <p:cNvSpPr>
            <a:spLocks noChangeShapeType="1"/>
          </p:cNvSpPr>
          <p:nvPr/>
        </p:nvSpPr>
        <p:spPr bwMode="auto">
          <a:xfrm>
            <a:off x="7086600" y="4953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7" name="Line 54"/>
          <p:cNvSpPr>
            <a:spLocks noChangeShapeType="1"/>
          </p:cNvSpPr>
          <p:nvPr/>
        </p:nvSpPr>
        <p:spPr bwMode="auto">
          <a:xfrm flipV="1">
            <a:off x="6934200" y="4572000"/>
            <a:ext cx="304800" cy="6096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8" name="Line 55"/>
          <p:cNvSpPr>
            <a:spLocks noChangeShapeType="1"/>
          </p:cNvSpPr>
          <p:nvPr/>
        </p:nvSpPr>
        <p:spPr bwMode="auto">
          <a:xfrm>
            <a:off x="7239000" y="5181600"/>
            <a:ext cx="6858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69" name="Line 56"/>
          <p:cNvSpPr>
            <a:spLocks noChangeShapeType="1"/>
          </p:cNvSpPr>
          <p:nvPr/>
        </p:nvSpPr>
        <p:spPr bwMode="auto">
          <a:xfrm>
            <a:off x="7162800" y="579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70" name="Line 57"/>
          <p:cNvSpPr>
            <a:spLocks noChangeShapeType="1"/>
          </p:cNvSpPr>
          <p:nvPr/>
        </p:nvSpPr>
        <p:spPr bwMode="auto">
          <a:xfrm>
            <a:off x="7467600" y="579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71" name="Line 58"/>
          <p:cNvSpPr>
            <a:spLocks noChangeShapeType="1"/>
          </p:cNvSpPr>
          <p:nvPr/>
        </p:nvSpPr>
        <p:spPr bwMode="auto">
          <a:xfrm>
            <a:off x="7772400" y="579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72" name="Line 59"/>
          <p:cNvSpPr>
            <a:spLocks noChangeShapeType="1"/>
          </p:cNvSpPr>
          <p:nvPr/>
        </p:nvSpPr>
        <p:spPr bwMode="auto">
          <a:xfrm flipH="1" flipV="1">
            <a:off x="6705600" y="5410200"/>
            <a:ext cx="914400" cy="6096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73" name="Text Box 60"/>
          <p:cNvSpPr txBox="1">
            <a:spLocks noChangeArrowheads="1"/>
          </p:cNvSpPr>
          <p:nvPr/>
        </p:nvSpPr>
        <p:spPr bwMode="auto">
          <a:xfrm>
            <a:off x="1219200" y="3048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err="1">
                <a:latin typeface="Times New Roman" panose="02020603050405020304" pitchFamily="18" charset="0"/>
                <a:ea typeface="华文楷体" panose="02010600040101010101" pitchFamily="2" charset="-122"/>
              </a:rPr>
              <a:t>bt</a:t>
            </a:r>
            <a:endParaRPr lang="en-US" altLang="zh-CN" sz="2400" dirty="0">
              <a:latin typeface="Times New Roman" panose="02020603050405020304" pitchFamily="18" charset="0"/>
              <a:ea typeface="华文楷体" panose="02010600040101010101" pitchFamily="2" charset="-122"/>
            </a:endParaRPr>
          </a:p>
        </p:txBody>
      </p:sp>
      <p:sp>
        <p:nvSpPr>
          <p:cNvPr id="13374" name="Line 61"/>
          <p:cNvSpPr>
            <a:spLocks noChangeShapeType="1"/>
          </p:cNvSpPr>
          <p:nvPr/>
        </p:nvSpPr>
        <p:spPr bwMode="auto">
          <a:xfrm>
            <a:off x="1600200" y="3352800"/>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75" name="Line 62"/>
          <p:cNvSpPr>
            <a:spLocks noChangeShapeType="1"/>
          </p:cNvSpPr>
          <p:nvPr/>
        </p:nvSpPr>
        <p:spPr bwMode="auto">
          <a:xfrm>
            <a:off x="5410200" y="3276600"/>
            <a:ext cx="304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3376" name="Text Box 63"/>
          <p:cNvSpPr txBox="1">
            <a:spLocks noChangeArrowheads="1"/>
          </p:cNvSpPr>
          <p:nvPr/>
        </p:nvSpPr>
        <p:spPr bwMode="auto">
          <a:xfrm>
            <a:off x="5029200" y="30480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err="1">
                <a:latin typeface="Times New Roman" panose="02020603050405020304" pitchFamily="18" charset="0"/>
                <a:ea typeface="华文楷体" panose="02010600040101010101" pitchFamily="2" charset="-122"/>
              </a:rPr>
              <a:t>bt</a:t>
            </a:r>
            <a:endParaRPr lang="en-US" altLang="zh-CN" sz="2400" b="1" dirty="0">
              <a:latin typeface="Times New Roman" panose="02020603050405020304" pitchFamily="18" charset="0"/>
              <a:ea typeface="华文楷体" panose="02010600040101010101" pitchFamily="2" charset="-122"/>
            </a:endParaRPr>
          </a:p>
        </p:txBody>
      </p:sp>
      <p:sp>
        <p:nvSpPr>
          <p:cNvPr id="19523" name="Text Box 67"/>
          <p:cNvSpPr txBox="1">
            <a:spLocks noChangeArrowheads="1"/>
          </p:cNvSpPr>
          <p:nvPr/>
        </p:nvSpPr>
        <p:spPr bwMode="auto">
          <a:xfrm>
            <a:off x="57230" y="5458361"/>
            <a:ext cx="2438400" cy="1323439"/>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zh-CN" altLang="en-US" sz="1600" b="1" dirty="0">
                <a:solidFill>
                  <a:srgbClr val="A41506"/>
                </a:solidFill>
                <a:latin typeface="Times New Roman" panose="02020603050405020304" pitchFamily="18" charset="0"/>
                <a:ea typeface="华文楷体" panose="02010600040101010101" pitchFamily="2" charset="-122"/>
              </a:rPr>
              <a:t>结论</a:t>
            </a:r>
            <a:r>
              <a:rPr lang="en-US" altLang="zh-CN" sz="1600" b="1" dirty="0">
                <a:latin typeface="Times New Roman" panose="02020603050405020304" pitchFamily="18" charset="0"/>
                <a:ea typeface="华文楷体" panose="02010600040101010101" pitchFamily="2" charset="-122"/>
              </a:rPr>
              <a:t>: </a:t>
            </a:r>
            <a:r>
              <a:rPr lang="zh-CN" altLang="en-US" sz="1600" b="1" dirty="0">
                <a:latin typeface="Times New Roman" panose="02020603050405020304" pitchFamily="18" charset="0"/>
                <a:ea typeface="华文楷体" panose="02010600040101010101" pitchFamily="2" charset="-122"/>
              </a:rPr>
              <a:t>若一个二叉树含有</a:t>
            </a:r>
            <a:r>
              <a:rPr lang="en-US" altLang="zh-CN" sz="1600" b="1" dirty="0">
                <a:latin typeface="Times New Roman" panose="02020603050405020304" pitchFamily="18" charset="0"/>
                <a:ea typeface="华文楷体" panose="02010600040101010101" pitchFamily="2" charset="-122"/>
              </a:rPr>
              <a:t>n</a:t>
            </a:r>
            <a:r>
              <a:rPr lang="zh-CN" altLang="en-US" sz="1600" b="1" dirty="0">
                <a:latin typeface="Times New Roman" panose="02020603050405020304" pitchFamily="18" charset="0"/>
                <a:ea typeface="华文楷体" panose="02010600040101010101" pitchFamily="2" charset="-122"/>
              </a:rPr>
              <a:t>个结点，则它的二叉链表中必含有</a:t>
            </a:r>
            <a:r>
              <a:rPr lang="en-US" altLang="zh-CN" sz="1600" b="1" dirty="0">
                <a:latin typeface="Times New Roman" panose="02020603050405020304" pitchFamily="18" charset="0"/>
                <a:ea typeface="华文楷体" panose="02010600040101010101" pitchFamily="2" charset="-122"/>
              </a:rPr>
              <a:t>2n</a:t>
            </a:r>
            <a:r>
              <a:rPr lang="zh-CN" altLang="en-US" sz="1600" b="1" dirty="0">
                <a:latin typeface="Times New Roman" panose="02020603050405020304" pitchFamily="18" charset="0"/>
                <a:ea typeface="华文楷体" panose="02010600040101010101" pitchFamily="2" charset="-122"/>
              </a:rPr>
              <a:t>个指针域， 其中必有</a:t>
            </a:r>
            <a:r>
              <a:rPr lang="en-US" altLang="zh-CN" sz="1600" b="1" dirty="0">
                <a:latin typeface="Times New Roman" panose="02020603050405020304" pitchFamily="18" charset="0"/>
                <a:ea typeface="华文楷体" panose="02010600040101010101" pitchFamily="2" charset="-122"/>
              </a:rPr>
              <a:t>n</a:t>
            </a:r>
            <a:r>
              <a:rPr lang="zh-CN" altLang="en-US" sz="1600" b="1" dirty="0">
                <a:latin typeface="Times New Roman" panose="02020603050405020304" pitchFamily="18" charset="0"/>
                <a:ea typeface="华文楷体" panose="02010600040101010101" pitchFamily="2" charset="-122"/>
              </a:rPr>
              <a:t>＋</a:t>
            </a:r>
            <a:r>
              <a:rPr lang="en-US" altLang="zh-CN" sz="1600" b="1" dirty="0">
                <a:latin typeface="Times New Roman" panose="02020603050405020304" pitchFamily="18" charset="0"/>
                <a:ea typeface="华文楷体" panose="02010600040101010101" pitchFamily="2" charset="-122"/>
              </a:rPr>
              <a:t>1</a:t>
            </a:r>
            <a:r>
              <a:rPr lang="zh-CN" altLang="en-US" sz="1600" b="1" dirty="0">
                <a:latin typeface="Times New Roman" panose="02020603050405020304" pitchFamily="18" charset="0"/>
                <a:ea typeface="华文楷体" panose="02010600040101010101" pitchFamily="2" charset="-122"/>
              </a:rPr>
              <a:t>个空的链域。</a:t>
            </a:r>
            <a:endParaRPr lang="zh-CN" altLang="en-US" sz="1600" b="1" dirty="0">
              <a:latin typeface="Times New Roman" panose="02020603050405020304" pitchFamily="18" charset="0"/>
              <a:ea typeface="华文楷体" panose="02010600040101010101" pitchFamily="2" charset="-122"/>
            </a:endParaRPr>
          </a:p>
        </p:txBody>
      </p:sp>
      <p:cxnSp>
        <p:nvCxnSpPr>
          <p:cNvPr id="3" name="直接连接符 2"/>
          <p:cNvCxnSpPr>
            <a:stCxn id="65" idx="2"/>
          </p:cNvCxnSpPr>
          <p:nvPr/>
        </p:nvCxnSpPr>
        <p:spPr bwMode="auto">
          <a:xfrm>
            <a:off x="4243388" y="1066800"/>
            <a:ext cx="0" cy="5715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9523"/>
                                        </p:tgtEl>
                                        <p:attrNameLst>
                                          <p:attrName>style.visibility</p:attrName>
                                        </p:attrNameLst>
                                      </p:cBhvr>
                                      <p:to>
                                        <p:strVal val="visible"/>
                                      </p:to>
                                    </p:set>
                                    <p:animEffect transition="in" filter="diamond(in)">
                                      <p:cBhvr>
                                        <p:cTn id="7" dur="2000"/>
                                        <p:tgtEl>
                                          <p:spTgt spid="19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1434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4341" name="Rectangle 4"/>
          <p:cNvSpPr>
            <a:spLocks noGrp="1" noChangeArrowheads="1"/>
          </p:cNvSpPr>
          <p:nvPr>
            <p:ph idx="1"/>
          </p:nvPr>
        </p:nvSpPr>
        <p:spPr>
          <a:xfrm>
            <a:off x="381000" y="1219200"/>
            <a:ext cx="3962406" cy="5105400"/>
          </a:xfrm>
          <a:ln>
            <a:solidFill>
              <a:schemeClr val="accent1"/>
            </a:solidFill>
          </a:ln>
        </p:spPr>
        <p:txBody>
          <a:bodyPr/>
          <a:lstStyle/>
          <a:p>
            <a:pPr eaLnBrk="1" hangingPunct="1">
              <a:buFont typeface="Wingdings" panose="05000000000000000000" pitchFamily="2" charset="2"/>
              <a:buNone/>
            </a:pPr>
            <a:r>
              <a:rPr lang="zh-CN" altLang="en-US" sz="2800" dirty="0" smtClean="0">
                <a:solidFill>
                  <a:srgbClr val="A41506"/>
                </a:solidFill>
                <a:ea typeface="华文楷体" panose="02010600040101010101" pitchFamily="2" charset="-122"/>
              </a:rPr>
              <a:t>二叉链表的类型定义</a:t>
            </a:r>
            <a:endParaRPr lang="zh-CN" altLang="en-US" sz="2800" dirty="0" smtClean="0">
              <a:solidFill>
                <a:srgbClr val="A41506"/>
              </a:solidFill>
              <a:ea typeface="华文楷体" panose="02010600040101010101" pitchFamily="2" charset="-122"/>
            </a:endParaRPr>
          </a:p>
          <a:p>
            <a:pPr eaLnBrk="1" hangingPunct="1">
              <a:buFont typeface="Wingdings" panose="05000000000000000000" pitchFamily="2" charset="2"/>
              <a:buNone/>
            </a:pPr>
            <a:r>
              <a:rPr lang="en-US" altLang="zh-CN" sz="2000" dirty="0" err="1" smtClean="0">
                <a:ea typeface="华文楷体" panose="02010600040101010101" pitchFamily="2" charset="-122"/>
                <a:sym typeface="Symbol" panose="05050102010706020507" pitchFamily="18" charset="2"/>
              </a:rPr>
              <a:t>struct</a:t>
            </a:r>
            <a:r>
              <a:rPr lang="en-US" altLang="zh-CN" sz="2000" dirty="0" smtClean="0">
                <a:ea typeface="华文楷体" panose="02010600040101010101" pitchFamily="2" charset="-122"/>
                <a:sym typeface="Symbol" panose="05050102010706020507" pitchFamily="18" charset="2"/>
              </a:rPr>
              <a:t> </a:t>
            </a:r>
            <a:r>
              <a:rPr lang="en-US" altLang="zh-CN" sz="2000" dirty="0" err="1" smtClean="0">
                <a:ea typeface="华文楷体" panose="02010600040101010101" pitchFamily="2" charset="-122"/>
                <a:sym typeface="Symbol" panose="05050102010706020507" pitchFamily="18" charset="2"/>
              </a:rPr>
              <a:t>btnode</a:t>
            </a:r>
            <a:endParaRPr lang="en-US" altLang="zh-CN" sz="20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a:t>
            </a:r>
            <a:endParaRPr lang="en-US" altLang="zh-CN" sz="2000" dirty="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a:t>
            </a:r>
            <a:r>
              <a:rPr lang="en-US" altLang="zh-CN" sz="2000" dirty="0" err="1" smtClean="0">
                <a:ea typeface="华文楷体" panose="02010600040101010101" pitchFamily="2" charset="-122"/>
                <a:sym typeface="Symbol" panose="05050102010706020507" pitchFamily="18" charset="2"/>
              </a:rPr>
              <a:t>struct</a:t>
            </a:r>
            <a:r>
              <a:rPr lang="en-US" altLang="zh-CN" sz="2000" dirty="0" smtClean="0">
                <a:ea typeface="华文楷体" panose="02010600040101010101" pitchFamily="2" charset="-122"/>
                <a:sym typeface="Symbol" panose="05050102010706020507" pitchFamily="18" charset="2"/>
              </a:rPr>
              <a:t> </a:t>
            </a:r>
            <a:r>
              <a:rPr lang="en-US" altLang="zh-CN" sz="2000" dirty="0" err="1">
                <a:ea typeface="华文楷体" panose="02010600040101010101" pitchFamily="2" charset="-122"/>
                <a:sym typeface="Symbol" panose="05050102010706020507" pitchFamily="18" charset="2"/>
              </a:rPr>
              <a:t>btnode</a:t>
            </a:r>
            <a:r>
              <a:rPr lang="en-US" altLang="zh-CN" sz="2000" dirty="0">
                <a:ea typeface="华文楷体" panose="02010600040101010101" pitchFamily="2" charset="-122"/>
                <a:sym typeface="Symbol" panose="05050102010706020507" pitchFamily="18" charset="2"/>
              </a:rPr>
              <a:t> </a:t>
            </a:r>
            <a:r>
              <a:rPr lang="en-US" altLang="zh-CN" sz="2000" dirty="0" smtClean="0">
                <a:ea typeface="华文楷体" panose="02010600040101010101" pitchFamily="2" charset="-122"/>
                <a:sym typeface="Symbol" panose="05050102010706020507" pitchFamily="18" charset="2"/>
              </a:rPr>
              <a:t>*</a:t>
            </a:r>
            <a:r>
              <a:rPr lang="en-US" altLang="zh-CN" sz="2000" dirty="0" err="1" smtClean="0">
                <a:ea typeface="华文楷体" panose="02010600040101010101" pitchFamily="2" charset="-122"/>
                <a:sym typeface="Symbol" panose="05050102010706020507" pitchFamily="18" charset="2"/>
              </a:rPr>
              <a:t>lc</a:t>
            </a:r>
            <a:r>
              <a:rPr lang="en-US" altLang="zh-CN"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a:p>
            <a:pPr eaLnBrk="1" hangingPunct="1">
              <a:buNone/>
            </a:pPr>
            <a:r>
              <a:rPr lang="en-US" altLang="zh-CN" sz="2000" dirty="0" smtClean="0">
                <a:ea typeface="华文楷体" panose="02010600040101010101" pitchFamily="2" charset="-122"/>
                <a:sym typeface="Symbol" panose="05050102010706020507" pitchFamily="18" charset="2"/>
              </a:rPr>
              <a:t>    </a:t>
            </a:r>
            <a:r>
              <a:rPr lang="en-US" altLang="zh-CN" sz="2000" dirty="0" err="1" smtClean="0">
                <a:ea typeface="华文楷体" panose="02010600040101010101" pitchFamily="2" charset="-122"/>
                <a:sym typeface="Symbol" panose="05050102010706020507" pitchFamily="18" charset="2"/>
              </a:rPr>
              <a:t>struct</a:t>
            </a:r>
            <a:r>
              <a:rPr lang="en-US" altLang="zh-CN" sz="2000" dirty="0" smtClean="0">
                <a:ea typeface="华文楷体" panose="02010600040101010101" pitchFamily="2" charset="-122"/>
                <a:sym typeface="Symbol" panose="05050102010706020507" pitchFamily="18" charset="2"/>
              </a:rPr>
              <a:t> </a:t>
            </a:r>
            <a:r>
              <a:rPr lang="en-US" altLang="zh-CN" sz="2000" dirty="0" err="1">
                <a:ea typeface="华文楷体" panose="02010600040101010101" pitchFamily="2" charset="-122"/>
                <a:sym typeface="Symbol" panose="05050102010706020507" pitchFamily="18" charset="2"/>
              </a:rPr>
              <a:t>btnode</a:t>
            </a:r>
            <a:r>
              <a:rPr lang="en-US" altLang="zh-CN" sz="2000" dirty="0">
                <a:ea typeface="华文楷体" panose="02010600040101010101" pitchFamily="2" charset="-122"/>
                <a:sym typeface="Symbol" panose="05050102010706020507" pitchFamily="18" charset="2"/>
              </a:rPr>
              <a:t> </a:t>
            </a:r>
            <a:r>
              <a:rPr lang="en-US" altLang="zh-CN" sz="2000" dirty="0" smtClean="0">
                <a:ea typeface="华文楷体" panose="02010600040101010101" pitchFamily="2" charset="-122"/>
                <a:sym typeface="Symbol" panose="05050102010706020507" pitchFamily="18" charset="2"/>
              </a:rPr>
              <a:t>*</a:t>
            </a:r>
            <a:r>
              <a:rPr lang="en-US" altLang="zh-CN" sz="2000" dirty="0" err="1" smtClean="0">
                <a:ea typeface="华文楷体" panose="02010600040101010101" pitchFamily="2" charset="-122"/>
                <a:sym typeface="Symbol" panose="05050102010706020507" pitchFamily="18" charset="2"/>
              </a:rPr>
              <a:t>rc</a:t>
            </a:r>
            <a:r>
              <a:rPr lang="en-US" altLang="zh-CN"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a:t>
            </a:r>
            <a:r>
              <a:rPr lang="en-US" altLang="zh-CN" sz="2000" dirty="0" err="1" smtClean="0">
                <a:ea typeface="华文楷体" panose="02010600040101010101" pitchFamily="2" charset="-122"/>
                <a:sym typeface="Symbol" panose="05050102010706020507" pitchFamily="18" charset="2"/>
              </a:rPr>
              <a:t>elemtype</a:t>
            </a:r>
            <a:r>
              <a:rPr lang="en-US" altLang="zh-CN" sz="2000" dirty="0" smtClean="0">
                <a:ea typeface="华文楷体" panose="02010600040101010101" pitchFamily="2" charset="-122"/>
                <a:sym typeface="Symbol" panose="05050102010706020507" pitchFamily="18" charset="2"/>
              </a:rPr>
              <a:t>  data;</a:t>
            </a:r>
            <a:endParaRPr lang="en-US" altLang="zh-CN" sz="20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a:t>
            </a:r>
            <a:endParaRPr lang="en-US" altLang="zh-CN" sz="2000" dirty="0" smtClean="0">
              <a:ea typeface="华文楷体" panose="02010600040101010101" pitchFamily="2" charset="-122"/>
              <a:sym typeface="Symbol" panose="05050102010706020507" pitchFamily="18" charset="2"/>
            </a:endParaRPr>
          </a:p>
          <a:p>
            <a:pPr eaLnBrk="1" hangingPunct="1">
              <a:buNone/>
            </a:pPr>
            <a:r>
              <a:rPr lang="en-US" altLang="zh-CN" sz="2000" dirty="0" err="1">
                <a:ea typeface="华文楷体" panose="02010600040101010101" pitchFamily="2" charset="-122"/>
                <a:sym typeface="Symbol" panose="05050102010706020507" pitchFamily="18" charset="2"/>
              </a:rPr>
              <a:t>typedef</a:t>
            </a:r>
            <a:r>
              <a:rPr lang="en-US" altLang="zh-CN" sz="2000" dirty="0">
                <a:ea typeface="华文楷体" panose="02010600040101010101" pitchFamily="2" charset="-122"/>
                <a:sym typeface="Symbol" panose="05050102010706020507" pitchFamily="18" charset="2"/>
              </a:rPr>
              <a:t> </a:t>
            </a:r>
            <a:r>
              <a:rPr lang="en-US" altLang="zh-CN" sz="2000" dirty="0" err="1">
                <a:ea typeface="华文楷体" panose="02010600040101010101" pitchFamily="2" charset="-122"/>
                <a:sym typeface="Symbol" panose="05050102010706020507" pitchFamily="18" charset="2"/>
              </a:rPr>
              <a:t>struct</a:t>
            </a:r>
            <a:r>
              <a:rPr lang="en-US" altLang="zh-CN" sz="2000" dirty="0">
                <a:ea typeface="华文楷体" panose="02010600040101010101" pitchFamily="2" charset="-122"/>
                <a:sym typeface="Symbol" panose="05050102010706020507" pitchFamily="18" charset="2"/>
              </a:rPr>
              <a:t> </a:t>
            </a:r>
            <a:r>
              <a:rPr lang="en-US" altLang="zh-CN" sz="2000" dirty="0" err="1">
                <a:ea typeface="华文楷体" panose="02010600040101010101" pitchFamily="2" charset="-122"/>
                <a:sym typeface="Symbol" panose="05050102010706020507" pitchFamily="18" charset="2"/>
              </a:rPr>
              <a:t>btnode</a:t>
            </a:r>
            <a:r>
              <a:rPr lang="en-US" altLang="zh-CN" sz="2000" dirty="0">
                <a:ea typeface="华文楷体" panose="02010600040101010101" pitchFamily="2" charset="-122"/>
                <a:sym typeface="Symbol" panose="05050102010706020507" pitchFamily="18" charset="2"/>
              </a:rPr>
              <a:t> *</a:t>
            </a:r>
            <a:r>
              <a:rPr lang="en-US" altLang="zh-CN" sz="2000" dirty="0" err="1">
                <a:ea typeface="华文楷体" panose="02010600040101010101" pitchFamily="2" charset="-122"/>
                <a:sym typeface="Symbol" panose="05050102010706020507" pitchFamily="18" charset="2"/>
              </a:rPr>
              <a:t>PtrToNode</a:t>
            </a:r>
            <a:r>
              <a:rPr lang="en-US" altLang="zh-CN" sz="2000" dirty="0">
                <a:ea typeface="华文楷体" panose="02010600040101010101" pitchFamily="2" charset="-122"/>
                <a:sym typeface="Symbol" panose="05050102010706020507" pitchFamily="18" charset="2"/>
              </a:rPr>
              <a:t>;</a:t>
            </a:r>
            <a:endParaRPr lang="en-US" altLang="zh-CN" sz="2000" dirty="0">
              <a:ea typeface="华文楷体" panose="02010600040101010101" pitchFamily="2" charset="-122"/>
              <a:sym typeface="Symbol" panose="05050102010706020507" pitchFamily="18" charset="2"/>
            </a:endParaRPr>
          </a:p>
          <a:p>
            <a:pPr eaLnBrk="1" hangingPunct="1">
              <a:buNone/>
            </a:pPr>
            <a:r>
              <a:rPr lang="en-US" altLang="zh-CN" sz="2000" dirty="0" err="1">
                <a:ea typeface="华文楷体" panose="02010600040101010101" pitchFamily="2" charset="-122"/>
                <a:sym typeface="Symbol" panose="05050102010706020507" pitchFamily="18" charset="2"/>
              </a:rPr>
              <a:t>typedef</a:t>
            </a:r>
            <a:r>
              <a:rPr lang="en-US" altLang="zh-CN" sz="2000" dirty="0">
                <a:ea typeface="华文楷体" panose="02010600040101010101" pitchFamily="2" charset="-122"/>
                <a:sym typeface="Symbol" panose="05050102010706020507" pitchFamily="18" charset="2"/>
              </a:rPr>
              <a:t> </a:t>
            </a:r>
            <a:r>
              <a:rPr lang="en-US" altLang="zh-CN" sz="2000" dirty="0" err="1">
                <a:ea typeface="华文楷体" panose="02010600040101010101" pitchFamily="2" charset="-122"/>
                <a:sym typeface="Symbol" panose="05050102010706020507" pitchFamily="18" charset="2"/>
              </a:rPr>
              <a:t>PtrToNode</a:t>
            </a:r>
            <a:r>
              <a:rPr lang="en-US" altLang="zh-CN" sz="2000" dirty="0">
                <a:ea typeface="华文楷体" panose="02010600040101010101" pitchFamily="2" charset="-122"/>
                <a:sym typeface="Symbol" panose="05050102010706020507" pitchFamily="18" charset="2"/>
              </a:rPr>
              <a:t> </a:t>
            </a:r>
            <a:r>
              <a:rPr lang="en-US" altLang="zh-CN" sz="2000" dirty="0" err="1">
                <a:ea typeface="华文楷体" panose="02010600040101010101" pitchFamily="2" charset="-122"/>
              </a:rPr>
              <a:t>BiTree</a:t>
            </a:r>
            <a:r>
              <a:rPr lang="en-US" altLang="zh-CN" sz="2000" dirty="0">
                <a:ea typeface="华文楷体" panose="02010600040101010101" pitchFamily="2" charset="-122"/>
                <a:sym typeface="Symbol" panose="05050102010706020507" pitchFamily="18" charset="2"/>
              </a:rPr>
              <a:t>;</a:t>
            </a:r>
            <a:endParaRPr lang="en-US" altLang="zh-CN" sz="2000" dirty="0">
              <a:ea typeface="华文楷体" panose="02010600040101010101" pitchFamily="2" charset="-122"/>
              <a:sym typeface="Symbol" panose="05050102010706020507" pitchFamily="18" charset="2"/>
            </a:endParaRPr>
          </a:p>
          <a:p>
            <a:pPr eaLnBrk="1" hangingPunct="1">
              <a:buNone/>
            </a:pPr>
            <a:endParaRPr lang="en-US" altLang="zh-CN" sz="2000" dirty="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en-US" altLang="zh-CN" sz="2800" b="1" dirty="0" smtClean="0">
              <a:ea typeface="华文楷体" panose="02010600040101010101" pitchFamily="2" charset="-122"/>
            </a:endParaRPr>
          </a:p>
        </p:txBody>
      </p:sp>
      <p:sp>
        <p:nvSpPr>
          <p:cNvPr id="14342" name="Rectangle 5"/>
          <p:cNvSpPr>
            <a:spLocks noChangeArrowheads="1"/>
          </p:cNvSpPr>
          <p:nvPr/>
        </p:nvSpPr>
        <p:spPr bwMode="auto">
          <a:xfrm>
            <a:off x="4876800" y="1219200"/>
            <a:ext cx="4114684" cy="51054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zh-CN" altLang="en-US" sz="2800" dirty="0">
                <a:solidFill>
                  <a:srgbClr val="A41506"/>
                </a:solidFill>
                <a:latin typeface="Times New Roman" panose="02020603050405020304" pitchFamily="18" charset="0"/>
                <a:ea typeface="华文楷体" panose="02010600040101010101" pitchFamily="2" charset="-122"/>
              </a:rPr>
              <a:t>三叉链表的类型定义</a:t>
            </a:r>
            <a:endParaRPr lang="zh-CN" altLang="en-US" sz="2800" dirty="0">
              <a:solidFill>
                <a:srgbClr val="A41506"/>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err="1" smtClean="0">
                <a:latin typeface="Times New Roman" panose="02020603050405020304" pitchFamily="18" charset="0"/>
                <a:ea typeface="华文楷体" panose="02010600040101010101" pitchFamily="2" charset="-122"/>
              </a:rPr>
              <a:t>typedef</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err="1">
                <a:latin typeface="Times New Roman" panose="02020603050405020304" pitchFamily="18" charset="0"/>
                <a:ea typeface="华文楷体" panose="02010600040101010101" pitchFamily="2" charset="-122"/>
              </a:rPr>
              <a:t>struct</a:t>
            </a:r>
            <a:r>
              <a:rPr lang="en-US" altLang="zh-CN" sz="2400" dirty="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btnode</a:t>
            </a:r>
            <a:endParaRPr lang="en-US" altLang="zh-CN" sz="24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smtClean="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struct</a:t>
            </a:r>
            <a:r>
              <a:rPr lang="en-US" altLang="zh-CN" sz="2400" dirty="0" smtClean="0">
                <a:ea typeface="华文楷体" panose="02010600040101010101" pitchFamily="2" charset="-122"/>
              </a:rPr>
              <a:t> </a:t>
            </a:r>
            <a:r>
              <a:rPr lang="en-US" altLang="zh-CN" sz="2400" dirty="0" err="1">
                <a:ea typeface="华文楷体" panose="02010600040101010101" pitchFamily="2" charset="-122"/>
              </a:rPr>
              <a:t>btnode</a:t>
            </a:r>
            <a:r>
              <a:rPr lang="en-US" altLang="zh-CN" sz="2400" dirty="0" smtClean="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a:t>
            </a:r>
            <a:r>
              <a:rPr lang="en-US" altLang="zh-CN" sz="2400" dirty="0" err="1" smtClean="0">
                <a:latin typeface="Times New Roman" panose="02020603050405020304" pitchFamily="18" charset="0"/>
                <a:ea typeface="华文楷体" panose="02010600040101010101" pitchFamily="2" charset="-122"/>
              </a:rPr>
              <a:t>lc</a:t>
            </a:r>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pPr eaLnBrk="1" hangingPunct="1">
              <a:buNone/>
            </a:pP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en-US" altLang="zh-CN" sz="2400" dirty="0" err="1">
                <a:ea typeface="华文楷体" panose="02010600040101010101" pitchFamily="2" charset="-122"/>
              </a:rPr>
              <a:t>struct</a:t>
            </a:r>
            <a:r>
              <a:rPr lang="en-US" altLang="zh-CN" sz="2400" dirty="0">
                <a:ea typeface="华文楷体" panose="02010600040101010101" pitchFamily="2" charset="-122"/>
              </a:rPr>
              <a:t> </a:t>
            </a:r>
            <a:r>
              <a:rPr lang="en-US" altLang="zh-CN" sz="2400" dirty="0" err="1">
                <a:ea typeface="华文楷体" panose="02010600040101010101" pitchFamily="2" charset="-122"/>
              </a:rPr>
              <a:t>btnode</a:t>
            </a: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a:t>
            </a:r>
            <a:r>
              <a:rPr lang="en-US" altLang="zh-CN" sz="2400" dirty="0" err="1" smtClean="0">
                <a:latin typeface="Times New Roman" panose="02020603050405020304" pitchFamily="18" charset="0"/>
                <a:ea typeface="华文楷体" panose="02010600040101010101" pitchFamily="2" charset="-122"/>
              </a:rPr>
              <a:t>rc</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None/>
            </a:pPr>
            <a:r>
              <a:rPr lang="en-US" altLang="zh-CN" sz="2400" dirty="0" smtClean="0">
                <a:latin typeface="Times New Roman" panose="02020603050405020304" pitchFamily="18" charset="0"/>
                <a:ea typeface="华文楷体" panose="02010600040101010101" pitchFamily="2" charset="-122"/>
              </a:rPr>
              <a:t>    </a:t>
            </a:r>
            <a:r>
              <a:rPr lang="en-US" altLang="zh-CN" sz="2400" dirty="0" err="1">
                <a:ea typeface="华文楷体" panose="02010600040101010101" pitchFamily="2" charset="-122"/>
              </a:rPr>
              <a:t>struct</a:t>
            </a:r>
            <a:r>
              <a:rPr lang="en-US" altLang="zh-CN" sz="2400" dirty="0">
                <a:ea typeface="华文楷体" panose="02010600040101010101" pitchFamily="2" charset="-122"/>
              </a:rPr>
              <a:t> </a:t>
            </a:r>
            <a:r>
              <a:rPr lang="en-US" altLang="zh-CN" sz="2400" dirty="0" err="1" smtClean="0">
                <a:ea typeface="华文楷体" panose="02010600040101010101" pitchFamily="2" charset="-122"/>
              </a:rPr>
              <a:t>btnode</a:t>
            </a:r>
            <a:r>
              <a:rPr lang="en-US" altLang="zh-CN" sz="2400" dirty="0" smtClean="0">
                <a:latin typeface="Times New Roman" panose="02020603050405020304" pitchFamily="18" charset="0"/>
                <a:ea typeface="华文楷体" panose="02010600040101010101" pitchFamily="2" charset="-122"/>
              </a:rPr>
              <a:t>*parent</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elemtype</a:t>
            </a:r>
            <a:r>
              <a:rPr lang="en-US" altLang="zh-CN" sz="2400" dirty="0" smtClean="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data;</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endParaRPr lang="en-US" altLang="zh-CN" sz="2400" b="1" dirty="0">
              <a:latin typeface="Times New Roman" panose="02020603050405020304" pitchFamily="18" charset="0"/>
              <a:ea typeface="华文楷体" panose="02010600040101010101" pitchFamily="2" charset="-122"/>
            </a:endParaRPr>
          </a:p>
        </p:txBody>
      </p:sp>
      <p:sp>
        <p:nvSpPr>
          <p:cNvPr id="14343" name="Line 6"/>
          <p:cNvSpPr>
            <a:spLocks noChangeShapeType="1"/>
          </p:cNvSpPr>
          <p:nvPr/>
        </p:nvSpPr>
        <p:spPr bwMode="auto">
          <a:xfrm>
            <a:off x="4572000" y="1371654"/>
            <a:ext cx="0" cy="4876800"/>
          </a:xfrm>
          <a:prstGeom prst="line">
            <a:avLst/>
          </a:prstGeom>
          <a:noFill/>
          <a:ln w="25400">
            <a:solidFill>
              <a:schemeClr val="accent1"/>
            </a:solidFill>
            <a:prstDash val="dash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152525"/>
            <a:ext cx="5791156" cy="5552989"/>
          </a:xfrm>
          <a:ln>
            <a:solidFill>
              <a:schemeClr val="accent1"/>
            </a:solidFill>
          </a:ln>
        </p:spPr>
        <p:txBody>
          <a:bodyPr/>
          <a:lstStyle/>
          <a:p>
            <a:pPr marL="0" indent="0">
              <a:buNone/>
            </a:pPr>
            <a:r>
              <a:rPr lang="en-US" altLang="zh-CN" sz="2000" b="1" dirty="0" smtClean="0">
                <a:solidFill>
                  <a:srgbClr val="C00000"/>
                </a:solidFill>
                <a:ea typeface="华文楷体" panose="02010600040101010101" pitchFamily="2" charset="-122"/>
                <a:sym typeface="Symbol" panose="05050102010706020507" pitchFamily="18" charset="2"/>
              </a:rPr>
              <a:t>【</a:t>
            </a:r>
            <a:r>
              <a:rPr lang="zh-CN" altLang="en-US" sz="2000" b="1" dirty="0">
                <a:solidFill>
                  <a:srgbClr val="C00000"/>
                </a:solidFill>
                <a:ea typeface="华文楷体" panose="02010600040101010101" pitchFamily="2" charset="-122"/>
                <a:sym typeface="Symbol" panose="05050102010706020507" pitchFamily="18" charset="2"/>
              </a:rPr>
              <a:t>示例</a:t>
            </a:r>
            <a:r>
              <a:rPr lang="en-US" altLang="zh-CN" sz="2000" b="1" dirty="0" smtClean="0">
                <a:solidFill>
                  <a:srgbClr val="C00000"/>
                </a:solidFill>
                <a:ea typeface="华文楷体" panose="02010600040101010101" pitchFamily="2" charset="-122"/>
                <a:sym typeface="Symbol" panose="05050102010706020507" pitchFamily="18" charset="2"/>
              </a:rPr>
              <a:t>】</a:t>
            </a:r>
            <a:r>
              <a:rPr lang="zh-CN" altLang="en-US" sz="2000" dirty="0" smtClean="0">
                <a:ea typeface="华文楷体" panose="02010600040101010101" pitchFamily="2" charset="-122"/>
                <a:sym typeface="Symbol" panose="05050102010706020507" pitchFamily="18" charset="2"/>
              </a:rPr>
              <a:t>：</a:t>
            </a:r>
            <a:r>
              <a:rPr lang="zh-CN" altLang="en-US" sz="2000" dirty="0">
                <a:ea typeface="华文楷体" panose="02010600040101010101" pitchFamily="2" charset="-122"/>
                <a:sym typeface="Symbol" panose="05050102010706020507" pitchFamily="18" charset="2"/>
              </a:rPr>
              <a:t>用串</a:t>
            </a:r>
            <a:r>
              <a:rPr lang="en-US" altLang="zh-CN" sz="2000" dirty="0">
                <a:ea typeface="华文楷体" panose="02010600040101010101" pitchFamily="2" charset="-122"/>
                <a:sym typeface="Symbol" panose="05050102010706020507" pitchFamily="18" charset="2"/>
              </a:rPr>
              <a:t>A(B(D(,G),C(E,F)))</a:t>
            </a:r>
            <a:r>
              <a:rPr lang="zh-CN" altLang="en-US" sz="2000" dirty="0">
                <a:ea typeface="华文楷体" panose="02010600040101010101" pitchFamily="2" charset="-122"/>
                <a:sym typeface="Symbol" panose="05050102010706020507" pitchFamily="18" charset="2"/>
              </a:rPr>
              <a:t>可以表示</a:t>
            </a:r>
            <a:r>
              <a:rPr lang="zh-CN" altLang="en-US" sz="2000" dirty="0" smtClean="0">
                <a:ea typeface="华文楷体" panose="02010600040101010101" pitchFamily="2" charset="-122"/>
                <a:sym typeface="Symbol" panose="05050102010706020507" pitchFamily="18" charset="2"/>
              </a:rPr>
              <a:t>如右所示一</a:t>
            </a:r>
            <a:r>
              <a:rPr lang="zh-CN" altLang="en-US" sz="2000" dirty="0">
                <a:ea typeface="华文楷体" panose="02010600040101010101" pitchFamily="2" charset="-122"/>
                <a:sym typeface="Symbol" panose="05050102010706020507" pitchFamily="18" charset="2"/>
              </a:rPr>
              <a:t>颗</a:t>
            </a:r>
            <a:r>
              <a:rPr lang="zh-CN" altLang="en-US" sz="2000" dirty="0" smtClean="0">
                <a:ea typeface="华文楷体" panose="02010600040101010101" pitchFamily="2" charset="-122"/>
                <a:sym typeface="Symbol" panose="05050102010706020507" pitchFamily="18" charset="2"/>
              </a:rPr>
              <a:t>二叉树，称之为二叉树的广义表表示法，</a:t>
            </a:r>
            <a:r>
              <a:rPr lang="zh-CN" altLang="en-US" sz="2000" dirty="0">
                <a:ea typeface="华文楷体" panose="02010600040101010101" pitchFamily="2" charset="-122"/>
                <a:sym typeface="Symbol" panose="05050102010706020507" pitchFamily="18" charset="2"/>
              </a:rPr>
              <a:t>请</a:t>
            </a:r>
            <a:r>
              <a:rPr lang="zh-CN" altLang="en-US" sz="2000" dirty="0" smtClean="0">
                <a:ea typeface="华文楷体" panose="02010600040101010101" pitchFamily="2" charset="-122"/>
                <a:sym typeface="Symbol" panose="05050102010706020507" pitchFamily="18" charset="2"/>
              </a:rPr>
              <a:t>按</a:t>
            </a:r>
            <a:r>
              <a:rPr lang="zh-CN" altLang="en-US" sz="2000" dirty="0">
                <a:ea typeface="华文楷体" panose="02010600040101010101" pitchFamily="2" charset="-122"/>
                <a:sym typeface="Symbol" panose="05050102010706020507" pitchFamily="18" charset="2"/>
              </a:rPr>
              <a:t>广义表表示</a:t>
            </a:r>
            <a:r>
              <a:rPr lang="zh-CN" altLang="en-US" sz="2000" dirty="0" smtClean="0">
                <a:ea typeface="华文楷体" panose="02010600040101010101" pitchFamily="2" charset="-122"/>
                <a:sym typeface="Symbol" panose="05050102010706020507" pitchFamily="18" charset="2"/>
              </a:rPr>
              <a:t>法，创建</a:t>
            </a:r>
            <a:r>
              <a:rPr lang="zh-CN" altLang="en-US" sz="2000" dirty="0">
                <a:ea typeface="华文楷体" panose="02010600040101010101" pitchFamily="2" charset="-122"/>
                <a:sym typeface="Symbol" panose="05050102010706020507" pitchFamily="18" charset="2"/>
              </a:rPr>
              <a:t>二叉</a:t>
            </a:r>
            <a:r>
              <a:rPr lang="zh-CN" altLang="en-US" sz="2000" dirty="0" smtClean="0">
                <a:ea typeface="华文楷体" panose="02010600040101010101" pitchFamily="2" charset="-122"/>
                <a:sym typeface="Symbol" panose="05050102010706020507" pitchFamily="18" charset="2"/>
              </a:rPr>
              <a:t>链表存储的</a:t>
            </a:r>
            <a:r>
              <a:rPr lang="zh-CN" altLang="en-US" sz="2000" dirty="0">
                <a:ea typeface="华文楷体" panose="02010600040101010101" pitchFamily="2" charset="-122"/>
                <a:sym typeface="Symbol" panose="05050102010706020507" pitchFamily="18" charset="2"/>
              </a:rPr>
              <a:t>二叉树</a:t>
            </a:r>
            <a:r>
              <a:rPr lang="zh-CN" altLang="en-US"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a:p>
            <a:pPr marL="0" indent="0">
              <a:buNone/>
            </a:pPr>
            <a:r>
              <a:rPr lang="zh-CN" altLang="en-US" sz="2000" b="1" dirty="0" smtClean="0">
                <a:solidFill>
                  <a:srgbClr val="FF0000"/>
                </a:solidFill>
                <a:ea typeface="华文楷体" panose="02010600040101010101" pitchFamily="2" charset="-122"/>
                <a:sym typeface="Symbol" panose="05050102010706020507" pitchFamily="18" charset="2"/>
              </a:rPr>
              <a:t>思路</a:t>
            </a:r>
            <a:r>
              <a:rPr lang="zh-CN" altLang="en-US" sz="2000" dirty="0" smtClean="0">
                <a:ea typeface="华文楷体" panose="02010600040101010101" pitchFamily="2" charset="-122"/>
                <a:sym typeface="Symbol" panose="05050102010706020507" pitchFamily="18" charset="2"/>
              </a:rPr>
              <a:t>：利用栈来保存双亲结点，</a:t>
            </a:r>
            <a:r>
              <a:rPr lang="en-US" altLang="zh-CN" sz="2000" dirty="0" smtClean="0">
                <a:ea typeface="华文楷体" panose="02010600040101010101" pitchFamily="2" charset="-122"/>
                <a:sym typeface="Symbol" panose="05050102010706020507" pitchFamily="18" charset="2"/>
              </a:rPr>
              <a:t>k</a:t>
            </a:r>
            <a:r>
              <a:rPr lang="zh-CN" altLang="en-US" sz="2000" dirty="0" smtClean="0">
                <a:ea typeface="华文楷体" panose="02010600040101010101" pitchFamily="2" charset="-122"/>
                <a:sym typeface="Symbol" panose="05050102010706020507" pitchFamily="18" charset="2"/>
              </a:rPr>
              <a:t>为标志。用</a:t>
            </a:r>
            <a:r>
              <a:rPr lang="en-US" altLang="zh-CN" sz="2000" dirty="0" err="1" smtClean="0">
                <a:ea typeface="华文楷体" panose="02010600040101010101" pitchFamily="2" charset="-122"/>
                <a:sym typeface="Symbol" panose="05050102010706020507" pitchFamily="18" charset="2"/>
              </a:rPr>
              <a:t>ch</a:t>
            </a:r>
            <a:r>
              <a:rPr lang="zh-CN" altLang="en-US" sz="2000" dirty="0" smtClean="0">
                <a:ea typeface="华文楷体" panose="02010600040101010101" pitchFamily="2" charset="-122"/>
                <a:sym typeface="Symbol" panose="05050102010706020507" pitchFamily="18" charset="2"/>
              </a:rPr>
              <a:t>扫描字符串，分以下几种情况：</a:t>
            </a:r>
            <a:endParaRPr lang="en-US" altLang="zh-CN" sz="2000" dirty="0" smtClean="0">
              <a:ea typeface="华文楷体" panose="02010600040101010101" pitchFamily="2" charset="-122"/>
              <a:sym typeface="Symbol" panose="05050102010706020507" pitchFamily="18" charset="2"/>
            </a:endParaRPr>
          </a:p>
          <a:p>
            <a:pPr marL="0" indent="0">
              <a:buNone/>
            </a:pP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①</a:t>
            </a:r>
            <a:r>
              <a:rPr lang="zh-CN" altLang="en-US" sz="2000" dirty="0" smtClean="0">
                <a:ea typeface="华文楷体" panose="02010600040101010101" pitchFamily="2" charset="-122"/>
                <a:sym typeface="Symbol" panose="05050102010706020507" pitchFamily="18" charset="2"/>
              </a:rPr>
              <a:t>若</a:t>
            </a:r>
            <a:r>
              <a:rPr lang="en-US" altLang="zh-CN" sz="2000" dirty="0" err="1" smtClean="0">
                <a:ea typeface="华文楷体" panose="02010600040101010101" pitchFamily="2" charset="-122"/>
                <a:sym typeface="Symbol" panose="05050102010706020507" pitchFamily="18" charset="2"/>
              </a:rPr>
              <a:t>ch</a:t>
            </a:r>
            <a:r>
              <a:rPr lang="en-US" altLang="zh-CN" sz="2000" dirty="0" smtClean="0">
                <a:ea typeface="华文楷体" panose="02010600040101010101" pitchFamily="2" charset="-122"/>
                <a:sym typeface="Symbol" panose="05050102010706020507" pitchFamily="18" charset="2"/>
              </a:rPr>
              <a:t>=‘(’</a:t>
            </a:r>
            <a:r>
              <a:rPr lang="zh-CN" altLang="en-US" sz="2000" dirty="0" smtClean="0">
                <a:ea typeface="华文楷体" panose="02010600040101010101" pitchFamily="2" charset="-122"/>
                <a:sym typeface="Symbol" panose="05050102010706020507" pitchFamily="18" charset="2"/>
              </a:rPr>
              <a:t>，则将刚创建的结点作为双亲进栈，并置标志</a:t>
            </a:r>
            <a:r>
              <a:rPr lang="en-US" altLang="zh-CN" sz="2000" dirty="0" smtClean="0">
                <a:ea typeface="华文楷体" panose="02010600040101010101" pitchFamily="2" charset="-122"/>
                <a:sym typeface="Symbol" panose="05050102010706020507" pitchFamily="18" charset="2"/>
              </a:rPr>
              <a:t>k=1</a:t>
            </a:r>
            <a:r>
              <a:rPr lang="zh-CN" altLang="en-US" sz="2000" dirty="0" smtClean="0">
                <a:ea typeface="华文楷体" panose="02010600040101010101" pitchFamily="2" charset="-122"/>
                <a:sym typeface="Symbol" panose="05050102010706020507" pitchFamily="18" charset="2"/>
              </a:rPr>
              <a:t>，表示其后创建的是这个栈顶结点的左孩子；</a:t>
            </a:r>
            <a:endParaRPr lang="en-US" altLang="zh-CN" sz="2000" dirty="0" smtClean="0">
              <a:ea typeface="华文楷体" panose="02010600040101010101" pitchFamily="2" charset="-122"/>
              <a:sym typeface="Symbol" panose="05050102010706020507" pitchFamily="18" charset="2"/>
            </a:endParaRPr>
          </a:p>
          <a:p>
            <a:pPr marL="0" indent="0">
              <a:buNone/>
            </a:pP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②</a:t>
            </a:r>
            <a:r>
              <a:rPr lang="zh-CN" altLang="en-US" sz="2000" dirty="0" smtClean="0">
                <a:ea typeface="华文楷体" panose="02010600040101010101" pitchFamily="2" charset="-122"/>
                <a:sym typeface="Symbol" panose="05050102010706020507" pitchFamily="18" charset="2"/>
              </a:rPr>
              <a:t>若</a:t>
            </a:r>
            <a:r>
              <a:rPr lang="en-US" altLang="zh-CN" sz="2000" dirty="0" err="1">
                <a:ea typeface="华文楷体" panose="02010600040101010101" pitchFamily="2" charset="-122"/>
                <a:sym typeface="Symbol" panose="05050102010706020507" pitchFamily="18" charset="2"/>
              </a:rPr>
              <a:t>ch</a:t>
            </a:r>
            <a:r>
              <a:rPr lang="en-US" altLang="zh-CN" sz="2000" dirty="0" smtClean="0">
                <a:ea typeface="华文楷体" panose="02010600040101010101" pitchFamily="2" charset="-122"/>
                <a:sym typeface="Symbol" panose="05050102010706020507" pitchFamily="18" charset="2"/>
              </a:rPr>
              <a:t>=‘</a:t>
            </a:r>
            <a:r>
              <a:rPr lang="en-US" altLang="zh-CN" sz="2000" dirty="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sym typeface="Symbol" panose="05050102010706020507" pitchFamily="18" charset="2"/>
              </a:rPr>
              <a:t>’</a:t>
            </a:r>
            <a:r>
              <a:rPr lang="zh-CN" altLang="en-US" sz="2000" dirty="0" smtClean="0">
                <a:ea typeface="华文楷体" panose="02010600040101010101" pitchFamily="2" charset="-122"/>
                <a:sym typeface="Symbol" panose="05050102010706020507" pitchFamily="18" charset="2"/>
              </a:rPr>
              <a:t>，表示栈顶结点的左右孩子都处理完毕，栈顶结点退栈；</a:t>
            </a:r>
            <a:endParaRPr lang="en-US" altLang="zh-CN" sz="2000" dirty="0" smtClean="0">
              <a:ea typeface="华文楷体" panose="02010600040101010101" pitchFamily="2" charset="-122"/>
              <a:sym typeface="Symbol" panose="05050102010706020507" pitchFamily="18" charset="2"/>
            </a:endParaRPr>
          </a:p>
          <a:p>
            <a:pPr marL="0" indent="0">
              <a:buNone/>
            </a:pP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③</a:t>
            </a:r>
            <a:r>
              <a:rPr lang="zh-CN" altLang="en-US" sz="2000" dirty="0" smtClean="0">
                <a:ea typeface="华文楷体" panose="02010600040101010101" pitchFamily="2" charset="-122"/>
                <a:sym typeface="Symbol" panose="05050102010706020507" pitchFamily="18" charset="2"/>
              </a:rPr>
              <a:t>若</a:t>
            </a:r>
            <a:r>
              <a:rPr lang="en-US" altLang="zh-CN" sz="2000" dirty="0" err="1">
                <a:ea typeface="华文楷体" panose="02010600040101010101" pitchFamily="2" charset="-122"/>
                <a:sym typeface="Symbol" panose="05050102010706020507" pitchFamily="18" charset="2"/>
              </a:rPr>
              <a:t>ch</a:t>
            </a:r>
            <a:r>
              <a:rPr lang="en-US" altLang="zh-CN" sz="2000" dirty="0" smtClean="0">
                <a:ea typeface="华文楷体" panose="02010600040101010101" pitchFamily="2" charset="-122"/>
                <a:sym typeface="Symbol" panose="05050102010706020507" pitchFamily="18" charset="2"/>
              </a:rPr>
              <a:t>=‘,’</a:t>
            </a:r>
            <a:r>
              <a:rPr lang="zh-CN" altLang="en-US" sz="2000" dirty="0" smtClean="0">
                <a:ea typeface="华文楷体" panose="02010600040101010101" pitchFamily="2" charset="-122"/>
                <a:sym typeface="Symbol" panose="05050102010706020507" pitchFamily="18" charset="2"/>
              </a:rPr>
              <a:t>表示其后创建的是栈顶结点的右孩子，置</a:t>
            </a:r>
            <a:r>
              <a:rPr lang="zh-CN" altLang="en-US" sz="2000" dirty="0">
                <a:ea typeface="华文楷体" panose="02010600040101010101" pitchFamily="2" charset="-122"/>
                <a:sym typeface="Symbol" panose="05050102010706020507" pitchFamily="18" charset="2"/>
              </a:rPr>
              <a:t>标志</a:t>
            </a:r>
            <a:r>
              <a:rPr lang="en-US" altLang="zh-CN" sz="2000" dirty="0" smtClean="0">
                <a:ea typeface="华文楷体" panose="02010600040101010101" pitchFamily="2" charset="-122"/>
                <a:sym typeface="Symbol" panose="05050102010706020507" pitchFamily="18" charset="2"/>
              </a:rPr>
              <a:t>k=2</a:t>
            </a:r>
            <a:r>
              <a:rPr lang="zh-CN" altLang="en-US"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a:p>
            <a:pPr marL="0" indent="0">
              <a:buNone/>
            </a:pPr>
            <a:r>
              <a:rPr lang="zh-CN" altLang="en-US" sz="2000" dirty="0" smtClean="0">
                <a:latin typeface="华文楷体" panose="02010600040101010101" pitchFamily="2" charset="-122"/>
                <a:ea typeface="华文楷体" panose="02010600040101010101" pitchFamily="2" charset="-122"/>
                <a:sym typeface="Symbol" panose="05050102010706020507" pitchFamily="18" charset="2"/>
              </a:rPr>
              <a:t>④</a:t>
            </a:r>
            <a:r>
              <a:rPr lang="zh-CN" altLang="en-US" sz="2000" dirty="0" smtClean="0">
                <a:ea typeface="华文楷体" panose="02010600040101010101" pitchFamily="2" charset="-122"/>
                <a:sym typeface="Symbol" panose="05050102010706020507" pitchFamily="18" charset="2"/>
              </a:rPr>
              <a:t>其他情况，表示要创建一个结点，并根据</a:t>
            </a:r>
            <a:r>
              <a:rPr lang="en-US" altLang="zh-CN" sz="2000" dirty="0" smtClean="0">
                <a:ea typeface="华文楷体" panose="02010600040101010101" pitchFamily="2" charset="-122"/>
                <a:sym typeface="Symbol" panose="05050102010706020507" pitchFamily="18" charset="2"/>
              </a:rPr>
              <a:t>k</a:t>
            </a:r>
            <a:r>
              <a:rPr lang="zh-CN" altLang="en-US" sz="2000" dirty="0" smtClean="0">
                <a:ea typeface="华文楷体" panose="02010600040101010101" pitchFamily="2" charset="-122"/>
                <a:sym typeface="Symbol" panose="05050102010706020507" pitchFamily="18" charset="2"/>
              </a:rPr>
              <a:t>值建立它与栈顶结点之间的关系；若</a:t>
            </a:r>
            <a:r>
              <a:rPr lang="en-US" altLang="zh-CN" sz="2000" dirty="0" smtClean="0">
                <a:ea typeface="华文楷体" panose="02010600040101010101" pitchFamily="2" charset="-122"/>
                <a:sym typeface="Symbol" panose="05050102010706020507" pitchFamily="18" charset="2"/>
              </a:rPr>
              <a:t>k=1;</a:t>
            </a:r>
            <a:r>
              <a:rPr lang="zh-CN" altLang="en-US" sz="2000" dirty="0" smtClean="0">
                <a:ea typeface="华文楷体" panose="02010600040101010101" pitchFamily="2" charset="-122"/>
                <a:sym typeface="Symbol" panose="05050102010706020507" pitchFamily="18" charset="2"/>
              </a:rPr>
              <a:t>表示该结点为栈顶结点的左孩子，则</a:t>
            </a:r>
            <a:r>
              <a:rPr lang="zh-CN" altLang="en-US" sz="2000" dirty="0">
                <a:ea typeface="华文楷体" panose="02010600040101010101" pitchFamily="2" charset="-122"/>
                <a:sym typeface="Symbol" panose="05050102010706020507" pitchFamily="18" charset="2"/>
              </a:rPr>
              <a:t>栈顶</a:t>
            </a:r>
            <a:r>
              <a:rPr lang="zh-CN" altLang="en-US" sz="2000" dirty="0" smtClean="0">
                <a:ea typeface="华文楷体" panose="02010600040101010101" pitchFamily="2" charset="-122"/>
                <a:sym typeface="Symbol" panose="05050102010706020507" pitchFamily="18" charset="2"/>
              </a:rPr>
              <a:t>结点的</a:t>
            </a:r>
            <a:r>
              <a:rPr lang="en-US" altLang="zh-CN" sz="2000" dirty="0" err="1" smtClean="0">
                <a:ea typeface="华文楷体" panose="02010600040101010101" pitchFamily="2" charset="-122"/>
                <a:sym typeface="Symbol" panose="05050102010706020507" pitchFamily="18" charset="2"/>
              </a:rPr>
              <a:t>lc</a:t>
            </a:r>
            <a:r>
              <a:rPr lang="zh-CN" altLang="en-US" sz="2000" dirty="0" smtClean="0">
                <a:ea typeface="华文楷体" panose="02010600040101010101" pitchFamily="2" charset="-122"/>
                <a:sym typeface="Symbol" panose="05050102010706020507" pitchFamily="18" charset="2"/>
              </a:rPr>
              <a:t>要指向该结点；</a:t>
            </a:r>
            <a:r>
              <a:rPr lang="zh-CN" altLang="en-US" sz="2000" dirty="0">
                <a:ea typeface="华文楷体" panose="02010600040101010101" pitchFamily="2" charset="-122"/>
                <a:sym typeface="Symbol" panose="05050102010706020507" pitchFamily="18" charset="2"/>
              </a:rPr>
              <a:t>若</a:t>
            </a:r>
            <a:r>
              <a:rPr lang="en-US" altLang="zh-CN" sz="2000" dirty="0" smtClean="0">
                <a:ea typeface="华文楷体" panose="02010600040101010101" pitchFamily="2" charset="-122"/>
                <a:sym typeface="Symbol" panose="05050102010706020507" pitchFamily="18" charset="2"/>
              </a:rPr>
              <a:t>k=2;</a:t>
            </a:r>
            <a:r>
              <a:rPr lang="zh-CN" altLang="en-US" sz="2000" dirty="0">
                <a:ea typeface="华文楷体" panose="02010600040101010101" pitchFamily="2" charset="-122"/>
                <a:sym typeface="Symbol" panose="05050102010706020507" pitchFamily="18" charset="2"/>
              </a:rPr>
              <a:t>表示该结点为栈顶结点</a:t>
            </a:r>
            <a:r>
              <a:rPr lang="zh-CN" altLang="en-US" sz="2000" dirty="0" smtClean="0">
                <a:ea typeface="华文楷体" panose="02010600040101010101" pitchFamily="2" charset="-122"/>
                <a:sym typeface="Symbol" panose="05050102010706020507" pitchFamily="18" charset="2"/>
              </a:rPr>
              <a:t>的右孩子</a:t>
            </a:r>
            <a:r>
              <a:rPr lang="zh-CN" altLang="en-US" sz="2000" dirty="0">
                <a:ea typeface="华文楷体" panose="02010600040101010101" pitchFamily="2" charset="-122"/>
                <a:sym typeface="Symbol" panose="05050102010706020507" pitchFamily="18" charset="2"/>
              </a:rPr>
              <a:t>，则栈顶结点</a:t>
            </a:r>
            <a:r>
              <a:rPr lang="zh-CN" altLang="en-US" sz="2000" dirty="0" smtClean="0">
                <a:ea typeface="华文楷体" panose="02010600040101010101" pitchFamily="2" charset="-122"/>
                <a:sym typeface="Symbol" panose="05050102010706020507" pitchFamily="18" charset="2"/>
              </a:rPr>
              <a:t>的</a:t>
            </a:r>
            <a:r>
              <a:rPr lang="en-US" altLang="zh-CN" sz="2000" dirty="0" err="1" smtClean="0">
                <a:ea typeface="华文楷体" panose="02010600040101010101" pitchFamily="2" charset="-122"/>
                <a:sym typeface="Symbol" panose="05050102010706020507" pitchFamily="18" charset="2"/>
              </a:rPr>
              <a:t>rc</a:t>
            </a:r>
            <a:r>
              <a:rPr lang="zh-CN" altLang="en-US" sz="2000" dirty="0">
                <a:ea typeface="华文楷体" panose="02010600040101010101" pitchFamily="2" charset="-122"/>
                <a:sym typeface="Symbol" panose="05050102010706020507" pitchFamily="18" charset="2"/>
              </a:rPr>
              <a:t>要指向该</a:t>
            </a:r>
            <a:r>
              <a:rPr lang="zh-CN" altLang="en-US" sz="2000" dirty="0" smtClean="0">
                <a:ea typeface="华文楷体" panose="02010600040101010101" pitchFamily="2" charset="-122"/>
                <a:sym typeface="Symbol" panose="05050102010706020507" pitchFamily="18" charset="2"/>
              </a:rPr>
              <a:t>结点。</a:t>
            </a:r>
            <a:endParaRPr lang="zh-CN" altLang="en-US" sz="2000" dirty="0">
              <a:ea typeface="华文楷体" panose="02010600040101010101" pitchFamily="2" charset="-122"/>
              <a:sym typeface="Symbol" panose="05050102010706020507" pitchFamily="18" charset="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pic>
        <p:nvPicPr>
          <p:cNvPr id="6" name="图片 5"/>
          <p:cNvPicPr>
            <a:picLocks noChangeAspect="1"/>
          </p:cNvPicPr>
          <p:nvPr/>
        </p:nvPicPr>
        <p:blipFill>
          <a:blip r:embed="rId1"/>
          <a:stretch>
            <a:fillRect/>
          </a:stretch>
        </p:blipFill>
        <p:spPr>
          <a:xfrm>
            <a:off x="6324554" y="1756145"/>
            <a:ext cx="2628900" cy="220027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95298" y="1152357"/>
            <a:ext cx="7200820" cy="5705553"/>
          </a:xfrm>
          <a:ln>
            <a:solidFill>
              <a:schemeClr val="accent1"/>
            </a:solidFill>
          </a:ln>
        </p:spPr>
        <p:txBody>
          <a:bodyPr/>
          <a:lstStyle/>
          <a:p>
            <a:pPr marL="0" indent="0">
              <a:buNone/>
            </a:pPr>
            <a:r>
              <a:rPr lang="en-US" altLang="zh-CN" sz="1300" dirty="0" smtClean="0">
                <a:ea typeface="华文楷体" panose="02010600040101010101" pitchFamily="2" charset="-122"/>
              </a:rPr>
              <a:t>void </a:t>
            </a:r>
            <a:r>
              <a:rPr lang="en-US" altLang="zh-CN" sz="1300" b="1" dirty="0" err="1">
                <a:ea typeface="华文楷体" panose="02010600040101010101" pitchFamily="2" charset="-122"/>
              </a:rPr>
              <a:t>CreateTree</a:t>
            </a:r>
            <a:r>
              <a:rPr lang="en-US" altLang="zh-CN" sz="1300" dirty="0">
                <a:ea typeface="华文楷体" panose="02010600040101010101" pitchFamily="2" charset="-122"/>
              </a:rPr>
              <a:t>(</a:t>
            </a:r>
            <a:r>
              <a:rPr lang="en-US" altLang="zh-CN" sz="1300" dirty="0" err="1">
                <a:ea typeface="华文楷体" panose="02010600040101010101" pitchFamily="2" charset="-122"/>
                <a:sym typeface="Symbol" panose="05050102010706020507" pitchFamily="18" charset="2"/>
              </a:rPr>
              <a:t>BiTree</a:t>
            </a:r>
            <a:r>
              <a:rPr lang="en-US" altLang="zh-CN" sz="1300" dirty="0">
                <a:ea typeface="华文楷体" panose="02010600040101010101" pitchFamily="2" charset="-122"/>
                <a:sym typeface="Symbol" panose="05050102010706020507" pitchFamily="18" charset="2"/>
              </a:rPr>
              <a:t> &amp;</a:t>
            </a:r>
            <a:r>
              <a:rPr lang="en-US" altLang="zh-CN" sz="1300" dirty="0" smtClean="0">
                <a:ea typeface="华文楷体" panose="02010600040101010101" pitchFamily="2" charset="-122"/>
                <a:sym typeface="Symbol" panose="05050102010706020507" pitchFamily="18" charset="2"/>
              </a:rPr>
              <a:t>T, char *</a:t>
            </a:r>
            <a:r>
              <a:rPr lang="en-US" altLang="zh-CN" sz="1300" dirty="0" err="1" smtClean="0">
                <a:ea typeface="华文楷体" panose="02010600040101010101" pitchFamily="2" charset="-122"/>
                <a:sym typeface="Symbol" panose="05050102010706020507" pitchFamily="18" charset="2"/>
              </a:rPr>
              <a:t>str</a:t>
            </a:r>
            <a:r>
              <a:rPr lang="en-US" altLang="zh-CN" sz="1300" dirty="0" smtClean="0">
                <a:ea typeface="华文楷体" panose="02010600040101010101" pitchFamily="2" charset="-122"/>
              </a:rPr>
              <a:t>)</a:t>
            </a:r>
            <a:endParaRPr lang="en-US" altLang="zh-CN" sz="1300" dirty="0" smtClean="0">
              <a:ea typeface="华文楷体" panose="02010600040101010101" pitchFamily="2" charset="-122"/>
            </a:endParaRPr>
          </a:p>
          <a:p>
            <a:pPr marL="0" indent="0">
              <a:buNone/>
            </a:pPr>
            <a:r>
              <a:rPr lang="en-US" altLang="zh-CN" sz="1300" dirty="0" smtClean="0">
                <a:ea typeface="华文楷体" panose="02010600040101010101" pitchFamily="2" charset="-122"/>
              </a:rPr>
              <a:t>{</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 </a:t>
            </a:r>
            <a:r>
              <a:rPr lang="en-US" altLang="zh-CN" sz="1300" dirty="0" smtClean="0">
                <a:ea typeface="华文楷体" panose="02010600040101010101" pitchFamily="2" charset="-122"/>
              </a:rPr>
              <a:t>   </a:t>
            </a:r>
            <a:r>
              <a:rPr lang="en-US" altLang="zh-CN" sz="1300" dirty="0" err="1" smtClean="0">
                <a:ea typeface="华文楷体" panose="02010600040101010101" pitchFamily="2" charset="-122"/>
                <a:sym typeface="Symbol" panose="05050102010706020507" pitchFamily="18" charset="2"/>
              </a:rPr>
              <a:t>BiTree</a:t>
            </a:r>
            <a:r>
              <a:rPr lang="en-US" altLang="zh-CN" sz="1300" dirty="0" smtClean="0">
                <a:ea typeface="华文楷体" panose="02010600040101010101" pitchFamily="2" charset="-122"/>
                <a:sym typeface="Symbol" panose="05050102010706020507" pitchFamily="18" charset="2"/>
              </a:rPr>
              <a:t> St[MAXSIZE]; </a:t>
            </a:r>
            <a:r>
              <a:rPr lang="en-US" altLang="zh-CN" sz="1300" dirty="0" err="1" smtClean="0">
                <a:ea typeface="华文楷体" panose="02010600040101010101" pitchFamily="2" charset="-122"/>
                <a:sym typeface="Symbol" panose="05050102010706020507" pitchFamily="18" charset="2"/>
              </a:rPr>
              <a:t>BiTree</a:t>
            </a:r>
            <a:r>
              <a:rPr lang="en-US" altLang="zh-CN" sz="1300" dirty="0" smtClean="0">
                <a:ea typeface="华文楷体" panose="02010600040101010101" pitchFamily="2" charset="-122"/>
                <a:sym typeface="Symbol" panose="05050102010706020507" pitchFamily="18" charset="2"/>
              </a:rPr>
              <a:t> p = NULL;</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r>
              <a:rPr lang="en-US" altLang="zh-CN" sz="1300" dirty="0" err="1" smtClean="0">
                <a:ea typeface="华文楷体" panose="02010600040101010101" pitchFamily="2" charset="-122"/>
                <a:sym typeface="Symbol" panose="05050102010706020507" pitchFamily="18" charset="2"/>
              </a:rPr>
              <a:t>int</a:t>
            </a:r>
            <a:r>
              <a:rPr lang="en-US" altLang="zh-CN" sz="1300" dirty="0" smtClean="0">
                <a:ea typeface="华文楷体" panose="02010600040101010101" pitchFamily="2" charset="-122"/>
                <a:sym typeface="Symbol" panose="05050102010706020507" pitchFamily="18" charset="2"/>
              </a:rPr>
              <a:t> top = -1, k, j =0; char </a:t>
            </a:r>
            <a:r>
              <a:rPr lang="en-US" altLang="zh-CN" sz="1300" dirty="0" err="1" smtClean="0">
                <a:ea typeface="华文楷体" panose="02010600040101010101" pitchFamily="2" charset="-122"/>
                <a:sym typeface="Symbol" panose="05050102010706020507" pitchFamily="18" charset="2"/>
              </a:rPr>
              <a:t>ch</a:t>
            </a:r>
            <a:r>
              <a:rPr lang="en-US" altLang="zh-CN" sz="1300" dirty="0" smtClean="0">
                <a:ea typeface="华文楷体" panose="02010600040101010101" pitchFamily="2" charset="-122"/>
                <a:sym typeface="Symbol" panose="05050102010706020507" pitchFamily="18" charset="2"/>
              </a:rPr>
              <a:t> = </a:t>
            </a:r>
            <a:r>
              <a:rPr lang="en-US" altLang="zh-CN" sz="1300" dirty="0" err="1" smtClean="0">
                <a:ea typeface="华文楷体" panose="02010600040101010101" pitchFamily="2" charset="-122"/>
                <a:sym typeface="Symbol" panose="05050102010706020507" pitchFamily="18" charset="2"/>
              </a:rPr>
              <a:t>str</a:t>
            </a:r>
            <a:r>
              <a:rPr lang="en-US" altLang="zh-CN" sz="1300" dirty="0" smtClean="0">
                <a:ea typeface="华文楷体" panose="02010600040101010101" pitchFamily="2" charset="-122"/>
                <a:sym typeface="Symbol" panose="05050102010706020507" pitchFamily="18" charset="2"/>
              </a:rPr>
              <a:t>[j]; </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T = NULL; </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while (</a:t>
            </a:r>
            <a:r>
              <a:rPr lang="en-US" altLang="zh-CN" sz="1300" dirty="0" err="1" smtClean="0">
                <a:ea typeface="华文楷体" panose="02010600040101010101" pitchFamily="2" charset="-122"/>
                <a:sym typeface="Symbol" panose="05050102010706020507" pitchFamily="18" charset="2"/>
              </a:rPr>
              <a:t>ch</a:t>
            </a:r>
            <a:r>
              <a:rPr lang="en-US" altLang="zh-CN" sz="1300" dirty="0" smtClean="0">
                <a:ea typeface="华文楷体" panose="02010600040101010101" pitchFamily="2" charset="-122"/>
                <a:sym typeface="Symbol" panose="05050102010706020507" pitchFamily="18" charset="2"/>
              </a:rPr>
              <a:t> != ‘\0’)</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smtClean="0">
                <a:ea typeface="华文楷体" panose="02010600040101010101" pitchFamily="2" charset="-122"/>
                <a:sym typeface="Symbol" panose="05050102010706020507" pitchFamily="18" charset="2"/>
              </a:rPr>
              <a:t>    {</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switch(</a:t>
            </a:r>
            <a:r>
              <a:rPr lang="en-US" altLang="zh-CN" sz="1300" dirty="0" err="1" smtClean="0">
                <a:ea typeface="华文楷体" panose="02010600040101010101" pitchFamily="2" charset="-122"/>
                <a:sym typeface="Symbol" panose="05050102010706020507" pitchFamily="18" charset="2"/>
              </a:rPr>
              <a:t>ch</a:t>
            </a:r>
            <a:r>
              <a:rPr lang="en-US" altLang="zh-CN" sz="1300" dirty="0" smtClean="0">
                <a:ea typeface="华文楷体" panose="02010600040101010101" pitchFamily="2" charset="-122"/>
                <a:sym typeface="Symbol" panose="05050102010706020507" pitchFamily="18" charset="2"/>
              </a:rPr>
              <a:t>)</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case ‘(’: top++; St[top] = p; k=1; break; \\</a:t>
            </a:r>
            <a:r>
              <a:rPr lang="zh-CN" altLang="en-US" sz="1300" dirty="0" smtClean="0">
                <a:ea typeface="华文楷体" panose="02010600040101010101" pitchFamily="2" charset="-122"/>
                <a:sym typeface="Symbol" panose="05050102010706020507" pitchFamily="18" charset="2"/>
              </a:rPr>
              <a:t>为左子</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case ‘)’: top--; break;</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smtClean="0">
                <a:ea typeface="华文楷体" panose="02010600040101010101" pitchFamily="2" charset="-122"/>
                <a:sym typeface="Symbol" panose="05050102010706020507" pitchFamily="18" charset="2"/>
              </a:rPr>
              <a:t>            case ‘,’: k=2; </a:t>
            </a:r>
            <a:r>
              <a:rPr lang="en-US" altLang="zh-CN" sz="1300" dirty="0">
                <a:ea typeface="华文楷体" panose="02010600040101010101" pitchFamily="2" charset="-122"/>
                <a:sym typeface="Symbol" panose="05050102010706020507" pitchFamily="18" charset="2"/>
              </a:rPr>
              <a:t>break</a:t>
            </a:r>
            <a:r>
              <a:rPr lang="en-US" altLang="zh-CN" sz="1300" dirty="0" smtClean="0">
                <a:ea typeface="华文楷体" panose="02010600040101010101" pitchFamily="2" charset="-122"/>
                <a:sym typeface="Symbol" panose="05050102010706020507" pitchFamily="18" charset="2"/>
              </a:rPr>
              <a:t>;</a:t>
            </a:r>
            <a:r>
              <a:rPr lang="en-US" altLang="zh-CN" sz="1300" dirty="0">
                <a:ea typeface="华文楷体" panose="02010600040101010101" pitchFamily="2" charset="-122"/>
                <a:sym typeface="Symbol" panose="05050102010706020507" pitchFamily="18" charset="2"/>
              </a:rPr>
              <a:t> \\</a:t>
            </a:r>
            <a:r>
              <a:rPr lang="zh-CN" altLang="en-US" sz="1300" dirty="0" smtClean="0">
                <a:ea typeface="华文楷体" panose="02010600040101010101" pitchFamily="2" charset="-122"/>
                <a:sym typeface="Symbol" panose="05050102010706020507" pitchFamily="18" charset="2"/>
              </a:rPr>
              <a:t>为</a:t>
            </a:r>
            <a:r>
              <a:rPr lang="zh-CN" altLang="en-US" sz="1300" dirty="0">
                <a:ea typeface="华文楷体" panose="02010600040101010101" pitchFamily="2" charset="-122"/>
                <a:sym typeface="Symbol" panose="05050102010706020507" pitchFamily="18" charset="2"/>
              </a:rPr>
              <a:t>右</a:t>
            </a:r>
            <a:r>
              <a:rPr lang="zh-CN" altLang="en-US" sz="1300" dirty="0" smtClean="0">
                <a:ea typeface="华文楷体" panose="02010600040101010101" pitchFamily="2" charset="-122"/>
                <a:sym typeface="Symbol" panose="05050102010706020507" pitchFamily="18" charset="2"/>
              </a:rPr>
              <a:t>子</a:t>
            </a:r>
            <a:endParaRPr lang="en-US" altLang="zh-CN" sz="1300" dirty="0">
              <a:ea typeface="华文楷体" panose="02010600040101010101" pitchFamily="2" charset="-122"/>
              <a:sym typeface="Symbol" panose="05050102010706020507" pitchFamily="18" charset="2"/>
            </a:endParaRPr>
          </a:p>
          <a:p>
            <a:pPr marL="0" indent="0">
              <a:buNone/>
            </a:pPr>
            <a:r>
              <a:rPr lang="en-US" altLang="zh-CN" sz="1300" dirty="0" smtClean="0">
                <a:ea typeface="华文楷体" panose="02010600040101010101" pitchFamily="2" charset="-122"/>
                <a:sym typeface="Symbol" panose="05050102010706020507" pitchFamily="18" charset="2"/>
              </a:rPr>
              <a:t>            default: p = (</a:t>
            </a:r>
            <a:r>
              <a:rPr lang="en-US" altLang="zh-CN" sz="1300" dirty="0" err="1">
                <a:ea typeface="华文楷体" panose="02010600040101010101" pitchFamily="2" charset="-122"/>
                <a:sym typeface="Symbol" panose="05050102010706020507" pitchFamily="18" charset="2"/>
              </a:rPr>
              <a:t>BiTree</a:t>
            </a:r>
            <a:r>
              <a:rPr lang="en-US" altLang="zh-CN" sz="1300" dirty="0">
                <a:ea typeface="华文楷体" panose="02010600040101010101" pitchFamily="2" charset="-122"/>
                <a:sym typeface="Symbol" panose="05050102010706020507" pitchFamily="18" charset="2"/>
              </a:rPr>
              <a:t>)</a:t>
            </a:r>
            <a:r>
              <a:rPr lang="en-US" altLang="zh-CN" sz="1300" dirty="0" err="1">
                <a:ea typeface="华文楷体" panose="02010600040101010101" pitchFamily="2" charset="-122"/>
                <a:sym typeface="Symbol" panose="05050102010706020507" pitchFamily="18" charset="2"/>
              </a:rPr>
              <a:t>malloc</a:t>
            </a:r>
            <a:r>
              <a:rPr lang="en-US" altLang="zh-CN" sz="1300" dirty="0">
                <a:ea typeface="华文楷体" panose="02010600040101010101" pitchFamily="2" charset="-122"/>
                <a:sym typeface="Symbol" panose="05050102010706020507" pitchFamily="18" charset="2"/>
              </a:rPr>
              <a:t>(</a:t>
            </a:r>
            <a:r>
              <a:rPr lang="en-US" altLang="zh-CN" sz="1300" dirty="0" err="1">
                <a:ea typeface="华文楷体" panose="02010600040101010101" pitchFamily="2" charset="-122"/>
                <a:sym typeface="Symbol" panose="05050102010706020507" pitchFamily="18" charset="2"/>
              </a:rPr>
              <a:t>szieof</a:t>
            </a:r>
            <a:r>
              <a:rPr lang="en-US" altLang="zh-CN" sz="1300" dirty="0">
                <a:ea typeface="华文楷体" panose="02010600040101010101" pitchFamily="2" charset="-122"/>
                <a:sym typeface="Symbol" panose="05050102010706020507" pitchFamily="18" charset="2"/>
              </a:rPr>
              <a:t>(</a:t>
            </a:r>
            <a:r>
              <a:rPr lang="en-US" altLang="zh-CN" sz="1300" dirty="0" err="1">
                <a:ea typeface="华文楷体" panose="02010600040101010101" pitchFamily="2" charset="-122"/>
                <a:sym typeface="Symbol" panose="05050102010706020507" pitchFamily="18" charset="2"/>
              </a:rPr>
              <a:t>struct</a:t>
            </a:r>
            <a:r>
              <a:rPr lang="en-US" altLang="zh-CN" sz="1300" dirty="0">
                <a:ea typeface="华文楷体" panose="02010600040101010101" pitchFamily="2" charset="-122"/>
                <a:sym typeface="Symbol" panose="05050102010706020507" pitchFamily="18" charset="2"/>
              </a:rPr>
              <a:t> </a:t>
            </a:r>
            <a:r>
              <a:rPr lang="en-US" altLang="zh-CN" sz="1300" dirty="0" err="1" smtClean="0">
                <a:ea typeface="华文楷体" panose="02010600040101010101" pitchFamily="2" charset="-122"/>
                <a:sym typeface="Symbol" panose="05050102010706020507" pitchFamily="18" charset="2"/>
              </a:rPr>
              <a:t>btnode</a:t>
            </a:r>
            <a:r>
              <a:rPr lang="en-US" altLang="zh-CN" sz="1300" dirty="0" smtClean="0">
                <a:ea typeface="华文楷体" panose="02010600040101010101" pitchFamily="2" charset="-122"/>
                <a:sym typeface="Symbol" panose="05050102010706020507" pitchFamily="18" charset="2"/>
              </a:rPr>
              <a:t>)); …\\</a:t>
            </a:r>
            <a:r>
              <a:rPr lang="zh-CN" altLang="en-US" sz="1300" dirty="0" smtClean="0">
                <a:ea typeface="华文楷体" panose="02010600040101010101" pitchFamily="2" charset="-122"/>
                <a:sym typeface="Symbol" panose="05050102010706020507" pitchFamily="18" charset="2"/>
              </a:rPr>
              <a:t>省略了出错处理；</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p-&gt;data =  </a:t>
            </a:r>
            <a:r>
              <a:rPr lang="en-US" altLang="zh-CN" sz="1300" dirty="0" err="1" smtClean="0">
                <a:ea typeface="华文楷体" panose="02010600040101010101" pitchFamily="2" charset="-122"/>
                <a:sym typeface="Symbol" panose="05050102010706020507" pitchFamily="18" charset="2"/>
              </a:rPr>
              <a:t>ch</a:t>
            </a:r>
            <a:r>
              <a:rPr lang="en-US" altLang="zh-CN" sz="1300" dirty="0" smtClean="0">
                <a:ea typeface="华文楷体" panose="02010600040101010101" pitchFamily="2" charset="-122"/>
                <a:sym typeface="Symbol" panose="05050102010706020507" pitchFamily="18" charset="2"/>
              </a:rPr>
              <a:t>; p-&gt;</a:t>
            </a:r>
            <a:r>
              <a:rPr lang="en-US" altLang="zh-CN" sz="1300" dirty="0" err="1" smtClean="0">
                <a:ea typeface="华文楷体" panose="02010600040101010101" pitchFamily="2" charset="-122"/>
                <a:sym typeface="Symbol" panose="05050102010706020507" pitchFamily="18" charset="2"/>
              </a:rPr>
              <a:t>lc</a:t>
            </a:r>
            <a:r>
              <a:rPr lang="en-US" altLang="zh-CN" sz="1300" dirty="0" smtClean="0">
                <a:ea typeface="华文楷体" panose="02010600040101010101" pitchFamily="2" charset="-122"/>
                <a:sym typeface="Symbol" panose="05050102010706020507" pitchFamily="18" charset="2"/>
              </a:rPr>
              <a:t> = p-&gt;</a:t>
            </a:r>
            <a:r>
              <a:rPr lang="en-US" altLang="zh-CN" sz="1300" dirty="0" err="1" smtClean="0">
                <a:ea typeface="华文楷体" panose="02010600040101010101" pitchFamily="2" charset="-122"/>
                <a:sym typeface="Symbol" panose="05050102010706020507" pitchFamily="18" charset="2"/>
              </a:rPr>
              <a:t>rc</a:t>
            </a:r>
            <a:r>
              <a:rPr lang="en-US" altLang="zh-CN" sz="1300" dirty="0" smtClean="0">
                <a:ea typeface="华文楷体" panose="02010600040101010101" pitchFamily="2" charset="-122"/>
                <a:sym typeface="Symbol" panose="05050102010706020507" pitchFamily="18" charset="2"/>
              </a:rPr>
              <a:t> = NULL;</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if (b==NULL)   b = p;</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else</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if (k == 1)  St[top]-&gt;</a:t>
            </a:r>
            <a:r>
              <a:rPr lang="en-US" altLang="zh-CN" sz="1300" dirty="0" err="1" smtClean="0">
                <a:ea typeface="华文楷体" panose="02010600040101010101" pitchFamily="2" charset="-122"/>
                <a:sym typeface="Symbol" panose="05050102010706020507" pitchFamily="18" charset="2"/>
              </a:rPr>
              <a:t>lc</a:t>
            </a:r>
            <a:r>
              <a:rPr lang="en-US" altLang="zh-CN" sz="1300" dirty="0" smtClean="0">
                <a:ea typeface="华文楷体" panose="02010600040101010101" pitchFamily="2" charset="-122"/>
                <a:sym typeface="Symbol" panose="05050102010706020507" pitchFamily="18" charset="2"/>
              </a:rPr>
              <a:t> = p;</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r>
              <a:rPr lang="en-US" altLang="zh-CN" sz="1300" dirty="0">
                <a:ea typeface="华文楷体" panose="02010600040101010101" pitchFamily="2" charset="-122"/>
                <a:sym typeface="Symbol" panose="05050102010706020507" pitchFamily="18" charset="2"/>
              </a:rPr>
              <a:t>if (k == </a:t>
            </a:r>
            <a:r>
              <a:rPr lang="en-US" altLang="zh-CN" sz="1300" dirty="0" smtClean="0">
                <a:ea typeface="华文楷体" panose="02010600040101010101" pitchFamily="2" charset="-122"/>
                <a:sym typeface="Symbol" panose="05050102010706020507" pitchFamily="18" charset="2"/>
              </a:rPr>
              <a:t>2)  </a:t>
            </a:r>
            <a:r>
              <a:rPr lang="en-US" altLang="zh-CN" sz="1300" dirty="0">
                <a:ea typeface="华文楷体" panose="02010600040101010101" pitchFamily="2" charset="-122"/>
                <a:sym typeface="Symbol" panose="05050102010706020507" pitchFamily="18" charset="2"/>
              </a:rPr>
              <a:t>St[top</a:t>
            </a:r>
            <a:r>
              <a:rPr lang="en-US" altLang="zh-CN" sz="1300" dirty="0" smtClean="0">
                <a:ea typeface="华文楷体" panose="02010600040101010101" pitchFamily="2" charset="-122"/>
                <a:sym typeface="Symbol" panose="05050102010706020507" pitchFamily="18" charset="2"/>
              </a:rPr>
              <a:t>]-&gt;</a:t>
            </a:r>
            <a:r>
              <a:rPr lang="en-US" altLang="zh-CN" sz="1300" dirty="0" err="1" smtClean="0">
                <a:ea typeface="华文楷体" panose="02010600040101010101" pitchFamily="2" charset="-122"/>
                <a:sym typeface="Symbol" panose="05050102010706020507" pitchFamily="18" charset="2"/>
              </a:rPr>
              <a:t>rc</a:t>
            </a:r>
            <a:r>
              <a:rPr lang="en-US" altLang="zh-CN" sz="1300" dirty="0" smtClean="0">
                <a:ea typeface="华文楷体" panose="02010600040101010101" pitchFamily="2" charset="-122"/>
                <a:sym typeface="Symbol" panose="05050102010706020507" pitchFamily="18" charset="2"/>
              </a:rPr>
              <a:t> </a:t>
            </a:r>
            <a:r>
              <a:rPr lang="en-US" altLang="zh-CN" sz="1300" dirty="0">
                <a:ea typeface="华文楷体" panose="02010600040101010101" pitchFamily="2" charset="-122"/>
                <a:sym typeface="Symbol" panose="05050102010706020507" pitchFamily="18" charset="2"/>
              </a:rPr>
              <a:t>= p</a:t>
            </a:r>
            <a:r>
              <a:rPr lang="en-US" altLang="zh-CN" sz="1300" dirty="0" smtClean="0">
                <a:ea typeface="华文楷体" panose="02010600040101010101" pitchFamily="2" charset="-122"/>
                <a:sym typeface="Symbol" panose="05050102010706020507" pitchFamily="18" charset="2"/>
              </a:rPr>
              <a:t>;</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r>
              <a:rPr lang="en-US" altLang="zh-CN" sz="1300" dirty="0" err="1" smtClean="0">
                <a:ea typeface="华文楷体" panose="02010600040101010101" pitchFamily="2" charset="-122"/>
                <a:sym typeface="Symbol" panose="05050102010706020507" pitchFamily="18" charset="2"/>
              </a:rPr>
              <a:t>ch</a:t>
            </a:r>
            <a:r>
              <a:rPr lang="en-US" altLang="zh-CN" sz="1300" dirty="0" smtClean="0">
                <a:ea typeface="华文楷体" panose="02010600040101010101" pitchFamily="2" charset="-122"/>
                <a:sym typeface="Symbol" panose="05050102010706020507" pitchFamily="18" charset="2"/>
              </a:rPr>
              <a:t> = </a:t>
            </a:r>
            <a:r>
              <a:rPr lang="en-US" altLang="zh-CN" sz="1300" dirty="0" err="1" smtClean="0">
                <a:ea typeface="华文楷体" panose="02010600040101010101" pitchFamily="2" charset="-122"/>
                <a:sym typeface="Symbol" panose="05050102010706020507" pitchFamily="18" charset="2"/>
              </a:rPr>
              <a:t>str</a:t>
            </a:r>
            <a:r>
              <a:rPr lang="en-US" altLang="zh-CN" sz="1300" dirty="0" smtClean="0">
                <a:ea typeface="华文楷体" panose="02010600040101010101" pitchFamily="2" charset="-122"/>
                <a:sym typeface="Symbol" panose="05050102010706020507" pitchFamily="18" charset="2"/>
              </a:rPr>
              <a:t>[++j];</a:t>
            </a:r>
            <a:endParaRPr lang="en-US" altLang="zh-CN" sz="1300" dirty="0" smtClean="0">
              <a:ea typeface="华文楷体" panose="02010600040101010101" pitchFamily="2" charset="-122"/>
              <a:sym typeface="Symbol" panose="05050102010706020507" pitchFamily="18" charset="2"/>
            </a:endParaRPr>
          </a:p>
          <a:p>
            <a:pPr marL="0" indent="0">
              <a:buNone/>
            </a:pPr>
            <a:r>
              <a:rPr lang="en-US" altLang="zh-CN" sz="1300" dirty="0">
                <a:ea typeface="华文楷体" panose="02010600040101010101" pitchFamily="2" charset="-122"/>
                <a:sym typeface="Symbol" panose="05050102010706020507" pitchFamily="18" charset="2"/>
              </a:rPr>
              <a:t> </a:t>
            </a:r>
            <a:r>
              <a:rPr lang="en-US" altLang="zh-CN" sz="1300" dirty="0" smtClean="0">
                <a:ea typeface="华文楷体" panose="02010600040101010101" pitchFamily="2" charset="-122"/>
                <a:sym typeface="Symbol" panose="05050102010706020507" pitchFamily="18" charset="2"/>
              </a:rPr>
              <a:t>   }</a:t>
            </a:r>
            <a:endParaRPr lang="en-US" altLang="zh-CN" sz="1300" dirty="0" smtClean="0">
              <a:ea typeface="华文楷体" panose="02010600040101010101" pitchFamily="2" charset="-122"/>
            </a:endParaRPr>
          </a:p>
          <a:p>
            <a:pPr marL="0" indent="0">
              <a:buNone/>
            </a:pPr>
            <a:r>
              <a:rPr lang="en-US" altLang="zh-CN" sz="1300" dirty="0">
                <a:ea typeface="华文楷体" panose="02010600040101010101" pitchFamily="2" charset="-122"/>
              </a:rPr>
              <a:t>}</a:t>
            </a:r>
            <a:endParaRPr lang="zh-CN" altLang="en-US" sz="1300" dirty="0">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3"/>
          <p:cNvSpPr>
            <a:spLocks noGrp="1"/>
          </p:cNvSpPr>
          <p:nvPr>
            <p:ph type="ftr" sz="quarter" idx="10"/>
          </p:nvPr>
        </p:nvSpPr>
        <p:spPr/>
        <p:txBody>
          <a:bodyPr/>
          <a:lstStyle/>
          <a:p>
            <a:pPr>
              <a:defRPr/>
            </a:pPr>
            <a:r>
              <a:rPr lang="en-US" altLang="zh-CN"/>
              <a:t>BUPT SCST</a:t>
            </a:r>
            <a:endParaRPr lang="en-US" altLang="zh-CN"/>
          </a:p>
        </p:txBody>
      </p:sp>
      <p:sp>
        <p:nvSpPr>
          <p:cNvPr id="13" name="日期占位符 5"/>
          <p:cNvSpPr>
            <a:spLocks noGrp="1"/>
          </p:cNvSpPr>
          <p:nvPr>
            <p:ph type="dt" sz="quarter" idx="12"/>
          </p:nvPr>
        </p:nvSpPr>
        <p:spPr/>
        <p:txBody>
          <a:bodyPr/>
          <a:lstStyle/>
          <a:p>
            <a:pPr>
              <a:defRPr/>
            </a:pPr>
            <a:r>
              <a:rPr lang="en-US" altLang="zh-CN"/>
              <a:t>BUPT</a:t>
            </a:r>
            <a:endParaRPr lang="en-US" altLang="zh-CN"/>
          </a:p>
        </p:txBody>
      </p:sp>
      <p:sp>
        <p:nvSpPr>
          <p:cNvPr id="15364"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6.4 </a:t>
            </a:r>
            <a:r>
              <a:rPr lang="zh-CN" altLang="en-US" sz="2800" dirty="0" smtClean="0">
                <a:ea typeface="华文楷体" panose="02010600040101010101" pitchFamily="2" charset="-122"/>
              </a:rPr>
              <a:t>二叉树的遍历</a:t>
            </a:r>
            <a:endParaRPr lang="zh-CN" altLang="en-US" sz="2800" dirty="0" smtClean="0">
              <a:ea typeface="华文楷体" panose="02010600040101010101" pitchFamily="2" charset="-122"/>
            </a:endParaRPr>
          </a:p>
        </p:txBody>
      </p:sp>
      <p:sp>
        <p:nvSpPr>
          <p:cNvPr id="15365" name="Rectangle 3"/>
          <p:cNvSpPr>
            <a:spLocks noGrp="1" noChangeArrowheads="1"/>
          </p:cNvSpPr>
          <p:nvPr>
            <p:ph idx="1"/>
          </p:nvPr>
        </p:nvSpPr>
        <p:spPr>
          <a:ln>
            <a:solidFill>
              <a:schemeClr val="accent1"/>
            </a:solidFill>
          </a:ln>
        </p:spPr>
        <p:txBody>
          <a:bodyPr/>
          <a:lstStyle/>
          <a:p>
            <a:pPr eaLnBrk="1" hangingPunct="1">
              <a:buFont typeface="Wingdings" panose="05000000000000000000" pitchFamily="2" charset="2"/>
              <a:buNone/>
            </a:pPr>
            <a:r>
              <a:rPr lang="en-US" altLang="zh-CN" sz="2800" b="1" dirty="0" smtClean="0">
                <a:solidFill>
                  <a:srgbClr val="A41506"/>
                </a:solidFill>
                <a:ea typeface="华文楷体" panose="02010600040101010101" pitchFamily="2" charset="-122"/>
              </a:rPr>
              <a:t>[</a:t>
            </a:r>
            <a:r>
              <a:rPr lang="zh-CN" altLang="en-US" sz="2800" b="1" dirty="0" smtClean="0">
                <a:solidFill>
                  <a:srgbClr val="A41506"/>
                </a:solidFill>
                <a:ea typeface="华文楷体" panose="02010600040101010101" pitchFamily="2" charset="-122"/>
              </a:rPr>
              <a:t>遍历的目的</a:t>
            </a:r>
            <a:r>
              <a:rPr lang="en-US" altLang="zh-CN" sz="2800" b="1" dirty="0" smtClean="0">
                <a:solidFill>
                  <a:srgbClr val="A41506"/>
                </a:solidFill>
                <a:ea typeface="华文楷体" panose="02010600040101010101" pitchFamily="2" charset="-122"/>
              </a:rPr>
              <a:t>]</a:t>
            </a:r>
            <a:r>
              <a:rPr lang="en-US" altLang="zh-CN" sz="2800" dirty="0" smtClean="0">
                <a:ea typeface="华文楷体" panose="02010600040101010101" pitchFamily="2" charset="-122"/>
              </a:rPr>
              <a:t> </a:t>
            </a:r>
            <a:r>
              <a:rPr lang="zh-CN" altLang="en-US" sz="2800" dirty="0" smtClean="0">
                <a:ea typeface="华文楷体" panose="02010600040101010101" pitchFamily="2" charset="-122"/>
              </a:rPr>
              <a:t>非线性结构</a:t>
            </a:r>
            <a:r>
              <a:rPr lang="zh-CN" altLang="en-US" sz="2800" dirty="0" smtClean="0">
                <a:ea typeface="华文楷体" panose="02010600040101010101" pitchFamily="2" charset="-122"/>
                <a:sym typeface="Symbol" panose="05050102010706020507" pitchFamily="18" charset="2"/>
              </a:rPr>
              <a:t>线性结构</a:t>
            </a: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800" b="1" dirty="0" smtClean="0">
                <a:solidFill>
                  <a:srgbClr val="A41506"/>
                </a:solidFill>
                <a:ea typeface="华文楷体" panose="02010600040101010101" pitchFamily="2" charset="-122"/>
                <a:sym typeface="Symbol" panose="05050102010706020507" pitchFamily="18" charset="2"/>
              </a:rPr>
              <a:t>[</a:t>
            </a:r>
            <a:r>
              <a:rPr lang="zh-CN" altLang="en-US" sz="2800" b="1" dirty="0" smtClean="0">
                <a:solidFill>
                  <a:srgbClr val="A41506"/>
                </a:solidFill>
                <a:ea typeface="华文楷体" panose="02010600040101010101" pitchFamily="2" charset="-122"/>
                <a:sym typeface="Symbol" panose="05050102010706020507" pitchFamily="18" charset="2"/>
              </a:rPr>
              <a:t>遍历的概念</a:t>
            </a:r>
            <a:r>
              <a:rPr lang="en-US" altLang="zh-CN" sz="2800" b="1" dirty="0" smtClean="0">
                <a:solidFill>
                  <a:srgbClr val="A41506"/>
                </a:solidFill>
                <a:ea typeface="华文楷体" panose="02010600040101010101" pitchFamily="2" charset="-122"/>
                <a:sym typeface="Symbol" panose="05050102010706020507" pitchFamily="18" charset="2"/>
              </a:rPr>
              <a:t>]</a:t>
            </a:r>
            <a:r>
              <a:rPr lang="en-US" altLang="zh-CN" sz="2800" dirty="0" smtClean="0">
                <a:ea typeface="华文楷体" panose="02010600040101010101" pitchFamily="2" charset="-122"/>
                <a:sym typeface="Symbol" panose="05050102010706020507" pitchFamily="18" charset="2"/>
              </a:rPr>
              <a:t> </a:t>
            </a:r>
            <a:r>
              <a:rPr lang="zh-CN" altLang="en-US" sz="2800" dirty="0" smtClean="0">
                <a:ea typeface="华文楷体" panose="02010600040101010101" pitchFamily="2" charset="-122"/>
                <a:sym typeface="Symbol" panose="05050102010706020507" pitchFamily="18" charset="2"/>
              </a:rPr>
              <a:t>指按某条搜索路线走遍二叉树的每个结点，使得树中每个结点都被访问一次，且仅被访问一次。</a:t>
            </a: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800" b="1" dirty="0" smtClean="0">
                <a:solidFill>
                  <a:srgbClr val="A41506"/>
                </a:solidFill>
                <a:ea typeface="华文楷体" panose="02010600040101010101" pitchFamily="2" charset="-122"/>
                <a:sym typeface="Symbol" panose="05050102010706020507" pitchFamily="18" charset="2"/>
              </a:rPr>
              <a:t>[</a:t>
            </a:r>
            <a:r>
              <a:rPr lang="zh-CN" altLang="en-US" sz="2800" b="1" dirty="0" smtClean="0">
                <a:solidFill>
                  <a:srgbClr val="A41506"/>
                </a:solidFill>
                <a:ea typeface="华文楷体" panose="02010600040101010101" pitchFamily="2" charset="-122"/>
                <a:sym typeface="Symbol" panose="05050102010706020507" pitchFamily="18" charset="2"/>
              </a:rPr>
              <a:t>典型的遍历方法</a:t>
            </a:r>
            <a:r>
              <a:rPr lang="en-US" altLang="zh-CN" sz="2800" b="1" dirty="0" smtClean="0">
                <a:solidFill>
                  <a:srgbClr val="A41506"/>
                </a:solidFill>
                <a:ea typeface="华文楷体" panose="02010600040101010101" pitchFamily="2" charset="-122"/>
                <a:sym typeface="Symbol" panose="05050102010706020507" pitchFamily="18" charset="2"/>
              </a:rPr>
              <a:t>]</a:t>
            </a:r>
            <a:endParaRPr lang="en-US" altLang="zh-CN" sz="2800" b="1" dirty="0" smtClean="0">
              <a:solidFill>
                <a:srgbClr val="A41506"/>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先</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根</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序遍历  </a:t>
            </a:r>
            <a:r>
              <a:rPr lang="en-US" altLang="zh-CN" sz="2800" dirty="0" smtClean="0">
                <a:ea typeface="华文楷体" panose="02010600040101010101" pitchFamily="2" charset="-122"/>
                <a:sym typeface="Symbol" panose="05050102010706020507" pitchFamily="18" charset="2"/>
              </a:rPr>
              <a:t>DLR</a:t>
            </a:r>
            <a:endParaRPr lang="en-US" altLang="zh-CN"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中</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根</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序遍历  </a:t>
            </a:r>
            <a:r>
              <a:rPr lang="en-US" altLang="zh-CN" sz="2800" dirty="0" smtClean="0">
                <a:ea typeface="华文楷体" panose="02010600040101010101" pitchFamily="2" charset="-122"/>
                <a:sym typeface="Symbol" panose="05050102010706020507" pitchFamily="18" charset="2"/>
              </a:rPr>
              <a:t>LDR</a:t>
            </a:r>
            <a:endParaRPr lang="en-US" altLang="zh-CN"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后</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根</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序遍历  </a:t>
            </a:r>
            <a:r>
              <a:rPr lang="en-US" altLang="zh-CN" sz="2800" dirty="0" smtClean="0">
                <a:ea typeface="华文楷体" panose="02010600040101010101" pitchFamily="2" charset="-122"/>
                <a:sym typeface="Symbol" panose="05050102010706020507" pitchFamily="18" charset="2"/>
              </a:rPr>
              <a:t>LRD</a:t>
            </a:r>
            <a:endParaRPr lang="en-US" altLang="zh-CN"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层序遍历</a:t>
            </a:r>
            <a:endParaRPr lang="zh-CN" altLang="en-US" sz="2800" b="1" dirty="0" smtClean="0">
              <a:solidFill>
                <a:srgbClr val="A41506"/>
              </a:solidFill>
              <a:ea typeface="华文楷体" panose="02010600040101010101" pitchFamily="2" charset="-122"/>
              <a:sym typeface="Symbol" panose="05050102010706020507" pitchFamily="18" charset="2"/>
            </a:endParaRPr>
          </a:p>
        </p:txBody>
      </p:sp>
      <p:sp>
        <p:nvSpPr>
          <p:cNvPr id="15366" name="Line 4"/>
          <p:cNvSpPr>
            <a:spLocks noChangeShapeType="1"/>
          </p:cNvSpPr>
          <p:nvPr/>
        </p:nvSpPr>
        <p:spPr bwMode="auto">
          <a:xfrm flipH="1">
            <a:off x="6934200" y="4343400"/>
            <a:ext cx="2286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5367" name="Freeform 5"/>
          <p:cNvSpPr>
            <a:spLocks noChangeArrowheads="1"/>
          </p:cNvSpPr>
          <p:nvPr/>
        </p:nvSpPr>
        <p:spPr bwMode="auto">
          <a:xfrm>
            <a:off x="6375400" y="4864100"/>
            <a:ext cx="711200" cy="685800"/>
          </a:xfrm>
          <a:custGeom>
            <a:avLst/>
            <a:gdLst>
              <a:gd name="T0" fmla="*/ 766127500 w 448"/>
              <a:gd name="T1" fmla="*/ 20161250 h 432"/>
              <a:gd name="T2" fmla="*/ 282257500 w 448"/>
              <a:gd name="T3" fmla="*/ 141128750 h 432"/>
              <a:gd name="T4" fmla="*/ 40322500 w 448"/>
              <a:gd name="T5" fmla="*/ 866933750 h 432"/>
              <a:gd name="T6" fmla="*/ 524192500 w 448"/>
              <a:gd name="T7" fmla="*/ 987901250 h 432"/>
              <a:gd name="T8" fmla="*/ 887095000 w 448"/>
              <a:gd name="T9" fmla="*/ 262096250 h 432"/>
              <a:gd name="T10" fmla="*/ 1129030000 w 448"/>
              <a:gd name="T11" fmla="*/ 141128750 h 432"/>
              <a:gd name="T12" fmla="*/ 766127500 w 448"/>
              <a:gd name="T13" fmla="*/ 20161250 h 4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32">
                <a:moveTo>
                  <a:pt x="304" y="8"/>
                </a:moveTo>
                <a:cubicBezTo>
                  <a:pt x="248" y="8"/>
                  <a:pt x="160" y="0"/>
                  <a:pt x="112" y="56"/>
                </a:cubicBezTo>
                <a:cubicBezTo>
                  <a:pt x="64" y="112"/>
                  <a:pt x="0" y="288"/>
                  <a:pt x="16" y="344"/>
                </a:cubicBezTo>
                <a:cubicBezTo>
                  <a:pt x="32" y="400"/>
                  <a:pt x="152" y="432"/>
                  <a:pt x="208" y="392"/>
                </a:cubicBezTo>
                <a:cubicBezTo>
                  <a:pt x="264" y="352"/>
                  <a:pt x="312" y="160"/>
                  <a:pt x="352" y="104"/>
                </a:cubicBezTo>
                <a:cubicBezTo>
                  <a:pt x="392" y="48"/>
                  <a:pt x="448" y="72"/>
                  <a:pt x="448" y="56"/>
                </a:cubicBezTo>
                <a:cubicBezTo>
                  <a:pt x="448" y="40"/>
                  <a:pt x="360" y="8"/>
                  <a:pt x="304" y="8"/>
                </a:cubicBezTo>
                <a:close/>
              </a:path>
            </a:pathLst>
          </a:custGeom>
          <a:solidFill>
            <a:schemeClr val="hlink"/>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5368" name="Line 6"/>
          <p:cNvSpPr>
            <a:spLocks noChangeShapeType="1"/>
          </p:cNvSpPr>
          <p:nvPr/>
        </p:nvSpPr>
        <p:spPr bwMode="auto">
          <a:xfrm>
            <a:off x="7239000" y="4343400"/>
            <a:ext cx="2286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5369" name="Freeform 7"/>
          <p:cNvSpPr>
            <a:spLocks noChangeArrowheads="1"/>
          </p:cNvSpPr>
          <p:nvPr/>
        </p:nvSpPr>
        <p:spPr bwMode="auto">
          <a:xfrm flipH="1">
            <a:off x="7315200" y="4876800"/>
            <a:ext cx="711200" cy="685800"/>
          </a:xfrm>
          <a:custGeom>
            <a:avLst/>
            <a:gdLst>
              <a:gd name="T0" fmla="*/ 766127500 w 448"/>
              <a:gd name="T1" fmla="*/ 20161250 h 432"/>
              <a:gd name="T2" fmla="*/ 282257500 w 448"/>
              <a:gd name="T3" fmla="*/ 141128750 h 432"/>
              <a:gd name="T4" fmla="*/ 40322500 w 448"/>
              <a:gd name="T5" fmla="*/ 866933750 h 432"/>
              <a:gd name="T6" fmla="*/ 524192500 w 448"/>
              <a:gd name="T7" fmla="*/ 987901250 h 432"/>
              <a:gd name="T8" fmla="*/ 887095000 w 448"/>
              <a:gd name="T9" fmla="*/ 262096250 h 432"/>
              <a:gd name="T10" fmla="*/ 1129030000 w 448"/>
              <a:gd name="T11" fmla="*/ 141128750 h 432"/>
              <a:gd name="T12" fmla="*/ 766127500 w 448"/>
              <a:gd name="T13" fmla="*/ 20161250 h 4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32">
                <a:moveTo>
                  <a:pt x="304" y="8"/>
                </a:moveTo>
                <a:cubicBezTo>
                  <a:pt x="248" y="8"/>
                  <a:pt x="160" y="0"/>
                  <a:pt x="112" y="56"/>
                </a:cubicBezTo>
                <a:cubicBezTo>
                  <a:pt x="64" y="112"/>
                  <a:pt x="0" y="288"/>
                  <a:pt x="16" y="344"/>
                </a:cubicBezTo>
                <a:cubicBezTo>
                  <a:pt x="32" y="400"/>
                  <a:pt x="152" y="432"/>
                  <a:pt x="208" y="392"/>
                </a:cubicBezTo>
                <a:cubicBezTo>
                  <a:pt x="264" y="352"/>
                  <a:pt x="312" y="160"/>
                  <a:pt x="352" y="104"/>
                </a:cubicBezTo>
                <a:cubicBezTo>
                  <a:pt x="392" y="48"/>
                  <a:pt x="448" y="72"/>
                  <a:pt x="448" y="56"/>
                </a:cubicBezTo>
                <a:cubicBezTo>
                  <a:pt x="448" y="40"/>
                  <a:pt x="360" y="8"/>
                  <a:pt x="304" y="8"/>
                </a:cubicBezTo>
                <a:close/>
              </a:path>
            </a:pathLst>
          </a:custGeom>
          <a:solidFill>
            <a:schemeClr val="hlink"/>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5370" name="Oval 8"/>
          <p:cNvSpPr>
            <a:spLocks noChangeArrowheads="1"/>
          </p:cNvSpPr>
          <p:nvPr/>
        </p:nvSpPr>
        <p:spPr bwMode="auto">
          <a:xfrm>
            <a:off x="6934200" y="3962400"/>
            <a:ext cx="457200" cy="3810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5371" name="Text Box 9"/>
          <p:cNvSpPr txBox="1">
            <a:spLocks noChangeArrowheads="1"/>
          </p:cNvSpPr>
          <p:nvPr/>
        </p:nvSpPr>
        <p:spPr bwMode="auto">
          <a:xfrm>
            <a:off x="7010400" y="39624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D</a:t>
            </a:r>
            <a:endParaRPr lang="en-US" altLang="zh-CN" sz="2000" dirty="0">
              <a:latin typeface="Times New Roman" panose="02020603050405020304" pitchFamily="18" charset="0"/>
              <a:ea typeface="华文楷体" panose="02010600040101010101" pitchFamily="2" charset="-122"/>
            </a:endParaRPr>
          </a:p>
        </p:txBody>
      </p:sp>
      <p:sp>
        <p:nvSpPr>
          <p:cNvPr id="15372" name="Text Box 10"/>
          <p:cNvSpPr txBox="1">
            <a:spLocks noChangeArrowheads="1"/>
          </p:cNvSpPr>
          <p:nvPr/>
        </p:nvSpPr>
        <p:spPr bwMode="auto">
          <a:xfrm>
            <a:off x="6477000" y="50292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L               R</a:t>
            </a:r>
            <a:endParaRPr lang="en-US" altLang="zh-CN" sz="2000" dirty="0">
              <a:latin typeface="Times New Roman" panose="02020603050405020304" pitchFamily="18" charset="0"/>
              <a:ea typeface="华文楷体" panose="02010600040101010101" pitchFamily="2" charset="-122"/>
            </a:endParaRPr>
          </a:p>
        </p:txBody>
      </p:sp>
      <p:sp>
        <p:nvSpPr>
          <p:cNvPr id="15373" name="Text Box 11"/>
          <p:cNvSpPr txBox="1">
            <a:spLocks noChangeArrowheads="1"/>
          </p:cNvSpPr>
          <p:nvPr/>
        </p:nvSpPr>
        <p:spPr bwMode="auto">
          <a:xfrm>
            <a:off x="990600" y="57150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zh-CN" altLang="en-US" sz="2400">
                <a:solidFill>
                  <a:schemeClr val="accent2"/>
                </a:solidFill>
                <a:latin typeface="Times New Roman" panose="02020603050405020304" pitchFamily="18" charset="0"/>
                <a:ea typeface="楷体_GB2312" pitchFamily="49" charset="-122"/>
              </a:rPr>
              <a:t>上述逆序方式很少使用</a:t>
            </a:r>
            <a:endParaRPr lang="zh-CN" altLang="en-US" sz="2400">
              <a:solidFill>
                <a:schemeClr val="accent2"/>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62100" y="1189037"/>
            <a:ext cx="6781730" cy="5410058"/>
          </a:xfrm>
          <a:ln>
            <a:solidFill>
              <a:schemeClr val="accent1"/>
            </a:solidFill>
          </a:ln>
        </p:spPr>
        <p:txBody>
          <a:bodyPr/>
          <a:lstStyle/>
          <a:p>
            <a:pPr marL="0" indent="0">
              <a:buNone/>
            </a:pPr>
            <a:r>
              <a:rPr lang="en-US" altLang="zh-CN" sz="2200" b="1" dirty="0">
                <a:solidFill>
                  <a:srgbClr val="C00000"/>
                </a:solidFill>
                <a:latin typeface="华文楷体" panose="02010600040101010101" pitchFamily="2" charset="-122"/>
                <a:ea typeface="华文楷体" panose="02010600040101010101" pitchFamily="2" charset="-122"/>
              </a:rPr>
              <a:t>[</a:t>
            </a:r>
            <a:r>
              <a:rPr lang="zh-CN" altLang="en-US" sz="2200" b="1" dirty="0" smtClean="0">
                <a:solidFill>
                  <a:srgbClr val="C00000"/>
                </a:solidFill>
                <a:latin typeface="华文楷体" panose="02010600040101010101" pitchFamily="2" charset="-122"/>
                <a:ea typeface="华文楷体" panose="02010600040101010101" pitchFamily="2" charset="-122"/>
              </a:rPr>
              <a:t>算法描述</a:t>
            </a:r>
            <a:r>
              <a:rPr lang="en-US" altLang="zh-CN" sz="2200" b="1" dirty="0" smtClean="0">
                <a:solidFill>
                  <a:srgbClr val="C00000"/>
                </a:solidFill>
                <a:latin typeface="华文楷体" panose="02010600040101010101" pitchFamily="2" charset="-122"/>
                <a:ea typeface="华文楷体" panose="02010600040101010101" pitchFamily="2" charset="-122"/>
              </a:rPr>
              <a:t>]</a:t>
            </a:r>
            <a:endParaRPr lang="en-US" altLang="zh-CN" sz="2200" b="1" dirty="0" smtClean="0">
              <a:solidFill>
                <a:srgbClr val="C00000"/>
              </a:solidFill>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先序遍历非空二叉树：</a:t>
            </a:r>
            <a:endParaRPr lang="en-US" altLang="zh-CN" sz="2200" dirty="0" smtClean="0">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①访问根；</a:t>
            </a:r>
            <a:endParaRPr lang="en-US" altLang="zh-CN" sz="2200" dirty="0" smtClean="0">
              <a:latin typeface="华文楷体" panose="02010600040101010101" pitchFamily="2" charset="-122"/>
              <a:ea typeface="华文楷体" panose="02010600040101010101" pitchFamily="2" charset="-122"/>
            </a:endParaRPr>
          </a:p>
          <a:p>
            <a:pPr marL="0" indent="0">
              <a:buNone/>
            </a:pPr>
            <a:r>
              <a:rPr lang="zh-CN" altLang="zh-CN" sz="2200" dirty="0" smtClean="0">
                <a:latin typeface="华文楷体" panose="02010600040101010101" pitchFamily="2" charset="-122"/>
                <a:ea typeface="华文楷体" panose="02010600040101010101" pitchFamily="2" charset="-122"/>
              </a:rPr>
              <a:t>②</a:t>
            </a:r>
            <a:r>
              <a:rPr lang="zh-CN" altLang="en-US" sz="2200" dirty="0">
                <a:latin typeface="华文楷体" panose="02010600040101010101" pitchFamily="2" charset="-122"/>
                <a:ea typeface="华文楷体" panose="02010600040101010101" pitchFamily="2" charset="-122"/>
              </a:rPr>
              <a:t>先序</a:t>
            </a:r>
            <a:r>
              <a:rPr lang="zh-CN" altLang="en-US" sz="2200" dirty="0" smtClean="0">
                <a:latin typeface="华文楷体" panose="02010600040101010101" pitchFamily="2" charset="-122"/>
                <a:ea typeface="华文楷体" panose="02010600040101010101" pitchFamily="2" charset="-122"/>
              </a:rPr>
              <a:t>遍历左子树；</a:t>
            </a:r>
            <a:endParaRPr lang="en-US" altLang="zh-CN" sz="2200" dirty="0" smtClean="0">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③先序遍历右子树。</a:t>
            </a:r>
            <a:endParaRPr lang="en-US" altLang="zh-CN" sz="2200" dirty="0" smtClean="0">
              <a:latin typeface="华文楷体" panose="02010600040101010101" pitchFamily="2" charset="-122"/>
              <a:ea typeface="华文楷体" panose="02010600040101010101" pitchFamily="2" charset="-122"/>
            </a:endParaRPr>
          </a:p>
          <a:p>
            <a:pPr marL="0" indent="0">
              <a:buNone/>
            </a:pPr>
            <a:r>
              <a:rPr lang="zh-CN" altLang="en-US" sz="2200" dirty="0">
                <a:latin typeface="华文楷体" panose="02010600040101010101" pitchFamily="2" charset="-122"/>
                <a:ea typeface="华文楷体" panose="02010600040101010101" pitchFamily="2" charset="-122"/>
              </a:rPr>
              <a:t>中</a:t>
            </a:r>
            <a:r>
              <a:rPr lang="zh-CN" altLang="en-US" sz="2200" dirty="0" smtClean="0">
                <a:latin typeface="华文楷体" panose="02010600040101010101" pitchFamily="2" charset="-122"/>
                <a:ea typeface="华文楷体" panose="02010600040101010101" pitchFamily="2" charset="-122"/>
              </a:rPr>
              <a:t>序</a:t>
            </a:r>
            <a:r>
              <a:rPr lang="zh-CN" altLang="en-US" sz="2200" dirty="0">
                <a:latin typeface="华文楷体" panose="02010600040101010101" pitchFamily="2" charset="-122"/>
                <a:ea typeface="华文楷体" panose="02010600040101010101" pitchFamily="2" charset="-122"/>
              </a:rPr>
              <a:t>遍历非空二叉树：</a:t>
            </a:r>
            <a:endParaRPr lang="en-US" altLang="zh-CN" sz="2200" dirty="0">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①</a:t>
            </a:r>
            <a:r>
              <a:rPr lang="zh-CN" altLang="en-US" sz="2200" dirty="0">
                <a:latin typeface="华文楷体" panose="02010600040101010101" pitchFamily="2" charset="-122"/>
                <a:ea typeface="华文楷体" panose="02010600040101010101" pitchFamily="2" charset="-122"/>
              </a:rPr>
              <a:t>中序</a:t>
            </a:r>
            <a:r>
              <a:rPr lang="zh-CN" altLang="en-US" sz="2200" dirty="0" smtClean="0">
                <a:latin typeface="华文楷体" panose="02010600040101010101" pitchFamily="2" charset="-122"/>
                <a:ea typeface="华文楷体" panose="02010600040101010101" pitchFamily="2" charset="-122"/>
              </a:rPr>
              <a:t>遍历左子树；</a:t>
            </a:r>
            <a:endParaRPr lang="en-US" altLang="zh-CN" sz="2200" dirty="0">
              <a:latin typeface="华文楷体" panose="02010600040101010101" pitchFamily="2" charset="-122"/>
              <a:ea typeface="华文楷体" panose="02010600040101010101" pitchFamily="2" charset="-122"/>
            </a:endParaRPr>
          </a:p>
          <a:p>
            <a:pPr marL="0" indent="0">
              <a:buNone/>
            </a:pPr>
            <a:r>
              <a:rPr lang="zh-CN" altLang="zh-CN" sz="2200" dirty="0" smtClean="0">
                <a:latin typeface="华文楷体" panose="02010600040101010101" pitchFamily="2" charset="-122"/>
                <a:ea typeface="华文楷体" panose="02010600040101010101" pitchFamily="2" charset="-122"/>
              </a:rPr>
              <a:t>②</a:t>
            </a:r>
            <a:r>
              <a:rPr lang="zh-CN" altLang="en-US" sz="2200" dirty="0">
                <a:latin typeface="华文楷体" panose="02010600040101010101" pitchFamily="2" charset="-122"/>
                <a:ea typeface="华文楷体" panose="02010600040101010101" pitchFamily="2" charset="-122"/>
              </a:rPr>
              <a:t>访问根； </a:t>
            </a:r>
            <a:endParaRPr lang="en-US" altLang="zh-CN" sz="2200" dirty="0" smtClean="0">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③中序</a:t>
            </a:r>
            <a:r>
              <a:rPr lang="zh-CN" altLang="en-US" sz="2200" dirty="0">
                <a:latin typeface="华文楷体" panose="02010600040101010101" pitchFamily="2" charset="-122"/>
                <a:ea typeface="华文楷体" panose="02010600040101010101" pitchFamily="2" charset="-122"/>
              </a:rPr>
              <a:t>遍历右子树</a:t>
            </a:r>
            <a:r>
              <a:rPr lang="zh-CN" altLang="en-US" sz="2200" dirty="0" smtClean="0">
                <a:latin typeface="华文楷体" panose="02010600040101010101" pitchFamily="2" charset="-122"/>
                <a:ea typeface="华文楷体" panose="02010600040101010101" pitchFamily="2" charset="-122"/>
              </a:rPr>
              <a:t>。</a:t>
            </a:r>
            <a:endParaRPr lang="en-US" altLang="zh-CN" sz="2200" dirty="0" smtClean="0">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后序</a:t>
            </a:r>
            <a:r>
              <a:rPr lang="zh-CN" altLang="en-US" sz="2200" dirty="0">
                <a:latin typeface="华文楷体" panose="02010600040101010101" pitchFamily="2" charset="-122"/>
                <a:ea typeface="华文楷体" panose="02010600040101010101" pitchFamily="2" charset="-122"/>
              </a:rPr>
              <a:t>遍历非空二叉树：</a:t>
            </a:r>
            <a:endParaRPr lang="en-US" altLang="zh-CN" sz="2200" dirty="0">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①</a:t>
            </a:r>
            <a:r>
              <a:rPr lang="zh-CN" altLang="en-US" sz="2200" dirty="0">
                <a:latin typeface="华文楷体" panose="02010600040101010101" pitchFamily="2" charset="-122"/>
                <a:ea typeface="华文楷体" panose="02010600040101010101" pitchFamily="2" charset="-122"/>
              </a:rPr>
              <a:t>后</a:t>
            </a:r>
            <a:r>
              <a:rPr lang="zh-CN" altLang="en-US" sz="2200" dirty="0" smtClean="0">
                <a:latin typeface="华文楷体" panose="02010600040101010101" pitchFamily="2" charset="-122"/>
                <a:ea typeface="华文楷体" panose="02010600040101010101" pitchFamily="2" charset="-122"/>
              </a:rPr>
              <a:t>序</a:t>
            </a:r>
            <a:r>
              <a:rPr lang="zh-CN" altLang="en-US" sz="2200" dirty="0">
                <a:latin typeface="华文楷体" panose="02010600040101010101" pitchFamily="2" charset="-122"/>
                <a:ea typeface="华文楷体" panose="02010600040101010101" pitchFamily="2" charset="-122"/>
              </a:rPr>
              <a:t>遍历左子树</a:t>
            </a:r>
            <a:r>
              <a:rPr lang="zh-CN" altLang="en-US" sz="2200" dirty="0" smtClean="0">
                <a:latin typeface="华文楷体" panose="02010600040101010101" pitchFamily="2" charset="-122"/>
                <a:ea typeface="华文楷体" panose="02010600040101010101" pitchFamily="2" charset="-122"/>
              </a:rPr>
              <a:t>；</a:t>
            </a:r>
            <a:endParaRPr lang="en-US" altLang="zh-CN" sz="2200" dirty="0">
              <a:latin typeface="华文楷体" panose="02010600040101010101" pitchFamily="2" charset="-122"/>
              <a:ea typeface="华文楷体" panose="02010600040101010101" pitchFamily="2" charset="-122"/>
            </a:endParaRPr>
          </a:p>
          <a:p>
            <a:pPr marL="0" indent="0">
              <a:buNone/>
            </a:pPr>
            <a:r>
              <a:rPr lang="zh-CN" altLang="zh-CN" sz="2200" dirty="0" smtClean="0">
                <a:latin typeface="华文楷体" panose="02010600040101010101" pitchFamily="2" charset="-122"/>
                <a:ea typeface="华文楷体" panose="02010600040101010101" pitchFamily="2" charset="-122"/>
              </a:rPr>
              <a:t>②</a:t>
            </a:r>
            <a:r>
              <a:rPr lang="zh-CN" altLang="en-US" sz="2200" dirty="0">
                <a:latin typeface="华文楷体" panose="02010600040101010101" pitchFamily="2" charset="-122"/>
                <a:ea typeface="华文楷体" panose="02010600040101010101" pitchFamily="2" charset="-122"/>
              </a:rPr>
              <a:t>后序遍历右子树</a:t>
            </a:r>
            <a:endParaRPr lang="en-US" altLang="zh-CN" sz="2200" dirty="0">
              <a:latin typeface="华文楷体" panose="02010600040101010101" pitchFamily="2" charset="-122"/>
              <a:ea typeface="华文楷体" panose="02010600040101010101" pitchFamily="2" charset="-122"/>
            </a:endParaRPr>
          </a:p>
          <a:p>
            <a:pPr marL="0" indent="0">
              <a:buNone/>
            </a:pPr>
            <a:r>
              <a:rPr lang="zh-CN" altLang="en-US" sz="2200" dirty="0" smtClean="0">
                <a:latin typeface="华文楷体" panose="02010600040101010101" pitchFamily="2" charset="-122"/>
                <a:ea typeface="华文楷体" panose="02010600040101010101" pitchFamily="2" charset="-122"/>
              </a:rPr>
              <a:t>③访问</a:t>
            </a:r>
            <a:r>
              <a:rPr lang="zh-CN" altLang="en-US" sz="2200" dirty="0">
                <a:latin typeface="华文楷体" panose="02010600040101010101" pitchFamily="2" charset="-122"/>
                <a:ea typeface="华文楷体" panose="02010600040101010101" pitchFamily="2" charset="-122"/>
              </a:rPr>
              <a:t>根</a:t>
            </a:r>
            <a:r>
              <a:rPr lang="zh-CN" altLang="en-US" sz="2200" dirty="0" smtClean="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marL="0" indent="0">
              <a:buNone/>
            </a:pPr>
            <a:endParaRPr lang="zh-CN" altLang="en-US" sz="2400" dirty="0">
              <a:latin typeface="华文楷体" panose="02010600040101010101" pitchFamily="2" charset="-122"/>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页脚占位符 3"/>
          <p:cNvSpPr>
            <a:spLocks noGrp="1"/>
          </p:cNvSpPr>
          <p:nvPr>
            <p:ph type="ftr" sz="quarter" idx="10"/>
          </p:nvPr>
        </p:nvSpPr>
        <p:spPr/>
        <p:txBody>
          <a:bodyPr/>
          <a:lstStyle/>
          <a:p>
            <a:pPr>
              <a:defRPr/>
            </a:pPr>
            <a:r>
              <a:rPr lang="en-US" altLang="zh-CN"/>
              <a:t>BUPT SCST</a:t>
            </a:r>
            <a:endParaRPr lang="en-US" altLang="zh-CN"/>
          </a:p>
        </p:txBody>
      </p:sp>
      <p:sp>
        <p:nvSpPr>
          <p:cNvPr id="62" name="日期占位符 5"/>
          <p:cNvSpPr>
            <a:spLocks noGrp="1"/>
          </p:cNvSpPr>
          <p:nvPr>
            <p:ph type="dt" sz="quarter" idx="12"/>
          </p:nvPr>
        </p:nvSpPr>
        <p:spPr/>
        <p:txBody>
          <a:bodyPr/>
          <a:lstStyle/>
          <a:p>
            <a:pPr>
              <a:defRPr/>
            </a:pPr>
            <a:r>
              <a:rPr lang="en-US" altLang="zh-CN"/>
              <a:t>BUPT</a:t>
            </a:r>
            <a:endParaRPr lang="en-US" altLang="zh-CN"/>
          </a:p>
        </p:txBody>
      </p:sp>
      <p:sp>
        <p:nvSpPr>
          <p:cNvPr id="16388" name="Rectangle 5"/>
          <p:cNvSpPr>
            <a:spLocks noGrp="1" noChangeArrowheads="1"/>
          </p:cNvSpPr>
          <p:nvPr>
            <p:ph idx="1"/>
          </p:nvPr>
        </p:nvSpPr>
        <p:spPr>
          <a:xfrm>
            <a:off x="685800" y="1198563"/>
            <a:ext cx="7772400" cy="5262562"/>
          </a:xfrm>
        </p:spPr>
        <p:txBody>
          <a:bodyPr/>
          <a:lstStyle/>
          <a:p>
            <a:pPr eaLnBrk="1" hangingPunct="1">
              <a:buFont typeface="Wingdings" panose="05000000000000000000" pitchFamily="2" charset="2"/>
              <a:buNone/>
            </a:pPr>
            <a:r>
              <a:rPr lang="zh-CN" altLang="en-US" sz="2400" dirty="0" smtClean="0">
                <a:ea typeface="华文楷体" panose="02010600040101010101" pitchFamily="2" charset="-122"/>
              </a:rPr>
              <a:t>先序遍历：</a:t>
            </a:r>
            <a:r>
              <a:rPr lang="en-US" altLang="zh-CN" sz="2400" dirty="0" smtClean="0">
                <a:ea typeface="华文楷体" panose="02010600040101010101" pitchFamily="2" charset="-122"/>
              </a:rPr>
              <a:t>ABDEC</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中序遍历：</a:t>
            </a:r>
            <a:r>
              <a:rPr lang="en-US" altLang="zh-CN" sz="2400" dirty="0" smtClean="0">
                <a:ea typeface="华文楷体" panose="02010600040101010101" pitchFamily="2" charset="-122"/>
              </a:rPr>
              <a:t>DBEAC</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后序遍历：</a:t>
            </a:r>
            <a:r>
              <a:rPr lang="en-US" altLang="zh-CN" sz="2400" dirty="0" smtClean="0">
                <a:ea typeface="华文楷体" panose="02010600040101010101" pitchFamily="2" charset="-122"/>
              </a:rPr>
              <a:t>DEBCA</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a:t>
            </a:r>
            <a:r>
              <a:rPr lang="zh-CN" altLang="en-US" sz="2400" b="1" dirty="0" smtClean="0">
                <a:ea typeface="华文楷体" panose="02010600040101010101" pitchFamily="2" charset="-122"/>
              </a:rPr>
              <a:t>利用遍历结果确定二叉树</a:t>
            </a:r>
            <a:r>
              <a:rPr lang="en-US" altLang="zh-CN" sz="2400" b="1" dirty="0" smtClean="0">
                <a:ea typeface="华文楷体" panose="02010600040101010101" pitchFamily="2" charset="-122"/>
              </a:rPr>
              <a:t>]</a:t>
            </a: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先序序列</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中序序列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中序序列</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后序序列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先序序列</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后序序列</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en-US" sz="2000" dirty="0" smtClean="0">
                <a:ea typeface="华文楷体" panose="02010600040101010101" pitchFamily="2" charset="-122"/>
              </a:rPr>
              <a:t>先序序列</a:t>
            </a:r>
            <a:r>
              <a:rPr lang="en-US" altLang="zh-CN" sz="2000" dirty="0" smtClean="0">
                <a:ea typeface="华文楷体" panose="02010600040101010101" pitchFamily="2" charset="-122"/>
              </a:rPr>
              <a:t>: </a:t>
            </a:r>
            <a:r>
              <a:rPr lang="en-US" altLang="zh-CN" sz="2000" b="1" dirty="0" smtClean="0">
                <a:ea typeface="华文楷体" panose="02010600040101010101" pitchFamily="2" charset="-122"/>
              </a:rPr>
              <a:t>A</a:t>
            </a:r>
            <a:r>
              <a:rPr lang="en-US" altLang="zh-CN" sz="2000" dirty="0" smtClean="0">
                <a:solidFill>
                  <a:schemeClr val="accent1"/>
                </a:solidFill>
                <a:ea typeface="华文楷体" panose="02010600040101010101" pitchFamily="2" charset="-122"/>
              </a:rPr>
              <a:t>BCDE</a:t>
            </a:r>
            <a:r>
              <a:rPr lang="en-US" altLang="zh-CN" sz="2000" dirty="0" smtClean="0">
                <a:solidFill>
                  <a:srgbClr val="A41506"/>
                </a:solidFill>
                <a:ea typeface="华文楷体" panose="02010600040101010101" pitchFamily="2" charset="-122"/>
              </a:rPr>
              <a:t>FGH</a:t>
            </a:r>
            <a:endParaRPr lang="en-US" altLang="zh-CN" sz="2000" dirty="0" smtClean="0">
              <a:solidFill>
                <a:srgbClr val="A41506"/>
              </a:solidFill>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中序序列</a:t>
            </a:r>
            <a:r>
              <a:rPr lang="en-US" altLang="zh-CN" sz="2000" dirty="0" smtClean="0">
                <a:ea typeface="华文楷体" panose="02010600040101010101" pitchFamily="2" charset="-122"/>
              </a:rPr>
              <a:t>: </a:t>
            </a:r>
            <a:r>
              <a:rPr lang="en-US" altLang="zh-CN" sz="2000" dirty="0" smtClean="0">
                <a:solidFill>
                  <a:schemeClr val="accent1"/>
                </a:solidFill>
                <a:ea typeface="华文楷体" panose="02010600040101010101" pitchFamily="2" charset="-122"/>
              </a:rPr>
              <a:t>BDCE</a:t>
            </a:r>
            <a:r>
              <a:rPr lang="en-US" altLang="zh-CN" sz="2000" b="1" dirty="0" smtClean="0">
                <a:ea typeface="华文楷体" panose="02010600040101010101" pitchFamily="2" charset="-122"/>
              </a:rPr>
              <a:t>A</a:t>
            </a:r>
            <a:r>
              <a:rPr lang="en-US" altLang="zh-CN" sz="2000" dirty="0" smtClean="0">
                <a:solidFill>
                  <a:srgbClr val="A41506"/>
                </a:solidFill>
                <a:ea typeface="华文楷体" panose="02010600040101010101" pitchFamily="2" charset="-122"/>
              </a:rPr>
              <a:t>FHG</a:t>
            </a:r>
            <a:endParaRPr lang="en-US" altLang="zh-CN" sz="2000" dirty="0" smtClean="0">
              <a:solidFill>
                <a:srgbClr val="A41506"/>
              </a:solidFill>
              <a:ea typeface="华文楷体" panose="02010600040101010101" pitchFamily="2" charset="-122"/>
            </a:endParaRPr>
          </a:p>
        </p:txBody>
      </p:sp>
      <p:sp>
        <p:nvSpPr>
          <p:cNvPr id="16389" name="Oval 6"/>
          <p:cNvSpPr>
            <a:spLocks noChangeArrowheads="1"/>
          </p:cNvSpPr>
          <p:nvPr/>
        </p:nvSpPr>
        <p:spPr bwMode="auto">
          <a:xfrm>
            <a:off x="6096000" y="1122363"/>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390" name="Oval 7"/>
          <p:cNvSpPr>
            <a:spLocks noChangeArrowheads="1"/>
          </p:cNvSpPr>
          <p:nvPr/>
        </p:nvSpPr>
        <p:spPr bwMode="auto">
          <a:xfrm>
            <a:off x="5715000" y="1579563"/>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391" name="Oval 8"/>
          <p:cNvSpPr>
            <a:spLocks noChangeArrowheads="1"/>
          </p:cNvSpPr>
          <p:nvPr/>
        </p:nvSpPr>
        <p:spPr bwMode="auto">
          <a:xfrm>
            <a:off x="6477000" y="1579563"/>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392" name="Oval 9"/>
          <p:cNvSpPr>
            <a:spLocks noChangeArrowheads="1"/>
          </p:cNvSpPr>
          <p:nvPr/>
        </p:nvSpPr>
        <p:spPr bwMode="auto">
          <a:xfrm>
            <a:off x="5486400" y="2189163"/>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393" name="Oval 10"/>
          <p:cNvSpPr>
            <a:spLocks noChangeArrowheads="1"/>
          </p:cNvSpPr>
          <p:nvPr/>
        </p:nvSpPr>
        <p:spPr bwMode="auto">
          <a:xfrm>
            <a:off x="6172200" y="2189163"/>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394" name="Text Box 11"/>
          <p:cNvSpPr txBox="1">
            <a:spLocks noChangeArrowheads="1"/>
          </p:cNvSpPr>
          <p:nvPr/>
        </p:nvSpPr>
        <p:spPr bwMode="auto">
          <a:xfrm>
            <a:off x="5927725" y="838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zh-CN" sz="2400" dirty="0">
              <a:latin typeface="Times New Roman" panose="02020603050405020304" pitchFamily="18" charset="0"/>
              <a:ea typeface="华文楷体" panose="02010600040101010101" pitchFamily="2" charset="-122"/>
            </a:endParaRPr>
          </a:p>
        </p:txBody>
      </p:sp>
      <p:sp>
        <p:nvSpPr>
          <p:cNvPr id="16395" name="Text Box 12"/>
          <p:cNvSpPr txBox="1">
            <a:spLocks noChangeArrowheads="1"/>
          </p:cNvSpPr>
          <p:nvPr/>
        </p:nvSpPr>
        <p:spPr bwMode="auto">
          <a:xfrm>
            <a:off x="6096000" y="1046163"/>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A</a:t>
            </a:r>
            <a:endParaRPr lang="en-US" altLang="zh-CN" sz="2000" dirty="0">
              <a:latin typeface="Times New Roman" panose="02020603050405020304" pitchFamily="18" charset="0"/>
              <a:ea typeface="华文楷体" panose="02010600040101010101" pitchFamily="2" charset="-122"/>
            </a:endParaRPr>
          </a:p>
        </p:txBody>
      </p:sp>
      <p:sp>
        <p:nvSpPr>
          <p:cNvPr id="16396" name="Text Box 13"/>
          <p:cNvSpPr txBox="1">
            <a:spLocks noChangeArrowheads="1"/>
          </p:cNvSpPr>
          <p:nvPr/>
        </p:nvSpPr>
        <p:spPr bwMode="auto">
          <a:xfrm>
            <a:off x="5715000" y="1503363"/>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B         C</a:t>
            </a:r>
            <a:endParaRPr lang="en-US" altLang="zh-CN" sz="2000" dirty="0">
              <a:latin typeface="Times New Roman" panose="02020603050405020304" pitchFamily="18" charset="0"/>
              <a:ea typeface="华文楷体" panose="02010600040101010101" pitchFamily="2" charset="-122"/>
            </a:endParaRPr>
          </a:p>
        </p:txBody>
      </p:sp>
      <p:sp>
        <p:nvSpPr>
          <p:cNvPr id="16397" name="Text Box 14"/>
          <p:cNvSpPr txBox="1">
            <a:spLocks noChangeArrowheads="1"/>
          </p:cNvSpPr>
          <p:nvPr/>
        </p:nvSpPr>
        <p:spPr bwMode="auto">
          <a:xfrm>
            <a:off x="5486400" y="2112963"/>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D        E</a:t>
            </a:r>
            <a:endParaRPr lang="en-US" altLang="zh-CN" sz="2000" dirty="0">
              <a:latin typeface="Times New Roman" panose="02020603050405020304" pitchFamily="18" charset="0"/>
              <a:ea typeface="华文楷体" panose="02010600040101010101" pitchFamily="2" charset="-122"/>
            </a:endParaRPr>
          </a:p>
        </p:txBody>
      </p:sp>
      <p:sp>
        <p:nvSpPr>
          <p:cNvPr id="16398" name="Line 15"/>
          <p:cNvSpPr>
            <a:spLocks noChangeShapeType="1"/>
          </p:cNvSpPr>
          <p:nvPr/>
        </p:nvSpPr>
        <p:spPr bwMode="auto">
          <a:xfrm flipH="1">
            <a:off x="5867400" y="1427163"/>
            <a:ext cx="3048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399" name="Line 16"/>
          <p:cNvSpPr>
            <a:spLocks noChangeShapeType="1"/>
          </p:cNvSpPr>
          <p:nvPr/>
        </p:nvSpPr>
        <p:spPr bwMode="auto">
          <a:xfrm>
            <a:off x="6324600" y="1427163"/>
            <a:ext cx="3048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0" name="Line 17"/>
          <p:cNvSpPr>
            <a:spLocks noChangeShapeType="1"/>
          </p:cNvSpPr>
          <p:nvPr/>
        </p:nvSpPr>
        <p:spPr bwMode="auto">
          <a:xfrm flipH="1">
            <a:off x="5638800" y="1884363"/>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1" name="Line 18"/>
          <p:cNvSpPr>
            <a:spLocks noChangeShapeType="1"/>
          </p:cNvSpPr>
          <p:nvPr/>
        </p:nvSpPr>
        <p:spPr bwMode="auto">
          <a:xfrm>
            <a:off x="5867400" y="1884363"/>
            <a:ext cx="533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2" name="Arc 19"/>
          <p:cNvSpPr>
            <a:spLocks noChangeArrowheads="1"/>
          </p:cNvSpPr>
          <p:nvPr/>
        </p:nvSpPr>
        <p:spPr bwMode="auto">
          <a:xfrm flipH="1" flipV="1">
            <a:off x="5257800" y="2265363"/>
            <a:ext cx="381000" cy="381000"/>
          </a:xfrm>
          <a:custGeom>
            <a:avLst/>
            <a:gdLst>
              <a:gd name="T0" fmla="*/ 0 w 21600"/>
              <a:gd name="T1" fmla="*/ 0 h 21600"/>
              <a:gd name="T2" fmla="*/ 6720417 w 21600"/>
              <a:gd name="T3" fmla="*/ 6720417 h 21600"/>
              <a:gd name="T4" fmla="*/ 0 w 21600"/>
              <a:gd name="T5" fmla="*/ 0 h 21600"/>
              <a:gd name="T6" fmla="*/ 6720417 w 21600"/>
              <a:gd name="T7" fmla="*/ 6720417 h 21600"/>
              <a:gd name="T8" fmla="*/ 0 w 21600"/>
              <a:gd name="T9" fmla="*/ 67204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3" name="Arc 20"/>
          <p:cNvSpPr>
            <a:spLocks noChangeArrowheads="1"/>
          </p:cNvSpPr>
          <p:nvPr/>
        </p:nvSpPr>
        <p:spPr bwMode="auto">
          <a:xfrm flipV="1">
            <a:off x="5638800" y="2265363"/>
            <a:ext cx="228600" cy="381000"/>
          </a:xfrm>
          <a:custGeom>
            <a:avLst/>
            <a:gdLst>
              <a:gd name="T0" fmla="*/ 0 w 21600"/>
              <a:gd name="T1" fmla="*/ 0 h 21600"/>
              <a:gd name="T2" fmla="*/ 2419350 w 21600"/>
              <a:gd name="T3" fmla="*/ 6720417 h 21600"/>
              <a:gd name="T4" fmla="*/ 0 w 21600"/>
              <a:gd name="T5" fmla="*/ 0 h 21600"/>
              <a:gd name="T6" fmla="*/ 2419350 w 21600"/>
              <a:gd name="T7" fmla="*/ 6720417 h 21600"/>
              <a:gd name="T8" fmla="*/ 0 w 21600"/>
              <a:gd name="T9" fmla="*/ 67204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4" name="Arc 21"/>
          <p:cNvSpPr>
            <a:spLocks noChangeArrowheads="1"/>
          </p:cNvSpPr>
          <p:nvPr/>
        </p:nvSpPr>
        <p:spPr bwMode="auto">
          <a:xfrm flipH="1">
            <a:off x="5867400" y="2189163"/>
            <a:ext cx="76200" cy="152400"/>
          </a:xfrm>
          <a:custGeom>
            <a:avLst/>
            <a:gdLst>
              <a:gd name="T0" fmla="*/ 0 w 21600"/>
              <a:gd name="T1" fmla="*/ 0 h 21600"/>
              <a:gd name="T2" fmla="*/ 268817 w 21600"/>
              <a:gd name="T3" fmla="*/ 1075267 h 21600"/>
              <a:gd name="T4" fmla="*/ 0 w 21600"/>
              <a:gd name="T5" fmla="*/ 0 h 21600"/>
              <a:gd name="T6" fmla="*/ 268817 w 21600"/>
              <a:gd name="T7" fmla="*/ 1075267 h 21600"/>
              <a:gd name="T8" fmla="*/ 0 w 21600"/>
              <a:gd name="T9" fmla="*/ 107526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5" name="Arc 22"/>
          <p:cNvSpPr>
            <a:spLocks noChangeArrowheads="1"/>
          </p:cNvSpPr>
          <p:nvPr/>
        </p:nvSpPr>
        <p:spPr bwMode="auto">
          <a:xfrm>
            <a:off x="5943600" y="2189163"/>
            <a:ext cx="152400" cy="76200"/>
          </a:xfrm>
          <a:custGeom>
            <a:avLst/>
            <a:gdLst>
              <a:gd name="T0" fmla="*/ 0 w 21600"/>
              <a:gd name="T1" fmla="*/ 0 h 21600"/>
              <a:gd name="T2" fmla="*/ 1075267 w 21600"/>
              <a:gd name="T3" fmla="*/ 268817 h 21600"/>
              <a:gd name="T4" fmla="*/ 0 w 21600"/>
              <a:gd name="T5" fmla="*/ 0 h 21600"/>
              <a:gd name="T6" fmla="*/ 1075267 w 21600"/>
              <a:gd name="T7" fmla="*/ 268817 h 21600"/>
              <a:gd name="T8" fmla="*/ 0 w 21600"/>
              <a:gd name="T9" fmla="*/ 2688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6" name="Arc 23"/>
          <p:cNvSpPr>
            <a:spLocks noChangeArrowheads="1"/>
          </p:cNvSpPr>
          <p:nvPr/>
        </p:nvSpPr>
        <p:spPr bwMode="auto">
          <a:xfrm flipH="1" flipV="1">
            <a:off x="6096000" y="2265363"/>
            <a:ext cx="228600" cy="457200"/>
          </a:xfrm>
          <a:custGeom>
            <a:avLst/>
            <a:gdLst>
              <a:gd name="T0" fmla="*/ 0 w 21600"/>
              <a:gd name="T1" fmla="*/ 0 h 21600"/>
              <a:gd name="T2" fmla="*/ 2419350 w 21600"/>
              <a:gd name="T3" fmla="*/ 9677400 h 21600"/>
              <a:gd name="T4" fmla="*/ 0 w 21600"/>
              <a:gd name="T5" fmla="*/ 0 h 21600"/>
              <a:gd name="T6" fmla="*/ 2419350 w 21600"/>
              <a:gd name="T7" fmla="*/ 9677400 h 21600"/>
              <a:gd name="T8" fmla="*/ 0 w 21600"/>
              <a:gd name="T9" fmla="*/ 967740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7" name="Arc 24"/>
          <p:cNvSpPr>
            <a:spLocks noChangeArrowheads="1"/>
          </p:cNvSpPr>
          <p:nvPr/>
        </p:nvSpPr>
        <p:spPr bwMode="auto">
          <a:xfrm flipV="1">
            <a:off x="6324600" y="2265363"/>
            <a:ext cx="304800" cy="457200"/>
          </a:xfrm>
          <a:custGeom>
            <a:avLst/>
            <a:gdLst>
              <a:gd name="T0" fmla="*/ 0 w 21600"/>
              <a:gd name="T1" fmla="*/ 0 h 21600"/>
              <a:gd name="T2" fmla="*/ 4301067 w 21600"/>
              <a:gd name="T3" fmla="*/ 9677400 h 21600"/>
              <a:gd name="T4" fmla="*/ 0 w 21600"/>
              <a:gd name="T5" fmla="*/ 0 h 21600"/>
              <a:gd name="T6" fmla="*/ 4301067 w 21600"/>
              <a:gd name="T7" fmla="*/ 9677400 h 21600"/>
              <a:gd name="T8" fmla="*/ 0 w 21600"/>
              <a:gd name="T9" fmla="*/ 967740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8" name="Line 25"/>
          <p:cNvSpPr>
            <a:spLocks noChangeShapeType="1"/>
          </p:cNvSpPr>
          <p:nvPr/>
        </p:nvSpPr>
        <p:spPr bwMode="auto">
          <a:xfrm flipH="1" flipV="1">
            <a:off x="6172200" y="1884363"/>
            <a:ext cx="457200" cy="38100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09" name="Arc 26"/>
          <p:cNvSpPr>
            <a:spLocks noChangeArrowheads="1"/>
          </p:cNvSpPr>
          <p:nvPr/>
        </p:nvSpPr>
        <p:spPr bwMode="auto">
          <a:xfrm flipH="1">
            <a:off x="6172200" y="1655763"/>
            <a:ext cx="76200" cy="228600"/>
          </a:xfrm>
          <a:custGeom>
            <a:avLst/>
            <a:gdLst>
              <a:gd name="T0" fmla="*/ 0 w 21600"/>
              <a:gd name="T1" fmla="*/ 0 h 21600"/>
              <a:gd name="T2" fmla="*/ 268817 w 21600"/>
              <a:gd name="T3" fmla="*/ 2419350 h 21600"/>
              <a:gd name="T4" fmla="*/ 0 w 21600"/>
              <a:gd name="T5" fmla="*/ 0 h 21600"/>
              <a:gd name="T6" fmla="*/ 268817 w 21600"/>
              <a:gd name="T7" fmla="*/ 2419350 h 21600"/>
              <a:gd name="T8" fmla="*/ 0 w 21600"/>
              <a:gd name="T9" fmla="*/ 241935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10" name="Arc 27"/>
          <p:cNvSpPr>
            <a:spLocks noChangeArrowheads="1"/>
          </p:cNvSpPr>
          <p:nvPr/>
        </p:nvSpPr>
        <p:spPr bwMode="auto">
          <a:xfrm>
            <a:off x="6248400" y="1655763"/>
            <a:ext cx="152400" cy="76200"/>
          </a:xfrm>
          <a:custGeom>
            <a:avLst/>
            <a:gdLst>
              <a:gd name="T0" fmla="*/ 0 w 21600"/>
              <a:gd name="T1" fmla="*/ 0 h 21600"/>
              <a:gd name="T2" fmla="*/ 1075267 w 21600"/>
              <a:gd name="T3" fmla="*/ 268817 h 21600"/>
              <a:gd name="T4" fmla="*/ 0 w 21600"/>
              <a:gd name="T5" fmla="*/ 0 h 21600"/>
              <a:gd name="T6" fmla="*/ 1075267 w 21600"/>
              <a:gd name="T7" fmla="*/ 268817 h 21600"/>
              <a:gd name="T8" fmla="*/ 0 w 21600"/>
              <a:gd name="T9" fmla="*/ 2688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11" name="Arc 28"/>
          <p:cNvSpPr>
            <a:spLocks noChangeArrowheads="1"/>
          </p:cNvSpPr>
          <p:nvPr/>
        </p:nvSpPr>
        <p:spPr bwMode="auto">
          <a:xfrm flipH="1" flipV="1">
            <a:off x="6400800" y="1731963"/>
            <a:ext cx="228600" cy="228600"/>
          </a:xfrm>
          <a:custGeom>
            <a:avLst/>
            <a:gdLst>
              <a:gd name="T0" fmla="*/ 0 w 21600"/>
              <a:gd name="T1" fmla="*/ 0 h 21600"/>
              <a:gd name="T2" fmla="*/ 2419350 w 21600"/>
              <a:gd name="T3" fmla="*/ 2419350 h 21600"/>
              <a:gd name="T4" fmla="*/ 0 w 21600"/>
              <a:gd name="T5" fmla="*/ 0 h 21600"/>
              <a:gd name="T6" fmla="*/ 2419350 w 21600"/>
              <a:gd name="T7" fmla="*/ 2419350 h 21600"/>
              <a:gd name="T8" fmla="*/ 0 w 21600"/>
              <a:gd name="T9" fmla="*/ 241935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rnd">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12" name="Arc 29"/>
          <p:cNvSpPr>
            <a:spLocks noChangeArrowheads="1"/>
          </p:cNvSpPr>
          <p:nvPr/>
        </p:nvSpPr>
        <p:spPr bwMode="auto">
          <a:xfrm flipV="1">
            <a:off x="6629400" y="1579563"/>
            <a:ext cx="304800" cy="381000"/>
          </a:xfrm>
          <a:custGeom>
            <a:avLst/>
            <a:gdLst>
              <a:gd name="T0" fmla="*/ 0 w 21600"/>
              <a:gd name="T1" fmla="*/ 0 h 21600"/>
              <a:gd name="T2" fmla="*/ 4301067 w 21600"/>
              <a:gd name="T3" fmla="*/ 6720417 h 21600"/>
              <a:gd name="T4" fmla="*/ 0 w 21600"/>
              <a:gd name="T5" fmla="*/ 0 h 21600"/>
              <a:gd name="T6" fmla="*/ 4301067 w 21600"/>
              <a:gd name="T7" fmla="*/ 6720417 h 21600"/>
              <a:gd name="T8" fmla="*/ 0 w 21600"/>
              <a:gd name="T9" fmla="*/ 67204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13" name="Line 30"/>
          <p:cNvSpPr>
            <a:spLocks noChangeShapeType="1"/>
          </p:cNvSpPr>
          <p:nvPr/>
        </p:nvSpPr>
        <p:spPr bwMode="auto">
          <a:xfrm flipH="1" flipV="1">
            <a:off x="6400800" y="1046163"/>
            <a:ext cx="533400" cy="5334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14" name="Line 31"/>
          <p:cNvSpPr>
            <a:spLocks noChangeShapeType="1"/>
          </p:cNvSpPr>
          <p:nvPr/>
        </p:nvSpPr>
        <p:spPr bwMode="auto">
          <a:xfrm flipH="1">
            <a:off x="5257800" y="1122363"/>
            <a:ext cx="609600" cy="1143000"/>
          </a:xfrm>
          <a:prstGeom prst="line">
            <a:avLst/>
          </a:prstGeom>
          <a:noFill/>
          <a:ln w="9525">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15" name="Oval 32"/>
          <p:cNvSpPr>
            <a:spLocks noChangeArrowheads="1"/>
          </p:cNvSpPr>
          <p:nvPr/>
        </p:nvSpPr>
        <p:spPr bwMode="auto">
          <a:xfrm>
            <a:off x="6400800" y="34845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16" name="Oval 33"/>
          <p:cNvSpPr>
            <a:spLocks noChangeArrowheads="1"/>
          </p:cNvSpPr>
          <p:nvPr/>
        </p:nvSpPr>
        <p:spPr bwMode="auto">
          <a:xfrm>
            <a:off x="5638800" y="40941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17" name="Oval 34"/>
          <p:cNvSpPr>
            <a:spLocks noChangeArrowheads="1"/>
          </p:cNvSpPr>
          <p:nvPr/>
        </p:nvSpPr>
        <p:spPr bwMode="auto">
          <a:xfrm>
            <a:off x="7162800" y="40179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18" name="Oval 35"/>
          <p:cNvSpPr>
            <a:spLocks noChangeArrowheads="1"/>
          </p:cNvSpPr>
          <p:nvPr/>
        </p:nvSpPr>
        <p:spPr bwMode="auto">
          <a:xfrm>
            <a:off x="6172200" y="47799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19" name="Oval 36"/>
          <p:cNvSpPr>
            <a:spLocks noChangeArrowheads="1"/>
          </p:cNvSpPr>
          <p:nvPr/>
        </p:nvSpPr>
        <p:spPr bwMode="auto">
          <a:xfrm>
            <a:off x="6705600" y="56181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20" name="Oval 37"/>
          <p:cNvSpPr>
            <a:spLocks noChangeArrowheads="1"/>
          </p:cNvSpPr>
          <p:nvPr/>
        </p:nvSpPr>
        <p:spPr bwMode="auto">
          <a:xfrm>
            <a:off x="5791200" y="56181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21" name="Oval 38"/>
          <p:cNvSpPr>
            <a:spLocks noChangeArrowheads="1"/>
          </p:cNvSpPr>
          <p:nvPr/>
        </p:nvSpPr>
        <p:spPr bwMode="auto">
          <a:xfrm>
            <a:off x="7848600" y="47037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22" name="Oval 39"/>
          <p:cNvSpPr>
            <a:spLocks noChangeArrowheads="1"/>
          </p:cNvSpPr>
          <p:nvPr/>
        </p:nvSpPr>
        <p:spPr bwMode="auto">
          <a:xfrm>
            <a:off x="7620000" y="5618163"/>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23" name="Line 40"/>
          <p:cNvSpPr>
            <a:spLocks noChangeShapeType="1"/>
          </p:cNvSpPr>
          <p:nvPr/>
        </p:nvSpPr>
        <p:spPr bwMode="auto">
          <a:xfrm flipH="1">
            <a:off x="5791200" y="3789363"/>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24" name="Line 41"/>
          <p:cNvSpPr>
            <a:spLocks noChangeShapeType="1"/>
          </p:cNvSpPr>
          <p:nvPr/>
        </p:nvSpPr>
        <p:spPr bwMode="auto">
          <a:xfrm>
            <a:off x="6781800" y="3789363"/>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25" name="Line 42"/>
          <p:cNvSpPr>
            <a:spLocks noChangeShapeType="1"/>
          </p:cNvSpPr>
          <p:nvPr/>
        </p:nvSpPr>
        <p:spPr bwMode="auto">
          <a:xfrm>
            <a:off x="5867400" y="4475163"/>
            <a:ext cx="533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26" name="Line 43"/>
          <p:cNvSpPr>
            <a:spLocks noChangeShapeType="1"/>
          </p:cNvSpPr>
          <p:nvPr/>
        </p:nvSpPr>
        <p:spPr bwMode="auto">
          <a:xfrm flipH="1">
            <a:off x="5943600" y="5008563"/>
            <a:ext cx="2286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27" name="Line 44"/>
          <p:cNvSpPr>
            <a:spLocks noChangeShapeType="1"/>
          </p:cNvSpPr>
          <p:nvPr/>
        </p:nvSpPr>
        <p:spPr bwMode="auto">
          <a:xfrm>
            <a:off x="6553200" y="5084763"/>
            <a:ext cx="3810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28" name="Line 45"/>
          <p:cNvSpPr>
            <a:spLocks noChangeShapeType="1"/>
          </p:cNvSpPr>
          <p:nvPr/>
        </p:nvSpPr>
        <p:spPr bwMode="auto">
          <a:xfrm>
            <a:off x="7543800" y="4398963"/>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29" name="Line 46"/>
          <p:cNvSpPr>
            <a:spLocks noChangeShapeType="1"/>
          </p:cNvSpPr>
          <p:nvPr/>
        </p:nvSpPr>
        <p:spPr bwMode="auto">
          <a:xfrm flipH="1">
            <a:off x="7848600" y="5084763"/>
            <a:ext cx="1524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30" name="Text Box 47"/>
          <p:cNvSpPr txBox="1">
            <a:spLocks noChangeArrowheads="1"/>
          </p:cNvSpPr>
          <p:nvPr/>
        </p:nvSpPr>
        <p:spPr bwMode="auto">
          <a:xfrm>
            <a:off x="6400800" y="34083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16431" name="Text Box 48"/>
          <p:cNvSpPr txBox="1">
            <a:spLocks noChangeArrowheads="1"/>
          </p:cNvSpPr>
          <p:nvPr/>
        </p:nvSpPr>
        <p:spPr bwMode="auto">
          <a:xfrm>
            <a:off x="5638800" y="40941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a:t>
            </a:r>
            <a:endParaRPr lang="en-US" altLang="zh-CN" sz="2400" dirty="0">
              <a:latin typeface="Times New Roman" panose="02020603050405020304" pitchFamily="18" charset="0"/>
              <a:ea typeface="华文楷体" panose="02010600040101010101" pitchFamily="2" charset="-122"/>
            </a:endParaRPr>
          </a:p>
        </p:txBody>
      </p:sp>
      <p:sp>
        <p:nvSpPr>
          <p:cNvPr id="16432" name="Text Box 49"/>
          <p:cNvSpPr txBox="1">
            <a:spLocks noChangeArrowheads="1"/>
          </p:cNvSpPr>
          <p:nvPr/>
        </p:nvSpPr>
        <p:spPr bwMode="auto">
          <a:xfrm>
            <a:off x="7162800" y="401796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F</a:t>
            </a:r>
            <a:endParaRPr lang="en-US" altLang="zh-CN" sz="2400" dirty="0">
              <a:latin typeface="Times New Roman" panose="02020603050405020304" pitchFamily="18" charset="0"/>
              <a:ea typeface="华文楷体" panose="02010600040101010101" pitchFamily="2" charset="-122"/>
            </a:endParaRPr>
          </a:p>
        </p:txBody>
      </p:sp>
      <p:sp>
        <p:nvSpPr>
          <p:cNvPr id="16433" name="Text Box 50"/>
          <p:cNvSpPr txBox="1">
            <a:spLocks noChangeArrowheads="1"/>
          </p:cNvSpPr>
          <p:nvPr/>
        </p:nvSpPr>
        <p:spPr bwMode="auto">
          <a:xfrm>
            <a:off x="6172200" y="477996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a:t>
            </a:r>
            <a:endParaRPr lang="en-US" altLang="zh-CN" sz="2400" dirty="0">
              <a:latin typeface="Times New Roman" panose="02020603050405020304" pitchFamily="18" charset="0"/>
              <a:ea typeface="华文楷体" panose="02010600040101010101" pitchFamily="2" charset="-122"/>
            </a:endParaRPr>
          </a:p>
        </p:txBody>
      </p:sp>
      <p:sp>
        <p:nvSpPr>
          <p:cNvPr id="16434" name="Text Box 51"/>
          <p:cNvSpPr txBox="1">
            <a:spLocks noChangeArrowheads="1"/>
          </p:cNvSpPr>
          <p:nvPr/>
        </p:nvSpPr>
        <p:spPr bwMode="auto">
          <a:xfrm>
            <a:off x="7848600" y="47037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G</a:t>
            </a:r>
            <a:endParaRPr lang="en-US" altLang="zh-CN" sz="2400" dirty="0">
              <a:latin typeface="Times New Roman" panose="02020603050405020304" pitchFamily="18" charset="0"/>
              <a:ea typeface="华文楷体" panose="02010600040101010101" pitchFamily="2" charset="-122"/>
            </a:endParaRPr>
          </a:p>
        </p:txBody>
      </p:sp>
      <p:sp>
        <p:nvSpPr>
          <p:cNvPr id="16435" name="Text Box 52"/>
          <p:cNvSpPr txBox="1">
            <a:spLocks noChangeArrowheads="1"/>
          </p:cNvSpPr>
          <p:nvPr/>
        </p:nvSpPr>
        <p:spPr bwMode="auto">
          <a:xfrm>
            <a:off x="5791200" y="56181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a:t>
            </a:r>
            <a:endParaRPr lang="en-US" altLang="zh-CN" sz="2400" dirty="0">
              <a:latin typeface="Times New Roman" panose="02020603050405020304" pitchFamily="18" charset="0"/>
              <a:ea typeface="华文楷体" panose="02010600040101010101" pitchFamily="2" charset="-122"/>
            </a:endParaRPr>
          </a:p>
        </p:txBody>
      </p:sp>
      <p:sp>
        <p:nvSpPr>
          <p:cNvPr id="16436" name="Text Box 53"/>
          <p:cNvSpPr txBox="1">
            <a:spLocks noChangeArrowheads="1"/>
          </p:cNvSpPr>
          <p:nvPr/>
        </p:nvSpPr>
        <p:spPr bwMode="auto">
          <a:xfrm>
            <a:off x="6705600" y="5618163"/>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16437" name="Text Box 54"/>
          <p:cNvSpPr txBox="1">
            <a:spLocks noChangeArrowheads="1"/>
          </p:cNvSpPr>
          <p:nvPr/>
        </p:nvSpPr>
        <p:spPr bwMode="auto">
          <a:xfrm>
            <a:off x="7620000" y="56181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H</a:t>
            </a:r>
            <a:endParaRPr lang="en-US" altLang="zh-CN" sz="2400" dirty="0">
              <a:latin typeface="Times New Roman" panose="02020603050405020304" pitchFamily="18" charset="0"/>
              <a:ea typeface="华文楷体" panose="02010600040101010101" pitchFamily="2" charset="-122"/>
            </a:endParaRPr>
          </a:p>
        </p:txBody>
      </p:sp>
      <p:sp>
        <p:nvSpPr>
          <p:cNvPr id="16438" name="AutoShape 55"/>
          <p:cNvSpPr>
            <a:spLocks noChangeArrowheads="1"/>
          </p:cNvSpPr>
          <p:nvPr/>
        </p:nvSpPr>
        <p:spPr bwMode="auto">
          <a:xfrm>
            <a:off x="4495800" y="5541963"/>
            <a:ext cx="838200" cy="304800"/>
          </a:xfrm>
          <a:prstGeom prst="rightArrow">
            <a:avLst>
              <a:gd name="adj1" fmla="val 50000"/>
              <a:gd name="adj2" fmla="val 68750"/>
            </a:avLst>
          </a:prstGeom>
          <a:solidFill>
            <a:schemeClr val="accent1"/>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16439" name="Line 56"/>
          <p:cNvSpPr>
            <a:spLocks noChangeShapeType="1"/>
          </p:cNvSpPr>
          <p:nvPr/>
        </p:nvSpPr>
        <p:spPr bwMode="auto">
          <a:xfrm flipV="1">
            <a:off x="990600" y="5313363"/>
            <a:ext cx="0" cy="103663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40" name="Line 57"/>
          <p:cNvSpPr>
            <a:spLocks noChangeShapeType="1"/>
          </p:cNvSpPr>
          <p:nvPr/>
        </p:nvSpPr>
        <p:spPr bwMode="auto">
          <a:xfrm>
            <a:off x="990600" y="5313363"/>
            <a:ext cx="419100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41" name="Line 58"/>
          <p:cNvSpPr>
            <a:spLocks noChangeShapeType="1"/>
          </p:cNvSpPr>
          <p:nvPr/>
        </p:nvSpPr>
        <p:spPr bwMode="auto">
          <a:xfrm flipV="1">
            <a:off x="5181600" y="3408363"/>
            <a:ext cx="0" cy="19050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42" name="Line 59"/>
          <p:cNvSpPr>
            <a:spLocks noChangeShapeType="1"/>
          </p:cNvSpPr>
          <p:nvPr/>
        </p:nvSpPr>
        <p:spPr bwMode="auto">
          <a:xfrm>
            <a:off x="5257800" y="3408363"/>
            <a:ext cx="312420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6443" name="Line 60"/>
          <p:cNvSpPr>
            <a:spLocks noChangeShapeType="1"/>
          </p:cNvSpPr>
          <p:nvPr/>
        </p:nvSpPr>
        <p:spPr bwMode="auto">
          <a:xfrm>
            <a:off x="8382000" y="3408363"/>
            <a:ext cx="0" cy="28194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23613" name="Text Box 61"/>
          <p:cNvSpPr txBox="1">
            <a:spLocks noChangeArrowheads="1"/>
          </p:cNvSpPr>
          <p:nvPr/>
        </p:nvSpPr>
        <p:spPr bwMode="auto">
          <a:xfrm>
            <a:off x="762000" y="4572000"/>
            <a:ext cx="411480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80000"/>
              </a:lnSpc>
              <a:spcBef>
                <a:spcPct val="50000"/>
              </a:spcBef>
              <a:buClrTx/>
              <a:buFontTx/>
              <a:buNone/>
            </a:pPr>
            <a:r>
              <a:rPr lang="zh-CN" altLang="en-US" sz="2400">
                <a:solidFill>
                  <a:schemeClr val="accent2"/>
                </a:solidFill>
                <a:latin typeface="Times New Roman" panose="02020603050405020304" pitchFamily="18" charset="0"/>
                <a:ea typeface="楷体_GB2312" pitchFamily="49" charset="-122"/>
              </a:rPr>
              <a:t>思考：层序</a:t>
            </a:r>
            <a:r>
              <a:rPr lang="en-US" altLang="zh-CN" sz="2400">
                <a:solidFill>
                  <a:schemeClr val="accent2"/>
                </a:solidFill>
                <a:latin typeface="Times New Roman" panose="02020603050405020304" pitchFamily="18" charset="0"/>
                <a:ea typeface="楷体_GB2312" pitchFamily="49" charset="-122"/>
              </a:rPr>
              <a:t>+</a:t>
            </a:r>
            <a:r>
              <a:rPr lang="zh-CN" altLang="en-US" sz="2400">
                <a:solidFill>
                  <a:schemeClr val="accent2"/>
                </a:solidFill>
                <a:latin typeface="Times New Roman" panose="02020603050405020304" pitchFamily="18" charset="0"/>
                <a:ea typeface="楷体_GB2312" pitchFamily="49" charset="-122"/>
              </a:rPr>
              <a:t>先序</a:t>
            </a:r>
            <a:r>
              <a:rPr lang="en-US" altLang="zh-CN" sz="2400">
                <a:solidFill>
                  <a:schemeClr val="accent2"/>
                </a:solidFill>
                <a:latin typeface="Times New Roman" panose="02020603050405020304" pitchFamily="18" charset="0"/>
                <a:ea typeface="楷体_GB2312" pitchFamily="49" charset="-122"/>
              </a:rPr>
              <a:t>/</a:t>
            </a:r>
            <a:r>
              <a:rPr lang="zh-CN" altLang="en-US" sz="2400">
                <a:solidFill>
                  <a:schemeClr val="accent2"/>
                </a:solidFill>
                <a:latin typeface="Times New Roman" panose="02020603050405020304" pitchFamily="18" charset="0"/>
                <a:ea typeface="楷体_GB2312" pitchFamily="49" charset="-122"/>
              </a:rPr>
              <a:t>中序</a:t>
            </a:r>
            <a:r>
              <a:rPr lang="en-US" altLang="zh-CN" sz="2400">
                <a:solidFill>
                  <a:schemeClr val="accent2"/>
                </a:solidFill>
                <a:latin typeface="Times New Roman" panose="02020603050405020304" pitchFamily="18" charset="0"/>
                <a:ea typeface="楷体_GB2312" pitchFamily="49" charset="-122"/>
              </a:rPr>
              <a:t>/</a:t>
            </a:r>
            <a:r>
              <a:rPr lang="zh-CN" altLang="en-US" sz="2400">
                <a:solidFill>
                  <a:schemeClr val="accent2"/>
                </a:solidFill>
                <a:latin typeface="Times New Roman" panose="02020603050405020304" pitchFamily="18" charset="0"/>
                <a:ea typeface="楷体_GB2312" pitchFamily="49" charset="-122"/>
              </a:rPr>
              <a:t>后序</a:t>
            </a:r>
            <a:endParaRPr lang="zh-CN" altLang="en-US" sz="2400">
              <a:solidFill>
                <a:schemeClr val="accent2"/>
              </a:solidFill>
              <a:latin typeface="Times New Roman" panose="02020603050405020304" pitchFamily="18" charset="0"/>
              <a:ea typeface="楷体_GB2312" pitchFamily="49" charset="-122"/>
            </a:endParaRPr>
          </a:p>
          <a:p>
            <a:pPr eaLnBrk="1" hangingPunct="1">
              <a:lnSpc>
                <a:spcPct val="80000"/>
              </a:lnSpc>
              <a:spcBef>
                <a:spcPct val="50000"/>
              </a:spcBef>
              <a:buClrTx/>
              <a:buFontTx/>
              <a:buNone/>
            </a:pPr>
            <a:r>
              <a:rPr lang="zh-CN" altLang="en-US" sz="2400">
                <a:solidFill>
                  <a:schemeClr val="accent2"/>
                </a:solidFill>
                <a:latin typeface="Times New Roman" panose="02020603050405020304" pitchFamily="18" charset="0"/>
                <a:ea typeface="楷体_GB2312" pitchFamily="49" charset="-122"/>
              </a:rPr>
              <a:t>             能否确定？如何做？</a:t>
            </a:r>
            <a:endParaRPr lang="zh-CN" altLang="en-US" sz="2400">
              <a:latin typeface="Times New Roman" panose="02020603050405020304" pitchFamily="18" charset="0"/>
              <a:ea typeface="楷体_GB2312" pitchFamily="49" charset="-122"/>
            </a:endParaRPr>
          </a:p>
        </p:txBody>
      </p:sp>
      <p:sp>
        <p:nvSpPr>
          <p:cNvPr id="16445" name="Line 62"/>
          <p:cNvSpPr>
            <a:spLocks noChangeShapeType="1"/>
          </p:cNvSpPr>
          <p:nvPr/>
        </p:nvSpPr>
        <p:spPr bwMode="auto">
          <a:xfrm flipV="1">
            <a:off x="990600" y="6273801"/>
            <a:ext cx="7391400" cy="762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23615" name="Text Box 63"/>
          <p:cNvSpPr txBox="1">
            <a:spLocks noChangeArrowheads="1"/>
          </p:cNvSpPr>
          <p:nvPr/>
        </p:nvSpPr>
        <p:spPr bwMode="auto">
          <a:xfrm>
            <a:off x="3505200" y="4191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a:solidFill>
                  <a:schemeClr val="accent2"/>
                </a:solidFill>
                <a:latin typeface="华文楷体" panose="02010600040101010101" pitchFamily="2" charset="-122"/>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3615">
                                            <p:txEl>
                                              <p:pRg st="0" end="0"/>
                                            </p:txEl>
                                          </p:spTgt>
                                        </p:tgtEl>
                                        <p:attrNameLst>
                                          <p:attrName>style.visibility</p:attrName>
                                        </p:attrNameLst>
                                      </p:cBhvr>
                                      <p:to>
                                        <p:strVal val="visible"/>
                                      </p:to>
                                    </p:set>
                                    <p:animEffect transition="in" filter="box(out)">
                                      <p:cBhvr>
                                        <p:cTn id="7" dur="500"/>
                                        <p:tgtEl>
                                          <p:spTgt spid="2361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3613">
                                            <p:txEl>
                                              <p:pRg st="0" end="0"/>
                                            </p:txEl>
                                          </p:spTgt>
                                        </p:tgtEl>
                                        <p:attrNameLst>
                                          <p:attrName>style.visibility</p:attrName>
                                        </p:attrNameLst>
                                      </p:cBhvr>
                                      <p:to>
                                        <p:strVal val="visible"/>
                                      </p:to>
                                    </p:set>
                                    <p:anim calcmode="lin" valueType="num">
                                      <p:cBhvr additive="base">
                                        <p:cTn id="12" dur="500" fill="hold"/>
                                        <p:tgtEl>
                                          <p:spTgt spid="23613">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2361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3613">
                                            <p:txEl>
                                              <p:pRg st="1" end="1"/>
                                            </p:txEl>
                                          </p:spTgt>
                                        </p:tgtEl>
                                        <p:attrNameLst>
                                          <p:attrName>style.visibility</p:attrName>
                                        </p:attrNameLst>
                                      </p:cBhvr>
                                      <p:to>
                                        <p:strVal val="visible"/>
                                      </p:to>
                                    </p:set>
                                    <p:anim calcmode="lin" valueType="num">
                                      <p:cBhvr additive="base">
                                        <p:cTn id="18" dur="500" fill="hold"/>
                                        <p:tgtEl>
                                          <p:spTgt spid="23613">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2361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13" grpId="0" build="p"/>
      <p:bldP spid="2361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13" name="日期占位符 5"/>
          <p:cNvSpPr>
            <a:spLocks noGrp="1"/>
          </p:cNvSpPr>
          <p:nvPr>
            <p:ph type="dt" sz="quarter" idx="12"/>
          </p:nvPr>
        </p:nvSpPr>
        <p:spPr/>
        <p:txBody>
          <a:bodyPr/>
          <a:lstStyle/>
          <a:p>
            <a:pPr>
              <a:defRPr/>
            </a:pPr>
            <a:r>
              <a:rPr lang="en-US" altLang="zh-CN" dirty="0"/>
              <a:t>BUPT</a:t>
            </a:r>
            <a:endParaRPr lang="en-US" altLang="zh-CN" dirty="0"/>
          </a:p>
        </p:txBody>
      </p:sp>
      <p:sp>
        <p:nvSpPr>
          <p:cNvPr id="1843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8437" name="Rectangle 3"/>
          <p:cNvSpPr>
            <a:spLocks noGrp="1" noChangeArrowheads="1"/>
          </p:cNvSpPr>
          <p:nvPr>
            <p:ph idx="1"/>
          </p:nvPr>
        </p:nvSpPr>
        <p:spPr>
          <a:xfrm>
            <a:off x="304800" y="1152525"/>
            <a:ext cx="8229600" cy="5248275"/>
          </a:xfrm>
        </p:spPr>
        <p:txBody>
          <a:bodyPr/>
          <a:lstStyle/>
          <a:p>
            <a:pPr eaLnBrk="1" hangingPunct="1">
              <a:buFont typeface="Wingdings" panose="05000000000000000000" pitchFamily="2" charset="2"/>
              <a:buNone/>
            </a:pPr>
            <a:r>
              <a:rPr lang="en-US" altLang="zh-CN" b="1" dirty="0" smtClean="0">
                <a:solidFill>
                  <a:srgbClr val="800000"/>
                </a:solidFill>
                <a:ea typeface="华文楷体" panose="02010600040101010101" pitchFamily="2" charset="-122"/>
                <a:sym typeface="Symbol" panose="05050102010706020507" pitchFamily="18" charset="2"/>
              </a:rPr>
              <a:t>[</a:t>
            </a:r>
            <a:r>
              <a:rPr lang="zh-CN" altLang="en-US" b="1" dirty="0" smtClean="0">
                <a:solidFill>
                  <a:srgbClr val="800000"/>
                </a:solidFill>
                <a:ea typeface="华文楷体" panose="02010600040101010101" pitchFamily="2" charset="-122"/>
                <a:sym typeface="Symbol" panose="05050102010706020507" pitchFamily="18" charset="2"/>
              </a:rPr>
              <a:t>先序遍历算法</a:t>
            </a:r>
            <a:r>
              <a:rPr lang="en-US" altLang="zh-CN" b="1" dirty="0" smtClean="0">
                <a:solidFill>
                  <a:srgbClr val="800000"/>
                </a:solidFill>
                <a:ea typeface="华文楷体" panose="02010600040101010101" pitchFamily="2" charset="-122"/>
                <a:sym typeface="Symbol" panose="05050102010706020507" pitchFamily="18" charset="2"/>
              </a:rPr>
              <a:t>]</a:t>
            </a:r>
            <a:endParaRPr lang="en-US" altLang="zh-CN" b="1" dirty="0" smtClean="0">
              <a:solidFill>
                <a:srgbClr val="800000"/>
              </a:solidFill>
              <a:ea typeface="华文楷体" panose="02010600040101010101" pitchFamily="2" charset="-122"/>
              <a:sym typeface="Symbol" panose="05050102010706020507" pitchFamily="18" charset="2"/>
            </a:endParaRPr>
          </a:p>
        </p:txBody>
      </p:sp>
      <p:sp>
        <p:nvSpPr>
          <p:cNvPr id="18438" name="Rectangle 5"/>
          <p:cNvSpPr>
            <a:spLocks noChangeArrowheads="1"/>
          </p:cNvSpPr>
          <p:nvPr/>
        </p:nvSpPr>
        <p:spPr bwMode="auto">
          <a:xfrm>
            <a:off x="304801" y="1676402"/>
            <a:ext cx="3179428" cy="3137800"/>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80000"/>
              </a:lnSpc>
              <a:buFont typeface="Wingdings" panose="05000000000000000000" pitchFamily="2" charset="2"/>
              <a:buNone/>
            </a:pPr>
            <a:r>
              <a:rPr lang="en-US" altLang="zh-CN" sz="1800" b="1" dirty="0">
                <a:solidFill>
                  <a:srgbClr val="CC6600"/>
                </a:solidFill>
                <a:latin typeface="Times New Roman" panose="02020603050405020304" pitchFamily="18" charset="0"/>
                <a:ea typeface="华文楷体" panose="02010600040101010101" pitchFamily="2" charset="-122"/>
              </a:rPr>
              <a:t>[</a:t>
            </a:r>
            <a:r>
              <a:rPr lang="zh-CN" altLang="en-US" sz="1800" b="1" dirty="0">
                <a:solidFill>
                  <a:srgbClr val="CC6600"/>
                </a:solidFill>
                <a:latin typeface="Times New Roman" panose="02020603050405020304" pitchFamily="18" charset="0"/>
                <a:ea typeface="华文楷体" panose="02010600040101010101" pitchFamily="2" charset="-122"/>
              </a:rPr>
              <a:t>递归算法</a:t>
            </a:r>
            <a:r>
              <a:rPr lang="en-US" altLang="zh-CN" sz="1800" b="1" dirty="0">
                <a:solidFill>
                  <a:srgbClr val="CC6600"/>
                </a:solidFill>
                <a:latin typeface="Times New Roman" panose="02020603050405020304" pitchFamily="18" charset="0"/>
                <a:ea typeface="华文楷体" panose="02010600040101010101" pitchFamily="2" charset="-122"/>
              </a:rPr>
              <a:t>]</a:t>
            </a:r>
            <a:endParaRPr lang="en-US" altLang="zh-CN" sz="1800" b="1" dirty="0">
              <a:solidFill>
                <a:srgbClr val="CC6600"/>
              </a:solidFill>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void </a:t>
            </a:r>
            <a:r>
              <a:rPr lang="en-US" altLang="zh-CN" sz="1800" dirty="0">
                <a:solidFill>
                  <a:schemeClr val="accent2"/>
                </a:solidFill>
                <a:latin typeface="Times New Roman" panose="02020603050405020304" pitchFamily="18" charset="0"/>
                <a:ea typeface="华文楷体" panose="02010600040101010101" pitchFamily="2" charset="-122"/>
              </a:rPr>
              <a:t>Preorder</a:t>
            </a:r>
            <a:r>
              <a:rPr lang="en-US" altLang="zh-CN" sz="1800" dirty="0">
                <a:latin typeface="Times New Roman" panose="02020603050405020304" pitchFamily="18" charset="0"/>
                <a:ea typeface="华文楷体" panose="02010600040101010101" pitchFamily="2" charset="-122"/>
              </a:rPr>
              <a:t> (</a:t>
            </a:r>
            <a:r>
              <a:rPr lang="en-US" altLang="zh-CN" sz="1800" dirty="0" err="1">
                <a:latin typeface="Times New Roman" panose="02020603050405020304" pitchFamily="18" charset="0"/>
                <a:ea typeface="华文楷体" panose="02010600040101010101" pitchFamily="2" charset="-122"/>
              </a:rPr>
              <a:t>BiTree</a:t>
            </a:r>
            <a:r>
              <a:rPr lang="en-US" altLang="zh-CN" sz="1800" dirty="0">
                <a:latin typeface="Times New Roman" panose="02020603050405020304" pitchFamily="18" charset="0"/>
                <a:ea typeface="华文楷体" panose="02010600040101010101" pitchFamily="2" charset="-122"/>
              </a:rPr>
              <a:t> T)</a:t>
            </a:r>
            <a:endParaRPr lang="en-US" altLang="zh-CN" sz="1800" dirty="0">
              <a:latin typeface="Times New Roman" panose="02020603050405020304" pitchFamily="18" charset="0"/>
              <a:ea typeface="华文楷体" panose="02010600040101010101" pitchFamily="2" charset="-122"/>
            </a:endParaRPr>
          </a:p>
          <a:p>
            <a:pPr eaLnBrk="1" hangingPunct="1">
              <a:lnSpc>
                <a:spcPct val="80000"/>
              </a:lnSpc>
              <a:buNone/>
            </a:pPr>
            <a:r>
              <a:rPr lang="en-US" altLang="zh-CN" sz="1800" dirty="0" smtClean="0">
                <a:latin typeface="Times New Roman" panose="02020603050405020304" pitchFamily="18" charset="0"/>
                <a:ea typeface="华文楷体" panose="02010600040101010101" pitchFamily="2" charset="-122"/>
              </a:rPr>
              <a:t>{</a:t>
            </a:r>
            <a:endParaRPr lang="en-US" altLang="zh-CN" sz="1800" dirty="0" smtClean="0">
              <a:latin typeface="Times New Roman" panose="02020603050405020304" pitchFamily="18" charset="0"/>
              <a:ea typeface="华文楷体" panose="02010600040101010101" pitchFamily="2" charset="-122"/>
            </a:endParaRPr>
          </a:p>
          <a:p>
            <a:pPr eaLnBrk="1" hangingPunct="1">
              <a:lnSpc>
                <a:spcPct val="80000"/>
              </a:lnSpc>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if </a:t>
            </a:r>
            <a:r>
              <a:rPr lang="en-US" altLang="zh-CN" sz="1800" dirty="0">
                <a:latin typeface="Times New Roman" panose="02020603050405020304" pitchFamily="18" charset="0"/>
                <a:ea typeface="华文楷体" panose="02010600040101010101" pitchFamily="2" charset="-122"/>
              </a:rPr>
              <a:t>(T)</a:t>
            </a:r>
            <a:endParaRPr lang="en-US" altLang="zh-CN" sz="1800"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   </a:t>
            </a:r>
            <a:r>
              <a:rPr lang="en-US" altLang="zh-CN" sz="1800" dirty="0">
                <a:solidFill>
                  <a:srgbClr val="FF3300"/>
                </a:solidFill>
                <a:latin typeface="Times New Roman" panose="02020603050405020304" pitchFamily="18" charset="0"/>
                <a:ea typeface="华文楷体" panose="02010600040101010101" pitchFamily="2" charset="-122"/>
              </a:rPr>
              <a:t> </a:t>
            </a:r>
            <a:endParaRPr lang="en-US" altLang="zh-CN" sz="1800" dirty="0" smtClean="0">
              <a:solidFill>
                <a:srgbClr val="FF3300"/>
              </a:solidFill>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solidFill>
                  <a:srgbClr val="FF3300"/>
                </a:solidFill>
                <a:latin typeface="Times New Roman" panose="02020603050405020304" pitchFamily="18" charset="0"/>
                <a:ea typeface="华文楷体" panose="02010600040101010101" pitchFamily="2" charset="-122"/>
              </a:rPr>
              <a:t> </a:t>
            </a:r>
            <a:r>
              <a:rPr lang="en-US" altLang="zh-CN" sz="1800" dirty="0" smtClean="0">
                <a:solidFill>
                  <a:srgbClr val="FF3300"/>
                </a:solidFill>
                <a:latin typeface="Times New Roman" panose="02020603050405020304" pitchFamily="18" charset="0"/>
                <a:ea typeface="华文楷体" panose="02010600040101010101" pitchFamily="2" charset="-122"/>
              </a:rPr>
              <a:t>          </a:t>
            </a:r>
            <a:r>
              <a:rPr lang="en-US" altLang="zh-CN" sz="1800" dirty="0" err="1" smtClean="0">
                <a:solidFill>
                  <a:srgbClr val="FF3300"/>
                </a:solidFill>
                <a:latin typeface="Times New Roman" panose="02020603050405020304" pitchFamily="18" charset="0"/>
                <a:ea typeface="华文楷体" panose="02010600040101010101" pitchFamily="2" charset="-122"/>
              </a:rPr>
              <a:t>Printdata</a:t>
            </a:r>
            <a:r>
              <a:rPr lang="en-US" altLang="zh-CN" sz="1800" dirty="0" smtClean="0">
                <a:latin typeface="Times New Roman" panose="02020603050405020304" pitchFamily="18" charset="0"/>
                <a:ea typeface="华文楷体" panose="02010600040101010101" pitchFamily="2" charset="-122"/>
              </a:rPr>
              <a:t>(T-</a:t>
            </a:r>
            <a:r>
              <a:rPr lang="en-US" altLang="zh-CN" sz="1800" dirty="0">
                <a:latin typeface="Times New Roman" panose="02020603050405020304" pitchFamily="18" charset="0"/>
                <a:ea typeface="华文楷体" panose="02010600040101010101" pitchFamily="2" charset="-122"/>
              </a:rPr>
              <a:t>&gt;data);</a:t>
            </a:r>
            <a:endParaRPr lang="en-US" altLang="zh-CN" sz="1800"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L1:     </a:t>
            </a:r>
            <a:r>
              <a:rPr lang="en-US" altLang="zh-CN" sz="1800" dirty="0" smtClean="0">
                <a:solidFill>
                  <a:schemeClr val="accent2"/>
                </a:solidFill>
                <a:latin typeface="Times New Roman" panose="02020603050405020304" pitchFamily="18" charset="0"/>
                <a:ea typeface="华文楷体" panose="02010600040101010101" pitchFamily="2" charset="-122"/>
              </a:rPr>
              <a:t>Preorder</a:t>
            </a:r>
            <a:r>
              <a:rPr lang="en-US" altLang="zh-CN" sz="1800" dirty="0" smtClean="0">
                <a:latin typeface="Times New Roman" panose="02020603050405020304" pitchFamily="18" charset="0"/>
                <a:ea typeface="华文楷体" panose="02010600040101010101" pitchFamily="2" charset="-122"/>
              </a:rPr>
              <a:t>(T-</a:t>
            </a:r>
            <a:r>
              <a:rPr lang="en-US" altLang="zh-CN" sz="1800" dirty="0">
                <a:latin typeface="Times New Roman" panose="02020603050405020304" pitchFamily="18" charset="0"/>
                <a:ea typeface="华文楷体" panose="02010600040101010101" pitchFamily="2" charset="-122"/>
              </a:rPr>
              <a:t>&gt;</a:t>
            </a:r>
            <a:r>
              <a:rPr lang="en-US" altLang="zh-CN" sz="1800" dirty="0" err="1">
                <a:latin typeface="Times New Roman" panose="02020603050405020304" pitchFamily="18" charset="0"/>
                <a:ea typeface="华文楷体" panose="02010600040101010101" pitchFamily="2" charset="-122"/>
              </a:rPr>
              <a:t>lc</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latin typeface="Times New Roman" panose="02020603050405020304" pitchFamily="18" charset="0"/>
                <a:ea typeface="华文楷体" panose="02010600040101010101" pitchFamily="2" charset="-122"/>
              </a:rPr>
              <a:t> L2:     </a:t>
            </a:r>
            <a:r>
              <a:rPr lang="en-US" altLang="zh-CN" sz="1800" dirty="0" smtClean="0">
                <a:solidFill>
                  <a:schemeClr val="accent2"/>
                </a:solidFill>
                <a:latin typeface="Times New Roman" panose="02020603050405020304" pitchFamily="18" charset="0"/>
                <a:ea typeface="华文楷体" panose="02010600040101010101" pitchFamily="2" charset="-122"/>
              </a:rPr>
              <a:t>Preorder</a:t>
            </a:r>
            <a:r>
              <a:rPr lang="en-US" altLang="zh-CN" sz="1800" dirty="0" smtClean="0">
                <a:latin typeface="Times New Roman" panose="02020603050405020304" pitchFamily="18" charset="0"/>
                <a:ea typeface="华文楷体" panose="02010600040101010101" pitchFamily="2" charset="-122"/>
              </a:rPr>
              <a:t>(T-</a:t>
            </a:r>
            <a:r>
              <a:rPr lang="en-US" altLang="zh-CN" sz="1800" dirty="0">
                <a:latin typeface="Times New Roman" panose="02020603050405020304" pitchFamily="18" charset="0"/>
                <a:ea typeface="华文楷体" panose="02010600040101010101" pitchFamily="2" charset="-122"/>
              </a:rPr>
              <a:t>&gt;</a:t>
            </a:r>
            <a:r>
              <a:rPr lang="en-US" altLang="zh-CN" sz="1800" dirty="0" err="1">
                <a:latin typeface="Times New Roman" panose="02020603050405020304" pitchFamily="18" charset="0"/>
                <a:ea typeface="华文楷体" panose="02010600040101010101" pitchFamily="2" charset="-122"/>
              </a:rPr>
              <a:t>rc</a:t>
            </a:r>
            <a:r>
              <a:rPr lang="en-US" altLang="zh-CN" sz="1800" dirty="0" smtClean="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L3:}</a:t>
            </a:r>
            <a:endParaRPr lang="en-US" altLang="zh-CN" sz="1800" dirty="0">
              <a:latin typeface="Times New Roman" panose="02020603050405020304" pitchFamily="18" charset="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endParaRPr lang="en-US" altLang="zh-CN" sz="1800" dirty="0">
              <a:latin typeface="Times New Roman" panose="02020603050405020304" pitchFamily="18" charset="0"/>
              <a:ea typeface="华文楷体" panose="02010600040101010101" pitchFamily="2" charset="-122"/>
            </a:endParaRPr>
          </a:p>
        </p:txBody>
      </p:sp>
      <p:sp>
        <p:nvSpPr>
          <p:cNvPr id="18440" name="Line 7"/>
          <p:cNvSpPr>
            <a:spLocks noChangeShapeType="1"/>
          </p:cNvSpPr>
          <p:nvPr/>
        </p:nvSpPr>
        <p:spPr bwMode="auto">
          <a:xfrm>
            <a:off x="3557519" y="1177673"/>
            <a:ext cx="22297" cy="3655328"/>
          </a:xfrm>
          <a:prstGeom prst="line">
            <a:avLst/>
          </a:prstGeom>
          <a:noFill/>
          <a:ln w="25400">
            <a:solidFill>
              <a:schemeClr val="accent1"/>
            </a:solidFill>
            <a:prstDash val="dash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2375853" y="3479383"/>
            <a:ext cx="1001805" cy="1243056"/>
          </a:xfrm>
          <a:prstGeom prst="rect">
            <a:avLst/>
          </a:prstGeom>
        </p:spPr>
      </p:pic>
      <p:pic>
        <p:nvPicPr>
          <p:cNvPr id="8" name="图片 7"/>
          <p:cNvPicPr>
            <a:picLocks noChangeAspect="1"/>
          </p:cNvPicPr>
          <p:nvPr/>
        </p:nvPicPr>
        <p:blipFill>
          <a:blip r:embed="rId2"/>
          <a:stretch>
            <a:fillRect/>
          </a:stretch>
        </p:blipFill>
        <p:spPr>
          <a:xfrm>
            <a:off x="3659595" y="1458072"/>
            <a:ext cx="761644" cy="1309833"/>
          </a:xfrm>
          <a:prstGeom prst="rect">
            <a:avLst/>
          </a:prstGeom>
        </p:spPr>
      </p:pic>
      <p:pic>
        <p:nvPicPr>
          <p:cNvPr id="10" name="图片 9"/>
          <p:cNvPicPr>
            <a:picLocks noChangeAspect="1"/>
          </p:cNvPicPr>
          <p:nvPr/>
        </p:nvPicPr>
        <p:blipFill>
          <a:blip r:embed="rId3"/>
          <a:stretch>
            <a:fillRect/>
          </a:stretch>
        </p:blipFill>
        <p:spPr>
          <a:xfrm>
            <a:off x="4572000" y="1464830"/>
            <a:ext cx="752888" cy="1303075"/>
          </a:xfrm>
          <a:prstGeom prst="rect">
            <a:avLst/>
          </a:prstGeom>
        </p:spPr>
      </p:pic>
      <p:cxnSp>
        <p:nvCxnSpPr>
          <p:cNvPr id="14" name="直接连接符 13"/>
          <p:cNvCxnSpPr/>
          <p:nvPr/>
        </p:nvCxnSpPr>
        <p:spPr bwMode="auto">
          <a:xfrm>
            <a:off x="4267208" y="1139225"/>
            <a:ext cx="4876792" cy="21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5" name="图片 14"/>
          <p:cNvPicPr>
            <a:picLocks noChangeAspect="1"/>
          </p:cNvPicPr>
          <p:nvPr/>
        </p:nvPicPr>
        <p:blipFill>
          <a:blip r:embed="rId4"/>
          <a:stretch>
            <a:fillRect/>
          </a:stretch>
        </p:blipFill>
        <p:spPr>
          <a:xfrm>
            <a:off x="5410178" y="1455957"/>
            <a:ext cx="715497" cy="1238359"/>
          </a:xfrm>
          <a:prstGeom prst="rect">
            <a:avLst/>
          </a:prstGeom>
        </p:spPr>
      </p:pic>
      <p:pic>
        <p:nvPicPr>
          <p:cNvPr id="16" name="图片 15"/>
          <p:cNvPicPr>
            <a:picLocks noChangeAspect="1"/>
          </p:cNvPicPr>
          <p:nvPr/>
        </p:nvPicPr>
        <p:blipFill>
          <a:blip r:embed="rId5"/>
          <a:stretch>
            <a:fillRect/>
          </a:stretch>
        </p:blipFill>
        <p:spPr>
          <a:xfrm>
            <a:off x="6145262" y="1147880"/>
            <a:ext cx="1095302" cy="1599049"/>
          </a:xfrm>
          <a:prstGeom prst="rect">
            <a:avLst/>
          </a:prstGeom>
        </p:spPr>
      </p:pic>
      <p:pic>
        <p:nvPicPr>
          <p:cNvPr id="18" name="图片 17"/>
          <p:cNvPicPr>
            <a:picLocks noChangeAspect="1"/>
          </p:cNvPicPr>
          <p:nvPr/>
        </p:nvPicPr>
        <p:blipFill>
          <a:blip r:embed="rId6"/>
          <a:stretch>
            <a:fillRect/>
          </a:stretch>
        </p:blipFill>
        <p:spPr>
          <a:xfrm>
            <a:off x="7238930" y="1474697"/>
            <a:ext cx="712496" cy="1233167"/>
          </a:xfrm>
          <a:prstGeom prst="rect">
            <a:avLst/>
          </a:prstGeom>
        </p:spPr>
      </p:pic>
      <p:pic>
        <p:nvPicPr>
          <p:cNvPr id="20" name="图片 19"/>
          <p:cNvPicPr>
            <a:picLocks noChangeAspect="1"/>
          </p:cNvPicPr>
          <p:nvPr/>
        </p:nvPicPr>
        <p:blipFill>
          <a:blip r:embed="rId7"/>
          <a:stretch>
            <a:fillRect/>
          </a:stretch>
        </p:blipFill>
        <p:spPr>
          <a:xfrm>
            <a:off x="7940683" y="1119685"/>
            <a:ext cx="1095675" cy="1599593"/>
          </a:xfrm>
          <a:prstGeom prst="rect">
            <a:avLst/>
          </a:prstGeom>
        </p:spPr>
      </p:pic>
      <p:cxnSp>
        <p:nvCxnSpPr>
          <p:cNvPr id="30" name="直接连接符 29"/>
          <p:cNvCxnSpPr/>
          <p:nvPr/>
        </p:nvCxnSpPr>
        <p:spPr bwMode="auto">
          <a:xfrm>
            <a:off x="3579816" y="2940079"/>
            <a:ext cx="5564184" cy="2457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3" name="图片 22"/>
          <p:cNvPicPr>
            <a:picLocks noChangeAspect="1"/>
          </p:cNvPicPr>
          <p:nvPr/>
        </p:nvPicPr>
        <p:blipFill>
          <a:blip r:embed="rId8"/>
          <a:stretch>
            <a:fillRect/>
          </a:stretch>
        </p:blipFill>
        <p:spPr>
          <a:xfrm>
            <a:off x="3538291" y="2952367"/>
            <a:ext cx="1296240" cy="1661107"/>
          </a:xfrm>
          <a:prstGeom prst="rect">
            <a:avLst/>
          </a:prstGeom>
        </p:spPr>
      </p:pic>
      <p:cxnSp>
        <p:nvCxnSpPr>
          <p:cNvPr id="25" name="直接连接符 24"/>
          <p:cNvCxnSpPr/>
          <p:nvPr/>
        </p:nvCxnSpPr>
        <p:spPr bwMode="auto">
          <a:xfrm>
            <a:off x="4495802" y="1177673"/>
            <a:ext cx="0" cy="179096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直接连接符 35"/>
          <p:cNvCxnSpPr/>
          <p:nvPr/>
        </p:nvCxnSpPr>
        <p:spPr bwMode="auto">
          <a:xfrm>
            <a:off x="5333980" y="1167347"/>
            <a:ext cx="0" cy="179096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直接连接符 36"/>
          <p:cNvCxnSpPr/>
          <p:nvPr/>
        </p:nvCxnSpPr>
        <p:spPr bwMode="auto">
          <a:xfrm>
            <a:off x="6172158" y="1187650"/>
            <a:ext cx="0" cy="179096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直接连接符 37"/>
          <p:cNvCxnSpPr/>
          <p:nvPr/>
        </p:nvCxnSpPr>
        <p:spPr bwMode="auto">
          <a:xfrm flipV="1">
            <a:off x="4109907" y="4814202"/>
            <a:ext cx="5032598" cy="1845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9" name="直接连接符 38"/>
          <p:cNvCxnSpPr/>
          <p:nvPr/>
        </p:nvCxnSpPr>
        <p:spPr bwMode="auto">
          <a:xfrm>
            <a:off x="4739074" y="2973835"/>
            <a:ext cx="4114" cy="183663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直接连接符 40"/>
          <p:cNvCxnSpPr/>
          <p:nvPr/>
        </p:nvCxnSpPr>
        <p:spPr bwMode="auto">
          <a:xfrm>
            <a:off x="5637880" y="2947707"/>
            <a:ext cx="233" cy="185285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7" name="图片 26"/>
          <p:cNvPicPr>
            <a:picLocks noChangeAspect="1"/>
          </p:cNvPicPr>
          <p:nvPr/>
        </p:nvPicPr>
        <p:blipFill>
          <a:blip r:embed="rId9"/>
          <a:stretch>
            <a:fillRect/>
          </a:stretch>
        </p:blipFill>
        <p:spPr>
          <a:xfrm>
            <a:off x="4829198" y="3320131"/>
            <a:ext cx="742356" cy="1284846"/>
          </a:xfrm>
          <a:prstGeom prst="rect">
            <a:avLst/>
          </a:prstGeom>
        </p:spPr>
      </p:pic>
      <p:cxnSp>
        <p:nvCxnSpPr>
          <p:cNvPr id="43" name="直接连接符 42"/>
          <p:cNvCxnSpPr/>
          <p:nvPr/>
        </p:nvCxnSpPr>
        <p:spPr bwMode="auto">
          <a:xfrm>
            <a:off x="6587799" y="2947657"/>
            <a:ext cx="770" cy="184317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3" name="图片 32"/>
          <p:cNvPicPr>
            <a:picLocks noChangeAspect="1"/>
          </p:cNvPicPr>
          <p:nvPr/>
        </p:nvPicPr>
        <p:blipFill>
          <a:blip r:embed="rId10"/>
          <a:stretch>
            <a:fillRect/>
          </a:stretch>
        </p:blipFill>
        <p:spPr>
          <a:xfrm>
            <a:off x="5691828" y="3259151"/>
            <a:ext cx="821717" cy="1344628"/>
          </a:xfrm>
          <a:prstGeom prst="rect">
            <a:avLst/>
          </a:prstGeom>
        </p:spPr>
      </p:pic>
      <p:cxnSp>
        <p:nvCxnSpPr>
          <p:cNvPr id="49" name="直接连接符 48"/>
          <p:cNvCxnSpPr/>
          <p:nvPr/>
        </p:nvCxnSpPr>
        <p:spPr bwMode="auto">
          <a:xfrm>
            <a:off x="1134371" y="4807943"/>
            <a:ext cx="15006" cy="205005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4" name="图片 33"/>
          <p:cNvPicPr>
            <a:picLocks noChangeAspect="1"/>
          </p:cNvPicPr>
          <p:nvPr/>
        </p:nvPicPr>
        <p:blipFill>
          <a:blip r:embed="rId11"/>
          <a:stretch>
            <a:fillRect/>
          </a:stretch>
        </p:blipFill>
        <p:spPr>
          <a:xfrm>
            <a:off x="6624658" y="3133435"/>
            <a:ext cx="963035" cy="1423975"/>
          </a:xfrm>
          <a:prstGeom prst="rect">
            <a:avLst/>
          </a:prstGeom>
        </p:spPr>
      </p:pic>
      <p:cxnSp>
        <p:nvCxnSpPr>
          <p:cNvPr id="53" name="直接连接符 52"/>
          <p:cNvCxnSpPr/>
          <p:nvPr/>
        </p:nvCxnSpPr>
        <p:spPr bwMode="auto">
          <a:xfrm>
            <a:off x="2420919" y="4800564"/>
            <a:ext cx="15006" cy="205005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2" name="图片 41"/>
          <p:cNvPicPr>
            <a:picLocks noChangeAspect="1"/>
          </p:cNvPicPr>
          <p:nvPr/>
        </p:nvPicPr>
        <p:blipFill>
          <a:blip r:embed="rId12"/>
          <a:stretch>
            <a:fillRect/>
          </a:stretch>
        </p:blipFill>
        <p:spPr>
          <a:xfrm>
            <a:off x="7566653" y="3312208"/>
            <a:ext cx="665004" cy="1088188"/>
          </a:xfrm>
          <a:prstGeom prst="rect">
            <a:avLst/>
          </a:prstGeom>
        </p:spPr>
      </p:pic>
      <p:cxnSp>
        <p:nvCxnSpPr>
          <p:cNvPr id="55" name="直接连接符 54"/>
          <p:cNvCxnSpPr/>
          <p:nvPr/>
        </p:nvCxnSpPr>
        <p:spPr bwMode="auto">
          <a:xfrm>
            <a:off x="3456238" y="4807853"/>
            <a:ext cx="15006" cy="205005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4" name="图片 43"/>
          <p:cNvPicPr>
            <a:picLocks noChangeAspect="1"/>
          </p:cNvPicPr>
          <p:nvPr/>
        </p:nvPicPr>
        <p:blipFill>
          <a:blip r:embed="rId13"/>
          <a:stretch>
            <a:fillRect/>
          </a:stretch>
        </p:blipFill>
        <p:spPr>
          <a:xfrm>
            <a:off x="8214116" y="3036804"/>
            <a:ext cx="1048632" cy="1550541"/>
          </a:xfrm>
          <a:prstGeom prst="rect">
            <a:avLst/>
          </a:prstGeom>
        </p:spPr>
      </p:pic>
      <p:cxnSp>
        <p:nvCxnSpPr>
          <p:cNvPr id="57" name="直接连接符 56"/>
          <p:cNvCxnSpPr/>
          <p:nvPr/>
        </p:nvCxnSpPr>
        <p:spPr bwMode="auto">
          <a:xfrm>
            <a:off x="4267208" y="4807853"/>
            <a:ext cx="15006" cy="205005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5" name="图片 44"/>
          <p:cNvPicPr>
            <a:picLocks noChangeAspect="1"/>
          </p:cNvPicPr>
          <p:nvPr/>
        </p:nvPicPr>
        <p:blipFill>
          <a:blip r:embed="rId14"/>
          <a:stretch>
            <a:fillRect/>
          </a:stretch>
        </p:blipFill>
        <p:spPr>
          <a:xfrm>
            <a:off x="-77894" y="5096157"/>
            <a:ext cx="1347066" cy="1726240"/>
          </a:xfrm>
          <a:prstGeom prst="rect">
            <a:avLst/>
          </a:prstGeom>
        </p:spPr>
      </p:pic>
      <p:cxnSp>
        <p:nvCxnSpPr>
          <p:cNvPr id="60" name="直接连接符 59"/>
          <p:cNvCxnSpPr/>
          <p:nvPr/>
        </p:nvCxnSpPr>
        <p:spPr bwMode="auto">
          <a:xfrm>
            <a:off x="7162732" y="1187650"/>
            <a:ext cx="0" cy="179096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直接连接符 60"/>
          <p:cNvCxnSpPr/>
          <p:nvPr/>
        </p:nvCxnSpPr>
        <p:spPr bwMode="auto">
          <a:xfrm>
            <a:off x="7509758" y="2973835"/>
            <a:ext cx="770" cy="184317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8" name="图片 47"/>
          <p:cNvPicPr>
            <a:picLocks noChangeAspect="1"/>
          </p:cNvPicPr>
          <p:nvPr/>
        </p:nvPicPr>
        <p:blipFill>
          <a:blip r:embed="rId15"/>
          <a:stretch>
            <a:fillRect/>
          </a:stretch>
        </p:blipFill>
        <p:spPr>
          <a:xfrm>
            <a:off x="1119875" y="5120856"/>
            <a:ext cx="1355504" cy="1737054"/>
          </a:xfrm>
          <a:prstGeom prst="rect">
            <a:avLst/>
          </a:prstGeom>
        </p:spPr>
      </p:pic>
      <p:sp>
        <p:nvSpPr>
          <p:cNvPr id="50" name="矩形 49"/>
          <p:cNvSpPr/>
          <p:nvPr/>
        </p:nvSpPr>
        <p:spPr>
          <a:xfrm>
            <a:off x="3881737" y="1442524"/>
            <a:ext cx="309273" cy="276999"/>
          </a:xfrm>
          <a:prstGeom prst="rect">
            <a:avLst/>
          </a:prstGeom>
        </p:spPr>
        <p:txBody>
          <a:bodyPr wrap="square">
            <a:spAutoFit/>
          </a:bodyPr>
          <a:lstStyle/>
          <a:p>
            <a:r>
              <a:rPr lang="en-US" altLang="zh-CN" sz="1200" b="1" dirty="0">
                <a:solidFill>
                  <a:srgbClr val="FF0000"/>
                </a:solidFill>
                <a:latin typeface="华文楷体" panose="02010600040101010101" pitchFamily="2" charset="-122"/>
                <a:ea typeface="华文楷体" panose="02010600040101010101" pitchFamily="2" charset="-122"/>
              </a:rPr>
              <a:t>①</a:t>
            </a:r>
            <a:endParaRPr lang="zh-CN" altLang="en-US" sz="1200" b="1" dirty="0">
              <a:solidFill>
                <a:srgbClr val="FF0000"/>
              </a:solidFill>
            </a:endParaRPr>
          </a:p>
        </p:txBody>
      </p:sp>
      <p:sp>
        <p:nvSpPr>
          <p:cNvPr id="51" name="矩形 50"/>
          <p:cNvSpPr/>
          <p:nvPr/>
        </p:nvSpPr>
        <p:spPr>
          <a:xfrm>
            <a:off x="4724396" y="1460172"/>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②</a:t>
            </a:r>
            <a:endParaRPr lang="zh-CN" altLang="en-US" sz="1200" dirty="0">
              <a:latin typeface="Times New Roman" panose="02020603050405020304" pitchFamily="18" charset="0"/>
              <a:cs typeface="Times New Roman" panose="02020603050405020304" pitchFamily="18" charset="0"/>
            </a:endParaRPr>
          </a:p>
        </p:txBody>
      </p:sp>
      <p:sp>
        <p:nvSpPr>
          <p:cNvPr id="66" name="矩形 65"/>
          <p:cNvSpPr/>
          <p:nvPr/>
        </p:nvSpPr>
        <p:spPr>
          <a:xfrm>
            <a:off x="5575244" y="1454686"/>
            <a:ext cx="276382" cy="276999"/>
          </a:xfrm>
          <a:prstGeom prst="rect">
            <a:avLst/>
          </a:prstGeom>
        </p:spPr>
        <p:txBody>
          <a:bodyPr wrap="squar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③</a:t>
            </a:r>
            <a:endParaRPr lang="zh-CN" altLang="en-US" sz="1200" dirty="0">
              <a:latin typeface="Times New Roman" panose="02020603050405020304" pitchFamily="18" charset="0"/>
              <a:cs typeface="Times New Roman" panose="02020603050405020304" pitchFamily="18" charset="0"/>
            </a:endParaRPr>
          </a:p>
        </p:txBody>
      </p:sp>
      <p:sp>
        <p:nvSpPr>
          <p:cNvPr id="67" name="矩形 66"/>
          <p:cNvSpPr/>
          <p:nvPr/>
        </p:nvSpPr>
        <p:spPr>
          <a:xfrm>
            <a:off x="6490600" y="1463885"/>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④</a:t>
            </a:r>
            <a:endParaRPr lang="zh-CN" altLang="en-US" sz="1200" dirty="0">
              <a:latin typeface="Times New Roman" panose="02020603050405020304" pitchFamily="18" charset="0"/>
              <a:cs typeface="Times New Roman" panose="02020603050405020304" pitchFamily="18" charset="0"/>
            </a:endParaRPr>
          </a:p>
        </p:txBody>
      </p:sp>
      <p:sp>
        <p:nvSpPr>
          <p:cNvPr id="68" name="矩形 67"/>
          <p:cNvSpPr/>
          <p:nvPr/>
        </p:nvSpPr>
        <p:spPr>
          <a:xfrm>
            <a:off x="7462960" y="1453175"/>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⑤</a:t>
            </a:r>
            <a:endParaRPr lang="zh-CN" altLang="en-US" sz="1200" dirty="0">
              <a:latin typeface="Times New Roman" panose="02020603050405020304" pitchFamily="18" charset="0"/>
              <a:cs typeface="Times New Roman" panose="02020603050405020304" pitchFamily="18" charset="0"/>
            </a:endParaRPr>
          </a:p>
        </p:txBody>
      </p:sp>
      <p:sp>
        <p:nvSpPr>
          <p:cNvPr id="69" name="矩形 68"/>
          <p:cNvSpPr/>
          <p:nvPr/>
        </p:nvSpPr>
        <p:spPr>
          <a:xfrm>
            <a:off x="8221004" y="1483067"/>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⑥</a:t>
            </a:r>
            <a:endParaRPr lang="zh-CN" altLang="en-US" sz="1200" dirty="0">
              <a:latin typeface="Times New Roman" panose="02020603050405020304" pitchFamily="18" charset="0"/>
              <a:cs typeface="Times New Roman" panose="02020603050405020304" pitchFamily="18" charset="0"/>
            </a:endParaRPr>
          </a:p>
        </p:txBody>
      </p:sp>
      <p:sp>
        <p:nvSpPr>
          <p:cNvPr id="71" name="矩形 70"/>
          <p:cNvSpPr/>
          <p:nvPr/>
        </p:nvSpPr>
        <p:spPr>
          <a:xfrm>
            <a:off x="3945973" y="3292070"/>
            <a:ext cx="338554" cy="276999"/>
          </a:xfrm>
          <a:prstGeom prst="rect">
            <a:avLst/>
          </a:prstGeom>
        </p:spPr>
        <p:txBody>
          <a:bodyPr wrap="none">
            <a:spAutoFit/>
          </a:bodyPr>
          <a:lstStyle/>
          <a:p>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⑦</a:t>
            </a:r>
            <a:endParaRPr lang="zh-CN" altLang="en-US" sz="1200" dirty="0">
              <a:latin typeface="Times New Roman" panose="02020603050405020304" pitchFamily="18" charset="0"/>
              <a:cs typeface="Times New Roman" panose="02020603050405020304" pitchFamily="18" charset="0"/>
            </a:endParaRPr>
          </a:p>
        </p:txBody>
      </p:sp>
      <p:sp>
        <p:nvSpPr>
          <p:cNvPr id="72" name="矩形 71"/>
          <p:cNvSpPr/>
          <p:nvPr/>
        </p:nvSpPr>
        <p:spPr>
          <a:xfrm>
            <a:off x="4986334" y="3276604"/>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⑧</a:t>
            </a:r>
            <a:endParaRPr lang="zh-CN" altLang="en-US" sz="1200" dirty="0">
              <a:latin typeface="Times New Roman" panose="02020603050405020304" pitchFamily="18" charset="0"/>
              <a:cs typeface="Times New Roman" panose="02020603050405020304" pitchFamily="18" charset="0"/>
            </a:endParaRPr>
          </a:p>
        </p:txBody>
      </p:sp>
      <p:sp>
        <p:nvSpPr>
          <p:cNvPr id="73" name="矩形 72"/>
          <p:cNvSpPr/>
          <p:nvPr/>
        </p:nvSpPr>
        <p:spPr>
          <a:xfrm>
            <a:off x="5880659" y="3239962"/>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⑨</a:t>
            </a:r>
            <a:endParaRPr lang="zh-CN" altLang="en-US" sz="1200" dirty="0">
              <a:latin typeface="Times New Roman" panose="02020603050405020304" pitchFamily="18" charset="0"/>
              <a:cs typeface="Times New Roman" panose="02020603050405020304" pitchFamily="18" charset="0"/>
            </a:endParaRPr>
          </a:p>
        </p:txBody>
      </p:sp>
      <p:sp>
        <p:nvSpPr>
          <p:cNvPr id="74" name="矩形 73"/>
          <p:cNvSpPr/>
          <p:nvPr/>
        </p:nvSpPr>
        <p:spPr>
          <a:xfrm>
            <a:off x="6895400" y="3407724"/>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⑩</a:t>
            </a:r>
            <a:endParaRPr lang="zh-CN" altLang="en-US" sz="1200" dirty="0">
              <a:latin typeface="Times New Roman" panose="02020603050405020304" pitchFamily="18" charset="0"/>
              <a:cs typeface="Times New Roman" panose="02020603050405020304" pitchFamily="18" charset="0"/>
            </a:endParaRPr>
          </a:p>
        </p:txBody>
      </p:sp>
      <p:sp>
        <p:nvSpPr>
          <p:cNvPr id="75" name="矩形 74"/>
          <p:cNvSpPr/>
          <p:nvPr/>
        </p:nvSpPr>
        <p:spPr>
          <a:xfrm>
            <a:off x="7636582" y="3276604"/>
            <a:ext cx="338554" cy="276999"/>
          </a:xfrm>
          <a:prstGeom prst="rect">
            <a:avLst/>
          </a:prstGeom>
        </p:spPr>
        <p:txBody>
          <a:bodyPr wrap="none">
            <a:spAutoFit/>
          </a:bodyPr>
          <a:lstStyle/>
          <a:p>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⑾</a:t>
            </a:r>
            <a:endParaRPr lang="zh-CN" altLang="en-US" sz="1200" dirty="0">
              <a:latin typeface="Times New Roman" panose="02020603050405020304" pitchFamily="18" charset="0"/>
              <a:cs typeface="Times New Roman" panose="02020603050405020304" pitchFamily="18" charset="0"/>
            </a:endParaRPr>
          </a:p>
        </p:txBody>
      </p:sp>
      <p:sp>
        <p:nvSpPr>
          <p:cNvPr id="76" name="矩形 75"/>
          <p:cNvSpPr/>
          <p:nvPr/>
        </p:nvSpPr>
        <p:spPr>
          <a:xfrm>
            <a:off x="8431449" y="3367051"/>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⑿</a:t>
            </a:r>
            <a:endParaRPr lang="zh-CN" altLang="en-US" sz="1200" dirty="0">
              <a:latin typeface="Times New Roman" panose="02020603050405020304" pitchFamily="18" charset="0"/>
              <a:cs typeface="Times New Roman" panose="02020603050405020304" pitchFamily="18" charset="0"/>
            </a:endParaRPr>
          </a:p>
        </p:txBody>
      </p:sp>
      <p:sp>
        <p:nvSpPr>
          <p:cNvPr id="77" name="矩形 76"/>
          <p:cNvSpPr/>
          <p:nvPr/>
        </p:nvSpPr>
        <p:spPr>
          <a:xfrm>
            <a:off x="154575" y="5437941"/>
            <a:ext cx="338554" cy="276999"/>
          </a:xfrm>
          <a:prstGeom prst="rect">
            <a:avLst/>
          </a:prstGeom>
        </p:spPr>
        <p:txBody>
          <a:bodyPr wrap="none">
            <a:spAutoFit/>
          </a:bodyPr>
          <a:lstStyle/>
          <a:p>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⒀</a:t>
            </a:r>
            <a:endParaRPr lang="zh-CN" altLang="en-US" sz="1200" dirty="0">
              <a:latin typeface="Times New Roman" panose="02020603050405020304" pitchFamily="18" charset="0"/>
              <a:cs typeface="Times New Roman" panose="02020603050405020304" pitchFamily="18" charset="0"/>
            </a:endParaRPr>
          </a:p>
        </p:txBody>
      </p:sp>
      <p:sp>
        <p:nvSpPr>
          <p:cNvPr id="78" name="矩形 77"/>
          <p:cNvSpPr/>
          <p:nvPr/>
        </p:nvSpPr>
        <p:spPr>
          <a:xfrm>
            <a:off x="1465742" y="5468035"/>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⒁</a:t>
            </a:r>
            <a:endParaRPr lang="zh-CN" altLang="en-US" sz="1200" dirty="0">
              <a:latin typeface="Times New Roman" panose="02020603050405020304" pitchFamily="18" charset="0"/>
              <a:cs typeface="Times New Roman" panose="02020603050405020304" pitchFamily="18" charset="0"/>
            </a:endParaRPr>
          </a:p>
        </p:txBody>
      </p:sp>
      <p:pic>
        <p:nvPicPr>
          <p:cNvPr id="52" name="图片 51"/>
          <p:cNvPicPr>
            <a:picLocks noChangeAspect="1"/>
          </p:cNvPicPr>
          <p:nvPr/>
        </p:nvPicPr>
        <p:blipFill>
          <a:blip r:embed="rId16"/>
          <a:stretch>
            <a:fillRect/>
          </a:stretch>
        </p:blipFill>
        <p:spPr>
          <a:xfrm>
            <a:off x="2522038" y="5346289"/>
            <a:ext cx="877257" cy="1435511"/>
          </a:xfrm>
          <a:prstGeom prst="rect">
            <a:avLst/>
          </a:prstGeom>
        </p:spPr>
      </p:pic>
      <p:sp>
        <p:nvSpPr>
          <p:cNvPr id="81" name="矩形 80"/>
          <p:cNvSpPr/>
          <p:nvPr/>
        </p:nvSpPr>
        <p:spPr>
          <a:xfrm>
            <a:off x="2728641" y="5363806"/>
            <a:ext cx="338554" cy="276999"/>
          </a:xfrm>
          <a:prstGeom prst="rect">
            <a:avLst/>
          </a:prstGeom>
        </p:spPr>
        <p:txBody>
          <a:bodyPr wrap="none">
            <a:spAutoFit/>
          </a:bodyPr>
          <a:lstStyle/>
          <a:p>
            <a:r>
              <a:rPr lang="zh-CN" altLang="en-US" sz="1200" b="1" dirty="0" smtClean="0">
                <a:solidFill>
                  <a:srgbClr val="FF0000"/>
                </a:solidFill>
                <a:latin typeface="Times New Roman" panose="02020603050405020304" pitchFamily="18" charset="0"/>
                <a:cs typeface="Times New Roman" panose="02020603050405020304" pitchFamily="18" charset="0"/>
              </a:rPr>
              <a:t>⒂</a:t>
            </a:r>
            <a:endParaRPr lang="zh-CN" altLang="en-US" sz="1200" b="1" dirty="0">
              <a:solidFill>
                <a:srgbClr val="FF0000"/>
              </a:solidFill>
              <a:latin typeface="Times New Roman" panose="02020603050405020304" pitchFamily="18" charset="0"/>
              <a:cs typeface="Times New Roman" panose="02020603050405020304" pitchFamily="18" charset="0"/>
            </a:endParaRPr>
          </a:p>
        </p:txBody>
      </p:sp>
      <p:cxnSp>
        <p:nvCxnSpPr>
          <p:cNvPr id="82" name="直接连接符 81"/>
          <p:cNvCxnSpPr/>
          <p:nvPr/>
        </p:nvCxnSpPr>
        <p:spPr bwMode="auto">
          <a:xfrm flipH="1">
            <a:off x="5314498" y="4846322"/>
            <a:ext cx="3339" cy="201167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58" name="图片 57"/>
          <p:cNvPicPr>
            <a:picLocks noChangeAspect="1"/>
          </p:cNvPicPr>
          <p:nvPr/>
        </p:nvPicPr>
        <p:blipFill>
          <a:blip r:embed="rId17"/>
          <a:stretch>
            <a:fillRect/>
          </a:stretch>
        </p:blipFill>
        <p:spPr>
          <a:xfrm>
            <a:off x="3429030" y="5372126"/>
            <a:ext cx="862477" cy="1286568"/>
          </a:xfrm>
          <a:prstGeom prst="rect">
            <a:avLst/>
          </a:prstGeom>
        </p:spPr>
      </p:pic>
      <p:cxnSp>
        <p:nvCxnSpPr>
          <p:cNvPr id="85" name="直接连接符 84"/>
          <p:cNvCxnSpPr/>
          <p:nvPr/>
        </p:nvCxnSpPr>
        <p:spPr bwMode="auto">
          <a:xfrm flipH="1">
            <a:off x="6211205" y="4814670"/>
            <a:ext cx="3339" cy="201167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59" name="图片 58"/>
          <p:cNvPicPr>
            <a:picLocks noChangeAspect="1"/>
          </p:cNvPicPr>
          <p:nvPr/>
        </p:nvPicPr>
        <p:blipFill>
          <a:blip r:embed="rId18"/>
          <a:stretch>
            <a:fillRect/>
          </a:stretch>
        </p:blipFill>
        <p:spPr>
          <a:xfrm>
            <a:off x="4343406" y="5074057"/>
            <a:ext cx="956866" cy="1402863"/>
          </a:xfrm>
          <a:prstGeom prst="rect">
            <a:avLst/>
          </a:prstGeom>
        </p:spPr>
      </p:pic>
      <p:cxnSp>
        <p:nvCxnSpPr>
          <p:cNvPr id="87" name="直接连接符 86"/>
          <p:cNvCxnSpPr/>
          <p:nvPr/>
        </p:nvCxnSpPr>
        <p:spPr bwMode="auto">
          <a:xfrm flipH="1">
            <a:off x="7162732" y="4856028"/>
            <a:ext cx="3339" cy="201167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9" name="直接连接符 88"/>
          <p:cNvCxnSpPr/>
          <p:nvPr/>
        </p:nvCxnSpPr>
        <p:spPr bwMode="auto">
          <a:xfrm>
            <a:off x="7960236" y="1170120"/>
            <a:ext cx="0" cy="179096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0" name="直接连接符 89"/>
          <p:cNvCxnSpPr/>
          <p:nvPr/>
        </p:nvCxnSpPr>
        <p:spPr bwMode="auto">
          <a:xfrm>
            <a:off x="8273627" y="2957363"/>
            <a:ext cx="770" cy="184317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1" name="矩形 90"/>
          <p:cNvSpPr/>
          <p:nvPr/>
        </p:nvSpPr>
        <p:spPr>
          <a:xfrm>
            <a:off x="3622828" y="5363806"/>
            <a:ext cx="338554" cy="276999"/>
          </a:xfrm>
          <a:prstGeom prst="rect">
            <a:avLst/>
          </a:prstGeom>
        </p:spPr>
        <p:txBody>
          <a:bodyPr wrap="non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⒃</a:t>
            </a:r>
            <a:endParaRPr lang="zh-CN" altLang="en-US" sz="1200" dirty="0">
              <a:latin typeface="Times New Roman" panose="02020603050405020304" pitchFamily="18" charset="0"/>
              <a:cs typeface="Times New Roman" panose="02020603050405020304" pitchFamily="18" charset="0"/>
            </a:endParaRPr>
          </a:p>
        </p:txBody>
      </p:sp>
      <p:sp>
        <p:nvSpPr>
          <p:cNvPr id="92" name="矩形 91"/>
          <p:cNvSpPr/>
          <p:nvPr/>
        </p:nvSpPr>
        <p:spPr>
          <a:xfrm>
            <a:off x="4583254" y="5349644"/>
            <a:ext cx="338554" cy="276999"/>
          </a:xfrm>
          <a:prstGeom prst="rect">
            <a:avLst/>
          </a:prstGeom>
        </p:spPr>
        <p:txBody>
          <a:bodyPr wrap="none">
            <a:spAutoFit/>
          </a:bodyPr>
          <a:lstStyle/>
          <a:p>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⒄</a:t>
            </a:r>
            <a:endParaRPr lang="zh-CN" altLang="en-US" sz="1200" dirty="0">
              <a:latin typeface="Times New Roman" panose="02020603050405020304" pitchFamily="18" charset="0"/>
              <a:cs typeface="Times New Roman" panose="02020603050405020304" pitchFamily="18" charset="0"/>
            </a:endParaRPr>
          </a:p>
        </p:txBody>
      </p:sp>
      <p:pic>
        <p:nvPicPr>
          <p:cNvPr id="63" name="图片 62"/>
          <p:cNvPicPr>
            <a:picLocks noChangeAspect="1"/>
          </p:cNvPicPr>
          <p:nvPr/>
        </p:nvPicPr>
        <p:blipFill>
          <a:blip r:embed="rId19"/>
          <a:stretch>
            <a:fillRect/>
          </a:stretch>
        </p:blipFill>
        <p:spPr>
          <a:xfrm>
            <a:off x="5320834" y="5272658"/>
            <a:ext cx="871693" cy="1300316"/>
          </a:xfrm>
          <a:prstGeom prst="rect">
            <a:avLst/>
          </a:prstGeom>
        </p:spPr>
      </p:pic>
      <p:sp>
        <p:nvSpPr>
          <p:cNvPr id="95" name="矩形 94"/>
          <p:cNvSpPr/>
          <p:nvPr/>
        </p:nvSpPr>
        <p:spPr>
          <a:xfrm>
            <a:off x="5544674" y="5260992"/>
            <a:ext cx="338554" cy="276999"/>
          </a:xfrm>
          <a:prstGeom prst="rect">
            <a:avLst/>
          </a:prstGeom>
        </p:spPr>
        <p:txBody>
          <a:bodyPr wrap="none">
            <a:spAutoFit/>
          </a:bodyPr>
          <a:lstStyle/>
          <a:p>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⒅</a:t>
            </a:r>
            <a:endParaRPr lang="zh-CN" altLang="en-US" sz="1200" dirty="0">
              <a:latin typeface="Times New Roman" panose="02020603050405020304" pitchFamily="18" charset="0"/>
              <a:cs typeface="Times New Roman" panose="02020603050405020304" pitchFamily="18" charset="0"/>
            </a:endParaRPr>
          </a:p>
        </p:txBody>
      </p:sp>
      <p:pic>
        <p:nvPicPr>
          <p:cNvPr id="18433" name="图片 18432"/>
          <p:cNvPicPr>
            <a:picLocks noChangeAspect="1"/>
          </p:cNvPicPr>
          <p:nvPr/>
        </p:nvPicPr>
        <p:blipFill>
          <a:blip r:embed="rId20"/>
          <a:stretch>
            <a:fillRect/>
          </a:stretch>
        </p:blipFill>
        <p:spPr>
          <a:xfrm>
            <a:off x="6233222" y="4910505"/>
            <a:ext cx="1016448" cy="1490217"/>
          </a:xfrm>
          <a:prstGeom prst="rect">
            <a:avLst/>
          </a:prstGeom>
        </p:spPr>
      </p:pic>
      <p:sp>
        <p:nvSpPr>
          <p:cNvPr id="97" name="矩形 96"/>
          <p:cNvSpPr/>
          <p:nvPr/>
        </p:nvSpPr>
        <p:spPr>
          <a:xfrm>
            <a:off x="6426508" y="5201231"/>
            <a:ext cx="338554" cy="276999"/>
          </a:xfrm>
          <a:prstGeom prst="rect">
            <a:avLst/>
          </a:prstGeom>
        </p:spPr>
        <p:txBody>
          <a:bodyPr wrap="none">
            <a:spAutoFit/>
          </a:bodyPr>
          <a:lstStyle/>
          <a:p>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⒆</a:t>
            </a:r>
            <a:endParaRPr lang="zh-CN" altLang="en-US" sz="1200" dirty="0">
              <a:latin typeface="Times New Roman" panose="02020603050405020304" pitchFamily="18" charset="0"/>
              <a:cs typeface="Times New Roman" panose="02020603050405020304" pitchFamily="18" charset="0"/>
            </a:endParaRPr>
          </a:p>
        </p:txBody>
      </p:sp>
      <p:pic>
        <p:nvPicPr>
          <p:cNvPr id="18434" name="图片 18433"/>
          <p:cNvPicPr>
            <a:picLocks noChangeAspect="1"/>
          </p:cNvPicPr>
          <p:nvPr/>
        </p:nvPicPr>
        <p:blipFill>
          <a:blip r:embed="rId21"/>
          <a:stretch>
            <a:fillRect/>
          </a:stretch>
        </p:blipFill>
        <p:spPr>
          <a:xfrm>
            <a:off x="7202925" y="4942963"/>
            <a:ext cx="1117657" cy="1432256"/>
          </a:xfrm>
          <a:prstGeom prst="rect">
            <a:avLst/>
          </a:prstGeom>
        </p:spPr>
      </p:pic>
      <p:sp>
        <p:nvSpPr>
          <p:cNvPr id="100" name="矩形 99"/>
          <p:cNvSpPr/>
          <p:nvPr/>
        </p:nvSpPr>
        <p:spPr>
          <a:xfrm>
            <a:off x="7433762" y="5209347"/>
            <a:ext cx="338554" cy="276999"/>
          </a:xfrm>
          <a:prstGeom prst="rect">
            <a:avLst/>
          </a:prstGeom>
        </p:spPr>
        <p:txBody>
          <a:bodyPr wrap="none">
            <a:spAutoFit/>
          </a:bodyPr>
          <a:lstStyle/>
          <a:p>
            <a:r>
              <a:rPr lang="en-US" altLang="zh-CN" sz="1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⒇</a:t>
            </a:r>
            <a:endParaRPr lang="zh-CN" altLang="en-US" sz="1200" dirty="0">
              <a:latin typeface="Times New Roman" panose="02020603050405020304" pitchFamily="18" charset="0"/>
              <a:cs typeface="Times New Roman" panose="02020603050405020304" pitchFamily="18" charset="0"/>
            </a:endParaRPr>
          </a:p>
        </p:txBody>
      </p:sp>
      <p:cxnSp>
        <p:nvCxnSpPr>
          <p:cNvPr id="101" name="直接连接符 100"/>
          <p:cNvCxnSpPr/>
          <p:nvPr/>
        </p:nvCxnSpPr>
        <p:spPr bwMode="auto">
          <a:xfrm flipH="1">
            <a:off x="8248912" y="4838943"/>
            <a:ext cx="3339" cy="201167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8439" name="图片 18438"/>
          <p:cNvPicPr>
            <a:picLocks noChangeAspect="1"/>
          </p:cNvPicPr>
          <p:nvPr/>
        </p:nvPicPr>
        <p:blipFill>
          <a:blip r:embed="rId22"/>
          <a:stretch>
            <a:fillRect/>
          </a:stretch>
        </p:blipFill>
        <p:spPr>
          <a:xfrm>
            <a:off x="8193452" y="4967168"/>
            <a:ext cx="956761" cy="1357356"/>
          </a:xfrm>
          <a:prstGeom prst="rect">
            <a:avLst/>
          </a:prstGeom>
        </p:spPr>
      </p:pic>
      <p:sp>
        <p:nvSpPr>
          <p:cNvPr id="103" name="矩形 102"/>
          <p:cNvSpPr/>
          <p:nvPr/>
        </p:nvSpPr>
        <p:spPr>
          <a:xfrm>
            <a:off x="8475385" y="5225306"/>
            <a:ext cx="474948" cy="276999"/>
          </a:xfrm>
          <a:prstGeom prst="rect">
            <a:avLst/>
          </a:prstGeom>
        </p:spPr>
        <p:txBody>
          <a:bodyPr wrap="square">
            <a:spAutoFit/>
          </a:bodyPr>
          <a:lstStyle/>
          <a:p>
            <a:r>
              <a:rPr lang="en-US" altLang="zh-CN" sz="1200" b="1" dirty="0" smtClean="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(21)</a:t>
            </a:r>
            <a:endParaRPr lang="zh-CN" alt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194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9461" name="Text Box 5"/>
          <p:cNvSpPr txBox="1">
            <a:spLocks noChangeArrowheads="1"/>
          </p:cNvSpPr>
          <p:nvPr/>
        </p:nvSpPr>
        <p:spPr bwMode="auto">
          <a:xfrm>
            <a:off x="228619" y="1140781"/>
            <a:ext cx="4495777" cy="4450449"/>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dirty="0">
                <a:solidFill>
                  <a:srgbClr val="CC6600"/>
                </a:solidFill>
                <a:latin typeface="Times New Roman" panose="02020603050405020304" pitchFamily="18" charset="0"/>
                <a:ea typeface="华文楷体" panose="02010600040101010101" pitchFamily="2" charset="-122"/>
              </a:rPr>
              <a:t>[</a:t>
            </a:r>
            <a:r>
              <a:rPr lang="zh-CN" altLang="en-US" sz="2400" b="1" dirty="0">
                <a:solidFill>
                  <a:srgbClr val="CC6600"/>
                </a:solidFill>
                <a:latin typeface="Times New Roman" panose="02020603050405020304" pitchFamily="18" charset="0"/>
                <a:ea typeface="华文楷体" panose="02010600040101010101" pitchFamily="2" charset="-122"/>
              </a:rPr>
              <a:t>消除尾递归的递归算法</a:t>
            </a:r>
            <a:r>
              <a:rPr lang="en-US" altLang="zh-CN" sz="2400" b="1" dirty="0">
                <a:solidFill>
                  <a:srgbClr val="CC6600"/>
                </a:solidFill>
                <a:latin typeface="Times New Roman" panose="02020603050405020304" pitchFamily="18" charset="0"/>
                <a:ea typeface="华文楷体" panose="02010600040101010101" pitchFamily="2" charset="-122"/>
              </a:rPr>
              <a:t>]</a:t>
            </a:r>
            <a:endParaRPr lang="en-US" altLang="zh-CN" sz="2400" b="1" dirty="0">
              <a:solidFill>
                <a:srgbClr val="CC6600"/>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void </a:t>
            </a:r>
            <a:r>
              <a:rPr lang="en-US" altLang="zh-CN" sz="2400" dirty="0">
                <a:solidFill>
                  <a:schemeClr val="accent2"/>
                </a:solidFill>
                <a:latin typeface="Times New Roman" panose="02020603050405020304" pitchFamily="18" charset="0"/>
                <a:ea typeface="华文楷体" panose="02010600040101010101" pitchFamily="2" charset="-122"/>
              </a:rPr>
              <a:t>Preorder3</a:t>
            </a:r>
            <a:r>
              <a:rPr lang="en-US" altLang="zh-CN" sz="2000" dirty="0">
                <a:solidFill>
                  <a:schemeClr val="accent2"/>
                </a:solidFill>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while (</a:t>
            </a:r>
            <a:r>
              <a:rPr lang="en-US" altLang="zh-CN" sz="2400" dirty="0" smtClean="0">
                <a:latin typeface="Times New Roman" panose="02020603050405020304" pitchFamily="18" charset="0"/>
                <a:ea typeface="华文楷体" panose="02010600040101010101" pitchFamily="2" charset="-122"/>
              </a:rPr>
              <a:t>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rgbClr val="FF3300"/>
                </a:solidFill>
                <a:latin typeface="Times New Roman" panose="02020603050405020304" pitchFamily="18" charset="0"/>
                <a:ea typeface="华文楷体" panose="02010600040101010101" pitchFamily="2" charset="-122"/>
              </a:rPr>
              <a:t>Printdata</a:t>
            </a:r>
            <a:r>
              <a:rPr lang="en-US" altLang="zh-CN" sz="2400" dirty="0">
                <a:latin typeface="Times New Roman" panose="02020603050405020304" pitchFamily="18" charset="0"/>
                <a:ea typeface="华文楷体" panose="02010600040101010101" pitchFamily="2" charset="-122"/>
              </a:rPr>
              <a:t>(T-&gt;data);</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Preorder3(T-&gt;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T = T-&gt;</a:t>
            </a:r>
            <a:r>
              <a:rPr lang="en-US" altLang="zh-CN" sz="2400" dirty="0" err="1">
                <a:latin typeface="Times New Roman" panose="02020603050405020304" pitchFamily="18" charset="0"/>
                <a:ea typeface="华文楷体" panose="02010600040101010101" pitchFamily="2" charset="-122"/>
              </a:rPr>
              <a:t>rc</a:t>
            </a:r>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smtClean="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p:txBody>
      </p:sp>
      <p:cxnSp>
        <p:nvCxnSpPr>
          <p:cNvPr id="5" name="直接箭头连接符 4"/>
          <p:cNvCxnSpPr/>
          <p:nvPr/>
        </p:nvCxnSpPr>
        <p:spPr bwMode="auto">
          <a:xfrm flipH="1">
            <a:off x="3124238" y="1791889"/>
            <a:ext cx="2057346" cy="457188"/>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文本框 8"/>
          <p:cNvSpPr txBox="1"/>
          <p:nvPr/>
        </p:nvSpPr>
        <p:spPr>
          <a:xfrm>
            <a:off x="5207443" y="1674207"/>
            <a:ext cx="2646878" cy="461665"/>
          </a:xfrm>
          <a:prstGeom prst="rect">
            <a:avLst/>
          </a:prstGeom>
          <a:noFill/>
          <a:ln>
            <a:solidFill>
              <a:schemeClr val="accent6">
                <a:lumMod val="60000"/>
                <a:lumOff val="40000"/>
              </a:schemeClr>
            </a:solidFill>
          </a:ln>
        </p:spPr>
        <p:txBody>
          <a:bodyPr wrap="none" rtlCol="0">
            <a:spAutoFit/>
          </a:bodyPr>
          <a:lstStyle/>
          <a:p>
            <a:r>
              <a:rPr lang="zh-CN" altLang="en-US" dirty="0" smtClean="0">
                <a:latin typeface="华文楷体" panose="02010600040101010101" pitchFamily="2" charset="-122"/>
                <a:ea typeface="华文楷体" panose="02010600040101010101" pitchFamily="2" charset="-122"/>
              </a:rPr>
              <a:t>插入栈初始化语句</a:t>
            </a:r>
            <a:endParaRPr lang="zh-CN" altLang="en-US" dirty="0">
              <a:latin typeface="华文楷体" panose="02010600040101010101" pitchFamily="2" charset="-122"/>
              <a:ea typeface="华文楷体" panose="02010600040101010101" pitchFamily="2" charset="-122"/>
            </a:endParaRPr>
          </a:p>
        </p:txBody>
      </p:sp>
      <p:cxnSp>
        <p:nvCxnSpPr>
          <p:cNvPr id="11" name="直接箭头连接符 10"/>
          <p:cNvCxnSpPr/>
          <p:nvPr/>
        </p:nvCxnSpPr>
        <p:spPr bwMode="auto">
          <a:xfrm flipH="1">
            <a:off x="3200436" y="3588544"/>
            <a:ext cx="1904950" cy="350837"/>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文本框 15"/>
          <p:cNvSpPr txBox="1"/>
          <p:nvPr/>
        </p:nvSpPr>
        <p:spPr>
          <a:xfrm>
            <a:off x="5257783" y="2896046"/>
            <a:ext cx="3276514" cy="1200329"/>
          </a:xfrm>
          <a:prstGeom prst="rect">
            <a:avLst/>
          </a:prstGeom>
          <a:noFill/>
          <a:ln>
            <a:solidFill>
              <a:schemeClr val="accent6">
                <a:lumMod val="60000"/>
                <a:lumOff val="40000"/>
              </a:schemeClr>
            </a:solidFill>
          </a:ln>
        </p:spPr>
        <p:txBody>
          <a:bodyPr wrap="square" rtlCol="0">
            <a:spAutoFit/>
          </a:bodyPr>
          <a:lstStyle/>
          <a:p>
            <a:r>
              <a:rPr lang="zh-CN" altLang="en-US" dirty="0" smtClean="0">
                <a:latin typeface="华文楷体" panose="02010600040101010101" pitchFamily="2" charset="-122"/>
                <a:ea typeface="华文楷体" panose="02010600040101010101" pitchFamily="2" charset="-122"/>
              </a:rPr>
              <a:t>改写递归，当前工作记录入栈，参数重新赋值，转被调用过程</a:t>
            </a:r>
            <a:endParaRPr lang="zh-CN" altLang="en-US" dirty="0">
              <a:latin typeface="华文楷体" panose="02010600040101010101" pitchFamily="2" charset="-122"/>
              <a:ea typeface="华文楷体" panose="02010600040101010101" pitchFamily="2" charset="-122"/>
            </a:endParaRPr>
          </a:p>
        </p:txBody>
      </p:sp>
      <p:cxnSp>
        <p:nvCxnSpPr>
          <p:cNvPr id="17" name="直接箭头连接符 16"/>
          <p:cNvCxnSpPr/>
          <p:nvPr/>
        </p:nvCxnSpPr>
        <p:spPr bwMode="auto">
          <a:xfrm flipH="1" flipV="1">
            <a:off x="2133665" y="4530519"/>
            <a:ext cx="2971721" cy="397492"/>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直接箭头连接符 18"/>
          <p:cNvCxnSpPr/>
          <p:nvPr/>
        </p:nvCxnSpPr>
        <p:spPr bwMode="auto">
          <a:xfrm flipH="1">
            <a:off x="533506" y="4928011"/>
            <a:ext cx="4495682" cy="278743"/>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 name="文本框 20"/>
          <p:cNvSpPr txBox="1"/>
          <p:nvPr/>
        </p:nvSpPr>
        <p:spPr>
          <a:xfrm>
            <a:off x="5161919" y="4327846"/>
            <a:ext cx="3276514" cy="1569660"/>
          </a:xfrm>
          <a:prstGeom prst="rect">
            <a:avLst/>
          </a:prstGeom>
          <a:noFill/>
          <a:ln>
            <a:solidFill>
              <a:schemeClr val="accent6">
                <a:lumMod val="60000"/>
                <a:lumOff val="40000"/>
              </a:schemeClr>
            </a:solidFill>
          </a:ln>
        </p:spPr>
        <p:txBody>
          <a:bodyPr wrap="square" rtlCol="0">
            <a:spAutoFit/>
          </a:bodyPr>
          <a:lstStyle/>
          <a:p>
            <a:r>
              <a:rPr lang="zh-CN" altLang="en-US" dirty="0" smtClean="0">
                <a:latin typeface="华文楷体" panose="02010600040101010101" pitchFamily="2" charset="-122"/>
                <a:ea typeface="华文楷体" panose="02010600040101010101" pitchFamily="2" charset="-122"/>
              </a:rPr>
              <a:t>递归返回，栈顶工作记录出栈，按栈顶参数值从</a:t>
            </a:r>
            <a:r>
              <a:rPr lang="zh-CN" altLang="en-US" dirty="0">
                <a:latin typeface="华文楷体" panose="02010600040101010101" pitchFamily="2" charset="-122"/>
                <a:ea typeface="华文楷体" panose="02010600040101010101" pitchFamily="2" charset="-122"/>
              </a:rPr>
              <a:t>返回</a:t>
            </a:r>
            <a:r>
              <a:rPr lang="zh-CN" altLang="en-US" dirty="0" smtClean="0">
                <a:latin typeface="华文楷体" panose="02010600040101010101" pitchFamily="2" charset="-122"/>
                <a:ea typeface="华文楷体" panose="02010600040101010101" pitchFamily="2" charset="-122"/>
              </a:rPr>
              <a:t>地址开始继续往下执行。</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5" name="Text Box 6"/>
          <p:cNvSpPr txBox="1">
            <a:spLocks noGrp="1" noChangeArrowheads="1"/>
          </p:cNvSpPr>
          <p:nvPr>
            <p:ph idx="1"/>
          </p:nvPr>
        </p:nvSpPr>
        <p:spPr bwMode="auto">
          <a:xfrm>
            <a:off x="5257783" y="926224"/>
            <a:ext cx="3412653" cy="6112443"/>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dirty="0">
                <a:solidFill>
                  <a:srgbClr val="CC6600"/>
                </a:solidFill>
                <a:latin typeface="Times New Roman" panose="02020603050405020304" pitchFamily="18" charset="0"/>
                <a:ea typeface="华文楷体" panose="02010600040101010101" pitchFamily="2" charset="-122"/>
              </a:rPr>
              <a:t>[</a:t>
            </a:r>
            <a:r>
              <a:rPr lang="zh-CN" altLang="en-US" sz="2400" b="1" dirty="0">
                <a:solidFill>
                  <a:srgbClr val="CC6600"/>
                </a:solidFill>
                <a:latin typeface="Times New Roman" panose="02020603050405020304" pitchFamily="18" charset="0"/>
                <a:ea typeface="华文楷体" panose="02010600040101010101" pitchFamily="2" charset="-122"/>
              </a:rPr>
              <a:t>非递归</a:t>
            </a:r>
            <a:r>
              <a:rPr lang="zh-CN" altLang="en-US" sz="2400" b="1" dirty="0" smtClean="0">
                <a:solidFill>
                  <a:srgbClr val="CC6600"/>
                </a:solidFill>
                <a:latin typeface="Times New Roman" panose="02020603050405020304" pitchFamily="18" charset="0"/>
                <a:ea typeface="华文楷体" panose="02010600040101010101" pitchFamily="2" charset="-122"/>
              </a:rPr>
              <a:t>算法</a:t>
            </a:r>
            <a:r>
              <a:rPr lang="en-US" altLang="zh-CN" sz="2400" b="1" dirty="0" smtClean="0">
                <a:solidFill>
                  <a:srgbClr val="CC6600"/>
                </a:solidFill>
                <a:latin typeface="Times New Roman" panose="02020603050405020304" pitchFamily="18" charset="0"/>
                <a:ea typeface="华文楷体" panose="02010600040101010101" pitchFamily="2" charset="-122"/>
              </a:rPr>
              <a:t>2]</a:t>
            </a:r>
            <a:endParaRPr lang="en-US" altLang="zh-CN" sz="2000" b="1"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void </a:t>
            </a:r>
            <a:r>
              <a:rPr lang="en-US" altLang="zh-CN" sz="1800" dirty="0" smtClean="0">
                <a:solidFill>
                  <a:schemeClr val="accent2"/>
                </a:solidFill>
                <a:latin typeface="Times New Roman" panose="02020603050405020304" pitchFamily="18" charset="0"/>
                <a:ea typeface="华文楷体" panose="02010600040101010101" pitchFamily="2" charset="-122"/>
              </a:rPr>
              <a:t>Preorder5</a:t>
            </a:r>
            <a:r>
              <a:rPr lang="en-US" altLang="zh-CN" sz="1800" dirty="0" smtClean="0">
                <a:latin typeface="Times New Roman" panose="02020603050405020304" pitchFamily="18" charset="0"/>
                <a:ea typeface="华文楷体" panose="02010600040101010101" pitchFamily="2" charset="-122"/>
              </a:rPr>
              <a:t> </a:t>
            </a:r>
            <a:r>
              <a:rPr lang="en-US" altLang="zh-CN" sz="1800" dirty="0">
                <a:latin typeface="Times New Roman" panose="02020603050405020304" pitchFamily="18" charset="0"/>
                <a:ea typeface="华文楷体" panose="02010600040101010101" pitchFamily="2" charset="-122"/>
              </a:rPr>
              <a:t>(</a:t>
            </a:r>
            <a:r>
              <a:rPr lang="en-US" altLang="zh-CN" sz="1800" dirty="0" err="1" smtClean="0">
                <a:latin typeface="Times New Roman" panose="02020603050405020304" pitchFamily="18" charset="0"/>
                <a:ea typeface="华文楷体" panose="02010600040101010101" pitchFamily="2" charset="-122"/>
              </a:rPr>
              <a:t>BiTree</a:t>
            </a:r>
            <a:r>
              <a:rPr lang="en-US" altLang="zh-CN" sz="1800" dirty="0" smtClean="0">
                <a:latin typeface="Times New Roman" panose="02020603050405020304" pitchFamily="18" charset="0"/>
                <a:ea typeface="华文楷体" panose="02010600040101010101" pitchFamily="2" charset="-122"/>
              </a:rPr>
              <a:t> T</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solidFill>
                  <a:schemeClr val="accent2"/>
                </a:solidFill>
                <a:latin typeface="Times New Roman" panose="02020603050405020304" pitchFamily="18" charset="0"/>
                <a:ea typeface="华文楷体" panose="02010600040101010101" pitchFamily="2" charset="-122"/>
              </a:rPr>
              <a:t> </a:t>
            </a:r>
            <a:r>
              <a:rPr lang="en-US" altLang="zh-CN" sz="1800" dirty="0" smtClean="0">
                <a:solidFill>
                  <a:schemeClr val="accent2"/>
                </a:solidFill>
                <a:latin typeface="Times New Roman" panose="02020603050405020304" pitchFamily="18" charset="0"/>
                <a:ea typeface="华文楷体" panose="02010600040101010101" pitchFamily="2" charset="-122"/>
              </a:rPr>
              <a:t>   </a:t>
            </a:r>
            <a:r>
              <a:rPr lang="en-US" altLang="zh-CN" sz="1800" dirty="0" err="1" smtClean="0">
                <a:solidFill>
                  <a:schemeClr val="accent2"/>
                </a:solidFill>
                <a:latin typeface="Times New Roman" panose="02020603050405020304" pitchFamily="18" charset="0"/>
                <a:ea typeface="华文楷体" panose="02010600040101010101" pitchFamily="2" charset="-122"/>
              </a:rPr>
              <a:t>inistack</a:t>
            </a:r>
            <a:r>
              <a:rPr lang="en-US" altLang="zh-CN" sz="1800" dirty="0" smtClean="0">
                <a:latin typeface="Times New Roman" panose="02020603050405020304" pitchFamily="18" charset="0"/>
                <a:ea typeface="华文楷体" panose="02010600040101010101" pitchFamily="2" charset="-122"/>
              </a:rPr>
              <a:t>(s</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None/>
            </a:pPr>
            <a:r>
              <a:rPr lang="en-US" altLang="zh-CN" sz="1800" dirty="0">
                <a:latin typeface="Times New Roman" panose="02020603050405020304" pitchFamily="18" charset="0"/>
                <a:ea typeface="华文楷体" panose="02010600040101010101" pitchFamily="2" charset="-122"/>
              </a:rPr>
              <a:t>    </a:t>
            </a:r>
            <a:r>
              <a:rPr lang="en-US" altLang="zh-CN" sz="1800" dirty="0" err="1" smtClean="0">
                <a:latin typeface="Times New Roman" panose="02020603050405020304" pitchFamily="18" charset="0"/>
                <a:ea typeface="华文楷体" panose="02010600040101010101" pitchFamily="2" charset="-122"/>
              </a:rPr>
              <a:t>BiTree</a:t>
            </a:r>
            <a:r>
              <a:rPr lang="en-US" altLang="zh-CN" sz="1800" dirty="0" smtClean="0">
                <a:latin typeface="Times New Roman" panose="02020603050405020304" pitchFamily="18" charset="0"/>
                <a:ea typeface="华文楷体" panose="02010600040101010101" pitchFamily="2" charset="-122"/>
              </a:rPr>
              <a:t> p =T;</a:t>
            </a:r>
            <a:endParaRPr lang="en-US" altLang="zh-CN" sz="1800" dirty="0">
              <a:latin typeface="Times New Roman" panose="02020603050405020304" pitchFamily="18" charset="0"/>
              <a:ea typeface="华文楷体" panose="02010600040101010101" pitchFamily="2" charset="-122"/>
            </a:endParaRPr>
          </a:p>
          <a:p>
            <a:pPr eaLnBrk="1" hangingPunct="1">
              <a:buNone/>
            </a:pPr>
            <a:r>
              <a:rPr lang="en-US" altLang="zh-CN" sz="1800" dirty="0" smtClean="0">
                <a:latin typeface="Times New Roman" panose="02020603050405020304" pitchFamily="18" charset="0"/>
                <a:ea typeface="华文楷体" panose="02010600040101010101" pitchFamily="2" charset="-122"/>
              </a:rPr>
              <a:t>    </a:t>
            </a:r>
            <a:r>
              <a:rPr lang="en-US" altLang="zh-CN" sz="1800" dirty="0">
                <a:latin typeface="Times New Roman" panose="02020603050405020304" pitchFamily="18" charset="0"/>
                <a:ea typeface="华文楷体" panose="02010600040101010101" pitchFamily="2" charset="-122"/>
              </a:rPr>
              <a:t>while </a:t>
            </a:r>
            <a:r>
              <a:rPr lang="en-US" altLang="zh-CN" sz="1800" dirty="0" smtClean="0">
                <a:latin typeface="Times New Roman" panose="02020603050405020304" pitchFamily="18" charset="0"/>
                <a:ea typeface="华文楷体" panose="02010600040101010101" pitchFamily="2" charset="-122"/>
              </a:rPr>
              <a:t>(!</a:t>
            </a:r>
            <a:r>
              <a:rPr lang="en-US" altLang="zh-CN" sz="1800" dirty="0" smtClean="0">
                <a:solidFill>
                  <a:srgbClr val="A41506"/>
                </a:solidFill>
                <a:latin typeface="Times New Roman" panose="02020603050405020304" pitchFamily="18" charset="0"/>
                <a:ea typeface="华文楷体" panose="02010600040101010101" pitchFamily="2" charset="-122"/>
              </a:rPr>
              <a:t>empty</a:t>
            </a:r>
            <a:r>
              <a:rPr lang="en-US" altLang="zh-CN" sz="1800" dirty="0" smtClean="0">
                <a:latin typeface="Times New Roman" panose="02020603050405020304" pitchFamily="18" charset="0"/>
                <a:ea typeface="华文楷体" panose="02010600040101010101" pitchFamily="2" charset="-122"/>
              </a:rPr>
              <a:t>(s)  || p)</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 </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if (p)</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smtClean="0">
                <a:latin typeface="Times New Roman" panose="02020603050405020304" pitchFamily="18" charset="0"/>
                <a:ea typeface="华文楷体" panose="02010600040101010101" pitchFamily="2" charset="-122"/>
              </a:rPr>
              <a:t>          {</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solidFill>
                  <a:srgbClr val="FF3300"/>
                </a:solidFill>
                <a:latin typeface="Times New Roman" panose="02020603050405020304" pitchFamily="18" charset="0"/>
                <a:ea typeface="华文楷体" panose="02010600040101010101" pitchFamily="2" charset="-122"/>
              </a:rPr>
              <a:t>              </a:t>
            </a:r>
            <a:r>
              <a:rPr lang="en-US" altLang="zh-CN" sz="1800" dirty="0" err="1" smtClean="0">
                <a:solidFill>
                  <a:srgbClr val="FF3300"/>
                </a:solidFill>
                <a:latin typeface="Times New Roman" panose="02020603050405020304" pitchFamily="18" charset="0"/>
                <a:ea typeface="华文楷体" panose="02010600040101010101" pitchFamily="2" charset="-122"/>
              </a:rPr>
              <a:t>Printdata</a:t>
            </a:r>
            <a:r>
              <a:rPr lang="en-US" altLang="zh-CN" sz="1800" dirty="0" smtClean="0">
                <a:latin typeface="Times New Roman" panose="02020603050405020304" pitchFamily="18" charset="0"/>
                <a:ea typeface="华文楷体" panose="02010600040101010101" pitchFamily="2" charset="-122"/>
              </a:rPr>
              <a:t>(p </a:t>
            </a:r>
            <a:r>
              <a:rPr lang="en-US" altLang="zh-CN" sz="1800" dirty="0">
                <a:latin typeface="Times New Roman" panose="02020603050405020304" pitchFamily="18" charset="0"/>
                <a:ea typeface="华文楷体" panose="02010600040101010101" pitchFamily="2" charset="-122"/>
              </a:rPr>
              <a:t>-&gt;data</a:t>
            </a:r>
            <a:r>
              <a:rPr lang="en-US" altLang="zh-CN" sz="1800" dirty="0" smtClean="0">
                <a:latin typeface="Times New Roman" panose="02020603050405020304" pitchFamily="18" charset="0"/>
                <a:ea typeface="华文楷体" panose="02010600040101010101" pitchFamily="2" charset="-122"/>
              </a:rPr>
              <a:t>);</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push(</a:t>
            </a:r>
            <a:r>
              <a:rPr lang="en-US" altLang="zh-CN" sz="1800" dirty="0" err="1" smtClean="0">
                <a:latin typeface="Times New Roman" panose="02020603050405020304" pitchFamily="18" charset="0"/>
                <a:ea typeface="华文楷体" panose="02010600040101010101" pitchFamily="2" charset="-122"/>
              </a:rPr>
              <a:t>s,p</a:t>
            </a:r>
            <a:r>
              <a:rPr lang="en-US" altLang="zh-CN" sz="1800" dirty="0" smtClean="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p =p-&gt;</a:t>
            </a:r>
            <a:r>
              <a:rPr lang="en-US" altLang="zh-CN" sz="1800" dirty="0" err="1" smtClean="0">
                <a:latin typeface="Times New Roman" panose="02020603050405020304" pitchFamily="18" charset="0"/>
                <a:ea typeface="华文楷体" panose="02010600040101010101" pitchFamily="2" charset="-122"/>
              </a:rPr>
              <a:t>lc</a:t>
            </a:r>
            <a:r>
              <a:rPr lang="en-US" altLang="zh-CN" sz="1800" dirty="0" smtClean="0">
                <a:latin typeface="Times New Roman" panose="02020603050405020304" pitchFamily="18" charset="0"/>
                <a:ea typeface="华文楷体" panose="02010600040101010101" pitchFamily="2" charset="-122"/>
              </a:rPr>
              <a:t>;</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else</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pop(</a:t>
            </a:r>
            <a:r>
              <a:rPr lang="en-US" altLang="zh-CN" sz="1800" dirty="0" err="1" smtClean="0">
                <a:latin typeface="Times New Roman" panose="02020603050405020304" pitchFamily="18" charset="0"/>
                <a:ea typeface="华文楷体" panose="02010600040101010101" pitchFamily="2" charset="-122"/>
              </a:rPr>
              <a:t>s,p</a:t>
            </a:r>
            <a:r>
              <a:rPr lang="en-US" altLang="zh-CN" sz="1800" dirty="0" smtClean="0">
                <a:latin typeface="Times New Roman" panose="02020603050405020304" pitchFamily="18" charset="0"/>
                <a:ea typeface="华文楷体" panose="02010600040101010101" pitchFamily="2" charset="-122"/>
              </a:rPr>
              <a:t>)</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p = p-&gt;</a:t>
            </a:r>
            <a:r>
              <a:rPr lang="en-US" altLang="zh-CN" sz="1800" dirty="0" err="1" smtClean="0">
                <a:latin typeface="Times New Roman" panose="02020603050405020304" pitchFamily="18" charset="0"/>
                <a:ea typeface="华文楷体" panose="02010600040101010101" pitchFamily="2" charset="-122"/>
              </a:rPr>
              <a:t>rc</a:t>
            </a:r>
            <a:r>
              <a:rPr lang="en-US" altLang="zh-CN" sz="1800" dirty="0" smtClean="0">
                <a:latin typeface="Times New Roman" panose="02020603050405020304" pitchFamily="18" charset="0"/>
                <a:ea typeface="华文楷体" panose="02010600040101010101" pitchFamily="2" charset="-122"/>
              </a:rPr>
              <a:t>;</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     }    }</a:t>
            </a:r>
            <a:endParaRPr lang="en-US" altLang="zh-CN" sz="1800" dirty="0">
              <a:latin typeface="Times New Roman" panose="02020603050405020304" pitchFamily="18" charset="0"/>
              <a:ea typeface="华文楷体" panose="02010600040101010101" pitchFamily="2" charset="-122"/>
            </a:endParaRPr>
          </a:p>
        </p:txBody>
      </p:sp>
      <p:sp>
        <p:nvSpPr>
          <p:cNvPr id="6" name="Text Box 6"/>
          <p:cNvSpPr txBox="1">
            <a:spLocks noChangeArrowheads="1"/>
          </p:cNvSpPr>
          <p:nvPr/>
        </p:nvSpPr>
        <p:spPr bwMode="auto">
          <a:xfrm>
            <a:off x="228714" y="1093397"/>
            <a:ext cx="3657504" cy="578004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dirty="0">
                <a:solidFill>
                  <a:srgbClr val="CC6600"/>
                </a:solidFill>
                <a:latin typeface="Times New Roman" panose="02020603050405020304" pitchFamily="18" charset="0"/>
                <a:ea typeface="华文楷体" panose="02010600040101010101" pitchFamily="2" charset="-122"/>
              </a:rPr>
              <a:t>[</a:t>
            </a:r>
            <a:r>
              <a:rPr lang="zh-CN" altLang="en-US" sz="2400" b="1" dirty="0">
                <a:solidFill>
                  <a:srgbClr val="CC6600"/>
                </a:solidFill>
                <a:latin typeface="Times New Roman" panose="02020603050405020304" pitchFamily="18" charset="0"/>
                <a:ea typeface="华文楷体" panose="02010600040101010101" pitchFamily="2" charset="-122"/>
              </a:rPr>
              <a:t>非递归算法</a:t>
            </a:r>
            <a:r>
              <a:rPr lang="en-US" altLang="zh-CN" sz="2400" b="1" dirty="0">
                <a:solidFill>
                  <a:srgbClr val="CC6600"/>
                </a:solidFill>
                <a:latin typeface="Times New Roman" panose="02020603050405020304" pitchFamily="18" charset="0"/>
                <a:ea typeface="华文楷体" panose="02010600040101010101" pitchFamily="2" charset="-122"/>
              </a:rPr>
              <a:t>]</a:t>
            </a:r>
            <a:endParaRPr lang="en-US" altLang="zh-CN" sz="2000" b="1"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void </a:t>
            </a:r>
            <a:r>
              <a:rPr lang="en-US" altLang="zh-CN" sz="1800" dirty="0">
                <a:solidFill>
                  <a:schemeClr val="accent2"/>
                </a:solidFill>
                <a:latin typeface="Times New Roman" panose="02020603050405020304" pitchFamily="18" charset="0"/>
                <a:ea typeface="华文楷体" panose="02010600040101010101" pitchFamily="2" charset="-122"/>
              </a:rPr>
              <a:t>Preorder4</a:t>
            </a:r>
            <a:r>
              <a:rPr lang="en-US" altLang="zh-CN" sz="1800" dirty="0">
                <a:latin typeface="Times New Roman" panose="02020603050405020304" pitchFamily="18" charset="0"/>
                <a:ea typeface="华文楷体" panose="02010600040101010101" pitchFamily="2" charset="-122"/>
              </a:rPr>
              <a:t> (</a:t>
            </a:r>
            <a:r>
              <a:rPr lang="en-US" altLang="zh-CN" sz="1800" dirty="0" err="1" smtClean="0">
                <a:latin typeface="Times New Roman" panose="02020603050405020304" pitchFamily="18" charset="0"/>
                <a:ea typeface="华文楷体" panose="02010600040101010101" pitchFamily="2" charset="-122"/>
              </a:rPr>
              <a:t>BiTree</a:t>
            </a:r>
            <a:r>
              <a:rPr lang="en-US" altLang="zh-CN" sz="1800" dirty="0" smtClean="0">
                <a:latin typeface="Times New Roman" panose="02020603050405020304" pitchFamily="18" charset="0"/>
                <a:ea typeface="华文楷体" panose="02010600040101010101" pitchFamily="2" charset="-122"/>
              </a:rPr>
              <a:t> T</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endParaRPr lang="en-US" altLang="zh-CN" sz="1800" dirty="0" smtClean="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solidFill>
                  <a:schemeClr val="accent2"/>
                </a:solidFill>
                <a:latin typeface="Times New Roman" panose="02020603050405020304" pitchFamily="18" charset="0"/>
                <a:ea typeface="华文楷体" panose="02010600040101010101" pitchFamily="2" charset="-122"/>
              </a:rPr>
              <a:t> </a:t>
            </a:r>
            <a:r>
              <a:rPr lang="en-US" altLang="zh-CN" sz="1800" dirty="0" smtClean="0">
                <a:solidFill>
                  <a:schemeClr val="accent2"/>
                </a:solidFill>
                <a:latin typeface="Times New Roman" panose="02020603050405020304" pitchFamily="18" charset="0"/>
                <a:ea typeface="华文楷体" panose="02010600040101010101" pitchFamily="2" charset="-122"/>
              </a:rPr>
              <a:t>   </a:t>
            </a:r>
            <a:r>
              <a:rPr lang="en-US" altLang="zh-CN" sz="1800" dirty="0" err="1" smtClean="0">
                <a:solidFill>
                  <a:schemeClr val="accent2"/>
                </a:solidFill>
                <a:latin typeface="Times New Roman" panose="02020603050405020304" pitchFamily="18" charset="0"/>
                <a:ea typeface="华文楷体" panose="02010600040101010101" pitchFamily="2" charset="-122"/>
              </a:rPr>
              <a:t>inistack</a:t>
            </a:r>
            <a:r>
              <a:rPr lang="en-US" altLang="zh-CN" sz="1800" dirty="0" smtClean="0">
                <a:latin typeface="Times New Roman" panose="02020603050405020304" pitchFamily="18" charset="0"/>
                <a:ea typeface="华文楷体" panose="02010600040101010101" pitchFamily="2" charset="-122"/>
              </a:rPr>
              <a:t>(s</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None/>
            </a:pPr>
            <a:r>
              <a:rPr lang="en-US" altLang="zh-CN" sz="1800" dirty="0">
                <a:latin typeface="Times New Roman" panose="02020603050405020304" pitchFamily="18" charset="0"/>
                <a:ea typeface="华文楷体" panose="02010600040101010101" pitchFamily="2" charset="-122"/>
              </a:rPr>
              <a:t>    </a:t>
            </a:r>
            <a:r>
              <a:rPr lang="en-US" altLang="zh-CN" sz="1800" dirty="0" err="1" smtClean="0">
                <a:latin typeface="Times New Roman" panose="02020603050405020304" pitchFamily="18" charset="0"/>
                <a:ea typeface="华文楷体" panose="02010600040101010101" pitchFamily="2" charset="-122"/>
              </a:rPr>
              <a:t>BiTree</a:t>
            </a:r>
            <a:r>
              <a:rPr lang="en-US" altLang="zh-CN" sz="1800" dirty="0" smtClean="0">
                <a:latin typeface="Times New Roman" panose="02020603050405020304" pitchFamily="18" charset="0"/>
                <a:ea typeface="华文楷体" panose="02010600040101010101" pitchFamily="2" charset="-122"/>
              </a:rPr>
              <a:t> p =T;</a:t>
            </a:r>
            <a:endParaRPr lang="en-US" altLang="zh-CN" sz="1800" dirty="0">
              <a:latin typeface="Times New Roman" panose="02020603050405020304" pitchFamily="18" charset="0"/>
              <a:ea typeface="华文楷体" panose="02010600040101010101" pitchFamily="2" charset="-122"/>
            </a:endParaRPr>
          </a:p>
          <a:p>
            <a:pPr eaLnBrk="1" hangingPunct="1">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solidFill>
                  <a:schemeClr val="accent2"/>
                </a:solidFill>
                <a:latin typeface="Times New Roman" panose="02020603050405020304" pitchFamily="18" charset="0"/>
                <a:ea typeface="华文楷体" panose="02010600040101010101" pitchFamily="2" charset="-122"/>
              </a:rPr>
              <a:t>push</a:t>
            </a:r>
            <a:r>
              <a:rPr lang="en-US" altLang="zh-CN" sz="1800" dirty="0" smtClean="0">
                <a:latin typeface="Times New Roman" panose="02020603050405020304" pitchFamily="18" charset="0"/>
                <a:ea typeface="华文楷体" panose="02010600040101010101" pitchFamily="2" charset="-122"/>
              </a:rPr>
              <a:t>(s, </a:t>
            </a:r>
            <a:r>
              <a:rPr lang="en-US" altLang="zh-CN" sz="1800" dirty="0" smtClean="0">
                <a:solidFill>
                  <a:srgbClr val="FF0000"/>
                </a:solidFill>
                <a:latin typeface="Times New Roman" panose="02020603050405020304" pitchFamily="18" charset="0"/>
                <a:ea typeface="华文楷体" panose="02010600040101010101" pitchFamily="2" charset="-122"/>
              </a:rPr>
              <a:t>NULL</a:t>
            </a: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a:t>
            </a:r>
            <a:r>
              <a:rPr lang="zh-CN" altLang="en-US" sz="1800" dirty="0" smtClean="0">
                <a:latin typeface="Times New Roman" panose="02020603050405020304" pitchFamily="18" charset="0"/>
                <a:ea typeface="华文楷体" panose="02010600040101010101" pitchFamily="2" charset="-122"/>
              </a:rPr>
              <a:t>空元素</a:t>
            </a:r>
            <a:r>
              <a:rPr lang="zh-CN" altLang="en-US" sz="1800" dirty="0">
                <a:latin typeface="Times New Roman" panose="02020603050405020304" pitchFamily="18" charset="0"/>
                <a:ea typeface="华文楷体" panose="02010600040101010101" pitchFamily="2" charset="-122"/>
              </a:rPr>
              <a:t>入栈</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while </a:t>
            </a:r>
            <a:r>
              <a:rPr lang="en-US" altLang="zh-CN" sz="1800" dirty="0" smtClean="0">
                <a:latin typeface="Times New Roman" panose="02020603050405020304" pitchFamily="18" charset="0"/>
                <a:ea typeface="华文楷体" panose="02010600040101010101" pitchFamily="2" charset="-122"/>
              </a:rPr>
              <a:t>(p )</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      </a:t>
            </a:r>
            <a:endParaRPr lang="en-US" altLang="zh-CN" sz="1800" dirty="0" smtClean="0">
              <a:latin typeface="Times New Roman" panose="02020603050405020304" pitchFamily="18" charset="0"/>
              <a:ea typeface="华文楷体" panose="02010600040101010101" pitchFamily="2" charset="-122"/>
            </a:endParaRPr>
          </a:p>
          <a:p>
            <a:pPr eaLnBrk="1" hangingPunct="1">
              <a:buNone/>
            </a:pPr>
            <a:r>
              <a:rPr lang="en-US" altLang="zh-CN" sz="1800" dirty="0">
                <a:solidFill>
                  <a:srgbClr val="FF3300"/>
                </a:solidFill>
                <a:latin typeface="Times New Roman" panose="02020603050405020304" pitchFamily="18" charset="0"/>
                <a:ea typeface="华文楷体" panose="02010600040101010101" pitchFamily="2" charset="-122"/>
              </a:rPr>
              <a:t> </a:t>
            </a:r>
            <a:r>
              <a:rPr lang="en-US" altLang="zh-CN" sz="1800" dirty="0" smtClean="0">
                <a:solidFill>
                  <a:srgbClr val="FF3300"/>
                </a:solidFill>
                <a:latin typeface="Times New Roman" panose="02020603050405020304" pitchFamily="18" charset="0"/>
                <a:ea typeface="华文楷体" panose="02010600040101010101" pitchFamily="2" charset="-122"/>
              </a:rPr>
              <a:t>          </a:t>
            </a:r>
            <a:r>
              <a:rPr lang="en-US" altLang="zh-CN" sz="1800" dirty="0" err="1" smtClean="0">
                <a:solidFill>
                  <a:srgbClr val="FF3300"/>
                </a:solidFill>
                <a:latin typeface="Times New Roman" panose="02020603050405020304" pitchFamily="18" charset="0"/>
                <a:ea typeface="华文楷体" panose="02010600040101010101" pitchFamily="2" charset="-122"/>
              </a:rPr>
              <a:t>Printdata</a:t>
            </a:r>
            <a:r>
              <a:rPr lang="en-US" altLang="zh-CN" sz="1800" dirty="0">
                <a:latin typeface="Times New Roman" panose="02020603050405020304" pitchFamily="18" charset="0"/>
                <a:ea typeface="华文楷体" panose="02010600040101010101" pitchFamily="2" charset="-122"/>
              </a:rPr>
              <a:t>(p -&gt;data);</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if (p-&gt;</a:t>
            </a:r>
            <a:r>
              <a:rPr lang="en-US" altLang="zh-CN" sz="1800" dirty="0" err="1">
                <a:latin typeface="Times New Roman" panose="02020603050405020304" pitchFamily="18" charset="0"/>
                <a:ea typeface="华文楷体" panose="02010600040101010101" pitchFamily="2" charset="-122"/>
              </a:rPr>
              <a:t>rc</a:t>
            </a:r>
            <a:r>
              <a:rPr lang="en-US" altLang="zh-CN" sz="1800" dirty="0">
                <a:latin typeface="Times New Roman" panose="02020603050405020304" pitchFamily="18" charset="0"/>
                <a:ea typeface="华文楷体" panose="02010600040101010101" pitchFamily="2" charset="-122"/>
              </a:rPr>
              <a:t>) </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a:solidFill>
                  <a:schemeClr val="accent2"/>
                </a:solidFill>
                <a:latin typeface="Times New Roman" panose="02020603050405020304" pitchFamily="18" charset="0"/>
                <a:ea typeface="华文楷体" panose="02010600040101010101" pitchFamily="2" charset="-122"/>
              </a:rPr>
              <a:t>push</a:t>
            </a:r>
            <a:r>
              <a:rPr lang="en-US" altLang="zh-CN" sz="1800" dirty="0">
                <a:latin typeface="Times New Roman" panose="02020603050405020304" pitchFamily="18" charset="0"/>
                <a:ea typeface="华文楷体" panose="02010600040101010101" pitchFamily="2" charset="-122"/>
              </a:rPr>
              <a:t>(s, p-&gt;</a:t>
            </a:r>
            <a:r>
              <a:rPr lang="en-US" altLang="zh-CN" sz="1800" dirty="0" err="1">
                <a:latin typeface="Times New Roman" panose="02020603050405020304" pitchFamily="18" charset="0"/>
                <a:ea typeface="华文楷体" panose="02010600040101010101" pitchFamily="2" charset="-122"/>
              </a:rPr>
              <a:t>rc</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if ( p-&gt;</a:t>
            </a:r>
            <a:r>
              <a:rPr lang="en-US" altLang="zh-CN" sz="1800" dirty="0" err="1">
                <a:latin typeface="Times New Roman" panose="02020603050405020304" pitchFamily="18" charset="0"/>
                <a:ea typeface="华文楷体" panose="02010600040101010101" pitchFamily="2" charset="-122"/>
              </a:rPr>
              <a:t>lc</a:t>
            </a:r>
            <a:r>
              <a:rPr lang="en-US" altLang="zh-CN" sz="1800" dirty="0">
                <a:latin typeface="Times New Roman" panose="02020603050405020304" pitchFamily="18" charset="0"/>
                <a:ea typeface="华文楷体" panose="02010600040101010101" pitchFamily="2" charset="-122"/>
              </a:rPr>
              <a:t>) </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p = p-</a:t>
            </a:r>
            <a:r>
              <a:rPr lang="en-US" altLang="zh-CN" sz="1800" dirty="0">
                <a:latin typeface="Times New Roman" panose="02020603050405020304" pitchFamily="18" charset="0"/>
                <a:ea typeface="华文楷体" panose="02010600040101010101" pitchFamily="2" charset="-122"/>
              </a:rPr>
              <a:t>&gt;</a:t>
            </a:r>
            <a:r>
              <a:rPr lang="en-US" altLang="zh-CN" sz="1800" dirty="0" err="1">
                <a:latin typeface="Times New Roman" panose="02020603050405020304" pitchFamily="18" charset="0"/>
                <a:ea typeface="华文楷体" panose="02010600040101010101" pitchFamily="2" charset="-122"/>
              </a:rPr>
              <a:t>lc</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else</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r>
              <a:rPr lang="en-US" altLang="zh-CN" sz="1800" dirty="0" smtClean="0">
                <a:latin typeface="Times New Roman" panose="02020603050405020304" pitchFamily="18" charset="0"/>
                <a:ea typeface="华文楷体" panose="02010600040101010101" pitchFamily="2" charset="-122"/>
              </a:rPr>
              <a:t> p = </a:t>
            </a:r>
            <a:r>
              <a:rPr lang="en-US" altLang="zh-CN" sz="1800" dirty="0" smtClean="0">
                <a:solidFill>
                  <a:schemeClr val="accent2"/>
                </a:solidFill>
                <a:latin typeface="Times New Roman" panose="02020603050405020304" pitchFamily="18" charset="0"/>
                <a:ea typeface="华文楷体" panose="02010600040101010101" pitchFamily="2" charset="-122"/>
              </a:rPr>
              <a:t>pop</a:t>
            </a:r>
            <a:r>
              <a:rPr lang="en-US" altLang="zh-CN" sz="1800" dirty="0" smtClean="0">
                <a:latin typeface="Times New Roman" panose="02020603050405020304" pitchFamily="18" charset="0"/>
                <a:ea typeface="华文楷体" panose="02010600040101010101" pitchFamily="2" charset="-122"/>
              </a:rPr>
              <a:t>(s</a:t>
            </a: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       }</a:t>
            </a:r>
            <a:endParaRPr lang="en-US" altLang="zh-CN" sz="18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1800" dirty="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p:txBody>
      </p:sp>
      <p:sp>
        <p:nvSpPr>
          <p:cNvPr id="7" name="Line 8"/>
          <p:cNvSpPr>
            <a:spLocks noChangeShapeType="1"/>
          </p:cNvSpPr>
          <p:nvPr/>
        </p:nvSpPr>
        <p:spPr bwMode="auto">
          <a:xfrm>
            <a:off x="4572000" y="1093397"/>
            <a:ext cx="0" cy="5717219"/>
          </a:xfrm>
          <a:prstGeom prst="line">
            <a:avLst/>
          </a:prstGeom>
          <a:noFill/>
          <a:ln w="25400">
            <a:solidFill>
              <a:schemeClr val="accent1"/>
            </a:solidFill>
            <a:prstDash val="dash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2048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0485" name="Text Box 4"/>
          <p:cNvSpPr txBox="1">
            <a:spLocks noChangeArrowheads="1"/>
          </p:cNvSpPr>
          <p:nvPr/>
        </p:nvSpPr>
        <p:spPr bwMode="auto">
          <a:xfrm>
            <a:off x="228600" y="1371600"/>
            <a:ext cx="3810001" cy="5002213"/>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dirty="0">
                <a:solidFill>
                  <a:schemeClr val="accent2"/>
                </a:solidFill>
                <a:latin typeface="Times New Roman" panose="02020603050405020304" pitchFamily="18" charset="0"/>
                <a:ea typeface="华文楷体" panose="02010600040101010101" pitchFamily="2" charset="-122"/>
              </a:rPr>
              <a:t>[</a:t>
            </a:r>
            <a:r>
              <a:rPr lang="zh-CN" altLang="en-US" sz="2400" b="1" dirty="0">
                <a:solidFill>
                  <a:schemeClr val="accent2"/>
                </a:solidFill>
                <a:latin typeface="Times New Roman" panose="02020603050405020304" pitchFamily="18" charset="0"/>
                <a:ea typeface="华文楷体" panose="02010600040101010101" pitchFamily="2" charset="-122"/>
              </a:rPr>
              <a:t>中序遍历算法</a:t>
            </a:r>
            <a:r>
              <a:rPr lang="en-US" altLang="zh-CN" sz="2400" b="1" dirty="0">
                <a:solidFill>
                  <a:schemeClr val="accent2"/>
                </a:solidFill>
                <a:latin typeface="Times New Roman" panose="02020603050405020304" pitchFamily="18" charset="0"/>
                <a:ea typeface="华文楷体" panose="02010600040101010101" pitchFamily="2" charset="-122"/>
              </a:rPr>
              <a:t>]</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void </a:t>
            </a:r>
            <a:r>
              <a:rPr lang="en-US" altLang="zh-CN" sz="2400" dirty="0" err="1">
                <a:solidFill>
                  <a:schemeClr val="accent2"/>
                </a:solidFill>
                <a:latin typeface="Times New Roman" panose="02020603050405020304" pitchFamily="18" charset="0"/>
                <a:ea typeface="华文楷体" panose="02010600040101010101" pitchFamily="2" charset="-122"/>
              </a:rPr>
              <a:t>Inorder</a:t>
            </a: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if (T)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solidFill>
                  <a:srgbClr val="008000"/>
                </a:solidFill>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Inorder</a:t>
            </a:r>
            <a:r>
              <a:rPr lang="en-US" altLang="zh-CN" sz="2400" dirty="0">
                <a:latin typeface="Times New Roman" panose="02020603050405020304" pitchFamily="18" charset="0"/>
                <a:ea typeface="华文楷体" panose="02010600040101010101" pitchFamily="2" charset="-122"/>
              </a:rPr>
              <a:t>(T-&gt;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a:t>
            </a:r>
            <a:r>
              <a:rPr lang="en-US" altLang="zh-CN" sz="2400" dirty="0">
                <a:solidFill>
                  <a:srgbClr val="008000"/>
                </a:solidFill>
                <a:latin typeface="Times New Roman" panose="02020603050405020304" pitchFamily="18" charset="0"/>
                <a:ea typeface="华文楷体" panose="02010600040101010101" pitchFamily="2" charset="-122"/>
              </a:rPr>
              <a:t> </a:t>
            </a:r>
            <a:endParaRPr lang="en-US" altLang="zh-CN" sz="2400" dirty="0">
              <a:solidFill>
                <a:srgbClr val="008000"/>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solidFill>
                  <a:srgbClr val="008000"/>
                </a:solidFill>
                <a:latin typeface="Times New Roman" panose="02020603050405020304" pitchFamily="18" charset="0"/>
                <a:ea typeface="华文楷体" panose="02010600040101010101" pitchFamily="2" charset="-122"/>
              </a:rPr>
              <a:t>      </a:t>
            </a:r>
            <a:r>
              <a:rPr lang="en-US" altLang="zh-CN" sz="2400" dirty="0" err="1">
                <a:solidFill>
                  <a:srgbClr val="FF3300"/>
                </a:solidFill>
                <a:latin typeface="Times New Roman" panose="02020603050405020304" pitchFamily="18" charset="0"/>
                <a:ea typeface="华文楷体" panose="02010600040101010101" pitchFamily="2" charset="-122"/>
              </a:rPr>
              <a:t>Printdata</a:t>
            </a:r>
            <a:r>
              <a:rPr lang="en-US" altLang="zh-CN" sz="2400" dirty="0">
                <a:latin typeface="Times New Roman" panose="02020603050405020304" pitchFamily="18" charset="0"/>
                <a:ea typeface="华文楷体" panose="02010600040101010101" pitchFamily="2" charset="-122"/>
              </a:rPr>
              <a:t>(T-&gt;data);</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Inorder</a:t>
            </a:r>
            <a:r>
              <a:rPr lang="en-US" altLang="zh-CN" sz="2400" dirty="0">
                <a:latin typeface="Times New Roman" panose="02020603050405020304" pitchFamily="18" charset="0"/>
                <a:ea typeface="华文楷体" panose="02010600040101010101" pitchFamily="2" charset="-122"/>
              </a:rPr>
              <a:t>(T-&gt;</a:t>
            </a:r>
            <a:r>
              <a:rPr lang="en-US" altLang="zh-CN" sz="2400" dirty="0" err="1">
                <a:latin typeface="Times New Roman" panose="02020603050405020304" pitchFamily="18" charset="0"/>
                <a:ea typeface="华文楷体" panose="02010600040101010101" pitchFamily="2" charset="-122"/>
              </a:rPr>
              <a:t>rc</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50000"/>
              </a:spcBef>
            </a:pPr>
            <a:endParaRPr lang="en-US" altLang="zh-CN" sz="2400" dirty="0">
              <a:latin typeface="Times New Roman" panose="02020603050405020304" pitchFamily="18" charset="0"/>
              <a:ea typeface="华文楷体" panose="02010600040101010101" pitchFamily="2" charset="-122"/>
            </a:endParaRPr>
          </a:p>
        </p:txBody>
      </p:sp>
      <p:sp>
        <p:nvSpPr>
          <p:cNvPr id="20486" name="Text Box 5"/>
          <p:cNvSpPr txBox="1">
            <a:spLocks noChangeArrowheads="1"/>
          </p:cNvSpPr>
          <p:nvPr/>
        </p:nvSpPr>
        <p:spPr bwMode="auto">
          <a:xfrm>
            <a:off x="4648200" y="1371600"/>
            <a:ext cx="4191000" cy="5004447"/>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dirty="0">
                <a:solidFill>
                  <a:schemeClr val="accent2"/>
                </a:solidFill>
                <a:latin typeface="Times New Roman" panose="02020603050405020304" pitchFamily="18" charset="0"/>
                <a:ea typeface="华文楷体" panose="02010600040101010101" pitchFamily="2" charset="-122"/>
              </a:rPr>
              <a:t>[</a:t>
            </a:r>
            <a:r>
              <a:rPr lang="zh-CN" altLang="en-US" sz="2400" b="1" dirty="0">
                <a:solidFill>
                  <a:schemeClr val="accent2"/>
                </a:solidFill>
                <a:latin typeface="Times New Roman" panose="02020603050405020304" pitchFamily="18" charset="0"/>
                <a:ea typeface="华文楷体" panose="02010600040101010101" pitchFamily="2" charset="-122"/>
              </a:rPr>
              <a:t>后序遍历算法</a:t>
            </a:r>
            <a:r>
              <a:rPr lang="en-US" altLang="zh-CN" sz="2400" b="1" dirty="0">
                <a:solidFill>
                  <a:schemeClr val="accent2"/>
                </a:solidFill>
                <a:latin typeface="Times New Roman" panose="02020603050405020304" pitchFamily="18" charset="0"/>
                <a:ea typeface="华文楷体" panose="02010600040101010101" pitchFamily="2" charset="-122"/>
              </a:rPr>
              <a:t>]</a:t>
            </a:r>
            <a:endParaRPr lang="en-US" altLang="zh-CN" sz="2400" b="1" dirty="0">
              <a:solidFill>
                <a:schemeClr val="accent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void  </a:t>
            </a:r>
            <a:r>
              <a:rPr lang="en-US" altLang="zh-CN" sz="2400" dirty="0" err="1">
                <a:solidFill>
                  <a:schemeClr val="accent2"/>
                </a:solidFill>
                <a:latin typeface="Times New Roman" panose="02020603050405020304" pitchFamily="18" charset="0"/>
                <a:ea typeface="华文楷体" panose="02010600040101010101" pitchFamily="2" charset="-122"/>
              </a:rPr>
              <a:t>Postorder</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T) </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smtClean="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smtClean="0">
                <a:latin typeface="Times New Roman" panose="02020603050405020304" pitchFamily="18" charset="0"/>
                <a:ea typeface="华文楷体" panose="02010600040101010101" pitchFamily="2" charset="-122"/>
              </a:rPr>
              <a:t>    if </a:t>
            </a:r>
            <a:r>
              <a:rPr lang="en-US" altLang="zh-CN" sz="2400" dirty="0">
                <a:latin typeface="Times New Roman" panose="02020603050405020304" pitchFamily="18" charset="0"/>
                <a:ea typeface="华文楷体" panose="02010600040101010101" pitchFamily="2" charset="-122"/>
              </a:rPr>
              <a:t>(T)   </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smtClean="0">
                <a:latin typeface="Times New Roman" panose="02020603050405020304" pitchFamily="18" charset="0"/>
                <a:ea typeface="华文楷体" panose="02010600040101010101" pitchFamily="2" charset="-122"/>
              </a:rPr>
              <a:t>    { </a:t>
            </a:r>
            <a:r>
              <a:rPr lang="en-US" altLang="zh-CN" sz="2400" dirty="0" smtClean="0">
                <a:solidFill>
                  <a:schemeClr val="accent2"/>
                </a:solidFill>
                <a:latin typeface="Times New Roman" panose="02020603050405020304" pitchFamily="18" charset="0"/>
                <a:ea typeface="华文楷体" panose="02010600040101010101" pitchFamily="2" charset="-122"/>
              </a:rPr>
              <a:t>       </a:t>
            </a:r>
            <a:endParaRPr lang="en-US" altLang="zh-CN" sz="2400" dirty="0" smtClean="0">
              <a:solidFill>
                <a:schemeClr val="accent2"/>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solidFill>
                  <a:schemeClr val="accent2"/>
                </a:solidFill>
                <a:latin typeface="Times New Roman" panose="02020603050405020304" pitchFamily="18" charset="0"/>
                <a:ea typeface="华文楷体" panose="02010600040101010101" pitchFamily="2" charset="-122"/>
              </a:rPr>
              <a:t> </a:t>
            </a:r>
            <a:r>
              <a:rPr lang="en-US" altLang="zh-CN" sz="2400" dirty="0" smtClean="0">
                <a:solidFill>
                  <a:schemeClr val="accent2"/>
                </a:solidFill>
                <a:latin typeface="Times New Roman" panose="02020603050405020304" pitchFamily="18" charset="0"/>
                <a:ea typeface="华文楷体" panose="02010600040101010101" pitchFamily="2" charset="-122"/>
              </a:rPr>
              <a:t>       </a:t>
            </a:r>
            <a:r>
              <a:rPr lang="en-US" altLang="zh-CN" sz="2400" dirty="0" err="1" smtClean="0">
                <a:solidFill>
                  <a:schemeClr val="accent2"/>
                </a:solidFill>
                <a:latin typeface="Times New Roman" panose="02020603050405020304" pitchFamily="18" charset="0"/>
                <a:ea typeface="华文楷体" panose="02010600040101010101" pitchFamily="2" charset="-122"/>
              </a:rPr>
              <a:t>Postorder</a:t>
            </a:r>
            <a:r>
              <a:rPr lang="en-US" altLang="zh-CN" sz="2400" dirty="0" smtClean="0">
                <a:latin typeface="Times New Roman" panose="02020603050405020304" pitchFamily="18" charset="0"/>
                <a:ea typeface="华文楷体" panose="02010600040101010101" pitchFamily="2" charset="-122"/>
              </a:rPr>
              <a:t>(T-</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latin typeface="Times New Roman" panose="02020603050405020304" pitchFamily="18" charset="0"/>
                <a:ea typeface="华文楷体" panose="02010600040101010101" pitchFamily="2" charset="-122"/>
              </a:rPr>
              <a:t>        </a:t>
            </a:r>
            <a:r>
              <a:rPr lang="en-US" altLang="zh-CN" sz="2400" dirty="0" err="1" smtClean="0">
                <a:solidFill>
                  <a:schemeClr val="accent2"/>
                </a:solidFill>
                <a:latin typeface="Times New Roman" panose="02020603050405020304" pitchFamily="18" charset="0"/>
                <a:ea typeface="华文楷体" panose="02010600040101010101" pitchFamily="2" charset="-122"/>
              </a:rPr>
              <a:t>Postorder</a:t>
            </a:r>
            <a:r>
              <a:rPr lang="en-US" altLang="zh-CN" sz="2400" dirty="0" smtClean="0">
                <a:latin typeface="Times New Roman" panose="02020603050405020304" pitchFamily="18" charset="0"/>
                <a:ea typeface="华文楷体" panose="02010600040101010101" pitchFamily="2" charset="-122"/>
              </a:rPr>
              <a:t>(T-</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rc</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solidFill>
                  <a:srgbClr val="FF3300"/>
                </a:solidFill>
                <a:latin typeface="Times New Roman" panose="02020603050405020304" pitchFamily="18" charset="0"/>
                <a:ea typeface="华文楷体" panose="02010600040101010101" pitchFamily="2" charset="-122"/>
              </a:rPr>
              <a:t>        </a:t>
            </a:r>
            <a:r>
              <a:rPr lang="en-US" altLang="zh-CN" sz="2400" dirty="0" err="1" smtClean="0">
                <a:solidFill>
                  <a:srgbClr val="FF3300"/>
                </a:solidFill>
                <a:latin typeface="Times New Roman" panose="02020603050405020304" pitchFamily="18" charset="0"/>
                <a:ea typeface="华文楷体" panose="02010600040101010101" pitchFamily="2" charset="-122"/>
              </a:rPr>
              <a:t>Printdata</a:t>
            </a:r>
            <a:r>
              <a:rPr lang="en-US" altLang="zh-CN" sz="2400" dirty="0" smtClean="0">
                <a:latin typeface="Times New Roman" panose="02020603050405020304" pitchFamily="18" charset="0"/>
                <a:ea typeface="华文楷体" panose="02010600040101010101" pitchFamily="2" charset="-122"/>
              </a:rPr>
              <a:t>(T-</a:t>
            </a:r>
            <a:r>
              <a:rPr lang="en-US" altLang="zh-CN" sz="2400" dirty="0">
                <a:latin typeface="Times New Roman" panose="02020603050405020304" pitchFamily="18" charset="0"/>
                <a:ea typeface="华文楷体" panose="02010600040101010101" pitchFamily="2" charset="-122"/>
              </a:rPr>
              <a:t>&gt;data);</a:t>
            </a:r>
            <a:endParaRPr lang="en-US" altLang="zh-CN"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smtClean="0">
                <a:latin typeface="Times New Roman" panose="02020603050405020304" pitchFamily="18" charset="0"/>
                <a:ea typeface="华文楷体" panose="02010600040101010101" pitchFamily="2" charset="-122"/>
              </a:rPr>
              <a:t>    }</a:t>
            </a:r>
            <a:endParaRPr lang="en-US" altLang="zh-CN" sz="2400" dirty="0" smtClean="0">
              <a:latin typeface="Times New Roman" panose="02020603050405020304" pitchFamily="18" charset="0"/>
              <a:ea typeface="华文楷体" panose="02010600040101010101" pitchFamily="2" charset="-122"/>
            </a:endParaRPr>
          </a:p>
          <a:p>
            <a:pPr eaLnBrk="1" hangingPunct="1">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spcBef>
                <a:spcPct val="50000"/>
              </a:spcBef>
            </a:pPr>
            <a:endParaRPr lang="en-US" altLang="zh-CN" sz="2400" dirty="0">
              <a:latin typeface="Times New Roman" panose="02020603050405020304" pitchFamily="18" charset="0"/>
              <a:ea typeface="华文楷体" panose="02010600040101010101" pitchFamily="2" charset="-122"/>
            </a:endParaRPr>
          </a:p>
        </p:txBody>
      </p:sp>
      <p:sp>
        <p:nvSpPr>
          <p:cNvPr id="20487" name="Line 6"/>
          <p:cNvSpPr>
            <a:spLocks noChangeShapeType="1"/>
          </p:cNvSpPr>
          <p:nvPr/>
        </p:nvSpPr>
        <p:spPr bwMode="auto">
          <a:xfrm>
            <a:off x="4343400" y="1371600"/>
            <a:ext cx="0" cy="4876800"/>
          </a:xfrm>
          <a:prstGeom prst="line">
            <a:avLst/>
          </a:prstGeom>
          <a:noFill/>
          <a:ln w="25400">
            <a:solidFill>
              <a:schemeClr val="accent1"/>
            </a:solidFill>
            <a:prstDash val="dashDot"/>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2150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1509" name="Rectangle 3"/>
          <p:cNvSpPr>
            <a:spLocks noGrp="1" noChangeArrowheads="1"/>
          </p:cNvSpPr>
          <p:nvPr>
            <p:ph idx="1"/>
          </p:nvPr>
        </p:nvSpPr>
        <p:spPr>
          <a:xfrm>
            <a:off x="457200" y="1152525"/>
            <a:ext cx="7086522" cy="5629275"/>
          </a:xfrm>
          <a:ln>
            <a:solidFill>
              <a:schemeClr val="accent1"/>
            </a:solidFill>
          </a:ln>
        </p:spPr>
        <p:txBody>
          <a:bodyPr/>
          <a:lstStyle/>
          <a:p>
            <a:pPr eaLnBrk="1" hangingPunct="1">
              <a:lnSpc>
                <a:spcPct val="80000"/>
              </a:lnSpc>
              <a:spcBef>
                <a:spcPct val="50000"/>
              </a:spcBef>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按层次遍历算法</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void  </a:t>
            </a:r>
            <a:r>
              <a:rPr lang="en-US" altLang="zh-CN" sz="2400" dirty="0" err="1" smtClean="0">
                <a:solidFill>
                  <a:schemeClr val="accent2"/>
                </a:solidFill>
                <a:ea typeface="华文楷体" panose="02010600040101010101" pitchFamily="2" charset="-122"/>
              </a:rPr>
              <a:t>Levelorder</a:t>
            </a:r>
            <a:r>
              <a:rPr lang="en-US" altLang="zh-CN" sz="2400" dirty="0" smtClean="0">
                <a:solidFill>
                  <a:schemeClr val="accent2"/>
                </a:solidFill>
                <a:ea typeface="华文楷体" panose="02010600040101010101" pitchFamily="2" charset="-122"/>
              </a:rPr>
              <a:t> </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BiTree</a:t>
            </a:r>
            <a:r>
              <a:rPr lang="en-US" altLang="zh-CN" sz="2400" dirty="0" smtClean="0">
                <a:ea typeface="华文楷体" panose="02010600040101010101" pitchFamily="2" charset="-122"/>
              </a:rPr>
              <a:t> T);   </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solidFill>
                  <a:schemeClr val="accent2"/>
                </a:solidFill>
                <a:ea typeface="华文楷体" panose="02010600040101010101" pitchFamily="2" charset="-122"/>
              </a:rPr>
              <a:t>iniqueue</a:t>
            </a:r>
            <a:r>
              <a:rPr lang="en-US" altLang="zh-CN" sz="2400" dirty="0" smtClean="0">
                <a:ea typeface="华文楷体" panose="02010600040101010101" pitchFamily="2" charset="-122"/>
              </a:rPr>
              <a:t>( q);</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if  (T) </a:t>
            </a:r>
            <a:r>
              <a:rPr lang="en-US" altLang="zh-CN" sz="2400" dirty="0" err="1" smtClean="0">
                <a:solidFill>
                  <a:schemeClr val="accent2"/>
                </a:solidFill>
                <a:ea typeface="华文楷体" panose="02010600040101010101" pitchFamily="2" charset="-122"/>
              </a:rPr>
              <a:t>enqueue</a:t>
            </a:r>
            <a:r>
              <a:rPr lang="en-US" altLang="zh-CN" sz="2400" dirty="0" smtClean="0">
                <a:ea typeface="华文楷体" panose="02010600040101010101" pitchFamily="2" charset="-122"/>
              </a:rPr>
              <a:t>( q, T);</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while (!</a:t>
            </a:r>
            <a:r>
              <a:rPr lang="en-US" altLang="zh-CN" sz="2400" dirty="0" smtClean="0">
                <a:solidFill>
                  <a:schemeClr val="accent2"/>
                </a:solidFill>
                <a:ea typeface="华文楷体" panose="02010600040101010101" pitchFamily="2" charset="-122"/>
              </a:rPr>
              <a:t>empty</a:t>
            </a:r>
            <a:r>
              <a:rPr lang="en-US" altLang="zh-CN" sz="2400" dirty="0" smtClean="0">
                <a:ea typeface="华文楷体" panose="02010600040101010101" pitchFamily="2" charset="-122"/>
              </a:rPr>
              <a:t>( q))</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    </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x= </a:t>
            </a:r>
            <a:r>
              <a:rPr lang="en-US" altLang="zh-CN" sz="2400" dirty="0" err="1" smtClean="0">
                <a:solidFill>
                  <a:schemeClr val="accent2"/>
                </a:solidFill>
                <a:ea typeface="华文楷体" panose="02010600040101010101" pitchFamily="2" charset="-122"/>
              </a:rPr>
              <a:t>dequeue</a:t>
            </a:r>
            <a:r>
              <a:rPr lang="en-US" altLang="zh-CN" sz="2400" dirty="0" smtClean="0">
                <a:ea typeface="华文楷体" panose="02010600040101010101" pitchFamily="2" charset="-122"/>
              </a:rPr>
              <a:t>( q);</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solidFill>
                  <a:srgbClr val="FF3300"/>
                </a:solidFill>
                <a:ea typeface="华文楷体" panose="02010600040101010101" pitchFamily="2" charset="-122"/>
              </a:rPr>
              <a:t>Printdata</a:t>
            </a:r>
            <a:r>
              <a:rPr lang="en-US" altLang="zh-CN" sz="2400" dirty="0" smtClean="0">
                <a:ea typeface="华文楷体" panose="02010600040101010101" pitchFamily="2" charset="-122"/>
              </a:rPr>
              <a:t>(x-&gt;data);</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if (x-&gt;</a:t>
            </a:r>
            <a:r>
              <a:rPr lang="en-US" altLang="zh-CN" sz="2400" dirty="0" err="1" smtClean="0">
                <a:ea typeface="华文楷体" panose="02010600040101010101" pitchFamily="2" charset="-122"/>
              </a:rPr>
              <a:t>lc</a:t>
            </a:r>
            <a:r>
              <a:rPr lang="en-US" altLang="zh-CN" sz="2400" dirty="0" smtClean="0">
                <a:ea typeface="华文楷体" panose="02010600040101010101" pitchFamily="2" charset="-122"/>
              </a:rPr>
              <a:t>)  </a:t>
            </a:r>
            <a:r>
              <a:rPr lang="en-US" altLang="zh-CN" sz="2400" dirty="0" err="1" smtClean="0">
                <a:solidFill>
                  <a:schemeClr val="accent2"/>
                </a:solidFill>
                <a:ea typeface="华文楷体" panose="02010600040101010101" pitchFamily="2" charset="-122"/>
              </a:rPr>
              <a:t>enqueue</a:t>
            </a:r>
            <a:r>
              <a:rPr lang="en-US" altLang="zh-CN" sz="2400" dirty="0" smtClean="0">
                <a:ea typeface="华文楷体" panose="02010600040101010101" pitchFamily="2" charset="-122"/>
              </a:rPr>
              <a:t>( q, x-&gt;</a:t>
            </a:r>
            <a:r>
              <a:rPr lang="en-US" altLang="zh-CN" sz="2400" dirty="0" err="1" smtClean="0">
                <a:ea typeface="华文楷体" panose="02010600040101010101" pitchFamily="2" charset="-122"/>
              </a:rPr>
              <a:t>lc</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if (x-&gt;</a:t>
            </a:r>
            <a:r>
              <a:rPr lang="en-US" altLang="zh-CN" sz="2400" dirty="0" err="1" smtClean="0">
                <a:ea typeface="华文楷体" panose="02010600040101010101" pitchFamily="2" charset="-122"/>
              </a:rPr>
              <a:t>rc</a:t>
            </a:r>
            <a:r>
              <a:rPr lang="en-US" altLang="zh-CN" sz="2400" dirty="0" smtClean="0">
                <a:ea typeface="华文楷体" panose="02010600040101010101" pitchFamily="2" charset="-122"/>
              </a:rPr>
              <a:t>)  </a:t>
            </a:r>
            <a:r>
              <a:rPr lang="en-US" altLang="zh-CN" sz="2400" dirty="0" err="1" smtClean="0">
                <a:solidFill>
                  <a:schemeClr val="accent2"/>
                </a:solidFill>
                <a:ea typeface="华文楷体" panose="02010600040101010101" pitchFamily="2" charset="-122"/>
              </a:rPr>
              <a:t>enqueue</a:t>
            </a:r>
            <a:r>
              <a:rPr lang="en-US" altLang="zh-CN" sz="2400" dirty="0" smtClean="0">
                <a:ea typeface="华文楷体" panose="02010600040101010101" pitchFamily="2" charset="-122"/>
              </a:rPr>
              <a:t>( q, x-&gt;</a:t>
            </a:r>
            <a:r>
              <a:rPr lang="en-US" altLang="zh-CN" sz="2400" dirty="0" err="1" smtClean="0">
                <a:ea typeface="华文楷体" panose="02010600040101010101" pitchFamily="2" charset="-122"/>
              </a:rPr>
              <a:t>rc</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52516" y="1152525"/>
            <a:ext cx="4110026" cy="3550453"/>
          </a:xfrm>
          <a:ln>
            <a:solidFill>
              <a:schemeClr val="accent1"/>
            </a:solidFill>
          </a:ln>
        </p:spPr>
        <p:txBody>
          <a:bodyPr/>
          <a:lstStyle/>
          <a:p>
            <a:pPr marL="0" indent="0">
              <a:buNone/>
            </a:pPr>
            <a:r>
              <a:rPr lang="zh-CN" altLang="en-US" sz="1600" b="1" dirty="0">
                <a:solidFill>
                  <a:schemeClr val="accent2"/>
                </a:solidFill>
                <a:ea typeface="华文楷体" panose="02010600040101010101" pitchFamily="2" charset="-122"/>
                <a:sym typeface="Symbol" panose="05050102010706020507" pitchFamily="18" charset="2"/>
              </a:rPr>
              <a:t>三种递归算法分析</a:t>
            </a:r>
            <a:endParaRPr lang="en-US" altLang="zh-CN" sz="1600" b="1" dirty="0">
              <a:solidFill>
                <a:schemeClr val="accent2"/>
              </a:solidFill>
              <a:ea typeface="华文楷体" panose="02010600040101010101" pitchFamily="2" charset="-122"/>
              <a:sym typeface="Symbol" panose="05050102010706020507" pitchFamily="18" charset="2"/>
            </a:endParaRPr>
          </a:p>
          <a:p>
            <a:pPr marL="0" indent="0">
              <a:buNone/>
            </a:pPr>
            <a:r>
              <a:rPr lang="en-US" altLang="zh-CN" sz="1600" dirty="0" smtClean="0">
                <a:ea typeface="华文楷体" panose="02010600040101010101" pitchFamily="2" charset="-122"/>
              </a:rPr>
              <a:t>Order(</a:t>
            </a:r>
            <a:r>
              <a:rPr lang="en-US" altLang="zh-CN" sz="1600" dirty="0" err="1">
                <a:ea typeface="华文楷体" panose="02010600040101010101" pitchFamily="2" charset="-122"/>
              </a:rPr>
              <a:t>BiTree</a:t>
            </a:r>
            <a:r>
              <a:rPr lang="en-US" altLang="zh-CN" sz="1600" dirty="0">
                <a:ea typeface="华文楷体" panose="02010600040101010101" pitchFamily="2" charset="-122"/>
              </a:rPr>
              <a:t> T</a:t>
            </a: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en-US" altLang="zh-CN" sz="1600" dirty="0" smtClean="0">
                <a:solidFill>
                  <a:srgbClr val="FF3300"/>
                </a:solidFill>
                <a:ea typeface="华文楷体" panose="02010600040101010101" pitchFamily="2" charset="-122"/>
              </a:rPr>
              <a:t>L1: </a:t>
            </a:r>
            <a:r>
              <a:rPr lang="en-US" altLang="zh-CN" sz="1600" dirty="0" err="1" smtClean="0">
                <a:solidFill>
                  <a:srgbClr val="FF3300"/>
                </a:solidFill>
                <a:ea typeface="华文楷体" panose="02010600040101010101" pitchFamily="2" charset="-122"/>
              </a:rPr>
              <a:t>Printdata</a:t>
            </a:r>
            <a:r>
              <a:rPr lang="en-US" altLang="zh-CN" sz="1600" dirty="0" smtClean="0">
                <a:ea typeface="华文楷体" panose="02010600040101010101" pitchFamily="2" charset="-122"/>
              </a:rPr>
              <a:t>(T-</a:t>
            </a:r>
            <a:r>
              <a:rPr lang="en-US" altLang="zh-CN" sz="1600" dirty="0">
                <a:ea typeface="华文楷体" panose="02010600040101010101" pitchFamily="2" charset="-122"/>
              </a:rPr>
              <a:t>&gt;data</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先序访问</a:t>
            </a:r>
            <a:endParaRPr lang="en-US" altLang="zh-CN" sz="1600" dirty="0">
              <a:ea typeface="华文楷体" panose="02010600040101010101" pitchFamily="2" charset="-122"/>
            </a:endParaRPr>
          </a:p>
          <a:p>
            <a:pPr marL="0" indent="0">
              <a:buNone/>
            </a:pPr>
            <a:r>
              <a:rPr lang="en-US" altLang="zh-CN" sz="1600" dirty="0" smtClean="0">
                <a:ea typeface="华文楷体" panose="02010600040101010101" pitchFamily="2" charset="-122"/>
              </a:rPr>
              <a:t>L2: </a:t>
            </a:r>
            <a:r>
              <a:rPr lang="en-US" altLang="zh-CN" sz="1600" dirty="0" smtClean="0">
                <a:solidFill>
                  <a:schemeClr val="accent2"/>
                </a:solidFill>
                <a:ea typeface="华文楷体" panose="02010600040101010101" pitchFamily="2" charset="-122"/>
              </a:rPr>
              <a:t>Order</a:t>
            </a:r>
            <a:r>
              <a:rPr lang="en-US" altLang="zh-CN" sz="1600" dirty="0" smtClean="0">
                <a:ea typeface="华文楷体" panose="02010600040101010101" pitchFamily="2" charset="-122"/>
              </a:rPr>
              <a:t>(T-</a:t>
            </a:r>
            <a:r>
              <a:rPr lang="en-US" altLang="zh-CN" sz="1600" dirty="0">
                <a:ea typeface="华文楷体" panose="02010600040101010101" pitchFamily="2" charset="-122"/>
              </a:rPr>
              <a:t>&gt;</a:t>
            </a:r>
            <a:r>
              <a:rPr lang="en-US" altLang="zh-CN" sz="1600" dirty="0" err="1">
                <a:ea typeface="华文楷体" panose="02010600040101010101" pitchFamily="2" charset="-122"/>
              </a:rPr>
              <a:t>lc</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入栈</a:t>
            </a:r>
            <a:endParaRPr lang="en-US" altLang="zh-CN" sz="1600" dirty="0" smtClean="0">
              <a:ea typeface="华文楷体" panose="02010600040101010101" pitchFamily="2" charset="-122"/>
            </a:endParaRPr>
          </a:p>
          <a:p>
            <a:pPr marL="0" indent="0">
              <a:buNone/>
            </a:pPr>
            <a:r>
              <a:rPr lang="en-US" altLang="zh-CN" sz="1600" dirty="0" smtClean="0">
                <a:solidFill>
                  <a:srgbClr val="FF3300"/>
                </a:solidFill>
                <a:ea typeface="华文楷体" panose="02010600040101010101" pitchFamily="2" charset="-122"/>
              </a:rPr>
              <a:t>L3: </a:t>
            </a:r>
            <a:r>
              <a:rPr lang="en-US" altLang="zh-CN" sz="1600" dirty="0" err="1" smtClean="0">
                <a:solidFill>
                  <a:srgbClr val="FF3300"/>
                </a:solidFill>
                <a:ea typeface="华文楷体" panose="02010600040101010101" pitchFamily="2" charset="-122"/>
              </a:rPr>
              <a:t>Printdata</a:t>
            </a:r>
            <a:r>
              <a:rPr lang="en-US" altLang="zh-CN" sz="1600" dirty="0" smtClean="0">
                <a:ea typeface="华文楷体" panose="02010600040101010101" pitchFamily="2" charset="-122"/>
              </a:rPr>
              <a:t>(T-</a:t>
            </a:r>
            <a:r>
              <a:rPr lang="en-US" altLang="zh-CN" sz="1600" dirty="0">
                <a:ea typeface="华文楷体" panose="02010600040101010101" pitchFamily="2" charset="-122"/>
              </a:rPr>
              <a:t>&gt;data</a:t>
            </a:r>
            <a:r>
              <a:rPr lang="en-US" altLang="zh-CN" sz="1600" dirty="0" smtClean="0">
                <a:ea typeface="华文楷体" panose="02010600040101010101" pitchFamily="2" charset="-122"/>
              </a:rPr>
              <a:t>);</a:t>
            </a:r>
            <a:r>
              <a:rPr lang="en-US" altLang="zh-CN" sz="1600" dirty="0">
                <a:ea typeface="华文楷体" panose="02010600040101010101" pitchFamily="2" charset="-122"/>
              </a:rPr>
              <a:t> </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出栈中序访问</a:t>
            </a:r>
            <a:endParaRPr lang="en-US" altLang="zh-CN" sz="1600" dirty="0">
              <a:ea typeface="华文楷体" panose="02010600040101010101" pitchFamily="2" charset="-122"/>
            </a:endParaRPr>
          </a:p>
          <a:p>
            <a:pPr marL="0" indent="0">
              <a:buNone/>
            </a:pPr>
            <a:r>
              <a:rPr lang="en-US" altLang="zh-CN" sz="1600" dirty="0" smtClean="0">
                <a:ea typeface="华文楷体" panose="02010600040101010101" pitchFamily="2" charset="-122"/>
              </a:rPr>
              <a:t>L4: </a:t>
            </a:r>
            <a:r>
              <a:rPr lang="en-US" altLang="zh-CN" sz="1600" dirty="0" smtClean="0">
                <a:solidFill>
                  <a:schemeClr val="accent2"/>
                </a:solidFill>
                <a:ea typeface="华文楷体" panose="02010600040101010101" pitchFamily="2" charset="-122"/>
              </a:rPr>
              <a:t>Order</a:t>
            </a:r>
            <a:r>
              <a:rPr lang="en-US" altLang="zh-CN" sz="1600" dirty="0" smtClean="0">
                <a:ea typeface="华文楷体" panose="02010600040101010101" pitchFamily="2" charset="-122"/>
              </a:rPr>
              <a:t>(T-&gt;</a:t>
            </a:r>
            <a:r>
              <a:rPr lang="en-US" altLang="zh-CN" sz="1600" dirty="0" err="1" smtClean="0">
                <a:ea typeface="华文楷体" panose="02010600040101010101" pitchFamily="2" charset="-122"/>
              </a:rPr>
              <a:t>rc</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入栈</a:t>
            </a:r>
            <a:endParaRPr lang="en-US" altLang="zh-CN" sz="1600" dirty="0">
              <a:ea typeface="华文楷体" panose="02010600040101010101" pitchFamily="2" charset="-122"/>
            </a:endParaRPr>
          </a:p>
          <a:p>
            <a:pPr marL="0" indent="0">
              <a:buNone/>
            </a:pPr>
            <a:r>
              <a:rPr lang="en-US" altLang="zh-CN" sz="1600" dirty="0" smtClean="0">
                <a:solidFill>
                  <a:srgbClr val="FF3300"/>
                </a:solidFill>
                <a:ea typeface="华文楷体" panose="02010600040101010101" pitchFamily="2" charset="-122"/>
              </a:rPr>
              <a:t>L5: </a:t>
            </a:r>
            <a:r>
              <a:rPr lang="en-US" altLang="zh-CN" sz="1600" dirty="0" err="1" smtClean="0">
                <a:solidFill>
                  <a:srgbClr val="FF3300"/>
                </a:solidFill>
                <a:ea typeface="华文楷体" panose="02010600040101010101" pitchFamily="2" charset="-122"/>
              </a:rPr>
              <a:t>Printdata</a:t>
            </a:r>
            <a:r>
              <a:rPr lang="en-US" altLang="zh-CN" sz="1600" dirty="0" smtClean="0">
                <a:ea typeface="华文楷体" panose="02010600040101010101" pitchFamily="2" charset="-122"/>
              </a:rPr>
              <a:t>(T-</a:t>
            </a:r>
            <a:r>
              <a:rPr lang="en-US" altLang="zh-CN" sz="1600" dirty="0">
                <a:ea typeface="华文楷体" panose="02010600040101010101" pitchFamily="2" charset="-122"/>
              </a:rPr>
              <a:t>&gt;data</a:t>
            </a:r>
            <a:r>
              <a:rPr lang="en-US" altLang="zh-CN" sz="1600" dirty="0" smtClean="0">
                <a:ea typeface="华文楷体" panose="02010600040101010101" pitchFamily="2" charset="-122"/>
              </a:rPr>
              <a:t>);</a:t>
            </a:r>
            <a:r>
              <a:rPr lang="en-US" altLang="zh-CN" sz="1600" dirty="0">
                <a:ea typeface="华文楷体" panose="02010600040101010101" pitchFamily="2" charset="-122"/>
              </a:rPr>
              <a:t> </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出栈，后序访问</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a:t>
            </a:r>
            <a:endParaRPr lang="en-US" altLang="zh-CN" sz="1600" dirty="0" smtClean="0">
              <a:ea typeface="华文楷体" panose="02010600040101010101" pitchFamily="2" charset="-122"/>
            </a:endParaRPr>
          </a:p>
          <a:p>
            <a:pPr marL="0" indent="0">
              <a:buNone/>
            </a:pPr>
            <a:r>
              <a:rPr lang="en-US" altLang="zh-CN" sz="1600" dirty="0" smtClean="0">
                <a:solidFill>
                  <a:srgbClr val="FF0000"/>
                </a:solidFill>
                <a:ea typeface="华文楷体" panose="02010600040101010101" pitchFamily="2" charset="-122"/>
              </a:rPr>
              <a:t>L1</a:t>
            </a:r>
            <a:r>
              <a:rPr lang="en-US" altLang="zh-CN" sz="1600" dirty="0" smtClean="0">
                <a:ea typeface="华文楷体" panose="02010600040101010101" pitchFamily="2" charset="-122"/>
              </a:rPr>
              <a:t>+L2+L4:</a:t>
            </a:r>
            <a:r>
              <a:rPr lang="zh-CN" altLang="en-US" sz="1600" dirty="0" smtClean="0">
                <a:ea typeface="华文楷体" panose="02010600040101010101" pitchFamily="2" charset="-122"/>
              </a:rPr>
              <a:t>先序</a:t>
            </a:r>
            <a:endParaRPr lang="en-US" altLang="zh-CN" sz="1600" dirty="0" smtClean="0">
              <a:ea typeface="华文楷体" panose="02010600040101010101" pitchFamily="2" charset="-122"/>
            </a:endParaRPr>
          </a:p>
          <a:p>
            <a:pPr marL="0" indent="0">
              <a:buNone/>
            </a:pPr>
            <a:r>
              <a:rPr lang="en-US" altLang="zh-CN" sz="1600" dirty="0" smtClean="0">
                <a:ea typeface="华文楷体" panose="02010600040101010101" pitchFamily="2" charset="-122"/>
              </a:rPr>
              <a:t>L2+</a:t>
            </a:r>
            <a:r>
              <a:rPr lang="en-US" altLang="zh-CN" sz="1600" dirty="0" smtClean="0">
                <a:solidFill>
                  <a:srgbClr val="FF0000"/>
                </a:solidFill>
                <a:ea typeface="华文楷体" panose="02010600040101010101" pitchFamily="2" charset="-122"/>
              </a:rPr>
              <a:t>L3</a:t>
            </a:r>
            <a:r>
              <a:rPr lang="en-US" altLang="zh-CN" sz="1600" dirty="0" smtClean="0">
                <a:ea typeface="华文楷体" panose="02010600040101010101" pitchFamily="2" charset="-122"/>
              </a:rPr>
              <a:t>+L4:</a:t>
            </a:r>
            <a:r>
              <a:rPr lang="zh-CN" altLang="en-US" sz="1600" dirty="0" smtClean="0">
                <a:ea typeface="华文楷体" panose="02010600040101010101" pitchFamily="2" charset="-122"/>
              </a:rPr>
              <a:t>中序</a:t>
            </a:r>
            <a:endParaRPr lang="en-US" altLang="zh-CN" sz="1600" dirty="0">
              <a:ea typeface="华文楷体" panose="02010600040101010101" pitchFamily="2" charset="-122"/>
            </a:endParaRPr>
          </a:p>
          <a:p>
            <a:pPr marL="0" indent="0">
              <a:buNone/>
            </a:pPr>
            <a:r>
              <a:rPr lang="en-US" altLang="zh-CN" sz="1600" dirty="0" smtClean="0">
                <a:ea typeface="华文楷体" panose="02010600040101010101" pitchFamily="2" charset="-122"/>
              </a:rPr>
              <a:t>L2+L4+</a:t>
            </a:r>
            <a:r>
              <a:rPr lang="en-US" altLang="zh-CN" sz="1600" dirty="0" smtClean="0">
                <a:solidFill>
                  <a:srgbClr val="FF0000"/>
                </a:solidFill>
                <a:ea typeface="华文楷体" panose="02010600040101010101" pitchFamily="2" charset="-122"/>
              </a:rPr>
              <a:t>L5</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后序</a:t>
            </a:r>
            <a:endParaRPr lang="en-US" altLang="zh-CN" sz="1600" dirty="0">
              <a:ea typeface="华文楷体" panose="02010600040101010101" pitchFamily="2" charset="-122"/>
            </a:endParaRPr>
          </a:p>
          <a:p>
            <a:pPr marL="0" indent="0">
              <a:buNone/>
            </a:pPr>
            <a:endParaRPr lang="zh-CN" altLang="en-US" sz="2000" dirty="0"/>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graphicFrame>
        <p:nvGraphicFramePr>
          <p:cNvPr id="6" name="表格 5"/>
          <p:cNvGraphicFramePr>
            <a:graphicFrameLocks noGrp="1"/>
          </p:cNvGraphicFramePr>
          <p:nvPr/>
        </p:nvGraphicFramePr>
        <p:xfrm>
          <a:off x="5315489" y="1786828"/>
          <a:ext cx="1009065" cy="1483360"/>
        </p:xfrm>
        <a:graphic>
          <a:graphicData uri="http://schemas.openxmlformats.org/drawingml/2006/table">
            <a:tbl>
              <a:tblPr firstRow="1" bandRow="1">
                <a:tableStyleId>{5C22544A-7EE6-4342-B048-85BDC9FD1C3A}</a:tableStyleId>
              </a:tblPr>
              <a:tblGrid>
                <a:gridCol w="1009065"/>
              </a:tblGrid>
              <a:tr h="370840">
                <a:tc>
                  <a:txBody>
                    <a:bodyPr/>
                    <a:lstStyle/>
                    <a:p>
                      <a:endParaRPr lang="zh-CN" altLang="en-US" dirty="0"/>
                    </a:p>
                  </a:txBody>
                  <a:tcPr/>
                </a:tc>
              </a:tr>
              <a:tr h="370840">
                <a:tc>
                  <a:txBody>
                    <a:bodyPr/>
                    <a:lstStyle/>
                    <a:p>
                      <a:endParaRPr lang="zh-CN" altLang="en-US"/>
                    </a:p>
                  </a:txBody>
                  <a:tcPr/>
                </a:tc>
              </a:tr>
              <a:tr h="370840">
                <a:tc>
                  <a:txBody>
                    <a:bodyPr/>
                    <a:lstStyle/>
                    <a:p>
                      <a:endParaRPr lang="zh-CN" altLang="en-US"/>
                    </a:p>
                  </a:txBody>
                  <a:tcPr/>
                </a:tc>
              </a:tr>
              <a:tr h="370840">
                <a:tc>
                  <a:txBody>
                    <a:bodyPr/>
                    <a:lstStyle/>
                    <a:p>
                      <a:endParaRPr lang="zh-CN" altLang="en-US" dirty="0"/>
                    </a:p>
                  </a:txBody>
                  <a:tcPr/>
                </a:tc>
              </a:tr>
            </a:tbl>
          </a:graphicData>
        </a:graphic>
      </p:graphicFrame>
      <p:sp>
        <p:nvSpPr>
          <p:cNvPr id="7" name="文本框 6"/>
          <p:cNvSpPr txBox="1"/>
          <p:nvPr/>
        </p:nvSpPr>
        <p:spPr>
          <a:xfrm>
            <a:off x="5308345" y="3285627"/>
            <a:ext cx="877163" cy="369332"/>
          </a:xfrm>
          <a:prstGeom prst="rect">
            <a:avLst/>
          </a:prstGeom>
          <a:noFill/>
        </p:spPr>
        <p:txBody>
          <a:bodyPr wrap="none" rtlCol="0">
            <a:spAutoFit/>
          </a:bodyPr>
          <a:lstStyle/>
          <a:p>
            <a:r>
              <a:rPr lang="zh-CN" altLang="en-US" sz="1800" dirty="0" smtClean="0">
                <a:latin typeface="华文楷体" panose="02010600040101010101" pitchFamily="2" charset="-122"/>
                <a:ea typeface="华文楷体" panose="02010600040101010101" pitchFamily="2" charset="-122"/>
              </a:rPr>
              <a:t>左递归</a:t>
            </a:r>
            <a:endParaRPr lang="zh-CN" altLang="en-US" sz="1800" dirty="0">
              <a:latin typeface="华文楷体" panose="02010600040101010101" pitchFamily="2" charset="-122"/>
              <a:ea typeface="华文楷体" panose="02010600040101010101" pitchFamily="2" charset="-122"/>
            </a:endParaRPr>
          </a:p>
        </p:txBody>
      </p:sp>
      <p:graphicFrame>
        <p:nvGraphicFramePr>
          <p:cNvPr id="8" name="表格 7"/>
          <p:cNvGraphicFramePr>
            <a:graphicFrameLocks noGrp="1"/>
          </p:cNvGraphicFramePr>
          <p:nvPr/>
        </p:nvGraphicFramePr>
        <p:xfrm>
          <a:off x="7305682" y="1789368"/>
          <a:ext cx="949486" cy="1478280"/>
        </p:xfrm>
        <a:graphic>
          <a:graphicData uri="http://schemas.openxmlformats.org/drawingml/2006/table">
            <a:tbl>
              <a:tblPr firstRow="1" bandRow="1">
                <a:tableStyleId>{5C22544A-7EE6-4342-B048-85BDC9FD1C3A}</a:tableStyleId>
              </a:tblPr>
              <a:tblGrid>
                <a:gridCol w="949486"/>
              </a:tblGrid>
              <a:tr h="252628">
                <a:tc>
                  <a:txBody>
                    <a:bodyPr/>
                    <a:lstStyle/>
                    <a:p>
                      <a:endParaRPr lang="zh-CN" altLang="en-US" dirty="0"/>
                    </a:p>
                  </a:txBody>
                  <a:tcPr/>
                </a:tc>
              </a:tr>
              <a:tr h="370840">
                <a:tc>
                  <a:txBody>
                    <a:bodyPr/>
                    <a:lstStyle/>
                    <a:p>
                      <a:endParaRPr lang="zh-CN" altLang="en-US"/>
                    </a:p>
                  </a:txBody>
                  <a:tcPr/>
                </a:tc>
              </a:tr>
              <a:tr h="370840">
                <a:tc>
                  <a:txBody>
                    <a:bodyPr/>
                    <a:lstStyle/>
                    <a:p>
                      <a:endParaRPr lang="zh-CN" altLang="en-US" dirty="0"/>
                    </a:p>
                  </a:txBody>
                  <a:tcPr/>
                </a:tc>
              </a:tr>
              <a:tr h="370840">
                <a:tc>
                  <a:txBody>
                    <a:bodyPr/>
                    <a:lstStyle/>
                    <a:p>
                      <a:endParaRPr lang="zh-CN" altLang="en-US" dirty="0"/>
                    </a:p>
                  </a:txBody>
                  <a:tcPr/>
                </a:tc>
              </a:tr>
            </a:tbl>
          </a:graphicData>
        </a:graphic>
      </p:graphicFrame>
      <p:sp>
        <p:nvSpPr>
          <p:cNvPr id="9" name="文本框 8"/>
          <p:cNvSpPr txBox="1"/>
          <p:nvPr/>
        </p:nvSpPr>
        <p:spPr>
          <a:xfrm>
            <a:off x="7285629" y="3301089"/>
            <a:ext cx="877163" cy="369332"/>
          </a:xfrm>
          <a:prstGeom prst="rect">
            <a:avLst/>
          </a:prstGeom>
          <a:noFill/>
        </p:spPr>
        <p:txBody>
          <a:bodyPr wrap="none" rtlCol="0">
            <a:spAutoFit/>
          </a:bodyPr>
          <a:lstStyle/>
          <a:p>
            <a:r>
              <a:rPr lang="zh-CN" altLang="en-US" sz="1800" dirty="0">
                <a:latin typeface="华文楷体" panose="02010600040101010101" pitchFamily="2" charset="-122"/>
                <a:ea typeface="华文楷体" panose="02010600040101010101" pitchFamily="2" charset="-122"/>
              </a:rPr>
              <a:t>右</a:t>
            </a:r>
            <a:r>
              <a:rPr lang="zh-CN" altLang="en-US" sz="1800" dirty="0" smtClean="0">
                <a:latin typeface="华文楷体" panose="02010600040101010101" pitchFamily="2" charset="-122"/>
                <a:ea typeface="华文楷体" panose="02010600040101010101" pitchFamily="2" charset="-122"/>
              </a:rPr>
              <a:t>递归</a:t>
            </a:r>
            <a:endParaRPr lang="zh-CN" altLang="en-US" sz="1800" dirty="0">
              <a:latin typeface="华文楷体" panose="02010600040101010101" pitchFamily="2" charset="-122"/>
              <a:ea typeface="华文楷体" panose="02010600040101010101" pitchFamily="2" charset="-122"/>
            </a:endParaRPr>
          </a:p>
        </p:txBody>
      </p:sp>
      <p:sp>
        <p:nvSpPr>
          <p:cNvPr id="19" name="任意多边形 18"/>
          <p:cNvSpPr/>
          <p:nvPr/>
        </p:nvSpPr>
        <p:spPr bwMode="auto">
          <a:xfrm>
            <a:off x="4742891" y="1172775"/>
            <a:ext cx="1043136" cy="1118587"/>
          </a:xfrm>
          <a:custGeom>
            <a:avLst/>
            <a:gdLst>
              <a:gd name="connsiteX0" fmla="*/ 0 w 1043136"/>
              <a:gd name="connsiteY0" fmla="*/ 1118587 h 1118587"/>
              <a:gd name="connsiteX1" fmla="*/ 8878 w 1043136"/>
              <a:gd name="connsiteY1" fmla="*/ 621437 h 1118587"/>
              <a:gd name="connsiteX2" fmla="*/ 26633 w 1043136"/>
              <a:gd name="connsiteY2" fmla="*/ 585926 h 1118587"/>
              <a:gd name="connsiteX3" fmla="*/ 35511 w 1043136"/>
              <a:gd name="connsiteY3" fmla="*/ 523783 h 1118587"/>
              <a:gd name="connsiteX4" fmla="*/ 53266 w 1043136"/>
              <a:gd name="connsiteY4" fmla="*/ 470517 h 1118587"/>
              <a:gd name="connsiteX5" fmla="*/ 71022 w 1043136"/>
              <a:gd name="connsiteY5" fmla="*/ 390618 h 1118587"/>
              <a:gd name="connsiteX6" fmla="*/ 88777 w 1043136"/>
              <a:gd name="connsiteY6" fmla="*/ 363985 h 1118587"/>
              <a:gd name="connsiteX7" fmla="*/ 106532 w 1043136"/>
              <a:gd name="connsiteY7" fmla="*/ 328474 h 1118587"/>
              <a:gd name="connsiteX8" fmla="*/ 142043 w 1043136"/>
              <a:gd name="connsiteY8" fmla="*/ 275208 h 1118587"/>
              <a:gd name="connsiteX9" fmla="*/ 168676 w 1043136"/>
              <a:gd name="connsiteY9" fmla="*/ 230820 h 1118587"/>
              <a:gd name="connsiteX10" fmla="*/ 204187 w 1043136"/>
              <a:gd name="connsiteY10" fmla="*/ 195309 h 1118587"/>
              <a:gd name="connsiteX11" fmla="*/ 213064 w 1043136"/>
              <a:gd name="connsiteY11" fmla="*/ 168676 h 1118587"/>
              <a:gd name="connsiteX12" fmla="*/ 230820 w 1043136"/>
              <a:gd name="connsiteY12" fmla="*/ 142043 h 1118587"/>
              <a:gd name="connsiteX13" fmla="*/ 310719 w 1043136"/>
              <a:gd name="connsiteY13" fmla="*/ 53266 h 1118587"/>
              <a:gd name="connsiteX14" fmla="*/ 337352 w 1043136"/>
              <a:gd name="connsiteY14" fmla="*/ 26633 h 1118587"/>
              <a:gd name="connsiteX15" fmla="*/ 372862 w 1043136"/>
              <a:gd name="connsiteY15" fmla="*/ 17756 h 1118587"/>
              <a:gd name="connsiteX16" fmla="*/ 426128 w 1043136"/>
              <a:gd name="connsiteY16" fmla="*/ 0 h 1118587"/>
              <a:gd name="connsiteX17" fmla="*/ 648070 w 1043136"/>
              <a:gd name="connsiteY17" fmla="*/ 8878 h 1118587"/>
              <a:gd name="connsiteX18" fmla="*/ 683581 w 1043136"/>
              <a:gd name="connsiteY18" fmla="*/ 26633 h 1118587"/>
              <a:gd name="connsiteX19" fmla="*/ 745725 w 1043136"/>
              <a:gd name="connsiteY19" fmla="*/ 44389 h 1118587"/>
              <a:gd name="connsiteX20" fmla="*/ 772358 w 1043136"/>
              <a:gd name="connsiteY20" fmla="*/ 62144 h 1118587"/>
              <a:gd name="connsiteX21" fmla="*/ 798991 w 1043136"/>
              <a:gd name="connsiteY21" fmla="*/ 71022 h 1118587"/>
              <a:gd name="connsiteX22" fmla="*/ 887767 w 1043136"/>
              <a:gd name="connsiteY22" fmla="*/ 124288 h 1118587"/>
              <a:gd name="connsiteX23" fmla="*/ 932156 w 1043136"/>
              <a:gd name="connsiteY23" fmla="*/ 168676 h 1118587"/>
              <a:gd name="connsiteX24" fmla="*/ 958789 w 1043136"/>
              <a:gd name="connsiteY24" fmla="*/ 221942 h 1118587"/>
              <a:gd name="connsiteX25" fmla="*/ 976544 w 1043136"/>
              <a:gd name="connsiteY25" fmla="*/ 248575 h 1118587"/>
              <a:gd name="connsiteX26" fmla="*/ 985422 w 1043136"/>
              <a:gd name="connsiteY26" fmla="*/ 275208 h 1118587"/>
              <a:gd name="connsiteX27" fmla="*/ 1003177 w 1043136"/>
              <a:gd name="connsiteY27" fmla="*/ 310719 h 1118587"/>
              <a:gd name="connsiteX28" fmla="*/ 1029810 w 1043136"/>
              <a:gd name="connsiteY28" fmla="*/ 363985 h 1118587"/>
              <a:gd name="connsiteX29" fmla="*/ 1038688 w 1043136"/>
              <a:gd name="connsiteY29" fmla="*/ 630315 h 111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43136" h="1118587">
                <a:moveTo>
                  <a:pt x="0" y="1118587"/>
                </a:moveTo>
                <a:cubicBezTo>
                  <a:pt x="2959" y="952870"/>
                  <a:pt x="601" y="786973"/>
                  <a:pt x="8878" y="621437"/>
                </a:cubicBezTo>
                <a:cubicBezTo>
                  <a:pt x="9539" y="608219"/>
                  <a:pt x="23151" y="598694"/>
                  <a:pt x="26633" y="585926"/>
                </a:cubicBezTo>
                <a:cubicBezTo>
                  <a:pt x="32139" y="565739"/>
                  <a:pt x="30806" y="544172"/>
                  <a:pt x="35511" y="523783"/>
                </a:cubicBezTo>
                <a:cubicBezTo>
                  <a:pt x="39719" y="505547"/>
                  <a:pt x="49595" y="488869"/>
                  <a:pt x="53266" y="470517"/>
                </a:cubicBezTo>
                <a:cubicBezTo>
                  <a:pt x="54846" y="462615"/>
                  <a:pt x="66320" y="401590"/>
                  <a:pt x="71022" y="390618"/>
                </a:cubicBezTo>
                <a:cubicBezTo>
                  <a:pt x="75225" y="380811"/>
                  <a:pt x="83484" y="373249"/>
                  <a:pt x="88777" y="363985"/>
                </a:cubicBezTo>
                <a:cubicBezTo>
                  <a:pt x="95343" y="352495"/>
                  <a:pt x="99723" y="339822"/>
                  <a:pt x="106532" y="328474"/>
                </a:cubicBezTo>
                <a:cubicBezTo>
                  <a:pt x="117511" y="310176"/>
                  <a:pt x="131064" y="293506"/>
                  <a:pt x="142043" y="275208"/>
                </a:cubicBezTo>
                <a:cubicBezTo>
                  <a:pt x="150921" y="260412"/>
                  <a:pt x="158082" y="244440"/>
                  <a:pt x="168676" y="230820"/>
                </a:cubicBezTo>
                <a:cubicBezTo>
                  <a:pt x="178953" y="217606"/>
                  <a:pt x="192350" y="207146"/>
                  <a:pt x="204187" y="195309"/>
                </a:cubicBezTo>
                <a:cubicBezTo>
                  <a:pt x="207146" y="186431"/>
                  <a:pt x="208879" y="177046"/>
                  <a:pt x="213064" y="168676"/>
                </a:cubicBezTo>
                <a:cubicBezTo>
                  <a:pt x="217836" y="159133"/>
                  <a:pt x="224618" y="150725"/>
                  <a:pt x="230820" y="142043"/>
                </a:cubicBezTo>
                <a:cubicBezTo>
                  <a:pt x="265571" y="93391"/>
                  <a:pt x="258780" y="105205"/>
                  <a:pt x="310719" y="53266"/>
                </a:cubicBezTo>
                <a:cubicBezTo>
                  <a:pt x="319597" y="44388"/>
                  <a:pt x="325172" y="29678"/>
                  <a:pt x="337352" y="26633"/>
                </a:cubicBezTo>
                <a:cubicBezTo>
                  <a:pt x="349189" y="23674"/>
                  <a:pt x="361176" y="21262"/>
                  <a:pt x="372862" y="17756"/>
                </a:cubicBezTo>
                <a:cubicBezTo>
                  <a:pt x="390789" y="12378"/>
                  <a:pt x="426128" y="0"/>
                  <a:pt x="426128" y="0"/>
                </a:cubicBezTo>
                <a:cubicBezTo>
                  <a:pt x="500109" y="2959"/>
                  <a:pt x="574423" y="1259"/>
                  <a:pt x="648070" y="8878"/>
                </a:cubicBezTo>
                <a:cubicBezTo>
                  <a:pt x="661234" y="10240"/>
                  <a:pt x="671190" y="21986"/>
                  <a:pt x="683581" y="26633"/>
                </a:cubicBezTo>
                <a:cubicBezTo>
                  <a:pt x="706338" y="35167"/>
                  <a:pt x="724261" y="33657"/>
                  <a:pt x="745725" y="44389"/>
                </a:cubicBezTo>
                <a:cubicBezTo>
                  <a:pt x="755268" y="49161"/>
                  <a:pt x="762815" y="57372"/>
                  <a:pt x="772358" y="62144"/>
                </a:cubicBezTo>
                <a:cubicBezTo>
                  <a:pt x="780728" y="66329"/>
                  <a:pt x="790390" y="67336"/>
                  <a:pt x="798991" y="71022"/>
                </a:cubicBezTo>
                <a:cubicBezTo>
                  <a:pt x="823511" y="81531"/>
                  <a:pt x="871988" y="108509"/>
                  <a:pt x="887767" y="124288"/>
                </a:cubicBezTo>
                <a:cubicBezTo>
                  <a:pt x="902563" y="139084"/>
                  <a:pt x="920549" y="151265"/>
                  <a:pt x="932156" y="168676"/>
                </a:cubicBezTo>
                <a:cubicBezTo>
                  <a:pt x="983039" y="245002"/>
                  <a:pt x="922034" y="148432"/>
                  <a:pt x="958789" y="221942"/>
                </a:cubicBezTo>
                <a:cubicBezTo>
                  <a:pt x="963561" y="231485"/>
                  <a:pt x="971772" y="239032"/>
                  <a:pt x="976544" y="248575"/>
                </a:cubicBezTo>
                <a:cubicBezTo>
                  <a:pt x="980729" y="256945"/>
                  <a:pt x="981736" y="266607"/>
                  <a:pt x="985422" y="275208"/>
                </a:cubicBezTo>
                <a:cubicBezTo>
                  <a:pt x="990635" y="287372"/>
                  <a:pt x="997964" y="298555"/>
                  <a:pt x="1003177" y="310719"/>
                </a:cubicBezTo>
                <a:cubicBezTo>
                  <a:pt x="1025229" y="362174"/>
                  <a:pt x="995691" y="312805"/>
                  <a:pt x="1029810" y="363985"/>
                </a:cubicBezTo>
                <a:cubicBezTo>
                  <a:pt x="1053197" y="480917"/>
                  <a:pt x="1038688" y="393284"/>
                  <a:pt x="1038688" y="630315"/>
                </a:cubicBezTo>
              </a:path>
            </a:pathLst>
          </a:custGeom>
          <a:ln w="127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endParaRPr>
          </a:p>
        </p:txBody>
      </p:sp>
      <p:sp>
        <p:nvSpPr>
          <p:cNvPr id="20" name="文本框 19"/>
          <p:cNvSpPr txBox="1"/>
          <p:nvPr/>
        </p:nvSpPr>
        <p:spPr>
          <a:xfrm>
            <a:off x="4186435" y="2197378"/>
            <a:ext cx="1223742" cy="369332"/>
          </a:xfrm>
          <a:prstGeom prst="rect">
            <a:avLst/>
          </a:prstGeom>
          <a:noFill/>
        </p:spPr>
        <p:txBody>
          <a:bodyPr wrap="square" rtlCol="0">
            <a:spAutoFit/>
          </a:bodyPr>
          <a:lstStyle/>
          <a:p>
            <a:r>
              <a:rPr lang="zh-CN" altLang="en-US" sz="1800" dirty="0" smtClean="0">
                <a:latin typeface="华文楷体" panose="02010600040101010101" pitchFamily="2" charset="-122"/>
                <a:ea typeface="华文楷体" panose="02010600040101010101" pitchFamily="2" charset="-122"/>
              </a:rPr>
              <a:t>先序访问</a:t>
            </a:r>
            <a:endParaRPr lang="en-US" altLang="zh-CN" sz="1800" dirty="0" smtClean="0">
              <a:latin typeface="华文楷体" panose="02010600040101010101" pitchFamily="2" charset="-122"/>
              <a:ea typeface="华文楷体" panose="02010600040101010101" pitchFamily="2" charset="-122"/>
            </a:endParaRPr>
          </a:p>
        </p:txBody>
      </p:sp>
      <p:sp>
        <p:nvSpPr>
          <p:cNvPr id="22" name="文本框 21"/>
          <p:cNvSpPr txBox="1"/>
          <p:nvPr/>
        </p:nvSpPr>
        <p:spPr>
          <a:xfrm>
            <a:off x="6218371" y="2223185"/>
            <a:ext cx="1107996" cy="369332"/>
          </a:xfrm>
          <a:prstGeom prst="rect">
            <a:avLst/>
          </a:prstGeom>
          <a:noFill/>
        </p:spPr>
        <p:txBody>
          <a:bodyPr wrap="none" rtlCol="0">
            <a:spAutoFit/>
          </a:bodyPr>
          <a:lstStyle/>
          <a:p>
            <a:r>
              <a:rPr lang="zh-CN" altLang="en-US" sz="1800" dirty="0" smtClean="0">
                <a:latin typeface="华文楷体" panose="02010600040101010101" pitchFamily="2" charset="-122"/>
                <a:ea typeface="华文楷体" panose="02010600040101010101" pitchFamily="2" charset="-122"/>
              </a:rPr>
              <a:t>中序访问</a:t>
            </a:r>
            <a:endParaRPr lang="zh-CN" altLang="en-US" sz="1800" dirty="0">
              <a:latin typeface="华文楷体" panose="02010600040101010101" pitchFamily="2" charset="-122"/>
              <a:ea typeface="华文楷体" panose="02010600040101010101" pitchFamily="2" charset="-122"/>
            </a:endParaRPr>
          </a:p>
        </p:txBody>
      </p:sp>
      <p:sp>
        <p:nvSpPr>
          <p:cNvPr id="24" name="文本框 23"/>
          <p:cNvSpPr txBox="1"/>
          <p:nvPr/>
        </p:nvSpPr>
        <p:spPr>
          <a:xfrm>
            <a:off x="4320416" y="1446431"/>
            <a:ext cx="890807" cy="646331"/>
          </a:xfrm>
          <a:prstGeom prst="rect">
            <a:avLst/>
          </a:prstGeom>
          <a:noFill/>
        </p:spPr>
        <p:txBody>
          <a:bodyPr wrap="square" rtlCol="0">
            <a:spAutoFit/>
          </a:bodyPr>
          <a:lstStyle/>
          <a:p>
            <a:r>
              <a:rPr lang="zh-CN" altLang="en-US" sz="1800" dirty="0" smtClean="0">
                <a:latin typeface="华文楷体" panose="02010600040101010101" pitchFamily="2" charset="-122"/>
                <a:ea typeface="华文楷体" panose="02010600040101010101" pitchFamily="2" charset="-122"/>
              </a:rPr>
              <a:t>入栈</a:t>
            </a:r>
            <a:r>
              <a:rPr lang="en-US" altLang="zh-CN" sz="1800" dirty="0" smtClean="0">
                <a:latin typeface="华文楷体" panose="02010600040101010101" pitchFamily="2" charset="-122"/>
                <a:ea typeface="华文楷体" panose="02010600040101010101" pitchFamily="2" charset="-122"/>
              </a:rPr>
              <a:t>1</a:t>
            </a:r>
            <a:endParaRPr lang="en-US" altLang="zh-CN" sz="1800" dirty="0" smtClean="0">
              <a:latin typeface="华文楷体" panose="02010600040101010101" pitchFamily="2" charset="-122"/>
              <a:ea typeface="华文楷体" panose="02010600040101010101" pitchFamily="2" charset="-122"/>
            </a:endParaRPr>
          </a:p>
          <a:p>
            <a:endParaRPr lang="zh-CN" altLang="en-US" sz="1800" dirty="0">
              <a:latin typeface="华文楷体" panose="02010600040101010101" pitchFamily="2" charset="-122"/>
              <a:ea typeface="华文楷体" panose="02010600040101010101" pitchFamily="2" charset="-122"/>
            </a:endParaRPr>
          </a:p>
        </p:txBody>
      </p:sp>
      <p:sp>
        <p:nvSpPr>
          <p:cNvPr id="25" name="文本框 24"/>
          <p:cNvSpPr txBox="1"/>
          <p:nvPr/>
        </p:nvSpPr>
        <p:spPr>
          <a:xfrm>
            <a:off x="5820020" y="1332283"/>
            <a:ext cx="847109" cy="369332"/>
          </a:xfrm>
          <a:prstGeom prst="rect">
            <a:avLst/>
          </a:prstGeom>
          <a:noFill/>
        </p:spPr>
        <p:txBody>
          <a:bodyPr wrap="square" rtlCol="0">
            <a:spAutoFit/>
          </a:bodyPr>
          <a:lstStyle/>
          <a:p>
            <a:r>
              <a:rPr lang="zh-CN" altLang="en-US" sz="1800" dirty="0" smtClean="0">
                <a:latin typeface="华文楷体" panose="02010600040101010101" pitchFamily="2" charset="-122"/>
                <a:ea typeface="华文楷体" panose="02010600040101010101" pitchFamily="2" charset="-122"/>
              </a:rPr>
              <a:t>出栈</a:t>
            </a:r>
            <a:r>
              <a:rPr lang="en-US" altLang="zh-CN" sz="1800" dirty="0" smtClean="0">
                <a:latin typeface="华文楷体" panose="02010600040101010101" pitchFamily="2" charset="-122"/>
                <a:ea typeface="华文楷体" panose="02010600040101010101" pitchFamily="2" charset="-122"/>
              </a:rPr>
              <a:t>1</a:t>
            </a:r>
            <a:endParaRPr lang="zh-CN" altLang="en-US" sz="1800" dirty="0">
              <a:latin typeface="华文楷体" panose="02010600040101010101" pitchFamily="2" charset="-122"/>
              <a:ea typeface="华文楷体" panose="02010600040101010101" pitchFamily="2" charset="-122"/>
            </a:endParaRPr>
          </a:p>
        </p:txBody>
      </p:sp>
      <p:sp>
        <p:nvSpPr>
          <p:cNvPr id="27" name="任意多边形 26"/>
          <p:cNvSpPr/>
          <p:nvPr/>
        </p:nvSpPr>
        <p:spPr bwMode="auto">
          <a:xfrm>
            <a:off x="6720396" y="1171852"/>
            <a:ext cx="941033" cy="1651247"/>
          </a:xfrm>
          <a:custGeom>
            <a:avLst/>
            <a:gdLst>
              <a:gd name="connsiteX0" fmla="*/ 0 w 941033"/>
              <a:gd name="connsiteY0" fmla="*/ 1411550 h 1651247"/>
              <a:gd name="connsiteX1" fmla="*/ 8878 w 941033"/>
              <a:gd name="connsiteY1" fmla="*/ 1455938 h 1651247"/>
              <a:gd name="connsiteX2" fmla="*/ 44388 w 941033"/>
              <a:gd name="connsiteY2" fmla="*/ 1518082 h 1651247"/>
              <a:gd name="connsiteX3" fmla="*/ 53266 w 941033"/>
              <a:gd name="connsiteY3" fmla="*/ 1544715 h 1651247"/>
              <a:gd name="connsiteX4" fmla="*/ 106532 w 941033"/>
              <a:gd name="connsiteY4" fmla="*/ 1606859 h 1651247"/>
              <a:gd name="connsiteX5" fmla="*/ 186431 w 941033"/>
              <a:gd name="connsiteY5" fmla="*/ 1642369 h 1651247"/>
              <a:gd name="connsiteX6" fmla="*/ 213064 w 941033"/>
              <a:gd name="connsiteY6" fmla="*/ 1651247 h 1651247"/>
              <a:gd name="connsiteX7" fmla="*/ 257453 w 941033"/>
              <a:gd name="connsiteY7" fmla="*/ 1642369 h 1651247"/>
              <a:gd name="connsiteX8" fmla="*/ 292963 w 941033"/>
              <a:gd name="connsiteY8" fmla="*/ 1589103 h 1651247"/>
              <a:gd name="connsiteX9" fmla="*/ 310719 w 941033"/>
              <a:gd name="connsiteY9" fmla="*/ 1562470 h 1651247"/>
              <a:gd name="connsiteX10" fmla="*/ 328474 w 941033"/>
              <a:gd name="connsiteY10" fmla="*/ 1500327 h 1651247"/>
              <a:gd name="connsiteX11" fmla="*/ 346229 w 941033"/>
              <a:gd name="connsiteY11" fmla="*/ 1438183 h 1651247"/>
              <a:gd name="connsiteX12" fmla="*/ 355107 w 941033"/>
              <a:gd name="connsiteY12" fmla="*/ 1296140 h 1651247"/>
              <a:gd name="connsiteX13" fmla="*/ 363985 w 941033"/>
              <a:gd name="connsiteY13" fmla="*/ 1242874 h 1651247"/>
              <a:gd name="connsiteX14" fmla="*/ 372862 w 941033"/>
              <a:gd name="connsiteY14" fmla="*/ 1038688 h 1651247"/>
              <a:gd name="connsiteX15" fmla="*/ 381740 w 941033"/>
              <a:gd name="connsiteY15" fmla="*/ 949911 h 1651247"/>
              <a:gd name="connsiteX16" fmla="*/ 399495 w 941033"/>
              <a:gd name="connsiteY16" fmla="*/ 665826 h 1651247"/>
              <a:gd name="connsiteX17" fmla="*/ 408373 w 941033"/>
              <a:gd name="connsiteY17" fmla="*/ 399496 h 1651247"/>
              <a:gd name="connsiteX18" fmla="*/ 417251 w 941033"/>
              <a:gd name="connsiteY18" fmla="*/ 355107 h 1651247"/>
              <a:gd name="connsiteX19" fmla="*/ 426128 w 941033"/>
              <a:gd name="connsiteY19" fmla="*/ 292964 h 1651247"/>
              <a:gd name="connsiteX20" fmla="*/ 435006 w 941033"/>
              <a:gd name="connsiteY20" fmla="*/ 257453 h 1651247"/>
              <a:gd name="connsiteX21" fmla="*/ 470517 w 941033"/>
              <a:gd name="connsiteY21" fmla="*/ 168676 h 1651247"/>
              <a:gd name="connsiteX22" fmla="*/ 506027 w 941033"/>
              <a:gd name="connsiteY22" fmla="*/ 115410 h 1651247"/>
              <a:gd name="connsiteX23" fmla="*/ 568171 w 941033"/>
              <a:gd name="connsiteY23" fmla="*/ 62144 h 1651247"/>
              <a:gd name="connsiteX24" fmla="*/ 594804 w 941033"/>
              <a:gd name="connsiteY24" fmla="*/ 53266 h 1651247"/>
              <a:gd name="connsiteX25" fmla="*/ 648070 w 941033"/>
              <a:gd name="connsiteY25" fmla="*/ 17756 h 1651247"/>
              <a:gd name="connsiteX26" fmla="*/ 701336 w 941033"/>
              <a:gd name="connsiteY26" fmla="*/ 0 h 1651247"/>
              <a:gd name="connsiteX27" fmla="*/ 834501 w 941033"/>
              <a:gd name="connsiteY27" fmla="*/ 8878 h 1651247"/>
              <a:gd name="connsiteX28" fmla="*/ 852256 w 941033"/>
              <a:gd name="connsiteY28" fmla="*/ 35511 h 1651247"/>
              <a:gd name="connsiteX29" fmla="*/ 887767 w 941033"/>
              <a:gd name="connsiteY29" fmla="*/ 71022 h 1651247"/>
              <a:gd name="connsiteX30" fmla="*/ 905522 w 941033"/>
              <a:gd name="connsiteY30" fmla="*/ 159798 h 1651247"/>
              <a:gd name="connsiteX31" fmla="*/ 923278 w 941033"/>
              <a:gd name="connsiteY31" fmla="*/ 266331 h 1651247"/>
              <a:gd name="connsiteX32" fmla="*/ 932155 w 941033"/>
              <a:gd name="connsiteY32" fmla="*/ 408373 h 1651247"/>
              <a:gd name="connsiteX33" fmla="*/ 941033 w 941033"/>
              <a:gd name="connsiteY33" fmla="*/ 470517 h 1651247"/>
              <a:gd name="connsiteX34" fmla="*/ 932155 w 941033"/>
              <a:gd name="connsiteY34" fmla="*/ 577049 h 1651247"/>
              <a:gd name="connsiteX35" fmla="*/ 923278 w 941033"/>
              <a:gd name="connsiteY35" fmla="*/ 603682 h 1651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41033" h="1651247">
                <a:moveTo>
                  <a:pt x="0" y="1411550"/>
                </a:moveTo>
                <a:cubicBezTo>
                  <a:pt x="2959" y="1426346"/>
                  <a:pt x="4106" y="1441623"/>
                  <a:pt x="8878" y="1455938"/>
                </a:cubicBezTo>
                <a:cubicBezTo>
                  <a:pt x="24442" y="1502631"/>
                  <a:pt x="24905" y="1479116"/>
                  <a:pt x="44388" y="1518082"/>
                </a:cubicBezTo>
                <a:cubicBezTo>
                  <a:pt x="48573" y="1526452"/>
                  <a:pt x="49081" y="1536345"/>
                  <a:pt x="53266" y="1544715"/>
                </a:cubicBezTo>
                <a:cubicBezTo>
                  <a:pt x="63306" y="1564796"/>
                  <a:pt x="90149" y="1595937"/>
                  <a:pt x="106532" y="1606859"/>
                </a:cubicBezTo>
                <a:cubicBezTo>
                  <a:pt x="148738" y="1634996"/>
                  <a:pt x="123042" y="1621239"/>
                  <a:pt x="186431" y="1642369"/>
                </a:cubicBezTo>
                <a:lnTo>
                  <a:pt x="213064" y="1651247"/>
                </a:lnTo>
                <a:cubicBezTo>
                  <a:pt x="227860" y="1648288"/>
                  <a:pt x="243957" y="1649117"/>
                  <a:pt x="257453" y="1642369"/>
                </a:cubicBezTo>
                <a:cubicBezTo>
                  <a:pt x="291113" y="1625539"/>
                  <a:pt x="279810" y="1615408"/>
                  <a:pt x="292963" y="1589103"/>
                </a:cubicBezTo>
                <a:cubicBezTo>
                  <a:pt x="297735" y="1579560"/>
                  <a:pt x="304800" y="1571348"/>
                  <a:pt x="310719" y="1562470"/>
                </a:cubicBezTo>
                <a:cubicBezTo>
                  <a:pt x="332010" y="1498593"/>
                  <a:pt x="306171" y="1578384"/>
                  <a:pt x="328474" y="1500327"/>
                </a:cubicBezTo>
                <a:cubicBezTo>
                  <a:pt x="353933" y="1411226"/>
                  <a:pt x="318495" y="1549129"/>
                  <a:pt x="346229" y="1438183"/>
                </a:cubicBezTo>
                <a:cubicBezTo>
                  <a:pt x="349188" y="1390835"/>
                  <a:pt x="350812" y="1343385"/>
                  <a:pt x="355107" y="1296140"/>
                </a:cubicBezTo>
                <a:cubicBezTo>
                  <a:pt x="356737" y="1278214"/>
                  <a:pt x="362747" y="1260832"/>
                  <a:pt x="363985" y="1242874"/>
                </a:cubicBezTo>
                <a:cubicBezTo>
                  <a:pt x="368672" y="1174909"/>
                  <a:pt x="368741" y="1106690"/>
                  <a:pt x="372862" y="1038688"/>
                </a:cubicBezTo>
                <a:cubicBezTo>
                  <a:pt x="374661" y="1009003"/>
                  <a:pt x="379621" y="979575"/>
                  <a:pt x="381740" y="949911"/>
                </a:cubicBezTo>
                <a:cubicBezTo>
                  <a:pt x="388500" y="855272"/>
                  <a:pt x="396334" y="760653"/>
                  <a:pt x="399495" y="665826"/>
                </a:cubicBezTo>
                <a:cubicBezTo>
                  <a:pt x="402454" y="577049"/>
                  <a:pt x="403305" y="488177"/>
                  <a:pt x="408373" y="399496"/>
                </a:cubicBezTo>
                <a:cubicBezTo>
                  <a:pt x="409234" y="384431"/>
                  <a:pt x="414770" y="369991"/>
                  <a:pt x="417251" y="355107"/>
                </a:cubicBezTo>
                <a:cubicBezTo>
                  <a:pt x="420691" y="334467"/>
                  <a:pt x="422385" y="313551"/>
                  <a:pt x="426128" y="292964"/>
                </a:cubicBezTo>
                <a:cubicBezTo>
                  <a:pt x="428311" y="280959"/>
                  <a:pt x="431500" y="269140"/>
                  <a:pt x="435006" y="257453"/>
                </a:cubicBezTo>
                <a:cubicBezTo>
                  <a:pt x="445171" y="223571"/>
                  <a:pt x="452718" y="198342"/>
                  <a:pt x="470517" y="168676"/>
                </a:cubicBezTo>
                <a:cubicBezTo>
                  <a:pt x="481496" y="150378"/>
                  <a:pt x="490938" y="130499"/>
                  <a:pt x="506027" y="115410"/>
                </a:cubicBezTo>
                <a:cubicBezTo>
                  <a:pt x="527871" y="93566"/>
                  <a:pt x="541129" y="75665"/>
                  <a:pt x="568171" y="62144"/>
                </a:cubicBezTo>
                <a:cubicBezTo>
                  <a:pt x="576541" y="57959"/>
                  <a:pt x="586624" y="57811"/>
                  <a:pt x="594804" y="53266"/>
                </a:cubicBezTo>
                <a:cubicBezTo>
                  <a:pt x="613458" y="42903"/>
                  <a:pt x="627826" y="24504"/>
                  <a:pt x="648070" y="17756"/>
                </a:cubicBezTo>
                <a:lnTo>
                  <a:pt x="701336" y="0"/>
                </a:lnTo>
                <a:cubicBezTo>
                  <a:pt x="745724" y="2959"/>
                  <a:pt x="791197" y="-1311"/>
                  <a:pt x="834501" y="8878"/>
                </a:cubicBezTo>
                <a:cubicBezTo>
                  <a:pt x="844887" y="11322"/>
                  <a:pt x="845312" y="27410"/>
                  <a:pt x="852256" y="35511"/>
                </a:cubicBezTo>
                <a:cubicBezTo>
                  <a:pt x="863150" y="48221"/>
                  <a:pt x="887767" y="71022"/>
                  <a:pt x="887767" y="71022"/>
                </a:cubicBezTo>
                <a:cubicBezTo>
                  <a:pt x="893685" y="100614"/>
                  <a:pt x="900561" y="130031"/>
                  <a:pt x="905522" y="159798"/>
                </a:cubicBezTo>
                <a:lnTo>
                  <a:pt x="923278" y="266331"/>
                </a:lnTo>
                <a:cubicBezTo>
                  <a:pt x="926237" y="313678"/>
                  <a:pt x="928045" y="361112"/>
                  <a:pt x="932155" y="408373"/>
                </a:cubicBezTo>
                <a:cubicBezTo>
                  <a:pt x="933968" y="429219"/>
                  <a:pt x="941033" y="449592"/>
                  <a:pt x="941033" y="470517"/>
                </a:cubicBezTo>
                <a:cubicBezTo>
                  <a:pt x="941033" y="506151"/>
                  <a:pt x="936864" y="541728"/>
                  <a:pt x="932155" y="577049"/>
                </a:cubicBezTo>
                <a:cubicBezTo>
                  <a:pt x="930918" y="586325"/>
                  <a:pt x="923278" y="603682"/>
                  <a:pt x="923278" y="603682"/>
                </a:cubicBezTo>
              </a:path>
            </a:pathLst>
          </a:custGeom>
          <a:ln w="127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vert="horz" wrap="square" lIns="91440" tIns="45720" rIns="91440" bIns="45720" numCol="1" rtlCol="0" anchor="t" anchorCtr="0" compatLnSpc="1"/>
          <a:lstStyle/>
          <a:p>
            <a:pPr marL="342900" indent="-342900" eaLnBrk="1" hangingPunct="1">
              <a:spcBef>
                <a:spcPct val="20000"/>
              </a:spcBef>
              <a:buClr>
                <a:schemeClr val="hlink"/>
              </a:buClr>
              <a:buFont typeface="Wingdings" panose="05000000000000000000" pitchFamily="2" charset="2"/>
              <a:buChar char="v"/>
            </a:pPr>
            <a:endParaRPr lang="zh-CN" altLang="en-US" sz="1800">
              <a:latin typeface="Arial" panose="020B0604020202020204" pitchFamily="34" charset="0"/>
              <a:ea typeface="宋体" panose="02010600030101010101" pitchFamily="2" charset="-122"/>
            </a:endParaRPr>
          </a:p>
        </p:txBody>
      </p:sp>
      <p:sp>
        <p:nvSpPr>
          <p:cNvPr id="28" name="任意多边形 27"/>
          <p:cNvSpPr/>
          <p:nvPr/>
        </p:nvSpPr>
        <p:spPr bwMode="auto">
          <a:xfrm>
            <a:off x="6045693" y="1162975"/>
            <a:ext cx="621437" cy="1109708"/>
          </a:xfrm>
          <a:custGeom>
            <a:avLst/>
            <a:gdLst>
              <a:gd name="connsiteX0" fmla="*/ 0 w 621437"/>
              <a:gd name="connsiteY0" fmla="*/ 639192 h 1109708"/>
              <a:gd name="connsiteX1" fmla="*/ 26633 w 621437"/>
              <a:gd name="connsiteY1" fmla="*/ 585926 h 1109708"/>
              <a:gd name="connsiteX2" fmla="*/ 35511 w 621437"/>
              <a:gd name="connsiteY2" fmla="*/ 532660 h 1109708"/>
              <a:gd name="connsiteX3" fmla="*/ 44389 w 621437"/>
              <a:gd name="connsiteY3" fmla="*/ 506027 h 1109708"/>
              <a:gd name="connsiteX4" fmla="*/ 53266 w 621437"/>
              <a:gd name="connsiteY4" fmla="*/ 372862 h 1109708"/>
              <a:gd name="connsiteX5" fmla="*/ 71022 w 621437"/>
              <a:gd name="connsiteY5" fmla="*/ 310718 h 1109708"/>
              <a:gd name="connsiteX6" fmla="*/ 79899 w 621437"/>
              <a:gd name="connsiteY6" fmla="*/ 177553 h 1109708"/>
              <a:gd name="connsiteX7" fmla="*/ 106532 w 621437"/>
              <a:gd name="connsiteY7" fmla="*/ 88776 h 1109708"/>
              <a:gd name="connsiteX8" fmla="*/ 150921 w 621437"/>
              <a:gd name="connsiteY8" fmla="*/ 44388 h 1109708"/>
              <a:gd name="connsiteX9" fmla="*/ 213064 w 621437"/>
              <a:gd name="connsiteY9" fmla="*/ 8877 h 1109708"/>
              <a:gd name="connsiteX10" fmla="*/ 239697 w 621437"/>
              <a:gd name="connsiteY10" fmla="*/ 0 h 1109708"/>
              <a:gd name="connsiteX11" fmla="*/ 390618 w 621437"/>
              <a:gd name="connsiteY11" fmla="*/ 8877 h 1109708"/>
              <a:gd name="connsiteX12" fmla="*/ 452761 w 621437"/>
              <a:gd name="connsiteY12" fmla="*/ 35510 h 1109708"/>
              <a:gd name="connsiteX13" fmla="*/ 523783 w 621437"/>
              <a:gd name="connsiteY13" fmla="*/ 115409 h 1109708"/>
              <a:gd name="connsiteX14" fmla="*/ 550416 w 621437"/>
              <a:gd name="connsiteY14" fmla="*/ 168675 h 1109708"/>
              <a:gd name="connsiteX15" fmla="*/ 568171 w 621437"/>
              <a:gd name="connsiteY15" fmla="*/ 221942 h 1109708"/>
              <a:gd name="connsiteX16" fmla="*/ 577049 w 621437"/>
              <a:gd name="connsiteY16" fmla="*/ 248575 h 1109708"/>
              <a:gd name="connsiteX17" fmla="*/ 594804 w 621437"/>
              <a:gd name="connsiteY17" fmla="*/ 319596 h 1109708"/>
              <a:gd name="connsiteX18" fmla="*/ 603682 w 621437"/>
              <a:gd name="connsiteY18" fmla="*/ 443883 h 1109708"/>
              <a:gd name="connsiteX19" fmla="*/ 621437 w 621437"/>
              <a:gd name="connsiteY19" fmla="*/ 798990 h 1109708"/>
              <a:gd name="connsiteX20" fmla="*/ 612559 w 621437"/>
              <a:gd name="connsiteY20" fmla="*/ 1029809 h 1109708"/>
              <a:gd name="connsiteX21" fmla="*/ 603682 w 621437"/>
              <a:gd name="connsiteY21" fmla="*/ 1056442 h 1109708"/>
              <a:gd name="connsiteX22" fmla="*/ 612559 w 621437"/>
              <a:gd name="connsiteY22" fmla="*/ 1109708 h 1109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21437" h="1109708">
                <a:moveTo>
                  <a:pt x="0" y="639192"/>
                </a:moveTo>
                <a:cubicBezTo>
                  <a:pt x="8878" y="621437"/>
                  <a:pt x="20355" y="604758"/>
                  <a:pt x="26633" y="585926"/>
                </a:cubicBezTo>
                <a:cubicBezTo>
                  <a:pt x="32325" y="568849"/>
                  <a:pt x="31606" y="550232"/>
                  <a:pt x="35511" y="532660"/>
                </a:cubicBezTo>
                <a:cubicBezTo>
                  <a:pt x="37541" y="523525"/>
                  <a:pt x="41430" y="514905"/>
                  <a:pt x="44389" y="506027"/>
                </a:cubicBezTo>
                <a:cubicBezTo>
                  <a:pt x="47348" y="461639"/>
                  <a:pt x="48609" y="417104"/>
                  <a:pt x="53266" y="372862"/>
                </a:cubicBezTo>
                <a:cubicBezTo>
                  <a:pt x="54981" y="356570"/>
                  <a:pt x="65520" y="327223"/>
                  <a:pt x="71022" y="310718"/>
                </a:cubicBezTo>
                <a:cubicBezTo>
                  <a:pt x="73981" y="266330"/>
                  <a:pt x="75242" y="221795"/>
                  <a:pt x="79899" y="177553"/>
                </a:cubicBezTo>
                <a:cubicBezTo>
                  <a:pt x="81319" y="164064"/>
                  <a:pt x="103322" y="91986"/>
                  <a:pt x="106532" y="88776"/>
                </a:cubicBezTo>
                <a:cubicBezTo>
                  <a:pt x="121328" y="73980"/>
                  <a:pt x="133510" y="55995"/>
                  <a:pt x="150921" y="44388"/>
                </a:cubicBezTo>
                <a:cubicBezTo>
                  <a:pt x="177664" y="26560"/>
                  <a:pt x="181532" y="22391"/>
                  <a:pt x="213064" y="8877"/>
                </a:cubicBezTo>
                <a:cubicBezTo>
                  <a:pt x="221665" y="5191"/>
                  <a:pt x="230819" y="2959"/>
                  <a:pt x="239697" y="0"/>
                </a:cubicBezTo>
                <a:cubicBezTo>
                  <a:pt x="290004" y="2959"/>
                  <a:pt x="340451" y="4099"/>
                  <a:pt x="390618" y="8877"/>
                </a:cubicBezTo>
                <a:cubicBezTo>
                  <a:pt x="415757" y="11271"/>
                  <a:pt x="434098" y="18920"/>
                  <a:pt x="452761" y="35510"/>
                </a:cubicBezTo>
                <a:cubicBezTo>
                  <a:pt x="502514" y="79735"/>
                  <a:pt x="496797" y="74931"/>
                  <a:pt x="523783" y="115409"/>
                </a:cubicBezTo>
                <a:cubicBezTo>
                  <a:pt x="556155" y="212533"/>
                  <a:pt x="504527" y="65424"/>
                  <a:pt x="550416" y="168675"/>
                </a:cubicBezTo>
                <a:cubicBezTo>
                  <a:pt x="558017" y="185778"/>
                  <a:pt x="562253" y="204186"/>
                  <a:pt x="568171" y="221942"/>
                </a:cubicBezTo>
                <a:cubicBezTo>
                  <a:pt x="571130" y="230820"/>
                  <a:pt x="575214" y="239399"/>
                  <a:pt x="577049" y="248575"/>
                </a:cubicBezTo>
                <a:cubicBezTo>
                  <a:pt x="587761" y="302139"/>
                  <a:pt x="581154" y="278648"/>
                  <a:pt x="594804" y="319596"/>
                </a:cubicBezTo>
                <a:cubicBezTo>
                  <a:pt x="597763" y="361025"/>
                  <a:pt x="601555" y="402403"/>
                  <a:pt x="603682" y="443883"/>
                </a:cubicBezTo>
                <a:cubicBezTo>
                  <a:pt x="627361" y="905624"/>
                  <a:pt x="599808" y="474575"/>
                  <a:pt x="621437" y="798990"/>
                </a:cubicBezTo>
                <a:cubicBezTo>
                  <a:pt x="618478" y="875930"/>
                  <a:pt x="617856" y="952995"/>
                  <a:pt x="612559" y="1029809"/>
                </a:cubicBezTo>
                <a:cubicBezTo>
                  <a:pt x="611915" y="1039145"/>
                  <a:pt x="603682" y="1047084"/>
                  <a:pt x="603682" y="1056442"/>
                </a:cubicBezTo>
                <a:cubicBezTo>
                  <a:pt x="603682" y="1074442"/>
                  <a:pt x="612559" y="1109708"/>
                  <a:pt x="612559" y="1109708"/>
                </a:cubicBezTo>
              </a:path>
            </a:pathLst>
          </a:custGeom>
          <a:ln w="127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vert="horz" wrap="square" lIns="91440" tIns="45720" rIns="91440" bIns="45720" numCol="1" rtlCol="0" anchor="t" anchorCtr="0" compatLnSpc="1"/>
          <a:lstStyle/>
          <a:p>
            <a:pPr marL="342900" indent="-342900" eaLnBrk="1" hangingPunct="1">
              <a:spcBef>
                <a:spcPct val="20000"/>
              </a:spcBef>
              <a:buClr>
                <a:schemeClr val="hlink"/>
              </a:buClr>
              <a:buFont typeface="Wingdings" panose="05000000000000000000" pitchFamily="2" charset="2"/>
              <a:buChar char="v"/>
            </a:pPr>
            <a:endParaRPr lang="zh-CN" altLang="en-US" sz="1800">
              <a:latin typeface="Arial" panose="020B0604020202020204" pitchFamily="34" charset="0"/>
              <a:ea typeface="宋体" panose="02010600030101010101" pitchFamily="2" charset="-122"/>
            </a:endParaRPr>
          </a:p>
        </p:txBody>
      </p:sp>
      <p:sp>
        <p:nvSpPr>
          <p:cNvPr id="29" name="文本框 28"/>
          <p:cNvSpPr txBox="1"/>
          <p:nvPr/>
        </p:nvSpPr>
        <p:spPr>
          <a:xfrm>
            <a:off x="7076690" y="1297409"/>
            <a:ext cx="771823" cy="369332"/>
          </a:xfrm>
          <a:prstGeom prst="rect">
            <a:avLst/>
          </a:prstGeom>
          <a:noFill/>
        </p:spPr>
        <p:txBody>
          <a:bodyPr wrap="square" rtlCol="0">
            <a:spAutoFit/>
          </a:bodyPr>
          <a:lstStyle/>
          <a:p>
            <a:r>
              <a:rPr lang="zh-CN" altLang="en-US" sz="1800" dirty="0" smtClean="0">
                <a:latin typeface="华文楷体" panose="02010600040101010101" pitchFamily="2" charset="-122"/>
                <a:ea typeface="华文楷体" panose="02010600040101010101" pitchFamily="2" charset="-122"/>
              </a:rPr>
              <a:t>入栈</a:t>
            </a:r>
            <a:r>
              <a:rPr lang="en-US" altLang="zh-CN" sz="1800" dirty="0" smtClean="0">
                <a:latin typeface="华文楷体" panose="02010600040101010101" pitchFamily="2" charset="-122"/>
                <a:ea typeface="华文楷体" panose="02010600040101010101" pitchFamily="2" charset="-122"/>
              </a:rPr>
              <a:t>2</a:t>
            </a:r>
            <a:endParaRPr lang="zh-CN" altLang="en-US" sz="1800" dirty="0">
              <a:latin typeface="华文楷体" panose="02010600040101010101" pitchFamily="2" charset="-122"/>
              <a:ea typeface="华文楷体" panose="02010600040101010101" pitchFamily="2" charset="-122"/>
            </a:endParaRPr>
          </a:p>
        </p:txBody>
      </p:sp>
      <p:sp>
        <p:nvSpPr>
          <p:cNvPr id="30" name="文本框 29"/>
          <p:cNvSpPr txBox="1"/>
          <p:nvPr/>
        </p:nvSpPr>
        <p:spPr>
          <a:xfrm>
            <a:off x="8141778" y="2232062"/>
            <a:ext cx="1242444" cy="369332"/>
          </a:xfrm>
          <a:prstGeom prst="rect">
            <a:avLst/>
          </a:prstGeom>
          <a:noFill/>
        </p:spPr>
        <p:txBody>
          <a:bodyPr wrap="square" rtlCol="0">
            <a:spAutoFit/>
          </a:bodyPr>
          <a:lstStyle/>
          <a:p>
            <a:r>
              <a:rPr lang="zh-CN" altLang="en-US" sz="1800" dirty="0" smtClean="0">
                <a:latin typeface="华文楷体" panose="02010600040101010101" pitchFamily="2" charset="-122"/>
                <a:ea typeface="华文楷体" panose="02010600040101010101" pitchFamily="2" charset="-122"/>
              </a:rPr>
              <a:t>后序访问</a:t>
            </a:r>
            <a:endParaRPr lang="zh-CN" altLang="en-US" sz="1800" dirty="0">
              <a:latin typeface="华文楷体" panose="02010600040101010101" pitchFamily="2" charset="-122"/>
              <a:ea typeface="华文楷体" panose="02010600040101010101" pitchFamily="2" charset="-122"/>
            </a:endParaRPr>
          </a:p>
        </p:txBody>
      </p:sp>
      <p:sp>
        <p:nvSpPr>
          <p:cNvPr id="31" name="任意多边形 30"/>
          <p:cNvSpPr/>
          <p:nvPr/>
        </p:nvSpPr>
        <p:spPr bwMode="auto">
          <a:xfrm>
            <a:off x="8034291" y="1225118"/>
            <a:ext cx="834501" cy="1056443"/>
          </a:xfrm>
          <a:custGeom>
            <a:avLst/>
            <a:gdLst>
              <a:gd name="connsiteX0" fmla="*/ 35511 w 834501"/>
              <a:gd name="connsiteY0" fmla="*/ 559294 h 1056443"/>
              <a:gd name="connsiteX1" fmla="*/ 26633 w 834501"/>
              <a:gd name="connsiteY1" fmla="*/ 435006 h 1056443"/>
              <a:gd name="connsiteX2" fmla="*/ 17756 w 834501"/>
              <a:gd name="connsiteY2" fmla="*/ 399496 h 1056443"/>
              <a:gd name="connsiteX3" fmla="*/ 8878 w 834501"/>
              <a:gd name="connsiteY3" fmla="*/ 328474 h 1056443"/>
              <a:gd name="connsiteX4" fmla="*/ 0 w 834501"/>
              <a:gd name="connsiteY4" fmla="*/ 275208 h 1056443"/>
              <a:gd name="connsiteX5" fmla="*/ 8878 w 834501"/>
              <a:gd name="connsiteY5" fmla="*/ 124288 h 1056443"/>
              <a:gd name="connsiteX6" fmla="*/ 26633 w 834501"/>
              <a:gd name="connsiteY6" fmla="*/ 71022 h 1056443"/>
              <a:gd name="connsiteX7" fmla="*/ 44389 w 834501"/>
              <a:gd name="connsiteY7" fmla="*/ 53266 h 1056443"/>
              <a:gd name="connsiteX8" fmla="*/ 53266 w 834501"/>
              <a:gd name="connsiteY8" fmla="*/ 26633 h 1056443"/>
              <a:gd name="connsiteX9" fmla="*/ 186431 w 834501"/>
              <a:gd name="connsiteY9" fmla="*/ 0 h 1056443"/>
              <a:gd name="connsiteX10" fmla="*/ 381740 w 834501"/>
              <a:gd name="connsiteY10" fmla="*/ 8878 h 1056443"/>
              <a:gd name="connsiteX11" fmla="*/ 461639 w 834501"/>
              <a:gd name="connsiteY11" fmla="*/ 53266 h 1056443"/>
              <a:gd name="connsiteX12" fmla="*/ 497150 w 834501"/>
              <a:gd name="connsiteY12" fmla="*/ 88777 h 1056443"/>
              <a:gd name="connsiteX13" fmla="*/ 550416 w 834501"/>
              <a:gd name="connsiteY13" fmla="*/ 115410 h 1056443"/>
              <a:gd name="connsiteX14" fmla="*/ 568171 w 834501"/>
              <a:gd name="connsiteY14" fmla="*/ 142043 h 1056443"/>
              <a:gd name="connsiteX15" fmla="*/ 585926 w 834501"/>
              <a:gd name="connsiteY15" fmla="*/ 159799 h 1056443"/>
              <a:gd name="connsiteX16" fmla="*/ 594804 w 834501"/>
              <a:gd name="connsiteY16" fmla="*/ 186432 h 1056443"/>
              <a:gd name="connsiteX17" fmla="*/ 621437 w 834501"/>
              <a:gd name="connsiteY17" fmla="*/ 213065 h 1056443"/>
              <a:gd name="connsiteX18" fmla="*/ 656948 w 834501"/>
              <a:gd name="connsiteY18" fmla="*/ 266331 h 1056443"/>
              <a:gd name="connsiteX19" fmla="*/ 674703 w 834501"/>
              <a:gd name="connsiteY19" fmla="*/ 292964 h 1056443"/>
              <a:gd name="connsiteX20" fmla="*/ 701336 w 834501"/>
              <a:gd name="connsiteY20" fmla="*/ 346230 h 1056443"/>
              <a:gd name="connsiteX21" fmla="*/ 710214 w 834501"/>
              <a:gd name="connsiteY21" fmla="*/ 372863 h 1056443"/>
              <a:gd name="connsiteX22" fmla="*/ 727969 w 834501"/>
              <a:gd name="connsiteY22" fmla="*/ 399496 h 1056443"/>
              <a:gd name="connsiteX23" fmla="*/ 745725 w 834501"/>
              <a:gd name="connsiteY23" fmla="*/ 452762 h 1056443"/>
              <a:gd name="connsiteX24" fmla="*/ 772358 w 834501"/>
              <a:gd name="connsiteY24" fmla="*/ 532661 h 1056443"/>
              <a:gd name="connsiteX25" fmla="*/ 781235 w 834501"/>
              <a:gd name="connsiteY25" fmla="*/ 559294 h 1056443"/>
              <a:gd name="connsiteX26" fmla="*/ 790113 w 834501"/>
              <a:gd name="connsiteY26" fmla="*/ 612560 h 1056443"/>
              <a:gd name="connsiteX27" fmla="*/ 807868 w 834501"/>
              <a:gd name="connsiteY27" fmla="*/ 692459 h 1056443"/>
              <a:gd name="connsiteX28" fmla="*/ 816746 w 834501"/>
              <a:gd name="connsiteY28" fmla="*/ 772358 h 1056443"/>
              <a:gd name="connsiteX29" fmla="*/ 834501 w 834501"/>
              <a:gd name="connsiteY29" fmla="*/ 896645 h 1056443"/>
              <a:gd name="connsiteX30" fmla="*/ 825624 w 834501"/>
              <a:gd name="connsiteY30" fmla="*/ 1056443 h 1056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34501" h="1056443">
                <a:moveTo>
                  <a:pt x="35511" y="559294"/>
                </a:moveTo>
                <a:cubicBezTo>
                  <a:pt x="32552" y="517865"/>
                  <a:pt x="31220" y="476287"/>
                  <a:pt x="26633" y="435006"/>
                </a:cubicBezTo>
                <a:cubicBezTo>
                  <a:pt x="25286" y="422880"/>
                  <a:pt x="19762" y="411531"/>
                  <a:pt x="17756" y="399496"/>
                </a:cubicBezTo>
                <a:cubicBezTo>
                  <a:pt x="13834" y="375962"/>
                  <a:pt x="12252" y="352092"/>
                  <a:pt x="8878" y="328474"/>
                </a:cubicBezTo>
                <a:cubicBezTo>
                  <a:pt x="6332" y="310655"/>
                  <a:pt x="2959" y="292963"/>
                  <a:pt x="0" y="275208"/>
                </a:cubicBezTo>
                <a:cubicBezTo>
                  <a:pt x="2959" y="224901"/>
                  <a:pt x="2360" y="174258"/>
                  <a:pt x="8878" y="124288"/>
                </a:cubicBezTo>
                <a:cubicBezTo>
                  <a:pt x="11299" y="105729"/>
                  <a:pt x="13399" y="84256"/>
                  <a:pt x="26633" y="71022"/>
                </a:cubicBezTo>
                <a:lnTo>
                  <a:pt x="44389" y="53266"/>
                </a:lnTo>
                <a:cubicBezTo>
                  <a:pt x="47348" y="44388"/>
                  <a:pt x="45651" y="32072"/>
                  <a:pt x="53266" y="26633"/>
                </a:cubicBezTo>
                <a:cubicBezTo>
                  <a:pt x="82255" y="5927"/>
                  <a:pt x="159089" y="3038"/>
                  <a:pt x="186431" y="0"/>
                </a:cubicBezTo>
                <a:cubicBezTo>
                  <a:pt x="251534" y="2959"/>
                  <a:pt x="316777" y="3681"/>
                  <a:pt x="381740" y="8878"/>
                </a:cubicBezTo>
                <a:cubicBezTo>
                  <a:pt x="406007" y="10819"/>
                  <a:pt x="452144" y="43771"/>
                  <a:pt x="461639" y="53266"/>
                </a:cubicBezTo>
                <a:cubicBezTo>
                  <a:pt x="473476" y="65103"/>
                  <a:pt x="481269" y="83483"/>
                  <a:pt x="497150" y="88777"/>
                </a:cubicBezTo>
                <a:cubicBezTo>
                  <a:pt x="533905" y="101029"/>
                  <a:pt x="515997" y="92464"/>
                  <a:pt x="550416" y="115410"/>
                </a:cubicBezTo>
                <a:cubicBezTo>
                  <a:pt x="556334" y="124288"/>
                  <a:pt x="561506" y="133711"/>
                  <a:pt x="568171" y="142043"/>
                </a:cubicBezTo>
                <a:cubicBezTo>
                  <a:pt x="573400" y="148579"/>
                  <a:pt x="581620" y="152622"/>
                  <a:pt x="585926" y="159799"/>
                </a:cubicBezTo>
                <a:cubicBezTo>
                  <a:pt x="590741" y="167823"/>
                  <a:pt x="589613" y="178646"/>
                  <a:pt x="594804" y="186432"/>
                </a:cubicBezTo>
                <a:cubicBezTo>
                  <a:pt x="601768" y="196878"/>
                  <a:pt x="613729" y="203155"/>
                  <a:pt x="621437" y="213065"/>
                </a:cubicBezTo>
                <a:cubicBezTo>
                  <a:pt x="634538" y="229909"/>
                  <a:pt x="645111" y="248576"/>
                  <a:pt x="656948" y="266331"/>
                </a:cubicBezTo>
                <a:cubicBezTo>
                  <a:pt x="662866" y="275209"/>
                  <a:pt x="671329" y="282842"/>
                  <a:pt x="674703" y="292964"/>
                </a:cubicBezTo>
                <a:cubicBezTo>
                  <a:pt x="697018" y="359907"/>
                  <a:pt x="666917" y="277391"/>
                  <a:pt x="701336" y="346230"/>
                </a:cubicBezTo>
                <a:cubicBezTo>
                  <a:pt x="705521" y="354600"/>
                  <a:pt x="706029" y="364493"/>
                  <a:pt x="710214" y="372863"/>
                </a:cubicBezTo>
                <a:cubicBezTo>
                  <a:pt x="714986" y="382406"/>
                  <a:pt x="723636" y="389746"/>
                  <a:pt x="727969" y="399496"/>
                </a:cubicBezTo>
                <a:cubicBezTo>
                  <a:pt x="735570" y="416599"/>
                  <a:pt x="739807" y="435007"/>
                  <a:pt x="745725" y="452762"/>
                </a:cubicBezTo>
                <a:lnTo>
                  <a:pt x="772358" y="532661"/>
                </a:lnTo>
                <a:cubicBezTo>
                  <a:pt x="775317" y="541539"/>
                  <a:pt x="779697" y="550064"/>
                  <a:pt x="781235" y="559294"/>
                </a:cubicBezTo>
                <a:cubicBezTo>
                  <a:pt x="784194" y="577049"/>
                  <a:pt x="786583" y="594909"/>
                  <a:pt x="790113" y="612560"/>
                </a:cubicBezTo>
                <a:cubicBezTo>
                  <a:pt x="799809" y="661039"/>
                  <a:pt x="800113" y="638171"/>
                  <a:pt x="807868" y="692459"/>
                </a:cubicBezTo>
                <a:cubicBezTo>
                  <a:pt x="811658" y="718987"/>
                  <a:pt x="813280" y="745786"/>
                  <a:pt x="816746" y="772358"/>
                </a:cubicBezTo>
                <a:cubicBezTo>
                  <a:pt x="822159" y="813856"/>
                  <a:pt x="834501" y="896645"/>
                  <a:pt x="834501" y="896645"/>
                </a:cubicBezTo>
                <a:lnTo>
                  <a:pt x="825624" y="1056443"/>
                </a:lnTo>
              </a:path>
            </a:pathLst>
          </a:custGeom>
          <a:ln w="127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vert="horz" wrap="square" lIns="91440" tIns="45720" rIns="91440" bIns="45720" numCol="1" rtlCol="0" anchor="t" anchorCtr="0" compatLnSpc="1"/>
          <a:lstStyle/>
          <a:p>
            <a:pPr marL="342900" indent="-342900" eaLnBrk="1" hangingPunct="1">
              <a:spcBef>
                <a:spcPct val="20000"/>
              </a:spcBef>
              <a:buClr>
                <a:schemeClr val="hlink"/>
              </a:buClr>
              <a:buFont typeface="Wingdings" panose="05000000000000000000" pitchFamily="2" charset="2"/>
              <a:buChar char="v"/>
            </a:pPr>
            <a:endParaRPr lang="zh-CN" altLang="en-US" sz="1800">
              <a:latin typeface="Arial" panose="020B0604020202020204" pitchFamily="34" charset="0"/>
              <a:ea typeface="宋体" panose="02010600030101010101" pitchFamily="2" charset="-122"/>
            </a:endParaRPr>
          </a:p>
        </p:txBody>
      </p:sp>
      <p:sp>
        <p:nvSpPr>
          <p:cNvPr id="32" name="文本框 31"/>
          <p:cNvSpPr txBox="1"/>
          <p:nvPr/>
        </p:nvSpPr>
        <p:spPr>
          <a:xfrm>
            <a:off x="8296891" y="1338337"/>
            <a:ext cx="847109" cy="369332"/>
          </a:xfrm>
          <a:prstGeom prst="rect">
            <a:avLst/>
          </a:prstGeom>
          <a:noFill/>
        </p:spPr>
        <p:txBody>
          <a:bodyPr wrap="square" rtlCol="0">
            <a:spAutoFit/>
          </a:bodyPr>
          <a:lstStyle/>
          <a:p>
            <a:r>
              <a:rPr lang="zh-CN" altLang="en-US" sz="1800" dirty="0" smtClean="0">
                <a:latin typeface="华文楷体" panose="02010600040101010101" pitchFamily="2" charset="-122"/>
                <a:ea typeface="华文楷体" panose="02010600040101010101" pitchFamily="2" charset="-122"/>
              </a:rPr>
              <a:t>出栈</a:t>
            </a:r>
            <a:r>
              <a:rPr lang="en-US" altLang="zh-CN" sz="1800" dirty="0" smtClean="0">
                <a:latin typeface="华文楷体" panose="02010600040101010101" pitchFamily="2" charset="-122"/>
                <a:ea typeface="华文楷体" panose="02010600040101010101" pitchFamily="2" charset="-122"/>
              </a:rPr>
              <a:t>2</a:t>
            </a:r>
            <a:endParaRPr lang="zh-CN" altLang="en-US" sz="1800" dirty="0">
              <a:latin typeface="华文楷体" panose="02010600040101010101" pitchFamily="2" charset="-122"/>
              <a:ea typeface="华文楷体" panose="02010600040101010101" pitchFamily="2" charset="-122"/>
            </a:endParaRPr>
          </a:p>
        </p:txBody>
      </p:sp>
      <p:sp>
        <p:nvSpPr>
          <p:cNvPr id="33" name="文本框 32"/>
          <p:cNvSpPr txBox="1"/>
          <p:nvPr/>
        </p:nvSpPr>
        <p:spPr>
          <a:xfrm>
            <a:off x="5591300" y="3664970"/>
            <a:ext cx="2362138" cy="1077218"/>
          </a:xfrm>
          <a:prstGeom prst="rect">
            <a:avLst/>
          </a:prstGeom>
          <a:noFill/>
          <a:ln>
            <a:solidFill>
              <a:schemeClr val="accent1"/>
            </a:solidFill>
          </a:ln>
        </p:spPr>
        <p:txBody>
          <a:bodyPr wrap="square" rtlCol="0">
            <a:spAutoFit/>
          </a:bodyPr>
          <a:lstStyle/>
          <a:p>
            <a:r>
              <a:rPr lang="zh-CN" altLang="en-US" sz="1600" dirty="0" smtClean="0">
                <a:latin typeface="华文楷体" panose="02010600040101010101" pitchFamily="2" charset="-122"/>
                <a:ea typeface="华文楷体" panose="02010600040101010101" pitchFamily="2" charset="-122"/>
              </a:rPr>
              <a:t>入栈</a:t>
            </a:r>
            <a:r>
              <a:rPr lang="en-US" altLang="zh-CN" sz="1600" dirty="0" smtClean="0">
                <a:latin typeface="华文楷体" panose="02010600040101010101" pitchFamily="2" charset="-122"/>
                <a:ea typeface="华文楷体" panose="02010600040101010101" pitchFamily="2" charset="-122"/>
              </a:rPr>
              <a:t>1</a:t>
            </a:r>
            <a:r>
              <a:rPr lang="zh-CN" altLang="en-US" sz="1600" dirty="0" smtClean="0">
                <a:latin typeface="华文楷体" panose="02010600040101010101" pitchFamily="2" charset="-122"/>
                <a:ea typeface="华文楷体" panose="02010600040101010101" pitchFamily="2" charset="-122"/>
              </a:rPr>
              <a:t>的顺序为先序序列</a:t>
            </a:r>
            <a:endParaRPr lang="en-US" altLang="zh-CN" sz="1600" dirty="0" smtClean="0">
              <a:latin typeface="华文楷体" panose="02010600040101010101" pitchFamily="2" charset="-122"/>
              <a:ea typeface="华文楷体" panose="02010600040101010101" pitchFamily="2" charset="-122"/>
            </a:endParaRPr>
          </a:p>
          <a:p>
            <a:r>
              <a:rPr lang="zh-CN" altLang="en-US" sz="1600" dirty="0">
                <a:latin typeface="华文楷体" panose="02010600040101010101" pitchFamily="2" charset="-122"/>
                <a:ea typeface="华文楷体" panose="02010600040101010101" pitchFamily="2" charset="-122"/>
              </a:rPr>
              <a:t>出</a:t>
            </a:r>
            <a:r>
              <a:rPr lang="zh-CN" altLang="en-US" sz="1600" dirty="0" smtClean="0">
                <a:latin typeface="华文楷体" panose="02010600040101010101" pitchFamily="2" charset="-122"/>
                <a:ea typeface="华文楷体" panose="02010600040101010101" pitchFamily="2" charset="-122"/>
              </a:rPr>
              <a:t>栈</a:t>
            </a:r>
            <a:r>
              <a:rPr lang="en-US" altLang="zh-CN" sz="1600" dirty="0" smtClean="0">
                <a:latin typeface="华文楷体" panose="02010600040101010101" pitchFamily="2" charset="-122"/>
                <a:ea typeface="华文楷体" panose="02010600040101010101" pitchFamily="2" charset="-122"/>
              </a:rPr>
              <a:t>1</a:t>
            </a:r>
            <a:r>
              <a:rPr lang="zh-CN" altLang="en-US" sz="1600" dirty="0" smtClean="0">
                <a:latin typeface="华文楷体" panose="02010600040101010101" pitchFamily="2" charset="-122"/>
                <a:ea typeface="华文楷体" panose="02010600040101010101" pitchFamily="2" charset="-122"/>
              </a:rPr>
              <a:t>的顺序为中序序列</a:t>
            </a:r>
            <a:endParaRPr lang="en-US" altLang="zh-CN" sz="1600" dirty="0" smtClean="0">
              <a:latin typeface="华文楷体" panose="02010600040101010101" pitchFamily="2" charset="-122"/>
              <a:ea typeface="华文楷体" panose="02010600040101010101" pitchFamily="2" charset="-122"/>
            </a:endParaRPr>
          </a:p>
          <a:p>
            <a:r>
              <a:rPr lang="zh-CN" altLang="en-US" sz="1600" dirty="0" smtClean="0">
                <a:latin typeface="华文楷体" panose="02010600040101010101" pitchFamily="2" charset="-122"/>
                <a:ea typeface="华文楷体" panose="02010600040101010101" pitchFamily="2" charset="-122"/>
              </a:rPr>
              <a:t>入栈</a:t>
            </a:r>
            <a:r>
              <a:rPr lang="en-US" altLang="zh-CN" sz="1600" dirty="0" smtClean="0">
                <a:latin typeface="华文楷体" panose="02010600040101010101" pitchFamily="2" charset="-122"/>
                <a:ea typeface="华文楷体" panose="02010600040101010101" pitchFamily="2" charset="-122"/>
              </a:rPr>
              <a:t>2</a:t>
            </a:r>
            <a:r>
              <a:rPr lang="zh-CN" altLang="en-US" sz="1600" dirty="0" smtClean="0">
                <a:latin typeface="华文楷体" panose="02010600040101010101" pitchFamily="2" charset="-122"/>
                <a:ea typeface="华文楷体" panose="02010600040101010101" pitchFamily="2" charset="-122"/>
              </a:rPr>
              <a:t>的顺序为中序序列</a:t>
            </a:r>
            <a:endParaRPr lang="en-US" altLang="zh-CN" sz="1600" dirty="0" smtClean="0">
              <a:latin typeface="华文楷体" panose="02010600040101010101" pitchFamily="2" charset="-122"/>
              <a:ea typeface="华文楷体" panose="02010600040101010101" pitchFamily="2" charset="-122"/>
            </a:endParaRPr>
          </a:p>
          <a:p>
            <a:r>
              <a:rPr lang="zh-CN" altLang="en-US" sz="1600" dirty="0">
                <a:latin typeface="华文楷体" panose="02010600040101010101" pitchFamily="2" charset="-122"/>
                <a:ea typeface="华文楷体" panose="02010600040101010101" pitchFamily="2" charset="-122"/>
              </a:rPr>
              <a:t>出</a:t>
            </a:r>
            <a:r>
              <a:rPr lang="zh-CN" altLang="en-US" sz="1600" dirty="0" smtClean="0">
                <a:latin typeface="华文楷体" panose="02010600040101010101" pitchFamily="2" charset="-122"/>
                <a:ea typeface="华文楷体" panose="02010600040101010101" pitchFamily="2" charset="-122"/>
              </a:rPr>
              <a:t>栈</a:t>
            </a:r>
            <a:r>
              <a:rPr lang="en-US" altLang="zh-CN" sz="1600" dirty="0" smtClean="0">
                <a:latin typeface="华文楷体" panose="02010600040101010101" pitchFamily="2" charset="-122"/>
                <a:ea typeface="华文楷体" panose="02010600040101010101" pitchFamily="2" charset="-122"/>
              </a:rPr>
              <a:t>2</a:t>
            </a:r>
            <a:r>
              <a:rPr lang="zh-CN" altLang="en-US" sz="1600" dirty="0" smtClean="0">
                <a:latin typeface="华文楷体" panose="02010600040101010101" pitchFamily="2" charset="-122"/>
                <a:ea typeface="华文楷体" panose="02010600040101010101" pitchFamily="2" charset="-122"/>
              </a:rPr>
              <a:t>的顺序为</a:t>
            </a:r>
            <a:r>
              <a:rPr lang="zh-CN" altLang="en-US" sz="1600" dirty="0">
                <a:latin typeface="华文楷体" panose="02010600040101010101" pitchFamily="2" charset="-122"/>
                <a:ea typeface="华文楷体" panose="02010600040101010101" pitchFamily="2" charset="-122"/>
              </a:rPr>
              <a:t>后序</a:t>
            </a:r>
            <a:r>
              <a:rPr lang="zh-CN" altLang="en-US" sz="1600" dirty="0" smtClean="0">
                <a:latin typeface="华文楷体" panose="02010600040101010101" pitchFamily="2" charset="-122"/>
                <a:ea typeface="华文楷体" panose="02010600040101010101" pitchFamily="2" charset="-122"/>
              </a:rPr>
              <a:t>序列</a:t>
            </a:r>
            <a:endParaRPr lang="en-US" altLang="zh-CN" sz="1600" dirty="0">
              <a:latin typeface="华文楷体" panose="02010600040101010101" pitchFamily="2" charset="-122"/>
              <a:ea typeface="华文楷体" panose="02010600040101010101" pitchFamily="2" charset="-122"/>
            </a:endParaRPr>
          </a:p>
        </p:txBody>
      </p:sp>
      <p:sp>
        <p:nvSpPr>
          <p:cNvPr id="34" name="文本框 33"/>
          <p:cNvSpPr txBox="1"/>
          <p:nvPr/>
        </p:nvSpPr>
        <p:spPr>
          <a:xfrm>
            <a:off x="156579" y="4773607"/>
            <a:ext cx="8339781" cy="2031325"/>
          </a:xfrm>
          <a:prstGeom prst="rect">
            <a:avLst/>
          </a:prstGeom>
          <a:noFill/>
          <a:ln>
            <a:solidFill>
              <a:srgbClr val="FF0000"/>
            </a:solidFill>
          </a:ln>
        </p:spPr>
        <p:txBody>
          <a:bodyPr wrap="square" rtlCol="0">
            <a:spAutoFit/>
          </a:bodyPr>
          <a:lstStyle/>
          <a:p>
            <a:r>
              <a:rPr lang="zh-CN" altLang="en-US" sz="1800" b="1" dirty="0">
                <a:solidFill>
                  <a:srgbClr val="FF0000"/>
                </a:solidFill>
                <a:latin typeface="华文楷体" panose="02010600040101010101" pitchFamily="2" charset="-122"/>
                <a:ea typeface="华文楷体" panose="02010600040101010101" pitchFamily="2" charset="-122"/>
              </a:rPr>
              <a:t>重要</a:t>
            </a:r>
            <a:r>
              <a:rPr lang="zh-CN" altLang="en-US" sz="1800" b="1" dirty="0" smtClean="0">
                <a:solidFill>
                  <a:srgbClr val="FF0000"/>
                </a:solidFill>
                <a:latin typeface="华文楷体" panose="02010600040101010101" pitchFamily="2" charset="-122"/>
                <a:ea typeface="华文楷体" panose="02010600040101010101" pitchFamily="2" charset="-122"/>
              </a:rPr>
              <a:t>结论 树的计数</a:t>
            </a:r>
            <a:endParaRPr lang="en-US" altLang="zh-CN" sz="1800" dirty="0" smtClean="0">
              <a:latin typeface="华文楷体" panose="02010600040101010101" pitchFamily="2" charset="-122"/>
              <a:ea typeface="华文楷体" panose="02010600040101010101" pitchFamily="2" charset="-122"/>
            </a:endParaRPr>
          </a:p>
          <a:p>
            <a:r>
              <a:rPr lang="en-US" altLang="zh-CN" sz="1800" dirty="0" smtClean="0">
                <a:latin typeface="华文楷体" panose="02010600040101010101" pitchFamily="2" charset="-122"/>
                <a:ea typeface="华文楷体" panose="02010600040101010101" pitchFamily="2" charset="-122"/>
              </a:rPr>
              <a:t>①</a:t>
            </a:r>
            <a:r>
              <a:rPr lang="zh-CN" altLang="en-US" sz="1800" dirty="0" smtClean="0">
                <a:latin typeface="华文楷体" panose="02010600040101010101" pitchFamily="2" charset="-122"/>
                <a:ea typeface="华文楷体" panose="02010600040101010101" pitchFamily="2" charset="-122"/>
              </a:rPr>
              <a:t>若把</a:t>
            </a:r>
            <a:r>
              <a:rPr lang="zh-CN" altLang="en-US" sz="1800" b="1" dirty="0" smtClean="0">
                <a:solidFill>
                  <a:srgbClr val="FF0000"/>
                </a:solidFill>
                <a:latin typeface="华文楷体" panose="02010600040101010101" pitchFamily="2" charset="-122"/>
                <a:ea typeface="华文楷体" panose="02010600040101010101" pitchFamily="2" charset="-122"/>
              </a:rPr>
              <a:t>先</a:t>
            </a:r>
            <a:r>
              <a:rPr lang="zh-CN" altLang="en-US" sz="1800" dirty="0" smtClean="0">
                <a:latin typeface="华文楷体" panose="02010600040101010101" pitchFamily="2" charset="-122"/>
                <a:ea typeface="华文楷体" panose="02010600040101010101" pitchFamily="2" charset="-122"/>
              </a:rPr>
              <a:t>序序列看成入栈序列，则</a:t>
            </a:r>
            <a:r>
              <a:rPr lang="zh-CN" altLang="en-US" sz="1800" b="1" dirty="0" smtClean="0">
                <a:solidFill>
                  <a:srgbClr val="FF0000"/>
                </a:solidFill>
                <a:latin typeface="华文楷体" panose="02010600040101010101" pitchFamily="2" charset="-122"/>
                <a:ea typeface="华文楷体" panose="02010600040101010101" pitchFamily="2" charset="-122"/>
              </a:rPr>
              <a:t>中</a:t>
            </a:r>
            <a:r>
              <a:rPr lang="zh-CN" altLang="en-US" sz="1800" dirty="0" smtClean="0">
                <a:latin typeface="华文楷体" panose="02010600040101010101" pitchFamily="2" charset="-122"/>
                <a:ea typeface="华文楷体" panose="02010600040101010101" pitchFamily="2" charset="-122"/>
              </a:rPr>
              <a:t>序序列对应着合法的出栈序列。</a:t>
            </a:r>
            <a:endParaRPr lang="en-US" altLang="zh-CN" sz="1800" dirty="0" smtClean="0">
              <a:latin typeface="华文楷体" panose="02010600040101010101" pitchFamily="2" charset="-122"/>
              <a:ea typeface="华文楷体" panose="02010600040101010101" pitchFamily="2" charset="-122"/>
            </a:endParaRPr>
          </a:p>
          <a:p>
            <a:r>
              <a:rPr lang="zh-CN" altLang="en-US" sz="1800" dirty="0" smtClean="0">
                <a:latin typeface="华文楷体" panose="02010600040101010101" pitchFamily="2" charset="-122"/>
                <a:ea typeface="华文楷体" panose="02010600040101010101" pitchFamily="2" charset="-122"/>
              </a:rPr>
              <a:t>②若把</a:t>
            </a:r>
            <a:r>
              <a:rPr lang="zh-CN" altLang="en-US" sz="1800" b="1" dirty="0" smtClean="0">
                <a:solidFill>
                  <a:srgbClr val="FF0000"/>
                </a:solidFill>
                <a:latin typeface="华文楷体" panose="02010600040101010101" pitchFamily="2" charset="-122"/>
                <a:ea typeface="华文楷体" panose="02010600040101010101" pitchFamily="2" charset="-122"/>
              </a:rPr>
              <a:t>中</a:t>
            </a:r>
            <a:r>
              <a:rPr lang="zh-CN" altLang="en-US" sz="1800" dirty="0" smtClean="0">
                <a:latin typeface="华文楷体" panose="02010600040101010101" pitchFamily="2" charset="-122"/>
                <a:ea typeface="华文楷体" panose="02010600040101010101" pitchFamily="2" charset="-122"/>
              </a:rPr>
              <a:t>序</a:t>
            </a:r>
            <a:r>
              <a:rPr lang="zh-CN" altLang="en-US" sz="1800" dirty="0">
                <a:latin typeface="华文楷体" panose="02010600040101010101" pitchFamily="2" charset="-122"/>
                <a:ea typeface="华文楷体" panose="02010600040101010101" pitchFamily="2" charset="-122"/>
              </a:rPr>
              <a:t>序列看成入栈序列，</a:t>
            </a:r>
            <a:r>
              <a:rPr lang="zh-CN" altLang="en-US" sz="1800" dirty="0" smtClean="0">
                <a:latin typeface="华文楷体" panose="02010600040101010101" pitchFamily="2" charset="-122"/>
                <a:ea typeface="华文楷体" panose="02010600040101010101" pitchFamily="2" charset="-122"/>
              </a:rPr>
              <a:t>则</a:t>
            </a:r>
            <a:r>
              <a:rPr lang="zh-CN" altLang="en-US" sz="1800" b="1" dirty="0" smtClean="0">
                <a:solidFill>
                  <a:srgbClr val="FF0000"/>
                </a:solidFill>
                <a:latin typeface="华文楷体" panose="02010600040101010101" pitchFamily="2" charset="-122"/>
                <a:ea typeface="华文楷体" panose="02010600040101010101" pitchFamily="2" charset="-122"/>
              </a:rPr>
              <a:t>后</a:t>
            </a:r>
            <a:r>
              <a:rPr lang="zh-CN" altLang="en-US" sz="1800" dirty="0" smtClean="0">
                <a:latin typeface="华文楷体" panose="02010600040101010101" pitchFamily="2" charset="-122"/>
                <a:ea typeface="华文楷体" panose="02010600040101010101" pitchFamily="2" charset="-122"/>
              </a:rPr>
              <a:t>序序列</a:t>
            </a:r>
            <a:r>
              <a:rPr lang="zh-CN" altLang="en-US" sz="1800" dirty="0">
                <a:latin typeface="华文楷体" panose="02010600040101010101" pitchFamily="2" charset="-122"/>
                <a:ea typeface="华文楷体" panose="02010600040101010101" pitchFamily="2" charset="-122"/>
              </a:rPr>
              <a:t>对应着</a:t>
            </a:r>
            <a:r>
              <a:rPr lang="zh-CN" altLang="en-US" sz="1800" dirty="0" smtClean="0">
                <a:latin typeface="华文楷体" panose="02010600040101010101" pitchFamily="2" charset="-122"/>
                <a:ea typeface="华文楷体" panose="02010600040101010101" pitchFamily="2" charset="-122"/>
              </a:rPr>
              <a:t>合法</a:t>
            </a:r>
            <a:r>
              <a:rPr lang="zh-CN" altLang="en-US" sz="1800" dirty="0">
                <a:latin typeface="华文楷体" panose="02010600040101010101" pitchFamily="2" charset="-122"/>
                <a:ea typeface="华文楷体" panose="02010600040101010101" pitchFamily="2" charset="-122"/>
              </a:rPr>
              <a:t>的</a:t>
            </a:r>
            <a:r>
              <a:rPr lang="zh-CN" altLang="en-US" sz="1800" dirty="0" smtClean="0">
                <a:latin typeface="华文楷体" panose="02010600040101010101" pitchFamily="2" charset="-122"/>
                <a:ea typeface="华文楷体" panose="02010600040101010101" pitchFamily="2" charset="-122"/>
              </a:rPr>
              <a:t>出</a:t>
            </a:r>
            <a:r>
              <a:rPr lang="zh-CN" altLang="en-US" sz="1800" dirty="0">
                <a:latin typeface="华文楷体" panose="02010600040101010101" pitchFamily="2" charset="-122"/>
                <a:ea typeface="华文楷体" panose="02010600040101010101" pitchFamily="2" charset="-122"/>
              </a:rPr>
              <a:t>栈序列</a:t>
            </a:r>
            <a:r>
              <a:rPr lang="zh-CN" altLang="en-US" sz="1800" dirty="0" smtClean="0">
                <a:latin typeface="华文楷体" panose="02010600040101010101" pitchFamily="2" charset="-122"/>
                <a:ea typeface="华文楷体" panose="02010600040101010101" pitchFamily="2" charset="-122"/>
              </a:rPr>
              <a:t>。</a:t>
            </a:r>
            <a:endParaRPr lang="en-US" altLang="zh-CN" sz="1800" dirty="0" smtClean="0">
              <a:latin typeface="华文楷体" panose="02010600040101010101" pitchFamily="2" charset="-122"/>
              <a:ea typeface="华文楷体" panose="02010600040101010101" pitchFamily="2" charset="-122"/>
            </a:endParaRPr>
          </a:p>
          <a:p>
            <a:r>
              <a:rPr lang="zh-CN" altLang="zh-CN" sz="1800" dirty="0" smtClean="0">
                <a:latin typeface="华文楷体" panose="02010600040101010101" pitchFamily="2" charset="-122"/>
                <a:ea typeface="华文楷体" panose="02010600040101010101" pitchFamily="2" charset="-122"/>
              </a:rPr>
              <a:t>③</a:t>
            </a:r>
            <a:r>
              <a:rPr lang="zh-CN" altLang="en-US" sz="1800" dirty="0" smtClean="0">
                <a:latin typeface="华文楷体" panose="02010600040101010101" pitchFamily="2" charset="-122"/>
                <a:ea typeface="华文楷体" panose="02010600040101010101" pitchFamily="2" charset="-122"/>
              </a:rPr>
              <a:t>若已知含</a:t>
            </a:r>
            <a:r>
              <a:rPr lang="en-US" altLang="zh-CN" sz="1800" dirty="0" smtClean="0">
                <a:latin typeface="华文楷体" panose="02010600040101010101" pitchFamily="2" charset="-122"/>
                <a:ea typeface="华文楷体" panose="02010600040101010101" pitchFamily="2" charset="-122"/>
              </a:rPr>
              <a:t>n</a:t>
            </a:r>
            <a:r>
              <a:rPr lang="zh-CN" altLang="en-US" sz="1800" dirty="0" smtClean="0">
                <a:latin typeface="华文楷体" panose="02010600040101010101" pitchFamily="2" charset="-122"/>
                <a:ea typeface="华文楷体" panose="02010600040101010101" pitchFamily="2" charset="-122"/>
              </a:rPr>
              <a:t>个结点的二叉树的先序序列，则可能的中序序列有</a:t>
            </a:r>
            <a:r>
              <a:rPr lang="en-US" altLang="zh-CN" sz="1800" dirty="0">
                <a:latin typeface="华文楷体" panose="02010600040101010101" pitchFamily="2" charset="-122"/>
                <a:ea typeface="华文楷体" panose="02010600040101010101" pitchFamily="2" charset="-122"/>
              </a:rPr>
              <a:t>(2n)!/[(n+1)!n!] </a:t>
            </a:r>
            <a:r>
              <a:rPr lang="zh-CN" altLang="en-US" sz="1800" dirty="0" smtClean="0">
                <a:latin typeface="华文楷体" panose="02010600040101010101" pitchFamily="2" charset="-122"/>
                <a:ea typeface="华文楷体" panose="02010600040101010101" pitchFamily="2" charset="-122"/>
              </a:rPr>
              <a:t>，对应的树型也有</a:t>
            </a:r>
            <a:r>
              <a:rPr lang="en-US" altLang="zh-CN" sz="1800" dirty="0">
                <a:latin typeface="华文楷体" panose="02010600040101010101" pitchFamily="2" charset="-122"/>
                <a:ea typeface="华文楷体" panose="02010600040101010101" pitchFamily="2" charset="-122"/>
              </a:rPr>
              <a:t>(2n</a:t>
            </a:r>
            <a:r>
              <a:rPr lang="en-US" altLang="zh-CN" sz="1800" dirty="0" smtClean="0">
                <a:latin typeface="华文楷体" panose="02010600040101010101" pitchFamily="2" charset="-122"/>
                <a:ea typeface="华文楷体" panose="02010600040101010101" pitchFamily="2" charset="-122"/>
              </a:rPr>
              <a:t>)!/[(n+1)!n!]</a:t>
            </a:r>
            <a:r>
              <a:rPr lang="zh-CN" altLang="en-US" sz="1800" dirty="0" smtClean="0">
                <a:latin typeface="华文楷体" panose="02010600040101010101" pitchFamily="2" charset="-122"/>
                <a:ea typeface="华文楷体" panose="02010600040101010101" pitchFamily="2" charset="-122"/>
              </a:rPr>
              <a:t>。</a:t>
            </a:r>
            <a:endParaRPr lang="en-US" altLang="zh-CN" sz="1800" dirty="0">
              <a:latin typeface="华文楷体" panose="02010600040101010101" pitchFamily="2" charset="-122"/>
              <a:ea typeface="华文楷体" panose="02010600040101010101" pitchFamily="2" charset="-122"/>
            </a:endParaRPr>
          </a:p>
          <a:p>
            <a:r>
              <a:rPr lang="zh-CN" altLang="zh-CN" sz="1800" dirty="0" smtClean="0">
                <a:latin typeface="华文楷体" panose="02010600040101010101" pitchFamily="2" charset="-122"/>
                <a:ea typeface="华文楷体" panose="02010600040101010101" pitchFamily="2" charset="-122"/>
              </a:rPr>
              <a:t>④</a:t>
            </a:r>
            <a:r>
              <a:rPr lang="zh-CN" altLang="en-US" sz="1800" dirty="0" smtClean="0">
                <a:latin typeface="华文楷体" panose="02010600040101010101" pitchFamily="2" charset="-122"/>
                <a:ea typeface="华文楷体" panose="02010600040101010101" pitchFamily="2" charset="-122"/>
              </a:rPr>
              <a:t>若</a:t>
            </a:r>
            <a:r>
              <a:rPr lang="zh-CN" altLang="en-US" sz="1800" dirty="0">
                <a:latin typeface="华文楷体" panose="02010600040101010101" pitchFamily="2" charset="-122"/>
                <a:ea typeface="华文楷体" panose="02010600040101010101" pitchFamily="2" charset="-122"/>
              </a:rPr>
              <a:t>已知含</a:t>
            </a:r>
            <a:r>
              <a:rPr lang="en-US" altLang="zh-CN" sz="1800" dirty="0">
                <a:latin typeface="华文楷体" panose="02010600040101010101" pitchFamily="2" charset="-122"/>
                <a:ea typeface="华文楷体" panose="02010600040101010101" pitchFamily="2" charset="-122"/>
              </a:rPr>
              <a:t>n</a:t>
            </a:r>
            <a:r>
              <a:rPr lang="zh-CN" altLang="en-US" sz="1800" dirty="0">
                <a:latin typeface="华文楷体" panose="02010600040101010101" pitchFamily="2" charset="-122"/>
                <a:ea typeface="华文楷体" panose="02010600040101010101" pitchFamily="2" charset="-122"/>
              </a:rPr>
              <a:t>个结点的二叉树</a:t>
            </a:r>
            <a:r>
              <a:rPr lang="zh-CN" altLang="en-US" sz="1800" dirty="0" smtClean="0">
                <a:latin typeface="华文楷体" panose="02010600040101010101" pitchFamily="2" charset="-122"/>
                <a:ea typeface="华文楷体" panose="02010600040101010101" pitchFamily="2" charset="-122"/>
              </a:rPr>
              <a:t>的中序</a:t>
            </a:r>
            <a:r>
              <a:rPr lang="zh-CN" altLang="en-US" sz="1800" dirty="0">
                <a:latin typeface="华文楷体" panose="02010600040101010101" pitchFamily="2" charset="-122"/>
                <a:ea typeface="华文楷体" panose="02010600040101010101" pitchFamily="2" charset="-122"/>
              </a:rPr>
              <a:t>序列，则可能</a:t>
            </a:r>
            <a:r>
              <a:rPr lang="zh-CN" altLang="en-US" sz="1800" dirty="0" smtClean="0">
                <a:latin typeface="华文楷体" panose="02010600040101010101" pitchFamily="2" charset="-122"/>
                <a:ea typeface="华文楷体" panose="02010600040101010101" pitchFamily="2" charset="-122"/>
              </a:rPr>
              <a:t>的后序</a:t>
            </a:r>
            <a:r>
              <a:rPr lang="zh-CN" altLang="en-US" sz="1800" dirty="0">
                <a:latin typeface="华文楷体" panose="02010600040101010101" pitchFamily="2" charset="-122"/>
                <a:ea typeface="华文楷体" panose="02010600040101010101" pitchFamily="2" charset="-122"/>
              </a:rPr>
              <a:t>序列</a:t>
            </a:r>
            <a:r>
              <a:rPr lang="zh-CN" altLang="en-US" sz="1800" dirty="0" smtClean="0">
                <a:latin typeface="华文楷体" panose="02010600040101010101" pitchFamily="2" charset="-122"/>
                <a:ea typeface="华文楷体" panose="02010600040101010101" pitchFamily="2" charset="-122"/>
              </a:rPr>
              <a:t>有</a:t>
            </a:r>
            <a:r>
              <a:rPr lang="en-US" altLang="zh-CN" sz="1800" dirty="0">
                <a:latin typeface="华文楷体" panose="02010600040101010101" pitchFamily="2" charset="-122"/>
                <a:ea typeface="华文楷体" panose="02010600040101010101" pitchFamily="2" charset="-122"/>
              </a:rPr>
              <a:t>(2n)!/[(n+1)!n!] </a:t>
            </a:r>
            <a:r>
              <a:rPr lang="zh-CN" altLang="en-US" sz="1800" dirty="0" smtClean="0">
                <a:latin typeface="华文楷体" panose="02010600040101010101" pitchFamily="2" charset="-122"/>
                <a:ea typeface="华文楷体" panose="02010600040101010101" pitchFamily="2" charset="-122"/>
              </a:rPr>
              <a:t>，</a:t>
            </a:r>
            <a:r>
              <a:rPr lang="zh-CN" altLang="en-US" sz="1800" dirty="0">
                <a:latin typeface="华文楷体" panose="02010600040101010101" pitchFamily="2" charset="-122"/>
                <a:ea typeface="华文楷体" panose="02010600040101010101" pitchFamily="2" charset="-122"/>
              </a:rPr>
              <a:t>对应的树型也</a:t>
            </a:r>
            <a:r>
              <a:rPr lang="zh-CN" altLang="en-US" sz="1800" dirty="0" smtClean="0">
                <a:latin typeface="华文楷体" panose="02010600040101010101" pitchFamily="2" charset="-122"/>
                <a:ea typeface="华文楷体" panose="02010600040101010101" pitchFamily="2" charset="-122"/>
              </a:rPr>
              <a:t>有</a:t>
            </a:r>
            <a:r>
              <a:rPr lang="en-US" altLang="zh-CN" sz="1800" dirty="0">
                <a:latin typeface="华文楷体" panose="02010600040101010101" pitchFamily="2" charset="-122"/>
                <a:ea typeface="华文楷体" panose="02010600040101010101" pitchFamily="2" charset="-122"/>
              </a:rPr>
              <a:t>(2n)!/[(n+1)!n!] </a:t>
            </a:r>
            <a:r>
              <a:rPr lang="zh-CN" altLang="en-US" sz="1800" dirty="0" smtClean="0">
                <a:latin typeface="华文楷体" panose="02010600040101010101" pitchFamily="2" charset="-122"/>
                <a:ea typeface="华文楷体" panose="02010600040101010101" pitchFamily="2" charset="-122"/>
              </a:rPr>
              <a:t>。</a:t>
            </a:r>
            <a:endParaRPr lang="zh-CN" altLang="en-US" sz="20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1152525"/>
            <a:ext cx="8015288" cy="523921"/>
          </a:xfrm>
          <a:ln>
            <a:solidFill>
              <a:schemeClr val="accent1"/>
            </a:solidFill>
          </a:ln>
        </p:spPr>
        <p:txBody>
          <a:bodyPr/>
          <a:lstStyle/>
          <a:p>
            <a:pPr marL="0" indent="0">
              <a:buNone/>
            </a:pPr>
            <a:r>
              <a:rPr lang="zh-CN" altLang="en-US" sz="2000" b="1" dirty="0" smtClean="0">
                <a:solidFill>
                  <a:srgbClr val="A41506"/>
                </a:solidFill>
                <a:latin typeface="华文楷体" panose="02010600040101010101" pitchFamily="2" charset="-122"/>
                <a:ea typeface="华文楷体" panose="02010600040101010101" pitchFamily="2" charset="-122"/>
              </a:rPr>
              <a:t>例</a:t>
            </a:r>
            <a:r>
              <a:rPr lang="en-US" altLang="zh-CN" sz="2000" b="1" dirty="0" smtClean="0">
                <a:solidFill>
                  <a:srgbClr val="A41506"/>
                </a:solidFill>
                <a:latin typeface="华文楷体" panose="02010600040101010101" pitchFamily="2" charset="-122"/>
                <a:ea typeface="华文楷体" panose="02010600040101010101" pitchFamily="2" charset="-122"/>
              </a:rPr>
              <a:t>1</a:t>
            </a:r>
            <a:r>
              <a:rPr lang="en-US" altLang="zh-CN" sz="2000" dirty="0" smtClean="0">
                <a:latin typeface="华文楷体" panose="02010600040101010101" pitchFamily="2" charset="-122"/>
                <a:ea typeface="华文楷体" panose="02010600040101010101" pitchFamily="2" charset="-122"/>
              </a:rPr>
              <a:t> </a:t>
            </a:r>
            <a:r>
              <a:rPr lang="zh-CN" altLang="en-US" sz="2000" dirty="0" smtClean="0">
                <a:latin typeface="华文楷体" panose="02010600040101010101" pitchFamily="2" charset="-122"/>
                <a:ea typeface="华文楷体" panose="02010600040101010101" pitchFamily="2" charset="-122"/>
              </a:rPr>
              <a:t>若二叉树的先序序列为</a:t>
            </a:r>
            <a:r>
              <a:rPr lang="en-US" altLang="zh-CN" sz="2000" dirty="0" smtClean="0">
                <a:latin typeface="华文楷体" panose="02010600040101010101" pitchFamily="2" charset="-122"/>
                <a:ea typeface="华文楷体" panose="02010600040101010101" pitchFamily="2" charset="-122"/>
              </a:rPr>
              <a:t>ABCD,</a:t>
            </a:r>
            <a:r>
              <a:rPr lang="zh-CN" altLang="en-US" sz="2000" dirty="0" smtClean="0">
                <a:latin typeface="华文楷体" panose="02010600040101010101" pitchFamily="2" charset="-122"/>
                <a:ea typeface="华文楷体" panose="02010600040101010101" pitchFamily="2" charset="-122"/>
              </a:rPr>
              <a:t>则可能的二叉树的有多少种？</a:t>
            </a:r>
            <a:r>
              <a:rPr lang="en-US" altLang="zh-CN" sz="2000" b="1" dirty="0" smtClean="0">
                <a:solidFill>
                  <a:srgbClr val="A41506"/>
                </a:solidFill>
                <a:latin typeface="华文楷体" panose="02010600040101010101" pitchFamily="2" charset="-122"/>
                <a:ea typeface="华文楷体" panose="02010600040101010101" pitchFamily="2" charset="-122"/>
              </a:rPr>
              <a:t>14</a:t>
            </a:r>
            <a:r>
              <a:rPr lang="zh-CN" altLang="en-US" sz="2000" dirty="0" smtClean="0">
                <a:latin typeface="华文楷体" panose="02010600040101010101" pitchFamily="2" charset="-122"/>
                <a:ea typeface="华文楷体" panose="02010600040101010101" pitchFamily="2" charset="-122"/>
              </a:rPr>
              <a:t>种</a:t>
            </a:r>
            <a:endParaRPr lang="zh-CN" altLang="en-US" sz="2000" dirty="0">
              <a:latin typeface="华文楷体" panose="02010600040101010101" pitchFamily="2" charset="-122"/>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cxnSp>
        <p:nvCxnSpPr>
          <p:cNvPr id="6" name="直接连接符 5"/>
          <p:cNvCxnSpPr/>
          <p:nvPr/>
        </p:nvCxnSpPr>
        <p:spPr bwMode="auto">
          <a:xfrm>
            <a:off x="152516" y="3200406"/>
            <a:ext cx="8915166"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直接连接符 7"/>
          <p:cNvCxnSpPr/>
          <p:nvPr/>
        </p:nvCxnSpPr>
        <p:spPr bwMode="auto">
          <a:xfrm>
            <a:off x="152516" y="4876762"/>
            <a:ext cx="8915166"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0" name="图片 9"/>
          <p:cNvPicPr>
            <a:picLocks noChangeAspect="1"/>
          </p:cNvPicPr>
          <p:nvPr/>
        </p:nvPicPr>
        <p:blipFill>
          <a:blip r:embed="rId1"/>
          <a:stretch>
            <a:fillRect/>
          </a:stretch>
        </p:blipFill>
        <p:spPr>
          <a:xfrm>
            <a:off x="432889" y="1705547"/>
            <a:ext cx="786400" cy="1181302"/>
          </a:xfrm>
          <a:prstGeom prst="rect">
            <a:avLst/>
          </a:prstGeom>
        </p:spPr>
      </p:pic>
      <p:sp>
        <p:nvSpPr>
          <p:cNvPr id="11" name="文本框 10"/>
          <p:cNvSpPr txBox="1"/>
          <p:nvPr/>
        </p:nvSpPr>
        <p:spPr>
          <a:xfrm>
            <a:off x="421785" y="2905128"/>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ABCD</a:t>
            </a:r>
            <a:endParaRPr lang="zh-CN" altLang="en-US" sz="1200" dirty="0">
              <a:latin typeface="Times New Roman" panose="02020603050405020304" pitchFamily="18" charset="0"/>
              <a:ea typeface="华文楷体" panose="02010600040101010101" pitchFamily="2" charset="-122"/>
            </a:endParaRPr>
          </a:p>
        </p:txBody>
      </p:sp>
      <p:cxnSp>
        <p:nvCxnSpPr>
          <p:cNvPr id="13" name="直接连接符 12"/>
          <p:cNvCxnSpPr/>
          <p:nvPr/>
        </p:nvCxnSpPr>
        <p:spPr bwMode="auto">
          <a:xfrm>
            <a:off x="1828872" y="1718519"/>
            <a:ext cx="0" cy="5091432"/>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5" name="图片 14"/>
          <p:cNvPicPr>
            <a:picLocks noChangeAspect="1"/>
          </p:cNvPicPr>
          <p:nvPr/>
        </p:nvPicPr>
        <p:blipFill>
          <a:blip r:embed="rId2"/>
          <a:stretch>
            <a:fillRect/>
          </a:stretch>
        </p:blipFill>
        <p:spPr>
          <a:xfrm>
            <a:off x="2064484" y="1745282"/>
            <a:ext cx="602567" cy="1136363"/>
          </a:xfrm>
          <a:prstGeom prst="rect">
            <a:avLst/>
          </a:prstGeom>
        </p:spPr>
      </p:pic>
      <p:sp>
        <p:nvSpPr>
          <p:cNvPr id="16" name="文本框 15"/>
          <p:cNvSpPr txBox="1"/>
          <p:nvPr/>
        </p:nvSpPr>
        <p:spPr>
          <a:xfrm>
            <a:off x="1906346" y="2905128"/>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ABDC</a:t>
            </a:r>
            <a:endParaRPr lang="zh-CN" altLang="en-US" sz="1200" dirty="0">
              <a:latin typeface="Times New Roman" panose="02020603050405020304" pitchFamily="18" charset="0"/>
              <a:ea typeface="华文楷体" panose="02010600040101010101" pitchFamily="2" charset="-122"/>
            </a:endParaRPr>
          </a:p>
        </p:txBody>
      </p:sp>
      <p:cxnSp>
        <p:nvCxnSpPr>
          <p:cNvPr id="18" name="直接连接符 17"/>
          <p:cNvCxnSpPr/>
          <p:nvPr/>
        </p:nvCxnSpPr>
        <p:spPr bwMode="auto">
          <a:xfrm>
            <a:off x="3581426" y="1676446"/>
            <a:ext cx="1" cy="518155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0" name="图片 19"/>
          <p:cNvPicPr>
            <a:picLocks noChangeAspect="1"/>
          </p:cNvPicPr>
          <p:nvPr/>
        </p:nvPicPr>
        <p:blipFill>
          <a:blip r:embed="rId3"/>
          <a:stretch>
            <a:fillRect/>
          </a:stretch>
        </p:blipFill>
        <p:spPr>
          <a:xfrm>
            <a:off x="3835224" y="1762170"/>
            <a:ext cx="710636" cy="980985"/>
          </a:xfrm>
          <a:prstGeom prst="rect">
            <a:avLst/>
          </a:prstGeom>
        </p:spPr>
      </p:pic>
      <p:sp>
        <p:nvSpPr>
          <p:cNvPr id="21" name="文本框 20"/>
          <p:cNvSpPr txBox="1"/>
          <p:nvPr/>
        </p:nvSpPr>
        <p:spPr>
          <a:xfrm>
            <a:off x="3729357" y="2849569"/>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ACBD</a:t>
            </a:r>
            <a:endParaRPr lang="zh-CN" altLang="en-US" sz="1200" dirty="0">
              <a:latin typeface="Times New Roman" panose="02020603050405020304" pitchFamily="18" charset="0"/>
              <a:ea typeface="华文楷体" panose="02010600040101010101" pitchFamily="2" charset="-122"/>
            </a:endParaRPr>
          </a:p>
        </p:txBody>
      </p:sp>
      <p:cxnSp>
        <p:nvCxnSpPr>
          <p:cNvPr id="24" name="直接连接符 23"/>
          <p:cNvCxnSpPr/>
          <p:nvPr/>
        </p:nvCxnSpPr>
        <p:spPr bwMode="auto">
          <a:xfrm>
            <a:off x="5333980" y="1676446"/>
            <a:ext cx="0" cy="513350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6" name="图片 25"/>
          <p:cNvPicPr>
            <a:picLocks noChangeAspect="1"/>
          </p:cNvPicPr>
          <p:nvPr/>
        </p:nvPicPr>
        <p:blipFill>
          <a:blip r:embed="rId4"/>
          <a:stretch>
            <a:fillRect/>
          </a:stretch>
        </p:blipFill>
        <p:spPr>
          <a:xfrm>
            <a:off x="5936814" y="1730884"/>
            <a:ext cx="463938" cy="1102648"/>
          </a:xfrm>
          <a:prstGeom prst="rect">
            <a:avLst/>
          </a:prstGeom>
        </p:spPr>
      </p:pic>
      <p:sp>
        <p:nvSpPr>
          <p:cNvPr id="27" name="文本框 26"/>
          <p:cNvSpPr txBox="1"/>
          <p:nvPr/>
        </p:nvSpPr>
        <p:spPr>
          <a:xfrm>
            <a:off x="5710505" y="2870450"/>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ACDB</a:t>
            </a:r>
            <a:endParaRPr lang="zh-CN" altLang="en-US" sz="1200" dirty="0">
              <a:latin typeface="Times New Roman" panose="02020603050405020304" pitchFamily="18" charset="0"/>
              <a:ea typeface="华文楷体" panose="02010600040101010101" pitchFamily="2" charset="-122"/>
            </a:endParaRPr>
          </a:p>
        </p:txBody>
      </p:sp>
      <p:cxnSp>
        <p:nvCxnSpPr>
          <p:cNvPr id="28" name="直接连接符 27"/>
          <p:cNvCxnSpPr/>
          <p:nvPr/>
        </p:nvCxnSpPr>
        <p:spPr bwMode="auto">
          <a:xfrm>
            <a:off x="7086534" y="1705547"/>
            <a:ext cx="0" cy="513350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9" name="图片 28"/>
          <p:cNvPicPr>
            <a:picLocks noChangeAspect="1"/>
          </p:cNvPicPr>
          <p:nvPr/>
        </p:nvPicPr>
        <p:blipFill>
          <a:blip r:embed="rId5"/>
          <a:stretch>
            <a:fillRect/>
          </a:stretch>
        </p:blipFill>
        <p:spPr>
          <a:xfrm>
            <a:off x="7625118" y="1696863"/>
            <a:ext cx="536709" cy="1128715"/>
          </a:xfrm>
          <a:prstGeom prst="rect">
            <a:avLst/>
          </a:prstGeom>
        </p:spPr>
      </p:pic>
      <p:sp>
        <p:nvSpPr>
          <p:cNvPr id="30" name="文本框 29"/>
          <p:cNvSpPr txBox="1"/>
          <p:nvPr/>
        </p:nvSpPr>
        <p:spPr>
          <a:xfrm>
            <a:off x="7321732" y="2880599"/>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ADCB</a:t>
            </a:r>
            <a:endParaRPr lang="zh-CN" altLang="en-US" sz="1200" dirty="0">
              <a:latin typeface="Times New Roman" panose="02020603050405020304" pitchFamily="18" charset="0"/>
              <a:ea typeface="华文楷体" panose="02010600040101010101" pitchFamily="2" charset="-122"/>
            </a:endParaRPr>
          </a:p>
        </p:txBody>
      </p:sp>
      <p:pic>
        <p:nvPicPr>
          <p:cNvPr id="31" name="图片 30"/>
          <p:cNvPicPr>
            <a:picLocks noChangeAspect="1"/>
          </p:cNvPicPr>
          <p:nvPr/>
        </p:nvPicPr>
        <p:blipFill>
          <a:blip r:embed="rId6"/>
          <a:stretch>
            <a:fillRect/>
          </a:stretch>
        </p:blipFill>
        <p:spPr>
          <a:xfrm>
            <a:off x="603794" y="3253364"/>
            <a:ext cx="463098" cy="1265313"/>
          </a:xfrm>
          <a:prstGeom prst="rect">
            <a:avLst/>
          </a:prstGeom>
        </p:spPr>
      </p:pic>
      <p:sp>
        <p:nvSpPr>
          <p:cNvPr id="32" name="文本框 31"/>
          <p:cNvSpPr txBox="1"/>
          <p:nvPr/>
        </p:nvSpPr>
        <p:spPr>
          <a:xfrm>
            <a:off x="396628" y="4518677"/>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BDCA</a:t>
            </a:r>
            <a:endParaRPr lang="zh-CN" altLang="en-US" sz="1200" dirty="0">
              <a:latin typeface="Times New Roman" panose="02020603050405020304" pitchFamily="18" charset="0"/>
              <a:ea typeface="华文楷体" panose="02010600040101010101" pitchFamily="2" charset="-122"/>
            </a:endParaRPr>
          </a:p>
        </p:txBody>
      </p:sp>
      <p:pic>
        <p:nvPicPr>
          <p:cNvPr id="33" name="图片 32"/>
          <p:cNvPicPr>
            <a:picLocks noChangeAspect="1"/>
          </p:cNvPicPr>
          <p:nvPr/>
        </p:nvPicPr>
        <p:blipFill>
          <a:blip r:embed="rId7"/>
          <a:stretch>
            <a:fillRect/>
          </a:stretch>
        </p:blipFill>
        <p:spPr>
          <a:xfrm>
            <a:off x="2043393" y="3306605"/>
            <a:ext cx="834555" cy="1158830"/>
          </a:xfrm>
          <a:prstGeom prst="rect">
            <a:avLst/>
          </a:prstGeom>
        </p:spPr>
      </p:pic>
      <p:sp>
        <p:nvSpPr>
          <p:cNvPr id="34" name="文本框 33"/>
          <p:cNvSpPr txBox="1"/>
          <p:nvPr/>
        </p:nvSpPr>
        <p:spPr>
          <a:xfrm>
            <a:off x="1974571" y="4513555"/>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BACD</a:t>
            </a:r>
            <a:endParaRPr lang="zh-CN" altLang="en-US" sz="1200" dirty="0">
              <a:latin typeface="Times New Roman" panose="02020603050405020304" pitchFamily="18" charset="0"/>
              <a:ea typeface="华文楷体" panose="02010600040101010101" pitchFamily="2" charset="-122"/>
            </a:endParaRPr>
          </a:p>
        </p:txBody>
      </p:sp>
      <p:pic>
        <p:nvPicPr>
          <p:cNvPr id="35" name="图片 34"/>
          <p:cNvPicPr>
            <a:picLocks noChangeAspect="1"/>
          </p:cNvPicPr>
          <p:nvPr/>
        </p:nvPicPr>
        <p:blipFill>
          <a:blip r:embed="rId8"/>
          <a:stretch>
            <a:fillRect/>
          </a:stretch>
        </p:blipFill>
        <p:spPr>
          <a:xfrm>
            <a:off x="3851505" y="3281493"/>
            <a:ext cx="644297" cy="1034532"/>
          </a:xfrm>
          <a:prstGeom prst="rect">
            <a:avLst/>
          </a:prstGeom>
        </p:spPr>
      </p:pic>
      <p:sp>
        <p:nvSpPr>
          <p:cNvPr id="36" name="文本框 35"/>
          <p:cNvSpPr txBox="1"/>
          <p:nvPr/>
        </p:nvSpPr>
        <p:spPr>
          <a:xfrm>
            <a:off x="3772419" y="4482927"/>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BADC</a:t>
            </a:r>
            <a:endParaRPr lang="zh-CN" altLang="en-US" sz="1200" dirty="0">
              <a:latin typeface="Times New Roman" panose="02020603050405020304" pitchFamily="18" charset="0"/>
              <a:ea typeface="华文楷体" panose="02010600040101010101" pitchFamily="2" charset="-122"/>
            </a:endParaRPr>
          </a:p>
        </p:txBody>
      </p:sp>
      <p:pic>
        <p:nvPicPr>
          <p:cNvPr id="37" name="图片 36"/>
          <p:cNvPicPr>
            <a:picLocks noChangeAspect="1"/>
          </p:cNvPicPr>
          <p:nvPr/>
        </p:nvPicPr>
        <p:blipFill>
          <a:blip r:embed="rId9"/>
          <a:stretch>
            <a:fillRect/>
          </a:stretch>
        </p:blipFill>
        <p:spPr>
          <a:xfrm>
            <a:off x="5818552" y="3257412"/>
            <a:ext cx="729399" cy="1133476"/>
          </a:xfrm>
          <a:prstGeom prst="rect">
            <a:avLst/>
          </a:prstGeom>
        </p:spPr>
      </p:pic>
      <p:sp>
        <p:nvSpPr>
          <p:cNvPr id="38" name="文本框 37"/>
          <p:cNvSpPr txBox="1"/>
          <p:nvPr/>
        </p:nvSpPr>
        <p:spPr>
          <a:xfrm>
            <a:off x="5709307" y="4486151"/>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BCAD</a:t>
            </a:r>
            <a:endParaRPr lang="zh-CN" altLang="en-US" sz="1200" dirty="0">
              <a:latin typeface="Times New Roman" panose="02020603050405020304" pitchFamily="18" charset="0"/>
              <a:ea typeface="华文楷体" panose="02010600040101010101" pitchFamily="2" charset="-122"/>
            </a:endParaRPr>
          </a:p>
        </p:txBody>
      </p:sp>
      <p:pic>
        <p:nvPicPr>
          <p:cNvPr id="39" name="图片 38"/>
          <p:cNvPicPr>
            <a:picLocks noChangeAspect="1"/>
          </p:cNvPicPr>
          <p:nvPr/>
        </p:nvPicPr>
        <p:blipFill>
          <a:blip r:embed="rId10"/>
          <a:stretch>
            <a:fillRect/>
          </a:stretch>
        </p:blipFill>
        <p:spPr>
          <a:xfrm>
            <a:off x="7392280" y="3261513"/>
            <a:ext cx="608629" cy="1110039"/>
          </a:xfrm>
          <a:prstGeom prst="rect">
            <a:avLst/>
          </a:prstGeom>
        </p:spPr>
      </p:pic>
      <p:sp>
        <p:nvSpPr>
          <p:cNvPr id="40" name="文本框 39"/>
          <p:cNvSpPr txBox="1"/>
          <p:nvPr/>
        </p:nvSpPr>
        <p:spPr>
          <a:xfrm>
            <a:off x="7274055" y="4486997"/>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BCDA</a:t>
            </a:r>
            <a:endParaRPr lang="zh-CN" altLang="en-US" sz="1200" dirty="0">
              <a:latin typeface="Times New Roman" panose="02020603050405020304" pitchFamily="18" charset="0"/>
              <a:ea typeface="华文楷体" panose="02010600040101010101" pitchFamily="2" charset="-122"/>
            </a:endParaRPr>
          </a:p>
        </p:txBody>
      </p:sp>
      <p:pic>
        <p:nvPicPr>
          <p:cNvPr id="41" name="图片 40"/>
          <p:cNvPicPr>
            <a:picLocks noChangeAspect="1"/>
          </p:cNvPicPr>
          <p:nvPr/>
        </p:nvPicPr>
        <p:blipFill>
          <a:blip r:embed="rId11"/>
          <a:stretch>
            <a:fillRect/>
          </a:stretch>
        </p:blipFill>
        <p:spPr>
          <a:xfrm>
            <a:off x="285421" y="4919337"/>
            <a:ext cx="605184" cy="1405187"/>
          </a:xfrm>
          <a:prstGeom prst="rect">
            <a:avLst/>
          </a:prstGeom>
        </p:spPr>
      </p:pic>
      <p:sp>
        <p:nvSpPr>
          <p:cNvPr id="42" name="文本框 41"/>
          <p:cNvSpPr txBox="1"/>
          <p:nvPr/>
        </p:nvSpPr>
        <p:spPr>
          <a:xfrm>
            <a:off x="206488" y="6414618"/>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CDBA</a:t>
            </a:r>
            <a:endParaRPr lang="zh-CN" altLang="en-US" sz="1200" dirty="0">
              <a:latin typeface="Times New Roman" panose="02020603050405020304" pitchFamily="18" charset="0"/>
              <a:ea typeface="华文楷体" panose="02010600040101010101" pitchFamily="2" charset="-122"/>
            </a:endParaRPr>
          </a:p>
        </p:txBody>
      </p:sp>
      <p:pic>
        <p:nvPicPr>
          <p:cNvPr id="43" name="图片 42"/>
          <p:cNvPicPr>
            <a:picLocks noChangeAspect="1"/>
          </p:cNvPicPr>
          <p:nvPr/>
        </p:nvPicPr>
        <p:blipFill>
          <a:blip r:embed="rId12"/>
          <a:stretch>
            <a:fillRect/>
          </a:stretch>
        </p:blipFill>
        <p:spPr>
          <a:xfrm>
            <a:off x="2142145" y="4953964"/>
            <a:ext cx="885933" cy="1163346"/>
          </a:xfrm>
          <a:prstGeom prst="rect">
            <a:avLst/>
          </a:prstGeom>
        </p:spPr>
      </p:pic>
      <p:sp>
        <p:nvSpPr>
          <p:cNvPr id="44" name="文本框 43"/>
          <p:cNvSpPr txBox="1"/>
          <p:nvPr/>
        </p:nvSpPr>
        <p:spPr>
          <a:xfrm>
            <a:off x="2001249" y="6328409"/>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CBAD</a:t>
            </a:r>
            <a:endParaRPr lang="zh-CN" altLang="en-US" sz="1200" dirty="0">
              <a:latin typeface="Times New Roman" panose="02020603050405020304" pitchFamily="18" charset="0"/>
              <a:ea typeface="华文楷体" panose="02010600040101010101" pitchFamily="2" charset="-122"/>
            </a:endParaRPr>
          </a:p>
        </p:txBody>
      </p:sp>
      <p:pic>
        <p:nvPicPr>
          <p:cNvPr id="45" name="图片 44"/>
          <p:cNvPicPr>
            <a:picLocks noChangeAspect="1"/>
          </p:cNvPicPr>
          <p:nvPr/>
        </p:nvPicPr>
        <p:blipFill>
          <a:blip r:embed="rId13"/>
          <a:stretch>
            <a:fillRect/>
          </a:stretch>
        </p:blipFill>
        <p:spPr>
          <a:xfrm>
            <a:off x="3912354" y="5007068"/>
            <a:ext cx="768223" cy="1115855"/>
          </a:xfrm>
          <a:prstGeom prst="rect">
            <a:avLst/>
          </a:prstGeom>
        </p:spPr>
      </p:pic>
      <p:sp>
        <p:nvSpPr>
          <p:cNvPr id="46" name="文本框 45"/>
          <p:cNvSpPr txBox="1"/>
          <p:nvPr/>
        </p:nvSpPr>
        <p:spPr>
          <a:xfrm>
            <a:off x="3761736" y="6324524"/>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CBDA</a:t>
            </a:r>
            <a:endParaRPr lang="zh-CN" altLang="en-US" sz="1200" dirty="0">
              <a:latin typeface="Times New Roman" panose="02020603050405020304" pitchFamily="18" charset="0"/>
              <a:ea typeface="华文楷体" panose="02010600040101010101" pitchFamily="2" charset="-122"/>
            </a:endParaRPr>
          </a:p>
        </p:txBody>
      </p:sp>
      <p:pic>
        <p:nvPicPr>
          <p:cNvPr id="48" name="图片 47"/>
          <p:cNvPicPr>
            <a:picLocks noChangeAspect="1"/>
          </p:cNvPicPr>
          <p:nvPr/>
        </p:nvPicPr>
        <p:blipFill>
          <a:blip r:embed="rId14"/>
          <a:stretch>
            <a:fillRect/>
          </a:stretch>
        </p:blipFill>
        <p:spPr>
          <a:xfrm>
            <a:off x="5899968" y="5072053"/>
            <a:ext cx="599103" cy="1225593"/>
          </a:xfrm>
          <a:prstGeom prst="rect">
            <a:avLst/>
          </a:prstGeom>
        </p:spPr>
      </p:pic>
      <p:sp>
        <p:nvSpPr>
          <p:cNvPr id="49" name="文本框 48"/>
          <p:cNvSpPr txBox="1"/>
          <p:nvPr/>
        </p:nvSpPr>
        <p:spPr>
          <a:xfrm>
            <a:off x="5629110" y="6414617"/>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中</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DCBA</a:t>
            </a:r>
            <a:endParaRPr lang="zh-CN" altLang="en-US" sz="12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1152525"/>
            <a:ext cx="8015288" cy="523921"/>
          </a:xfrm>
          <a:ln>
            <a:solidFill>
              <a:schemeClr val="accent1"/>
            </a:solidFill>
          </a:ln>
        </p:spPr>
        <p:txBody>
          <a:bodyPr/>
          <a:lstStyle/>
          <a:p>
            <a:pPr marL="0" indent="0">
              <a:buNone/>
            </a:pPr>
            <a:r>
              <a:rPr lang="zh-CN" altLang="en-US" sz="2000" b="1" dirty="0" smtClean="0">
                <a:solidFill>
                  <a:srgbClr val="A41506"/>
                </a:solidFill>
                <a:latin typeface="华文楷体" panose="02010600040101010101" pitchFamily="2" charset="-122"/>
                <a:ea typeface="华文楷体" panose="02010600040101010101" pitchFamily="2" charset="-122"/>
              </a:rPr>
              <a:t>例</a:t>
            </a:r>
            <a:r>
              <a:rPr lang="en-US" altLang="zh-CN" sz="2000" b="1" dirty="0" smtClean="0">
                <a:solidFill>
                  <a:srgbClr val="A41506"/>
                </a:solidFill>
                <a:latin typeface="华文楷体" panose="02010600040101010101" pitchFamily="2" charset="-122"/>
                <a:ea typeface="华文楷体" panose="02010600040101010101" pitchFamily="2" charset="-122"/>
              </a:rPr>
              <a:t>2</a:t>
            </a:r>
            <a:r>
              <a:rPr lang="en-US" altLang="zh-CN" sz="2000" dirty="0" smtClean="0">
                <a:latin typeface="华文楷体" panose="02010600040101010101" pitchFamily="2" charset="-122"/>
                <a:ea typeface="华文楷体" panose="02010600040101010101" pitchFamily="2" charset="-122"/>
              </a:rPr>
              <a:t> </a:t>
            </a:r>
            <a:r>
              <a:rPr lang="zh-CN" altLang="en-US" sz="2000" dirty="0" smtClean="0">
                <a:latin typeface="华文楷体" panose="02010600040101010101" pitchFamily="2" charset="-122"/>
                <a:ea typeface="华文楷体" panose="02010600040101010101" pitchFamily="2" charset="-122"/>
              </a:rPr>
              <a:t>若二叉树的中序序列为</a:t>
            </a:r>
            <a:r>
              <a:rPr lang="en-US" altLang="zh-CN" sz="2000" dirty="0" smtClean="0">
                <a:latin typeface="华文楷体" panose="02010600040101010101" pitchFamily="2" charset="-122"/>
                <a:ea typeface="华文楷体" panose="02010600040101010101" pitchFamily="2" charset="-122"/>
              </a:rPr>
              <a:t>ABCD,</a:t>
            </a:r>
            <a:r>
              <a:rPr lang="zh-CN" altLang="en-US" sz="2000" dirty="0" smtClean="0">
                <a:latin typeface="华文楷体" panose="02010600040101010101" pitchFamily="2" charset="-122"/>
                <a:ea typeface="华文楷体" panose="02010600040101010101" pitchFamily="2" charset="-122"/>
              </a:rPr>
              <a:t>则可能的二叉树的有多少种？</a:t>
            </a:r>
            <a:r>
              <a:rPr lang="en-US" altLang="zh-CN" sz="2000" b="1" dirty="0" smtClean="0">
                <a:solidFill>
                  <a:srgbClr val="A41506"/>
                </a:solidFill>
                <a:latin typeface="华文楷体" panose="02010600040101010101" pitchFamily="2" charset="-122"/>
                <a:ea typeface="华文楷体" panose="02010600040101010101" pitchFamily="2" charset="-122"/>
              </a:rPr>
              <a:t>14</a:t>
            </a:r>
            <a:r>
              <a:rPr lang="zh-CN" altLang="en-US" sz="2000" dirty="0" smtClean="0">
                <a:latin typeface="华文楷体" panose="02010600040101010101" pitchFamily="2" charset="-122"/>
                <a:ea typeface="华文楷体" panose="02010600040101010101" pitchFamily="2" charset="-122"/>
              </a:rPr>
              <a:t>种</a:t>
            </a:r>
            <a:endParaRPr lang="zh-CN" altLang="en-US" sz="2000" dirty="0">
              <a:latin typeface="华文楷体" panose="02010600040101010101" pitchFamily="2" charset="-122"/>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cxnSp>
        <p:nvCxnSpPr>
          <p:cNvPr id="6" name="直接连接符 5"/>
          <p:cNvCxnSpPr/>
          <p:nvPr/>
        </p:nvCxnSpPr>
        <p:spPr bwMode="auto">
          <a:xfrm>
            <a:off x="152516" y="3200406"/>
            <a:ext cx="8915166"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直接连接符 7"/>
          <p:cNvCxnSpPr/>
          <p:nvPr/>
        </p:nvCxnSpPr>
        <p:spPr bwMode="auto">
          <a:xfrm>
            <a:off x="152516" y="4876762"/>
            <a:ext cx="8915166"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文本框 10"/>
          <p:cNvSpPr txBox="1"/>
          <p:nvPr/>
        </p:nvSpPr>
        <p:spPr>
          <a:xfrm>
            <a:off x="421785" y="2905128"/>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ABCD</a:t>
            </a:r>
            <a:endParaRPr lang="zh-CN" altLang="en-US" sz="1200" dirty="0">
              <a:latin typeface="Times New Roman" panose="02020603050405020304" pitchFamily="18" charset="0"/>
              <a:ea typeface="华文楷体" panose="02010600040101010101" pitchFamily="2" charset="-122"/>
            </a:endParaRPr>
          </a:p>
        </p:txBody>
      </p:sp>
      <p:cxnSp>
        <p:nvCxnSpPr>
          <p:cNvPr id="13" name="直接连接符 12"/>
          <p:cNvCxnSpPr/>
          <p:nvPr/>
        </p:nvCxnSpPr>
        <p:spPr bwMode="auto">
          <a:xfrm>
            <a:off x="1828872" y="1718519"/>
            <a:ext cx="0" cy="5091432"/>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文本框 15"/>
          <p:cNvSpPr txBox="1"/>
          <p:nvPr/>
        </p:nvSpPr>
        <p:spPr>
          <a:xfrm>
            <a:off x="1906346" y="2905128"/>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后</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ABDC</a:t>
            </a:r>
            <a:endParaRPr lang="zh-CN" altLang="en-US" sz="1200" dirty="0">
              <a:latin typeface="Times New Roman" panose="02020603050405020304" pitchFamily="18" charset="0"/>
              <a:ea typeface="华文楷体" panose="02010600040101010101" pitchFamily="2" charset="-122"/>
            </a:endParaRPr>
          </a:p>
        </p:txBody>
      </p:sp>
      <p:cxnSp>
        <p:nvCxnSpPr>
          <p:cNvPr id="18" name="直接连接符 17"/>
          <p:cNvCxnSpPr/>
          <p:nvPr/>
        </p:nvCxnSpPr>
        <p:spPr bwMode="auto">
          <a:xfrm>
            <a:off x="3581426" y="1676446"/>
            <a:ext cx="1" cy="518155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文本框 20"/>
          <p:cNvSpPr txBox="1"/>
          <p:nvPr/>
        </p:nvSpPr>
        <p:spPr>
          <a:xfrm>
            <a:off x="3729357" y="2849569"/>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ACBD</a:t>
            </a:r>
            <a:endParaRPr lang="zh-CN" altLang="en-US" sz="1200" dirty="0">
              <a:latin typeface="Times New Roman" panose="02020603050405020304" pitchFamily="18" charset="0"/>
              <a:ea typeface="华文楷体" panose="02010600040101010101" pitchFamily="2" charset="-122"/>
            </a:endParaRPr>
          </a:p>
        </p:txBody>
      </p:sp>
      <p:cxnSp>
        <p:nvCxnSpPr>
          <p:cNvPr id="24" name="直接连接符 23"/>
          <p:cNvCxnSpPr/>
          <p:nvPr/>
        </p:nvCxnSpPr>
        <p:spPr bwMode="auto">
          <a:xfrm>
            <a:off x="5333980" y="1676446"/>
            <a:ext cx="0" cy="513350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文本框 26"/>
          <p:cNvSpPr txBox="1"/>
          <p:nvPr/>
        </p:nvSpPr>
        <p:spPr>
          <a:xfrm>
            <a:off x="5710505" y="2870450"/>
            <a:ext cx="918841"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rPr>
              <a:t>后</a:t>
            </a:r>
            <a:r>
              <a:rPr lang="zh-CN" altLang="en-US" sz="1200" dirty="0" smtClean="0">
                <a:latin typeface="Times New Roman" panose="02020603050405020304" pitchFamily="18" charset="0"/>
                <a:ea typeface="华文楷体" panose="02010600040101010101" pitchFamily="2" charset="-122"/>
              </a:rPr>
              <a:t>序</a:t>
            </a:r>
            <a:r>
              <a:rPr lang="en-US" altLang="zh-CN" sz="1200" dirty="0" smtClean="0">
                <a:latin typeface="Times New Roman" panose="02020603050405020304" pitchFamily="18" charset="0"/>
                <a:ea typeface="华文楷体" panose="02010600040101010101" pitchFamily="2" charset="-122"/>
              </a:rPr>
              <a:t>ACDB</a:t>
            </a:r>
            <a:endParaRPr lang="zh-CN" altLang="en-US" sz="1200" dirty="0">
              <a:latin typeface="Times New Roman" panose="02020603050405020304" pitchFamily="18" charset="0"/>
              <a:ea typeface="华文楷体" panose="02010600040101010101" pitchFamily="2" charset="-122"/>
            </a:endParaRPr>
          </a:p>
        </p:txBody>
      </p:sp>
      <p:cxnSp>
        <p:nvCxnSpPr>
          <p:cNvPr id="28" name="直接连接符 27"/>
          <p:cNvCxnSpPr/>
          <p:nvPr/>
        </p:nvCxnSpPr>
        <p:spPr bwMode="auto">
          <a:xfrm>
            <a:off x="7086534" y="1705547"/>
            <a:ext cx="0" cy="513350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文本框 29"/>
          <p:cNvSpPr txBox="1"/>
          <p:nvPr/>
        </p:nvSpPr>
        <p:spPr>
          <a:xfrm>
            <a:off x="7321732" y="2880599"/>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ADCB</a:t>
            </a:r>
            <a:endParaRPr lang="zh-CN" altLang="en-US" sz="1200" dirty="0">
              <a:latin typeface="Times New Roman" panose="02020603050405020304" pitchFamily="18" charset="0"/>
              <a:ea typeface="华文楷体" panose="02010600040101010101" pitchFamily="2" charset="-122"/>
            </a:endParaRPr>
          </a:p>
        </p:txBody>
      </p:sp>
      <p:sp>
        <p:nvSpPr>
          <p:cNvPr id="32" name="文本框 31"/>
          <p:cNvSpPr txBox="1"/>
          <p:nvPr/>
        </p:nvSpPr>
        <p:spPr>
          <a:xfrm>
            <a:off x="396628" y="4518677"/>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BDCA</a:t>
            </a:r>
            <a:endParaRPr lang="zh-CN" altLang="en-US" sz="1200" dirty="0">
              <a:latin typeface="Times New Roman" panose="02020603050405020304" pitchFamily="18" charset="0"/>
              <a:ea typeface="华文楷体" panose="02010600040101010101" pitchFamily="2" charset="-122"/>
            </a:endParaRPr>
          </a:p>
        </p:txBody>
      </p:sp>
      <p:sp>
        <p:nvSpPr>
          <p:cNvPr id="34" name="文本框 33"/>
          <p:cNvSpPr txBox="1"/>
          <p:nvPr/>
        </p:nvSpPr>
        <p:spPr>
          <a:xfrm>
            <a:off x="1974571" y="4513555"/>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BACD</a:t>
            </a:r>
            <a:endParaRPr lang="zh-CN" altLang="en-US" sz="1200" dirty="0">
              <a:latin typeface="Times New Roman" panose="02020603050405020304" pitchFamily="18" charset="0"/>
              <a:ea typeface="华文楷体" panose="02010600040101010101" pitchFamily="2" charset="-122"/>
            </a:endParaRPr>
          </a:p>
        </p:txBody>
      </p:sp>
      <p:sp>
        <p:nvSpPr>
          <p:cNvPr id="36" name="文本框 35"/>
          <p:cNvSpPr txBox="1"/>
          <p:nvPr/>
        </p:nvSpPr>
        <p:spPr>
          <a:xfrm>
            <a:off x="3772419" y="4482927"/>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BADC</a:t>
            </a:r>
            <a:endParaRPr lang="zh-CN" altLang="en-US" sz="1200" dirty="0">
              <a:latin typeface="Times New Roman" panose="02020603050405020304" pitchFamily="18" charset="0"/>
              <a:ea typeface="华文楷体" panose="02010600040101010101" pitchFamily="2" charset="-122"/>
            </a:endParaRPr>
          </a:p>
        </p:txBody>
      </p:sp>
      <p:sp>
        <p:nvSpPr>
          <p:cNvPr id="38" name="文本框 37"/>
          <p:cNvSpPr txBox="1"/>
          <p:nvPr/>
        </p:nvSpPr>
        <p:spPr>
          <a:xfrm>
            <a:off x="5709307" y="4486151"/>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BCAD</a:t>
            </a:r>
            <a:endParaRPr lang="zh-CN" altLang="en-US" sz="1200" dirty="0">
              <a:latin typeface="Times New Roman" panose="02020603050405020304" pitchFamily="18" charset="0"/>
              <a:ea typeface="华文楷体" panose="02010600040101010101" pitchFamily="2" charset="-122"/>
            </a:endParaRPr>
          </a:p>
        </p:txBody>
      </p:sp>
      <p:sp>
        <p:nvSpPr>
          <p:cNvPr id="40" name="文本框 39"/>
          <p:cNvSpPr txBox="1"/>
          <p:nvPr/>
        </p:nvSpPr>
        <p:spPr>
          <a:xfrm>
            <a:off x="7274055" y="4486997"/>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BCDA</a:t>
            </a:r>
            <a:endParaRPr lang="zh-CN" altLang="en-US" sz="1200" dirty="0">
              <a:latin typeface="Times New Roman" panose="02020603050405020304" pitchFamily="18" charset="0"/>
              <a:ea typeface="华文楷体" panose="02010600040101010101" pitchFamily="2" charset="-122"/>
            </a:endParaRPr>
          </a:p>
        </p:txBody>
      </p:sp>
      <p:sp>
        <p:nvSpPr>
          <p:cNvPr id="42" name="文本框 41"/>
          <p:cNvSpPr txBox="1"/>
          <p:nvPr/>
        </p:nvSpPr>
        <p:spPr>
          <a:xfrm>
            <a:off x="206488" y="6414618"/>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CDBA</a:t>
            </a:r>
            <a:endParaRPr lang="zh-CN" altLang="en-US" sz="1200" dirty="0">
              <a:latin typeface="Times New Roman" panose="02020603050405020304" pitchFamily="18" charset="0"/>
              <a:ea typeface="华文楷体" panose="02010600040101010101" pitchFamily="2" charset="-122"/>
            </a:endParaRPr>
          </a:p>
        </p:txBody>
      </p:sp>
      <p:sp>
        <p:nvSpPr>
          <p:cNvPr id="44" name="文本框 43"/>
          <p:cNvSpPr txBox="1"/>
          <p:nvPr/>
        </p:nvSpPr>
        <p:spPr>
          <a:xfrm>
            <a:off x="2001249" y="6328409"/>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CBAD</a:t>
            </a:r>
            <a:endParaRPr lang="zh-CN" altLang="en-US" sz="1200" dirty="0">
              <a:latin typeface="Times New Roman" panose="02020603050405020304" pitchFamily="18" charset="0"/>
              <a:ea typeface="华文楷体" panose="02010600040101010101" pitchFamily="2" charset="-122"/>
            </a:endParaRPr>
          </a:p>
        </p:txBody>
      </p:sp>
      <p:sp>
        <p:nvSpPr>
          <p:cNvPr id="46" name="文本框 45"/>
          <p:cNvSpPr txBox="1"/>
          <p:nvPr/>
        </p:nvSpPr>
        <p:spPr>
          <a:xfrm>
            <a:off x="3761736" y="6324524"/>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CBDA</a:t>
            </a:r>
            <a:endParaRPr lang="zh-CN" altLang="en-US" sz="1200" dirty="0">
              <a:latin typeface="Times New Roman" panose="02020603050405020304" pitchFamily="18" charset="0"/>
              <a:ea typeface="华文楷体" panose="02010600040101010101" pitchFamily="2" charset="-122"/>
            </a:endParaRPr>
          </a:p>
        </p:txBody>
      </p:sp>
      <p:sp>
        <p:nvSpPr>
          <p:cNvPr id="49" name="文本框 48"/>
          <p:cNvSpPr txBox="1"/>
          <p:nvPr/>
        </p:nvSpPr>
        <p:spPr>
          <a:xfrm>
            <a:off x="5629110" y="6414617"/>
            <a:ext cx="918841" cy="276999"/>
          </a:xfrm>
          <a:prstGeom prst="rect">
            <a:avLst/>
          </a:prstGeom>
          <a:noFill/>
        </p:spPr>
        <p:txBody>
          <a:bodyPr wrap="none" rtlCol="0">
            <a:spAutoFit/>
          </a:bodyPr>
          <a:lstStyle/>
          <a:p>
            <a:r>
              <a:rPr lang="zh-CN" altLang="en-US" sz="1200" dirty="0" smtClean="0">
                <a:latin typeface="Times New Roman" panose="02020603050405020304" pitchFamily="18" charset="0"/>
                <a:ea typeface="华文楷体" panose="02010600040101010101" pitchFamily="2" charset="-122"/>
              </a:rPr>
              <a:t>后序</a:t>
            </a:r>
            <a:r>
              <a:rPr lang="en-US" altLang="zh-CN" sz="1200" dirty="0" smtClean="0">
                <a:latin typeface="Times New Roman" panose="02020603050405020304" pitchFamily="18" charset="0"/>
                <a:ea typeface="华文楷体" panose="02010600040101010101" pitchFamily="2" charset="-122"/>
              </a:rPr>
              <a:t>DCBA</a:t>
            </a:r>
            <a:endParaRPr lang="zh-CN" altLang="en-US" sz="1200" dirty="0">
              <a:latin typeface="Times New Roman" panose="02020603050405020304" pitchFamily="18" charset="0"/>
              <a:ea typeface="华文楷体" panose="02010600040101010101" pitchFamily="2" charset="-122"/>
            </a:endParaRPr>
          </a:p>
        </p:txBody>
      </p:sp>
      <p:pic>
        <p:nvPicPr>
          <p:cNvPr id="5" name="图片 4"/>
          <p:cNvPicPr>
            <a:picLocks noChangeAspect="1"/>
          </p:cNvPicPr>
          <p:nvPr/>
        </p:nvPicPr>
        <p:blipFill>
          <a:blip r:embed="rId1"/>
          <a:stretch>
            <a:fillRect/>
          </a:stretch>
        </p:blipFill>
        <p:spPr>
          <a:xfrm>
            <a:off x="588013" y="1733351"/>
            <a:ext cx="562096" cy="1149887"/>
          </a:xfrm>
          <a:prstGeom prst="rect">
            <a:avLst/>
          </a:prstGeom>
        </p:spPr>
      </p:pic>
      <p:pic>
        <p:nvPicPr>
          <p:cNvPr id="7" name="图片 6"/>
          <p:cNvPicPr>
            <a:picLocks noChangeAspect="1"/>
          </p:cNvPicPr>
          <p:nvPr/>
        </p:nvPicPr>
        <p:blipFill>
          <a:blip r:embed="rId2"/>
          <a:stretch>
            <a:fillRect/>
          </a:stretch>
        </p:blipFill>
        <p:spPr>
          <a:xfrm>
            <a:off x="2093253" y="1705614"/>
            <a:ext cx="1023940" cy="1174650"/>
          </a:xfrm>
          <a:prstGeom prst="rect">
            <a:avLst/>
          </a:prstGeom>
        </p:spPr>
      </p:pic>
      <p:pic>
        <p:nvPicPr>
          <p:cNvPr id="9" name="图片 8"/>
          <p:cNvPicPr>
            <a:picLocks noChangeAspect="1"/>
          </p:cNvPicPr>
          <p:nvPr/>
        </p:nvPicPr>
        <p:blipFill>
          <a:blip r:embed="rId3"/>
          <a:stretch>
            <a:fillRect/>
          </a:stretch>
        </p:blipFill>
        <p:spPr>
          <a:xfrm>
            <a:off x="3720026" y="1724387"/>
            <a:ext cx="885445" cy="1155877"/>
          </a:xfrm>
          <a:prstGeom prst="rect">
            <a:avLst/>
          </a:prstGeom>
        </p:spPr>
      </p:pic>
      <p:pic>
        <p:nvPicPr>
          <p:cNvPr id="12" name="图片 11"/>
          <p:cNvPicPr>
            <a:picLocks noChangeAspect="1"/>
          </p:cNvPicPr>
          <p:nvPr/>
        </p:nvPicPr>
        <p:blipFill>
          <a:blip r:embed="rId4"/>
          <a:stretch>
            <a:fillRect/>
          </a:stretch>
        </p:blipFill>
        <p:spPr>
          <a:xfrm>
            <a:off x="5847425" y="1718303"/>
            <a:ext cx="781921" cy="1161961"/>
          </a:xfrm>
          <a:prstGeom prst="rect">
            <a:avLst/>
          </a:prstGeom>
        </p:spPr>
      </p:pic>
      <p:pic>
        <p:nvPicPr>
          <p:cNvPr id="17" name="图片 16"/>
          <p:cNvPicPr>
            <a:picLocks noChangeAspect="1"/>
          </p:cNvPicPr>
          <p:nvPr/>
        </p:nvPicPr>
        <p:blipFill>
          <a:blip r:embed="rId5"/>
          <a:stretch>
            <a:fillRect/>
          </a:stretch>
        </p:blipFill>
        <p:spPr>
          <a:xfrm>
            <a:off x="7274055" y="1780402"/>
            <a:ext cx="976880" cy="1015189"/>
          </a:xfrm>
          <a:prstGeom prst="rect">
            <a:avLst/>
          </a:prstGeom>
        </p:spPr>
      </p:pic>
      <p:pic>
        <p:nvPicPr>
          <p:cNvPr id="19" name="图片 18"/>
          <p:cNvPicPr>
            <a:picLocks noChangeAspect="1"/>
          </p:cNvPicPr>
          <p:nvPr/>
        </p:nvPicPr>
        <p:blipFill>
          <a:blip r:embed="rId6"/>
          <a:stretch>
            <a:fillRect/>
          </a:stretch>
        </p:blipFill>
        <p:spPr>
          <a:xfrm>
            <a:off x="388251" y="3331656"/>
            <a:ext cx="717578" cy="1033469"/>
          </a:xfrm>
          <a:prstGeom prst="rect">
            <a:avLst/>
          </a:prstGeom>
        </p:spPr>
      </p:pic>
      <p:pic>
        <p:nvPicPr>
          <p:cNvPr id="22" name="图片 21"/>
          <p:cNvPicPr>
            <a:picLocks noChangeAspect="1"/>
          </p:cNvPicPr>
          <p:nvPr/>
        </p:nvPicPr>
        <p:blipFill>
          <a:blip r:embed="rId7"/>
          <a:stretch>
            <a:fillRect/>
          </a:stretch>
        </p:blipFill>
        <p:spPr>
          <a:xfrm>
            <a:off x="2137624" y="3289611"/>
            <a:ext cx="489854" cy="1180840"/>
          </a:xfrm>
          <a:prstGeom prst="rect">
            <a:avLst/>
          </a:prstGeom>
        </p:spPr>
      </p:pic>
      <p:pic>
        <p:nvPicPr>
          <p:cNvPr id="25" name="图片 24"/>
          <p:cNvPicPr>
            <a:picLocks noChangeAspect="1"/>
          </p:cNvPicPr>
          <p:nvPr/>
        </p:nvPicPr>
        <p:blipFill>
          <a:blip r:embed="rId8"/>
          <a:stretch>
            <a:fillRect/>
          </a:stretch>
        </p:blipFill>
        <p:spPr>
          <a:xfrm>
            <a:off x="3833856" y="3288072"/>
            <a:ext cx="771615" cy="1142335"/>
          </a:xfrm>
          <a:prstGeom prst="rect">
            <a:avLst/>
          </a:prstGeom>
        </p:spPr>
      </p:pic>
      <p:pic>
        <p:nvPicPr>
          <p:cNvPr id="47" name="图片 46"/>
          <p:cNvPicPr>
            <a:picLocks noChangeAspect="1"/>
          </p:cNvPicPr>
          <p:nvPr/>
        </p:nvPicPr>
        <p:blipFill>
          <a:blip r:embed="rId9"/>
          <a:stretch>
            <a:fillRect/>
          </a:stretch>
        </p:blipFill>
        <p:spPr>
          <a:xfrm>
            <a:off x="5872564" y="3274245"/>
            <a:ext cx="412940" cy="1183545"/>
          </a:xfrm>
          <a:prstGeom prst="rect">
            <a:avLst/>
          </a:prstGeom>
        </p:spPr>
      </p:pic>
      <p:pic>
        <p:nvPicPr>
          <p:cNvPr id="50" name="图片 49"/>
          <p:cNvPicPr>
            <a:picLocks noChangeAspect="1"/>
          </p:cNvPicPr>
          <p:nvPr/>
        </p:nvPicPr>
        <p:blipFill>
          <a:blip r:embed="rId10"/>
          <a:stretch>
            <a:fillRect/>
          </a:stretch>
        </p:blipFill>
        <p:spPr>
          <a:xfrm>
            <a:off x="7513839" y="3273309"/>
            <a:ext cx="596739" cy="1241218"/>
          </a:xfrm>
          <a:prstGeom prst="rect">
            <a:avLst/>
          </a:prstGeom>
        </p:spPr>
      </p:pic>
      <p:pic>
        <p:nvPicPr>
          <p:cNvPr id="51" name="图片 50"/>
          <p:cNvPicPr>
            <a:picLocks noChangeAspect="1"/>
          </p:cNvPicPr>
          <p:nvPr/>
        </p:nvPicPr>
        <p:blipFill>
          <a:blip r:embed="rId11"/>
          <a:stretch>
            <a:fillRect/>
          </a:stretch>
        </p:blipFill>
        <p:spPr>
          <a:xfrm>
            <a:off x="623229" y="4908724"/>
            <a:ext cx="545315" cy="1448865"/>
          </a:xfrm>
          <a:prstGeom prst="rect">
            <a:avLst/>
          </a:prstGeom>
        </p:spPr>
      </p:pic>
      <p:pic>
        <p:nvPicPr>
          <p:cNvPr id="52" name="图片 51"/>
          <p:cNvPicPr>
            <a:picLocks noChangeAspect="1"/>
          </p:cNvPicPr>
          <p:nvPr/>
        </p:nvPicPr>
        <p:blipFill>
          <a:blip r:embed="rId12"/>
          <a:stretch>
            <a:fillRect/>
          </a:stretch>
        </p:blipFill>
        <p:spPr>
          <a:xfrm>
            <a:off x="2195473" y="4957849"/>
            <a:ext cx="530374" cy="1320666"/>
          </a:xfrm>
          <a:prstGeom prst="rect">
            <a:avLst/>
          </a:prstGeom>
        </p:spPr>
      </p:pic>
      <p:pic>
        <p:nvPicPr>
          <p:cNvPr id="53" name="图片 52"/>
          <p:cNvPicPr>
            <a:picLocks noChangeAspect="1"/>
          </p:cNvPicPr>
          <p:nvPr/>
        </p:nvPicPr>
        <p:blipFill>
          <a:blip r:embed="rId13"/>
          <a:stretch>
            <a:fillRect/>
          </a:stretch>
        </p:blipFill>
        <p:spPr>
          <a:xfrm>
            <a:off x="4038154" y="4965324"/>
            <a:ext cx="513893" cy="1360732"/>
          </a:xfrm>
          <a:prstGeom prst="rect">
            <a:avLst/>
          </a:prstGeom>
        </p:spPr>
      </p:pic>
      <p:pic>
        <p:nvPicPr>
          <p:cNvPr id="54" name="图片 53"/>
          <p:cNvPicPr>
            <a:picLocks noChangeAspect="1"/>
          </p:cNvPicPr>
          <p:nvPr/>
        </p:nvPicPr>
        <p:blipFill>
          <a:blip r:embed="rId14"/>
          <a:stretch>
            <a:fillRect/>
          </a:stretch>
        </p:blipFill>
        <p:spPr>
          <a:xfrm>
            <a:off x="5955390" y="4998865"/>
            <a:ext cx="789222" cy="1582533"/>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2355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3557" name="Rectangle 3"/>
          <p:cNvSpPr>
            <a:spLocks noGrp="1" noChangeArrowheads="1"/>
          </p:cNvSpPr>
          <p:nvPr>
            <p:ph idx="1"/>
          </p:nvPr>
        </p:nvSpPr>
        <p:spPr>
          <a:xfrm>
            <a:off x="457200" y="1152525"/>
            <a:ext cx="8381888" cy="5248275"/>
          </a:xfrm>
          <a:ln>
            <a:solidFill>
              <a:schemeClr val="accent1"/>
            </a:solidFill>
          </a:ln>
        </p:spPr>
        <p:txBody>
          <a:bodyPr/>
          <a:lstStyle/>
          <a:p>
            <a:pPr eaLnBrk="1" hangingPunct="1">
              <a:lnSpc>
                <a:spcPct val="80000"/>
              </a:lnSpc>
              <a:buNone/>
            </a:pPr>
            <a:r>
              <a:rPr lang="zh-CN" altLang="en-US" sz="1800" dirty="0">
                <a:ea typeface="华文楷体" panose="02010600040101010101" pitchFamily="2" charset="-122"/>
              </a:rPr>
              <a:t>对用二叉链表表示的二叉树，设计一个算法，求其后序遍历的第一个结点。 </a:t>
            </a:r>
            <a:endParaRPr lang="zh-CN" altLang="en-US" sz="1800" dirty="0">
              <a:ea typeface="华文楷体" panose="02010600040101010101" pitchFamily="2" charset="-122"/>
            </a:endParaRPr>
          </a:p>
          <a:p>
            <a:pPr eaLnBrk="1" hangingPunct="1">
              <a:lnSpc>
                <a:spcPct val="80000"/>
              </a:lnSpc>
              <a:buNone/>
            </a:pPr>
            <a:r>
              <a:rPr lang="en-US" altLang="zh-CN" sz="1800" dirty="0" err="1" smtClean="0">
                <a:ea typeface="华文楷体" panose="02010600040101010101" pitchFamily="2" charset="-122"/>
              </a:rPr>
              <a:t>bitptr</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firstnode</a:t>
            </a:r>
            <a:r>
              <a:rPr lang="en-US" altLang="zh-CN" sz="1800" dirty="0" smtClean="0">
                <a:ea typeface="华文楷体" panose="02010600040101010101" pitchFamily="2" charset="-122"/>
              </a:rPr>
              <a:t>(</a:t>
            </a:r>
            <a:r>
              <a:rPr lang="en-US" altLang="zh-CN" sz="1800" dirty="0" err="1">
                <a:ea typeface="华文楷体" panose="02010600040101010101" pitchFamily="2" charset="-122"/>
              </a:rPr>
              <a:t>BiTree</a:t>
            </a:r>
            <a:r>
              <a:rPr lang="en-US" altLang="zh-CN" sz="1800" dirty="0" smtClean="0">
                <a:ea typeface="华文楷体" panose="02010600040101010101" pitchFamily="2" charset="-122"/>
              </a:rPr>
              <a:t>  root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if  ( ! root )  return  NULL;         // </a:t>
            </a:r>
            <a:r>
              <a:rPr lang="zh-CN" altLang="en-US" sz="1800" dirty="0" smtClean="0">
                <a:ea typeface="华文楷体" panose="02010600040101010101" pitchFamily="2" charset="-122"/>
              </a:rPr>
              <a:t>空树不存在此结点</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while  ( root-&gt;</a:t>
            </a:r>
            <a:r>
              <a:rPr lang="en-US" altLang="zh-CN" sz="1800" dirty="0" err="1" smtClean="0">
                <a:ea typeface="华文楷体" panose="02010600040101010101" pitchFamily="2" charset="-122"/>
              </a:rPr>
              <a:t>lc</a:t>
            </a:r>
            <a:r>
              <a:rPr lang="en-US" altLang="zh-CN" sz="1800" dirty="0" smtClean="0">
                <a:ea typeface="华文楷体" panose="02010600040101010101" pitchFamily="2" charset="-122"/>
              </a:rPr>
              <a:t>  ||  root-&gt;</a:t>
            </a:r>
            <a:r>
              <a:rPr lang="en-US" altLang="zh-CN" sz="1800" dirty="0" err="1" smtClean="0">
                <a:ea typeface="华文楷体" panose="02010600040101010101" pitchFamily="2" charset="-122"/>
              </a:rPr>
              <a:t>rc</a:t>
            </a:r>
            <a:r>
              <a:rPr lang="en-US" altLang="zh-CN" sz="1800" dirty="0" smtClean="0">
                <a:ea typeface="华文楷体" panose="02010600040101010101" pitchFamily="2" charset="-122"/>
              </a:rPr>
              <a:t> )   // </a:t>
            </a:r>
            <a:r>
              <a:rPr lang="zh-CN" altLang="en-US" sz="1800" dirty="0" smtClean="0">
                <a:ea typeface="华文楷体" panose="02010600040101010101" pitchFamily="2" charset="-122"/>
              </a:rPr>
              <a:t>尚未找到叶子结点</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if  ( root-&gt;</a:t>
            </a:r>
            <a:r>
              <a:rPr lang="en-US" altLang="zh-CN" sz="1800" dirty="0" err="1" smtClean="0">
                <a:ea typeface="华文楷体" panose="02010600040101010101" pitchFamily="2" charset="-122"/>
              </a:rPr>
              <a:t>lc</a:t>
            </a:r>
            <a:r>
              <a:rPr lang="en-US" altLang="zh-CN" sz="1800" dirty="0" smtClean="0">
                <a:ea typeface="华文楷体" panose="02010600040101010101" pitchFamily="2" charset="-122"/>
              </a:rPr>
              <a:t> )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root = root-&gt;</a:t>
            </a:r>
            <a:r>
              <a:rPr lang="en-US" altLang="zh-CN" sz="1800" dirty="0" err="1" smtClean="0">
                <a:ea typeface="华文楷体" panose="02010600040101010101" pitchFamily="2" charset="-122"/>
              </a:rPr>
              <a:t>lc</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 </a:t>
            </a:r>
            <a:r>
              <a:rPr lang="zh-CN" altLang="en-US" sz="1800" dirty="0" smtClean="0">
                <a:ea typeface="华文楷体" panose="02010600040101010101" pitchFamily="2" charset="-122"/>
              </a:rPr>
              <a:t>若有左子树，则沿左分枝向下查找最左下的叶子结点</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else  </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root = root-&gt;</a:t>
            </a:r>
            <a:r>
              <a:rPr lang="en-US" altLang="zh-CN" sz="1800" dirty="0" err="1" smtClean="0">
                <a:ea typeface="华文楷体" panose="02010600040101010101" pitchFamily="2" charset="-122"/>
              </a:rPr>
              <a:t>rc</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 </a:t>
            </a:r>
            <a:r>
              <a:rPr lang="zh-CN" altLang="en-US" sz="1800" dirty="0" smtClean="0">
                <a:ea typeface="华文楷体" panose="02010600040101010101" pitchFamily="2" charset="-122"/>
              </a:rPr>
              <a:t>若无左子树，则沿右分枝向下查找最左下的叶子结点</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    </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    return  root;                       // </a:t>
            </a:r>
            <a:r>
              <a:rPr lang="zh-CN" altLang="en-US" sz="1800" dirty="0" smtClean="0">
                <a:ea typeface="华文楷体" panose="02010600040101010101" pitchFamily="2" charset="-122"/>
              </a:rPr>
              <a:t>返回后序遍历的第一个结点</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b="1" dirty="0" smtClean="0">
                <a:solidFill>
                  <a:srgbClr val="C00000"/>
                </a:solidFill>
                <a:ea typeface="华文楷体" panose="02010600040101010101" pitchFamily="2" charset="-122"/>
              </a:rPr>
              <a:t>算法思想</a:t>
            </a:r>
            <a:r>
              <a:rPr lang="zh-CN" altLang="en-US" sz="1800" dirty="0" smtClean="0">
                <a:ea typeface="华文楷体" panose="02010600040101010101" pitchFamily="2" charset="-122"/>
              </a:rPr>
              <a:t>： </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a:t>
            </a:r>
            <a:r>
              <a:rPr lang="en-US" altLang="zh-CN" sz="1800" dirty="0" smtClean="0">
                <a:ea typeface="华文楷体" panose="02010600040101010101" pitchFamily="2" charset="-122"/>
              </a:rPr>
              <a:t>1</a:t>
            </a:r>
            <a:r>
              <a:rPr lang="zh-CN" altLang="en-US" sz="1800" dirty="0" smtClean="0">
                <a:ea typeface="华文楷体" panose="02010600040101010101" pitchFamily="2" charset="-122"/>
              </a:rPr>
              <a:t>）若树根有左子树，则树根的左子树上最左下的叶子结点即为所求；</a:t>
            </a:r>
            <a:endParaRPr lang="zh-CN" altLang="en-US" sz="18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1800" dirty="0" smtClean="0">
                <a:ea typeface="华文楷体" panose="02010600040101010101" pitchFamily="2" charset="-122"/>
              </a:rPr>
              <a:t>（</a:t>
            </a:r>
            <a:r>
              <a:rPr lang="en-US" altLang="zh-CN" sz="1800" dirty="0" smtClean="0">
                <a:ea typeface="华文楷体" panose="02010600040101010101" pitchFamily="2" charset="-122"/>
              </a:rPr>
              <a:t>2</a:t>
            </a:r>
            <a:r>
              <a:rPr lang="zh-CN" altLang="en-US" sz="1800" dirty="0" smtClean="0">
                <a:ea typeface="华文楷体" panose="02010600040101010101" pitchFamily="2" charset="-122"/>
              </a:rPr>
              <a:t>）若树根无左子树，仅有右子树，则树根右子树上最左下的叶子结点即为所求。 </a:t>
            </a:r>
            <a:endParaRPr lang="zh-CN" altLang="en-US" sz="18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297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9701" name="Rectangle 3"/>
          <p:cNvSpPr>
            <a:spLocks noGrp="1" noChangeArrowheads="1"/>
          </p:cNvSpPr>
          <p:nvPr>
            <p:ph idx="1"/>
          </p:nvPr>
        </p:nvSpPr>
        <p:spPr>
          <a:xfrm>
            <a:off x="419100" y="1212850"/>
            <a:ext cx="8229600" cy="5568950"/>
          </a:xfrm>
          <a:ln>
            <a:solidFill>
              <a:schemeClr val="accent1"/>
            </a:solidFill>
          </a:ln>
        </p:spPr>
        <p:txBody>
          <a:bodyPr/>
          <a:lstStyle/>
          <a:p>
            <a:pPr eaLnBrk="1" hangingPunct="1">
              <a:lnSpc>
                <a:spcPct val="80000"/>
              </a:lnSpc>
              <a:buFont typeface="Wingdings" panose="05000000000000000000" pitchFamily="2" charset="2"/>
              <a:buNone/>
            </a:pPr>
            <a:r>
              <a:rPr lang="zh-CN" altLang="en-US" sz="2000" dirty="0" smtClean="0">
                <a:ea typeface="华文楷体" panose="02010600040101010101" pitchFamily="2" charset="-122"/>
              </a:rPr>
              <a:t>以下程序是二叉链表树中序遍历的非递归算法，请填空使之完善。</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000" dirty="0" smtClean="0">
              <a:ea typeface="华文楷体" panose="02010600040101010101" pitchFamily="2" charset="-122"/>
            </a:endParaRPr>
          </a:p>
          <a:p>
            <a:pPr eaLnBrk="1" hangingPunct="1">
              <a:lnSpc>
                <a:spcPct val="80000"/>
              </a:lnSpc>
              <a:buNone/>
            </a:pPr>
            <a:r>
              <a:rPr lang="en-US" altLang="zh-CN" sz="2000" dirty="0">
                <a:ea typeface="华文楷体" panose="02010600040101010101" pitchFamily="2" charset="-122"/>
              </a:rPr>
              <a:t>void </a:t>
            </a:r>
            <a:r>
              <a:rPr lang="en-US" altLang="zh-CN" sz="2000" dirty="0" err="1">
                <a:ea typeface="华文楷体" panose="02010600040101010101" pitchFamily="2" charset="-122"/>
              </a:rPr>
              <a:t>vst</a:t>
            </a:r>
            <a:r>
              <a:rPr lang="en-US" altLang="zh-CN" sz="2000" dirty="0">
                <a:ea typeface="华文楷体" panose="02010600040101010101" pitchFamily="2" charset="-122"/>
              </a:rPr>
              <a:t>(</a:t>
            </a:r>
            <a:r>
              <a:rPr lang="en-US" altLang="zh-CN" sz="2000" dirty="0" err="1">
                <a:ea typeface="华文楷体" panose="02010600040101010101" pitchFamily="2" charset="-122"/>
              </a:rPr>
              <a:t>BiTree</a:t>
            </a:r>
            <a:r>
              <a:rPr lang="en-US" altLang="zh-CN" sz="2000" dirty="0">
                <a:ea typeface="华文楷体" panose="02010600040101010101" pitchFamily="2" charset="-122"/>
              </a:rPr>
              <a:t> </a:t>
            </a:r>
            <a:r>
              <a:rPr lang="en-US" altLang="zh-CN" sz="2000" dirty="0" err="1" smtClean="0">
                <a:ea typeface="华文楷体" panose="02010600040101010101" pitchFamily="2" charset="-122"/>
              </a:rPr>
              <a:t>bt</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bt</a:t>
            </a:r>
            <a:r>
              <a:rPr lang="zh-CN" altLang="en-US" sz="2000" dirty="0" smtClean="0">
                <a:ea typeface="华文楷体" panose="02010600040101010101" pitchFamily="2" charset="-122"/>
              </a:rPr>
              <a:t>为根结点的指针*</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bitree</a:t>
            </a:r>
            <a:r>
              <a:rPr lang="en-US" altLang="zh-CN" sz="2000" dirty="0" smtClean="0">
                <a:ea typeface="华文楷体" panose="02010600040101010101" pitchFamily="2" charset="-122"/>
              </a:rPr>
              <a:t>  p; p=</a:t>
            </a:r>
            <a:r>
              <a:rPr lang="en-US" altLang="zh-CN" sz="2000" dirty="0" err="1" smtClean="0">
                <a:ea typeface="华文楷体" panose="02010600040101010101" pitchFamily="2" charset="-122"/>
              </a:rPr>
              <a:t>bt</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initstack</a:t>
            </a:r>
            <a:r>
              <a:rPr lang="en-US" altLang="zh-CN" sz="2000" dirty="0" smtClean="0">
                <a:ea typeface="华文楷体" panose="02010600040101010101" pitchFamily="2" charset="-122"/>
              </a:rPr>
              <a:t>(s);    /*</a:t>
            </a:r>
            <a:r>
              <a:rPr lang="zh-CN" altLang="en-US" sz="2000" dirty="0" smtClean="0">
                <a:ea typeface="华文楷体" panose="02010600040101010101" pitchFamily="2" charset="-122"/>
              </a:rPr>
              <a:t>初始化栈</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为空栈*</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while(p || !empty(s))              /*</a:t>
            </a:r>
            <a:r>
              <a:rPr lang="zh-CN" altLang="en-US" sz="2000" dirty="0" smtClean="0">
                <a:ea typeface="华文楷体" panose="02010600040101010101" pitchFamily="2" charset="-122"/>
              </a:rPr>
              <a:t>栈</a:t>
            </a:r>
            <a:r>
              <a:rPr lang="en-US" altLang="zh-CN" sz="2000" dirty="0" smtClean="0">
                <a:ea typeface="华文楷体" panose="02010600040101010101" pitchFamily="2" charset="-122"/>
              </a:rPr>
              <a:t>s</a:t>
            </a:r>
            <a:r>
              <a:rPr lang="zh-CN" altLang="en-US" sz="2000" dirty="0" smtClean="0">
                <a:ea typeface="华文楷体" panose="02010600040101010101" pitchFamily="2" charset="-122"/>
              </a:rPr>
              <a:t>不为空*</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if(p)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push (</a:t>
            </a:r>
            <a:r>
              <a:rPr lang="en-US" altLang="zh-CN" sz="2000" dirty="0" err="1" smtClean="0">
                <a:ea typeface="华文楷体" panose="02010600040101010101" pitchFamily="2" charset="-122"/>
              </a:rPr>
              <a:t>s,p</a:t>
            </a: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a:t>
            </a:r>
            <a:r>
              <a:rPr lang="en-US" altLang="zh-CN" sz="2000" u="sng" dirty="0" smtClean="0">
                <a:ea typeface="华文楷体" panose="02010600040101010101" pitchFamily="2" charset="-122"/>
              </a:rPr>
              <a:t>(1)___; </a:t>
            </a:r>
            <a:endParaRPr lang="en-US" altLang="zh-CN" sz="2000" u="sng"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     /*P</a:t>
            </a:r>
            <a:r>
              <a:rPr lang="zh-CN" altLang="en-US" sz="2000" dirty="0" smtClean="0">
                <a:ea typeface="华文楷体" panose="02010600040101010101" pitchFamily="2" charset="-122"/>
              </a:rPr>
              <a:t>入栈*</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else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p=pop(s);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printf</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c”,p</a:t>
            </a:r>
            <a:r>
              <a:rPr lang="en-US" altLang="zh-CN" sz="2000" dirty="0" smtClean="0">
                <a:ea typeface="华文楷体" panose="02010600040101010101" pitchFamily="2" charset="-122"/>
              </a:rPr>
              <a:t>-&gt;data);</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a:t>
            </a:r>
            <a:r>
              <a:rPr lang="en-US" altLang="zh-CN" sz="2000" u="sng" dirty="0" smtClean="0">
                <a:ea typeface="华文楷体" panose="02010600040101010101" pitchFamily="2" charset="-122"/>
              </a:rPr>
              <a:t>2)____; </a:t>
            </a:r>
            <a:endParaRPr lang="en-US" altLang="zh-CN" sz="2000" u="sng"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  /*</a:t>
            </a:r>
            <a:r>
              <a:rPr lang="zh-CN" altLang="en-US" sz="2000" dirty="0" smtClean="0">
                <a:ea typeface="华文楷体" panose="02010600040101010101" pitchFamily="2" charset="-122"/>
              </a:rPr>
              <a:t>栈顶元素出栈*</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a:t>
            </a:r>
            <a:r>
              <a:rPr lang="en-US" altLang="zh-CN" sz="1600" dirty="0" smtClean="0">
                <a:ea typeface="华文楷体" panose="02010600040101010101" pitchFamily="2" charset="-122"/>
              </a:rPr>
              <a:t> </a:t>
            </a:r>
            <a:endParaRPr lang="en-US" altLang="zh-CN" sz="1600" dirty="0" smtClean="0">
              <a:ea typeface="华文楷体" panose="02010600040101010101" pitchFamily="2" charset="-122"/>
            </a:endParaRPr>
          </a:p>
        </p:txBody>
      </p:sp>
      <p:sp>
        <p:nvSpPr>
          <p:cNvPr id="100356" name="Text Box 4"/>
          <p:cNvSpPr txBox="1">
            <a:spLocks noChangeArrowheads="1"/>
          </p:cNvSpPr>
          <p:nvPr/>
        </p:nvSpPr>
        <p:spPr bwMode="auto">
          <a:xfrm>
            <a:off x="4562531" y="3421856"/>
            <a:ext cx="3845925" cy="830997"/>
          </a:xfrm>
          <a:prstGeom prst="rect">
            <a:avLst/>
          </a:prstGeom>
          <a:solidFill>
            <a:srgbClr val="FFFF00"/>
          </a:solidFill>
          <a:ln w="9525">
            <a:solidFill>
              <a:srgbClr val="FFC000"/>
            </a:solidFill>
            <a:miter lim="800000"/>
          </a:ln>
        </p:spPr>
        <p:txBody>
          <a:bodyPr wrap="non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AutoNum type="arabicParenBoth"/>
            </a:pPr>
            <a:r>
              <a:rPr lang="en-US" altLang="zh-CN" sz="2400" dirty="0" smtClean="0">
                <a:latin typeface="Times New Roman" panose="02020603050405020304" pitchFamily="18" charset="0"/>
                <a:ea typeface="华文楷体" panose="02010600040101010101" pitchFamily="2" charset="-122"/>
              </a:rPr>
              <a:t>p=p-</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  //  </a:t>
            </a:r>
            <a:r>
              <a:rPr lang="zh-CN" altLang="en-US" sz="2400" dirty="0">
                <a:latin typeface="Times New Roman" panose="02020603050405020304" pitchFamily="18" charset="0"/>
                <a:ea typeface="华文楷体" panose="02010600040101010101" pitchFamily="2" charset="-122"/>
              </a:rPr>
              <a:t>沿左子树向下</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AutoNum type="arabicParenBoth"/>
            </a:pP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p=p-&gt;</a:t>
            </a:r>
            <a:r>
              <a:rPr lang="en-US" altLang="zh-CN" sz="2400" dirty="0" err="1">
                <a:latin typeface="Times New Roman" panose="02020603050405020304" pitchFamily="18" charset="0"/>
                <a:ea typeface="华文楷体" panose="02010600040101010101" pitchFamily="2" charset="-122"/>
              </a:rPr>
              <a:t>rc</a:t>
            </a:r>
            <a:r>
              <a:rPr lang="en-US" altLang="zh-CN" sz="1800" dirty="0">
                <a:latin typeface="Times New Roman" panose="02020603050405020304" pitchFamily="18" charset="0"/>
                <a:ea typeface="华文楷体" panose="02010600040101010101" pitchFamily="2" charset="-122"/>
              </a:rPr>
              <a:t>  </a:t>
            </a:r>
            <a:endParaRPr lang="en-US" altLang="zh-CN" sz="1800" dirty="0" smtClean="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diamond(in)">
                                      <p:cBhvr>
                                        <p:cTn id="7" dur="20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072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1379" name="Rectangle 3"/>
          <p:cNvSpPr>
            <a:spLocks noGrp="1" noChangeArrowheads="1"/>
          </p:cNvSpPr>
          <p:nvPr>
            <p:ph idx="1"/>
          </p:nvPr>
        </p:nvSpPr>
        <p:spPr>
          <a:ln>
            <a:solidFill>
              <a:schemeClr val="accent1"/>
            </a:solidFill>
          </a:ln>
        </p:spPr>
        <p:txBody>
          <a:bodyPr/>
          <a:lstStyle/>
          <a:p>
            <a:pPr marL="812800" indent="-812800" eaLnBrk="1" hangingPunct="1">
              <a:lnSpc>
                <a:spcPct val="90000"/>
              </a:lnSpc>
              <a:buFont typeface="Wingdings" panose="05000000000000000000" pitchFamily="2" charset="2"/>
              <a:buNone/>
            </a:pPr>
            <a:r>
              <a:rPr lang="zh-CN" altLang="en-US" sz="2400" dirty="0" smtClean="0">
                <a:ea typeface="华文楷体" panose="02010600040101010101" pitchFamily="2" charset="-122"/>
              </a:rPr>
              <a:t>试找出满足下列条件的二叉树</a:t>
            </a:r>
            <a:endParaRPr lang="zh-CN" altLang="en-US" sz="2400" dirty="0" smtClean="0">
              <a:ea typeface="华文楷体" panose="02010600040101010101" pitchFamily="2" charset="-122"/>
            </a:endParaRPr>
          </a:p>
          <a:p>
            <a:pPr marL="812800" indent="-812800" eaLnBrk="1" hangingPunct="1">
              <a:lnSpc>
                <a:spcPct val="90000"/>
              </a:lnSpc>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）先序序列与后序序列相同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）中序序列与后序序列相同</a:t>
            </a:r>
            <a:endParaRPr lang="zh-CN" altLang="en-US" sz="2400" dirty="0" smtClean="0">
              <a:ea typeface="华文楷体" panose="02010600040101010101" pitchFamily="2" charset="-122"/>
            </a:endParaRPr>
          </a:p>
          <a:p>
            <a:pPr marL="812800" indent="-812800" eaLnBrk="1" hangingPunct="1">
              <a:lnSpc>
                <a:spcPct val="90000"/>
              </a:lnSpc>
              <a:buFont typeface="Wingdings" panose="05000000000000000000" pitchFamily="2" charset="2"/>
              <a:buNone/>
            </a:pP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）先序序列与中序序列相同  </a:t>
            </a:r>
            <a:r>
              <a:rPr lang="en-US" altLang="zh-CN" sz="2400" dirty="0" smtClean="0">
                <a:ea typeface="华文楷体" panose="02010600040101010101" pitchFamily="2" charset="-122"/>
              </a:rPr>
              <a:t>4</a:t>
            </a:r>
            <a:r>
              <a:rPr lang="zh-CN" altLang="en-US" sz="2400" dirty="0" smtClean="0">
                <a:ea typeface="华文楷体" panose="02010600040101010101" pitchFamily="2" charset="-122"/>
              </a:rPr>
              <a:t>）中序序列与层次遍历序列相同</a:t>
            </a:r>
            <a:endParaRPr lang="zh-CN" altLang="en-US" sz="2400" dirty="0" smtClean="0">
              <a:ea typeface="华文楷体" panose="02010600040101010101" pitchFamily="2" charset="-122"/>
            </a:endParaRPr>
          </a:p>
          <a:p>
            <a:pPr marL="812800" indent="-812800" eaLnBrk="1" hangingPunct="1">
              <a:lnSpc>
                <a:spcPct val="90000"/>
              </a:lnSpc>
              <a:buFont typeface="Wingdings" panose="05000000000000000000" pitchFamily="2" charset="2"/>
              <a:buNone/>
            </a:pPr>
            <a:r>
              <a:rPr lang="zh-CN" altLang="en-US" sz="2400" dirty="0" smtClean="0">
                <a:ea typeface="华文楷体" panose="02010600040101010101" pitchFamily="2" charset="-122"/>
              </a:rPr>
              <a:t>解答：</a:t>
            </a:r>
            <a:endParaRPr lang="zh-CN" altLang="en-US" sz="2400" dirty="0" smtClean="0">
              <a:ea typeface="华文楷体" panose="02010600040101010101" pitchFamily="2" charset="-122"/>
            </a:endParaRPr>
          </a:p>
          <a:p>
            <a:pPr marL="812800" indent="-812800" eaLnBrk="1" hangingPunct="1">
              <a:lnSpc>
                <a:spcPct val="90000"/>
              </a:lnSpc>
              <a:buFont typeface="Wingdings" panose="05000000000000000000" pitchFamily="2" charset="2"/>
              <a:buNone/>
            </a:pPr>
            <a:r>
              <a:rPr lang="zh-CN" altLang="en-US" sz="2400" dirty="0" smtClean="0">
                <a:ea typeface="华文楷体" panose="02010600040101010101" pitchFamily="2" charset="-122"/>
              </a:rPr>
              <a:t>若先序序列与后序序列相同，则或为空树，或为只有根结点的二叉树</a:t>
            </a:r>
            <a:endParaRPr lang="zh-CN" altLang="en-US" sz="2400" dirty="0" smtClean="0">
              <a:ea typeface="华文楷体" panose="02010600040101010101" pitchFamily="2" charset="-122"/>
            </a:endParaRPr>
          </a:p>
          <a:p>
            <a:pPr marL="812800" indent="-812800" eaLnBrk="1" hangingPunct="1">
              <a:lnSpc>
                <a:spcPct val="90000"/>
              </a:lnSpc>
              <a:buFont typeface="Wingdings" panose="05000000000000000000" pitchFamily="2" charset="2"/>
              <a:buNone/>
            </a:pPr>
            <a:r>
              <a:rPr lang="zh-CN" altLang="en-US" sz="2400" dirty="0" smtClean="0">
                <a:ea typeface="华文楷体" panose="02010600040101010101" pitchFamily="2" charset="-122"/>
              </a:rPr>
              <a:t>若中序序列与后序序列相同，则或为空树，或为任一结点至多只有左子树的二叉树．</a:t>
            </a:r>
            <a:endParaRPr lang="zh-CN" altLang="en-US" sz="2400" dirty="0" smtClean="0">
              <a:ea typeface="华文楷体" panose="02010600040101010101" pitchFamily="2" charset="-122"/>
            </a:endParaRPr>
          </a:p>
          <a:p>
            <a:pPr marL="812800" indent="-812800" eaLnBrk="1" hangingPunct="1">
              <a:lnSpc>
                <a:spcPct val="90000"/>
              </a:lnSpc>
              <a:buFont typeface="Wingdings" panose="05000000000000000000" pitchFamily="2" charset="2"/>
              <a:buNone/>
            </a:pPr>
            <a:r>
              <a:rPr lang="zh-CN" altLang="en-US" sz="2400" dirty="0" smtClean="0">
                <a:ea typeface="华文楷体" panose="02010600040101010101" pitchFamily="2" charset="-122"/>
              </a:rPr>
              <a:t>若先序序列与中序序列相同，则或为空树，或为任一结点至多只有右子树的二叉树．</a:t>
            </a:r>
            <a:endParaRPr lang="zh-CN" altLang="en-US" sz="2400" dirty="0" smtClean="0">
              <a:ea typeface="华文楷体" panose="02010600040101010101" pitchFamily="2" charset="-122"/>
            </a:endParaRPr>
          </a:p>
          <a:p>
            <a:pPr marL="812800" indent="-812800" eaLnBrk="1" hangingPunct="1">
              <a:lnSpc>
                <a:spcPct val="90000"/>
              </a:lnSpc>
              <a:buFont typeface="Wingdings" panose="05000000000000000000" pitchFamily="2" charset="2"/>
              <a:buNone/>
            </a:pPr>
            <a:r>
              <a:rPr lang="zh-CN" altLang="en-US" sz="2400" dirty="0" smtClean="0">
                <a:ea typeface="华文楷体" panose="02010600040101010101" pitchFamily="2" charset="-122"/>
              </a:rPr>
              <a:t>若中序序列与层次遍历序列相同，则或为空树，或为任一结点至多只有右子树的二叉树</a:t>
            </a:r>
            <a:r>
              <a:rPr lang="zh-CN" altLang="en-US" dirty="0" smtClean="0">
                <a:ea typeface="华文楷体" panose="02010600040101010101" pitchFamily="2" charset="-122"/>
              </a:rPr>
              <a:t>  </a:t>
            </a:r>
            <a:endParaRPr lang="zh-CN" altLang="en-US" dirty="0" smtClean="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1379">
                                            <p:txEl>
                                              <p:pRg st="4" end="4"/>
                                            </p:txEl>
                                          </p:spTgt>
                                        </p:tgtEl>
                                        <p:attrNameLst>
                                          <p:attrName>style.visibility</p:attrName>
                                        </p:attrNameLst>
                                      </p:cBhvr>
                                      <p:to>
                                        <p:strVal val="visible"/>
                                      </p:to>
                                    </p:set>
                                    <p:animEffect transition="in" filter="box(in)">
                                      <p:cBhvr>
                                        <p:cTn id="7" dur="500"/>
                                        <p:tgtEl>
                                          <p:spTgt spid="101379">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01379">
                                            <p:txEl>
                                              <p:pRg st="5" end="5"/>
                                            </p:txEl>
                                          </p:spTgt>
                                        </p:tgtEl>
                                        <p:attrNameLst>
                                          <p:attrName>style.visibility</p:attrName>
                                        </p:attrNameLst>
                                      </p:cBhvr>
                                      <p:to>
                                        <p:strVal val="visible"/>
                                      </p:to>
                                    </p:set>
                                    <p:animEffect transition="in" filter="box(in)">
                                      <p:cBhvr>
                                        <p:cTn id="10" dur="500"/>
                                        <p:tgtEl>
                                          <p:spTgt spid="101379">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01379">
                                            <p:txEl>
                                              <p:pRg st="6" end="6"/>
                                            </p:txEl>
                                          </p:spTgt>
                                        </p:tgtEl>
                                        <p:attrNameLst>
                                          <p:attrName>style.visibility</p:attrName>
                                        </p:attrNameLst>
                                      </p:cBhvr>
                                      <p:to>
                                        <p:strVal val="visible"/>
                                      </p:to>
                                    </p:set>
                                    <p:animEffect transition="in" filter="box(in)">
                                      <p:cBhvr>
                                        <p:cTn id="13" dur="500"/>
                                        <p:tgtEl>
                                          <p:spTgt spid="101379">
                                            <p:txEl>
                                              <p:pRg st="6" end="6"/>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01379">
                                            <p:txEl>
                                              <p:pRg st="7" end="7"/>
                                            </p:txEl>
                                          </p:spTgt>
                                        </p:tgtEl>
                                        <p:attrNameLst>
                                          <p:attrName>style.visibility</p:attrName>
                                        </p:attrNameLst>
                                      </p:cBhvr>
                                      <p:to>
                                        <p:strVal val="visible"/>
                                      </p:to>
                                    </p:set>
                                    <p:animEffect transition="in" filter="box(in)">
                                      <p:cBhvr>
                                        <p:cTn id="16" dur="500"/>
                                        <p:tgtEl>
                                          <p:spTgt spid="1013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31748" name="Rectangle 2"/>
          <p:cNvSpPr>
            <a:spLocks noGrp="1" noChangeArrowheads="1"/>
          </p:cNvSpPr>
          <p:nvPr>
            <p:ph type="title"/>
          </p:nvPr>
        </p:nvSpPr>
        <p:spPr/>
        <p:txBody>
          <a:bodyPr/>
          <a:lstStyle/>
          <a:p>
            <a:pPr eaLnBrk="1" hangingPunct="1"/>
            <a:endParaRPr lang="zh-CN" altLang="zh-CN" sz="2800" dirty="0" smtClean="0">
              <a:ea typeface="华文楷体" panose="02010600040101010101" pitchFamily="2" charset="-122"/>
            </a:endParaRPr>
          </a:p>
        </p:txBody>
      </p:sp>
      <p:sp>
        <p:nvSpPr>
          <p:cNvPr id="31749" name="Rectangle 3"/>
          <p:cNvSpPr>
            <a:spLocks noGrp="1" noChangeArrowheads="1"/>
          </p:cNvSpPr>
          <p:nvPr>
            <p:ph idx="1"/>
          </p:nvPr>
        </p:nvSpPr>
        <p:spPr>
          <a:xfrm>
            <a:off x="457200" y="1152525"/>
            <a:ext cx="8229600" cy="5629275"/>
          </a:xfrm>
          <a:ln>
            <a:solidFill>
              <a:schemeClr val="accent1"/>
            </a:solidFill>
          </a:ln>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在二叉树中查找结点值为</a:t>
            </a:r>
            <a:r>
              <a:rPr lang="en-US" altLang="zh-CN" sz="2400" b="1" dirty="0" smtClean="0">
                <a:solidFill>
                  <a:srgbClr val="CC6600"/>
                </a:solidFill>
                <a:ea typeface="华文楷体" panose="02010600040101010101" pitchFamily="2" charset="-122"/>
              </a:rPr>
              <a:t>x</a:t>
            </a:r>
            <a:r>
              <a:rPr lang="zh-CN" altLang="en-US" sz="2400" b="1" dirty="0" smtClean="0">
                <a:solidFill>
                  <a:srgbClr val="CC6600"/>
                </a:solidFill>
                <a:ea typeface="华文楷体" panose="02010600040101010101" pitchFamily="2" charset="-122"/>
              </a:rPr>
              <a:t>的结点</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31750" name="Text Box 4"/>
          <p:cNvSpPr txBox="1">
            <a:spLocks noChangeArrowheads="1"/>
          </p:cNvSpPr>
          <p:nvPr/>
        </p:nvSpPr>
        <p:spPr bwMode="auto">
          <a:xfrm>
            <a:off x="468313" y="1773238"/>
            <a:ext cx="8675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void  </a:t>
            </a:r>
            <a:r>
              <a:rPr lang="en-US" altLang="zh-CN" sz="2400" b="1" dirty="0" err="1">
                <a:solidFill>
                  <a:schemeClr val="accent2"/>
                </a:solidFill>
                <a:latin typeface="Times New Roman" panose="02020603050405020304" pitchFamily="18" charset="0"/>
                <a:ea typeface="华文楷体" panose="02010600040101010101" pitchFamily="2" charset="-122"/>
              </a:rPr>
              <a:t>pre_find</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ElemType</a:t>
            </a:r>
            <a:r>
              <a:rPr lang="en-US" altLang="zh-CN" sz="2400" dirty="0">
                <a:latin typeface="Times New Roman" panose="02020603050405020304" pitchFamily="18" charset="0"/>
                <a:ea typeface="华文楷体" panose="02010600040101010101" pitchFamily="2" charset="-122"/>
              </a:rPr>
              <a:t> x, </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&amp;q)//</a:t>
            </a:r>
            <a:r>
              <a:rPr lang="zh-CN" altLang="en-US" sz="2400" dirty="0">
                <a:latin typeface="Times New Roman" panose="02020603050405020304" pitchFamily="18" charset="0"/>
                <a:ea typeface="华文楷体" panose="02010600040101010101" pitchFamily="2" charset="-122"/>
              </a:rPr>
              <a:t>用</a:t>
            </a:r>
            <a:r>
              <a:rPr lang="en-US" altLang="zh-CN" sz="2400" dirty="0">
                <a:latin typeface="Times New Roman" panose="02020603050405020304" pitchFamily="18" charset="0"/>
                <a:ea typeface="华文楷体" panose="02010600040101010101" pitchFamily="2" charset="-122"/>
              </a:rPr>
              <a:t>q</a:t>
            </a:r>
            <a:r>
              <a:rPr lang="zh-CN" altLang="en-US" sz="2400" dirty="0">
                <a:latin typeface="Times New Roman" panose="02020603050405020304" pitchFamily="18" charset="0"/>
                <a:ea typeface="华文楷体" panose="02010600040101010101" pitchFamily="2" charset="-122"/>
              </a:rPr>
              <a:t>返回</a:t>
            </a:r>
            <a:endParaRPr lang="zh-CN" altLang="en-US" sz="2400" dirty="0">
              <a:latin typeface="Times New Roman" panose="02020603050405020304" pitchFamily="18" charset="0"/>
              <a:ea typeface="华文楷体" panose="02010600040101010101" pitchFamily="2" charset="-122"/>
            </a:endParaRPr>
          </a:p>
        </p:txBody>
      </p:sp>
      <p:sp>
        <p:nvSpPr>
          <p:cNvPr id="102405" name="Text Box 5"/>
          <p:cNvSpPr txBox="1">
            <a:spLocks noChangeArrowheads="1"/>
          </p:cNvSpPr>
          <p:nvPr/>
        </p:nvSpPr>
        <p:spPr bwMode="auto">
          <a:xfrm>
            <a:off x="539750" y="2349500"/>
            <a:ext cx="76327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//F</a:t>
            </a:r>
            <a:r>
              <a:rPr lang="zh-CN" altLang="en-US" sz="2400" dirty="0">
                <a:latin typeface="Times New Roman" panose="02020603050405020304" pitchFamily="18" charset="0"/>
                <a:ea typeface="华文楷体" panose="02010600040101010101" pitchFamily="2" charset="-122"/>
              </a:rPr>
              <a:t>是全局</a:t>
            </a:r>
            <a:r>
              <a:rPr lang="en-US" altLang="zh-CN" sz="2400" dirty="0">
                <a:latin typeface="Times New Roman" panose="02020603050405020304" pitchFamily="18" charset="0"/>
                <a:ea typeface="华文楷体" panose="02010600040101010101" pitchFamily="2" charset="-122"/>
              </a:rPr>
              <a:t>bool</a:t>
            </a:r>
            <a:r>
              <a:rPr lang="zh-CN" altLang="en-US" sz="2400" dirty="0">
                <a:latin typeface="Times New Roman" panose="02020603050405020304" pitchFamily="18" charset="0"/>
                <a:ea typeface="华文楷体" panose="02010600040101010101" pitchFamily="2" charset="-122"/>
              </a:rPr>
              <a:t>型变量，初值为</a:t>
            </a:r>
            <a:r>
              <a:rPr lang="en-US" altLang="zh-CN" sz="2400" dirty="0">
                <a:latin typeface="Times New Roman" panose="02020603050405020304" pitchFamily="18" charset="0"/>
                <a:ea typeface="华文楷体" panose="02010600040101010101" pitchFamily="2" charset="-122"/>
              </a:rPr>
              <a:t>FALSE</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if (</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 &amp;&amp; </a:t>
            </a:r>
            <a:r>
              <a:rPr lang="en-US" altLang="zh-CN" sz="2400" dirty="0">
                <a:solidFill>
                  <a:srgbClr val="A80E02"/>
                </a:solidFill>
                <a:latin typeface="Times New Roman" panose="02020603050405020304" pitchFamily="18" charset="0"/>
                <a:ea typeface="华文楷体" panose="02010600040101010101" pitchFamily="2" charset="-122"/>
              </a:rPr>
              <a:t>F</a:t>
            </a:r>
            <a:r>
              <a:rPr lang="en-US" altLang="zh-CN" sz="2400" dirty="0">
                <a:latin typeface="Times New Roman" panose="02020603050405020304" pitchFamily="18" charset="0"/>
                <a:ea typeface="华文楷体" panose="02010600040101010101" pitchFamily="2" charset="-122"/>
              </a:rPr>
              <a:t>==FALSE)</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if (</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-&gt;data==x)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   q=</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 F=TRUE;}</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else</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solidFill>
                  <a:schemeClr val="accent2"/>
                </a:solidFill>
                <a:latin typeface="Times New Roman" panose="02020603050405020304" pitchFamily="18" charset="0"/>
                <a:ea typeface="华文楷体" panose="02010600040101010101" pitchFamily="2" charset="-122"/>
              </a:rPr>
              <a:t>           {  </a:t>
            </a:r>
            <a:r>
              <a:rPr lang="en-US" altLang="zh-CN" sz="2400" dirty="0" err="1">
                <a:solidFill>
                  <a:schemeClr val="accent2"/>
                </a:solidFill>
                <a:latin typeface="Times New Roman" panose="02020603050405020304" pitchFamily="18" charset="0"/>
                <a:ea typeface="华文楷体" panose="02010600040101010101" pitchFamily="2" charset="-122"/>
              </a:rPr>
              <a:t>pre_find</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 x, q);</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pre_find</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rc</a:t>
            </a:r>
            <a:r>
              <a:rPr lang="en-US" altLang="zh-CN" sz="2400" dirty="0">
                <a:latin typeface="Times New Roman" panose="02020603050405020304" pitchFamily="18" charset="0"/>
                <a:ea typeface="华文楷体" panose="02010600040101010101" pitchFamily="2" charset="-122"/>
              </a:rPr>
              <a:t>, x, q)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102406" name="Text Box 6"/>
          <p:cNvSpPr txBox="1">
            <a:spLocks noChangeArrowheads="1"/>
          </p:cNvSpPr>
          <p:nvPr/>
        </p:nvSpPr>
        <p:spPr bwMode="auto">
          <a:xfrm>
            <a:off x="5748260" y="3360736"/>
            <a:ext cx="2743200" cy="2160591"/>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  q=NULL;          bool F=FALSE;</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pre_find</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bt,x,q</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05"/>
                                        </p:tgtEl>
                                        <p:attrNameLst>
                                          <p:attrName>style.visibility</p:attrName>
                                        </p:attrNameLst>
                                      </p:cBhvr>
                                      <p:to>
                                        <p:strVal val="visible"/>
                                      </p:to>
                                    </p:set>
                                    <p:animEffect transition="in" filter="box(in)">
                                      <p:cBhvr>
                                        <p:cTn id="7" dur="500"/>
                                        <p:tgtEl>
                                          <p:spTgt spid="10240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2406"/>
                                        </p:tgtEl>
                                        <p:attrNameLst>
                                          <p:attrName>style.visibility</p:attrName>
                                        </p:attrNameLst>
                                      </p:cBhvr>
                                      <p:to>
                                        <p:strVal val="visible"/>
                                      </p:to>
                                    </p:set>
                                    <p:animEffect transition="in" filter="box(in)">
                                      <p:cBhvr>
                                        <p:cTn id="12" dur="500"/>
                                        <p:tgtEl>
                                          <p:spTgt spid="10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p:bldP spid="10240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3277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2773" name="Rectangle 3"/>
          <p:cNvSpPr>
            <a:spLocks noGrp="1" noChangeArrowheads="1"/>
          </p:cNvSpPr>
          <p:nvPr>
            <p:ph idx="1"/>
          </p:nvPr>
        </p:nvSpPr>
        <p:spPr>
          <a:xfrm>
            <a:off x="457200" y="1152525"/>
            <a:ext cx="8381888" cy="5248275"/>
          </a:xfrm>
          <a:ln>
            <a:solidFill>
              <a:schemeClr val="accent1"/>
            </a:solidFill>
          </a:ln>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求二叉树中每个结点所处的层次</a:t>
            </a:r>
            <a:r>
              <a:rPr lang="en-US" altLang="zh-CN" sz="2400" b="1" dirty="0" smtClean="0">
                <a:solidFill>
                  <a:srgbClr val="CC6600"/>
                </a:solidFill>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void  </a:t>
            </a:r>
            <a:r>
              <a:rPr lang="en-US" altLang="zh-CN" sz="2400" b="1" dirty="0" err="1" smtClean="0">
                <a:solidFill>
                  <a:schemeClr val="accent2"/>
                </a:solidFill>
                <a:ea typeface="华文楷体" panose="02010600040101010101" pitchFamily="2" charset="-122"/>
              </a:rPr>
              <a:t>pre_level</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BiTree</a:t>
            </a:r>
            <a:r>
              <a:rPr lang="en-US" altLang="zh-CN" sz="2400" dirty="0" smtClean="0">
                <a:ea typeface="华文楷体" panose="02010600040101010101" pitchFamily="2" charset="-122"/>
              </a:rPr>
              <a:t> p,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level)</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103428" name="Text Box 4"/>
          <p:cNvSpPr txBox="1">
            <a:spLocks noChangeArrowheads="1"/>
          </p:cNvSpPr>
          <p:nvPr/>
        </p:nvSpPr>
        <p:spPr bwMode="auto">
          <a:xfrm>
            <a:off x="457200" y="2133634"/>
            <a:ext cx="76327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if (p)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write(p-&gt;data, level</a:t>
            </a:r>
            <a:r>
              <a:rPr lang="en-US" altLang="zh-CN" sz="2400" dirty="0" smtClean="0">
                <a:latin typeface="Times New Roman" panose="02020603050405020304" pitchFamily="18" charset="0"/>
                <a:ea typeface="华文楷体" panose="02010600040101010101" pitchFamily="2" charset="-122"/>
              </a:rPr>
              <a:t>);//</a:t>
            </a:r>
            <a:r>
              <a:rPr lang="zh-CN" altLang="en-US" sz="2400" dirty="0" smtClean="0">
                <a:latin typeface="Times New Roman" panose="02020603050405020304" pitchFamily="18" charset="0"/>
                <a:ea typeface="华文楷体" panose="02010600040101010101" pitchFamily="2" charset="-122"/>
              </a:rPr>
              <a:t>假设</a:t>
            </a:r>
            <a:r>
              <a:rPr lang="en-US" altLang="zh-CN" sz="2400" dirty="0" smtClean="0">
                <a:latin typeface="Times New Roman" panose="02020603050405020304" pitchFamily="18" charset="0"/>
                <a:ea typeface="华文楷体" panose="02010600040101010101" pitchFamily="2" charset="-122"/>
              </a:rPr>
              <a:t>write</a:t>
            </a:r>
            <a:r>
              <a:rPr lang="zh-CN" altLang="en-US" sz="2400" dirty="0" smtClean="0">
                <a:latin typeface="Times New Roman" panose="02020603050405020304" pitchFamily="18" charset="0"/>
                <a:ea typeface="华文楷体" panose="02010600040101010101" pitchFamily="2" charset="-122"/>
              </a:rPr>
              <a:t>是输出结点层次</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pre_level</a:t>
            </a:r>
            <a:r>
              <a:rPr lang="en-US" altLang="zh-CN" sz="2400" dirty="0">
                <a:latin typeface="Times New Roman" panose="02020603050405020304" pitchFamily="18" charset="0"/>
                <a:ea typeface="华文楷体" panose="02010600040101010101" pitchFamily="2" charset="-122"/>
              </a:rPr>
              <a:t>(p-&gt;</a:t>
            </a:r>
            <a:r>
              <a:rPr lang="en-US" altLang="zh-CN" sz="2400" dirty="0" err="1" smtClean="0">
                <a:latin typeface="Times New Roman" panose="02020603050405020304" pitchFamily="18" charset="0"/>
                <a:ea typeface="华文楷体" panose="02010600040101010101" pitchFamily="2" charset="-122"/>
              </a:rPr>
              <a:t>lc</a:t>
            </a:r>
            <a:r>
              <a:rPr lang="en-US" altLang="zh-CN" sz="2400" dirty="0" smtClean="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level+1);</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pre_level</a:t>
            </a:r>
            <a:r>
              <a:rPr lang="en-US" altLang="zh-CN" sz="2400" dirty="0">
                <a:latin typeface="Times New Roman" panose="02020603050405020304" pitchFamily="18" charset="0"/>
                <a:ea typeface="华文楷体" panose="02010600040101010101" pitchFamily="2" charset="-122"/>
              </a:rPr>
              <a:t>(p-&gt;</a:t>
            </a:r>
            <a:r>
              <a:rPr lang="en-US" altLang="zh-CN" sz="2400" dirty="0" err="1" smtClean="0">
                <a:latin typeface="Times New Roman" panose="02020603050405020304" pitchFamily="18" charset="0"/>
                <a:ea typeface="华文楷体" panose="02010600040101010101" pitchFamily="2" charset="-122"/>
              </a:rPr>
              <a:t>rc</a:t>
            </a:r>
            <a:r>
              <a:rPr lang="en-US" altLang="zh-CN" sz="2400" dirty="0">
                <a:latin typeface="Times New Roman" panose="02020603050405020304" pitchFamily="18" charset="0"/>
                <a:ea typeface="华文楷体" panose="02010600040101010101" pitchFamily="2" charset="-122"/>
              </a:rPr>
              <a:t>,</a:t>
            </a:r>
            <a:r>
              <a:rPr lang="en-US" altLang="zh-CN" sz="2400" dirty="0" smtClean="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level+1);</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endParaRPr lang="en-US" altLang="zh-CN" sz="2400" dirty="0">
              <a:latin typeface="Times New Roman" panose="02020603050405020304" pitchFamily="18" charset="0"/>
              <a:ea typeface="华文楷体" panose="02010600040101010101" pitchFamily="2" charset="-122"/>
            </a:endParaRPr>
          </a:p>
        </p:txBody>
      </p:sp>
      <p:sp>
        <p:nvSpPr>
          <p:cNvPr id="103429" name="Text Box 5"/>
          <p:cNvSpPr txBox="1">
            <a:spLocks noChangeArrowheads="1"/>
          </p:cNvSpPr>
          <p:nvPr/>
        </p:nvSpPr>
        <p:spPr bwMode="auto">
          <a:xfrm>
            <a:off x="5791200" y="1522460"/>
            <a:ext cx="2971800" cy="168046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pre_level</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 1);</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checkerboard(across)">
                                      <p:cBhvr>
                                        <p:cTn id="7" dur="500"/>
                                        <p:tgtEl>
                                          <p:spTgt spid="10342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Effect transition="in" filter="diamond(in)">
                                      <p:cBhvr>
                                        <p:cTn id="12" dur="2000"/>
                                        <p:tgtEl>
                                          <p:spTgt spid="103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p:bldP spid="10342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9" name="日期占位符 5"/>
          <p:cNvSpPr>
            <a:spLocks noGrp="1"/>
          </p:cNvSpPr>
          <p:nvPr>
            <p:ph type="dt" sz="quarter" idx="12"/>
          </p:nvPr>
        </p:nvSpPr>
        <p:spPr/>
        <p:txBody>
          <a:bodyPr/>
          <a:lstStyle/>
          <a:p>
            <a:pPr>
              <a:defRPr/>
            </a:pPr>
            <a:r>
              <a:rPr lang="en-US" altLang="zh-CN"/>
              <a:t>BUPT</a:t>
            </a:r>
            <a:endParaRPr lang="en-US" altLang="zh-CN"/>
          </a:p>
        </p:txBody>
      </p:sp>
      <p:sp>
        <p:nvSpPr>
          <p:cNvPr id="337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3797" name="Rectangle 3"/>
          <p:cNvSpPr>
            <a:spLocks noGrp="1" noChangeArrowheads="1"/>
          </p:cNvSpPr>
          <p:nvPr>
            <p:ph idx="1"/>
          </p:nvPr>
        </p:nvSpPr>
        <p:spPr>
          <a:xfrm>
            <a:off x="76319" y="1066800"/>
            <a:ext cx="8762770" cy="5715000"/>
          </a:xfrm>
          <a:ln>
            <a:solidFill>
              <a:schemeClr val="accent1"/>
            </a:solidFill>
          </a:ln>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求二叉树的高度</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p:txBody>
      </p:sp>
      <p:sp>
        <p:nvSpPr>
          <p:cNvPr id="104452" name="Text Box 4"/>
          <p:cNvSpPr txBox="1">
            <a:spLocks noChangeArrowheads="1"/>
          </p:cNvSpPr>
          <p:nvPr/>
        </p:nvSpPr>
        <p:spPr bwMode="auto">
          <a:xfrm>
            <a:off x="179388" y="1341438"/>
            <a:ext cx="5329237"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void  </a:t>
            </a:r>
            <a:r>
              <a:rPr lang="en-US" altLang="zh-CN" sz="2400" b="1" dirty="0" err="1">
                <a:solidFill>
                  <a:schemeClr val="accent2"/>
                </a:solidFill>
                <a:latin typeface="Times New Roman" panose="02020603050405020304" pitchFamily="18" charset="0"/>
                <a:ea typeface="华文楷体" panose="02010600040101010101" pitchFamily="2" charset="-122"/>
              </a:rPr>
              <a:t>pre_height</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p, </a:t>
            </a:r>
            <a:r>
              <a:rPr lang="en-US" altLang="zh-CN" sz="2400" dirty="0" err="1">
                <a:latin typeface="Times New Roman" panose="02020603050405020304" pitchFamily="18" charset="0"/>
                <a:ea typeface="华文楷体" panose="02010600040101010101" pitchFamily="2" charset="-122"/>
              </a:rPr>
              <a:t>int</a:t>
            </a:r>
            <a:r>
              <a:rPr lang="en-US" altLang="zh-CN" sz="2400" dirty="0">
                <a:latin typeface="Times New Roman" panose="02020603050405020304" pitchFamily="18" charset="0"/>
                <a:ea typeface="华文楷体" panose="02010600040101010101" pitchFamily="2" charset="-122"/>
              </a:rPr>
              <a:t> level)</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if (p)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  if (h&lt;level)   h=level;</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pre_height</a:t>
            </a:r>
            <a:r>
              <a:rPr lang="en-US" altLang="zh-CN" sz="2400" dirty="0">
                <a:latin typeface="Times New Roman" panose="02020603050405020304" pitchFamily="18" charset="0"/>
                <a:ea typeface="华文楷体" panose="02010600040101010101" pitchFamily="2" charset="-122"/>
              </a:rPr>
              <a:t>(p-&gt;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 level+1);</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pre_height</a:t>
            </a:r>
            <a:r>
              <a:rPr lang="en-US" altLang="zh-CN" sz="2400" dirty="0">
                <a:latin typeface="Times New Roman" panose="02020603050405020304" pitchFamily="18" charset="0"/>
                <a:ea typeface="华文楷体" panose="02010600040101010101" pitchFamily="2" charset="-122"/>
              </a:rPr>
              <a:t>(p-&gt;rc,level+1);</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104453" name="Text Box 5"/>
          <p:cNvSpPr txBox="1">
            <a:spLocks noChangeArrowheads="1"/>
          </p:cNvSpPr>
          <p:nvPr/>
        </p:nvSpPr>
        <p:spPr bwMode="auto">
          <a:xfrm>
            <a:off x="169911" y="3895437"/>
            <a:ext cx="472257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void  </a:t>
            </a:r>
            <a:r>
              <a:rPr lang="en-US" altLang="zh-CN" sz="2400" b="1" dirty="0" err="1">
                <a:solidFill>
                  <a:schemeClr val="accent2"/>
                </a:solidFill>
                <a:latin typeface="Times New Roman" panose="02020603050405020304" pitchFamily="18" charset="0"/>
                <a:ea typeface="华文楷体" panose="02010600040101010101" pitchFamily="2" charset="-122"/>
              </a:rPr>
              <a:t>post_height</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bt,int</a:t>
            </a:r>
            <a:r>
              <a:rPr lang="en-US" altLang="zh-CN" sz="2400" dirty="0">
                <a:latin typeface="Times New Roman" panose="02020603050405020304" pitchFamily="18" charset="0"/>
                <a:ea typeface="华文楷体" panose="02010600040101010101" pitchFamily="2" charset="-122"/>
              </a:rPr>
              <a:t> &amp;h)</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if (</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==NULL) h=0</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else</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 </a:t>
            </a:r>
            <a:r>
              <a:rPr lang="en-US" altLang="zh-CN" sz="2400" dirty="0" err="1">
                <a:solidFill>
                  <a:schemeClr val="accent2"/>
                </a:solidFill>
                <a:latin typeface="Times New Roman" panose="02020603050405020304" pitchFamily="18" charset="0"/>
                <a:ea typeface="华文楷体" panose="02010600040101010101" pitchFamily="2" charset="-122"/>
              </a:rPr>
              <a:t>post_height</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 h1);</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post_height</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-&gt;rc,h2);</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h=1+max(h1,h2);</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endParaRPr lang="en-US" altLang="zh-CN" sz="2400" dirty="0">
              <a:latin typeface="Times New Roman" panose="02020603050405020304" pitchFamily="18" charset="0"/>
              <a:ea typeface="华文楷体" panose="02010600040101010101" pitchFamily="2" charset="-122"/>
            </a:endParaRPr>
          </a:p>
        </p:txBody>
      </p:sp>
      <p:sp>
        <p:nvSpPr>
          <p:cNvPr id="104454" name="Text Box 6"/>
          <p:cNvSpPr txBox="1">
            <a:spLocks noChangeArrowheads="1"/>
          </p:cNvSpPr>
          <p:nvPr/>
        </p:nvSpPr>
        <p:spPr bwMode="auto">
          <a:xfrm>
            <a:off x="6019800" y="1547813"/>
            <a:ext cx="2590800" cy="1754326"/>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h=0;</a:t>
            </a:r>
            <a:endParaRPr lang="en-US" altLang="zh-CN" sz="20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pre_height</a:t>
            </a:r>
            <a:r>
              <a:rPr lang="en-US" altLang="zh-CN" sz="2000" dirty="0">
                <a:latin typeface="Times New Roman" panose="02020603050405020304" pitchFamily="18" charset="0"/>
                <a:ea typeface="华文楷体" panose="02010600040101010101" pitchFamily="2" charset="-122"/>
              </a:rPr>
              <a:t>(</a:t>
            </a:r>
            <a:r>
              <a:rPr lang="en-US" altLang="zh-CN" sz="2000" dirty="0" err="1">
                <a:latin typeface="Times New Roman" panose="02020603050405020304" pitchFamily="18" charset="0"/>
                <a:ea typeface="华文楷体" panose="02010600040101010101" pitchFamily="2" charset="-122"/>
              </a:rPr>
              <a:t>bt</a:t>
            </a:r>
            <a:r>
              <a:rPr lang="en-US" altLang="zh-CN" sz="2000" dirty="0">
                <a:latin typeface="Times New Roman" panose="02020603050405020304" pitchFamily="18" charset="0"/>
                <a:ea typeface="华文楷体" panose="02010600040101010101" pitchFamily="2" charset="-122"/>
              </a:rPr>
              <a:t>, 1);</a:t>
            </a:r>
            <a:endParaRPr lang="en-US" altLang="zh-CN" sz="20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endParaRPr lang="en-US" altLang="zh-CN" sz="20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p:txBody>
      </p:sp>
      <p:sp>
        <p:nvSpPr>
          <p:cNvPr id="104455" name="Text Box 7"/>
          <p:cNvSpPr txBox="1">
            <a:spLocks noChangeArrowheads="1"/>
          </p:cNvSpPr>
          <p:nvPr/>
        </p:nvSpPr>
        <p:spPr bwMode="auto">
          <a:xfrm>
            <a:off x="6096000" y="4187825"/>
            <a:ext cx="2590800" cy="1415772"/>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000" b="1" dirty="0">
                <a:latin typeface="Times New Roman" panose="02020603050405020304" pitchFamily="18" charset="0"/>
                <a:ea typeface="华文楷体" panose="02010600040101010101" pitchFamily="2" charset="-122"/>
              </a:rPr>
              <a:t> </a:t>
            </a:r>
            <a:r>
              <a:rPr lang="en-US" altLang="zh-CN" sz="2000" b="1" dirty="0" err="1">
                <a:latin typeface="Times New Roman" panose="02020603050405020304" pitchFamily="18" charset="0"/>
                <a:ea typeface="华文楷体" panose="02010600040101010101" pitchFamily="2" charset="-122"/>
              </a:rPr>
              <a:t>post_height</a:t>
            </a:r>
            <a:r>
              <a:rPr lang="en-US" altLang="zh-CN" sz="2000" dirty="0">
                <a:latin typeface="Times New Roman" panose="02020603050405020304" pitchFamily="18" charset="0"/>
                <a:ea typeface="华文楷体" panose="02010600040101010101" pitchFamily="2" charset="-122"/>
              </a:rPr>
              <a:t>(</a:t>
            </a:r>
            <a:r>
              <a:rPr lang="en-US" altLang="zh-CN" sz="2000" dirty="0" err="1">
                <a:latin typeface="Times New Roman" panose="02020603050405020304" pitchFamily="18" charset="0"/>
                <a:ea typeface="华文楷体" panose="02010600040101010101" pitchFamily="2" charset="-122"/>
              </a:rPr>
              <a:t>bt</a:t>
            </a:r>
            <a:r>
              <a:rPr lang="en-US" altLang="zh-CN" sz="2000" dirty="0">
                <a:latin typeface="Times New Roman" panose="02020603050405020304" pitchFamily="18" charset="0"/>
                <a:ea typeface="华文楷体" panose="02010600040101010101" pitchFamily="2" charset="-122"/>
              </a:rPr>
              <a:t>, h);</a:t>
            </a:r>
            <a:endParaRPr lang="en-US" altLang="zh-CN" sz="20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endParaRPr lang="en-US" altLang="zh-CN" sz="20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p:txBody>
      </p:sp>
      <p:cxnSp>
        <p:nvCxnSpPr>
          <p:cNvPr id="3" name="直接连接符 2"/>
          <p:cNvCxnSpPr/>
          <p:nvPr/>
        </p:nvCxnSpPr>
        <p:spPr bwMode="auto">
          <a:xfrm>
            <a:off x="169911" y="3962386"/>
            <a:ext cx="8669177" cy="1903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4452">
                                            <p:txEl>
                                              <p:pRg st="1" end="1"/>
                                            </p:txEl>
                                          </p:spTgt>
                                        </p:tgtEl>
                                        <p:attrNameLst>
                                          <p:attrName>style.visibility</p:attrName>
                                        </p:attrNameLst>
                                      </p:cBhvr>
                                      <p:to>
                                        <p:strVal val="visible"/>
                                      </p:to>
                                    </p:set>
                                    <p:animEffect transition="in" filter="blinds(horizontal)">
                                      <p:cBhvr>
                                        <p:cTn id="7" dur="500"/>
                                        <p:tgtEl>
                                          <p:spTgt spid="10445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4452">
                                            <p:txEl>
                                              <p:pRg st="2" end="2"/>
                                            </p:txEl>
                                          </p:spTgt>
                                        </p:tgtEl>
                                        <p:attrNameLst>
                                          <p:attrName>style.visibility</p:attrName>
                                        </p:attrNameLst>
                                      </p:cBhvr>
                                      <p:to>
                                        <p:strVal val="visible"/>
                                      </p:to>
                                    </p:set>
                                    <p:animEffect transition="in" filter="blinds(horizontal)">
                                      <p:cBhvr>
                                        <p:cTn id="10" dur="500"/>
                                        <p:tgtEl>
                                          <p:spTgt spid="104452">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04452">
                                            <p:txEl>
                                              <p:pRg st="3" end="3"/>
                                            </p:txEl>
                                          </p:spTgt>
                                        </p:tgtEl>
                                        <p:attrNameLst>
                                          <p:attrName>style.visibility</p:attrName>
                                        </p:attrNameLst>
                                      </p:cBhvr>
                                      <p:to>
                                        <p:strVal val="visible"/>
                                      </p:to>
                                    </p:set>
                                    <p:animEffect transition="in" filter="blinds(horizontal)">
                                      <p:cBhvr>
                                        <p:cTn id="13" dur="500"/>
                                        <p:tgtEl>
                                          <p:spTgt spid="104452">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04452">
                                            <p:txEl>
                                              <p:pRg st="4" end="4"/>
                                            </p:txEl>
                                          </p:spTgt>
                                        </p:tgtEl>
                                        <p:attrNameLst>
                                          <p:attrName>style.visibility</p:attrName>
                                        </p:attrNameLst>
                                      </p:cBhvr>
                                      <p:to>
                                        <p:strVal val="visible"/>
                                      </p:to>
                                    </p:set>
                                    <p:animEffect transition="in" filter="blinds(horizontal)">
                                      <p:cBhvr>
                                        <p:cTn id="16" dur="500"/>
                                        <p:tgtEl>
                                          <p:spTgt spid="104452">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04452">
                                            <p:txEl>
                                              <p:pRg st="5" end="5"/>
                                            </p:txEl>
                                          </p:spTgt>
                                        </p:tgtEl>
                                        <p:attrNameLst>
                                          <p:attrName>style.visibility</p:attrName>
                                        </p:attrNameLst>
                                      </p:cBhvr>
                                      <p:to>
                                        <p:strVal val="visible"/>
                                      </p:to>
                                    </p:set>
                                    <p:animEffect transition="in" filter="blinds(horizontal)">
                                      <p:cBhvr>
                                        <p:cTn id="19" dur="500"/>
                                        <p:tgtEl>
                                          <p:spTgt spid="104452">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04452">
                                            <p:txEl>
                                              <p:pRg st="6" end="6"/>
                                            </p:txEl>
                                          </p:spTgt>
                                        </p:tgtEl>
                                        <p:attrNameLst>
                                          <p:attrName>style.visibility</p:attrName>
                                        </p:attrNameLst>
                                      </p:cBhvr>
                                      <p:to>
                                        <p:strVal val="visible"/>
                                      </p:to>
                                    </p:set>
                                    <p:animEffect transition="in" filter="blinds(horizontal)">
                                      <p:cBhvr>
                                        <p:cTn id="22" dur="500"/>
                                        <p:tgtEl>
                                          <p:spTgt spid="10445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4454"/>
                                        </p:tgtEl>
                                        <p:attrNameLst>
                                          <p:attrName>style.visibility</p:attrName>
                                        </p:attrNameLst>
                                      </p:cBhvr>
                                      <p:to>
                                        <p:strVal val="visible"/>
                                      </p:to>
                                    </p:set>
                                    <p:animEffect transition="in" filter="blinds(horizontal)">
                                      <p:cBhvr>
                                        <p:cTn id="27" dur="500"/>
                                        <p:tgtEl>
                                          <p:spTgt spid="104454"/>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104453">
                                            <p:txEl>
                                              <p:pRg st="1" end="1"/>
                                            </p:txEl>
                                          </p:spTgt>
                                        </p:tgtEl>
                                        <p:attrNameLst>
                                          <p:attrName>style.visibility</p:attrName>
                                        </p:attrNameLst>
                                      </p:cBhvr>
                                      <p:to>
                                        <p:strVal val="visible"/>
                                      </p:to>
                                    </p:set>
                                    <p:animEffect transition="in" filter="diamond(in)">
                                      <p:cBhvr>
                                        <p:cTn id="32" dur="2000"/>
                                        <p:tgtEl>
                                          <p:spTgt spid="104453">
                                            <p:txEl>
                                              <p:pRg st="1" end="1"/>
                                            </p:txEl>
                                          </p:spTgt>
                                        </p:tgtEl>
                                      </p:cBhvr>
                                    </p:animEffect>
                                  </p:childTnLst>
                                </p:cTn>
                              </p:par>
                              <p:par>
                                <p:cTn id="33" presetID="8" presetClass="entr" presetSubtype="16" fill="hold" nodeType="withEffect">
                                  <p:stCondLst>
                                    <p:cond delay="0"/>
                                  </p:stCondLst>
                                  <p:childTnLst>
                                    <p:set>
                                      <p:cBhvr>
                                        <p:cTn id="34" dur="1" fill="hold">
                                          <p:stCondLst>
                                            <p:cond delay="0"/>
                                          </p:stCondLst>
                                        </p:cTn>
                                        <p:tgtEl>
                                          <p:spTgt spid="104453">
                                            <p:txEl>
                                              <p:pRg st="2" end="2"/>
                                            </p:txEl>
                                          </p:spTgt>
                                        </p:tgtEl>
                                        <p:attrNameLst>
                                          <p:attrName>style.visibility</p:attrName>
                                        </p:attrNameLst>
                                      </p:cBhvr>
                                      <p:to>
                                        <p:strVal val="visible"/>
                                      </p:to>
                                    </p:set>
                                    <p:animEffect transition="in" filter="diamond(in)">
                                      <p:cBhvr>
                                        <p:cTn id="35" dur="2000"/>
                                        <p:tgtEl>
                                          <p:spTgt spid="104453">
                                            <p:txEl>
                                              <p:pRg st="2" end="2"/>
                                            </p:txEl>
                                          </p:spTgt>
                                        </p:tgtEl>
                                      </p:cBhvr>
                                    </p:animEffect>
                                  </p:childTnLst>
                                </p:cTn>
                              </p:par>
                              <p:par>
                                <p:cTn id="36" presetID="8" presetClass="entr" presetSubtype="16" fill="hold" nodeType="withEffect">
                                  <p:stCondLst>
                                    <p:cond delay="0"/>
                                  </p:stCondLst>
                                  <p:childTnLst>
                                    <p:set>
                                      <p:cBhvr>
                                        <p:cTn id="37" dur="1" fill="hold">
                                          <p:stCondLst>
                                            <p:cond delay="0"/>
                                          </p:stCondLst>
                                        </p:cTn>
                                        <p:tgtEl>
                                          <p:spTgt spid="104453">
                                            <p:txEl>
                                              <p:pRg st="3" end="3"/>
                                            </p:txEl>
                                          </p:spTgt>
                                        </p:tgtEl>
                                        <p:attrNameLst>
                                          <p:attrName>style.visibility</p:attrName>
                                        </p:attrNameLst>
                                      </p:cBhvr>
                                      <p:to>
                                        <p:strVal val="visible"/>
                                      </p:to>
                                    </p:set>
                                    <p:animEffect transition="in" filter="diamond(in)">
                                      <p:cBhvr>
                                        <p:cTn id="38" dur="2000"/>
                                        <p:tgtEl>
                                          <p:spTgt spid="104453">
                                            <p:txEl>
                                              <p:pRg st="3" end="3"/>
                                            </p:txEl>
                                          </p:spTgt>
                                        </p:tgtEl>
                                      </p:cBhvr>
                                    </p:animEffect>
                                  </p:childTnLst>
                                </p:cTn>
                              </p:par>
                              <p:par>
                                <p:cTn id="39" presetID="8" presetClass="entr" presetSubtype="16" fill="hold" nodeType="withEffect">
                                  <p:stCondLst>
                                    <p:cond delay="0"/>
                                  </p:stCondLst>
                                  <p:childTnLst>
                                    <p:set>
                                      <p:cBhvr>
                                        <p:cTn id="40" dur="1" fill="hold">
                                          <p:stCondLst>
                                            <p:cond delay="0"/>
                                          </p:stCondLst>
                                        </p:cTn>
                                        <p:tgtEl>
                                          <p:spTgt spid="104453">
                                            <p:txEl>
                                              <p:pRg st="4" end="4"/>
                                            </p:txEl>
                                          </p:spTgt>
                                        </p:tgtEl>
                                        <p:attrNameLst>
                                          <p:attrName>style.visibility</p:attrName>
                                        </p:attrNameLst>
                                      </p:cBhvr>
                                      <p:to>
                                        <p:strVal val="visible"/>
                                      </p:to>
                                    </p:set>
                                    <p:animEffect transition="in" filter="diamond(in)">
                                      <p:cBhvr>
                                        <p:cTn id="41" dur="2000"/>
                                        <p:tgtEl>
                                          <p:spTgt spid="104453">
                                            <p:txEl>
                                              <p:pRg st="4" end="4"/>
                                            </p:txEl>
                                          </p:spTgt>
                                        </p:tgtEl>
                                      </p:cBhvr>
                                    </p:animEffect>
                                  </p:childTnLst>
                                </p:cTn>
                              </p:par>
                              <p:par>
                                <p:cTn id="42" presetID="8" presetClass="entr" presetSubtype="16" fill="hold" nodeType="withEffect">
                                  <p:stCondLst>
                                    <p:cond delay="0"/>
                                  </p:stCondLst>
                                  <p:childTnLst>
                                    <p:set>
                                      <p:cBhvr>
                                        <p:cTn id="43" dur="1" fill="hold">
                                          <p:stCondLst>
                                            <p:cond delay="0"/>
                                          </p:stCondLst>
                                        </p:cTn>
                                        <p:tgtEl>
                                          <p:spTgt spid="104453">
                                            <p:txEl>
                                              <p:pRg st="5" end="5"/>
                                            </p:txEl>
                                          </p:spTgt>
                                        </p:tgtEl>
                                        <p:attrNameLst>
                                          <p:attrName>style.visibility</p:attrName>
                                        </p:attrNameLst>
                                      </p:cBhvr>
                                      <p:to>
                                        <p:strVal val="visible"/>
                                      </p:to>
                                    </p:set>
                                    <p:animEffect transition="in" filter="diamond(in)">
                                      <p:cBhvr>
                                        <p:cTn id="44" dur="2000"/>
                                        <p:tgtEl>
                                          <p:spTgt spid="104453">
                                            <p:txEl>
                                              <p:pRg st="5" end="5"/>
                                            </p:txEl>
                                          </p:spTgt>
                                        </p:tgtEl>
                                      </p:cBhvr>
                                    </p:animEffect>
                                  </p:childTnLst>
                                </p:cTn>
                              </p:par>
                              <p:par>
                                <p:cTn id="45" presetID="8" presetClass="entr" presetSubtype="16" fill="hold" nodeType="withEffect">
                                  <p:stCondLst>
                                    <p:cond delay="0"/>
                                  </p:stCondLst>
                                  <p:childTnLst>
                                    <p:set>
                                      <p:cBhvr>
                                        <p:cTn id="46" dur="1" fill="hold">
                                          <p:stCondLst>
                                            <p:cond delay="0"/>
                                          </p:stCondLst>
                                        </p:cTn>
                                        <p:tgtEl>
                                          <p:spTgt spid="104453">
                                            <p:txEl>
                                              <p:pRg st="6" end="6"/>
                                            </p:txEl>
                                          </p:spTgt>
                                        </p:tgtEl>
                                        <p:attrNameLst>
                                          <p:attrName>style.visibility</p:attrName>
                                        </p:attrNameLst>
                                      </p:cBhvr>
                                      <p:to>
                                        <p:strVal val="visible"/>
                                      </p:to>
                                    </p:set>
                                    <p:animEffect transition="in" filter="diamond(in)">
                                      <p:cBhvr>
                                        <p:cTn id="47" dur="2000"/>
                                        <p:tgtEl>
                                          <p:spTgt spid="104453">
                                            <p:txEl>
                                              <p:pRg st="6" end="6"/>
                                            </p:txEl>
                                          </p:spTgt>
                                        </p:tgtEl>
                                      </p:cBhvr>
                                    </p:animEffect>
                                  </p:childTnLst>
                                </p:cTn>
                              </p:par>
                              <p:par>
                                <p:cTn id="48" presetID="8" presetClass="entr" presetSubtype="16" fill="hold" nodeType="withEffect">
                                  <p:stCondLst>
                                    <p:cond delay="0"/>
                                  </p:stCondLst>
                                  <p:childTnLst>
                                    <p:set>
                                      <p:cBhvr>
                                        <p:cTn id="49" dur="1" fill="hold">
                                          <p:stCondLst>
                                            <p:cond delay="0"/>
                                          </p:stCondLst>
                                        </p:cTn>
                                        <p:tgtEl>
                                          <p:spTgt spid="104453">
                                            <p:txEl>
                                              <p:pRg st="7" end="7"/>
                                            </p:txEl>
                                          </p:spTgt>
                                        </p:tgtEl>
                                        <p:attrNameLst>
                                          <p:attrName>style.visibility</p:attrName>
                                        </p:attrNameLst>
                                      </p:cBhvr>
                                      <p:to>
                                        <p:strVal val="visible"/>
                                      </p:to>
                                    </p:set>
                                    <p:animEffect transition="in" filter="diamond(in)">
                                      <p:cBhvr>
                                        <p:cTn id="50" dur="2000"/>
                                        <p:tgtEl>
                                          <p:spTgt spid="10445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4455"/>
                                        </p:tgtEl>
                                        <p:attrNameLst>
                                          <p:attrName>style.visibility</p:attrName>
                                        </p:attrNameLst>
                                      </p:cBhvr>
                                      <p:to>
                                        <p:strVal val="visible"/>
                                      </p:to>
                                    </p:set>
                                    <p:anim calcmode="lin" valueType="num">
                                      <p:cBhvr additive="base">
                                        <p:cTn id="55" dur="500" fill="hold"/>
                                        <p:tgtEl>
                                          <p:spTgt spid="104455"/>
                                        </p:tgtEl>
                                        <p:attrNameLst>
                                          <p:attrName>ppt_x</p:attrName>
                                        </p:attrNameLst>
                                      </p:cBhvr>
                                      <p:tavLst>
                                        <p:tav tm="0">
                                          <p:val>
                                            <p:strVal val="#ppt_x"/>
                                          </p:val>
                                        </p:tav>
                                        <p:tav tm="100000">
                                          <p:val>
                                            <p:strVal val="#ppt_x"/>
                                          </p:val>
                                        </p:tav>
                                      </p:tavLst>
                                    </p:anim>
                                    <p:anim calcmode="lin" valueType="num">
                                      <p:cBhvr additive="base">
                                        <p:cTn id="56" dur="500" fill="hold"/>
                                        <p:tgtEl>
                                          <p:spTgt spid="1044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4" grpId="0" animBg="1"/>
      <p:bldP spid="10445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348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4821" name="Rectangle 3"/>
          <p:cNvSpPr>
            <a:spLocks noGrp="1" noChangeArrowheads="1"/>
          </p:cNvSpPr>
          <p:nvPr>
            <p:ph idx="1"/>
          </p:nvPr>
        </p:nvSpPr>
        <p:spPr>
          <a:xfrm>
            <a:off x="395288" y="1125538"/>
            <a:ext cx="8367712" cy="5248275"/>
          </a:xfrm>
          <a:ln>
            <a:solidFill>
              <a:schemeClr val="accent1"/>
            </a:solidFill>
          </a:ln>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复制一颗二叉树</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p:txBody>
      </p:sp>
      <p:sp>
        <p:nvSpPr>
          <p:cNvPr id="105476" name="Text Box 4"/>
          <p:cNvSpPr txBox="1">
            <a:spLocks noChangeArrowheads="1"/>
          </p:cNvSpPr>
          <p:nvPr/>
        </p:nvSpPr>
        <p:spPr bwMode="auto">
          <a:xfrm>
            <a:off x="519113" y="1792288"/>
            <a:ext cx="5009128"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void  </a:t>
            </a:r>
            <a:r>
              <a:rPr lang="en-US" altLang="zh-CN" sz="2400" b="1" dirty="0" err="1">
                <a:solidFill>
                  <a:schemeClr val="accent2"/>
                </a:solidFill>
                <a:latin typeface="Times New Roman" panose="02020603050405020304" pitchFamily="18" charset="0"/>
                <a:ea typeface="华文楷体" panose="02010600040101010101" pitchFamily="2" charset="-122"/>
              </a:rPr>
              <a:t>pre_copy</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BiTree</a:t>
            </a:r>
            <a:r>
              <a:rPr lang="en-US" altLang="zh-CN" sz="2400" dirty="0">
                <a:latin typeface="Times New Roman" panose="02020603050405020304" pitchFamily="18" charset="0"/>
                <a:ea typeface="华文楷体" panose="02010600040101010101" pitchFamily="2" charset="-122"/>
              </a:rPr>
              <a:t> &amp;q)</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if (</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      new(q);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q-&gt;data= </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-&gt;data;</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pre_copy</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 q-&gt;</a:t>
            </a:r>
            <a:r>
              <a:rPr lang="en-US" altLang="zh-CN" sz="2400" dirty="0" err="1">
                <a:latin typeface="Times New Roman" panose="02020603050405020304" pitchFamily="18" charset="0"/>
                <a:ea typeface="华文楷体" panose="02010600040101010101" pitchFamily="2" charset="-122"/>
              </a:rPr>
              <a:t>lc</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solidFill>
                  <a:schemeClr val="accent2"/>
                </a:solidFill>
                <a:latin typeface="Times New Roman" panose="02020603050405020304" pitchFamily="18" charset="0"/>
                <a:ea typeface="华文楷体" panose="02010600040101010101" pitchFamily="2" charset="-122"/>
              </a:rPr>
              <a:t>pre_copy</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-&gt;</a:t>
            </a:r>
            <a:r>
              <a:rPr lang="en-US" altLang="zh-CN" sz="2400" dirty="0" err="1">
                <a:latin typeface="Times New Roman" panose="02020603050405020304" pitchFamily="18" charset="0"/>
                <a:ea typeface="华文楷体" panose="02010600040101010101" pitchFamily="2" charset="-122"/>
              </a:rPr>
              <a:t>rc</a:t>
            </a:r>
            <a:r>
              <a:rPr lang="en-US" altLang="zh-CN" sz="2400" dirty="0">
                <a:latin typeface="Times New Roman" panose="02020603050405020304" pitchFamily="18" charset="0"/>
                <a:ea typeface="华文楷体" panose="02010600040101010101" pitchFamily="2" charset="-122"/>
              </a:rPr>
              <a:t>, q-&gt;</a:t>
            </a:r>
            <a:r>
              <a:rPr lang="en-US" altLang="zh-CN" sz="2400" dirty="0" err="1">
                <a:latin typeface="Times New Roman" panose="02020603050405020304" pitchFamily="18" charset="0"/>
                <a:ea typeface="华文楷体" panose="02010600040101010101" pitchFamily="2" charset="-122"/>
              </a:rPr>
              <a:t>rc</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else  </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           q=NULL;</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105477" name="Text Box 5"/>
          <p:cNvSpPr txBox="1">
            <a:spLocks noChangeArrowheads="1"/>
          </p:cNvSpPr>
          <p:nvPr/>
        </p:nvSpPr>
        <p:spPr bwMode="auto">
          <a:xfrm>
            <a:off x="5940425" y="2565400"/>
            <a:ext cx="2743200" cy="168046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pre_copy</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bt</a:t>
            </a:r>
            <a:r>
              <a:rPr lang="en-US" altLang="zh-CN" sz="2400" dirty="0">
                <a:latin typeface="Times New Roman" panose="02020603050405020304" pitchFamily="18" charset="0"/>
                <a:ea typeface="华文楷体" panose="02010600040101010101" pitchFamily="2" charset="-122"/>
              </a:rPr>
              <a:t>, q);</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   ……</a:t>
            </a:r>
            <a:endParaRPr lang="en-US" altLang="zh-CN" sz="2400" dirty="0">
              <a:latin typeface="Times New Roman" panose="02020603050405020304" pitchFamily="18" charset="0"/>
              <a:ea typeface="华文楷体" panose="02010600040101010101" pitchFamily="2" charset="-122"/>
            </a:endParaRPr>
          </a:p>
          <a:p>
            <a:pPr eaLnBrk="1" hangingPunct="1">
              <a:lnSpc>
                <a:spcPct val="6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5476">
                                            <p:txEl>
                                              <p:pRg st="1" end="1"/>
                                            </p:txEl>
                                          </p:spTgt>
                                        </p:tgtEl>
                                        <p:attrNameLst>
                                          <p:attrName>style.visibility</p:attrName>
                                        </p:attrNameLst>
                                      </p:cBhvr>
                                      <p:to>
                                        <p:strVal val="visible"/>
                                      </p:to>
                                    </p:set>
                                    <p:animEffect transition="in" filter="diamond(in)">
                                      <p:cBhvr>
                                        <p:cTn id="7" dur="2000"/>
                                        <p:tgtEl>
                                          <p:spTgt spid="105476">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05476">
                                            <p:txEl>
                                              <p:pRg st="2" end="2"/>
                                            </p:txEl>
                                          </p:spTgt>
                                        </p:tgtEl>
                                        <p:attrNameLst>
                                          <p:attrName>style.visibility</p:attrName>
                                        </p:attrNameLst>
                                      </p:cBhvr>
                                      <p:to>
                                        <p:strVal val="visible"/>
                                      </p:to>
                                    </p:set>
                                    <p:animEffect transition="in" filter="diamond(in)">
                                      <p:cBhvr>
                                        <p:cTn id="10" dur="2000"/>
                                        <p:tgtEl>
                                          <p:spTgt spid="105476">
                                            <p:txEl>
                                              <p:pRg st="2" end="2"/>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105476">
                                            <p:txEl>
                                              <p:pRg st="3" end="3"/>
                                            </p:txEl>
                                          </p:spTgt>
                                        </p:tgtEl>
                                        <p:attrNameLst>
                                          <p:attrName>style.visibility</p:attrName>
                                        </p:attrNameLst>
                                      </p:cBhvr>
                                      <p:to>
                                        <p:strVal val="visible"/>
                                      </p:to>
                                    </p:set>
                                    <p:animEffect transition="in" filter="diamond(in)">
                                      <p:cBhvr>
                                        <p:cTn id="13" dur="2000"/>
                                        <p:tgtEl>
                                          <p:spTgt spid="105476">
                                            <p:txEl>
                                              <p:pRg st="3" end="3"/>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105476">
                                            <p:txEl>
                                              <p:pRg st="4" end="4"/>
                                            </p:txEl>
                                          </p:spTgt>
                                        </p:tgtEl>
                                        <p:attrNameLst>
                                          <p:attrName>style.visibility</p:attrName>
                                        </p:attrNameLst>
                                      </p:cBhvr>
                                      <p:to>
                                        <p:strVal val="visible"/>
                                      </p:to>
                                    </p:set>
                                    <p:animEffect transition="in" filter="diamond(in)">
                                      <p:cBhvr>
                                        <p:cTn id="16" dur="2000"/>
                                        <p:tgtEl>
                                          <p:spTgt spid="105476">
                                            <p:txEl>
                                              <p:pRg st="4" end="4"/>
                                            </p:txEl>
                                          </p:spTgt>
                                        </p:tgtEl>
                                      </p:cBhvr>
                                    </p:animEffect>
                                  </p:childTnLst>
                                </p:cTn>
                              </p:par>
                              <p:par>
                                <p:cTn id="17" presetID="8" presetClass="entr" presetSubtype="16" fill="hold" nodeType="withEffect">
                                  <p:stCondLst>
                                    <p:cond delay="0"/>
                                  </p:stCondLst>
                                  <p:childTnLst>
                                    <p:set>
                                      <p:cBhvr>
                                        <p:cTn id="18" dur="1" fill="hold">
                                          <p:stCondLst>
                                            <p:cond delay="0"/>
                                          </p:stCondLst>
                                        </p:cTn>
                                        <p:tgtEl>
                                          <p:spTgt spid="105476">
                                            <p:txEl>
                                              <p:pRg st="5" end="5"/>
                                            </p:txEl>
                                          </p:spTgt>
                                        </p:tgtEl>
                                        <p:attrNameLst>
                                          <p:attrName>style.visibility</p:attrName>
                                        </p:attrNameLst>
                                      </p:cBhvr>
                                      <p:to>
                                        <p:strVal val="visible"/>
                                      </p:to>
                                    </p:set>
                                    <p:animEffect transition="in" filter="diamond(in)">
                                      <p:cBhvr>
                                        <p:cTn id="19" dur="2000"/>
                                        <p:tgtEl>
                                          <p:spTgt spid="105476">
                                            <p:txEl>
                                              <p:pRg st="5" end="5"/>
                                            </p:txEl>
                                          </p:spTgt>
                                        </p:tgtEl>
                                      </p:cBhvr>
                                    </p:animEffect>
                                  </p:childTnLst>
                                </p:cTn>
                              </p:par>
                              <p:par>
                                <p:cTn id="20" presetID="8" presetClass="entr" presetSubtype="16" fill="hold" nodeType="withEffect">
                                  <p:stCondLst>
                                    <p:cond delay="0"/>
                                  </p:stCondLst>
                                  <p:childTnLst>
                                    <p:set>
                                      <p:cBhvr>
                                        <p:cTn id="21" dur="1" fill="hold">
                                          <p:stCondLst>
                                            <p:cond delay="0"/>
                                          </p:stCondLst>
                                        </p:cTn>
                                        <p:tgtEl>
                                          <p:spTgt spid="105476">
                                            <p:txEl>
                                              <p:pRg st="6" end="6"/>
                                            </p:txEl>
                                          </p:spTgt>
                                        </p:tgtEl>
                                        <p:attrNameLst>
                                          <p:attrName>style.visibility</p:attrName>
                                        </p:attrNameLst>
                                      </p:cBhvr>
                                      <p:to>
                                        <p:strVal val="visible"/>
                                      </p:to>
                                    </p:set>
                                    <p:animEffect transition="in" filter="diamond(in)">
                                      <p:cBhvr>
                                        <p:cTn id="22" dur="2000"/>
                                        <p:tgtEl>
                                          <p:spTgt spid="105476">
                                            <p:txEl>
                                              <p:pRg st="6" end="6"/>
                                            </p:txEl>
                                          </p:spTgt>
                                        </p:tgtEl>
                                      </p:cBhvr>
                                    </p:animEffect>
                                  </p:childTnLst>
                                </p:cTn>
                              </p:par>
                              <p:par>
                                <p:cTn id="23" presetID="8" presetClass="entr" presetSubtype="16" fill="hold" nodeType="withEffect">
                                  <p:stCondLst>
                                    <p:cond delay="0"/>
                                  </p:stCondLst>
                                  <p:childTnLst>
                                    <p:set>
                                      <p:cBhvr>
                                        <p:cTn id="24" dur="1" fill="hold">
                                          <p:stCondLst>
                                            <p:cond delay="0"/>
                                          </p:stCondLst>
                                        </p:cTn>
                                        <p:tgtEl>
                                          <p:spTgt spid="105476">
                                            <p:txEl>
                                              <p:pRg st="7" end="7"/>
                                            </p:txEl>
                                          </p:spTgt>
                                        </p:tgtEl>
                                        <p:attrNameLst>
                                          <p:attrName>style.visibility</p:attrName>
                                        </p:attrNameLst>
                                      </p:cBhvr>
                                      <p:to>
                                        <p:strVal val="visible"/>
                                      </p:to>
                                    </p:set>
                                    <p:animEffect transition="in" filter="diamond(in)">
                                      <p:cBhvr>
                                        <p:cTn id="25" dur="2000"/>
                                        <p:tgtEl>
                                          <p:spTgt spid="105476">
                                            <p:txEl>
                                              <p:pRg st="7" end="7"/>
                                            </p:txEl>
                                          </p:spTgt>
                                        </p:tgtEl>
                                      </p:cBhvr>
                                    </p:animEffect>
                                  </p:childTnLst>
                                </p:cTn>
                              </p:par>
                              <p:par>
                                <p:cTn id="26" presetID="8" presetClass="entr" presetSubtype="16" fill="hold" nodeType="withEffect">
                                  <p:stCondLst>
                                    <p:cond delay="0"/>
                                  </p:stCondLst>
                                  <p:childTnLst>
                                    <p:set>
                                      <p:cBhvr>
                                        <p:cTn id="27" dur="1" fill="hold">
                                          <p:stCondLst>
                                            <p:cond delay="0"/>
                                          </p:stCondLst>
                                        </p:cTn>
                                        <p:tgtEl>
                                          <p:spTgt spid="105476">
                                            <p:txEl>
                                              <p:pRg st="8" end="8"/>
                                            </p:txEl>
                                          </p:spTgt>
                                        </p:tgtEl>
                                        <p:attrNameLst>
                                          <p:attrName>style.visibility</p:attrName>
                                        </p:attrNameLst>
                                      </p:cBhvr>
                                      <p:to>
                                        <p:strVal val="visible"/>
                                      </p:to>
                                    </p:set>
                                    <p:animEffect transition="in" filter="diamond(in)">
                                      <p:cBhvr>
                                        <p:cTn id="28" dur="2000"/>
                                        <p:tgtEl>
                                          <p:spTgt spid="105476">
                                            <p:txEl>
                                              <p:pRg st="8" end="8"/>
                                            </p:txEl>
                                          </p:spTgt>
                                        </p:tgtEl>
                                      </p:cBhvr>
                                    </p:animEffect>
                                  </p:childTnLst>
                                </p:cTn>
                              </p:par>
                              <p:par>
                                <p:cTn id="29" presetID="8" presetClass="entr" presetSubtype="16" fill="hold" nodeType="withEffect">
                                  <p:stCondLst>
                                    <p:cond delay="0"/>
                                  </p:stCondLst>
                                  <p:childTnLst>
                                    <p:set>
                                      <p:cBhvr>
                                        <p:cTn id="30" dur="1" fill="hold">
                                          <p:stCondLst>
                                            <p:cond delay="0"/>
                                          </p:stCondLst>
                                        </p:cTn>
                                        <p:tgtEl>
                                          <p:spTgt spid="105476">
                                            <p:txEl>
                                              <p:pRg st="9" end="9"/>
                                            </p:txEl>
                                          </p:spTgt>
                                        </p:tgtEl>
                                        <p:attrNameLst>
                                          <p:attrName>style.visibility</p:attrName>
                                        </p:attrNameLst>
                                      </p:cBhvr>
                                      <p:to>
                                        <p:strVal val="visible"/>
                                      </p:to>
                                    </p:set>
                                    <p:animEffect transition="in" filter="diamond(in)">
                                      <p:cBhvr>
                                        <p:cTn id="31" dur="2000"/>
                                        <p:tgtEl>
                                          <p:spTgt spid="105476">
                                            <p:txEl>
                                              <p:pRg st="9" end="9"/>
                                            </p:txEl>
                                          </p:spTgt>
                                        </p:tgtEl>
                                      </p:cBhvr>
                                    </p:animEffect>
                                  </p:childTnLst>
                                </p:cTn>
                              </p:par>
                              <p:par>
                                <p:cTn id="32" presetID="8" presetClass="entr" presetSubtype="16" fill="hold" nodeType="withEffect">
                                  <p:stCondLst>
                                    <p:cond delay="0"/>
                                  </p:stCondLst>
                                  <p:childTnLst>
                                    <p:set>
                                      <p:cBhvr>
                                        <p:cTn id="33" dur="1" fill="hold">
                                          <p:stCondLst>
                                            <p:cond delay="0"/>
                                          </p:stCondLst>
                                        </p:cTn>
                                        <p:tgtEl>
                                          <p:spTgt spid="105476">
                                            <p:txEl>
                                              <p:pRg st="10" end="10"/>
                                            </p:txEl>
                                          </p:spTgt>
                                        </p:tgtEl>
                                        <p:attrNameLst>
                                          <p:attrName>style.visibility</p:attrName>
                                        </p:attrNameLst>
                                      </p:cBhvr>
                                      <p:to>
                                        <p:strVal val="visible"/>
                                      </p:to>
                                    </p:set>
                                    <p:animEffect transition="in" filter="diamond(in)">
                                      <p:cBhvr>
                                        <p:cTn id="34" dur="2000"/>
                                        <p:tgtEl>
                                          <p:spTgt spid="105476">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grpId="0" nodeType="clickEffect">
                                  <p:stCondLst>
                                    <p:cond delay="0"/>
                                  </p:stCondLst>
                                  <p:childTnLst>
                                    <p:set>
                                      <p:cBhvr>
                                        <p:cTn id="38" dur="1" fill="hold">
                                          <p:stCondLst>
                                            <p:cond delay="0"/>
                                          </p:stCondLst>
                                        </p:cTn>
                                        <p:tgtEl>
                                          <p:spTgt spid="105477"/>
                                        </p:tgtEl>
                                        <p:attrNameLst>
                                          <p:attrName>style.visibility</p:attrName>
                                        </p:attrNameLst>
                                      </p:cBhvr>
                                      <p:to>
                                        <p:strVal val="visible"/>
                                      </p:to>
                                    </p:set>
                                    <p:animEffect transition="in" filter="diamond(in)">
                                      <p:cBhvr>
                                        <p:cTn id="39" dur="2000"/>
                                        <p:tgtEl>
                                          <p:spTgt spid="105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584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6499" name="Rectangle 3"/>
          <p:cNvSpPr>
            <a:spLocks noGrp="1" noChangeArrowheads="1"/>
          </p:cNvSpPr>
          <p:nvPr>
            <p:ph idx="1"/>
          </p:nvPr>
        </p:nvSpPr>
        <p:spPr>
          <a:xfrm>
            <a:off x="304912" y="1152525"/>
            <a:ext cx="8534284" cy="5248275"/>
          </a:xfrm>
          <a:ln>
            <a:solidFill>
              <a:schemeClr val="accent1"/>
            </a:solidFill>
          </a:ln>
        </p:spPr>
        <p:txBody>
          <a:bodyPr/>
          <a:lstStyle/>
          <a:p>
            <a:pPr marL="812800" indent="-812800" eaLnBrk="1" hangingPunct="1">
              <a:lnSpc>
                <a:spcPct val="80000"/>
              </a:lnSpc>
              <a:buFont typeface="Wingdings" panose="05000000000000000000" pitchFamily="2" charset="2"/>
              <a:buNone/>
            </a:pPr>
            <a:r>
              <a:rPr lang="zh-CN" altLang="en-US" sz="2400" dirty="0" smtClean="0">
                <a:ea typeface="华文楷体" panose="02010600040101010101" pitchFamily="2" charset="-122"/>
              </a:rPr>
              <a:t>已知一棵二叉树按顺序方式存储在数组</a:t>
            </a:r>
            <a:r>
              <a:rPr lang="en-US" altLang="zh-CN" sz="2400" dirty="0" smtClean="0">
                <a:ea typeface="华文楷体" panose="02010600040101010101" pitchFamily="2" charset="-122"/>
              </a:rPr>
              <a:t>A[0..n]</a:t>
            </a:r>
            <a:r>
              <a:rPr lang="zh-CN" altLang="en-US" sz="2400" dirty="0" smtClean="0">
                <a:ea typeface="华文楷体" panose="02010600040101010101" pitchFamily="2" charset="-122"/>
              </a:rPr>
              <a:t>中（</a:t>
            </a:r>
            <a:r>
              <a:rPr lang="en-US" altLang="zh-CN" sz="2400" dirty="0" smtClean="0">
                <a:ea typeface="华文楷体" panose="02010600040101010101" pitchFamily="2" charset="-122"/>
              </a:rPr>
              <a:t>A[0]</a:t>
            </a:r>
            <a:r>
              <a:rPr lang="zh-CN" altLang="en-US" sz="2400" dirty="0" smtClean="0">
                <a:ea typeface="华文楷体" panose="02010600040101010101" pitchFamily="2" charset="-122"/>
              </a:rPr>
              <a:t>不存放结点信息），设计算法求下标分别为</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的两个结点的最近公共祖先结点。</a:t>
            </a:r>
            <a:endParaRPr lang="zh-CN" altLang="en-US"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err="1" smtClean="0">
                <a:ea typeface="华文楷体" panose="02010600040101010101" pitchFamily="2" charset="-122"/>
              </a:rPr>
              <a:t>typedef</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etype</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completetree</a:t>
            </a:r>
            <a:r>
              <a:rPr lang="en-US" altLang="zh-CN" sz="2400" dirty="0" smtClean="0">
                <a:ea typeface="华文楷体" panose="02010600040101010101" pitchFamily="2" charset="-122"/>
              </a:rPr>
              <a:t> [ </a:t>
            </a:r>
            <a:r>
              <a:rPr lang="en-US" altLang="zh-CN" sz="2400" dirty="0" err="1" smtClean="0">
                <a:ea typeface="华文楷体" panose="02010600040101010101" pitchFamily="2" charset="-122"/>
              </a:rPr>
              <a:t>maxnodenum</a:t>
            </a:r>
            <a:r>
              <a:rPr lang="en-US" altLang="zh-CN" sz="2400" dirty="0" smtClean="0">
                <a:ea typeface="华文楷体" panose="02010600040101010101" pitchFamily="2" charset="-122"/>
              </a:rPr>
              <a:t> ]; </a:t>
            </a:r>
            <a:endParaRPr lang="en-US" altLang="zh-CN"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forefather( </a:t>
            </a:r>
            <a:r>
              <a:rPr lang="en-US" altLang="zh-CN" sz="2400" dirty="0" err="1" smtClean="0">
                <a:ea typeface="华文楷体" panose="02010600040101010101" pitchFamily="2" charset="-122"/>
              </a:rPr>
              <a:t>completetree</a:t>
            </a:r>
            <a:r>
              <a:rPr lang="en-US" altLang="zh-CN" sz="2400" dirty="0" smtClean="0">
                <a:ea typeface="华文楷体" panose="02010600040101010101" pitchFamily="2" charset="-122"/>
              </a:rPr>
              <a:t>  T,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int</a:t>
            </a:r>
            <a:r>
              <a:rPr lang="en-US" altLang="zh-CN" sz="2400" dirty="0" smtClean="0">
                <a:ea typeface="华文楷体" panose="02010600040101010101" pitchFamily="2" charset="-122"/>
              </a:rPr>
              <a:t>  j ) </a:t>
            </a:r>
            <a:endParaRPr lang="en-US" altLang="zh-CN"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while  (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 j )  </a:t>
            </a:r>
            <a:endParaRPr lang="en-US" altLang="zh-CN"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if  (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&gt; j )   </a:t>
            </a:r>
            <a:endParaRPr lang="en-US" altLang="zh-CN"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 2;  // </a:t>
            </a:r>
            <a:r>
              <a:rPr lang="zh-CN" altLang="en-US" sz="2400" dirty="0" smtClean="0">
                <a:ea typeface="华文楷体" panose="02010600040101010101" pitchFamily="2" charset="-122"/>
              </a:rPr>
              <a:t>下标为</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的结点的双亲结点的下标</a:t>
            </a:r>
            <a:endParaRPr lang="zh-CN" altLang="en-US"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else  </a:t>
            </a:r>
            <a:endParaRPr lang="en-US" altLang="zh-CN"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j = j / 2;      // </a:t>
            </a:r>
            <a:r>
              <a:rPr lang="zh-CN" altLang="en-US" sz="2400" dirty="0" smtClean="0">
                <a:ea typeface="华文楷体" panose="02010600040101010101" pitchFamily="2" charset="-122"/>
              </a:rPr>
              <a:t>下标为</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的结点的双亲结点的下标</a:t>
            </a:r>
            <a:endParaRPr lang="zh-CN" altLang="en-US"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return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返回最近祖先结点的下标</a:t>
            </a:r>
            <a:endParaRPr lang="zh-CN" altLang="en-US" sz="2400" dirty="0" smtClean="0">
              <a:ea typeface="华文楷体" panose="02010600040101010101" pitchFamily="2" charset="-122"/>
            </a:endParaRPr>
          </a:p>
          <a:p>
            <a:pPr marL="812800" indent="-812800" eaLnBrk="1" hangingPunct="1">
              <a:lnSpc>
                <a:spcPct val="80000"/>
              </a:lnSpc>
              <a:buFont typeface="Wingdings" panose="05000000000000000000" pitchFamily="2" charset="2"/>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p:txBody>
      </p:sp>
      <p:sp>
        <p:nvSpPr>
          <p:cNvPr id="6" name="页脚占位符 3"/>
          <p:cNvSpPr>
            <a:spLocks noGrp="1"/>
          </p:cNvSpPr>
          <p:nvPr>
            <p:ph type="ftr" sz="quarter" idx="10"/>
          </p:nvPr>
        </p:nvSpPr>
        <p:spPr>
          <a:xfrm>
            <a:off x="3851275" y="6461125"/>
            <a:ext cx="4911725" cy="320675"/>
          </a:xfrm>
        </p:spPr>
        <p:txBody>
          <a:bodyPr/>
          <a:lstStyle/>
          <a:p>
            <a:pPr>
              <a:defRPr/>
            </a:pPr>
            <a:r>
              <a:rPr lang="en-US" altLang="zh-CN" dirty="0"/>
              <a:t>BUPT SCST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6499">
                                            <p:txEl>
                                              <p:pRg st="4" end="4"/>
                                            </p:txEl>
                                          </p:spTgt>
                                        </p:tgtEl>
                                        <p:attrNameLst>
                                          <p:attrName>style.visibility</p:attrName>
                                        </p:attrNameLst>
                                      </p:cBhvr>
                                      <p:to>
                                        <p:strVal val="visible"/>
                                      </p:to>
                                    </p:set>
                                    <p:animEffect transition="in" filter="box(in)">
                                      <p:cBhvr>
                                        <p:cTn id="7" dur="500"/>
                                        <p:tgtEl>
                                          <p:spTgt spid="106499">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06499">
                                            <p:txEl>
                                              <p:pRg st="5" end="5"/>
                                            </p:txEl>
                                          </p:spTgt>
                                        </p:tgtEl>
                                        <p:attrNameLst>
                                          <p:attrName>style.visibility</p:attrName>
                                        </p:attrNameLst>
                                      </p:cBhvr>
                                      <p:to>
                                        <p:strVal val="visible"/>
                                      </p:to>
                                    </p:set>
                                    <p:animEffect transition="in" filter="box(in)">
                                      <p:cBhvr>
                                        <p:cTn id="10" dur="500"/>
                                        <p:tgtEl>
                                          <p:spTgt spid="106499">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06499">
                                            <p:txEl>
                                              <p:pRg st="6" end="6"/>
                                            </p:txEl>
                                          </p:spTgt>
                                        </p:tgtEl>
                                        <p:attrNameLst>
                                          <p:attrName>style.visibility</p:attrName>
                                        </p:attrNameLst>
                                      </p:cBhvr>
                                      <p:to>
                                        <p:strVal val="visible"/>
                                      </p:to>
                                    </p:set>
                                    <p:animEffect transition="in" filter="box(in)">
                                      <p:cBhvr>
                                        <p:cTn id="13" dur="500"/>
                                        <p:tgtEl>
                                          <p:spTgt spid="106499">
                                            <p:txEl>
                                              <p:pRg st="6" end="6"/>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06499">
                                            <p:txEl>
                                              <p:pRg st="7" end="7"/>
                                            </p:txEl>
                                          </p:spTgt>
                                        </p:tgtEl>
                                        <p:attrNameLst>
                                          <p:attrName>style.visibility</p:attrName>
                                        </p:attrNameLst>
                                      </p:cBhvr>
                                      <p:to>
                                        <p:strVal val="visible"/>
                                      </p:to>
                                    </p:set>
                                    <p:animEffect transition="in" filter="box(in)">
                                      <p:cBhvr>
                                        <p:cTn id="16" dur="500"/>
                                        <p:tgtEl>
                                          <p:spTgt spid="106499">
                                            <p:txEl>
                                              <p:pRg st="7" end="7"/>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106499">
                                            <p:txEl>
                                              <p:pRg st="8" end="8"/>
                                            </p:txEl>
                                          </p:spTgt>
                                        </p:tgtEl>
                                        <p:attrNameLst>
                                          <p:attrName>style.visibility</p:attrName>
                                        </p:attrNameLst>
                                      </p:cBhvr>
                                      <p:to>
                                        <p:strVal val="visible"/>
                                      </p:to>
                                    </p:set>
                                    <p:animEffect transition="in" filter="box(in)">
                                      <p:cBhvr>
                                        <p:cTn id="19" dur="500"/>
                                        <p:tgtEl>
                                          <p:spTgt spid="106499">
                                            <p:txEl>
                                              <p:pRg st="8" end="8"/>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106499">
                                            <p:txEl>
                                              <p:pRg st="9" end="9"/>
                                            </p:txEl>
                                          </p:spTgt>
                                        </p:tgtEl>
                                        <p:attrNameLst>
                                          <p:attrName>style.visibility</p:attrName>
                                        </p:attrNameLst>
                                      </p:cBhvr>
                                      <p:to>
                                        <p:strVal val="visible"/>
                                      </p:to>
                                    </p:set>
                                    <p:animEffect transition="in" filter="box(in)">
                                      <p:cBhvr>
                                        <p:cTn id="22" dur="500"/>
                                        <p:tgtEl>
                                          <p:spTgt spid="1064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z="2800" dirty="0" smtClean="0">
                <a:ea typeface="华文楷体" panose="02010600040101010101" pitchFamily="2" charset="-122"/>
              </a:rPr>
              <a:t>6.5 </a:t>
            </a:r>
            <a:r>
              <a:rPr lang="zh-CN" altLang="en-US" sz="2800" dirty="0" smtClean="0">
                <a:ea typeface="华文楷体" panose="02010600040101010101" pitchFamily="2" charset="-122"/>
              </a:rPr>
              <a:t>算术表达式二叉树</a:t>
            </a:r>
            <a:endParaRPr lang="zh-CN" altLang="en-US" sz="2800" dirty="0">
              <a:ea typeface="华文楷体" panose="02010600040101010101" pitchFamily="2" charset="-122"/>
            </a:endParaRPr>
          </a:p>
        </p:txBody>
      </p:sp>
      <p:sp>
        <p:nvSpPr>
          <p:cNvPr id="3" name="内容占位符 2"/>
          <p:cNvSpPr>
            <a:spLocks noGrp="1"/>
          </p:cNvSpPr>
          <p:nvPr>
            <p:ph idx="1"/>
          </p:nvPr>
        </p:nvSpPr>
        <p:spPr>
          <a:xfrm>
            <a:off x="-8032" y="1189037"/>
            <a:ext cx="8229600" cy="5011738"/>
          </a:xfrm>
        </p:spPr>
        <p:txBody>
          <a:bodyPr/>
          <a:lstStyle/>
          <a:p>
            <a:pPr marL="812800" indent="-812800" eaLnBrk="1" hangingPunct="1">
              <a:lnSpc>
                <a:spcPct val="80000"/>
              </a:lnSpc>
              <a:buNone/>
            </a:pPr>
            <a:r>
              <a:rPr lang="en-US" altLang="zh-CN" sz="2400" b="1" dirty="0">
                <a:solidFill>
                  <a:srgbClr val="C00000"/>
                </a:solidFill>
                <a:ea typeface="华文楷体" panose="02010600040101010101" pitchFamily="2" charset="-122"/>
              </a:rPr>
              <a:t>[</a:t>
            </a:r>
            <a:r>
              <a:rPr lang="zh-CN" altLang="en-US" sz="2400" b="1" dirty="0">
                <a:solidFill>
                  <a:srgbClr val="C00000"/>
                </a:solidFill>
                <a:ea typeface="华文楷体" panose="02010600040101010101" pitchFamily="2" charset="-122"/>
              </a:rPr>
              <a:t>定义</a:t>
            </a:r>
            <a:r>
              <a:rPr lang="en-US" altLang="zh-CN" sz="2400" b="1" dirty="0">
                <a:solidFill>
                  <a:srgbClr val="C00000"/>
                </a:solidFill>
                <a:ea typeface="华文楷体" panose="02010600040101010101" pitchFamily="2" charset="-122"/>
              </a:rPr>
              <a:t>] </a:t>
            </a:r>
            <a:r>
              <a:rPr lang="zh-CN" altLang="en-US" sz="2400" dirty="0" smtClean="0">
                <a:ea typeface="华文楷体" panose="02010600040101010101" pitchFamily="2" charset="-122"/>
              </a:rPr>
              <a:t>表达式树</a:t>
            </a:r>
            <a:r>
              <a:rPr lang="zh-CN" altLang="en-US" sz="2400" dirty="0">
                <a:ea typeface="华文楷体" panose="02010600040101010101" pitchFamily="2" charset="-122"/>
              </a:rPr>
              <a:t>（</a:t>
            </a:r>
            <a:r>
              <a:rPr lang="en-US" altLang="zh-CN" sz="2400" dirty="0">
                <a:ea typeface="华文楷体" panose="02010600040101010101" pitchFamily="2" charset="-122"/>
              </a:rPr>
              <a:t>Expression Tree</a:t>
            </a:r>
            <a:r>
              <a:rPr lang="zh-CN" altLang="en-US" sz="2400" dirty="0">
                <a:ea typeface="华文楷体" panose="02010600040101010101" pitchFamily="2" charset="-122"/>
              </a:rPr>
              <a:t>）树叶为操作数，比如常量或者变量，其他节点</a:t>
            </a:r>
            <a:r>
              <a:rPr lang="zh-CN" altLang="en-US" sz="2400" dirty="0" smtClean="0">
                <a:ea typeface="华文楷体" panose="02010600040101010101" pitchFamily="2" charset="-122"/>
              </a:rPr>
              <a:t>为操作符。在简单算术表达式中操作符均为二元的，因此简单算术表达式是一颗二叉树。</a:t>
            </a:r>
            <a:r>
              <a:rPr lang="zh-CN" altLang="en-US" sz="2400" dirty="0" smtClean="0">
                <a:solidFill>
                  <a:srgbClr val="FF0000"/>
                </a:solidFill>
                <a:ea typeface="华文楷体" panose="02010600040101010101" pitchFamily="2" charset="-122"/>
              </a:rPr>
              <a:t>可通过递归计算左右子树得到的值，再应用在根处的操作符，进而计算出表达式的值。</a:t>
            </a:r>
            <a:endParaRPr lang="zh-CN" altLang="en-US" sz="2400" dirty="0">
              <a:solidFill>
                <a:srgbClr val="FF0000"/>
              </a:solidFill>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pic>
        <p:nvPicPr>
          <p:cNvPr id="5" name="图片 4"/>
          <p:cNvPicPr>
            <a:picLocks noChangeAspect="1"/>
          </p:cNvPicPr>
          <p:nvPr/>
        </p:nvPicPr>
        <p:blipFill>
          <a:blip r:embed="rId1"/>
          <a:stretch>
            <a:fillRect/>
          </a:stretch>
        </p:blipFill>
        <p:spPr>
          <a:xfrm>
            <a:off x="585884" y="2819416"/>
            <a:ext cx="2614552" cy="1638973"/>
          </a:xfrm>
          <a:prstGeom prst="rect">
            <a:avLst/>
          </a:prstGeom>
        </p:spPr>
      </p:pic>
      <p:sp>
        <p:nvSpPr>
          <p:cNvPr id="6" name="文本框 5"/>
          <p:cNvSpPr txBox="1"/>
          <p:nvPr/>
        </p:nvSpPr>
        <p:spPr>
          <a:xfrm>
            <a:off x="4114812" y="2693041"/>
            <a:ext cx="4630374" cy="1754326"/>
          </a:xfrm>
          <a:prstGeom prst="rect">
            <a:avLst/>
          </a:prstGeom>
          <a:noFill/>
          <a:ln>
            <a:solidFill>
              <a:schemeClr val="accent1"/>
            </a:solidFill>
          </a:ln>
        </p:spPr>
        <p:txBody>
          <a:bodyPr wrap="square" rtlCol="0">
            <a:spAutoFit/>
          </a:bodyPr>
          <a:lstStyle/>
          <a:p>
            <a:r>
              <a:rPr lang="zh-CN" altLang="en-US" sz="1800" b="1" dirty="0">
                <a:solidFill>
                  <a:srgbClr val="C00000"/>
                </a:solidFill>
                <a:latin typeface="Times New Roman" panose="02020603050405020304" pitchFamily="18" charset="0"/>
                <a:ea typeface="华文楷体" panose="02010600040101010101" pitchFamily="2" charset="-122"/>
              </a:rPr>
              <a:t>中</a:t>
            </a:r>
            <a:r>
              <a:rPr lang="zh-CN" altLang="en-US" sz="1800" b="1" dirty="0" smtClean="0">
                <a:solidFill>
                  <a:srgbClr val="C00000"/>
                </a:solidFill>
                <a:latin typeface="Times New Roman" panose="02020603050405020304" pitchFamily="18" charset="0"/>
                <a:ea typeface="华文楷体" panose="02010600040101010101" pitchFamily="2" charset="-122"/>
              </a:rPr>
              <a:t>序（中缀表达式）</a:t>
            </a:r>
            <a:r>
              <a:rPr lang="en-US" altLang="zh-CN" sz="1800" dirty="0" smtClean="0">
                <a:latin typeface="Times New Roman" panose="02020603050405020304" pitchFamily="18" charset="0"/>
                <a:ea typeface="华文楷体" panose="02010600040101010101" pitchFamily="2" charset="-122"/>
              </a:rPr>
              <a:t>: ①</a:t>
            </a:r>
            <a:r>
              <a:rPr lang="zh-CN" altLang="en-US" sz="1800" dirty="0" smtClean="0">
                <a:latin typeface="Times New Roman" panose="02020603050405020304" pitchFamily="18" charset="0"/>
                <a:ea typeface="华文楷体" panose="02010600040101010101" pitchFamily="2" charset="-122"/>
              </a:rPr>
              <a:t>递归产生一个带括号的左表达式；②打印根结点的运算符；③递归产生一个</a:t>
            </a:r>
            <a:r>
              <a:rPr lang="zh-CN" altLang="en-US" sz="1800" dirty="0">
                <a:latin typeface="Times New Roman" panose="02020603050405020304" pitchFamily="18" charset="0"/>
                <a:ea typeface="华文楷体" panose="02010600040101010101" pitchFamily="2" charset="-122"/>
              </a:rPr>
              <a:t>带括号</a:t>
            </a:r>
            <a:r>
              <a:rPr lang="zh-CN" altLang="en-US" sz="1800" dirty="0" smtClean="0">
                <a:latin typeface="Times New Roman" panose="02020603050405020304" pitchFamily="18" charset="0"/>
                <a:ea typeface="华文楷体" panose="02010600040101010101" pitchFamily="2" charset="-122"/>
              </a:rPr>
              <a:t>的右表达式。</a:t>
            </a:r>
            <a:endParaRPr lang="en-US" altLang="zh-CN" sz="1800" dirty="0" smtClean="0">
              <a:latin typeface="Times New Roman" panose="02020603050405020304" pitchFamily="18" charset="0"/>
              <a:ea typeface="华文楷体" panose="02010600040101010101" pitchFamily="2" charset="-122"/>
            </a:endParaRPr>
          </a:p>
          <a:p>
            <a:r>
              <a:rPr lang="zh-CN" altLang="en-US" sz="1800" dirty="0" smtClean="0">
                <a:latin typeface="Times New Roman" panose="02020603050405020304" pitchFamily="18" charset="0"/>
                <a:ea typeface="华文楷体" panose="02010600040101010101" pitchFamily="2" charset="-122"/>
              </a:rPr>
              <a:t>左子树</a:t>
            </a:r>
            <a:r>
              <a:rPr lang="zh-CN" altLang="en-US" sz="1800" dirty="0">
                <a:latin typeface="Times New Roman" panose="02020603050405020304" pitchFamily="18" charset="0"/>
                <a:ea typeface="华文楷体" panose="02010600040101010101" pitchFamily="2" charset="-122"/>
              </a:rPr>
              <a:t>：</a:t>
            </a:r>
            <a:r>
              <a:rPr lang="en-US" altLang="zh-CN" sz="1800" dirty="0">
                <a:latin typeface="Times New Roman" panose="02020603050405020304" pitchFamily="18" charset="0"/>
                <a:ea typeface="华文楷体" panose="02010600040101010101" pitchFamily="2" charset="-122"/>
              </a:rPr>
              <a:t>a+(b*c)</a:t>
            </a:r>
            <a:r>
              <a:rPr lang="zh-CN" altLang="en-US" sz="1800" dirty="0" smtClean="0">
                <a:latin typeface="Times New Roman" panose="02020603050405020304" pitchFamily="18" charset="0"/>
                <a:ea typeface="华文楷体" panose="02010600040101010101" pitchFamily="2" charset="-122"/>
              </a:rPr>
              <a:t>；</a:t>
            </a:r>
            <a:endParaRPr lang="en-US" altLang="zh-CN" sz="1800" dirty="0" smtClean="0">
              <a:latin typeface="Times New Roman" panose="02020603050405020304" pitchFamily="18" charset="0"/>
              <a:ea typeface="华文楷体" panose="02010600040101010101" pitchFamily="2" charset="-122"/>
            </a:endParaRPr>
          </a:p>
          <a:p>
            <a:r>
              <a:rPr lang="zh-CN" altLang="en-US" sz="1800" dirty="0" smtClean="0">
                <a:latin typeface="Times New Roman" panose="02020603050405020304" pitchFamily="18" charset="0"/>
                <a:ea typeface="华文楷体" panose="02010600040101010101" pitchFamily="2" charset="-122"/>
              </a:rPr>
              <a:t>右</a:t>
            </a:r>
            <a:r>
              <a:rPr lang="zh-CN" altLang="en-US" sz="1800" dirty="0">
                <a:latin typeface="Times New Roman" panose="02020603050405020304" pitchFamily="18" charset="0"/>
                <a:ea typeface="华文楷体" panose="02010600040101010101" pitchFamily="2" charset="-122"/>
              </a:rPr>
              <a:t>子树</a:t>
            </a:r>
            <a:r>
              <a:rPr lang="zh-CN" altLang="en-US" sz="1800" dirty="0">
                <a:latin typeface="Times New Roman" panose="02020603050405020304" pitchFamily="18" charset="0"/>
                <a:ea typeface="华文楷体" panose="02010600040101010101" pitchFamily="2" charset="-122"/>
                <a:sym typeface="Wingdings" panose="05000000000000000000" pitchFamily="2" charset="2"/>
              </a:rPr>
              <a:t>：</a:t>
            </a:r>
            <a:r>
              <a:rPr lang="en-US" altLang="zh-CN" sz="1800" dirty="0">
                <a:latin typeface="Times New Roman" panose="02020603050405020304" pitchFamily="18" charset="0"/>
                <a:ea typeface="华文楷体" panose="02010600040101010101" pitchFamily="2" charset="-122"/>
                <a:sym typeface="Wingdings" panose="05000000000000000000" pitchFamily="2" charset="2"/>
              </a:rPr>
              <a:t>((d*e)+f)*g</a:t>
            </a:r>
            <a:endParaRPr lang="en-US" altLang="zh-CN" sz="1800" dirty="0">
              <a:latin typeface="Times New Roman" panose="02020603050405020304" pitchFamily="18" charset="0"/>
              <a:ea typeface="华文楷体" panose="02010600040101010101" pitchFamily="2" charset="-122"/>
              <a:sym typeface="Wingdings" panose="05000000000000000000" pitchFamily="2" charset="2"/>
            </a:endParaRPr>
          </a:p>
          <a:p>
            <a:r>
              <a:rPr lang="zh-CN" altLang="en-US" sz="1800" dirty="0" smtClean="0">
                <a:latin typeface="Times New Roman" panose="02020603050405020304" pitchFamily="18" charset="0"/>
                <a:ea typeface="华文楷体" panose="02010600040101010101" pitchFamily="2" charset="-122"/>
              </a:rPr>
              <a:t>中缀</a:t>
            </a:r>
            <a:r>
              <a:rPr lang="en-US" altLang="zh-CN" sz="1800" dirty="0" smtClean="0">
                <a:latin typeface="Times New Roman" panose="02020603050405020304" pitchFamily="18" charset="0"/>
                <a:ea typeface="华文楷体" panose="02010600040101010101" pitchFamily="2" charset="-122"/>
              </a:rPr>
              <a:t>\</a:t>
            </a:r>
            <a:r>
              <a:rPr lang="zh-CN" altLang="en-US" sz="1800" dirty="0" smtClean="0">
                <a:latin typeface="Times New Roman" panose="02020603050405020304" pitchFamily="18" charset="0"/>
                <a:ea typeface="华文楷体" panose="02010600040101010101" pitchFamily="2" charset="-122"/>
              </a:rPr>
              <a:t>标准表达式</a:t>
            </a:r>
            <a:r>
              <a:rPr lang="en-US" altLang="zh-CN" sz="1800" dirty="0" smtClean="0">
                <a:latin typeface="Times New Roman" panose="02020603050405020304" pitchFamily="18" charset="0"/>
                <a:ea typeface="华文楷体" panose="02010600040101010101" pitchFamily="2" charset="-122"/>
              </a:rPr>
              <a:t>: (a+(b*c))+(((d*e)+f)*g)</a:t>
            </a:r>
            <a:endParaRPr lang="zh-CN" altLang="en-US" sz="1800" dirty="0">
              <a:latin typeface="Times New Roman" panose="02020603050405020304" pitchFamily="18" charset="0"/>
              <a:ea typeface="华文楷体" panose="02010600040101010101" pitchFamily="2" charset="-122"/>
            </a:endParaRPr>
          </a:p>
        </p:txBody>
      </p:sp>
      <p:sp>
        <p:nvSpPr>
          <p:cNvPr id="7" name="文本框 6"/>
          <p:cNvSpPr txBox="1"/>
          <p:nvPr/>
        </p:nvSpPr>
        <p:spPr>
          <a:xfrm>
            <a:off x="29842" y="4923896"/>
            <a:ext cx="3809900" cy="1200329"/>
          </a:xfrm>
          <a:prstGeom prst="rect">
            <a:avLst/>
          </a:prstGeom>
          <a:noFill/>
          <a:ln>
            <a:solidFill>
              <a:schemeClr val="accent1"/>
            </a:solidFill>
          </a:ln>
        </p:spPr>
        <p:txBody>
          <a:bodyPr wrap="square" rtlCol="0">
            <a:spAutoFit/>
          </a:bodyPr>
          <a:lstStyle/>
          <a:p>
            <a:r>
              <a:rPr lang="zh-CN" altLang="en-US" sz="1800" b="1" dirty="0" smtClean="0">
                <a:solidFill>
                  <a:srgbClr val="C00000"/>
                </a:solidFill>
                <a:latin typeface="Times New Roman" panose="02020603050405020304" pitchFamily="18" charset="0"/>
                <a:ea typeface="华文楷体" panose="02010600040101010101" pitchFamily="2" charset="-122"/>
              </a:rPr>
              <a:t>后序（后缀</a:t>
            </a:r>
            <a:r>
              <a:rPr lang="en-US" altLang="zh-CN" sz="1800" b="1" dirty="0" smtClean="0">
                <a:solidFill>
                  <a:srgbClr val="C00000"/>
                </a:solidFill>
                <a:latin typeface="Times New Roman" panose="02020603050405020304" pitchFamily="18" charset="0"/>
                <a:ea typeface="华文楷体" panose="02010600040101010101" pitchFamily="2" charset="-122"/>
              </a:rPr>
              <a:t>\</a:t>
            </a:r>
            <a:r>
              <a:rPr lang="zh-CN" altLang="en-US" sz="1800" b="1" dirty="0" smtClean="0">
                <a:solidFill>
                  <a:srgbClr val="C00000"/>
                </a:solidFill>
                <a:latin typeface="Times New Roman" panose="02020603050405020304" pitchFamily="18" charset="0"/>
                <a:ea typeface="华文楷体" panose="02010600040101010101" pitchFamily="2" charset="-122"/>
              </a:rPr>
              <a:t>逆波兰表达式）</a:t>
            </a:r>
            <a:r>
              <a:rPr lang="en-US" altLang="zh-CN" sz="1800" dirty="0" smtClean="0">
                <a:latin typeface="Times New Roman" panose="02020603050405020304" pitchFamily="18" charset="0"/>
                <a:ea typeface="华文楷体" panose="02010600040101010101" pitchFamily="2" charset="-122"/>
              </a:rPr>
              <a:t>: ①</a:t>
            </a:r>
            <a:r>
              <a:rPr lang="zh-CN" altLang="en-US" sz="1800" dirty="0" smtClean="0">
                <a:latin typeface="Times New Roman" panose="02020603050405020304" pitchFamily="18" charset="0"/>
                <a:ea typeface="华文楷体" panose="02010600040101010101" pitchFamily="2" charset="-122"/>
              </a:rPr>
              <a:t>递归打印左子树；②递归打印右子树；③打印运算符。</a:t>
            </a:r>
            <a:endParaRPr lang="en-US" altLang="zh-CN" sz="1800" dirty="0" smtClean="0">
              <a:latin typeface="Times New Roman" panose="02020603050405020304" pitchFamily="18" charset="0"/>
              <a:ea typeface="华文楷体" panose="02010600040101010101" pitchFamily="2" charset="-122"/>
            </a:endParaRPr>
          </a:p>
          <a:p>
            <a:r>
              <a:rPr lang="zh-CN" altLang="en-US" sz="1800" dirty="0" smtClean="0">
                <a:latin typeface="Times New Roman" panose="02020603050405020304" pitchFamily="18" charset="0"/>
                <a:ea typeface="华文楷体" panose="02010600040101010101" pitchFamily="2" charset="-122"/>
              </a:rPr>
              <a:t>后缀表达式</a:t>
            </a:r>
            <a:r>
              <a:rPr lang="en-US" altLang="zh-CN" sz="1800" dirty="0" smtClean="0">
                <a:latin typeface="Times New Roman" panose="02020603050405020304" pitchFamily="18" charset="0"/>
                <a:ea typeface="华文楷体" panose="02010600040101010101" pitchFamily="2" charset="-122"/>
              </a:rPr>
              <a:t>: </a:t>
            </a:r>
            <a:r>
              <a:rPr lang="en-US" altLang="zh-CN" sz="1800" dirty="0" err="1" smtClean="0">
                <a:latin typeface="Times New Roman" panose="02020603050405020304" pitchFamily="18" charset="0"/>
                <a:ea typeface="华文楷体" panose="02010600040101010101" pitchFamily="2" charset="-122"/>
              </a:rPr>
              <a:t>abc</a:t>
            </a:r>
            <a:r>
              <a:rPr lang="en-US" altLang="zh-CN" sz="1800" dirty="0" smtClean="0">
                <a:latin typeface="Times New Roman" panose="02020603050405020304" pitchFamily="18" charset="0"/>
                <a:ea typeface="华文楷体" panose="02010600040101010101" pitchFamily="2" charset="-122"/>
              </a:rPr>
              <a:t>*+de*</a:t>
            </a:r>
            <a:r>
              <a:rPr lang="en-US" altLang="zh-CN" sz="1800" dirty="0" err="1" smtClean="0">
                <a:latin typeface="Times New Roman" panose="02020603050405020304" pitchFamily="18" charset="0"/>
                <a:ea typeface="华文楷体" panose="02010600040101010101" pitchFamily="2" charset="-122"/>
              </a:rPr>
              <a:t>f+g</a:t>
            </a:r>
            <a:r>
              <a:rPr lang="en-US" altLang="zh-CN" sz="1800" dirty="0" smtClean="0">
                <a:latin typeface="Times New Roman" panose="02020603050405020304" pitchFamily="18" charset="0"/>
                <a:ea typeface="华文楷体" panose="02010600040101010101" pitchFamily="2" charset="-122"/>
              </a:rPr>
              <a:t>*+</a:t>
            </a:r>
            <a:endParaRPr lang="zh-CN" altLang="en-US" sz="1800" dirty="0">
              <a:latin typeface="Times New Roman" panose="02020603050405020304" pitchFamily="18" charset="0"/>
              <a:ea typeface="华文楷体" panose="02010600040101010101" pitchFamily="2" charset="-122"/>
            </a:endParaRPr>
          </a:p>
        </p:txBody>
      </p:sp>
      <p:sp>
        <p:nvSpPr>
          <p:cNvPr id="8" name="文本框 7"/>
          <p:cNvSpPr txBox="1"/>
          <p:nvPr/>
        </p:nvSpPr>
        <p:spPr>
          <a:xfrm>
            <a:off x="4125704" y="4942347"/>
            <a:ext cx="4637295" cy="1200329"/>
          </a:xfrm>
          <a:prstGeom prst="rect">
            <a:avLst/>
          </a:prstGeom>
          <a:noFill/>
          <a:ln>
            <a:solidFill>
              <a:schemeClr val="accent1"/>
            </a:solidFill>
          </a:ln>
        </p:spPr>
        <p:txBody>
          <a:bodyPr wrap="square" rtlCol="0">
            <a:spAutoFit/>
          </a:bodyPr>
          <a:lstStyle/>
          <a:p>
            <a:r>
              <a:rPr lang="zh-CN" altLang="en-US" sz="1800" b="1" dirty="0">
                <a:solidFill>
                  <a:srgbClr val="C00000"/>
                </a:solidFill>
                <a:latin typeface="Times New Roman" panose="02020603050405020304" pitchFamily="18" charset="0"/>
                <a:ea typeface="华文楷体" panose="02010600040101010101" pitchFamily="2" charset="-122"/>
              </a:rPr>
              <a:t>先</a:t>
            </a:r>
            <a:r>
              <a:rPr lang="zh-CN" altLang="en-US" sz="1800" b="1" dirty="0" smtClean="0">
                <a:solidFill>
                  <a:srgbClr val="C00000"/>
                </a:solidFill>
                <a:latin typeface="Times New Roman" panose="02020603050405020304" pitchFamily="18" charset="0"/>
                <a:ea typeface="华文楷体" panose="02010600040101010101" pitchFamily="2" charset="-122"/>
              </a:rPr>
              <a:t>序（前缀</a:t>
            </a:r>
            <a:r>
              <a:rPr lang="en-US" altLang="zh-CN" sz="1800" b="1" dirty="0" smtClean="0">
                <a:solidFill>
                  <a:srgbClr val="C00000"/>
                </a:solidFill>
                <a:latin typeface="Times New Roman" panose="02020603050405020304" pitchFamily="18" charset="0"/>
                <a:ea typeface="华文楷体" panose="02010600040101010101" pitchFamily="2" charset="-122"/>
              </a:rPr>
              <a:t>\</a:t>
            </a:r>
            <a:r>
              <a:rPr lang="zh-CN" altLang="en-US" sz="1800" b="1" dirty="0">
                <a:solidFill>
                  <a:srgbClr val="C00000"/>
                </a:solidFill>
                <a:latin typeface="Times New Roman" panose="02020603050405020304" pitchFamily="18" charset="0"/>
                <a:ea typeface="华文楷体" panose="02010600040101010101" pitchFamily="2" charset="-122"/>
              </a:rPr>
              <a:t>波兰</a:t>
            </a:r>
            <a:r>
              <a:rPr lang="zh-CN" altLang="en-US" sz="1800" b="1" dirty="0" smtClean="0">
                <a:solidFill>
                  <a:srgbClr val="C00000"/>
                </a:solidFill>
                <a:latin typeface="Times New Roman" panose="02020603050405020304" pitchFamily="18" charset="0"/>
                <a:ea typeface="华文楷体" panose="02010600040101010101" pitchFamily="2" charset="-122"/>
              </a:rPr>
              <a:t>表达式）</a:t>
            </a:r>
            <a:r>
              <a:rPr lang="en-US" altLang="zh-CN" sz="1800" dirty="0" smtClean="0">
                <a:latin typeface="Times New Roman" panose="02020603050405020304" pitchFamily="18" charset="0"/>
                <a:ea typeface="华文楷体" panose="02010600040101010101" pitchFamily="2" charset="-122"/>
              </a:rPr>
              <a:t>: ①</a:t>
            </a:r>
            <a:r>
              <a:rPr lang="zh-CN" altLang="en-US" sz="1800" dirty="0" smtClean="0">
                <a:latin typeface="Times New Roman" panose="02020603050405020304" pitchFamily="18" charset="0"/>
                <a:ea typeface="华文楷体" panose="02010600040101010101" pitchFamily="2" charset="-122"/>
              </a:rPr>
              <a:t>打印运算符；②递归打印左子树；③递归打印右子树。</a:t>
            </a:r>
            <a:r>
              <a:rPr lang="zh-CN" altLang="en-US" sz="1800" b="1" dirty="0" smtClean="0">
                <a:solidFill>
                  <a:srgbClr val="C00000"/>
                </a:solidFill>
                <a:latin typeface="Times New Roman" panose="02020603050405020304" pitchFamily="18" charset="0"/>
                <a:ea typeface="华文楷体" panose="02010600040101010101" pitchFamily="2" charset="-122"/>
              </a:rPr>
              <a:t>不常用</a:t>
            </a:r>
            <a:endParaRPr lang="en-US" altLang="zh-CN" sz="1800" b="1" dirty="0" smtClean="0">
              <a:solidFill>
                <a:srgbClr val="C00000"/>
              </a:solidFill>
              <a:latin typeface="Times New Roman" panose="02020603050405020304" pitchFamily="18" charset="0"/>
              <a:ea typeface="华文楷体" panose="02010600040101010101" pitchFamily="2" charset="-122"/>
            </a:endParaRPr>
          </a:p>
          <a:p>
            <a:r>
              <a:rPr lang="zh-CN" altLang="en-US" sz="1800" dirty="0" smtClean="0">
                <a:latin typeface="Times New Roman" panose="02020603050405020304" pitchFamily="18" charset="0"/>
                <a:ea typeface="华文楷体" panose="02010600040101010101" pitchFamily="2" charset="-122"/>
              </a:rPr>
              <a:t>前缀表达式</a:t>
            </a:r>
            <a:r>
              <a:rPr lang="en-US" altLang="zh-CN" sz="1800" dirty="0" smtClean="0">
                <a:latin typeface="Times New Roman" panose="02020603050405020304" pitchFamily="18" charset="0"/>
                <a:ea typeface="华文楷体" panose="02010600040101010101" pitchFamily="2" charset="-122"/>
              </a:rPr>
              <a:t>: ++a*</a:t>
            </a:r>
            <a:r>
              <a:rPr lang="en-US" altLang="zh-CN" sz="1800" dirty="0" err="1" smtClean="0">
                <a:latin typeface="Times New Roman" panose="02020603050405020304" pitchFamily="18" charset="0"/>
                <a:ea typeface="华文楷体" panose="02010600040101010101" pitchFamily="2" charset="-122"/>
              </a:rPr>
              <a:t>bc</a:t>
            </a:r>
            <a:r>
              <a:rPr lang="en-US" altLang="zh-CN" sz="1800" dirty="0" smtClean="0">
                <a:latin typeface="Times New Roman" panose="02020603050405020304" pitchFamily="18" charset="0"/>
                <a:ea typeface="华文楷体" panose="02010600040101010101" pitchFamily="2" charset="-122"/>
              </a:rPr>
              <a:t>*+*</a:t>
            </a:r>
            <a:r>
              <a:rPr lang="en-US" altLang="zh-CN" sz="1800" dirty="0" err="1" smtClean="0">
                <a:latin typeface="Times New Roman" panose="02020603050405020304" pitchFamily="18" charset="0"/>
                <a:ea typeface="华文楷体" panose="02010600040101010101" pitchFamily="2" charset="-122"/>
              </a:rPr>
              <a:t>defg</a:t>
            </a:r>
            <a:endParaRPr lang="zh-CN" altLang="en-US" sz="1800" dirty="0">
              <a:latin typeface="Times New Roman" panose="02020603050405020304" pitchFamily="18" charset="0"/>
              <a:ea typeface="华文楷体" panose="02010600040101010101" pitchFamily="2" charset="-122"/>
            </a:endParaRPr>
          </a:p>
        </p:txBody>
      </p:sp>
      <p:sp>
        <p:nvSpPr>
          <p:cNvPr id="9" name="页脚占位符 3"/>
          <p:cNvSpPr>
            <a:spLocks noGrp="1"/>
          </p:cNvSpPr>
          <p:nvPr>
            <p:ph type="ftr" sz="quarter" idx="10"/>
          </p:nvPr>
        </p:nvSpPr>
        <p:spPr>
          <a:xfrm>
            <a:off x="3851275" y="6461125"/>
            <a:ext cx="4911725" cy="320675"/>
          </a:xfrm>
        </p:spPr>
        <p:txBody>
          <a:bodyPr/>
          <a:lstStyle/>
          <a:p>
            <a:pPr>
              <a:defRPr/>
            </a:pPr>
            <a:r>
              <a:rPr lang="en-US" altLang="zh-CN" dirty="0"/>
              <a:t>BUPT SCST</a:t>
            </a:r>
            <a:endParaRPr lang="en-US" altLang="zh-CN"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28714" y="1133743"/>
            <a:ext cx="8762770" cy="1838069"/>
          </a:xfrm>
          <a:ln>
            <a:solidFill>
              <a:schemeClr val="accent1"/>
            </a:solidFill>
          </a:ln>
        </p:spPr>
        <p:txBody>
          <a:bodyPr/>
          <a:lstStyle/>
          <a:p>
            <a:pPr marL="0" indent="0">
              <a:buNone/>
            </a:pPr>
            <a:r>
              <a:rPr lang="en-US" altLang="zh-CN" sz="1800" b="1" dirty="0">
                <a:solidFill>
                  <a:srgbClr val="C00000"/>
                </a:solidFill>
                <a:ea typeface="华文楷体" panose="02010600040101010101" pitchFamily="2" charset="-122"/>
              </a:rPr>
              <a:t>[</a:t>
            </a:r>
            <a:r>
              <a:rPr lang="zh-CN" altLang="en-US" sz="1800" b="1" dirty="0">
                <a:solidFill>
                  <a:srgbClr val="C00000"/>
                </a:solidFill>
                <a:ea typeface="华文楷体" panose="02010600040101010101" pitchFamily="2" charset="-122"/>
              </a:rPr>
              <a:t>例</a:t>
            </a:r>
            <a:r>
              <a:rPr lang="en-US" altLang="zh-CN" sz="1800" b="1" dirty="0">
                <a:solidFill>
                  <a:srgbClr val="C00000"/>
                </a:solidFill>
                <a:ea typeface="华文楷体" panose="02010600040101010101" pitchFamily="2" charset="-122"/>
              </a:rPr>
              <a:t>] </a:t>
            </a:r>
            <a:r>
              <a:rPr lang="zh-CN" altLang="en-US" sz="1800" dirty="0" smtClean="0">
                <a:ea typeface="华文楷体" panose="02010600040101010101" pitchFamily="2" charset="-122"/>
              </a:rPr>
              <a:t>将</a:t>
            </a:r>
            <a:r>
              <a:rPr lang="zh-CN" altLang="en-US" sz="1800" dirty="0">
                <a:ea typeface="华文楷体" panose="02010600040101010101" pitchFamily="2" charset="-122"/>
              </a:rPr>
              <a:t>中</a:t>
            </a:r>
            <a:r>
              <a:rPr lang="zh-CN" altLang="en-US" sz="1800" dirty="0" smtClean="0">
                <a:ea typeface="华文楷体" panose="02010600040101010101" pitchFamily="2" charset="-122"/>
              </a:rPr>
              <a:t>缀</a:t>
            </a:r>
            <a:r>
              <a:rPr lang="zh-CN" altLang="en-US" sz="1800" dirty="0">
                <a:ea typeface="华文楷体" panose="02010600040101010101" pitchFamily="2" charset="-122"/>
              </a:rPr>
              <a:t>表达式</a:t>
            </a:r>
            <a:r>
              <a:rPr lang="zh-CN" altLang="en-US" sz="1800" dirty="0" smtClean="0">
                <a:ea typeface="华文楷体" panose="02010600040101010101" pitchFamily="2" charset="-122"/>
              </a:rPr>
              <a:t>转为后缀表达式。</a:t>
            </a:r>
            <a:endParaRPr lang="en-US" altLang="zh-CN" sz="1800" dirty="0" smtClean="0">
              <a:ea typeface="华文楷体" panose="02010600040101010101" pitchFamily="2" charset="-122"/>
            </a:endParaRPr>
          </a:p>
          <a:p>
            <a:pPr marL="0" indent="0">
              <a:buNone/>
            </a:pPr>
            <a:r>
              <a:rPr lang="en-US" altLang="zh-CN" sz="1800" dirty="0" err="1" smtClean="0">
                <a:ea typeface="华文楷体" panose="02010600040101010101" pitchFamily="2" charset="-122"/>
              </a:rPr>
              <a:t>a+b</a:t>
            </a:r>
            <a:r>
              <a:rPr lang="en-US" altLang="zh-CN" sz="1800" dirty="0" smtClean="0">
                <a:ea typeface="华文楷体" panose="02010600040101010101" pitchFamily="2" charset="-122"/>
              </a:rPr>
              <a:t>*c+(d*</a:t>
            </a:r>
            <a:r>
              <a:rPr lang="en-US" altLang="zh-CN" sz="1800" dirty="0" err="1" smtClean="0">
                <a:ea typeface="华文楷体" panose="02010600040101010101" pitchFamily="2" charset="-122"/>
              </a:rPr>
              <a:t>e+f</a:t>
            </a:r>
            <a:r>
              <a:rPr lang="en-US" altLang="zh-CN" sz="1800" dirty="0" smtClean="0">
                <a:ea typeface="华文楷体" panose="02010600040101010101" pitchFamily="2" charset="-122"/>
              </a:rPr>
              <a:t>)*g  -------&gt;    </a:t>
            </a:r>
            <a:r>
              <a:rPr lang="en-US" altLang="zh-CN" sz="1800" dirty="0" err="1" smtClean="0">
                <a:ea typeface="华文楷体" panose="02010600040101010101" pitchFamily="2" charset="-122"/>
              </a:rPr>
              <a:t>abc</a:t>
            </a:r>
            <a:r>
              <a:rPr lang="en-US" altLang="zh-CN" sz="1800" dirty="0" smtClean="0">
                <a:ea typeface="华文楷体" panose="02010600040101010101" pitchFamily="2" charset="-122"/>
              </a:rPr>
              <a:t>*+de*</a:t>
            </a:r>
            <a:r>
              <a:rPr lang="en-US" altLang="zh-CN" sz="1800" dirty="0" err="1" smtClean="0">
                <a:ea typeface="华文楷体" panose="02010600040101010101" pitchFamily="2" charset="-122"/>
              </a:rPr>
              <a:t>f+g</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zh-CN" altLang="en-US" sz="1800" dirty="0" smtClean="0">
                <a:ea typeface="华文楷体" panose="02010600040101010101" pitchFamily="2" charset="-122"/>
              </a:rPr>
              <a:t>思路：①读到操作数直接输出；②读到运算符与栈顶运算符比较，如栈顶优先级低，新运算符入栈，否则栈顶</a:t>
            </a:r>
            <a:r>
              <a:rPr lang="zh-CN" altLang="en-US" sz="1800" dirty="0">
                <a:ea typeface="华文楷体" panose="02010600040101010101" pitchFamily="2" charset="-122"/>
              </a:rPr>
              <a:t>运算符</a:t>
            </a:r>
            <a:r>
              <a:rPr lang="zh-CN" altLang="en-US" sz="1800" dirty="0" smtClean="0">
                <a:ea typeface="华文楷体" panose="02010600040101010101" pitchFamily="2" charset="-122"/>
              </a:rPr>
              <a:t>弹出，直到栈顶</a:t>
            </a:r>
            <a:r>
              <a:rPr lang="zh-CN" altLang="en-US" sz="1800" dirty="0">
                <a:ea typeface="华文楷体" panose="02010600040101010101" pitchFamily="2" charset="-122"/>
              </a:rPr>
              <a:t>运算符</a:t>
            </a:r>
            <a:r>
              <a:rPr lang="zh-CN" altLang="en-US" sz="1800" dirty="0" smtClean="0">
                <a:ea typeface="华文楷体" panose="02010600040101010101" pitchFamily="2" charset="-122"/>
              </a:rPr>
              <a:t>优先级更低；③读到左括号入栈；</a:t>
            </a:r>
            <a:r>
              <a:rPr lang="zh-CN" altLang="en-US" sz="1800" dirty="0">
                <a:ea typeface="华文楷体" panose="02010600040101010101" pitchFamily="2" charset="-122"/>
              </a:rPr>
              <a:t> </a:t>
            </a:r>
            <a:r>
              <a:rPr lang="zh-CN" altLang="en-US" sz="1800" dirty="0" smtClean="0">
                <a:ea typeface="华文楷体" panose="02010600040101010101" pitchFamily="2" charset="-122"/>
              </a:rPr>
              <a:t>④读到右括号栈中元素依次出栈，直到遇到左括号和它匹配，左括号出栈但不输出，除非是处理</a:t>
            </a:r>
            <a:r>
              <a:rPr lang="zh-CN" altLang="en-US" sz="1800" dirty="0">
                <a:ea typeface="华文楷体" panose="02010600040101010101" pitchFamily="2" charset="-122"/>
              </a:rPr>
              <a:t>右</a:t>
            </a:r>
            <a:r>
              <a:rPr lang="zh-CN" altLang="en-US" sz="1800" dirty="0" smtClean="0">
                <a:ea typeface="华文楷体" panose="02010600040101010101" pitchFamily="2" charset="-122"/>
              </a:rPr>
              <a:t>括号，否则</a:t>
            </a:r>
            <a:r>
              <a:rPr lang="zh-CN" altLang="en-US" sz="1800" dirty="0">
                <a:ea typeface="华文楷体" panose="02010600040101010101" pitchFamily="2" charset="-122"/>
              </a:rPr>
              <a:t>左</a:t>
            </a:r>
            <a:r>
              <a:rPr lang="zh-CN" altLang="en-US" sz="1800" dirty="0" smtClean="0">
                <a:ea typeface="华文楷体" panose="02010600040101010101" pitchFamily="2" charset="-122"/>
              </a:rPr>
              <a:t>括号绝不出栈；⑤输入</a:t>
            </a:r>
            <a:r>
              <a:rPr lang="zh-CN" altLang="en-US" sz="1800" dirty="0">
                <a:ea typeface="华文楷体" panose="02010600040101010101" pitchFamily="2" charset="-122"/>
              </a:rPr>
              <a:t>空</a:t>
            </a:r>
            <a:r>
              <a:rPr lang="zh-CN" altLang="en-US" sz="1800" dirty="0" smtClean="0">
                <a:ea typeface="华文楷体" panose="02010600040101010101" pitchFamily="2" charset="-122"/>
              </a:rPr>
              <a:t>，栈中剩余部分全部输出。</a:t>
            </a:r>
            <a:endParaRPr lang="zh-CN" altLang="en-US" sz="2400" dirty="0">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5" name="页脚占位符 3"/>
          <p:cNvSpPr>
            <a:spLocks noGrp="1"/>
          </p:cNvSpPr>
          <p:nvPr>
            <p:ph type="ftr" sz="quarter" idx="10"/>
          </p:nvPr>
        </p:nvSpPr>
        <p:spPr>
          <a:xfrm>
            <a:off x="3851275" y="6461125"/>
            <a:ext cx="4911725" cy="320675"/>
          </a:xfrm>
        </p:spPr>
        <p:txBody>
          <a:bodyPr/>
          <a:lstStyle/>
          <a:p>
            <a:pPr>
              <a:defRPr/>
            </a:pPr>
            <a:r>
              <a:rPr lang="en-US" altLang="zh-CN" dirty="0"/>
              <a:t>BUPT SCST</a:t>
            </a:r>
            <a:endParaRPr lang="en-US" altLang="zh-CN" dirty="0"/>
          </a:p>
        </p:txBody>
      </p:sp>
      <p:pic>
        <p:nvPicPr>
          <p:cNvPr id="7" name="图片 6"/>
          <p:cNvPicPr>
            <a:picLocks noChangeAspect="1"/>
          </p:cNvPicPr>
          <p:nvPr/>
        </p:nvPicPr>
        <p:blipFill>
          <a:blip r:embed="rId1"/>
          <a:stretch>
            <a:fillRect/>
          </a:stretch>
        </p:blipFill>
        <p:spPr>
          <a:xfrm>
            <a:off x="76278" y="3191151"/>
            <a:ext cx="2057386" cy="1213221"/>
          </a:xfrm>
          <a:prstGeom prst="rect">
            <a:avLst/>
          </a:prstGeom>
        </p:spPr>
      </p:pic>
      <p:pic>
        <p:nvPicPr>
          <p:cNvPr id="8" name="图片 7"/>
          <p:cNvPicPr>
            <a:picLocks noChangeAspect="1"/>
          </p:cNvPicPr>
          <p:nvPr/>
        </p:nvPicPr>
        <p:blipFill>
          <a:blip r:embed="rId2"/>
          <a:stretch>
            <a:fillRect/>
          </a:stretch>
        </p:blipFill>
        <p:spPr>
          <a:xfrm>
            <a:off x="2213047" y="3207099"/>
            <a:ext cx="2030341" cy="1197273"/>
          </a:xfrm>
          <a:prstGeom prst="rect">
            <a:avLst/>
          </a:prstGeom>
        </p:spPr>
      </p:pic>
      <p:pic>
        <p:nvPicPr>
          <p:cNvPr id="10" name="图片 9"/>
          <p:cNvPicPr>
            <a:picLocks noChangeAspect="1"/>
          </p:cNvPicPr>
          <p:nvPr/>
        </p:nvPicPr>
        <p:blipFill>
          <a:blip r:embed="rId3"/>
          <a:stretch>
            <a:fillRect/>
          </a:stretch>
        </p:blipFill>
        <p:spPr>
          <a:xfrm>
            <a:off x="4399049" y="3190446"/>
            <a:ext cx="2086818" cy="1230577"/>
          </a:xfrm>
          <a:prstGeom prst="rect">
            <a:avLst/>
          </a:prstGeom>
        </p:spPr>
      </p:pic>
      <p:pic>
        <p:nvPicPr>
          <p:cNvPr id="11" name="图片 10"/>
          <p:cNvPicPr>
            <a:picLocks noChangeAspect="1"/>
          </p:cNvPicPr>
          <p:nvPr/>
        </p:nvPicPr>
        <p:blipFill>
          <a:blip r:embed="rId4"/>
          <a:stretch>
            <a:fillRect/>
          </a:stretch>
        </p:blipFill>
        <p:spPr>
          <a:xfrm>
            <a:off x="6672143" y="3207099"/>
            <a:ext cx="2060451" cy="1215029"/>
          </a:xfrm>
          <a:prstGeom prst="rect">
            <a:avLst/>
          </a:prstGeom>
        </p:spPr>
      </p:pic>
      <p:grpSp>
        <p:nvGrpSpPr>
          <p:cNvPr id="18" name="Group 4"/>
          <p:cNvGrpSpPr>
            <a:grpSpLocks noChangeAspect="1"/>
          </p:cNvGrpSpPr>
          <p:nvPr/>
        </p:nvGrpSpPr>
        <p:grpSpPr bwMode="auto">
          <a:xfrm>
            <a:off x="39688" y="4421188"/>
            <a:ext cx="2017712" cy="1189037"/>
            <a:chOff x="25" y="2785"/>
            <a:chExt cx="1271" cy="749"/>
          </a:xfrm>
        </p:grpSpPr>
        <p:sp>
          <p:nvSpPr>
            <p:cNvPr id="19" name="AutoShape 3"/>
            <p:cNvSpPr>
              <a:spLocks noChangeAspect="1" noChangeArrowheads="1" noTextEdit="1"/>
            </p:cNvSpPr>
            <p:nvPr/>
          </p:nvSpPr>
          <p:spPr bwMode="auto">
            <a:xfrm>
              <a:off x="25" y="2785"/>
              <a:ext cx="1271"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 name="Rectangle 5"/>
            <p:cNvSpPr>
              <a:spLocks noChangeArrowheads="1"/>
            </p:cNvSpPr>
            <p:nvPr/>
          </p:nvSpPr>
          <p:spPr bwMode="auto">
            <a:xfrm>
              <a:off x="30" y="2790"/>
              <a:ext cx="298" cy="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 name="Rectangle 6"/>
            <p:cNvSpPr>
              <a:spLocks noChangeArrowheads="1"/>
            </p:cNvSpPr>
            <p:nvPr/>
          </p:nvSpPr>
          <p:spPr bwMode="auto">
            <a:xfrm>
              <a:off x="30" y="2790"/>
              <a:ext cx="298" cy="100"/>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2" name="Rectangle 7"/>
            <p:cNvSpPr>
              <a:spLocks noChangeArrowheads="1"/>
            </p:cNvSpPr>
            <p:nvPr/>
          </p:nvSpPr>
          <p:spPr bwMode="auto">
            <a:xfrm>
              <a:off x="30" y="2890"/>
              <a:ext cx="298"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8"/>
            <p:cNvSpPr>
              <a:spLocks noChangeArrowheads="1"/>
            </p:cNvSpPr>
            <p:nvPr/>
          </p:nvSpPr>
          <p:spPr bwMode="auto">
            <a:xfrm>
              <a:off x="30" y="2890"/>
              <a:ext cx="298"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 name="Rectangle 9"/>
            <p:cNvSpPr>
              <a:spLocks noChangeArrowheads="1"/>
            </p:cNvSpPr>
            <p:nvPr/>
          </p:nvSpPr>
          <p:spPr bwMode="auto">
            <a:xfrm>
              <a:off x="30" y="2989"/>
              <a:ext cx="298"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Rectangle 10"/>
            <p:cNvSpPr>
              <a:spLocks noChangeArrowheads="1"/>
            </p:cNvSpPr>
            <p:nvPr/>
          </p:nvSpPr>
          <p:spPr bwMode="auto">
            <a:xfrm>
              <a:off x="30" y="2989"/>
              <a:ext cx="298"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6" name="Rectangle 11"/>
            <p:cNvSpPr>
              <a:spLocks noChangeArrowheads="1"/>
            </p:cNvSpPr>
            <p:nvPr/>
          </p:nvSpPr>
          <p:spPr bwMode="auto">
            <a:xfrm>
              <a:off x="163" y="2998"/>
              <a:ext cx="63"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7" name="Rectangle 12"/>
            <p:cNvSpPr>
              <a:spLocks noChangeArrowheads="1"/>
            </p:cNvSpPr>
            <p:nvPr/>
          </p:nvSpPr>
          <p:spPr bwMode="auto">
            <a:xfrm>
              <a:off x="30" y="3088"/>
              <a:ext cx="298" cy="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8" name="Rectangle 13"/>
            <p:cNvSpPr>
              <a:spLocks noChangeArrowheads="1"/>
            </p:cNvSpPr>
            <p:nvPr/>
          </p:nvSpPr>
          <p:spPr bwMode="auto">
            <a:xfrm>
              <a:off x="30" y="3088"/>
              <a:ext cx="298" cy="100"/>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9" name="Rectangle 14"/>
            <p:cNvSpPr>
              <a:spLocks noChangeArrowheads="1"/>
            </p:cNvSpPr>
            <p:nvPr/>
          </p:nvSpPr>
          <p:spPr bwMode="auto">
            <a:xfrm>
              <a:off x="169" y="3097"/>
              <a:ext cx="52"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0" name="Rectangle 15"/>
            <p:cNvSpPr>
              <a:spLocks noChangeArrowheads="1"/>
            </p:cNvSpPr>
            <p:nvPr/>
          </p:nvSpPr>
          <p:spPr bwMode="auto">
            <a:xfrm>
              <a:off x="30" y="3188"/>
              <a:ext cx="298"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1" name="Rectangle 16"/>
            <p:cNvSpPr>
              <a:spLocks noChangeArrowheads="1"/>
            </p:cNvSpPr>
            <p:nvPr/>
          </p:nvSpPr>
          <p:spPr bwMode="auto">
            <a:xfrm>
              <a:off x="30" y="3188"/>
              <a:ext cx="298"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2" name="Rectangle 17"/>
            <p:cNvSpPr>
              <a:spLocks noChangeArrowheads="1"/>
            </p:cNvSpPr>
            <p:nvPr/>
          </p:nvSpPr>
          <p:spPr bwMode="auto">
            <a:xfrm>
              <a:off x="161" y="3197"/>
              <a:ext cx="68"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3" name="Rectangle 18"/>
            <p:cNvSpPr>
              <a:spLocks noChangeArrowheads="1"/>
            </p:cNvSpPr>
            <p:nvPr/>
          </p:nvSpPr>
          <p:spPr bwMode="auto">
            <a:xfrm>
              <a:off x="498" y="3188"/>
              <a:ext cx="794"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4" name="Rectangle 19"/>
            <p:cNvSpPr>
              <a:spLocks noChangeArrowheads="1"/>
            </p:cNvSpPr>
            <p:nvPr/>
          </p:nvSpPr>
          <p:spPr bwMode="auto">
            <a:xfrm>
              <a:off x="498" y="3188"/>
              <a:ext cx="794"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5" name="Rectangle 20"/>
            <p:cNvSpPr>
              <a:spLocks noChangeArrowheads="1"/>
            </p:cNvSpPr>
            <p:nvPr/>
          </p:nvSpPr>
          <p:spPr bwMode="auto">
            <a:xfrm>
              <a:off x="513" y="3205"/>
              <a:ext cx="11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abc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6" name="Rectangle 21"/>
            <p:cNvSpPr>
              <a:spLocks noChangeArrowheads="1"/>
            </p:cNvSpPr>
            <p:nvPr/>
          </p:nvSpPr>
          <p:spPr bwMode="auto">
            <a:xfrm>
              <a:off x="601" y="3205"/>
              <a:ext cx="9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7" name="Rectangle 22"/>
            <p:cNvSpPr>
              <a:spLocks noChangeArrowheads="1"/>
            </p:cNvSpPr>
            <p:nvPr/>
          </p:nvSpPr>
          <p:spPr bwMode="auto">
            <a:xfrm>
              <a:off x="668" y="3205"/>
              <a:ext cx="8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de</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8" name="Rectangle 23"/>
            <p:cNvSpPr>
              <a:spLocks noChangeArrowheads="1"/>
            </p:cNvSpPr>
            <p:nvPr/>
          </p:nvSpPr>
          <p:spPr bwMode="auto">
            <a:xfrm>
              <a:off x="805" y="3299"/>
              <a:ext cx="9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输出</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9" name="Rectangle 24"/>
            <p:cNvSpPr>
              <a:spLocks noChangeArrowheads="1"/>
            </p:cNvSpPr>
            <p:nvPr/>
          </p:nvSpPr>
          <p:spPr bwMode="auto">
            <a:xfrm>
              <a:off x="145" y="3294"/>
              <a:ext cx="8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栈</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40" name="Oval 25"/>
            <p:cNvSpPr>
              <a:spLocks noChangeArrowheads="1"/>
            </p:cNvSpPr>
            <p:nvPr/>
          </p:nvSpPr>
          <p:spPr bwMode="auto">
            <a:xfrm>
              <a:off x="498" y="3386"/>
              <a:ext cx="119" cy="119"/>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41" name="Oval 26"/>
            <p:cNvSpPr>
              <a:spLocks noChangeArrowheads="1"/>
            </p:cNvSpPr>
            <p:nvPr/>
          </p:nvSpPr>
          <p:spPr bwMode="auto">
            <a:xfrm>
              <a:off x="498" y="3386"/>
              <a:ext cx="119" cy="119"/>
            </a:xfrm>
            <a:prstGeom prst="ellipse">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2" name="Rectangle 27"/>
            <p:cNvSpPr>
              <a:spLocks noChangeArrowheads="1"/>
            </p:cNvSpPr>
            <p:nvPr/>
          </p:nvSpPr>
          <p:spPr bwMode="auto">
            <a:xfrm>
              <a:off x="538" y="3395"/>
              <a:ext cx="4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1100" b="1" dirty="0">
                  <a:solidFill>
                    <a:srgbClr val="C05046"/>
                  </a:solidFill>
                  <a:latin typeface="Times New Roman" panose="02020603050405020304" pitchFamily="18" charset="0"/>
                </a:rPr>
                <a:t>5</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43" name="Group 30"/>
          <p:cNvGrpSpPr>
            <a:grpSpLocks noChangeAspect="1"/>
          </p:cNvGrpSpPr>
          <p:nvPr/>
        </p:nvGrpSpPr>
        <p:grpSpPr bwMode="auto">
          <a:xfrm>
            <a:off x="2176463" y="4457700"/>
            <a:ext cx="1949450" cy="1150938"/>
            <a:chOff x="1371" y="2808"/>
            <a:chExt cx="1228" cy="725"/>
          </a:xfrm>
        </p:grpSpPr>
        <p:sp>
          <p:nvSpPr>
            <p:cNvPr id="44" name="AutoShape 29"/>
            <p:cNvSpPr>
              <a:spLocks noChangeAspect="1" noChangeArrowheads="1" noTextEdit="1"/>
            </p:cNvSpPr>
            <p:nvPr/>
          </p:nvSpPr>
          <p:spPr bwMode="auto">
            <a:xfrm>
              <a:off x="1371" y="2808"/>
              <a:ext cx="1228"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5" name="Rectangle 31"/>
            <p:cNvSpPr>
              <a:spLocks noChangeArrowheads="1"/>
            </p:cNvSpPr>
            <p:nvPr/>
          </p:nvSpPr>
          <p:spPr bwMode="auto">
            <a:xfrm>
              <a:off x="1376" y="2813"/>
              <a:ext cx="288" cy="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6" name="Rectangle 32"/>
            <p:cNvSpPr>
              <a:spLocks noChangeArrowheads="1"/>
            </p:cNvSpPr>
            <p:nvPr/>
          </p:nvSpPr>
          <p:spPr bwMode="auto">
            <a:xfrm>
              <a:off x="1376" y="2813"/>
              <a:ext cx="288" cy="96"/>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7" name="Rectangle 33"/>
            <p:cNvSpPr>
              <a:spLocks noChangeArrowheads="1"/>
            </p:cNvSpPr>
            <p:nvPr/>
          </p:nvSpPr>
          <p:spPr bwMode="auto">
            <a:xfrm>
              <a:off x="1376" y="2909"/>
              <a:ext cx="288" cy="9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8" name="Rectangle 34"/>
            <p:cNvSpPr>
              <a:spLocks noChangeArrowheads="1"/>
            </p:cNvSpPr>
            <p:nvPr/>
          </p:nvSpPr>
          <p:spPr bwMode="auto">
            <a:xfrm>
              <a:off x="1376" y="2909"/>
              <a:ext cx="288" cy="97"/>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9" name="Rectangle 35"/>
            <p:cNvSpPr>
              <a:spLocks noChangeArrowheads="1"/>
            </p:cNvSpPr>
            <p:nvPr/>
          </p:nvSpPr>
          <p:spPr bwMode="auto">
            <a:xfrm>
              <a:off x="1376" y="3006"/>
              <a:ext cx="288" cy="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0" name="Rectangle 36"/>
            <p:cNvSpPr>
              <a:spLocks noChangeArrowheads="1"/>
            </p:cNvSpPr>
            <p:nvPr/>
          </p:nvSpPr>
          <p:spPr bwMode="auto">
            <a:xfrm>
              <a:off x="1376" y="3006"/>
              <a:ext cx="288" cy="96"/>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 name="Rectangle 37"/>
            <p:cNvSpPr>
              <a:spLocks noChangeArrowheads="1"/>
            </p:cNvSpPr>
            <p:nvPr/>
          </p:nvSpPr>
          <p:spPr bwMode="auto">
            <a:xfrm>
              <a:off x="1502" y="3014"/>
              <a:ext cx="69"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52" name="Rectangle 38"/>
            <p:cNvSpPr>
              <a:spLocks noChangeArrowheads="1"/>
            </p:cNvSpPr>
            <p:nvPr/>
          </p:nvSpPr>
          <p:spPr bwMode="auto">
            <a:xfrm>
              <a:off x="1376" y="3102"/>
              <a:ext cx="288" cy="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3" name="Rectangle 39"/>
            <p:cNvSpPr>
              <a:spLocks noChangeArrowheads="1"/>
            </p:cNvSpPr>
            <p:nvPr/>
          </p:nvSpPr>
          <p:spPr bwMode="auto">
            <a:xfrm>
              <a:off x="1376" y="3102"/>
              <a:ext cx="288" cy="96"/>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4" name="Rectangle 40"/>
            <p:cNvSpPr>
              <a:spLocks noChangeArrowheads="1"/>
            </p:cNvSpPr>
            <p:nvPr/>
          </p:nvSpPr>
          <p:spPr bwMode="auto">
            <a:xfrm>
              <a:off x="1510" y="3110"/>
              <a:ext cx="5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55" name="Rectangle 41"/>
            <p:cNvSpPr>
              <a:spLocks noChangeArrowheads="1"/>
            </p:cNvSpPr>
            <p:nvPr/>
          </p:nvSpPr>
          <p:spPr bwMode="auto">
            <a:xfrm>
              <a:off x="1376" y="3198"/>
              <a:ext cx="288" cy="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6" name="Rectangle 42"/>
            <p:cNvSpPr>
              <a:spLocks noChangeArrowheads="1"/>
            </p:cNvSpPr>
            <p:nvPr/>
          </p:nvSpPr>
          <p:spPr bwMode="auto">
            <a:xfrm>
              <a:off x="1376" y="3198"/>
              <a:ext cx="288" cy="96"/>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7" name="Rectangle 43"/>
            <p:cNvSpPr>
              <a:spLocks noChangeArrowheads="1"/>
            </p:cNvSpPr>
            <p:nvPr/>
          </p:nvSpPr>
          <p:spPr bwMode="auto">
            <a:xfrm>
              <a:off x="1502" y="3206"/>
              <a:ext cx="69"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58" name="Rectangle 44"/>
            <p:cNvSpPr>
              <a:spLocks noChangeArrowheads="1"/>
            </p:cNvSpPr>
            <p:nvPr/>
          </p:nvSpPr>
          <p:spPr bwMode="auto">
            <a:xfrm>
              <a:off x="1828" y="3198"/>
              <a:ext cx="767" cy="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9" name="Rectangle 45"/>
            <p:cNvSpPr>
              <a:spLocks noChangeArrowheads="1"/>
            </p:cNvSpPr>
            <p:nvPr/>
          </p:nvSpPr>
          <p:spPr bwMode="auto">
            <a:xfrm>
              <a:off x="1828" y="3198"/>
              <a:ext cx="767" cy="96"/>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0" name="Rectangle 46"/>
            <p:cNvSpPr>
              <a:spLocks noChangeArrowheads="1"/>
            </p:cNvSpPr>
            <p:nvPr/>
          </p:nvSpPr>
          <p:spPr bwMode="auto">
            <a:xfrm>
              <a:off x="1843" y="3215"/>
              <a:ext cx="114"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abc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1" name="Rectangle 47"/>
            <p:cNvSpPr>
              <a:spLocks noChangeArrowheads="1"/>
            </p:cNvSpPr>
            <p:nvPr/>
          </p:nvSpPr>
          <p:spPr bwMode="auto">
            <a:xfrm>
              <a:off x="1927" y="3215"/>
              <a:ext cx="91"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2" name="Rectangle 48"/>
            <p:cNvSpPr>
              <a:spLocks noChangeArrowheads="1"/>
            </p:cNvSpPr>
            <p:nvPr/>
          </p:nvSpPr>
          <p:spPr bwMode="auto">
            <a:xfrm>
              <a:off x="1992" y="3215"/>
              <a:ext cx="86"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de</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3" name="Rectangle 49"/>
            <p:cNvSpPr>
              <a:spLocks noChangeArrowheads="1"/>
            </p:cNvSpPr>
            <p:nvPr/>
          </p:nvSpPr>
          <p:spPr bwMode="auto">
            <a:xfrm>
              <a:off x="2049" y="3215"/>
              <a:ext cx="56"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4" name="Rectangle 50"/>
            <p:cNvSpPr>
              <a:spLocks noChangeArrowheads="1"/>
            </p:cNvSpPr>
            <p:nvPr/>
          </p:nvSpPr>
          <p:spPr bwMode="auto">
            <a:xfrm>
              <a:off x="2080" y="3215"/>
              <a:ext cx="46"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f</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5" name="Rectangle 51"/>
            <p:cNvSpPr>
              <a:spLocks noChangeArrowheads="1"/>
            </p:cNvSpPr>
            <p:nvPr/>
          </p:nvSpPr>
          <p:spPr bwMode="auto">
            <a:xfrm>
              <a:off x="2125" y="3306"/>
              <a:ext cx="9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输出</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6" name="Rectangle 52"/>
            <p:cNvSpPr>
              <a:spLocks noChangeArrowheads="1"/>
            </p:cNvSpPr>
            <p:nvPr/>
          </p:nvSpPr>
          <p:spPr bwMode="auto">
            <a:xfrm>
              <a:off x="1487" y="3299"/>
              <a:ext cx="8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栈</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67" name="Oval 53"/>
            <p:cNvSpPr>
              <a:spLocks noChangeArrowheads="1"/>
            </p:cNvSpPr>
            <p:nvPr/>
          </p:nvSpPr>
          <p:spPr bwMode="auto">
            <a:xfrm>
              <a:off x="1828" y="3390"/>
              <a:ext cx="115" cy="115"/>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68" name="Oval 54"/>
            <p:cNvSpPr>
              <a:spLocks noChangeArrowheads="1"/>
            </p:cNvSpPr>
            <p:nvPr/>
          </p:nvSpPr>
          <p:spPr bwMode="auto">
            <a:xfrm>
              <a:off x="1828" y="3390"/>
              <a:ext cx="115" cy="115"/>
            </a:xfrm>
            <a:prstGeom prst="ellipse">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9" name="Rectangle 55"/>
            <p:cNvSpPr>
              <a:spLocks noChangeArrowheads="1"/>
            </p:cNvSpPr>
            <p:nvPr/>
          </p:nvSpPr>
          <p:spPr bwMode="auto">
            <a:xfrm>
              <a:off x="1866" y="3399"/>
              <a:ext cx="4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1000" b="1" dirty="0">
                  <a:solidFill>
                    <a:srgbClr val="C05046"/>
                  </a:solidFill>
                  <a:latin typeface="Times New Roman" panose="02020603050405020304" pitchFamily="18" charset="0"/>
                </a:rPr>
                <a:t>6</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70" name="Group 58"/>
          <p:cNvGrpSpPr>
            <a:grpSpLocks noChangeAspect="1"/>
          </p:cNvGrpSpPr>
          <p:nvPr/>
        </p:nvGrpSpPr>
        <p:grpSpPr bwMode="auto">
          <a:xfrm>
            <a:off x="4243388" y="4392613"/>
            <a:ext cx="2243137" cy="1322387"/>
            <a:chOff x="2673" y="2767"/>
            <a:chExt cx="1413" cy="833"/>
          </a:xfrm>
        </p:grpSpPr>
        <p:sp>
          <p:nvSpPr>
            <p:cNvPr id="71" name="AutoShape 57"/>
            <p:cNvSpPr>
              <a:spLocks noChangeAspect="1" noChangeArrowheads="1" noTextEdit="1"/>
            </p:cNvSpPr>
            <p:nvPr/>
          </p:nvSpPr>
          <p:spPr bwMode="auto">
            <a:xfrm>
              <a:off x="2673" y="2767"/>
              <a:ext cx="1413" cy="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2" name="Rectangle 59"/>
            <p:cNvSpPr>
              <a:spLocks noChangeArrowheads="1"/>
            </p:cNvSpPr>
            <p:nvPr/>
          </p:nvSpPr>
          <p:spPr bwMode="auto">
            <a:xfrm>
              <a:off x="2679" y="2773"/>
              <a:ext cx="331" cy="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3" name="Rectangle 60"/>
            <p:cNvSpPr>
              <a:spLocks noChangeArrowheads="1"/>
            </p:cNvSpPr>
            <p:nvPr/>
          </p:nvSpPr>
          <p:spPr bwMode="auto">
            <a:xfrm>
              <a:off x="2679" y="2773"/>
              <a:ext cx="331" cy="110"/>
            </a:xfrm>
            <a:prstGeom prst="rect">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4" name="Rectangle 61"/>
            <p:cNvSpPr>
              <a:spLocks noChangeArrowheads="1"/>
            </p:cNvSpPr>
            <p:nvPr/>
          </p:nvSpPr>
          <p:spPr bwMode="auto">
            <a:xfrm>
              <a:off x="2679" y="2883"/>
              <a:ext cx="331" cy="1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5" name="Rectangle 62"/>
            <p:cNvSpPr>
              <a:spLocks noChangeArrowheads="1"/>
            </p:cNvSpPr>
            <p:nvPr/>
          </p:nvSpPr>
          <p:spPr bwMode="auto">
            <a:xfrm>
              <a:off x="2679" y="2883"/>
              <a:ext cx="331" cy="111"/>
            </a:xfrm>
            <a:prstGeom prst="rect">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6" name="Rectangle 63"/>
            <p:cNvSpPr>
              <a:spLocks noChangeArrowheads="1"/>
            </p:cNvSpPr>
            <p:nvPr/>
          </p:nvSpPr>
          <p:spPr bwMode="auto">
            <a:xfrm>
              <a:off x="2679" y="2994"/>
              <a:ext cx="331" cy="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7" name="Rectangle 64"/>
            <p:cNvSpPr>
              <a:spLocks noChangeArrowheads="1"/>
            </p:cNvSpPr>
            <p:nvPr/>
          </p:nvSpPr>
          <p:spPr bwMode="auto">
            <a:xfrm>
              <a:off x="2679" y="2994"/>
              <a:ext cx="331" cy="110"/>
            </a:xfrm>
            <a:prstGeom prst="rect">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8" name="Rectangle 65"/>
            <p:cNvSpPr>
              <a:spLocks noChangeArrowheads="1"/>
            </p:cNvSpPr>
            <p:nvPr/>
          </p:nvSpPr>
          <p:spPr bwMode="auto">
            <a:xfrm>
              <a:off x="2679" y="3104"/>
              <a:ext cx="331" cy="1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79" name="Rectangle 66"/>
            <p:cNvSpPr>
              <a:spLocks noChangeArrowheads="1"/>
            </p:cNvSpPr>
            <p:nvPr/>
          </p:nvSpPr>
          <p:spPr bwMode="auto">
            <a:xfrm>
              <a:off x="2679" y="3104"/>
              <a:ext cx="331" cy="111"/>
            </a:xfrm>
            <a:prstGeom prst="rect">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0" name="Rectangle 67"/>
            <p:cNvSpPr>
              <a:spLocks noChangeArrowheads="1"/>
            </p:cNvSpPr>
            <p:nvPr/>
          </p:nvSpPr>
          <p:spPr bwMode="auto">
            <a:xfrm>
              <a:off x="2679" y="3215"/>
              <a:ext cx="331" cy="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1" name="Rectangle 68"/>
            <p:cNvSpPr>
              <a:spLocks noChangeArrowheads="1"/>
            </p:cNvSpPr>
            <p:nvPr/>
          </p:nvSpPr>
          <p:spPr bwMode="auto">
            <a:xfrm>
              <a:off x="2679" y="3215"/>
              <a:ext cx="331" cy="110"/>
            </a:xfrm>
            <a:prstGeom prst="rect">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2" name="Rectangle 69"/>
            <p:cNvSpPr>
              <a:spLocks noChangeArrowheads="1"/>
            </p:cNvSpPr>
            <p:nvPr/>
          </p:nvSpPr>
          <p:spPr bwMode="auto">
            <a:xfrm>
              <a:off x="2824" y="3225"/>
              <a:ext cx="76"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3" name="Rectangle 70"/>
            <p:cNvSpPr>
              <a:spLocks noChangeArrowheads="1"/>
            </p:cNvSpPr>
            <p:nvPr/>
          </p:nvSpPr>
          <p:spPr bwMode="auto">
            <a:xfrm>
              <a:off x="3199" y="3215"/>
              <a:ext cx="882" cy="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84" name="Rectangle 71"/>
            <p:cNvSpPr>
              <a:spLocks noChangeArrowheads="1"/>
            </p:cNvSpPr>
            <p:nvPr/>
          </p:nvSpPr>
          <p:spPr bwMode="auto">
            <a:xfrm>
              <a:off x="3199" y="3215"/>
              <a:ext cx="882" cy="110"/>
            </a:xfrm>
            <a:prstGeom prst="rect">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5" name="Rectangle 72"/>
            <p:cNvSpPr>
              <a:spLocks noChangeArrowheads="1"/>
            </p:cNvSpPr>
            <p:nvPr/>
          </p:nvSpPr>
          <p:spPr bwMode="auto">
            <a:xfrm>
              <a:off x="3216" y="3231"/>
              <a:ext cx="131"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abc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6" name="Rectangle 73"/>
            <p:cNvSpPr>
              <a:spLocks noChangeArrowheads="1"/>
            </p:cNvSpPr>
            <p:nvPr/>
          </p:nvSpPr>
          <p:spPr bwMode="auto">
            <a:xfrm>
              <a:off x="3313" y="3231"/>
              <a:ext cx="105"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7" name="Rectangle 74"/>
            <p:cNvSpPr>
              <a:spLocks noChangeArrowheads="1"/>
            </p:cNvSpPr>
            <p:nvPr/>
          </p:nvSpPr>
          <p:spPr bwMode="auto">
            <a:xfrm>
              <a:off x="3387" y="3231"/>
              <a:ext cx="97"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de</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8" name="Rectangle 75"/>
            <p:cNvSpPr>
              <a:spLocks noChangeArrowheads="1"/>
            </p:cNvSpPr>
            <p:nvPr/>
          </p:nvSpPr>
          <p:spPr bwMode="auto">
            <a:xfrm>
              <a:off x="3454" y="3231"/>
              <a:ext cx="64"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89" name="Rectangle 76"/>
            <p:cNvSpPr>
              <a:spLocks noChangeArrowheads="1"/>
            </p:cNvSpPr>
            <p:nvPr/>
          </p:nvSpPr>
          <p:spPr bwMode="auto">
            <a:xfrm>
              <a:off x="3489" y="3231"/>
              <a:ext cx="52"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f</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0" name="Rectangle 77"/>
            <p:cNvSpPr>
              <a:spLocks noChangeArrowheads="1"/>
            </p:cNvSpPr>
            <p:nvPr/>
          </p:nvSpPr>
          <p:spPr bwMode="auto">
            <a:xfrm>
              <a:off x="3512" y="3231"/>
              <a:ext cx="70"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1" name="Rectangle 78"/>
            <p:cNvSpPr>
              <a:spLocks noChangeArrowheads="1"/>
            </p:cNvSpPr>
            <p:nvPr/>
          </p:nvSpPr>
          <p:spPr bwMode="auto">
            <a:xfrm>
              <a:off x="3540" y="3337"/>
              <a:ext cx="108"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输出</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2" name="Rectangle 79"/>
            <p:cNvSpPr>
              <a:spLocks noChangeArrowheads="1"/>
            </p:cNvSpPr>
            <p:nvPr/>
          </p:nvSpPr>
          <p:spPr bwMode="auto">
            <a:xfrm>
              <a:off x="2807" y="3331"/>
              <a:ext cx="90"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栈</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93" name="Oval 80"/>
            <p:cNvSpPr>
              <a:spLocks noChangeArrowheads="1"/>
            </p:cNvSpPr>
            <p:nvPr/>
          </p:nvSpPr>
          <p:spPr bwMode="auto">
            <a:xfrm>
              <a:off x="3199" y="3436"/>
              <a:ext cx="132" cy="132"/>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94" name="Oval 81"/>
            <p:cNvSpPr>
              <a:spLocks noChangeArrowheads="1"/>
            </p:cNvSpPr>
            <p:nvPr/>
          </p:nvSpPr>
          <p:spPr bwMode="auto">
            <a:xfrm>
              <a:off x="3199" y="3436"/>
              <a:ext cx="132" cy="132"/>
            </a:xfrm>
            <a:prstGeom prst="ellipse">
              <a:avLst/>
            </a:prstGeom>
            <a:noFill/>
            <a:ln w="3175"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5" name="Rectangle 82"/>
            <p:cNvSpPr>
              <a:spLocks noChangeArrowheads="1"/>
            </p:cNvSpPr>
            <p:nvPr/>
          </p:nvSpPr>
          <p:spPr bwMode="auto">
            <a:xfrm>
              <a:off x="3243" y="3448"/>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1200" b="1" dirty="0">
                  <a:solidFill>
                    <a:srgbClr val="C05046"/>
                  </a:solidFill>
                  <a:latin typeface="Times New Roman" panose="02020603050405020304" pitchFamily="18" charset="0"/>
                </a:rPr>
                <a:t>7</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96" name="Group 85"/>
          <p:cNvGrpSpPr>
            <a:grpSpLocks noChangeAspect="1"/>
          </p:cNvGrpSpPr>
          <p:nvPr/>
        </p:nvGrpSpPr>
        <p:grpSpPr bwMode="auto">
          <a:xfrm>
            <a:off x="6551613" y="4419600"/>
            <a:ext cx="2287587" cy="1347788"/>
            <a:chOff x="4127" y="2784"/>
            <a:chExt cx="1441" cy="849"/>
          </a:xfrm>
        </p:grpSpPr>
        <p:sp>
          <p:nvSpPr>
            <p:cNvPr id="97" name="AutoShape 84"/>
            <p:cNvSpPr>
              <a:spLocks noChangeAspect="1" noChangeArrowheads="1" noTextEdit="1"/>
            </p:cNvSpPr>
            <p:nvPr/>
          </p:nvSpPr>
          <p:spPr bwMode="auto">
            <a:xfrm>
              <a:off x="4127" y="2784"/>
              <a:ext cx="1441" cy="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8" name="Rectangle 86"/>
            <p:cNvSpPr>
              <a:spLocks noChangeArrowheads="1"/>
            </p:cNvSpPr>
            <p:nvPr/>
          </p:nvSpPr>
          <p:spPr bwMode="auto">
            <a:xfrm>
              <a:off x="4133" y="2790"/>
              <a:ext cx="338" cy="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9" name="Rectangle 87"/>
            <p:cNvSpPr>
              <a:spLocks noChangeArrowheads="1"/>
            </p:cNvSpPr>
            <p:nvPr/>
          </p:nvSpPr>
          <p:spPr bwMode="auto">
            <a:xfrm>
              <a:off x="4133" y="2790"/>
              <a:ext cx="338" cy="113"/>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0" name="Rectangle 88"/>
            <p:cNvSpPr>
              <a:spLocks noChangeArrowheads="1"/>
            </p:cNvSpPr>
            <p:nvPr/>
          </p:nvSpPr>
          <p:spPr bwMode="auto">
            <a:xfrm>
              <a:off x="4133" y="2903"/>
              <a:ext cx="338" cy="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1" name="Rectangle 89"/>
            <p:cNvSpPr>
              <a:spLocks noChangeArrowheads="1"/>
            </p:cNvSpPr>
            <p:nvPr/>
          </p:nvSpPr>
          <p:spPr bwMode="auto">
            <a:xfrm>
              <a:off x="4133" y="2903"/>
              <a:ext cx="338" cy="112"/>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2" name="Rectangle 90"/>
            <p:cNvSpPr>
              <a:spLocks noChangeArrowheads="1"/>
            </p:cNvSpPr>
            <p:nvPr/>
          </p:nvSpPr>
          <p:spPr bwMode="auto">
            <a:xfrm>
              <a:off x="4133" y="3015"/>
              <a:ext cx="338" cy="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3" name="Rectangle 91"/>
            <p:cNvSpPr>
              <a:spLocks noChangeArrowheads="1"/>
            </p:cNvSpPr>
            <p:nvPr/>
          </p:nvSpPr>
          <p:spPr bwMode="auto">
            <a:xfrm>
              <a:off x="4133" y="3015"/>
              <a:ext cx="338" cy="113"/>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4" name="Rectangle 92"/>
            <p:cNvSpPr>
              <a:spLocks noChangeArrowheads="1"/>
            </p:cNvSpPr>
            <p:nvPr/>
          </p:nvSpPr>
          <p:spPr bwMode="auto">
            <a:xfrm>
              <a:off x="4133" y="3128"/>
              <a:ext cx="338" cy="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5" name="Rectangle 93"/>
            <p:cNvSpPr>
              <a:spLocks noChangeArrowheads="1"/>
            </p:cNvSpPr>
            <p:nvPr/>
          </p:nvSpPr>
          <p:spPr bwMode="auto">
            <a:xfrm>
              <a:off x="4133" y="3128"/>
              <a:ext cx="338" cy="112"/>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6" name="Rectangle 94"/>
            <p:cNvSpPr>
              <a:spLocks noChangeArrowheads="1"/>
            </p:cNvSpPr>
            <p:nvPr/>
          </p:nvSpPr>
          <p:spPr bwMode="auto">
            <a:xfrm>
              <a:off x="4283" y="3137"/>
              <a:ext cx="78"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07" name="Rectangle 95"/>
            <p:cNvSpPr>
              <a:spLocks noChangeArrowheads="1"/>
            </p:cNvSpPr>
            <p:nvPr/>
          </p:nvSpPr>
          <p:spPr bwMode="auto">
            <a:xfrm>
              <a:off x="4133" y="3240"/>
              <a:ext cx="338" cy="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08" name="Rectangle 96"/>
            <p:cNvSpPr>
              <a:spLocks noChangeArrowheads="1"/>
            </p:cNvSpPr>
            <p:nvPr/>
          </p:nvSpPr>
          <p:spPr bwMode="auto">
            <a:xfrm>
              <a:off x="4133" y="3240"/>
              <a:ext cx="338" cy="113"/>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9" name="Rectangle 97"/>
            <p:cNvSpPr>
              <a:spLocks noChangeArrowheads="1"/>
            </p:cNvSpPr>
            <p:nvPr/>
          </p:nvSpPr>
          <p:spPr bwMode="auto">
            <a:xfrm>
              <a:off x="4281" y="3251"/>
              <a:ext cx="7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0" name="Rectangle 98"/>
            <p:cNvSpPr>
              <a:spLocks noChangeArrowheads="1"/>
            </p:cNvSpPr>
            <p:nvPr/>
          </p:nvSpPr>
          <p:spPr bwMode="auto">
            <a:xfrm>
              <a:off x="4663" y="3240"/>
              <a:ext cx="900" cy="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11" name="Rectangle 99"/>
            <p:cNvSpPr>
              <a:spLocks noChangeArrowheads="1"/>
            </p:cNvSpPr>
            <p:nvPr/>
          </p:nvSpPr>
          <p:spPr bwMode="auto">
            <a:xfrm>
              <a:off x="4663" y="3240"/>
              <a:ext cx="900" cy="113"/>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2" name="Rectangle 100"/>
            <p:cNvSpPr>
              <a:spLocks noChangeArrowheads="1"/>
            </p:cNvSpPr>
            <p:nvPr/>
          </p:nvSpPr>
          <p:spPr bwMode="auto">
            <a:xfrm>
              <a:off x="4680" y="3259"/>
              <a:ext cx="131"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abc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3" name="Rectangle 101"/>
            <p:cNvSpPr>
              <a:spLocks noChangeArrowheads="1"/>
            </p:cNvSpPr>
            <p:nvPr/>
          </p:nvSpPr>
          <p:spPr bwMode="auto">
            <a:xfrm>
              <a:off x="4780" y="3259"/>
              <a:ext cx="107"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4" name="Rectangle 102"/>
            <p:cNvSpPr>
              <a:spLocks noChangeArrowheads="1"/>
            </p:cNvSpPr>
            <p:nvPr/>
          </p:nvSpPr>
          <p:spPr bwMode="auto">
            <a:xfrm>
              <a:off x="4856" y="3259"/>
              <a:ext cx="98"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de</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5" name="Rectangle 103"/>
            <p:cNvSpPr>
              <a:spLocks noChangeArrowheads="1"/>
            </p:cNvSpPr>
            <p:nvPr/>
          </p:nvSpPr>
          <p:spPr bwMode="auto">
            <a:xfrm>
              <a:off x="4923" y="3259"/>
              <a:ext cx="66"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6" name="Rectangle 104"/>
            <p:cNvSpPr>
              <a:spLocks noChangeArrowheads="1"/>
            </p:cNvSpPr>
            <p:nvPr/>
          </p:nvSpPr>
          <p:spPr bwMode="auto">
            <a:xfrm>
              <a:off x="4959" y="3259"/>
              <a:ext cx="53"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f</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7" name="Rectangle 105"/>
            <p:cNvSpPr>
              <a:spLocks noChangeArrowheads="1"/>
            </p:cNvSpPr>
            <p:nvPr/>
          </p:nvSpPr>
          <p:spPr bwMode="auto">
            <a:xfrm>
              <a:off x="4983" y="3259"/>
              <a:ext cx="71"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8" name="Rectangle 106"/>
            <p:cNvSpPr>
              <a:spLocks noChangeArrowheads="1"/>
            </p:cNvSpPr>
            <p:nvPr/>
          </p:nvSpPr>
          <p:spPr bwMode="auto">
            <a:xfrm>
              <a:off x="5023" y="3259"/>
              <a:ext cx="65" cy="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Times New Roman" panose="02020603050405020304" pitchFamily="18" charset="0"/>
                </a:rPr>
                <a:t>g</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19" name="Rectangle 107"/>
            <p:cNvSpPr>
              <a:spLocks noChangeArrowheads="1"/>
            </p:cNvSpPr>
            <p:nvPr/>
          </p:nvSpPr>
          <p:spPr bwMode="auto">
            <a:xfrm>
              <a:off x="5012" y="3367"/>
              <a:ext cx="110"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输出</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20" name="Rectangle 108"/>
            <p:cNvSpPr>
              <a:spLocks noChangeArrowheads="1"/>
            </p:cNvSpPr>
            <p:nvPr/>
          </p:nvSpPr>
          <p:spPr bwMode="auto">
            <a:xfrm>
              <a:off x="4264" y="3361"/>
              <a:ext cx="9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栈</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21" name="Oval 109"/>
            <p:cNvSpPr>
              <a:spLocks noChangeArrowheads="1"/>
            </p:cNvSpPr>
            <p:nvPr/>
          </p:nvSpPr>
          <p:spPr bwMode="auto">
            <a:xfrm>
              <a:off x="4663" y="3466"/>
              <a:ext cx="135" cy="135"/>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122" name="Oval 110"/>
            <p:cNvSpPr>
              <a:spLocks noChangeArrowheads="1"/>
            </p:cNvSpPr>
            <p:nvPr/>
          </p:nvSpPr>
          <p:spPr bwMode="auto">
            <a:xfrm>
              <a:off x="4663" y="3466"/>
              <a:ext cx="135" cy="135"/>
            </a:xfrm>
            <a:prstGeom prst="ellipse">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3" name="Rectangle 111"/>
            <p:cNvSpPr>
              <a:spLocks noChangeArrowheads="1"/>
            </p:cNvSpPr>
            <p:nvPr/>
          </p:nvSpPr>
          <p:spPr bwMode="auto">
            <a:xfrm>
              <a:off x="4708" y="3476"/>
              <a:ext cx="4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1200" b="1" dirty="0">
                  <a:solidFill>
                    <a:srgbClr val="C05046"/>
                  </a:solidFill>
                  <a:latin typeface="Times New Roman" panose="02020603050405020304" pitchFamily="18" charset="0"/>
                </a:rPr>
                <a:t>8</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grpSp>
        <p:nvGrpSpPr>
          <p:cNvPr id="124" name="Group 114"/>
          <p:cNvGrpSpPr>
            <a:grpSpLocks noChangeAspect="1"/>
          </p:cNvGrpSpPr>
          <p:nvPr/>
        </p:nvGrpSpPr>
        <p:grpSpPr bwMode="auto">
          <a:xfrm>
            <a:off x="52388" y="5599113"/>
            <a:ext cx="2005012" cy="1182687"/>
            <a:chOff x="33" y="3527"/>
            <a:chExt cx="1263" cy="745"/>
          </a:xfrm>
        </p:grpSpPr>
        <p:sp>
          <p:nvSpPr>
            <p:cNvPr id="125" name="AutoShape 113"/>
            <p:cNvSpPr>
              <a:spLocks noChangeAspect="1" noChangeArrowheads="1" noTextEdit="1"/>
            </p:cNvSpPr>
            <p:nvPr/>
          </p:nvSpPr>
          <p:spPr bwMode="auto">
            <a:xfrm>
              <a:off x="33" y="3527"/>
              <a:ext cx="1263" cy="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6" name="Rectangle 115"/>
            <p:cNvSpPr>
              <a:spLocks noChangeArrowheads="1"/>
            </p:cNvSpPr>
            <p:nvPr/>
          </p:nvSpPr>
          <p:spPr bwMode="auto">
            <a:xfrm>
              <a:off x="38" y="3532"/>
              <a:ext cx="296"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7" name="Rectangle 116"/>
            <p:cNvSpPr>
              <a:spLocks noChangeArrowheads="1"/>
            </p:cNvSpPr>
            <p:nvPr/>
          </p:nvSpPr>
          <p:spPr bwMode="auto">
            <a:xfrm>
              <a:off x="38" y="3532"/>
              <a:ext cx="296"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8" name="Rectangle 117"/>
            <p:cNvSpPr>
              <a:spLocks noChangeArrowheads="1"/>
            </p:cNvSpPr>
            <p:nvPr/>
          </p:nvSpPr>
          <p:spPr bwMode="auto">
            <a:xfrm>
              <a:off x="38" y="3631"/>
              <a:ext cx="296"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29" name="Rectangle 118"/>
            <p:cNvSpPr>
              <a:spLocks noChangeArrowheads="1"/>
            </p:cNvSpPr>
            <p:nvPr/>
          </p:nvSpPr>
          <p:spPr bwMode="auto">
            <a:xfrm>
              <a:off x="38" y="3631"/>
              <a:ext cx="296"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0" name="Rectangle 119"/>
            <p:cNvSpPr>
              <a:spLocks noChangeArrowheads="1"/>
            </p:cNvSpPr>
            <p:nvPr/>
          </p:nvSpPr>
          <p:spPr bwMode="auto">
            <a:xfrm>
              <a:off x="38" y="3730"/>
              <a:ext cx="296"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1" name="Rectangle 120"/>
            <p:cNvSpPr>
              <a:spLocks noChangeArrowheads="1"/>
            </p:cNvSpPr>
            <p:nvPr/>
          </p:nvSpPr>
          <p:spPr bwMode="auto">
            <a:xfrm>
              <a:off x="38" y="3730"/>
              <a:ext cx="296"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2" name="Rectangle 121"/>
            <p:cNvSpPr>
              <a:spLocks noChangeArrowheads="1"/>
            </p:cNvSpPr>
            <p:nvPr/>
          </p:nvSpPr>
          <p:spPr bwMode="auto">
            <a:xfrm>
              <a:off x="38" y="3829"/>
              <a:ext cx="296" cy="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3" name="Rectangle 122"/>
            <p:cNvSpPr>
              <a:spLocks noChangeArrowheads="1"/>
            </p:cNvSpPr>
            <p:nvPr/>
          </p:nvSpPr>
          <p:spPr bwMode="auto">
            <a:xfrm>
              <a:off x="38" y="3829"/>
              <a:ext cx="296" cy="99"/>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4" name="Rectangle 123"/>
            <p:cNvSpPr>
              <a:spLocks noChangeArrowheads="1"/>
            </p:cNvSpPr>
            <p:nvPr/>
          </p:nvSpPr>
          <p:spPr bwMode="auto">
            <a:xfrm>
              <a:off x="38" y="3928"/>
              <a:ext cx="296" cy="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5" name="Rectangle 124"/>
            <p:cNvSpPr>
              <a:spLocks noChangeArrowheads="1"/>
            </p:cNvSpPr>
            <p:nvPr/>
          </p:nvSpPr>
          <p:spPr bwMode="auto">
            <a:xfrm>
              <a:off x="38" y="3928"/>
              <a:ext cx="296" cy="98"/>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6" name="Rectangle 125"/>
            <p:cNvSpPr>
              <a:spLocks noChangeArrowheads="1"/>
            </p:cNvSpPr>
            <p:nvPr/>
          </p:nvSpPr>
          <p:spPr bwMode="auto">
            <a:xfrm>
              <a:off x="503" y="3928"/>
              <a:ext cx="789" cy="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7" name="Rectangle 126"/>
            <p:cNvSpPr>
              <a:spLocks noChangeArrowheads="1"/>
            </p:cNvSpPr>
            <p:nvPr/>
          </p:nvSpPr>
          <p:spPr bwMode="auto">
            <a:xfrm>
              <a:off x="503" y="3928"/>
              <a:ext cx="789" cy="98"/>
            </a:xfrm>
            <a:prstGeom prst="rect">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8" name="Rectangle 127"/>
            <p:cNvSpPr>
              <a:spLocks noChangeArrowheads="1"/>
            </p:cNvSpPr>
            <p:nvPr/>
          </p:nvSpPr>
          <p:spPr bwMode="auto">
            <a:xfrm>
              <a:off x="518" y="3944"/>
              <a:ext cx="115"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abc</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39" name="Rectangle 128"/>
            <p:cNvSpPr>
              <a:spLocks noChangeArrowheads="1"/>
            </p:cNvSpPr>
            <p:nvPr/>
          </p:nvSpPr>
          <p:spPr bwMode="auto">
            <a:xfrm>
              <a:off x="605" y="3944"/>
              <a:ext cx="91"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0" name="Rectangle 129"/>
            <p:cNvSpPr>
              <a:spLocks noChangeArrowheads="1"/>
            </p:cNvSpPr>
            <p:nvPr/>
          </p:nvSpPr>
          <p:spPr bwMode="auto">
            <a:xfrm>
              <a:off x="672" y="3944"/>
              <a:ext cx="8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de</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1" name="Rectangle 130"/>
            <p:cNvSpPr>
              <a:spLocks noChangeArrowheads="1"/>
            </p:cNvSpPr>
            <p:nvPr/>
          </p:nvSpPr>
          <p:spPr bwMode="auto">
            <a:xfrm>
              <a:off x="731" y="3944"/>
              <a:ext cx="55"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2" name="Rectangle 131"/>
            <p:cNvSpPr>
              <a:spLocks noChangeArrowheads="1"/>
            </p:cNvSpPr>
            <p:nvPr/>
          </p:nvSpPr>
          <p:spPr bwMode="auto">
            <a:xfrm>
              <a:off x="762" y="3944"/>
              <a:ext cx="47"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f</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3" name="Rectangle 132"/>
            <p:cNvSpPr>
              <a:spLocks noChangeArrowheads="1"/>
            </p:cNvSpPr>
            <p:nvPr/>
          </p:nvSpPr>
          <p:spPr bwMode="auto">
            <a:xfrm>
              <a:off x="783" y="3944"/>
              <a:ext cx="63"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4" name="Rectangle 133"/>
            <p:cNvSpPr>
              <a:spLocks noChangeArrowheads="1"/>
            </p:cNvSpPr>
            <p:nvPr/>
          </p:nvSpPr>
          <p:spPr bwMode="auto">
            <a:xfrm>
              <a:off x="818" y="3944"/>
              <a:ext cx="5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g</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5" name="Rectangle 134"/>
            <p:cNvSpPr>
              <a:spLocks noChangeArrowheads="1"/>
            </p:cNvSpPr>
            <p:nvPr/>
          </p:nvSpPr>
          <p:spPr bwMode="auto">
            <a:xfrm>
              <a:off x="850" y="3944"/>
              <a:ext cx="91"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smtClean="0">
                  <a:ln>
                    <a:noFill/>
                  </a:ln>
                  <a:solidFill>
                    <a:srgbClr val="000000"/>
                  </a:solidFill>
                  <a:effectLst/>
                  <a:latin typeface="Times New Roman" panose="02020603050405020304" pitchFamily="18" charset="0"/>
                </a:rPr>
                <a:t>*+</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6" name="Rectangle 135"/>
            <p:cNvSpPr>
              <a:spLocks noChangeArrowheads="1"/>
            </p:cNvSpPr>
            <p:nvPr/>
          </p:nvSpPr>
          <p:spPr bwMode="auto">
            <a:xfrm>
              <a:off x="808" y="4038"/>
              <a:ext cx="102"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输出</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7" name="Rectangle 136"/>
            <p:cNvSpPr>
              <a:spLocks noChangeArrowheads="1"/>
            </p:cNvSpPr>
            <p:nvPr/>
          </p:nvSpPr>
          <p:spPr bwMode="auto">
            <a:xfrm>
              <a:off x="153" y="4033"/>
              <a:ext cx="86"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900" b="0" i="0" u="none" strike="noStrike" cap="none" normalizeH="0" baseline="0" smtClean="0">
                  <a:ln>
                    <a:noFill/>
                  </a:ln>
                  <a:solidFill>
                    <a:srgbClr val="000000"/>
                  </a:solidFill>
                  <a:effectLst/>
                  <a:latin typeface="华文楷体" panose="02010600040101010101" pitchFamily="2" charset="-122"/>
                  <a:ea typeface="华文楷体" panose="02010600040101010101" pitchFamily="2" charset="-122"/>
                </a:rPr>
                <a:t>栈</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48" name="Oval 137"/>
            <p:cNvSpPr>
              <a:spLocks noChangeArrowheads="1"/>
            </p:cNvSpPr>
            <p:nvPr/>
          </p:nvSpPr>
          <p:spPr bwMode="auto">
            <a:xfrm>
              <a:off x="503" y="4125"/>
              <a:ext cx="118" cy="119"/>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p>
          </p:txBody>
        </p:sp>
        <p:sp>
          <p:nvSpPr>
            <p:cNvPr id="149" name="Oval 138"/>
            <p:cNvSpPr>
              <a:spLocks noChangeArrowheads="1"/>
            </p:cNvSpPr>
            <p:nvPr/>
          </p:nvSpPr>
          <p:spPr bwMode="auto">
            <a:xfrm>
              <a:off x="503" y="4125"/>
              <a:ext cx="118" cy="119"/>
            </a:xfrm>
            <a:prstGeom prst="ellipse">
              <a:avLst/>
            </a:prstGeom>
            <a:noFill/>
            <a:ln w="4763" cap="rnd">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0" name="Rectangle 139"/>
            <p:cNvSpPr>
              <a:spLocks noChangeArrowheads="1"/>
            </p:cNvSpPr>
            <p:nvPr/>
          </p:nvSpPr>
          <p:spPr bwMode="auto">
            <a:xfrm>
              <a:off x="542" y="4135"/>
              <a:ext cx="4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1000" b="1" dirty="0">
                  <a:solidFill>
                    <a:srgbClr val="C05046"/>
                  </a:solidFill>
                  <a:latin typeface="Times New Roman" panose="02020603050405020304" pitchFamily="18" charset="0"/>
                </a:rPr>
                <a:t>9</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152525"/>
            <a:ext cx="8229600" cy="1514495"/>
          </a:xfrm>
          <a:ln>
            <a:solidFill>
              <a:schemeClr val="accent1"/>
            </a:solidFill>
          </a:ln>
        </p:spPr>
        <p:txBody>
          <a:bodyPr/>
          <a:lstStyle/>
          <a:p>
            <a:pPr marL="0" indent="0">
              <a:buNone/>
            </a:pPr>
            <a:r>
              <a:rPr lang="en-US" altLang="zh-CN" sz="1800" b="1" dirty="0">
                <a:solidFill>
                  <a:srgbClr val="C00000"/>
                </a:solidFill>
                <a:ea typeface="华文楷体" panose="02010600040101010101" pitchFamily="2" charset="-122"/>
              </a:rPr>
              <a:t>[</a:t>
            </a:r>
            <a:r>
              <a:rPr lang="zh-CN" altLang="en-US" sz="1800" b="1" dirty="0">
                <a:solidFill>
                  <a:srgbClr val="C00000"/>
                </a:solidFill>
                <a:ea typeface="华文楷体" panose="02010600040101010101" pitchFamily="2" charset="-122"/>
              </a:rPr>
              <a:t>例</a:t>
            </a:r>
            <a:r>
              <a:rPr lang="en-US" altLang="zh-CN" sz="1800" b="1" dirty="0">
                <a:solidFill>
                  <a:srgbClr val="C00000"/>
                </a:solidFill>
                <a:ea typeface="华文楷体" panose="02010600040101010101" pitchFamily="2" charset="-122"/>
              </a:rPr>
              <a:t>] </a:t>
            </a:r>
            <a:r>
              <a:rPr lang="zh-CN" altLang="en-US" sz="1800" dirty="0" smtClean="0">
                <a:ea typeface="华文楷体" panose="02010600040101010101" pitchFamily="2" charset="-122"/>
              </a:rPr>
              <a:t>将后缀</a:t>
            </a:r>
            <a:r>
              <a:rPr lang="zh-CN" altLang="en-US" sz="1800" dirty="0">
                <a:ea typeface="华文楷体" panose="02010600040101010101" pitchFamily="2" charset="-122"/>
              </a:rPr>
              <a:t>表达式</a:t>
            </a:r>
            <a:r>
              <a:rPr lang="zh-CN" altLang="en-US" sz="1800" dirty="0" smtClean="0">
                <a:ea typeface="华文楷体" panose="02010600040101010101" pitchFamily="2" charset="-122"/>
              </a:rPr>
              <a:t>转为表达式树。</a:t>
            </a:r>
            <a:endParaRPr lang="en-US" altLang="zh-CN" sz="1800" dirty="0">
              <a:ea typeface="华文楷体" panose="02010600040101010101" pitchFamily="2" charset="-122"/>
            </a:endParaRPr>
          </a:p>
          <a:p>
            <a:pPr marL="0" indent="0">
              <a:buNone/>
            </a:pPr>
            <a:r>
              <a:rPr lang="zh-CN" altLang="en-US" sz="1800" b="1" dirty="0">
                <a:solidFill>
                  <a:srgbClr val="C00000"/>
                </a:solidFill>
                <a:ea typeface="华文楷体" panose="02010600040101010101" pitchFamily="2" charset="-122"/>
              </a:rPr>
              <a:t>思路</a:t>
            </a:r>
            <a:r>
              <a:rPr lang="zh-CN" altLang="en-US" sz="1800" dirty="0" smtClean="0">
                <a:ea typeface="华文楷体" panose="02010600040101010101" pitchFamily="2" charset="-122"/>
              </a:rPr>
              <a:t>：①遇操作数，建立单结点树，并将其指针入栈；②遇操作符，栈中连续弹出指向两棵二叉树</a:t>
            </a:r>
            <a:r>
              <a:rPr lang="en-US" altLang="zh-CN" sz="1800" dirty="0" smtClean="0">
                <a:ea typeface="华文楷体" panose="02010600040101010101" pitchFamily="2" charset="-122"/>
              </a:rPr>
              <a:t>T1</a:t>
            </a:r>
            <a:r>
              <a:rPr lang="zh-CN" altLang="en-US" sz="1800" dirty="0" smtClean="0">
                <a:ea typeface="华文楷体" panose="02010600040101010101" pitchFamily="2" charset="-122"/>
              </a:rPr>
              <a:t>（先弹出）和</a:t>
            </a:r>
            <a:r>
              <a:rPr lang="en-US" altLang="zh-CN" sz="1800" dirty="0" smtClean="0">
                <a:ea typeface="华文楷体" panose="02010600040101010101" pitchFamily="2" charset="-122"/>
              </a:rPr>
              <a:t>T2</a:t>
            </a:r>
            <a:r>
              <a:rPr lang="zh-CN" altLang="en-US" sz="1800" dirty="0" smtClean="0">
                <a:ea typeface="华文楷体" panose="02010600040101010101" pitchFamily="2" charset="-122"/>
              </a:rPr>
              <a:t>的指针，并形成一颗新二叉树，根为操作符，它的左右子树分别为</a:t>
            </a:r>
            <a:r>
              <a:rPr lang="en-US" altLang="zh-CN" sz="1800" dirty="0">
                <a:ea typeface="华文楷体" panose="02010600040101010101" pitchFamily="2" charset="-122"/>
              </a:rPr>
              <a:t>T1 </a:t>
            </a:r>
            <a:r>
              <a:rPr lang="zh-CN" altLang="en-US" sz="1800" dirty="0" smtClean="0">
                <a:ea typeface="华文楷体" panose="02010600040101010101" pitchFamily="2" charset="-122"/>
              </a:rPr>
              <a:t>和</a:t>
            </a:r>
            <a:r>
              <a:rPr lang="en-US" altLang="zh-CN" sz="1800" dirty="0">
                <a:ea typeface="华文楷体" panose="02010600040101010101" pitchFamily="2" charset="-122"/>
              </a:rPr>
              <a:t>T2 </a:t>
            </a:r>
            <a:r>
              <a:rPr lang="zh-CN" altLang="en-US" sz="1800" dirty="0" smtClean="0">
                <a:ea typeface="华文楷体" panose="02010600040101010101" pitchFamily="2" charset="-122"/>
              </a:rPr>
              <a:t>，将新树的指针入栈。</a:t>
            </a:r>
            <a:endParaRPr lang="en-US" altLang="zh-CN" sz="1800" dirty="0" smtClean="0">
              <a:ea typeface="华文楷体" panose="02010600040101010101" pitchFamily="2" charset="-122"/>
            </a:endParaRPr>
          </a:p>
          <a:p>
            <a:pPr marL="0" indent="0">
              <a:buNone/>
            </a:pPr>
            <a:r>
              <a:rPr lang="zh-CN" altLang="en-US" sz="1800" dirty="0" smtClean="0">
                <a:ea typeface="华文楷体" panose="02010600040101010101" pitchFamily="2" charset="-122"/>
              </a:rPr>
              <a:t>如：</a:t>
            </a:r>
            <a:r>
              <a:rPr lang="en-US" altLang="zh-CN" sz="1800" dirty="0" err="1" smtClean="0">
                <a:ea typeface="华文楷体" panose="02010600040101010101" pitchFamily="2" charset="-122"/>
              </a:rPr>
              <a:t>ab+cde</a:t>
            </a:r>
            <a:r>
              <a:rPr lang="en-US" altLang="zh-CN" sz="1800" dirty="0" smtClean="0">
                <a:ea typeface="华文楷体" panose="02010600040101010101" pitchFamily="2" charset="-122"/>
              </a:rPr>
              <a:t>+**</a:t>
            </a:r>
            <a:endParaRPr lang="zh-CN" altLang="en-US" sz="1800" dirty="0">
              <a:ea typeface="华文楷体" panose="02010600040101010101" pitchFamily="2" charset="-12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pic>
        <p:nvPicPr>
          <p:cNvPr id="6" name="图片 5"/>
          <p:cNvPicPr>
            <a:picLocks noChangeAspect="1"/>
          </p:cNvPicPr>
          <p:nvPr/>
        </p:nvPicPr>
        <p:blipFill>
          <a:blip r:embed="rId1"/>
          <a:stretch>
            <a:fillRect/>
          </a:stretch>
        </p:blipFill>
        <p:spPr>
          <a:xfrm>
            <a:off x="2133664" y="2743218"/>
            <a:ext cx="1523960" cy="1672123"/>
          </a:xfrm>
          <a:prstGeom prst="rect">
            <a:avLst/>
          </a:prstGeom>
        </p:spPr>
      </p:pic>
      <p:pic>
        <p:nvPicPr>
          <p:cNvPr id="8" name="图片 7"/>
          <p:cNvPicPr>
            <a:picLocks noChangeAspect="1"/>
          </p:cNvPicPr>
          <p:nvPr/>
        </p:nvPicPr>
        <p:blipFill>
          <a:blip r:embed="rId2"/>
          <a:stretch>
            <a:fillRect/>
          </a:stretch>
        </p:blipFill>
        <p:spPr>
          <a:xfrm>
            <a:off x="4248112" y="2762076"/>
            <a:ext cx="1924046" cy="1634405"/>
          </a:xfrm>
          <a:prstGeom prst="rect">
            <a:avLst/>
          </a:prstGeom>
        </p:spPr>
      </p:pic>
      <p:pic>
        <p:nvPicPr>
          <p:cNvPr id="9" name="图片 8"/>
          <p:cNvPicPr>
            <a:picLocks noChangeAspect="1"/>
          </p:cNvPicPr>
          <p:nvPr/>
        </p:nvPicPr>
        <p:blipFill>
          <a:blip r:embed="rId3"/>
          <a:stretch>
            <a:fillRect/>
          </a:stretch>
        </p:blipFill>
        <p:spPr>
          <a:xfrm>
            <a:off x="347646" y="2721030"/>
            <a:ext cx="1362181" cy="1385075"/>
          </a:xfrm>
          <a:prstGeom prst="rect">
            <a:avLst/>
          </a:prstGeom>
        </p:spPr>
      </p:pic>
      <p:pic>
        <p:nvPicPr>
          <p:cNvPr id="10" name="图片 9"/>
          <p:cNvPicPr>
            <a:picLocks noChangeAspect="1"/>
          </p:cNvPicPr>
          <p:nvPr/>
        </p:nvPicPr>
        <p:blipFill>
          <a:blip r:embed="rId4"/>
          <a:stretch>
            <a:fillRect/>
          </a:stretch>
        </p:blipFill>
        <p:spPr>
          <a:xfrm>
            <a:off x="6886531" y="2667020"/>
            <a:ext cx="1800161" cy="1766618"/>
          </a:xfrm>
          <a:prstGeom prst="rect">
            <a:avLst/>
          </a:prstGeom>
        </p:spPr>
      </p:pic>
      <p:pic>
        <p:nvPicPr>
          <p:cNvPr id="13" name="图片 12"/>
          <p:cNvPicPr>
            <a:picLocks noChangeAspect="1"/>
          </p:cNvPicPr>
          <p:nvPr/>
        </p:nvPicPr>
        <p:blipFill>
          <a:blip r:embed="rId5"/>
          <a:stretch>
            <a:fillRect/>
          </a:stretch>
        </p:blipFill>
        <p:spPr>
          <a:xfrm>
            <a:off x="3962417" y="4505866"/>
            <a:ext cx="1981148" cy="2213677"/>
          </a:xfrm>
          <a:prstGeom prst="rect">
            <a:avLst/>
          </a:prstGeom>
        </p:spPr>
      </p:pic>
      <p:sp>
        <p:nvSpPr>
          <p:cNvPr id="15" name="页脚占位符 3"/>
          <p:cNvSpPr>
            <a:spLocks noGrp="1"/>
          </p:cNvSpPr>
          <p:nvPr>
            <p:ph type="ftr" sz="quarter" idx="10"/>
          </p:nvPr>
        </p:nvSpPr>
        <p:spPr>
          <a:xfrm>
            <a:off x="3851275" y="6461125"/>
            <a:ext cx="4911725" cy="320675"/>
          </a:xfrm>
        </p:spPr>
        <p:txBody>
          <a:bodyPr/>
          <a:lstStyle/>
          <a:p>
            <a:pPr>
              <a:defRPr/>
            </a:pPr>
            <a:r>
              <a:rPr lang="en-US" altLang="zh-CN" dirty="0"/>
              <a:t>BUPT SCST</a:t>
            </a:r>
            <a:endParaRPr lang="en-US" altLang="zh-CN" dirty="0"/>
          </a:p>
        </p:txBody>
      </p:sp>
      <p:pic>
        <p:nvPicPr>
          <p:cNvPr id="16" name="图片 15"/>
          <p:cNvPicPr>
            <a:picLocks noChangeAspect="1"/>
          </p:cNvPicPr>
          <p:nvPr/>
        </p:nvPicPr>
        <p:blipFill>
          <a:blip r:embed="rId6"/>
          <a:stretch>
            <a:fillRect/>
          </a:stretch>
        </p:blipFill>
        <p:spPr>
          <a:xfrm>
            <a:off x="271473" y="4484569"/>
            <a:ext cx="2157941" cy="2285905"/>
          </a:xfrm>
          <a:prstGeom prst="rect">
            <a:avLst/>
          </a:prstGeom>
        </p:spPr>
      </p:pic>
      <p:cxnSp>
        <p:nvCxnSpPr>
          <p:cNvPr id="18" name="直接连接符 17"/>
          <p:cNvCxnSpPr/>
          <p:nvPr/>
        </p:nvCxnSpPr>
        <p:spPr bwMode="auto">
          <a:xfrm>
            <a:off x="14288" y="4433638"/>
            <a:ext cx="9129712"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直接连接符 21"/>
          <p:cNvCxnSpPr/>
          <p:nvPr/>
        </p:nvCxnSpPr>
        <p:spPr bwMode="auto">
          <a:xfrm>
            <a:off x="3276634" y="4433638"/>
            <a:ext cx="0" cy="2424362"/>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直接连接符 23"/>
          <p:cNvCxnSpPr/>
          <p:nvPr/>
        </p:nvCxnSpPr>
        <p:spPr bwMode="auto">
          <a:xfrm>
            <a:off x="1905070" y="2667020"/>
            <a:ext cx="0" cy="176661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直接连接符 25"/>
          <p:cNvCxnSpPr/>
          <p:nvPr/>
        </p:nvCxnSpPr>
        <p:spPr bwMode="auto">
          <a:xfrm>
            <a:off x="3851275" y="2667020"/>
            <a:ext cx="0" cy="174832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直接连接符 27"/>
          <p:cNvCxnSpPr/>
          <p:nvPr/>
        </p:nvCxnSpPr>
        <p:spPr bwMode="auto">
          <a:xfrm>
            <a:off x="6476950" y="2667020"/>
            <a:ext cx="0" cy="176661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页脚占位符 3"/>
          <p:cNvSpPr>
            <a:spLocks noGrp="1"/>
          </p:cNvSpPr>
          <p:nvPr>
            <p:ph type="ftr" sz="quarter" idx="10"/>
          </p:nvPr>
        </p:nvSpPr>
        <p:spPr/>
        <p:txBody>
          <a:bodyPr/>
          <a:lstStyle/>
          <a:p>
            <a:pPr>
              <a:defRPr/>
            </a:pPr>
            <a:r>
              <a:rPr lang="en-US" altLang="zh-CN"/>
              <a:t>BUPT SCST</a:t>
            </a:r>
            <a:endParaRPr lang="en-US" altLang="zh-CN"/>
          </a:p>
        </p:txBody>
      </p:sp>
      <p:sp>
        <p:nvSpPr>
          <p:cNvPr id="12" name="日期占位符 5"/>
          <p:cNvSpPr>
            <a:spLocks noGrp="1"/>
          </p:cNvSpPr>
          <p:nvPr>
            <p:ph type="dt" sz="quarter" idx="12"/>
          </p:nvPr>
        </p:nvSpPr>
        <p:spPr/>
        <p:txBody>
          <a:bodyPr/>
          <a:lstStyle/>
          <a:p>
            <a:pPr>
              <a:defRPr/>
            </a:pPr>
            <a:r>
              <a:rPr lang="en-US" altLang="zh-CN"/>
              <a:t>BUPT</a:t>
            </a:r>
            <a:endParaRPr lang="en-US" altLang="zh-CN"/>
          </a:p>
        </p:txBody>
      </p:sp>
      <p:sp>
        <p:nvSpPr>
          <p:cNvPr id="36868"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6.6 </a:t>
            </a:r>
            <a:r>
              <a:rPr lang="zh-CN" altLang="en-US" sz="2800" dirty="0" smtClean="0">
                <a:ea typeface="华文楷体" panose="02010600040101010101" pitchFamily="2" charset="-122"/>
              </a:rPr>
              <a:t>线索二叉树</a:t>
            </a:r>
            <a:endParaRPr lang="zh-CN" altLang="en-US" sz="2800" dirty="0" smtClean="0">
              <a:ea typeface="华文楷体" panose="02010600040101010101" pitchFamily="2" charset="-122"/>
            </a:endParaRPr>
          </a:p>
        </p:txBody>
      </p:sp>
      <p:sp>
        <p:nvSpPr>
          <p:cNvPr id="36869" name="Rectangle 3"/>
          <p:cNvSpPr>
            <a:spLocks noGrp="1" noChangeArrowheads="1"/>
          </p:cNvSpPr>
          <p:nvPr>
            <p:ph idx="1"/>
          </p:nvPr>
        </p:nvSpPr>
        <p:spPr>
          <a:ln>
            <a:solidFill>
              <a:schemeClr val="accent1"/>
            </a:solidFill>
          </a:ln>
        </p:spPr>
        <p:txBody>
          <a:bodyPr/>
          <a:lstStyle/>
          <a:p>
            <a:pPr eaLnBrk="1" hangingPunct="1">
              <a:lnSpc>
                <a:spcPct val="80000"/>
              </a:lnSpc>
              <a:buFont typeface="Wingdings" panose="05000000000000000000" pitchFamily="2" charset="2"/>
              <a:buNone/>
            </a:pPr>
            <a:r>
              <a:rPr lang="en-US" altLang="zh-CN" sz="2800" b="1" dirty="0" smtClean="0">
                <a:solidFill>
                  <a:srgbClr val="800000"/>
                </a:solidFill>
                <a:ea typeface="华文楷体" panose="02010600040101010101" pitchFamily="2" charset="-122"/>
                <a:sym typeface="Symbol" panose="05050102010706020507" pitchFamily="18" charset="2"/>
              </a:rPr>
              <a:t>[</a:t>
            </a:r>
            <a:r>
              <a:rPr lang="zh-CN" altLang="en-US" sz="2800" b="1" dirty="0" smtClean="0">
                <a:solidFill>
                  <a:srgbClr val="800000"/>
                </a:solidFill>
                <a:ea typeface="华文楷体" panose="02010600040101010101" pitchFamily="2" charset="-122"/>
                <a:sym typeface="Symbol" panose="05050102010706020507" pitchFamily="18" charset="2"/>
              </a:rPr>
              <a:t>引入线索二叉树的意义</a:t>
            </a:r>
            <a:r>
              <a:rPr lang="en-US" altLang="zh-CN" sz="2800" b="1" dirty="0" smtClean="0">
                <a:solidFill>
                  <a:srgbClr val="800000"/>
                </a:solidFill>
                <a:ea typeface="华文楷体" panose="02010600040101010101" pitchFamily="2" charset="-122"/>
                <a:sym typeface="Symbol" panose="05050102010706020507" pitchFamily="18" charset="2"/>
              </a:rPr>
              <a:t>]</a:t>
            </a:r>
            <a:endParaRPr lang="en-US" altLang="zh-CN" dirty="0" smtClean="0">
              <a:solidFill>
                <a:srgbClr val="800000"/>
              </a:solidFill>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dirty="0" smtClean="0">
                <a:ea typeface="华文楷体" panose="02010600040101010101" pitchFamily="2" charset="-122"/>
                <a:sym typeface="Symbol" panose="05050102010706020507" pitchFamily="18" charset="2"/>
              </a:rPr>
              <a:t>            </a:t>
            </a:r>
            <a:r>
              <a:rPr lang="zh-CN" altLang="en-US" sz="2800" dirty="0" smtClean="0">
                <a:ea typeface="华文楷体" panose="02010600040101010101" pitchFamily="2" charset="-122"/>
                <a:sym typeface="Symbol" panose="05050102010706020507" pitchFamily="18" charset="2"/>
              </a:rPr>
              <a:t>利用二叉链表的空指针域，建立指向该结点的前驱</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后继</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某种遍历方式下</a:t>
            </a:r>
            <a:r>
              <a:rPr lang="en-US" altLang="zh-CN" sz="2800" dirty="0" smtClean="0">
                <a:ea typeface="华文楷体" panose="02010600040101010101" pitchFamily="2" charset="-122"/>
                <a:sym typeface="Symbol" panose="05050102010706020507" pitchFamily="18" charset="2"/>
              </a:rPr>
              <a:t>)</a:t>
            </a:r>
            <a:r>
              <a:rPr lang="zh-CN" altLang="en-US" sz="2800" dirty="0" smtClean="0">
                <a:ea typeface="华文楷体" panose="02010600040101010101" pitchFamily="2" charset="-122"/>
                <a:sym typeface="Symbol" panose="05050102010706020507" pitchFamily="18" charset="2"/>
              </a:rPr>
              <a:t>结点的指针，方便二叉树的线性化使用。</a:t>
            </a:r>
            <a:r>
              <a:rPr lang="en-US" altLang="zh-CN" sz="2800" dirty="0" smtClean="0">
                <a:ea typeface="华文楷体" panose="02010600040101010101" pitchFamily="2" charset="-122"/>
                <a:sym typeface="Symbol" panose="05050102010706020507" pitchFamily="18" charset="2"/>
              </a:rPr>
              <a:t>(n</a:t>
            </a:r>
            <a:r>
              <a:rPr lang="zh-CN" altLang="zh-CN" sz="2800" dirty="0" smtClean="0">
                <a:ea typeface="华文楷体" panose="02010600040101010101" pitchFamily="2" charset="-122"/>
                <a:sym typeface="Symbol" panose="05050102010706020507" pitchFamily="18" charset="2"/>
              </a:rPr>
              <a:t>个结点的二叉树含有</a:t>
            </a:r>
            <a:r>
              <a:rPr lang="en-US" altLang="zh-CN" sz="2800" dirty="0" smtClean="0">
                <a:ea typeface="华文楷体" panose="02010600040101010101" pitchFamily="2" charset="-122"/>
                <a:sym typeface="Symbol" panose="05050102010706020507" pitchFamily="18" charset="2"/>
              </a:rPr>
              <a:t>n+1</a:t>
            </a:r>
            <a:r>
              <a:rPr lang="zh-CN" altLang="en-US" sz="2800" dirty="0" smtClean="0">
                <a:ea typeface="华文楷体" panose="02010600040101010101" pitchFamily="2" charset="-122"/>
                <a:sym typeface="Symbol" panose="05050102010706020507" pitchFamily="18" charset="2"/>
              </a:rPr>
              <a:t>空指针域</a:t>
            </a:r>
            <a:r>
              <a:rPr lang="en-US" altLang="zh-CN" sz="2800" dirty="0" smtClean="0">
                <a:ea typeface="华文楷体" panose="02010600040101010101" pitchFamily="2" charset="-122"/>
                <a:sym typeface="Symbol" panose="05050102010706020507" pitchFamily="18" charset="2"/>
              </a:rPr>
              <a:t>)</a:t>
            </a:r>
            <a:endParaRPr lang="en-US" altLang="zh-CN"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endParaRPr lang="en-US" altLang="zh-CN"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800" b="1" dirty="0" smtClean="0">
                <a:solidFill>
                  <a:srgbClr val="800000"/>
                </a:solidFill>
                <a:ea typeface="华文楷体" panose="02010600040101010101" pitchFamily="2" charset="-122"/>
                <a:sym typeface="Symbol" panose="05050102010706020507" pitchFamily="18" charset="2"/>
              </a:rPr>
              <a:t>[</a:t>
            </a:r>
            <a:r>
              <a:rPr lang="zh-CN" altLang="en-US" sz="2800" b="1" dirty="0" smtClean="0">
                <a:solidFill>
                  <a:srgbClr val="800000"/>
                </a:solidFill>
                <a:ea typeface="华文楷体" panose="02010600040101010101" pitchFamily="2" charset="-122"/>
                <a:sym typeface="Symbol" panose="05050102010706020507" pitchFamily="18" charset="2"/>
              </a:rPr>
              <a:t>线索二叉树的存储结构</a:t>
            </a:r>
            <a:r>
              <a:rPr lang="en-US" altLang="zh-CN" sz="2800" b="1" dirty="0" smtClean="0">
                <a:solidFill>
                  <a:srgbClr val="800000"/>
                </a:solidFill>
                <a:ea typeface="华文楷体" panose="02010600040101010101" pitchFamily="2" charset="-122"/>
                <a:sym typeface="Symbol" panose="05050102010706020507" pitchFamily="18" charset="2"/>
              </a:rPr>
              <a:t>]</a:t>
            </a:r>
            <a:endParaRPr lang="en-US" altLang="zh-CN" sz="3600" b="1" dirty="0" smtClean="0">
              <a:solidFill>
                <a:srgbClr val="800000"/>
              </a:solidFill>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dirty="0" smtClean="0">
                <a:ea typeface="华文楷体" panose="02010600040101010101" pitchFamily="2" charset="-122"/>
                <a:sym typeface="Symbol" panose="05050102010706020507" pitchFamily="18" charset="2"/>
              </a:rPr>
              <a:t>               </a:t>
            </a:r>
            <a:r>
              <a:rPr lang="en-US" altLang="zh-CN" dirty="0" err="1" smtClean="0">
                <a:ea typeface="华文楷体" panose="02010600040101010101" pitchFamily="2" charset="-122"/>
                <a:sym typeface="Symbol" panose="05050102010706020507" pitchFamily="18" charset="2"/>
              </a:rPr>
              <a:t>lc</a:t>
            </a:r>
            <a:r>
              <a:rPr lang="en-US" altLang="zh-CN" dirty="0" smtClean="0">
                <a:ea typeface="华文楷体" panose="02010600040101010101" pitchFamily="2" charset="-122"/>
                <a:sym typeface="Symbol" panose="05050102010706020507" pitchFamily="18" charset="2"/>
              </a:rPr>
              <a:t>  </a:t>
            </a:r>
            <a:r>
              <a:rPr lang="en-US" altLang="zh-CN" dirty="0" err="1" smtClean="0">
                <a:ea typeface="华文楷体" panose="02010600040101010101" pitchFamily="2" charset="-122"/>
                <a:sym typeface="Symbol" panose="05050102010706020507" pitchFamily="18" charset="2"/>
              </a:rPr>
              <a:t>ltag</a:t>
            </a:r>
            <a:r>
              <a:rPr lang="en-US" altLang="zh-CN" dirty="0" smtClean="0">
                <a:ea typeface="华文楷体" panose="02010600040101010101" pitchFamily="2" charset="-122"/>
                <a:sym typeface="Symbol" panose="05050102010706020507" pitchFamily="18" charset="2"/>
              </a:rPr>
              <a:t>  data   </a:t>
            </a:r>
            <a:r>
              <a:rPr lang="en-US" altLang="zh-CN" dirty="0" err="1" smtClean="0">
                <a:ea typeface="华文楷体" panose="02010600040101010101" pitchFamily="2" charset="-122"/>
                <a:sym typeface="Symbol" panose="05050102010706020507" pitchFamily="18" charset="2"/>
              </a:rPr>
              <a:t>rtag</a:t>
            </a:r>
            <a:r>
              <a:rPr lang="en-US" altLang="zh-CN" dirty="0" smtClean="0">
                <a:ea typeface="华文楷体" panose="02010600040101010101" pitchFamily="2" charset="-122"/>
                <a:sym typeface="Symbol" panose="05050102010706020507" pitchFamily="18" charset="2"/>
              </a:rPr>
              <a:t>  </a:t>
            </a:r>
            <a:r>
              <a:rPr lang="en-US" altLang="zh-CN" dirty="0" err="1" smtClean="0">
                <a:ea typeface="华文楷体" panose="02010600040101010101" pitchFamily="2" charset="-122"/>
                <a:sym typeface="Symbol" panose="05050102010706020507" pitchFamily="18" charset="2"/>
              </a:rPr>
              <a:t>rc</a:t>
            </a:r>
            <a:endParaRPr lang="en-US" altLang="zh-CN"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dirty="0" smtClean="0">
                <a:ea typeface="华文楷体" panose="02010600040101010101" pitchFamily="2" charset="-122"/>
                <a:sym typeface="Symbol" panose="05050102010706020507" pitchFamily="18" charset="2"/>
              </a:rPr>
              <a:t>     </a:t>
            </a:r>
            <a:r>
              <a:rPr lang="zh-CN" altLang="en-US" sz="2800" dirty="0" smtClean="0">
                <a:ea typeface="华文楷体" panose="02010600040101010101" pitchFamily="2" charset="-122"/>
                <a:sym typeface="Symbol" panose="05050102010706020507" pitchFamily="18" charset="2"/>
              </a:rPr>
              <a:t>左特征位 </a:t>
            </a:r>
            <a:r>
              <a:rPr lang="en-US" altLang="zh-CN" sz="2800" dirty="0" err="1" smtClean="0">
                <a:ea typeface="华文楷体" panose="02010600040101010101" pitchFamily="2" charset="-122"/>
                <a:sym typeface="Symbol" panose="05050102010706020507" pitchFamily="18" charset="2"/>
              </a:rPr>
              <a:t>ltag</a:t>
            </a:r>
            <a:r>
              <a:rPr lang="en-US" altLang="zh-CN" sz="2800" dirty="0" smtClean="0">
                <a:ea typeface="华文楷体" panose="02010600040101010101" pitchFamily="2" charset="-122"/>
                <a:sym typeface="Symbol" panose="05050102010706020507" pitchFamily="18" charset="2"/>
              </a:rPr>
              <a:t>=  0   </a:t>
            </a:r>
            <a:r>
              <a:rPr lang="en-US" altLang="zh-CN" sz="2800" dirty="0" err="1" smtClean="0">
                <a:ea typeface="华文楷体" panose="02010600040101010101" pitchFamily="2" charset="-122"/>
                <a:sym typeface="Symbol" panose="05050102010706020507" pitchFamily="18" charset="2"/>
              </a:rPr>
              <a:t>lc</a:t>
            </a:r>
            <a:r>
              <a:rPr lang="zh-CN" altLang="en-US" sz="2800" dirty="0" smtClean="0">
                <a:ea typeface="华文楷体" panose="02010600040101010101" pitchFamily="2" charset="-122"/>
                <a:sym typeface="Symbol" panose="05050102010706020507" pitchFamily="18" charset="2"/>
              </a:rPr>
              <a:t>域指示结点的左孩子</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1   </a:t>
            </a:r>
            <a:r>
              <a:rPr lang="en-US" altLang="zh-CN" sz="2800" dirty="0" err="1" smtClean="0">
                <a:ea typeface="华文楷体" panose="02010600040101010101" pitchFamily="2" charset="-122"/>
                <a:sym typeface="Symbol" panose="05050102010706020507" pitchFamily="18" charset="2"/>
              </a:rPr>
              <a:t>lc</a:t>
            </a:r>
            <a:r>
              <a:rPr lang="zh-CN" altLang="en-US" sz="2800" dirty="0" smtClean="0">
                <a:ea typeface="华文楷体" panose="02010600040101010101" pitchFamily="2" charset="-122"/>
                <a:sym typeface="Symbol" panose="05050102010706020507" pitchFamily="18" charset="2"/>
              </a:rPr>
              <a:t>域指示结点的前驱结点</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右特征位 </a:t>
            </a:r>
            <a:r>
              <a:rPr lang="en-US" altLang="zh-CN" sz="2800" dirty="0" err="1" smtClean="0">
                <a:ea typeface="华文楷体" panose="02010600040101010101" pitchFamily="2" charset="-122"/>
                <a:sym typeface="Symbol" panose="05050102010706020507" pitchFamily="18" charset="2"/>
              </a:rPr>
              <a:t>rtag</a:t>
            </a:r>
            <a:r>
              <a:rPr lang="en-US" altLang="zh-CN" sz="2800" dirty="0" smtClean="0">
                <a:ea typeface="华文楷体" panose="02010600040101010101" pitchFamily="2" charset="-122"/>
                <a:sym typeface="Symbol" panose="05050102010706020507" pitchFamily="18" charset="2"/>
              </a:rPr>
              <a:t>=   0   </a:t>
            </a:r>
            <a:r>
              <a:rPr lang="en-US" altLang="zh-CN" sz="2800" dirty="0" err="1" smtClean="0">
                <a:ea typeface="华文楷体" panose="02010600040101010101" pitchFamily="2" charset="-122"/>
                <a:sym typeface="Symbol" panose="05050102010706020507" pitchFamily="18" charset="2"/>
              </a:rPr>
              <a:t>rc</a:t>
            </a:r>
            <a:r>
              <a:rPr lang="zh-CN" altLang="en-US" sz="2800" dirty="0" smtClean="0">
                <a:ea typeface="华文楷体" panose="02010600040101010101" pitchFamily="2" charset="-122"/>
                <a:sym typeface="Symbol" panose="05050102010706020507" pitchFamily="18" charset="2"/>
              </a:rPr>
              <a:t>域指示结点的右孩子</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1   </a:t>
            </a:r>
            <a:r>
              <a:rPr lang="en-US" altLang="zh-CN" sz="2800" dirty="0" err="1" smtClean="0">
                <a:ea typeface="华文楷体" panose="02010600040101010101" pitchFamily="2" charset="-122"/>
                <a:sym typeface="Symbol" panose="05050102010706020507" pitchFamily="18" charset="2"/>
              </a:rPr>
              <a:t>rc</a:t>
            </a:r>
            <a:r>
              <a:rPr lang="zh-CN" altLang="en-US" sz="2800" dirty="0" smtClean="0">
                <a:ea typeface="华文楷体" panose="02010600040101010101" pitchFamily="2" charset="-122"/>
                <a:sym typeface="Symbol" panose="05050102010706020507" pitchFamily="18" charset="2"/>
              </a:rPr>
              <a:t>域指示结点的后继结点</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pPr>
            <a:endParaRPr lang="en-US" altLang="zh-CN" sz="2800" dirty="0" smtClean="0">
              <a:ea typeface="华文楷体" panose="02010600040101010101" pitchFamily="2" charset="-122"/>
            </a:endParaRPr>
          </a:p>
        </p:txBody>
      </p:sp>
      <p:sp>
        <p:nvSpPr>
          <p:cNvPr id="36870" name="Rectangle 4"/>
          <p:cNvSpPr>
            <a:spLocks noChangeArrowheads="1"/>
          </p:cNvSpPr>
          <p:nvPr/>
        </p:nvSpPr>
        <p:spPr bwMode="auto">
          <a:xfrm>
            <a:off x="1905000" y="3962400"/>
            <a:ext cx="38100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6871" name="Line 5"/>
          <p:cNvSpPr>
            <a:spLocks noChangeShapeType="1"/>
          </p:cNvSpPr>
          <p:nvPr/>
        </p:nvSpPr>
        <p:spPr bwMode="auto">
          <a:xfrm flipH="1">
            <a:off x="2438400" y="3962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6872" name="Line 6"/>
          <p:cNvSpPr>
            <a:spLocks noChangeShapeType="1"/>
          </p:cNvSpPr>
          <p:nvPr/>
        </p:nvSpPr>
        <p:spPr bwMode="auto">
          <a:xfrm>
            <a:off x="3276600" y="3962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6873" name="Line 7"/>
          <p:cNvSpPr>
            <a:spLocks noChangeShapeType="1"/>
          </p:cNvSpPr>
          <p:nvPr/>
        </p:nvSpPr>
        <p:spPr bwMode="auto">
          <a:xfrm>
            <a:off x="4267200" y="3962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6874" name="Line 8"/>
          <p:cNvSpPr>
            <a:spLocks noChangeShapeType="1"/>
          </p:cNvSpPr>
          <p:nvPr/>
        </p:nvSpPr>
        <p:spPr bwMode="auto">
          <a:xfrm>
            <a:off x="5105400" y="3962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6875" name="AutoShape 9"/>
          <p:cNvSpPr/>
          <p:nvPr/>
        </p:nvSpPr>
        <p:spPr bwMode="auto">
          <a:xfrm>
            <a:off x="3429000" y="4648200"/>
            <a:ext cx="76200" cy="533400"/>
          </a:xfrm>
          <a:prstGeom prst="leftBrace">
            <a:avLst>
              <a:gd name="adj1" fmla="val 5830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6876" name="AutoShape 10"/>
          <p:cNvSpPr/>
          <p:nvPr/>
        </p:nvSpPr>
        <p:spPr bwMode="auto">
          <a:xfrm>
            <a:off x="3502025" y="5562600"/>
            <a:ext cx="79375" cy="533400"/>
          </a:xfrm>
          <a:prstGeom prst="leftBrace">
            <a:avLst>
              <a:gd name="adj1" fmla="val 5600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页脚占位符 3"/>
          <p:cNvSpPr>
            <a:spLocks noGrp="1"/>
          </p:cNvSpPr>
          <p:nvPr>
            <p:ph type="ftr" sz="quarter" idx="10"/>
          </p:nvPr>
        </p:nvSpPr>
        <p:spPr/>
        <p:txBody>
          <a:bodyPr/>
          <a:lstStyle/>
          <a:p>
            <a:pPr>
              <a:defRPr/>
            </a:pPr>
            <a:r>
              <a:rPr lang="en-US" altLang="zh-CN"/>
              <a:t>BUPT SCST</a:t>
            </a:r>
            <a:endParaRPr lang="en-US" altLang="zh-CN"/>
          </a:p>
        </p:txBody>
      </p:sp>
      <p:sp>
        <p:nvSpPr>
          <p:cNvPr id="133" name="日期占位符 5"/>
          <p:cNvSpPr>
            <a:spLocks noGrp="1"/>
          </p:cNvSpPr>
          <p:nvPr>
            <p:ph type="dt" sz="quarter" idx="12"/>
          </p:nvPr>
        </p:nvSpPr>
        <p:spPr/>
        <p:txBody>
          <a:bodyPr/>
          <a:lstStyle/>
          <a:p>
            <a:pPr>
              <a:defRPr/>
            </a:pPr>
            <a:r>
              <a:rPr lang="en-US" altLang="zh-CN"/>
              <a:t>BUPT</a:t>
            </a:r>
            <a:endParaRPr lang="en-US" altLang="zh-CN"/>
          </a:p>
        </p:txBody>
      </p:sp>
      <p:sp>
        <p:nvSpPr>
          <p:cNvPr id="37892" name="Rectangle 2"/>
          <p:cNvSpPr>
            <a:spLocks noChangeArrowheads="1"/>
          </p:cNvSpPr>
          <p:nvPr/>
        </p:nvSpPr>
        <p:spPr bwMode="auto">
          <a:xfrm>
            <a:off x="2286000" y="4114800"/>
            <a:ext cx="5334000" cy="22860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893" name="Rectangle 3"/>
          <p:cNvSpPr>
            <a:spLocks noGrp="1" noChangeArrowheads="1"/>
          </p:cNvSpPr>
          <p:nvPr>
            <p:ph idx="1"/>
          </p:nvPr>
        </p:nvSpPr>
        <p:spPr>
          <a:xfrm>
            <a:off x="685800" y="1143000"/>
            <a:ext cx="7772400" cy="5334000"/>
          </a:xfrm>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例</a:t>
            </a:r>
            <a:r>
              <a:rPr lang="en-US" altLang="zh-CN" sz="2400" b="1" dirty="0" smtClean="0">
                <a:solidFill>
                  <a:srgbClr val="CC6600"/>
                </a:solidFill>
                <a:ea typeface="华文楷体" panose="02010600040101010101" pitchFamily="2" charset="-122"/>
              </a:rPr>
              <a:t>]</a:t>
            </a:r>
            <a:endParaRPr lang="en-US" altLang="zh-CN" sz="2800" dirty="0" smtClean="0">
              <a:solidFill>
                <a:srgbClr val="CC6600"/>
              </a:solidFill>
              <a:ea typeface="华文楷体" panose="02010600040101010101" pitchFamily="2" charset="-122"/>
            </a:endParaRPr>
          </a:p>
          <a:p>
            <a:pPr eaLnBrk="1" hangingPunct="1">
              <a:buFont typeface="Wingdings" panose="05000000000000000000" pitchFamily="2" charset="2"/>
              <a:buNone/>
            </a:pPr>
            <a:endParaRPr lang="en-US" altLang="zh-CN" sz="2800" dirty="0" smtClean="0">
              <a:solidFill>
                <a:srgbClr val="CC6600"/>
              </a:solidFill>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a:p>
            <a:pPr eaLnBrk="1" hangingPunct="1">
              <a:lnSpc>
                <a:spcPct val="70000"/>
              </a:lnSpc>
              <a:buFont typeface="Wingdings" panose="05000000000000000000" pitchFamily="2" charset="2"/>
              <a:buNone/>
            </a:pPr>
            <a:endParaRPr lang="en-US" altLang="zh-CN" sz="2400" dirty="0" smtClean="0">
              <a:ea typeface="华文楷体" panose="02010600040101010101" pitchFamily="2" charset="-122"/>
              <a:sym typeface="Symbol" panose="05050102010706020507" pitchFamily="18" charset="2"/>
            </a:endParaRPr>
          </a:p>
          <a:p>
            <a:pPr eaLnBrk="1" hangingPunct="1">
              <a:lnSpc>
                <a:spcPct val="70000"/>
              </a:lnSpc>
              <a:buFont typeface="Wingdings" panose="05000000000000000000" pitchFamily="2" charset="2"/>
              <a:buNone/>
            </a:pPr>
            <a:r>
              <a:rPr lang="en-US" altLang="zh-CN" sz="2400" b="1" dirty="0" smtClean="0">
                <a:solidFill>
                  <a:srgbClr val="CC6600"/>
                </a:solidFill>
                <a:ea typeface="华文楷体" panose="02010600040101010101" pitchFamily="2" charset="-122"/>
                <a:sym typeface="Symbol" panose="05050102010706020507" pitchFamily="18" charset="2"/>
              </a:rPr>
              <a:t>[</a:t>
            </a:r>
            <a:r>
              <a:rPr lang="zh-CN" altLang="en-US" sz="2400" b="1" dirty="0" smtClean="0">
                <a:solidFill>
                  <a:srgbClr val="CC6600"/>
                </a:solidFill>
                <a:ea typeface="华文楷体" panose="02010600040101010101" pitchFamily="2" charset="-122"/>
                <a:sym typeface="Symbol" panose="05050102010706020507" pitchFamily="18" charset="2"/>
              </a:rPr>
              <a:t>类型定义</a:t>
            </a:r>
            <a:r>
              <a:rPr lang="en-US" altLang="zh-CN" sz="2400" b="1" dirty="0" smtClean="0">
                <a:solidFill>
                  <a:srgbClr val="CC6600"/>
                </a:solidFill>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typedef</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enum</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PointerTag</a:t>
            </a:r>
            <a:r>
              <a:rPr lang="en-US" altLang="zh-CN" sz="2400" dirty="0" smtClean="0">
                <a:ea typeface="华文楷体" panose="02010600040101010101" pitchFamily="2" charset="-122"/>
                <a:sym typeface="Symbol" panose="05050102010706020507" pitchFamily="18" charset="2"/>
              </a:rPr>
              <a:t>{Link, Thread};</a:t>
            </a:r>
            <a:endParaRPr lang="en-US" altLang="zh-CN" sz="2400" dirty="0" smtClean="0">
              <a:ea typeface="华文楷体" panose="02010600040101010101" pitchFamily="2" charset="-122"/>
              <a:sym typeface="Symbol" panose="05050102010706020507" pitchFamily="18" charset="2"/>
            </a:endParaRPr>
          </a:p>
          <a:p>
            <a:pPr eaLnBrk="1" hangingPunct="1">
              <a:lnSpc>
                <a:spcPct val="7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typedef</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struct</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BiThrNode</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a:p>
            <a:pPr eaLnBrk="1" hangingPunct="1">
              <a:lnSpc>
                <a:spcPct val="7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TElemType</a:t>
            </a:r>
            <a:r>
              <a:rPr lang="en-US" altLang="zh-CN" sz="2400" dirty="0" smtClean="0">
                <a:ea typeface="华文楷体" panose="02010600040101010101" pitchFamily="2" charset="-122"/>
                <a:sym typeface="Symbol" panose="05050102010706020507" pitchFamily="18" charset="2"/>
              </a:rPr>
              <a:t> data;</a:t>
            </a:r>
            <a:endParaRPr lang="en-US" altLang="zh-CN" sz="2400" dirty="0" smtClean="0">
              <a:ea typeface="华文楷体" panose="02010600040101010101" pitchFamily="2" charset="-122"/>
              <a:sym typeface="Symbol" panose="05050102010706020507" pitchFamily="18" charset="2"/>
            </a:endParaRPr>
          </a:p>
          <a:p>
            <a:pPr eaLnBrk="1" hangingPunct="1">
              <a:lnSpc>
                <a:spcPct val="7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struct</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BiThrNode</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lc</a:t>
            </a:r>
            <a:r>
              <a:rPr lang="en-US" altLang="zh-CN" sz="2400" dirty="0" smtClean="0">
                <a:ea typeface="华文楷体" panose="02010600040101010101" pitchFamily="2" charset="-122"/>
                <a:sym typeface="Symbol" panose="05050102010706020507" pitchFamily="18" charset="2"/>
              </a:rPr>
              <a:t>,*</a:t>
            </a:r>
            <a:r>
              <a:rPr lang="en-US" altLang="zh-CN" sz="2400" dirty="0" err="1" smtClean="0">
                <a:ea typeface="华文楷体" panose="02010600040101010101" pitchFamily="2" charset="-122"/>
                <a:sym typeface="Symbol" panose="05050102010706020507" pitchFamily="18" charset="2"/>
              </a:rPr>
              <a:t>rc</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a:p>
            <a:pPr eaLnBrk="1" hangingPunct="1">
              <a:lnSpc>
                <a:spcPct val="7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PointerTag</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lTag</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rTag</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a:p>
            <a:pPr eaLnBrk="1" hangingPunct="1">
              <a:lnSpc>
                <a:spcPct val="7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 </a:t>
            </a:r>
            <a:r>
              <a:rPr lang="en-US" altLang="zh-CN" sz="2400" dirty="0" err="1" smtClean="0">
                <a:ea typeface="华文楷体" panose="02010600040101010101" pitchFamily="2" charset="-122"/>
                <a:sym typeface="Symbol" panose="05050102010706020507" pitchFamily="18" charset="2"/>
              </a:rPr>
              <a:t>BiThrNode</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BiThrTree</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p:txBody>
      </p:sp>
      <p:sp>
        <p:nvSpPr>
          <p:cNvPr id="37894" name="Text Box 4"/>
          <p:cNvSpPr txBox="1">
            <a:spLocks noChangeArrowheads="1"/>
          </p:cNvSpPr>
          <p:nvPr/>
        </p:nvSpPr>
        <p:spPr bwMode="auto">
          <a:xfrm>
            <a:off x="1752600" y="60960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zh-CN" altLang="en-US" sz="2400" dirty="0">
                <a:solidFill>
                  <a:schemeClr val="bg1"/>
                </a:solidFill>
                <a:latin typeface="Times New Roman" panose="02020603050405020304" pitchFamily="18" charset="0"/>
                <a:ea typeface="华文楷体" panose="02010600040101010101" pitchFamily="2" charset="-122"/>
              </a:rPr>
              <a:t>先序线索二叉树         </a:t>
            </a:r>
            <a:r>
              <a:rPr lang="en-US" altLang="zh-CN" sz="2400" dirty="0">
                <a:solidFill>
                  <a:schemeClr val="bg1"/>
                </a:solidFill>
                <a:latin typeface="Times New Roman" panose="02020603050405020304" pitchFamily="18" charset="0"/>
                <a:ea typeface="华文楷体" panose="02010600040101010101" pitchFamily="2" charset="-122"/>
              </a:rPr>
              <a:t>ABDCE</a:t>
            </a:r>
            <a:endParaRPr lang="en-US" altLang="zh-CN" sz="2400" dirty="0">
              <a:solidFill>
                <a:schemeClr val="bg1"/>
              </a:solidFill>
              <a:latin typeface="Times New Roman" panose="02020603050405020304" pitchFamily="18" charset="0"/>
              <a:ea typeface="华文楷体" panose="02010600040101010101" pitchFamily="2" charset="-122"/>
            </a:endParaRPr>
          </a:p>
        </p:txBody>
      </p:sp>
      <p:sp>
        <p:nvSpPr>
          <p:cNvPr id="37895" name="Oval 5"/>
          <p:cNvSpPr>
            <a:spLocks noChangeArrowheads="1"/>
          </p:cNvSpPr>
          <p:nvPr/>
        </p:nvSpPr>
        <p:spPr bwMode="auto">
          <a:xfrm>
            <a:off x="7391400" y="1143000"/>
            <a:ext cx="381000" cy="3810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896" name="Text Box 6"/>
          <p:cNvSpPr txBox="1">
            <a:spLocks noChangeArrowheads="1"/>
          </p:cNvSpPr>
          <p:nvPr/>
        </p:nvSpPr>
        <p:spPr bwMode="auto">
          <a:xfrm>
            <a:off x="7391400" y="1143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37897" name="Oval 7"/>
          <p:cNvSpPr>
            <a:spLocks noChangeArrowheads="1"/>
          </p:cNvSpPr>
          <p:nvPr/>
        </p:nvSpPr>
        <p:spPr bwMode="auto">
          <a:xfrm>
            <a:off x="6705600" y="1905000"/>
            <a:ext cx="381000" cy="3810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898" name="Text Box 8"/>
          <p:cNvSpPr txBox="1">
            <a:spLocks noChangeArrowheads="1"/>
          </p:cNvSpPr>
          <p:nvPr/>
        </p:nvSpPr>
        <p:spPr bwMode="auto">
          <a:xfrm>
            <a:off x="6705600" y="1905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a:t>
            </a:r>
            <a:endParaRPr lang="en-US" altLang="zh-CN" sz="2400" dirty="0">
              <a:latin typeface="Times New Roman" panose="02020603050405020304" pitchFamily="18" charset="0"/>
              <a:ea typeface="华文楷体" panose="02010600040101010101" pitchFamily="2" charset="-122"/>
            </a:endParaRPr>
          </a:p>
        </p:txBody>
      </p:sp>
      <p:sp>
        <p:nvSpPr>
          <p:cNvPr id="37899" name="Oval 9"/>
          <p:cNvSpPr>
            <a:spLocks noChangeArrowheads="1"/>
          </p:cNvSpPr>
          <p:nvPr/>
        </p:nvSpPr>
        <p:spPr bwMode="auto">
          <a:xfrm>
            <a:off x="8077200" y="1905000"/>
            <a:ext cx="381000" cy="3810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900" name="Text Box 10"/>
          <p:cNvSpPr txBox="1">
            <a:spLocks noChangeArrowheads="1"/>
          </p:cNvSpPr>
          <p:nvPr/>
        </p:nvSpPr>
        <p:spPr bwMode="auto">
          <a:xfrm>
            <a:off x="8077200" y="1905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a:t>
            </a:r>
            <a:endParaRPr lang="en-US" altLang="zh-CN" sz="2400" dirty="0">
              <a:latin typeface="Times New Roman" panose="02020603050405020304" pitchFamily="18" charset="0"/>
              <a:ea typeface="华文楷体" panose="02010600040101010101" pitchFamily="2" charset="-122"/>
            </a:endParaRPr>
          </a:p>
        </p:txBody>
      </p:sp>
      <p:sp>
        <p:nvSpPr>
          <p:cNvPr id="37901" name="Oval 11"/>
          <p:cNvSpPr>
            <a:spLocks noChangeArrowheads="1"/>
          </p:cNvSpPr>
          <p:nvPr/>
        </p:nvSpPr>
        <p:spPr bwMode="auto">
          <a:xfrm>
            <a:off x="6934200" y="2590800"/>
            <a:ext cx="381000" cy="3810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902" name="Text Box 12"/>
          <p:cNvSpPr txBox="1">
            <a:spLocks noChangeArrowheads="1"/>
          </p:cNvSpPr>
          <p:nvPr/>
        </p:nvSpPr>
        <p:spPr bwMode="auto">
          <a:xfrm>
            <a:off x="6934200" y="2590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a:t>
            </a:r>
            <a:endParaRPr lang="en-US" altLang="zh-CN" sz="2400" dirty="0">
              <a:latin typeface="Times New Roman" panose="02020603050405020304" pitchFamily="18" charset="0"/>
              <a:ea typeface="华文楷体" panose="02010600040101010101" pitchFamily="2" charset="-122"/>
            </a:endParaRPr>
          </a:p>
        </p:txBody>
      </p:sp>
      <p:sp>
        <p:nvSpPr>
          <p:cNvPr id="37903" name="Oval 13"/>
          <p:cNvSpPr>
            <a:spLocks noChangeArrowheads="1"/>
          </p:cNvSpPr>
          <p:nvPr/>
        </p:nvSpPr>
        <p:spPr bwMode="auto">
          <a:xfrm>
            <a:off x="7696200" y="2590800"/>
            <a:ext cx="381000" cy="3810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904" name="Text Box 14"/>
          <p:cNvSpPr txBox="1">
            <a:spLocks noChangeArrowheads="1"/>
          </p:cNvSpPr>
          <p:nvPr/>
        </p:nvSpPr>
        <p:spPr bwMode="auto">
          <a:xfrm>
            <a:off x="7696200" y="2590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37905" name="Line 15"/>
          <p:cNvSpPr>
            <a:spLocks noChangeShapeType="1"/>
          </p:cNvSpPr>
          <p:nvPr/>
        </p:nvSpPr>
        <p:spPr bwMode="auto">
          <a:xfrm flipH="1">
            <a:off x="6934200" y="1371600"/>
            <a:ext cx="4572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06" name="Line 16"/>
          <p:cNvSpPr>
            <a:spLocks noChangeShapeType="1"/>
          </p:cNvSpPr>
          <p:nvPr/>
        </p:nvSpPr>
        <p:spPr bwMode="auto">
          <a:xfrm>
            <a:off x="7772400" y="1371600"/>
            <a:ext cx="4572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07" name="Line 17"/>
          <p:cNvSpPr>
            <a:spLocks noChangeShapeType="1"/>
          </p:cNvSpPr>
          <p:nvPr/>
        </p:nvSpPr>
        <p:spPr bwMode="auto">
          <a:xfrm>
            <a:off x="6858000" y="2286000"/>
            <a:ext cx="152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08" name="Line 18"/>
          <p:cNvSpPr>
            <a:spLocks noChangeShapeType="1"/>
          </p:cNvSpPr>
          <p:nvPr/>
        </p:nvSpPr>
        <p:spPr bwMode="auto">
          <a:xfrm flipH="1">
            <a:off x="7924800" y="2286000"/>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09" name="Text Box 19"/>
          <p:cNvSpPr txBox="1">
            <a:spLocks noChangeArrowheads="1"/>
          </p:cNvSpPr>
          <p:nvPr/>
        </p:nvSpPr>
        <p:spPr bwMode="auto">
          <a:xfrm>
            <a:off x="3200400" y="1371600"/>
            <a:ext cx="1600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0  A  0    </a:t>
            </a:r>
            <a:endParaRPr lang="en-US" altLang="zh-CN" sz="2400" dirty="0">
              <a:latin typeface="Times New Roman" panose="02020603050405020304" pitchFamily="18" charset="0"/>
              <a:ea typeface="华文楷体" panose="02010600040101010101" pitchFamily="2" charset="-122"/>
            </a:endParaRPr>
          </a:p>
        </p:txBody>
      </p:sp>
      <p:sp>
        <p:nvSpPr>
          <p:cNvPr id="37910" name="Text Box 20"/>
          <p:cNvSpPr txBox="1">
            <a:spLocks noChangeArrowheads="1"/>
          </p:cNvSpPr>
          <p:nvPr/>
        </p:nvSpPr>
        <p:spPr bwMode="auto">
          <a:xfrm>
            <a:off x="1600200" y="2286000"/>
            <a:ext cx="1600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1  B  0</a:t>
            </a:r>
            <a:endParaRPr lang="en-US" altLang="zh-CN" sz="2400" dirty="0">
              <a:latin typeface="Times New Roman" panose="02020603050405020304" pitchFamily="18" charset="0"/>
              <a:ea typeface="华文楷体" panose="02010600040101010101" pitchFamily="2" charset="-122"/>
            </a:endParaRPr>
          </a:p>
        </p:txBody>
      </p:sp>
      <p:sp>
        <p:nvSpPr>
          <p:cNvPr id="37911" name="Text Box 21"/>
          <p:cNvSpPr txBox="1">
            <a:spLocks noChangeArrowheads="1"/>
          </p:cNvSpPr>
          <p:nvPr/>
        </p:nvSpPr>
        <p:spPr bwMode="auto">
          <a:xfrm>
            <a:off x="4800600" y="2286000"/>
            <a:ext cx="1600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0  C  1  </a:t>
            </a:r>
            <a:endParaRPr lang="en-US" altLang="zh-CN" sz="2400" dirty="0">
              <a:latin typeface="Times New Roman" panose="02020603050405020304" pitchFamily="18" charset="0"/>
              <a:ea typeface="华文楷体" panose="02010600040101010101" pitchFamily="2" charset="-122"/>
            </a:endParaRPr>
          </a:p>
        </p:txBody>
      </p:sp>
      <p:sp>
        <p:nvSpPr>
          <p:cNvPr id="37912" name="Text Box 22"/>
          <p:cNvSpPr txBox="1">
            <a:spLocks noChangeArrowheads="1"/>
          </p:cNvSpPr>
          <p:nvPr/>
        </p:nvSpPr>
        <p:spPr bwMode="auto">
          <a:xfrm>
            <a:off x="1981200" y="3200400"/>
            <a:ext cx="1524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1   D  1</a:t>
            </a:r>
            <a:endParaRPr lang="en-US" altLang="zh-CN" sz="2400" dirty="0">
              <a:latin typeface="Times New Roman" panose="02020603050405020304" pitchFamily="18" charset="0"/>
              <a:ea typeface="华文楷体" panose="02010600040101010101" pitchFamily="2" charset="-122"/>
            </a:endParaRPr>
          </a:p>
        </p:txBody>
      </p:sp>
      <p:sp>
        <p:nvSpPr>
          <p:cNvPr id="37913" name="Text Box 23"/>
          <p:cNvSpPr txBox="1">
            <a:spLocks noChangeArrowheads="1"/>
          </p:cNvSpPr>
          <p:nvPr/>
        </p:nvSpPr>
        <p:spPr bwMode="auto">
          <a:xfrm>
            <a:off x="4343400" y="3200400"/>
            <a:ext cx="16764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1   E   1 </a:t>
            </a:r>
            <a:r>
              <a:rPr lang="en-US" altLang="zh-CN" sz="2400" b="1" dirty="0">
                <a:solidFill>
                  <a:schemeClr val="accent2"/>
                </a:solidFill>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37914" name="Line 24"/>
          <p:cNvSpPr>
            <a:spLocks noChangeShapeType="1"/>
          </p:cNvSpPr>
          <p:nvPr/>
        </p:nvSpPr>
        <p:spPr bwMode="auto">
          <a:xfrm>
            <a:off x="3505200" y="1371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15" name="Line 25"/>
          <p:cNvSpPr>
            <a:spLocks noChangeShapeType="1"/>
          </p:cNvSpPr>
          <p:nvPr/>
        </p:nvSpPr>
        <p:spPr bwMode="auto">
          <a:xfrm>
            <a:off x="3810000" y="1371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16" name="Line 26"/>
          <p:cNvSpPr>
            <a:spLocks noChangeShapeType="1"/>
          </p:cNvSpPr>
          <p:nvPr/>
        </p:nvSpPr>
        <p:spPr bwMode="auto">
          <a:xfrm>
            <a:off x="4191000" y="1371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17" name="Line 27"/>
          <p:cNvSpPr>
            <a:spLocks noChangeShapeType="1"/>
          </p:cNvSpPr>
          <p:nvPr/>
        </p:nvSpPr>
        <p:spPr bwMode="auto">
          <a:xfrm>
            <a:off x="4495800" y="13716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18" name="Line 28"/>
          <p:cNvSpPr>
            <a:spLocks noChangeShapeType="1"/>
          </p:cNvSpPr>
          <p:nvPr/>
        </p:nvSpPr>
        <p:spPr bwMode="auto">
          <a:xfrm flipH="1">
            <a:off x="2667000" y="1676400"/>
            <a:ext cx="685800" cy="533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19" name="Line 29"/>
          <p:cNvSpPr>
            <a:spLocks noChangeShapeType="1"/>
          </p:cNvSpPr>
          <p:nvPr/>
        </p:nvSpPr>
        <p:spPr bwMode="auto">
          <a:xfrm>
            <a:off x="4648200" y="1600200"/>
            <a:ext cx="8382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0" name="Line 30"/>
          <p:cNvSpPr>
            <a:spLocks noChangeShapeType="1"/>
          </p:cNvSpPr>
          <p:nvPr/>
        </p:nvSpPr>
        <p:spPr bwMode="auto">
          <a:xfrm>
            <a:off x="19050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1" name="Line 31"/>
          <p:cNvSpPr>
            <a:spLocks noChangeShapeType="1"/>
          </p:cNvSpPr>
          <p:nvPr/>
        </p:nvSpPr>
        <p:spPr bwMode="auto">
          <a:xfrm>
            <a:off x="22098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2" name="Line 32"/>
          <p:cNvSpPr>
            <a:spLocks noChangeShapeType="1"/>
          </p:cNvSpPr>
          <p:nvPr/>
        </p:nvSpPr>
        <p:spPr bwMode="auto">
          <a:xfrm>
            <a:off x="25908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3" name="Line 33"/>
          <p:cNvSpPr>
            <a:spLocks noChangeShapeType="1"/>
          </p:cNvSpPr>
          <p:nvPr/>
        </p:nvSpPr>
        <p:spPr bwMode="auto">
          <a:xfrm>
            <a:off x="28956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4" name="Line 34"/>
          <p:cNvSpPr>
            <a:spLocks noChangeShapeType="1"/>
          </p:cNvSpPr>
          <p:nvPr/>
        </p:nvSpPr>
        <p:spPr bwMode="auto">
          <a:xfrm>
            <a:off x="3048000" y="2590800"/>
            <a:ext cx="15240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5" name="Line 35"/>
          <p:cNvSpPr>
            <a:spLocks noChangeShapeType="1"/>
          </p:cNvSpPr>
          <p:nvPr/>
        </p:nvSpPr>
        <p:spPr bwMode="auto">
          <a:xfrm>
            <a:off x="50292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6" name="Line 36"/>
          <p:cNvSpPr>
            <a:spLocks noChangeShapeType="1"/>
          </p:cNvSpPr>
          <p:nvPr/>
        </p:nvSpPr>
        <p:spPr bwMode="auto">
          <a:xfrm>
            <a:off x="53340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7" name="Line 37"/>
          <p:cNvSpPr>
            <a:spLocks noChangeShapeType="1"/>
          </p:cNvSpPr>
          <p:nvPr/>
        </p:nvSpPr>
        <p:spPr bwMode="auto">
          <a:xfrm>
            <a:off x="57150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8" name="Line 38"/>
          <p:cNvSpPr>
            <a:spLocks noChangeShapeType="1"/>
          </p:cNvSpPr>
          <p:nvPr/>
        </p:nvSpPr>
        <p:spPr bwMode="auto">
          <a:xfrm>
            <a:off x="6019800" y="2286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29" name="Line 39"/>
          <p:cNvSpPr>
            <a:spLocks noChangeShapeType="1"/>
          </p:cNvSpPr>
          <p:nvPr/>
        </p:nvSpPr>
        <p:spPr bwMode="auto">
          <a:xfrm flipH="1">
            <a:off x="4800600" y="2514600"/>
            <a:ext cx="152400" cy="685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0" name="Line 40"/>
          <p:cNvSpPr>
            <a:spLocks noChangeShapeType="1"/>
          </p:cNvSpPr>
          <p:nvPr/>
        </p:nvSpPr>
        <p:spPr bwMode="auto">
          <a:xfrm>
            <a:off x="22860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1" name="Line 41"/>
          <p:cNvSpPr>
            <a:spLocks noChangeShapeType="1"/>
          </p:cNvSpPr>
          <p:nvPr/>
        </p:nvSpPr>
        <p:spPr bwMode="auto">
          <a:xfrm>
            <a:off x="25908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2" name="Line 42"/>
          <p:cNvSpPr>
            <a:spLocks noChangeShapeType="1"/>
          </p:cNvSpPr>
          <p:nvPr/>
        </p:nvSpPr>
        <p:spPr bwMode="auto">
          <a:xfrm>
            <a:off x="29718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3" name="Line 43"/>
          <p:cNvSpPr>
            <a:spLocks noChangeShapeType="1"/>
          </p:cNvSpPr>
          <p:nvPr/>
        </p:nvSpPr>
        <p:spPr bwMode="auto">
          <a:xfrm>
            <a:off x="32766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4" name="Line 44"/>
          <p:cNvSpPr>
            <a:spLocks noChangeShapeType="1"/>
          </p:cNvSpPr>
          <p:nvPr/>
        </p:nvSpPr>
        <p:spPr bwMode="auto">
          <a:xfrm>
            <a:off x="46482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5" name="Line 45"/>
          <p:cNvSpPr>
            <a:spLocks noChangeShapeType="1"/>
          </p:cNvSpPr>
          <p:nvPr/>
        </p:nvSpPr>
        <p:spPr bwMode="auto">
          <a:xfrm>
            <a:off x="49530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6" name="Line 46"/>
          <p:cNvSpPr>
            <a:spLocks noChangeShapeType="1"/>
          </p:cNvSpPr>
          <p:nvPr/>
        </p:nvSpPr>
        <p:spPr bwMode="auto">
          <a:xfrm>
            <a:off x="53340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7" name="Line 47"/>
          <p:cNvSpPr>
            <a:spLocks noChangeShapeType="1"/>
          </p:cNvSpPr>
          <p:nvPr/>
        </p:nvSpPr>
        <p:spPr bwMode="auto">
          <a:xfrm>
            <a:off x="5638800" y="32004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8" name="Line 48"/>
          <p:cNvSpPr>
            <a:spLocks noChangeShapeType="1"/>
          </p:cNvSpPr>
          <p:nvPr/>
        </p:nvSpPr>
        <p:spPr bwMode="auto">
          <a:xfrm flipH="1" flipV="1">
            <a:off x="1828800" y="2743200"/>
            <a:ext cx="304800" cy="6858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39" name="Line 49"/>
          <p:cNvSpPr>
            <a:spLocks noChangeShapeType="1"/>
          </p:cNvSpPr>
          <p:nvPr/>
        </p:nvSpPr>
        <p:spPr bwMode="auto">
          <a:xfrm flipV="1">
            <a:off x="3352800" y="2438400"/>
            <a:ext cx="1447800" cy="10668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40" name="Line 50"/>
          <p:cNvSpPr>
            <a:spLocks noChangeShapeType="1"/>
          </p:cNvSpPr>
          <p:nvPr/>
        </p:nvSpPr>
        <p:spPr bwMode="auto">
          <a:xfrm flipV="1">
            <a:off x="4495800" y="2590800"/>
            <a:ext cx="304800" cy="8382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41" name="Text Box 51"/>
          <p:cNvSpPr txBox="1">
            <a:spLocks noChangeArrowheads="1"/>
          </p:cNvSpPr>
          <p:nvPr/>
        </p:nvSpPr>
        <p:spPr bwMode="auto">
          <a:xfrm>
            <a:off x="2057400" y="1219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err="1">
                <a:latin typeface="Times New Roman" panose="02020603050405020304" pitchFamily="18" charset="0"/>
                <a:ea typeface="华文楷体" panose="02010600040101010101" pitchFamily="2" charset="-122"/>
              </a:rPr>
              <a:t>bt</a:t>
            </a:r>
            <a:endParaRPr lang="en-US" altLang="zh-CN" sz="2400" dirty="0">
              <a:latin typeface="Times New Roman" panose="02020603050405020304" pitchFamily="18" charset="0"/>
              <a:ea typeface="华文楷体" panose="02010600040101010101" pitchFamily="2" charset="-122"/>
            </a:endParaRPr>
          </a:p>
        </p:txBody>
      </p:sp>
      <p:sp>
        <p:nvSpPr>
          <p:cNvPr id="37942" name="Line 52"/>
          <p:cNvSpPr>
            <a:spLocks noChangeShapeType="1"/>
          </p:cNvSpPr>
          <p:nvPr/>
        </p:nvSpPr>
        <p:spPr bwMode="auto">
          <a:xfrm>
            <a:off x="2438400" y="1524000"/>
            <a:ext cx="762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43" name="Line 53"/>
          <p:cNvSpPr>
            <a:spLocks noChangeShapeType="1"/>
          </p:cNvSpPr>
          <p:nvPr/>
        </p:nvSpPr>
        <p:spPr bwMode="auto">
          <a:xfrm flipV="1">
            <a:off x="1752600" y="1676400"/>
            <a:ext cx="1371600" cy="8382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44" name="Line 54"/>
          <p:cNvSpPr>
            <a:spLocks noChangeShapeType="1"/>
          </p:cNvSpPr>
          <p:nvPr/>
        </p:nvSpPr>
        <p:spPr bwMode="auto">
          <a:xfrm flipH="1">
            <a:off x="5791200" y="2590800"/>
            <a:ext cx="381000" cy="6096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nvGrpSpPr>
          <p:cNvPr id="34871" name="Group 55"/>
          <p:cNvGrpSpPr/>
          <p:nvPr/>
        </p:nvGrpSpPr>
        <p:grpSpPr bwMode="auto">
          <a:xfrm>
            <a:off x="1447800" y="609600"/>
            <a:ext cx="5105400" cy="3352800"/>
            <a:chOff x="864" y="384"/>
            <a:chExt cx="3216" cy="2112"/>
          </a:xfrm>
        </p:grpSpPr>
        <p:sp>
          <p:nvSpPr>
            <p:cNvPr id="37985" name="Rectangle 56"/>
            <p:cNvSpPr>
              <a:spLocks noChangeArrowheads="1"/>
            </p:cNvSpPr>
            <p:nvPr/>
          </p:nvSpPr>
          <p:spPr bwMode="auto">
            <a:xfrm>
              <a:off x="864" y="384"/>
              <a:ext cx="3216" cy="2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986" name="Text Box 57"/>
            <p:cNvSpPr txBox="1">
              <a:spLocks noChangeArrowheads="1"/>
            </p:cNvSpPr>
            <p:nvPr/>
          </p:nvSpPr>
          <p:spPr bwMode="auto">
            <a:xfrm>
              <a:off x="1968" y="912"/>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0  A  0    </a:t>
              </a:r>
              <a:endParaRPr lang="en-US" altLang="zh-CN" sz="2400" dirty="0">
                <a:latin typeface="Times New Roman" panose="02020603050405020304" pitchFamily="18" charset="0"/>
                <a:ea typeface="华文楷体" panose="02010600040101010101" pitchFamily="2" charset="-122"/>
              </a:endParaRPr>
            </a:p>
          </p:txBody>
        </p:sp>
        <p:sp>
          <p:nvSpPr>
            <p:cNvPr id="37987" name="Text Box 58"/>
            <p:cNvSpPr txBox="1">
              <a:spLocks noChangeArrowheads="1"/>
            </p:cNvSpPr>
            <p:nvPr/>
          </p:nvSpPr>
          <p:spPr bwMode="auto">
            <a:xfrm>
              <a:off x="960" y="1488"/>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a:solidFill>
                    <a:schemeClr val="accent2"/>
                  </a:solidFill>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  1   B  0</a:t>
              </a:r>
              <a:endParaRPr lang="en-US" altLang="zh-CN" sz="2400" dirty="0">
                <a:latin typeface="Times New Roman" panose="02020603050405020304" pitchFamily="18" charset="0"/>
                <a:ea typeface="华文楷体" panose="02010600040101010101" pitchFamily="2" charset="-122"/>
              </a:endParaRPr>
            </a:p>
          </p:txBody>
        </p:sp>
        <p:sp>
          <p:nvSpPr>
            <p:cNvPr id="37988" name="Text Box 59"/>
            <p:cNvSpPr txBox="1">
              <a:spLocks noChangeArrowheads="1"/>
            </p:cNvSpPr>
            <p:nvPr/>
          </p:nvSpPr>
          <p:spPr bwMode="auto">
            <a:xfrm>
              <a:off x="2976" y="1488"/>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0  C  1  </a:t>
              </a:r>
              <a:r>
                <a:rPr lang="en-US" altLang="zh-CN" sz="2400" b="1" dirty="0">
                  <a:solidFill>
                    <a:schemeClr val="accent2"/>
                  </a:solidFill>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37989" name="Text Box 60"/>
            <p:cNvSpPr txBox="1">
              <a:spLocks noChangeArrowheads="1"/>
            </p:cNvSpPr>
            <p:nvPr/>
          </p:nvSpPr>
          <p:spPr bwMode="auto">
            <a:xfrm>
              <a:off x="1200" y="2064"/>
              <a:ext cx="960"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1   D  1</a:t>
              </a:r>
              <a:endParaRPr lang="en-US" altLang="zh-CN" sz="2400" dirty="0">
                <a:latin typeface="Times New Roman" panose="02020603050405020304" pitchFamily="18" charset="0"/>
                <a:ea typeface="华文楷体" panose="02010600040101010101" pitchFamily="2" charset="-122"/>
              </a:endParaRPr>
            </a:p>
          </p:txBody>
        </p:sp>
        <p:sp>
          <p:nvSpPr>
            <p:cNvPr id="37990" name="Text Box 61"/>
            <p:cNvSpPr txBox="1">
              <a:spLocks noChangeArrowheads="1"/>
            </p:cNvSpPr>
            <p:nvPr/>
          </p:nvSpPr>
          <p:spPr bwMode="auto">
            <a:xfrm>
              <a:off x="2688" y="2064"/>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1   E   1</a:t>
              </a:r>
              <a:endParaRPr lang="en-US" altLang="zh-CN" sz="2400" dirty="0">
                <a:latin typeface="Times New Roman" panose="02020603050405020304" pitchFamily="18" charset="0"/>
                <a:ea typeface="华文楷体" panose="02010600040101010101" pitchFamily="2" charset="-122"/>
              </a:endParaRPr>
            </a:p>
          </p:txBody>
        </p:sp>
        <p:sp>
          <p:nvSpPr>
            <p:cNvPr id="37991" name="Line 62"/>
            <p:cNvSpPr>
              <a:spLocks noChangeShapeType="1"/>
            </p:cNvSpPr>
            <p:nvPr/>
          </p:nvSpPr>
          <p:spPr bwMode="auto">
            <a:xfrm>
              <a:off x="2160"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2" name="Line 63"/>
            <p:cNvSpPr>
              <a:spLocks noChangeShapeType="1"/>
            </p:cNvSpPr>
            <p:nvPr/>
          </p:nvSpPr>
          <p:spPr bwMode="auto">
            <a:xfrm>
              <a:off x="2352"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3" name="Line 64"/>
            <p:cNvSpPr>
              <a:spLocks noChangeShapeType="1"/>
            </p:cNvSpPr>
            <p:nvPr/>
          </p:nvSpPr>
          <p:spPr bwMode="auto">
            <a:xfrm>
              <a:off x="2592"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4" name="Line 65"/>
            <p:cNvSpPr>
              <a:spLocks noChangeShapeType="1"/>
            </p:cNvSpPr>
            <p:nvPr/>
          </p:nvSpPr>
          <p:spPr bwMode="auto">
            <a:xfrm>
              <a:off x="2784"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5" name="Line 66"/>
            <p:cNvSpPr>
              <a:spLocks noChangeShapeType="1"/>
            </p:cNvSpPr>
            <p:nvPr/>
          </p:nvSpPr>
          <p:spPr bwMode="auto">
            <a:xfrm flipH="1">
              <a:off x="1440" y="1104"/>
              <a:ext cx="624"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6" name="Line 67"/>
            <p:cNvSpPr>
              <a:spLocks noChangeShapeType="1"/>
            </p:cNvSpPr>
            <p:nvPr/>
          </p:nvSpPr>
          <p:spPr bwMode="auto">
            <a:xfrm>
              <a:off x="2880" y="1056"/>
              <a:ext cx="528"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7" name="Line 68"/>
            <p:cNvSpPr>
              <a:spLocks noChangeShapeType="1"/>
            </p:cNvSpPr>
            <p:nvPr/>
          </p:nvSpPr>
          <p:spPr bwMode="auto">
            <a:xfrm>
              <a:off x="1152"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8" name="Line 69"/>
            <p:cNvSpPr>
              <a:spLocks noChangeShapeType="1"/>
            </p:cNvSpPr>
            <p:nvPr/>
          </p:nvSpPr>
          <p:spPr bwMode="auto">
            <a:xfrm>
              <a:off x="1344"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99" name="Line 70"/>
            <p:cNvSpPr>
              <a:spLocks noChangeShapeType="1"/>
            </p:cNvSpPr>
            <p:nvPr/>
          </p:nvSpPr>
          <p:spPr bwMode="auto">
            <a:xfrm>
              <a:off x="1584"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0" name="Line 71"/>
            <p:cNvSpPr>
              <a:spLocks noChangeShapeType="1"/>
            </p:cNvSpPr>
            <p:nvPr/>
          </p:nvSpPr>
          <p:spPr bwMode="auto">
            <a:xfrm>
              <a:off x="1776"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1" name="Line 72"/>
            <p:cNvSpPr>
              <a:spLocks noChangeShapeType="1"/>
            </p:cNvSpPr>
            <p:nvPr/>
          </p:nvSpPr>
          <p:spPr bwMode="auto">
            <a:xfrm>
              <a:off x="1872" y="1680"/>
              <a:ext cx="96"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2" name="Line 73"/>
            <p:cNvSpPr>
              <a:spLocks noChangeShapeType="1"/>
            </p:cNvSpPr>
            <p:nvPr/>
          </p:nvSpPr>
          <p:spPr bwMode="auto">
            <a:xfrm>
              <a:off x="3120"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3" name="Line 74"/>
            <p:cNvSpPr>
              <a:spLocks noChangeShapeType="1"/>
            </p:cNvSpPr>
            <p:nvPr/>
          </p:nvSpPr>
          <p:spPr bwMode="auto">
            <a:xfrm>
              <a:off x="3312"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4" name="Line 75"/>
            <p:cNvSpPr>
              <a:spLocks noChangeShapeType="1"/>
            </p:cNvSpPr>
            <p:nvPr/>
          </p:nvSpPr>
          <p:spPr bwMode="auto">
            <a:xfrm>
              <a:off x="3552"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5" name="Line 76"/>
            <p:cNvSpPr>
              <a:spLocks noChangeShapeType="1"/>
            </p:cNvSpPr>
            <p:nvPr/>
          </p:nvSpPr>
          <p:spPr bwMode="auto">
            <a:xfrm>
              <a:off x="3744"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6" name="Line 77"/>
            <p:cNvSpPr>
              <a:spLocks noChangeShapeType="1"/>
            </p:cNvSpPr>
            <p:nvPr/>
          </p:nvSpPr>
          <p:spPr bwMode="auto">
            <a:xfrm flipH="1">
              <a:off x="2976" y="1632"/>
              <a:ext cx="96" cy="43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7" name="Line 78"/>
            <p:cNvSpPr>
              <a:spLocks noChangeShapeType="1"/>
            </p:cNvSpPr>
            <p:nvPr/>
          </p:nvSpPr>
          <p:spPr bwMode="auto">
            <a:xfrm>
              <a:off x="1392"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8" name="Line 79"/>
            <p:cNvSpPr>
              <a:spLocks noChangeShapeType="1"/>
            </p:cNvSpPr>
            <p:nvPr/>
          </p:nvSpPr>
          <p:spPr bwMode="auto">
            <a:xfrm>
              <a:off x="1584"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09" name="Line 80"/>
            <p:cNvSpPr>
              <a:spLocks noChangeShapeType="1"/>
            </p:cNvSpPr>
            <p:nvPr/>
          </p:nvSpPr>
          <p:spPr bwMode="auto">
            <a:xfrm>
              <a:off x="1824"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0" name="Line 81"/>
            <p:cNvSpPr>
              <a:spLocks noChangeShapeType="1"/>
            </p:cNvSpPr>
            <p:nvPr/>
          </p:nvSpPr>
          <p:spPr bwMode="auto">
            <a:xfrm>
              <a:off x="2016"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1" name="Line 82"/>
            <p:cNvSpPr>
              <a:spLocks noChangeShapeType="1"/>
            </p:cNvSpPr>
            <p:nvPr/>
          </p:nvSpPr>
          <p:spPr bwMode="auto">
            <a:xfrm>
              <a:off x="2880"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2" name="Line 83"/>
            <p:cNvSpPr>
              <a:spLocks noChangeShapeType="1"/>
            </p:cNvSpPr>
            <p:nvPr/>
          </p:nvSpPr>
          <p:spPr bwMode="auto">
            <a:xfrm>
              <a:off x="3072"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3" name="Line 84"/>
            <p:cNvSpPr>
              <a:spLocks noChangeShapeType="1"/>
            </p:cNvSpPr>
            <p:nvPr/>
          </p:nvSpPr>
          <p:spPr bwMode="auto">
            <a:xfrm>
              <a:off x="3312"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4" name="Line 85"/>
            <p:cNvSpPr>
              <a:spLocks noChangeShapeType="1"/>
            </p:cNvSpPr>
            <p:nvPr/>
          </p:nvSpPr>
          <p:spPr bwMode="auto">
            <a:xfrm>
              <a:off x="3504"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5" name="Line 86"/>
            <p:cNvSpPr>
              <a:spLocks noChangeShapeType="1"/>
            </p:cNvSpPr>
            <p:nvPr/>
          </p:nvSpPr>
          <p:spPr bwMode="auto">
            <a:xfrm flipH="1" flipV="1">
              <a:off x="1104" y="1776"/>
              <a:ext cx="192" cy="432"/>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6" name="Line 87"/>
            <p:cNvSpPr>
              <a:spLocks noChangeShapeType="1"/>
            </p:cNvSpPr>
            <p:nvPr/>
          </p:nvSpPr>
          <p:spPr bwMode="auto">
            <a:xfrm flipV="1">
              <a:off x="2064" y="1200"/>
              <a:ext cx="192" cy="1056"/>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7" name="Line 88"/>
            <p:cNvSpPr>
              <a:spLocks noChangeShapeType="1"/>
            </p:cNvSpPr>
            <p:nvPr/>
          </p:nvSpPr>
          <p:spPr bwMode="auto">
            <a:xfrm flipH="1" flipV="1">
              <a:off x="2592" y="1200"/>
              <a:ext cx="192" cy="1008"/>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8" name="Line 89"/>
            <p:cNvSpPr>
              <a:spLocks noChangeShapeType="1"/>
            </p:cNvSpPr>
            <p:nvPr/>
          </p:nvSpPr>
          <p:spPr bwMode="auto">
            <a:xfrm flipV="1">
              <a:off x="3552" y="1776"/>
              <a:ext cx="192" cy="48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19" name="Text Box 90"/>
            <p:cNvSpPr txBox="1">
              <a:spLocks noChangeArrowheads="1"/>
            </p:cNvSpPr>
            <p:nvPr/>
          </p:nvSpPr>
          <p:spPr bwMode="auto">
            <a:xfrm>
              <a:off x="1248" y="8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err="1">
                  <a:latin typeface="Times New Roman" panose="02020603050405020304" pitchFamily="18" charset="0"/>
                  <a:ea typeface="华文楷体" panose="02010600040101010101" pitchFamily="2" charset="-122"/>
                </a:rPr>
                <a:t>bt</a:t>
              </a:r>
              <a:endParaRPr lang="en-US" altLang="zh-CN" sz="2400" dirty="0">
                <a:latin typeface="Times New Roman" panose="02020603050405020304" pitchFamily="18" charset="0"/>
                <a:ea typeface="华文楷体" panose="02010600040101010101" pitchFamily="2" charset="-122"/>
              </a:endParaRPr>
            </a:p>
          </p:txBody>
        </p:sp>
        <p:sp>
          <p:nvSpPr>
            <p:cNvPr id="38020" name="Line 91"/>
            <p:cNvSpPr>
              <a:spLocks noChangeShapeType="1"/>
            </p:cNvSpPr>
            <p:nvPr/>
          </p:nvSpPr>
          <p:spPr bwMode="auto">
            <a:xfrm>
              <a:off x="1488" y="1008"/>
              <a:ext cx="48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021" name="Text Box 92"/>
            <p:cNvSpPr txBox="1">
              <a:spLocks noChangeArrowheads="1"/>
            </p:cNvSpPr>
            <p:nvPr/>
          </p:nvSpPr>
          <p:spPr bwMode="auto">
            <a:xfrm>
              <a:off x="1104" y="480"/>
              <a:ext cx="26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zh-CN" altLang="en-US" sz="2400" dirty="0">
                  <a:latin typeface="Times New Roman" panose="02020603050405020304" pitchFamily="18" charset="0"/>
                  <a:ea typeface="华文楷体" panose="02010600040101010101" pitchFamily="2" charset="-122"/>
                </a:rPr>
                <a:t>中序线索二叉树         </a:t>
              </a:r>
              <a:r>
                <a:rPr lang="en-US" altLang="zh-CN" sz="2400" dirty="0">
                  <a:latin typeface="Times New Roman" panose="02020603050405020304" pitchFamily="18" charset="0"/>
                  <a:ea typeface="华文楷体" panose="02010600040101010101" pitchFamily="2" charset="-122"/>
                </a:rPr>
                <a:t>BDAEC</a:t>
              </a:r>
              <a:endParaRPr lang="en-US" altLang="zh-CN" sz="2400" dirty="0">
                <a:latin typeface="Times New Roman" panose="02020603050405020304" pitchFamily="18" charset="0"/>
                <a:ea typeface="华文楷体" panose="02010600040101010101" pitchFamily="2" charset="-122"/>
              </a:endParaRPr>
            </a:p>
          </p:txBody>
        </p:sp>
      </p:grpSp>
      <p:grpSp>
        <p:nvGrpSpPr>
          <p:cNvPr id="34909" name="Group 93"/>
          <p:cNvGrpSpPr/>
          <p:nvPr/>
        </p:nvGrpSpPr>
        <p:grpSpPr bwMode="auto">
          <a:xfrm>
            <a:off x="1447800" y="609600"/>
            <a:ext cx="5029200" cy="3276600"/>
            <a:chOff x="912" y="384"/>
            <a:chExt cx="3168" cy="2064"/>
          </a:xfrm>
        </p:grpSpPr>
        <p:sp>
          <p:nvSpPr>
            <p:cNvPr id="37947" name="Rectangle 94"/>
            <p:cNvSpPr>
              <a:spLocks noChangeArrowheads="1"/>
            </p:cNvSpPr>
            <p:nvPr/>
          </p:nvSpPr>
          <p:spPr bwMode="auto">
            <a:xfrm>
              <a:off x="912" y="384"/>
              <a:ext cx="3168" cy="20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7948" name="Text Box 95"/>
            <p:cNvSpPr txBox="1">
              <a:spLocks noChangeArrowheads="1"/>
            </p:cNvSpPr>
            <p:nvPr/>
          </p:nvSpPr>
          <p:spPr bwMode="auto">
            <a:xfrm>
              <a:off x="1968" y="912"/>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0  A  0    </a:t>
              </a:r>
              <a:endParaRPr lang="en-US" altLang="zh-CN" sz="2400" dirty="0">
                <a:latin typeface="Times New Roman" panose="02020603050405020304" pitchFamily="18" charset="0"/>
                <a:ea typeface="华文楷体" panose="02010600040101010101" pitchFamily="2" charset="-122"/>
              </a:endParaRPr>
            </a:p>
          </p:txBody>
        </p:sp>
        <p:sp>
          <p:nvSpPr>
            <p:cNvPr id="37949" name="Text Box 96"/>
            <p:cNvSpPr txBox="1">
              <a:spLocks noChangeArrowheads="1"/>
            </p:cNvSpPr>
            <p:nvPr/>
          </p:nvSpPr>
          <p:spPr bwMode="auto">
            <a:xfrm>
              <a:off x="960" y="1488"/>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1   B  0</a:t>
              </a:r>
              <a:endParaRPr lang="en-US" altLang="zh-CN" sz="2400" dirty="0">
                <a:latin typeface="Times New Roman" panose="02020603050405020304" pitchFamily="18" charset="0"/>
                <a:ea typeface="华文楷体" panose="02010600040101010101" pitchFamily="2" charset="-122"/>
              </a:endParaRPr>
            </a:p>
          </p:txBody>
        </p:sp>
        <p:sp>
          <p:nvSpPr>
            <p:cNvPr id="37950" name="Text Box 97"/>
            <p:cNvSpPr txBox="1">
              <a:spLocks noChangeArrowheads="1"/>
            </p:cNvSpPr>
            <p:nvPr/>
          </p:nvSpPr>
          <p:spPr bwMode="auto">
            <a:xfrm>
              <a:off x="2976" y="1488"/>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0  C  1  </a:t>
              </a:r>
              <a:endParaRPr lang="en-US" altLang="zh-CN" sz="2400" dirty="0">
                <a:latin typeface="Times New Roman" panose="02020603050405020304" pitchFamily="18" charset="0"/>
                <a:ea typeface="华文楷体" panose="02010600040101010101" pitchFamily="2" charset="-122"/>
              </a:endParaRPr>
            </a:p>
          </p:txBody>
        </p:sp>
        <p:sp>
          <p:nvSpPr>
            <p:cNvPr id="37951" name="Text Box 98"/>
            <p:cNvSpPr txBox="1">
              <a:spLocks noChangeArrowheads="1"/>
            </p:cNvSpPr>
            <p:nvPr/>
          </p:nvSpPr>
          <p:spPr bwMode="auto">
            <a:xfrm>
              <a:off x="1200" y="2064"/>
              <a:ext cx="960"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b="1" dirty="0">
                  <a:solidFill>
                    <a:schemeClr val="accent2"/>
                  </a:solidFill>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 1   D  1</a:t>
              </a:r>
              <a:endParaRPr lang="en-US" altLang="zh-CN" sz="2400" dirty="0">
                <a:latin typeface="Times New Roman" panose="02020603050405020304" pitchFamily="18" charset="0"/>
                <a:ea typeface="华文楷体" panose="02010600040101010101" pitchFamily="2" charset="-122"/>
              </a:endParaRPr>
            </a:p>
          </p:txBody>
        </p:sp>
        <p:sp>
          <p:nvSpPr>
            <p:cNvPr id="37952" name="Text Box 99"/>
            <p:cNvSpPr txBox="1">
              <a:spLocks noChangeArrowheads="1"/>
            </p:cNvSpPr>
            <p:nvPr/>
          </p:nvSpPr>
          <p:spPr bwMode="auto">
            <a:xfrm>
              <a:off x="2688" y="2064"/>
              <a:ext cx="1008" cy="29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   1   E   1</a:t>
              </a:r>
              <a:endParaRPr lang="en-US" altLang="zh-CN" sz="2400" dirty="0">
                <a:latin typeface="Times New Roman" panose="02020603050405020304" pitchFamily="18" charset="0"/>
                <a:ea typeface="华文楷体" panose="02010600040101010101" pitchFamily="2" charset="-122"/>
              </a:endParaRPr>
            </a:p>
          </p:txBody>
        </p:sp>
        <p:sp>
          <p:nvSpPr>
            <p:cNvPr id="37953" name="Line 100"/>
            <p:cNvSpPr>
              <a:spLocks noChangeShapeType="1"/>
            </p:cNvSpPr>
            <p:nvPr/>
          </p:nvSpPr>
          <p:spPr bwMode="auto">
            <a:xfrm>
              <a:off x="2160"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54" name="Line 101"/>
            <p:cNvSpPr>
              <a:spLocks noChangeShapeType="1"/>
            </p:cNvSpPr>
            <p:nvPr/>
          </p:nvSpPr>
          <p:spPr bwMode="auto">
            <a:xfrm>
              <a:off x="2352"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55" name="Line 102"/>
            <p:cNvSpPr>
              <a:spLocks noChangeShapeType="1"/>
            </p:cNvSpPr>
            <p:nvPr/>
          </p:nvSpPr>
          <p:spPr bwMode="auto">
            <a:xfrm>
              <a:off x="2592"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56" name="Line 103"/>
            <p:cNvSpPr>
              <a:spLocks noChangeShapeType="1"/>
            </p:cNvSpPr>
            <p:nvPr/>
          </p:nvSpPr>
          <p:spPr bwMode="auto">
            <a:xfrm>
              <a:off x="2784" y="912"/>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57" name="Line 104"/>
            <p:cNvSpPr>
              <a:spLocks noChangeShapeType="1"/>
            </p:cNvSpPr>
            <p:nvPr/>
          </p:nvSpPr>
          <p:spPr bwMode="auto">
            <a:xfrm flipH="1">
              <a:off x="1440" y="1104"/>
              <a:ext cx="624"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58" name="Line 105"/>
            <p:cNvSpPr>
              <a:spLocks noChangeShapeType="1"/>
            </p:cNvSpPr>
            <p:nvPr/>
          </p:nvSpPr>
          <p:spPr bwMode="auto">
            <a:xfrm>
              <a:off x="2880" y="1056"/>
              <a:ext cx="528"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59" name="Line 106"/>
            <p:cNvSpPr>
              <a:spLocks noChangeShapeType="1"/>
            </p:cNvSpPr>
            <p:nvPr/>
          </p:nvSpPr>
          <p:spPr bwMode="auto">
            <a:xfrm>
              <a:off x="1152"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0" name="Line 107"/>
            <p:cNvSpPr>
              <a:spLocks noChangeShapeType="1"/>
            </p:cNvSpPr>
            <p:nvPr/>
          </p:nvSpPr>
          <p:spPr bwMode="auto">
            <a:xfrm>
              <a:off x="1344"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1" name="Line 108"/>
            <p:cNvSpPr>
              <a:spLocks noChangeShapeType="1"/>
            </p:cNvSpPr>
            <p:nvPr/>
          </p:nvSpPr>
          <p:spPr bwMode="auto">
            <a:xfrm>
              <a:off x="1584"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2" name="Line 109"/>
            <p:cNvSpPr>
              <a:spLocks noChangeShapeType="1"/>
            </p:cNvSpPr>
            <p:nvPr/>
          </p:nvSpPr>
          <p:spPr bwMode="auto">
            <a:xfrm>
              <a:off x="1776"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3" name="Line 110"/>
            <p:cNvSpPr>
              <a:spLocks noChangeShapeType="1"/>
            </p:cNvSpPr>
            <p:nvPr/>
          </p:nvSpPr>
          <p:spPr bwMode="auto">
            <a:xfrm flipH="1">
              <a:off x="1824" y="1680"/>
              <a:ext cx="48"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4" name="Line 111"/>
            <p:cNvSpPr>
              <a:spLocks noChangeShapeType="1"/>
            </p:cNvSpPr>
            <p:nvPr/>
          </p:nvSpPr>
          <p:spPr bwMode="auto">
            <a:xfrm>
              <a:off x="3120"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5" name="Line 112"/>
            <p:cNvSpPr>
              <a:spLocks noChangeShapeType="1"/>
            </p:cNvSpPr>
            <p:nvPr/>
          </p:nvSpPr>
          <p:spPr bwMode="auto">
            <a:xfrm>
              <a:off x="3312"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6" name="Line 113"/>
            <p:cNvSpPr>
              <a:spLocks noChangeShapeType="1"/>
            </p:cNvSpPr>
            <p:nvPr/>
          </p:nvSpPr>
          <p:spPr bwMode="auto">
            <a:xfrm>
              <a:off x="3552"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7" name="Line 114"/>
            <p:cNvSpPr>
              <a:spLocks noChangeShapeType="1"/>
            </p:cNvSpPr>
            <p:nvPr/>
          </p:nvSpPr>
          <p:spPr bwMode="auto">
            <a:xfrm>
              <a:off x="3744" y="1488"/>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8" name="Line 115"/>
            <p:cNvSpPr>
              <a:spLocks noChangeShapeType="1"/>
            </p:cNvSpPr>
            <p:nvPr/>
          </p:nvSpPr>
          <p:spPr bwMode="auto">
            <a:xfrm flipH="1">
              <a:off x="2976" y="1632"/>
              <a:ext cx="96" cy="43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69" name="Line 116"/>
            <p:cNvSpPr>
              <a:spLocks noChangeShapeType="1"/>
            </p:cNvSpPr>
            <p:nvPr/>
          </p:nvSpPr>
          <p:spPr bwMode="auto">
            <a:xfrm>
              <a:off x="1392"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0" name="Line 117"/>
            <p:cNvSpPr>
              <a:spLocks noChangeShapeType="1"/>
            </p:cNvSpPr>
            <p:nvPr/>
          </p:nvSpPr>
          <p:spPr bwMode="auto">
            <a:xfrm>
              <a:off x="1584"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1" name="Line 118"/>
            <p:cNvSpPr>
              <a:spLocks noChangeShapeType="1"/>
            </p:cNvSpPr>
            <p:nvPr/>
          </p:nvSpPr>
          <p:spPr bwMode="auto">
            <a:xfrm>
              <a:off x="1824"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2" name="Line 119"/>
            <p:cNvSpPr>
              <a:spLocks noChangeShapeType="1"/>
            </p:cNvSpPr>
            <p:nvPr/>
          </p:nvSpPr>
          <p:spPr bwMode="auto">
            <a:xfrm>
              <a:off x="2016"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3" name="Line 120"/>
            <p:cNvSpPr>
              <a:spLocks noChangeShapeType="1"/>
            </p:cNvSpPr>
            <p:nvPr/>
          </p:nvSpPr>
          <p:spPr bwMode="auto">
            <a:xfrm>
              <a:off x="2880"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4" name="Line 121"/>
            <p:cNvSpPr>
              <a:spLocks noChangeShapeType="1"/>
            </p:cNvSpPr>
            <p:nvPr/>
          </p:nvSpPr>
          <p:spPr bwMode="auto">
            <a:xfrm>
              <a:off x="3072"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5" name="Line 122"/>
            <p:cNvSpPr>
              <a:spLocks noChangeShapeType="1"/>
            </p:cNvSpPr>
            <p:nvPr/>
          </p:nvSpPr>
          <p:spPr bwMode="auto">
            <a:xfrm>
              <a:off x="3312"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6" name="Line 123"/>
            <p:cNvSpPr>
              <a:spLocks noChangeShapeType="1"/>
            </p:cNvSpPr>
            <p:nvPr/>
          </p:nvSpPr>
          <p:spPr bwMode="auto">
            <a:xfrm>
              <a:off x="3504" y="2064"/>
              <a:ext cx="0" cy="2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7" name="Line 124"/>
            <p:cNvSpPr>
              <a:spLocks noChangeShapeType="1"/>
            </p:cNvSpPr>
            <p:nvPr/>
          </p:nvSpPr>
          <p:spPr bwMode="auto">
            <a:xfrm flipH="1" flipV="1">
              <a:off x="1968" y="1776"/>
              <a:ext cx="144" cy="432"/>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8" name="Line 125"/>
            <p:cNvSpPr>
              <a:spLocks noChangeShapeType="1"/>
            </p:cNvSpPr>
            <p:nvPr/>
          </p:nvSpPr>
          <p:spPr bwMode="auto">
            <a:xfrm flipH="1" flipV="1">
              <a:off x="1968" y="1680"/>
              <a:ext cx="816" cy="528"/>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79" name="Line 126"/>
            <p:cNvSpPr>
              <a:spLocks noChangeShapeType="1"/>
            </p:cNvSpPr>
            <p:nvPr/>
          </p:nvSpPr>
          <p:spPr bwMode="auto">
            <a:xfrm flipV="1">
              <a:off x="3552" y="1776"/>
              <a:ext cx="192" cy="48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80" name="Text Box 127"/>
            <p:cNvSpPr txBox="1">
              <a:spLocks noChangeArrowheads="1"/>
            </p:cNvSpPr>
            <p:nvPr/>
          </p:nvSpPr>
          <p:spPr bwMode="auto">
            <a:xfrm>
              <a:off x="1248" y="8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err="1">
                  <a:latin typeface="Times New Roman" panose="02020603050405020304" pitchFamily="18" charset="0"/>
                  <a:ea typeface="华文楷体" panose="02010600040101010101" pitchFamily="2" charset="-122"/>
                </a:rPr>
                <a:t>bt</a:t>
              </a:r>
              <a:endParaRPr lang="en-US" altLang="zh-CN" sz="2400" dirty="0">
                <a:latin typeface="Times New Roman" panose="02020603050405020304" pitchFamily="18" charset="0"/>
                <a:ea typeface="华文楷体" panose="02010600040101010101" pitchFamily="2" charset="-122"/>
              </a:endParaRPr>
            </a:p>
          </p:txBody>
        </p:sp>
        <p:sp>
          <p:nvSpPr>
            <p:cNvPr id="37981" name="Line 128"/>
            <p:cNvSpPr>
              <a:spLocks noChangeShapeType="1"/>
            </p:cNvSpPr>
            <p:nvPr/>
          </p:nvSpPr>
          <p:spPr bwMode="auto">
            <a:xfrm>
              <a:off x="1488" y="1008"/>
              <a:ext cx="48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82" name="Text Box 129"/>
            <p:cNvSpPr txBox="1">
              <a:spLocks noChangeArrowheads="1"/>
            </p:cNvSpPr>
            <p:nvPr/>
          </p:nvSpPr>
          <p:spPr bwMode="auto">
            <a:xfrm>
              <a:off x="1104" y="480"/>
              <a:ext cx="26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zh-CN" altLang="en-US" sz="2400" dirty="0">
                  <a:latin typeface="Times New Roman" panose="02020603050405020304" pitchFamily="18" charset="0"/>
                  <a:ea typeface="华文楷体" panose="02010600040101010101" pitchFamily="2" charset="-122"/>
                </a:rPr>
                <a:t>后序线索二叉树         </a:t>
              </a:r>
              <a:r>
                <a:rPr lang="en-US" altLang="zh-CN" sz="2400" dirty="0">
                  <a:latin typeface="Times New Roman" panose="02020603050405020304" pitchFamily="18" charset="0"/>
                  <a:ea typeface="华文楷体" panose="02010600040101010101" pitchFamily="2" charset="-122"/>
                </a:rPr>
                <a:t>DBECA</a:t>
              </a:r>
              <a:endParaRPr lang="en-US" altLang="zh-CN" sz="2400" dirty="0">
                <a:latin typeface="Times New Roman" panose="02020603050405020304" pitchFamily="18" charset="0"/>
                <a:ea typeface="华文楷体" panose="02010600040101010101" pitchFamily="2" charset="-122"/>
              </a:endParaRPr>
            </a:p>
          </p:txBody>
        </p:sp>
        <p:sp>
          <p:nvSpPr>
            <p:cNvPr id="37983" name="Line 130"/>
            <p:cNvSpPr>
              <a:spLocks noChangeShapeType="1"/>
            </p:cNvSpPr>
            <p:nvPr/>
          </p:nvSpPr>
          <p:spPr bwMode="auto">
            <a:xfrm>
              <a:off x="1008" y="1680"/>
              <a:ext cx="288" cy="384"/>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7984" name="Line 131"/>
            <p:cNvSpPr>
              <a:spLocks noChangeShapeType="1"/>
            </p:cNvSpPr>
            <p:nvPr/>
          </p:nvSpPr>
          <p:spPr bwMode="auto">
            <a:xfrm flipH="1" flipV="1">
              <a:off x="2976" y="1008"/>
              <a:ext cx="864" cy="576"/>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4871"/>
                                        </p:tgtEl>
                                        <p:attrNameLst>
                                          <p:attrName>style.visibility</p:attrName>
                                        </p:attrNameLst>
                                      </p:cBhvr>
                                      <p:to>
                                        <p:strVal val="visible"/>
                                      </p:to>
                                    </p:set>
                                    <p:anim calcmode="lin" valueType="num">
                                      <p:cBhvr additive="base">
                                        <p:cTn id="7" dur="500" fill="hold"/>
                                        <p:tgtEl>
                                          <p:spTgt spid="34871"/>
                                        </p:tgtEl>
                                        <p:attrNameLst>
                                          <p:attrName>ppt_x</p:attrName>
                                        </p:attrNameLst>
                                      </p:cBhvr>
                                      <p:tavLst>
                                        <p:tav tm="0">
                                          <p:val>
                                            <p:strVal val="1+#ppt_w/2"/>
                                          </p:val>
                                        </p:tav>
                                        <p:tav tm="100000">
                                          <p:val>
                                            <p:strVal val="#ppt_x"/>
                                          </p:val>
                                        </p:tav>
                                      </p:tavLst>
                                    </p:anim>
                                    <p:anim calcmode="lin" valueType="num">
                                      <p:cBhvr additive="base">
                                        <p:cTn id="8" dur="500" fill="hold"/>
                                        <p:tgtEl>
                                          <p:spTgt spid="3487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4909"/>
                                        </p:tgtEl>
                                        <p:attrNameLst>
                                          <p:attrName>style.visibility</p:attrName>
                                        </p:attrNameLst>
                                      </p:cBhvr>
                                      <p:to>
                                        <p:strVal val="visible"/>
                                      </p:to>
                                    </p:set>
                                    <p:anim calcmode="lin" valueType="num">
                                      <p:cBhvr additive="base">
                                        <p:cTn id="13" dur="500" fill="hold"/>
                                        <p:tgtEl>
                                          <p:spTgt spid="34909"/>
                                        </p:tgtEl>
                                        <p:attrNameLst>
                                          <p:attrName>ppt_x</p:attrName>
                                        </p:attrNameLst>
                                      </p:cBhvr>
                                      <p:tavLst>
                                        <p:tav tm="0">
                                          <p:val>
                                            <p:strVal val="1+#ppt_w/2"/>
                                          </p:val>
                                        </p:tav>
                                        <p:tav tm="100000">
                                          <p:val>
                                            <p:strVal val="#ppt_x"/>
                                          </p:val>
                                        </p:tav>
                                      </p:tavLst>
                                    </p:anim>
                                    <p:anim calcmode="lin" valueType="num">
                                      <p:cBhvr additive="base">
                                        <p:cTn id="14" dur="500" fill="hold"/>
                                        <p:tgtEl>
                                          <p:spTgt spid="3490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0"/>
          </p:nvPr>
        </p:nvSpPr>
        <p:spPr/>
        <p:txBody>
          <a:bodyPr/>
          <a:lstStyle/>
          <a:p>
            <a:pPr>
              <a:defRPr/>
            </a:pPr>
            <a:r>
              <a:rPr lang="en-US" altLang="zh-CN"/>
              <a:t>BUPT SCST</a:t>
            </a:r>
            <a:endParaRPr lang="en-US" altLang="zh-CN"/>
          </a:p>
        </p:txBody>
      </p:sp>
      <p:sp>
        <p:nvSpPr>
          <p:cNvPr id="18" name="日期占位符 5"/>
          <p:cNvSpPr>
            <a:spLocks noGrp="1"/>
          </p:cNvSpPr>
          <p:nvPr>
            <p:ph type="dt" sz="quarter" idx="12"/>
          </p:nvPr>
        </p:nvSpPr>
        <p:spPr/>
        <p:txBody>
          <a:bodyPr/>
          <a:lstStyle/>
          <a:p>
            <a:pPr>
              <a:defRPr/>
            </a:pPr>
            <a:r>
              <a:rPr lang="en-US" altLang="zh-CN"/>
              <a:t>BUPT</a:t>
            </a:r>
            <a:endParaRPr lang="en-US" altLang="zh-CN"/>
          </a:p>
        </p:txBody>
      </p:sp>
      <p:sp>
        <p:nvSpPr>
          <p:cNvPr id="3891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8917"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800" b="1" dirty="0" smtClean="0">
                <a:solidFill>
                  <a:srgbClr val="800000"/>
                </a:solidFill>
                <a:ea typeface="华文楷体" panose="02010600040101010101" pitchFamily="2" charset="-122"/>
              </a:rPr>
              <a:t>[</a:t>
            </a:r>
            <a:r>
              <a:rPr lang="zh-CN" altLang="en-US" sz="2800" b="1" dirty="0" smtClean="0">
                <a:solidFill>
                  <a:srgbClr val="800000"/>
                </a:solidFill>
                <a:ea typeface="华文楷体" panose="02010600040101010101" pitchFamily="2" charset="-122"/>
              </a:rPr>
              <a:t>查找结点</a:t>
            </a:r>
            <a:r>
              <a:rPr lang="en-US" altLang="zh-CN" sz="2800" b="1" dirty="0" smtClean="0">
                <a:solidFill>
                  <a:srgbClr val="800000"/>
                </a:solidFill>
                <a:ea typeface="华文楷体" panose="02010600040101010101" pitchFamily="2" charset="-122"/>
              </a:rPr>
              <a:t>p-&gt;</a:t>
            </a:r>
            <a:r>
              <a:rPr lang="zh-CN" altLang="en-US" sz="2800" b="1" dirty="0" smtClean="0">
                <a:solidFill>
                  <a:srgbClr val="800000"/>
                </a:solidFill>
                <a:ea typeface="华文楷体" panose="02010600040101010101" pitchFamily="2" charset="-122"/>
              </a:rPr>
              <a:t>在指定次序下的前驱 </a:t>
            </a:r>
            <a:r>
              <a:rPr lang="en-US" altLang="zh-CN" sz="2800" b="1" dirty="0" smtClean="0">
                <a:solidFill>
                  <a:srgbClr val="800000"/>
                </a:solidFill>
                <a:ea typeface="华文楷体" panose="02010600040101010101" pitchFamily="2" charset="-122"/>
              </a:rPr>
              <a:t>/</a:t>
            </a:r>
            <a:r>
              <a:rPr lang="zh-CN" altLang="en-US" sz="2800" b="1" dirty="0" smtClean="0">
                <a:solidFill>
                  <a:srgbClr val="800000"/>
                </a:solidFill>
                <a:ea typeface="华文楷体" panose="02010600040101010101" pitchFamily="2" charset="-122"/>
              </a:rPr>
              <a:t>后继结点</a:t>
            </a:r>
            <a:r>
              <a:rPr lang="en-US" altLang="zh-CN" sz="2800" b="1" dirty="0" smtClean="0">
                <a:solidFill>
                  <a:srgbClr val="800000"/>
                </a:solidFill>
                <a:ea typeface="华文楷体" panose="02010600040101010101" pitchFamily="2" charset="-122"/>
              </a:rPr>
              <a:t>]</a:t>
            </a:r>
            <a:endParaRPr lang="en-US" altLang="zh-CN" sz="2800" b="1" dirty="0" smtClean="0">
              <a:solidFill>
                <a:srgbClr val="800000"/>
              </a:solidFill>
              <a:ea typeface="华文楷体" panose="02010600040101010101" pitchFamily="2" charset="-122"/>
            </a:endParaRPr>
          </a:p>
          <a:p>
            <a:pPr eaLnBrk="1" hangingPunct="1"/>
            <a:r>
              <a:rPr lang="zh-CN" altLang="en-US" sz="2400" b="1" dirty="0" smtClean="0">
                <a:solidFill>
                  <a:srgbClr val="CC6600"/>
                </a:solidFill>
                <a:ea typeface="华文楷体" panose="02010600040101010101" pitchFamily="2" charset="-122"/>
              </a:rPr>
              <a:t>中序线索二叉树</a:t>
            </a:r>
            <a:endParaRPr lang="zh-CN" altLang="en-US" sz="2400" b="1" dirty="0" smtClean="0">
              <a:solidFill>
                <a:srgbClr val="CC6600"/>
              </a:solidFill>
              <a:ea typeface="华文楷体" panose="02010600040101010101" pitchFamily="2" charset="-122"/>
            </a:endParaRPr>
          </a:p>
          <a:p>
            <a:pPr lvl="1" eaLnBrk="1" hangingPunct="1"/>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的后继</a:t>
            </a:r>
            <a:endParaRPr lang="zh-CN" altLang="zh-CN"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rtag</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，则</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rc</a:t>
            </a:r>
            <a:r>
              <a:rPr lang="zh-CN" altLang="en-US" sz="2400" dirty="0" smtClean="0">
                <a:ea typeface="华文楷体" panose="02010600040101010101" pitchFamily="2" charset="-122"/>
              </a:rPr>
              <a:t>即为所求；</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rtag</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，则从其右子沿着左链走到</a:t>
            </a:r>
            <a:r>
              <a:rPr lang="en-US" altLang="zh-CN" sz="2400" dirty="0" err="1" smtClean="0">
                <a:ea typeface="华文楷体" panose="02010600040101010101" pitchFamily="2" charset="-122"/>
              </a:rPr>
              <a:t>lTag</a:t>
            </a:r>
            <a:r>
              <a:rPr lang="en-US" altLang="zh-CN" sz="2400" dirty="0" smtClean="0">
                <a:ea typeface="华文楷体" panose="02010600040101010101" pitchFamily="2" charset="-122"/>
              </a:rPr>
              <a:t>=1</a:t>
            </a:r>
            <a:endParaRPr lang="en-US" altLang="zh-CN" sz="2400" dirty="0" smtClean="0">
              <a:ea typeface="华文楷体" panose="02010600040101010101" pitchFamily="2" charset="-122"/>
            </a:endParaRPr>
          </a:p>
          <a:p>
            <a:pPr lvl="1"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的那个结点就是。</a:t>
            </a:r>
            <a:endParaRPr lang="zh-CN" altLang="en-US" sz="2400" dirty="0" smtClean="0">
              <a:ea typeface="华文楷体" panose="02010600040101010101" pitchFamily="2" charset="-122"/>
            </a:endParaRPr>
          </a:p>
          <a:p>
            <a:pPr lvl="1" eaLnBrk="1" hangingPunct="1"/>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的前</a:t>
            </a:r>
            <a:r>
              <a:rPr lang="zh-CN" altLang="en-US" sz="2400" dirty="0" smtClean="0">
                <a:ea typeface="华文楷体" panose="02010600040101010101" pitchFamily="2" charset="-122"/>
              </a:rPr>
              <a:t>驱</a:t>
            </a:r>
            <a:endParaRPr lang="zh-CN" altLang="zh-CN"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ltag</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，则</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lc</a:t>
            </a:r>
            <a:r>
              <a:rPr lang="zh-CN" altLang="en-US" sz="2400" dirty="0" smtClean="0">
                <a:ea typeface="华文楷体" panose="02010600040101010101" pitchFamily="2" charset="-122"/>
              </a:rPr>
              <a:t>即为所求；</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ltag</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，则从其左子沿着右链走到</a:t>
            </a:r>
            <a:r>
              <a:rPr lang="en-US" altLang="zh-CN" sz="2400" dirty="0" err="1" smtClean="0">
                <a:ea typeface="华文楷体" panose="02010600040101010101" pitchFamily="2" charset="-122"/>
              </a:rPr>
              <a:t>rtag</a:t>
            </a:r>
            <a:r>
              <a:rPr lang="en-US" altLang="zh-CN" sz="2400" dirty="0" smtClean="0">
                <a:ea typeface="华文楷体" panose="02010600040101010101" pitchFamily="2" charset="-122"/>
              </a:rPr>
              <a:t>=1</a:t>
            </a:r>
            <a:endParaRPr lang="en-US" altLang="zh-CN" sz="2400" dirty="0" smtClean="0">
              <a:ea typeface="华文楷体" panose="02010600040101010101" pitchFamily="2" charset="-122"/>
            </a:endParaRPr>
          </a:p>
          <a:p>
            <a:pPr lvl="1"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的那个结点就是。</a:t>
            </a:r>
            <a:endParaRPr lang="zh-CN" altLang="en-US" sz="2400" dirty="0" smtClean="0">
              <a:ea typeface="华文楷体" panose="02010600040101010101" pitchFamily="2" charset="-122"/>
            </a:endParaRPr>
          </a:p>
        </p:txBody>
      </p:sp>
      <p:sp>
        <p:nvSpPr>
          <p:cNvPr id="38918" name="Oval 4"/>
          <p:cNvSpPr>
            <a:spLocks noChangeArrowheads="1"/>
          </p:cNvSpPr>
          <p:nvPr/>
        </p:nvSpPr>
        <p:spPr bwMode="auto">
          <a:xfrm>
            <a:off x="7924800" y="17526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8919" name="AutoShape 5"/>
          <p:cNvSpPr>
            <a:spLocks noChangeArrowheads="1"/>
          </p:cNvSpPr>
          <p:nvPr/>
        </p:nvSpPr>
        <p:spPr bwMode="auto">
          <a:xfrm>
            <a:off x="7315200" y="2209800"/>
            <a:ext cx="533400" cy="685800"/>
          </a:xfrm>
          <a:prstGeom prst="parallelogram">
            <a:avLst>
              <a:gd name="adj" fmla="val 25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8920" name="Line 6"/>
          <p:cNvSpPr>
            <a:spLocks noChangeShapeType="1"/>
          </p:cNvSpPr>
          <p:nvPr/>
        </p:nvSpPr>
        <p:spPr bwMode="auto">
          <a:xfrm>
            <a:off x="8382000" y="2209800"/>
            <a:ext cx="381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1" name="Line 7"/>
          <p:cNvSpPr>
            <a:spLocks noChangeShapeType="1"/>
          </p:cNvSpPr>
          <p:nvPr/>
        </p:nvSpPr>
        <p:spPr bwMode="auto">
          <a:xfrm>
            <a:off x="8763000" y="2209800"/>
            <a:ext cx="2286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2" name="Line 8"/>
          <p:cNvSpPr>
            <a:spLocks noChangeShapeType="1"/>
          </p:cNvSpPr>
          <p:nvPr/>
        </p:nvSpPr>
        <p:spPr bwMode="auto">
          <a:xfrm>
            <a:off x="8382000" y="2209800"/>
            <a:ext cx="2286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3" name="Line 9"/>
          <p:cNvSpPr>
            <a:spLocks noChangeShapeType="1"/>
          </p:cNvSpPr>
          <p:nvPr/>
        </p:nvSpPr>
        <p:spPr bwMode="auto">
          <a:xfrm>
            <a:off x="8610600" y="2895600"/>
            <a:ext cx="381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4" name="Line 10"/>
          <p:cNvSpPr>
            <a:spLocks noChangeShapeType="1"/>
          </p:cNvSpPr>
          <p:nvPr/>
        </p:nvSpPr>
        <p:spPr bwMode="auto">
          <a:xfrm flipH="1">
            <a:off x="7696200" y="1981200"/>
            <a:ext cx="228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5" name="Line 11"/>
          <p:cNvSpPr>
            <a:spLocks noChangeShapeType="1"/>
          </p:cNvSpPr>
          <p:nvPr/>
        </p:nvSpPr>
        <p:spPr bwMode="auto">
          <a:xfrm>
            <a:off x="8229600" y="1981200"/>
            <a:ext cx="304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6" name="Line 12"/>
          <p:cNvSpPr>
            <a:spLocks noChangeShapeType="1"/>
          </p:cNvSpPr>
          <p:nvPr/>
        </p:nvSpPr>
        <p:spPr bwMode="auto">
          <a:xfrm>
            <a:off x="7010400" y="3048000"/>
            <a:ext cx="762000" cy="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7" name="Line 13"/>
          <p:cNvSpPr>
            <a:spLocks noChangeShapeType="1"/>
          </p:cNvSpPr>
          <p:nvPr/>
        </p:nvSpPr>
        <p:spPr bwMode="auto">
          <a:xfrm>
            <a:off x="8534400" y="3048000"/>
            <a:ext cx="457200" cy="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8" name="Line 14"/>
          <p:cNvSpPr>
            <a:spLocks noChangeShapeType="1"/>
          </p:cNvSpPr>
          <p:nvPr/>
        </p:nvSpPr>
        <p:spPr bwMode="auto">
          <a:xfrm>
            <a:off x="8001000" y="2286000"/>
            <a:ext cx="228600" cy="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8929" name="Text Box 15"/>
          <p:cNvSpPr txBox="1">
            <a:spLocks noChangeArrowheads="1"/>
          </p:cNvSpPr>
          <p:nvPr/>
        </p:nvSpPr>
        <p:spPr bwMode="auto">
          <a:xfrm>
            <a:off x="7620000" y="1600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p</a:t>
            </a:r>
            <a:endParaRPr lang="en-US" altLang="zh-CN" sz="2400" dirty="0">
              <a:latin typeface="Times New Roman" panose="02020603050405020304" pitchFamily="18" charset="0"/>
              <a:ea typeface="华文楷体" panose="02010600040101010101" pitchFamily="2" charset="-122"/>
            </a:endParaRPr>
          </a:p>
        </p:txBody>
      </p:sp>
      <p:sp>
        <p:nvSpPr>
          <p:cNvPr id="38930" name="Freeform 16"/>
          <p:cNvSpPr>
            <a:spLocks noChangeArrowheads="1"/>
          </p:cNvSpPr>
          <p:nvPr/>
        </p:nvSpPr>
        <p:spPr bwMode="auto">
          <a:xfrm>
            <a:off x="8001000" y="990600"/>
            <a:ext cx="76200" cy="762000"/>
          </a:xfrm>
          <a:custGeom>
            <a:avLst/>
            <a:gdLst>
              <a:gd name="T0" fmla="*/ 0 w 48"/>
              <a:gd name="T1" fmla="*/ 0 h 480"/>
              <a:gd name="T2" fmla="*/ 120967500 w 48"/>
              <a:gd name="T3" fmla="*/ 362902500 h 480"/>
              <a:gd name="T4" fmla="*/ 0 w 48"/>
              <a:gd name="T5" fmla="*/ 725805000 h 480"/>
              <a:gd name="T6" fmla="*/ 120967500 w 48"/>
              <a:gd name="T7" fmla="*/ 120967500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480">
                <a:moveTo>
                  <a:pt x="0" y="0"/>
                </a:moveTo>
                <a:cubicBezTo>
                  <a:pt x="24" y="48"/>
                  <a:pt x="48" y="96"/>
                  <a:pt x="48" y="144"/>
                </a:cubicBezTo>
                <a:cubicBezTo>
                  <a:pt x="48" y="192"/>
                  <a:pt x="0" y="232"/>
                  <a:pt x="0" y="288"/>
                </a:cubicBezTo>
                <a:cubicBezTo>
                  <a:pt x="0" y="344"/>
                  <a:pt x="40" y="448"/>
                  <a:pt x="48" y="48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页脚占位符 3"/>
          <p:cNvSpPr>
            <a:spLocks noGrp="1"/>
          </p:cNvSpPr>
          <p:nvPr>
            <p:ph type="ftr" sz="quarter" idx="10"/>
          </p:nvPr>
        </p:nvSpPr>
        <p:spPr/>
        <p:txBody>
          <a:bodyPr/>
          <a:lstStyle/>
          <a:p>
            <a:pPr>
              <a:defRPr/>
            </a:pPr>
            <a:r>
              <a:rPr lang="en-US" altLang="zh-CN"/>
              <a:t>BUPT SCST</a:t>
            </a:r>
            <a:endParaRPr lang="en-US" altLang="zh-CN"/>
          </a:p>
        </p:txBody>
      </p:sp>
      <p:sp>
        <p:nvSpPr>
          <p:cNvPr id="17" name="日期占位符 5"/>
          <p:cNvSpPr>
            <a:spLocks noGrp="1"/>
          </p:cNvSpPr>
          <p:nvPr>
            <p:ph type="dt" sz="quarter" idx="12"/>
          </p:nvPr>
        </p:nvSpPr>
        <p:spPr/>
        <p:txBody>
          <a:bodyPr/>
          <a:lstStyle/>
          <a:p>
            <a:pPr>
              <a:defRPr/>
            </a:pPr>
            <a:r>
              <a:rPr lang="en-US" altLang="zh-CN"/>
              <a:t>BUPT</a:t>
            </a:r>
            <a:endParaRPr lang="en-US" altLang="zh-CN"/>
          </a:p>
        </p:txBody>
      </p:sp>
      <p:sp>
        <p:nvSpPr>
          <p:cNvPr id="3994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9941" name="Rectangle 3"/>
          <p:cNvSpPr>
            <a:spLocks noGrp="1" noChangeArrowheads="1"/>
          </p:cNvSpPr>
          <p:nvPr>
            <p:ph idx="1"/>
          </p:nvPr>
        </p:nvSpPr>
        <p:spPr/>
        <p:txBody>
          <a:bodyPr/>
          <a:lstStyle/>
          <a:p>
            <a:pPr eaLnBrk="1" hangingPunct="1"/>
            <a:r>
              <a:rPr lang="zh-CN" altLang="en-US" sz="2400" b="1" dirty="0" smtClean="0">
                <a:solidFill>
                  <a:srgbClr val="CC6600"/>
                </a:solidFill>
                <a:ea typeface="华文楷体" panose="02010600040101010101" pitchFamily="2" charset="-122"/>
              </a:rPr>
              <a:t>后序线索二叉树</a:t>
            </a:r>
            <a:endParaRPr lang="zh-CN" altLang="en-US" sz="2400" b="1" dirty="0" smtClean="0">
              <a:solidFill>
                <a:srgbClr val="CC6600"/>
              </a:solidFill>
              <a:ea typeface="华文楷体" panose="02010600040101010101" pitchFamily="2" charset="-122"/>
            </a:endParaRPr>
          </a:p>
          <a:p>
            <a:pPr lvl="1" eaLnBrk="1" hangingPunct="1"/>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的前驱</a:t>
            </a:r>
            <a:endParaRPr lang="zh-CN" altLang="zh-CN"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ltag</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，则</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lc</a:t>
            </a:r>
            <a:r>
              <a:rPr lang="zh-CN" altLang="en-US" sz="2400" dirty="0" smtClean="0">
                <a:ea typeface="华文楷体" panose="02010600040101010101" pitchFamily="2" charset="-122"/>
              </a:rPr>
              <a:t>即为所求；</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ltag</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则若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rtag</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 </a:t>
            </a:r>
            <a:r>
              <a:rPr lang="zh-CN" altLang="zh-CN" sz="2400" dirty="0" smtClean="0">
                <a:ea typeface="华文楷体" panose="02010600040101010101" pitchFamily="2" charset="-122"/>
              </a:rPr>
              <a:t>则</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rc</a:t>
            </a:r>
            <a:r>
              <a:rPr lang="zh-CN" altLang="en-US" sz="2400" dirty="0" smtClean="0">
                <a:ea typeface="华文楷体" panose="02010600040101010101" pitchFamily="2" charset="-122"/>
              </a:rPr>
              <a:t>即为所求</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若</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rtag</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 则</a:t>
            </a:r>
            <a:r>
              <a:rPr lang="en-US" altLang="zh-CN" sz="2400" dirty="0" smtClean="0">
                <a:ea typeface="华文楷体" panose="02010600040101010101" pitchFamily="2" charset="-122"/>
              </a:rPr>
              <a:t>p-&gt;</a:t>
            </a:r>
            <a:r>
              <a:rPr lang="en-US" altLang="zh-CN" sz="2400" dirty="0" err="1" smtClean="0">
                <a:ea typeface="华文楷体" panose="02010600040101010101" pitchFamily="2" charset="-122"/>
              </a:rPr>
              <a:t>lc</a:t>
            </a:r>
            <a:r>
              <a:rPr lang="zh-CN" altLang="en-US" sz="2400" dirty="0" smtClean="0">
                <a:ea typeface="华文楷体" panose="02010600040101010101" pitchFamily="2" charset="-122"/>
              </a:rPr>
              <a:t>即为所求</a:t>
            </a:r>
            <a:endParaRPr lang="en-US" altLang="en-US" sz="2400" dirty="0" smtClean="0"/>
          </a:p>
          <a:p>
            <a:pPr lvl="1" eaLnBrk="1" hangingPunct="1"/>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的后继</a:t>
            </a:r>
            <a:endParaRPr lang="zh-CN" altLang="zh-CN"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与双亲结点有关，因二叉链表中没有指向双亲结点的指针，就可能需通过二叉树的后序遍历才可确定，因而后序线索二叉树在此问题上并不比普通二叉树有效。</a:t>
            </a:r>
            <a:endParaRPr lang="zh-CN" altLang="en-US" sz="2400" dirty="0" smtClean="0">
              <a:ea typeface="华文楷体" panose="02010600040101010101" pitchFamily="2" charset="-122"/>
            </a:endParaRPr>
          </a:p>
          <a:p>
            <a:pPr eaLnBrk="1" hangingPunct="1"/>
            <a:r>
              <a:rPr lang="zh-CN" altLang="en-US" sz="2400" b="1" dirty="0" smtClean="0">
                <a:solidFill>
                  <a:srgbClr val="CC6600"/>
                </a:solidFill>
                <a:ea typeface="华文楷体" panose="02010600040101010101" pitchFamily="2" charset="-122"/>
              </a:rPr>
              <a:t>先序线索二叉树</a:t>
            </a:r>
            <a:r>
              <a:rPr lang="zh-CN" altLang="en-US" sz="2400" dirty="0" smtClean="0">
                <a:solidFill>
                  <a:srgbClr val="FF0066"/>
                </a:solidFill>
                <a:ea typeface="华文楷体" panose="02010600040101010101" pitchFamily="2" charset="-122"/>
              </a:rPr>
              <a:t> </a:t>
            </a:r>
            <a:endParaRPr lang="zh-CN" altLang="en-US" sz="2400" dirty="0" smtClean="0">
              <a:solidFill>
                <a:srgbClr val="FF0066"/>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与后序线索二叉树对偶</a:t>
            </a:r>
            <a:endParaRPr lang="zh-CN" altLang="en-US" sz="2400" dirty="0" smtClean="0">
              <a:ea typeface="华文楷体" panose="02010600040101010101" pitchFamily="2" charset="-122"/>
            </a:endParaRPr>
          </a:p>
        </p:txBody>
      </p:sp>
      <p:sp>
        <p:nvSpPr>
          <p:cNvPr id="39942" name="Oval 4"/>
          <p:cNvSpPr>
            <a:spLocks noChangeArrowheads="1"/>
          </p:cNvSpPr>
          <p:nvPr/>
        </p:nvSpPr>
        <p:spPr bwMode="auto">
          <a:xfrm>
            <a:off x="7391400" y="19812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9943" name="AutoShape 5"/>
          <p:cNvSpPr>
            <a:spLocks noChangeArrowheads="1"/>
          </p:cNvSpPr>
          <p:nvPr/>
        </p:nvSpPr>
        <p:spPr bwMode="auto">
          <a:xfrm>
            <a:off x="6781800" y="2514600"/>
            <a:ext cx="533400" cy="685800"/>
          </a:xfrm>
          <a:prstGeom prst="parallelogram">
            <a:avLst>
              <a:gd name="adj" fmla="val 25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39944" name="Line 6"/>
          <p:cNvSpPr>
            <a:spLocks noChangeShapeType="1"/>
          </p:cNvSpPr>
          <p:nvPr/>
        </p:nvSpPr>
        <p:spPr bwMode="auto">
          <a:xfrm>
            <a:off x="7848600" y="2514600"/>
            <a:ext cx="381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45" name="Line 7"/>
          <p:cNvSpPr>
            <a:spLocks noChangeShapeType="1"/>
          </p:cNvSpPr>
          <p:nvPr/>
        </p:nvSpPr>
        <p:spPr bwMode="auto">
          <a:xfrm>
            <a:off x="8229600" y="2514600"/>
            <a:ext cx="2286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46" name="Line 8"/>
          <p:cNvSpPr>
            <a:spLocks noChangeShapeType="1"/>
          </p:cNvSpPr>
          <p:nvPr/>
        </p:nvSpPr>
        <p:spPr bwMode="auto">
          <a:xfrm>
            <a:off x="7848600" y="2514600"/>
            <a:ext cx="2286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47" name="Line 9"/>
          <p:cNvSpPr>
            <a:spLocks noChangeShapeType="1"/>
          </p:cNvSpPr>
          <p:nvPr/>
        </p:nvSpPr>
        <p:spPr bwMode="auto">
          <a:xfrm>
            <a:off x="8077200" y="3200400"/>
            <a:ext cx="381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48" name="Line 10"/>
          <p:cNvSpPr>
            <a:spLocks noChangeShapeType="1"/>
          </p:cNvSpPr>
          <p:nvPr/>
        </p:nvSpPr>
        <p:spPr bwMode="auto">
          <a:xfrm flipH="1">
            <a:off x="7162800" y="2209800"/>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49" name="Line 11"/>
          <p:cNvSpPr>
            <a:spLocks noChangeShapeType="1"/>
          </p:cNvSpPr>
          <p:nvPr/>
        </p:nvSpPr>
        <p:spPr bwMode="auto">
          <a:xfrm>
            <a:off x="7696200" y="2209800"/>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50" name="Line 12"/>
          <p:cNvSpPr>
            <a:spLocks noChangeShapeType="1"/>
          </p:cNvSpPr>
          <p:nvPr/>
        </p:nvSpPr>
        <p:spPr bwMode="auto">
          <a:xfrm flipV="1">
            <a:off x="7239000" y="2438400"/>
            <a:ext cx="304800" cy="8382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51" name="Line 13"/>
          <p:cNvSpPr>
            <a:spLocks noChangeShapeType="1"/>
          </p:cNvSpPr>
          <p:nvPr/>
        </p:nvSpPr>
        <p:spPr bwMode="auto">
          <a:xfrm flipH="1" flipV="1">
            <a:off x="8153400" y="1981200"/>
            <a:ext cx="533400" cy="12954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52" name="Freeform 14"/>
          <p:cNvSpPr>
            <a:spLocks noChangeArrowheads="1"/>
          </p:cNvSpPr>
          <p:nvPr/>
        </p:nvSpPr>
        <p:spPr bwMode="auto">
          <a:xfrm>
            <a:off x="7467600" y="1295400"/>
            <a:ext cx="165100" cy="685800"/>
          </a:xfrm>
          <a:custGeom>
            <a:avLst/>
            <a:gdLst>
              <a:gd name="T0" fmla="*/ 20161250 w 104"/>
              <a:gd name="T1" fmla="*/ 0 h 432"/>
              <a:gd name="T2" fmla="*/ 141128750 w 104"/>
              <a:gd name="T3" fmla="*/ 362902500 h 432"/>
              <a:gd name="T4" fmla="*/ 20161250 w 104"/>
              <a:gd name="T5" fmla="*/ 725805000 h 432"/>
              <a:gd name="T6" fmla="*/ 262096250 w 104"/>
              <a:gd name="T7" fmla="*/ 1088707500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4" h="432">
                <a:moveTo>
                  <a:pt x="8" y="0"/>
                </a:moveTo>
                <a:cubicBezTo>
                  <a:pt x="32" y="48"/>
                  <a:pt x="56" y="96"/>
                  <a:pt x="56" y="144"/>
                </a:cubicBezTo>
                <a:cubicBezTo>
                  <a:pt x="56" y="192"/>
                  <a:pt x="0" y="240"/>
                  <a:pt x="8" y="288"/>
                </a:cubicBezTo>
                <a:cubicBezTo>
                  <a:pt x="16" y="336"/>
                  <a:pt x="96" y="400"/>
                  <a:pt x="104" y="43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39953" name="Text Box 15"/>
          <p:cNvSpPr txBox="1">
            <a:spLocks noChangeArrowheads="1"/>
          </p:cNvSpPr>
          <p:nvPr/>
        </p:nvSpPr>
        <p:spPr bwMode="auto">
          <a:xfrm>
            <a:off x="7086600" y="1828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p</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页脚占位符 3"/>
          <p:cNvSpPr>
            <a:spLocks noGrp="1"/>
          </p:cNvSpPr>
          <p:nvPr>
            <p:ph type="ftr" sz="quarter" idx="10"/>
          </p:nvPr>
        </p:nvSpPr>
        <p:spPr/>
        <p:txBody>
          <a:bodyPr/>
          <a:lstStyle/>
          <a:p>
            <a:pPr>
              <a:defRPr/>
            </a:pPr>
            <a:r>
              <a:rPr lang="en-US" altLang="zh-CN"/>
              <a:t>BUPT SCST</a:t>
            </a:r>
            <a:endParaRPr lang="en-US" altLang="zh-CN"/>
          </a:p>
        </p:txBody>
      </p:sp>
      <p:sp>
        <p:nvSpPr>
          <p:cNvPr id="33" name="日期占位符 5"/>
          <p:cNvSpPr>
            <a:spLocks noGrp="1"/>
          </p:cNvSpPr>
          <p:nvPr>
            <p:ph type="dt" sz="quarter" idx="12"/>
          </p:nvPr>
        </p:nvSpPr>
        <p:spPr/>
        <p:txBody>
          <a:bodyPr/>
          <a:lstStyle/>
          <a:p>
            <a:pPr>
              <a:defRPr/>
            </a:pPr>
            <a:r>
              <a:rPr lang="en-US" altLang="zh-CN"/>
              <a:t>BUPT</a:t>
            </a:r>
            <a:endParaRPr lang="en-US" altLang="zh-CN"/>
          </a:p>
        </p:txBody>
      </p:sp>
      <p:sp>
        <p:nvSpPr>
          <p:cNvPr id="4096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0965" name="Rectangle 3"/>
          <p:cNvSpPr>
            <a:spLocks noGrp="1" noChangeArrowheads="1"/>
          </p:cNvSpPr>
          <p:nvPr>
            <p:ph idx="1"/>
          </p:nvPr>
        </p:nvSpPr>
        <p:spPr/>
        <p:txBody>
          <a:bodyPr/>
          <a:lstStyle/>
          <a:p>
            <a:pPr eaLnBrk="1" hangingPunct="1">
              <a:lnSpc>
                <a:spcPct val="80000"/>
              </a:lnSpc>
              <a:buFont typeface="Wingdings" panose="05000000000000000000" pitchFamily="2" charset="2"/>
              <a:buNone/>
            </a:pPr>
            <a:r>
              <a:rPr lang="zh-CN" altLang="en-US" sz="2800" b="1" dirty="0" smtClean="0">
                <a:solidFill>
                  <a:srgbClr val="800000"/>
                </a:solidFill>
                <a:ea typeface="华文楷体" panose="02010600040101010101" pitchFamily="2" charset="-122"/>
                <a:sym typeface="Symbol" panose="05050102010706020507" pitchFamily="18" charset="2"/>
              </a:rPr>
              <a:t>二叉树中序线索化</a:t>
            </a:r>
            <a:endParaRPr lang="zh-CN" altLang="en-US" sz="2800" b="1" dirty="0" smtClean="0">
              <a:solidFill>
                <a:srgbClr val="800000"/>
              </a:solidFill>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800" b="1" dirty="0" smtClean="0">
                <a:solidFill>
                  <a:srgbClr val="CC6600"/>
                </a:solidFill>
                <a:ea typeface="华文楷体" panose="02010600040101010101" pitchFamily="2" charset="-122"/>
                <a:sym typeface="Symbol" panose="05050102010706020507" pitchFamily="18" charset="2"/>
              </a:rPr>
              <a:t>[</a:t>
            </a:r>
            <a:r>
              <a:rPr lang="zh-CN" altLang="en-US" sz="2800" b="1" dirty="0" smtClean="0">
                <a:solidFill>
                  <a:srgbClr val="CC6600"/>
                </a:solidFill>
                <a:ea typeface="华文楷体" panose="02010600040101010101" pitchFamily="2" charset="-122"/>
                <a:sym typeface="Symbol" panose="05050102010706020507" pitchFamily="18" charset="2"/>
              </a:rPr>
              <a:t>算法思想</a:t>
            </a:r>
            <a:r>
              <a:rPr lang="en-US" altLang="zh-CN" sz="2800" b="1" dirty="0" smtClean="0">
                <a:solidFill>
                  <a:srgbClr val="CC6600"/>
                </a:solidFill>
                <a:ea typeface="华文楷体" panose="02010600040101010101" pitchFamily="2" charset="-122"/>
                <a:sym typeface="Symbol" panose="05050102010706020507" pitchFamily="18" charset="2"/>
              </a:rPr>
              <a:t>]</a:t>
            </a:r>
            <a:r>
              <a:rPr lang="en-US" altLang="zh-CN" sz="2800" dirty="0" smtClean="0">
                <a:ea typeface="华文楷体" panose="02010600040101010101" pitchFamily="2" charset="-122"/>
                <a:sym typeface="Symbol" panose="05050102010706020507" pitchFamily="18" charset="2"/>
              </a:rPr>
              <a:t>  </a:t>
            </a:r>
            <a:r>
              <a:rPr lang="zh-CN" altLang="en-US" sz="2800" dirty="0" smtClean="0">
                <a:ea typeface="华文楷体" panose="02010600040101010101" pitchFamily="2" charset="-122"/>
                <a:sym typeface="Symbol" panose="05050102010706020507" pitchFamily="18" charset="2"/>
              </a:rPr>
              <a:t>利用中序遍历算法</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800" b="1" dirty="0" smtClean="0">
                <a:solidFill>
                  <a:srgbClr val="CC6600"/>
                </a:solidFill>
                <a:ea typeface="华文楷体" panose="02010600040101010101" pitchFamily="2" charset="-122"/>
                <a:sym typeface="Symbol" panose="05050102010706020507" pitchFamily="18" charset="2"/>
              </a:rPr>
              <a:t>[</a:t>
            </a:r>
            <a:r>
              <a:rPr lang="zh-CN" altLang="en-US" sz="2800" b="1" dirty="0" smtClean="0">
                <a:solidFill>
                  <a:srgbClr val="CC6600"/>
                </a:solidFill>
                <a:ea typeface="华文楷体" panose="02010600040101010101" pitchFamily="2" charset="-122"/>
                <a:sym typeface="Symbol" panose="05050102010706020507" pitchFamily="18" charset="2"/>
              </a:rPr>
              <a:t>算法步骤</a:t>
            </a:r>
            <a:r>
              <a:rPr lang="en-US" altLang="zh-CN" sz="2800" b="1" dirty="0" smtClean="0">
                <a:solidFill>
                  <a:srgbClr val="CC6600"/>
                </a:solidFill>
                <a:ea typeface="华文楷体" panose="02010600040101010101" pitchFamily="2" charset="-122"/>
                <a:sym typeface="Symbol" panose="05050102010706020507" pitchFamily="18" charset="2"/>
              </a:rPr>
              <a:t>]</a:t>
            </a:r>
            <a:r>
              <a:rPr lang="en-US" altLang="zh-CN" sz="2800" dirty="0" smtClean="0">
                <a:ea typeface="华文楷体" panose="02010600040101010101" pitchFamily="2" charset="-122"/>
                <a:sym typeface="Symbol" panose="05050102010706020507" pitchFamily="18" charset="2"/>
              </a:rPr>
              <a:t>  </a:t>
            </a:r>
            <a:endParaRPr lang="en-US" altLang="zh-CN"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dirty="0" smtClean="0">
                <a:ea typeface="华文楷体" panose="02010600040101010101" pitchFamily="2" charset="-122"/>
                <a:sym typeface="Symbol" panose="05050102010706020507" pitchFamily="18" charset="2"/>
              </a:rPr>
              <a:t>      </a:t>
            </a:r>
            <a:r>
              <a:rPr lang="zh-CN" altLang="en-US" sz="2800" dirty="0" smtClean="0">
                <a:ea typeface="华文楷体" panose="02010600040101010101" pitchFamily="2" charset="-122"/>
                <a:sym typeface="Symbol" panose="05050102010706020507" pitchFamily="18" charset="2"/>
              </a:rPr>
              <a:t>若二叉树</a:t>
            </a:r>
            <a:r>
              <a:rPr lang="en-US" altLang="zh-CN" sz="2800" dirty="0" smtClean="0">
                <a:ea typeface="华文楷体" panose="02010600040101010101" pitchFamily="2" charset="-122"/>
                <a:sym typeface="Symbol" panose="05050102010706020507" pitchFamily="18" charset="2"/>
              </a:rPr>
              <a:t>T</a:t>
            </a:r>
            <a:r>
              <a:rPr lang="zh-CN" altLang="en-US" sz="2800" dirty="0" smtClean="0">
                <a:ea typeface="华文楷体" panose="02010600040101010101" pitchFamily="2" charset="-122"/>
                <a:sym typeface="Symbol" panose="05050102010706020507" pitchFamily="18" charset="2"/>
              </a:rPr>
              <a:t>非空，</a:t>
            </a:r>
            <a:endParaRPr lang="zh-CN" altLang="en-US"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1) </a:t>
            </a:r>
            <a:r>
              <a:rPr lang="zh-CN" altLang="en-US" sz="2800" dirty="0" smtClean="0">
                <a:ea typeface="华文楷体" panose="02010600040101010101" pitchFamily="2" charset="-122"/>
                <a:sym typeface="Symbol" panose="05050102010706020507" pitchFamily="18" charset="2"/>
              </a:rPr>
              <a:t>左子树线索化；</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2) </a:t>
            </a:r>
            <a:r>
              <a:rPr lang="zh-CN" altLang="en-US" sz="2800" dirty="0" smtClean="0">
                <a:ea typeface="华文楷体" panose="02010600040101010101" pitchFamily="2" charset="-122"/>
                <a:sym typeface="Symbol" panose="05050102010706020507" pitchFamily="18" charset="2"/>
              </a:rPr>
              <a:t>访问当前结点</a:t>
            </a:r>
            <a:r>
              <a:rPr lang="en-US" altLang="zh-CN" sz="2800" dirty="0" smtClean="0">
                <a:ea typeface="华文楷体" panose="02010600040101010101" pitchFamily="2" charset="-122"/>
                <a:sym typeface="Symbol" panose="05050102010706020507" pitchFamily="18" charset="2"/>
              </a:rPr>
              <a:t>p</a:t>
            </a:r>
            <a:r>
              <a:rPr lang="zh-CN" altLang="en-US" sz="2800" dirty="0" smtClean="0">
                <a:ea typeface="华文楷体" panose="02010600040101010101" pitchFamily="2" charset="-122"/>
                <a:sym typeface="Symbol" panose="05050102010706020507" pitchFamily="18" charset="2"/>
              </a:rPr>
              <a:t>：</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2.1) </a:t>
            </a:r>
            <a:r>
              <a:rPr lang="zh-CN" altLang="en-US" sz="2800" dirty="0" smtClean="0">
                <a:ea typeface="华文楷体" panose="02010600040101010101" pitchFamily="2" charset="-122"/>
                <a:sym typeface="Symbol" panose="05050102010706020507" pitchFamily="18" charset="2"/>
              </a:rPr>
              <a:t>置</a:t>
            </a:r>
            <a:r>
              <a:rPr lang="en-US" altLang="zh-CN" sz="2800" dirty="0" err="1" smtClean="0">
                <a:ea typeface="华文楷体" panose="02010600040101010101" pitchFamily="2" charset="-122"/>
                <a:sym typeface="Symbol" panose="05050102010706020507" pitchFamily="18" charset="2"/>
              </a:rPr>
              <a:t>lTag</a:t>
            </a:r>
            <a:r>
              <a:rPr lang="zh-CN" altLang="en-US" sz="2800" dirty="0" smtClean="0">
                <a:ea typeface="华文楷体" panose="02010600040101010101" pitchFamily="2" charset="-122"/>
                <a:sym typeface="Symbol" panose="05050102010706020507" pitchFamily="18" charset="2"/>
              </a:rPr>
              <a:t>和</a:t>
            </a:r>
            <a:r>
              <a:rPr lang="en-US" altLang="zh-CN" sz="2800" dirty="0" err="1" smtClean="0">
                <a:ea typeface="华文楷体" panose="02010600040101010101" pitchFamily="2" charset="-122"/>
                <a:sym typeface="Symbol" panose="05050102010706020507" pitchFamily="18" charset="2"/>
              </a:rPr>
              <a:t>rTag</a:t>
            </a:r>
            <a:r>
              <a:rPr lang="zh-CN" altLang="en-US" sz="2800" dirty="0" smtClean="0">
                <a:ea typeface="华文楷体" panose="02010600040101010101" pitchFamily="2" charset="-122"/>
                <a:sym typeface="Symbol" panose="05050102010706020507" pitchFamily="18" charset="2"/>
              </a:rPr>
              <a:t>；</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2.2) </a:t>
            </a:r>
            <a:r>
              <a:rPr lang="zh-CN" altLang="en-US" sz="2800" dirty="0" smtClean="0">
                <a:ea typeface="华文楷体" panose="02010600040101010101" pitchFamily="2" charset="-122"/>
                <a:sym typeface="Symbol" panose="05050102010706020507" pitchFamily="18" charset="2"/>
              </a:rPr>
              <a:t>建立</a:t>
            </a:r>
            <a:r>
              <a:rPr lang="en-US" altLang="zh-CN" sz="2800" dirty="0" smtClean="0">
                <a:ea typeface="华文楷体" panose="02010600040101010101" pitchFamily="2" charset="-122"/>
                <a:sym typeface="Symbol" panose="05050102010706020507" pitchFamily="18" charset="2"/>
              </a:rPr>
              <a:t>p</a:t>
            </a:r>
            <a:r>
              <a:rPr lang="zh-CN" altLang="en-US" sz="2800" dirty="0" smtClean="0">
                <a:ea typeface="华文楷体" panose="02010600040101010101" pitchFamily="2" charset="-122"/>
                <a:sym typeface="Symbol" panose="05050102010706020507" pitchFamily="18" charset="2"/>
              </a:rPr>
              <a:t>的前趋</a:t>
            </a:r>
            <a:r>
              <a:rPr lang="en-US" altLang="zh-CN" sz="2800" dirty="0" smtClean="0">
                <a:ea typeface="华文楷体" panose="02010600040101010101" pitchFamily="2" charset="-122"/>
                <a:sym typeface="Symbol" panose="05050102010706020507" pitchFamily="18" charset="2"/>
              </a:rPr>
              <a:t>pre</a:t>
            </a:r>
            <a:r>
              <a:rPr lang="zh-CN" altLang="en-US" sz="2800" dirty="0" smtClean="0">
                <a:ea typeface="华文楷体" panose="02010600040101010101" pitchFamily="2" charset="-122"/>
                <a:sym typeface="Symbol" panose="05050102010706020507" pitchFamily="18" charset="2"/>
              </a:rPr>
              <a:t>的后继线索；</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2.3) </a:t>
            </a:r>
            <a:r>
              <a:rPr lang="zh-CN" altLang="en-US" sz="2800" dirty="0" smtClean="0">
                <a:ea typeface="华文楷体" panose="02010600040101010101" pitchFamily="2" charset="-122"/>
                <a:sym typeface="Symbol" panose="05050102010706020507" pitchFamily="18" charset="2"/>
              </a:rPr>
              <a:t>建立</a:t>
            </a:r>
            <a:r>
              <a:rPr lang="en-US" altLang="zh-CN" sz="2800" dirty="0" smtClean="0">
                <a:ea typeface="华文楷体" panose="02010600040101010101" pitchFamily="2" charset="-122"/>
                <a:sym typeface="Symbol" panose="05050102010706020507" pitchFamily="18" charset="2"/>
              </a:rPr>
              <a:t>p</a:t>
            </a:r>
            <a:r>
              <a:rPr lang="zh-CN" altLang="en-US" sz="2800" dirty="0" smtClean="0">
                <a:ea typeface="华文楷体" panose="02010600040101010101" pitchFamily="2" charset="-122"/>
                <a:sym typeface="Symbol" panose="05050102010706020507" pitchFamily="18" charset="2"/>
              </a:rPr>
              <a:t>的前趋线索</a:t>
            </a:r>
            <a:r>
              <a:rPr lang="en-US" altLang="zh-CN" sz="2800" dirty="0" smtClean="0">
                <a:ea typeface="华文楷体" panose="02010600040101010101" pitchFamily="2" charset="-122"/>
                <a:sym typeface="Symbol" panose="05050102010706020507" pitchFamily="18" charset="2"/>
              </a:rPr>
              <a:t>;</a:t>
            </a:r>
            <a:endParaRPr lang="en-US" altLang="zh-CN"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800" dirty="0" smtClean="0">
                <a:ea typeface="华文楷体" panose="02010600040101010101" pitchFamily="2" charset="-122"/>
                <a:sym typeface="Symbol" panose="05050102010706020507" pitchFamily="18" charset="2"/>
              </a:rPr>
              <a:t>       2.4) </a:t>
            </a:r>
            <a:r>
              <a:rPr lang="zh-CN" altLang="en-US" sz="2800" dirty="0" smtClean="0">
                <a:ea typeface="华文楷体" panose="02010600040101010101" pitchFamily="2" charset="-122"/>
                <a:sym typeface="Symbol" panose="05050102010706020507" pitchFamily="18" charset="2"/>
              </a:rPr>
              <a:t>将</a:t>
            </a:r>
            <a:r>
              <a:rPr lang="en-US" altLang="zh-CN" sz="2800" dirty="0" smtClean="0">
                <a:ea typeface="华文楷体" panose="02010600040101010101" pitchFamily="2" charset="-122"/>
                <a:sym typeface="Symbol" panose="05050102010706020507" pitchFamily="18" charset="2"/>
              </a:rPr>
              <a:t>p</a:t>
            </a:r>
            <a:r>
              <a:rPr lang="zh-CN" altLang="en-US" sz="2800" dirty="0" smtClean="0">
                <a:ea typeface="华文楷体" panose="02010600040101010101" pitchFamily="2" charset="-122"/>
                <a:sym typeface="Symbol" panose="05050102010706020507" pitchFamily="18" charset="2"/>
              </a:rPr>
              <a:t>作为下一个被访问结点的前趋结点</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3) </a:t>
            </a:r>
            <a:r>
              <a:rPr lang="zh-CN" altLang="en-US" sz="2800" dirty="0" smtClean="0">
                <a:ea typeface="华文楷体" panose="02010600040101010101" pitchFamily="2" charset="-122"/>
                <a:sym typeface="Symbol" panose="05050102010706020507" pitchFamily="18" charset="2"/>
              </a:rPr>
              <a:t>右子树线索化；</a:t>
            </a:r>
            <a:endParaRPr lang="zh-CN" altLang="en-US" sz="28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endParaRPr lang="en-US" altLang="zh-CN" sz="2800" dirty="0" smtClean="0">
              <a:ea typeface="华文楷体" panose="02010600040101010101" pitchFamily="2" charset="-122"/>
            </a:endParaRPr>
          </a:p>
        </p:txBody>
      </p:sp>
      <p:sp>
        <p:nvSpPr>
          <p:cNvPr id="40966" name="Oval 4"/>
          <p:cNvSpPr>
            <a:spLocks noChangeArrowheads="1"/>
          </p:cNvSpPr>
          <p:nvPr/>
        </p:nvSpPr>
        <p:spPr bwMode="auto">
          <a:xfrm>
            <a:off x="5181600" y="2743200"/>
            <a:ext cx="381000" cy="3810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0967" name="Freeform 5"/>
          <p:cNvSpPr>
            <a:spLocks noChangeArrowheads="1"/>
          </p:cNvSpPr>
          <p:nvPr/>
        </p:nvSpPr>
        <p:spPr bwMode="auto">
          <a:xfrm>
            <a:off x="4610100" y="3429000"/>
            <a:ext cx="304800" cy="749300"/>
          </a:xfrm>
          <a:custGeom>
            <a:avLst/>
            <a:gdLst>
              <a:gd name="T0" fmla="*/ 423386250 w 192"/>
              <a:gd name="T1" fmla="*/ 0 h 472"/>
              <a:gd name="T2" fmla="*/ 60483750 w 192"/>
              <a:gd name="T3" fmla="*/ 483870000 h 472"/>
              <a:gd name="T4" fmla="*/ 60483750 w 192"/>
              <a:gd name="T5" fmla="*/ 1088707500 h 472"/>
              <a:gd name="T6" fmla="*/ 423386250 w 192"/>
              <a:gd name="T7" fmla="*/ 1088707500 h 472"/>
              <a:gd name="T8" fmla="*/ 423386250 w 192"/>
              <a:gd name="T9" fmla="*/ 483870000 h 472"/>
              <a:gd name="T10" fmla="*/ 423386250 w 192"/>
              <a:gd name="T11" fmla="*/ 0 h 4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2" h="472">
                <a:moveTo>
                  <a:pt x="168" y="0"/>
                </a:moveTo>
                <a:cubicBezTo>
                  <a:pt x="144" y="0"/>
                  <a:pt x="48" y="120"/>
                  <a:pt x="24" y="192"/>
                </a:cubicBezTo>
                <a:cubicBezTo>
                  <a:pt x="0" y="264"/>
                  <a:pt x="0" y="392"/>
                  <a:pt x="24" y="432"/>
                </a:cubicBezTo>
                <a:cubicBezTo>
                  <a:pt x="48" y="472"/>
                  <a:pt x="144" y="472"/>
                  <a:pt x="168" y="432"/>
                </a:cubicBezTo>
                <a:cubicBezTo>
                  <a:pt x="192" y="392"/>
                  <a:pt x="160" y="256"/>
                  <a:pt x="168" y="192"/>
                </a:cubicBezTo>
                <a:cubicBezTo>
                  <a:pt x="176" y="128"/>
                  <a:pt x="192" y="0"/>
                  <a:pt x="168" y="0"/>
                </a:cubicBezTo>
                <a:close/>
              </a:path>
            </a:pathLst>
          </a:custGeom>
          <a:solidFill>
            <a:schemeClr val="accent1"/>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68" name="Freeform 6"/>
          <p:cNvSpPr>
            <a:spLocks noChangeArrowheads="1"/>
          </p:cNvSpPr>
          <p:nvPr/>
        </p:nvSpPr>
        <p:spPr bwMode="auto">
          <a:xfrm flipH="1">
            <a:off x="5791200" y="3429000"/>
            <a:ext cx="304800" cy="749300"/>
          </a:xfrm>
          <a:custGeom>
            <a:avLst/>
            <a:gdLst>
              <a:gd name="T0" fmla="*/ 423386250 w 192"/>
              <a:gd name="T1" fmla="*/ 0 h 472"/>
              <a:gd name="T2" fmla="*/ 60483750 w 192"/>
              <a:gd name="T3" fmla="*/ 483870000 h 472"/>
              <a:gd name="T4" fmla="*/ 60483750 w 192"/>
              <a:gd name="T5" fmla="*/ 1088707500 h 472"/>
              <a:gd name="T6" fmla="*/ 423386250 w 192"/>
              <a:gd name="T7" fmla="*/ 1088707500 h 472"/>
              <a:gd name="T8" fmla="*/ 423386250 w 192"/>
              <a:gd name="T9" fmla="*/ 483870000 h 472"/>
              <a:gd name="T10" fmla="*/ 423386250 w 192"/>
              <a:gd name="T11" fmla="*/ 0 h 4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2" h="472">
                <a:moveTo>
                  <a:pt x="168" y="0"/>
                </a:moveTo>
                <a:cubicBezTo>
                  <a:pt x="144" y="0"/>
                  <a:pt x="48" y="120"/>
                  <a:pt x="24" y="192"/>
                </a:cubicBezTo>
                <a:cubicBezTo>
                  <a:pt x="0" y="264"/>
                  <a:pt x="0" y="392"/>
                  <a:pt x="24" y="432"/>
                </a:cubicBezTo>
                <a:cubicBezTo>
                  <a:pt x="48" y="472"/>
                  <a:pt x="144" y="472"/>
                  <a:pt x="168" y="432"/>
                </a:cubicBezTo>
                <a:cubicBezTo>
                  <a:pt x="192" y="392"/>
                  <a:pt x="160" y="256"/>
                  <a:pt x="168" y="192"/>
                </a:cubicBezTo>
                <a:cubicBezTo>
                  <a:pt x="176" y="128"/>
                  <a:pt x="192" y="0"/>
                  <a:pt x="168" y="0"/>
                </a:cubicBezTo>
                <a:close/>
              </a:path>
            </a:pathLst>
          </a:custGeom>
          <a:solidFill>
            <a:schemeClr val="accent1"/>
          </a:solidFill>
          <a:ln w="9525">
            <a:solidFill>
              <a:schemeClr val="tx1"/>
            </a:solidFill>
            <a:round/>
          </a:ln>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69" name="Line 7"/>
          <p:cNvSpPr>
            <a:spLocks noChangeShapeType="1"/>
          </p:cNvSpPr>
          <p:nvPr/>
        </p:nvSpPr>
        <p:spPr bwMode="auto">
          <a:xfrm flipH="1">
            <a:off x="4876800" y="31242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70" name="Line 8"/>
          <p:cNvSpPr>
            <a:spLocks noChangeShapeType="1"/>
          </p:cNvSpPr>
          <p:nvPr/>
        </p:nvSpPr>
        <p:spPr bwMode="auto">
          <a:xfrm>
            <a:off x="5486400" y="30480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71" name="Line 9"/>
          <p:cNvSpPr>
            <a:spLocks noChangeShapeType="1"/>
          </p:cNvSpPr>
          <p:nvPr/>
        </p:nvSpPr>
        <p:spPr bwMode="auto">
          <a:xfrm flipH="1">
            <a:off x="5334000" y="2133600"/>
            <a:ext cx="152400" cy="6096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72" name="Oval 10"/>
          <p:cNvSpPr>
            <a:spLocks noChangeArrowheads="1"/>
          </p:cNvSpPr>
          <p:nvPr/>
        </p:nvSpPr>
        <p:spPr bwMode="auto">
          <a:xfrm>
            <a:off x="7391400" y="22098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0973" name="Text Box 11"/>
          <p:cNvSpPr txBox="1">
            <a:spLocks noChangeArrowheads="1"/>
          </p:cNvSpPr>
          <p:nvPr/>
        </p:nvSpPr>
        <p:spPr bwMode="auto">
          <a:xfrm>
            <a:off x="7315200" y="21336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40974" name="Oval 12"/>
          <p:cNvSpPr>
            <a:spLocks noChangeArrowheads="1"/>
          </p:cNvSpPr>
          <p:nvPr/>
        </p:nvSpPr>
        <p:spPr bwMode="auto">
          <a:xfrm>
            <a:off x="6705600" y="2895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0975" name="Text Box 13"/>
          <p:cNvSpPr txBox="1">
            <a:spLocks noChangeArrowheads="1"/>
          </p:cNvSpPr>
          <p:nvPr/>
        </p:nvSpPr>
        <p:spPr bwMode="auto">
          <a:xfrm>
            <a:off x="6705600" y="2819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a:t>
            </a:r>
            <a:endParaRPr lang="en-US" altLang="zh-CN" sz="2400" dirty="0">
              <a:latin typeface="Times New Roman" panose="02020603050405020304" pitchFamily="18" charset="0"/>
              <a:ea typeface="华文楷体" panose="02010600040101010101" pitchFamily="2" charset="-122"/>
            </a:endParaRPr>
          </a:p>
        </p:txBody>
      </p:sp>
      <p:sp>
        <p:nvSpPr>
          <p:cNvPr id="40976" name="Oval 14"/>
          <p:cNvSpPr>
            <a:spLocks noChangeArrowheads="1"/>
          </p:cNvSpPr>
          <p:nvPr/>
        </p:nvSpPr>
        <p:spPr bwMode="auto">
          <a:xfrm>
            <a:off x="8001000" y="2895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0977" name="Text Box 15"/>
          <p:cNvSpPr txBox="1">
            <a:spLocks noChangeArrowheads="1"/>
          </p:cNvSpPr>
          <p:nvPr/>
        </p:nvSpPr>
        <p:spPr bwMode="auto">
          <a:xfrm>
            <a:off x="8001000" y="2819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a:t>
            </a:r>
            <a:endParaRPr lang="en-US" altLang="zh-CN" sz="2400" dirty="0">
              <a:latin typeface="Times New Roman" panose="02020603050405020304" pitchFamily="18" charset="0"/>
              <a:ea typeface="华文楷体" panose="02010600040101010101" pitchFamily="2" charset="-122"/>
            </a:endParaRPr>
          </a:p>
        </p:txBody>
      </p:sp>
      <p:sp>
        <p:nvSpPr>
          <p:cNvPr id="40978" name="Oval 16"/>
          <p:cNvSpPr>
            <a:spLocks noChangeArrowheads="1"/>
          </p:cNvSpPr>
          <p:nvPr/>
        </p:nvSpPr>
        <p:spPr bwMode="auto">
          <a:xfrm>
            <a:off x="7010400" y="3657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0979" name="Text Box 17"/>
          <p:cNvSpPr txBox="1">
            <a:spLocks noChangeArrowheads="1"/>
          </p:cNvSpPr>
          <p:nvPr/>
        </p:nvSpPr>
        <p:spPr bwMode="auto">
          <a:xfrm>
            <a:off x="7010400" y="3581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a:t>
            </a:r>
            <a:endParaRPr lang="en-US" altLang="zh-CN" sz="2400" dirty="0">
              <a:latin typeface="Times New Roman" panose="02020603050405020304" pitchFamily="18" charset="0"/>
              <a:ea typeface="华文楷体" panose="02010600040101010101" pitchFamily="2" charset="-122"/>
            </a:endParaRPr>
          </a:p>
        </p:txBody>
      </p:sp>
      <p:sp>
        <p:nvSpPr>
          <p:cNvPr id="40980" name="Oval 18"/>
          <p:cNvSpPr>
            <a:spLocks noChangeArrowheads="1"/>
          </p:cNvSpPr>
          <p:nvPr/>
        </p:nvSpPr>
        <p:spPr bwMode="auto">
          <a:xfrm>
            <a:off x="7620000" y="3657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0981" name="Text Box 19"/>
          <p:cNvSpPr txBox="1">
            <a:spLocks noChangeArrowheads="1"/>
          </p:cNvSpPr>
          <p:nvPr/>
        </p:nvSpPr>
        <p:spPr bwMode="auto">
          <a:xfrm>
            <a:off x="7620000" y="3581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40982" name="Line 20"/>
          <p:cNvSpPr>
            <a:spLocks noChangeShapeType="1"/>
          </p:cNvSpPr>
          <p:nvPr/>
        </p:nvSpPr>
        <p:spPr bwMode="auto">
          <a:xfrm flipH="1">
            <a:off x="7010400" y="2514600"/>
            <a:ext cx="4572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83" name="Line 21"/>
          <p:cNvSpPr>
            <a:spLocks noChangeShapeType="1"/>
          </p:cNvSpPr>
          <p:nvPr/>
        </p:nvSpPr>
        <p:spPr bwMode="auto">
          <a:xfrm>
            <a:off x="7696200" y="25146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84" name="Line 22"/>
          <p:cNvSpPr>
            <a:spLocks noChangeShapeType="1"/>
          </p:cNvSpPr>
          <p:nvPr/>
        </p:nvSpPr>
        <p:spPr bwMode="auto">
          <a:xfrm>
            <a:off x="6934200" y="3276600"/>
            <a:ext cx="2286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85" name="Line 23"/>
          <p:cNvSpPr>
            <a:spLocks noChangeShapeType="1"/>
          </p:cNvSpPr>
          <p:nvPr/>
        </p:nvSpPr>
        <p:spPr bwMode="auto">
          <a:xfrm flipH="1">
            <a:off x="7848600" y="3276600"/>
            <a:ext cx="2286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86" name="Text Box 24"/>
          <p:cNvSpPr txBox="1">
            <a:spLocks noChangeArrowheads="1"/>
          </p:cNvSpPr>
          <p:nvPr/>
        </p:nvSpPr>
        <p:spPr bwMode="auto">
          <a:xfrm>
            <a:off x="6934200" y="44196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BDAEC</a:t>
            </a:r>
            <a:endParaRPr lang="en-US" altLang="zh-CN" sz="2400" dirty="0">
              <a:latin typeface="Times New Roman" panose="02020603050405020304" pitchFamily="18" charset="0"/>
              <a:ea typeface="华文楷体" panose="02010600040101010101" pitchFamily="2" charset="-122"/>
            </a:endParaRPr>
          </a:p>
        </p:txBody>
      </p:sp>
      <p:sp>
        <p:nvSpPr>
          <p:cNvPr id="40987" name="Freeform 25"/>
          <p:cNvSpPr>
            <a:spLocks noChangeArrowheads="1"/>
          </p:cNvSpPr>
          <p:nvPr/>
        </p:nvSpPr>
        <p:spPr bwMode="auto">
          <a:xfrm>
            <a:off x="6324600" y="3200400"/>
            <a:ext cx="381000" cy="228600"/>
          </a:xfrm>
          <a:custGeom>
            <a:avLst/>
            <a:gdLst>
              <a:gd name="T0" fmla="*/ 432026786 w 336"/>
              <a:gd name="T1" fmla="*/ 0 h 192"/>
              <a:gd name="T2" fmla="*/ 308590723 w 336"/>
              <a:gd name="T3" fmla="*/ 272176875 h 192"/>
              <a:gd name="T4" fmla="*/ 0 w 336"/>
              <a:gd name="T5" fmla="*/ 0 h 192"/>
              <a:gd name="T6" fmla="*/ 0 60000 65536"/>
              <a:gd name="T7" fmla="*/ 0 60000 65536"/>
              <a:gd name="T8" fmla="*/ 0 60000 65536"/>
            </a:gdLst>
            <a:ahLst/>
            <a:cxnLst>
              <a:cxn ang="T6">
                <a:pos x="T0" y="T1"/>
              </a:cxn>
              <a:cxn ang="T7">
                <a:pos x="T2" y="T3"/>
              </a:cxn>
              <a:cxn ang="T8">
                <a:pos x="T4" y="T5"/>
              </a:cxn>
            </a:cxnLst>
            <a:rect l="0" t="0" r="r" b="b"/>
            <a:pathLst>
              <a:path w="336" h="192">
                <a:moveTo>
                  <a:pt x="336" y="0"/>
                </a:moveTo>
                <a:cubicBezTo>
                  <a:pt x="316" y="96"/>
                  <a:pt x="296" y="192"/>
                  <a:pt x="240" y="192"/>
                </a:cubicBezTo>
                <a:cubicBezTo>
                  <a:pt x="184" y="192"/>
                  <a:pt x="48" y="32"/>
                  <a:pt x="0" y="0"/>
                </a:cubicBezTo>
              </a:path>
            </a:pathLst>
          </a:custGeom>
          <a:noFill/>
          <a:ln w="9525">
            <a:solidFill>
              <a:srgbClr val="FF33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88" name="Text Box 26"/>
          <p:cNvSpPr txBox="1">
            <a:spLocks noChangeArrowheads="1"/>
          </p:cNvSpPr>
          <p:nvPr/>
        </p:nvSpPr>
        <p:spPr bwMode="auto">
          <a:xfrm>
            <a:off x="5943600" y="2819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nil</a:t>
            </a:r>
            <a:endParaRPr lang="en-US" altLang="zh-CN" sz="2400" dirty="0">
              <a:latin typeface="Times New Roman" panose="02020603050405020304" pitchFamily="18" charset="0"/>
              <a:ea typeface="华文楷体" panose="02010600040101010101" pitchFamily="2" charset="-122"/>
            </a:endParaRPr>
          </a:p>
        </p:txBody>
      </p:sp>
      <p:sp>
        <p:nvSpPr>
          <p:cNvPr id="40989" name="Freeform 27"/>
          <p:cNvSpPr>
            <a:spLocks noChangeArrowheads="1"/>
          </p:cNvSpPr>
          <p:nvPr/>
        </p:nvSpPr>
        <p:spPr bwMode="auto">
          <a:xfrm>
            <a:off x="6858000" y="3276600"/>
            <a:ext cx="228600" cy="1041400"/>
          </a:xfrm>
          <a:custGeom>
            <a:avLst/>
            <a:gdLst>
              <a:gd name="T0" fmla="*/ 362902500 w 144"/>
              <a:gd name="T1" fmla="*/ 1209675000 h 656"/>
              <a:gd name="T2" fmla="*/ 120967500 w 144"/>
              <a:gd name="T3" fmla="*/ 1451610000 h 656"/>
              <a:gd name="T4" fmla="*/ 0 w 144"/>
              <a:gd name="T5" fmla="*/ 0 h 656"/>
              <a:gd name="T6" fmla="*/ 0 60000 65536"/>
              <a:gd name="T7" fmla="*/ 0 60000 65536"/>
              <a:gd name="T8" fmla="*/ 0 60000 65536"/>
            </a:gdLst>
            <a:ahLst/>
            <a:cxnLst>
              <a:cxn ang="T6">
                <a:pos x="T0" y="T1"/>
              </a:cxn>
              <a:cxn ang="T7">
                <a:pos x="T2" y="T3"/>
              </a:cxn>
              <a:cxn ang="T8">
                <a:pos x="T4" y="T5"/>
              </a:cxn>
            </a:cxnLst>
            <a:rect l="0" t="0" r="r" b="b"/>
            <a:pathLst>
              <a:path w="144" h="656">
                <a:moveTo>
                  <a:pt x="144" y="480"/>
                </a:moveTo>
                <a:cubicBezTo>
                  <a:pt x="108" y="568"/>
                  <a:pt x="72" y="656"/>
                  <a:pt x="48" y="576"/>
                </a:cubicBezTo>
                <a:cubicBezTo>
                  <a:pt x="24" y="496"/>
                  <a:pt x="8" y="96"/>
                  <a:pt x="0" y="0"/>
                </a:cubicBezTo>
              </a:path>
            </a:pathLst>
          </a:custGeom>
          <a:noFill/>
          <a:ln w="9525">
            <a:solidFill>
              <a:srgbClr val="FF33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90" name="Freeform 28"/>
          <p:cNvSpPr>
            <a:spLocks noChangeArrowheads="1"/>
          </p:cNvSpPr>
          <p:nvPr/>
        </p:nvSpPr>
        <p:spPr bwMode="auto">
          <a:xfrm>
            <a:off x="7315200" y="2590800"/>
            <a:ext cx="228600" cy="1841500"/>
          </a:xfrm>
          <a:custGeom>
            <a:avLst/>
            <a:gdLst>
              <a:gd name="T0" fmla="*/ 0 w 144"/>
              <a:gd name="T1" fmla="*/ 2147483646 h 1160"/>
              <a:gd name="T2" fmla="*/ 120967500 w 144"/>
              <a:gd name="T3" fmla="*/ 2147483646 h 1160"/>
              <a:gd name="T4" fmla="*/ 362902500 w 144"/>
              <a:gd name="T5" fmla="*/ 0 h 1160"/>
              <a:gd name="T6" fmla="*/ 0 60000 65536"/>
              <a:gd name="T7" fmla="*/ 0 60000 65536"/>
              <a:gd name="T8" fmla="*/ 0 60000 65536"/>
            </a:gdLst>
            <a:ahLst/>
            <a:cxnLst>
              <a:cxn ang="T6">
                <a:pos x="T0" y="T1"/>
              </a:cxn>
              <a:cxn ang="T7">
                <a:pos x="T2" y="T3"/>
              </a:cxn>
              <a:cxn ang="T8">
                <a:pos x="T4" y="T5"/>
              </a:cxn>
            </a:cxnLst>
            <a:rect l="0" t="0" r="r" b="b"/>
            <a:pathLst>
              <a:path w="144" h="1160">
                <a:moveTo>
                  <a:pt x="0" y="912"/>
                </a:moveTo>
                <a:cubicBezTo>
                  <a:pt x="12" y="1036"/>
                  <a:pt x="24" y="1160"/>
                  <a:pt x="48" y="1008"/>
                </a:cubicBezTo>
                <a:cubicBezTo>
                  <a:pt x="72" y="856"/>
                  <a:pt x="108" y="428"/>
                  <a:pt x="144" y="0"/>
                </a:cubicBezTo>
              </a:path>
            </a:pathLst>
          </a:custGeom>
          <a:noFill/>
          <a:ln w="9525">
            <a:solidFill>
              <a:srgbClr val="FF33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91" name="Freeform 29"/>
          <p:cNvSpPr>
            <a:spLocks noChangeArrowheads="1"/>
          </p:cNvSpPr>
          <p:nvPr/>
        </p:nvSpPr>
        <p:spPr bwMode="auto">
          <a:xfrm>
            <a:off x="7594600" y="2590800"/>
            <a:ext cx="177800" cy="1917700"/>
          </a:xfrm>
          <a:custGeom>
            <a:avLst/>
            <a:gdLst>
              <a:gd name="T0" fmla="*/ 282257500 w 112"/>
              <a:gd name="T1" fmla="*/ 2147483646 h 1208"/>
              <a:gd name="T2" fmla="*/ 40322500 w 112"/>
              <a:gd name="T3" fmla="*/ 2147483646 h 1208"/>
              <a:gd name="T4" fmla="*/ 40322500 w 112"/>
              <a:gd name="T5" fmla="*/ 0 h 1208"/>
              <a:gd name="T6" fmla="*/ 0 60000 65536"/>
              <a:gd name="T7" fmla="*/ 0 60000 65536"/>
              <a:gd name="T8" fmla="*/ 0 60000 65536"/>
            </a:gdLst>
            <a:ahLst/>
            <a:cxnLst>
              <a:cxn ang="T6">
                <a:pos x="T0" y="T1"/>
              </a:cxn>
              <a:cxn ang="T7">
                <a:pos x="T2" y="T3"/>
              </a:cxn>
              <a:cxn ang="T8">
                <a:pos x="T4" y="T5"/>
              </a:cxn>
            </a:cxnLst>
            <a:rect l="0" t="0" r="r" b="b"/>
            <a:pathLst>
              <a:path w="112" h="1208">
                <a:moveTo>
                  <a:pt x="112" y="912"/>
                </a:moveTo>
                <a:cubicBezTo>
                  <a:pt x="72" y="1060"/>
                  <a:pt x="32" y="1208"/>
                  <a:pt x="16" y="1056"/>
                </a:cubicBezTo>
                <a:cubicBezTo>
                  <a:pt x="0" y="904"/>
                  <a:pt x="8" y="452"/>
                  <a:pt x="16" y="0"/>
                </a:cubicBezTo>
              </a:path>
            </a:pathLst>
          </a:custGeom>
          <a:noFill/>
          <a:ln w="9525">
            <a:solidFill>
              <a:srgbClr val="FF33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92" name="Freeform 30"/>
          <p:cNvSpPr>
            <a:spLocks noChangeArrowheads="1"/>
          </p:cNvSpPr>
          <p:nvPr/>
        </p:nvSpPr>
        <p:spPr bwMode="auto">
          <a:xfrm>
            <a:off x="7848600" y="3276600"/>
            <a:ext cx="381000" cy="1193800"/>
          </a:xfrm>
          <a:custGeom>
            <a:avLst/>
            <a:gdLst>
              <a:gd name="T0" fmla="*/ 0 w 240"/>
              <a:gd name="T1" fmla="*/ 1209675000 h 752"/>
              <a:gd name="T2" fmla="*/ 241935000 w 240"/>
              <a:gd name="T3" fmla="*/ 1693545000 h 752"/>
              <a:gd name="T4" fmla="*/ 604837500 w 240"/>
              <a:gd name="T5" fmla="*/ 0 h 752"/>
              <a:gd name="T6" fmla="*/ 0 60000 65536"/>
              <a:gd name="T7" fmla="*/ 0 60000 65536"/>
              <a:gd name="T8" fmla="*/ 0 60000 65536"/>
            </a:gdLst>
            <a:ahLst/>
            <a:cxnLst>
              <a:cxn ang="T6">
                <a:pos x="T0" y="T1"/>
              </a:cxn>
              <a:cxn ang="T7">
                <a:pos x="T2" y="T3"/>
              </a:cxn>
              <a:cxn ang="T8">
                <a:pos x="T4" y="T5"/>
              </a:cxn>
            </a:cxnLst>
            <a:rect l="0" t="0" r="r" b="b"/>
            <a:pathLst>
              <a:path w="240" h="752">
                <a:moveTo>
                  <a:pt x="0" y="480"/>
                </a:moveTo>
                <a:cubicBezTo>
                  <a:pt x="28" y="616"/>
                  <a:pt x="56" y="752"/>
                  <a:pt x="96" y="672"/>
                </a:cubicBezTo>
                <a:cubicBezTo>
                  <a:pt x="136" y="592"/>
                  <a:pt x="188" y="296"/>
                  <a:pt x="240" y="0"/>
                </a:cubicBezTo>
              </a:path>
            </a:pathLst>
          </a:custGeom>
          <a:noFill/>
          <a:ln w="9525">
            <a:solidFill>
              <a:srgbClr val="FF33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0993" name="Freeform 31"/>
          <p:cNvSpPr>
            <a:spLocks noChangeArrowheads="1"/>
          </p:cNvSpPr>
          <p:nvPr/>
        </p:nvSpPr>
        <p:spPr bwMode="auto">
          <a:xfrm>
            <a:off x="8305800" y="3200400"/>
            <a:ext cx="381000" cy="317500"/>
          </a:xfrm>
          <a:custGeom>
            <a:avLst/>
            <a:gdLst>
              <a:gd name="T0" fmla="*/ 0 w 240"/>
              <a:gd name="T1" fmla="*/ 120967500 h 200"/>
              <a:gd name="T2" fmla="*/ 241935000 w 240"/>
              <a:gd name="T3" fmla="*/ 483870000 h 200"/>
              <a:gd name="T4" fmla="*/ 604837500 w 240"/>
              <a:gd name="T5" fmla="*/ 0 h 200"/>
              <a:gd name="T6" fmla="*/ 0 60000 65536"/>
              <a:gd name="T7" fmla="*/ 0 60000 65536"/>
              <a:gd name="T8" fmla="*/ 0 60000 65536"/>
            </a:gdLst>
            <a:ahLst/>
            <a:cxnLst>
              <a:cxn ang="T6">
                <a:pos x="T0" y="T1"/>
              </a:cxn>
              <a:cxn ang="T7">
                <a:pos x="T2" y="T3"/>
              </a:cxn>
              <a:cxn ang="T8">
                <a:pos x="T4" y="T5"/>
              </a:cxn>
            </a:cxnLst>
            <a:rect l="0" t="0" r="r" b="b"/>
            <a:pathLst>
              <a:path w="240" h="200">
                <a:moveTo>
                  <a:pt x="0" y="48"/>
                </a:moveTo>
                <a:cubicBezTo>
                  <a:pt x="28" y="124"/>
                  <a:pt x="56" y="200"/>
                  <a:pt x="96" y="192"/>
                </a:cubicBezTo>
                <a:cubicBezTo>
                  <a:pt x="136" y="184"/>
                  <a:pt x="208" y="32"/>
                  <a:pt x="240" y="0"/>
                </a:cubicBezTo>
              </a:path>
            </a:pathLst>
          </a:custGeom>
          <a:noFill/>
          <a:ln w="9525">
            <a:solidFill>
              <a:srgbClr val="FF33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4198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1989" name="Rectangle 3"/>
          <p:cNvSpPr>
            <a:spLocks noGrp="1" noChangeArrowheads="1"/>
          </p:cNvSpPr>
          <p:nvPr>
            <p:ph idx="1"/>
          </p:nvPr>
        </p:nvSpPr>
        <p:spPr>
          <a:xfrm>
            <a:off x="457200" y="1152525"/>
            <a:ext cx="8458086" cy="5248275"/>
          </a:xfrm>
          <a:ln>
            <a:solidFill>
              <a:schemeClr val="accent1"/>
            </a:solidFill>
          </a:ln>
        </p:spPr>
        <p:txBody>
          <a:bodyPr/>
          <a:lstStyle/>
          <a:p>
            <a:pPr eaLnBrk="1" hangingPunct="1">
              <a:lnSpc>
                <a:spcPct val="80000"/>
              </a:lnSpc>
              <a:buFont typeface="Wingdings" panose="05000000000000000000" pitchFamily="2" charset="2"/>
              <a:buNone/>
            </a:pPr>
            <a:r>
              <a:rPr lang="en-US" altLang="zh-CN" sz="1800" b="1" dirty="0" smtClean="0">
                <a:solidFill>
                  <a:schemeClr val="accent2"/>
                </a:solidFill>
                <a:ea typeface="华文楷体" panose="02010600040101010101" pitchFamily="2" charset="-122"/>
              </a:rPr>
              <a:t>[</a:t>
            </a:r>
            <a:r>
              <a:rPr lang="zh-CN" altLang="en-US" sz="1800" b="1" dirty="0" smtClean="0">
                <a:solidFill>
                  <a:schemeClr val="accent2"/>
                </a:solidFill>
                <a:ea typeface="华文楷体" panose="02010600040101010101" pitchFamily="2" charset="-122"/>
              </a:rPr>
              <a:t>算法描述</a:t>
            </a:r>
            <a:r>
              <a:rPr lang="en-US" altLang="zh-CN" sz="1800" b="1" dirty="0" smtClean="0">
                <a:solidFill>
                  <a:schemeClr val="accent2"/>
                </a:solidFill>
                <a:ea typeface="华文楷体" panose="02010600040101010101" pitchFamily="2" charset="-122"/>
              </a:rPr>
              <a:t>]</a:t>
            </a:r>
            <a:endParaRPr lang="en-US" altLang="zh-CN" sz="1800" b="1" dirty="0" smtClean="0">
              <a:solidFill>
                <a:schemeClr val="accent2"/>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void  </a:t>
            </a:r>
            <a:r>
              <a:rPr lang="en-US" altLang="zh-CN" sz="2000" b="1" dirty="0" err="1" smtClean="0">
                <a:solidFill>
                  <a:schemeClr val="accent2"/>
                </a:solidFill>
                <a:ea typeface="华文楷体" panose="02010600040101010101" pitchFamily="2" charset="-122"/>
              </a:rPr>
              <a:t>inthread</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BiThrTree</a:t>
            </a:r>
            <a:r>
              <a:rPr lang="en-US" altLang="zh-CN" sz="2000" dirty="0" smtClean="0">
                <a:ea typeface="华文楷体" panose="02010600040101010101" pitchFamily="2" charset="-122"/>
              </a:rPr>
              <a:t> p)</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     if  (p!=NULL</a:t>
            </a:r>
            <a:r>
              <a:rPr lang="en-US" altLang="zh-CN"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 </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solidFill>
                  <a:schemeClr val="accent2"/>
                </a:solidFill>
                <a:ea typeface="华文楷体" panose="02010600040101010101" pitchFamily="2" charset="-122"/>
                <a:sym typeface="Symbol" panose="05050102010706020507" pitchFamily="18" charset="2"/>
              </a:rPr>
              <a:t>           </a:t>
            </a:r>
            <a:r>
              <a:rPr lang="en-US" altLang="zh-CN" sz="2000" dirty="0" err="1" smtClean="0">
                <a:solidFill>
                  <a:schemeClr val="accent2"/>
                </a:solidFill>
                <a:ea typeface="华文楷体" panose="02010600040101010101" pitchFamily="2" charset="-122"/>
                <a:sym typeface="Symbol" panose="05050102010706020507" pitchFamily="18" charset="2"/>
              </a:rPr>
              <a:t>inthread</a:t>
            </a:r>
            <a:r>
              <a:rPr lang="en-US" altLang="zh-CN" sz="2000" dirty="0" smtClean="0">
                <a:ea typeface="华文楷体" panose="02010600040101010101" pitchFamily="2" charset="-122"/>
                <a:sym typeface="Symbol" panose="05050102010706020507" pitchFamily="18" charset="2"/>
              </a:rPr>
              <a:t>(p-&gt;</a:t>
            </a:r>
            <a:r>
              <a:rPr lang="en-US" altLang="zh-CN" sz="2000" dirty="0" err="1" smtClean="0">
                <a:ea typeface="华文楷体" panose="02010600040101010101" pitchFamily="2" charset="-122"/>
                <a:sym typeface="Symbol" panose="05050102010706020507" pitchFamily="18" charset="2"/>
              </a:rPr>
              <a:t>lc</a:t>
            </a:r>
            <a:r>
              <a:rPr lang="en-US" altLang="zh-CN"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if (p-&gt;</a:t>
            </a:r>
            <a:r>
              <a:rPr lang="en-US" altLang="zh-CN" sz="2000" dirty="0" err="1" smtClean="0">
                <a:ea typeface="华文楷体" panose="02010600040101010101" pitchFamily="2" charset="-122"/>
                <a:sym typeface="Symbol" panose="05050102010706020507" pitchFamily="18" charset="2"/>
              </a:rPr>
              <a:t>lc</a:t>
            </a:r>
            <a:r>
              <a:rPr lang="en-US" altLang="zh-CN" sz="2000" dirty="0" smtClean="0">
                <a:ea typeface="华文楷体" panose="02010600040101010101" pitchFamily="2" charset="-122"/>
                <a:sym typeface="Symbol" panose="05050102010706020507" pitchFamily="18" charset="2"/>
              </a:rPr>
              <a:t> ==NULL) { p-&gt;</a:t>
            </a:r>
            <a:r>
              <a:rPr lang="en-US" altLang="zh-CN" sz="2000" dirty="0" err="1" smtClean="0">
                <a:ea typeface="华文楷体" panose="02010600040101010101" pitchFamily="2" charset="-122"/>
                <a:sym typeface="Symbol" panose="05050102010706020507" pitchFamily="18" charset="2"/>
              </a:rPr>
              <a:t>ltag</a:t>
            </a:r>
            <a:r>
              <a:rPr lang="en-US" altLang="zh-CN" sz="2000" dirty="0" smtClean="0">
                <a:ea typeface="华文楷体" panose="02010600040101010101" pitchFamily="2" charset="-122"/>
                <a:sym typeface="Symbol" panose="05050102010706020507" pitchFamily="18" charset="2"/>
              </a:rPr>
              <a:t>=1; p-&gt;</a:t>
            </a:r>
            <a:r>
              <a:rPr lang="en-US" altLang="zh-CN" sz="2000" dirty="0" err="1" smtClean="0">
                <a:ea typeface="华文楷体" panose="02010600040101010101" pitchFamily="2" charset="-122"/>
                <a:sym typeface="Symbol" panose="05050102010706020507" pitchFamily="18" charset="2"/>
              </a:rPr>
              <a:t>lc</a:t>
            </a:r>
            <a:r>
              <a:rPr lang="en-US" altLang="zh-CN" sz="2000" dirty="0" smtClean="0">
                <a:ea typeface="华文楷体" panose="02010600040101010101" pitchFamily="2" charset="-122"/>
                <a:sym typeface="Symbol" panose="05050102010706020507" pitchFamily="18" charset="2"/>
              </a:rPr>
              <a:t>=pre};</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if (pre ! =NULL) </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if (pre-&gt;</a:t>
            </a:r>
            <a:r>
              <a:rPr lang="en-US" altLang="zh-CN" sz="2000" dirty="0" err="1" smtClean="0">
                <a:ea typeface="华文楷体" panose="02010600040101010101" pitchFamily="2" charset="-122"/>
                <a:sym typeface="Symbol" panose="05050102010706020507" pitchFamily="18" charset="2"/>
              </a:rPr>
              <a:t>rc</a:t>
            </a:r>
            <a:r>
              <a:rPr lang="en-US" altLang="zh-CN" sz="2000" dirty="0" smtClean="0">
                <a:ea typeface="华文楷体" panose="02010600040101010101" pitchFamily="2" charset="-122"/>
                <a:sym typeface="Symbol" panose="05050102010706020507" pitchFamily="18" charset="2"/>
              </a:rPr>
              <a:t>==NULL) </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 </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pre-&gt;</a:t>
            </a:r>
            <a:r>
              <a:rPr lang="en-US" altLang="zh-CN" sz="2000" dirty="0" err="1" smtClean="0">
                <a:ea typeface="华文楷体" panose="02010600040101010101" pitchFamily="2" charset="-122"/>
                <a:sym typeface="Symbol" panose="05050102010706020507" pitchFamily="18" charset="2"/>
              </a:rPr>
              <a:t>rtag</a:t>
            </a:r>
            <a:r>
              <a:rPr lang="en-US" altLang="zh-CN" sz="2000" dirty="0" smtClean="0">
                <a:ea typeface="华文楷体" panose="02010600040101010101" pitchFamily="2" charset="-122"/>
                <a:sym typeface="Symbol" panose="05050102010706020507" pitchFamily="18" charset="2"/>
              </a:rPr>
              <a:t>=1;                                              </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pre-&gt;</a:t>
            </a:r>
            <a:r>
              <a:rPr lang="en-US" altLang="zh-CN" sz="2000" dirty="0" err="1" smtClean="0">
                <a:ea typeface="华文楷体" panose="02010600040101010101" pitchFamily="2" charset="-122"/>
                <a:sym typeface="Symbol" panose="05050102010706020507" pitchFamily="18" charset="2"/>
              </a:rPr>
              <a:t>rc</a:t>
            </a:r>
            <a:r>
              <a:rPr lang="en-US" altLang="zh-CN" sz="2000" dirty="0" smtClean="0">
                <a:ea typeface="华文楷体" panose="02010600040101010101" pitchFamily="2" charset="-122"/>
                <a:sym typeface="Symbol" panose="05050102010706020507" pitchFamily="18" charset="2"/>
              </a:rPr>
              <a:t>=p;</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pre=p;</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            </a:t>
            </a:r>
            <a:r>
              <a:rPr lang="en-US" altLang="zh-CN" sz="2000" dirty="0" smtClean="0">
                <a:solidFill>
                  <a:schemeClr val="accent2"/>
                </a:solidFill>
                <a:ea typeface="华文楷体" panose="02010600040101010101" pitchFamily="2" charset="-122"/>
                <a:sym typeface="Symbol" panose="05050102010706020507" pitchFamily="18" charset="2"/>
              </a:rPr>
              <a:t> </a:t>
            </a:r>
            <a:r>
              <a:rPr lang="en-US" altLang="zh-CN" sz="2000" dirty="0" err="1" smtClean="0">
                <a:solidFill>
                  <a:schemeClr val="accent2"/>
                </a:solidFill>
                <a:ea typeface="华文楷体" panose="02010600040101010101" pitchFamily="2" charset="-122"/>
                <a:sym typeface="Symbol" panose="05050102010706020507" pitchFamily="18" charset="2"/>
              </a:rPr>
              <a:t>inthread</a:t>
            </a:r>
            <a:r>
              <a:rPr lang="en-US" altLang="zh-CN" sz="2000" dirty="0" smtClean="0">
                <a:ea typeface="华文楷体" panose="02010600040101010101" pitchFamily="2" charset="-122"/>
                <a:sym typeface="Symbol" panose="05050102010706020507" pitchFamily="18" charset="2"/>
              </a:rPr>
              <a:t>(p-&gt;</a:t>
            </a:r>
            <a:r>
              <a:rPr lang="en-US" altLang="zh-CN" sz="2000" dirty="0" err="1" smtClean="0">
                <a:ea typeface="华文楷体" panose="02010600040101010101" pitchFamily="2" charset="-122"/>
                <a:sym typeface="Symbol" panose="05050102010706020507" pitchFamily="18" charset="2"/>
              </a:rPr>
              <a:t>rc</a:t>
            </a:r>
            <a:r>
              <a:rPr lang="en-US" altLang="zh-CN"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a:t>
            </a:r>
            <a:endParaRPr lang="en-US" altLang="zh-CN" sz="2000" dirty="0" smtClean="0">
              <a:ea typeface="华文楷体" panose="02010600040101010101" pitchFamily="2" charset="-122"/>
              <a:sym typeface="Symbol" panose="05050102010706020507" pitchFamily="18" charset="2"/>
            </a:endParaRPr>
          </a:p>
        </p:txBody>
      </p:sp>
      <p:sp>
        <p:nvSpPr>
          <p:cNvPr id="41990" name="Text Box 4"/>
          <p:cNvSpPr txBox="1">
            <a:spLocks noChangeArrowheads="1"/>
          </p:cNvSpPr>
          <p:nvPr/>
        </p:nvSpPr>
        <p:spPr bwMode="auto">
          <a:xfrm>
            <a:off x="5867400" y="3886200"/>
            <a:ext cx="2971800" cy="1785104"/>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pre=NULL; </a:t>
            </a:r>
            <a:r>
              <a:rPr lang="en-US" altLang="zh-CN" sz="2000" dirty="0">
                <a:solidFill>
                  <a:schemeClr val="accent2"/>
                </a:solidFill>
                <a:latin typeface="Times New Roman" panose="02020603050405020304" pitchFamily="18" charset="0"/>
                <a:ea typeface="华文楷体" panose="02010600040101010101" pitchFamily="2" charset="-122"/>
              </a:rPr>
              <a:t>{</a:t>
            </a:r>
            <a:r>
              <a:rPr lang="zh-CN" altLang="zh-CN" sz="2000" dirty="0">
                <a:solidFill>
                  <a:schemeClr val="accent2"/>
                </a:solidFill>
                <a:latin typeface="Times New Roman" panose="02020603050405020304" pitchFamily="18" charset="0"/>
                <a:ea typeface="华文楷体" panose="02010600040101010101" pitchFamily="2" charset="-122"/>
              </a:rPr>
              <a:t>全</a:t>
            </a:r>
            <a:r>
              <a:rPr lang="zh-CN" altLang="en-US" sz="2000" dirty="0">
                <a:solidFill>
                  <a:schemeClr val="accent2"/>
                </a:solidFill>
                <a:latin typeface="Times New Roman" panose="02020603050405020304" pitchFamily="18" charset="0"/>
                <a:ea typeface="华文楷体" panose="02010600040101010101" pitchFamily="2" charset="-122"/>
              </a:rPr>
              <a:t>局</a:t>
            </a:r>
            <a:r>
              <a:rPr lang="zh-CN" altLang="zh-CN" sz="2000" dirty="0">
                <a:solidFill>
                  <a:schemeClr val="accent2"/>
                </a:solidFill>
                <a:latin typeface="Times New Roman" panose="02020603050405020304" pitchFamily="18" charset="0"/>
                <a:ea typeface="华文楷体" panose="02010600040101010101" pitchFamily="2" charset="-122"/>
              </a:rPr>
              <a:t>变量</a:t>
            </a:r>
            <a:r>
              <a:rPr lang="en-US" altLang="zh-CN" sz="2000" dirty="0">
                <a:solidFill>
                  <a:schemeClr val="accent2"/>
                </a:solidFill>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r>
              <a:rPr lang="en-US" altLang="zh-CN" sz="2000" dirty="0" err="1">
                <a:latin typeface="Times New Roman" panose="02020603050405020304" pitchFamily="18" charset="0"/>
                <a:ea typeface="华文楷体" panose="02010600040101010101" pitchFamily="2" charset="-122"/>
              </a:rPr>
              <a:t>inthread</a:t>
            </a:r>
            <a:r>
              <a:rPr lang="en-US" altLang="zh-CN" sz="2000" dirty="0">
                <a:latin typeface="Times New Roman" panose="02020603050405020304" pitchFamily="18" charset="0"/>
                <a:ea typeface="华文楷体" panose="02010600040101010101" pitchFamily="2" charset="-122"/>
              </a:rPr>
              <a:t>(</a:t>
            </a:r>
            <a:r>
              <a:rPr lang="en-US" altLang="zh-CN" sz="2000" dirty="0" err="1">
                <a:latin typeface="Times New Roman" panose="02020603050405020304" pitchFamily="18" charset="0"/>
                <a:ea typeface="华文楷体" panose="02010600040101010101" pitchFamily="2" charset="-122"/>
              </a:rPr>
              <a:t>bt</a:t>
            </a: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endParaRPr lang="en-US" altLang="zh-CN" sz="2000" dirty="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页脚占位符 3"/>
          <p:cNvSpPr>
            <a:spLocks noGrp="1"/>
          </p:cNvSpPr>
          <p:nvPr>
            <p:ph type="ftr" sz="quarter" idx="10"/>
          </p:nvPr>
        </p:nvSpPr>
        <p:spPr/>
        <p:txBody>
          <a:bodyPr/>
          <a:lstStyle/>
          <a:p>
            <a:pPr>
              <a:defRPr/>
            </a:pPr>
            <a:r>
              <a:rPr lang="en-US" altLang="zh-CN"/>
              <a:t>BUPT SCST</a:t>
            </a:r>
            <a:endParaRPr lang="en-US" altLang="zh-CN"/>
          </a:p>
        </p:txBody>
      </p:sp>
      <p:sp>
        <p:nvSpPr>
          <p:cNvPr id="58" name="日期占位符 5"/>
          <p:cNvSpPr>
            <a:spLocks noGrp="1"/>
          </p:cNvSpPr>
          <p:nvPr>
            <p:ph type="dt" sz="quarter" idx="12"/>
          </p:nvPr>
        </p:nvSpPr>
        <p:spPr/>
        <p:txBody>
          <a:bodyPr/>
          <a:lstStyle/>
          <a:p>
            <a:pPr>
              <a:defRPr/>
            </a:pPr>
            <a:r>
              <a:rPr lang="en-US" altLang="zh-CN"/>
              <a:t>BUPT</a:t>
            </a:r>
            <a:endParaRPr lang="en-US" altLang="zh-CN"/>
          </a:p>
        </p:txBody>
      </p:sp>
      <p:sp>
        <p:nvSpPr>
          <p:cNvPr id="4301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3013" name="Rectangle 3"/>
          <p:cNvSpPr>
            <a:spLocks noChangeArrowheads="1"/>
          </p:cNvSpPr>
          <p:nvPr/>
        </p:nvSpPr>
        <p:spPr bwMode="auto">
          <a:xfrm>
            <a:off x="304800" y="1143000"/>
            <a:ext cx="7696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b="1">
                <a:solidFill>
                  <a:schemeClr val="accent2"/>
                </a:solidFill>
                <a:latin typeface="楷体_GB2312" pitchFamily="49" charset="-122"/>
                <a:ea typeface="楷体_GB2312" pitchFamily="49" charset="-122"/>
              </a:rPr>
              <a:t>为使用方便，可以为线索二叉树建立头结点，构成双向线索链表（空线索指向该头结点）</a:t>
            </a:r>
            <a:endParaRPr lang="zh-CN" altLang="en-US" sz="2400" b="1">
              <a:solidFill>
                <a:schemeClr val="accent2"/>
              </a:solidFill>
              <a:latin typeface="楷体_GB2312" pitchFamily="49" charset="-122"/>
              <a:ea typeface="楷体_GB2312" pitchFamily="49" charset="-122"/>
            </a:endParaRPr>
          </a:p>
        </p:txBody>
      </p:sp>
      <p:grpSp>
        <p:nvGrpSpPr>
          <p:cNvPr id="43014" name="Group 4"/>
          <p:cNvGrpSpPr/>
          <p:nvPr/>
        </p:nvGrpSpPr>
        <p:grpSpPr bwMode="auto">
          <a:xfrm>
            <a:off x="4114800" y="3065463"/>
            <a:ext cx="1447800" cy="406400"/>
            <a:chOff x="3216" y="3312"/>
            <a:chExt cx="1680" cy="256"/>
          </a:xfrm>
        </p:grpSpPr>
        <p:sp>
          <p:nvSpPr>
            <p:cNvPr id="43062" name="Rectangle 5"/>
            <p:cNvSpPr>
              <a:spLocks noChangeArrowheads="1"/>
            </p:cNvSpPr>
            <p:nvPr/>
          </p:nvSpPr>
          <p:spPr bwMode="auto">
            <a:xfrm>
              <a:off x="3216" y="3312"/>
              <a:ext cx="1680"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     0  A  0</a:t>
              </a:r>
              <a:endParaRPr lang="en-US" altLang="zh-CN" sz="2000" dirty="0">
                <a:latin typeface="Times New Roman" panose="02020603050405020304" pitchFamily="18" charset="0"/>
                <a:ea typeface="华文楷体" panose="02010600040101010101" pitchFamily="2" charset="-122"/>
              </a:endParaRPr>
            </a:p>
          </p:txBody>
        </p:sp>
        <p:sp>
          <p:nvSpPr>
            <p:cNvPr id="43063" name="Line 6"/>
            <p:cNvSpPr>
              <a:spLocks noChangeShapeType="1"/>
            </p:cNvSpPr>
            <p:nvPr/>
          </p:nvSpPr>
          <p:spPr bwMode="auto">
            <a:xfrm>
              <a:off x="3552" y="3312"/>
              <a:ext cx="0" cy="2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64" name="Line 7"/>
            <p:cNvSpPr>
              <a:spLocks noChangeShapeType="1"/>
            </p:cNvSpPr>
            <p:nvPr/>
          </p:nvSpPr>
          <p:spPr bwMode="auto">
            <a:xfrm>
              <a:off x="3888"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65" name="Line 8"/>
            <p:cNvSpPr>
              <a:spLocks noChangeShapeType="1"/>
            </p:cNvSpPr>
            <p:nvPr/>
          </p:nvSpPr>
          <p:spPr bwMode="auto">
            <a:xfrm>
              <a:off x="4224"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66" name="Line 9"/>
            <p:cNvSpPr>
              <a:spLocks noChangeShapeType="1"/>
            </p:cNvSpPr>
            <p:nvPr/>
          </p:nvSpPr>
          <p:spPr bwMode="auto">
            <a:xfrm>
              <a:off x="4560" y="331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nvGrpSpPr>
          <p:cNvPr id="43015" name="Group 10"/>
          <p:cNvGrpSpPr/>
          <p:nvPr/>
        </p:nvGrpSpPr>
        <p:grpSpPr bwMode="auto">
          <a:xfrm>
            <a:off x="2743200" y="3979863"/>
            <a:ext cx="1447800" cy="406400"/>
            <a:chOff x="3216" y="3312"/>
            <a:chExt cx="1680" cy="256"/>
          </a:xfrm>
        </p:grpSpPr>
        <p:sp>
          <p:nvSpPr>
            <p:cNvPr id="43057" name="Rectangle 11"/>
            <p:cNvSpPr>
              <a:spLocks noChangeArrowheads="1"/>
            </p:cNvSpPr>
            <p:nvPr/>
          </p:nvSpPr>
          <p:spPr bwMode="auto">
            <a:xfrm>
              <a:off x="3216" y="3312"/>
              <a:ext cx="1680"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     1  B  0</a:t>
              </a:r>
              <a:endParaRPr lang="en-US" altLang="zh-CN" sz="2000" dirty="0">
                <a:latin typeface="Times New Roman" panose="02020603050405020304" pitchFamily="18" charset="0"/>
                <a:ea typeface="华文楷体" panose="02010600040101010101" pitchFamily="2" charset="-122"/>
              </a:endParaRPr>
            </a:p>
          </p:txBody>
        </p:sp>
        <p:sp>
          <p:nvSpPr>
            <p:cNvPr id="43058" name="Line 12"/>
            <p:cNvSpPr>
              <a:spLocks noChangeShapeType="1"/>
            </p:cNvSpPr>
            <p:nvPr/>
          </p:nvSpPr>
          <p:spPr bwMode="auto">
            <a:xfrm>
              <a:off x="3552" y="3312"/>
              <a:ext cx="0" cy="2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59" name="Line 13"/>
            <p:cNvSpPr>
              <a:spLocks noChangeShapeType="1"/>
            </p:cNvSpPr>
            <p:nvPr/>
          </p:nvSpPr>
          <p:spPr bwMode="auto">
            <a:xfrm>
              <a:off x="3888"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60" name="Line 14"/>
            <p:cNvSpPr>
              <a:spLocks noChangeShapeType="1"/>
            </p:cNvSpPr>
            <p:nvPr/>
          </p:nvSpPr>
          <p:spPr bwMode="auto">
            <a:xfrm>
              <a:off x="4224"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61" name="Line 15"/>
            <p:cNvSpPr>
              <a:spLocks noChangeShapeType="1"/>
            </p:cNvSpPr>
            <p:nvPr/>
          </p:nvSpPr>
          <p:spPr bwMode="auto">
            <a:xfrm>
              <a:off x="4560" y="331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nvGrpSpPr>
          <p:cNvPr id="43016" name="Group 16"/>
          <p:cNvGrpSpPr/>
          <p:nvPr/>
        </p:nvGrpSpPr>
        <p:grpSpPr bwMode="auto">
          <a:xfrm>
            <a:off x="5486400" y="3979863"/>
            <a:ext cx="1447800" cy="406400"/>
            <a:chOff x="3216" y="3312"/>
            <a:chExt cx="1680" cy="256"/>
          </a:xfrm>
        </p:grpSpPr>
        <p:sp>
          <p:nvSpPr>
            <p:cNvPr id="43052" name="Rectangle 17"/>
            <p:cNvSpPr>
              <a:spLocks noChangeArrowheads="1"/>
            </p:cNvSpPr>
            <p:nvPr/>
          </p:nvSpPr>
          <p:spPr bwMode="auto">
            <a:xfrm>
              <a:off x="3216" y="3312"/>
              <a:ext cx="1680"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     0  D  1</a:t>
              </a:r>
              <a:endParaRPr lang="en-US" altLang="zh-CN" sz="2000" dirty="0">
                <a:latin typeface="Times New Roman" panose="02020603050405020304" pitchFamily="18" charset="0"/>
                <a:ea typeface="华文楷体" panose="02010600040101010101" pitchFamily="2" charset="-122"/>
              </a:endParaRPr>
            </a:p>
          </p:txBody>
        </p:sp>
        <p:sp>
          <p:nvSpPr>
            <p:cNvPr id="43053" name="Line 18"/>
            <p:cNvSpPr>
              <a:spLocks noChangeShapeType="1"/>
            </p:cNvSpPr>
            <p:nvPr/>
          </p:nvSpPr>
          <p:spPr bwMode="auto">
            <a:xfrm>
              <a:off x="3552" y="3312"/>
              <a:ext cx="0" cy="2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54" name="Line 19"/>
            <p:cNvSpPr>
              <a:spLocks noChangeShapeType="1"/>
            </p:cNvSpPr>
            <p:nvPr/>
          </p:nvSpPr>
          <p:spPr bwMode="auto">
            <a:xfrm>
              <a:off x="3888"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55" name="Line 20"/>
            <p:cNvSpPr>
              <a:spLocks noChangeShapeType="1"/>
            </p:cNvSpPr>
            <p:nvPr/>
          </p:nvSpPr>
          <p:spPr bwMode="auto">
            <a:xfrm>
              <a:off x="4224"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56" name="Line 21"/>
            <p:cNvSpPr>
              <a:spLocks noChangeShapeType="1"/>
            </p:cNvSpPr>
            <p:nvPr/>
          </p:nvSpPr>
          <p:spPr bwMode="auto">
            <a:xfrm>
              <a:off x="4560" y="331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nvGrpSpPr>
          <p:cNvPr id="43017" name="Group 22"/>
          <p:cNvGrpSpPr/>
          <p:nvPr/>
        </p:nvGrpSpPr>
        <p:grpSpPr bwMode="auto">
          <a:xfrm>
            <a:off x="3276600" y="4970463"/>
            <a:ext cx="1447800" cy="406400"/>
            <a:chOff x="3216" y="3312"/>
            <a:chExt cx="1680" cy="256"/>
          </a:xfrm>
        </p:grpSpPr>
        <p:sp>
          <p:nvSpPr>
            <p:cNvPr id="43047" name="Rectangle 23"/>
            <p:cNvSpPr>
              <a:spLocks noChangeArrowheads="1"/>
            </p:cNvSpPr>
            <p:nvPr/>
          </p:nvSpPr>
          <p:spPr bwMode="auto">
            <a:xfrm>
              <a:off x="3216" y="3312"/>
              <a:ext cx="1680"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     1  C  1</a:t>
              </a:r>
              <a:endParaRPr lang="en-US" altLang="zh-CN" sz="2000" dirty="0">
                <a:latin typeface="Times New Roman" panose="02020603050405020304" pitchFamily="18" charset="0"/>
                <a:ea typeface="华文楷体" panose="02010600040101010101" pitchFamily="2" charset="-122"/>
              </a:endParaRPr>
            </a:p>
          </p:txBody>
        </p:sp>
        <p:sp>
          <p:nvSpPr>
            <p:cNvPr id="43048" name="Line 24"/>
            <p:cNvSpPr>
              <a:spLocks noChangeShapeType="1"/>
            </p:cNvSpPr>
            <p:nvPr/>
          </p:nvSpPr>
          <p:spPr bwMode="auto">
            <a:xfrm>
              <a:off x="3552" y="3312"/>
              <a:ext cx="0" cy="2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49" name="Line 25"/>
            <p:cNvSpPr>
              <a:spLocks noChangeShapeType="1"/>
            </p:cNvSpPr>
            <p:nvPr/>
          </p:nvSpPr>
          <p:spPr bwMode="auto">
            <a:xfrm>
              <a:off x="3888"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50" name="Line 26"/>
            <p:cNvSpPr>
              <a:spLocks noChangeShapeType="1"/>
            </p:cNvSpPr>
            <p:nvPr/>
          </p:nvSpPr>
          <p:spPr bwMode="auto">
            <a:xfrm>
              <a:off x="4224"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51" name="Line 27"/>
            <p:cNvSpPr>
              <a:spLocks noChangeShapeType="1"/>
            </p:cNvSpPr>
            <p:nvPr/>
          </p:nvSpPr>
          <p:spPr bwMode="auto">
            <a:xfrm>
              <a:off x="4560" y="331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nvGrpSpPr>
          <p:cNvPr id="43018" name="Group 28"/>
          <p:cNvGrpSpPr/>
          <p:nvPr/>
        </p:nvGrpSpPr>
        <p:grpSpPr bwMode="auto">
          <a:xfrm>
            <a:off x="4876800" y="4970463"/>
            <a:ext cx="1447800" cy="406400"/>
            <a:chOff x="3216" y="3312"/>
            <a:chExt cx="1680" cy="256"/>
          </a:xfrm>
        </p:grpSpPr>
        <p:sp>
          <p:nvSpPr>
            <p:cNvPr id="43042" name="Rectangle 29"/>
            <p:cNvSpPr>
              <a:spLocks noChangeArrowheads="1"/>
            </p:cNvSpPr>
            <p:nvPr/>
          </p:nvSpPr>
          <p:spPr bwMode="auto">
            <a:xfrm>
              <a:off x="3216" y="3312"/>
              <a:ext cx="1680"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     1  E  1  </a:t>
              </a:r>
              <a:endParaRPr lang="en-US" altLang="zh-CN" sz="2000" dirty="0">
                <a:latin typeface="Times New Roman" panose="02020603050405020304" pitchFamily="18" charset="0"/>
                <a:ea typeface="华文楷体" panose="02010600040101010101" pitchFamily="2" charset="-122"/>
              </a:endParaRPr>
            </a:p>
          </p:txBody>
        </p:sp>
        <p:sp>
          <p:nvSpPr>
            <p:cNvPr id="43043" name="Line 30"/>
            <p:cNvSpPr>
              <a:spLocks noChangeShapeType="1"/>
            </p:cNvSpPr>
            <p:nvPr/>
          </p:nvSpPr>
          <p:spPr bwMode="auto">
            <a:xfrm>
              <a:off x="3552" y="3312"/>
              <a:ext cx="0" cy="2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44" name="Line 31"/>
            <p:cNvSpPr>
              <a:spLocks noChangeShapeType="1"/>
            </p:cNvSpPr>
            <p:nvPr/>
          </p:nvSpPr>
          <p:spPr bwMode="auto">
            <a:xfrm>
              <a:off x="3888"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45" name="Line 32"/>
            <p:cNvSpPr>
              <a:spLocks noChangeShapeType="1"/>
            </p:cNvSpPr>
            <p:nvPr/>
          </p:nvSpPr>
          <p:spPr bwMode="auto">
            <a:xfrm>
              <a:off x="4224"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46" name="Line 33"/>
            <p:cNvSpPr>
              <a:spLocks noChangeShapeType="1"/>
            </p:cNvSpPr>
            <p:nvPr/>
          </p:nvSpPr>
          <p:spPr bwMode="auto">
            <a:xfrm>
              <a:off x="4560" y="331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43019" name="Line 34"/>
          <p:cNvSpPr>
            <a:spLocks noChangeShapeType="1"/>
          </p:cNvSpPr>
          <p:nvPr/>
        </p:nvSpPr>
        <p:spPr bwMode="auto">
          <a:xfrm flipH="1">
            <a:off x="4868863" y="1949450"/>
            <a:ext cx="152400" cy="381000"/>
          </a:xfrm>
          <a:prstGeom prst="line">
            <a:avLst/>
          </a:prstGeom>
          <a:noFill/>
          <a:ln w="3810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0" name="Text Box 35"/>
          <p:cNvSpPr txBox="1">
            <a:spLocks noChangeArrowheads="1"/>
          </p:cNvSpPr>
          <p:nvPr/>
        </p:nvSpPr>
        <p:spPr bwMode="auto">
          <a:xfrm>
            <a:off x="5021263" y="1720850"/>
            <a:ext cx="693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err="1">
                <a:latin typeface="Times New Roman" panose="02020603050405020304" pitchFamily="18" charset="0"/>
                <a:ea typeface="华文楷体" panose="02010600040101010101" pitchFamily="2" charset="-122"/>
              </a:rPr>
              <a:t>thrt</a:t>
            </a:r>
            <a:endParaRPr lang="en-US" altLang="zh-CN" sz="2000" dirty="0">
              <a:latin typeface="Times New Roman" panose="02020603050405020304" pitchFamily="18" charset="0"/>
              <a:ea typeface="华文楷体" panose="02010600040101010101" pitchFamily="2" charset="-122"/>
            </a:endParaRPr>
          </a:p>
        </p:txBody>
      </p:sp>
      <p:sp>
        <p:nvSpPr>
          <p:cNvPr id="43021" name="Line 36"/>
          <p:cNvSpPr>
            <a:spLocks noChangeShapeType="1"/>
          </p:cNvSpPr>
          <p:nvPr/>
        </p:nvSpPr>
        <p:spPr bwMode="auto">
          <a:xfrm flipH="1">
            <a:off x="3581400" y="3294063"/>
            <a:ext cx="685800" cy="6858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2" name="Line 37"/>
          <p:cNvSpPr>
            <a:spLocks noChangeShapeType="1"/>
          </p:cNvSpPr>
          <p:nvPr/>
        </p:nvSpPr>
        <p:spPr bwMode="auto">
          <a:xfrm>
            <a:off x="5486400" y="3370263"/>
            <a:ext cx="762000" cy="6096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3" name="Line 38"/>
          <p:cNvSpPr>
            <a:spLocks noChangeShapeType="1"/>
          </p:cNvSpPr>
          <p:nvPr/>
        </p:nvSpPr>
        <p:spPr bwMode="auto">
          <a:xfrm>
            <a:off x="4038600" y="4284663"/>
            <a:ext cx="304800" cy="6858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4" name="Line 39"/>
          <p:cNvSpPr>
            <a:spLocks noChangeShapeType="1"/>
          </p:cNvSpPr>
          <p:nvPr/>
        </p:nvSpPr>
        <p:spPr bwMode="auto">
          <a:xfrm flipH="1">
            <a:off x="5410200" y="4284663"/>
            <a:ext cx="228600" cy="6858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5" name="Line 40"/>
          <p:cNvSpPr>
            <a:spLocks noChangeShapeType="1"/>
          </p:cNvSpPr>
          <p:nvPr/>
        </p:nvSpPr>
        <p:spPr bwMode="auto">
          <a:xfrm flipH="1" flipV="1">
            <a:off x="3048000" y="4360863"/>
            <a:ext cx="381000" cy="7620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6" name="Line 41"/>
          <p:cNvSpPr>
            <a:spLocks noChangeShapeType="1"/>
          </p:cNvSpPr>
          <p:nvPr/>
        </p:nvSpPr>
        <p:spPr bwMode="auto">
          <a:xfrm flipV="1">
            <a:off x="4572000" y="3446463"/>
            <a:ext cx="0" cy="16002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7" name="Line 42"/>
          <p:cNvSpPr>
            <a:spLocks noChangeShapeType="1"/>
          </p:cNvSpPr>
          <p:nvPr/>
        </p:nvSpPr>
        <p:spPr bwMode="auto">
          <a:xfrm flipV="1">
            <a:off x="5029200" y="3446463"/>
            <a:ext cx="0" cy="16002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8" name="Line 43"/>
          <p:cNvSpPr>
            <a:spLocks noChangeShapeType="1"/>
          </p:cNvSpPr>
          <p:nvPr/>
        </p:nvSpPr>
        <p:spPr bwMode="auto">
          <a:xfrm flipV="1">
            <a:off x="6172200" y="4360863"/>
            <a:ext cx="533400" cy="685800"/>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29" name="Text Box 44"/>
          <p:cNvSpPr txBox="1">
            <a:spLocks noChangeArrowheads="1"/>
          </p:cNvSpPr>
          <p:nvPr/>
        </p:nvSpPr>
        <p:spPr bwMode="auto">
          <a:xfrm>
            <a:off x="3200400" y="5503863"/>
            <a:ext cx="323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zh-CN" sz="2000" dirty="0">
                <a:latin typeface="Times New Roman" panose="02020603050405020304" pitchFamily="18" charset="0"/>
                <a:ea typeface="华文楷体" panose="02010600040101010101" pitchFamily="2" charset="-122"/>
              </a:rPr>
              <a:t>中序序列：</a:t>
            </a:r>
            <a:r>
              <a:rPr lang="en-US" altLang="zh-CN" sz="2000" dirty="0">
                <a:latin typeface="Times New Roman" panose="02020603050405020304" pitchFamily="18" charset="0"/>
                <a:ea typeface="华文楷体" panose="02010600040101010101" pitchFamily="2" charset="-122"/>
              </a:rPr>
              <a:t>BCAED</a:t>
            </a:r>
            <a:endParaRPr lang="en-US" altLang="zh-CN" sz="20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zh-CN" sz="2000" dirty="0">
                <a:latin typeface="Times New Roman" panose="02020603050405020304" pitchFamily="18" charset="0"/>
                <a:ea typeface="华文楷体" panose="02010600040101010101" pitchFamily="2" charset="-122"/>
              </a:rPr>
              <a:t>带头结点的中序线索二叉树</a:t>
            </a:r>
            <a:endParaRPr lang="zh-CN" altLang="en-US" sz="2000" dirty="0">
              <a:latin typeface="Times New Roman" panose="02020603050405020304" pitchFamily="18" charset="0"/>
              <a:ea typeface="华文楷体" panose="02010600040101010101" pitchFamily="2" charset="-122"/>
            </a:endParaRPr>
          </a:p>
        </p:txBody>
      </p:sp>
      <p:grpSp>
        <p:nvGrpSpPr>
          <p:cNvPr id="43030" name="Group 45"/>
          <p:cNvGrpSpPr/>
          <p:nvPr/>
        </p:nvGrpSpPr>
        <p:grpSpPr bwMode="auto">
          <a:xfrm>
            <a:off x="4135438" y="2303463"/>
            <a:ext cx="1447800" cy="415925"/>
            <a:chOff x="3984" y="2976"/>
            <a:chExt cx="912" cy="262"/>
          </a:xfrm>
        </p:grpSpPr>
        <p:grpSp>
          <p:nvGrpSpPr>
            <p:cNvPr id="43035" name="Group 46"/>
            <p:cNvGrpSpPr/>
            <p:nvPr/>
          </p:nvGrpSpPr>
          <p:grpSpPr bwMode="auto">
            <a:xfrm>
              <a:off x="3984" y="2976"/>
              <a:ext cx="912" cy="256"/>
              <a:chOff x="3216" y="3312"/>
              <a:chExt cx="1680" cy="256"/>
            </a:xfrm>
          </p:grpSpPr>
          <p:sp>
            <p:nvSpPr>
              <p:cNvPr id="43037" name="Rectangle 47"/>
              <p:cNvSpPr>
                <a:spLocks noChangeArrowheads="1"/>
              </p:cNvSpPr>
              <p:nvPr/>
            </p:nvSpPr>
            <p:spPr bwMode="auto">
              <a:xfrm>
                <a:off x="3216" y="3312"/>
                <a:ext cx="1680"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     0       </a:t>
                </a:r>
                <a:r>
                  <a:rPr lang="en-US" altLang="zh-CN" sz="2000" dirty="0">
                    <a:solidFill>
                      <a:schemeClr val="tx2"/>
                    </a:solidFill>
                    <a:latin typeface="Times New Roman" panose="02020603050405020304" pitchFamily="18" charset="0"/>
                    <a:ea typeface="华文楷体" panose="02010600040101010101" pitchFamily="2" charset="-122"/>
                  </a:rPr>
                  <a:t>1</a:t>
                </a:r>
                <a:endParaRPr lang="en-US" altLang="zh-CN" sz="2000" dirty="0">
                  <a:latin typeface="Times New Roman" panose="02020603050405020304" pitchFamily="18" charset="0"/>
                  <a:ea typeface="华文楷体" panose="02010600040101010101" pitchFamily="2" charset="-122"/>
                </a:endParaRPr>
              </a:p>
            </p:txBody>
          </p:sp>
          <p:sp>
            <p:nvSpPr>
              <p:cNvPr id="43038" name="Line 48"/>
              <p:cNvSpPr>
                <a:spLocks noChangeShapeType="1"/>
              </p:cNvSpPr>
              <p:nvPr/>
            </p:nvSpPr>
            <p:spPr bwMode="auto">
              <a:xfrm>
                <a:off x="3552" y="3312"/>
                <a:ext cx="0" cy="2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39" name="Line 49"/>
              <p:cNvSpPr>
                <a:spLocks noChangeShapeType="1"/>
              </p:cNvSpPr>
              <p:nvPr/>
            </p:nvSpPr>
            <p:spPr bwMode="auto">
              <a:xfrm>
                <a:off x="3888"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40" name="Line 50"/>
              <p:cNvSpPr>
                <a:spLocks noChangeShapeType="1"/>
              </p:cNvSpPr>
              <p:nvPr/>
            </p:nvSpPr>
            <p:spPr bwMode="auto">
              <a:xfrm>
                <a:off x="4224" y="3312"/>
                <a:ext cx="0" cy="2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41" name="Line 51"/>
              <p:cNvSpPr>
                <a:spLocks noChangeShapeType="1"/>
              </p:cNvSpPr>
              <p:nvPr/>
            </p:nvSpPr>
            <p:spPr bwMode="auto">
              <a:xfrm>
                <a:off x="4560" y="3312"/>
                <a:ext cx="0"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43036" name="Rectangle 52" descr="深色上对角线"/>
            <p:cNvSpPr>
              <a:spLocks noChangeArrowheads="1"/>
            </p:cNvSpPr>
            <p:nvPr/>
          </p:nvSpPr>
          <p:spPr bwMode="auto">
            <a:xfrm>
              <a:off x="4342" y="2976"/>
              <a:ext cx="188" cy="262"/>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grpSp>
      <p:sp>
        <p:nvSpPr>
          <p:cNvPr id="43031" name="Line 53"/>
          <p:cNvSpPr>
            <a:spLocks noChangeShapeType="1"/>
          </p:cNvSpPr>
          <p:nvPr/>
        </p:nvSpPr>
        <p:spPr bwMode="auto">
          <a:xfrm>
            <a:off x="4268788" y="2587625"/>
            <a:ext cx="0" cy="47625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32" name="Line 54"/>
          <p:cNvSpPr>
            <a:spLocks noChangeShapeType="1"/>
          </p:cNvSpPr>
          <p:nvPr/>
        </p:nvSpPr>
        <p:spPr bwMode="auto">
          <a:xfrm flipV="1">
            <a:off x="2895600" y="2498725"/>
            <a:ext cx="1231900" cy="1584325"/>
          </a:xfrm>
          <a:prstGeom prst="line">
            <a:avLst/>
          </a:prstGeom>
          <a:noFill/>
          <a:ln w="38100">
            <a:solidFill>
              <a:srgbClr val="008000"/>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33" name="Line 55"/>
          <p:cNvSpPr>
            <a:spLocks noChangeShapeType="1"/>
          </p:cNvSpPr>
          <p:nvPr/>
        </p:nvSpPr>
        <p:spPr bwMode="auto">
          <a:xfrm>
            <a:off x="5449888" y="2570163"/>
            <a:ext cx="987425" cy="1411287"/>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3034" name="Line 56"/>
          <p:cNvSpPr>
            <a:spLocks noChangeShapeType="1"/>
          </p:cNvSpPr>
          <p:nvPr/>
        </p:nvSpPr>
        <p:spPr bwMode="auto">
          <a:xfrm flipH="1" flipV="1">
            <a:off x="5591175" y="2481263"/>
            <a:ext cx="1235075" cy="1570037"/>
          </a:xfrm>
          <a:prstGeom prst="line">
            <a:avLst/>
          </a:prstGeom>
          <a:noFill/>
          <a:ln w="38100">
            <a:solidFill>
              <a:srgbClr val="008000"/>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页脚占位符 3"/>
          <p:cNvSpPr>
            <a:spLocks noGrp="1"/>
          </p:cNvSpPr>
          <p:nvPr>
            <p:ph type="ftr" sz="quarter" idx="10"/>
          </p:nvPr>
        </p:nvSpPr>
        <p:spPr/>
        <p:txBody>
          <a:bodyPr/>
          <a:lstStyle/>
          <a:p>
            <a:pPr>
              <a:defRPr/>
            </a:pPr>
            <a:r>
              <a:rPr lang="en-US" altLang="zh-CN"/>
              <a:t>BUPT SCST</a:t>
            </a:r>
            <a:endParaRPr lang="en-US" altLang="zh-CN"/>
          </a:p>
        </p:txBody>
      </p:sp>
      <p:sp>
        <p:nvSpPr>
          <p:cNvPr id="38" name="日期占位符 5"/>
          <p:cNvSpPr>
            <a:spLocks noGrp="1"/>
          </p:cNvSpPr>
          <p:nvPr>
            <p:ph type="dt" sz="quarter" idx="12"/>
          </p:nvPr>
        </p:nvSpPr>
        <p:spPr/>
        <p:txBody>
          <a:bodyPr/>
          <a:lstStyle/>
          <a:p>
            <a:pPr>
              <a:defRPr/>
            </a:pPr>
            <a:r>
              <a:rPr lang="en-US" altLang="zh-CN"/>
              <a:t>BUPT</a:t>
            </a:r>
            <a:endParaRPr lang="en-US" altLang="zh-CN"/>
          </a:p>
        </p:txBody>
      </p:sp>
      <p:sp>
        <p:nvSpPr>
          <p:cNvPr id="4403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4037"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sym typeface="Symbol" panose="05050102010706020507" pitchFamily="18" charset="2"/>
              </a:rPr>
              <a:t>[</a:t>
            </a:r>
            <a:r>
              <a:rPr lang="zh-CN" altLang="en-US" sz="2400" b="1" dirty="0" smtClean="0">
                <a:solidFill>
                  <a:srgbClr val="800000"/>
                </a:solidFill>
                <a:ea typeface="华文楷体" panose="02010600040101010101" pitchFamily="2" charset="-122"/>
                <a:sym typeface="Symbol" panose="05050102010706020507" pitchFamily="18" charset="2"/>
              </a:rPr>
              <a:t>线索二叉树的更新操作</a:t>
            </a:r>
            <a:r>
              <a:rPr lang="en-US" altLang="zh-CN" sz="2400" b="1" dirty="0" smtClean="0">
                <a:solidFill>
                  <a:srgbClr val="800000"/>
                </a:solidFill>
                <a:ea typeface="华文楷体" panose="02010600040101010101" pitchFamily="2" charset="-122"/>
                <a:sym typeface="Symbol" panose="05050102010706020507" pitchFamily="18" charset="2"/>
              </a:rPr>
              <a:t>]</a:t>
            </a:r>
            <a:endParaRPr lang="en-US" altLang="zh-CN" sz="2400" b="1" dirty="0" smtClean="0">
              <a:solidFill>
                <a:srgbClr val="800000"/>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问题</a:t>
            </a:r>
            <a:r>
              <a:rPr lang="en-US" altLang="zh-CN" sz="2400" b="1" dirty="0" smtClean="0">
                <a:solidFill>
                  <a:srgbClr val="CC6600"/>
                </a:solidFill>
                <a:ea typeface="华文楷体" panose="02010600040101010101" pitchFamily="2" charset="-122"/>
              </a:rPr>
              <a:t>]   </a:t>
            </a:r>
            <a:r>
              <a:rPr lang="zh-CN" altLang="en-US" sz="2400" dirty="0" smtClean="0">
                <a:ea typeface="华文楷体" panose="02010600040101010101" pitchFamily="2" charset="-122"/>
              </a:rPr>
              <a:t>在线索二叉树上插入或删除一棵子树或者结点时，指针和线索都需作相应的改动。</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解决方法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）还原为普通二叉树，再重新将其线索化。</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）讨论可能出现的各种情况，寻找规律。</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示例</a:t>
            </a:r>
            <a:r>
              <a:rPr lang="en-US" altLang="zh-CN" sz="2400" b="1" dirty="0" smtClean="0">
                <a:solidFill>
                  <a:srgbClr val="CC6600"/>
                </a:solidFill>
                <a:ea typeface="华文楷体" panose="02010600040101010101" pitchFamily="2" charset="-122"/>
              </a:rPr>
              <a:t>1]    </a:t>
            </a:r>
            <a:r>
              <a:rPr lang="zh-CN" altLang="en-US" sz="2400" dirty="0" smtClean="0">
                <a:ea typeface="华文楷体" panose="02010600040101010101" pitchFamily="2" charset="-122"/>
              </a:rPr>
              <a:t>在中序线索二叉树中，插入结点</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，使其成为结点</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的右孩子。</a:t>
            </a:r>
            <a:endParaRPr lang="zh-CN" altLang="en-US" sz="2400" dirty="0" smtClean="0">
              <a:ea typeface="华文楷体" panose="02010600040101010101" pitchFamily="2" charset="-122"/>
            </a:endParaRPr>
          </a:p>
          <a:p>
            <a:pPr eaLnBrk="1" hangingPunct="1"/>
            <a:r>
              <a:rPr lang="en-US" altLang="zh-CN" sz="2400" dirty="0" smtClean="0">
                <a:ea typeface="华文楷体" panose="02010600040101010101" pitchFamily="2" charset="-122"/>
              </a:rPr>
              <a:t>s</a:t>
            </a:r>
            <a:r>
              <a:rPr lang="zh-CN" altLang="zh-CN" sz="2400" dirty="0" smtClean="0">
                <a:ea typeface="华文楷体" panose="02010600040101010101" pitchFamily="2" charset="-122"/>
              </a:rPr>
              <a:t>无右孩子</a:t>
            </a:r>
            <a:endParaRPr lang="zh-CN" altLang="zh-CN"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的后继成为</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的后继</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s</a:t>
            </a:r>
            <a:r>
              <a:rPr lang="zh-CN" altLang="en-US" sz="2400" dirty="0" smtClean="0">
                <a:ea typeface="华文楷体" panose="02010600040101010101" pitchFamily="2" charset="-122"/>
              </a:rPr>
              <a:t>成为</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的前驱；</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成为</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的右孩子</a:t>
            </a:r>
            <a:endParaRPr lang="zh-CN" altLang="en-US" sz="2400" dirty="0" smtClean="0">
              <a:ea typeface="华文楷体" panose="02010600040101010101" pitchFamily="2" charset="-122"/>
            </a:endParaRPr>
          </a:p>
        </p:txBody>
      </p:sp>
      <p:sp>
        <p:nvSpPr>
          <p:cNvPr id="44038" name="Oval 4"/>
          <p:cNvSpPr>
            <a:spLocks noChangeArrowheads="1"/>
          </p:cNvSpPr>
          <p:nvPr/>
        </p:nvSpPr>
        <p:spPr bwMode="auto">
          <a:xfrm>
            <a:off x="5562600" y="41910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39" name="Oval 5"/>
          <p:cNvSpPr>
            <a:spLocks noChangeArrowheads="1"/>
          </p:cNvSpPr>
          <p:nvPr/>
        </p:nvSpPr>
        <p:spPr bwMode="auto">
          <a:xfrm>
            <a:off x="5562600" y="52578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40" name="Oval 6"/>
          <p:cNvSpPr>
            <a:spLocks noChangeArrowheads="1"/>
          </p:cNvSpPr>
          <p:nvPr/>
        </p:nvSpPr>
        <p:spPr bwMode="auto">
          <a:xfrm>
            <a:off x="5181600" y="58674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41" name="Oval 7"/>
          <p:cNvSpPr>
            <a:spLocks noChangeArrowheads="1"/>
          </p:cNvSpPr>
          <p:nvPr/>
        </p:nvSpPr>
        <p:spPr bwMode="auto">
          <a:xfrm>
            <a:off x="5181600" y="48006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42" name="Line 8"/>
          <p:cNvSpPr>
            <a:spLocks noChangeShapeType="1"/>
          </p:cNvSpPr>
          <p:nvPr/>
        </p:nvSpPr>
        <p:spPr bwMode="auto">
          <a:xfrm flipH="1">
            <a:off x="5257800" y="4419600"/>
            <a:ext cx="3810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43" name="Line 9"/>
          <p:cNvSpPr>
            <a:spLocks noChangeShapeType="1"/>
          </p:cNvSpPr>
          <p:nvPr/>
        </p:nvSpPr>
        <p:spPr bwMode="auto">
          <a:xfrm>
            <a:off x="5410200" y="5029200"/>
            <a:ext cx="304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44" name="Line 10"/>
          <p:cNvSpPr>
            <a:spLocks noChangeShapeType="1"/>
          </p:cNvSpPr>
          <p:nvPr/>
        </p:nvSpPr>
        <p:spPr bwMode="auto">
          <a:xfrm flipH="1">
            <a:off x="5257800" y="5486400"/>
            <a:ext cx="3810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45" name="Text Box 11"/>
          <p:cNvSpPr txBox="1">
            <a:spLocks noChangeArrowheads="1"/>
          </p:cNvSpPr>
          <p:nvPr/>
        </p:nvSpPr>
        <p:spPr bwMode="auto">
          <a:xfrm>
            <a:off x="5334000" y="5029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s</a:t>
            </a:r>
            <a:endParaRPr lang="en-US" altLang="zh-CN" sz="2400" dirty="0">
              <a:latin typeface="Times New Roman" panose="02020603050405020304" pitchFamily="18" charset="0"/>
              <a:ea typeface="华文楷体" panose="02010600040101010101" pitchFamily="2" charset="-122"/>
            </a:endParaRPr>
          </a:p>
        </p:txBody>
      </p:sp>
      <p:sp>
        <p:nvSpPr>
          <p:cNvPr id="44046" name="Arc 12"/>
          <p:cNvSpPr>
            <a:spLocks noChangeArrowheads="1"/>
          </p:cNvSpPr>
          <p:nvPr/>
        </p:nvSpPr>
        <p:spPr bwMode="auto">
          <a:xfrm flipV="1">
            <a:off x="5791200" y="4953000"/>
            <a:ext cx="304800" cy="533400"/>
          </a:xfrm>
          <a:custGeom>
            <a:avLst/>
            <a:gdLst>
              <a:gd name="T0" fmla="*/ 0 w 21600"/>
              <a:gd name="T1" fmla="*/ 0 h 21600"/>
              <a:gd name="T2" fmla="*/ 4301067 w 21600"/>
              <a:gd name="T3" fmla="*/ 13172017 h 21600"/>
              <a:gd name="T4" fmla="*/ 0 w 21600"/>
              <a:gd name="T5" fmla="*/ 0 h 21600"/>
              <a:gd name="T6" fmla="*/ 4301067 w 21600"/>
              <a:gd name="T7" fmla="*/ 13172017 h 21600"/>
              <a:gd name="T8" fmla="*/ 0 w 21600"/>
              <a:gd name="T9" fmla="*/ 131720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47" name="Line 13"/>
          <p:cNvSpPr>
            <a:spLocks noChangeShapeType="1"/>
          </p:cNvSpPr>
          <p:nvPr/>
        </p:nvSpPr>
        <p:spPr bwMode="auto">
          <a:xfrm flipH="1" flipV="1">
            <a:off x="5791200" y="4419600"/>
            <a:ext cx="304800" cy="457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48" name="Arc 14"/>
          <p:cNvSpPr>
            <a:spLocks noChangeArrowheads="1"/>
          </p:cNvSpPr>
          <p:nvPr/>
        </p:nvSpPr>
        <p:spPr bwMode="auto">
          <a:xfrm flipV="1">
            <a:off x="5410200" y="6019800"/>
            <a:ext cx="304800" cy="76200"/>
          </a:xfrm>
          <a:custGeom>
            <a:avLst/>
            <a:gdLst>
              <a:gd name="T0" fmla="*/ 0 w 21600"/>
              <a:gd name="T1" fmla="*/ 0 h 21600"/>
              <a:gd name="T2" fmla="*/ 4301067 w 21600"/>
              <a:gd name="T3" fmla="*/ 268817 h 21600"/>
              <a:gd name="T4" fmla="*/ 0 w 21600"/>
              <a:gd name="T5" fmla="*/ 0 h 21600"/>
              <a:gd name="T6" fmla="*/ 4301067 w 21600"/>
              <a:gd name="T7" fmla="*/ 268817 h 21600"/>
              <a:gd name="T8" fmla="*/ 0 w 21600"/>
              <a:gd name="T9" fmla="*/ 2688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49" name="Line 15"/>
          <p:cNvSpPr>
            <a:spLocks noChangeShapeType="1"/>
          </p:cNvSpPr>
          <p:nvPr/>
        </p:nvSpPr>
        <p:spPr bwMode="auto">
          <a:xfrm flipV="1">
            <a:off x="5715000" y="5486400"/>
            <a:ext cx="0" cy="5334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50" name="Arc 16"/>
          <p:cNvSpPr>
            <a:spLocks noChangeArrowheads="1"/>
          </p:cNvSpPr>
          <p:nvPr/>
        </p:nvSpPr>
        <p:spPr bwMode="auto">
          <a:xfrm flipH="1" flipV="1">
            <a:off x="4953000" y="5562600"/>
            <a:ext cx="228600" cy="533400"/>
          </a:xfrm>
          <a:custGeom>
            <a:avLst/>
            <a:gdLst>
              <a:gd name="T0" fmla="*/ 0 w 21600"/>
              <a:gd name="T1" fmla="*/ 0 h 21600"/>
              <a:gd name="T2" fmla="*/ 2419350 w 21600"/>
              <a:gd name="T3" fmla="*/ 13172017 h 21600"/>
              <a:gd name="T4" fmla="*/ 0 w 21600"/>
              <a:gd name="T5" fmla="*/ 0 h 21600"/>
              <a:gd name="T6" fmla="*/ 2419350 w 21600"/>
              <a:gd name="T7" fmla="*/ 13172017 h 21600"/>
              <a:gd name="T8" fmla="*/ 0 w 21600"/>
              <a:gd name="T9" fmla="*/ 131720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51" name="Line 17"/>
          <p:cNvSpPr>
            <a:spLocks noChangeShapeType="1"/>
          </p:cNvSpPr>
          <p:nvPr/>
        </p:nvSpPr>
        <p:spPr bwMode="auto">
          <a:xfrm flipV="1">
            <a:off x="4953000" y="5029200"/>
            <a:ext cx="304800" cy="5334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52" name="Oval 18"/>
          <p:cNvSpPr>
            <a:spLocks noChangeArrowheads="1"/>
          </p:cNvSpPr>
          <p:nvPr/>
        </p:nvSpPr>
        <p:spPr bwMode="auto">
          <a:xfrm>
            <a:off x="7543800" y="41148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53" name="Oval 19"/>
          <p:cNvSpPr>
            <a:spLocks noChangeArrowheads="1"/>
          </p:cNvSpPr>
          <p:nvPr/>
        </p:nvSpPr>
        <p:spPr bwMode="auto">
          <a:xfrm>
            <a:off x="7010400" y="47244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54" name="Oval 20"/>
          <p:cNvSpPr>
            <a:spLocks noChangeArrowheads="1"/>
          </p:cNvSpPr>
          <p:nvPr/>
        </p:nvSpPr>
        <p:spPr bwMode="auto">
          <a:xfrm>
            <a:off x="7391400" y="52578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55" name="Oval 21"/>
          <p:cNvSpPr>
            <a:spLocks noChangeArrowheads="1"/>
          </p:cNvSpPr>
          <p:nvPr/>
        </p:nvSpPr>
        <p:spPr bwMode="auto">
          <a:xfrm>
            <a:off x="6934200" y="58674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56" name="Oval 22"/>
          <p:cNvSpPr>
            <a:spLocks noChangeArrowheads="1"/>
          </p:cNvSpPr>
          <p:nvPr/>
        </p:nvSpPr>
        <p:spPr bwMode="auto">
          <a:xfrm>
            <a:off x="7772400" y="5867400"/>
            <a:ext cx="228600" cy="2286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4057" name="Line 23"/>
          <p:cNvSpPr>
            <a:spLocks noChangeShapeType="1"/>
          </p:cNvSpPr>
          <p:nvPr/>
        </p:nvSpPr>
        <p:spPr bwMode="auto">
          <a:xfrm flipH="1">
            <a:off x="7086600" y="4343400"/>
            <a:ext cx="5334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58" name="Line 24"/>
          <p:cNvSpPr>
            <a:spLocks noChangeShapeType="1"/>
          </p:cNvSpPr>
          <p:nvPr/>
        </p:nvSpPr>
        <p:spPr bwMode="auto">
          <a:xfrm>
            <a:off x="7162800" y="4953000"/>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59" name="Line 25"/>
          <p:cNvSpPr>
            <a:spLocks noChangeShapeType="1"/>
          </p:cNvSpPr>
          <p:nvPr/>
        </p:nvSpPr>
        <p:spPr bwMode="auto">
          <a:xfrm flipH="1">
            <a:off x="7086600" y="5486400"/>
            <a:ext cx="3810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0" name="Line 26"/>
          <p:cNvSpPr>
            <a:spLocks noChangeShapeType="1"/>
          </p:cNvSpPr>
          <p:nvPr/>
        </p:nvSpPr>
        <p:spPr bwMode="auto">
          <a:xfrm>
            <a:off x="7543800" y="5486400"/>
            <a:ext cx="381000" cy="3810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1" name="Text Box 27"/>
          <p:cNvSpPr txBox="1">
            <a:spLocks noChangeArrowheads="1"/>
          </p:cNvSpPr>
          <p:nvPr/>
        </p:nvSpPr>
        <p:spPr bwMode="auto">
          <a:xfrm>
            <a:off x="7162800" y="5105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s</a:t>
            </a:r>
            <a:endParaRPr lang="en-US" altLang="zh-CN" sz="2400" dirty="0">
              <a:latin typeface="Times New Roman" panose="02020603050405020304" pitchFamily="18" charset="0"/>
              <a:ea typeface="华文楷体" panose="02010600040101010101" pitchFamily="2" charset="-122"/>
            </a:endParaRPr>
          </a:p>
        </p:txBody>
      </p:sp>
      <p:sp>
        <p:nvSpPr>
          <p:cNvPr id="44062" name="Text Box 28"/>
          <p:cNvSpPr txBox="1">
            <a:spLocks noChangeArrowheads="1"/>
          </p:cNvSpPr>
          <p:nvPr/>
        </p:nvSpPr>
        <p:spPr bwMode="auto">
          <a:xfrm>
            <a:off x="7924800" y="55626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t</a:t>
            </a:r>
            <a:endParaRPr lang="en-US" altLang="zh-CN" sz="2400" dirty="0">
              <a:latin typeface="Times New Roman" panose="02020603050405020304" pitchFamily="18" charset="0"/>
              <a:ea typeface="华文楷体" panose="02010600040101010101" pitchFamily="2" charset="-122"/>
            </a:endParaRPr>
          </a:p>
        </p:txBody>
      </p:sp>
      <p:sp>
        <p:nvSpPr>
          <p:cNvPr id="44063" name="Arc 29"/>
          <p:cNvSpPr>
            <a:spLocks noChangeArrowheads="1"/>
          </p:cNvSpPr>
          <p:nvPr/>
        </p:nvSpPr>
        <p:spPr bwMode="auto">
          <a:xfrm flipV="1">
            <a:off x="7924800" y="5562600"/>
            <a:ext cx="457200" cy="533400"/>
          </a:xfrm>
          <a:custGeom>
            <a:avLst/>
            <a:gdLst>
              <a:gd name="T0" fmla="*/ 0 w 21600"/>
              <a:gd name="T1" fmla="*/ 0 h 21600"/>
              <a:gd name="T2" fmla="*/ 9677400 w 21600"/>
              <a:gd name="T3" fmla="*/ 13172017 h 21600"/>
              <a:gd name="T4" fmla="*/ 0 w 21600"/>
              <a:gd name="T5" fmla="*/ 0 h 21600"/>
              <a:gd name="T6" fmla="*/ 9677400 w 21600"/>
              <a:gd name="T7" fmla="*/ 13172017 h 21600"/>
              <a:gd name="T8" fmla="*/ 0 w 21600"/>
              <a:gd name="T9" fmla="*/ 1317201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accent2"/>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4" name="Line 30"/>
          <p:cNvSpPr>
            <a:spLocks noChangeShapeType="1"/>
          </p:cNvSpPr>
          <p:nvPr/>
        </p:nvSpPr>
        <p:spPr bwMode="auto">
          <a:xfrm flipH="1" flipV="1">
            <a:off x="7772400" y="4343400"/>
            <a:ext cx="609600" cy="1219200"/>
          </a:xfrm>
          <a:prstGeom prst="line">
            <a:avLst/>
          </a:prstGeom>
          <a:noFill/>
          <a:ln w="9525">
            <a:solidFill>
              <a:schemeClr val="accent2"/>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5" name="Arc 31"/>
          <p:cNvSpPr>
            <a:spLocks noChangeArrowheads="1"/>
          </p:cNvSpPr>
          <p:nvPr/>
        </p:nvSpPr>
        <p:spPr bwMode="auto">
          <a:xfrm flipV="1">
            <a:off x="7620000" y="6096000"/>
            <a:ext cx="304800" cy="152400"/>
          </a:xfrm>
          <a:custGeom>
            <a:avLst/>
            <a:gdLst>
              <a:gd name="T0" fmla="*/ 0 w 21600"/>
              <a:gd name="T1" fmla="*/ 0 h 21600"/>
              <a:gd name="T2" fmla="*/ 4301067 w 21600"/>
              <a:gd name="T3" fmla="*/ 1075267 h 21600"/>
              <a:gd name="T4" fmla="*/ 0 w 21600"/>
              <a:gd name="T5" fmla="*/ 0 h 21600"/>
              <a:gd name="T6" fmla="*/ 4301067 w 21600"/>
              <a:gd name="T7" fmla="*/ 1075267 h 21600"/>
              <a:gd name="T8" fmla="*/ 0 w 21600"/>
              <a:gd name="T9" fmla="*/ 107526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accent2"/>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6" name="Line 32"/>
          <p:cNvSpPr>
            <a:spLocks noChangeShapeType="1"/>
          </p:cNvSpPr>
          <p:nvPr/>
        </p:nvSpPr>
        <p:spPr bwMode="auto">
          <a:xfrm flipH="1" flipV="1">
            <a:off x="7543800" y="5486400"/>
            <a:ext cx="76200" cy="762000"/>
          </a:xfrm>
          <a:prstGeom prst="line">
            <a:avLst/>
          </a:prstGeom>
          <a:noFill/>
          <a:ln w="9525">
            <a:solidFill>
              <a:schemeClr val="accent2"/>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7" name="Arc 33"/>
          <p:cNvSpPr>
            <a:spLocks noChangeArrowheads="1"/>
          </p:cNvSpPr>
          <p:nvPr/>
        </p:nvSpPr>
        <p:spPr bwMode="auto">
          <a:xfrm flipH="1" flipV="1">
            <a:off x="7086600" y="6019800"/>
            <a:ext cx="304800" cy="228600"/>
          </a:xfrm>
          <a:custGeom>
            <a:avLst/>
            <a:gdLst>
              <a:gd name="T0" fmla="*/ 0 w 21600"/>
              <a:gd name="T1" fmla="*/ 0 h 21600"/>
              <a:gd name="T2" fmla="*/ 4301067 w 21600"/>
              <a:gd name="T3" fmla="*/ 2419350 h 21600"/>
              <a:gd name="T4" fmla="*/ 0 w 21600"/>
              <a:gd name="T5" fmla="*/ 0 h 21600"/>
              <a:gd name="T6" fmla="*/ 4301067 w 21600"/>
              <a:gd name="T7" fmla="*/ 2419350 h 21600"/>
              <a:gd name="T8" fmla="*/ 0 w 21600"/>
              <a:gd name="T9" fmla="*/ 241935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8" name="Line 34"/>
          <p:cNvSpPr>
            <a:spLocks noChangeShapeType="1"/>
          </p:cNvSpPr>
          <p:nvPr/>
        </p:nvSpPr>
        <p:spPr bwMode="auto">
          <a:xfrm flipV="1">
            <a:off x="7467600" y="5562600"/>
            <a:ext cx="0" cy="6858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69" name="Line 35"/>
          <p:cNvSpPr>
            <a:spLocks noChangeShapeType="1"/>
          </p:cNvSpPr>
          <p:nvPr/>
        </p:nvSpPr>
        <p:spPr bwMode="auto">
          <a:xfrm flipV="1">
            <a:off x="6705600" y="4953000"/>
            <a:ext cx="381000" cy="6858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4070" name="Arc 36"/>
          <p:cNvSpPr>
            <a:spLocks noChangeArrowheads="1"/>
          </p:cNvSpPr>
          <p:nvPr/>
        </p:nvSpPr>
        <p:spPr bwMode="auto">
          <a:xfrm flipH="1" flipV="1">
            <a:off x="6629400" y="5715000"/>
            <a:ext cx="304800" cy="304800"/>
          </a:xfrm>
          <a:custGeom>
            <a:avLst/>
            <a:gdLst>
              <a:gd name="T0" fmla="*/ 0 w 21600"/>
              <a:gd name="T1" fmla="*/ 0 h 21600"/>
              <a:gd name="T2" fmla="*/ 4301067 w 21600"/>
              <a:gd name="T3" fmla="*/ 4301067 h 21600"/>
              <a:gd name="T4" fmla="*/ 0 w 21600"/>
              <a:gd name="T5" fmla="*/ 0 h 21600"/>
              <a:gd name="T6" fmla="*/ 4301067 w 21600"/>
              <a:gd name="T7" fmla="*/ 4301067 h 21600"/>
              <a:gd name="T8" fmla="*/ 0 w 21600"/>
              <a:gd name="T9" fmla="*/ 4301067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页脚占位符 3"/>
          <p:cNvSpPr>
            <a:spLocks noGrp="1"/>
          </p:cNvSpPr>
          <p:nvPr>
            <p:ph type="ftr" sz="quarter" idx="10"/>
          </p:nvPr>
        </p:nvSpPr>
        <p:spPr/>
        <p:txBody>
          <a:bodyPr/>
          <a:lstStyle/>
          <a:p>
            <a:pPr>
              <a:defRPr/>
            </a:pPr>
            <a:r>
              <a:rPr lang="en-US" altLang="zh-CN"/>
              <a:t>BUPT SCST</a:t>
            </a:r>
            <a:endParaRPr lang="en-US" altLang="zh-CN"/>
          </a:p>
        </p:txBody>
      </p:sp>
      <p:sp>
        <p:nvSpPr>
          <p:cNvPr id="51" name="日期占位符 5"/>
          <p:cNvSpPr>
            <a:spLocks noGrp="1"/>
          </p:cNvSpPr>
          <p:nvPr>
            <p:ph type="dt" sz="quarter" idx="12"/>
          </p:nvPr>
        </p:nvSpPr>
        <p:spPr/>
        <p:txBody>
          <a:bodyPr/>
          <a:lstStyle/>
          <a:p>
            <a:pPr>
              <a:defRPr/>
            </a:pPr>
            <a:r>
              <a:rPr lang="en-US" altLang="zh-CN"/>
              <a:t>BUPT</a:t>
            </a:r>
            <a:endParaRPr lang="en-US" altLang="zh-CN"/>
          </a:p>
        </p:txBody>
      </p:sp>
      <p:sp>
        <p:nvSpPr>
          <p:cNvPr id="450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5061" name="Rectangle 3"/>
          <p:cNvSpPr>
            <a:spLocks noGrp="1" noChangeArrowheads="1"/>
          </p:cNvSpPr>
          <p:nvPr>
            <p:ph idx="1"/>
          </p:nvPr>
        </p:nvSpPr>
        <p:spPr/>
        <p:txBody>
          <a:bodyPr/>
          <a:lstStyle/>
          <a:p>
            <a:pPr eaLnBrk="1" hangingPunct="1"/>
            <a:r>
              <a:rPr lang="en-US" altLang="zh-CN" sz="2400" dirty="0" smtClean="0">
                <a:ea typeface="华文楷体" panose="02010600040101010101" pitchFamily="2" charset="-122"/>
              </a:rPr>
              <a:t>s</a:t>
            </a:r>
            <a:r>
              <a:rPr lang="zh-CN" altLang="zh-CN" sz="2400" dirty="0" smtClean="0">
                <a:ea typeface="华文楷体" panose="02010600040101010101" pitchFamily="2" charset="-122"/>
              </a:rPr>
              <a:t>有右孩子</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的右子树成为</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的右子树</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s</a:t>
            </a:r>
            <a:r>
              <a:rPr lang="zh-CN" altLang="en-US" sz="2400" dirty="0" smtClean="0">
                <a:ea typeface="华文楷体" panose="02010600040101010101" pitchFamily="2" charset="-122"/>
              </a:rPr>
              <a:t>成为</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的前驱；</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成为</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的右孩子；</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的后继的前驱由</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改为</a:t>
            </a:r>
            <a:r>
              <a:rPr lang="en-US" altLang="zh-CN" sz="2400" dirty="0" smtClean="0">
                <a:ea typeface="华文楷体" panose="02010600040101010101" pitchFamily="2" charset="-122"/>
              </a:rPr>
              <a:t>t</a:t>
            </a:r>
            <a:endParaRPr lang="en-US" altLang="zh-CN" sz="2400" dirty="0" smtClean="0">
              <a:ea typeface="华文楷体" panose="02010600040101010101" pitchFamily="2" charset="-122"/>
            </a:endParaRPr>
          </a:p>
        </p:txBody>
      </p:sp>
      <p:sp>
        <p:nvSpPr>
          <p:cNvPr id="45062" name="Rectangle 4"/>
          <p:cNvSpPr>
            <a:spLocks noChangeArrowheads="1"/>
          </p:cNvSpPr>
          <p:nvPr/>
        </p:nvSpPr>
        <p:spPr bwMode="auto">
          <a:xfrm>
            <a:off x="4343400" y="1752600"/>
            <a:ext cx="4572000" cy="1574800"/>
          </a:xfrm>
          <a:prstGeom prst="rect">
            <a:avLst/>
          </a:prstGeom>
          <a:solidFill>
            <a:srgbClr val="CCFFFF"/>
          </a:solidFill>
          <a:ln w="22225">
            <a:solidFill>
              <a:schemeClr val="accent1"/>
            </a:solidFill>
            <a:miter lim="800000"/>
          </a:ln>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求中序线索树中</a:t>
            </a:r>
            <a:r>
              <a:rPr lang="en-US" altLang="zh-CN" sz="2400" dirty="0">
                <a:latin typeface="Times New Roman" panose="02020603050405020304" pitchFamily="18" charset="0"/>
                <a:ea typeface="华文楷体" panose="02010600040101010101" pitchFamily="2" charset="-122"/>
              </a:rPr>
              <a:t>p</a:t>
            </a:r>
            <a:r>
              <a:rPr lang="zh-CN" altLang="en-US" sz="2400" dirty="0">
                <a:latin typeface="Times New Roman" panose="02020603050405020304" pitchFamily="18" charset="0"/>
                <a:ea typeface="华文楷体" panose="02010600040101010101" pitchFamily="2" charset="-122"/>
              </a:rPr>
              <a:t>的后继</a:t>
            </a:r>
            <a:r>
              <a:rPr lang="en-US" altLang="zh-CN" sz="2400" dirty="0">
                <a:latin typeface="Times New Roman" panose="02020603050405020304" pitchFamily="18" charset="0"/>
                <a:ea typeface="华文楷体" panose="02010600040101010101" pitchFamily="2" charset="-122"/>
              </a:rPr>
              <a:t>q</a:t>
            </a:r>
            <a:r>
              <a:rPr lang="zh-CN" altLang="en-US" sz="2400" dirty="0">
                <a:latin typeface="Times New Roman" panose="02020603050405020304" pitchFamily="18" charset="0"/>
                <a:ea typeface="华文楷体" panose="02010600040101010101" pitchFamily="2" charset="-122"/>
              </a:rPr>
              <a:t>：</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p-&gt;</a:t>
            </a:r>
            <a:r>
              <a:rPr lang="en-US" altLang="zh-CN" sz="2400" dirty="0" err="1">
                <a:latin typeface="Times New Roman" panose="02020603050405020304" pitchFamily="18" charset="0"/>
                <a:ea typeface="华文楷体" panose="02010600040101010101" pitchFamily="2" charset="-122"/>
              </a:rPr>
              <a:t>rtag</a:t>
            </a:r>
            <a:r>
              <a:rPr lang="en-US" altLang="zh-CN" sz="2400" dirty="0">
                <a:latin typeface="Times New Roman" panose="02020603050405020304" pitchFamily="18" charset="0"/>
                <a:ea typeface="华文楷体" panose="02010600040101010101" pitchFamily="2" charset="-122"/>
              </a:rPr>
              <a:t>=1</a:t>
            </a:r>
            <a:r>
              <a:rPr lang="zh-CN" altLang="en-US" sz="2400" dirty="0">
                <a:latin typeface="Times New Roman" panose="02020603050405020304" pitchFamily="18" charset="0"/>
                <a:ea typeface="华文楷体" panose="02010600040101010101" pitchFamily="2" charset="-122"/>
              </a:rPr>
              <a:t>时， </a:t>
            </a:r>
            <a:r>
              <a:rPr lang="en-US" altLang="zh-CN" sz="2400" dirty="0">
                <a:latin typeface="Times New Roman" panose="02020603050405020304" pitchFamily="18" charset="0"/>
                <a:ea typeface="华文楷体" panose="02010600040101010101" pitchFamily="2" charset="-122"/>
              </a:rPr>
              <a:t>q=p-&gt;</a:t>
            </a:r>
            <a:r>
              <a:rPr lang="en-US" altLang="zh-CN" sz="2400" dirty="0" err="1">
                <a:latin typeface="Times New Roman" panose="02020603050405020304" pitchFamily="18" charset="0"/>
                <a:ea typeface="华文楷体" panose="02010600040101010101" pitchFamily="2" charset="-122"/>
              </a:rPr>
              <a:t>rc</a:t>
            </a:r>
            <a:r>
              <a:rPr lang="zh-CN" altLang="en-US" sz="2400" dirty="0">
                <a:latin typeface="Times New Roman" panose="02020603050405020304" pitchFamily="18" charset="0"/>
                <a:ea typeface="华文楷体" panose="02010600040101010101" pitchFamily="2" charset="-122"/>
              </a:rPr>
              <a:t>；</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p-&gt;</a:t>
            </a:r>
            <a:r>
              <a:rPr lang="en-US" altLang="zh-CN" sz="2400" dirty="0" err="1">
                <a:latin typeface="Times New Roman" panose="02020603050405020304" pitchFamily="18" charset="0"/>
                <a:ea typeface="华文楷体" panose="02010600040101010101" pitchFamily="2" charset="-122"/>
              </a:rPr>
              <a:t>rtag</a:t>
            </a:r>
            <a:r>
              <a:rPr lang="en-US" altLang="zh-CN" sz="2400" dirty="0">
                <a:latin typeface="Times New Roman" panose="02020603050405020304" pitchFamily="18" charset="0"/>
                <a:ea typeface="华文楷体" panose="02010600040101010101" pitchFamily="2" charset="-122"/>
              </a:rPr>
              <a:t>=0 </a:t>
            </a:r>
            <a:r>
              <a:rPr lang="zh-CN" altLang="en-US" sz="2400" dirty="0">
                <a:latin typeface="Times New Roman" panose="02020603050405020304" pitchFamily="18" charset="0"/>
                <a:ea typeface="华文楷体" panose="02010600040101010101" pitchFamily="2" charset="-122"/>
              </a:rPr>
              <a:t>时，</a:t>
            </a:r>
            <a:r>
              <a:rPr lang="en-US" altLang="zh-CN" sz="2400" dirty="0">
                <a:latin typeface="Times New Roman" panose="02020603050405020304" pitchFamily="18" charset="0"/>
                <a:ea typeface="华文楷体" panose="02010600040101010101" pitchFamily="2" charset="-122"/>
              </a:rPr>
              <a:t>q</a:t>
            </a:r>
            <a:r>
              <a:rPr lang="zh-CN" altLang="en-US" sz="2400" dirty="0">
                <a:latin typeface="Times New Roman" panose="02020603050405020304" pitchFamily="18" charset="0"/>
                <a:ea typeface="华文楷体" panose="02010600040101010101" pitchFamily="2" charset="-122"/>
              </a:rPr>
              <a:t>是</a:t>
            </a:r>
            <a:r>
              <a:rPr lang="en-US" altLang="zh-CN" sz="2400" dirty="0">
                <a:latin typeface="Times New Roman" panose="02020603050405020304" pitchFamily="18" charset="0"/>
                <a:ea typeface="华文楷体" panose="02010600040101010101" pitchFamily="2" charset="-122"/>
              </a:rPr>
              <a:t>p</a:t>
            </a:r>
            <a:r>
              <a:rPr lang="zh-CN" altLang="en-US" sz="2400" dirty="0">
                <a:latin typeface="Times New Roman" panose="02020603050405020304" pitchFamily="18" charset="0"/>
                <a:ea typeface="华文楷体" panose="02010600040101010101" pitchFamily="2" charset="-122"/>
              </a:rPr>
              <a:t>的右</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  子树的最左结点</a:t>
            </a:r>
            <a:endParaRPr lang="zh-CN" altLang="en-US" sz="2400" dirty="0">
              <a:latin typeface="Times New Roman" panose="02020603050405020304" pitchFamily="18" charset="0"/>
              <a:ea typeface="华文楷体" panose="02010600040101010101" pitchFamily="2" charset="-122"/>
            </a:endParaRPr>
          </a:p>
        </p:txBody>
      </p:sp>
      <p:sp>
        <p:nvSpPr>
          <p:cNvPr id="45063" name="Oval 5"/>
          <p:cNvSpPr>
            <a:spLocks noChangeArrowheads="1"/>
          </p:cNvSpPr>
          <p:nvPr/>
        </p:nvSpPr>
        <p:spPr bwMode="auto">
          <a:xfrm>
            <a:off x="2133600" y="35814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64" name="Oval 6"/>
          <p:cNvSpPr>
            <a:spLocks noChangeArrowheads="1"/>
          </p:cNvSpPr>
          <p:nvPr/>
        </p:nvSpPr>
        <p:spPr bwMode="auto">
          <a:xfrm>
            <a:off x="1752600" y="41910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65" name="Oval 7"/>
          <p:cNvSpPr>
            <a:spLocks noChangeArrowheads="1"/>
          </p:cNvSpPr>
          <p:nvPr/>
        </p:nvSpPr>
        <p:spPr bwMode="auto">
          <a:xfrm>
            <a:off x="2286000" y="46482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66" name="Oval 8"/>
          <p:cNvSpPr>
            <a:spLocks noChangeArrowheads="1"/>
          </p:cNvSpPr>
          <p:nvPr/>
        </p:nvSpPr>
        <p:spPr bwMode="auto">
          <a:xfrm>
            <a:off x="1905000" y="52578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67" name="Oval 9"/>
          <p:cNvSpPr>
            <a:spLocks noChangeArrowheads="1"/>
          </p:cNvSpPr>
          <p:nvPr/>
        </p:nvSpPr>
        <p:spPr bwMode="auto">
          <a:xfrm>
            <a:off x="2819400" y="52578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68" name="Oval 10"/>
          <p:cNvSpPr>
            <a:spLocks noChangeArrowheads="1"/>
          </p:cNvSpPr>
          <p:nvPr/>
        </p:nvSpPr>
        <p:spPr bwMode="auto">
          <a:xfrm>
            <a:off x="2514600" y="58674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69" name="Oval 11"/>
          <p:cNvSpPr>
            <a:spLocks noChangeArrowheads="1"/>
          </p:cNvSpPr>
          <p:nvPr/>
        </p:nvSpPr>
        <p:spPr bwMode="auto">
          <a:xfrm>
            <a:off x="3352800" y="57912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70" name="Line 12"/>
          <p:cNvSpPr>
            <a:spLocks noChangeShapeType="1"/>
          </p:cNvSpPr>
          <p:nvPr/>
        </p:nvSpPr>
        <p:spPr bwMode="auto">
          <a:xfrm flipH="1">
            <a:off x="1828800" y="38100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1" name="Line 13"/>
          <p:cNvSpPr>
            <a:spLocks noChangeShapeType="1"/>
          </p:cNvSpPr>
          <p:nvPr/>
        </p:nvSpPr>
        <p:spPr bwMode="auto">
          <a:xfrm>
            <a:off x="1905000" y="4419600"/>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2" name="Line 14"/>
          <p:cNvSpPr>
            <a:spLocks noChangeShapeType="1"/>
          </p:cNvSpPr>
          <p:nvPr/>
        </p:nvSpPr>
        <p:spPr bwMode="auto">
          <a:xfrm flipH="1">
            <a:off x="1981200" y="4876800"/>
            <a:ext cx="3810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3" name="Line 15"/>
          <p:cNvSpPr>
            <a:spLocks noChangeShapeType="1"/>
          </p:cNvSpPr>
          <p:nvPr/>
        </p:nvSpPr>
        <p:spPr bwMode="auto">
          <a:xfrm>
            <a:off x="2362200" y="4876800"/>
            <a:ext cx="5334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4" name="Line 16"/>
          <p:cNvSpPr>
            <a:spLocks noChangeShapeType="1"/>
          </p:cNvSpPr>
          <p:nvPr/>
        </p:nvSpPr>
        <p:spPr bwMode="auto">
          <a:xfrm flipH="1">
            <a:off x="2667000" y="5486400"/>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5" name="Line 17"/>
          <p:cNvSpPr>
            <a:spLocks noChangeShapeType="1"/>
          </p:cNvSpPr>
          <p:nvPr/>
        </p:nvSpPr>
        <p:spPr bwMode="auto">
          <a:xfrm>
            <a:off x="3048000" y="54864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6" name="Line 18"/>
          <p:cNvSpPr>
            <a:spLocks noChangeShapeType="1"/>
          </p:cNvSpPr>
          <p:nvPr/>
        </p:nvSpPr>
        <p:spPr bwMode="auto">
          <a:xfrm flipH="1" flipV="1">
            <a:off x="2362200" y="3810000"/>
            <a:ext cx="1219200" cy="1981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7" name="Line 19"/>
          <p:cNvSpPr>
            <a:spLocks noChangeShapeType="1"/>
          </p:cNvSpPr>
          <p:nvPr/>
        </p:nvSpPr>
        <p:spPr bwMode="auto">
          <a:xfrm flipH="1" flipV="1">
            <a:off x="1828800" y="4419600"/>
            <a:ext cx="76200" cy="838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8" name="Line 20"/>
          <p:cNvSpPr>
            <a:spLocks noChangeShapeType="1"/>
          </p:cNvSpPr>
          <p:nvPr/>
        </p:nvSpPr>
        <p:spPr bwMode="auto">
          <a:xfrm flipV="1">
            <a:off x="2133600" y="4953000"/>
            <a:ext cx="228600" cy="3810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79" name="Line 21"/>
          <p:cNvSpPr>
            <a:spLocks noChangeShapeType="1"/>
          </p:cNvSpPr>
          <p:nvPr/>
        </p:nvSpPr>
        <p:spPr bwMode="auto">
          <a:xfrm flipH="1" flipV="1">
            <a:off x="2362200" y="4876800"/>
            <a:ext cx="228600" cy="9144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80" name="Line 22"/>
          <p:cNvSpPr>
            <a:spLocks noChangeShapeType="1"/>
          </p:cNvSpPr>
          <p:nvPr/>
        </p:nvSpPr>
        <p:spPr bwMode="auto">
          <a:xfrm flipV="1">
            <a:off x="2743200" y="5486400"/>
            <a:ext cx="228600" cy="457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81" name="Line 23"/>
          <p:cNvSpPr>
            <a:spLocks noChangeShapeType="1"/>
          </p:cNvSpPr>
          <p:nvPr/>
        </p:nvSpPr>
        <p:spPr bwMode="auto">
          <a:xfrm flipH="1" flipV="1">
            <a:off x="2971800" y="5486400"/>
            <a:ext cx="304800" cy="457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82" name="Text Box 24"/>
          <p:cNvSpPr txBox="1">
            <a:spLocks noChangeArrowheads="1"/>
          </p:cNvSpPr>
          <p:nvPr/>
        </p:nvSpPr>
        <p:spPr bwMode="auto">
          <a:xfrm>
            <a:off x="1981200" y="4495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s</a:t>
            </a:r>
            <a:endParaRPr lang="en-US" altLang="zh-CN" sz="2400" dirty="0">
              <a:latin typeface="Times New Roman" panose="02020603050405020304" pitchFamily="18" charset="0"/>
              <a:ea typeface="华文楷体" panose="02010600040101010101" pitchFamily="2" charset="-122"/>
            </a:endParaRPr>
          </a:p>
        </p:txBody>
      </p:sp>
      <p:sp>
        <p:nvSpPr>
          <p:cNvPr id="45083" name="Oval 25"/>
          <p:cNvSpPr>
            <a:spLocks noChangeArrowheads="1"/>
          </p:cNvSpPr>
          <p:nvPr/>
        </p:nvSpPr>
        <p:spPr bwMode="auto">
          <a:xfrm>
            <a:off x="6096000" y="33528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84" name="Oval 26"/>
          <p:cNvSpPr>
            <a:spLocks noChangeArrowheads="1"/>
          </p:cNvSpPr>
          <p:nvPr/>
        </p:nvSpPr>
        <p:spPr bwMode="auto">
          <a:xfrm>
            <a:off x="5486400" y="38862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85" name="Oval 27"/>
          <p:cNvSpPr>
            <a:spLocks noChangeArrowheads="1"/>
          </p:cNvSpPr>
          <p:nvPr/>
        </p:nvSpPr>
        <p:spPr bwMode="auto">
          <a:xfrm>
            <a:off x="5867400" y="4343400"/>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86" name="Oval 28"/>
          <p:cNvSpPr>
            <a:spLocks noChangeArrowheads="1"/>
          </p:cNvSpPr>
          <p:nvPr/>
        </p:nvSpPr>
        <p:spPr bwMode="auto">
          <a:xfrm>
            <a:off x="6248400" y="4876800"/>
            <a:ext cx="228600" cy="228600"/>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87" name="Oval 29"/>
          <p:cNvSpPr>
            <a:spLocks noChangeArrowheads="1"/>
          </p:cNvSpPr>
          <p:nvPr/>
        </p:nvSpPr>
        <p:spPr bwMode="auto">
          <a:xfrm>
            <a:off x="5334000" y="4876800"/>
            <a:ext cx="228600" cy="228600"/>
          </a:xfrm>
          <a:prstGeom prst="ellipse">
            <a:avLst/>
          </a:prstGeom>
          <a:solidFill>
            <a:schemeClr val="bg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88" name="Oval 30"/>
          <p:cNvSpPr>
            <a:spLocks noChangeArrowheads="1"/>
          </p:cNvSpPr>
          <p:nvPr/>
        </p:nvSpPr>
        <p:spPr bwMode="auto">
          <a:xfrm>
            <a:off x="6858000" y="5486400"/>
            <a:ext cx="228600" cy="228600"/>
          </a:xfrm>
          <a:prstGeom prst="ellipse">
            <a:avLst/>
          </a:prstGeom>
          <a:solidFill>
            <a:schemeClr val="bg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89" name="Oval 31"/>
          <p:cNvSpPr>
            <a:spLocks noChangeArrowheads="1"/>
          </p:cNvSpPr>
          <p:nvPr/>
        </p:nvSpPr>
        <p:spPr bwMode="auto">
          <a:xfrm>
            <a:off x="6400800" y="6096000"/>
            <a:ext cx="228600" cy="228600"/>
          </a:xfrm>
          <a:prstGeom prst="ellipse">
            <a:avLst/>
          </a:prstGeom>
          <a:solidFill>
            <a:schemeClr val="bg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90" name="Oval 32"/>
          <p:cNvSpPr>
            <a:spLocks noChangeArrowheads="1"/>
          </p:cNvSpPr>
          <p:nvPr/>
        </p:nvSpPr>
        <p:spPr bwMode="auto">
          <a:xfrm>
            <a:off x="7391400" y="6096000"/>
            <a:ext cx="228600" cy="228600"/>
          </a:xfrm>
          <a:prstGeom prst="ellipse">
            <a:avLst/>
          </a:prstGeom>
          <a:solidFill>
            <a:schemeClr val="bg1"/>
          </a:solidFill>
          <a:ln w="9525">
            <a:solidFill>
              <a:schemeClr val="tx1"/>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5091" name="Line 33"/>
          <p:cNvSpPr>
            <a:spLocks noChangeShapeType="1"/>
          </p:cNvSpPr>
          <p:nvPr/>
        </p:nvSpPr>
        <p:spPr bwMode="auto">
          <a:xfrm flipH="1">
            <a:off x="5715000" y="3581400"/>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2" name="Line 34"/>
          <p:cNvSpPr>
            <a:spLocks noChangeShapeType="1"/>
          </p:cNvSpPr>
          <p:nvPr/>
        </p:nvSpPr>
        <p:spPr bwMode="auto">
          <a:xfrm>
            <a:off x="5638800" y="4114800"/>
            <a:ext cx="304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3" name="Line 35"/>
          <p:cNvSpPr>
            <a:spLocks noChangeShapeType="1"/>
          </p:cNvSpPr>
          <p:nvPr/>
        </p:nvSpPr>
        <p:spPr bwMode="auto">
          <a:xfrm flipH="1">
            <a:off x="5486400" y="45720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4" name="Line 36"/>
          <p:cNvSpPr>
            <a:spLocks noChangeShapeType="1"/>
          </p:cNvSpPr>
          <p:nvPr/>
        </p:nvSpPr>
        <p:spPr bwMode="auto">
          <a:xfrm>
            <a:off x="6096000" y="4572000"/>
            <a:ext cx="304800" cy="3048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5" name="Line 37"/>
          <p:cNvSpPr>
            <a:spLocks noChangeShapeType="1"/>
          </p:cNvSpPr>
          <p:nvPr/>
        </p:nvSpPr>
        <p:spPr bwMode="auto">
          <a:xfrm>
            <a:off x="6400800" y="5105400"/>
            <a:ext cx="457200" cy="38100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6" name="Line 38"/>
          <p:cNvSpPr>
            <a:spLocks noChangeShapeType="1"/>
          </p:cNvSpPr>
          <p:nvPr/>
        </p:nvSpPr>
        <p:spPr bwMode="auto">
          <a:xfrm flipH="1">
            <a:off x="6553200" y="5715000"/>
            <a:ext cx="3810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7" name="Line 39"/>
          <p:cNvSpPr>
            <a:spLocks noChangeShapeType="1"/>
          </p:cNvSpPr>
          <p:nvPr/>
        </p:nvSpPr>
        <p:spPr bwMode="auto">
          <a:xfrm>
            <a:off x="7010400" y="5715000"/>
            <a:ext cx="5334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8" name="Line 40"/>
          <p:cNvSpPr>
            <a:spLocks noChangeShapeType="1"/>
          </p:cNvSpPr>
          <p:nvPr/>
        </p:nvSpPr>
        <p:spPr bwMode="auto">
          <a:xfrm flipV="1">
            <a:off x="5334000" y="4114800"/>
            <a:ext cx="152400" cy="7620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099" name="Line 41"/>
          <p:cNvSpPr>
            <a:spLocks noChangeShapeType="1"/>
          </p:cNvSpPr>
          <p:nvPr/>
        </p:nvSpPr>
        <p:spPr bwMode="auto">
          <a:xfrm flipV="1">
            <a:off x="5562600" y="4572000"/>
            <a:ext cx="381000" cy="457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100" name="Line 42"/>
          <p:cNvSpPr>
            <a:spLocks noChangeShapeType="1"/>
          </p:cNvSpPr>
          <p:nvPr/>
        </p:nvSpPr>
        <p:spPr bwMode="auto">
          <a:xfrm flipH="1" flipV="1">
            <a:off x="5943600" y="4495800"/>
            <a:ext cx="304800" cy="533400"/>
          </a:xfrm>
          <a:prstGeom prst="line">
            <a:avLst/>
          </a:prstGeom>
          <a:noFill/>
          <a:ln w="9525">
            <a:solidFill>
              <a:schemeClr val="accent2"/>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101" name="Line 43"/>
          <p:cNvSpPr>
            <a:spLocks noChangeShapeType="1"/>
          </p:cNvSpPr>
          <p:nvPr/>
        </p:nvSpPr>
        <p:spPr bwMode="auto">
          <a:xfrm flipH="1" flipV="1">
            <a:off x="6324600" y="5105400"/>
            <a:ext cx="76200" cy="990600"/>
          </a:xfrm>
          <a:prstGeom prst="line">
            <a:avLst/>
          </a:prstGeom>
          <a:noFill/>
          <a:ln w="9525">
            <a:solidFill>
              <a:schemeClr val="accent2"/>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102" name="Line 44"/>
          <p:cNvSpPr>
            <a:spLocks noChangeShapeType="1"/>
          </p:cNvSpPr>
          <p:nvPr/>
        </p:nvSpPr>
        <p:spPr bwMode="auto">
          <a:xfrm flipH="1" flipV="1">
            <a:off x="6324600" y="3581400"/>
            <a:ext cx="1295400" cy="25146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103" name="Line 45"/>
          <p:cNvSpPr>
            <a:spLocks noChangeShapeType="1"/>
          </p:cNvSpPr>
          <p:nvPr/>
        </p:nvSpPr>
        <p:spPr bwMode="auto">
          <a:xfrm flipV="1">
            <a:off x="6629400" y="5715000"/>
            <a:ext cx="381000" cy="457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104" name="Line 46"/>
          <p:cNvSpPr>
            <a:spLocks noChangeShapeType="1"/>
          </p:cNvSpPr>
          <p:nvPr/>
        </p:nvSpPr>
        <p:spPr bwMode="auto">
          <a:xfrm flipH="1" flipV="1">
            <a:off x="7010400" y="5715000"/>
            <a:ext cx="381000" cy="457200"/>
          </a:xfrm>
          <a:prstGeom prst="line">
            <a:avLst/>
          </a:prstGeom>
          <a:noFill/>
          <a:ln w="9525">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5105" name="Text Box 47"/>
          <p:cNvSpPr txBox="1">
            <a:spLocks noChangeArrowheads="1"/>
          </p:cNvSpPr>
          <p:nvPr/>
        </p:nvSpPr>
        <p:spPr bwMode="auto">
          <a:xfrm>
            <a:off x="5638800" y="4191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s</a:t>
            </a:r>
            <a:endParaRPr lang="en-US" altLang="zh-CN" sz="2400" dirty="0">
              <a:latin typeface="Times New Roman" panose="02020603050405020304" pitchFamily="18" charset="0"/>
              <a:ea typeface="华文楷体" panose="02010600040101010101" pitchFamily="2" charset="-122"/>
            </a:endParaRPr>
          </a:p>
        </p:txBody>
      </p:sp>
      <p:sp>
        <p:nvSpPr>
          <p:cNvPr id="45106" name="Text Box 48"/>
          <p:cNvSpPr txBox="1">
            <a:spLocks noChangeArrowheads="1"/>
          </p:cNvSpPr>
          <p:nvPr/>
        </p:nvSpPr>
        <p:spPr bwMode="auto">
          <a:xfrm>
            <a:off x="6400800" y="45720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t</a:t>
            </a:r>
            <a:endParaRPr lang="en-US" altLang="zh-CN" sz="2400" dirty="0">
              <a:latin typeface="Times New Roman" panose="02020603050405020304" pitchFamily="18" charset="0"/>
              <a:ea typeface="华文楷体" panose="02010600040101010101" pitchFamily="2" charset="-122"/>
            </a:endParaRPr>
          </a:p>
        </p:txBody>
      </p:sp>
      <p:sp>
        <p:nvSpPr>
          <p:cNvPr id="45107" name="AutoShape 49"/>
          <p:cNvSpPr/>
          <p:nvPr/>
        </p:nvSpPr>
        <p:spPr bwMode="auto">
          <a:xfrm>
            <a:off x="381000" y="1676400"/>
            <a:ext cx="228600" cy="1676400"/>
          </a:xfrm>
          <a:prstGeom prst="leftBrace">
            <a:avLst>
              <a:gd name="adj1" fmla="val 6107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页脚占位符 3"/>
          <p:cNvSpPr>
            <a:spLocks noGrp="1"/>
          </p:cNvSpPr>
          <p:nvPr>
            <p:ph type="ftr" sz="quarter" idx="10"/>
          </p:nvPr>
        </p:nvSpPr>
        <p:spPr/>
        <p:txBody>
          <a:bodyPr/>
          <a:lstStyle/>
          <a:p>
            <a:pPr>
              <a:defRPr/>
            </a:pPr>
            <a:r>
              <a:rPr lang="en-US" altLang="zh-CN"/>
              <a:t>BUPT SCST</a:t>
            </a:r>
            <a:endParaRPr lang="en-US" altLang="zh-CN"/>
          </a:p>
        </p:txBody>
      </p:sp>
      <p:sp>
        <p:nvSpPr>
          <p:cNvPr id="47" name="日期占位符 5"/>
          <p:cNvSpPr>
            <a:spLocks noGrp="1"/>
          </p:cNvSpPr>
          <p:nvPr>
            <p:ph type="dt" sz="quarter" idx="12"/>
          </p:nvPr>
        </p:nvSpPr>
        <p:spPr/>
        <p:txBody>
          <a:bodyPr/>
          <a:lstStyle/>
          <a:p>
            <a:pPr>
              <a:defRPr/>
            </a:pPr>
            <a:r>
              <a:rPr lang="en-US" altLang="zh-CN"/>
              <a:t>BUPT</a:t>
            </a:r>
            <a:endParaRPr lang="en-US" altLang="zh-CN"/>
          </a:p>
        </p:txBody>
      </p:sp>
      <p:sp>
        <p:nvSpPr>
          <p:cNvPr id="46084"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6.7 </a:t>
            </a:r>
            <a:r>
              <a:rPr lang="zh-CN" altLang="en-US" sz="2800" dirty="0" smtClean="0">
                <a:ea typeface="华文楷体" panose="02010600040101010101" pitchFamily="2" charset="-122"/>
              </a:rPr>
              <a:t>哈夫曼树</a:t>
            </a:r>
            <a:endParaRPr lang="zh-CN" altLang="en-US" sz="2800" dirty="0" smtClean="0">
              <a:ea typeface="华文楷体" panose="02010600040101010101" pitchFamily="2" charset="-122"/>
            </a:endParaRPr>
          </a:p>
        </p:txBody>
      </p:sp>
      <p:sp>
        <p:nvSpPr>
          <p:cNvPr id="46085" name="Rectangle 3"/>
          <p:cNvSpPr>
            <a:spLocks noGrp="1" noChangeArrowheads="1"/>
          </p:cNvSpPr>
          <p:nvPr>
            <p:ph idx="1"/>
          </p:nvPr>
        </p:nvSpPr>
        <p:spPr>
          <a:xfrm>
            <a:off x="457200" y="1447800"/>
            <a:ext cx="8305800" cy="4648200"/>
          </a:xfrm>
        </p:spPr>
        <p:txBody>
          <a:bodyPr/>
          <a:lstStyle/>
          <a:p>
            <a:pPr eaLnBrk="1" hangingPunct="1">
              <a:buFont typeface="Wingdings" panose="05000000000000000000" pitchFamily="2" charset="2"/>
              <a:buNone/>
            </a:pPr>
            <a:r>
              <a:rPr lang="zh-CN" altLang="en-US" sz="2400" b="1" dirty="0" smtClean="0">
                <a:ea typeface="华文楷体" panose="02010600040101010101" pitchFamily="2" charset="-122"/>
              </a:rPr>
              <a:t>哈夫曼树（最优二叉树）的概念</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a:t>
            </a:r>
            <a:r>
              <a:rPr lang="zh-CN" altLang="en-US" sz="2400" b="1" dirty="0" smtClean="0">
                <a:ea typeface="华文楷体" panose="02010600040101010101" pitchFamily="2" charset="-122"/>
              </a:rPr>
              <a:t>例</a:t>
            </a:r>
            <a:r>
              <a:rPr lang="en-US" altLang="zh-CN" sz="2400" b="1" dirty="0" smtClean="0">
                <a:ea typeface="华文楷体" panose="02010600040101010101" pitchFamily="2" charset="-122"/>
              </a:rPr>
              <a:t>]   </a:t>
            </a:r>
            <a:r>
              <a:rPr lang="zh-CN" altLang="en-US" sz="2400" dirty="0" smtClean="0">
                <a:ea typeface="华文楷体" panose="02010600040101010101" pitchFamily="2" charset="-122"/>
              </a:rPr>
              <a:t>编制将百分制转换为五级分制的程序</a:t>
            </a:r>
            <a:r>
              <a:rPr lang="en-US" altLang="zh-CN" sz="2400" dirty="0" smtClean="0">
                <a:ea typeface="华文楷体" panose="02010600040101010101" pitchFamily="2" charset="-122"/>
              </a:rPr>
              <a:t>(10000</a:t>
            </a:r>
            <a:r>
              <a:rPr lang="zh-CN" altLang="en-US" sz="2400" dirty="0" smtClean="0">
                <a:ea typeface="华文楷体" panose="02010600040101010101" pitchFamily="2" charset="-122"/>
              </a:rPr>
              <a:t>数据</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分数      </a:t>
            </a:r>
            <a:r>
              <a:rPr lang="en-US" altLang="zh-CN" sz="2400" dirty="0" smtClean="0">
                <a:ea typeface="华文楷体" panose="02010600040101010101" pitchFamily="2" charset="-122"/>
              </a:rPr>
              <a:t>0—59  60—69  70—79  80—89  90—100</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比例       </a:t>
            </a:r>
            <a:r>
              <a:rPr lang="en-US" altLang="zh-CN" sz="2400" dirty="0" smtClean="0">
                <a:ea typeface="华文楷体" panose="02010600040101010101" pitchFamily="2" charset="-122"/>
              </a:rPr>
              <a:t>0.05     0.15         0.40       0.30        0.10</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a&lt;60                                                      a&lt;80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bad      a&lt;70                                a&lt;70                    a&lt;90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pass      a&lt;80                    a&lt;60    general    good    excellent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general     a&lt;90           bad     pass</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good   excellent</a:t>
            </a:r>
            <a:endParaRPr lang="en-US" altLang="zh-CN" sz="2400" dirty="0" smtClean="0">
              <a:ea typeface="华文楷体" panose="02010600040101010101" pitchFamily="2" charset="-122"/>
            </a:endParaRPr>
          </a:p>
        </p:txBody>
      </p:sp>
      <p:sp>
        <p:nvSpPr>
          <p:cNvPr id="46086" name="Oval 4"/>
          <p:cNvSpPr>
            <a:spLocks noChangeArrowheads="1"/>
          </p:cNvSpPr>
          <p:nvPr/>
        </p:nvSpPr>
        <p:spPr bwMode="auto">
          <a:xfrm>
            <a:off x="1143000" y="3657600"/>
            <a:ext cx="8382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87" name="Rectangle 5"/>
          <p:cNvSpPr>
            <a:spLocks noChangeArrowheads="1"/>
          </p:cNvSpPr>
          <p:nvPr/>
        </p:nvSpPr>
        <p:spPr bwMode="auto">
          <a:xfrm>
            <a:off x="685800" y="4191000"/>
            <a:ext cx="685800" cy="30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88" name="Oval 6"/>
          <p:cNvSpPr>
            <a:spLocks noChangeArrowheads="1"/>
          </p:cNvSpPr>
          <p:nvPr/>
        </p:nvSpPr>
        <p:spPr bwMode="auto">
          <a:xfrm>
            <a:off x="1600200" y="4114800"/>
            <a:ext cx="8382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89" name="Rectangle 7"/>
          <p:cNvSpPr>
            <a:spLocks noChangeArrowheads="1"/>
          </p:cNvSpPr>
          <p:nvPr/>
        </p:nvSpPr>
        <p:spPr bwMode="auto">
          <a:xfrm>
            <a:off x="990600" y="4648200"/>
            <a:ext cx="762000" cy="304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90" name="Oval 8"/>
          <p:cNvSpPr>
            <a:spLocks noChangeArrowheads="1"/>
          </p:cNvSpPr>
          <p:nvPr/>
        </p:nvSpPr>
        <p:spPr bwMode="auto">
          <a:xfrm>
            <a:off x="1981200" y="4648200"/>
            <a:ext cx="8382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91" name="Rectangle 9"/>
          <p:cNvSpPr>
            <a:spLocks noChangeArrowheads="1"/>
          </p:cNvSpPr>
          <p:nvPr/>
        </p:nvSpPr>
        <p:spPr bwMode="auto">
          <a:xfrm>
            <a:off x="1143000" y="5105400"/>
            <a:ext cx="11430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92" name="Oval 10"/>
          <p:cNvSpPr>
            <a:spLocks noChangeArrowheads="1"/>
          </p:cNvSpPr>
          <p:nvPr/>
        </p:nvSpPr>
        <p:spPr bwMode="auto">
          <a:xfrm>
            <a:off x="2362200" y="5103920"/>
            <a:ext cx="9144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93" name="Rectangle 11"/>
          <p:cNvSpPr>
            <a:spLocks noChangeArrowheads="1"/>
          </p:cNvSpPr>
          <p:nvPr/>
        </p:nvSpPr>
        <p:spPr bwMode="auto">
          <a:xfrm>
            <a:off x="1600200" y="58674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94" name="Rectangle 12"/>
          <p:cNvSpPr>
            <a:spLocks noChangeArrowheads="1"/>
          </p:cNvSpPr>
          <p:nvPr/>
        </p:nvSpPr>
        <p:spPr bwMode="auto">
          <a:xfrm>
            <a:off x="2514600" y="5867400"/>
            <a:ext cx="13716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095" name="Line 13"/>
          <p:cNvSpPr>
            <a:spLocks noChangeShapeType="1"/>
          </p:cNvSpPr>
          <p:nvPr/>
        </p:nvSpPr>
        <p:spPr bwMode="auto">
          <a:xfrm flipH="1">
            <a:off x="1066800" y="4038600"/>
            <a:ext cx="3810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096" name="Line 14"/>
          <p:cNvSpPr>
            <a:spLocks noChangeShapeType="1"/>
          </p:cNvSpPr>
          <p:nvPr/>
        </p:nvSpPr>
        <p:spPr bwMode="auto">
          <a:xfrm>
            <a:off x="1676400" y="4038600"/>
            <a:ext cx="304800" cy="76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097" name="Line 15"/>
          <p:cNvSpPr>
            <a:spLocks noChangeShapeType="1"/>
          </p:cNvSpPr>
          <p:nvPr/>
        </p:nvSpPr>
        <p:spPr bwMode="auto">
          <a:xfrm flipH="1">
            <a:off x="1371600" y="4495800"/>
            <a:ext cx="533400" cy="228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098" name="Line 16"/>
          <p:cNvSpPr>
            <a:spLocks noChangeShapeType="1"/>
          </p:cNvSpPr>
          <p:nvPr/>
        </p:nvSpPr>
        <p:spPr bwMode="auto">
          <a:xfrm>
            <a:off x="2057400" y="4495800"/>
            <a:ext cx="3810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099" name="Line 17"/>
          <p:cNvSpPr>
            <a:spLocks noChangeShapeType="1"/>
          </p:cNvSpPr>
          <p:nvPr/>
        </p:nvSpPr>
        <p:spPr bwMode="auto">
          <a:xfrm flipH="1">
            <a:off x="1752600" y="5029200"/>
            <a:ext cx="5334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00" name="Line 18"/>
          <p:cNvSpPr>
            <a:spLocks noChangeShapeType="1"/>
          </p:cNvSpPr>
          <p:nvPr/>
        </p:nvSpPr>
        <p:spPr bwMode="auto">
          <a:xfrm>
            <a:off x="2438400" y="5029200"/>
            <a:ext cx="3810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01" name="Line 19"/>
          <p:cNvSpPr>
            <a:spLocks noChangeShapeType="1"/>
          </p:cNvSpPr>
          <p:nvPr/>
        </p:nvSpPr>
        <p:spPr bwMode="auto">
          <a:xfrm flipH="1">
            <a:off x="1981200" y="5486400"/>
            <a:ext cx="68580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02" name="Line 20"/>
          <p:cNvSpPr>
            <a:spLocks noChangeShapeType="1"/>
          </p:cNvSpPr>
          <p:nvPr/>
        </p:nvSpPr>
        <p:spPr bwMode="auto">
          <a:xfrm>
            <a:off x="2667000" y="5486400"/>
            <a:ext cx="53340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03" name="Oval 21"/>
          <p:cNvSpPr>
            <a:spLocks noChangeArrowheads="1"/>
          </p:cNvSpPr>
          <p:nvPr/>
        </p:nvSpPr>
        <p:spPr bwMode="auto">
          <a:xfrm>
            <a:off x="5867400" y="3657600"/>
            <a:ext cx="9144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04" name="Oval 22"/>
          <p:cNvSpPr>
            <a:spLocks noChangeArrowheads="1"/>
          </p:cNvSpPr>
          <p:nvPr/>
        </p:nvSpPr>
        <p:spPr bwMode="auto">
          <a:xfrm>
            <a:off x="4648200" y="4114800"/>
            <a:ext cx="9144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05" name="Oval 23"/>
          <p:cNvSpPr>
            <a:spLocks noChangeArrowheads="1"/>
          </p:cNvSpPr>
          <p:nvPr/>
        </p:nvSpPr>
        <p:spPr bwMode="auto">
          <a:xfrm>
            <a:off x="6781800" y="4114800"/>
            <a:ext cx="9144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06" name="Oval 24"/>
          <p:cNvSpPr>
            <a:spLocks noChangeArrowheads="1"/>
          </p:cNvSpPr>
          <p:nvPr/>
        </p:nvSpPr>
        <p:spPr bwMode="auto">
          <a:xfrm>
            <a:off x="4114800" y="4648200"/>
            <a:ext cx="8382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07" name="Rectangle 25"/>
          <p:cNvSpPr>
            <a:spLocks noChangeArrowheads="1"/>
          </p:cNvSpPr>
          <p:nvPr/>
        </p:nvSpPr>
        <p:spPr bwMode="auto">
          <a:xfrm>
            <a:off x="5029200" y="4648200"/>
            <a:ext cx="11430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08" name="Rectangle 26"/>
          <p:cNvSpPr>
            <a:spLocks noChangeArrowheads="1"/>
          </p:cNvSpPr>
          <p:nvPr/>
        </p:nvSpPr>
        <p:spPr bwMode="auto">
          <a:xfrm>
            <a:off x="6248400" y="4648200"/>
            <a:ext cx="838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09" name="Rectangle 27"/>
          <p:cNvSpPr>
            <a:spLocks noChangeArrowheads="1"/>
          </p:cNvSpPr>
          <p:nvPr/>
        </p:nvSpPr>
        <p:spPr bwMode="auto">
          <a:xfrm>
            <a:off x="7162800" y="4648200"/>
            <a:ext cx="12954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10" name="Rectangle 28"/>
          <p:cNvSpPr>
            <a:spLocks noChangeArrowheads="1"/>
          </p:cNvSpPr>
          <p:nvPr/>
        </p:nvSpPr>
        <p:spPr bwMode="auto">
          <a:xfrm>
            <a:off x="3810000" y="5105400"/>
            <a:ext cx="685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11" name="Rectangle 29"/>
          <p:cNvSpPr>
            <a:spLocks noChangeArrowheads="1"/>
          </p:cNvSpPr>
          <p:nvPr/>
        </p:nvSpPr>
        <p:spPr bwMode="auto">
          <a:xfrm>
            <a:off x="4572000" y="5105400"/>
            <a:ext cx="7620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6112" name="Line 30"/>
          <p:cNvSpPr>
            <a:spLocks noChangeShapeType="1"/>
          </p:cNvSpPr>
          <p:nvPr/>
        </p:nvSpPr>
        <p:spPr bwMode="auto">
          <a:xfrm flipH="1">
            <a:off x="5334000" y="3962400"/>
            <a:ext cx="6096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13" name="Line 31"/>
          <p:cNvSpPr>
            <a:spLocks noChangeShapeType="1"/>
          </p:cNvSpPr>
          <p:nvPr/>
        </p:nvSpPr>
        <p:spPr bwMode="auto">
          <a:xfrm>
            <a:off x="6629400" y="3962400"/>
            <a:ext cx="6096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14" name="Line 32"/>
          <p:cNvSpPr>
            <a:spLocks noChangeShapeType="1"/>
          </p:cNvSpPr>
          <p:nvPr/>
        </p:nvSpPr>
        <p:spPr bwMode="auto">
          <a:xfrm flipH="1">
            <a:off x="4572000" y="4495800"/>
            <a:ext cx="3810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15" name="Line 33"/>
          <p:cNvSpPr>
            <a:spLocks noChangeShapeType="1"/>
          </p:cNvSpPr>
          <p:nvPr/>
        </p:nvSpPr>
        <p:spPr bwMode="auto">
          <a:xfrm>
            <a:off x="5181600" y="4495800"/>
            <a:ext cx="3810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16" name="Line 34"/>
          <p:cNvSpPr>
            <a:spLocks noChangeShapeType="1"/>
          </p:cNvSpPr>
          <p:nvPr/>
        </p:nvSpPr>
        <p:spPr bwMode="auto">
          <a:xfrm flipH="1">
            <a:off x="6629400" y="4495800"/>
            <a:ext cx="5334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17" name="Line 35"/>
          <p:cNvSpPr>
            <a:spLocks noChangeShapeType="1"/>
          </p:cNvSpPr>
          <p:nvPr/>
        </p:nvSpPr>
        <p:spPr bwMode="auto">
          <a:xfrm>
            <a:off x="7315200" y="4495800"/>
            <a:ext cx="3810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18" name="Line 36"/>
          <p:cNvSpPr>
            <a:spLocks noChangeShapeType="1"/>
          </p:cNvSpPr>
          <p:nvPr/>
        </p:nvSpPr>
        <p:spPr bwMode="auto">
          <a:xfrm flipH="1">
            <a:off x="4191000" y="5029200"/>
            <a:ext cx="1524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19" name="Line 37"/>
          <p:cNvSpPr>
            <a:spLocks noChangeShapeType="1"/>
          </p:cNvSpPr>
          <p:nvPr/>
        </p:nvSpPr>
        <p:spPr bwMode="auto">
          <a:xfrm>
            <a:off x="4648200" y="5029200"/>
            <a:ext cx="304800" cy="1524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20" name="Text Box 38"/>
          <p:cNvSpPr txBox="1">
            <a:spLocks noChangeArrowheads="1"/>
          </p:cNvSpPr>
          <p:nvPr/>
        </p:nvSpPr>
        <p:spPr bwMode="auto">
          <a:xfrm>
            <a:off x="990600" y="3886200"/>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1600" dirty="0">
                <a:latin typeface="Times New Roman" panose="02020603050405020304" pitchFamily="18" charset="0"/>
                <a:ea typeface="华文楷体" panose="02010600040101010101" pitchFamily="2" charset="-122"/>
              </a:rPr>
              <a:t>Y             N</a:t>
            </a:r>
            <a:endParaRPr lang="en-US" altLang="zh-CN" sz="1600" dirty="0">
              <a:latin typeface="Times New Roman" panose="02020603050405020304" pitchFamily="18" charset="0"/>
              <a:ea typeface="华文楷体" panose="02010600040101010101" pitchFamily="2" charset="-122"/>
            </a:endParaRPr>
          </a:p>
        </p:txBody>
      </p:sp>
      <p:sp>
        <p:nvSpPr>
          <p:cNvPr id="46121" name="Text Box 39"/>
          <p:cNvSpPr txBox="1">
            <a:spLocks noChangeArrowheads="1"/>
          </p:cNvSpPr>
          <p:nvPr/>
        </p:nvSpPr>
        <p:spPr bwMode="auto">
          <a:xfrm>
            <a:off x="5410200" y="381000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1600" dirty="0">
                <a:latin typeface="Times New Roman" panose="02020603050405020304" pitchFamily="18" charset="0"/>
                <a:ea typeface="华文楷体" panose="02010600040101010101" pitchFamily="2" charset="-122"/>
              </a:rPr>
              <a:t>Y                         N</a:t>
            </a:r>
            <a:endParaRPr lang="en-US" altLang="zh-CN" sz="1600" dirty="0">
              <a:latin typeface="Times New Roman" panose="02020603050405020304" pitchFamily="18" charset="0"/>
              <a:ea typeface="华文楷体" panose="02010600040101010101" pitchFamily="2" charset="-122"/>
            </a:endParaRPr>
          </a:p>
        </p:txBody>
      </p:sp>
      <p:sp>
        <p:nvSpPr>
          <p:cNvPr id="46122" name="Text Box 40"/>
          <p:cNvSpPr txBox="1">
            <a:spLocks noChangeArrowheads="1"/>
          </p:cNvSpPr>
          <p:nvPr/>
        </p:nvSpPr>
        <p:spPr bwMode="auto">
          <a:xfrm>
            <a:off x="304800" y="55626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u="sng" dirty="0">
                <a:latin typeface="Times New Roman" panose="02020603050405020304" pitchFamily="18" charset="0"/>
                <a:ea typeface="华文楷体" panose="02010600040101010101" pitchFamily="2" charset="-122"/>
              </a:rPr>
              <a:t>31500</a:t>
            </a:r>
            <a:r>
              <a:rPr lang="zh-CN" altLang="en-US" sz="2000" u="sng" dirty="0">
                <a:latin typeface="Times New Roman" panose="02020603050405020304" pitchFamily="18" charset="0"/>
                <a:ea typeface="华文楷体" panose="02010600040101010101" pitchFamily="2" charset="-122"/>
              </a:rPr>
              <a:t>次</a:t>
            </a:r>
            <a:endParaRPr lang="zh-CN" altLang="en-US" sz="2000" u="sng" dirty="0">
              <a:latin typeface="Times New Roman" panose="02020603050405020304" pitchFamily="18" charset="0"/>
              <a:ea typeface="华文楷体" panose="02010600040101010101" pitchFamily="2" charset="-122"/>
            </a:endParaRPr>
          </a:p>
        </p:txBody>
      </p:sp>
      <p:sp>
        <p:nvSpPr>
          <p:cNvPr id="46123" name="Text Box 41"/>
          <p:cNvSpPr txBox="1">
            <a:spLocks noChangeArrowheads="1"/>
          </p:cNvSpPr>
          <p:nvPr/>
        </p:nvSpPr>
        <p:spPr bwMode="auto">
          <a:xfrm>
            <a:off x="6172200" y="5486400"/>
            <a:ext cx="1371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u="sng" dirty="0">
                <a:latin typeface="Times New Roman" panose="02020603050405020304" pitchFamily="18" charset="0"/>
                <a:ea typeface="华文楷体" panose="02010600040101010101" pitchFamily="2" charset="-122"/>
              </a:rPr>
              <a:t>22000</a:t>
            </a:r>
            <a:r>
              <a:rPr lang="zh-CN" altLang="en-US" sz="2000" u="sng" dirty="0">
                <a:latin typeface="Times New Roman" panose="02020603050405020304" pitchFamily="18" charset="0"/>
                <a:ea typeface="华文楷体" panose="02010600040101010101" pitchFamily="2" charset="-122"/>
              </a:rPr>
              <a:t>次</a:t>
            </a:r>
            <a:endParaRPr lang="zh-CN" altLang="en-US" sz="2000" u="sng" dirty="0">
              <a:latin typeface="Times New Roman" panose="02020603050405020304" pitchFamily="18" charset="0"/>
              <a:ea typeface="华文楷体" panose="02010600040101010101" pitchFamily="2" charset="-122"/>
            </a:endParaRPr>
          </a:p>
        </p:txBody>
      </p:sp>
      <p:sp>
        <p:nvSpPr>
          <p:cNvPr id="46124" name="Line 42"/>
          <p:cNvSpPr>
            <a:spLocks noChangeShapeType="1"/>
          </p:cNvSpPr>
          <p:nvPr/>
        </p:nvSpPr>
        <p:spPr bwMode="auto">
          <a:xfrm>
            <a:off x="1066800" y="2362200"/>
            <a:ext cx="7162800"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25" name="Line 43"/>
          <p:cNvSpPr>
            <a:spLocks noChangeShapeType="1"/>
          </p:cNvSpPr>
          <p:nvPr/>
        </p:nvSpPr>
        <p:spPr bwMode="auto">
          <a:xfrm>
            <a:off x="1066800" y="2895600"/>
            <a:ext cx="7162800"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26" name="Line 44"/>
          <p:cNvSpPr>
            <a:spLocks noChangeShapeType="1"/>
          </p:cNvSpPr>
          <p:nvPr/>
        </p:nvSpPr>
        <p:spPr bwMode="auto">
          <a:xfrm>
            <a:off x="1066800" y="3352800"/>
            <a:ext cx="7162800"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46127" name="Line 45"/>
          <p:cNvSpPr>
            <a:spLocks noChangeShapeType="1"/>
          </p:cNvSpPr>
          <p:nvPr/>
        </p:nvSpPr>
        <p:spPr bwMode="auto">
          <a:xfrm>
            <a:off x="2057400" y="2362200"/>
            <a:ext cx="1588" cy="990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0"/>
          </p:nvPr>
        </p:nvSpPr>
        <p:spPr/>
        <p:txBody>
          <a:bodyPr/>
          <a:lstStyle/>
          <a:p>
            <a:pPr>
              <a:defRPr/>
            </a:pPr>
            <a:r>
              <a:rPr lang="en-US" altLang="zh-CN"/>
              <a:t>BUPT SCST</a:t>
            </a:r>
            <a:endParaRPr lang="en-US" altLang="zh-CN"/>
          </a:p>
        </p:txBody>
      </p:sp>
      <p:sp>
        <p:nvSpPr>
          <p:cNvPr id="6" name="日期占位符 6"/>
          <p:cNvSpPr>
            <a:spLocks noGrp="1"/>
          </p:cNvSpPr>
          <p:nvPr>
            <p:ph type="dt" sz="quarter" idx="12"/>
          </p:nvPr>
        </p:nvSpPr>
        <p:spPr/>
        <p:txBody>
          <a:bodyPr/>
          <a:lstStyle/>
          <a:p>
            <a:pPr>
              <a:defRPr/>
            </a:pPr>
            <a:r>
              <a:rPr lang="en-US" altLang="zh-CN"/>
              <a:t>BUPT</a:t>
            </a:r>
            <a:endParaRPr lang="en-US" altLang="zh-CN"/>
          </a:p>
        </p:txBody>
      </p:sp>
      <p:sp>
        <p:nvSpPr>
          <p:cNvPr id="4710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7109" name="Rectangle 3"/>
          <p:cNvSpPr>
            <a:spLocks noGrp="1" noChangeArrowheads="1"/>
          </p:cNvSpPr>
          <p:nvPr>
            <p:ph type="body" sz="half" idx="1"/>
          </p:nvPr>
        </p:nvSpPr>
        <p:spPr>
          <a:xfrm>
            <a:off x="457200" y="1152525"/>
            <a:ext cx="8229600" cy="5248275"/>
          </a:xfrm>
        </p:spPr>
        <p:txBody>
          <a:bodyPr/>
          <a:lstStyle/>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树的路径长度   </a:t>
            </a:r>
            <a:r>
              <a:rPr lang="zh-CN" altLang="en-US" sz="2400" dirty="0" smtClean="0">
                <a:ea typeface="华文楷体" panose="02010600040101010101" pitchFamily="2" charset="-122"/>
              </a:rPr>
              <a:t>从树根到每一个结点的路径上的分支数。</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带权路径长度</a:t>
            </a:r>
            <a:r>
              <a:rPr lang="zh-CN" altLang="en-US" sz="2400" b="1" dirty="0" smtClean="0">
                <a:solidFill>
                  <a:schemeClr val="accent2"/>
                </a:solidFill>
                <a:ea typeface="华文楷体" panose="02010600040101010101" pitchFamily="2" charset="-122"/>
              </a:rPr>
              <a:t>   </a:t>
            </a:r>
            <a:r>
              <a:rPr lang="zh-CN" altLang="en-US" sz="2400" dirty="0" smtClean="0">
                <a:ea typeface="华文楷体" panose="02010600040101010101" pitchFamily="2" charset="-122"/>
              </a:rPr>
              <a:t>结点的路径长度与该结点的权之积。</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树的带权路径长度   </a:t>
            </a:r>
            <a:r>
              <a:rPr lang="zh-CN" altLang="en-US" sz="2400" dirty="0" smtClean="0">
                <a:ea typeface="华文楷体" panose="02010600040101010101" pitchFamily="2" charset="-122"/>
              </a:rPr>
              <a:t>树中所有叶子结点的带权路径长度之和。</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endParaRPr lang="zh-CN" altLang="en-US"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endParaRPr lang="zh-CN" altLang="en-US"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最优二叉树</a:t>
            </a: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哈夫曼树</a:t>
            </a:r>
            <a:r>
              <a:rPr lang="en-US" altLang="zh-CN" sz="2400" b="1" dirty="0" smtClean="0">
                <a:solidFill>
                  <a:srgbClr val="FF3300"/>
                </a:solidFill>
                <a:ea typeface="华文楷体" panose="02010600040101010101" pitchFamily="2" charset="-122"/>
              </a:rPr>
              <a:t>)   </a:t>
            </a:r>
            <a:r>
              <a:rPr lang="zh-CN" altLang="en-US" sz="2400" dirty="0" smtClean="0">
                <a:ea typeface="华文楷体" panose="02010600040101010101" pitchFamily="2" charset="-122"/>
              </a:rPr>
              <a:t>带权路径长度</a:t>
            </a:r>
            <a:r>
              <a:rPr lang="en-US" altLang="zh-CN" sz="2400" dirty="0" smtClean="0">
                <a:ea typeface="华文楷体" panose="02010600040101010101" pitchFamily="2" charset="-122"/>
              </a:rPr>
              <a:t>WPL</a:t>
            </a:r>
            <a:r>
              <a:rPr lang="zh-CN" altLang="en-US" sz="2400" dirty="0" smtClean="0">
                <a:ea typeface="华文楷体" panose="02010600040101010101" pitchFamily="2" charset="-122"/>
              </a:rPr>
              <a:t>最小的                          </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二叉树。</a:t>
            </a:r>
            <a:endParaRPr lang="zh-CN" altLang="en-US" sz="2400" dirty="0" smtClean="0">
              <a:ea typeface="华文楷体" panose="02010600040101010101" pitchFamily="2" charset="-122"/>
            </a:endParaRPr>
          </a:p>
        </p:txBody>
      </p:sp>
      <p:graphicFrame>
        <p:nvGraphicFramePr>
          <p:cNvPr id="47110" name="Object 4"/>
          <p:cNvGraphicFramePr>
            <a:graphicFrameLocks noGrp="1" noChangeAspect="1"/>
          </p:cNvGraphicFramePr>
          <p:nvPr>
            <p:ph sz="half" idx="2"/>
          </p:nvPr>
        </p:nvGraphicFramePr>
        <p:xfrm>
          <a:off x="1828800" y="2438400"/>
          <a:ext cx="4800600" cy="1914525"/>
        </p:xfrm>
        <a:graphic>
          <a:graphicData uri="http://schemas.openxmlformats.org/presentationml/2006/ole">
            <mc:AlternateContent xmlns:mc="http://schemas.openxmlformats.org/markup-compatibility/2006">
              <mc:Choice xmlns:v="urn:schemas-microsoft-com:vml" Requires="v">
                <p:oleObj spid="_x0000_s47319" name="" r:id="rId1" imgW="2324100" imgH="927100" progId="Equation.3">
                  <p:embed/>
                </p:oleObj>
              </mc:Choice>
              <mc:Fallback>
                <p:oleObj name="" r:id="rId1" imgW="2324100" imgH="927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438400"/>
                        <a:ext cx="4800600"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页脚占位符 3"/>
          <p:cNvSpPr>
            <a:spLocks noGrp="1"/>
          </p:cNvSpPr>
          <p:nvPr>
            <p:ph type="ftr" sz="quarter" idx="10"/>
          </p:nvPr>
        </p:nvSpPr>
        <p:spPr/>
        <p:txBody>
          <a:bodyPr/>
          <a:lstStyle/>
          <a:p>
            <a:pPr>
              <a:defRPr/>
            </a:pPr>
            <a:r>
              <a:rPr lang="en-US" altLang="zh-CN"/>
              <a:t>BUPT SCST</a:t>
            </a:r>
            <a:endParaRPr lang="en-US" altLang="zh-CN"/>
          </a:p>
        </p:txBody>
      </p:sp>
      <p:sp>
        <p:nvSpPr>
          <p:cNvPr id="64" name="日期占位符 5"/>
          <p:cNvSpPr>
            <a:spLocks noGrp="1"/>
          </p:cNvSpPr>
          <p:nvPr>
            <p:ph type="dt" sz="quarter" idx="12"/>
          </p:nvPr>
        </p:nvSpPr>
        <p:spPr/>
        <p:txBody>
          <a:bodyPr/>
          <a:lstStyle/>
          <a:p>
            <a:pPr>
              <a:defRPr/>
            </a:pPr>
            <a:r>
              <a:rPr lang="en-US" altLang="zh-CN"/>
              <a:t>BUPT</a:t>
            </a:r>
            <a:endParaRPr lang="en-US" altLang="zh-CN"/>
          </a:p>
        </p:txBody>
      </p:sp>
      <p:sp>
        <p:nvSpPr>
          <p:cNvPr id="4813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8133" name="Rectangle 3"/>
          <p:cNvSpPr>
            <a:spLocks noChangeArrowheads="1"/>
          </p:cNvSpPr>
          <p:nvPr/>
        </p:nvSpPr>
        <p:spPr bwMode="auto">
          <a:xfrm>
            <a:off x="685800" y="9906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600" dirty="0">
                <a:solidFill>
                  <a:schemeClr val="accent2"/>
                </a:solidFill>
                <a:latin typeface="Verdana" panose="020B0604030504040204" pitchFamily="34" charset="0"/>
                <a:ea typeface="华文楷体" panose="02010600040101010101" pitchFamily="2" charset="-122"/>
              </a:rPr>
              <a:t>[</a:t>
            </a:r>
            <a:r>
              <a:rPr lang="zh-CN" altLang="en-US" sz="1600" dirty="0">
                <a:solidFill>
                  <a:schemeClr val="accent2"/>
                </a:solidFill>
                <a:latin typeface="Verdana" panose="020B0604030504040204" pitchFamily="34" charset="0"/>
                <a:ea typeface="华文楷体" panose="02010600040101010101" pitchFamily="2" charset="-122"/>
              </a:rPr>
              <a:t>例</a:t>
            </a:r>
            <a:r>
              <a:rPr lang="en-US" altLang="zh-CN" sz="1600" dirty="0">
                <a:solidFill>
                  <a:schemeClr val="accent2"/>
                </a:solidFill>
                <a:latin typeface="Verdana" panose="020B0604030504040204" pitchFamily="34" charset="0"/>
                <a:ea typeface="华文楷体" panose="02010600040101010101" pitchFamily="2" charset="-122"/>
              </a:rPr>
              <a:t>]</a:t>
            </a:r>
            <a:r>
              <a:rPr lang="en-US" altLang="zh-CN" sz="1600" dirty="0">
                <a:latin typeface="Verdana" panose="020B0604030504040204" pitchFamily="34" charset="0"/>
                <a:ea typeface="华文楷体" panose="02010600040101010101" pitchFamily="2" charset="-122"/>
              </a:rPr>
              <a:t>  </a:t>
            </a:r>
            <a:r>
              <a:rPr lang="zh-CN" altLang="en-US" sz="1600" b="1" dirty="0">
                <a:latin typeface="Verdana" panose="020B0604030504040204" pitchFamily="34" charset="0"/>
                <a:ea typeface="华文楷体" panose="02010600040101010101" pitchFamily="2" charset="-122"/>
              </a:rPr>
              <a:t>有</a:t>
            </a:r>
            <a:r>
              <a:rPr lang="en-US" altLang="zh-CN" sz="1600" b="1" dirty="0">
                <a:latin typeface="Verdana" panose="020B0604030504040204" pitchFamily="34" charset="0"/>
                <a:ea typeface="华文楷体" panose="02010600040101010101" pitchFamily="2" charset="-122"/>
              </a:rPr>
              <a:t>4</a:t>
            </a:r>
            <a:r>
              <a:rPr lang="zh-CN" altLang="en-US" sz="1600" b="1" dirty="0">
                <a:latin typeface="Verdana" panose="020B0604030504040204" pitchFamily="34" charset="0"/>
                <a:ea typeface="华文楷体" panose="02010600040101010101" pitchFamily="2" charset="-122"/>
              </a:rPr>
              <a:t>个结点，权值分别为</a:t>
            </a:r>
            <a:r>
              <a:rPr lang="en-US" altLang="zh-CN" sz="1600" b="1" dirty="0">
                <a:latin typeface="Verdana" panose="020B0604030504040204" pitchFamily="34" charset="0"/>
                <a:ea typeface="华文楷体" panose="02010600040101010101" pitchFamily="2" charset="-122"/>
              </a:rPr>
              <a:t>7</a:t>
            </a:r>
            <a:r>
              <a:rPr lang="zh-CN" altLang="en-US" sz="1600" b="1" dirty="0">
                <a:latin typeface="Verdana" panose="020B0604030504040204" pitchFamily="34" charset="0"/>
                <a:ea typeface="华文楷体" panose="02010600040101010101" pitchFamily="2" charset="-122"/>
              </a:rPr>
              <a:t>，</a:t>
            </a:r>
            <a:r>
              <a:rPr lang="en-US" altLang="zh-CN" sz="1600" b="1" dirty="0">
                <a:latin typeface="Verdana" panose="020B0604030504040204" pitchFamily="34" charset="0"/>
                <a:ea typeface="华文楷体" panose="02010600040101010101" pitchFamily="2" charset="-122"/>
              </a:rPr>
              <a:t>5</a:t>
            </a:r>
            <a:r>
              <a:rPr lang="zh-CN" altLang="en-US" sz="1600" b="1" dirty="0">
                <a:latin typeface="Verdana" panose="020B0604030504040204" pitchFamily="34" charset="0"/>
                <a:ea typeface="华文楷体" panose="02010600040101010101" pitchFamily="2" charset="-122"/>
              </a:rPr>
              <a:t>，</a:t>
            </a:r>
            <a:r>
              <a:rPr lang="en-US" altLang="zh-CN" sz="1600" b="1" dirty="0">
                <a:latin typeface="Verdana" panose="020B0604030504040204" pitchFamily="34" charset="0"/>
                <a:ea typeface="华文楷体" panose="02010600040101010101" pitchFamily="2" charset="-122"/>
              </a:rPr>
              <a:t>2</a:t>
            </a:r>
            <a:r>
              <a:rPr lang="zh-CN" altLang="en-US" sz="1600" b="1" dirty="0">
                <a:latin typeface="Verdana" panose="020B0604030504040204" pitchFamily="34" charset="0"/>
                <a:ea typeface="华文楷体" panose="02010600040101010101" pitchFamily="2" charset="-122"/>
              </a:rPr>
              <a:t>，</a:t>
            </a:r>
            <a:r>
              <a:rPr lang="en-US" altLang="zh-CN" sz="1600" b="1" dirty="0">
                <a:latin typeface="Verdana" panose="020B0604030504040204" pitchFamily="34" charset="0"/>
                <a:ea typeface="华文楷体" panose="02010600040101010101" pitchFamily="2" charset="-122"/>
              </a:rPr>
              <a:t>4</a:t>
            </a:r>
            <a:r>
              <a:rPr lang="zh-CN" altLang="en-US" sz="1600" b="1" dirty="0">
                <a:latin typeface="Verdana" panose="020B0604030504040204" pitchFamily="34" charset="0"/>
                <a:ea typeface="华文楷体" panose="02010600040101010101" pitchFamily="2" charset="-122"/>
              </a:rPr>
              <a:t>，构造有</a:t>
            </a:r>
            <a:r>
              <a:rPr lang="en-US" altLang="zh-CN" sz="1600" b="1" dirty="0">
                <a:latin typeface="Verdana" panose="020B0604030504040204" pitchFamily="34" charset="0"/>
                <a:ea typeface="华文楷体" panose="02010600040101010101" pitchFamily="2" charset="-122"/>
              </a:rPr>
              <a:t>4</a:t>
            </a:r>
            <a:r>
              <a:rPr lang="zh-CN" altLang="en-US" sz="1600" b="1" dirty="0">
                <a:latin typeface="Verdana" panose="020B0604030504040204" pitchFamily="34" charset="0"/>
                <a:ea typeface="华文楷体" panose="02010600040101010101" pitchFamily="2" charset="-122"/>
              </a:rPr>
              <a:t>个</a:t>
            </a:r>
            <a:br>
              <a:rPr lang="zh-CN" altLang="en-US" sz="1600" b="1" dirty="0">
                <a:latin typeface="Verdana" panose="020B0604030504040204" pitchFamily="34" charset="0"/>
                <a:ea typeface="华文楷体" panose="02010600040101010101" pitchFamily="2" charset="-122"/>
              </a:rPr>
            </a:br>
            <a:r>
              <a:rPr lang="zh-CN" altLang="en-US" sz="1600" b="1" dirty="0">
                <a:latin typeface="Verdana" panose="020B0604030504040204" pitchFamily="34" charset="0"/>
                <a:ea typeface="华文楷体" panose="02010600040101010101" pitchFamily="2" charset="-122"/>
              </a:rPr>
              <a:t>          叶子结点的二叉树</a:t>
            </a:r>
            <a:r>
              <a:rPr lang="zh-CN" altLang="en-US" sz="1600" b="1" dirty="0">
                <a:solidFill>
                  <a:schemeClr val="bg1"/>
                </a:solidFill>
                <a:latin typeface="Verdana" panose="020B0604030504040204" pitchFamily="34" charset="0"/>
                <a:ea typeface="华文楷体" panose="02010600040101010101" pitchFamily="2" charset="-122"/>
              </a:rPr>
              <a:t>。</a:t>
            </a:r>
            <a:endParaRPr lang="zh-CN" altLang="en-US" sz="1600" b="1" dirty="0">
              <a:solidFill>
                <a:schemeClr val="bg1"/>
              </a:solidFill>
              <a:latin typeface="Verdana" panose="020B0604030504040204" pitchFamily="34" charset="0"/>
              <a:ea typeface="华文楷体" panose="02010600040101010101" pitchFamily="2" charset="-122"/>
            </a:endParaRPr>
          </a:p>
        </p:txBody>
      </p:sp>
      <p:grpSp>
        <p:nvGrpSpPr>
          <p:cNvPr id="45060" name="Group 4"/>
          <p:cNvGrpSpPr/>
          <p:nvPr/>
        </p:nvGrpSpPr>
        <p:grpSpPr bwMode="auto">
          <a:xfrm>
            <a:off x="5067300" y="1123950"/>
            <a:ext cx="3124200" cy="2362200"/>
            <a:chOff x="3120" y="144"/>
            <a:chExt cx="1968" cy="1488"/>
          </a:xfrm>
        </p:grpSpPr>
        <p:grpSp>
          <p:nvGrpSpPr>
            <p:cNvPr id="48175" name="Group 5"/>
            <p:cNvGrpSpPr/>
            <p:nvPr/>
          </p:nvGrpSpPr>
          <p:grpSpPr bwMode="auto">
            <a:xfrm>
              <a:off x="3120" y="144"/>
              <a:ext cx="1968" cy="1200"/>
              <a:chOff x="3120" y="144"/>
              <a:chExt cx="1968" cy="1200"/>
            </a:xfrm>
          </p:grpSpPr>
          <p:sp>
            <p:nvSpPr>
              <p:cNvPr id="48180" name="Oval 6"/>
              <p:cNvSpPr>
                <a:spLocks noChangeArrowheads="1"/>
              </p:cNvSpPr>
              <p:nvPr/>
            </p:nvSpPr>
            <p:spPr bwMode="auto">
              <a:xfrm>
                <a:off x="3984" y="144"/>
                <a:ext cx="240" cy="240"/>
              </a:xfrm>
              <a:prstGeom prst="ellipse">
                <a:avLst/>
              </a:prstGeom>
              <a:solidFill>
                <a:schemeClr val="accent1"/>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8181" name="Oval 7"/>
              <p:cNvSpPr>
                <a:spLocks noChangeArrowheads="1"/>
              </p:cNvSpPr>
              <p:nvPr/>
            </p:nvSpPr>
            <p:spPr bwMode="auto">
              <a:xfrm>
                <a:off x="3504" y="576"/>
                <a:ext cx="240" cy="240"/>
              </a:xfrm>
              <a:prstGeom prst="ellipse">
                <a:avLst/>
              </a:prstGeom>
              <a:solidFill>
                <a:schemeClr val="accent1"/>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8182" name="Oval 8"/>
              <p:cNvSpPr>
                <a:spLocks noChangeArrowheads="1"/>
              </p:cNvSpPr>
              <p:nvPr/>
            </p:nvSpPr>
            <p:spPr bwMode="auto">
              <a:xfrm>
                <a:off x="3120" y="1104"/>
                <a:ext cx="240" cy="240"/>
              </a:xfrm>
              <a:prstGeom prst="ellipse">
                <a:avLst/>
              </a:prstGeom>
              <a:solidFill>
                <a:schemeClr val="accent1"/>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a</a:t>
                </a:r>
                <a:endParaRPr lang="en-US" altLang="zh-CN" sz="2400" b="1" dirty="0">
                  <a:latin typeface="Times New Roman" panose="02020603050405020304" pitchFamily="18" charset="0"/>
                  <a:ea typeface="华文楷体" panose="02010600040101010101" pitchFamily="2" charset="-122"/>
                </a:endParaRPr>
              </a:p>
            </p:txBody>
          </p:sp>
          <p:sp>
            <p:nvSpPr>
              <p:cNvPr id="48183" name="Oval 9"/>
              <p:cNvSpPr>
                <a:spLocks noChangeArrowheads="1"/>
              </p:cNvSpPr>
              <p:nvPr/>
            </p:nvSpPr>
            <p:spPr bwMode="auto">
              <a:xfrm>
                <a:off x="3792" y="1104"/>
                <a:ext cx="240" cy="240"/>
              </a:xfrm>
              <a:prstGeom prst="ellipse">
                <a:avLst/>
              </a:prstGeom>
              <a:solidFill>
                <a:schemeClr val="accent1"/>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b</a:t>
                </a:r>
                <a:endParaRPr lang="en-US" altLang="zh-CN" sz="2400" b="1" dirty="0">
                  <a:latin typeface="Times New Roman" panose="02020603050405020304" pitchFamily="18" charset="0"/>
                  <a:ea typeface="华文楷体" panose="02010600040101010101" pitchFamily="2" charset="-122"/>
                </a:endParaRPr>
              </a:p>
            </p:txBody>
          </p:sp>
          <p:sp>
            <p:nvSpPr>
              <p:cNvPr id="48184" name="Oval 10"/>
              <p:cNvSpPr>
                <a:spLocks noChangeArrowheads="1"/>
              </p:cNvSpPr>
              <p:nvPr/>
            </p:nvSpPr>
            <p:spPr bwMode="auto">
              <a:xfrm>
                <a:off x="4464" y="576"/>
                <a:ext cx="240" cy="240"/>
              </a:xfrm>
              <a:prstGeom prst="ellipse">
                <a:avLst/>
              </a:prstGeom>
              <a:solidFill>
                <a:schemeClr val="accent1"/>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8185" name="Oval 11"/>
              <p:cNvSpPr>
                <a:spLocks noChangeArrowheads="1"/>
              </p:cNvSpPr>
              <p:nvPr/>
            </p:nvSpPr>
            <p:spPr bwMode="auto">
              <a:xfrm>
                <a:off x="4128" y="1104"/>
                <a:ext cx="240" cy="240"/>
              </a:xfrm>
              <a:prstGeom prst="ellipse">
                <a:avLst/>
              </a:prstGeom>
              <a:solidFill>
                <a:schemeClr val="accent1"/>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c</a:t>
                </a:r>
                <a:endParaRPr lang="en-US" altLang="zh-CN" sz="2400" b="1" dirty="0">
                  <a:latin typeface="Times New Roman" panose="02020603050405020304" pitchFamily="18" charset="0"/>
                  <a:ea typeface="华文楷体" panose="02010600040101010101" pitchFamily="2" charset="-122"/>
                </a:endParaRPr>
              </a:p>
            </p:txBody>
          </p:sp>
          <p:sp>
            <p:nvSpPr>
              <p:cNvPr id="48186" name="Oval 12"/>
              <p:cNvSpPr>
                <a:spLocks noChangeArrowheads="1"/>
              </p:cNvSpPr>
              <p:nvPr/>
            </p:nvSpPr>
            <p:spPr bwMode="auto">
              <a:xfrm>
                <a:off x="4848" y="1104"/>
                <a:ext cx="240" cy="240"/>
              </a:xfrm>
              <a:prstGeom prst="ellipse">
                <a:avLst/>
              </a:prstGeom>
              <a:solidFill>
                <a:schemeClr val="accent1"/>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d</a:t>
                </a:r>
                <a:endParaRPr lang="en-US" altLang="zh-CN" sz="2400" b="1" dirty="0">
                  <a:latin typeface="Times New Roman" panose="02020603050405020304" pitchFamily="18" charset="0"/>
                  <a:ea typeface="华文楷体" panose="02010600040101010101" pitchFamily="2" charset="-122"/>
                </a:endParaRPr>
              </a:p>
            </p:txBody>
          </p:sp>
          <p:cxnSp>
            <p:nvCxnSpPr>
              <p:cNvPr id="48187" name="AutoShape 13"/>
              <p:cNvCxnSpPr>
                <a:cxnSpLocks noChangeShapeType="1"/>
                <a:stCxn id="48180" idx="3"/>
                <a:endCxn id="48181" idx="7"/>
              </p:cNvCxnSpPr>
              <p:nvPr/>
            </p:nvCxnSpPr>
            <p:spPr bwMode="auto">
              <a:xfrm flipH="1">
                <a:off x="3709" y="355"/>
                <a:ext cx="310" cy="250"/>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88" name="AutoShape 14"/>
              <p:cNvCxnSpPr>
                <a:cxnSpLocks noChangeShapeType="1"/>
                <a:stCxn id="48181" idx="3"/>
                <a:endCxn id="48182" idx="0"/>
              </p:cNvCxnSpPr>
              <p:nvPr/>
            </p:nvCxnSpPr>
            <p:spPr bwMode="auto">
              <a:xfrm flipH="1">
                <a:off x="3240" y="787"/>
                <a:ext cx="299" cy="311"/>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89" name="AutoShape 15"/>
              <p:cNvCxnSpPr>
                <a:cxnSpLocks noChangeShapeType="1"/>
                <a:stCxn id="48181" idx="5"/>
                <a:endCxn id="48183" idx="0"/>
              </p:cNvCxnSpPr>
              <p:nvPr/>
            </p:nvCxnSpPr>
            <p:spPr bwMode="auto">
              <a:xfrm>
                <a:off x="3709" y="787"/>
                <a:ext cx="203" cy="311"/>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90" name="AutoShape 16"/>
              <p:cNvCxnSpPr>
                <a:cxnSpLocks noChangeShapeType="1"/>
                <a:stCxn id="48180" idx="5"/>
                <a:endCxn id="48184" idx="1"/>
              </p:cNvCxnSpPr>
              <p:nvPr/>
            </p:nvCxnSpPr>
            <p:spPr bwMode="auto">
              <a:xfrm>
                <a:off x="4189" y="355"/>
                <a:ext cx="310" cy="250"/>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91" name="AutoShape 17"/>
              <p:cNvCxnSpPr>
                <a:cxnSpLocks noChangeShapeType="1"/>
                <a:stCxn id="48184" idx="3"/>
                <a:endCxn id="48185" idx="0"/>
              </p:cNvCxnSpPr>
              <p:nvPr/>
            </p:nvCxnSpPr>
            <p:spPr bwMode="auto">
              <a:xfrm flipH="1">
                <a:off x="4248" y="787"/>
                <a:ext cx="251" cy="311"/>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92" name="AutoShape 18"/>
              <p:cNvCxnSpPr>
                <a:cxnSpLocks noChangeShapeType="1"/>
                <a:stCxn id="48184" idx="5"/>
                <a:endCxn id="48186" idx="0"/>
              </p:cNvCxnSpPr>
              <p:nvPr/>
            </p:nvCxnSpPr>
            <p:spPr bwMode="auto">
              <a:xfrm>
                <a:off x="4669" y="787"/>
                <a:ext cx="299" cy="311"/>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grpSp>
        <p:sp>
          <p:nvSpPr>
            <p:cNvPr id="48176" name="Text Box 19"/>
            <p:cNvSpPr txBox="1">
              <a:spLocks noChangeArrowheads="1"/>
            </p:cNvSpPr>
            <p:nvPr/>
          </p:nvSpPr>
          <p:spPr bwMode="auto">
            <a:xfrm>
              <a:off x="3120" y="13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7</a:t>
              </a:r>
              <a:endParaRPr lang="en-US" altLang="zh-CN" sz="2400" b="1" dirty="0">
                <a:latin typeface="Times New Roman" panose="02020603050405020304" pitchFamily="18" charset="0"/>
                <a:ea typeface="华文楷体" panose="02010600040101010101" pitchFamily="2" charset="-122"/>
              </a:endParaRPr>
            </a:p>
          </p:txBody>
        </p:sp>
        <p:sp>
          <p:nvSpPr>
            <p:cNvPr id="48177" name="Text Box 20"/>
            <p:cNvSpPr txBox="1">
              <a:spLocks noChangeArrowheads="1"/>
            </p:cNvSpPr>
            <p:nvPr/>
          </p:nvSpPr>
          <p:spPr bwMode="auto">
            <a:xfrm>
              <a:off x="3744" y="13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5</a:t>
              </a:r>
              <a:endParaRPr lang="en-US" altLang="zh-CN" sz="2400" b="1" dirty="0">
                <a:latin typeface="Times New Roman" panose="02020603050405020304" pitchFamily="18" charset="0"/>
                <a:ea typeface="华文楷体" panose="02010600040101010101" pitchFamily="2" charset="-122"/>
              </a:endParaRPr>
            </a:p>
          </p:txBody>
        </p:sp>
        <p:sp>
          <p:nvSpPr>
            <p:cNvPr id="48178" name="Text Box 21"/>
            <p:cNvSpPr txBox="1">
              <a:spLocks noChangeArrowheads="1"/>
            </p:cNvSpPr>
            <p:nvPr/>
          </p:nvSpPr>
          <p:spPr bwMode="auto">
            <a:xfrm>
              <a:off x="4128" y="13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2</a:t>
              </a:r>
              <a:endParaRPr lang="en-US" altLang="zh-CN" sz="2400" b="1" dirty="0">
                <a:latin typeface="Times New Roman" panose="02020603050405020304" pitchFamily="18" charset="0"/>
                <a:ea typeface="华文楷体" panose="02010600040101010101" pitchFamily="2" charset="-122"/>
              </a:endParaRPr>
            </a:p>
          </p:txBody>
        </p:sp>
        <p:sp>
          <p:nvSpPr>
            <p:cNvPr id="48179" name="Text Box 22"/>
            <p:cNvSpPr txBox="1">
              <a:spLocks noChangeArrowheads="1"/>
            </p:cNvSpPr>
            <p:nvPr/>
          </p:nvSpPr>
          <p:spPr bwMode="auto">
            <a:xfrm>
              <a:off x="4848" y="13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4</a:t>
              </a:r>
              <a:endParaRPr lang="en-US" altLang="zh-CN" sz="2400" b="1" dirty="0">
                <a:latin typeface="Times New Roman" panose="02020603050405020304" pitchFamily="18" charset="0"/>
                <a:ea typeface="华文楷体" panose="02010600040101010101" pitchFamily="2" charset="-122"/>
              </a:endParaRPr>
            </a:p>
          </p:txBody>
        </p:sp>
      </p:grpSp>
      <p:grpSp>
        <p:nvGrpSpPr>
          <p:cNvPr id="45079" name="Group 23"/>
          <p:cNvGrpSpPr/>
          <p:nvPr/>
        </p:nvGrpSpPr>
        <p:grpSpPr bwMode="auto">
          <a:xfrm>
            <a:off x="438150" y="1905000"/>
            <a:ext cx="3352800" cy="3276600"/>
            <a:chOff x="192" y="1776"/>
            <a:chExt cx="2112" cy="2064"/>
          </a:xfrm>
        </p:grpSpPr>
        <p:grpSp>
          <p:nvGrpSpPr>
            <p:cNvPr id="48157" name="Group 24"/>
            <p:cNvGrpSpPr/>
            <p:nvPr/>
          </p:nvGrpSpPr>
          <p:grpSpPr bwMode="auto">
            <a:xfrm>
              <a:off x="192" y="1776"/>
              <a:ext cx="2112" cy="1776"/>
              <a:chOff x="192" y="1776"/>
              <a:chExt cx="2112" cy="1776"/>
            </a:xfrm>
          </p:grpSpPr>
          <p:sp>
            <p:nvSpPr>
              <p:cNvPr id="48160" name="Oval 25"/>
              <p:cNvSpPr>
                <a:spLocks noChangeArrowheads="1"/>
              </p:cNvSpPr>
              <p:nvPr/>
            </p:nvSpPr>
            <p:spPr bwMode="auto">
              <a:xfrm>
                <a:off x="1296" y="1776"/>
                <a:ext cx="240" cy="240"/>
              </a:xfrm>
              <a:prstGeom prst="ellipse">
                <a:avLst/>
              </a:prstGeom>
              <a:solidFill>
                <a:srgbClr val="FFCCFF"/>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8161" name="Oval 26"/>
              <p:cNvSpPr>
                <a:spLocks noChangeArrowheads="1"/>
              </p:cNvSpPr>
              <p:nvPr/>
            </p:nvSpPr>
            <p:spPr bwMode="auto">
              <a:xfrm>
                <a:off x="816" y="2208"/>
                <a:ext cx="240" cy="240"/>
              </a:xfrm>
              <a:prstGeom prst="ellipse">
                <a:avLst/>
              </a:prstGeom>
              <a:solidFill>
                <a:srgbClr val="FFCCFF"/>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8162" name="Oval 27"/>
              <p:cNvSpPr>
                <a:spLocks noChangeArrowheads="1"/>
              </p:cNvSpPr>
              <p:nvPr/>
            </p:nvSpPr>
            <p:spPr bwMode="auto">
              <a:xfrm>
                <a:off x="432" y="2736"/>
                <a:ext cx="240" cy="240"/>
              </a:xfrm>
              <a:prstGeom prst="ellipse">
                <a:avLst/>
              </a:prstGeom>
              <a:solidFill>
                <a:srgbClr val="FFCCFF"/>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d</a:t>
                </a:r>
                <a:endParaRPr lang="en-US" altLang="zh-CN" sz="2400" b="1" dirty="0">
                  <a:latin typeface="Times New Roman" panose="02020603050405020304" pitchFamily="18" charset="0"/>
                  <a:ea typeface="华文楷体" panose="02010600040101010101" pitchFamily="2" charset="-122"/>
                </a:endParaRPr>
              </a:p>
            </p:txBody>
          </p:sp>
          <p:sp>
            <p:nvSpPr>
              <p:cNvPr id="48163" name="Oval 28"/>
              <p:cNvSpPr>
                <a:spLocks noChangeArrowheads="1"/>
              </p:cNvSpPr>
              <p:nvPr/>
            </p:nvSpPr>
            <p:spPr bwMode="auto">
              <a:xfrm>
                <a:off x="1104" y="2736"/>
                <a:ext cx="240" cy="240"/>
              </a:xfrm>
              <a:prstGeom prst="ellipse">
                <a:avLst/>
              </a:prstGeom>
              <a:solidFill>
                <a:srgbClr val="FFCCFF"/>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CN" altLang="zh-CN" sz="2400" b="1" dirty="0">
                  <a:latin typeface="Times New Roman" panose="02020603050405020304" pitchFamily="18" charset="0"/>
                  <a:ea typeface="华文楷体" panose="02010600040101010101" pitchFamily="2" charset="-122"/>
                </a:endParaRPr>
              </a:p>
            </p:txBody>
          </p:sp>
          <p:sp>
            <p:nvSpPr>
              <p:cNvPr id="48164" name="Oval 29"/>
              <p:cNvSpPr>
                <a:spLocks noChangeArrowheads="1"/>
              </p:cNvSpPr>
              <p:nvPr/>
            </p:nvSpPr>
            <p:spPr bwMode="auto">
              <a:xfrm>
                <a:off x="1776" y="2208"/>
                <a:ext cx="240" cy="240"/>
              </a:xfrm>
              <a:prstGeom prst="ellipse">
                <a:avLst/>
              </a:prstGeom>
              <a:solidFill>
                <a:srgbClr val="FFCCFF"/>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c</a:t>
                </a:r>
                <a:endParaRPr lang="en-US" altLang="zh-CN" sz="2400" b="1" dirty="0">
                  <a:latin typeface="Times New Roman" panose="02020603050405020304" pitchFamily="18" charset="0"/>
                  <a:ea typeface="华文楷体" panose="02010600040101010101" pitchFamily="2" charset="-122"/>
                </a:endParaRPr>
              </a:p>
            </p:txBody>
          </p:sp>
          <p:cxnSp>
            <p:nvCxnSpPr>
              <p:cNvPr id="48165" name="AutoShape 30"/>
              <p:cNvCxnSpPr>
                <a:cxnSpLocks noChangeShapeType="1"/>
                <a:stCxn id="48160" idx="3"/>
                <a:endCxn id="48161" idx="7"/>
              </p:cNvCxnSpPr>
              <p:nvPr/>
            </p:nvCxnSpPr>
            <p:spPr bwMode="auto">
              <a:xfrm flipH="1">
                <a:off x="1021" y="1987"/>
                <a:ext cx="310" cy="250"/>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66" name="AutoShape 31"/>
              <p:cNvCxnSpPr>
                <a:cxnSpLocks noChangeShapeType="1"/>
                <a:stCxn id="48161" idx="3"/>
                <a:endCxn id="48162" idx="0"/>
              </p:cNvCxnSpPr>
              <p:nvPr/>
            </p:nvCxnSpPr>
            <p:spPr bwMode="auto">
              <a:xfrm flipH="1">
                <a:off x="552" y="2419"/>
                <a:ext cx="299" cy="311"/>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67" name="AutoShape 32"/>
              <p:cNvCxnSpPr>
                <a:cxnSpLocks noChangeShapeType="1"/>
                <a:stCxn id="48161" idx="5"/>
                <a:endCxn id="48163" idx="0"/>
              </p:cNvCxnSpPr>
              <p:nvPr/>
            </p:nvCxnSpPr>
            <p:spPr bwMode="auto">
              <a:xfrm>
                <a:off x="1021" y="2419"/>
                <a:ext cx="203" cy="311"/>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cxnSp>
            <p:nvCxnSpPr>
              <p:cNvPr id="48168" name="AutoShape 33"/>
              <p:cNvCxnSpPr>
                <a:cxnSpLocks noChangeShapeType="1"/>
                <a:stCxn id="48160" idx="5"/>
                <a:endCxn id="48164" idx="1"/>
              </p:cNvCxnSpPr>
              <p:nvPr/>
            </p:nvCxnSpPr>
            <p:spPr bwMode="auto">
              <a:xfrm>
                <a:off x="1501" y="1987"/>
                <a:ext cx="310" cy="250"/>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sp>
            <p:nvSpPr>
              <p:cNvPr id="48169" name="Oval 34"/>
              <p:cNvSpPr>
                <a:spLocks noChangeArrowheads="1"/>
              </p:cNvSpPr>
              <p:nvPr/>
            </p:nvSpPr>
            <p:spPr bwMode="auto">
              <a:xfrm>
                <a:off x="768" y="3312"/>
                <a:ext cx="240" cy="240"/>
              </a:xfrm>
              <a:prstGeom prst="ellipse">
                <a:avLst/>
              </a:prstGeom>
              <a:solidFill>
                <a:srgbClr val="FFCCFF"/>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a</a:t>
                </a:r>
                <a:endParaRPr lang="en-US" altLang="zh-CN" sz="2400" b="1" dirty="0">
                  <a:latin typeface="Times New Roman" panose="02020603050405020304" pitchFamily="18" charset="0"/>
                  <a:ea typeface="华文楷体" panose="02010600040101010101" pitchFamily="2" charset="-122"/>
                </a:endParaRPr>
              </a:p>
            </p:txBody>
          </p:sp>
          <p:cxnSp>
            <p:nvCxnSpPr>
              <p:cNvPr id="48170" name="AutoShape 35"/>
              <p:cNvCxnSpPr>
                <a:cxnSpLocks noChangeShapeType="1"/>
                <a:stCxn id="48163" idx="3"/>
                <a:endCxn id="48169" idx="0"/>
              </p:cNvCxnSpPr>
              <p:nvPr/>
            </p:nvCxnSpPr>
            <p:spPr bwMode="auto">
              <a:xfrm flipH="1">
                <a:off x="888" y="2947"/>
                <a:ext cx="251" cy="359"/>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sp>
            <p:nvSpPr>
              <p:cNvPr id="48171" name="Oval 36"/>
              <p:cNvSpPr>
                <a:spLocks noChangeArrowheads="1"/>
              </p:cNvSpPr>
              <p:nvPr/>
            </p:nvSpPr>
            <p:spPr bwMode="auto">
              <a:xfrm>
                <a:off x="1536" y="3312"/>
                <a:ext cx="240" cy="240"/>
              </a:xfrm>
              <a:prstGeom prst="ellipse">
                <a:avLst/>
              </a:prstGeom>
              <a:solidFill>
                <a:srgbClr val="FFCCFF"/>
              </a:solidFill>
              <a:ln w="19050">
                <a:solidFill>
                  <a:schemeClr val="accent2"/>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b</a:t>
                </a:r>
                <a:endParaRPr lang="en-US" altLang="zh-CN" sz="2400" b="1" dirty="0">
                  <a:latin typeface="Times New Roman" panose="02020603050405020304" pitchFamily="18" charset="0"/>
                  <a:ea typeface="华文楷体" panose="02010600040101010101" pitchFamily="2" charset="-122"/>
                </a:endParaRPr>
              </a:p>
            </p:txBody>
          </p:sp>
          <p:cxnSp>
            <p:nvCxnSpPr>
              <p:cNvPr id="48172" name="AutoShape 37"/>
              <p:cNvCxnSpPr>
                <a:cxnSpLocks noChangeShapeType="1"/>
                <a:stCxn id="48163" idx="5"/>
                <a:endCxn id="48171" idx="0"/>
              </p:cNvCxnSpPr>
              <p:nvPr/>
            </p:nvCxnSpPr>
            <p:spPr bwMode="auto">
              <a:xfrm>
                <a:off x="1309" y="2947"/>
                <a:ext cx="347" cy="359"/>
              </a:xfrm>
              <a:prstGeom prst="straightConnector1">
                <a:avLst/>
              </a:prstGeom>
              <a:noFill/>
              <a:ln w="19050">
                <a:solidFill>
                  <a:schemeClr val="accent2"/>
                </a:solidFill>
                <a:round/>
              </a:ln>
              <a:extLst>
                <a:ext uri="{909E8E84-426E-40DD-AFC4-6F175D3DCCD1}">
                  <a14:hiddenFill xmlns:a14="http://schemas.microsoft.com/office/drawing/2010/main">
                    <a:noFill/>
                  </a14:hiddenFill>
                </a:ext>
              </a:extLst>
            </p:spPr>
          </p:cxnSp>
          <p:sp>
            <p:nvSpPr>
              <p:cNvPr id="48173" name="Text Box 38"/>
              <p:cNvSpPr txBox="1">
                <a:spLocks noChangeArrowheads="1"/>
              </p:cNvSpPr>
              <p:nvPr/>
            </p:nvSpPr>
            <p:spPr bwMode="auto">
              <a:xfrm>
                <a:off x="2064"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2</a:t>
                </a:r>
                <a:endParaRPr lang="en-US" altLang="zh-CN" sz="2400" b="1" dirty="0">
                  <a:latin typeface="Times New Roman" panose="02020603050405020304" pitchFamily="18" charset="0"/>
                  <a:ea typeface="华文楷体" panose="02010600040101010101" pitchFamily="2" charset="-122"/>
                </a:endParaRPr>
              </a:p>
            </p:txBody>
          </p:sp>
          <p:sp>
            <p:nvSpPr>
              <p:cNvPr id="48174" name="Text Box 39"/>
              <p:cNvSpPr txBox="1">
                <a:spLocks noChangeArrowheads="1"/>
              </p:cNvSpPr>
              <p:nvPr/>
            </p:nvSpPr>
            <p:spPr bwMode="auto">
              <a:xfrm>
                <a:off x="192" y="268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4</a:t>
                </a:r>
                <a:endParaRPr lang="en-US" altLang="zh-CN" sz="2400" b="1" dirty="0">
                  <a:latin typeface="Times New Roman" panose="02020603050405020304" pitchFamily="18" charset="0"/>
                  <a:ea typeface="华文楷体" panose="02010600040101010101" pitchFamily="2" charset="-122"/>
                </a:endParaRPr>
              </a:p>
            </p:txBody>
          </p:sp>
        </p:grpSp>
        <p:sp>
          <p:nvSpPr>
            <p:cNvPr id="48158" name="Text Box 40"/>
            <p:cNvSpPr txBox="1">
              <a:spLocks noChangeArrowheads="1"/>
            </p:cNvSpPr>
            <p:nvPr/>
          </p:nvSpPr>
          <p:spPr bwMode="auto">
            <a:xfrm>
              <a:off x="768" y="35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7</a:t>
              </a:r>
              <a:endParaRPr lang="en-US" altLang="zh-CN" sz="2400" b="1" dirty="0">
                <a:latin typeface="Times New Roman" panose="02020603050405020304" pitchFamily="18" charset="0"/>
                <a:ea typeface="华文楷体" panose="02010600040101010101" pitchFamily="2" charset="-122"/>
              </a:endParaRPr>
            </a:p>
          </p:txBody>
        </p:sp>
        <p:sp>
          <p:nvSpPr>
            <p:cNvPr id="48159" name="Text Box 41"/>
            <p:cNvSpPr txBox="1">
              <a:spLocks noChangeArrowheads="1"/>
            </p:cNvSpPr>
            <p:nvPr/>
          </p:nvSpPr>
          <p:spPr bwMode="auto">
            <a:xfrm>
              <a:off x="1536" y="35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5</a:t>
              </a:r>
              <a:endParaRPr lang="en-US" altLang="zh-CN" sz="2400" b="1" dirty="0">
                <a:latin typeface="Times New Roman" panose="02020603050405020304" pitchFamily="18" charset="0"/>
                <a:ea typeface="华文楷体" panose="02010600040101010101" pitchFamily="2" charset="-122"/>
              </a:endParaRPr>
            </a:p>
          </p:txBody>
        </p:sp>
      </p:grpSp>
      <p:grpSp>
        <p:nvGrpSpPr>
          <p:cNvPr id="45098" name="Group 42"/>
          <p:cNvGrpSpPr/>
          <p:nvPr/>
        </p:nvGrpSpPr>
        <p:grpSpPr bwMode="auto">
          <a:xfrm>
            <a:off x="4476750" y="3848100"/>
            <a:ext cx="3886200" cy="2743200"/>
            <a:chOff x="2880" y="1968"/>
            <a:chExt cx="2448" cy="1728"/>
          </a:xfrm>
        </p:grpSpPr>
        <p:sp>
          <p:nvSpPr>
            <p:cNvPr id="48140" name="Oval 43"/>
            <p:cNvSpPr>
              <a:spLocks noChangeArrowheads="1"/>
            </p:cNvSpPr>
            <p:nvPr/>
          </p:nvSpPr>
          <p:spPr bwMode="auto">
            <a:xfrm>
              <a:off x="3600" y="1968"/>
              <a:ext cx="240" cy="240"/>
            </a:xfrm>
            <a:prstGeom prst="ellipse">
              <a:avLst/>
            </a:prstGeom>
            <a:solidFill>
              <a:srgbClr val="66CCFF"/>
            </a:solidFill>
            <a:ln w="19050">
              <a:solidFill>
                <a:srgbClr val="FF33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8141" name="Oval 44"/>
            <p:cNvSpPr>
              <a:spLocks noChangeArrowheads="1"/>
            </p:cNvSpPr>
            <p:nvPr/>
          </p:nvSpPr>
          <p:spPr bwMode="auto">
            <a:xfrm>
              <a:off x="3120" y="2400"/>
              <a:ext cx="240" cy="240"/>
            </a:xfrm>
            <a:prstGeom prst="ellipse">
              <a:avLst/>
            </a:prstGeom>
            <a:solidFill>
              <a:srgbClr val="66CCFF"/>
            </a:solidFill>
            <a:ln w="19050">
              <a:solidFill>
                <a:srgbClr val="FF33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a</a:t>
              </a:r>
              <a:endParaRPr lang="en-US" altLang="zh-CN" sz="2400" b="1" dirty="0">
                <a:latin typeface="Times New Roman" panose="02020603050405020304" pitchFamily="18" charset="0"/>
                <a:ea typeface="华文楷体" panose="02010600040101010101" pitchFamily="2" charset="-122"/>
              </a:endParaRPr>
            </a:p>
          </p:txBody>
        </p:sp>
        <p:sp>
          <p:nvSpPr>
            <p:cNvPr id="48142" name="Oval 45"/>
            <p:cNvSpPr>
              <a:spLocks noChangeArrowheads="1"/>
            </p:cNvSpPr>
            <p:nvPr/>
          </p:nvSpPr>
          <p:spPr bwMode="auto">
            <a:xfrm>
              <a:off x="4080" y="2400"/>
              <a:ext cx="240" cy="240"/>
            </a:xfrm>
            <a:prstGeom prst="ellipse">
              <a:avLst/>
            </a:prstGeom>
            <a:solidFill>
              <a:srgbClr val="66CCFF"/>
            </a:solidFill>
            <a:ln w="19050">
              <a:solidFill>
                <a:srgbClr val="FF33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48143" name="Oval 46"/>
            <p:cNvSpPr>
              <a:spLocks noChangeArrowheads="1"/>
            </p:cNvSpPr>
            <p:nvPr/>
          </p:nvSpPr>
          <p:spPr bwMode="auto">
            <a:xfrm>
              <a:off x="3744" y="2928"/>
              <a:ext cx="240" cy="240"/>
            </a:xfrm>
            <a:prstGeom prst="ellipse">
              <a:avLst/>
            </a:prstGeom>
            <a:solidFill>
              <a:srgbClr val="66CCFF"/>
            </a:solidFill>
            <a:ln w="19050">
              <a:solidFill>
                <a:srgbClr val="FF33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b</a:t>
              </a:r>
              <a:endParaRPr lang="en-US" altLang="zh-CN" sz="2400" b="1" dirty="0">
                <a:latin typeface="Times New Roman" panose="02020603050405020304" pitchFamily="18" charset="0"/>
                <a:ea typeface="华文楷体" panose="02010600040101010101" pitchFamily="2" charset="-122"/>
              </a:endParaRPr>
            </a:p>
          </p:txBody>
        </p:sp>
        <p:sp>
          <p:nvSpPr>
            <p:cNvPr id="48144" name="Oval 47"/>
            <p:cNvSpPr>
              <a:spLocks noChangeArrowheads="1"/>
            </p:cNvSpPr>
            <p:nvPr/>
          </p:nvSpPr>
          <p:spPr bwMode="auto">
            <a:xfrm>
              <a:off x="4464" y="2928"/>
              <a:ext cx="240" cy="240"/>
            </a:xfrm>
            <a:prstGeom prst="ellipse">
              <a:avLst/>
            </a:prstGeom>
            <a:solidFill>
              <a:srgbClr val="66CCFF"/>
            </a:solidFill>
            <a:ln w="19050">
              <a:solidFill>
                <a:srgbClr val="FF33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lang="zh-CN" altLang="zh-CN" sz="2400" b="1" dirty="0">
                <a:latin typeface="Times New Roman" panose="02020603050405020304" pitchFamily="18" charset="0"/>
                <a:ea typeface="华文楷体" panose="02010600040101010101" pitchFamily="2" charset="-122"/>
              </a:endParaRPr>
            </a:p>
          </p:txBody>
        </p:sp>
        <p:cxnSp>
          <p:nvCxnSpPr>
            <p:cNvPr id="48145" name="AutoShape 48"/>
            <p:cNvCxnSpPr>
              <a:cxnSpLocks noChangeShapeType="1"/>
              <a:stCxn id="48140" idx="3"/>
              <a:endCxn id="48141" idx="7"/>
            </p:cNvCxnSpPr>
            <p:nvPr/>
          </p:nvCxnSpPr>
          <p:spPr bwMode="auto">
            <a:xfrm flipH="1">
              <a:off x="3325" y="2179"/>
              <a:ext cx="310" cy="250"/>
            </a:xfrm>
            <a:prstGeom prst="straightConnector1">
              <a:avLst/>
            </a:prstGeom>
            <a:noFill/>
            <a:ln w="19050">
              <a:solidFill>
                <a:srgbClr val="FF3300"/>
              </a:solidFill>
              <a:round/>
            </a:ln>
            <a:extLst>
              <a:ext uri="{909E8E84-426E-40DD-AFC4-6F175D3DCCD1}">
                <a14:hiddenFill xmlns:a14="http://schemas.microsoft.com/office/drawing/2010/main">
                  <a:noFill/>
                </a14:hiddenFill>
              </a:ext>
            </a:extLst>
          </p:spPr>
        </p:cxnSp>
        <p:cxnSp>
          <p:nvCxnSpPr>
            <p:cNvPr id="48146" name="AutoShape 49"/>
            <p:cNvCxnSpPr>
              <a:cxnSpLocks noChangeShapeType="1"/>
              <a:stCxn id="48140" idx="5"/>
              <a:endCxn id="48142" idx="1"/>
            </p:cNvCxnSpPr>
            <p:nvPr/>
          </p:nvCxnSpPr>
          <p:spPr bwMode="auto">
            <a:xfrm>
              <a:off x="3805" y="2179"/>
              <a:ext cx="310" cy="250"/>
            </a:xfrm>
            <a:prstGeom prst="straightConnector1">
              <a:avLst/>
            </a:prstGeom>
            <a:noFill/>
            <a:ln w="19050">
              <a:solidFill>
                <a:srgbClr val="FF3300"/>
              </a:solidFill>
              <a:round/>
            </a:ln>
            <a:extLst>
              <a:ext uri="{909E8E84-426E-40DD-AFC4-6F175D3DCCD1}">
                <a14:hiddenFill xmlns:a14="http://schemas.microsoft.com/office/drawing/2010/main">
                  <a:noFill/>
                </a14:hiddenFill>
              </a:ext>
            </a:extLst>
          </p:spPr>
        </p:cxnSp>
        <p:cxnSp>
          <p:nvCxnSpPr>
            <p:cNvPr id="48147" name="AutoShape 50"/>
            <p:cNvCxnSpPr>
              <a:cxnSpLocks noChangeShapeType="1"/>
              <a:stCxn id="48142" idx="3"/>
              <a:endCxn id="48143" idx="0"/>
            </p:cNvCxnSpPr>
            <p:nvPr/>
          </p:nvCxnSpPr>
          <p:spPr bwMode="auto">
            <a:xfrm flipH="1">
              <a:off x="3864" y="2611"/>
              <a:ext cx="251" cy="311"/>
            </a:xfrm>
            <a:prstGeom prst="straightConnector1">
              <a:avLst/>
            </a:prstGeom>
            <a:noFill/>
            <a:ln w="19050">
              <a:solidFill>
                <a:srgbClr val="FF3300"/>
              </a:solidFill>
              <a:round/>
            </a:ln>
            <a:extLst>
              <a:ext uri="{909E8E84-426E-40DD-AFC4-6F175D3DCCD1}">
                <a14:hiddenFill xmlns:a14="http://schemas.microsoft.com/office/drawing/2010/main">
                  <a:noFill/>
                </a14:hiddenFill>
              </a:ext>
            </a:extLst>
          </p:spPr>
        </p:cxnSp>
        <p:cxnSp>
          <p:nvCxnSpPr>
            <p:cNvPr id="48148" name="AutoShape 51"/>
            <p:cNvCxnSpPr>
              <a:cxnSpLocks noChangeShapeType="1"/>
              <a:stCxn id="48142" idx="5"/>
              <a:endCxn id="48144" idx="0"/>
            </p:cNvCxnSpPr>
            <p:nvPr/>
          </p:nvCxnSpPr>
          <p:spPr bwMode="auto">
            <a:xfrm>
              <a:off x="4285" y="2611"/>
              <a:ext cx="299" cy="311"/>
            </a:xfrm>
            <a:prstGeom prst="straightConnector1">
              <a:avLst/>
            </a:prstGeom>
            <a:noFill/>
            <a:ln w="19050">
              <a:solidFill>
                <a:srgbClr val="FF3300"/>
              </a:solidFill>
              <a:round/>
            </a:ln>
            <a:extLst>
              <a:ext uri="{909E8E84-426E-40DD-AFC4-6F175D3DCCD1}">
                <a14:hiddenFill xmlns:a14="http://schemas.microsoft.com/office/drawing/2010/main">
                  <a:noFill/>
                </a14:hiddenFill>
              </a:ext>
            </a:extLst>
          </p:spPr>
        </p:cxnSp>
        <p:sp>
          <p:nvSpPr>
            <p:cNvPr id="48149" name="Oval 52"/>
            <p:cNvSpPr>
              <a:spLocks noChangeArrowheads="1"/>
            </p:cNvSpPr>
            <p:nvPr/>
          </p:nvSpPr>
          <p:spPr bwMode="auto">
            <a:xfrm>
              <a:off x="4128" y="3456"/>
              <a:ext cx="240" cy="240"/>
            </a:xfrm>
            <a:prstGeom prst="ellipse">
              <a:avLst/>
            </a:prstGeom>
            <a:solidFill>
              <a:srgbClr val="66CCFF"/>
            </a:solidFill>
            <a:ln w="19050">
              <a:solidFill>
                <a:srgbClr val="FF33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c</a:t>
              </a:r>
              <a:endParaRPr lang="en-US" altLang="zh-CN" sz="2400" b="1" dirty="0">
                <a:latin typeface="Times New Roman" panose="02020603050405020304" pitchFamily="18" charset="0"/>
                <a:ea typeface="华文楷体" panose="02010600040101010101" pitchFamily="2" charset="-122"/>
              </a:endParaRPr>
            </a:p>
          </p:txBody>
        </p:sp>
        <p:cxnSp>
          <p:nvCxnSpPr>
            <p:cNvPr id="48150" name="AutoShape 53"/>
            <p:cNvCxnSpPr>
              <a:cxnSpLocks noChangeShapeType="1"/>
              <a:stCxn id="48142" idx="5"/>
              <a:endCxn id="48149" idx="0"/>
            </p:cNvCxnSpPr>
            <p:nvPr/>
          </p:nvCxnSpPr>
          <p:spPr bwMode="auto">
            <a:xfrm flipH="1">
              <a:off x="4248" y="3127"/>
              <a:ext cx="251" cy="323"/>
            </a:xfrm>
            <a:prstGeom prst="straightConnector1">
              <a:avLst/>
            </a:prstGeom>
            <a:noFill/>
            <a:ln w="19050">
              <a:solidFill>
                <a:srgbClr val="FF3300"/>
              </a:solidFill>
              <a:round/>
            </a:ln>
            <a:extLst>
              <a:ext uri="{909E8E84-426E-40DD-AFC4-6F175D3DCCD1}">
                <a14:hiddenFill xmlns:a14="http://schemas.microsoft.com/office/drawing/2010/main">
                  <a:noFill/>
                </a14:hiddenFill>
              </a:ext>
            </a:extLst>
          </p:spPr>
        </p:cxnSp>
        <p:sp>
          <p:nvSpPr>
            <p:cNvPr id="48151" name="Oval 54"/>
            <p:cNvSpPr>
              <a:spLocks noChangeArrowheads="1"/>
            </p:cNvSpPr>
            <p:nvPr/>
          </p:nvSpPr>
          <p:spPr bwMode="auto">
            <a:xfrm>
              <a:off x="4800" y="3456"/>
              <a:ext cx="240" cy="240"/>
            </a:xfrm>
            <a:prstGeom prst="ellipse">
              <a:avLst/>
            </a:prstGeom>
            <a:solidFill>
              <a:srgbClr val="66CCFF"/>
            </a:solidFill>
            <a:ln w="19050">
              <a:solidFill>
                <a:srgbClr val="FF3300"/>
              </a:solidFill>
              <a:round/>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d</a:t>
              </a:r>
              <a:endParaRPr lang="en-US" altLang="zh-CN" sz="2400" b="1" dirty="0">
                <a:latin typeface="Times New Roman" panose="02020603050405020304" pitchFamily="18" charset="0"/>
                <a:ea typeface="华文楷体" panose="02010600040101010101" pitchFamily="2" charset="-122"/>
              </a:endParaRPr>
            </a:p>
          </p:txBody>
        </p:sp>
        <p:cxnSp>
          <p:nvCxnSpPr>
            <p:cNvPr id="48152" name="AutoShape 55"/>
            <p:cNvCxnSpPr>
              <a:cxnSpLocks noChangeShapeType="1"/>
              <a:stCxn id="48144" idx="5"/>
              <a:endCxn id="48151" idx="0"/>
            </p:cNvCxnSpPr>
            <p:nvPr/>
          </p:nvCxnSpPr>
          <p:spPr bwMode="auto">
            <a:xfrm>
              <a:off x="4669" y="3139"/>
              <a:ext cx="251" cy="311"/>
            </a:xfrm>
            <a:prstGeom prst="straightConnector1">
              <a:avLst/>
            </a:prstGeom>
            <a:noFill/>
            <a:ln w="19050">
              <a:solidFill>
                <a:srgbClr val="FF3300"/>
              </a:solidFill>
              <a:round/>
            </a:ln>
            <a:extLst>
              <a:ext uri="{909E8E84-426E-40DD-AFC4-6F175D3DCCD1}">
                <a14:hiddenFill xmlns:a14="http://schemas.microsoft.com/office/drawing/2010/main">
                  <a:noFill/>
                </a14:hiddenFill>
              </a:ext>
            </a:extLst>
          </p:spPr>
        </p:cxnSp>
        <p:sp>
          <p:nvSpPr>
            <p:cNvPr id="48153" name="Text Box 56"/>
            <p:cNvSpPr txBox="1">
              <a:spLocks noChangeArrowheads="1"/>
            </p:cNvSpPr>
            <p:nvPr/>
          </p:nvSpPr>
          <p:spPr bwMode="auto">
            <a:xfrm>
              <a:off x="2880" y="23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7</a:t>
              </a:r>
              <a:endParaRPr lang="en-US" altLang="zh-CN" sz="2400" b="1" dirty="0">
                <a:latin typeface="Times New Roman" panose="02020603050405020304" pitchFamily="18" charset="0"/>
                <a:ea typeface="华文楷体" panose="02010600040101010101" pitchFamily="2" charset="-122"/>
              </a:endParaRPr>
            </a:p>
          </p:txBody>
        </p:sp>
        <p:sp>
          <p:nvSpPr>
            <p:cNvPr id="48154" name="Text Box 57"/>
            <p:cNvSpPr txBox="1">
              <a:spLocks noChangeArrowheads="1"/>
            </p:cNvSpPr>
            <p:nvPr/>
          </p:nvSpPr>
          <p:spPr bwMode="auto">
            <a:xfrm>
              <a:off x="3456" y="292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5</a:t>
              </a:r>
              <a:endParaRPr lang="en-US" altLang="zh-CN" sz="2400" b="1" dirty="0">
                <a:latin typeface="Times New Roman" panose="02020603050405020304" pitchFamily="18" charset="0"/>
                <a:ea typeface="华文楷体" panose="02010600040101010101" pitchFamily="2" charset="-122"/>
              </a:endParaRPr>
            </a:p>
          </p:txBody>
        </p:sp>
        <p:sp>
          <p:nvSpPr>
            <p:cNvPr id="48155" name="Text Box 58"/>
            <p:cNvSpPr txBox="1">
              <a:spLocks noChangeArrowheads="1"/>
            </p:cNvSpPr>
            <p:nvPr/>
          </p:nvSpPr>
          <p:spPr bwMode="auto">
            <a:xfrm>
              <a:off x="3792" y="34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2</a:t>
              </a:r>
              <a:endParaRPr lang="en-US" altLang="zh-CN" sz="2400" b="1" dirty="0">
                <a:latin typeface="Times New Roman" panose="02020603050405020304" pitchFamily="18" charset="0"/>
                <a:ea typeface="华文楷体" panose="02010600040101010101" pitchFamily="2" charset="-122"/>
              </a:endParaRPr>
            </a:p>
          </p:txBody>
        </p:sp>
        <p:sp>
          <p:nvSpPr>
            <p:cNvPr id="48156" name="Text Box 59"/>
            <p:cNvSpPr txBox="1">
              <a:spLocks noChangeArrowheads="1"/>
            </p:cNvSpPr>
            <p:nvPr/>
          </p:nvSpPr>
          <p:spPr bwMode="auto">
            <a:xfrm>
              <a:off x="5088" y="34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4</a:t>
              </a:r>
              <a:endParaRPr lang="en-US" altLang="zh-CN" sz="2400" b="1" dirty="0">
                <a:latin typeface="Times New Roman" panose="02020603050405020304" pitchFamily="18" charset="0"/>
                <a:ea typeface="华文楷体" panose="02010600040101010101" pitchFamily="2" charset="-122"/>
              </a:endParaRPr>
            </a:p>
          </p:txBody>
        </p:sp>
      </p:grpSp>
      <p:sp>
        <p:nvSpPr>
          <p:cNvPr id="45116" name="Text Box 60"/>
          <p:cNvSpPr txBox="1">
            <a:spLocks noChangeArrowheads="1"/>
          </p:cNvSpPr>
          <p:nvPr/>
        </p:nvSpPr>
        <p:spPr bwMode="auto">
          <a:xfrm>
            <a:off x="4629150" y="3295650"/>
            <a:ext cx="396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WPL=</a:t>
            </a:r>
            <a:r>
              <a:rPr lang="en-US" altLang="zh-CN" sz="2400" b="1" dirty="0">
                <a:solidFill>
                  <a:schemeClr val="accent2"/>
                </a:solidFill>
                <a:latin typeface="Times New Roman" panose="02020603050405020304" pitchFamily="18" charset="0"/>
                <a:ea typeface="华文楷体" panose="02010600040101010101" pitchFamily="2" charset="-122"/>
              </a:rPr>
              <a:t>7</a:t>
            </a:r>
            <a:r>
              <a:rPr lang="en-US" altLang="zh-CN" sz="2400" b="1" dirty="0">
                <a:latin typeface="Times New Roman" panose="02020603050405020304" pitchFamily="18" charset="0"/>
                <a:ea typeface="华文楷体" panose="02010600040101010101" pitchFamily="2" charset="-122"/>
              </a:rPr>
              <a:t>*2+</a:t>
            </a:r>
            <a:r>
              <a:rPr lang="en-US" altLang="zh-CN" sz="2400" b="1" dirty="0">
                <a:solidFill>
                  <a:schemeClr val="accent2"/>
                </a:solidFill>
                <a:latin typeface="Times New Roman" panose="02020603050405020304" pitchFamily="18" charset="0"/>
                <a:ea typeface="华文楷体" panose="02010600040101010101" pitchFamily="2" charset="-122"/>
              </a:rPr>
              <a:t>5</a:t>
            </a:r>
            <a:r>
              <a:rPr lang="en-US" altLang="zh-CN" sz="2400" b="1" dirty="0">
                <a:latin typeface="Times New Roman" panose="02020603050405020304" pitchFamily="18" charset="0"/>
                <a:ea typeface="华文楷体" panose="02010600040101010101" pitchFamily="2" charset="-122"/>
              </a:rPr>
              <a:t>*2+</a:t>
            </a:r>
            <a:r>
              <a:rPr lang="en-US" altLang="zh-CN" sz="2400" b="1" dirty="0">
                <a:solidFill>
                  <a:schemeClr val="accent2"/>
                </a:solidFill>
                <a:latin typeface="Times New Roman" panose="02020603050405020304" pitchFamily="18" charset="0"/>
                <a:ea typeface="华文楷体" panose="02010600040101010101" pitchFamily="2" charset="-122"/>
              </a:rPr>
              <a:t>2</a:t>
            </a:r>
            <a:r>
              <a:rPr lang="en-US" altLang="zh-CN" sz="2400" b="1" dirty="0">
                <a:latin typeface="Times New Roman" panose="02020603050405020304" pitchFamily="18" charset="0"/>
                <a:ea typeface="华文楷体" panose="02010600040101010101" pitchFamily="2" charset="-122"/>
              </a:rPr>
              <a:t>*2+</a:t>
            </a:r>
            <a:r>
              <a:rPr lang="en-US" altLang="zh-CN" sz="2400" b="1" dirty="0">
                <a:solidFill>
                  <a:schemeClr val="accent2"/>
                </a:solidFill>
                <a:latin typeface="Times New Roman" panose="02020603050405020304" pitchFamily="18" charset="0"/>
                <a:ea typeface="华文楷体" panose="02010600040101010101" pitchFamily="2" charset="-122"/>
              </a:rPr>
              <a:t>4</a:t>
            </a:r>
            <a:r>
              <a:rPr lang="en-US" altLang="zh-CN" sz="2400" b="1" dirty="0">
                <a:latin typeface="Times New Roman" panose="02020603050405020304" pitchFamily="18" charset="0"/>
                <a:ea typeface="华文楷体" panose="02010600040101010101" pitchFamily="2" charset="-122"/>
              </a:rPr>
              <a:t>*2=36</a:t>
            </a:r>
            <a:endParaRPr lang="en-US" altLang="zh-CN" sz="2400" b="1" dirty="0">
              <a:latin typeface="Times New Roman" panose="02020603050405020304" pitchFamily="18" charset="0"/>
              <a:ea typeface="华文楷体" panose="02010600040101010101" pitchFamily="2" charset="-122"/>
            </a:endParaRPr>
          </a:p>
        </p:txBody>
      </p:sp>
      <p:sp>
        <p:nvSpPr>
          <p:cNvPr id="45117" name="Text Box 61"/>
          <p:cNvSpPr txBox="1">
            <a:spLocks noChangeArrowheads="1"/>
          </p:cNvSpPr>
          <p:nvPr/>
        </p:nvSpPr>
        <p:spPr bwMode="auto">
          <a:xfrm>
            <a:off x="533400" y="518160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WPL=</a:t>
            </a:r>
            <a:r>
              <a:rPr lang="en-US" altLang="zh-CN" sz="2400" b="1" dirty="0">
                <a:solidFill>
                  <a:schemeClr val="accent2"/>
                </a:solidFill>
                <a:latin typeface="Times New Roman" panose="02020603050405020304" pitchFamily="18" charset="0"/>
                <a:ea typeface="华文楷体" panose="02010600040101010101" pitchFamily="2" charset="-122"/>
              </a:rPr>
              <a:t>7</a:t>
            </a:r>
            <a:r>
              <a:rPr lang="en-US" altLang="zh-CN" sz="2400" b="1" dirty="0">
                <a:latin typeface="Times New Roman" panose="02020603050405020304" pitchFamily="18" charset="0"/>
                <a:ea typeface="华文楷体" panose="02010600040101010101" pitchFamily="2" charset="-122"/>
              </a:rPr>
              <a:t>*3+</a:t>
            </a:r>
            <a:r>
              <a:rPr lang="en-US" altLang="zh-CN" sz="2400" b="1" dirty="0">
                <a:solidFill>
                  <a:schemeClr val="accent2"/>
                </a:solidFill>
                <a:latin typeface="Times New Roman" panose="02020603050405020304" pitchFamily="18" charset="0"/>
                <a:ea typeface="华文楷体" panose="02010600040101010101" pitchFamily="2" charset="-122"/>
              </a:rPr>
              <a:t>5</a:t>
            </a:r>
            <a:r>
              <a:rPr lang="en-US" altLang="zh-CN" sz="2400" b="1" dirty="0">
                <a:latin typeface="Times New Roman" panose="02020603050405020304" pitchFamily="18" charset="0"/>
                <a:ea typeface="华文楷体" panose="02010600040101010101" pitchFamily="2" charset="-122"/>
              </a:rPr>
              <a:t>*3+</a:t>
            </a:r>
            <a:r>
              <a:rPr lang="en-US" altLang="zh-CN" sz="2400" b="1" dirty="0">
                <a:solidFill>
                  <a:schemeClr val="accent2"/>
                </a:solidFill>
                <a:latin typeface="Times New Roman" panose="02020603050405020304" pitchFamily="18" charset="0"/>
                <a:ea typeface="华文楷体" panose="02010600040101010101" pitchFamily="2" charset="-122"/>
              </a:rPr>
              <a:t>2</a:t>
            </a:r>
            <a:r>
              <a:rPr lang="en-US" altLang="zh-CN" sz="2400" b="1" dirty="0">
                <a:latin typeface="Times New Roman" panose="02020603050405020304" pitchFamily="18" charset="0"/>
                <a:ea typeface="华文楷体" panose="02010600040101010101" pitchFamily="2" charset="-122"/>
              </a:rPr>
              <a:t>*1+</a:t>
            </a:r>
            <a:r>
              <a:rPr lang="en-US" altLang="zh-CN" sz="2400" b="1" dirty="0">
                <a:solidFill>
                  <a:schemeClr val="accent2"/>
                </a:solidFill>
                <a:latin typeface="Times New Roman" panose="02020603050405020304" pitchFamily="18" charset="0"/>
                <a:ea typeface="华文楷体" panose="02010600040101010101" pitchFamily="2" charset="-122"/>
              </a:rPr>
              <a:t>4</a:t>
            </a:r>
            <a:r>
              <a:rPr lang="en-US" altLang="zh-CN" sz="2400" b="1" dirty="0">
                <a:latin typeface="Times New Roman" panose="02020603050405020304" pitchFamily="18" charset="0"/>
                <a:ea typeface="华文楷体" panose="02010600040101010101" pitchFamily="2" charset="-122"/>
              </a:rPr>
              <a:t>*2=46</a:t>
            </a:r>
            <a:endParaRPr lang="en-US" altLang="zh-CN" sz="2400" b="1" dirty="0">
              <a:latin typeface="Times New Roman" panose="02020603050405020304" pitchFamily="18" charset="0"/>
              <a:ea typeface="华文楷体" panose="02010600040101010101" pitchFamily="2" charset="-122"/>
            </a:endParaRPr>
          </a:p>
        </p:txBody>
      </p:sp>
      <p:sp>
        <p:nvSpPr>
          <p:cNvPr id="45118" name="Text Box 62"/>
          <p:cNvSpPr txBox="1">
            <a:spLocks noChangeArrowheads="1"/>
          </p:cNvSpPr>
          <p:nvPr/>
        </p:nvSpPr>
        <p:spPr bwMode="auto">
          <a:xfrm>
            <a:off x="1447800" y="579120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Tx/>
              <a:buFontTx/>
              <a:buNone/>
            </a:pPr>
            <a:r>
              <a:rPr lang="en-US" altLang="zh-CN" sz="2400" b="1" dirty="0">
                <a:latin typeface="Times New Roman" panose="02020603050405020304" pitchFamily="18" charset="0"/>
                <a:ea typeface="华文楷体" panose="02010600040101010101" pitchFamily="2" charset="-122"/>
              </a:rPr>
              <a:t>WPL=</a:t>
            </a:r>
            <a:r>
              <a:rPr lang="en-US" altLang="zh-CN" sz="2400" b="1" dirty="0">
                <a:solidFill>
                  <a:schemeClr val="accent2"/>
                </a:solidFill>
                <a:latin typeface="Times New Roman" panose="02020603050405020304" pitchFamily="18" charset="0"/>
                <a:ea typeface="华文楷体" panose="02010600040101010101" pitchFamily="2" charset="-122"/>
              </a:rPr>
              <a:t>7</a:t>
            </a:r>
            <a:r>
              <a:rPr lang="en-US" altLang="zh-CN" sz="2400" b="1" dirty="0">
                <a:latin typeface="Times New Roman" panose="02020603050405020304" pitchFamily="18" charset="0"/>
                <a:ea typeface="华文楷体" panose="02010600040101010101" pitchFamily="2" charset="-122"/>
              </a:rPr>
              <a:t>*1+</a:t>
            </a:r>
            <a:r>
              <a:rPr lang="en-US" altLang="zh-CN" sz="2400" b="1" dirty="0">
                <a:solidFill>
                  <a:schemeClr val="accent2"/>
                </a:solidFill>
                <a:latin typeface="Times New Roman" panose="02020603050405020304" pitchFamily="18" charset="0"/>
                <a:ea typeface="华文楷体" panose="02010600040101010101" pitchFamily="2" charset="-122"/>
              </a:rPr>
              <a:t>5</a:t>
            </a:r>
            <a:r>
              <a:rPr lang="en-US" altLang="zh-CN" sz="2400" b="1" dirty="0">
                <a:latin typeface="Times New Roman" panose="02020603050405020304" pitchFamily="18" charset="0"/>
                <a:ea typeface="华文楷体" panose="02010600040101010101" pitchFamily="2" charset="-122"/>
              </a:rPr>
              <a:t>*2+</a:t>
            </a:r>
            <a:r>
              <a:rPr lang="en-US" altLang="zh-CN" sz="2400" b="1" dirty="0">
                <a:solidFill>
                  <a:schemeClr val="accent2"/>
                </a:solidFill>
                <a:latin typeface="Times New Roman" panose="02020603050405020304" pitchFamily="18" charset="0"/>
                <a:ea typeface="华文楷体" panose="02010600040101010101" pitchFamily="2" charset="-122"/>
              </a:rPr>
              <a:t>2</a:t>
            </a:r>
            <a:r>
              <a:rPr lang="en-US" altLang="zh-CN" sz="2400" b="1" dirty="0">
                <a:latin typeface="Times New Roman" panose="02020603050405020304" pitchFamily="18" charset="0"/>
                <a:ea typeface="华文楷体" panose="02010600040101010101" pitchFamily="2" charset="-122"/>
              </a:rPr>
              <a:t>*3+</a:t>
            </a:r>
            <a:r>
              <a:rPr lang="en-US" altLang="zh-CN" sz="2400" b="1" dirty="0">
                <a:solidFill>
                  <a:schemeClr val="accent2"/>
                </a:solidFill>
                <a:latin typeface="Times New Roman" panose="02020603050405020304" pitchFamily="18" charset="0"/>
                <a:ea typeface="华文楷体" panose="02010600040101010101" pitchFamily="2" charset="-122"/>
              </a:rPr>
              <a:t>4</a:t>
            </a:r>
            <a:r>
              <a:rPr lang="en-US" altLang="zh-CN" sz="2400" b="1" dirty="0">
                <a:latin typeface="Times New Roman" panose="02020603050405020304" pitchFamily="18" charset="0"/>
                <a:ea typeface="华文楷体" panose="02010600040101010101" pitchFamily="2" charset="-122"/>
              </a:rPr>
              <a:t>*3=35</a:t>
            </a:r>
            <a:endParaRPr lang="en-US" altLang="zh-CN" sz="2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box(out)">
                                      <p:cBhvr>
                                        <p:cTn id="7" dur="500"/>
                                        <p:tgtEl>
                                          <p:spTgt spid="45060"/>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5079"/>
                                        </p:tgtEl>
                                        <p:attrNameLst>
                                          <p:attrName>style.visibility</p:attrName>
                                        </p:attrNameLst>
                                      </p:cBhvr>
                                      <p:to>
                                        <p:strVal val="visible"/>
                                      </p:to>
                                    </p:set>
                                    <p:animEffect transition="in" filter="box(out)">
                                      <p:cBhvr>
                                        <p:cTn id="12" dur="500"/>
                                        <p:tgtEl>
                                          <p:spTgt spid="45079"/>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5098"/>
                                        </p:tgtEl>
                                        <p:attrNameLst>
                                          <p:attrName>style.visibility</p:attrName>
                                        </p:attrNameLst>
                                      </p:cBhvr>
                                      <p:to>
                                        <p:strVal val="visible"/>
                                      </p:to>
                                    </p:set>
                                    <p:animEffect transition="in" filter="box(out)">
                                      <p:cBhvr>
                                        <p:cTn id="17" dur="500"/>
                                        <p:tgtEl>
                                          <p:spTgt spid="45098"/>
                                        </p:tgtEl>
                                      </p:cBhvr>
                                    </p:animEffect>
                                  </p:childTnLst>
                                  <p:subTnLs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5116">
                                            <p:txEl>
                                              <p:pRg st="0" end="0"/>
                                            </p:txEl>
                                          </p:spTgt>
                                        </p:tgtEl>
                                        <p:attrNameLst>
                                          <p:attrName>style.visibility</p:attrName>
                                        </p:attrNameLst>
                                      </p:cBhvr>
                                      <p:to>
                                        <p:strVal val="visible"/>
                                      </p:to>
                                    </p:set>
                                    <p:animEffect transition="in" filter="box(out)">
                                      <p:cBhvr>
                                        <p:cTn id="22" dur="500"/>
                                        <p:tgtEl>
                                          <p:spTgt spid="45116">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45117">
                                            <p:txEl>
                                              <p:pRg st="0" end="0"/>
                                            </p:txEl>
                                          </p:spTgt>
                                        </p:tgtEl>
                                        <p:attrNameLst>
                                          <p:attrName>style.visibility</p:attrName>
                                        </p:attrNameLst>
                                      </p:cBhvr>
                                      <p:to>
                                        <p:strVal val="visible"/>
                                      </p:to>
                                    </p:set>
                                    <p:animEffect transition="in" filter="box(out)">
                                      <p:cBhvr>
                                        <p:cTn id="27" dur="500"/>
                                        <p:tgtEl>
                                          <p:spTgt spid="45117">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45118">
                                            <p:txEl>
                                              <p:pRg st="0" end="0"/>
                                            </p:txEl>
                                          </p:spTgt>
                                        </p:tgtEl>
                                        <p:attrNameLst>
                                          <p:attrName>style.visibility</p:attrName>
                                        </p:attrNameLst>
                                      </p:cBhvr>
                                      <p:to>
                                        <p:strVal val="visible"/>
                                      </p:to>
                                    </p:set>
                                    <p:animEffect transition="in" filter="box(out)">
                                      <p:cBhvr>
                                        <p:cTn id="32" dur="500"/>
                                        <p:tgtEl>
                                          <p:spTgt spid="45118">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16" grpId="0" build="p"/>
      <p:bldP spid="45117" grpId="0" build="p"/>
      <p:bldP spid="45118"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4915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9157" name="Rectangle 3"/>
          <p:cNvSpPr>
            <a:spLocks noGrp="1" noChangeArrowheads="1"/>
          </p:cNvSpPr>
          <p:nvPr>
            <p:ph idx="1"/>
          </p:nvPr>
        </p:nvSpPr>
        <p:spPr>
          <a:ln>
            <a:solidFill>
              <a:schemeClr val="accent1"/>
            </a:solidFill>
          </a:ln>
        </p:spPr>
        <p:txBody>
          <a:bodyPr/>
          <a:lstStyle/>
          <a:p>
            <a:pPr eaLnBrk="1" hangingPunct="1">
              <a:buFont typeface="Wingdings" panose="05000000000000000000" pitchFamily="2" charset="2"/>
              <a:buNone/>
            </a:pPr>
            <a:r>
              <a:rPr lang="en-US" altLang="zh-CN" sz="2800" dirty="0" smtClean="0">
                <a:solidFill>
                  <a:schemeClr val="accent2"/>
                </a:solidFill>
                <a:ea typeface="华文楷体" panose="02010600040101010101" pitchFamily="2" charset="-122"/>
              </a:rPr>
              <a:t>[</a:t>
            </a:r>
            <a:r>
              <a:rPr lang="zh-CN" altLang="en-US" sz="2800" b="1" dirty="0" smtClean="0">
                <a:solidFill>
                  <a:schemeClr val="accent2"/>
                </a:solidFill>
                <a:ea typeface="华文楷体" panose="02010600040101010101" pitchFamily="2" charset="-122"/>
              </a:rPr>
              <a:t>建立哈夫曼树（最优二叉树）的方法</a:t>
            </a:r>
            <a:r>
              <a:rPr lang="en-US" altLang="zh-CN" sz="2800" dirty="0" smtClean="0">
                <a:solidFill>
                  <a:schemeClr val="accent2"/>
                </a:solidFill>
                <a:ea typeface="华文楷体" panose="02010600040101010101" pitchFamily="2" charset="-122"/>
              </a:rPr>
              <a:t>]</a:t>
            </a:r>
            <a:endParaRPr lang="en-US" altLang="zh-CN" sz="2800"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基本思想</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使权大的结点靠近根。</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将给定权值从小到大排序成</a:t>
            </a:r>
            <a:r>
              <a:rPr lang="en-US" altLang="zh-CN" sz="2400" dirty="0" smtClean="0">
                <a:ea typeface="华文楷体" panose="02010600040101010101" pitchFamily="2" charset="-122"/>
              </a:rPr>
              <a:t>{w</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,w</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a:t>
            </a:r>
            <a:r>
              <a:rPr lang="en-US" altLang="zh-CN" sz="2400" dirty="0" smtClean="0">
                <a:latin typeface="Times New Roman" panose="02020603050405020304" pitchFamily="18" charset="0"/>
                <a:ea typeface="华文楷体" panose="02010600040101010101" pitchFamily="2" charset="-122"/>
              </a:rPr>
              <a:t>…</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w</a:t>
            </a:r>
            <a:r>
              <a:rPr lang="en-US" altLang="zh-CN" sz="2400" baseline="-25000" dirty="0" err="1" smtClean="0">
                <a:ea typeface="华文楷体" panose="02010600040101010101" pitchFamily="2" charset="-122"/>
              </a:rPr>
              <a:t>m</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，生成一个森林</a:t>
            </a:r>
            <a:r>
              <a:rPr lang="en-US" altLang="zh-CN" sz="2400" dirty="0" smtClean="0">
                <a:ea typeface="华文楷体" panose="02010600040101010101" pitchFamily="2" charset="-122"/>
              </a:rPr>
              <a:t>F={T</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a:t>
            </a:r>
            <a:r>
              <a:rPr lang="en-US" altLang="zh-CN" sz="2400" dirty="0" smtClean="0">
                <a:latin typeface="Times New Roman" panose="02020603050405020304" pitchFamily="18" charset="0"/>
                <a:ea typeface="华文楷体" panose="02010600040101010101" pitchFamily="2" charset="-122"/>
              </a:rPr>
              <a:t>…</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m</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，其中</a:t>
            </a:r>
            <a:r>
              <a:rPr lang="en-US" altLang="zh-CN" sz="2400" dirty="0" err="1" smtClean="0">
                <a:ea typeface="华文楷体" panose="02010600040101010101" pitchFamily="2" charset="-122"/>
              </a:rPr>
              <a:t>T</a:t>
            </a:r>
            <a:r>
              <a:rPr lang="en-US" altLang="zh-CN" sz="2400" baseline="-25000" dirty="0" err="1" smtClean="0">
                <a:ea typeface="华文楷体" panose="02010600040101010101" pitchFamily="2" charset="-122"/>
              </a:rPr>
              <a:t>i</a:t>
            </a:r>
            <a:r>
              <a:rPr lang="zh-CN" altLang="en-US" sz="2400" dirty="0" smtClean="0">
                <a:ea typeface="华文楷体" panose="02010600040101010101" pitchFamily="2" charset="-122"/>
              </a:rPr>
              <a:t>是一个带权</a:t>
            </a:r>
            <a:r>
              <a:rPr lang="en-US" altLang="zh-CN" sz="2400" dirty="0" smtClean="0">
                <a:ea typeface="华文楷体" panose="02010600040101010101" pitchFamily="2" charset="-122"/>
              </a:rPr>
              <a:t>W</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的根结点，它的左右子树均空。</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把</a:t>
            </a:r>
            <a:r>
              <a:rPr lang="en-US" altLang="zh-CN" sz="2400" dirty="0" smtClean="0">
                <a:ea typeface="华文楷体" panose="02010600040101010101" pitchFamily="2" charset="-122"/>
              </a:rPr>
              <a:t>F</a:t>
            </a:r>
            <a:r>
              <a:rPr lang="zh-CN" altLang="en-US" sz="2400" dirty="0" smtClean="0">
                <a:ea typeface="华文楷体" panose="02010600040101010101" pitchFamily="2" charset="-122"/>
              </a:rPr>
              <a:t>中根的权值最小的两棵二叉树</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1</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2</a:t>
            </a:r>
            <a:r>
              <a:rPr lang="zh-CN" altLang="en-US" sz="2400" dirty="0" smtClean="0">
                <a:ea typeface="华文楷体" panose="02010600040101010101" pitchFamily="2" charset="-122"/>
              </a:rPr>
              <a:t>合并成一棵新的二叉树</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的左子树是</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，右子树是</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的根的权值是</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1</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2</a:t>
            </a:r>
            <a:r>
              <a:rPr lang="zh-CN" altLang="en-US" sz="2400" dirty="0" smtClean="0">
                <a:ea typeface="华文楷体" panose="02010600040101010101" pitchFamily="2" charset="-122"/>
              </a:rPr>
              <a:t>树根结点权值之和。</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将</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按权值大小加入</a:t>
            </a:r>
            <a:r>
              <a:rPr lang="en-US" altLang="zh-CN" sz="2400" dirty="0" smtClean="0">
                <a:ea typeface="华文楷体" panose="02010600040101010101" pitchFamily="2" charset="-122"/>
              </a:rPr>
              <a:t>F</a:t>
            </a:r>
            <a:r>
              <a:rPr lang="zh-CN" altLang="en-US" sz="2400" dirty="0" smtClean="0">
                <a:ea typeface="华文楷体" panose="02010600040101010101" pitchFamily="2" charset="-122"/>
              </a:rPr>
              <a:t>中，同时从</a:t>
            </a:r>
            <a:r>
              <a:rPr lang="en-US" altLang="zh-CN" sz="2400" dirty="0" smtClean="0">
                <a:ea typeface="华文楷体" panose="02010600040101010101" pitchFamily="2" charset="-122"/>
              </a:rPr>
              <a:t>F</a:t>
            </a:r>
            <a:r>
              <a:rPr lang="zh-CN" altLang="en-US" sz="2400" dirty="0" smtClean="0">
                <a:ea typeface="华文楷体" panose="02010600040101010101" pitchFamily="2" charset="-122"/>
              </a:rPr>
              <a:t>中删去</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1</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T</a:t>
            </a:r>
            <a:r>
              <a:rPr lang="en-US" altLang="zh-CN" sz="2400" baseline="-25000" dirty="0" smtClean="0">
                <a:ea typeface="华文楷体" panose="02010600040101010101" pitchFamily="2" charset="-122"/>
              </a:rPr>
              <a:t>2</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(4)</a:t>
            </a:r>
            <a:r>
              <a:rPr lang="zh-CN" altLang="en-US" sz="2400" dirty="0" smtClean="0">
                <a:ea typeface="华文楷体" panose="02010600040101010101" pitchFamily="2" charset="-122"/>
              </a:rPr>
              <a:t>重复</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，直到</a:t>
            </a:r>
            <a:r>
              <a:rPr lang="en-US" altLang="zh-CN" sz="2400" dirty="0" smtClean="0">
                <a:ea typeface="华文楷体" panose="02010600040101010101" pitchFamily="2" charset="-122"/>
              </a:rPr>
              <a:t>F</a:t>
            </a:r>
            <a:r>
              <a:rPr lang="zh-CN" altLang="en-US" sz="2400" dirty="0" smtClean="0">
                <a:ea typeface="华文楷体" panose="02010600040101010101" pitchFamily="2" charset="-122"/>
              </a:rPr>
              <a:t>中只含一棵树为止，该树即为所求。</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页脚占位符 3"/>
          <p:cNvSpPr>
            <a:spLocks noGrp="1"/>
          </p:cNvSpPr>
          <p:nvPr>
            <p:ph type="ftr" sz="quarter" idx="10"/>
          </p:nvPr>
        </p:nvSpPr>
        <p:spPr/>
        <p:txBody>
          <a:bodyPr/>
          <a:lstStyle/>
          <a:p>
            <a:pPr>
              <a:defRPr/>
            </a:pPr>
            <a:r>
              <a:rPr lang="en-US" altLang="zh-CN"/>
              <a:t>BUPT SCST</a:t>
            </a:r>
            <a:endParaRPr lang="en-US" altLang="zh-CN"/>
          </a:p>
        </p:txBody>
      </p:sp>
      <p:sp>
        <p:nvSpPr>
          <p:cNvPr id="188" name="日期占位符 5"/>
          <p:cNvSpPr>
            <a:spLocks noGrp="1"/>
          </p:cNvSpPr>
          <p:nvPr>
            <p:ph type="dt" sz="quarter" idx="12"/>
          </p:nvPr>
        </p:nvSpPr>
        <p:spPr/>
        <p:txBody>
          <a:bodyPr/>
          <a:lstStyle/>
          <a:p>
            <a:pPr>
              <a:defRPr/>
            </a:pPr>
            <a:r>
              <a:rPr lang="en-US" altLang="zh-CN"/>
              <a:t>BUPT</a:t>
            </a:r>
            <a:endParaRPr lang="en-US" altLang="zh-CN"/>
          </a:p>
        </p:txBody>
      </p:sp>
      <p:sp>
        <p:nvSpPr>
          <p:cNvPr id="501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0181" name="Rectangle 3"/>
          <p:cNvSpPr>
            <a:spLocks noChangeArrowheads="1"/>
          </p:cNvSpPr>
          <p:nvPr/>
        </p:nvSpPr>
        <p:spPr bwMode="auto">
          <a:xfrm>
            <a:off x="-152400" y="1331913"/>
            <a:ext cx="648652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solidFill>
                  <a:schemeClr val="accent2"/>
                </a:solidFill>
                <a:latin typeface="Verdana" panose="020B0604030504040204" pitchFamily="34" charset="0"/>
                <a:ea typeface="华文楷体" panose="02010600040101010101" pitchFamily="2" charset="-122"/>
              </a:rPr>
              <a:t>[</a:t>
            </a:r>
            <a:r>
              <a:rPr lang="zh-CN" altLang="en-US" sz="2400" dirty="0">
                <a:solidFill>
                  <a:schemeClr val="accent2"/>
                </a:solidFill>
                <a:latin typeface="Verdana" panose="020B0604030504040204" pitchFamily="34" charset="0"/>
                <a:ea typeface="华文楷体" panose="02010600040101010101" pitchFamily="2" charset="-122"/>
              </a:rPr>
              <a:t>例</a:t>
            </a:r>
            <a:r>
              <a:rPr lang="en-US" altLang="zh-CN" sz="2400" dirty="0">
                <a:solidFill>
                  <a:schemeClr val="accent2"/>
                </a:solidFill>
                <a:latin typeface="Verdana" panose="020B0604030504040204" pitchFamily="34" charset="0"/>
                <a:ea typeface="华文楷体" panose="02010600040101010101" pitchFamily="2" charset="-122"/>
              </a:rPr>
              <a:t>]</a:t>
            </a:r>
            <a:r>
              <a:rPr lang="en-US" altLang="zh-CN" sz="2400" b="1" dirty="0">
                <a:solidFill>
                  <a:schemeClr val="accent2"/>
                </a:solidFill>
                <a:latin typeface="Verdana" panose="020B0604030504040204" pitchFamily="34" charset="0"/>
                <a:ea typeface="华文楷体" panose="02010600040101010101" pitchFamily="2" charset="-122"/>
              </a:rPr>
              <a:t>  w={5, 29, 7, 8, 14, 23, 3, 11}</a:t>
            </a:r>
            <a:endParaRPr lang="en-US" altLang="zh-CN" sz="2400" b="1" dirty="0">
              <a:solidFill>
                <a:schemeClr val="accent2"/>
              </a:solidFill>
              <a:latin typeface="Verdana" panose="020B0604030504040204" pitchFamily="34" charset="0"/>
              <a:ea typeface="华文楷体" panose="02010600040101010101" pitchFamily="2" charset="-122"/>
            </a:endParaRPr>
          </a:p>
        </p:txBody>
      </p:sp>
      <p:grpSp>
        <p:nvGrpSpPr>
          <p:cNvPr id="47108" name="Group 4"/>
          <p:cNvGrpSpPr/>
          <p:nvPr/>
        </p:nvGrpSpPr>
        <p:grpSpPr bwMode="auto">
          <a:xfrm>
            <a:off x="1200150" y="1979613"/>
            <a:ext cx="2528888" cy="236537"/>
            <a:chOff x="756" y="567"/>
            <a:chExt cx="1909" cy="189"/>
          </a:xfrm>
        </p:grpSpPr>
        <p:sp>
          <p:nvSpPr>
            <p:cNvPr id="50357" name="Oval 5"/>
            <p:cNvSpPr>
              <a:spLocks noChangeArrowheads="1"/>
            </p:cNvSpPr>
            <p:nvPr/>
          </p:nvSpPr>
          <p:spPr bwMode="auto">
            <a:xfrm>
              <a:off x="756"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358" name="Oval 6"/>
            <p:cNvSpPr>
              <a:spLocks noChangeArrowheads="1"/>
            </p:cNvSpPr>
            <p:nvPr/>
          </p:nvSpPr>
          <p:spPr bwMode="auto">
            <a:xfrm>
              <a:off x="1738"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sp>
          <p:nvSpPr>
            <p:cNvPr id="50359" name="Oval 7"/>
            <p:cNvSpPr>
              <a:spLocks noChangeArrowheads="1"/>
            </p:cNvSpPr>
            <p:nvPr/>
          </p:nvSpPr>
          <p:spPr bwMode="auto">
            <a:xfrm>
              <a:off x="1001"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360" name="Oval 8"/>
            <p:cNvSpPr>
              <a:spLocks noChangeArrowheads="1"/>
            </p:cNvSpPr>
            <p:nvPr/>
          </p:nvSpPr>
          <p:spPr bwMode="auto">
            <a:xfrm>
              <a:off x="1247"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361" name="Oval 9"/>
            <p:cNvSpPr>
              <a:spLocks noChangeArrowheads="1"/>
            </p:cNvSpPr>
            <p:nvPr/>
          </p:nvSpPr>
          <p:spPr bwMode="auto">
            <a:xfrm>
              <a:off x="1493"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62" name="Oval 10"/>
            <p:cNvSpPr>
              <a:spLocks noChangeArrowheads="1"/>
            </p:cNvSpPr>
            <p:nvPr/>
          </p:nvSpPr>
          <p:spPr bwMode="auto">
            <a:xfrm>
              <a:off x="1984"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sp>
          <p:nvSpPr>
            <p:cNvPr id="50363" name="Oval 11"/>
            <p:cNvSpPr>
              <a:spLocks noChangeArrowheads="1"/>
            </p:cNvSpPr>
            <p:nvPr/>
          </p:nvSpPr>
          <p:spPr bwMode="auto">
            <a:xfrm>
              <a:off x="2230"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364" name="Oval 12"/>
            <p:cNvSpPr>
              <a:spLocks noChangeArrowheads="1"/>
            </p:cNvSpPr>
            <p:nvPr/>
          </p:nvSpPr>
          <p:spPr bwMode="auto">
            <a:xfrm>
              <a:off x="2476" y="56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grpSp>
        <p:nvGrpSpPr>
          <p:cNvPr id="47117" name="Group 13"/>
          <p:cNvGrpSpPr/>
          <p:nvPr/>
        </p:nvGrpSpPr>
        <p:grpSpPr bwMode="auto">
          <a:xfrm>
            <a:off x="1211263" y="2432050"/>
            <a:ext cx="2330450" cy="577850"/>
            <a:chOff x="674" y="1452"/>
            <a:chExt cx="1759" cy="462"/>
          </a:xfrm>
        </p:grpSpPr>
        <p:sp>
          <p:nvSpPr>
            <p:cNvPr id="50345" name="Oval 14"/>
            <p:cNvSpPr>
              <a:spLocks noChangeArrowheads="1"/>
            </p:cNvSpPr>
            <p:nvPr/>
          </p:nvSpPr>
          <p:spPr bwMode="auto">
            <a:xfrm>
              <a:off x="1411" y="145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sp>
          <p:nvSpPr>
            <p:cNvPr id="50346" name="Oval 15"/>
            <p:cNvSpPr>
              <a:spLocks noChangeArrowheads="1"/>
            </p:cNvSpPr>
            <p:nvPr/>
          </p:nvSpPr>
          <p:spPr bwMode="auto">
            <a:xfrm>
              <a:off x="674" y="145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347" name="Oval 16"/>
            <p:cNvSpPr>
              <a:spLocks noChangeArrowheads="1"/>
            </p:cNvSpPr>
            <p:nvPr/>
          </p:nvSpPr>
          <p:spPr bwMode="auto">
            <a:xfrm>
              <a:off x="920" y="145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348" name="Oval 17"/>
            <p:cNvSpPr>
              <a:spLocks noChangeArrowheads="1"/>
            </p:cNvSpPr>
            <p:nvPr/>
          </p:nvSpPr>
          <p:spPr bwMode="auto">
            <a:xfrm>
              <a:off x="1166" y="145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49" name="Oval 18"/>
            <p:cNvSpPr>
              <a:spLocks noChangeArrowheads="1"/>
            </p:cNvSpPr>
            <p:nvPr/>
          </p:nvSpPr>
          <p:spPr bwMode="auto">
            <a:xfrm>
              <a:off x="1657" y="145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sp>
          <p:nvSpPr>
            <p:cNvPr id="50350" name="Oval 19"/>
            <p:cNvSpPr>
              <a:spLocks noChangeArrowheads="1"/>
            </p:cNvSpPr>
            <p:nvPr/>
          </p:nvSpPr>
          <p:spPr bwMode="auto">
            <a:xfrm>
              <a:off x="1893" y="145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nvGrpSpPr>
            <p:cNvPr id="50351" name="Group 20"/>
            <p:cNvGrpSpPr/>
            <p:nvPr/>
          </p:nvGrpSpPr>
          <p:grpSpPr bwMode="auto">
            <a:xfrm>
              <a:off x="1926" y="1455"/>
              <a:ext cx="507" cy="459"/>
              <a:chOff x="1596" y="1881"/>
              <a:chExt cx="507" cy="459"/>
            </a:xfrm>
          </p:grpSpPr>
          <p:sp>
            <p:nvSpPr>
              <p:cNvPr id="50352" name="Oval 21"/>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353" name="Oval 22"/>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354" name="Oval 23"/>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55" name="Line 24"/>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56" name="Line 25"/>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grpSp>
        <p:nvGrpSpPr>
          <p:cNvPr id="47130" name="Group 26"/>
          <p:cNvGrpSpPr/>
          <p:nvPr/>
        </p:nvGrpSpPr>
        <p:grpSpPr bwMode="auto">
          <a:xfrm>
            <a:off x="1204913" y="3289300"/>
            <a:ext cx="2432050" cy="588963"/>
            <a:chOff x="714" y="2169"/>
            <a:chExt cx="1835" cy="471"/>
          </a:xfrm>
        </p:grpSpPr>
        <p:grpSp>
          <p:nvGrpSpPr>
            <p:cNvPr id="50329" name="Group 27"/>
            <p:cNvGrpSpPr/>
            <p:nvPr/>
          </p:nvGrpSpPr>
          <p:grpSpPr bwMode="auto">
            <a:xfrm>
              <a:off x="2042" y="2181"/>
              <a:ext cx="507" cy="459"/>
              <a:chOff x="1596" y="1881"/>
              <a:chExt cx="507" cy="459"/>
            </a:xfrm>
          </p:grpSpPr>
          <p:sp>
            <p:nvSpPr>
              <p:cNvPr id="50340" name="Oval 28"/>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41" name="Oval 29"/>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342" name="Oval 30"/>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15</a:t>
                </a:r>
                <a:endParaRPr lang="en-US" altLang="zh-CN" sz="2000" dirty="0">
                  <a:latin typeface="Times New Roman" panose="02020603050405020304" pitchFamily="18" charset="0"/>
                  <a:ea typeface="华文楷体" panose="02010600040101010101" pitchFamily="2" charset="-122"/>
                </a:endParaRPr>
              </a:p>
            </p:txBody>
          </p:sp>
          <p:sp>
            <p:nvSpPr>
              <p:cNvPr id="50343" name="Line 31"/>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44" name="Line 32"/>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330" name="Oval 33"/>
            <p:cNvSpPr>
              <a:spLocks noChangeArrowheads="1"/>
            </p:cNvSpPr>
            <p:nvPr/>
          </p:nvSpPr>
          <p:spPr bwMode="auto">
            <a:xfrm>
              <a:off x="940" y="217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sp>
          <p:nvSpPr>
            <p:cNvPr id="50331" name="Oval 34"/>
            <p:cNvSpPr>
              <a:spLocks noChangeArrowheads="1"/>
            </p:cNvSpPr>
            <p:nvPr/>
          </p:nvSpPr>
          <p:spPr bwMode="auto">
            <a:xfrm>
              <a:off x="714" y="217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332" name="Oval 35"/>
            <p:cNvSpPr>
              <a:spLocks noChangeArrowheads="1"/>
            </p:cNvSpPr>
            <p:nvPr/>
          </p:nvSpPr>
          <p:spPr bwMode="auto">
            <a:xfrm>
              <a:off x="1186" y="217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grpSp>
          <p:nvGrpSpPr>
            <p:cNvPr id="50333" name="Group 36"/>
            <p:cNvGrpSpPr/>
            <p:nvPr/>
          </p:nvGrpSpPr>
          <p:grpSpPr bwMode="auto">
            <a:xfrm>
              <a:off x="1496" y="2169"/>
              <a:ext cx="507" cy="459"/>
              <a:chOff x="1596" y="1881"/>
              <a:chExt cx="507" cy="459"/>
            </a:xfrm>
          </p:grpSpPr>
          <p:sp>
            <p:nvSpPr>
              <p:cNvPr id="50335" name="Oval 37"/>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336" name="Oval 38"/>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337" name="Oval 39"/>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38" name="Line 40"/>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39" name="Line 41"/>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334" name="Oval 42"/>
            <p:cNvSpPr>
              <a:spLocks noChangeArrowheads="1"/>
            </p:cNvSpPr>
            <p:nvPr/>
          </p:nvSpPr>
          <p:spPr bwMode="auto">
            <a:xfrm>
              <a:off x="1433" y="217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grpSp>
        <p:nvGrpSpPr>
          <p:cNvPr id="47147" name="Group 43"/>
          <p:cNvGrpSpPr/>
          <p:nvPr/>
        </p:nvGrpSpPr>
        <p:grpSpPr bwMode="auto">
          <a:xfrm>
            <a:off x="1249363" y="4219575"/>
            <a:ext cx="2335212" cy="971550"/>
            <a:chOff x="709" y="2867"/>
            <a:chExt cx="1763" cy="776"/>
          </a:xfrm>
        </p:grpSpPr>
        <p:grpSp>
          <p:nvGrpSpPr>
            <p:cNvPr id="50309" name="Group 44"/>
            <p:cNvGrpSpPr/>
            <p:nvPr/>
          </p:nvGrpSpPr>
          <p:grpSpPr bwMode="auto">
            <a:xfrm>
              <a:off x="1766" y="2867"/>
              <a:ext cx="706" cy="776"/>
              <a:chOff x="1633" y="2900"/>
              <a:chExt cx="706" cy="776"/>
            </a:xfrm>
          </p:grpSpPr>
          <p:sp>
            <p:nvSpPr>
              <p:cNvPr id="50319" name="Oval 45"/>
              <p:cNvSpPr>
                <a:spLocks noChangeArrowheads="1"/>
              </p:cNvSpPr>
              <p:nvPr/>
            </p:nvSpPr>
            <p:spPr bwMode="auto">
              <a:xfrm>
                <a:off x="1633" y="319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nvGrpSpPr>
              <p:cNvPr id="50320" name="Group 46"/>
              <p:cNvGrpSpPr/>
              <p:nvPr/>
            </p:nvGrpSpPr>
            <p:grpSpPr bwMode="auto">
              <a:xfrm>
                <a:off x="1832" y="3217"/>
                <a:ext cx="507" cy="459"/>
                <a:chOff x="1596" y="1881"/>
                <a:chExt cx="507" cy="459"/>
              </a:xfrm>
            </p:grpSpPr>
            <p:sp>
              <p:nvSpPr>
                <p:cNvPr id="50324" name="Oval 47"/>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325" name="Oval 48"/>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326" name="Oval 49"/>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27" name="Line 50"/>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28" name="Line 51"/>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321" name="Oval 52"/>
              <p:cNvSpPr>
                <a:spLocks noChangeArrowheads="1"/>
              </p:cNvSpPr>
              <p:nvPr/>
            </p:nvSpPr>
            <p:spPr bwMode="auto">
              <a:xfrm>
                <a:off x="1851" y="290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19</a:t>
                </a:r>
                <a:endParaRPr lang="en-US" altLang="zh-CN" sz="2000" dirty="0">
                  <a:latin typeface="Times New Roman" panose="02020603050405020304" pitchFamily="18" charset="0"/>
                  <a:ea typeface="华文楷体" panose="02010600040101010101" pitchFamily="2" charset="-122"/>
                </a:endParaRPr>
              </a:p>
            </p:txBody>
          </p:sp>
          <p:sp>
            <p:nvSpPr>
              <p:cNvPr id="50322" name="Line 53"/>
              <p:cNvSpPr>
                <a:spLocks noChangeShapeType="1"/>
              </p:cNvSpPr>
              <p:nvPr/>
            </p:nvSpPr>
            <p:spPr bwMode="auto">
              <a:xfrm flipH="1">
                <a:off x="1800" y="3066"/>
                <a:ext cx="89" cy="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23" name="Line 54"/>
              <p:cNvSpPr>
                <a:spLocks noChangeShapeType="1"/>
              </p:cNvSpPr>
              <p:nvPr/>
            </p:nvSpPr>
            <p:spPr bwMode="auto">
              <a:xfrm>
                <a:off x="1978" y="3078"/>
                <a:ext cx="10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310" name="Oval 55"/>
            <p:cNvSpPr>
              <a:spLocks noChangeArrowheads="1"/>
            </p:cNvSpPr>
            <p:nvPr/>
          </p:nvSpPr>
          <p:spPr bwMode="auto">
            <a:xfrm>
              <a:off x="935" y="287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sp>
          <p:nvSpPr>
            <p:cNvPr id="50311" name="Oval 56"/>
            <p:cNvSpPr>
              <a:spLocks noChangeArrowheads="1"/>
            </p:cNvSpPr>
            <p:nvPr/>
          </p:nvSpPr>
          <p:spPr bwMode="auto">
            <a:xfrm>
              <a:off x="709" y="287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312" name="Oval 57"/>
            <p:cNvSpPr>
              <a:spLocks noChangeArrowheads="1"/>
            </p:cNvSpPr>
            <p:nvPr/>
          </p:nvSpPr>
          <p:spPr bwMode="auto">
            <a:xfrm>
              <a:off x="1181" y="2877"/>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grpSp>
          <p:nvGrpSpPr>
            <p:cNvPr id="50313" name="Group 58"/>
            <p:cNvGrpSpPr/>
            <p:nvPr/>
          </p:nvGrpSpPr>
          <p:grpSpPr bwMode="auto">
            <a:xfrm>
              <a:off x="1227" y="2888"/>
              <a:ext cx="507" cy="459"/>
              <a:chOff x="1596" y="1881"/>
              <a:chExt cx="507" cy="459"/>
            </a:xfrm>
          </p:grpSpPr>
          <p:sp>
            <p:nvSpPr>
              <p:cNvPr id="50314" name="Oval 59"/>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15" name="Oval 60"/>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316" name="Oval 61"/>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15</a:t>
                </a:r>
                <a:endParaRPr lang="en-US" altLang="zh-CN" sz="2000" dirty="0">
                  <a:latin typeface="Times New Roman" panose="02020603050405020304" pitchFamily="18" charset="0"/>
                  <a:ea typeface="华文楷体" panose="02010600040101010101" pitchFamily="2" charset="-122"/>
                </a:endParaRPr>
              </a:p>
            </p:txBody>
          </p:sp>
          <p:sp>
            <p:nvSpPr>
              <p:cNvPr id="50317" name="Line 62"/>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18" name="Line 63"/>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grpSp>
        <p:nvGrpSpPr>
          <p:cNvPr id="47168" name="Group 64"/>
          <p:cNvGrpSpPr/>
          <p:nvPr/>
        </p:nvGrpSpPr>
        <p:grpSpPr bwMode="auto">
          <a:xfrm>
            <a:off x="1208088" y="5500688"/>
            <a:ext cx="2257425" cy="973137"/>
            <a:chOff x="3228" y="363"/>
            <a:chExt cx="1704" cy="778"/>
          </a:xfrm>
        </p:grpSpPr>
        <p:grpSp>
          <p:nvGrpSpPr>
            <p:cNvPr id="50285" name="Group 65"/>
            <p:cNvGrpSpPr/>
            <p:nvPr/>
          </p:nvGrpSpPr>
          <p:grpSpPr bwMode="auto">
            <a:xfrm>
              <a:off x="3563" y="365"/>
              <a:ext cx="706" cy="776"/>
              <a:chOff x="1633" y="2900"/>
              <a:chExt cx="706" cy="776"/>
            </a:xfrm>
          </p:grpSpPr>
          <p:sp>
            <p:nvSpPr>
              <p:cNvPr id="50299" name="Oval 66"/>
              <p:cNvSpPr>
                <a:spLocks noChangeArrowheads="1"/>
              </p:cNvSpPr>
              <p:nvPr/>
            </p:nvSpPr>
            <p:spPr bwMode="auto">
              <a:xfrm>
                <a:off x="1633" y="319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nvGrpSpPr>
              <p:cNvPr id="50300" name="Group 67"/>
              <p:cNvGrpSpPr/>
              <p:nvPr/>
            </p:nvGrpSpPr>
            <p:grpSpPr bwMode="auto">
              <a:xfrm>
                <a:off x="1832" y="3217"/>
                <a:ext cx="507" cy="459"/>
                <a:chOff x="1596" y="1881"/>
                <a:chExt cx="507" cy="459"/>
              </a:xfrm>
            </p:grpSpPr>
            <p:sp>
              <p:nvSpPr>
                <p:cNvPr id="50304" name="Oval 68"/>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305" name="Oval 69"/>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306" name="Oval 70"/>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307" name="Line 71"/>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08" name="Line 72"/>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301" name="Oval 73"/>
              <p:cNvSpPr>
                <a:spLocks noChangeArrowheads="1"/>
              </p:cNvSpPr>
              <p:nvPr/>
            </p:nvSpPr>
            <p:spPr bwMode="auto">
              <a:xfrm>
                <a:off x="1851" y="290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19</a:t>
                </a:r>
                <a:endParaRPr lang="en-US" altLang="zh-CN" sz="2000" dirty="0">
                  <a:latin typeface="Times New Roman" panose="02020603050405020304" pitchFamily="18" charset="0"/>
                  <a:ea typeface="华文楷体" panose="02010600040101010101" pitchFamily="2" charset="-122"/>
                </a:endParaRPr>
              </a:p>
            </p:txBody>
          </p:sp>
          <p:sp>
            <p:nvSpPr>
              <p:cNvPr id="50302" name="Line 74"/>
              <p:cNvSpPr>
                <a:spLocks noChangeShapeType="1"/>
              </p:cNvSpPr>
              <p:nvPr/>
            </p:nvSpPr>
            <p:spPr bwMode="auto">
              <a:xfrm flipH="1">
                <a:off x="1800" y="3066"/>
                <a:ext cx="89" cy="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303" name="Line 75"/>
              <p:cNvSpPr>
                <a:spLocks noChangeShapeType="1"/>
              </p:cNvSpPr>
              <p:nvPr/>
            </p:nvSpPr>
            <p:spPr bwMode="auto">
              <a:xfrm>
                <a:off x="1978" y="3078"/>
                <a:ext cx="10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86" name="Oval 76"/>
            <p:cNvSpPr>
              <a:spLocks noChangeArrowheads="1"/>
            </p:cNvSpPr>
            <p:nvPr/>
          </p:nvSpPr>
          <p:spPr bwMode="auto">
            <a:xfrm>
              <a:off x="3228" y="363"/>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287" name="Oval 77"/>
            <p:cNvSpPr>
              <a:spLocks noChangeArrowheads="1"/>
            </p:cNvSpPr>
            <p:nvPr/>
          </p:nvSpPr>
          <p:spPr bwMode="auto">
            <a:xfrm>
              <a:off x="3489" y="363"/>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grpSp>
          <p:nvGrpSpPr>
            <p:cNvPr id="50288" name="Group 78"/>
            <p:cNvGrpSpPr/>
            <p:nvPr/>
          </p:nvGrpSpPr>
          <p:grpSpPr bwMode="auto">
            <a:xfrm>
              <a:off x="4244" y="381"/>
              <a:ext cx="688" cy="741"/>
              <a:chOff x="3643" y="814"/>
              <a:chExt cx="688" cy="741"/>
            </a:xfrm>
          </p:grpSpPr>
          <p:sp>
            <p:nvSpPr>
              <p:cNvPr id="50289" name="Oval 79"/>
              <p:cNvSpPr>
                <a:spLocks noChangeArrowheads="1"/>
              </p:cNvSpPr>
              <p:nvPr/>
            </p:nvSpPr>
            <p:spPr bwMode="auto">
              <a:xfrm>
                <a:off x="3643" y="107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grpSp>
            <p:nvGrpSpPr>
              <p:cNvPr id="50290" name="Group 80"/>
              <p:cNvGrpSpPr/>
              <p:nvPr/>
            </p:nvGrpSpPr>
            <p:grpSpPr bwMode="auto">
              <a:xfrm>
                <a:off x="3824" y="1096"/>
                <a:ext cx="507" cy="459"/>
                <a:chOff x="1596" y="1881"/>
                <a:chExt cx="507" cy="459"/>
              </a:xfrm>
            </p:grpSpPr>
            <p:sp>
              <p:nvSpPr>
                <p:cNvPr id="50294" name="Oval 81"/>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295" name="Oval 82"/>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296" name="Oval 83"/>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15</a:t>
                  </a:r>
                  <a:endParaRPr lang="en-US" altLang="zh-CN" sz="2000" dirty="0">
                    <a:latin typeface="Times New Roman" panose="02020603050405020304" pitchFamily="18" charset="0"/>
                    <a:ea typeface="华文楷体" panose="02010600040101010101" pitchFamily="2" charset="-122"/>
                  </a:endParaRPr>
                </a:p>
              </p:txBody>
            </p:sp>
            <p:sp>
              <p:nvSpPr>
                <p:cNvPr id="50297" name="Line 84"/>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98" name="Line 85"/>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91" name="Oval 86"/>
              <p:cNvSpPr>
                <a:spLocks noChangeArrowheads="1"/>
              </p:cNvSpPr>
              <p:nvPr/>
            </p:nvSpPr>
            <p:spPr bwMode="auto">
              <a:xfrm>
                <a:off x="3861" y="81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292" name="Line 87"/>
              <p:cNvSpPr>
                <a:spLocks noChangeShapeType="1"/>
              </p:cNvSpPr>
              <p:nvPr/>
            </p:nvSpPr>
            <p:spPr bwMode="auto">
              <a:xfrm flipH="1">
                <a:off x="3800" y="967"/>
                <a:ext cx="78"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93" name="Line 88"/>
              <p:cNvSpPr>
                <a:spLocks noChangeShapeType="1"/>
              </p:cNvSpPr>
              <p:nvPr/>
            </p:nvSpPr>
            <p:spPr bwMode="auto">
              <a:xfrm>
                <a:off x="4001" y="978"/>
                <a:ext cx="66"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grpSp>
        <p:nvGrpSpPr>
          <p:cNvPr id="47193" name="Group 89"/>
          <p:cNvGrpSpPr/>
          <p:nvPr/>
        </p:nvGrpSpPr>
        <p:grpSpPr bwMode="auto">
          <a:xfrm>
            <a:off x="5454650" y="1203325"/>
            <a:ext cx="2335213" cy="1368425"/>
            <a:chOff x="3224" y="1422"/>
            <a:chExt cx="1763" cy="1094"/>
          </a:xfrm>
        </p:grpSpPr>
        <p:sp>
          <p:nvSpPr>
            <p:cNvPr id="50257" name="Oval 90"/>
            <p:cNvSpPr>
              <a:spLocks noChangeArrowheads="1"/>
            </p:cNvSpPr>
            <p:nvPr/>
          </p:nvSpPr>
          <p:spPr bwMode="auto">
            <a:xfrm>
              <a:off x="3224" y="1426"/>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grpSp>
          <p:nvGrpSpPr>
            <p:cNvPr id="50258" name="Group 91"/>
            <p:cNvGrpSpPr/>
            <p:nvPr/>
          </p:nvGrpSpPr>
          <p:grpSpPr bwMode="auto">
            <a:xfrm>
              <a:off x="3440" y="1422"/>
              <a:ext cx="688" cy="741"/>
              <a:chOff x="3643" y="814"/>
              <a:chExt cx="688" cy="741"/>
            </a:xfrm>
          </p:grpSpPr>
          <p:sp>
            <p:nvSpPr>
              <p:cNvPr id="50275" name="Oval 92"/>
              <p:cNvSpPr>
                <a:spLocks noChangeArrowheads="1"/>
              </p:cNvSpPr>
              <p:nvPr/>
            </p:nvSpPr>
            <p:spPr bwMode="auto">
              <a:xfrm>
                <a:off x="3643" y="107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grpSp>
            <p:nvGrpSpPr>
              <p:cNvPr id="50276" name="Group 93"/>
              <p:cNvGrpSpPr/>
              <p:nvPr/>
            </p:nvGrpSpPr>
            <p:grpSpPr bwMode="auto">
              <a:xfrm>
                <a:off x="3824" y="1096"/>
                <a:ext cx="507" cy="459"/>
                <a:chOff x="1596" y="1881"/>
                <a:chExt cx="507" cy="459"/>
              </a:xfrm>
            </p:grpSpPr>
            <p:sp>
              <p:nvSpPr>
                <p:cNvPr id="50280" name="Oval 94"/>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281" name="Oval 95"/>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282" name="Oval 96"/>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15</a:t>
                  </a:r>
                  <a:endParaRPr lang="en-US" altLang="zh-CN" sz="2000" dirty="0">
                    <a:latin typeface="Times New Roman" panose="02020603050405020304" pitchFamily="18" charset="0"/>
                    <a:ea typeface="华文楷体" panose="02010600040101010101" pitchFamily="2" charset="-122"/>
                  </a:endParaRPr>
                </a:p>
              </p:txBody>
            </p:sp>
            <p:sp>
              <p:nvSpPr>
                <p:cNvPr id="50283" name="Line 97"/>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84" name="Line 98"/>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77" name="Oval 99"/>
              <p:cNvSpPr>
                <a:spLocks noChangeArrowheads="1"/>
              </p:cNvSpPr>
              <p:nvPr/>
            </p:nvSpPr>
            <p:spPr bwMode="auto">
              <a:xfrm>
                <a:off x="3861" y="81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278" name="Line 100"/>
              <p:cNvSpPr>
                <a:spLocks noChangeShapeType="1"/>
              </p:cNvSpPr>
              <p:nvPr/>
            </p:nvSpPr>
            <p:spPr bwMode="auto">
              <a:xfrm flipH="1">
                <a:off x="3800" y="967"/>
                <a:ext cx="78"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79" name="Line 101"/>
              <p:cNvSpPr>
                <a:spLocks noChangeShapeType="1"/>
              </p:cNvSpPr>
              <p:nvPr/>
            </p:nvSpPr>
            <p:spPr bwMode="auto">
              <a:xfrm>
                <a:off x="4001" y="978"/>
                <a:ext cx="66"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nvGrpSpPr>
            <p:cNvPr id="50259" name="Group 102"/>
            <p:cNvGrpSpPr/>
            <p:nvPr/>
          </p:nvGrpSpPr>
          <p:grpSpPr bwMode="auto">
            <a:xfrm>
              <a:off x="4086" y="1434"/>
              <a:ext cx="901" cy="1082"/>
              <a:chOff x="3441" y="1789"/>
              <a:chExt cx="901" cy="1082"/>
            </a:xfrm>
          </p:grpSpPr>
          <p:grpSp>
            <p:nvGrpSpPr>
              <p:cNvPr id="50260" name="Group 103"/>
              <p:cNvGrpSpPr/>
              <p:nvPr/>
            </p:nvGrpSpPr>
            <p:grpSpPr bwMode="auto">
              <a:xfrm>
                <a:off x="3636" y="2095"/>
                <a:ext cx="706" cy="776"/>
                <a:chOff x="1633" y="2900"/>
                <a:chExt cx="706" cy="776"/>
              </a:xfrm>
            </p:grpSpPr>
            <p:sp>
              <p:nvSpPr>
                <p:cNvPr id="50265" name="Oval 104"/>
                <p:cNvSpPr>
                  <a:spLocks noChangeArrowheads="1"/>
                </p:cNvSpPr>
                <p:nvPr/>
              </p:nvSpPr>
              <p:spPr bwMode="auto">
                <a:xfrm>
                  <a:off x="1633" y="319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nvGrpSpPr>
                <p:cNvPr id="50266" name="Group 105"/>
                <p:cNvGrpSpPr/>
                <p:nvPr/>
              </p:nvGrpSpPr>
              <p:grpSpPr bwMode="auto">
                <a:xfrm>
                  <a:off x="1832" y="3217"/>
                  <a:ext cx="507" cy="459"/>
                  <a:chOff x="1596" y="1881"/>
                  <a:chExt cx="507" cy="459"/>
                </a:xfrm>
              </p:grpSpPr>
              <p:sp>
                <p:nvSpPr>
                  <p:cNvPr id="50270" name="Oval 106"/>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271" name="Oval 107"/>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272" name="Oval 108"/>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273" name="Line 109"/>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74" name="Line 110"/>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67" name="Oval 111"/>
                <p:cNvSpPr>
                  <a:spLocks noChangeArrowheads="1"/>
                </p:cNvSpPr>
                <p:nvPr/>
              </p:nvSpPr>
              <p:spPr bwMode="auto">
                <a:xfrm>
                  <a:off x="1851" y="290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19</a:t>
                  </a:r>
                  <a:endParaRPr lang="en-US" altLang="zh-CN" sz="2000" dirty="0">
                    <a:latin typeface="Times New Roman" panose="02020603050405020304" pitchFamily="18" charset="0"/>
                    <a:ea typeface="华文楷体" panose="02010600040101010101" pitchFamily="2" charset="-122"/>
                  </a:endParaRPr>
                </a:p>
              </p:txBody>
            </p:sp>
            <p:sp>
              <p:nvSpPr>
                <p:cNvPr id="50268" name="Line 112"/>
                <p:cNvSpPr>
                  <a:spLocks noChangeShapeType="1"/>
                </p:cNvSpPr>
                <p:nvPr/>
              </p:nvSpPr>
              <p:spPr bwMode="auto">
                <a:xfrm flipH="1">
                  <a:off x="1800" y="3066"/>
                  <a:ext cx="89" cy="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69" name="Line 113"/>
                <p:cNvSpPr>
                  <a:spLocks noChangeShapeType="1"/>
                </p:cNvSpPr>
                <p:nvPr/>
              </p:nvSpPr>
              <p:spPr bwMode="auto">
                <a:xfrm>
                  <a:off x="1978" y="3078"/>
                  <a:ext cx="10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61" name="Oval 114"/>
              <p:cNvSpPr>
                <a:spLocks noChangeArrowheads="1"/>
              </p:cNvSpPr>
              <p:nvPr/>
            </p:nvSpPr>
            <p:spPr bwMode="auto">
              <a:xfrm>
                <a:off x="3441" y="207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sp>
            <p:nvSpPr>
              <p:cNvPr id="50262" name="Oval 115"/>
              <p:cNvSpPr>
                <a:spLocks noChangeArrowheads="1"/>
              </p:cNvSpPr>
              <p:nvPr/>
            </p:nvSpPr>
            <p:spPr bwMode="auto">
              <a:xfrm>
                <a:off x="3693" y="1789"/>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42</a:t>
                </a:r>
                <a:endParaRPr lang="en-US" altLang="zh-CN" sz="2000" dirty="0">
                  <a:latin typeface="Times New Roman" panose="02020603050405020304" pitchFamily="18" charset="0"/>
                  <a:ea typeface="华文楷体" panose="02010600040101010101" pitchFamily="2" charset="-122"/>
                </a:endParaRPr>
              </a:p>
            </p:txBody>
          </p:sp>
          <p:sp>
            <p:nvSpPr>
              <p:cNvPr id="50263" name="Line 116"/>
              <p:cNvSpPr>
                <a:spLocks noChangeShapeType="1"/>
              </p:cNvSpPr>
              <p:nvPr/>
            </p:nvSpPr>
            <p:spPr bwMode="auto">
              <a:xfrm flipH="1">
                <a:off x="3612" y="1933"/>
                <a:ext cx="100" cy="1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64" name="Line 117"/>
              <p:cNvSpPr>
                <a:spLocks noChangeShapeType="1"/>
              </p:cNvSpPr>
              <p:nvPr/>
            </p:nvSpPr>
            <p:spPr bwMode="auto">
              <a:xfrm>
                <a:off x="3823" y="1955"/>
                <a:ext cx="78"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grpSp>
        <p:nvGrpSpPr>
          <p:cNvPr id="47222" name="Group 118"/>
          <p:cNvGrpSpPr/>
          <p:nvPr/>
        </p:nvGrpSpPr>
        <p:grpSpPr bwMode="auto">
          <a:xfrm>
            <a:off x="5386388" y="3086100"/>
            <a:ext cx="2306637" cy="1354138"/>
            <a:chOff x="3038" y="2475"/>
            <a:chExt cx="1741" cy="1082"/>
          </a:xfrm>
        </p:grpSpPr>
        <p:grpSp>
          <p:nvGrpSpPr>
            <p:cNvPr id="50225" name="Group 119"/>
            <p:cNvGrpSpPr/>
            <p:nvPr/>
          </p:nvGrpSpPr>
          <p:grpSpPr bwMode="auto">
            <a:xfrm>
              <a:off x="3038" y="2475"/>
              <a:ext cx="901" cy="1082"/>
              <a:chOff x="3441" y="1789"/>
              <a:chExt cx="901" cy="1082"/>
            </a:xfrm>
          </p:grpSpPr>
          <p:grpSp>
            <p:nvGrpSpPr>
              <p:cNvPr id="50242" name="Group 120"/>
              <p:cNvGrpSpPr/>
              <p:nvPr/>
            </p:nvGrpSpPr>
            <p:grpSpPr bwMode="auto">
              <a:xfrm>
                <a:off x="3636" y="2095"/>
                <a:ext cx="706" cy="776"/>
                <a:chOff x="1633" y="2900"/>
                <a:chExt cx="706" cy="776"/>
              </a:xfrm>
            </p:grpSpPr>
            <p:sp>
              <p:nvSpPr>
                <p:cNvPr id="50247" name="Oval 121"/>
                <p:cNvSpPr>
                  <a:spLocks noChangeArrowheads="1"/>
                </p:cNvSpPr>
                <p:nvPr/>
              </p:nvSpPr>
              <p:spPr bwMode="auto">
                <a:xfrm>
                  <a:off x="1633" y="319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nvGrpSpPr>
                <p:cNvPr id="50248" name="Group 122"/>
                <p:cNvGrpSpPr/>
                <p:nvPr/>
              </p:nvGrpSpPr>
              <p:grpSpPr bwMode="auto">
                <a:xfrm>
                  <a:off x="1832" y="3217"/>
                  <a:ext cx="507" cy="459"/>
                  <a:chOff x="1596" y="1881"/>
                  <a:chExt cx="507" cy="459"/>
                </a:xfrm>
              </p:grpSpPr>
              <p:sp>
                <p:nvSpPr>
                  <p:cNvPr id="50252" name="Oval 123"/>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253" name="Oval 124"/>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254" name="Oval 125"/>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255" name="Line 126"/>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56" name="Line 127"/>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49" name="Oval 128"/>
                <p:cNvSpPr>
                  <a:spLocks noChangeArrowheads="1"/>
                </p:cNvSpPr>
                <p:nvPr/>
              </p:nvSpPr>
              <p:spPr bwMode="auto">
                <a:xfrm>
                  <a:off x="1851" y="290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19</a:t>
                  </a:r>
                  <a:endParaRPr lang="en-US" altLang="zh-CN" sz="2000" dirty="0">
                    <a:latin typeface="Times New Roman" panose="02020603050405020304" pitchFamily="18" charset="0"/>
                    <a:ea typeface="华文楷体" panose="02010600040101010101" pitchFamily="2" charset="-122"/>
                  </a:endParaRPr>
                </a:p>
              </p:txBody>
            </p:sp>
            <p:sp>
              <p:nvSpPr>
                <p:cNvPr id="50250" name="Line 129"/>
                <p:cNvSpPr>
                  <a:spLocks noChangeShapeType="1"/>
                </p:cNvSpPr>
                <p:nvPr/>
              </p:nvSpPr>
              <p:spPr bwMode="auto">
                <a:xfrm flipH="1">
                  <a:off x="1800" y="3066"/>
                  <a:ext cx="89" cy="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51" name="Line 130"/>
                <p:cNvSpPr>
                  <a:spLocks noChangeShapeType="1"/>
                </p:cNvSpPr>
                <p:nvPr/>
              </p:nvSpPr>
              <p:spPr bwMode="auto">
                <a:xfrm>
                  <a:off x="1978" y="3078"/>
                  <a:ext cx="10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43" name="Oval 131"/>
              <p:cNvSpPr>
                <a:spLocks noChangeArrowheads="1"/>
              </p:cNvSpPr>
              <p:nvPr/>
            </p:nvSpPr>
            <p:spPr bwMode="auto">
              <a:xfrm>
                <a:off x="3441" y="207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sp>
            <p:nvSpPr>
              <p:cNvPr id="50244" name="Oval 132"/>
              <p:cNvSpPr>
                <a:spLocks noChangeArrowheads="1"/>
              </p:cNvSpPr>
              <p:nvPr/>
            </p:nvSpPr>
            <p:spPr bwMode="auto">
              <a:xfrm>
                <a:off x="3693" y="1789"/>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42</a:t>
                </a:r>
                <a:endParaRPr lang="en-US" altLang="zh-CN" sz="2000" dirty="0">
                  <a:latin typeface="Times New Roman" panose="02020603050405020304" pitchFamily="18" charset="0"/>
                  <a:ea typeface="华文楷体" panose="02010600040101010101" pitchFamily="2" charset="-122"/>
                </a:endParaRPr>
              </a:p>
            </p:txBody>
          </p:sp>
          <p:sp>
            <p:nvSpPr>
              <p:cNvPr id="50245" name="Line 133"/>
              <p:cNvSpPr>
                <a:spLocks noChangeShapeType="1"/>
              </p:cNvSpPr>
              <p:nvPr/>
            </p:nvSpPr>
            <p:spPr bwMode="auto">
              <a:xfrm flipH="1">
                <a:off x="3612" y="1933"/>
                <a:ext cx="100" cy="1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46" name="Line 134"/>
              <p:cNvSpPr>
                <a:spLocks noChangeShapeType="1"/>
              </p:cNvSpPr>
              <p:nvPr/>
            </p:nvSpPr>
            <p:spPr bwMode="auto">
              <a:xfrm>
                <a:off x="3823" y="1955"/>
                <a:ext cx="78"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nvGrpSpPr>
            <p:cNvPr id="50226" name="Group 135"/>
            <p:cNvGrpSpPr/>
            <p:nvPr/>
          </p:nvGrpSpPr>
          <p:grpSpPr bwMode="auto">
            <a:xfrm>
              <a:off x="3875" y="2485"/>
              <a:ext cx="904" cy="1064"/>
              <a:chOff x="3309" y="2529"/>
              <a:chExt cx="904" cy="1064"/>
            </a:xfrm>
          </p:grpSpPr>
          <p:sp>
            <p:nvSpPr>
              <p:cNvPr id="50227" name="Oval 136"/>
              <p:cNvSpPr>
                <a:spLocks noChangeArrowheads="1"/>
              </p:cNvSpPr>
              <p:nvPr/>
            </p:nvSpPr>
            <p:spPr bwMode="auto">
              <a:xfrm>
                <a:off x="3309" y="2856"/>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grpSp>
            <p:nvGrpSpPr>
              <p:cNvPr id="50228" name="Group 137"/>
              <p:cNvGrpSpPr/>
              <p:nvPr/>
            </p:nvGrpSpPr>
            <p:grpSpPr bwMode="auto">
              <a:xfrm>
                <a:off x="3525" y="2852"/>
                <a:ext cx="688" cy="741"/>
                <a:chOff x="3643" y="814"/>
                <a:chExt cx="688" cy="741"/>
              </a:xfrm>
            </p:grpSpPr>
            <p:sp>
              <p:nvSpPr>
                <p:cNvPr id="50232" name="Oval 138"/>
                <p:cNvSpPr>
                  <a:spLocks noChangeArrowheads="1"/>
                </p:cNvSpPr>
                <p:nvPr/>
              </p:nvSpPr>
              <p:spPr bwMode="auto">
                <a:xfrm>
                  <a:off x="3643" y="107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grpSp>
              <p:nvGrpSpPr>
                <p:cNvPr id="50233" name="Group 139"/>
                <p:cNvGrpSpPr/>
                <p:nvPr/>
              </p:nvGrpSpPr>
              <p:grpSpPr bwMode="auto">
                <a:xfrm>
                  <a:off x="3824" y="1096"/>
                  <a:ext cx="507" cy="459"/>
                  <a:chOff x="1596" y="1881"/>
                  <a:chExt cx="507" cy="459"/>
                </a:xfrm>
              </p:grpSpPr>
              <p:sp>
                <p:nvSpPr>
                  <p:cNvPr id="50237" name="Oval 140"/>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238" name="Oval 141"/>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239" name="Oval 142"/>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15</a:t>
                    </a:r>
                    <a:endParaRPr lang="en-US" altLang="zh-CN" sz="2000" dirty="0">
                      <a:latin typeface="Times New Roman" panose="02020603050405020304" pitchFamily="18" charset="0"/>
                      <a:ea typeface="华文楷体" panose="02010600040101010101" pitchFamily="2" charset="-122"/>
                    </a:endParaRPr>
                  </a:p>
                </p:txBody>
              </p:sp>
              <p:sp>
                <p:nvSpPr>
                  <p:cNvPr id="50240" name="Line 143"/>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41" name="Line 144"/>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34" name="Oval 145"/>
                <p:cNvSpPr>
                  <a:spLocks noChangeArrowheads="1"/>
                </p:cNvSpPr>
                <p:nvPr/>
              </p:nvSpPr>
              <p:spPr bwMode="auto">
                <a:xfrm>
                  <a:off x="3861" y="81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235" name="Line 146"/>
                <p:cNvSpPr>
                  <a:spLocks noChangeShapeType="1"/>
                </p:cNvSpPr>
                <p:nvPr/>
              </p:nvSpPr>
              <p:spPr bwMode="auto">
                <a:xfrm flipH="1">
                  <a:off x="3800" y="967"/>
                  <a:ext cx="78"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36" name="Line 147"/>
                <p:cNvSpPr>
                  <a:spLocks noChangeShapeType="1"/>
                </p:cNvSpPr>
                <p:nvPr/>
              </p:nvSpPr>
              <p:spPr bwMode="auto">
                <a:xfrm>
                  <a:off x="4001" y="978"/>
                  <a:ext cx="66"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29" name="Oval 148"/>
              <p:cNvSpPr>
                <a:spLocks noChangeArrowheads="1"/>
              </p:cNvSpPr>
              <p:nvPr/>
            </p:nvSpPr>
            <p:spPr bwMode="auto">
              <a:xfrm>
                <a:off x="3539" y="2529"/>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58</a:t>
                </a:r>
                <a:endParaRPr lang="en-US" altLang="zh-CN" sz="2000" dirty="0">
                  <a:latin typeface="Times New Roman" panose="02020603050405020304" pitchFamily="18" charset="0"/>
                  <a:ea typeface="华文楷体" panose="02010600040101010101" pitchFamily="2" charset="-122"/>
                </a:endParaRPr>
              </a:p>
            </p:txBody>
          </p:sp>
          <p:sp>
            <p:nvSpPr>
              <p:cNvPr id="50230" name="Line 149"/>
              <p:cNvSpPr>
                <a:spLocks noChangeShapeType="1"/>
              </p:cNvSpPr>
              <p:nvPr/>
            </p:nvSpPr>
            <p:spPr bwMode="auto">
              <a:xfrm flipH="1">
                <a:off x="3467" y="2711"/>
                <a:ext cx="111" cy="1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31" name="Line 150"/>
              <p:cNvSpPr>
                <a:spLocks noChangeShapeType="1"/>
              </p:cNvSpPr>
              <p:nvPr/>
            </p:nvSpPr>
            <p:spPr bwMode="auto">
              <a:xfrm>
                <a:off x="3678" y="2689"/>
                <a:ext cx="100" cy="16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grpSp>
        <p:nvGrpSpPr>
          <p:cNvPr id="47255" name="Group 151"/>
          <p:cNvGrpSpPr/>
          <p:nvPr/>
        </p:nvGrpSpPr>
        <p:grpSpPr bwMode="auto">
          <a:xfrm>
            <a:off x="5416550" y="4881563"/>
            <a:ext cx="2203450" cy="1824037"/>
            <a:chOff x="3190" y="2862"/>
            <a:chExt cx="1663" cy="1458"/>
          </a:xfrm>
        </p:grpSpPr>
        <p:grpSp>
          <p:nvGrpSpPr>
            <p:cNvPr id="50190" name="Group 152"/>
            <p:cNvGrpSpPr/>
            <p:nvPr/>
          </p:nvGrpSpPr>
          <p:grpSpPr bwMode="auto">
            <a:xfrm>
              <a:off x="3190" y="3238"/>
              <a:ext cx="901" cy="1082"/>
              <a:chOff x="3441" y="1789"/>
              <a:chExt cx="901" cy="1082"/>
            </a:xfrm>
          </p:grpSpPr>
          <p:grpSp>
            <p:nvGrpSpPr>
              <p:cNvPr id="50210" name="Group 153"/>
              <p:cNvGrpSpPr/>
              <p:nvPr/>
            </p:nvGrpSpPr>
            <p:grpSpPr bwMode="auto">
              <a:xfrm>
                <a:off x="3636" y="2095"/>
                <a:ext cx="706" cy="776"/>
                <a:chOff x="1633" y="2900"/>
                <a:chExt cx="706" cy="776"/>
              </a:xfrm>
            </p:grpSpPr>
            <p:sp>
              <p:nvSpPr>
                <p:cNvPr id="50215" name="Oval 154"/>
                <p:cNvSpPr>
                  <a:spLocks noChangeArrowheads="1"/>
                </p:cNvSpPr>
                <p:nvPr/>
              </p:nvSpPr>
              <p:spPr bwMode="auto">
                <a:xfrm>
                  <a:off x="1633" y="3192"/>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11</a:t>
                  </a:r>
                  <a:endParaRPr lang="en-US" altLang="zh-CN" sz="2000" dirty="0">
                    <a:latin typeface="Times New Roman" panose="02020603050405020304" pitchFamily="18" charset="0"/>
                    <a:ea typeface="华文楷体" panose="02010600040101010101" pitchFamily="2" charset="-122"/>
                  </a:endParaRPr>
                </a:p>
              </p:txBody>
            </p:sp>
            <p:grpSp>
              <p:nvGrpSpPr>
                <p:cNvPr id="50216" name="Group 155"/>
                <p:cNvGrpSpPr/>
                <p:nvPr/>
              </p:nvGrpSpPr>
              <p:grpSpPr bwMode="auto">
                <a:xfrm>
                  <a:off x="1832" y="3217"/>
                  <a:ext cx="507" cy="459"/>
                  <a:chOff x="1596" y="1881"/>
                  <a:chExt cx="507" cy="459"/>
                </a:xfrm>
              </p:grpSpPr>
              <p:sp>
                <p:nvSpPr>
                  <p:cNvPr id="50220" name="Oval 156"/>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3</a:t>
                    </a:r>
                    <a:endParaRPr lang="en-US" altLang="zh-CN" sz="2000" dirty="0">
                      <a:latin typeface="Times New Roman" panose="02020603050405020304" pitchFamily="18" charset="0"/>
                      <a:ea typeface="华文楷体" panose="02010600040101010101" pitchFamily="2" charset="-122"/>
                    </a:endParaRPr>
                  </a:p>
                </p:txBody>
              </p:sp>
              <p:sp>
                <p:nvSpPr>
                  <p:cNvPr id="50221" name="Oval 157"/>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a:t>
                    </a:r>
                    <a:endParaRPr lang="en-US" altLang="zh-CN" sz="2000" dirty="0">
                      <a:latin typeface="Times New Roman" panose="02020603050405020304" pitchFamily="18" charset="0"/>
                      <a:ea typeface="华文楷体" panose="02010600040101010101" pitchFamily="2" charset="-122"/>
                    </a:endParaRPr>
                  </a:p>
                </p:txBody>
              </p:sp>
              <p:sp>
                <p:nvSpPr>
                  <p:cNvPr id="50222" name="Oval 158"/>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223" name="Line 159"/>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24" name="Line 160"/>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17" name="Oval 161"/>
                <p:cNvSpPr>
                  <a:spLocks noChangeArrowheads="1"/>
                </p:cNvSpPr>
                <p:nvPr/>
              </p:nvSpPr>
              <p:spPr bwMode="auto">
                <a:xfrm>
                  <a:off x="1851" y="2900"/>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19</a:t>
                  </a:r>
                  <a:endParaRPr lang="en-US" altLang="zh-CN" sz="2000" dirty="0">
                    <a:latin typeface="Times New Roman" panose="02020603050405020304" pitchFamily="18" charset="0"/>
                    <a:ea typeface="华文楷体" panose="02010600040101010101" pitchFamily="2" charset="-122"/>
                  </a:endParaRPr>
                </a:p>
              </p:txBody>
            </p:sp>
            <p:sp>
              <p:nvSpPr>
                <p:cNvPr id="50218" name="Line 162"/>
                <p:cNvSpPr>
                  <a:spLocks noChangeShapeType="1"/>
                </p:cNvSpPr>
                <p:nvPr/>
              </p:nvSpPr>
              <p:spPr bwMode="auto">
                <a:xfrm flipH="1">
                  <a:off x="1800" y="3066"/>
                  <a:ext cx="89" cy="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19" name="Line 163"/>
                <p:cNvSpPr>
                  <a:spLocks noChangeShapeType="1"/>
                </p:cNvSpPr>
                <p:nvPr/>
              </p:nvSpPr>
              <p:spPr bwMode="auto">
                <a:xfrm>
                  <a:off x="1978" y="3078"/>
                  <a:ext cx="100"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11" name="Oval 164"/>
              <p:cNvSpPr>
                <a:spLocks noChangeArrowheads="1"/>
              </p:cNvSpPr>
              <p:nvPr/>
            </p:nvSpPr>
            <p:spPr bwMode="auto">
              <a:xfrm>
                <a:off x="3441" y="207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23</a:t>
                </a:r>
                <a:endParaRPr lang="en-US" altLang="zh-CN" sz="2000" dirty="0">
                  <a:latin typeface="Times New Roman" panose="02020603050405020304" pitchFamily="18" charset="0"/>
                  <a:ea typeface="华文楷体" panose="02010600040101010101" pitchFamily="2" charset="-122"/>
                </a:endParaRPr>
              </a:p>
            </p:txBody>
          </p:sp>
          <p:sp>
            <p:nvSpPr>
              <p:cNvPr id="50212" name="Oval 165"/>
              <p:cNvSpPr>
                <a:spLocks noChangeArrowheads="1"/>
              </p:cNvSpPr>
              <p:nvPr/>
            </p:nvSpPr>
            <p:spPr bwMode="auto">
              <a:xfrm>
                <a:off x="3693" y="1789"/>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42</a:t>
                </a:r>
                <a:endParaRPr lang="en-US" altLang="zh-CN" sz="2000" dirty="0">
                  <a:latin typeface="Times New Roman" panose="02020603050405020304" pitchFamily="18" charset="0"/>
                  <a:ea typeface="华文楷体" panose="02010600040101010101" pitchFamily="2" charset="-122"/>
                </a:endParaRPr>
              </a:p>
            </p:txBody>
          </p:sp>
          <p:sp>
            <p:nvSpPr>
              <p:cNvPr id="50213" name="Line 166"/>
              <p:cNvSpPr>
                <a:spLocks noChangeShapeType="1"/>
              </p:cNvSpPr>
              <p:nvPr/>
            </p:nvSpPr>
            <p:spPr bwMode="auto">
              <a:xfrm flipH="1">
                <a:off x="3612" y="1933"/>
                <a:ext cx="100" cy="1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14" name="Line 167"/>
              <p:cNvSpPr>
                <a:spLocks noChangeShapeType="1"/>
              </p:cNvSpPr>
              <p:nvPr/>
            </p:nvSpPr>
            <p:spPr bwMode="auto">
              <a:xfrm>
                <a:off x="3823" y="1955"/>
                <a:ext cx="78"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grpSp>
          <p:nvGrpSpPr>
            <p:cNvPr id="50191" name="Group 168"/>
            <p:cNvGrpSpPr/>
            <p:nvPr/>
          </p:nvGrpSpPr>
          <p:grpSpPr bwMode="auto">
            <a:xfrm>
              <a:off x="3949" y="3256"/>
              <a:ext cx="904" cy="1064"/>
              <a:chOff x="3309" y="2529"/>
              <a:chExt cx="904" cy="1064"/>
            </a:xfrm>
          </p:grpSpPr>
          <p:sp>
            <p:nvSpPr>
              <p:cNvPr id="50195" name="Oval 169"/>
              <p:cNvSpPr>
                <a:spLocks noChangeArrowheads="1"/>
              </p:cNvSpPr>
              <p:nvPr/>
            </p:nvSpPr>
            <p:spPr bwMode="auto">
              <a:xfrm>
                <a:off x="3309" y="2856"/>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grpSp>
            <p:nvGrpSpPr>
              <p:cNvPr id="50196" name="Group 170"/>
              <p:cNvGrpSpPr/>
              <p:nvPr/>
            </p:nvGrpSpPr>
            <p:grpSpPr bwMode="auto">
              <a:xfrm>
                <a:off x="3525" y="2852"/>
                <a:ext cx="688" cy="741"/>
                <a:chOff x="3643" y="814"/>
                <a:chExt cx="688" cy="741"/>
              </a:xfrm>
            </p:grpSpPr>
            <p:sp>
              <p:nvSpPr>
                <p:cNvPr id="50200" name="Oval 171"/>
                <p:cNvSpPr>
                  <a:spLocks noChangeArrowheads="1"/>
                </p:cNvSpPr>
                <p:nvPr/>
              </p:nvSpPr>
              <p:spPr bwMode="auto">
                <a:xfrm>
                  <a:off x="3643" y="107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14</a:t>
                  </a:r>
                  <a:endParaRPr lang="en-US" altLang="zh-CN" sz="2000" dirty="0">
                    <a:latin typeface="Times New Roman" panose="02020603050405020304" pitchFamily="18" charset="0"/>
                    <a:ea typeface="华文楷体" panose="02010600040101010101" pitchFamily="2" charset="-122"/>
                  </a:endParaRPr>
                </a:p>
              </p:txBody>
            </p:sp>
            <p:grpSp>
              <p:nvGrpSpPr>
                <p:cNvPr id="50201" name="Group 172"/>
                <p:cNvGrpSpPr/>
                <p:nvPr/>
              </p:nvGrpSpPr>
              <p:grpSpPr bwMode="auto">
                <a:xfrm>
                  <a:off x="3824" y="1096"/>
                  <a:ext cx="507" cy="459"/>
                  <a:chOff x="1596" y="1881"/>
                  <a:chExt cx="507" cy="459"/>
                </a:xfrm>
              </p:grpSpPr>
              <p:sp>
                <p:nvSpPr>
                  <p:cNvPr id="50205" name="Oval 173"/>
                  <p:cNvSpPr>
                    <a:spLocks noChangeArrowheads="1"/>
                  </p:cNvSpPr>
                  <p:nvPr/>
                </p:nvSpPr>
                <p:spPr bwMode="auto">
                  <a:xfrm>
                    <a:off x="1914"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8</a:t>
                    </a:r>
                    <a:endParaRPr lang="en-US" altLang="zh-CN" sz="2000" dirty="0">
                      <a:latin typeface="Times New Roman" panose="02020603050405020304" pitchFamily="18" charset="0"/>
                      <a:ea typeface="华文楷体" panose="02010600040101010101" pitchFamily="2" charset="-122"/>
                    </a:endParaRPr>
                  </a:p>
                </p:txBody>
              </p:sp>
              <p:sp>
                <p:nvSpPr>
                  <p:cNvPr id="50206" name="Oval 174"/>
                  <p:cNvSpPr>
                    <a:spLocks noChangeArrowheads="1"/>
                  </p:cNvSpPr>
                  <p:nvPr/>
                </p:nvSpPr>
                <p:spPr bwMode="auto">
                  <a:xfrm>
                    <a:off x="1596" y="215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7</a:t>
                    </a:r>
                    <a:endParaRPr lang="en-US" altLang="zh-CN" sz="2000" dirty="0">
                      <a:latin typeface="Times New Roman" panose="02020603050405020304" pitchFamily="18" charset="0"/>
                      <a:ea typeface="华文楷体" panose="02010600040101010101" pitchFamily="2" charset="-122"/>
                    </a:endParaRPr>
                  </a:p>
                </p:txBody>
              </p:sp>
              <p:sp>
                <p:nvSpPr>
                  <p:cNvPr id="50207" name="Oval 175"/>
                  <p:cNvSpPr>
                    <a:spLocks noChangeArrowheads="1"/>
                  </p:cNvSpPr>
                  <p:nvPr/>
                </p:nvSpPr>
                <p:spPr bwMode="auto">
                  <a:xfrm>
                    <a:off x="1792" y="1881"/>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15</a:t>
                    </a:r>
                    <a:endParaRPr lang="en-US" altLang="zh-CN" sz="2000" dirty="0">
                      <a:latin typeface="Times New Roman" panose="02020603050405020304" pitchFamily="18" charset="0"/>
                      <a:ea typeface="华文楷体" panose="02010600040101010101" pitchFamily="2" charset="-122"/>
                    </a:endParaRPr>
                  </a:p>
                </p:txBody>
              </p:sp>
              <p:sp>
                <p:nvSpPr>
                  <p:cNvPr id="50208" name="Line 176"/>
                  <p:cNvSpPr>
                    <a:spLocks noChangeShapeType="1"/>
                  </p:cNvSpPr>
                  <p:nvPr/>
                </p:nvSpPr>
                <p:spPr bwMode="auto">
                  <a:xfrm flipH="1">
                    <a:off x="1745" y="2033"/>
                    <a:ext cx="66" cy="1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09" name="Line 177"/>
                  <p:cNvSpPr>
                    <a:spLocks noChangeShapeType="1"/>
                  </p:cNvSpPr>
                  <p:nvPr/>
                </p:nvSpPr>
                <p:spPr bwMode="auto">
                  <a:xfrm>
                    <a:off x="1945" y="2033"/>
                    <a:ext cx="55"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202" name="Oval 178"/>
                <p:cNvSpPr>
                  <a:spLocks noChangeArrowheads="1"/>
                </p:cNvSpPr>
                <p:nvPr/>
              </p:nvSpPr>
              <p:spPr bwMode="auto">
                <a:xfrm>
                  <a:off x="3861" y="814"/>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29</a:t>
                  </a:r>
                  <a:endParaRPr lang="en-US" altLang="zh-CN" sz="2000" dirty="0">
                    <a:latin typeface="Times New Roman" panose="02020603050405020304" pitchFamily="18" charset="0"/>
                    <a:ea typeface="华文楷体" panose="02010600040101010101" pitchFamily="2" charset="-122"/>
                  </a:endParaRPr>
                </a:p>
              </p:txBody>
            </p:sp>
            <p:sp>
              <p:nvSpPr>
                <p:cNvPr id="50203" name="Line 179"/>
                <p:cNvSpPr>
                  <a:spLocks noChangeShapeType="1"/>
                </p:cNvSpPr>
                <p:nvPr/>
              </p:nvSpPr>
              <p:spPr bwMode="auto">
                <a:xfrm flipH="1">
                  <a:off x="3800" y="967"/>
                  <a:ext cx="78"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204" name="Line 180"/>
                <p:cNvSpPr>
                  <a:spLocks noChangeShapeType="1"/>
                </p:cNvSpPr>
                <p:nvPr/>
              </p:nvSpPr>
              <p:spPr bwMode="auto">
                <a:xfrm>
                  <a:off x="4001" y="978"/>
                  <a:ext cx="66"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197" name="Oval 181"/>
              <p:cNvSpPr>
                <a:spLocks noChangeArrowheads="1"/>
              </p:cNvSpPr>
              <p:nvPr/>
            </p:nvSpPr>
            <p:spPr bwMode="auto">
              <a:xfrm>
                <a:off x="3539" y="2529"/>
                <a:ext cx="189" cy="189"/>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58</a:t>
                </a:r>
                <a:endParaRPr lang="en-US" altLang="zh-CN" sz="2000" dirty="0">
                  <a:latin typeface="Times New Roman" panose="02020603050405020304" pitchFamily="18" charset="0"/>
                  <a:ea typeface="华文楷体" panose="02010600040101010101" pitchFamily="2" charset="-122"/>
                </a:endParaRPr>
              </a:p>
            </p:txBody>
          </p:sp>
          <p:sp>
            <p:nvSpPr>
              <p:cNvPr id="50198" name="Line 182"/>
              <p:cNvSpPr>
                <a:spLocks noChangeShapeType="1"/>
              </p:cNvSpPr>
              <p:nvPr/>
            </p:nvSpPr>
            <p:spPr bwMode="auto">
              <a:xfrm flipH="1">
                <a:off x="3467" y="2711"/>
                <a:ext cx="111" cy="1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199" name="Line 183"/>
              <p:cNvSpPr>
                <a:spLocks noChangeShapeType="1"/>
              </p:cNvSpPr>
              <p:nvPr/>
            </p:nvSpPr>
            <p:spPr bwMode="auto">
              <a:xfrm>
                <a:off x="3678" y="2689"/>
                <a:ext cx="100" cy="16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
          <p:nvSpPr>
            <p:cNvPr id="50192" name="Oval 184"/>
            <p:cNvSpPr>
              <a:spLocks noChangeArrowheads="1"/>
            </p:cNvSpPr>
            <p:nvPr/>
          </p:nvSpPr>
          <p:spPr bwMode="auto">
            <a:xfrm>
              <a:off x="3805" y="2862"/>
              <a:ext cx="245" cy="256"/>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lang="en-US" altLang="zh-CN" sz="2000" dirty="0">
                  <a:latin typeface="Times New Roman" panose="02020603050405020304" pitchFamily="18" charset="0"/>
                  <a:ea typeface="华文楷体" panose="02010600040101010101" pitchFamily="2" charset="-122"/>
                </a:rPr>
                <a:t>100</a:t>
              </a:r>
              <a:endParaRPr lang="en-US" altLang="zh-CN" sz="2000" dirty="0">
                <a:latin typeface="Times New Roman" panose="02020603050405020304" pitchFamily="18" charset="0"/>
                <a:ea typeface="华文楷体" panose="02010600040101010101" pitchFamily="2" charset="-122"/>
              </a:endParaRPr>
            </a:p>
          </p:txBody>
        </p:sp>
        <p:sp>
          <p:nvSpPr>
            <p:cNvPr id="50193" name="Line 185"/>
            <p:cNvSpPr>
              <a:spLocks noChangeShapeType="1"/>
            </p:cNvSpPr>
            <p:nvPr/>
          </p:nvSpPr>
          <p:spPr bwMode="auto">
            <a:xfrm flipH="1">
              <a:off x="3634" y="3100"/>
              <a:ext cx="222" cy="16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0194" name="Line 186"/>
            <p:cNvSpPr>
              <a:spLocks noChangeShapeType="1"/>
            </p:cNvSpPr>
            <p:nvPr/>
          </p:nvSpPr>
          <p:spPr bwMode="auto">
            <a:xfrm>
              <a:off x="3978" y="3100"/>
              <a:ext cx="245" cy="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7108"/>
                                        </p:tgtEl>
                                        <p:attrNameLst>
                                          <p:attrName>style.visibility</p:attrName>
                                        </p:attrNameLst>
                                      </p:cBhvr>
                                      <p:to>
                                        <p:strVal val="visible"/>
                                      </p:to>
                                    </p:set>
                                    <p:anim calcmode="lin" valueType="num">
                                      <p:cBhvr additive="base">
                                        <p:cTn id="7" dur="500" fill="hold"/>
                                        <p:tgtEl>
                                          <p:spTgt spid="47108"/>
                                        </p:tgtEl>
                                        <p:attrNameLst>
                                          <p:attrName>ppt_x</p:attrName>
                                        </p:attrNameLst>
                                      </p:cBhvr>
                                      <p:tavLst>
                                        <p:tav tm="0">
                                          <p:val>
                                            <p:strVal val="0-#ppt_w/2"/>
                                          </p:val>
                                        </p:tav>
                                        <p:tav tm="100000">
                                          <p:val>
                                            <p:strVal val="#ppt_x"/>
                                          </p:val>
                                        </p:tav>
                                      </p:tavLst>
                                    </p:anim>
                                    <p:anim calcmode="lin" valueType="num">
                                      <p:cBhvr additive="base">
                                        <p:cTn id="8" dur="500" fill="hold"/>
                                        <p:tgtEl>
                                          <p:spTgt spid="4710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117"/>
                                        </p:tgtEl>
                                        <p:attrNameLst>
                                          <p:attrName>style.visibility</p:attrName>
                                        </p:attrNameLst>
                                      </p:cBhvr>
                                      <p:to>
                                        <p:strVal val="visible"/>
                                      </p:to>
                                    </p:set>
                                    <p:anim calcmode="lin" valueType="num">
                                      <p:cBhvr additive="base">
                                        <p:cTn id="13" dur="500" fill="hold"/>
                                        <p:tgtEl>
                                          <p:spTgt spid="47117"/>
                                        </p:tgtEl>
                                        <p:attrNameLst>
                                          <p:attrName>ppt_x</p:attrName>
                                        </p:attrNameLst>
                                      </p:cBhvr>
                                      <p:tavLst>
                                        <p:tav tm="0">
                                          <p:val>
                                            <p:strVal val="0-#ppt_w/2"/>
                                          </p:val>
                                        </p:tav>
                                        <p:tav tm="100000">
                                          <p:val>
                                            <p:strVal val="#ppt_x"/>
                                          </p:val>
                                        </p:tav>
                                      </p:tavLst>
                                    </p:anim>
                                    <p:anim calcmode="lin" valueType="num">
                                      <p:cBhvr additive="base">
                                        <p:cTn id="14" dur="500" fill="hold"/>
                                        <p:tgtEl>
                                          <p:spTgt spid="471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130"/>
                                        </p:tgtEl>
                                        <p:attrNameLst>
                                          <p:attrName>style.visibility</p:attrName>
                                        </p:attrNameLst>
                                      </p:cBhvr>
                                      <p:to>
                                        <p:strVal val="visible"/>
                                      </p:to>
                                    </p:set>
                                    <p:anim calcmode="lin" valueType="num">
                                      <p:cBhvr additive="base">
                                        <p:cTn id="19" dur="500" fill="hold"/>
                                        <p:tgtEl>
                                          <p:spTgt spid="47130"/>
                                        </p:tgtEl>
                                        <p:attrNameLst>
                                          <p:attrName>ppt_x</p:attrName>
                                        </p:attrNameLst>
                                      </p:cBhvr>
                                      <p:tavLst>
                                        <p:tav tm="0">
                                          <p:val>
                                            <p:strVal val="0-#ppt_w/2"/>
                                          </p:val>
                                        </p:tav>
                                        <p:tav tm="100000">
                                          <p:val>
                                            <p:strVal val="#ppt_x"/>
                                          </p:val>
                                        </p:tav>
                                      </p:tavLst>
                                    </p:anim>
                                    <p:anim calcmode="lin" valueType="num">
                                      <p:cBhvr additive="base">
                                        <p:cTn id="20" dur="500" fill="hold"/>
                                        <p:tgtEl>
                                          <p:spTgt spid="471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7147"/>
                                        </p:tgtEl>
                                        <p:attrNameLst>
                                          <p:attrName>style.visibility</p:attrName>
                                        </p:attrNameLst>
                                      </p:cBhvr>
                                      <p:to>
                                        <p:strVal val="visible"/>
                                      </p:to>
                                    </p:set>
                                    <p:anim calcmode="lin" valueType="num">
                                      <p:cBhvr additive="base">
                                        <p:cTn id="25" dur="500" fill="hold"/>
                                        <p:tgtEl>
                                          <p:spTgt spid="47147"/>
                                        </p:tgtEl>
                                        <p:attrNameLst>
                                          <p:attrName>ppt_x</p:attrName>
                                        </p:attrNameLst>
                                      </p:cBhvr>
                                      <p:tavLst>
                                        <p:tav tm="0">
                                          <p:val>
                                            <p:strVal val="0-#ppt_w/2"/>
                                          </p:val>
                                        </p:tav>
                                        <p:tav tm="100000">
                                          <p:val>
                                            <p:strVal val="#ppt_x"/>
                                          </p:val>
                                        </p:tav>
                                      </p:tavLst>
                                    </p:anim>
                                    <p:anim calcmode="lin" valueType="num">
                                      <p:cBhvr additive="base">
                                        <p:cTn id="26" dur="500" fill="hold"/>
                                        <p:tgtEl>
                                          <p:spTgt spid="471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7168"/>
                                        </p:tgtEl>
                                        <p:attrNameLst>
                                          <p:attrName>style.visibility</p:attrName>
                                        </p:attrNameLst>
                                      </p:cBhvr>
                                      <p:to>
                                        <p:strVal val="visible"/>
                                      </p:to>
                                    </p:set>
                                    <p:anim calcmode="lin" valueType="num">
                                      <p:cBhvr additive="base">
                                        <p:cTn id="31" dur="500" fill="hold"/>
                                        <p:tgtEl>
                                          <p:spTgt spid="47168"/>
                                        </p:tgtEl>
                                        <p:attrNameLst>
                                          <p:attrName>ppt_x</p:attrName>
                                        </p:attrNameLst>
                                      </p:cBhvr>
                                      <p:tavLst>
                                        <p:tav tm="0">
                                          <p:val>
                                            <p:strVal val="0-#ppt_w/2"/>
                                          </p:val>
                                        </p:tav>
                                        <p:tav tm="100000">
                                          <p:val>
                                            <p:strVal val="#ppt_x"/>
                                          </p:val>
                                        </p:tav>
                                      </p:tavLst>
                                    </p:anim>
                                    <p:anim calcmode="lin" valueType="num">
                                      <p:cBhvr additive="base">
                                        <p:cTn id="32" dur="500" fill="hold"/>
                                        <p:tgtEl>
                                          <p:spTgt spid="471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1"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7193"/>
                                        </p:tgtEl>
                                        <p:attrNameLst>
                                          <p:attrName>style.visibility</p:attrName>
                                        </p:attrNameLst>
                                      </p:cBhvr>
                                      <p:to>
                                        <p:strVal val="visible"/>
                                      </p:to>
                                    </p:set>
                                    <p:anim calcmode="lin" valueType="num">
                                      <p:cBhvr additive="base">
                                        <p:cTn id="37" dur="500" fill="hold"/>
                                        <p:tgtEl>
                                          <p:spTgt spid="47193"/>
                                        </p:tgtEl>
                                        <p:attrNameLst>
                                          <p:attrName>ppt_x</p:attrName>
                                        </p:attrNameLst>
                                      </p:cBhvr>
                                      <p:tavLst>
                                        <p:tav tm="0">
                                          <p:val>
                                            <p:strVal val="0-#ppt_w/2"/>
                                          </p:val>
                                        </p:tav>
                                        <p:tav tm="100000">
                                          <p:val>
                                            <p:strVal val="#ppt_x"/>
                                          </p:val>
                                        </p:tav>
                                      </p:tavLst>
                                    </p:anim>
                                    <p:anim calcmode="lin" valueType="num">
                                      <p:cBhvr additive="base">
                                        <p:cTn id="38" dur="500" fill="hold"/>
                                        <p:tgtEl>
                                          <p:spTgt spid="4719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1" name="WHOOSH.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47222"/>
                                        </p:tgtEl>
                                        <p:attrNameLst>
                                          <p:attrName>style.visibility</p:attrName>
                                        </p:attrNameLst>
                                      </p:cBhvr>
                                      <p:to>
                                        <p:strVal val="visible"/>
                                      </p:to>
                                    </p:set>
                                    <p:anim calcmode="lin" valueType="num">
                                      <p:cBhvr additive="base">
                                        <p:cTn id="43" dur="500" fill="hold"/>
                                        <p:tgtEl>
                                          <p:spTgt spid="47222"/>
                                        </p:tgtEl>
                                        <p:attrNameLst>
                                          <p:attrName>ppt_x</p:attrName>
                                        </p:attrNameLst>
                                      </p:cBhvr>
                                      <p:tavLst>
                                        <p:tav tm="0">
                                          <p:val>
                                            <p:strVal val="0-#ppt_w/2"/>
                                          </p:val>
                                        </p:tav>
                                        <p:tav tm="100000">
                                          <p:val>
                                            <p:strVal val="#ppt_x"/>
                                          </p:val>
                                        </p:tav>
                                      </p:tavLst>
                                    </p:anim>
                                    <p:anim calcmode="lin" valueType="num">
                                      <p:cBhvr additive="base">
                                        <p:cTn id="44" dur="500" fill="hold"/>
                                        <p:tgtEl>
                                          <p:spTgt spid="472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1"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47255"/>
                                        </p:tgtEl>
                                        <p:attrNameLst>
                                          <p:attrName>style.visibility</p:attrName>
                                        </p:attrNameLst>
                                      </p:cBhvr>
                                      <p:to>
                                        <p:strVal val="visible"/>
                                      </p:to>
                                    </p:set>
                                    <p:anim calcmode="lin" valueType="num">
                                      <p:cBhvr additive="base">
                                        <p:cTn id="49" dur="500" fill="hold"/>
                                        <p:tgtEl>
                                          <p:spTgt spid="47255"/>
                                        </p:tgtEl>
                                        <p:attrNameLst>
                                          <p:attrName>ppt_x</p:attrName>
                                        </p:attrNameLst>
                                      </p:cBhvr>
                                      <p:tavLst>
                                        <p:tav tm="0">
                                          <p:val>
                                            <p:strVal val="0-#ppt_w/2"/>
                                          </p:val>
                                        </p:tav>
                                        <p:tav tm="100000">
                                          <p:val>
                                            <p:strVal val="#ppt_x"/>
                                          </p:val>
                                        </p:tav>
                                      </p:tavLst>
                                    </p:anim>
                                    <p:anim calcmode="lin" valueType="num">
                                      <p:cBhvr additive="base">
                                        <p:cTn id="50" dur="500" fill="hold"/>
                                        <p:tgtEl>
                                          <p:spTgt spid="472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页脚占位符 3"/>
          <p:cNvSpPr>
            <a:spLocks noGrp="1"/>
          </p:cNvSpPr>
          <p:nvPr>
            <p:ph type="ftr" sz="quarter" idx="10"/>
          </p:nvPr>
        </p:nvSpPr>
        <p:spPr/>
        <p:txBody>
          <a:bodyPr/>
          <a:lstStyle/>
          <a:p>
            <a:pPr>
              <a:defRPr/>
            </a:pPr>
            <a:r>
              <a:rPr lang="en-US" altLang="zh-CN"/>
              <a:t>BUPT SCST</a:t>
            </a:r>
            <a:endParaRPr lang="en-US" altLang="zh-CN"/>
          </a:p>
        </p:txBody>
      </p:sp>
      <p:sp>
        <p:nvSpPr>
          <p:cNvPr id="46" name="日期占位符 5"/>
          <p:cNvSpPr>
            <a:spLocks noGrp="1"/>
          </p:cNvSpPr>
          <p:nvPr>
            <p:ph type="dt" sz="quarter" idx="12"/>
          </p:nvPr>
        </p:nvSpPr>
        <p:spPr/>
        <p:txBody>
          <a:bodyPr/>
          <a:lstStyle/>
          <a:p>
            <a:pPr>
              <a:defRPr/>
            </a:pPr>
            <a:r>
              <a:rPr lang="en-US" altLang="zh-CN"/>
              <a:t>BUPT</a:t>
            </a:r>
            <a:endParaRPr lang="en-US" altLang="zh-CN"/>
          </a:p>
        </p:txBody>
      </p:sp>
      <p:sp>
        <p:nvSpPr>
          <p:cNvPr id="5120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1205" name="Rectangle 3"/>
          <p:cNvSpPr>
            <a:spLocks noGrp="1" noChangeArrowheads="1"/>
          </p:cNvSpPr>
          <p:nvPr>
            <p:ph idx="1"/>
          </p:nvPr>
        </p:nvSpPr>
        <p:spPr>
          <a:xfrm>
            <a:off x="685800" y="1895475"/>
            <a:ext cx="7772400" cy="4572000"/>
          </a:xfrm>
        </p:spPr>
        <p:txBody>
          <a:bodyPr/>
          <a:lstStyle/>
          <a:p>
            <a:pPr eaLnBrk="1" hangingPunct="1">
              <a:buFont typeface="Wingdings" panose="05000000000000000000" pitchFamily="2" charset="2"/>
              <a:buNone/>
            </a:pPr>
            <a:r>
              <a:rPr lang="zh-CN" altLang="en-US" dirty="0" smtClean="0">
                <a:ea typeface="华文楷体" panose="02010600040101010101" pitchFamily="2" charset="-122"/>
              </a:rPr>
              <a:t>第一步：</a:t>
            </a: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r>
              <a:rPr lang="zh-CN" altLang="en-US" dirty="0" smtClean="0">
                <a:ea typeface="华文楷体" panose="02010600040101010101" pitchFamily="2" charset="-122"/>
              </a:rPr>
              <a:t>第二步：</a:t>
            </a: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endParaRPr lang="zh-CN" altLang="en-US" dirty="0" smtClean="0">
              <a:ea typeface="华文楷体" panose="02010600040101010101" pitchFamily="2" charset="-122"/>
            </a:endParaRPr>
          </a:p>
          <a:p>
            <a:pPr eaLnBrk="1" hangingPunct="1">
              <a:buFont typeface="Wingdings" panose="05000000000000000000" pitchFamily="2" charset="2"/>
              <a:buNone/>
            </a:pPr>
            <a:r>
              <a:rPr lang="zh-CN" altLang="en-US" dirty="0" smtClean="0">
                <a:ea typeface="华文楷体" panose="02010600040101010101" pitchFamily="2" charset="-122"/>
              </a:rPr>
              <a:t>第三步：</a:t>
            </a:r>
            <a:endParaRPr lang="zh-CN" altLang="en-US" dirty="0" smtClean="0">
              <a:ea typeface="华文楷体" panose="02010600040101010101" pitchFamily="2" charset="-122"/>
            </a:endParaRPr>
          </a:p>
        </p:txBody>
      </p:sp>
      <p:sp>
        <p:nvSpPr>
          <p:cNvPr id="51206" name="Text Box 4"/>
          <p:cNvSpPr txBox="1">
            <a:spLocks noChangeArrowheads="1"/>
          </p:cNvSpPr>
          <p:nvPr/>
        </p:nvSpPr>
        <p:spPr bwMode="auto">
          <a:xfrm>
            <a:off x="1600200" y="12096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0.05</a:t>
            </a:r>
            <a:endParaRPr lang="en-US" altLang="zh-CN" sz="2400" dirty="0">
              <a:latin typeface="Times New Roman" panose="02020603050405020304" pitchFamily="18" charset="0"/>
              <a:ea typeface="华文楷体" panose="02010600040101010101" pitchFamily="2" charset="-122"/>
            </a:endParaRPr>
          </a:p>
        </p:txBody>
      </p:sp>
      <p:sp>
        <p:nvSpPr>
          <p:cNvPr id="51207" name="Text Box 5"/>
          <p:cNvSpPr txBox="1">
            <a:spLocks noChangeArrowheads="1"/>
          </p:cNvSpPr>
          <p:nvPr/>
        </p:nvSpPr>
        <p:spPr bwMode="auto">
          <a:xfrm>
            <a:off x="2590800" y="12096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0.10</a:t>
            </a:r>
            <a:endParaRPr lang="en-US" altLang="zh-CN" sz="2400" dirty="0">
              <a:latin typeface="Times New Roman" panose="02020603050405020304" pitchFamily="18" charset="0"/>
              <a:ea typeface="华文楷体" panose="02010600040101010101" pitchFamily="2" charset="-122"/>
            </a:endParaRPr>
          </a:p>
        </p:txBody>
      </p:sp>
      <p:sp>
        <p:nvSpPr>
          <p:cNvPr id="51208" name="Text Box 6"/>
          <p:cNvSpPr txBox="1">
            <a:spLocks noChangeArrowheads="1"/>
          </p:cNvSpPr>
          <p:nvPr/>
        </p:nvSpPr>
        <p:spPr bwMode="auto">
          <a:xfrm>
            <a:off x="3581400" y="12096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0.15</a:t>
            </a:r>
            <a:endParaRPr lang="en-US" altLang="zh-CN" sz="2400" dirty="0">
              <a:latin typeface="Times New Roman" panose="02020603050405020304" pitchFamily="18" charset="0"/>
              <a:ea typeface="华文楷体" panose="02010600040101010101" pitchFamily="2" charset="-122"/>
            </a:endParaRPr>
          </a:p>
        </p:txBody>
      </p:sp>
      <p:sp>
        <p:nvSpPr>
          <p:cNvPr id="51209" name="Text Box 7"/>
          <p:cNvSpPr txBox="1">
            <a:spLocks noChangeArrowheads="1"/>
          </p:cNvSpPr>
          <p:nvPr/>
        </p:nvSpPr>
        <p:spPr bwMode="auto">
          <a:xfrm>
            <a:off x="4648200" y="12096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0.30</a:t>
            </a:r>
            <a:endParaRPr lang="en-US" altLang="zh-CN" sz="2400" dirty="0">
              <a:latin typeface="Times New Roman" panose="02020603050405020304" pitchFamily="18" charset="0"/>
              <a:ea typeface="华文楷体" panose="02010600040101010101" pitchFamily="2" charset="-122"/>
            </a:endParaRPr>
          </a:p>
        </p:txBody>
      </p:sp>
      <p:sp>
        <p:nvSpPr>
          <p:cNvPr id="51210" name="Text Box 8"/>
          <p:cNvSpPr txBox="1">
            <a:spLocks noChangeArrowheads="1"/>
          </p:cNvSpPr>
          <p:nvPr/>
        </p:nvSpPr>
        <p:spPr bwMode="auto">
          <a:xfrm>
            <a:off x="5638800" y="12096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0.40</a:t>
            </a:r>
            <a:endParaRPr lang="en-US" altLang="zh-CN" sz="2400" dirty="0">
              <a:latin typeface="Times New Roman" panose="02020603050405020304" pitchFamily="18" charset="0"/>
              <a:ea typeface="华文楷体" panose="02010600040101010101" pitchFamily="2" charset="-122"/>
            </a:endParaRPr>
          </a:p>
        </p:txBody>
      </p:sp>
      <p:sp>
        <p:nvSpPr>
          <p:cNvPr id="51211" name="Oval 9"/>
          <p:cNvSpPr>
            <a:spLocks noChangeArrowheads="1"/>
          </p:cNvSpPr>
          <p:nvPr/>
        </p:nvSpPr>
        <p:spPr bwMode="auto">
          <a:xfrm>
            <a:off x="2743200" y="2124075"/>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212" name="Text Box 10"/>
          <p:cNvSpPr txBox="1">
            <a:spLocks noChangeArrowheads="1"/>
          </p:cNvSpPr>
          <p:nvPr/>
        </p:nvSpPr>
        <p:spPr bwMode="auto">
          <a:xfrm>
            <a:off x="1905000" y="28098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0.05</a:t>
            </a:r>
            <a:endParaRPr lang="en-US" altLang="zh-CN" sz="2400" dirty="0">
              <a:latin typeface="Times New Roman" panose="02020603050405020304" pitchFamily="18" charset="0"/>
              <a:ea typeface="华文楷体" panose="02010600040101010101" pitchFamily="2" charset="-122"/>
            </a:endParaRPr>
          </a:p>
        </p:txBody>
      </p:sp>
      <p:sp>
        <p:nvSpPr>
          <p:cNvPr id="51213" name="Text Box 11"/>
          <p:cNvSpPr txBox="1">
            <a:spLocks noChangeArrowheads="1"/>
          </p:cNvSpPr>
          <p:nvPr/>
        </p:nvSpPr>
        <p:spPr bwMode="auto">
          <a:xfrm>
            <a:off x="3048000" y="28098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0.10</a:t>
            </a:r>
            <a:endParaRPr lang="en-US" altLang="zh-CN" sz="2400" dirty="0">
              <a:latin typeface="Times New Roman" panose="02020603050405020304" pitchFamily="18" charset="0"/>
              <a:ea typeface="华文楷体" panose="02010600040101010101" pitchFamily="2" charset="-122"/>
            </a:endParaRPr>
          </a:p>
        </p:txBody>
      </p:sp>
      <p:sp>
        <p:nvSpPr>
          <p:cNvPr id="51214" name="Line 12"/>
          <p:cNvSpPr>
            <a:spLocks noChangeShapeType="1"/>
          </p:cNvSpPr>
          <p:nvPr/>
        </p:nvSpPr>
        <p:spPr bwMode="auto">
          <a:xfrm flipH="1">
            <a:off x="2286000" y="2505075"/>
            <a:ext cx="533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15" name="Line 13"/>
          <p:cNvSpPr>
            <a:spLocks noChangeShapeType="1"/>
          </p:cNvSpPr>
          <p:nvPr/>
        </p:nvSpPr>
        <p:spPr bwMode="auto">
          <a:xfrm>
            <a:off x="2895600" y="2505075"/>
            <a:ext cx="533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16" name="Text Box 14"/>
          <p:cNvSpPr txBox="1">
            <a:spLocks noChangeArrowheads="1"/>
          </p:cNvSpPr>
          <p:nvPr/>
        </p:nvSpPr>
        <p:spPr bwMode="auto">
          <a:xfrm>
            <a:off x="3048000" y="20478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0.15</a:t>
            </a:r>
            <a:endParaRPr lang="en-US" altLang="zh-CN" sz="2400" dirty="0">
              <a:latin typeface="Times New Roman" panose="02020603050405020304" pitchFamily="18" charset="0"/>
              <a:ea typeface="华文楷体" panose="02010600040101010101" pitchFamily="2" charset="-122"/>
            </a:endParaRPr>
          </a:p>
        </p:txBody>
      </p:sp>
      <p:sp>
        <p:nvSpPr>
          <p:cNvPr id="51217" name="Text Box 15"/>
          <p:cNvSpPr txBox="1">
            <a:spLocks noChangeArrowheads="1"/>
          </p:cNvSpPr>
          <p:nvPr/>
        </p:nvSpPr>
        <p:spPr bwMode="auto">
          <a:xfrm>
            <a:off x="4419600" y="24288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0.15</a:t>
            </a:r>
            <a:endParaRPr lang="en-US" altLang="zh-CN" sz="2400" dirty="0">
              <a:latin typeface="Times New Roman" panose="02020603050405020304" pitchFamily="18" charset="0"/>
              <a:ea typeface="华文楷体" panose="02010600040101010101" pitchFamily="2" charset="-122"/>
            </a:endParaRPr>
          </a:p>
        </p:txBody>
      </p:sp>
      <p:sp>
        <p:nvSpPr>
          <p:cNvPr id="51218" name="Text Box 16"/>
          <p:cNvSpPr txBox="1">
            <a:spLocks noChangeArrowheads="1"/>
          </p:cNvSpPr>
          <p:nvPr/>
        </p:nvSpPr>
        <p:spPr bwMode="auto">
          <a:xfrm>
            <a:off x="5638800" y="24288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0.30</a:t>
            </a:r>
            <a:endParaRPr lang="en-US" altLang="zh-CN" sz="2400" dirty="0">
              <a:latin typeface="Times New Roman" panose="02020603050405020304" pitchFamily="18" charset="0"/>
              <a:ea typeface="华文楷体" panose="02010600040101010101" pitchFamily="2" charset="-122"/>
            </a:endParaRPr>
          </a:p>
        </p:txBody>
      </p:sp>
      <p:sp>
        <p:nvSpPr>
          <p:cNvPr id="51219" name="Text Box 17"/>
          <p:cNvSpPr txBox="1">
            <a:spLocks noChangeArrowheads="1"/>
          </p:cNvSpPr>
          <p:nvPr/>
        </p:nvSpPr>
        <p:spPr bwMode="auto">
          <a:xfrm>
            <a:off x="6781800" y="24288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0.40</a:t>
            </a:r>
            <a:endParaRPr lang="en-US" altLang="zh-CN" sz="2400" dirty="0">
              <a:latin typeface="Times New Roman" panose="02020603050405020304" pitchFamily="18" charset="0"/>
              <a:ea typeface="华文楷体" panose="02010600040101010101" pitchFamily="2" charset="-122"/>
            </a:endParaRPr>
          </a:p>
        </p:txBody>
      </p:sp>
      <p:sp>
        <p:nvSpPr>
          <p:cNvPr id="51220" name="Oval 18"/>
          <p:cNvSpPr>
            <a:spLocks noChangeArrowheads="1"/>
          </p:cNvSpPr>
          <p:nvPr/>
        </p:nvSpPr>
        <p:spPr bwMode="auto">
          <a:xfrm>
            <a:off x="2209800" y="4257675"/>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221" name="Oval 19"/>
          <p:cNvSpPr>
            <a:spLocks noChangeArrowheads="1"/>
          </p:cNvSpPr>
          <p:nvPr/>
        </p:nvSpPr>
        <p:spPr bwMode="auto">
          <a:xfrm>
            <a:off x="2971800" y="3724275"/>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222" name="Text Box 20"/>
          <p:cNvSpPr txBox="1">
            <a:spLocks noChangeArrowheads="1"/>
          </p:cNvSpPr>
          <p:nvPr/>
        </p:nvSpPr>
        <p:spPr bwMode="auto">
          <a:xfrm>
            <a:off x="1447800" y="48672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0.05</a:t>
            </a:r>
            <a:endParaRPr lang="en-US" altLang="zh-CN" sz="2400" dirty="0">
              <a:latin typeface="Times New Roman" panose="02020603050405020304" pitchFamily="18" charset="0"/>
              <a:ea typeface="华文楷体" panose="02010600040101010101" pitchFamily="2" charset="-122"/>
            </a:endParaRPr>
          </a:p>
        </p:txBody>
      </p:sp>
      <p:sp>
        <p:nvSpPr>
          <p:cNvPr id="51223" name="Text Box 21"/>
          <p:cNvSpPr txBox="1">
            <a:spLocks noChangeArrowheads="1"/>
          </p:cNvSpPr>
          <p:nvPr/>
        </p:nvSpPr>
        <p:spPr bwMode="auto">
          <a:xfrm>
            <a:off x="2590800" y="48672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0.10</a:t>
            </a:r>
            <a:endParaRPr lang="en-US" altLang="zh-CN" sz="2400" dirty="0">
              <a:latin typeface="Times New Roman" panose="02020603050405020304" pitchFamily="18" charset="0"/>
              <a:ea typeface="华文楷体" panose="02010600040101010101" pitchFamily="2" charset="-122"/>
            </a:endParaRPr>
          </a:p>
        </p:txBody>
      </p:sp>
      <p:sp>
        <p:nvSpPr>
          <p:cNvPr id="51224" name="Text Box 22"/>
          <p:cNvSpPr txBox="1">
            <a:spLocks noChangeArrowheads="1"/>
          </p:cNvSpPr>
          <p:nvPr/>
        </p:nvSpPr>
        <p:spPr bwMode="auto">
          <a:xfrm>
            <a:off x="3581400" y="43338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0.15</a:t>
            </a:r>
            <a:endParaRPr lang="en-US" altLang="zh-CN" sz="2400" dirty="0">
              <a:latin typeface="Times New Roman" panose="02020603050405020304" pitchFamily="18" charset="0"/>
              <a:ea typeface="华文楷体" panose="02010600040101010101" pitchFamily="2" charset="-122"/>
            </a:endParaRPr>
          </a:p>
        </p:txBody>
      </p:sp>
      <p:sp>
        <p:nvSpPr>
          <p:cNvPr id="51225" name="Line 23"/>
          <p:cNvSpPr>
            <a:spLocks noChangeShapeType="1"/>
          </p:cNvSpPr>
          <p:nvPr/>
        </p:nvSpPr>
        <p:spPr bwMode="auto">
          <a:xfrm flipH="1">
            <a:off x="2438400" y="4105275"/>
            <a:ext cx="6096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26" name="Line 24"/>
          <p:cNvSpPr>
            <a:spLocks noChangeShapeType="1"/>
          </p:cNvSpPr>
          <p:nvPr/>
        </p:nvSpPr>
        <p:spPr bwMode="auto">
          <a:xfrm>
            <a:off x="3200400" y="4105275"/>
            <a:ext cx="609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27" name="Line 25"/>
          <p:cNvSpPr>
            <a:spLocks noChangeShapeType="1"/>
          </p:cNvSpPr>
          <p:nvPr/>
        </p:nvSpPr>
        <p:spPr bwMode="auto">
          <a:xfrm flipH="1">
            <a:off x="1752600" y="4638675"/>
            <a:ext cx="609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28" name="Line 26"/>
          <p:cNvSpPr>
            <a:spLocks noChangeShapeType="1"/>
          </p:cNvSpPr>
          <p:nvPr/>
        </p:nvSpPr>
        <p:spPr bwMode="auto">
          <a:xfrm>
            <a:off x="2438400" y="4638675"/>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29" name="Text Box 27"/>
          <p:cNvSpPr txBox="1">
            <a:spLocks noChangeArrowheads="1"/>
          </p:cNvSpPr>
          <p:nvPr/>
        </p:nvSpPr>
        <p:spPr bwMode="auto">
          <a:xfrm>
            <a:off x="3352800" y="3648075"/>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0.30</a:t>
            </a:r>
            <a:endParaRPr lang="en-US" altLang="zh-CN" sz="2400" dirty="0">
              <a:latin typeface="Times New Roman" panose="02020603050405020304" pitchFamily="18" charset="0"/>
              <a:ea typeface="华文楷体" panose="02010600040101010101" pitchFamily="2" charset="-122"/>
            </a:endParaRPr>
          </a:p>
        </p:txBody>
      </p:sp>
      <p:sp>
        <p:nvSpPr>
          <p:cNvPr id="51230" name="Text Box 28"/>
          <p:cNvSpPr txBox="1">
            <a:spLocks noChangeArrowheads="1"/>
          </p:cNvSpPr>
          <p:nvPr/>
        </p:nvSpPr>
        <p:spPr bwMode="auto">
          <a:xfrm>
            <a:off x="4572000" y="36480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0.30</a:t>
            </a:r>
            <a:endParaRPr lang="en-US" altLang="zh-CN" sz="2400" dirty="0">
              <a:latin typeface="Times New Roman" panose="02020603050405020304" pitchFamily="18" charset="0"/>
              <a:ea typeface="华文楷体" panose="02010600040101010101" pitchFamily="2" charset="-122"/>
            </a:endParaRPr>
          </a:p>
        </p:txBody>
      </p:sp>
      <p:sp>
        <p:nvSpPr>
          <p:cNvPr id="51231" name="Text Box 29"/>
          <p:cNvSpPr txBox="1">
            <a:spLocks noChangeArrowheads="1"/>
          </p:cNvSpPr>
          <p:nvPr/>
        </p:nvSpPr>
        <p:spPr bwMode="auto">
          <a:xfrm>
            <a:off x="5638800" y="3648075"/>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0.40</a:t>
            </a:r>
            <a:endParaRPr lang="en-US" altLang="zh-CN" sz="2400" dirty="0">
              <a:latin typeface="Times New Roman" panose="02020603050405020304" pitchFamily="18" charset="0"/>
              <a:ea typeface="华文楷体" panose="02010600040101010101" pitchFamily="2" charset="-122"/>
            </a:endParaRPr>
          </a:p>
        </p:txBody>
      </p:sp>
      <p:sp>
        <p:nvSpPr>
          <p:cNvPr id="51232" name="Text Box 30"/>
          <p:cNvSpPr txBox="1">
            <a:spLocks noChangeArrowheads="1"/>
          </p:cNvSpPr>
          <p:nvPr/>
        </p:nvSpPr>
        <p:spPr bwMode="auto">
          <a:xfrm>
            <a:off x="2590800" y="55530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0.40</a:t>
            </a:r>
            <a:endParaRPr lang="en-US" altLang="zh-CN" sz="2400" dirty="0">
              <a:latin typeface="Times New Roman" panose="02020603050405020304" pitchFamily="18" charset="0"/>
              <a:ea typeface="华文楷体" panose="02010600040101010101" pitchFamily="2" charset="-122"/>
            </a:endParaRPr>
          </a:p>
        </p:txBody>
      </p:sp>
      <p:sp>
        <p:nvSpPr>
          <p:cNvPr id="51233" name="Oval 31"/>
          <p:cNvSpPr>
            <a:spLocks noChangeArrowheads="1"/>
          </p:cNvSpPr>
          <p:nvPr/>
        </p:nvSpPr>
        <p:spPr bwMode="auto">
          <a:xfrm>
            <a:off x="5562600" y="4638675"/>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234" name="Oval 32"/>
          <p:cNvSpPr>
            <a:spLocks noChangeArrowheads="1"/>
          </p:cNvSpPr>
          <p:nvPr/>
        </p:nvSpPr>
        <p:spPr bwMode="auto">
          <a:xfrm>
            <a:off x="5105400" y="5095875"/>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235" name="Oval 33"/>
          <p:cNvSpPr>
            <a:spLocks noChangeArrowheads="1"/>
          </p:cNvSpPr>
          <p:nvPr/>
        </p:nvSpPr>
        <p:spPr bwMode="auto">
          <a:xfrm>
            <a:off x="4648200" y="5629275"/>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1236" name="Text Box 34"/>
          <p:cNvSpPr txBox="1">
            <a:spLocks noChangeArrowheads="1"/>
          </p:cNvSpPr>
          <p:nvPr/>
        </p:nvSpPr>
        <p:spPr bwMode="auto">
          <a:xfrm>
            <a:off x="5943600" y="50958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0.30</a:t>
            </a:r>
            <a:endParaRPr lang="en-US" altLang="zh-CN" sz="2400" dirty="0">
              <a:latin typeface="Times New Roman" panose="02020603050405020304" pitchFamily="18" charset="0"/>
              <a:ea typeface="华文楷体" panose="02010600040101010101" pitchFamily="2" charset="-122"/>
            </a:endParaRPr>
          </a:p>
        </p:txBody>
      </p:sp>
      <p:sp>
        <p:nvSpPr>
          <p:cNvPr id="51237" name="Line 35"/>
          <p:cNvSpPr>
            <a:spLocks noChangeShapeType="1"/>
          </p:cNvSpPr>
          <p:nvPr/>
        </p:nvSpPr>
        <p:spPr bwMode="auto">
          <a:xfrm flipH="1">
            <a:off x="5257800" y="4943475"/>
            <a:ext cx="3810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38" name="Line 36"/>
          <p:cNvSpPr>
            <a:spLocks noChangeShapeType="1"/>
          </p:cNvSpPr>
          <p:nvPr/>
        </p:nvSpPr>
        <p:spPr bwMode="auto">
          <a:xfrm flipH="1">
            <a:off x="4800600" y="5400675"/>
            <a:ext cx="381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39" name="Line 37"/>
          <p:cNvSpPr>
            <a:spLocks noChangeShapeType="1"/>
          </p:cNvSpPr>
          <p:nvPr/>
        </p:nvSpPr>
        <p:spPr bwMode="auto">
          <a:xfrm flipH="1">
            <a:off x="4267200" y="5934075"/>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40" name="Line 38"/>
          <p:cNvSpPr>
            <a:spLocks noChangeShapeType="1"/>
          </p:cNvSpPr>
          <p:nvPr/>
        </p:nvSpPr>
        <p:spPr bwMode="auto">
          <a:xfrm>
            <a:off x="4876800" y="5934075"/>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41" name="Line 39"/>
          <p:cNvSpPr>
            <a:spLocks noChangeShapeType="1"/>
          </p:cNvSpPr>
          <p:nvPr/>
        </p:nvSpPr>
        <p:spPr bwMode="auto">
          <a:xfrm>
            <a:off x="5867400" y="4867275"/>
            <a:ext cx="228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42" name="Line 40"/>
          <p:cNvSpPr>
            <a:spLocks noChangeShapeType="1"/>
          </p:cNvSpPr>
          <p:nvPr/>
        </p:nvSpPr>
        <p:spPr bwMode="auto">
          <a:xfrm>
            <a:off x="5334000" y="5400675"/>
            <a:ext cx="381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1243" name="Text Box 41"/>
          <p:cNvSpPr txBox="1">
            <a:spLocks noChangeArrowheads="1"/>
          </p:cNvSpPr>
          <p:nvPr/>
        </p:nvSpPr>
        <p:spPr bwMode="auto">
          <a:xfrm>
            <a:off x="5791200" y="44100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0.60</a:t>
            </a:r>
            <a:endParaRPr lang="en-US" altLang="zh-CN" sz="2400" dirty="0">
              <a:latin typeface="Times New Roman" panose="02020603050405020304" pitchFamily="18" charset="0"/>
              <a:ea typeface="华文楷体" panose="02010600040101010101" pitchFamily="2" charset="-122"/>
            </a:endParaRPr>
          </a:p>
        </p:txBody>
      </p:sp>
      <p:sp>
        <p:nvSpPr>
          <p:cNvPr id="51244" name="Text Box 42"/>
          <p:cNvSpPr txBox="1">
            <a:spLocks noChangeArrowheads="1"/>
          </p:cNvSpPr>
          <p:nvPr/>
        </p:nvSpPr>
        <p:spPr bwMode="auto">
          <a:xfrm>
            <a:off x="5486400" y="56292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0.15</a:t>
            </a:r>
            <a:endParaRPr lang="en-US" altLang="zh-CN" sz="2400" dirty="0">
              <a:latin typeface="Times New Roman" panose="02020603050405020304" pitchFamily="18" charset="0"/>
              <a:ea typeface="华文楷体" panose="02010600040101010101" pitchFamily="2" charset="-122"/>
            </a:endParaRPr>
          </a:p>
        </p:txBody>
      </p:sp>
      <p:sp>
        <p:nvSpPr>
          <p:cNvPr id="51245" name="Text Box 43"/>
          <p:cNvSpPr txBox="1">
            <a:spLocks noChangeArrowheads="1"/>
          </p:cNvSpPr>
          <p:nvPr/>
        </p:nvSpPr>
        <p:spPr bwMode="auto">
          <a:xfrm>
            <a:off x="5105400" y="61626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0.10</a:t>
            </a:r>
            <a:endParaRPr lang="en-US" altLang="zh-CN" sz="2400" dirty="0">
              <a:latin typeface="Times New Roman" panose="02020603050405020304" pitchFamily="18" charset="0"/>
              <a:ea typeface="华文楷体" panose="02010600040101010101" pitchFamily="2" charset="-122"/>
            </a:endParaRPr>
          </a:p>
        </p:txBody>
      </p:sp>
      <p:sp>
        <p:nvSpPr>
          <p:cNvPr id="51246" name="Text Box 44"/>
          <p:cNvSpPr txBox="1">
            <a:spLocks noChangeArrowheads="1"/>
          </p:cNvSpPr>
          <p:nvPr/>
        </p:nvSpPr>
        <p:spPr bwMode="auto">
          <a:xfrm>
            <a:off x="3733800" y="6162675"/>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0.05</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页脚占位符 3"/>
          <p:cNvSpPr>
            <a:spLocks noGrp="1"/>
          </p:cNvSpPr>
          <p:nvPr>
            <p:ph type="ftr" sz="quarter" idx="10"/>
          </p:nvPr>
        </p:nvSpPr>
        <p:spPr/>
        <p:txBody>
          <a:bodyPr/>
          <a:lstStyle/>
          <a:p>
            <a:pPr>
              <a:defRPr/>
            </a:pPr>
            <a:r>
              <a:rPr lang="en-US" altLang="zh-CN"/>
              <a:t>BUPT SCST</a:t>
            </a:r>
            <a:endParaRPr lang="en-US" altLang="zh-CN"/>
          </a:p>
        </p:txBody>
      </p:sp>
      <p:sp>
        <p:nvSpPr>
          <p:cNvPr id="28" name="日期占位符 5"/>
          <p:cNvSpPr>
            <a:spLocks noGrp="1"/>
          </p:cNvSpPr>
          <p:nvPr>
            <p:ph type="dt" sz="quarter" idx="12"/>
          </p:nvPr>
        </p:nvSpPr>
        <p:spPr/>
        <p:txBody>
          <a:bodyPr/>
          <a:lstStyle/>
          <a:p>
            <a:pPr>
              <a:defRPr/>
            </a:pPr>
            <a:r>
              <a:rPr lang="en-US" altLang="zh-CN"/>
              <a:t>BUPT</a:t>
            </a:r>
            <a:endParaRPr lang="en-US" altLang="zh-CN"/>
          </a:p>
        </p:txBody>
      </p:sp>
      <p:sp>
        <p:nvSpPr>
          <p:cNvPr id="5222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2229" name="Rectangle 3"/>
          <p:cNvSpPr>
            <a:spLocks noGrp="1" noChangeArrowheads="1"/>
          </p:cNvSpPr>
          <p:nvPr>
            <p:ph idx="1"/>
          </p:nvPr>
        </p:nvSpPr>
        <p:spPr>
          <a:xfrm>
            <a:off x="685800" y="1295400"/>
            <a:ext cx="7772400" cy="5105400"/>
          </a:xfrm>
        </p:spPr>
        <p:txBody>
          <a:bodyPr/>
          <a:lstStyle/>
          <a:p>
            <a:pPr eaLnBrk="1" hangingPunct="1">
              <a:buFont typeface="Wingdings" panose="05000000000000000000" pitchFamily="2" charset="2"/>
              <a:buNone/>
            </a:pPr>
            <a:r>
              <a:rPr lang="zh-CN" altLang="en-US" dirty="0" smtClean="0">
                <a:ea typeface="华文楷体" panose="02010600040101010101" pitchFamily="2" charset="-122"/>
              </a:rPr>
              <a:t>第四步：</a:t>
            </a:r>
            <a:endParaRPr lang="zh-CN" altLang="en-US" dirty="0" smtClean="0">
              <a:ea typeface="华文楷体" panose="02010600040101010101" pitchFamily="2" charset="-122"/>
            </a:endParaRPr>
          </a:p>
        </p:txBody>
      </p:sp>
      <p:sp>
        <p:nvSpPr>
          <p:cNvPr id="52230" name="Oval 4"/>
          <p:cNvSpPr>
            <a:spLocks noChangeArrowheads="1"/>
          </p:cNvSpPr>
          <p:nvPr/>
        </p:nvSpPr>
        <p:spPr bwMode="auto">
          <a:xfrm>
            <a:off x="3505200" y="15240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2231" name="Text Box 5"/>
          <p:cNvSpPr txBox="1">
            <a:spLocks noChangeArrowheads="1"/>
          </p:cNvSpPr>
          <p:nvPr/>
        </p:nvSpPr>
        <p:spPr bwMode="auto">
          <a:xfrm>
            <a:off x="2362200" y="2209800"/>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0.40</a:t>
            </a:r>
            <a:endParaRPr lang="en-US" altLang="zh-CN" sz="2400" dirty="0">
              <a:latin typeface="Times New Roman" panose="02020603050405020304" pitchFamily="18" charset="0"/>
              <a:ea typeface="华文楷体" panose="02010600040101010101" pitchFamily="2" charset="-122"/>
            </a:endParaRPr>
          </a:p>
        </p:txBody>
      </p:sp>
      <p:sp>
        <p:nvSpPr>
          <p:cNvPr id="52232" name="Oval 6"/>
          <p:cNvSpPr>
            <a:spLocks noChangeArrowheads="1"/>
          </p:cNvSpPr>
          <p:nvPr/>
        </p:nvSpPr>
        <p:spPr bwMode="auto">
          <a:xfrm>
            <a:off x="4191000" y="22098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2233" name="Oval 7"/>
          <p:cNvSpPr>
            <a:spLocks noChangeArrowheads="1"/>
          </p:cNvSpPr>
          <p:nvPr/>
        </p:nvSpPr>
        <p:spPr bwMode="auto">
          <a:xfrm>
            <a:off x="3733800" y="28194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2234" name="Text Box 8"/>
          <p:cNvSpPr txBox="1">
            <a:spLocks noChangeArrowheads="1"/>
          </p:cNvSpPr>
          <p:nvPr/>
        </p:nvSpPr>
        <p:spPr bwMode="auto">
          <a:xfrm>
            <a:off x="4724400" y="2819400"/>
            <a:ext cx="8382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0.30</a:t>
            </a:r>
            <a:endParaRPr lang="en-US" altLang="zh-CN" sz="2400" dirty="0">
              <a:latin typeface="Times New Roman" panose="02020603050405020304" pitchFamily="18" charset="0"/>
              <a:ea typeface="华文楷体" panose="02010600040101010101" pitchFamily="2" charset="-122"/>
            </a:endParaRPr>
          </a:p>
        </p:txBody>
      </p:sp>
      <p:sp>
        <p:nvSpPr>
          <p:cNvPr id="52235" name="Oval 9"/>
          <p:cNvSpPr>
            <a:spLocks noChangeArrowheads="1"/>
          </p:cNvSpPr>
          <p:nvPr/>
        </p:nvSpPr>
        <p:spPr bwMode="auto">
          <a:xfrm>
            <a:off x="3352800" y="35814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2236" name="Text Box 10"/>
          <p:cNvSpPr txBox="1">
            <a:spLocks noChangeArrowheads="1"/>
          </p:cNvSpPr>
          <p:nvPr/>
        </p:nvSpPr>
        <p:spPr bwMode="auto">
          <a:xfrm>
            <a:off x="4267200" y="3581400"/>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0.15</a:t>
            </a:r>
            <a:endParaRPr lang="en-US" altLang="zh-CN" sz="2400" dirty="0">
              <a:latin typeface="Times New Roman" panose="02020603050405020304" pitchFamily="18" charset="0"/>
              <a:ea typeface="华文楷体" panose="02010600040101010101" pitchFamily="2" charset="-122"/>
            </a:endParaRPr>
          </a:p>
        </p:txBody>
      </p:sp>
      <p:sp>
        <p:nvSpPr>
          <p:cNvPr id="52237" name="Text Box 11"/>
          <p:cNvSpPr txBox="1">
            <a:spLocks noChangeArrowheads="1"/>
          </p:cNvSpPr>
          <p:nvPr/>
        </p:nvSpPr>
        <p:spPr bwMode="auto">
          <a:xfrm>
            <a:off x="2819400" y="4343400"/>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0.05</a:t>
            </a:r>
            <a:endParaRPr lang="en-US" altLang="zh-CN" sz="2400" dirty="0">
              <a:latin typeface="Times New Roman" panose="02020603050405020304" pitchFamily="18" charset="0"/>
              <a:ea typeface="华文楷体" panose="02010600040101010101" pitchFamily="2" charset="-122"/>
            </a:endParaRPr>
          </a:p>
        </p:txBody>
      </p:sp>
      <p:sp>
        <p:nvSpPr>
          <p:cNvPr id="52238" name="Text Box 12"/>
          <p:cNvSpPr txBox="1">
            <a:spLocks noChangeArrowheads="1"/>
          </p:cNvSpPr>
          <p:nvPr/>
        </p:nvSpPr>
        <p:spPr bwMode="auto">
          <a:xfrm>
            <a:off x="3886200" y="4343400"/>
            <a:ext cx="762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0.10</a:t>
            </a:r>
            <a:endParaRPr lang="en-US" altLang="zh-CN" sz="2400" dirty="0">
              <a:latin typeface="Times New Roman" panose="02020603050405020304" pitchFamily="18" charset="0"/>
              <a:ea typeface="华文楷体" panose="02010600040101010101" pitchFamily="2" charset="-122"/>
            </a:endParaRPr>
          </a:p>
        </p:txBody>
      </p:sp>
      <p:sp>
        <p:nvSpPr>
          <p:cNvPr id="52239" name="Line 13"/>
          <p:cNvSpPr>
            <a:spLocks noChangeShapeType="1"/>
          </p:cNvSpPr>
          <p:nvPr/>
        </p:nvSpPr>
        <p:spPr bwMode="auto">
          <a:xfrm flipH="1">
            <a:off x="2819400" y="1828800"/>
            <a:ext cx="838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0" name="Line 14"/>
          <p:cNvSpPr>
            <a:spLocks noChangeShapeType="1"/>
          </p:cNvSpPr>
          <p:nvPr/>
        </p:nvSpPr>
        <p:spPr bwMode="auto">
          <a:xfrm>
            <a:off x="3657600" y="1828800"/>
            <a:ext cx="685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1" name="Line 15"/>
          <p:cNvSpPr>
            <a:spLocks noChangeShapeType="1"/>
          </p:cNvSpPr>
          <p:nvPr/>
        </p:nvSpPr>
        <p:spPr bwMode="auto">
          <a:xfrm flipH="1">
            <a:off x="3886200" y="25146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2" name="Line 16"/>
          <p:cNvSpPr>
            <a:spLocks noChangeShapeType="1"/>
          </p:cNvSpPr>
          <p:nvPr/>
        </p:nvSpPr>
        <p:spPr bwMode="auto">
          <a:xfrm>
            <a:off x="4419600" y="2514600"/>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3" name="Line 17"/>
          <p:cNvSpPr>
            <a:spLocks noChangeShapeType="1"/>
          </p:cNvSpPr>
          <p:nvPr/>
        </p:nvSpPr>
        <p:spPr bwMode="auto">
          <a:xfrm flipH="1">
            <a:off x="3505200" y="3124200"/>
            <a:ext cx="3810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4" name="Line 18"/>
          <p:cNvSpPr>
            <a:spLocks noChangeShapeType="1"/>
          </p:cNvSpPr>
          <p:nvPr/>
        </p:nvSpPr>
        <p:spPr bwMode="auto">
          <a:xfrm>
            <a:off x="3886200" y="3124200"/>
            <a:ext cx="6858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5" name="Line 19"/>
          <p:cNvSpPr>
            <a:spLocks noChangeShapeType="1"/>
          </p:cNvSpPr>
          <p:nvPr/>
        </p:nvSpPr>
        <p:spPr bwMode="auto">
          <a:xfrm flipH="1">
            <a:off x="3200400" y="3886200"/>
            <a:ext cx="2286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6" name="Line 20"/>
          <p:cNvSpPr>
            <a:spLocks noChangeShapeType="1"/>
          </p:cNvSpPr>
          <p:nvPr/>
        </p:nvSpPr>
        <p:spPr bwMode="auto">
          <a:xfrm>
            <a:off x="3505200" y="3886200"/>
            <a:ext cx="6858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2247" name="Text Box 21"/>
          <p:cNvSpPr txBox="1">
            <a:spLocks noChangeArrowheads="1"/>
          </p:cNvSpPr>
          <p:nvPr/>
        </p:nvSpPr>
        <p:spPr bwMode="auto">
          <a:xfrm>
            <a:off x="2819400" y="12954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1.00</a:t>
            </a:r>
            <a:endParaRPr lang="en-US" altLang="zh-CN" sz="2400" dirty="0">
              <a:latin typeface="Times New Roman" panose="02020603050405020304" pitchFamily="18" charset="0"/>
              <a:ea typeface="华文楷体" panose="02010600040101010101" pitchFamily="2" charset="-122"/>
            </a:endParaRPr>
          </a:p>
        </p:txBody>
      </p:sp>
      <p:sp>
        <p:nvSpPr>
          <p:cNvPr id="52248" name="Text Box 22"/>
          <p:cNvSpPr txBox="1">
            <a:spLocks noChangeArrowheads="1"/>
          </p:cNvSpPr>
          <p:nvPr/>
        </p:nvSpPr>
        <p:spPr bwMode="auto">
          <a:xfrm>
            <a:off x="2362200" y="3505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(a&lt;60)</a:t>
            </a:r>
            <a:endParaRPr lang="en-US" altLang="zh-CN" sz="2400" dirty="0">
              <a:latin typeface="Times New Roman" panose="02020603050405020304" pitchFamily="18" charset="0"/>
              <a:ea typeface="华文楷体" panose="02010600040101010101" pitchFamily="2" charset="-122"/>
            </a:endParaRPr>
          </a:p>
        </p:txBody>
      </p:sp>
      <p:sp>
        <p:nvSpPr>
          <p:cNvPr id="52249" name="Text Box 23"/>
          <p:cNvSpPr txBox="1">
            <a:spLocks noChangeArrowheads="1"/>
          </p:cNvSpPr>
          <p:nvPr/>
        </p:nvSpPr>
        <p:spPr bwMode="auto">
          <a:xfrm>
            <a:off x="2286000" y="28194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(60a&lt;70)</a:t>
            </a:r>
            <a:endParaRPr lang="en-US" altLang="zh-CN" sz="2400" dirty="0">
              <a:latin typeface="Times New Roman" panose="02020603050405020304" pitchFamily="18" charset="0"/>
              <a:ea typeface="华文楷体" panose="02010600040101010101" pitchFamily="2" charset="-122"/>
            </a:endParaRPr>
          </a:p>
        </p:txBody>
      </p:sp>
      <p:sp>
        <p:nvSpPr>
          <p:cNvPr id="52250" name="Text Box 24"/>
          <p:cNvSpPr txBox="1">
            <a:spLocks noChangeArrowheads="1"/>
          </p:cNvSpPr>
          <p:nvPr/>
        </p:nvSpPr>
        <p:spPr bwMode="auto">
          <a:xfrm>
            <a:off x="4495800" y="21336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(80a&lt;90)</a:t>
            </a:r>
            <a:endParaRPr lang="en-US" altLang="zh-CN" sz="2400" dirty="0">
              <a:latin typeface="Times New Roman" panose="02020603050405020304" pitchFamily="18" charset="0"/>
              <a:ea typeface="华文楷体" panose="02010600040101010101" pitchFamily="2" charset="-122"/>
            </a:endParaRPr>
          </a:p>
        </p:txBody>
      </p:sp>
      <p:sp>
        <p:nvSpPr>
          <p:cNvPr id="52251" name="Text Box 25"/>
          <p:cNvSpPr txBox="1">
            <a:spLocks noChangeArrowheads="1"/>
          </p:cNvSpPr>
          <p:nvPr/>
        </p:nvSpPr>
        <p:spPr bwMode="auto">
          <a:xfrm>
            <a:off x="3810000" y="14478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(70 a&lt;80)</a:t>
            </a:r>
            <a:endParaRPr lang="en-US" altLang="zh-CN" sz="2400" dirty="0">
              <a:latin typeface="Times New Roman" panose="02020603050405020304" pitchFamily="18" charset="0"/>
              <a:ea typeface="华文楷体" panose="02010600040101010101" pitchFamily="2" charset="-122"/>
            </a:endParaRPr>
          </a:p>
        </p:txBody>
      </p:sp>
      <p:sp>
        <p:nvSpPr>
          <p:cNvPr id="52252" name="Text Box 26"/>
          <p:cNvSpPr txBox="1">
            <a:spLocks noChangeArrowheads="1"/>
          </p:cNvSpPr>
          <p:nvPr/>
        </p:nvSpPr>
        <p:spPr bwMode="auto">
          <a:xfrm>
            <a:off x="2819400" y="518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u="sng" dirty="0">
                <a:latin typeface="Times New Roman" panose="02020603050405020304" pitchFamily="18" charset="0"/>
                <a:ea typeface="华文楷体" panose="02010600040101010101" pitchFamily="2" charset="-122"/>
              </a:rPr>
              <a:t>20500</a:t>
            </a:r>
            <a:r>
              <a:rPr lang="zh-CN" altLang="en-US" sz="2400" u="sng" dirty="0">
                <a:latin typeface="Times New Roman" panose="02020603050405020304" pitchFamily="18" charset="0"/>
                <a:ea typeface="华文楷体" panose="02010600040101010101" pitchFamily="2" charset="-122"/>
              </a:rPr>
              <a:t>次</a:t>
            </a: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10000</a:t>
            </a:r>
            <a:r>
              <a:rPr lang="zh-CN" altLang="en-US" sz="2400" dirty="0">
                <a:latin typeface="Times New Roman" panose="02020603050405020304" pitchFamily="18" charset="0"/>
                <a:ea typeface="华文楷体" panose="02010600040101010101" pitchFamily="2" charset="-122"/>
              </a:rPr>
              <a:t>数据）</a:t>
            </a:r>
            <a:endParaRPr lang="zh-CN" altLang="en-US" sz="2400" u="sng"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20" name="日期占位符 5"/>
          <p:cNvSpPr>
            <a:spLocks noGrp="1"/>
          </p:cNvSpPr>
          <p:nvPr>
            <p:ph type="dt" sz="quarter" idx="12"/>
          </p:nvPr>
        </p:nvSpPr>
        <p:spPr/>
        <p:txBody>
          <a:bodyPr/>
          <a:lstStyle/>
          <a:p>
            <a:pPr>
              <a:defRPr/>
            </a:pPr>
            <a:r>
              <a:rPr lang="en-US" altLang="zh-CN"/>
              <a:t>BUPT</a:t>
            </a:r>
            <a:endParaRPr lang="en-US" altLang="zh-CN"/>
          </a:p>
        </p:txBody>
      </p:sp>
      <p:sp>
        <p:nvSpPr>
          <p:cNvPr id="5325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3256" name="Rectangle 6"/>
          <p:cNvSpPr>
            <a:spLocks noChangeArrowheads="1"/>
          </p:cNvSpPr>
          <p:nvPr/>
        </p:nvSpPr>
        <p:spPr bwMode="auto">
          <a:xfrm>
            <a:off x="685800" y="10668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CC6600"/>
                </a:solidFill>
                <a:latin typeface="Verdana" panose="020B0604030504040204" pitchFamily="34" charset="0"/>
                <a:ea typeface="华文楷体" panose="02010600040101010101" pitchFamily="2" charset="-122"/>
              </a:rPr>
              <a:t>[</a:t>
            </a:r>
            <a:r>
              <a:rPr lang="zh-CN" altLang="en-US" sz="2400" b="1" dirty="0">
                <a:solidFill>
                  <a:srgbClr val="CC6600"/>
                </a:solidFill>
                <a:latin typeface="Verdana" panose="020B0604030504040204" pitchFamily="34" charset="0"/>
                <a:ea typeface="华文楷体" panose="02010600040101010101" pitchFamily="2" charset="-122"/>
              </a:rPr>
              <a:t>哈夫曼树的存储结构</a:t>
            </a:r>
            <a:r>
              <a:rPr lang="en-US" altLang="zh-CN" sz="2400" b="1" dirty="0">
                <a:solidFill>
                  <a:srgbClr val="CC6600"/>
                </a:solidFill>
                <a:latin typeface="Verdana" panose="020B0604030504040204" pitchFamily="34" charset="0"/>
                <a:ea typeface="华文楷体" panose="02010600040101010101" pitchFamily="2" charset="-122"/>
              </a:rPr>
              <a:t>]</a:t>
            </a:r>
            <a:endParaRPr lang="en-US" altLang="zh-CN" sz="2400" b="1" dirty="0">
              <a:solidFill>
                <a:srgbClr val="CC6600"/>
              </a:solidFill>
              <a:latin typeface="Verdana" panose="020B0604030504040204" pitchFamily="34" charset="0"/>
              <a:ea typeface="华文楷体" panose="02010600040101010101" pitchFamily="2" charset="-122"/>
            </a:endParaRPr>
          </a:p>
        </p:txBody>
      </p:sp>
      <p:sp>
        <p:nvSpPr>
          <p:cNvPr id="53257" name="Rectangle 7"/>
          <p:cNvSpPr>
            <a:spLocks noGrp="1" noChangeArrowheads="1"/>
          </p:cNvSpPr>
          <p:nvPr>
            <p:ph idx="1"/>
          </p:nvPr>
        </p:nvSpPr>
        <p:spPr>
          <a:xfrm>
            <a:off x="685800" y="1600200"/>
            <a:ext cx="7772400" cy="1295414"/>
          </a:xfrm>
          <a:ln>
            <a:solidFill>
              <a:schemeClr val="accent1"/>
            </a:solidFill>
          </a:ln>
        </p:spPr>
        <p:txBody>
          <a:bodyPr/>
          <a:lstStyle/>
          <a:p>
            <a:pPr lvl="1" eaLnBrk="1" hangingPunct="1"/>
            <a:r>
              <a:rPr lang="zh-CN" altLang="en-US" sz="2400" dirty="0" smtClean="0">
                <a:ea typeface="华文楷体" panose="02010600040101010101" pitchFamily="2" charset="-122"/>
              </a:rPr>
              <a:t>初始有</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个叶子结点，则构造出的哈夫曼树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属于严格二叉树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共有</a:t>
            </a:r>
            <a:r>
              <a:rPr lang="en-US" altLang="zh-CN" sz="2400" dirty="0" smtClean="0">
                <a:ea typeface="华文楷体" panose="02010600040101010101" pitchFamily="2" charset="-122"/>
              </a:rPr>
              <a:t>2n-1</a:t>
            </a:r>
            <a:r>
              <a:rPr lang="zh-CN" altLang="en-US" sz="2400" dirty="0" smtClean="0">
                <a:ea typeface="华文楷体" panose="02010600040101010101" pitchFamily="2" charset="-122"/>
              </a:rPr>
              <a:t>个结点。</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用大小为</a:t>
            </a:r>
            <a:r>
              <a:rPr lang="en-US" altLang="zh-CN" sz="2400" dirty="0" smtClean="0">
                <a:ea typeface="华文楷体" panose="02010600040101010101" pitchFamily="2" charset="-122"/>
              </a:rPr>
              <a:t>2n-1</a:t>
            </a:r>
            <a:r>
              <a:rPr lang="zh-CN" altLang="en-US" sz="2400" dirty="0" smtClean="0">
                <a:ea typeface="华文楷体" panose="02010600040101010101" pitchFamily="2" charset="-122"/>
              </a:rPr>
              <a:t>的向量存储哈夫曼树</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顺序存储。</a:t>
            </a:r>
            <a:endParaRPr lang="en-US" altLang="zh-CN" sz="2400" dirty="0" smtClean="0">
              <a:ea typeface="华文楷体" panose="02010600040101010101" pitchFamily="2" charset="-122"/>
            </a:endParaRPr>
          </a:p>
        </p:txBody>
      </p:sp>
      <p:sp>
        <p:nvSpPr>
          <p:cNvPr id="3" name="文本框 2"/>
          <p:cNvSpPr txBox="1"/>
          <p:nvPr/>
        </p:nvSpPr>
        <p:spPr>
          <a:xfrm>
            <a:off x="221663" y="3117698"/>
            <a:ext cx="3592650" cy="3477875"/>
          </a:xfrm>
          <a:prstGeom prst="rect">
            <a:avLst/>
          </a:prstGeom>
          <a:noFill/>
          <a:ln>
            <a:solidFill>
              <a:schemeClr val="accent1"/>
            </a:solidFill>
          </a:ln>
        </p:spPr>
        <p:txBody>
          <a:bodyPr wrap="none" rtlCol="0">
            <a:spAutoFit/>
          </a:bodyPr>
          <a:lstStyle/>
          <a:p>
            <a:r>
              <a:rPr lang="en-US" altLang="zh-CN" sz="2000" dirty="0" smtClean="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000" dirty="0" smtClean="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哈夫曼树结构</a:t>
            </a:r>
            <a:r>
              <a:rPr lang="en-US" altLang="zh-CN" sz="2000" dirty="0" smtClean="0">
                <a:solidFill>
                  <a:srgbClr val="C00000"/>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2000" dirty="0" smtClean="0">
              <a:solidFill>
                <a:srgbClr val="C00000"/>
              </a:solidFill>
              <a:latin typeface="华文楷体" panose="02010600040101010101" pitchFamily="2" charset="-122"/>
              <a:ea typeface="华文楷体" panose="02010600040101010101" pitchFamily="2" charset="-122"/>
              <a:cs typeface="Times New Roman" panose="02020603050405020304" pitchFamily="18" charset="0"/>
            </a:endParaRPr>
          </a:p>
          <a:p>
            <a:r>
              <a:rPr lang="en-US" altLang="zh-CN" sz="2000" dirty="0" err="1" smtClean="0">
                <a:latin typeface="Times New Roman" panose="02020603050405020304" pitchFamily="18" charset="0"/>
                <a:cs typeface="Times New Roman" panose="02020603050405020304" pitchFamily="18" charset="0"/>
              </a:rPr>
              <a:t>struct</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hfmnode</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elemtype</a:t>
            </a:r>
            <a:r>
              <a:rPr lang="en-US" altLang="zh-CN" sz="2000" dirty="0" smtClean="0">
                <a:latin typeface="Times New Roman" panose="02020603050405020304" pitchFamily="18" charset="0"/>
                <a:cs typeface="Times New Roman" panose="02020603050405020304" pitchFamily="18" charset="0"/>
              </a:rPr>
              <a:t> data;</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float  weight;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int</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lc</a:t>
            </a:r>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int</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r</a:t>
            </a:r>
            <a:r>
              <a:rPr lang="en-US" altLang="zh-CN" sz="2000" dirty="0" err="1" smtClean="0">
                <a:latin typeface="Times New Roman" panose="02020603050405020304" pitchFamily="18" charset="0"/>
                <a:cs typeface="Times New Roman" panose="02020603050405020304" pitchFamily="18" charset="0"/>
              </a:rPr>
              <a:t>c</a:t>
            </a:r>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int</a:t>
            </a:r>
            <a:r>
              <a:rPr lang="en-US" altLang="zh-CN" sz="2000" dirty="0" smtClean="0">
                <a:latin typeface="Times New Roman" panose="02020603050405020304" pitchFamily="18" charset="0"/>
                <a:cs typeface="Times New Roman" panose="02020603050405020304" pitchFamily="18" charset="0"/>
              </a:rPr>
              <a:t>  parent;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err="1" smtClean="0">
                <a:latin typeface="Times New Roman" panose="02020603050405020304" pitchFamily="18" charset="0"/>
                <a:cs typeface="Times New Roman" panose="02020603050405020304" pitchFamily="18" charset="0"/>
              </a:rPr>
              <a:t>typedef</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struct</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hfmnode</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HTNode</a:t>
            </a:r>
            <a:r>
              <a:rPr lang="en-US" altLang="zh-CN"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err="1" smtClean="0">
                <a:latin typeface="Times New Roman" panose="02020603050405020304" pitchFamily="18" charset="0"/>
                <a:cs typeface="Times New Roman" panose="02020603050405020304" pitchFamily="18" charset="0"/>
              </a:rPr>
              <a:t>HTNode</a:t>
            </a:r>
            <a:r>
              <a:rPr lang="en-US" altLang="zh-CN" sz="2000" dirty="0" smtClean="0">
                <a:latin typeface="Times New Roman" panose="02020603050405020304" pitchFamily="18" charset="0"/>
                <a:cs typeface="Times New Roman" panose="02020603050405020304" pitchFamily="18" charset="0"/>
              </a:rPr>
              <a:t> </a:t>
            </a:r>
            <a:r>
              <a:rPr lang="en-US" altLang="zh-CN" sz="2000" dirty="0" err="1" smtClean="0">
                <a:latin typeface="Times New Roman" panose="02020603050405020304" pitchFamily="18" charset="0"/>
                <a:cs typeface="Times New Roman" panose="02020603050405020304" pitchFamily="18" charset="0"/>
              </a:rPr>
              <a:t>ht</a:t>
            </a:r>
            <a:r>
              <a:rPr lang="en-US" altLang="zh-CN" sz="2000" dirty="0" smtClean="0">
                <a:latin typeface="Times New Roman" panose="02020603050405020304" pitchFamily="18" charset="0"/>
                <a:cs typeface="Times New Roman" panose="02020603050405020304" pitchFamily="18" charset="0"/>
              </a:rPr>
              <a:t>[2n-1];</a:t>
            </a:r>
            <a:endParaRPr lang="zh-CN" altLang="en-US" sz="2000" dirty="0">
              <a:latin typeface="Times New Roman" panose="02020603050405020304" pitchFamily="18" charset="0"/>
              <a:cs typeface="Times New Roman" panose="02020603050405020304" pitchFamily="18" charset="0"/>
            </a:endParaRPr>
          </a:p>
        </p:txBody>
      </p:sp>
      <p:sp>
        <p:nvSpPr>
          <p:cNvPr id="23" name="Rectangle 3"/>
          <p:cNvSpPr txBox="1">
            <a:spLocks noChangeArrowheads="1"/>
          </p:cNvSpPr>
          <p:nvPr/>
        </p:nvSpPr>
        <p:spPr bwMode="auto">
          <a:xfrm>
            <a:off x="4114812" y="3119239"/>
            <a:ext cx="4876780" cy="2991049"/>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Wingdings" panose="05000000000000000000" pitchFamily="2" charset="2"/>
              <a:buNone/>
            </a:pPr>
            <a:r>
              <a:rPr lang="en-US" altLang="zh-CN" sz="1600" b="1" dirty="0" smtClean="0">
                <a:solidFill>
                  <a:srgbClr val="CC6600"/>
                </a:solidFill>
                <a:ea typeface="华文楷体" panose="02010600040101010101" pitchFamily="2" charset="-122"/>
              </a:rPr>
              <a:t>[</a:t>
            </a:r>
            <a:r>
              <a:rPr lang="zh-CN" altLang="en-US" sz="1600" b="1" dirty="0" smtClean="0">
                <a:solidFill>
                  <a:srgbClr val="CC6600"/>
                </a:solidFill>
                <a:ea typeface="华文楷体" panose="02010600040101010101" pitchFamily="2" charset="-122"/>
              </a:rPr>
              <a:t>哈夫曼树实现的算法步骤</a:t>
            </a:r>
            <a:r>
              <a:rPr lang="en-US" altLang="zh-CN" sz="1600" b="1" dirty="0" smtClean="0">
                <a:solidFill>
                  <a:srgbClr val="CC6600"/>
                </a:solidFill>
                <a:ea typeface="华文楷体" panose="02010600040101010101" pitchFamily="2" charset="-122"/>
              </a:rPr>
              <a:t>]</a:t>
            </a:r>
            <a:endParaRPr lang="en-US" altLang="zh-CN" sz="16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1600" dirty="0" smtClean="0">
                <a:ea typeface="华文楷体" panose="02010600040101010101" pitchFamily="2" charset="-122"/>
              </a:rPr>
              <a:t>1)</a:t>
            </a:r>
            <a:r>
              <a:rPr lang="zh-CN" altLang="en-US" sz="1600" dirty="0" smtClean="0">
                <a:ea typeface="华文楷体" panose="02010600040101010101" pitchFamily="2" charset="-122"/>
              </a:rPr>
              <a:t>初始化</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[2n-1]</a:t>
            </a:r>
            <a:r>
              <a:rPr lang="zh-CN" altLang="en-US" sz="1600" dirty="0" smtClean="0">
                <a:ea typeface="华文楷体" panose="02010600040101010101" pitchFamily="2" charset="-122"/>
              </a:rPr>
              <a:t>：</a:t>
            </a:r>
            <a:endParaRPr lang="zh-CN" altLang="en-US" sz="1600" dirty="0" smtClean="0">
              <a:ea typeface="华文楷体" panose="02010600040101010101" pitchFamily="2" charset="-122"/>
            </a:endParaRPr>
          </a:p>
          <a:p>
            <a:pPr eaLnBrk="1" hangingPunct="1">
              <a:buFont typeface="Wingdings" panose="05000000000000000000" pitchFamily="2" charset="2"/>
              <a:buNone/>
            </a:pP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weight=0,  </a:t>
            </a:r>
            <a:r>
              <a:rPr lang="en-US" altLang="zh-CN" sz="1600" dirty="0" err="1" smtClean="0">
                <a:ea typeface="华文楷体" panose="02010600040101010101" pitchFamily="2" charset="-122"/>
              </a:rPr>
              <a:t>lc</a:t>
            </a:r>
            <a:r>
              <a:rPr lang="en-US" altLang="zh-CN" sz="1600" dirty="0" smtClean="0">
                <a:ea typeface="华文楷体" panose="02010600040101010101" pitchFamily="2" charset="-122"/>
              </a:rPr>
              <a:t>=</a:t>
            </a:r>
            <a:r>
              <a:rPr lang="en-US" altLang="zh-CN" sz="1600" dirty="0" err="1" smtClean="0">
                <a:ea typeface="华文楷体" panose="02010600040101010101" pitchFamily="2" charset="-122"/>
              </a:rPr>
              <a:t>rc</a:t>
            </a:r>
            <a:r>
              <a:rPr lang="en-US" altLang="zh-CN" sz="1600" dirty="0" smtClean="0">
                <a:ea typeface="华文楷体" panose="02010600040101010101" pitchFamily="2" charset="-122"/>
              </a:rPr>
              <a:t>=parent=-1</a:t>
            </a:r>
            <a:r>
              <a:rPr lang="zh-CN" altLang="en-US" sz="1600" dirty="0" smtClean="0">
                <a:ea typeface="华文楷体" panose="02010600040101010101" pitchFamily="2" charset="-122"/>
              </a:rPr>
              <a:t>；</a:t>
            </a:r>
            <a:endParaRPr lang="en-US" altLang="zh-CN" sz="1600" dirty="0" smtClean="0">
              <a:ea typeface="华文楷体" panose="02010600040101010101" pitchFamily="2" charset="-122"/>
            </a:endParaRPr>
          </a:p>
          <a:p>
            <a:pPr eaLnBrk="1" hangingPunct="1">
              <a:buFont typeface="Wingdings" panose="05000000000000000000" pitchFamily="2" charset="2"/>
              <a:buNone/>
            </a:pPr>
            <a:r>
              <a:rPr lang="en-US" altLang="zh-CN" sz="1600" dirty="0" smtClean="0">
                <a:ea typeface="华文楷体" panose="02010600040101010101" pitchFamily="2" charset="-122"/>
              </a:rPr>
              <a:t>2)</a:t>
            </a:r>
            <a:r>
              <a:rPr lang="zh-CN" altLang="en-US" sz="1600" dirty="0" smtClean="0">
                <a:ea typeface="华文楷体" panose="02010600040101010101" pitchFamily="2" charset="-122"/>
              </a:rPr>
              <a:t>输入初始</a:t>
            </a:r>
            <a:r>
              <a:rPr lang="en-US" altLang="zh-CN" sz="1600" dirty="0" smtClean="0">
                <a:ea typeface="华文楷体" panose="02010600040101010101" pitchFamily="2" charset="-122"/>
              </a:rPr>
              <a:t>n</a:t>
            </a:r>
            <a:r>
              <a:rPr lang="zh-CN" altLang="en-US" sz="1600" dirty="0" smtClean="0">
                <a:ea typeface="华文楷体" panose="02010600040101010101" pitchFamily="2" charset="-122"/>
              </a:rPr>
              <a:t>个叶子结点：置</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[0..n-1]</a:t>
            </a:r>
            <a:r>
              <a:rPr lang="zh-CN" altLang="en-US" sz="1600" dirty="0" smtClean="0">
                <a:ea typeface="华文楷体" panose="02010600040101010101" pitchFamily="2" charset="-122"/>
              </a:rPr>
              <a:t>的</a:t>
            </a:r>
            <a:r>
              <a:rPr lang="en-US" altLang="zh-CN" sz="1600" dirty="0" smtClean="0">
                <a:ea typeface="华文楷体" panose="02010600040101010101" pitchFamily="2" charset="-122"/>
              </a:rPr>
              <a:t>weight</a:t>
            </a:r>
            <a:r>
              <a:rPr lang="zh-CN" altLang="en-US" sz="1600" dirty="0" smtClean="0">
                <a:ea typeface="华文楷体" panose="02010600040101010101" pitchFamily="2" charset="-122"/>
              </a:rPr>
              <a:t>； </a:t>
            </a:r>
            <a:endParaRPr lang="zh-CN" altLang="en-US" sz="1600" dirty="0" smtClean="0">
              <a:ea typeface="华文楷体" panose="02010600040101010101" pitchFamily="2" charset="-122"/>
            </a:endParaRPr>
          </a:p>
          <a:p>
            <a:pPr eaLnBrk="1" hangingPunct="1">
              <a:buFont typeface="Wingdings" panose="05000000000000000000" pitchFamily="2" charset="2"/>
              <a:buNone/>
            </a:pPr>
            <a:r>
              <a:rPr lang="en-US" altLang="zh-CN" sz="1600" dirty="0" smtClean="0">
                <a:ea typeface="华文楷体" panose="02010600040101010101" pitchFamily="2" charset="-122"/>
              </a:rPr>
              <a:t>3)</a:t>
            </a:r>
            <a:r>
              <a:rPr lang="zh-CN" altLang="en-US" sz="1600" dirty="0" smtClean="0">
                <a:ea typeface="华文楷体" panose="02010600040101010101" pitchFamily="2" charset="-122"/>
              </a:rPr>
              <a:t>进行以下</a:t>
            </a:r>
            <a:r>
              <a:rPr lang="en-US" altLang="zh-CN" sz="1600" dirty="0" smtClean="0">
                <a:ea typeface="华文楷体" panose="02010600040101010101" pitchFamily="2" charset="-122"/>
              </a:rPr>
              <a:t>n-1</a:t>
            </a:r>
            <a:r>
              <a:rPr lang="zh-CN" altLang="en-US" sz="1600" dirty="0" smtClean="0">
                <a:ea typeface="华文楷体" panose="02010600040101010101" pitchFamily="2" charset="-122"/>
              </a:rPr>
              <a:t>次合并，依次产生</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a:t>
            </a:r>
            <a:r>
              <a:rPr lang="en-US" altLang="zh-CN" sz="1600" dirty="0" err="1" smtClean="0">
                <a:ea typeface="华文楷体" panose="02010600040101010101" pitchFamily="2" charset="-122"/>
              </a:rPr>
              <a:t>i</a:t>
            </a:r>
            <a:r>
              <a:rPr lang="en-US" altLang="zh-CN" sz="1600" dirty="0" smtClean="0">
                <a:ea typeface="华文楷体" panose="02010600040101010101" pitchFamily="2" charset="-122"/>
              </a:rPr>
              <a:t>=n..2n-2</a:t>
            </a:r>
            <a:r>
              <a:rPr lang="zh-CN" altLang="en-US" sz="1600" dirty="0" smtClean="0">
                <a:ea typeface="华文楷体" panose="02010600040101010101" pitchFamily="2" charset="-122"/>
              </a:rPr>
              <a:t>：</a:t>
            </a:r>
            <a:endParaRPr lang="zh-CN" altLang="en-US" sz="1600" dirty="0" smtClean="0">
              <a:ea typeface="华文楷体" panose="02010600040101010101" pitchFamily="2" charset="-122"/>
            </a:endParaRPr>
          </a:p>
          <a:p>
            <a:pPr eaLnBrk="1" hangingPunct="1">
              <a:buFont typeface="Wingdings" panose="05000000000000000000" pitchFamily="2" charset="2"/>
              <a:buNone/>
            </a:pPr>
            <a:r>
              <a:rPr lang="zh-CN" altLang="en-US" sz="1600" dirty="0" smtClean="0">
                <a:ea typeface="华文楷体" panose="02010600040101010101" pitchFamily="2" charset="-122"/>
              </a:rPr>
              <a:t>   </a:t>
            </a:r>
            <a:r>
              <a:rPr lang="en-US" altLang="zh-CN" sz="1600" dirty="0" smtClean="0">
                <a:ea typeface="华文楷体" panose="02010600040101010101" pitchFamily="2" charset="-122"/>
              </a:rPr>
              <a:t>3.1)</a:t>
            </a:r>
            <a:r>
              <a:rPr lang="zh-CN" altLang="en-US" sz="1600" dirty="0" smtClean="0">
                <a:ea typeface="华文楷体" panose="02010600040101010101" pitchFamily="2" charset="-122"/>
              </a:rPr>
              <a:t>在</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[0..i-1]</a:t>
            </a:r>
            <a:r>
              <a:rPr lang="zh-CN" altLang="en-US" sz="1600" dirty="0" smtClean="0">
                <a:ea typeface="华文楷体" panose="02010600040101010101" pitchFamily="2" charset="-122"/>
              </a:rPr>
              <a:t>中选两个未被选过的</a:t>
            </a:r>
            <a:r>
              <a:rPr lang="en-US" altLang="zh-CN" sz="1600" dirty="0" smtClean="0">
                <a:ea typeface="华文楷体" panose="02010600040101010101" pitchFamily="2" charset="-122"/>
              </a:rPr>
              <a:t>weight</a:t>
            </a:r>
            <a:r>
              <a:rPr lang="zh-CN" altLang="en-US" sz="1600" dirty="0" smtClean="0">
                <a:ea typeface="华文楷体" panose="02010600040101010101" pitchFamily="2" charset="-122"/>
              </a:rPr>
              <a:t>最小的两个结点</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[s1]</a:t>
            </a:r>
            <a:r>
              <a:rPr lang="zh-CN" altLang="en-US" sz="1600" dirty="0" smtClean="0">
                <a:ea typeface="华文楷体" panose="02010600040101010101" pitchFamily="2" charset="-122"/>
              </a:rPr>
              <a:t>和</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[s2] (</a:t>
            </a:r>
            <a:r>
              <a:rPr lang="zh-CN" altLang="en-US" sz="1600" dirty="0" smtClean="0">
                <a:ea typeface="华文楷体" panose="02010600040101010101" pitchFamily="2" charset="-122"/>
              </a:rPr>
              <a:t>从</a:t>
            </a:r>
            <a:r>
              <a:rPr lang="en-US" altLang="zh-CN" sz="1600" dirty="0" smtClean="0">
                <a:ea typeface="华文楷体" panose="02010600040101010101" pitchFamily="2" charset="-122"/>
              </a:rPr>
              <a:t>parent = -1 </a:t>
            </a:r>
            <a:r>
              <a:rPr lang="zh-CN" altLang="en-US" sz="1600" dirty="0" smtClean="0">
                <a:ea typeface="华文楷体" panose="02010600040101010101" pitchFamily="2" charset="-122"/>
              </a:rPr>
              <a:t>的结点中选</a:t>
            </a:r>
            <a:r>
              <a:rPr lang="en-US" altLang="en-US" sz="1600" dirty="0" smtClean="0"/>
              <a:t>)</a:t>
            </a:r>
            <a:endParaRPr lang="en-US" altLang="zh-CN" sz="1600" dirty="0" smtClean="0">
              <a:ea typeface="华文楷体" panose="02010600040101010101" pitchFamily="2" charset="-122"/>
            </a:endParaRPr>
          </a:p>
          <a:p>
            <a:pPr eaLnBrk="1" hangingPunct="1">
              <a:buFont typeface="Wingdings" panose="05000000000000000000" pitchFamily="2" charset="2"/>
              <a:buNone/>
            </a:pPr>
            <a:r>
              <a:rPr lang="en-US" altLang="zh-CN" sz="1600" dirty="0" smtClean="0">
                <a:ea typeface="华文楷体" panose="02010600040101010101" pitchFamily="2" charset="-122"/>
              </a:rPr>
              <a:t>3.3)</a:t>
            </a:r>
            <a:r>
              <a:rPr lang="zh-CN" altLang="en-US" sz="1600" dirty="0" smtClean="0">
                <a:ea typeface="华文楷体" panose="02010600040101010101" pitchFamily="2" charset="-122"/>
              </a:rPr>
              <a:t>置</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a:t>
            </a:r>
            <a:r>
              <a:rPr lang="en-US" altLang="zh-CN" sz="1600" dirty="0" err="1" smtClean="0">
                <a:ea typeface="华文楷体" panose="02010600040101010101" pitchFamily="2" charset="-122"/>
              </a:rPr>
              <a:t>i</a:t>
            </a:r>
            <a:r>
              <a:rPr lang="en-US" altLang="zh-CN" sz="1600" dirty="0">
                <a:ea typeface="华文楷体" panose="02010600040101010101" pitchFamily="2" charset="-122"/>
              </a:rPr>
              <a:t> 3.2)</a:t>
            </a:r>
            <a:r>
              <a:rPr lang="zh-CN" altLang="en-US" sz="1600" dirty="0">
                <a:ea typeface="华文楷体" panose="02010600040101010101" pitchFamily="2" charset="-122"/>
              </a:rPr>
              <a:t>修改</a:t>
            </a:r>
            <a:r>
              <a:rPr lang="en-US" altLang="zh-CN" sz="1600" dirty="0" err="1">
                <a:ea typeface="华文楷体" panose="02010600040101010101" pitchFamily="2" charset="-122"/>
              </a:rPr>
              <a:t>ht</a:t>
            </a:r>
            <a:r>
              <a:rPr lang="en-US" altLang="zh-CN" sz="1600" dirty="0">
                <a:ea typeface="华文楷体" panose="02010600040101010101" pitchFamily="2" charset="-122"/>
              </a:rPr>
              <a:t>[s1]</a:t>
            </a:r>
            <a:r>
              <a:rPr lang="zh-CN" altLang="en-US" sz="1600" dirty="0">
                <a:ea typeface="华文楷体" panose="02010600040101010101" pitchFamily="2" charset="-122"/>
              </a:rPr>
              <a:t>和</a:t>
            </a:r>
            <a:r>
              <a:rPr lang="en-US" altLang="zh-CN" sz="1600" dirty="0" err="1">
                <a:ea typeface="华文楷体" panose="02010600040101010101" pitchFamily="2" charset="-122"/>
              </a:rPr>
              <a:t>ht</a:t>
            </a:r>
            <a:r>
              <a:rPr lang="en-US" altLang="zh-CN" sz="1600" dirty="0">
                <a:ea typeface="华文楷体" panose="02010600040101010101" pitchFamily="2" charset="-122"/>
              </a:rPr>
              <a:t>[s2]</a:t>
            </a:r>
            <a:r>
              <a:rPr lang="zh-CN" altLang="en-US" sz="1600" dirty="0">
                <a:ea typeface="华文楷体" panose="02010600040101010101" pitchFamily="2" charset="-122"/>
              </a:rPr>
              <a:t>的</a:t>
            </a:r>
            <a:r>
              <a:rPr lang="en-US" altLang="zh-CN" sz="1600" dirty="0">
                <a:ea typeface="华文楷体" panose="02010600040101010101" pitchFamily="2" charset="-122"/>
              </a:rPr>
              <a:t>parent</a:t>
            </a:r>
            <a:r>
              <a:rPr lang="zh-CN" altLang="en-US" sz="1600" dirty="0">
                <a:ea typeface="华文楷体" panose="02010600040101010101" pitchFamily="2" charset="-122"/>
              </a:rPr>
              <a:t>值： </a:t>
            </a:r>
            <a:r>
              <a:rPr lang="en-US" altLang="zh-CN" sz="1600" dirty="0">
                <a:ea typeface="华文楷体" panose="02010600040101010101" pitchFamily="2" charset="-122"/>
              </a:rPr>
              <a:t>parent=</a:t>
            </a:r>
            <a:r>
              <a:rPr lang="en-US" altLang="zh-CN" sz="1600" dirty="0" err="1">
                <a:ea typeface="华文楷体" panose="02010600040101010101" pitchFamily="2" charset="-122"/>
              </a:rPr>
              <a:t>i</a:t>
            </a:r>
            <a:r>
              <a:rPr lang="en-US" altLang="zh-CN" sz="1600" dirty="0" smtClean="0">
                <a:ea typeface="华文楷体" panose="02010600040101010101" pitchFamily="2" charset="-122"/>
              </a:rPr>
              <a:t>]</a:t>
            </a:r>
            <a:r>
              <a:rPr lang="zh-CN" altLang="en-US" sz="1600" dirty="0" smtClean="0">
                <a:ea typeface="华文楷体" panose="02010600040101010101" pitchFamily="2" charset="-122"/>
              </a:rPr>
              <a:t>：</a:t>
            </a:r>
            <a:r>
              <a:rPr lang="en-US" altLang="zh-CN" sz="1600" dirty="0" smtClean="0">
                <a:ea typeface="华文楷体" panose="02010600040101010101" pitchFamily="2" charset="-122"/>
              </a:rPr>
              <a:t>weight=</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[s1].weight + </a:t>
            </a:r>
            <a:r>
              <a:rPr lang="en-US" altLang="zh-CN" sz="1600" dirty="0" err="1" smtClean="0">
                <a:ea typeface="华文楷体" panose="02010600040101010101" pitchFamily="2" charset="-122"/>
              </a:rPr>
              <a:t>ht</a:t>
            </a:r>
            <a:r>
              <a:rPr lang="en-US" altLang="zh-CN" sz="1600" dirty="0" smtClean="0">
                <a:ea typeface="华文楷体" panose="02010600040101010101" pitchFamily="2" charset="-122"/>
              </a:rPr>
              <a:t>[s2].weight ,</a:t>
            </a:r>
            <a:endParaRPr lang="en-US" altLang="zh-CN" sz="1600" dirty="0" smtClean="0">
              <a:ea typeface="华文楷体" panose="02010600040101010101" pitchFamily="2" charset="-122"/>
            </a:endParaRPr>
          </a:p>
          <a:p>
            <a:pPr eaLnBrk="1" hangingPunct="1">
              <a:buFont typeface="Wingdings" panose="05000000000000000000" pitchFamily="2" charset="2"/>
              <a:buNone/>
            </a:pPr>
            <a:r>
              <a:rPr lang="en-US" altLang="zh-CN" sz="1600" dirty="0" smtClean="0">
                <a:ea typeface="华文楷体" panose="02010600040101010101" pitchFamily="2" charset="-122"/>
              </a:rPr>
              <a:t>                       </a:t>
            </a:r>
            <a:r>
              <a:rPr lang="en-US" altLang="zh-CN" sz="1600" dirty="0" err="1" smtClean="0">
                <a:ea typeface="华文楷体" panose="02010600040101010101" pitchFamily="2" charset="-122"/>
              </a:rPr>
              <a:t>lc</a:t>
            </a:r>
            <a:r>
              <a:rPr lang="en-US" altLang="zh-CN" sz="1600" dirty="0" smtClean="0">
                <a:ea typeface="华文楷体" panose="02010600040101010101" pitchFamily="2" charset="-122"/>
              </a:rPr>
              <a:t>=s1,  </a:t>
            </a:r>
            <a:r>
              <a:rPr lang="en-US" altLang="zh-CN" sz="1600" dirty="0" err="1" smtClean="0">
                <a:ea typeface="华文楷体" panose="02010600040101010101" pitchFamily="2" charset="-122"/>
              </a:rPr>
              <a:t>rc</a:t>
            </a:r>
            <a:r>
              <a:rPr lang="en-US" altLang="zh-CN" sz="1600" dirty="0" smtClean="0">
                <a:ea typeface="华文楷体" panose="02010600040101010101" pitchFamily="2" charset="-122"/>
              </a:rPr>
              <a:t>=s2</a:t>
            </a:r>
            <a:endParaRPr lang="en-US" altLang="zh-CN" sz="16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5" name="内容占位符 4"/>
          <p:cNvGraphicFramePr>
            <a:graphicFrameLocks noGrp="1"/>
          </p:cNvGraphicFramePr>
          <p:nvPr>
            <p:ph idx="1"/>
          </p:nvPr>
        </p:nvGraphicFramePr>
        <p:xfrm>
          <a:off x="152516" y="1447852"/>
          <a:ext cx="8477456" cy="1854200"/>
        </p:xfrm>
        <a:graphic>
          <a:graphicData uri="http://schemas.openxmlformats.org/drawingml/2006/table">
            <a:tbl>
              <a:tblPr firstRow="1" bandRow="1">
                <a:tableStyleId>{5C22544A-7EE6-4342-B048-85BDC9FD1C3A}</a:tableStyleId>
              </a:tblPr>
              <a:tblGrid>
                <a:gridCol w="824013"/>
                <a:gridCol w="623765"/>
                <a:gridCol w="609584"/>
                <a:gridCol w="551086"/>
                <a:gridCol w="652112"/>
                <a:gridCol w="652112"/>
                <a:gridCol w="652112"/>
                <a:gridCol w="652112"/>
                <a:gridCol w="652112"/>
                <a:gridCol w="652112"/>
                <a:gridCol w="652112"/>
                <a:gridCol w="652112"/>
                <a:gridCol w="652112"/>
              </a:tblGrid>
              <a:tr h="370840">
                <a:tc>
                  <a:txBody>
                    <a:bodyPr/>
                    <a:lstStyle/>
                    <a:p>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0</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2</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solidFill>
                            <a:srgbClr val="C00000"/>
                          </a:solidFill>
                          <a:latin typeface="Times New Roman" panose="02020603050405020304" pitchFamily="18" charset="0"/>
                          <a:ea typeface="华文楷体" panose="02010600040101010101" pitchFamily="2" charset="-122"/>
                        </a:rPr>
                        <a:t>s1</a:t>
                      </a:r>
                      <a:endParaRPr lang="zh-CN" altLang="en-US"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1" baseline="0" dirty="0" smtClean="0">
                          <a:solidFill>
                            <a:srgbClr val="C00000"/>
                          </a:solidFill>
                          <a:latin typeface="Times New Roman" panose="02020603050405020304" pitchFamily="18" charset="0"/>
                          <a:ea typeface="华文楷体" panose="02010600040101010101" pitchFamily="2" charset="-122"/>
                        </a:rPr>
                        <a:t>s2</a:t>
                      </a:r>
                      <a:endParaRPr lang="zh-CN" altLang="en-US" b="1"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n-1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n</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2n-2</a:t>
                      </a:r>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smtClean="0">
                          <a:latin typeface="Times New Roman" panose="02020603050405020304" pitchFamily="18" charset="0"/>
                          <a:ea typeface="华文楷体" panose="02010600040101010101" pitchFamily="2" charset="-122"/>
                        </a:rPr>
                        <a:t>weight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w</a:t>
                      </a:r>
                      <a:r>
                        <a:rPr lang="en-US" altLang="zh-CN" baseline="-25000" dirty="0" smtClean="0">
                          <a:latin typeface="Times New Roman" panose="02020603050405020304" pitchFamily="18" charset="0"/>
                          <a:ea typeface="华文楷体" panose="02010600040101010101" pitchFamily="2" charset="-122"/>
                        </a:rPr>
                        <a:t>0</a:t>
                      </a:r>
                      <a:endParaRPr lang="zh-CN" altLang="en-US" baseline="-2500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w</a:t>
                      </a:r>
                      <a:r>
                        <a:rPr lang="en-US" altLang="zh-CN" baseline="-25000" dirty="0" smtClean="0">
                          <a:latin typeface="Times New Roman" panose="02020603050405020304" pitchFamily="18" charset="0"/>
                          <a:ea typeface="华文楷体" panose="02010600040101010101" pitchFamily="2" charset="-122"/>
                        </a:rPr>
                        <a:t>1</a:t>
                      </a:r>
                      <a:endParaRPr lang="zh-CN" altLang="en-US" baseline="-25000" dirty="0" smtClean="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w</a:t>
                      </a:r>
                      <a:r>
                        <a:rPr lang="en-US" altLang="zh-CN" baseline="-25000" dirty="0" smtClean="0">
                          <a:latin typeface="Times New Roman" panose="02020603050405020304" pitchFamily="18" charset="0"/>
                          <a:ea typeface="华文楷体" panose="02010600040101010101" pitchFamily="2" charset="-122"/>
                        </a:rPr>
                        <a:t>2</a:t>
                      </a:r>
                      <a:endParaRPr lang="zh-CN" altLang="en-US" baseline="-25000" dirty="0" smtClean="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baseline="0" dirty="0" smtClean="0">
                          <a:solidFill>
                            <a:srgbClr val="C00000"/>
                          </a:solidFill>
                          <a:latin typeface="Times New Roman" panose="02020603050405020304" pitchFamily="18" charset="0"/>
                          <a:ea typeface="华文楷体" panose="02010600040101010101" pitchFamily="2" charset="-122"/>
                        </a:rPr>
                        <a:t>w</a:t>
                      </a:r>
                      <a:r>
                        <a:rPr lang="en-US" altLang="zh-CN" b="1" baseline="-25000" dirty="0" smtClean="0">
                          <a:solidFill>
                            <a:srgbClr val="C00000"/>
                          </a:solidFill>
                          <a:latin typeface="Times New Roman" panose="02020603050405020304" pitchFamily="18" charset="0"/>
                          <a:ea typeface="华文楷体" panose="02010600040101010101" pitchFamily="2" charset="-122"/>
                        </a:rPr>
                        <a:t>s1</a:t>
                      </a:r>
                      <a:endParaRPr lang="zh-CN" altLang="en-US" b="1" baseline="-25000" dirty="0" smtClean="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baseline="0" dirty="0" smtClean="0">
                          <a:solidFill>
                            <a:srgbClr val="C00000"/>
                          </a:solidFill>
                          <a:latin typeface="Times New Roman" panose="02020603050405020304" pitchFamily="18" charset="0"/>
                          <a:ea typeface="华文楷体" panose="02010600040101010101" pitchFamily="2" charset="-122"/>
                        </a:rPr>
                        <a:t>w</a:t>
                      </a:r>
                      <a:r>
                        <a:rPr lang="en-US" altLang="zh-CN" b="1" baseline="-25000" dirty="0" smtClean="0">
                          <a:solidFill>
                            <a:srgbClr val="C00000"/>
                          </a:solidFill>
                          <a:latin typeface="Times New Roman" panose="02020603050405020304" pitchFamily="18" charset="0"/>
                          <a:ea typeface="华文楷体" panose="02010600040101010101" pitchFamily="2" charset="-122"/>
                        </a:rPr>
                        <a:t>s2</a:t>
                      </a:r>
                      <a:endParaRPr lang="zh-CN" altLang="en-US" b="1" baseline="-25000" dirty="0" smtClean="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err="1" smtClean="0">
                          <a:latin typeface="Times New Roman" panose="02020603050405020304" pitchFamily="18" charset="0"/>
                          <a:ea typeface="华文楷体" panose="02010600040101010101" pitchFamily="2" charset="-122"/>
                        </a:rPr>
                        <a:t>w</a:t>
                      </a:r>
                      <a:r>
                        <a:rPr lang="en-US" altLang="zh-CN" baseline="-25000" dirty="0" err="1" smtClean="0">
                          <a:latin typeface="Times New Roman" panose="02020603050405020304" pitchFamily="18" charset="0"/>
                          <a:ea typeface="华文楷体" panose="02010600040101010101" pitchFamily="2" charset="-122"/>
                        </a:rPr>
                        <a:t>j</a:t>
                      </a:r>
                      <a:endParaRPr lang="zh-CN" altLang="en-US" baseline="-25000" dirty="0" smtClean="0">
                        <a:latin typeface="Times New Roman" panose="02020603050405020304" pitchFamily="18" charset="0"/>
                        <a:ea typeface="华文楷体" panose="02010600040101010101" pitchFamily="2" charset="-122"/>
                      </a:endParaRPr>
                    </a:p>
                  </a:txBody>
                  <a:tcPr/>
                </a:tc>
                <a:tc>
                  <a:txBody>
                    <a:bodyPr/>
                    <a:lstStyle/>
                    <a:p>
                      <a:endParaRPr lang="zh-CN" altLang="en-US" baseline="0" dirty="0">
                        <a:latin typeface="Times New Roman" panose="02020603050405020304" pitchFamily="18" charset="0"/>
                        <a:ea typeface="华文楷体" panose="02010600040101010101" pitchFamily="2" charset="-122"/>
                      </a:endParaRPr>
                    </a:p>
                  </a:txBody>
                  <a:tcPr/>
                </a:tc>
                <a:tc>
                  <a:txBody>
                    <a:bodyPr/>
                    <a:lstStyle/>
                    <a:p>
                      <a:endParaRPr lang="zh-CN" altLang="en-US" baseline="0" dirty="0">
                        <a:latin typeface="Times New Roman" panose="02020603050405020304" pitchFamily="18" charset="0"/>
                        <a:ea typeface="华文楷体" panose="02010600040101010101" pitchFamily="2" charset="-122"/>
                      </a:endParaRPr>
                    </a:p>
                  </a:txBody>
                  <a:tcPr/>
                </a:tc>
                <a:tc>
                  <a:txBody>
                    <a:bodyPr/>
                    <a:lstStyle/>
                    <a:p>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err="1" smtClean="0">
                          <a:latin typeface="Times New Roman" panose="02020603050405020304" pitchFamily="18" charset="0"/>
                          <a:ea typeface="华文楷体" panose="02010600040101010101" pitchFamily="2" charset="-122"/>
                        </a:rPr>
                        <a:t>lc</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err="1" smtClean="0">
                          <a:latin typeface="Times New Roman" panose="02020603050405020304" pitchFamily="18" charset="0"/>
                          <a:ea typeface="华文楷体" panose="02010600040101010101" pitchFamily="2" charset="-122"/>
                        </a:rPr>
                        <a:t>rc</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-1</a:t>
                      </a:r>
                      <a:endParaRPr lang="zh-CN" altLang="en-US" baseline="0" dirty="0" smtClean="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smtClean="0">
                          <a:latin typeface="Times New Roman" panose="02020603050405020304" pitchFamily="18" charset="0"/>
                          <a:ea typeface="华文楷体" panose="02010600040101010101" pitchFamily="2" charset="-122"/>
                        </a:rPr>
                        <a:t>parent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-1</a:t>
                      </a:r>
                      <a:endParaRPr lang="zh-CN" altLang="en-US" baseline="0" dirty="0" smtClean="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r>
            </a:tbl>
          </a:graphicData>
        </a:graphic>
      </p:graphicFrame>
      <p:sp>
        <p:nvSpPr>
          <p:cNvPr id="4" name="日期占位符 3"/>
          <p:cNvSpPr>
            <a:spLocks noGrp="1"/>
          </p:cNvSpPr>
          <p:nvPr>
            <p:ph type="dt" sz="half" idx="12"/>
          </p:nvPr>
        </p:nvSpPr>
        <p:spPr/>
        <p:txBody>
          <a:bodyPr/>
          <a:lstStyle/>
          <a:p>
            <a:pPr>
              <a:defRPr/>
            </a:pPr>
            <a:r>
              <a:rPr lang="en-US" altLang="zh-CN" smtClean="0"/>
              <a:t>BUPT</a:t>
            </a:r>
            <a:endParaRPr lang="en-US" altLang="zh-CN"/>
          </a:p>
        </p:txBody>
      </p:sp>
      <p:graphicFrame>
        <p:nvGraphicFramePr>
          <p:cNvPr id="6" name="内容占位符 4"/>
          <p:cNvGraphicFramePr/>
          <p:nvPr/>
        </p:nvGraphicFramePr>
        <p:xfrm>
          <a:off x="152516" y="3886188"/>
          <a:ext cx="8477456" cy="1854200"/>
        </p:xfrm>
        <a:graphic>
          <a:graphicData uri="http://schemas.openxmlformats.org/drawingml/2006/table">
            <a:tbl>
              <a:tblPr firstRow="1" bandRow="1">
                <a:tableStyleId>{5C22544A-7EE6-4342-B048-85BDC9FD1C3A}</a:tableStyleId>
              </a:tblPr>
              <a:tblGrid>
                <a:gridCol w="824013"/>
                <a:gridCol w="623765"/>
                <a:gridCol w="609584"/>
                <a:gridCol w="551086"/>
                <a:gridCol w="652112"/>
                <a:gridCol w="652112"/>
                <a:gridCol w="652112"/>
                <a:gridCol w="652112"/>
                <a:gridCol w="652112"/>
                <a:gridCol w="607822"/>
                <a:gridCol w="914376"/>
                <a:gridCol w="434138"/>
                <a:gridCol w="652112"/>
              </a:tblGrid>
              <a:tr h="370840">
                <a:tc>
                  <a:txBody>
                    <a:bodyPr/>
                    <a:lstStyle/>
                    <a:p>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0</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2</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solidFill>
                            <a:srgbClr val="C00000"/>
                          </a:solidFill>
                          <a:latin typeface="Times New Roman" panose="02020603050405020304" pitchFamily="18" charset="0"/>
                          <a:ea typeface="华文楷体" panose="02010600040101010101" pitchFamily="2" charset="-122"/>
                        </a:rPr>
                        <a:t>s1</a:t>
                      </a:r>
                      <a:endParaRPr lang="zh-CN" altLang="en-US"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solidFill>
                            <a:srgbClr val="C00000"/>
                          </a:solidFill>
                          <a:latin typeface="Times New Roman" panose="02020603050405020304" pitchFamily="18" charset="0"/>
                          <a:ea typeface="华文楷体" panose="02010600040101010101" pitchFamily="2" charset="-122"/>
                        </a:rPr>
                        <a:t>s2</a:t>
                      </a:r>
                      <a:endParaRPr lang="zh-CN" altLang="en-US"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n-1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n</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2n-2</a:t>
                      </a:r>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smtClean="0">
                          <a:latin typeface="Times New Roman" panose="02020603050405020304" pitchFamily="18" charset="0"/>
                          <a:ea typeface="华文楷体" panose="02010600040101010101" pitchFamily="2" charset="-122"/>
                        </a:rPr>
                        <a:t>weight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w</a:t>
                      </a:r>
                      <a:r>
                        <a:rPr lang="en-US" altLang="zh-CN" baseline="-25000" dirty="0" smtClean="0">
                          <a:latin typeface="Times New Roman" panose="02020603050405020304" pitchFamily="18" charset="0"/>
                          <a:ea typeface="华文楷体" panose="02010600040101010101" pitchFamily="2" charset="-122"/>
                        </a:rPr>
                        <a:t>0</a:t>
                      </a:r>
                      <a:endParaRPr lang="zh-CN" altLang="en-US" baseline="-2500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w</a:t>
                      </a:r>
                      <a:r>
                        <a:rPr lang="en-US" altLang="zh-CN" baseline="-25000" dirty="0" smtClean="0">
                          <a:latin typeface="Times New Roman" panose="02020603050405020304" pitchFamily="18" charset="0"/>
                          <a:ea typeface="华文楷体" panose="02010600040101010101" pitchFamily="2" charset="-122"/>
                        </a:rPr>
                        <a:t>1</a:t>
                      </a:r>
                      <a:endParaRPr lang="zh-CN" altLang="en-US" baseline="-25000" dirty="0" smtClean="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w</a:t>
                      </a:r>
                      <a:r>
                        <a:rPr lang="en-US" altLang="zh-CN" baseline="-25000" dirty="0" smtClean="0">
                          <a:latin typeface="Times New Roman" panose="02020603050405020304" pitchFamily="18" charset="0"/>
                          <a:ea typeface="华文楷体" panose="02010600040101010101" pitchFamily="2" charset="-122"/>
                        </a:rPr>
                        <a:t>2</a:t>
                      </a:r>
                      <a:endParaRPr lang="zh-CN" altLang="en-US" baseline="-25000" dirty="0" smtClean="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baseline="0" dirty="0" smtClean="0">
                          <a:solidFill>
                            <a:srgbClr val="C00000"/>
                          </a:solidFill>
                          <a:latin typeface="Times New Roman" panose="02020603050405020304" pitchFamily="18" charset="0"/>
                          <a:ea typeface="华文楷体" panose="02010600040101010101" pitchFamily="2" charset="-122"/>
                        </a:rPr>
                        <a:t>w</a:t>
                      </a:r>
                      <a:r>
                        <a:rPr lang="en-US" altLang="zh-CN" b="1" baseline="-25000" dirty="0" smtClean="0">
                          <a:solidFill>
                            <a:srgbClr val="C00000"/>
                          </a:solidFill>
                          <a:latin typeface="Times New Roman" panose="02020603050405020304" pitchFamily="18" charset="0"/>
                          <a:ea typeface="华文楷体" panose="02010600040101010101" pitchFamily="2" charset="-122"/>
                        </a:rPr>
                        <a:t>s1</a:t>
                      </a:r>
                      <a:endParaRPr lang="zh-CN" altLang="en-US" b="1" baseline="-25000" dirty="0" smtClean="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baseline="0" dirty="0" smtClean="0">
                          <a:solidFill>
                            <a:srgbClr val="C00000"/>
                          </a:solidFill>
                          <a:latin typeface="Times New Roman" panose="02020603050405020304" pitchFamily="18" charset="0"/>
                          <a:ea typeface="华文楷体" panose="02010600040101010101" pitchFamily="2" charset="-122"/>
                        </a:rPr>
                        <a:t>w</a:t>
                      </a:r>
                      <a:r>
                        <a:rPr lang="en-US" altLang="zh-CN" b="1" baseline="-25000" dirty="0" smtClean="0">
                          <a:solidFill>
                            <a:srgbClr val="C00000"/>
                          </a:solidFill>
                          <a:latin typeface="Times New Roman" panose="02020603050405020304" pitchFamily="18" charset="0"/>
                          <a:ea typeface="华文楷体" panose="02010600040101010101" pitchFamily="2" charset="-122"/>
                        </a:rPr>
                        <a:t>s2</a:t>
                      </a:r>
                      <a:endParaRPr lang="zh-CN" altLang="en-US" b="1" baseline="-25000" dirty="0" smtClean="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w</a:t>
                      </a:r>
                      <a:r>
                        <a:rPr lang="en-US" altLang="zh-CN" baseline="-25000" dirty="0" smtClean="0">
                          <a:latin typeface="Times New Roman" panose="02020603050405020304" pitchFamily="18" charset="0"/>
                          <a:ea typeface="华文楷体" panose="02010600040101010101" pitchFamily="2" charset="-122"/>
                        </a:rPr>
                        <a:t>n-1</a:t>
                      </a:r>
                      <a:endParaRPr lang="zh-CN" altLang="en-US" baseline="-25000" dirty="0" smtClean="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baseline="0" dirty="0" smtClean="0">
                          <a:solidFill>
                            <a:srgbClr val="C00000"/>
                          </a:solidFill>
                          <a:latin typeface="Times New Roman" panose="02020603050405020304" pitchFamily="18" charset="0"/>
                          <a:ea typeface="华文楷体" panose="02010600040101010101" pitchFamily="2" charset="-122"/>
                        </a:rPr>
                        <a:t>w</a:t>
                      </a:r>
                      <a:r>
                        <a:rPr lang="en-US" altLang="zh-CN" b="1" baseline="-25000" dirty="0" smtClean="0">
                          <a:solidFill>
                            <a:srgbClr val="C00000"/>
                          </a:solidFill>
                          <a:latin typeface="Times New Roman" panose="02020603050405020304" pitchFamily="18" charset="0"/>
                          <a:ea typeface="华文楷体" panose="02010600040101010101" pitchFamily="2" charset="-122"/>
                        </a:rPr>
                        <a:t>s1</a:t>
                      </a:r>
                      <a:r>
                        <a:rPr lang="en-US" altLang="zh-CN" b="1" baseline="0" dirty="0" smtClean="0">
                          <a:solidFill>
                            <a:srgbClr val="C00000"/>
                          </a:solidFill>
                          <a:latin typeface="Times New Roman" panose="02020603050405020304" pitchFamily="18" charset="0"/>
                          <a:ea typeface="华文楷体" panose="02010600040101010101" pitchFamily="2" charset="-122"/>
                        </a:rPr>
                        <a:t>+w</a:t>
                      </a:r>
                      <a:r>
                        <a:rPr lang="en-US" altLang="zh-CN" b="1" baseline="-25000" dirty="0" smtClean="0">
                          <a:solidFill>
                            <a:srgbClr val="C00000"/>
                          </a:solidFill>
                          <a:latin typeface="Times New Roman" panose="02020603050405020304" pitchFamily="18" charset="0"/>
                          <a:ea typeface="华文楷体" panose="02010600040101010101" pitchFamily="2" charset="-122"/>
                        </a:rPr>
                        <a:t>s2</a:t>
                      </a:r>
                      <a:endParaRPr lang="zh-CN" altLang="en-US" b="1" baseline="-25000" dirty="0" smtClean="0">
                        <a:solidFill>
                          <a:srgbClr val="C00000"/>
                        </a:solidFill>
                        <a:latin typeface="Times New Roman" panose="02020603050405020304" pitchFamily="18" charset="0"/>
                        <a:ea typeface="华文楷体" panose="02010600040101010101" pitchFamily="2" charset="-122"/>
                      </a:endParaRPr>
                    </a:p>
                  </a:txBody>
                  <a:tcPr/>
                </a:tc>
                <a:tc>
                  <a:txBody>
                    <a:bodyPr/>
                    <a:lstStyle/>
                    <a:p>
                      <a:endParaRPr lang="zh-CN" altLang="en-US" baseline="0" dirty="0">
                        <a:latin typeface="Times New Roman" panose="02020603050405020304" pitchFamily="18" charset="0"/>
                        <a:ea typeface="华文楷体" panose="02010600040101010101" pitchFamily="2" charset="-122"/>
                      </a:endParaRPr>
                    </a:p>
                  </a:txBody>
                  <a:tcPr/>
                </a:tc>
                <a:tc>
                  <a:txBody>
                    <a:bodyPr/>
                    <a:lstStyle/>
                    <a:p>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err="1" smtClean="0">
                          <a:latin typeface="Times New Roman" panose="02020603050405020304" pitchFamily="18" charset="0"/>
                          <a:ea typeface="华文楷体" panose="02010600040101010101" pitchFamily="2" charset="-122"/>
                        </a:rPr>
                        <a:t>lc</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1" baseline="0" dirty="0" smtClean="0">
                          <a:solidFill>
                            <a:srgbClr val="C00000"/>
                          </a:solidFill>
                          <a:latin typeface="Times New Roman" panose="02020603050405020304" pitchFamily="18" charset="0"/>
                          <a:ea typeface="华文楷体" panose="02010600040101010101" pitchFamily="2" charset="-122"/>
                        </a:rPr>
                        <a:t>s1</a:t>
                      </a:r>
                      <a:endParaRPr lang="zh-CN" altLang="en-US" b="1"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err="1" smtClean="0">
                          <a:latin typeface="Times New Roman" panose="02020603050405020304" pitchFamily="18" charset="0"/>
                          <a:ea typeface="华文楷体" panose="02010600040101010101" pitchFamily="2" charset="-122"/>
                        </a:rPr>
                        <a:t>rc</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-1</a:t>
                      </a:r>
                      <a:endParaRPr lang="zh-CN" altLang="en-US" baseline="0" dirty="0" smtClean="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1" baseline="0" dirty="0" smtClean="0">
                          <a:solidFill>
                            <a:srgbClr val="C00000"/>
                          </a:solidFill>
                          <a:latin typeface="Times New Roman" panose="02020603050405020304" pitchFamily="18" charset="0"/>
                          <a:ea typeface="华文楷体" panose="02010600040101010101" pitchFamily="2" charset="-122"/>
                        </a:rPr>
                        <a:t>s2</a:t>
                      </a:r>
                      <a:endParaRPr lang="zh-CN" altLang="en-US" b="1"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r>
              <a:tr h="370840">
                <a:tc>
                  <a:txBody>
                    <a:bodyPr/>
                    <a:lstStyle/>
                    <a:p>
                      <a:r>
                        <a:rPr lang="en-US" altLang="zh-CN" baseline="0" dirty="0" smtClean="0">
                          <a:latin typeface="Times New Roman" panose="02020603050405020304" pitchFamily="18" charset="0"/>
                          <a:ea typeface="华文楷体" panose="02010600040101010101" pitchFamily="2" charset="-122"/>
                        </a:rPr>
                        <a:t>parent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latin typeface="Times New Roman" panose="02020603050405020304" pitchFamily="18" charset="0"/>
                          <a:ea typeface="华文楷体" panose="02010600040101010101" pitchFamily="2" charset="-122"/>
                        </a:rPr>
                        <a:t>-1</a:t>
                      </a:r>
                      <a:endParaRPr lang="zh-CN" altLang="en-US" baseline="0" dirty="0" smtClean="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1" baseline="0" dirty="0" smtClean="0">
                          <a:solidFill>
                            <a:srgbClr val="C00000"/>
                          </a:solidFill>
                          <a:latin typeface="Times New Roman" panose="02020603050405020304" pitchFamily="18" charset="0"/>
                          <a:ea typeface="华文楷体" panose="02010600040101010101" pitchFamily="2" charset="-122"/>
                        </a:rPr>
                        <a:t>n</a:t>
                      </a:r>
                      <a:endParaRPr lang="zh-CN" altLang="en-US" b="1"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1" baseline="0" dirty="0" smtClean="0">
                          <a:solidFill>
                            <a:srgbClr val="C00000"/>
                          </a:solidFill>
                          <a:latin typeface="Times New Roman" panose="02020603050405020304" pitchFamily="18" charset="0"/>
                          <a:ea typeface="华文楷体" panose="02010600040101010101" pitchFamily="2" charset="-122"/>
                        </a:rPr>
                        <a:t>n</a:t>
                      </a:r>
                      <a:endParaRPr lang="zh-CN" altLang="en-US" b="1" baseline="0" dirty="0">
                        <a:solidFill>
                          <a:srgbClr val="C00000"/>
                        </a:solidFill>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c>
                  <a:txBody>
                    <a:bodyPr/>
                    <a:lstStyle/>
                    <a:p>
                      <a:r>
                        <a:rPr lang="en-US" altLang="zh-CN" baseline="0" dirty="0" smtClean="0">
                          <a:latin typeface="Times New Roman" panose="02020603050405020304" pitchFamily="18" charset="0"/>
                          <a:ea typeface="华文楷体" panose="02010600040101010101" pitchFamily="2" charset="-122"/>
                        </a:rPr>
                        <a:t>-1</a:t>
                      </a:r>
                      <a:endParaRPr lang="zh-CN" altLang="en-US" baseline="0" dirty="0">
                        <a:latin typeface="Times New Roman" panose="02020603050405020304" pitchFamily="18" charset="0"/>
                        <a:ea typeface="华文楷体" panose="02010600040101010101" pitchFamily="2" charset="-122"/>
                      </a:endParaRPr>
                    </a:p>
                  </a:txBody>
                  <a:tcPr/>
                </a:tc>
              </a:tr>
            </a:tbl>
          </a:graphicData>
        </a:graphic>
      </p:graphicFrame>
      <p:sp>
        <p:nvSpPr>
          <p:cNvPr id="7" name="文本框 6"/>
          <p:cNvSpPr txBox="1"/>
          <p:nvPr/>
        </p:nvSpPr>
        <p:spPr>
          <a:xfrm>
            <a:off x="310073" y="3363287"/>
            <a:ext cx="1415772" cy="461665"/>
          </a:xfrm>
          <a:prstGeom prst="rect">
            <a:avLst/>
          </a:prstGeom>
          <a:noFill/>
        </p:spPr>
        <p:txBody>
          <a:bodyPr wrap="none" rtlCol="0">
            <a:spAutoFit/>
          </a:bodyPr>
          <a:lstStyle/>
          <a:p>
            <a:r>
              <a:rPr lang="zh-CN" altLang="en-US" dirty="0" smtClean="0">
                <a:solidFill>
                  <a:srgbClr val="C00000"/>
                </a:solidFill>
                <a:latin typeface="华文楷体" panose="02010600040101010101" pitchFamily="2" charset="-122"/>
                <a:ea typeface="华文楷体" panose="02010600040101010101" pitchFamily="2" charset="-122"/>
              </a:rPr>
              <a:t>初始状态</a:t>
            </a:r>
            <a:endParaRPr lang="zh-CN" altLang="en-US" dirty="0">
              <a:solidFill>
                <a:srgbClr val="C00000"/>
              </a:solidFill>
              <a:latin typeface="华文楷体" panose="02010600040101010101" pitchFamily="2" charset="-122"/>
              <a:ea typeface="华文楷体" panose="02010600040101010101" pitchFamily="2" charset="-122"/>
            </a:endParaRPr>
          </a:p>
        </p:txBody>
      </p:sp>
      <p:sp>
        <p:nvSpPr>
          <p:cNvPr id="8" name="文本框 7"/>
          <p:cNvSpPr txBox="1"/>
          <p:nvPr/>
        </p:nvSpPr>
        <p:spPr>
          <a:xfrm>
            <a:off x="152516" y="5943534"/>
            <a:ext cx="3757760" cy="461665"/>
          </a:xfrm>
          <a:prstGeom prst="rect">
            <a:avLst/>
          </a:prstGeom>
          <a:noFill/>
        </p:spPr>
        <p:txBody>
          <a:bodyPr wrap="none" rtlCol="0">
            <a:spAutoFit/>
          </a:bodyPr>
          <a:lstStyle/>
          <a:p>
            <a:r>
              <a:rPr lang="en-US" altLang="zh-CN" dirty="0" err="1"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en-US" dirty="0" smtClean="0">
                <a:solidFill>
                  <a:srgbClr val="C00000"/>
                </a:solidFill>
                <a:latin typeface="华文楷体" panose="02010600040101010101" pitchFamily="2" charset="-122"/>
                <a:ea typeface="华文楷体" panose="02010600040101010101" pitchFamily="2" charset="-122"/>
              </a:rPr>
              <a:t>为根和</a:t>
            </a:r>
            <a:r>
              <a:rPr lang="en-US" altLang="zh-CN" dirty="0" smtClean="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j</a:t>
            </a:r>
            <a:r>
              <a:rPr lang="zh-CN" altLang="en-US" dirty="0" smtClean="0">
                <a:solidFill>
                  <a:srgbClr val="C00000"/>
                </a:solidFill>
                <a:latin typeface="华文楷体" panose="02010600040101010101" pitchFamily="2" charset="-122"/>
                <a:ea typeface="华文楷体" panose="02010600040101010101" pitchFamily="2" charset="-122"/>
              </a:rPr>
              <a:t>为根的两棵树合并</a:t>
            </a:r>
            <a:endParaRPr lang="zh-CN" altLang="en-US" dirty="0">
              <a:solidFill>
                <a:srgbClr val="C00000"/>
              </a:solidFill>
              <a:latin typeface="华文楷体" panose="02010600040101010101" pitchFamily="2" charset="-122"/>
              <a:ea typeface="华文楷体" panose="02010600040101010101" pitchFamily="2" charset="-122"/>
            </a:endParaRPr>
          </a:p>
        </p:txBody>
      </p:sp>
      <p:sp>
        <p:nvSpPr>
          <p:cNvPr id="9" name="文本框 8"/>
          <p:cNvSpPr txBox="1"/>
          <p:nvPr/>
        </p:nvSpPr>
        <p:spPr>
          <a:xfrm>
            <a:off x="152516" y="1013873"/>
            <a:ext cx="1890261" cy="461665"/>
          </a:xfrm>
          <a:prstGeom prst="rect">
            <a:avLst/>
          </a:prstGeom>
          <a:noFill/>
        </p:spPr>
        <p:txBody>
          <a:bodyPr wrap="none" rtlCol="0">
            <a:spAutoFit/>
          </a:bodyPr>
          <a:lstStyle/>
          <a:p>
            <a:r>
              <a:rPr lang="en-US" altLang="zh-CN" b="1" dirty="0" smtClean="0">
                <a:solidFill>
                  <a:srgbClr val="C00000"/>
                </a:solidFill>
                <a:latin typeface="华文楷体" panose="02010600040101010101" pitchFamily="2" charset="-122"/>
                <a:ea typeface="华文楷体" panose="02010600040101010101" pitchFamily="2" charset="-122"/>
              </a:rPr>
              <a:t>[</a:t>
            </a:r>
            <a:r>
              <a:rPr lang="zh-CN" altLang="en-US" b="1" dirty="0" smtClean="0">
                <a:solidFill>
                  <a:srgbClr val="C00000"/>
                </a:solidFill>
                <a:latin typeface="华文楷体" panose="02010600040101010101" pitchFamily="2" charset="-122"/>
                <a:ea typeface="华文楷体" panose="02010600040101010101" pitchFamily="2" charset="-122"/>
              </a:rPr>
              <a:t>存储示意图</a:t>
            </a:r>
            <a:r>
              <a:rPr lang="en-US" altLang="zh-CN" b="1" dirty="0" smtClean="0">
                <a:solidFill>
                  <a:srgbClr val="C00000"/>
                </a:solidFill>
                <a:latin typeface="华文楷体" panose="02010600040101010101" pitchFamily="2" charset="-122"/>
                <a:ea typeface="华文楷体" panose="02010600040101010101" pitchFamily="2" charset="-122"/>
              </a:rPr>
              <a:t>]</a:t>
            </a:r>
            <a:endParaRPr lang="zh-CN" altLang="en-US" b="1" dirty="0">
              <a:solidFill>
                <a:srgbClr val="C00000"/>
              </a:solidFill>
              <a:latin typeface="华文楷体" panose="02010600040101010101" pitchFamily="2" charset="-122"/>
              <a:ea typeface="华文楷体" panose="02010600040101010101" pitchFamily="2" charset="-122"/>
            </a:endParaRPr>
          </a:p>
        </p:txBody>
      </p:sp>
      <p:sp>
        <p:nvSpPr>
          <p:cNvPr id="10" name="页脚占位符 3"/>
          <p:cNvSpPr>
            <a:spLocks noGrp="1"/>
          </p:cNvSpPr>
          <p:nvPr>
            <p:ph type="ftr" sz="quarter" idx="10"/>
          </p:nvPr>
        </p:nvSpPr>
        <p:spPr>
          <a:xfrm>
            <a:off x="3851275" y="6461125"/>
            <a:ext cx="4911725" cy="320675"/>
          </a:xfrm>
        </p:spPr>
        <p:txBody>
          <a:bodyPr/>
          <a:lstStyle/>
          <a:p>
            <a:pPr>
              <a:defRPr/>
            </a:pPr>
            <a:r>
              <a:rPr lang="en-US" altLang="zh-CN" dirty="0"/>
              <a:t>BUPT SCST</a:t>
            </a:r>
            <a:endParaRPr lang="en-US" altLang="zh-CN"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页脚占位符 3"/>
          <p:cNvSpPr>
            <a:spLocks noGrp="1"/>
          </p:cNvSpPr>
          <p:nvPr>
            <p:ph type="ftr" sz="quarter" idx="10"/>
          </p:nvPr>
        </p:nvSpPr>
        <p:spPr/>
        <p:txBody>
          <a:bodyPr/>
          <a:lstStyle/>
          <a:p>
            <a:pPr>
              <a:defRPr/>
            </a:pPr>
            <a:r>
              <a:rPr lang="en-US" altLang="zh-CN"/>
              <a:t>BUPT SCST</a:t>
            </a:r>
            <a:endParaRPr lang="en-US" altLang="zh-CN"/>
          </a:p>
        </p:txBody>
      </p:sp>
      <p:sp>
        <p:nvSpPr>
          <p:cNvPr id="54" name="日期占位符 5"/>
          <p:cNvSpPr>
            <a:spLocks noGrp="1"/>
          </p:cNvSpPr>
          <p:nvPr>
            <p:ph type="dt" sz="quarter" idx="12"/>
          </p:nvPr>
        </p:nvSpPr>
        <p:spPr/>
        <p:txBody>
          <a:bodyPr/>
          <a:lstStyle/>
          <a:p>
            <a:pPr>
              <a:defRPr/>
            </a:pPr>
            <a:r>
              <a:rPr lang="en-US" altLang="zh-CN"/>
              <a:t>BUPT</a:t>
            </a:r>
            <a:endParaRPr lang="en-US" altLang="zh-CN"/>
          </a:p>
        </p:txBody>
      </p:sp>
      <p:sp>
        <p:nvSpPr>
          <p:cNvPr id="553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5301"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哈夫曼树的应用</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eaLnBrk="1" hangingPunct="1"/>
            <a:r>
              <a:rPr lang="zh-CN" altLang="en-US" sz="2400" dirty="0" smtClean="0">
                <a:ea typeface="华文楷体" panose="02010600040101010101" pitchFamily="2" charset="-122"/>
              </a:rPr>
              <a:t>最佳判定树</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哈夫曼编码：用于通信和数据传送中字符的二进制编码，可以使电文编码总长度最短。</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例</a:t>
            </a:r>
            <a:r>
              <a:rPr lang="en-US" altLang="zh-CN" sz="2400" b="1" dirty="0" smtClean="0">
                <a:solidFill>
                  <a:srgbClr val="CC6600"/>
                </a:solidFill>
                <a:ea typeface="华文楷体" panose="02010600040101010101" pitchFamily="2" charset="-122"/>
              </a:rPr>
              <a:t>]</a:t>
            </a:r>
            <a:r>
              <a:rPr lang="en-US" altLang="zh-CN" sz="2400" dirty="0" smtClean="0">
                <a:solidFill>
                  <a:srgbClr val="FF0066"/>
                </a:solidFill>
                <a:ea typeface="华文楷体" panose="02010600040101010101" pitchFamily="2" charset="-122"/>
              </a:rPr>
              <a:t>  </a:t>
            </a:r>
            <a:r>
              <a:rPr lang="zh-CN" altLang="en-US" sz="2400" dirty="0" smtClean="0">
                <a:ea typeface="华文楷体" panose="02010600040101010101" pitchFamily="2" charset="-122"/>
              </a:rPr>
              <a:t>对</a:t>
            </a:r>
            <a:r>
              <a:rPr lang="en-US" altLang="zh-CN" sz="2400" dirty="0" smtClean="0">
                <a:ea typeface="华文楷体" panose="02010600040101010101" pitchFamily="2" charset="-122"/>
              </a:rPr>
              <a:t>time  tries  truth</a:t>
            </a:r>
            <a:r>
              <a:rPr lang="zh-CN" altLang="en-US" sz="2400" dirty="0" smtClean="0">
                <a:ea typeface="华文楷体" panose="02010600040101010101" pitchFamily="2" charset="-122"/>
              </a:rPr>
              <a:t>哈夫曼编码</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字符集      </a:t>
            </a:r>
            <a:r>
              <a:rPr lang="en-US" altLang="zh-CN" sz="2400" dirty="0" smtClean="0">
                <a:ea typeface="华文楷体" panose="02010600040101010101" pitchFamily="2" charset="-122"/>
              </a:rPr>
              <a:t>D={t,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m, e, r, s,  u, h}</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出现频次 </a:t>
            </a:r>
            <a:r>
              <a:rPr lang="en-US" altLang="zh-CN" sz="2400" dirty="0" smtClean="0">
                <a:ea typeface="华文楷体" panose="02010600040101010101" pitchFamily="2" charset="-122"/>
              </a:rPr>
              <a:t>W={4, 2, 1, 2, 2, 1, 1, 1}</a:t>
            </a:r>
            <a:endParaRPr lang="en-US" altLang="zh-CN" sz="2400" dirty="0" smtClean="0">
              <a:ea typeface="华文楷体" panose="02010600040101010101" pitchFamily="2" charset="-122"/>
            </a:endParaRPr>
          </a:p>
        </p:txBody>
      </p:sp>
      <p:sp>
        <p:nvSpPr>
          <p:cNvPr id="55302" name="Oval 4"/>
          <p:cNvSpPr>
            <a:spLocks noChangeArrowheads="1"/>
          </p:cNvSpPr>
          <p:nvPr/>
        </p:nvSpPr>
        <p:spPr bwMode="auto">
          <a:xfrm>
            <a:off x="2819400" y="4181475"/>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5303" name="Oval 5"/>
          <p:cNvSpPr>
            <a:spLocks noChangeArrowheads="1"/>
          </p:cNvSpPr>
          <p:nvPr/>
        </p:nvSpPr>
        <p:spPr bwMode="auto">
          <a:xfrm>
            <a:off x="2133600" y="4638675"/>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5304" name="Oval 6"/>
          <p:cNvSpPr>
            <a:spLocks noChangeArrowheads="1"/>
          </p:cNvSpPr>
          <p:nvPr/>
        </p:nvSpPr>
        <p:spPr bwMode="auto">
          <a:xfrm>
            <a:off x="1600200" y="5172075"/>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5305" name="Text Box 7"/>
          <p:cNvSpPr txBox="1">
            <a:spLocks noChangeArrowheads="1"/>
          </p:cNvSpPr>
          <p:nvPr/>
        </p:nvSpPr>
        <p:spPr bwMode="auto">
          <a:xfrm>
            <a:off x="1219200" y="5705475"/>
            <a:ext cx="304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u</a:t>
            </a:r>
            <a:endParaRPr lang="en-US" altLang="zh-CN" sz="2400" dirty="0">
              <a:latin typeface="Times New Roman" panose="02020603050405020304" pitchFamily="18" charset="0"/>
              <a:ea typeface="华文楷体" panose="02010600040101010101" pitchFamily="2" charset="-122"/>
            </a:endParaRPr>
          </a:p>
        </p:txBody>
      </p:sp>
      <p:sp>
        <p:nvSpPr>
          <p:cNvPr id="55306" name="Text Box 8"/>
          <p:cNvSpPr txBox="1">
            <a:spLocks noChangeArrowheads="1"/>
          </p:cNvSpPr>
          <p:nvPr/>
        </p:nvSpPr>
        <p:spPr bwMode="auto">
          <a:xfrm>
            <a:off x="1981200" y="5705475"/>
            <a:ext cx="304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h</a:t>
            </a:r>
            <a:endParaRPr lang="en-US" altLang="zh-CN" sz="2400" dirty="0">
              <a:latin typeface="Times New Roman" panose="02020603050405020304" pitchFamily="18" charset="0"/>
              <a:ea typeface="华文楷体" panose="02010600040101010101" pitchFamily="2" charset="-122"/>
            </a:endParaRPr>
          </a:p>
        </p:txBody>
      </p:sp>
      <p:sp>
        <p:nvSpPr>
          <p:cNvPr id="55307" name="Text Box 9"/>
          <p:cNvSpPr txBox="1">
            <a:spLocks noChangeArrowheads="1"/>
          </p:cNvSpPr>
          <p:nvPr/>
        </p:nvSpPr>
        <p:spPr bwMode="auto">
          <a:xfrm>
            <a:off x="2590800" y="5095875"/>
            <a:ext cx="304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t</a:t>
            </a:r>
            <a:endParaRPr lang="en-US" altLang="zh-CN" sz="2400" dirty="0">
              <a:latin typeface="Times New Roman" panose="02020603050405020304" pitchFamily="18" charset="0"/>
              <a:ea typeface="华文楷体" panose="02010600040101010101" pitchFamily="2" charset="-122"/>
            </a:endParaRPr>
          </a:p>
        </p:txBody>
      </p:sp>
      <p:sp>
        <p:nvSpPr>
          <p:cNvPr id="55308" name="Oval 10"/>
          <p:cNvSpPr>
            <a:spLocks noChangeArrowheads="1"/>
          </p:cNvSpPr>
          <p:nvPr/>
        </p:nvSpPr>
        <p:spPr bwMode="auto">
          <a:xfrm>
            <a:off x="3962400" y="4562475"/>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5309" name="Oval 11"/>
          <p:cNvSpPr>
            <a:spLocks noChangeArrowheads="1"/>
          </p:cNvSpPr>
          <p:nvPr/>
        </p:nvSpPr>
        <p:spPr bwMode="auto">
          <a:xfrm>
            <a:off x="3581400" y="5172075"/>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5310" name="Oval 12"/>
          <p:cNvSpPr>
            <a:spLocks noChangeArrowheads="1"/>
          </p:cNvSpPr>
          <p:nvPr/>
        </p:nvSpPr>
        <p:spPr bwMode="auto">
          <a:xfrm>
            <a:off x="4572000" y="5172075"/>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5311" name="Text Box 13"/>
          <p:cNvSpPr txBox="1">
            <a:spLocks noChangeArrowheads="1"/>
          </p:cNvSpPr>
          <p:nvPr/>
        </p:nvSpPr>
        <p:spPr bwMode="auto">
          <a:xfrm>
            <a:off x="3200400" y="5705475"/>
            <a:ext cx="304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err="1">
                <a:latin typeface="Times New Roman" panose="02020603050405020304" pitchFamily="18" charset="0"/>
                <a:ea typeface="华文楷体" panose="02010600040101010101" pitchFamily="2" charset="-122"/>
              </a:rPr>
              <a:t>i</a:t>
            </a:r>
            <a:endParaRPr lang="en-US" altLang="zh-CN" sz="2400" dirty="0">
              <a:latin typeface="Times New Roman" panose="02020603050405020304" pitchFamily="18" charset="0"/>
              <a:ea typeface="华文楷体" panose="02010600040101010101" pitchFamily="2" charset="-122"/>
            </a:endParaRPr>
          </a:p>
        </p:txBody>
      </p:sp>
      <p:sp>
        <p:nvSpPr>
          <p:cNvPr id="55312" name="Text Box 14"/>
          <p:cNvSpPr txBox="1">
            <a:spLocks noChangeArrowheads="1"/>
          </p:cNvSpPr>
          <p:nvPr/>
        </p:nvSpPr>
        <p:spPr bwMode="auto">
          <a:xfrm>
            <a:off x="3886200" y="5705475"/>
            <a:ext cx="304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55313" name="Text Box 15"/>
          <p:cNvSpPr txBox="1">
            <a:spLocks noChangeArrowheads="1"/>
          </p:cNvSpPr>
          <p:nvPr/>
        </p:nvSpPr>
        <p:spPr bwMode="auto">
          <a:xfrm>
            <a:off x="4343400" y="5705475"/>
            <a:ext cx="304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r</a:t>
            </a:r>
            <a:endParaRPr lang="en-US" altLang="zh-CN" sz="2400" dirty="0">
              <a:latin typeface="Times New Roman" panose="02020603050405020304" pitchFamily="18" charset="0"/>
              <a:ea typeface="华文楷体" panose="02010600040101010101" pitchFamily="2" charset="-122"/>
            </a:endParaRPr>
          </a:p>
        </p:txBody>
      </p:sp>
      <p:sp>
        <p:nvSpPr>
          <p:cNvPr id="55314" name="Oval 16"/>
          <p:cNvSpPr>
            <a:spLocks noChangeArrowheads="1"/>
          </p:cNvSpPr>
          <p:nvPr/>
        </p:nvSpPr>
        <p:spPr bwMode="auto">
          <a:xfrm>
            <a:off x="5257800" y="5781675"/>
            <a:ext cx="228600" cy="2286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5315" name="Text Box 17"/>
          <p:cNvSpPr txBox="1">
            <a:spLocks noChangeArrowheads="1"/>
          </p:cNvSpPr>
          <p:nvPr/>
        </p:nvSpPr>
        <p:spPr bwMode="auto">
          <a:xfrm>
            <a:off x="4800600" y="6238875"/>
            <a:ext cx="3810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m</a:t>
            </a:r>
            <a:endParaRPr lang="en-US" altLang="zh-CN" sz="2400" dirty="0">
              <a:latin typeface="Times New Roman" panose="02020603050405020304" pitchFamily="18" charset="0"/>
              <a:ea typeface="华文楷体" panose="02010600040101010101" pitchFamily="2" charset="-122"/>
            </a:endParaRPr>
          </a:p>
        </p:txBody>
      </p:sp>
      <p:sp>
        <p:nvSpPr>
          <p:cNvPr id="55316" name="Text Box 18"/>
          <p:cNvSpPr txBox="1">
            <a:spLocks noChangeArrowheads="1"/>
          </p:cNvSpPr>
          <p:nvPr/>
        </p:nvSpPr>
        <p:spPr bwMode="auto">
          <a:xfrm>
            <a:off x="5486400" y="6238875"/>
            <a:ext cx="304800" cy="4667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s</a:t>
            </a:r>
            <a:endParaRPr lang="en-US" altLang="zh-CN" sz="2400" dirty="0">
              <a:latin typeface="Times New Roman" panose="02020603050405020304" pitchFamily="18" charset="0"/>
              <a:ea typeface="华文楷体" panose="02010600040101010101" pitchFamily="2" charset="-122"/>
            </a:endParaRPr>
          </a:p>
        </p:txBody>
      </p:sp>
      <p:sp>
        <p:nvSpPr>
          <p:cNvPr id="55317" name="Line 19"/>
          <p:cNvSpPr>
            <a:spLocks noChangeShapeType="1"/>
          </p:cNvSpPr>
          <p:nvPr/>
        </p:nvSpPr>
        <p:spPr bwMode="auto">
          <a:xfrm flipH="1">
            <a:off x="2209800" y="4410075"/>
            <a:ext cx="685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18" name="Line 20"/>
          <p:cNvSpPr>
            <a:spLocks noChangeShapeType="1"/>
          </p:cNvSpPr>
          <p:nvPr/>
        </p:nvSpPr>
        <p:spPr bwMode="auto">
          <a:xfrm flipH="1">
            <a:off x="1676400" y="4867275"/>
            <a:ext cx="533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19" name="Line 21"/>
          <p:cNvSpPr>
            <a:spLocks noChangeShapeType="1"/>
          </p:cNvSpPr>
          <p:nvPr/>
        </p:nvSpPr>
        <p:spPr bwMode="auto">
          <a:xfrm flipH="1">
            <a:off x="1371600" y="5400675"/>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0" name="Line 22"/>
          <p:cNvSpPr>
            <a:spLocks noChangeShapeType="1"/>
          </p:cNvSpPr>
          <p:nvPr/>
        </p:nvSpPr>
        <p:spPr bwMode="auto">
          <a:xfrm>
            <a:off x="2209800" y="4867275"/>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1" name="Line 23"/>
          <p:cNvSpPr>
            <a:spLocks noChangeShapeType="1"/>
          </p:cNvSpPr>
          <p:nvPr/>
        </p:nvSpPr>
        <p:spPr bwMode="auto">
          <a:xfrm>
            <a:off x="1752600" y="5400675"/>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2" name="Line 24"/>
          <p:cNvSpPr>
            <a:spLocks noChangeShapeType="1"/>
          </p:cNvSpPr>
          <p:nvPr/>
        </p:nvSpPr>
        <p:spPr bwMode="auto">
          <a:xfrm>
            <a:off x="2971800" y="4410075"/>
            <a:ext cx="10668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3" name="Line 25"/>
          <p:cNvSpPr>
            <a:spLocks noChangeShapeType="1"/>
          </p:cNvSpPr>
          <p:nvPr/>
        </p:nvSpPr>
        <p:spPr bwMode="auto">
          <a:xfrm flipH="1">
            <a:off x="3733800" y="4791075"/>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4" name="Line 26"/>
          <p:cNvSpPr>
            <a:spLocks noChangeShapeType="1"/>
          </p:cNvSpPr>
          <p:nvPr/>
        </p:nvSpPr>
        <p:spPr bwMode="auto">
          <a:xfrm>
            <a:off x="4038600" y="4791075"/>
            <a:ext cx="6096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5" name="Line 27"/>
          <p:cNvSpPr>
            <a:spLocks noChangeShapeType="1"/>
          </p:cNvSpPr>
          <p:nvPr/>
        </p:nvSpPr>
        <p:spPr bwMode="auto">
          <a:xfrm flipH="1">
            <a:off x="3276600" y="5400675"/>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6" name="Line 28"/>
          <p:cNvSpPr>
            <a:spLocks noChangeShapeType="1"/>
          </p:cNvSpPr>
          <p:nvPr/>
        </p:nvSpPr>
        <p:spPr bwMode="auto">
          <a:xfrm>
            <a:off x="3657600" y="5400675"/>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7" name="Line 29"/>
          <p:cNvSpPr>
            <a:spLocks noChangeShapeType="1"/>
          </p:cNvSpPr>
          <p:nvPr/>
        </p:nvSpPr>
        <p:spPr bwMode="auto">
          <a:xfrm flipH="1">
            <a:off x="4495800" y="5400675"/>
            <a:ext cx="1524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8" name="Line 30"/>
          <p:cNvSpPr>
            <a:spLocks noChangeShapeType="1"/>
          </p:cNvSpPr>
          <p:nvPr/>
        </p:nvSpPr>
        <p:spPr bwMode="auto">
          <a:xfrm>
            <a:off x="4724400" y="5400675"/>
            <a:ext cx="6096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29" name="Line 31"/>
          <p:cNvSpPr>
            <a:spLocks noChangeShapeType="1"/>
          </p:cNvSpPr>
          <p:nvPr/>
        </p:nvSpPr>
        <p:spPr bwMode="auto">
          <a:xfrm flipH="1">
            <a:off x="4953000" y="6010275"/>
            <a:ext cx="381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30" name="Line 32"/>
          <p:cNvSpPr>
            <a:spLocks noChangeShapeType="1"/>
          </p:cNvSpPr>
          <p:nvPr/>
        </p:nvSpPr>
        <p:spPr bwMode="auto">
          <a:xfrm>
            <a:off x="5334000" y="6010275"/>
            <a:ext cx="304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31" name="Text Box 33"/>
          <p:cNvSpPr txBox="1">
            <a:spLocks noChangeArrowheads="1"/>
          </p:cNvSpPr>
          <p:nvPr/>
        </p:nvSpPr>
        <p:spPr bwMode="auto">
          <a:xfrm>
            <a:off x="2286000" y="41814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a:t>
            </a:r>
            <a:endParaRPr lang="en-US" altLang="zh-CN" sz="2400" dirty="0">
              <a:latin typeface="Times New Roman" panose="02020603050405020304" pitchFamily="18" charset="0"/>
              <a:ea typeface="华文楷体" panose="02010600040101010101" pitchFamily="2" charset="-122"/>
            </a:endParaRPr>
          </a:p>
        </p:txBody>
      </p:sp>
      <p:sp>
        <p:nvSpPr>
          <p:cNvPr id="55332" name="Text Box 34"/>
          <p:cNvSpPr txBox="1">
            <a:spLocks noChangeArrowheads="1"/>
          </p:cNvSpPr>
          <p:nvPr/>
        </p:nvSpPr>
        <p:spPr bwMode="auto">
          <a:xfrm>
            <a:off x="3352800" y="410527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endParaRPr lang="en-US" altLang="zh-CN" sz="2400" dirty="0">
              <a:latin typeface="Times New Roman" panose="02020603050405020304" pitchFamily="18" charset="0"/>
              <a:ea typeface="华文楷体" panose="02010600040101010101" pitchFamily="2" charset="-122"/>
            </a:endParaRPr>
          </a:p>
        </p:txBody>
      </p:sp>
      <p:sp>
        <p:nvSpPr>
          <p:cNvPr id="55333" name="Text Box 35"/>
          <p:cNvSpPr txBox="1">
            <a:spLocks noChangeArrowheads="1"/>
          </p:cNvSpPr>
          <p:nvPr/>
        </p:nvSpPr>
        <p:spPr bwMode="auto">
          <a:xfrm>
            <a:off x="1752600" y="46386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a:t>
            </a:r>
            <a:endParaRPr lang="en-US" altLang="zh-CN" sz="2400" dirty="0">
              <a:latin typeface="Times New Roman" panose="02020603050405020304" pitchFamily="18" charset="0"/>
              <a:ea typeface="华文楷体" panose="02010600040101010101" pitchFamily="2" charset="-122"/>
            </a:endParaRPr>
          </a:p>
        </p:txBody>
      </p:sp>
      <p:sp>
        <p:nvSpPr>
          <p:cNvPr id="55334" name="Text Box 36"/>
          <p:cNvSpPr txBox="1">
            <a:spLocks noChangeArrowheads="1"/>
          </p:cNvSpPr>
          <p:nvPr/>
        </p:nvSpPr>
        <p:spPr bwMode="auto">
          <a:xfrm>
            <a:off x="2438400" y="463867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endParaRPr lang="en-US" altLang="zh-CN" sz="2400" dirty="0">
              <a:latin typeface="Times New Roman" panose="02020603050405020304" pitchFamily="18" charset="0"/>
              <a:ea typeface="华文楷体" panose="02010600040101010101" pitchFamily="2" charset="-122"/>
            </a:endParaRPr>
          </a:p>
        </p:txBody>
      </p:sp>
      <p:sp>
        <p:nvSpPr>
          <p:cNvPr id="55335" name="Text Box 37"/>
          <p:cNvSpPr txBox="1">
            <a:spLocks noChangeArrowheads="1"/>
          </p:cNvSpPr>
          <p:nvPr/>
        </p:nvSpPr>
        <p:spPr bwMode="auto">
          <a:xfrm>
            <a:off x="1295400" y="52482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a:t>
            </a:r>
            <a:endParaRPr lang="en-US" altLang="zh-CN" sz="2400" dirty="0">
              <a:latin typeface="Times New Roman" panose="02020603050405020304" pitchFamily="18" charset="0"/>
              <a:ea typeface="华文楷体" panose="02010600040101010101" pitchFamily="2" charset="-122"/>
            </a:endParaRPr>
          </a:p>
        </p:txBody>
      </p:sp>
      <p:sp>
        <p:nvSpPr>
          <p:cNvPr id="55336" name="Text Box 38"/>
          <p:cNvSpPr txBox="1">
            <a:spLocks noChangeArrowheads="1"/>
          </p:cNvSpPr>
          <p:nvPr/>
        </p:nvSpPr>
        <p:spPr bwMode="auto">
          <a:xfrm>
            <a:off x="1828800" y="524827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endParaRPr lang="en-US" altLang="zh-CN" sz="2400" dirty="0">
              <a:latin typeface="Times New Roman" panose="02020603050405020304" pitchFamily="18" charset="0"/>
              <a:ea typeface="华文楷体" panose="02010600040101010101" pitchFamily="2" charset="-122"/>
            </a:endParaRPr>
          </a:p>
        </p:txBody>
      </p:sp>
      <p:sp>
        <p:nvSpPr>
          <p:cNvPr id="55337" name="Text Box 39"/>
          <p:cNvSpPr txBox="1">
            <a:spLocks noChangeArrowheads="1"/>
          </p:cNvSpPr>
          <p:nvPr/>
        </p:nvSpPr>
        <p:spPr bwMode="auto">
          <a:xfrm>
            <a:off x="3581400" y="4714875"/>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a:t>
            </a:r>
            <a:endParaRPr lang="en-US" altLang="zh-CN" sz="2400" dirty="0">
              <a:latin typeface="Times New Roman" panose="02020603050405020304" pitchFamily="18" charset="0"/>
              <a:ea typeface="华文楷体" panose="02010600040101010101" pitchFamily="2" charset="-122"/>
            </a:endParaRPr>
          </a:p>
        </p:txBody>
      </p:sp>
      <p:sp>
        <p:nvSpPr>
          <p:cNvPr id="55338" name="Text Box 40"/>
          <p:cNvSpPr txBox="1">
            <a:spLocks noChangeArrowheads="1"/>
          </p:cNvSpPr>
          <p:nvPr/>
        </p:nvSpPr>
        <p:spPr bwMode="auto">
          <a:xfrm>
            <a:off x="4343400" y="463867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endParaRPr lang="en-US" altLang="zh-CN" sz="2400" dirty="0">
              <a:latin typeface="Times New Roman" panose="02020603050405020304" pitchFamily="18" charset="0"/>
              <a:ea typeface="华文楷体" panose="02010600040101010101" pitchFamily="2" charset="-122"/>
            </a:endParaRPr>
          </a:p>
        </p:txBody>
      </p:sp>
      <p:sp>
        <p:nvSpPr>
          <p:cNvPr id="55339" name="Text Box 41"/>
          <p:cNvSpPr txBox="1">
            <a:spLocks noChangeArrowheads="1"/>
          </p:cNvSpPr>
          <p:nvPr/>
        </p:nvSpPr>
        <p:spPr bwMode="auto">
          <a:xfrm>
            <a:off x="3200400" y="52482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a:t>
            </a:r>
            <a:endParaRPr lang="en-US" altLang="zh-CN" sz="2400" dirty="0">
              <a:latin typeface="Times New Roman" panose="02020603050405020304" pitchFamily="18" charset="0"/>
              <a:ea typeface="华文楷体" panose="02010600040101010101" pitchFamily="2" charset="-122"/>
            </a:endParaRPr>
          </a:p>
        </p:txBody>
      </p:sp>
      <p:sp>
        <p:nvSpPr>
          <p:cNvPr id="55340" name="Text Box 42"/>
          <p:cNvSpPr txBox="1">
            <a:spLocks noChangeArrowheads="1"/>
          </p:cNvSpPr>
          <p:nvPr/>
        </p:nvSpPr>
        <p:spPr bwMode="auto">
          <a:xfrm>
            <a:off x="3733800" y="52482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endParaRPr lang="en-US" altLang="zh-CN" sz="2400" dirty="0">
              <a:latin typeface="Times New Roman" panose="02020603050405020304" pitchFamily="18" charset="0"/>
              <a:ea typeface="华文楷体" panose="02010600040101010101" pitchFamily="2" charset="-122"/>
            </a:endParaRPr>
          </a:p>
        </p:txBody>
      </p:sp>
      <p:sp>
        <p:nvSpPr>
          <p:cNvPr id="55341" name="Text Box 43"/>
          <p:cNvSpPr txBox="1">
            <a:spLocks noChangeArrowheads="1"/>
          </p:cNvSpPr>
          <p:nvPr/>
        </p:nvSpPr>
        <p:spPr bwMode="auto">
          <a:xfrm>
            <a:off x="4267200" y="52482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a:t>
            </a:r>
            <a:endParaRPr lang="en-US" altLang="zh-CN" sz="2400" dirty="0">
              <a:latin typeface="Times New Roman" panose="02020603050405020304" pitchFamily="18" charset="0"/>
              <a:ea typeface="华文楷体" panose="02010600040101010101" pitchFamily="2" charset="-122"/>
            </a:endParaRPr>
          </a:p>
        </p:txBody>
      </p:sp>
      <p:sp>
        <p:nvSpPr>
          <p:cNvPr id="55342" name="Text Box 44"/>
          <p:cNvSpPr txBox="1">
            <a:spLocks noChangeArrowheads="1"/>
          </p:cNvSpPr>
          <p:nvPr/>
        </p:nvSpPr>
        <p:spPr bwMode="auto">
          <a:xfrm>
            <a:off x="4876800" y="52482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endParaRPr lang="en-US" altLang="zh-CN" sz="2400" dirty="0">
              <a:latin typeface="Times New Roman" panose="02020603050405020304" pitchFamily="18" charset="0"/>
              <a:ea typeface="华文楷体" panose="02010600040101010101" pitchFamily="2" charset="-122"/>
            </a:endParaRPr>
          </a:p>
        </p:txBody>
      </p:sp>
      <p:sp>
        <p:nvSpPr>
          <p:cNvPr id="55343" name="Text Box 45"/>
          <p:cNvSpPr txBox="1">
            <a:spLocks noChangeArrowheads="1"/>
          </p:cNvSpPr>
          <p:nvPr/>
        </p:nvSpPr>
        <p:spPr bwMode="auto">
          <a:xfrm>
            <a:off x="4953000" y="578167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0</a:t>
            </a:r>
            <a:endParaRPr lang="en-US" altLang="zh-CN" sz="2400" dirty="0">
              <a:latin typeface="Times New Roman" panose="02020603050405020304" pitchFamily="18" charset="0"/>
              <a:ea typeface="华文楷体" panose="02010600040101010101" pitchFamily="2" charset="-122"/>
            </a:endParaRPr>
          </a:p>
        </p:txBody>
      </p:sp>
      <p:sp>
        <p:nvSpPr>
          <p:cNvPr id="55344" name="Text Box 46"/>
          <p:cNvSpPr txBox="1">
            <a:spLocks noChangeArrowheads="1"/>
          </p:cNvSpPr>
          <p:nvPr/>
        </p:nvSpPr>
        <p:spPr bwMode="auto">
          <a:xfrm>
            <a:off x="5410200" y="57816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a:t>
            </a:r>
            <a:endParaRPr lang="en-US" altLang="zh-CN" sz="2400" dirty="0">
              <a:latin typeface="Times New Roman" panose="02020603050405020304" pitchFamily="18" charset="0"/>
              <a:ea typeface="华文楷体" panose="02010600040101010101" pitchFamily="2" charset="-122"/>
            </a:endParaRPr>
          </a:p>
        </p:txBody>
      </p:sp>
      <p:sp>
        <p:nvSpPr>
          <p:cNvPr id="55345" name="Text Box 47"/>
          <p:cNvSpPr txBox="1">
            <a:spLocks noChangeArrowheads="1"/>
          </p:cNvSpPr>
          <p:nvPr/>
        </p:nvSpPr>
        <p:spPr bwMode="auto">
          <a:xfrm>
            <a:off x="6477000" y="4090988"/>
            <a:ext cx="1295400" cy="256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4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t    01</a:t>
            </a:r>
            <a:endParaRPr lang="en-US" altLang="zh-CN" sz="2400" dirty="0">
              <a:latin typeface="Times New Roman" panose="02020603050405020304" pitchFamily="18" charset="0"/>
              <a:ea typeface="华文楷体" panose="02010600040101010101" pitchFamily="2" charset="-122"/>
            </a:endParaRPr>
          </a:p>
          <a:p>
            <a:pPr eaLnBrk="1" hangingPunct="1">
              <a:lnSpc>
                <a:spcPct val="40000"/>
              </a:lnSpc>
              <a:spcBef>
                <a:spcPct val="50000"/>
              </a:spcBef>
              <a:buClrTx/>
              <a:buFontTx/>
              <a:buNone/>
            </a:pP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100</a:t>
            </a:r>
            <a:endParaRPr lang="en-US" altLang="zh-CN" sz="2400" dirty="0">
              <a:latin typeface="Times New Roman" panose="02020603050405020304" pitchFamily="18" charset="0"/>
              <a:ea typeface="华文楷体" panose="02010600040101010101" pitchFamily="2" charset="-122"/>
            </a:endParaRPr>
          </a:p>
          <a:p>
            <a:pPr eaLnBrk="1" hangingPunct="1">
              <a:lnSpc>
                <a:spcPct val="4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m  1110</a:t>
            </a:r>
            <a:endParaRPr lang="en-US" altLang="zh-CN" sz="2400" dirty="0">
              <a:latin typeface="Times New Roman" panose="02020603050405020304" pitchFamily="18" charset="0"/>
              <a:ea typeface="华文楷体" panose="02010600040101010101" pitchFamily="2" charset="-122"/>
            </a:endParaRPr>
          </a:p>
          <a:p>
            <a:pPr eaLnBrk="1" hangingPunct="1">
              <a:lnSpc>
                <a:spcPct val="4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e   101</a:t>
            </a:r>
            <a:endParaRPr lang="en-US" altLang="zh-CN" sz="2400" dirty="0">
              <a:latin typeface="Times New Roman" panose="02020603050405020304" pitchFamily="18" charset="0"/>
              <a:ea typeface="华文楷体" panose="02010600040101010101" pitchFamily="2" charset="-122"/>
            </a:endParaRPr>
          </a:p>
          <a:p>
            <a:pPr eaLnBrk="1" hangingPunct="1">
              <a:lnSpc>
                <a:spcPct val="4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r   110</a:t>
            </a:r>
            <a:endParaRPr lang="en-US" altLang="zh-CN" sz="2400" dirty="0">
              <a:latin typeface="Times New Roman" panose="02020603050405020304" pitchFamily="18" charset="0"/>
              <a:ea typeface="华文楷体" panose="02010600040101010101" pitchFamily="2" charset="-122"/>
            </a:endParaRPr>
          </a:p>
          <a:p>
            <a:pPr eaLnBrk="1" hangingPunct="1">
              <a:lnSpc>
                <a:spcPct val="4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s   1111</a:t>
            </a:r>
            <a:endParaRPr lang="en-US" altLang="zh-CN" sz="2400" dirty="0">
              <a:latin typeface="Times New Roman" panose="02020603050405020304" pitchFamily="18" charset="0"/>
              <a:ea typeface="华文楷体" panose="02010600040101010101" pitchFamily="2" charset="-122"/>
            </a:endParaRPr>
          </a:p>
          <a:p>
            <a:pPr eaLnBrk="1" hangingPunct="1">
              <a:lnSpc>
                <a:spcPct val="4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u   000</a:t>
            </a:r>
            <a:endParaRPr lang="en-US" altLang="zh-CN" sz="2400" dirty="0">
              <a:latin typeface="Times New Roman" panose="02020603050405020304" pitchFamily="18" charset="0"/>
              <a:ea typeface="华文楷体" panose="02010600040101010101" pitchFamily="2" charset="-122"/>
            </a:endParaRPr>
          </a:p>
          <a:p>
            <a:pPr eaLnBrk="1" hangingPunct="1">
              <a:lnSpc>
                <a:spcPct val="40000"/>
              </a:lnSpc>
              <a:spcBef>
                <a:spcPct val="50000"/>
              </a:spcBef>
              <a:buClrTx/>
              <a:buFontTx/>
              <a:buNone/>
            </a:pPr>
            <a:r>
              <a:rPr lang="en-US" altLang="zh-CN" sz="2400" dirty="0">
                <a:latin typeface="Times New Roman" panose="02020603050405020304" pitchFamily="18" charset="0"/>
                <a:ea typeface="华文楷体" panose="02010600040101010101" pitchFamily="2" charset="-122"/>
              </a:rPr>
              <a:t>h   001</a:t>
            </a:r>
            <a:endParaRPr lang="en-US" altLang="zh-CN" sz="2400" dirty="0">
              <a:latin typeface="Times New Roman" panose="02020603050405020304" pitchFamily="18" charset="0"/>
              <a:ea typeface="华文楷体" panose="02010600040101010101" pitchFamily="2" charset="-122"/>
            </a:endParaRPr>
          </a:p>
        </p:txBody>
      </p:sp>
      <p:sp>
        <p:nvSpPr>
          <p:cNvPr id="55346" name="Line 48"/>
          <p:cNvSpPr>
            <a:spLocks noChangeShapeType="1"/>
          </p:cNvSpPr>
          <p:nvPr/>
        </p:nvSpPr>
        <p:spPr bwMode="auto">
          <a:xfrm>
            <a:off x="6477000" y="3938588"/>
            <a:ext cx="1219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47" name="Line 49"/>
          <p:cNvSpPr>
            <a:spLocks noChangeShapeType="1"/>
          </p:cNvSpPr>
          <p:nvPr/>
        </p:nvSpPr>
        <p:spPr bwMode="auto">
          <a:xfrm>
            <a:off x="6477000" y="6605588"/>
            <a:ext cx="1219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48" name="Line 50"/>
          <p:cNvSpPr>
            <a:spLocks noChangeShapeType="1"/>
          </p:cNvSpPr>
          <p:nvPr/>
        </p:nvSpPr>
        <p:spPr bwMode="auto">
          <a:xfrm>
            <a:off x="6477000" y="3938588"/>
            <a:ext cx="0" cy="266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49" name="Line 51"/>
          <p:cNvSpPr>
            <a:spLocks noChangeShapeType="1"/>
          </p:cNvSpPr>
          <p:nvPr/>
        </p:nvSpPr>
        <p:spPr bwMode="auto">
          <a:xfrm>
            <a:off x="7696200" y="3938588"/>
            <a:ext cx="0" cy="266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5350" name="Line 52"/>
          <p:cNvSpPr>
            <a:spLocks noChangeShapeType="1"/>
          </p:cNvSpPr>
          <p:nvPr/>
        </p:nvSpPr>
        <p:spPr bwMode="auto">
          <a:xfrm>
            <a:off x="6858000" y="3938588"/>
            <a:ext cx="0" cy="2667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noChangeArrowheads="1"/>
          </p:cNvSpPr>
          <p:nvPr>
            <p:ph type="title"/>
          </p:nvPr>
        </p:nvSpPr>
        <p:spPr/>
        <p:txBody>
          <a:bodyPr/>
          <a:lstStyle/>
          <a:p>
            <a:r>
              <a:rPr lang="en-US" altLang="zh-CN" dirty="0" smtClean="0">
                <a:ea typeface="华文楷体" panose="02010600040101010101" pitchFamily="2" charset="-122"/>
              </a:rPr>
              <a:t> </a:t>
            </a:r>
            <a:endParaRPr lang="zh-CN" altLang="en-US" dirty="0" smtClean="0">
              <a:ea typeface="华文楷体" panose="02010600040101010101" pitchFamily="2" charset="-122"/>
            </a:endParaRPr>
          </a:p>
        </p:txBody>
      </p:sp>
      <p:graphicFrame>
        <p:nvGraphicFramePr>
          <p:cNvPr id="8" name="内容占位符 7"/>
          <p:cNvGraphicFramePr>
            <a:graphicFrameLocks noGrp="1"/>
          </p:cNvGraphicFramePr>
          <p:nvPr>
            <p:ph idx="1"/>
          </p:nvPr>
        </p:nvGraphicFramePr>
        <p:xfrm>
          <a:off x="457201" y="1152525"/>
          <a:ext cx="7467512" cy="2243078"/>
        </p:xfrm>
        <a:graphic>
          <a:graphicData uri="http://schemas.openxmlformats.org/drawingml/2006/table">
            <a:tbl>
              <a:tblPr firstRow="1" bandRow="1">
                <a:tableStyleId>{5C22544A-7EE6-4342-B048-85BDC9FD1C3A}</a:tableStyleId>
              </a:tblPr>
              <a:tblGrid>
                <a:gridCol w="1866878"/>
                <a:gridCol w="5600634"/>
              </a:tblGrid>
              <a:tr h="414226">
                <a:tc>
                  <a:txBody>
                    <a:bodyPr/>
                    <a:lstStyle/>
                    <a:p>
                      <a:r>
                        <a:rPr lang="zh-CN" altLang="en-US" sz="1800" dirty="0" smtClean="0">
                          <a:latin typeface="Times New Roman" panose="02020603050405020304" pitchFamily="18" charset="0"/>
                          <a:ea typeface="华文楷体" panose="02010600040101010101" pitchFamily="2" charset="-122"/>
                        </a:rPr>
                        <a:t>字符串</a:t>
                      </a:r>
                      <a:endParaRPr lang="zh-CN" altLang="en-US" sz="1800" dirty="0">
                        <a:latin typeface="Times New Roman" panose="02020603050405020304" pitchFamily="18" charset="0"/>
                        <a:ea typeface="华文楷体" panose="02010600040101010101" pitchFamily="2" charset="-122"/>
                      </a:endParaRPr>
                    </a:p>
                  </a:txBody>
                  <a:tcPr marT="45733" marB="45733"/>
                </a:tc>
                <a:tc>
                  <a:txBody>
                    <a:bodyPr/>
                    <a:lstStyle/>
                    <a:p>
                      <a:r>
                        <a:rPr lang="en-US" altLang="zh-CN" sz="1800" dirty="0" smtClean="0">
                          <a:latin typeface="Times New Roman" panose="02020603050405020304" pitchFamily="18" charset="0"/>
                          <a:ea typeface="华文楷体" panose="02010600040101010101" pitchFamily="2" charset="-122"/>
                        </a:rPr>
                        <a:t>ABRACADABRA!</a:t>
                      </a:r>
                      <a:endParaRPr lang="zh-CN" altLang="en-US" sz="1800" dirty="0">
                        <a:latin typeface="Times New Roman" panose="02020603050405020304" pitchFamily="18" charset="0"/>
                        <a:ea typeface="华文楷体" panose="02010600040101010101" pitchFamily="2" charset="-122"/>
                      </a:endParaRPr>
                    </a:p>
                  </a:txBody>
                  <a:tcPr marT="45733" marB="45733"/>
                </a:tc>
              </a:tr>
              <a:tr h="740629">
                <a:tc>
                  <a:txBody>
                    <a:bodyPr/>
                    <a:lstStyle/>
                    <a:p>
                      <a:r>
                        <a:rPr lang="en-US" altLang="zh-CN" sz="1800" dirty="0" smtClean="0">
                          <a:latin typeface="Times New Roman" panose="02020603050405020304" pitchFamily="18" charset="0"/>
                          <a:ea typeface="华文楷体" panose="02010600040101010101" pitchFamily="2" charset="-122"/>
                        </a:rPr>
                        <a:t>ASCII</a:t>
                      </a:r>
                      <a:r>
                        <a:rPr lang="zh-CN" altLang="en-US" sz="1800" dirty="0" smtClean="0">
                          <a:latin typeface="Times New Roman" panose="02020603050405020304" pitchFamily="18" charset="0"/>
                          <a:ea typeface="华文楷体" panose="02010600040101010101" pitchFamily="2" charset="-122"/>
                        </a:rPr>
                        <a:t>字符编码</a:t>
                      </a:r>
                      <a:endParaRPr lang="zh-CN" altLang="en-US" sz="1800" dirty="0">
                        <a:latin typeface="Times New Roman" panose="02020603050405020304" pitchFamily="18" charset="0"/>
                        <a:ea typeface="华文楷体" panose="02010600040101010101" pitchFamily="2" charset="-122"/>
                      </a:endParaRPr>
                    </a:p>
                  </a:txBody>
                  <a:tcPr marT="45733" marB="45733"/>
                </a:tc>
                <a:tc>
                  <a:txBody>
                    <a:bodyPr/>
                    <a:lstStyle/>
                    <a:p>
                      <a:r>
                        <a:rPr lang="en-US" altLang="zh-CN" sz="1800" dirty="0" smtClean="0">
                          <a:latin typeface="Times New Roman" panose="02020603050405020304" pitchFamily="18" charset="0"/>
                          <a:ea typeface="华文楷体" panose="02010600040101010101" pitchFamily="2" charset="-122"/>
                        </a:rPr>
                        <a:t>100000110000101010010100000110000111000001-</a:t>
                      </a:r>
                      <a:endParaRPr lang="en-US" altLang="zh-CN" sz="1800" dirty="0" smtClean="0">
                        <a:latin typeface="Times New Roman" panose="02020603050405020304" pitchFamily="18" charset="0"/>
                        <a:ea typeface="华文楷体" panose="02010600040101010101" pitchFamily="2" charset="-122"/>
                      </a:endParaRPr>
                    </a:p>
                    <a:p>
                      <a:r>
                        <a:rPr lang="en-US" altLang="zh-CN" sz="1800" dirty="0" smtClean="0">
                          <a:latin typeface="Times New Roman" panose="02020603050405020304" pitchFamily="18" charset="0"/>
                          <a:ea typeface="华文楷体" panose="02010600040101010101" pitchFamily="2" charset="-122"/>
                        </a:rPr>
                        <a:t>100010010000011000010101001010000010100001. </a:t>
                      </a:r>
                      <a:endParaRPr lang="en-US" altLang="zh-CN" sz="1800" dirty="0" smtClean="0">
                        <a:latin typeface="Times New Roman" panose="02020603050405020304" pitchFamily="18" charset="0"/>
                        <a:ea typeface="华文楷体" panose="02010600040101010101" pitchFamily="2" charset="-122"/>
                      </a:endParaRPr>
                    </a:p>
                    <a:p>
                      <a:r>
                        <a:rPr lang="en-US" altLang="zh-CN" sz="1800" dirty="0" smtClean="0">
                          <a:latin typeface="Times New Roman" panose="02020603050405020304" pitchFamily="18" charset="0"/>
                          <a:ea typeface="华文楷体" panose="02010600040101010101" pitchFamily="2" charset="-122"/>
                        </a:rPr>
                        <a:t>7*12 = 84bits</a:t>
                      </a:r>
                      <a:endParaRPr lang="zh-CN" altLang="en-US" sz="1800" dirty="0">
                        <a:latin typeface="Times New Roman" panose="02020603050405020304" pitchFamily="18" charset="0"/>
                        <a:ea typeface="华文楷体" panose="02010600040101010101" pitchFamily="2" charset="-122"/>
                      </a:endParaRPr>
                    </a:p>
                  </a:txBody>
                  <a:tcPr marT="45733" marB="45733"/>
                </a:tc>
              </a:tr>
              <a:tr h="740629">
                <a:tc>
                  <a:txBody>
                    <a:bodyPr/>
                    <a:lstStyle/>
                    <a:p>
                      <a:r>
                        <a:rPr lang="en-US" altLang="zh-CN" sz="1800" dirty="0" smtClean="0">
                          <a:latin typeface="Times New Roman" panose="02020603050405020304" pitchFamily="18" charset="0"/>
                          <a:ea typeface="华文楷体" panose="02010600040101010101" pitchFamily="2" charset="-122"/>
                        </a:rPr>
                        <a:t>Huffman</a:t>
                      </a:r>
                      <a:r>
                        <a:rPr lang="zh-CN" altLang="en-US" sz="1800" dirty="0" smtClean="0">
                          <a:latin typeface="Times New Roman" panose="02020603050405020304" pitchFamily="18" charset="0"/>
                          <a:ea typeface="华文楷体" panose="02010600040101010101" pitchFamily="2" charset="-122"/>
                        </a:rPr>
                        <a:t>编码</a:t>
                      </a:r>
                      <a:endParaRPr lang="zh-CN" altLang="en-US" sz="1800" dirty="0">
                        <a:latin typeface="Times New Roman" panose="02020603050405020304" pitchFamily="18" charset="0"/>
                        <a:ea typeface="华文楷体" panose="02010600040101010101" pitchFamily="2" charset="-122"/>
                      </a:endParaRPr>
                    </a:p>
                  </a:txBody>
                  <a:tcPr marT="45733" marB="45733"/>
                </a:tc>
                <a:tc>
                  <a:txBody>
                    <a:bodyPr/>
                    <a:lstStyle/>
                    <a:p>
                      <a:r>
                        <a:rPr lang="en-US" altLang="zh-CN" sz="1800" dirty="0" smtClean="0">
                          <a:latin typeface="Times New Roman" panose="02020603050405020304" pitchFamily="18" charset="0"/>
                          <a:ea typeface="华文楷体" panose="02010600040101010101" pitchFamily="2" charset="-122"/>
                        </a:rPr>
                        <a:t>! 1010</a:t>
                      </a:r>
                      <a:r>
                        <a:rPr lang="en-US" altLang="zh-CN" sz="1800" baseline="0" dirty="0" smtClean="0">
                          <a:latin typeface="Times New Roman" panose="02020603050405020304" pitchFamily="18" charset="0"/>
                          <a:ea typeface="华文楷体" panose="02010600040101010101" pitchFamily="2" charset="-122"/>
                        </a:rPr>
                        <a:t> A 0 B 111 C 1011 D 100 R 110 </a:t>
                      </a:r>
                      <a:endParaRPr lang="en-US" altLang="zh-CN" sz="1800" baseline="0" dirty="0" smtClean="0">
                        <a:latin typeface="Times New Roman" panose="02020603050405020304" pitchFamily="18" charset="0"/>
                        <a:ea typeface="华文楷体" panose="02010600040101010101" pitchFamily="2" charset="-122"/>
                      </a:endParaRPr>
                    </a:p>
                    <a:p>
                      <a:r>
                        <a:rPr lang="en-US" altLang="zh-CN" sz="1800" baseline="0" dirty="0" smtClean="0">
                          <a:latin typeface="Times New Roman" panose="02020603050405020304" pitchFamily="18" charset="0"/>
                          <a:ea typeface="华文楷体" panose="02010600040101010101" pitchFamily="2" charset="-122"/>
                        </a:rPr>
                        <a:t>011111001011010011111001010</a:t>
                      </a:r>
                      <a:endParaRPr lang="en-US" altLang="zh-CN" sz="1800" baseline="0" dirty="0" smtClean="0">
                        <a:latin typeface="Times New Roman" panose="02020603050405020304" pitchFamily="18" charset="0"/>
                        <a:ea typeface="华文楷体" panose="02010600040101010101" pitchFamily="2" charset="-122"/>
                      </a:endParaRPr>
                    </a:p>
                    <a:p>
                      <a:r>
                        <a:rPr lang="en-US" altLang="zh-CN" sz="1800" baseline="0" dirty="0" smtClean="0">
                          <a:latin typeface="Times New Roman" panose="02020603050405020304" pitchFamily="18" charset="0"/>
                          <a:ea typeface="华文楷体" panose="02010600040101010101" pitchFamily="2" charset="-122"/>
                        </a:rPr>
                        <a:t>27bits</a:t>
                      </a:r>
                      <a:endParaRPr lang="zh-CN" altLang="en-US" sz="1800" dirty="0">
                        <a:latin typeface="Times New Roman" panose="02020603050405020304" pitchFamily="18" charset="0"/>
                        <a:ea typeface="华文楷体" panose="02010600040101010101" pitchFamily="2" charset="-122"/>
                      </a:endParaRPr>
                    </a:p>
                  </a:txBody>
                  <a:tcPr marT="45733" marB="45733"/>
                </a:tc>
              </a:tr>
            </a:tbl>
          </a:graphicData>
        </a:graphic>
      </p:graphicFrame>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quarter" idx="12"/>
          </p:nvPr>
        </p:nvSpPr>
        <p:spPr/>
        <p:txBody>
          <a:bodyPr/>
          <a:lstStyle/>
          <a:p>
            <a:pPr>
              <a:defRPr/>
            </a:pPr>
            <a:r>
              <a:rPr lang="en-US" altLang="zh-CN" dirty="0" smtClean="0"/>
              <a:t>BUPT</a:t>
            </a:r>
            <a:endParaRPr lang="en-US" altLang="zh-CN" dirty="0"/>
          </a:p>
        </p:txBody>
      </p:sp>
      <p:sp>
        <p:nvSpPr>
          <p:cNvPr id="6" name="Rectangle 3"/>
          <p:cNvSpPr txBox="1">
            <a:spLocks noChangeArrowheads="1"/>
          </p:cNvSpPr>
          <p:nvPr/>
        </p:nvSpPr>
        <p:spPr bwMode="auto">
          <a:xfrm>
            <a:off x="304800" y="3782766"/>
            <a:ext cx="8305694" cy="2081216"/>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eaLnBrk="1" hangingPunct="1">
              <a:buNone/>
            </a:pPr>
            <a:r>
              <a:rPr lang="zh-CN" altLang="en-US" sz="2000" dirty="0" smtClean="0">
                <a:ea typeface="华文楷体" panose="02010600040101010101" pitchFamily="2" charset="-122"/>
              </a:rPr>
              <a:t>标准的</a:t>
            </a:r>
            <a:r>
              <a:rPr lang="en-US" altLang="zh-CN" sz="2000" dirty="0" smtClean="0">
                <a:ea typeface="华文楷体" panose="02010600040101010101" pitchFamily="2" charset="-122"/>
              </a:rPr>
              <a:t>ASCII</a:t>
            </a:r>
            <a:r>
              <a:rPr lang="zh-CN" altLang="en-US" sz="2000" dirty="0" smtClean="0">
                <a:ea typeface="华文楷体" panose="02010600040101010101" pitchFamily="2" charset="-122"/>
              </a:rPr>
              <a:t>大约有</a:t>
            </a:r>
            <a:r>
              <a:rPr lang="en-US" altLang="zh-CN" sz="2000" dirty="0" smtClean="0">
                <a:ea typeface="华文楷体" panose="02010600040101010101" pitchFamily="2" charset="-122"/>
              </a:rPr>
              <a:t>100</a:t>
            </a:r>
            <a:r>
              <a:rPr lang="zh-CN" altLang="en-US" sz="2000" dirty="0" smtClean="0">
                <a:ea typeface="华文楷体" panose="02010600040101010101" pitchFamily="2" charset="-122"/>
              </a:rPr>
              <a:t>个可打印的字符组成，大约需要</a:t>
            </a:r>
            <a:r>
              <a:rPr lang="en-US" altLang="zh-CN" sz="2000" dirty="0" smtClean="0">
                <a:ea typeface="华文楷体" panose="02010600040101010101" pitchFamily="2" charset="-122"/>
              </a:rPr>
              <a:t>log</a:t>
            </a:r>
            <a:r>
              <a:rPr lang="en-US" altLang="zh-CN" sz="2000" baseline="-25000" dirty="0" smtClean="0">
                <a:ea typeface="华文楷体" panose="02010600040101010101" pitchFamily="2" charset="-122"/>
              </a:rPr>
              <a:t>2</a:t>
            </a:r>
            <a:r>
              <a:rPr lang="en-US" altLang="zh-CN" sz="2000" dirty="0" smtClean="0">
                <a:ea typeface="华文楷体" panose="02010600040101010101" pitchFamily="2" charset="-122"/>
              </a:rPr>
              <a:t>100 = 7</a:t>
            </a:r>
            <a:r>
              <a:rPr lang="zh-CN" altLang="en-US" sz="2000" dirty="0" smtClean="0">
                <a:ea typeface="华文楷体" panose="02010600040101010101" pitchFamily="2" charset="-122"/>
              </a:rPr>
              <a:t>位二进制，</a:t>
            </a:r>
            <a:r>
              <a:rPr lang="en-US" altLang="zh-CN" sz="2000" dirty="0" smtClean="0">
                <a:ea typeface="华文楷体" panose="02010600040101010101" pitchFamily="2" charset="-122"/>
              </a:rPr>
              <a:t>2</a:t>
            </a:r>
            <a:r>
              <a:rPr lang="en-US" altLang="zh-CN" sz="2000" baseline="30000" dirty="0" smtClean="0">
                <a:ea typeface="华文楷体" panose="02010600040101010101" pitchFamily="2" charset="-122"/>
              </a:rPr>
              <a:t>7</a:t>
            </a:r>
            <a:r>
              <a:rPr lang="en-US" altLang="zh-CN" sz="2000" dirty="0" smtClean="0">
                <a:ea typeface="华文楷体" panose="02010600040101010101" pitchFamily="2" charset="-122"/>
              </a:rPr>
              <a:t>=128</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ASCII</a:t>
            </a:r>
            <a:r>
              <a:rPr lang="zh-CN" altLang="en-US" sz="2000" dirty="0" smtClean="0">
                <a:ea typeface="华文楷体" panose="02010600040101010101" pitchFamily="2" charset="-122"/>
              </a:rPr>
              <a:t>字符还可以加上一些不可打印的字符。关键点在于</a:t>
            </a:r>
            <a:r>
              <a:rPr lang="en-US" altLang="zh-CN" sz="2000" dirty="0" smtClean="0">
                <a:ea typeface="华文楷体" panose="02010600040101010101" pitchFamily="2" charset="-122"/>
              </a:rPr>
              <a:t>ASCII</a:t>
            </a:r>
            <a:r>
              <a:rPr lang="zh-CN" altLang="en-US" sz="2000" dirty="0" smtClean="0">
                <a:ea typeface="华文楷体" panose="02010600040101010101" pitchFamily="2" charset="-122"/>
              </a:rPr>
              <a:t>编码，字符集的大小是</a:t>
            </a:r>
            <a:r>
              <a:rPr lang="en-US" altLang="zh-CN" sz="2000" dirty="0" smtClean="0">
                <a:ea typeface="华文楷体" panose="02010600040101010101" pitchFamily="2" charset="-122"/>
              </a:rPr>
              <a:t>C</a:t>
            </a:r>
            <a:r>
              <a:rPr lang="zh-CN" altLang="en-US" sz="2000" dirty="0" smtClean="0">
                <a:ea typeface="华文楷体" panose="02010600040101010101" pitchFamily="2" charset="-122"/>
              </a:rPr>
              <a:t>，标准编码就需要</a:t>
            </a:r>
            <a:r>
              <a:rPr lang="en-US" altLang="zh-CN" sz="2000" dirty="0" smtClean="0">
                <a:ea typeface="华文楷体" panose="02010600040101010101" pitchFamily="2" charset="-122"/>
              </a:rPr>
              <a:t>log</a:t>
            </a:r>
            <a:r>
              <a:rPr lang="en-US" altLang="zh-CN" sz="2000" baseline="-25000" dirty="0" smtClean="0">
                <a:ea typeface="华文楷体" panose="02010600040101010101" pitchFamily="2" charset="-122"/>
              </a:rPr>
              <a:t>2</a:t>
            </a:r>
            <a:r>
              <a:rPr lang="en-US" altLang="zh-CN" sz="2000" dirty="0" smtClean="0">
                <a:ea typeface="华文楷体" panose="02010600040101010101" pitchFamily="2" charset="-122"/>
              </a:rPr>
              <a:t>C</a:t>
            </a:r>
            <a:r>
              <a:rPr lang="zh-CN" altLang="en-US" sz="2000" dirty="0" smtClean="0">
                <a:ea typeface="华文楷体" panose="02010600040101010101" pitchFamily="2" charset="-122"/>
              </a:rPr>
              <a:t>位。</a:t>
            </a:r>
            <a:endParaRPr lang="en-US" altLang="zh-CN" sz="2000" dirty="0" smtClean="0">
              <a:ea typeface="华文楷体" panose="02010600040101010101" pitchFamily="2" charset="-122"/>
            </a:endParaRPr>
          </a:p>
          <a:p>
            <a:pPr marL="457200" lvl="1" indent="0" eaLnBrk="1" hangingPunct="1">
              <a:buNone/>
            </a:pPr>
            <a:r>
              <a:rPr lang="zh-CN" altLang="en-US" sz="2000" dirty="0" smtClean="0">
                <a:ea typeface="华文楷体" panose="02010600040101010101" pitchFamily="2" charset="-122"/>
              </a:rPr>
              <a:t>在现实中，文件可能相当大</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，按</a:t>
            </a:r>
            <a:r>
              <a:rPr lang="en-US" altLang="zh-CN" sz="2000" dirty="0" smtClean="0">
                <a:ea typeface="华文楷体" panose="02010600040101010101" pitchFamily="2" charset="-122"/>
              </a:rPr>
              <a:t>ASCII</a:t>
            </a:r>
            <a:r>
              <a:rPr lang="zh-CN" altLang="en-US" sz="2000" dirty="0" smtClean="0">
                <a:ea typeface="华文楷体" panose="02010600040101010101" pitchFamily="2" charset="-122"/>
              </a:rPr>
              <a:t>编码不实际，尤其需要进行网络传输时，更加迫切希望减少文件的大小，因此降低文件总位数的编码就是一个现实的需求。</a:t>
            </a:r>
            <a:endParaRPr lang="en-US" altLang="zh-CN" sz="2000" dirty="0" smtClean="0">
              <a:ea typeface="华文楷体" panose="02010600040101010101" pitchFamily="2" charset="-122"/>
            </a:endParaRPr>
          </a:p>
          <a:p>
            <a:pPr marL="457200" lvl="1" indent="0" eaLnBrk="1" hangingPunct="1">
              <a:buNone/>
            </a:pPr>
            <a:endParaRPr lang="zh-CN" altLang="en-US" sz="20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5" name="Rectangle 3"/>
          <p:cNvSpPr txBox="1">
            <a:spLocks noChangeArrowheads="1"/>
          </p:cNvSpPr>
          <p:nvPr/>
        </p:nvSpPr>
        <p:spPr bwMode="auto">
          <a:xfrm>
            <a:off x="304800" y="1295456"/>
            <a:ext cx="8077096" cy="4876672"/>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eaLnBrk="1" hangingPunct="1">
              <a:buNone/>
            </a:pPr>
            <a:r>
              <a:rPr lang="en-US" altLang="zh-CN" sz="2400" b="1" dirty="0">
                <a:solidFill>
                  <a:srgbClr val="FF0000"/>
                </a:solidFill>
                <a:ea typeface="华文楷体" panose="02010600040101010101" pitchFamily="2" charset="-122"/>
              </a:rPr>
              <a:t>[</a:t>
            </a:r>
            <a:r>
              <a:rPr lang="zh-CN" altLang="en-US" sz="2400" b="1" dirty="0" smtClean="0">
                <a:solidFill>
                  <a:srgbClr val="FF0000"/>
                </a:solidFill>
                <a:ea typeface="华文楷体" panose="02010600040101010101" pitchFamily="2" charset="-122"/>
              </a:rPr>
              <a:t>总结</a:t>
            </a:r>
            <a:r>
              <a:rPr lang="en-US" altLang="zh-CN" sz="2400" b="1" dirty="0" smtClean="0">
                <a:solidFill>
                  <a:srgbClr val="FF0000"/>
                </a:solidFill>
                <a:ea typeface="华文楷体" panose="02010600040101010101" pitchFamily="2" charset="-122"/>
              </a:rPr>
              <a:t>]</a:t>
            </a:r>
            <a:endParaRPr lang="en-US" altLang="zh-CN" sz="2400" b="1" dirty="0" smtClean="0">
              <a:solidFill>
                <a:srgbClr val="FF0000"/>
              </a:solidFill>
              <a:ea typeface="华文楷体" panose="02010600040101010101" pitchFamily="2" charset="-122"/>
            </a:endParaRPr>
          </a:p>
          <a:p>
            <a:pPr lvl="1" eaLnBrk="1" hangingPunct="1"/>
            <a:r>
              <a:rPr lang="zh-CN" altLang="en-US" sz="2400" dirty="0" smtClean="0">
                <a:ea typeface="华文楷体" panose="02010600040101010101" pitchFamily="2" charset="-122"/>
              </a:rPr>
              <a:t>哈夫曼编码是不等长编码</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哈夫曼编码是前缀编码，即任一字符的编码都不是另一字符编码的前缀</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哈夫曼编码树中没有度为</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的结点。若叶子结点的个数为</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，则哈夫曼编码树的结点总数为 </a:t>
            </a:r>
            <a:r>
              <a:rPr lang="en-US" altLang="zh-CN" sz="2400" dirty="0" smtClean="0">
                <a:ea typeface="华文楷体" panose="02010600040101010101" pitchFamily="2" charset="-122"/>
              </a:rPr>
              <a:t>2n-1</a:t>
            </a:r>
            <a:endParaRPr lang="en-US" altLang="zh-CN"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发送过程：根据由哈夫曼树得到的编码表送出字符数据</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接收过程：按左</a:t>
            </a:r>
            <a:r>
              <a:rPr lang="en-US" altLang="zh-CN" sz="2400" dirty="0" smtClean="0">
                <a:ea typeface="华文楷体" panose="02010600040101010101" pitchFamily="2" charset="-122"/>
              </a:rPr>
              <a:t>0</a:t>
            </a:r>
            <a:r>
              <a:rPr lang="zh-CN" altLang="en-US" sz="2400" dirty="0" smtClean="0">
                <a:ea typeface="华文楷体" panose="02010600040101010101" pitchFamily="2" charset="-122"/>
              </a:rPr>
              <a:t>、右</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的规定，从根结点走到一个叶结点，完成一个字符的译码。反复此过程，直到接收数据结束</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页脚占位符 3"/>
          <p:cNvSpPr>
            <a:spLocks noGrp="1"/>
          </p:cNvSpPr>
          <p:nvPr>
            <p:ph type="ftr" sz="quarter" idx="10"/>
          </p:nvPr>
        </p:nvSpPr>
        <p:spPr/>
        <p:txBody>
          <a:bodyPr/>
          <a:lstStyle/>
          <a:p>
            <a:pPr>
              <a:defRPr/>
            </a:pPr>
            <a:r>
              <a:rPr lang="en-US" altLang="zh-CN"/>
              <a:t>BUPT SCST</a:t>
            </a:r>
            <a:endParaRPr lang="en-US" altLang="zh-CN"/>
          </a:p>
        </p:txBody>
      </p:sp>
      <p:sp>
        <p:nvSpPr>
          <p:cNvPr id="46" name="日期占位符 5"/>
          <p:cNvSpPr>
            <a:spLocks noGrp="1"/>
          </p:cNvSpPr>
          <p:nvPr>
            <p:ph type="dt" sz="quarter" idx="12"/>
          </p:nvPr>
        </p:nvSpPr>
        <p:spPr/>
        <p:txBody>
          <a:bodyPr/>
          <a:lstStyle/>
          <a:p>
            <a:pPr>
              <a:defRPr/>
            </a:pPr>
            <a:r>
              <a:rPr lang="en-US" altLang="zh-CN"/>
              <a:t>BUPT</a:t>
            </a:r>
            <a:endParaRPr lang="en-US" altLang="zh-CN"/>
          </a:p>
        </p:txBody>
      </p:sp>
      <p:sp>
        <p:nvSpPr>
          <p:cNvPr id="58372" name="Rectangle 2"/>
          <p:cNvSpPr>
            <a:spLocks noGrp="1" noChangeArrowheads="1"/>
          </p:cNvSpPr>
          <p:nvPr>
            <p:ph type="title"/>
          </p:nvPr>
        </p:nvSpPr>
        <p:spPr/>
        <p:txBody>
          <a:bodyPr/>
          <a:lstStyle/>
          <a:p>
            <a:pPr eaLnBrk="1" hangingPunct="1"/>
            <a:r>
              <a:rPr lang="en-US" altLang="zh-CN" sz="2800" dirty="0" smtClean="0">
                <a:ea typeface="华文楷体" panose="02010600040101010101" pitchFamily="2" charset="-122"/>
              </a:rPr>
              <a:t>6.8 </a:t>
            </a:r>
            <a:r>
              <a:rPr lang="zh-CN" altLang="en-US" sz="2800" dirty="0" smtClean="0">
                <a:ea typeface="华文楷体" panose="02010600040101010101" pitchFamily="2" charset="-122"/>
              </a:rPr>
              <a:t>树和森林</a:t>
            </a:r>
            <a:endParaRPr lang="zh-CN" altLang="en-US" sz="2800" dirty="0" smtClean="0">
              <a:ea typeface="华文楷体" panose="02010600040101010101" pitchFamily="2" charset="-122"/>
            </a:endParaRPr>
          </a:p>
        </p:txBody>
      </p:sp>
      <p:sp>
        <p:nvSpPr>
          <p:cNvPr id="58373" name="Rectangle 3"/>
          <p:cNvSpPr>
            <a:spLocks noGrp="1" noChangeArrowheads="1"/>
          </p:cNvSpPr>
          <p:nvPr>
            <p:ph idx="1"/>
          </p:nvPr>
        </p:nvSpPr>
        <p:spPr/>
        <p:txBody>
          <a:bodyPr/>
          <a:lstStyle/>
          <a:p>
            <a:pPr eaLnBrk="1" hangingPunct="1">
              <a:buFont typeface="Wingdings" panose="05000000000000000000" pitchFamily="2" charset="2"/>
              <a:buNone/>
            </a:pPr>
            <a:r>
              <a:rPr lang="zh-CN" altLang="en-US" sz="2400" b="1" dirty="0" smtClean="0">
                <a:solidFill>
                  <a:srgbClr val="800000"/>
                </a:solidFill>
                <a:ea typeface="华文楷体" panose="02010600040101010101" pitchFamily="2" charset="-122"/>
              </a:rPr>
              <a:t>森林与二叉树的转换</a:t>
            </a:r>
            <a:endParaRPr lang="zh-CN" altLang="en-US" sz="2400"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树转换为二叉树</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1)</a:t>
            </a:r>
            <a:r>
              <a:rPr lang="zh-CN" altLang="en-US" sz="2400" dirty="0" smtClean="0">
                <a:ea typeface="华文楷体" panose="02010600040101010101" pitchFamily="2" charset="-122"/>
              </a:rPr>
              <a:t>在兄弟间加一连线</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对每一结点，去掉它与孩子的连线</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最左子除外</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120000"/>
              </a:lnSpc>
              <a:buFont typeface="Wingdings" panose="05000000000000000000" pitchFamily="2" charset="2"/>
              <a:buNone/>
            </a:pPr>
            <a:r>
              <a:rPr lang="en-US" altLang="zh-CN" sz="2400" dirty="0" smtClean="0">
                <a:ea typeface="华文楷体" panose="02010600040101010101" pitchFamily="2" charset="-122"/>
              </a:rPr>
              <a:t>    3)</a:t>
            </a:r>
            <a:r>
              <a:rPr lang="zh-CN" altLang="en-US" sz="2400" dirty="0" smtClean="0">
                <a:ea typeface="华文楷体" panose="02010600040101010101" pitchFamily="2" charset="-122"/>
              </a:rPr>
              <a:t>以根为轴心将整棵树顺时针转</a:t>
            </a:r>
            <a:r>
              <a:rPr lang="en-US" altLang="zh-CN" sz="2400" dirty="0" smtClean="0">
                <a:ea typeface="华文楷体" panose="02010600040101010101" pitchFamily="2" charset="-122"/>
              </a:rPr>
              <a:t>45</a:t>
            </a:r>
            <a:r>
              <a:rPr lang="en-US" altLang="zh-CN" sz="2400" baseline="30000" dirty="0" smtClean="0">
                <a:ea typeface="华文楷体" panose="02010600040101010101" pitchFamily="2" charset="-122"/>
              </a:rPr>
              <a:t>0</a:t>
            </a:r>
            <a:endParaRPr lang="en-US" altLang="zh-CN" sz="2400" dirty="0" smtClean="0">
              <a:ea typeface="华文楷体" panose="02010600040101010101" pitchFamily="2" charset="-122"/>
            </a:endParaRPr>
          </a:p>
          <a:p>
            <a:pPr eaLnBrk="1" hangingPunct="1">
              <a:lnSpc>
                <a:spcPct val="12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a:ea typeface="华文楷体" panose="02010600040101010101" pitchFamily="2" charset="-122"/>
              </a:rPr>
              <a:t> </a:t>
            </a:r>
            <a:r>
              <a:rPr lang="en-US" altLang="zh-CN" sz="2400" dirty="0" smtClean="0">
                <a:ea typeface="华文楷体" panose="02010600040101010101" pitchFamily="2" charset="-122"/>
              </a:rPr>
              <a:t>  A</a:t>
            </a:r>
            <a:endParaRPr lang="en-US" altLang="zh-CN" sz="2400" dirty="0" smtClean="0">
              <a:ea typeface="华文楷体" panose="02010600040101010101" pitchFamily="2" charset="-122"/>
            </a:endParaRPr>
          </a:p>
          <a:p>
            <a:pPr eaLnBrk="1" hangingPunct="1">
              <a:lnSpc>
                <a:spcPct val="150000"/>
              </a:lnSpc>
              <a:buFont typeface="Wingdings" panose="05000000000000000000" pitchFamily="2" charset="2"/>
              <a:buNone/>
            </a:pPr>
            <a:r>
              <a:rPr lang="en-US" altLang="zh-CN" sz="2400" dirty="0" smtClean="0">
                <a:ea typeface="华文楷体" panose="02010600040101010101" pitchFamily="2" charset="-122"/>
              </a:rPr>
              <a:t>      B        C     D</a:t>
            </a:r>
            <a:endParaRPr lang="en-US" altLang="zh-CN" sz="2400" dirty="0" smtClean="0">
              <a:ea typeface="华文楷体" panose="02010600040101010101" pitchFamily="2" charset="-122"/>
            </a:endParaRPr>
          </a:p>
          <a:p>
            <a:pPr eaLnBrk="1" hangingPunct="1">
              <a:lnSpc>
                <a:spcPct val="150000"/>
              </a:lnSpc>
              <a:buFont typeface="Wingdings" panose="05000000000000000000" pitchFamily="2" charset="2"/>
              <a:buNone/>
            </a:pPr>
            <a:r>
              <a:rPr lang="en-US" altLang="zh-CN" sz="2400" dirty="0" smtClean="0">
                <a:ea typeface="华文楷体" panose="02010600040101010101" pitchFamily="2" charset="-122"/>
              </a:rPr>
              <a:t>E          F           G</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p:txBody>
      </p:sp>
      <p:sp>
        <p:nvSpPr>
          <p:cNvPr id="58374" name="Oval 4"/>
          <p:cNvSpPr>
            <a:spLocks noChangeArrowheads="1"/>
          </p:cNvSpPr>
          <p:nvPr/>
        </p:nvSpPr>
        <p:spPr bwMode="auto">
          <a:xfrm>
            <a:off x="1676400" y="34290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75" name="Oval 5"/>
          <p:cNvSpPr>
            <a:spLocks noChangeArrowheads="1"/>
          </p:cNvSpPr>
          <p:nvPr/>
        </p:nvSpPr>
        <p:spPr bwMode="auto">
          <a:xfrm>
            <a:off x="914400" y="41148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76" name="Oval 6"/>
          <p:cNvSpPr>
            <a:spLocks noChangeArrowheads="1"/>
          </p:cNvSpPr>
          <p:nvPr/>
        </p:nvSpPr>
        <p:spPr bwMode="auto">
          <a:xfrm>
            <a:off x="1676400" y="41148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77" name="Oval 7"/>
          <p:cNvSpPr>
            <a:spLocks noChangeArrowheads="1"/>
          </p:cNvSpPr>
          <p:nvPr/>
        </p:nvSpPr>
        <p:spPr bwMode="auto">
          <a:xfrm>
            <a:off x="2362200" y="41148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78" name="Oval 8"/>
          <p:cNvSpPr>
            <a:spLocks noChangeArrowheads="1"/>
          </p:cNvSpPr>
          <p:nvPr/>
        </p:nvSpPr>
        <p:spPr bwMode="auto">
          <a:xfrm>
            <a:off x="457200" y="4800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79" name="Oval 9"/>
          <p:cNvSpPr>
            <a:spLocks noChangeArrowheads="1"/>
          </p:cNvSpPr>
          <p:nvPr/>
        </p:nvSpPr>
        <p:spPr bwMode="auto">
          <a:xfrm>
            <a:off x="1371600" y="4800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80" name="Oval 10"/>
          <p:cNvSpPr>
            <a:spLocks noChangeArrowheads="1"/>
          </p:cNvSpPr>
          <p:nvPr/>
        </p:nvSpPr>
        <p:spPr bwMode="auto">
          <a:xfrm>
            <a:off x="2438400" y="48006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81" name="Line 11"/>
          <p:cNvSpPr>
            <a:spLocks noChangeShapeType="1"/>
          </p:cNvSpPr>
          <p:nvPr/>
        </p:nvSpPr>
        <p:spPr bwMode="auto">
          <a:xfrm flipH="1">
            <a:off x="1219200" y="3810000"/>
            <a:ext cx="609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2" name="Line 12"/>
          <p:cNvSpPr>
            <a:spLocks noChangeShapeType="1"/>
          </p:cNvSpPr>
          <p:nvPr/>
        </p:nvSpPr>
        <p:spPr bwMode="auto">
          <a:xfrm>
            <a:off x="1828800" y="3810000"/>
            <a:ext cx="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3" name="Line 13"/>
          <p:cNvSpPr>
            <a:spLocks noChangeShapeType="1"/>
          </p:cNvSpPr>
          <p:nvPr/>
        </p:nvSpPr>
        <p:spPr bwMode="auto">
          <a:xfrm>
            <a:off x="1828800" y="3810000"/>
            <a:ext cx="685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4" name="Line 14"/>
          <p:cNvSpPr>
            <a:spLocks noChangeShapeType="1"/>
          </p:cNvSpPr>
          <p:nvPr/>
        </p:nvSpPr>
        <p:spPr bwMode="auto">
          <a:xfrm flipH="1">
            <a:off x="685800" y="4495800"/>
            <a:ext cx="4572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5" name="Line 15"/>
          <p:cNvSpPr>
            <a:spLocks noChangeShapeType="1"/>
          </p:cNvSpPr>
          <p:nvPr/>
        </p:nvSpPr>
        <p:spPr bwMode="auto">
          <a:xfrm>
            <a:off x="1219200" y="4495800"/>
            <a:ext cx="2286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6" name="Line 16"/>
          <p:cNvSpPr>
            <a:spLocks noChangeShapeType="1"/>
          </p:cNvSpPr>
          <p:nvPr/>
        </p:nvSpPr>
        <p:spPr bwMode="auto">
          <a:xfrm>
            <a:off x="2590800" y="4495800"/>
            <a:ext cx="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7" name="Line 17"/>
          <p:cNvSpPr>
            <a:spLocks noChangeShapeType="1"/>
          </p:cNvSpPr>
          <p:nvPr/>
        </p:nvSpPr>
        <p:spPr bwMode="auto">
          <a:xfrm>
            <a:off x="1371600" y="4343400"/>
            <a:ext cx="304800"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8" name="Line 18"/>
          <p:cNvSpPr>
            <a:spLocks noChangeShapeType="1"/>
          </p:cNvSpPr>
          <p:nvPr/>
        </p:nvSpPr>
        <p:spPr bwMode="auto">
          <a:xfrm>
            <a:off x="2057400" y="4343400"/>
            <a:ext cx="304800"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89" name="Line 19"/>
          <p:cNvSpPr>
            <a:spLocks noChangeShapeType="1"/>
          </p:cNvSpPr>
          <p:nvPr/>
        </p:nvSpPr>
        <p:spPr bwMode="auto">
          <a:xfrm>
            <a:off x="838200" y="4953000"/>
            <a:ext cx="533400"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390" name="Text Box 20"/>
          <p:cNvSpPr txBox="1">
            <a:spLocks noChangeArrowheads="1"/>
          </p:cNvSpPr>
          <p:nvPr/>
        </p:nvSpPr>
        <p:spPr bwMode="auto">
          <a:xfrm>
            <a:off x="1600200" y="3810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solidFill>
                  <a:srgbClr val="FF3300"/>
                </a:solidFill>
                <a:latin typeface="Times New Roman" panose="02020603050405020304" pitchFamily="18" charset="0"/>
                <a:ea typeface="华文楷体" panose="02010600040101010101" pitchFamily="2" charset="-122"/>
              </a:rPr>
              <a:t>*</a:t>
            </a:r>
            <a:endParaRPr lang="en-US" altLang="zh-CN" sz="2400" dirty="0">
              <a:solidFill>
                <a:srgbClr val="FF3300"/>
              </a:solidFill>
              <a:latin typeface="Times New Roman" panose="02020603050405020304" pitchFamily="18" charset="0"/>
              <a:ea typeface="华文楷体" panose="02010600040101010101" pitchFamily="2" charset="-122"/>
            </a:endParaRPr>
          </a:p>
        </p:txBody>
      </p:sp>
      <p:sp>
        <p:nvSpPr>
          <p:cNvPr id="58391" name="Text Box 21"/>
          <p:cNvSpPr txBox="1">
            <a:spLocks noChangeArrowheads="1"/>
          </p:cNvSpPr>
          <p:nvPr/>
        </p:nvSpPr>
        <p:spPr bwMode="auto">
          <a:xfrm>
            <a:off x="2209800" y="38100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solidFill>
                  <a:srgbClr val="FF3300"/>
                </a:solidFill>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58392" name="Text Box 22"/>
          <p:cNvSpPr txBox="1">
            <a:spLocks noChangeArrowheads="1"/>
          </p:cNvSpPr>
          <p:nvPr/>
        </p:nvSpPr>
        <p:spPr bwMode="auto">
          <a:xfrm>
            <a:off x="1219200" y="4495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solidFill>
                  <a:srgbClr val="FF3300"/>
                </a:solidFill>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p:txBody>
      </p:sp>
      <p:sp>
        <p:nvSpPr>
          <p:cNvPr id="58393" name="Oval 23"/>
          <p:cNvSpPr>
            <a:spLocks noChangeArrowheads="1"/>
          </p:cNvSpPr>
          <p:nvPr/>
        </p:nvSpPr>
        <p:spPr bwMode="auto">
          <a:xfrm>
            <a:off x="6019800" y="3581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94" name="Oval 24"/>
          <p:cNvSpPr>
            <a:spLocks noChangeArrowheads="1"/>
          </p:cNvSpPr>
          <p:nvPr/>
        </p:nvSpPr>
        <p:spPr bwMode="auto">
          <a:xfrm>
            <a:off x="5334000" y="3962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95" name="Oval 25"/>
          <p:cNvSpPr>
            <a:spLocks noChangeArrowheads="1"/>
          </p:cNvSpPr>
          <p:nvPr/>
        </p:nvSpPr>
        <p:spPr bwMode="auto">
          <a:xfrm>
            <a:off x="4648200" y="44958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96" name="Oval 26"/>
          <p:cNvSpPr>
            <a:spLocks noChangeArrowheads="1"/>
          </p:cNvSpPr>
          <p:nvPr/>
        </p:nvSpPr>
        <p:spPr bwMode="auto">
          <a:xfrm>
            <a:off x="5105400" y="5105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97" name="Oval 27"/>
          <p:cNvSpPr>
            <a:spLocks noChangeArrowheads="1"/>
          </p:cNvSpPr>
          <p:nvPr/>
        </p:nvSpPr>
        <p:spPr bwMode="auto">
          <a:xfrm>
            <a:off x="5867400" y="44958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98" name="Oval 28"/>
          <p:cNvSpPr>
            <a:spLocks noChangeArrowheads="1"/>
          </p:cNvSpPr>
          <p:nvPr/>
        </p:nvSpPr>
        <p:spPr bwMode="auto">
          <a:xfrm>
            <a:off x="6324600" y="5105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399" name="Oval 29"/>
          <p:cNvSpPr>
            <a:spLocks noChangeArrowheads="1"/>
          </p:cNvSpPr>
          <p:nvPr/>
        </p:nvSpPr>
        <p:spPr bwMode="auto">
          <a:xfrm>
            <a:off x="6019800" y="56388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400" name="Line 30"/>
          <p:cNvSpPr>
            <a:spLocks noChangeShapeType="1"/>
          </p:cNvSpPr>
          <p:nvPr/>
        </p:nvSpPr>
        <p:spPr bwMode="auto">
          <a:xfrm flipH="1">
            <a:off x="5715000" y="3810000"/>
            <a:ext cx="304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401" name="Line 31"/>
          <p:cNvSpPr>
            <a:spLocks noChangeShapeType="1"/>
          </p:cNvSpPr>
          <p:nvPr/>
        </p:nvSpPr>
        <p:spPr bwMode="auto">
          <a:xfrm flipH="1">
            <a:off x="4953000" y="42672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402" name="Line 32"/>
          <p:cNvSpPr>
            <a:spLocks noChangeShapeType="1"/>
          </p:cNvSpPr>
          <p:nvPr/>
        </p:nvSpPr>
        <p:spPr bwMode="auto">
          <a:xfrm>
            <a:off x="4953000" y="4876800"/>
            <a:ext cx="228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403" name="Line 33"/>
          <p:cNvSpPr>
            <a:spLocks noChangeShapeType="1"/>
          </p:cNvSpPr>
          <p:nvPr/>
        </p:nvSpPr>
        <p:spPr bwMode="auto">
          <a:xfrm>
            <a:off x="5638800" y="4343400"/>
            <a:ext cx="3048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404" name="Line 34"/>
          <p:cNvSpPr>
            <a:spLocks noChangeShapeType="1"/>
          </p:cNvSpPr>
          <p:nvPr/>
        </p:nvSpPr>
        <p:spPr bwMode="auto">
          <a:xfrm>
            <a:off x="6096000" y="4876800"/>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405" name="Line 35"/>
          <p:cNvSpPr>
            <a:spLocks noChangeShapeType="1"/>
          </p:cNvSpPr>
          <p:nvPr/>
        </p:nvSpPr>
        <p:spPr bwMode="auto">
          <a:xfrm flipH="1">
            <a:off x="6248400" y="5486400"/>
            <a:ext cx="1524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8406" name="Text Box 36"/>
          <p:cNvSpPr txBox="1">
            <a:spLocks noChangeArrowheads="1"/>
          </p:cNvSpPr>
          <p:nvPr/>
        </p:nvSpPr>
        <p:spPr bwMode="auto">
          <a:xfrm>
            <a:off x="5334000" y="38862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a:t>
            </a:r>
            <a:endParaRPr lang="en-US" altLang="zh-CN" sz="2400" dirty="0">
              <a:latin typeface="Times New Roman" panose="02020603050405020304" pitchFamily="18" charset="0"/>
              <a:ea typeface="华文楷体" panose="02010600040101010101" pitchFamily="2" charset="-122"/>
            </a:endParaRPr>
          </a:p>
        </p:txBody>
      </p:sp>
      <p:sp>
        <p:nvSpPr>
          <p:cNvPr id="58407" name="Text Box 37"/>
          <p:cNvSpPr txBox="1">
            <a:spLocks noChangeArrowheads="1"/>
          </p:cNvSpPr>
          <p:nvPr/>
        </p:nvSpPr>
        <p:spPr bwMode="auto">
          <a:xfrm>
            <a:off x="4648200" y="44958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58408" name="Text Box 38"/>
          <p:cNvSpPr txBox="1">
            <a:spLocks noChangeArrowheads="1"/>
          </p:cNvSpPr>
          <p:nvPr/>
        </p:nvSpPr>
        <p:spPr bwMode="auto">
          <a:xfrm>
            <a:off x="5867400" y="44958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a:t>
            </a:r>
            <a:endParaRPr lang="en-US" altLang="zh-CN" sz="2400" dirty="0">
              <a:latin typeface="Times New Roman" panose="02020603050405020304" pitchFamily="18" charset="0"/>
              <a:ea typeface="华文楷体" panose="02010600040101010101" pitchFamily="2" charset="-122"/>
            </a:endParaRPr>
          </a:p>
        </p:txBody>
      </p:sp>
      <p:sp>
        <p:nvSpPr>
          <p:cNvPr id="58409" name="Text Box 39"/>
          <p:cNvSpPr txBox="1">
            <a:spLocks noChangeArrowheads="1"/>
          </p:cNvSpPr>
          <p:nvPr/>
        </p:nvSpPr>
        <p:spPr bwMode="auto">
          <a:xfrm>
            <a:off x="5105400" y="5105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F</a:t>
            </a:r>
            <a:endParaRPr lang="en-US" altLang="zh-CN" sz="2400" dirty="0">
              <a:latin typeface="Times New Roman" panose="02020603050405020304" pitchFamily="18" charset="0"/>
              <a:ea typeface="华文楷体" panose="02010600040101010101" pitchFamily="2" charset="-122"/>
            </a:endParaRPr>
          </a:p>
        </p:txBody>
      </p:sp>
      <p:sp>
        <p:nvSpPr>
          <p:cNvPr id="58410" name="Text Box 40"/>
          <p:cNvSpPr txBox="1">
            <a:spLocks noChangeArrowheads="1"/>
          </p:cNvSpPr>
          <p:nvPr/>
        </p:nvSpPr>
        <p:spPr bwMode="auto">
          <a:xfrm>
            <a:off x="6324600" y="5105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a:t>
            </a:r>
            <a:endParaRPr lang="en-US" altLang="zh-CN" sz="2400" dirty="0">
              <a:latin typeface="Times New Roman" panose="02020603050405020304" pitchFamily="18" charset="0"/>
              <a:ea typeface="华文楷体" panose="02010600040101010101" pitchFamily="2" charset="-122"/>
            </a:endParaRPr>
          </a:p>
        </p:txBody>
      </p:sp>
      <p:sp>
        <p:nvSpPr>
          <p:cNvPr id="58411" name="Text Box 41"/>
          <p:cNvSpPr txBox="1">
            <a:spLocks noChangeArrowheads="1"/>
          </p:cNvSpPr>
          <p:nvPr/>
        </p:nvSpPr>
        <p:spPr bwMode="auto">
          <a:xfrm>
            <a:off x="6019800" y="5562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G</a:t>
            </a:r>
            <a:endParaRPr lang="en-US" altLang="zh-CN" sz="2400" dirty="0">
              <a:latin typeface="Times New Roman" panose="02020603050405020304" pitchFamily="18" charset="0"/>
              <a:ea typeface="华文楷体" panose="02010600040101010101" pitchFamily="2" charset="-122"/>
            </a:endParaRPr>
          </a:p>
        </p:txBody>
      </p:sp>
      <p:sp>
        <p:nvSpPr>
          <p:cNvPr id="58412" name="AutoShape 42"/>
          <p:cNvSpPr>
            <a:spLocks noChangeArrowheads="1"/>
          </p:cNvSpPr>
          <p:nvPr/>
        </p:nvSpPr>
        <p:spPr bwMode="auto">
          <a:xfrm>
            <a:off x="3352800" y="4343400"/>
            <a:ext cx="990600" cy="609600"/>
          </a:xfrm>
          <a:prstGeom prst="rightArrow">
            <a:avLst>
              <a:gd name="adj1" fmla="val 50000"/>
              <a:gd name="adj2" fmla="val 40625"/>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8413" name="Text Box 43"/>
          <p:cNvSpPr txBox="1">
            <a:spLocks noChangeArrowheads="1"/>
          </p:cNvSpPr>
          <p:nvPr/>
        </p:nvSpPr>
        <p:spPr bwMode="auto">
          <a:xfrm>
            <a:off x="6080125" y="3617913"/>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A</a:t>
            </a:r>
            <a:endParaRPr lang="en-US" altLang="zh-CN" sz="1800" dirty="0">
              <a:latin typeface="Times New Roman" panose="02020603050405020304" pitchFamily="18" charset="0"/>
              <a:ea typeface="华文楷体" panose="02010600040101010101" pitchFamily="2" charset="-122"/>
            </a:endParaRPr>
          </a:p>
        </p:txBody>
      </p:sp>
      <p:sp>
        <p:nvSpPr>
          <p:cNvPr id="58414" name="Text Box 44"/>
          <p:cNvSpPr txBox="1">
            <a:spLocks noChangeArrowheads="1"/>
          </p:cNvSpPr>
          <p:nvPr/>
        </p:nvSpPr>
        <p:spPr bwMode="auto">
          <a:xfrm>
            <a:off x="7010400" y="3581400"/>
            <a:ext cx="1752600" cy="18383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zh-CN" altLang="en-US" sz="2400" dirty="0">
                <a:latin typeface="Times New Roman" panose="02020603050405020304" pitchFamily="18" charset="0"/>
                <a:ea typeface="华文楷体" panose="02010600040101010101" pitchFamily="2" charset="-122"/>
              </a:rPr>
              <a:t>特点：</a:t>
            </a:r>
            <a:endParaRPr lang="zh-CN" altLang="en-US" sz="24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lang="zh-CN" altLang="en-US" sz="2000" dirty="0">
                <a:latin typeface="Times New Roman" panose="02020603050405020304" pitchFamily="18" charset="0"/>
                <a:ea typeface="华文楷体" panose="02010600040101010101" pitchFamily="2" charset="-122"/>
              </a:rPr>
              <a:t>无右子树</a:t>
            </a:r>
            <a:endParaRPr lang="zh-CN" altLang="en-US" sz="20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lang="zh-CN" altLang="en-US" sz="2000" dirty="0">
                <a:latin typeface="Times New Roman" panose="02020603050405020304" pitchFamily="18" charset="0"/>
                <a:ea typeface="华文楷体" panose="02010600040101010101" pitchFamily="2" charset="-122"/>
              </a:rPr>
              <a:t>左支是孩子</a:t>
            </a:r>
            <a:endParaRPr lang="zh-CN" altLang="en-US" sz="2000" dirty="0">
              <a:latin typeface="Times New Roman" panose="02020603050405020304" pitchFamily="18" charset="0"/>
              <a:ea typeface="华文楷体" panose="02010600040101010101" pitchFamily="2" charset="-122"/>
            </a:endParaRPr>
          </a:p>
          <a:p>
            <a:pPr eaLnBrk="1" hangingPunct="1">
              <a:spcBef>
                <a:spcPct val="50000"/>
              </a:spcBef>
              <a:buClrTx/>
              <a:buFontTx/>
              <a:buNone/>
            </a:pPr>
            <a:r>
              <a:rPr lang="zh-CN" altLang="en-US" sz="2000" dirty="0">
                <a:latin typeface="Times New Roman" panose="02020603050405020304" pitchFamily="18" charset="0"/>
                <a:ea typeface="华文楷体" panose="02010600040101010101" pitchFamily="2" charset="-122"/>
              </a:rPr>
              <a:t>右支是兄弟</a:t>
            </a:r>
            <a:endParaRPr lang="zh-CN" altLang="en-US"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页脚占位符 3"/>
          <p:cNvSpPr>
            <a:spLocks noGrp="1"/>
          </p:cNvSpPr>
          <p:nvPr>
            <p:ph type="ftr" sz="quarter" idx="10"/>
          </p:nvPr>
        </p:nvSpPr>
        <p:spPr/>
        <p:txBody>
          <a:bodyPr/>
          <a:lstStyle/>
          <a:p>
            <a:pPr>
              <a:defRPr/>
            </a:pPr>
            <a:r>
              <a:rPr lang="en-US" altLang="zh-CN"/>
              <a:t>BUPT SCST</a:t>
            </a:r>
            <a:endParaRPr lang="en-US" altLang="zh-CN"/>
          </a:p>
        </p:txBody>
      </p:sp>
      <p:sp>
        <p:nvSpPr>
          <p:cNvPr id="47" name="日期占位符 5"/>
          <p:cNvSpPr>
            <a:spLocks noGrp="1"/>
          </p:cNvSpPr>
          <p:nvPr>
            <p:ph type="dt" sz="quarter" idx="12"/>
          </p:nvPr>
        </p:nvSpPr>
        <p:spPr/>
        <p:txBody>
          <a:bodyPr/>
          <a:lstStyle/>
          <a:p>
            <a:pPr>
              <a:defRPr/>
            </a:pPr>
            <a:r>
              <a:rPr lang="en-US" altLang="zh-CN"/>
              <a:t>BUPT</a:t>
            </a:r>
            <a:endParaRPr lang="en-US" altLang="zh-CN"/>
          </a:p>
        </p:txBody>
      </p:sp>
      <p:sp>
        <p:nvSpPr>
          <p:cNvPr id="593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9397" name="Rectangle 3"/>
          <p:cNvSpPr>
            <a:spLocks noGrp="1" noChangeArrowheads="1"/>
          </p:cNvSpPr>
          <p:nvPr>
            <p:ph idx="1"/>
          </p:nvPr>
        </p:nvSpPr>
        <p:spPr>
          <a:xfrm>
            <a:off x="457200" y="1152525"/>
            <a:ext cx="8381888" cy="5248275"/>
          </a:xfrm>
          <a:ln>
            <a:solidFill>
              <a:schemeClr val="accent1"/>
            </a:solidFill>
          </a:ln>
        </p:spPr>
        <p:txBody>
          <a:bodyPr/>
          <a:lstStyle/>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森林转换为二叉树</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1)</a:t>
            </a:r>
            <a:r>
              <a:rPr lang="zh-CN" altLang="en-US" sz="2400" dirty="0" smtClean="0">
                <a:ea typeface="华文楷体" panose="02010600040101010101" pitchFamily="2" charset="-122"/>
              </a:rPr>
              <a:t>先将森林里的每一棵树转换成一棵二叉树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从最后一棵树开始，把后一棵树的作为前一棵树的根的右子</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A           E          G</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B    C   D       </a:t>
            </a:r>
            <a:r>
              <a:rPr lang="en-US" altLang="zh-CN" sz="2400" smtClean="0">
                <a:ea typeface="华文楷体" panose="02010600040101010101" pitchFamily="2" charset="-122"/>
              </a:rPr>
              <a:t>F      </a:t>
            </a:r>
            <a:r>
              <a:rPr lang="en-US" altLang="zh-CN" sz="2400" smtClean="0">
                <a:ea typeface="华文楷体" panose="02010600040101010101" pitchFamily="2" charset="-122"/>
              </a:rPr>
              <a:t> H       </a:t>
            </a:r>
            <a:r>
              <a:rPr lang="en-US" altLang="zh-CN" sz="2400" dirty="0" smtClean="0">
                <a:ea typeface="华文楷体" panose="02010600040101010101" pitchFamily="2" charset="-122"/>
              </a:rPr>
              <a:t>I</a:t>
            </a:r>
            <a:endParaRPr lang="en-US" altLang="zh-CN" sz="2400" dirty="0" smtClean="0">
              <a:ea typeface="华文楷体" panose="02010600040101010101" pitchFamily="2" charset="-122"/>
            </a:endParaRPr>
          </a:p>
          <a:p>
            <a:pPr eaLnBrk="1" hangingPunct="1">
              <a:lnSpc>
                <a:spcPct val="90000"/>
              </a:lnSpc>
              <a:spcBef>
                <a:spcPct val="50000"/>
              </a:spcBef>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zh-CN" sz="2400" b="1" dirty="0" smtClean="0">
                <a:solidFill>
                  <a:srgbClr val="CC6600"/>
                </a:solidFill>
                <a:ea typeface="华文楷体" panose="02010600040101010101" pitchFamily="2" charset="-122"/>
              </a:rPr>
              <a:t>二叉树转换为树/森林]</a:t>
            </a:r>
            <a:endParaRPr lang="zh-CN" altLang="zh-CN" sz="24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sp>
        <p:nvSpPr>
          <p:cNvPr id="59398" name="Oval 4"/>
          <p:cNvSpPr>
            <a:spLocks noChangeArrowheads="1"/>
          </p:cNvSpPr>
          <p:nvPr/>
        </p:nvSpPr>
        <p:spPr bwMode="auto">
          <a:xfrm>
            <a:off x="6096000" y="24511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399" name="Oval 5"/>
          <p:cNvSpPr>
            <a:spLocks noChangeArrowheads="1"/>
          </p:cNvSpPr>
          <p:nvPr/>
        </p:nvSpPr>
        <p:spPr bwMode="auto">
          <a:xfrm>
            <a:off x="5334000" y="31369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00" name="Oval 6"/>
          <p:cNvSpPr>
            <a:spLocks noChangeArrowheads="1"/>
          </p:cNvSpPr>
          <p:nvPr/>
        </p:nvSpPr>
        <p:spPr bwMode="auto">
          <a:xfrm>
            <a:off x="6934200" y="31369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01" name="Oval 7"/>
          <p:cNvSpPr>
            <a:spLocks noChangeArrowheads="1"/>
          </p:cNvSpPr>
          <p:nvPr/>
        </p:nvSpPr>
        <p:spPr bwMode="auto">
          <a:xfrm>
            <a:off x="5791200" y="40513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02" name="Oval 8"/>
          <p:cNvSpPr>
            <a:spLocks noChangeArrowheads="1"/>
          </p:cNvSpPr>
          <p:nvPr/>
        </p:nvSpPr>
        <p:spPr bwMode="auto">
          <a:xfrm>
            <a:off x="6705600" y="40513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03" name="Oval 9"/>
          <p:cNvSpPr>
            <a:spLocks noChangeArrowheads="1"/>
          </p:cNvSpPr>
          <p:nvPr/>
        </p:nvSpPr>
        <p:spPr bwMode="auto">
          <a:xfrm>
            <a:off x="7696200" y="40513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04" name="Oval 10"/>
          <p:cNvSpPr>
            <a:spLocks noChangeArrowheads="1"/>
          </p:cNvSpPr>
          <p:nvPr/>
        </p:nvSpPr>
        <p:spPr bwMode="auto">
          <a:xfrm>
            <a:off x="7315200" y="48133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05" name="Oval 11"/>
          <p:cNvSpPr>
            <a:spLocks noChangeArrowheads="1"/>
          </p:cNvSpPr>
          <p:nvPr/>
        </p:nvSpPr>
        <p:spPr bwMode="auto">
          <a:xfrm>
            <a:off x="8077200" y="54229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06" name="Text Box 12"/>
          <p:cNvSpPr txBox="1">
            <a:spLocks noChangeArrowheads="1"/>
          </p:cNvSpPr>
          <p:nvPr/>
        </p:nvSpPr>
        <p:spPr bwMode="auto">
          <a:xfrm>
            <a:off x="6172200" y="24511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59407" name="Text Box 13"/>
          <p:cNvSpPr txBox="1">
            <a:spLocks noChangeArrowheads="1"/>
          </p:cNvSpPr>
          <p:nvPr/>
        </p:nvSpPr>
        <p:spPr bwMode="auto">
          <a:xfrm>
            <a:off x="5410200" y="31369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a:t>
            </a:r>
            <a:endParaRPr lang="en-US" altLang="zh-CN" sz="2400" dirty="0">
              <a:latin typeface="Times New Roman" panose="02020603050405020304" pitchFamily="18" charset="0"/>
              <a:ea typeface="华文楷体" panose="02010600040101010101" pitchFamily="2" charset="-122"/>
            </a:endParaRPr>
          </a:p>
        </p:txBody>
      </p:sp>
      <p:sp>
        <p:nvSpPr>
          <p:cNvPr id="59408" name="Text Box 14"/>
          <p:cNvSpPr txBox="1">
            <a:spLocks noChangeArrowheads="1"/>
          </p:cNvSpPr>
          <p:nvPr/>
        </p:nvSpPr>
        <p:spPr bwMode="auto">
          <a:xfrm>
            <a:off x="7010400" y="31369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59409" name="Text Box 15"/>
          <p:cNvSpPr txBox="1">
            <a:spLocks noChangeArrowheads="1"/>
          </p:cNvSpPr>
          <p:nvPr/>
        </p:nvSpPr>
        <p:spPr bwMode="auto">
          <a:xfrm>
            <a:off x="5791200" y="40513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          F           G  </a:t>
            </a:r>
            <a:endParaRPr lang="en-US" altLang="zh-CN" sz="2400" dirty="0">
              <a:latin typeface="Times New Roman" panose="02020603050405020304" pitchFamily="18" charset="0"/>
              <a:ea typeface="华文楷体" panose="02010600040101010101" pitchFamily="2" charset="-122"/>
            </a:endParaRPr>
          </a:p>
        </p:txBody>
      </p:sp>
      <p:sp>
        <p:nvSpPr>
          <p:cNvPr id="59410" name="Oval 16"/>
          <p:cNvSpPr>
            <a:spLocks noChangeArrowheads="1"/>
          </p:cNvSpPr>
          <p:nvPr/>
        </p:nvSpPr>
        <p:spPr bwMode="auto">
          <a:xfrm>
            <a:off x="6324600" y="48133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11" name="Text Box 17"/>
          <p:cNvSpPr txBox="1">
            <a:spLocks noChangeArrowheads="1"/>
          </p:cNvSpPr>
          <p:nvPr/>
        </p:nvSpPr>
        <p:spPr bwMode="auto">
          <a:xfrm>
            <a:off x="6400800" y="48133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          H</a:t>
            </a:r>
            <a:endParaRPr lang="en-US" altLang="zh-CN" sz="2400" dirty="0">
              <a:latin typeface="Times New Roman" panose="02020603050405020304" pitchFamily="18" charset="0"/>
              <a:ea typeface="华文楷体" panose="02010600040101010101" pitchFamily="2" charset="-122"/>
            </a:endParaRPr>
          </a:p>
        </p:txBody>
      </p:sp>
      <p:sp>
        <p:nvSpPr>
          <p:cNvPr id="59412" name="Text Box 18"/>
          <p:cNvSpPr txBox="1">
            <a:spLocks noChangeArrowheads="1"/>
          </p:cNvSpPr>
          <p:nvPr/>
        </p:nvSpPr>
        <p:spPr bwMode="auto">
          <a:xfrm>
            <a:off x="8153400" y="54229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I</a:t>
            </a:r>
            <a:endParaRPr lang="en-US" altLang="zh-CN" sz="2400" dirty="0">
              <a:latin typeface="Times New Roman" panose="02020603050405020304" pitchFamily="18" charset="0"/>
              <a:ea typeface="华文楷体" panose="02010600040101010101" pitchFamily="2" charset="-122"/>
            </a:endParaRPr>
          </a:p>
        </p:txBody>
      </p:sp>
      <p:sp>
        <p:nvSpPr>
          <p:cNvPr id="59413" name="Line 19"/>
          <p:cNvSpPr>
            <a:spLocks noChangeShapeType="1"/>
          </p:cNvSpPr>
          <p:nvPr/>
        </p:nvSpPr>
        <p:spPr bwMode="auto">
          <a:xfrm flipH="1">
            <a:off x="5562600" y="2908300"/>
            <a:ext cx="7620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14" name="Line 20"/>
          <p:cNvSpPr>
            <a:spLocks noChangeShapeType="1"/>
          </p:cNvSpPr>
          <p:nvPr/>
        </p:nvSpPr>
        <p:spPr bwMode="auto">
          <a:xfrm>
            <a:off x="6324600" y="2908300"/>
            <a:ext cx="685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15" name="Line 21"/>
          <p:cNvSpPr>
            <a:spLocks noChangeShapeType="1"/>
          </p:cNvSpPr>
          <p:nvPr/>
        </p:nvSpPr>
        <p:spPr bwMode="auto">
          <a:xfrm>
            <a:off x="5638800" y="3594100"/>
            <a:ext cx="3810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16" name="Line 22"/>
          <p:cNvSpPr>
            <a:spLocks noChangeShapeType="1"/>
          </p:cNvSpPr>
          <p:nvPr/>
        </p:nvSpPr>
        <p:spPr bwMode="auto">
          <a:xfrm>
            <a:off x="6172200" y="4508500"/>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17" name="Line 23"/>
          <p:cNvSpPr>
            <a:spLocks noChangeShapeType="1"/>
          </p:cNvSpPr>
          <p:nvPr/>
        </p:nvSpPr>
        <p:spPr bwMode="auto">
          <a:xfrm flipH="1">
            <a:off x="6934200" y="3594100"/>
            <a:ext cx="1524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18" name="Line 24"/>
          <p:cNvSpPr>
            <a:spLocks noChangeShapeType="1"/>
          </p:cNvSpPr>
          <p:nvPr/>
        </p:nvSpPr>
        <p:spPr bwMode="auto">
          <a:xfrm>
            <a:off x="7239000" y="3594100"/>
            <a:ext cx="6858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19" name="Line 25"/>
          <p:cNvSpPr>
            <a:spLocks noChangeShapeType="1"/>
          </p:cNvSpPr>
          <p:nvPr/>
        </p:nvSpPr>
        <p:spPr bwMode="auto">
          <a:xfrm flipH="1">
            <a:off x="7543800" y="4508500"/>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20" name="Line 26"/>
          <p:cNvSpPr>
            <a:spLocks noChangeShapeType="1"/>
          </p:cNvSpPr>
          <p:nvPr/>
        </p:nvSpPr>
        <p:spPr bwMode="auto">
          <a:xfrm>
            <a:off x="7696200" y="5194300"/>
            <a:ext cx="381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21" name="AutoShape 27"/>
          <p:cNvSpPr>
            <a:spLocks noChangeArrowheads="1"/>
          </p:cNvSpPr>
          <p:nvPr/>
        </p:nvSpPr>
        <p:spPr bwMode="auto">
          <a:xfrm>
            <a:off x="4419600" y="3746500"/>
            <a:ext cx="990600" cy="381000"/>
          </a:xfrm>
          <a:prstGeom prst="rightArrow">
            <a:avLst>
              <a:gd name="adj1" fmla="val 50000"/>
              <a:gd name="adj2" fmla="val 65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22" name="Freeform 28"/>
          <p:cNvSpPr>
            <a:spLocks noChangeArrowheads="1"/>
          </p:cNvSpPr>
          <p:nvPr/>
        </p:nvSpPr>
        <p:spPr bwMode="auto">
          <a:xfrm>
            <a:off x="5245100" y="2336800"/>
            <a:ext cx="1714500" cy="3098800"/>
          </a:xfrm>
          <a:custGeom>
            <a:avLst/>
            <a:gdLst>
              <a:gd name="T0" fmla="*/ 1713706250 w 1080"/>
              <a:gd name="T1" fmla="*/ 60483750 h 1952"/>
              <a:gd name="T2" fmla="*/ 383063750 w 1080"/>
              <a:gd name="T3" fmla="*/ 544353750 h 1952"/>
              <a:gd name="T4" fmla="*/ 20161250 w 1080"/>
              <a:gd name="T5" fmla="*/ 1754028750 h 1952"/>
              <a:gd name="T6" fmla="*/ 504031250 w 1080"/>
              <a:gd name="T7" fmla="*/ 2147483646 h 1952"/>
              <a:gd name="T8" fmla="*/ 745966250 w 1080"/>
              <a:gd name="T9" fmla="*/ 2147483646 h 1952"/>
              <a:gd name="T10" fmla="*/ 1350803750 w 1080"/>
              <a:gd name="T11" fmla="*/ 2147483646 h 1952"/>
              <a:gd name="T12" fmla="*/ 1713706250 w 1080"/>
              <a:gd name="T13" fmla="*/ 2147483646 h 1952"/>
              <a:gd name="T14" fmla="*/ 2147483646 w 1080"/>
              <a:gd name="T15" fmla="*/ 2147483646 h 1952"/>
              <a:gd name="T16" fmla="*/ 2147483646 w 1080"/>
              <a:gd name="T17" fmla="*/ 2147483646 h 1952"/>
              <a:gd name="T18" fmla="*/ 2147483646 w 1080"/>
              <a:gd name="T19" fmla="*/ 2147483646 h 1952"/>
              <a:gd name="T20" fmla="*/ 1834673750 w 1080"/>
              <a:gd name="T21" fmla="*/ 2147483646 h 1952"/>
              <a:gd name="T22" fmla="*/ 1834673750 w 1080"/>
              <a:gd name="T23" fmla="*/ 2147483646 h 1952"/>
              <a:gd name="T24" fmla="*/ 1229836250 w 1080"/>
              <a:gd name="T25" fmla="*/ 2147483646 h 1952"/>
              <a:gd name="T26" fmla="*/ 987901250 w 1080"/>
              <a:gd name="T27" fmla="*/ 1874996250 h 1952"/>
              <a:gd name="T28" fmla="*/ 987901250 w 1080"/>
              <a:gd name="T29" fmla="*/ 1391126250 h 1952"/>
              <a:gd name="T30" fmla="*/ 1713706250 w 1080"/>
              <a:gd name="T31" fmla="*/ 1149191250 h 1952"/>
              <a:gd name="T32" fmla="*/ 2147483646 w 1080"/>
              <a:gd name="T33" fmla="*/ 786288750 h 1952"/>
              <a:gd name="T34" fmla="*/ 2076608750 w 1080"/>
              <a:gd name="T35" fmla="*/ 181451250 h 1952"/>
              <a:gd name="T36" fmla="*/ 1713706250 w 1080"/>
              <a:gd name="T37" fmla="*/ 60483750 h 19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80" h="1952">
                <a:moveTo>
                  <a:pt x="680" y="24"/>
                </a:moveTo>
                <a:cubicBezTo>
                  <a:pt x="568" y="48"/>
                  <a:pt x="264" y="104"/>
                  <a:pt x="152" y="216"/>
                </a:cubicBezTo>
                <a:cubicBezTo>
                  <a:pt x="40" y="328"/>
                  <a:pt x="0" y="568"/>
                  <a:pt x="8" y="696"/>
                </a:cubicBezTo>
                <a:cubicBezTo>
                  <a:pt x="16" y="824"/>
                  <a:pt x="152" y="880"/>
                  <a:pt x="200" y="984"/>
                </a:cubicBezTo>
                <a:cubicBezTo>
                  <a:pt x="248" y="1088"/>
                  <a:pt x="240" y="1224"/>
                  <a:pt x="296" y="1320"/>
                </a:cubicBezTo>
                <a:cubicBezTo>
                  <a:pt x="352" y="1416"/>
                  <a:pt x="472" y="1464"/>
                  <a:pt x="536" y="1560"/>
                </a:cubicBezTo>
                <a:cubicBezTo>
                  <a:pt x="600" y="1656"/>
                  <a:pt x="624" y="1840"/>
                  <a:pt x="680" y="1896"/>
                </a:cubicBezTo>
                <a:cubicBezTo>
                  <a:pt x="736" y="1952"/>
                  <a:pt x="808" y="1920"/>
                  <a:pt x="872" y="1896"/>
                </a:cubicBezTo>
                <a:cubicBezTo>
                  <a:pt x="936" y="1872"/>
                  <a:pt x="1048" y="1816"/>
                  <a:pt x="1064" y="1752"/>
                </a:cubicBezTo>
                <a:cubicBezTo>
                  <a:pt x="1080" y="1688"/>
                  <a:pt x="1024" y="1576"/>
                  <a:pt x="968" y="1512"/>
                </a:cubicBezTo>
                <a:cubicBezTo>
                  <a:pt x="912" y="1448"/>
                  <a:pt x="768" y="1432"/>
                  <a:pt x="728" y="1368"/>
                </a:cubicBezTo>
                <a:cubicBezTo>
                  <a:pt x="688" y="1304"/>
                  <a:pt x="768" y="1192"/>
                  <a:pt x="728" y="1128"/>
                </a:cubicBezTo>
                <a:cubicBezTo>
                  <a:pt x="688" y="1064"/>
                  <a:pt x="544" y="1048"/>
                  <a:pt x="488" y="984"/>
                </a:cubicBezTo>
                <a:cubicBezTo>
                  <a:pt x="432" y="920"/>
                  <a:pt x="408" y="816"/>
                  <a:pt x="392" y="744"/>
                </a:cubicBezTo>
                <a:cubicBezTo>
                  <a:pt x="376" y="672"/>
                  <a:pt x="344" y="600"/>
                  <a:pt x="392" y="552"/>
                </a:cubicBezTo>
                <a:cubicBezTo>
                  <a:pt x="440" y="504"/>
                  <a:pt x="592" y="496"/>
                  <a:pt x="680" y="456"/>
                </a:cubicBezTo>
                <a:cubicBezTo>
                  <a:pt x="768" y="416"/>
                  <a:pt x="896" y="376"/>
                  <a:pt x="920" y="312"/>
                </a:cubicBezTo>
                <a:cubicBezTo>
                  <a:pt x="944" y="248"/>
                  <a:pt x="864" y="120"/>
                  <a:pt x="824" y="72"/>
                </a:cubicBezTo>
                <a:cubicBezTo>
                  <a:pt x="784" y="24"/>
                  <a:pt x="792" y="0"/>
                  <a:pt x="680" y="24"/>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23" name="Freeform 29"/>
          <p:cNvSpPr>
            <a:spLocks noChangeArrowheads="1"/>
          </p:cNvSpPr>
          <p:nvPr/>
        </p:nvSpPr>
        <p:spPr bwMode="auto">
          <a:xfrm>
            <a:off x="6540500" y="3048000"/>
            <a:ext cx="1143000" cy="1587500"/>
          </a:xfrm>
          <a:custGeom>
            <a:avLst/>
            <a:gdLst>
              <a:gd name="T0" fmla="*/ 987901250 w 720"/>
              <a:gd name="T1" fmla="*/ 20161250 h 1000"/>
              <a:gd name="T2" fmla="*/ 383063750 w 720"/>
              <a:gd name="T3" fmla="*/ 141128750 h 1000"/>
              <a:gd name="T4" fmla="*/ 383063750 w 720"/>
              <a:gd name="T5" fmla="*/ 624998750 h 1000"/>
              <a:gd name="T6" fmla="*/ 383063750 w 720"/>
              <a:gd name="T7" fmla="*/ 1108868750 h 1000"/>
              <a:gd name="T8" fmla="*/ 383063750 w 720"/>
              <a:gd name="T9" fmla="*/ 1350803750 h 1000"/>
              <a:gd name="T10" fmla="*/ 20161250 w 720"/>
              <a:gd name="T11" fmla="*/ 1955641250 h 1000"/>
              <a:gd name="T12" fmla="*/ 262096250 w 720"/>
              <a:gd name="T13" fmla="*/ 2147483646 h 1000"/>
              <a:gd name="T14" fmla="*/ 866933750 w 720"/>
              <a:gd name="T15" fmla="*/ 2147483646 h 1000"/>
              <a:gd name="T16" fmla="*/ 1229836250 w 720"/>
              <a:gd name="T17" fmla="*/ 1955641250 h 1000"/>
              <a:gd name="T18" fmla="*/ 1108868750 w 720"/>
              <a:gd name="T19" fmla="*/ 1471771250 h 1000"/>
              <a:gd name="T20" fmla="*/ 1471771250 w 720"/>
              <a:gd name="T21" fmla="*/ 866933750 h 1000"/>
              <a:gd name="T22" fmla="*/ 1713706250 w 720"/>
              <a:gd name="T23" fmla="*/ 141128750 h 1000"/>
              <a:gd name="T24" fmla="*/ 987901250 w 720"/>
              <a:gd name="T25" fmla="*/ 20161250 h 1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20" h="1000">
                <a:moveTo>
                  <a:pt x="392" y="8"/>
                </a:moveTo>
                <a:cubicBezTo>
                  <a:pt x="304" y="8"/>
                  <a:pt x="192" y="16"/>
                  <a:pt x="152" y="56"/>
                </a:cubicBezTo>
                <a:cubicBezTo>
                  <a:pt x="112" y="96"/>
                  <a:pt x="152" y="184"/>
                  <a:pt x="152" y="248"/>
                </a:cubicBezTo>
                <a:cubicBezTo>
                  <a:pt x="152" y="312"/>
                  <a:pt x="152" y="392"/>
                  <a:pt x="152" y="440"/>
                </a:cubicBezTo>
                <a:cubicBezTo>
                  <a:pt x="152" y="488"/>
                  <a:pt x="176" y="480"/>
                  <a:pt x="152" y="536"/>
                </a:cubicBezTo>
                <a:cubicBezTo>
                  <a:pt x="128" y="592"/>
                  <a:pt x="16" y="704"/>
                  <a:pt x="8" y="776"/>
                </a:cubicBezTo>
                <a:cubicBezTo>
                  <a:pt x="0" y="848"/>
                  <a:pt x="48" y="936"/>
                  <a:pt x="104" y="968"/>
                </a:cubicBezTo>
                <a:cubicBezTo>
                  <a:pt x="160" y="1000"/>
                  <a:pt x="280" y="1000"/>
                  <a:pt x="344" y="968"/>
                </a:cubicBezTo>
                <a:cubicBezTo>
                  <a:pt x="408" y="936"/>
                  <a:pt x="472" y="840"/>
                  <a:pt x="488" y="776"/>
                </a:cubicBezTo>
                <a:cubicBezTo>
                  <a:pt x="504" y="712"/>
                  <a:pt x="424" y="656"/>
                  <a:pt x="440" y="584"/>
                </a:cubicBezTo>
                <a:cubicBezTo>
                  <a:pt x="456" y="512"/>
                  <a:pt x="544" y="432"/>
                  <a:pt x="584" y="344"/>
                </a:cubicBezTo>
                <a:cubicBezTo>
                  <a:pt x="624" y="256"/>
                  <a:pt x="720" y="112"/>
                  <a:pt x="680" y="56"/>
                </a:cubicBezTo>
                <a:cubicBezTo>
                  <a:pt x="640" y="0"/>
                  <a:pt x="480" y="8"/>
                  <a:pt x="392" y="8"/>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24" name="Freeform 30"/>
          <p:cNvSpPr>
            <a:spLocks noChangeArrowheads="1"/>
          </p:cNvSpPr>
          <p:nvPr/>
        </p:nvSpPr>
        <p:spPr bwMode="auto">
          <a:xfrm>
            <a:off x="7124700" y="3886200"/>
            <a:ext cx="1587500" cy="2209800"/>
          </a:xfrm>
          <a:custGeom>
            <a:avLst/>
            <a:gdLst>
              <a:gd name="T0" fmla="*/ 1512093750 w 1000"/>
              <a:gd name="T1" fmla="*/ 20161250 h 1392"/>
              <a:gd name="T2" fmla="*/ 786288750 w 1000"/>
              <a:gd name="T3" fmla="*/ 141128750 h 1392"/>
              <a:gd name="T4" fmla="*/ 665321250 w 1000"/>
              <a:gd name="T5" fmla="*/ 866933750 h 1392"/>
              <a:gd name="T6" fmla="*/ 423386250 w 1000"/>
              <a:gd name="T7" fmla="*/ 1229836250 h 1392"/>
              <a:gd name="T8" fmla="*/ 181451250 w 1000"/>
              <a:gd name="T9" fmla="*/ 1592738750 h 1392"/>
              <a:gd name="T10" fmla="*/ 60483750 w 1000"/>
              <a:gd name="T11" fmla="*/ 2147483646 h 1392"/>
              <a:gd name="T12" fmla="*/ 544353750 w 1000"/>
              <a:gd name="T13" fmla="*/ 2147483646 h 1392"/>
              <a:gd name="T14" fmla="*/ 1149191250 w 1000"/>
              <a:gd name="T15" fmla="*/ 2147483646 h 1392"/>
              <a:gd name="T16" fmla="*/ 1633061250 w 1000"/>
              <a:gd name="T17" fmla="*/ 2147483646 h 1392"/>
              <a:gd name="T18" fmla="*/ 2147483646 w 1000"/>
              <a:gd name="T19" fmla="*/ 2147483646 h 1392"/>
              <a:gd name="T20" fmla="*/ 2147483646 w 1000"/>
              <a:gd name="T21" fmla="*/ 2147483646 h 1392"/>
              <a:gd name="T22" fmla="*/ 1995963750 w 1000"/>
              <a:gd name="T23" fmla="*/ 2147483646 h 1392"/>
              <a:gd name="T24" fmla="*/ 1391126250 w 1000"/>
              <a:gd name="T25" fmla="*/ 1713706250 h 1392"/>
              <a:gd name="T26" fmla="*/ 1995963750 w 1000"/>
              <a:gd name="T27" fmla="*/ 745966250 h 1392"/>
              <a:gd name="T28" fmla="*/ 1754028750 w 1000"/>
              <a:gd name="T29" fmla="*/ 141128750 h 1392"/>
              <a:gd name="T30" fmla="*/ 1512093750 w 1000"/>
              <a:gd name="T31" fmla="*/ 20161250 h 13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000" h="1392">
                <a:moveTo>
                  <a:pt x="600" y="8"/>
                </a:moveTo>
                <a:cubicBezTo>
                  <a:pt x="536" y="8"/>
                  <a:pt x="368" y="0"/>
                  <a:pt x="312" y="56"/>
                </a:cubicBezTo>
                <a:cubicBezTo>
                  <a:pt x="256" y="112"/>
                  <a:pt x="288" y="272"/>
                  <a:pt x="264" y="344"/>
                </a:cubicBezTo>
                <a:cubicBezTo>
                  <a:pt x="240" y="416"/>
                  <a:pt x="200" y="440"/>
                  <a:pt x="168" y="488"/>
                </a:cubicBezTo>
                <a:cubicBezTo>
                  <a:pt x="136" y="536"/>
                  <a:pt x="96" y="568"/>
                  <a:pt x="72" y="632"/>
                </a:cubicBezTo>
                <a:cubicBezTo>
                  <a:pt x="48" y="696"/>
                  <a:pt x="0" y="816"/>
                  <a:pt x="24" y="872"/>
                </a:cubicBezTo>
                <a:cubicBezTo>
                  <a:pt x="48" y="928"/>
                  <a:pt x="144" y="912"/>
                  <a:pt x="216" y="968"/>
                </a:cubicBezTo>
                <a:cubicBezTo>
                  <a:pt x="288" y="1024"/>
                  <a:pt x="384" y="1152"/>
                  <a:pt x="456" y="1208"/>
                </a:cubicBezTo>
                <a:cubicBezTo>
                  <a:pt x="528" y="1264"/>
                  <a:pt x="576" y="1280"/>
                  <a:pt x="648" y="1304"/>
                </a:cubicBezTo>
                <a:cubicBezTo>
                  <a:pt x="720" y="1328"/>
                  <a:pt x="832" y="1392"/>
                  <a:pt x="888" y="1352"/>
                </a:cubicBezTo>
                <a:cubicBezTo>
                  <a:pt x="944" y="1312"/>
                  <a:pt x="1000" y="1144"/>
                  <a:pt x="984" y="1064"/>
                </a:cubicBezTo>
                <a:cubicBezTo>
                  <a:pt x="968" y="984"/>
                  <a:pt x="864" y="936"/>
                  <a:pt x="792" y="872"/>
                </a:cubicBezTo>
                <a:cubicBezTo>
                  <a:pt x="720" y="808"/>
                  <a:pt x="552" y="776"/>
                  <a:pt x="552" y="680"/>
                </a:cubicBezTo>
                <a:cubicBezTo>
                  <a:pt x="552" y="584"/>
                  <a:pt x="768" y="400"/>
                  <a:pt x="792" y="296"/>
                </a:cubicBezTo>
                <a:cubicBezTo>
                  <a:pt x="816" y="192"/>
                  <a:pt x="728" y="104"/>
                  <a:pt x="696" y="56"/>
                </a:cubicBezTo>
                <a:cubicBezTo>
                  <a:pt x="664" y="8"/>
                  <a:pt x="664" y="8"/>
                  <a:pt x="600" y="8"/>
                </a:cubicBezTo>
                <a:close/>
              </a:path>
            </a:pathLst>
          </a:custGeom>
          <a:noFill/>
          <a:ln w="9525">
            <a:solidFill>
              <a:schemeClr val="accent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25" name="Oval 31"/>
          <p:cNvSpPr>
            <a:spLocks noChangeArrowheads="1"/>
          </p:cNvSpPr>
          <p:nvPr/>
        </p:nvSpPr>
        <p:spPr bwMode="auto">
          <a:xfrm>
            <a:off x="1295400" y="29718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26" name="Oval 32"/>
          <p:cNvSpPr>
            <a:spLocks noChangeArrowheads="1"/>
          </p:cNvSpPr>
          <p:nvPr/>
        </p:nvSpPr>
        <p:spPr bwMode="auto">
          <a:xfrm>
            <a:off x="2362200" y="29718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27" name="Oval 33"/>
          <p:cNvSpPr>
            <a:spLocks noChangeArrowheads="1"/>
          </p:cNvSpPr>
          <p:nvPr/>
        </p:nvSpPr>
        <p:spPr bwMode="auto">
          <a:xfrm>
            <a:off x="3352800" y="2971800"/>
            <a:ext cx="457200" cy="457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28" name="Oval 34"/>
          <p:cNvSpPr>
            <a:spLocks noChangeArrowheads="1"/>
          </p:cNvSpPr>
          <p:nvPr/>
        </p:nvSpPr>
        <p:spPr bwMode="auto">
          <a:xfrm>
            <a:off x="685800" y="3962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29" name="Oval 35"/>
          <p:cNvSpPr>
            <a:spLocks noChangeArrowheads="1"/>
          </p:cNvSpPr>
          <p:nvPr/>
        </p:nvSpPr>
        <p:spPr bwMode="auto">
          <a:xfrm>
            <a:off x="1219200" y="3962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30" name="Oval 36"/>
          <p:cNvSpPr>
            <a:spLocks noChangeArrowheads="1"/>
          </p:cNvSpPr>
          <p:nvPr/>
        </p:nvSpPr>
        <p:spPr bwMode="auto">
          <a:xfrm>
            <a:off x="1676400" y="38862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31" name="Line 37"/>
          <p:cNvSpPr>
            <a:spLocks noChangeShapeType="1"/>
          </p:cNvSpPr>
          <p:nvPr/>
        </p:nvSpPr>
        <p:spPr bwMode="auto">
          <a:xfrm flipH="1">
            <a:off x="914400" y="3429000"/>
            <a:ext cx="6096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32" name="Line 38"/>
          <p:cNvSpPr>
            <a:spLocks noChangeShapeType="1"/>
          </p:cNvSpPr>
          <p:nvPr/>
        </p:nvSpPr>
        <p:spPr bwMode="auto">
          <a:xfrm flipH="1">
            <a:off x="1447800" y="3429000"/>
            <a:ext cx="762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33" name="Line 39"/>
          <p:cNvSpPr>
            <a:spLocks noChangeShapeType="1"/>
          </p:cNvSpPr>
          <p:nvPr/>
        </p:nvSpPr>
        <p:spPr bwMode="auto">
          <a:xfrm>
            <a:off x="1524000" y="3429000"/>
            <a:ext cx="3048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34" name="Oval 40"/>
          <p:cNvSpPr>
            <a:spLocks noChangeArrowheads="1"/>
          </p:cNvSpPr>
          <p:nvPr/>
        </p:nvSpPr>
        <p:spPr bwMode="auto">
          <a:xfrm>
            <a:off x="2362200" y="38862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35" name="Line 41"/>
          <p:cNvSpPr>
            <a:spLocks noChangeShapeType="1"/>
          </p:cNvSpPr>
          <p:nvPr/>
        </p:nvSpPr>
        <p:spPr bwMode="auto">
          <a:xfrm>
            <a:off x="2590800" y="3429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36" name="Oval 42"/>
          <p:cNvSpPr>
            <a:spLocks noChangeArrowheads="1"/>
          </p:cNvSpPr>
          <p:nvPr/>
        </p:nvSpPr>
        <p:spPr bwMode="auto">
          <a:xfrm>
            <a:off x="3048000" y="3962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37" name="Oval 43"/>
          <p:cNvSpPr>
            <a:spLocks noChangeArrowheads="1"/>
          </p:cNvSpPr>
          <p:nvPr/>
        </p:nvSpPr>
        <p:spPr bwMode="auto">
          <a:xfrm>
            <a:off x="3733800" y="38862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59438" name="Line 44"/>
          <p:cNvSpPr>
            <a:spLocks noChangeShapeType="1"/>
          </p:cNvSpPr>
          <p:nvPr/>
        </p:nvSpPr>
        <p:spPr bwMode="auto">
          <a:xfrm flipH="1">
            <a:off x="3200400" y="3429000"/>
            <a:ext cx="2286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59439" name="Line 45"/>
          <p:cNvSpPr>
            <a:spLocks noChangeShapeType="1"/>
          </p:cNvSpPr>
          <p:nvPr/>
        </p:nvSpPr>
        <p:spPr bwMode="auto">
          <a:xfrm>
            <a:off x="3733800" y="3429000"/>
            <a:ext cx="2286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页脚占位符 3"/>
          <p:cNvSpPr>
            <a:spLocks noGrp="1"/>
          </p:cNvSpPr>
          <p:nvPr>
            <p:ph type="ftr" sz="quarter" idx="10"/>
          </p:nvPr>
        </p:nvSpPr>
        <p:spPr/>
        <p:txBody>
          <a:bodyPr/>
          <a:lstStyle/>
          <a:p>
            <a:pPr>
              <a:defRPr/>
            </a:pPr>
            <a:r>
              <a:rPr lang="en-US" altLang="zh-CN"/>
              <a:t>BUPT SCST</a:t>
            </a:r>
            <a:endParaRPr lang="en-US" altLang="zh-CN"/>
          </a:p>
        </p:txBody>
      </p:sp>
      <p:sp>
        <p:nvSpPr>
          <p:cNvPr id="44" name="日期占位符 5"/>
          <p:cNvSpPr>
            <a:spLocks noGrp="1"/>
          </p:cNvSpPr>
          <p:nvPr>
            <p:ph type="dt" sz="quarter" idx="12"/>
          </p:nvPr>
        </p:nvSpPr>
        <p:spPr/>
        <p:txBody>
          <a:bodyPr/>
          <a:lstStyle/>
          <a:p>
            <a:pPr>
              <a:defRPr/>
            </a:pPr>
            <a:r>
              <a:rPr lang="en-US" altLang="zh-CN"/>
              <a:t>BUPT</a:t>
            </a:r>
            <a:endParaRPr lang="en-US" altLang="zh-CN"/>
          </a:p>
        </p:txBody>
      </p:sp>
      <p:sp>
        <p:nvSpPr>
          <p:cNvPr id="604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0421" name="Rectangle 3"/>
          <p:cNvSpPr>
            <a:spLocks noGrp="1" noChangeArrowheads="1"/>
          </p:cNvSpPr>
          <p:nvPr>
            <p:ph idx="1"/>
          </p:nvPr>
        </p:nvSpPr>
        <p:spPr>
          <a:ln>
            <a:solidFill>
              <a:schemeClr val="accent1"/>
            </a:solidFill>
          </a:ln>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树的遍历</a:t>
            </a:r>
            <a:r>
              <a:rPr lang="en-US" altLang="zh-CN" sz="2400" b="1" dirty="0" smtClean="0">
                <a:solidFill>
                  <a:srgbClr val="800000"/>
                </a:solidFill>
                <a:ea typeface="华文楷体" panose="02010600040101010101" pitchFamily="2" charset="-122"/>
              </a:rPr>
              <a:t>]</a:t>
            </a:r>
            <a:endParaRPr lang="en-US" altLang="zh-CN" sz="2400" dirty="0" smtClean="0">
              <a:solidFill>
                <a:srgbClr val="800000"/>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solidFill>
                <a:srgbClr val="800000"/>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endParaRPr lang="en-US" altLang="zh-CN" sz="2400" dirty="0" smtClean="0">
              <a:ea typeface="华文楷体" panose="02010600040101010101" pitchFamily="2" charset="-122"/>
            </a:endParaRPr>
          </a:p>
          <a:p>
            <a:pPr eaLnBrk="1" hangingPunct="1"/>
            <a:r>
              <a:rPr lang="zh-CN" altLang="en-US" sz="2400" b="1" dirty="0" smtClean="0">
                <a:solidFill>
                  <a:srgbClr val="CC6600"/>
                </a:solidFill>
                <a:ea typeface="华文楷体" panose="02010600040101010101" pitchFamily="2" charset="-122"/>
              </a:rPr>
              <a:t>先序遍历   </a:t>
            </a:r>
            <a:r>
              <a:rPr lang="zh-CN" altLang="en-US" sz="2400" dirty="0" smtClean="0">
                <a:ea typeface="华文楷体" panose="02010600040101010101" pitchFamily="2" charset="-122"/>
              </a:rPr>
              <a:t>先访问树的根结点，然后依次先根遍历根的每棵子树       </a:t>
            </a:r>
            <a:r>
              <a:rPr lang="en-US" altLang="zh-CN" sz="2400" dirty="0" smtClean="0">
                <a:ea typeface="华文楷体" panose="02010600040101010101" pitchFamily="2" charset="-122"/>
              </a:rPr>
              <a:t>ABEFCDG</a:t>
            </a:r>
            <a:r>
              <a:rPr lang="en-US" altLang="zh-CN" sz="2400" b="1" dirty="0" smtClean="0">
                <a:solidFill>
                  <a:schemeClr val="accent2"/>
                </a:solidFill>
                <a:latin typeface="华文楷体" panose="02010600040101010101" pitchFamily="2" charset="-122"/>
                <a:ea typeface="华文楷体" panose="02010600040101010101" pitchFamily="2" charset="-122"/>
              </a:rPr>
              <a:t>(</a:t>
            </a:r>
            <a:r>
              <a:rPr lang="zh-CN" altLang="en-US" sz="2400" b="1" dirty="0" smtClean="0">
                <a:solidFill>
                  <a:schemeClr val="accent2"/>
                </a:solidFill>
                <a:latin typeface="华文楷体" panose="02010600040101010101" pitchFamily="2" charset="-122"/>
                <a:ea typeface="华文楷体" panose="02010600040101010101" pitchFamily="2" charset="-122"/>
              </a:rPr>
              <a:t>二叉树先序</a:t>
            </a:r>
            <a:r>
              <a:rPr lang="en-US" altLang="en-US" sz="2400" b="1" dirty="0" smtClean="0">
                <a:solidFill>
                  <a:schemeClr val="accent2"/>
                </a:solidFill>
                <a:latin typeface="华文楷体" panose="02010600040101010101" pitchFamily="2" charset="-122"/>
                <a:ea typeface="华文楷体" panose="02010600040101010101" pitchFamily="2" charset="-122"/>
              </a:rPr>
              <a:t>)</a:t>
            </a:r>
            <a:r>
              <a:rPr lang="en-US" altLang="zh-CN" sz="2400" dirty="0" smtClean="0">
                <a:latin typeface="华文楷体" panose="02010600040101010101" pitchFamily="2" charset="-122"/>
                <a:ea typeface="华文楷体" panose="02010600040101010101" pitchFamily="2" charset="-122"/>
              </a:rPr>
              <a:t> </a:t>
            </a:r>
            <a:endParaRPr lang="en-US" altLang="zh-CN" sz="2400" dirty="0" smtClean="0">
              <a:latin typeface="华文楷体" panose="02010600040101010101" pitchFamily="2" charset="-122"/>
              <a:ea typeface="华文楷体" panose="02010600040101010101" pitchFamily="2" charset="-122"/>
            </a:endParaRPr>
          </a:p>
          <a:p>
            <a:pPr eaLnBrk="1" hangingPunct="1"/>
            <a:r>
              <a:rPr lang="zh-CN" altLang="en-US" sz="2400" b="1" dirty="0" smtClean="0">
                <a:solidFill>
                  <a:srgbClr val="CC6600"/>
                </a:solidFill>
                <a:ea typeface="华文楷体" panose="02010600040101010101" pitchFamily="2" charset="-122"/>
              </a:rPr>
              <a:t>后序遍历   </a:t>
            </a:r>
            <a:r>
              <a:rPr lang="zh-CN" altLang="en-US" sz="2400" dirty="0" smtClean="0">
                <a:ea typeface="华文楷体" panose="02010600040101010101" pitchFamily="2" charset="-122"/>
              </a:rPr>
              <a:t>先依次后根遍历根的每棵子树，然后访问树的根结点       </a:t>
            </a:r>
            <a:r>
              <a:rPr lang="en-US" altLang="zh-CN" sz="2400" dirty="0" smtClean="0">
                <a:ea typeface="华文楷体" panose="02010600040101010101" pitchFamily="2" charset="-122"/>
              </a:rPr>
              <a:t>EFBCGDA</a:t>
            </a:r>
            <a:r>
              <a:rPr lang="en-US" altLang="zh-CN" sz="2400" b="1" dirty="0" smtClean="0">
                <a:solidFill>
                  <a:schemeClr val="accent2"/>
                </a:solidFill>
                <a:latin typeface="华文楷体" panose="02010600040101010101" pitchFamily="2" charset="-122"/>
                <a:ea typeface="华文楷体" panose="02010600040101010101" pitchFamily="2" charset="-122"/>
              </a:rPr>
              <a:t>(</a:t>
            </a:r>
            <a:r>
              <a:rPr lang="zh-CN" altLang="en-US" sz="2400" b="1" dirty="0" smtClean="0">
                <a:solidFill>
                  <a:schemeClr val="accent2"/>
                </a:solidFill>
                <a:latin typeface="华文楷体" panose="02010600040101010101" pitchFamily="2" charset="-122"/>
                <a:ea typeface="华文楷体" panose="02010600040101010101" pitchFamily="2" charset="-122"/>
              </a:rPr>
              <a:t>二叉树中序</a:t>
            </a:r>
            <a:r>
              <a:rPr lang="en-US" altLang="zh-CN" sz="2400" b="1" dirty="0" smtClean="0">
                <a:solidFill>
                  <a:schemeClr val="accent2"/>
                </a:solidFill>
                <a:latin typeface="华文楷体" panose="02010600040101010101" pitchFamily="2" charset="-122"/>
                <a:ea typeface="华文楷体" panose="02010600040101010101" pitchFamily="2" charset="-122"/>
              </a:rPr>
              <a:t>)</a:t>
            </a:r>
            <a:endParaRPr lang="en-US" altLang="zh-CN" sz="2400" b="1" dirty="0" smtClean="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p:txBody>
      </p:sp>
      <p:sp>
        <p:nvSpPr>
          <p:cNvPr id="60422" name="Oval 4"/>
          <p:cNvSpPr>
            <a:spLocks noChangeArrowheads="1"/>
          </p:cNvSpPr>
          <p:nvPr/>
        </p:nvSpPr>
        <p:spPr bwMode="auto">
          <a:xfrm>
            <a:off x="2895600" y="16764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23" name="Oval 5"/>
          <p:cNvSpPr>
            <a:spLocks noChangeArrowheads="1"/>
          </p:cNvSpPr>
          <p:nvPr/>
        </p:nvSpPr>
        <p:spPr bwMode="auto">
          <a:xfrm>
            <a:off x="1905000" y="23622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24" name="Oval 6"/>
          <p:cNvSpPr>
            <a:spLocks noChangeArrowheads="1"/>
          </p:cNvSpPr>
          <p:nvPr/>
        </p:nvSpPr>
        <p:spPr bwMode="auto">
          <a:xfrm>
            <a:off x="2895600" y="23622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25" name="Oval 7"/>
          <p:cNvSpPr>
            <a:spLocks noChangeArrowheads="1"/>
          </p:cNvSpPr>
          <p:nvPr/>
        </p:nvSpPr>
        <p:spPr bwMode="auto">
          <a:xfrm>
            <a:off x="1600200" y="30480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26" name="Oval 8"/>
          <p:cNvSpPr>
            <a:spLocks noChangeArrowheads="1"/>
          </p:cNvSpPr>
          <p:nvPr/>
        </p:nvSpPr>
        <p:spPr bwMode="auto">
          <a:xfrm>
            <a:off x="2286000" y="30480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27" name="Oval 9"/>
          <p:cNvSpPr>
            <a:spLocks noChangeArrowheads="1"/>
          </p:cNvSpPr>
          <p:nvPr/>
        </p:nvSpPr>
        <p:spPr bwMode="auto">
          <a:xfrm>
            <a:off x="3657600" y="30480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28" name="Oval 10"/>
          <p:cNvSpPr>
            <a:spLocks noChangeArrowheads="1"/>
          </p:cNvSpPr>
          <p:nvPr/>
        </p:nvSpPr>
        <p:spPr bwMode="auto">
          <a:xfrm>
            <a:off x="3657600" y="23622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29" name="Line 11"/>
          <p:cNvSpPr>
            <a:spLocks noChangeShapeType="1"/>
          </p:cNvSpPr>
          <p:nvPr/>
        </p:nvSpPr>
        <p:spPr bwMode="auto">
          <a:xfrm flipH="1">
            <a:off x="2057400" y="1981200"/>
            <a:ext cx="9906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30" name="Line 12"/>
          <p:cNvSpPr>
            <a:spLocks noChangeShapeType="1"/>
          </p:cNvSpPr>
          <p:nvPr/>
        </p:nvSpPr>
        <p:spPr bwMode="auto">
          <a:xfrm>
            <a:off x="3048000" y="19812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31" name="Line 13"/>
          <p:cNvSpPr>
            <a:spLocks noChangeShapeType="1"/>
          </p:cNvSpPr>
          <p:nvPr/>
        </p:nvSpPr>
        <p:spPr bwMode="auto">
          <a:xfrm>
            <a:off x="3124200" y="1981200"/>
            <a:ext cx="685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32" name="Line 14"/>
          <p:cNvSpPr>
            <a:spLocks noChangeShapeType="1"/>
          </p:cNvSpPr>
          <p:nvPr/>
        </p:nvSpPr>
        <p:spPr bwMode="auto">
          <a:xfrm flipH="1">
            <a:off x="1752600" y="26670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33" name="Line 15"/>
          <p:cNvSpPr>
            <a:spLocks noChangeShapeType="1"/>
          </p:cNvSpPr>
          <p:nvPr/>
        </p:nvSpPr>
        <p:spPr bwMode="auto">
          <a:xfrm>
            <a:off x="2057400" y="2667000"/>
            <a:ext cx="3810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34" name="Line 16"/>
          <p:cNvSpPr>
            <a:spLocks noChangeShapeType="1"/>
          </p:cNvSpPr>
          <p:nvPr/>
        </p:nvSpPr>
        <p:spPr bwMode="auto">
          <a:xfrm>
            <a:off x="3810000" y="26670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35" name="Text Box 17"/>
          <p:cNvSpPr txBox="1">
            <a:spLocks noChangeArrowheads="1"/>
          </p:cNvSpPr>
          <p:nvPr/>
        </p:nvSpPr>
        <p:spPr bwMode="auto">
          <a:xfrm>
            <a:off x="2819400" y="16002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60436" name="Text Box 18"/>
          <p:cNvSpPr txBox="1">
            <a:spLocks noChangeArrowheads="1"/>
          </p:cNvSpPr>
          <p:nvPr/>
        </p:nvSpPr>
        <p:spPr bwMode="auto">
          <a:xfrm>
            <a:off x="1905000" y="2286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a:t>
            </a:r>
            <a:endParaRPr lang="en-US" altLang="zh-CN" sz="2400" dirty="0">
              <a:latin typeface="Times New Roman" panose="02020603050405020304" pitchFamily="18" charset="0"/>
              <a:ea typeface="华文楷体" panose="02010600040101010101" pitchFamily="2" charset="-122"/>
            </a:endParaRPr>
          </a:p>
        </p:txBody>
      </p:sp>
      <p:sp>
        <p:nvSpPr>
          <p:cNvPr id="60437" name="Text Box 19"/>
          <p:cNvSpPr txBox="1">
            <a:spLocks noChangeArrowheads="1"/>
          </p:cNvSpPr>
          <p:nvPr/>
        </p:nvSpPr>
        <p:spPr bwMode="auto">
          <a:xfrm>
            <a:off x="2819400" y="2286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a:t>
            </a:r>
            <a:endParaRPr lang="en-US" altLang="zh-CN" sz="2400" dirty="0">
              <a:latin typeface="Times New Roman" panose="02020603050405020304" pitchFamily="18" charset="0"/>
              <a:ea typeface="华文楷体" panose="02010600040101010101" pitchFamily="2" charset="-122"/>
            </a:endParaRPr>
          </a:p>
        </p:txBody>
      </p:sp>
      <p:sp>
        <p:nvSpPr>
          <p:cNvPr id="60438" name="Text Box 20"/>
          <p:cNvSpPr txBox="1">
            <a:spLocks noChangeArrowheads="1"/>
          </p:cNvSpPr>
          <p:nvPr/>
        </p:nvSpPr>
        <p:spPr bwMode="auto">
          <a:xfrm>
            <a:off x="36576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a:t>
            </a:r>
            <a:endParaRPr lang="en-US" altLang="zh-CN" sz="2400" dirty="0">
              <a:latin typeface="Times New Roman" panose="02020603050405020304" pitchFamily="18" charset="0"/>
              <a:ea typeface="华文楷体" panose="02010600040101010101" pitchFamily="2" charset="-122"/>
            </a:endParaRPr>
          </a:p>
        </p:txBody>
      </p:sp>
      <p:sp>
        <p:nvSpPr>
          <p:cNvPr id="60439" name="Text Box 21"/>
          <p:cNvSpPr txBox="1">
            <a:spLocks noChangeArrowheads="1"/>
          </p:cNvSpPr>
          <p:nvPr/>
        </p:nvSpPr>
        <p:spPr bwMode="auto">
          <a:xfrm>
            <a:off x="1600200" y="29718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      F                G</a:t>
            </a:r>
            <a:endParaRPr lang="en-US" altLang="zh-CN" sz="2400" dirty="0">
              <a:latin typeface="Times New Roman" panose="02020603050405020304" pitchFamily="18" charset="0"/>
              <a:ea typeface="华文楷体" panose="02010600040101010101" pitchFamily="2" charset="-122"/>
            </a:endParaRPr>
          </a:p>
        </p:txBody>
      </p:sp>
      <p:sp>
        <p:nvSpPr>
          <p:cNvPr id="60440" name="Oval 22"/>
          <p:cNvSpPr>
            <a:spLocks noChangeArrowheads="1"/>
          </p:cNvSpPr>
          <p:nvPr/>
        </p:nvSpPr>
        <p:spPr bwMode="auto">
          <a:xfrm>
            <a:off x="6019800" y="12954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41" name="Oval 23"/>
          <p:cNvSpPr>
            <a:spLocks noChangeArrowheads="1"/>
          </p:cNvSpPr>
          <p:nvPr/>
        </p:nvSpPr>
        <p:spPr bwMode="auto">
          <a:xfrm>
            <a:off x="5410200" y="18288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42" name="Oval 24"/>
          <p:cNvSpPr>
            <a:spLocks noChangeArrowheads="1"/>
          </p:cNvSpPr>
          <p:nvPr/>
        </p:nvSpPr>
        <p:spPr bwMode="auto">
          <a:xfrm>
            <a:off x="5943600" y="23622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43" name="Oval 25"/>
          <p:cNvSpPr>
            <a:spLocks noChangeArrowheads="1"/>
          </p:cNvSpPr>
          <p:nvPr/>
        </p:nvSpPr>
        <p:spPr bwMode="auto">
          <a:xfrm>
            <a:off x="6477000" y="28956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44" name="Oval 26"/>
          <p:cNvSpPr>
            <a:spLocks noChangeArrowheads="1"/>
          </p:cNvSpPr>
          <p:nvPr/>
        </p:nvSpPr>
        <p:spPr bwMode="auto">
          <a:xfrm>
            <a:off x="4800600" y="23622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45" name="Oval 27"/>
          <p:cNvSpPr>
            <a:spLocks noChangeArrowheads="1"/>
          </p:cNvSpPr>
          <p:nvPr/>
        </p:nvSpPr>
        <p:spPr bwMode="auto">
          <a:xfrm>
            <a:off x="5257800" y="28956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46" name="Oval 28"/>
          <p:cNvSpPr>
            <a:spLocks noChangeArrowheads="1"/>
          </p:cNvSpPr>
          <p:nvPr/>
        </p:nvSpPr>
        <p:spPr bwMode="auto">
          <a:xfrm>
            <a:off x="6019800" y="3429000"/>
            <a:ext cx="304800" cy="3048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0447" name="Line 29"/>
          <p:cNvSpPr>
            <a:spLocks noChangeShapeType="1"/>
          </p:cNvSpPr>
          <p:nvPr/>
        </p:nvSpPr>
        <p:spPr bwMode="auto">
          <a:xfrm flipH="1">
            <a:off x="5638800" y="1600200"/>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48" name="Line 30"/>
          <p:cNvSpPr>
            <a:spLocks noChangeShapeType="1"/>
          </p:cNvSpPr>
          <p:nvPr/>
        </p:nvSpPr>
        <p:spPr bwMode="auto">
          <a:xfrm flipH="1">
            <a:off x="4953000" y="2133600"/>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49" name="Line 31"/>
          <p:cNvSpPr>
            <a:spLocks noChangeShapeType="1"/>
          </p:cNvSpPr>
          <p:nvPr/>
        </p:nvSpPr>
        <p:spPr bwMode="auto">
          <a:xfrm>
            <a:off x="5638800" y="2133600"/>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50" name="Line 32"/>
          <p:cNvSpPr>
            <a:spLocks noChangeShapeType="1"/>
          </p:cNvSpPr>
          <p:nvPr/>
        </p:nvSpPr>
        <p:spPr bwMode="auto">
          <a:xfrm>
            <a:off x="6096000" y="2667000"/>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51" name="Line 33"/>
          <p:cNvSpPr>
            <a:spLocks noChangeShapeType="1"/>
          </p:cNvSpPr>
          <p:nvPr/>
        </p:nvSpPr>
        <p:spPr bwMode="auto">
          <a:xfrm>
            <a:off x="4953000" y="2667000"/>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52" name="Line 34"/>
          <p:cNvSpPr>
            <a:spLocks noChangeShapeType="1"/>
          </p:cNvSpPr>
          <p:nvPr/>
        </p:nvSpPr>
        <p:spPr bwMode="auto">
          <a:xfrm flipH="1">
            <a:off x="6172200" y="3200400"/>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0453" name="Text Box 35"/>
          <p:cNvSpPr txBox="1">
            <a:spLocks noChangeArrowheads="1"/>
          </p:cNvSpPr>
          <p:nvPr/>
        </p:nvSpPr>
        <p:spPr bwMode="auto">
          <a:xfrm>
            <a:off x="5943600" y="12192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A</a:t>
            </a:r>
            <a:endParaRPr lang="en-US" altLang="zh-CN" sz="2400" dirty="0">
              <a:latin typeface="Times New Roman" panose="02020603050405020304" pitchFamily="18" charset="0"/>
              <a:ea typeface="华文楷体" panose="02010600040101010101" pitchFamily="2" charset="-122"/>
            </a:endParaRPr>
          </a:p>
        </p:txBody>
      </p:sp>
      <p:sp>
        <p:nvSpPr>
          <p:cNvPr id="60454" name="Text Box 36"/>
          <p:cNvSpPr txBox="1">
            <a:spLocks noChangeArrowheads="1"/>
          </p:cNvSpPr>
          <p:nvPr/>
        </p:nvSpPr>
        <p:spPr bwMode="auto">
          <a:xfrm>
            <a:off x="5410200" y="17526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a:t>
            </a:r>
            <a:endParaRPr lang="en-US" altLang="zh-CN" sz="2400" dirty="0">
              <a:latin typeface="Times New Roman" panose="02020603050405020304" pitchFamily="18" charset="0"/>
              <a:ea typeface="华文楷体" panose="02010600040101010101" pitchFamily="2" charset="-122"/>
            </a:endParaRPr>
          </a:p>
        </p:txBody>
      </p:sp>
      <p:sp>
        <p:nvSpPr>
          <p:cNvPr id="60455" name="Text Box 37"/>
          <p:cNvSpPr txBox="1">
            <a:spLocks noChangeArrowheads="1"/>
          </p:cNvSpPr>
          <p:nvPr/>
        </p:nvSpPr>
        <p:spPr bwMode="auto">
          <a:xfrm>
            <a:off x="48006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E</a:t>
            </a:r>
            <a:endParaRPr lang="en-US" altLang="zh-CN" sz="2400" dirty="0">
              <a:latin typeface="Times New Roman" panose="02020603050405020304" pitchFamily="18" charset="0"/>
              <a:ea typeface="华文楷体" panose="02010600040101010101" pitchFamily="2" charset="-122"/>
            </a:endParaRPr>
          </a:p>
        </p:txBody>
      </p:sp>
      <p:sp>
        <p:nvSpPr>
          <p:cNvPr id="60456" name="Text Box 38"/>
          <p:cNvSpPr txBox="1">
            <a:spLocks noChangeArrowheads="1"/>
          </p:cNvSpPr>
          <p:nvPr/>
        </p:nvSpPr>
        <p:spPr bwMode="auto">
          <a:xfrm>
            <a:off x="5867400" y="2286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a:t>
            </a:r>
            <a:endParaRPr lang="en-US" altLang="zh-CN" sz="2400" dirty="0">
              <a:latin typeface="Times New Roman" panose="02020603050405020304" pitchFamily="18" charset="0"/>
              <a:ea typeface="华文楷体" panose="02010600040101010101" pitchFamily="2" charset="-122"/>
            </a:endParaRPr>
          </a:p>
        </p:txBody>
      </p:sp>
      <p:sp>
        <p:nvSpPr>
          <p:cNvPr id="60457" name="Text Box 39"/>
          <p:cNvSpPr txBox="1">
            <a:spLocks noChangeArrowheads="1"/>
          </p:cNvSpPr>
          <p:nvPr/>
        </p:nvSpPr>
        <p:spPr bwMode="auto">
          <a:xfrm>
            <a:off x="6477000" y="2819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D</a:t>
            </a:r>
            <a:endParaRPr lang="en-US" altLang="zh-CN" sz="2400" dirty="0">
              <a:latin typeface="Times New Roman" panose="02020603050405020304" pitchFamily="18" charset="0"/>
              <a:ea typeface="华文楷体" panose="02010600040101010101" pitchFamily="2" charset="-122"/>
            </a:endParaRPr>
          </a:p>
        </p:txBody>
      </p:sp>
      <p:sp>
        <p:nvSpPr>
          <p:cNvPr id="60458" name="Text Box 40"/>
          <p:cNvSpPr txBox="1">
            <a:spLocks noChangeArrowheads="1"/>
          </p:cNvSpPr>
          <p:nvPr/>
        </p:nvSpPr>
        <p:spPr bwMode="auto">
          <a:xfrm>
            <a:off x="5257800" y="2819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F</a:t>
            </a:r>
            <a:endParaRPr lang="en-US" altLang="zh-CN" sz="2400" dirty="0">
              <a:latin typeface="Times New Roman" panose="02020603050405020304" pitchFamily="18" charset="0"/>
              <a:ea typeface="华文楷体" panose="02010600040101010101" pitchFamily="2" charset="-122"/>
            </a:endParaRPr>
          </a:p>
        </p:txBody>
      </p:sp>
      <p:sp>
        <p:nvSpPr>
          <p:cNvPr id="60459" name="Text Box 41"/>
          <p:cNvSpPr txBox="1">
            <a:spLocks noChangeArrowheads="1"/>
          </p:cNvSpPr>
          <p:nvPr/>
        </p:nvSpPr>
        <p:spPr bwMode="auto">
          <a:xfrm>
            <a:off x="5943600" y="33528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G</a:t>
            </a:r>
            <a:endParaRPr lang="en-US" altLang="zh-CN" sz="2400" dirty="0">
              <a:latin typeface="Times New Roman" panose="02020603050405020304" pitchFamily="18" charset="0"/>
              <a:ea typeface="华文楷体" panose="02010600040101010101" pitchFamily="2" charset="-122"/>
            </a:endParaRPr>
          </a:p>
        </p:txBody>
      </p:sp>
      <p:sp>
        <p:nvSpPr>
          <p:cNvPr id="60460" name="AutoShape 42"/>
          <p:cNvSpPr>
            <a:spLocks noChangeArrowheads="1"/>
          </p:cNvSpPr>
          <p:nvPr/>
        </p:nvSpPr>
        <p:spPr bwMode="auto">
          <a:xfrm>
            <a:off x="4267200" y="2438400"/>
            <a:ext cx="457200" cy="304800"/>
          </a:xfrm>
          <a:prstGeom prst="rightArrow">
            <a:avLst>
              <a:gd name="adj1" fmla="val 50000"/>
              <a:gd name="adj2" fmla="val 375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6144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1445"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森林的遍历</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p:txBody>
      </p:sp>
      <p:sp>
        <p:nvSpPr>
          <p:cNvPr id="61446" name="Rectangle 4"/>
          <p:cNvSpPr>
            <a:spLocks noChangeArrowheads="1"/>
          </p:cNvSpPr>
          <p:nvPr/>
        </p:nvSpPr>
        <p:spPr bwMode="auto">
          <a:xfrm>
            <a:off x="395288" y="1628775"/>
            <a:ext cx="4059237" cy="4767263"/>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zh-CN" altLang="en-US" sz="2400" b="1" dirty="0">
                <a:solidFill>
                  <a:srgbClr val="CC6600"/>
                </a:solidFill>
                <a:latin typeface="Times New Roman" panose="02020603050405020304" pitchFamily="18" charset="0"/>
                <a:ea typeface="华文楷体" panose="02010600040101010101" pitchFamily="2" charset="-122"/>
              </a:rPr>
              <a:t>先序遍历</a:t>
            </a:r>
            <a:endParaRPr lang="zh-CN" altLang="en-US" sz="2400" b="1" dirty="0">
              <a:solidFill>
                <a:srgbClr val="CC6600"/>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访问第一棵树的根结点；</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先序遍历第一棵树的根</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的子树森林；</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先序遍历除第一棵树外</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剩余的树构成的森林</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endParaRPr lang="zh-CN" altLang="en-US" sz="2400" dirty="0">
              <a:solidFill>
                <a:schemeClr val="accent1"/>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solidFill>
                  <a:schemeClr val="accent2"/>
                </a:solidFill>
                <a:latin typeface="华文楷体" panose="02010600040101010101" pitchFamily="2" charset="-122"/>
                <a:ea typeface="华文楷体" panose="02010600040101010101" pitchFamily="2" charset="-122"/>
              </a:rPr>
              <a:t>（逐棵先序遍历每棵子树</a:t>
            </a:r>
            <a:r>
              <a:rPr lang="en-US" altLang="zh-CN" sz="2400" dirty="0">
                <a:solidFill>
                  <a:schemeClr val="accent2"/>
                </a:solidFill>
                <a:latin typeface="华文楷体" panose="02010600040101010101" pitchFamily="2" charset="-122"/>
                <a:ea typeface="华文楷体" panose="02010600040101010101" pitchFamily="2" charset="-122"/>
              </a:rPr>
              <a:t>/  </a:t>
            </a:r>
            <a:r>
              <a:rPr lang="zh-CN" altLang="en-US" sz="2400" dirty="0">
                <a:solidFill>
                  <a:schemeClr val="accent2"/>
                </a:solidFill>
                <a:latin typeface="华文楷体" panose="02010600040101010101" pitchFamily="2" charset="-122"/>
                <a:ea typeface="华文楷体" panose="02010600040101010101" pitchFamily="2" charset="-122"/>
              </a:rPr>
              <a:t>对应二叉树的</a:t>
            </a:r>
            <a:r>
              <a:rPr lang="zh-CN" altLang="en-US" sz="2400" b="1" dirty="0">
                <a:solidFill>
                  <a:schemeClr val="accent2"/>
                </a:solidFill>
                <a:latin typeface="华文楷体" panose="02010600040101010101" pitchFamily="2" charset="-122"/>
                <a:ea typeface="华文楷体" panose="02010600040101010101" pitchFamily="2" charset="-122"/>
              </a:rPr>
              <a:t>先序遍历</a:t>
            </a:r>
            <a:r>
              <a:rPr lang="en-US" altLang="zh-CN" sz="2400" dirty="0">
                <a:solidFill>
                  <a:schemeClr val="accent2"/>
                </a:solidFill>
                <a:latin typeface="华文楷体" panose="02010600040101010101" pitchFamily="2" charset="-122"/>
                <a:ea typeface="华文楷体" panose="02010600040101010101" pitchFamily="2" charset="-122"/>
              </a:rPr>
              <a:t>)</a:t>
            </a:r>
            <a:endParaRPr lang="en-US" altLang="zh-CN" sz="2400" dirty="0">
              <a:solidFill>
                <a:schemeClr val="accent1"/>
              </a:solidFill>
              <a:latin typeface="华文楷体" panose="02010600040101010101" pitchFamily="2" charset="-122"/>
              <a:ea typeface="华文楷体" panose="02010600040101010101" pitchFamily="2" charset="-122"/>
            </a:endParaRPr>
          </a:p>
        </p:txBody>
      </p:sp>
      <p:sp>
        <p:nvSpPr>
          <p:cNvPr id="61447" name="Rectangle 5"/>
          <p:cNvSpPr>
            <a:spLocks noChangeArrowheads="1"/>
          </p:cNvSpPr>
          <p:nvPr/>
        </p:nvSpPr>
        <p:spPr bwMode="auto">
          <a:xfrm>
            <a:off x="4616450" y="1628775"/>
            <a:ext cx="4059238" cy="4767263"/>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zh-CN" altLang="en-US" sz="2400" b="1" dirty="0">
                <a:solidFill>
                  <a:srgbClr val="CC6600"/>
                </a:solidFill>
                <a:latin typeface="Times New Roman" panose="02020603050405020304" pitchFamily="18" charset="0"/>
                <a:ea typeface="华文楷体" panose="02010600040101010101" pitchFamily="2" charset="-122"/>
              </a:rPr>
              <a:t>中序遍历</a:t>
            </a:r>
            <a:endParaRPr lang="zh-CN" altLang="en-US" sz="2400" b="1" dirty="0">
              <a:solidFill>
                <a:srgbClr val="CC6600"/>
              </a:solidFill>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中序遍历第一棵树的根</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的子树森林；</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访问第一棵树的根结点；</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    中序遍历除第一棵树外</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zh-CN" altLang="en-US" sz="2400" dirty="0">
                <a:latin typeface="Times New Roman" panose="02020603050405020304" pitchFamily="18" charset="0"/>
                <a:ea typeface="华文楷体" panose="02010600040101010101" pitchFamily="2" charset="-122"/>
              </a:rPr>
              <a:t>剩余的树构成的森林</a:t>
            </a: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endParaRPr lang="zh-CN" altLang="en-US" sz="2400" dirty="0">
              <a:latin typeface="Times New Roman" panose="02020603050405020304" pitchFamily="18" charset="0"/>
              <a:ea typeface="华文楷体" panose="02010600040101010101" pitchFamily="2" charset="-122"/>
            </a:endParaRPr>
          </a:p>
          <a:p>
            <a:pPr eaLnBrk="1" hangingPunct="1">
              <a:buFont typeface="Wingdings" panose="05000000000000000000" pitchFamily="2" charset="2"/>
              <a:buNone/>
            </a:pPr>
            <a:r>
              <a:rPr lang="en-US" altLang="zh-CN" sz="2400" dirty="0">
                <a:solidFill>
                  <a:schemeClr val="accent2"/>
                </a:solidFill>
                <a:latin typeface="华文楷体" panose="02010600040101010101" pitchFamily="2" charset="-122"/>
                <a:ea typeface="华文楷体" panose="02010600040101010101" pitchFamily="2" charset="-122"/>
              </a:rPr>
              <a:t>(</a:t>
            </a:r>
            <a:r>
              <a:rPr lang="zh-CN" altLang="en-US" sz="2400" dirty="0">
                <a:solidFill>
                  <a:schemeClr val="accent2"/>
                </a:solidFill>
                <a:latin typeface="华文楷体" panose="02010600040101010101" pitchFamily="2" charset="-122"/>
                <a:ea typeface="华文楷体" panose="02010600040101010101" pitchFamily="2" charset="-122"/>
              </a:rPr>
              <a:t>逐棵后序遍历每棵子树</a:t>
            </a:r>
            <a:r>
              <a:rPr lang="en-US" altLang="zh-CN" sz="2400" dirty="0">
                <a:solidFill>
                  <a:schemeClr val="accent2"/>
                </a:solidFill>
                <a:latin typeface="华文楷体" panose="02010600040101010101" pitchFamily="2" charset="-122"/>
                <a:ea typeface="华文楷体" panose="02010600040101010101" pitchFamily="2" charset="-122"/>
              </a:rPr>
              <a:t>/</a:t>
            </a:r>
            <a:endParaRPr lang="en-US" altLang="zh-CN" sz="2400" dirty="0">
              <a:solidFill>
                <a:schemeClr val="accent2"/>
              </a:solidFill>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en-US" altLang="zh-CN" sz="2400" dirty="0">
                <a:solidFill>
                  <a:schemeClr val="accent2"/>
                </a:solidFill>
                <a:latin typeface="华文楷体" panose="02010600040101010101" pitchFamily="2" charset="-122"/>
                <a:ea typeface="华文楷体" panose="02010600040101010101" pitchFamily="2" charset="-122"/>
              </a:rPr>
              <a:t>  </a:t>
            </a:r>
            <a:r>
              <a:rPr lang="zh-CN" altLang="en-US" sz="2400" dirty="0">
                <a:solidFill>
                  <a:schemeClr val="accent2"/>
                </a:solidFill>
                <a:latin typeface="华文楷体" panose="02010600040101010101" pitchFamily="2" charset="-122"/>
                <a:ea typeface="华文楷体" panose="02010600040101010101" pitchFamily="2" charset="-122"/>
              </a:rPr>
              <a:t>对应二叉树的</a:t>
            </a:r>
            <a:r>
              <a:rPr lang="zh-CN" altLang="en-US" sz="2400" b="1" dirty="0">
                <a:solidFill>
                  <a:schemeClr val="accent2"/>
                </a:solidFill>
                <a:latin typeface="华文楷体" panose="02010600040101010101" pitchFamily="2" charset="-122"/>
                <a:ea typeface="华文楷体" panose="02010600040101010101" pitchFamily="2" charset="-122"/>
              </a:rPr>
              <a:t>中序遍历</a:t>
            </a:r>
            <a:r>
              <a:rPr lang="en-US" altLang="zh-CN" sz="2400" dirty="0">
                <a:solidFill>
                  <a:schemeClr val="accent2"/>
                </a:solidFill>
                <a:latin typeface="华文楷体" panose="02010600040101010101" pitchFamily="2" charset="-122"/>
                <a:ea typeface="华文楷体" panose="02010600040101010101" pitchFamily="2" charset="-122"/>
              </a:rPr>
              <a:t>)</a:t>
            </a:r>
            <a:endParaRPr lang="en-US" altLang="zh-CN" sz="2400" dirty="0">
              <a:solidFill>
                <a:schemeClr val="accent2"/>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a:xfrm>
            <a:off x="457200" y="1152525"/>
            <a:ext cx="8229600" cy="1057307"/>
          </a:xfrm>
        </p:spPr>
        <p:txBody>
          <a:bodyPr/>
          <a:lstStyle/>
          <a:p>
            <a:pPr marL="0" indent="0" eaLnBrk="1" hangingPunct="1">
              <a:buNone/>
            </a:pPr>
            <a:r>
              <a:rPr lang="en-US" altLang="zh-CN" sz="2400" b="1" dirty="0">
                <a:solidFill>
                  <a:srgbClr val="CC6600"/>
                </a:solidFill>
                <a:ea typeface="华文楷体" panose="02010600040101010101" pitchFamily="2" charset="-122"/>
                <a:sym typeface="Symbol" panose="05050102010706020507" pitchFamily="18" charset="2"/>
              </a:rPr>
              <a:t>[</a:t>
            </a:r>
            <a:r>
              <a:rPr lang="zh-CN" altLang="en-US" sz="2400" b="1" dirty="0">
                <a:solidFill>
                  <a:srgbClr val="CC6600"/>
                </a:solidFill>
                <a:ea typeface="华文楷体" panose="02010600040101010101" pitchFamily="2" charset="-122"/>
                <a:sym typeface="Symbol" panose="05050102010706020507" pitchFamily="18" charset="2"/>
              </a:rPr>
              <a:t>树</a:t>
            </a:r>
            <a:r>
              <a:rPr lang="zh-CN" altLang="en-US" sz="2400" b="1" dirty="0" smtClean="0">
                <a:solidFill>
                  <a:srgbClr val="CC6600"/>
                </a:solidFill>
                <a:ea typeface="华文楷体" panose="02010600040101010101" pitchFamily="2" charset="-122"/>
                <a:sym typeface="Symbol" panose="05050102010706020507" pitchFamily="18" charset="2"/>
              </a:rPr>
              <a:t>遍历的</a:t>
            </a:r>
            <a:r>
              <a:rPr lang="zh-CN" altLang="en-US" sz="2400" b="1" dirty="0">
                <a:solidFill>
                  <a:srgbClr val="CC6600"/>
                </a:solidFill>
                <a:ea typeface="华文楷体" panose="02010600040101010101" pitchFamily="2" charset="-122"/>
                <a:sym typeface="Symbol" panose="05050102010706020507" pitchFamily="18" charset="2"/>
              </a:rPr>
              <a:t>应用</a:t>
            </a:r>
            <a:r>
              <a:rPr lang="en-US" altLang="zh-CN" sz="2400" b="1" dirty="0" smtClean="0">
                <a:solidFill>
                  <a:srgbClr val="CC6600"/>
                </a:solidFill>
                <a:ea typeface="华文楷体" panose="02010600040101010101" pitchFamily="2" charset="-122"/>
                <a:sym typeface="Symbol" panose="05050102010706020507" pitchFamily="18" charset="2"/>
              </a:rPr>
              <a:t>]</a:t>
            </a:r>
            <a:endParaRPr lang="en-US" altLang="zh-CN" sz="2400" b="1" dirty="0" smtClean="0">
              <a:solidFill>
                <a:srgbClr val="CC6600"/>
              </a:solidFill>
              <a:ea typeface="华文楷体" panose="02010600040101010101" pitchFamily="2" charset="-122"/>
              <a:sym typeface="Symbol" panose="05050102010706020507" pitchFamily="18" charset="2"/>
            </a:endParaRPr>
          </a:p>
          <a:p>
            <a:pPr marL="0" indent="0" eaLnBrk="1" hangingPunct="1">
              <a:buNone/>
            </a:pPr>
            <a:r>
              <a:rPr lang="en-US" altLang="zh-CN" sz="2400" dirty="0" smtClean="0">
                <a:ea typeface="华文楷体" panose="02010600040101010101" pitchFamily="2" charset="-122"/>
                <a:sym typeface="Symbol" panose="05050102010706020507" pitchFamily="18" charset="2"/>
              </a:rPr>
              <a:t>Unix</a:t>
            </a:r>
            <a:r>
              <a:rPr lang="zh-CN" altLang="en-US" sz="2400" dirty="0" smtClean="0">
                <a:ea typeface="华文楷体" panose="02010600040101010101" pitchFamily="2" charset="-122"/>
                <a:sym typeface="Symbol" panose="05050102010706020507" pitchFamily="18" charset="2"/>
              </a:rPr>
              <a:t>文件系统的目录结构</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典型的树结构。</a:t>
            </a:r>
            <a:endParaRPr lang="zh-CN" altLang="en-US" sz="2400" dirty="0">
              <a:ea typeface="华文楷体" panose="02010600040101010101" pitchFamily="2" charset="-122"/>
              <a:sym typeface="Symbol" panose="05050102010706020507" pitchFamily="18" charset="2"/>
            </a:endParaRPr>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7" name="文本框 6"/>
          <p:cNvSpPr txBox="1"/>
          <p:nvPr/>
        </p:nvSpPr>
        <p:spPr>
          <a:xfrm>
            <a:off x="5029188" y="2438426"/>
            <a:ext cx="3733812" cy="2862322"/>
          </a:xfrm>
          <a:prstGeom prst="rect">
            <a:avLst/>
          </a:prstGeom>
          <a:noFill/>
          <a:ln>
            <a:solidFill>
              <a:schemeClr val="accent1"/>
            </a:solidFill>
          </a:ln>
        </p:spPr>
        <p:txBody>
          <a:bodyPr wrap="square" rtlCol="0">
            <a:spAutoFit/>
          </a:bodyPr>
          <a:lstStyle/>
          <a:p>
            <a:r>
              <a:rPr lang="en-US" altLang="zh-CN" sz="1800" b="1" dirty="0" smtClean="0">
                <a:solidFill>
                  <a:srgbClr val="CC6600"/>
                </a:solidFill>
                <a:ea typeface="华文楷体" panose="02010600040101010101" pitchFamily="2" charset="-122"/>
              </a:rPr>
              <a:t>[</a:t>
            </a:r>
            <a:r>
              <a:rPr lang="zh-CN" altLang="en-US" sz="1800" b="1" dirty="0" smtClean="0">
                <a:solidFill>
                  <a:srgbClr val="CC6600"/>
                </a:solidFill>
                <a:ea typeface="华文楷体" panose="02010600040101010101" pitchFamily="2" charset="-122"/>
              </a:rPr>
              <a:t>特点</a:t>
            </a:r>
            <a:r>
              <a:rPr lang="en-US" altLang="zh-CN" sz="1800" b="1" dirty="0" smtClean="0">
                <a:solidFill>
                  <a:srgbClr val="CC6600"/>
                </a:solidFill>
                <a:ea typeface="华文楷体" panose="02010600040101010101" pitchFamily="2" charset="-122"/>
              </a:rPr>
              <a:t>]</a:t>
            </a:r>
            <a:endParaRPr lang="en-US" altLang="zh-C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sz="1800" dirty="0" smtClean="0">
                <a:latin typeface="Times New Roman" panose="02020603050405020304" pitchFamily="18" charset="0"/>
                <a:ea typeface="华文楷体" panose="02010600040101010101" pitchFamily="2" charset="-122"/>
              </a:rPr>
              <a:t>带</a:t>
            </a:r>
            <a:r>
              <a:rPr lang="zh-CN" altLang="en-US" sz="1800" dirty="0">
                <a:latin typeface="Times New Roman" panose="02020603050405020304" pitchFamily="18" charset="0"/>
                <a:ea typeface="华文楷体" panose="02010600040101010101" pitchFamily="2" charset="-122"/>
              </a:rPr>
              <a:t>*的为目录，不带*的为文件</a:t>
            </a:r>
            <a:endParaRPr lang="en-US" altLang="zh-CN" sz="1800" dirty="0">
              <a:latin typeface="Times New Roman" panose="02020603050405020304" pitchFamily="18" charset="0"/>
              <a:ea typeface="华文楷体" panose="02010600040101010101" pitchFamily="2" charset="-122"/>
            </a:endParaRPr>
          </a:p>
          <a:p>
            <a:pPr marL="285750" indent="-285750">
              <a:buFont typeface="Arial" panose="020B0604020202020204" pitchFamily="34" charset="0"/>
              <a:buChar char="•"/>
            </a:pPr>
            <a:r>
              <a:rPr lang="zh-CN" altLang="en-US" sz="1800" dirty="0">
                <a:latin typeface="Times New Roman" panose="02020603050405020304" pitchFamily="18" charset="0"/>
                <a:ea typeface="华文楷体" panose="02010600040101010101" pitchFamily="2" charset="-122"/>
              </a:rPr>
              <a:t>根结点：</a:t>
            </a:r>
            <a:r>
              <a:rPr lang="en-US" altLang="zh-CN" sz="1800" dirty="0">
                <a:latin typeface="Times New Roman" panose="02020603050405020304" pitchFamily="18" charset="0"/>
                <a:ea typeface="华文楷体" panose="02010600040101010101" pitchFamily="2" charset="-122"/>
              </a:rPr>
              <a:t>/</a:t>
            </a:r>
            <a:r>
              <a:rPr lang="en-US" altLang="zh-CN" sz="1800" dirty="0" err="1" smtClean="0">
                <a:latin typeface="Times New Roman" panose="02020603050405020304" pitchFamily="18" charset="0"/>
                <a:ea typeface="华文楷体" panose="02010600040101010101" pitchFamily="2" charset="-122"/>
              </a:rPr>
              <a:t>usr</a:t>
            </a:r>
            <a:r>
              <a:rPr lang="zh-CN" altLang="en-US" sz="1800" dirty="0" smtClean="0">
                <a:latin typeface="Times New Roman" panose="02020603050405020304" pitchFamily="18" charset="0"/>
                <a:ea typeface="华文楷体" panose="02010600040101010101" pitchFamily="2" charset="-122"/>
              </a:rPr>
              <a:t>；</a:t>
            </a:r>
            <a:endParaRPr lang="en-US" altLang="zh-CN" sz="1800" dirty="0">
              <a:latin typeface="Times New Roman" panose="02020603050405020304" pitchFamily="18" charset="0"/>
              <a:ea typeface="华文楷体" panose="02010600040101010101" pitchFamily="2" charset="-122"/>
            </a:endParaRPr>
          </a:p>
          <a:p>
            <a:pPr marL="285750" indent="-285750">
              <a:buFont typeface="Arial" panose="020B0604020202020204" pitchFamily="34" charset="0"/>
              <a:buChar char="•"/>
            </a:pPr>
            <a:r>
              <a:rPr lang="en-US" altLang="zh-CN" sz="1800" dirty="0">
                <a:latin typeface="Times New Roman" panose="02020603050405020304" pitchFamily="18" charset="0"/>
                <a:ea typeface="华文楷体" panose="02010600040101010101" pitchFamily="2" charset="-122"/>
              </a:rPr>
              <a:t>/</a:t>
            </a:r>
            <a:r>
              <a:rPr lang="en-US" altLang="zh-CN" sz="1800" dirty="0" err="1">
                <a:latin typeface="Times New Roman" panose="02020603050405020304" pitchFamily="18" charset="0"/>
                <a:ea typeface="华文楷体" panose="02010600040101010101" pitchFamily="2" charset="-122"/>
              </a:rPr>
              <a:t>usr</a:t>
            </a:r>
            <a:r>
              <a:rPr lang="zh-CN" altLang="en-US" sz="1800" dirty="0">
                <a:latin typeface="Times New Roman" panose="02020603050405020304" pitchFamily="18" charset="0"/>
                <a:ea typeface="华文楷体" panose="02010600040101010101" pitchFamily="2" charset="-122"/>
              </a:rPr>
              <a:t>三个</a:t>
            </a:r>
            <a:r>
              <a:rPr lang="zh-CN" altLang="en-US" sz="1800" dirty="0" smtClean="0">
                <a:latin typeface="Times New Roman" panose="02020603050405020304" pitchFamily="18" charset="0"/>
                <a:ea typeface="华文楷体" panose="02010600040101010101" pitchFamily="2" charset="-122"/>
              </a:rPr>
              <a:t>儿子</a:t>
            </a:r>
            <a:r>
              <a:rPr lang="en-US" altLang="zh-CN" sz="1800" dirty="0" smtClean="0">
                <a:latin typeface="Times New Roman" panose="02020603050405020304" pitchFamily="18" charset="0"/>
                <a:ea typeface="华文楷体" panose="02010600040101010101" pitchFamily="2" charset="-122"/>
              </a:rPr>
              <a:t>/mark, /</a:t>
            </a:r>
            <a:r>
              <a:rPr lang="en-US" altLang="zh-CN" sz="1800" dirty="0" err="1" smtClean="0">
                <a:latin typeface="Times New Roman" panose="02020603050405020304" pitchFamily="18" charset="0"/>
                <a:ea typeface="华文楷体" panose="02010600040101010101" pitchFamily="2" charset="-122"/>
              </a:rPr>
              <a:t>alex</a:t>
            </a:r>
            <a:r>
              <a:rPr lang="en-US" altLang="zh-CN" sz="1800" dirty="0" smtClean="0">
                <a:latin typeface="Times New Roman" panose="02020603050405020304" pitchFamily="18" charset="0"/>
                <a:ea typeface="华文楷体" panose="02010600040101010101" pitchFamily="2" charset="-122"/>
              </a:rPr>
              <a:t>, /bill</a:t>
            </a:r>
            <a:r>
              <a:rPr lang="zh-CN" altLang="en-US" sz="1800" dirty="0" smtClean="0">
                <a:latin typeface="Times New Roman" panose="02020603050405020304" pitchFamily="18" charset="0"/>
                <a:ea typeface="华文楷体" panose="02010600040101010101" pitchFamily="2" charset="-122"/>
              </a:rPr>
              <a:t>均为目录；</a:t>
            </a:r>
            <a:endParaRPr lang="en-US" altLang="zh-CN" sz="1800" dirty="0" smtClean="0">
              <a:latin typeface="Times New Roman" panose="02020603050405020304" pitchFamily="18" charset="0"/>
              <a:ea typeface="华文楷体" panose="02010600040101010101" pitchFamily="2" charset="-122"/>
            </a:endParaRPr>
          </a:p>
          <a:p>
            <a:pPr marL="285750" indent="-285750">
              <a:buFont typeface="Arial" panose="020B0604020202020204" pitchFamily="34" charset="0"/>
              <a:buChar char="•"/>
            </a:pPr>
            <a:r>
              <a:rPr lang="zh-CN" altLang="en-US" sz="1800" dirty="0" smtClean="0">
                <a:latin typeface="Times New Roman" panose="02020603050405020304" pitchFamily="18" charset="0"/>
                <a:ea typeface="华文楷体" panose="02010600040101010101" pitchFamily="2" charset="-122"/>
              </a:rPr>
              <a:t>文件名</a:t>
            </a:r>
            <a:r>
              <a:rPr lang="en-US" altLang="zh-CN" sz="1800" dirty="0" smtClean="0">
                <a:latin typeface="Times New Roman" panose="02020603050405020304" pitchFamily="18" charset="0"/>
                <a:ea typeface="华文楷体" panose="02010600040101010101" pitchFamily="2" charset="-122"/>
              </a:rPr>
              <a:t>/</a:t>
            </a:r>
            <a:r>
              <a:rPr lang="en-US" altLang="zh-CN" sz="1800" dirty="0" err="1" smtClean="0">
                <a:latin typeface="Times New Roman" panose="02020603050405020304" pitchFamily="18" charset="0"/>
                <a:ea typeface="华文楷体" panose="02010600040101010101" pitchFamily="2" charset="-122"/>
              </a:rPr>
              <a:t>usr</a:t>
            </a:r>
            <a:r>
              <a:rPr lang="en-US" altLang="zh-CN" sz="1800" dirty="0" smtClean="0">
                <a:latin typeface="Times New Roman" panose="02020603050405020304" pitchFamily="18" charset="0"/>
                <a:ea typeface="华文楷体" panose="02010600040101010101" pitchFamily="2" charset="-122"/>
              </a:rPr>
              <a:t>/mark/book/ch1.r</a:t>
            </a:r>
            <a:r>
              <a:rPr lang="zh-CN" altLang="en-US" sz="1800" dirty="0" smtClean="0">
                <a:latin typeface="Times New Roman" panose="02020603050405020304" pitchFamily="18" charset="0"/>
                <a:ea typeface="华文楷体" panose="02010600040101010101" pitchFamily="2" charset="-122"/>
              </a:rPr>
              <a:t>是全路径名，可通过三次求最左子得到，除第一</a:t>
            </a:r>
            <a:r>
              <a:rPr lang="en-US" altLang="zh-CN" sz="1800" dirty="0" smtClean="0">
                <a:latin typeface="Times New Roman" panose="02020603050405020304" pitchFamily="18" charset="0"/>
                <a:ea typeface="华文楷体" panose="02010600040101010101" pitchFamily="2" charset="-122"/>
              </a:rPr>
              <a:t>/</a:t>
            </a:r>
            <a:r>
              <a:rPr lang="zh-CN" altLang="en-US" sz="1800" dirty="0" smtClean="0">
                <a:latin typeface="Times New Roman" panose="02020603050405020304" pitchFamily="18" charset="0"/>
                <a:ea typeface="华文楷体" panose="02010600040101010101" pitchFamily="2" charset="-122"/>
              </a:rPr>
              <a:t>外，其他每一个</a:t>
            </a:r>
            <a:r>
              <a:rPr lang="en-US" altLang="zh-CN" sz="1800" dirty="0" smtClean="0">
                <a:latin typeface="Times New Roman" panose="02020603050405020304" pitchFamily="18" charset="0"/>
                <a:ea typeface="华文楷体" panose="02010600040101010101" pitchFamily="2" charset="-122"/>
              </a:rPr>
              <a:t>/</a:t>
            </a:r>
            <a:r>
              <a:rPr lang="zh-CN" altLang="en-US" sz="1800" dirty="0" smtClean="0">
                <a:latin typeface="Times New Roman" panose="02020603050405020304" pitchFamily="18" charset="0"/>
                <a:ea typeface="华文楷体" panose="02010600040101010101" pitchFamily="2" charset="-122"/>
              </a:rPr>
              <a:t>都代表一个分支；</a:t>
            </a:r>
            <a:endParaRPr lang="en-US" altLang="zh-CN" sz="1800" dirty="0" smtClean="0">
              <a:latin typeface="Times New Roman" panose="02020603050405020304" pitchFamily="18" charset="0"/>
              <a:ea typeface="华文楷体" panose="02010600040101010101" pitchFamily="2" charset="-122"/>
            </a:endParaRPr>
          </a:p>
          <a:p>
            <a:pPr marL="285750" indent="-285750">
              <a:buFont typeface="Arial" panose="020B0604020202020204" pitchFamily="34" charset="0"/>
              <a:buChar char="•"/>
            </a:pPr>
            <a:r>
              <a:rPr lang="zh-CN" altLang="en-US" sz="1800" dirty="0" smtClean="0">
                <a:latin typeface="Times New Roman" panose="02020603050405020304" pitchFamily="18" charset="0"/>
                <a:ea typeface="华文楷体" panose="02010600040101010101" pitchFamily="2" charset="-122"/>
              </a:rPr>
              <a:t>不同目录下文件名可以相同。</a:t>
            </a:r>
            <a:endParaRPr lang="zh-CN" altLang="en-US" sz="1800" i="1" dirty="0"/>
          </a:p>
        </p:txBody>
      </p:sp>
      <p:pic>
        <p:nvPicPr>
          <p:cNvPr id="8" name="图片 7"/>
          <p:cNvPicPr>
            <a:picLocks noChangeAspect="1"/>
          </p:cNvPicPr>
          <p:nvPr/>
        </p:nvPicPr>
        <p:blipFill>
          <a:blip r:embed="rId1"/>
          <a:stretch>
            <a:fillRect/>
          </a:stretch>
        </p:blipFill>
        <p:spPr>
          <a:xfrm>
            <a:off x="457308" y="2133634"/>
            <a:ext cx="4469914" cy="3809900"/>
          </a:xfrm>
          <a:prstGeom prst="rect">
            <a:avLst/>
          </a:prstGeom>
          <a:ln>
            <a:solidFill>
              <a:schemeClr val="accent1"/>
            </a:solidFill>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308" y="1371654"/>
            <a:ext cx="8229600" cy="962808"/>
          </a:xfrm>
          <a:ln>
            <a:solidFill>
              <a:schemeClr val="accent1"/>
            </a:solidFill>
          </a:ln>
        </p:spPr>
        <p:txBody>
          <a:bodyPr/>
          <a:lstStyle/>
          <a:p>
            <a:pPr marL="0" indent="0" eaLnBrk="1" hangingPunct="1">
              <a:buNone/>
            </a:pPr>
            <a:r>
              <a:rPr lang="zh-CN" altLang="en-US" sz="2400" b="1" dirty="0" smtClean="0">
                <a:solidFill>
                  <a:srgbClr val="C00000"/>
                </a:solidFill>
                <a:ea typeface="华文楷体" panose="02010600040101010101" pitchFamily="2" charset="-122"/>
                <a:sym typeface="Symbol" panose="05050102010706020507" pitchFamily="18" charset="2"/>
              </a:rPr>
              <a:t>算法</a:t>
            </a:r>
            <a:r>
              <a:rPr lang="en-US" altLang="zh-CN" sz="2400" b="1" dirty="0" smtClean="0">
                <a:solidFill>
                  <a:srgbClr val="C00000"/>
                </a:solidFill>
                <a:ea typeface="华文楷体" panose="02010600040101010101" pitchFamily="2" charset="-122"/>
                <a:sym typeface="Symbol" panose="05050102010706020507" pitchFamily="18" charset="2"/>
              </a:rPr>
              <a:t>1</a:t>
            </a:r>
            <a:r>
              <a:rPr lang="zh-CN" altLang="en-US" sz="2400" dirty="0" smtClean="0">
                <a:ea typeface="华文楷体" panose="02010600040101010101" pitchFamily="2" charset="-122"/>
                <a:sym typeface="Symbol" panose="05050102010706020507" pitchFamily="18" charset="2"/>
              </a:rPr>
              <a:t>：输出目录中所有文件的名字，深度为</a:t>
            </a:r>
            <a:r>
              <a:rPr lang="en-US" altLang="zh-CN" sz="2400" dirty="0" smtClean="0">
                <a:ea typeface="华文楷体" panose="02010600040101010101" pitchFamily="2" charset="-122"/>
                <a:sym typeface="Symbol" panose="05050102010706020507" pitchFamily="18" charset="2"/>
              </a:rPr>
              <a:t>d</a:t>
            </a:r>
            <a:r>
              <a:rPr lang="en-US" altLang="zh-CN" sz="2400" baseline="-25000" dirty="0"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sym typeface="Symbol" panose="05050102010706020507" pitchFamily="18" charset="2"/>
              </a:rPr>
              <a:t>的文件用</a:t>
            </a:r>
            <a:r>
              <a:rPr lang="en-US" altLang="zh-CN" sz="2400" dirty="0" smtClean="0">
                <a:ea typeface="华文楷体" panose="02010600040101010101" pitchFamily="2" charset="-122"/>
                <a:sym typeface="Symbol" panose="05050102010706020507" pitchFamily="18" charset="2"/>
              </a:rPr>
              <a:t>d</a:t>
            </a:r>
            <a:r>
              <a:rPr lang="en-US" altLang="zh-CN" sz="2400" baseline="-25000" dirty="0"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sym typeface="Symbol" panose="05050102010706020507" pitchFamily="18" charset="2"/>
              </a:rPr>
              <a:t>次空格缩进打印，根结点不缩进（假设根在第</a:t>
            </a:r>
            <a:r>
              <a:rPr lang="en-US" altLang="zh-CN" sz="2400" dirty="0" smtClean="0">
                <a:ea typeface="华文楷体" panose="02010600040101010101" pitchFamily="2" charset="-122"/>
                <a:sym typeface="Symbol" panose="05050102010706020507" pitchFamily="18" charset="2"/>
              </a:rPr>
              <a:t>0</a:t>
            </a:r>
            <a:r>
              <a:rPr lang="zh-CN" altLang="en-US" sz="2400" dirty="0" smtClean="0">
                <a:ea typeface="华文楷体" panose="02010600040101010101" pitchFamily="2" charset="-122"/>
                <a:sym typeface="Symbol" panose="05050102010706020507" pitchFamily="18" charset="2"/>
              </a:rPr>
              <a:t>层）。</a:t>
            </a:r>
            <a:endParaRPr lang="zh-CN" altLang="en-US" sz="2400" dirty="0"/>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3429030" y="2534049"/>
            <a:ext cx="4876672" cy="4031873"/>
          </a:xfrm>
          <a:prstGeom prst="rect">
            <a:avLst/>
          </a:prstGeom>
          <a:noFill/>
          <a:ln>
            <a:solidFill>
              <a:schemeClr val="accent1"/>
            </a:solidFill>
          </a:ln>
        </p:spPr>
        <p:txBody>
          <a:bodyPr wrap="square" rtlCol="0">
            <a:spAutoFit/>
          </a:bodyPr>
          <a:lstStyle/>
          <a:p>
            <a:r>
              <a:rPr lang="en-US" altLang="zh-CN" sz="1600" b="1" dirty="0">
                <a:solidFill>
                  <a:srgbClr val="CC6600"/>
                </a:solidFill>
                <a:ea typeface="华文楷体" panose="02010600040101010101" pitchFamily="2" charset="-122"/>
              </a:rPr>
              <a:t>[</a:t>
            </a:r>
            <a:r>
              <a:rPr lang="zh-CN" altLang="en-US" sz="1600" b="1" dirty="0">
                <a:solidFill>
                  <a:srgbClr val="CC6600"/>
                </a:solidFill>
                <a:ea typeface="华文楷体" panose="02010600040101010101" pitchFamily="2" charset="-122"/>
              </a:rPr>
              <a:t>算法步骤</a:t>
            </a:r>
            <a:r>
              <a:rPr lang="en-US" altLang="zh-CN" sz="1600" b="1" dirty="0">
                <a:solidFill>
                  <a:srgbClr val="CC6600"/>
                </a:solidFill>
                <a:ea typeface="华文楷体" panose="02010600040101010101" pitchFamily="2" charset="-122"/>
              </a:rPr>
              <a:t>]</a:t>
            </a:r>
            <a:endParaRPr lang="en-US" altLang="zh-CN" sz="1600" dirty="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static void </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ListDir</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DirectoryofFile</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D, </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Depth)\\</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树先序</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if (D is a legitimate entry)</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PrintName</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(D, Depth);\\</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按深度</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Depth</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打印文件名</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if (D is a directory)</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for (each child C of D)</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ListDir</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(C, Depth+1);</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ListDirectory</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DirectoryofFile</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D</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ListDir</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(D,0);\\</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根结点不缩进</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p:cNvSpPr txBox="1"/>
          <p:nvPr/>
        </p:nvSpPr>
        <p:spPr>
          <a:xfrm>
            <a:off x="914496" y="2456705"/>
            <a:ext cx="1981148" cy="4401205"/>
          </a:xfrm>
          <a:prstGeom prst="rect">
            <a:avLst/>
          </a:prstGeom>
          <a:noFill/>
          <a:ln>
            <a:solidFill>
              <a:schemeClr val="accent1"/>
            </a:solidFill>
          </a:ln>
        </p:spPr>
        <p:txBody>
          <a:bodyPr wrap="square" rtlCol="0">
            <a:spAutoFit/>
          </a:bodyPr>
          <a:lstStyle/>
          <a:p>
            <a:r>
              <a:rPr lang="en-US" altLang="zh-CN" sz="1400" dirty="0" smtClean="0">
                <a:latin typeface="Times New Roman" panose="02020603050405020304" pitchFamily="18" charset="0"/>
                <a:cs typeface="Times New Roman" panose="02020603050405020304" pitchFamily="18" charset="0"/>
              </a:rPr>
              <a:t>/</a:t>
            </a:r>
            <a:r>
              <a:rPr lang="en-US" altLang="zh-CN" sz="1400" dirty="0" err="1" smtClean="0">
                <a:latin typeface="Times New Roman" panose="02020603050405020304" pitchFamily="18" charset="0"/>
                <a:cs typeface="Times New Roman" panose="02020603050405020304" pitchFamily="18" charset="0"/>
              </a:rPr>
              <a:t>usr</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smtClean="0">
                <a:latin typeface="Times New Roman" panose="02020603050405020304" pitchFamily="18" charset="0"/>
                <a:cs typeface="Times New Roman" panose="02020603050405020304" pitchFamily="18" charset="0"/>
              </a:rPr>
              <a:t> mark</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book</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ch1.r</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ch2.r</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ch3.r</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course</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cop3530</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smtClean="0">
                <a:latin typeface="Times New Roman" panose="02020603050405020304" pitchFamily="18" charset="0"/>
                <a:cs typeface="Times New Roman" panose="02020603050405020304" pitchFamily="18" charset="0"/>
              </a:rPr>
              <a:t>              fall23</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sy1.r</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spr24</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sy1.r</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sum24</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sy1.r</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a:t>
            </a:r>
            <a:r>
              <a:rPr lang="en-US" altLang="zh-CN" sz="1400" dirty="0" err="1" smtClean="0">
                <a:latin typeface="Times New Roman" panose="02020603050405020304" pitchFamily="18" charset="0"/>
                <a:cs typeface="Times New Roman" panose="02020603050405020304" pitchFamily="18" charset="0"/>
              </a:rPr>
              <a:t>junk.c</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err="1" smtClean="0">
                <a:latin typeface="Times New Roman" panose="02020603050405020304" pitchFamily="18" charset="0"/>
                <a:cs typeface="Times New Roman" panose="02020603050405020304" pitchFamily="18" charset="0"/>
              </a:rPr>
              <a:t>alex</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a:t>
            </a:r>
            <a:r>
              <a:rPr lang="en-US" altLang="zh-CN" sz="1400" dirty="0" smtClean="0">
                <a:latin typeface="Times New Roman" panose="02020603050405020304" pitchFamily="18" charset="0"/>
                <a:cs typeface="Times New Roman" panose="02020603050405020304" pitchFamily="18" charset="0"/>
              </a:rPr>
              <a:t>     </a:t>
            </a:r>
            <a:r>
              <a:rPr lang="en-US" altLang="zh-CN" sz="1400" dirty="0" err="1" smtClean="0">
                <a:latin typeface="Times New Roman" panose="02020603050405020304" pitchFamily="18" charset="0"/>
                <a:cs typeface="Times New Roman" panose="02020603050405020304" pitchFamily="18" charset="0"/>
              </a:rPr>
              <a:t>junk.c</a:t>
            </a:r>
            <a:endParaRPr lang="en-US" altLang="zh-CN" sz="1400" dirty="0" smtClean="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bill</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work</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    ……….     </a:t>
            </a:r>
            <a:endParaRPr lang="zh-CN" alt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pic>
        <p:nvPicPr>
          <p:cNvPr id="6" name="图片 5"/>
          <p:cNvPicPr>
            <a:picLocks noChangeAspect="1"/>
          </p:cNvPicPr>
          <p:nvPr/>
        </p:nvPicPr>
        <p:blipFill>
          <a:blip r:embed="rId1"/>
          <a:stretch>
            <a:fillRect/>
          </a:stretch>
        </p:blipFill>
        <p:spPr>
          <a:xfrm>
            <a:off x="47597" y="1828842"/>
            <a:ext cx="4759055" cy="4038494"/>
          </a:xfrm>
          <a:prstGeom prst="rect">
            <a:avLst/>
          </a:prstGeom>
          <a:ln>
            <a:solidFill>
              <a:schemeClr val="accent1"/>
            </a:solidFill>
          </a:ln>
        </p:spPr>
      </p:pic>
      <p:sp>
        <p:nvSpPr>
          <p:cNvPr id="7" name="内容占位符 2"/>
          <p:cNvSpPr>
            <a:spLocks noGrp="1"/>
          </p:cNvSpPr>
          <p:nvPr>
            <p:ph idx="1"/>
          </p:nvPr>
        </p:nvSpPr>
        <p:spPr>
          <a:xfrm>
            <a:off x="457200" y="1094407"/>
            <a:ext cx="8153294" cy="658238"/>
          </a:xfrm>
          <a:ln>
            <a:solidFill>
              <a:schemeClr val="accent1"/>
            </a:solidFill>
          </a:ln>
        </p:spPr>
        <p:txBody>
          <a:bodyPr/>
          <a:lstStyle/>
          <a:p>
            <a:pPr marL="0" indent="0" eaLnBrk="1" hangingPunct="1">
              <a:buNone/>
            </a:pPr>
            <a:r>
              <a:rPr lang="zh-CN" altLang="en-US" sz="2000" b="1" dirty="0" smtClean="0">
                <a:solidFill>
                  <a:srgbClr val="C00000"/>
                </a:solidFill>
                <a:ea typeface="华文楷体" panose="02010600040101010101" pitchFamily="2" charset="-122"/>
                <a:sym typeface="Symbol" panose="05050102010706020507" pitchFamily="18" charset="2"/>
              </a:rPr>
              <a:t>算法</a:t>
            </a:r>
            <a:r>
              <a:rPr lang="en-US" altLang="zh-CN" sz="2000" b="1" dirty="0" smtClean="0">
                <a:solidFill>
                  <a:srgbClr val="C00000"/>
                </a:solidFill>
                <a:ea typeface="华文楷体" panose="02010600040101010101" pitchFamily="2" charset="-122"/>
                <a:sym typeface="Symbol" panose="05050102010706020507" pitchFamily="18" charset="2"/>
              </a:rPr>
              <a:t>2</a:t>
            </a:r>
            <a:r>
              <a:rPr lang="zh-CN" altLang="en-US" sz="2000" dirty="0" smtClean="0">
                <a:ea typeface="华文楷体" panose="02010600040101010101" pitchFamily="2" charset="-122"/>
                <a:sym typeface="Symbol" panose="05050102010706020507" pitchFamily="18" charset="2"/>
              </a:rPr>
              <a:t>：文件名后括号中标注了每个文件名所占磁盘区块数，要求计算所有文件占用的磁盘区块总数。</a:t>
            </a:r>
            <a:endParaRPr lang="zh-CN" altLang="en-US" sz="2000" dirty="0"/>
          </a:p>
        </p:txBody>
      </p:sp>
      <p:sp>
        <p:nvSpPr>
          <p:cNvPr id="8" name="文本框 7"/>
          <p:cNvSpPr txBox="1"/>
          <p:nvPr/>
        </p:nvSpPr>
        <p:spPr>
          <a:xfrm>
            <a:off x="5029188" y="3429932"/>
            <a:ext cx="3599062" cy="3293209"/>
          </a:xfrm>
          <a:prstGeom prst="rect">
            <a:avLst/>
          </a:prstGeom>
          <a:noFill/>
          <a:ln>
            <a:solidFill>
              <a:schemeClr val="accent1"/>
            </a:solidFill>
          </a:ln>
        </p:spPr>
        <p:txBody>
          <a:bodyPr wrap="none" rtlCol="0">
            <a:spAutoFit/>
          </a:bodyPr>
          <a:lstStyle/>
          <a:p>
            <a:r>
              <a:rPr lang="en-US" altLang="zh-CN" sz="1600" b="1" dirty="0">
                <a:solidFill>
                  <a:srgbClr val="CC6600"/>
                </a:solidFill>
                <a:ea typeface="华文楷体" panose="02010600040101010101" pitchFamily="2" charset="-122"/>
              </a:rPr>
              <a:t>[</a:t>
            </a:r>
            <a:r>
              <a:rPr lang="zh-CN" altLang="en-US" sz="1600" b="1" dirty="0" smtClean="0">
                <a:solidFill>
                  <a:srgbClr val="CC6600"/>
                </a:solidFill>
                <a:ea typeface="华文楷体" panose="02010600040101010101" pitchFamily="2" charset="-122"/>
              </a:rPr>
              <a:t>算法</a:t>
            </a:r>
            <a:r>
              <a:rPr lang="zh-CN" altLang="en-US" sz="1600" b="1" dirty="0">
                <a:solidFill>
                  <a:srgbClr val="CC6600"/>
                </a:solidFill>
                <a:ea typeface="华文楷体" panose="02010600040101010101" pitchFamily="2" charset="-122"/>
              </a:rPr>
              <a:t>步骤</a:t>
            </a:r>
            <a:r>
              <a:rPr lang="en-US" altLang="zh-CN" sz="1600" b="1" dirty="0">
                <a:solidFill>
                  <a:srgbClr val="CC6600"/>
                </a:solidFill>
                <a:ea typeface="华文楷体" panose="02010600040101010101" pitchFamily="2" charset="-122"/>
              </a:rPr>
              <a: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static </a:t>
            </a:r>
            <a:r>
              <a:rPr lang="en-US" altLang="zh-CN" sz="1600" dirty="0" err="1" smtClean="0">
                <a:latin typeface="Times New Roman" panose="02020603050405020304" pitchFamily="18" charset="0"/>
                <a:cs typeface="Times New Roman" panose="02020603050405020304" pitchFamily="18" charset="0"/>
              </a:rPr>
              <a:t>int</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a:t>
            </a:r>
            <a:r>
              <a:rPr lang="en-US" altLang="zh-CN" sz="1600" dirty="0" err="1" smtClean="0">
                <a:latin typeface="Times New Roman" panose="02020603050405020304" pitchFamily="18" charset="0"/>
                <a:cs typeface="Times New Roman" panose="02020603050405020304" pitchFamily="18" charset="0"/>
              </a:rPr>
              <a:t>izeDirectory</a:t>
            </a:r>
            <a:r>
              <a:rPr lang="en-US" altLang="zh-CN" sz="1600" dirty="0" smtClean="0">
                <a:latin typeface="Times New Roman" panose="02020603050405020304" pitchFamily="18" charset="0"/>
                <a:cs typeface="Times New Roman" panose="02020603050405020304" pitchFamily="18" charset="0"/>
              </a:rPr>
              <a:t>(</a:t>
            </a:r>
            <a:r>
              <a:rPr lang="en-US" altLang="zh-CN" sz="1600" dirty="0" err="1" smtClean="0">
                <a:latin typeface="Times New Roman" panose="02020603050405020304" pitchFamily="18" charset="0"/>
                <a:cs typeface="Times New Roman" panose="02020603050405020304" pitchFamily="18" charset="0"/>
              </a:rPr>
              <a:t>DirectorofFile</a:t>
            </a:r>
            <a:r>
              <a:rPr lang="en-US" altLang="zh-CN" sz="1600" dirty="0" smtClean="0">
                <a:latin typeface="Times New Roman" panose="02020603050405020304" pitchFamily="18" charset="0"/>
                <a:cs typeface="Times New Roman" panose="02020603050405020304" pitchFamily="18" charset="0"/>
              </a:rPr>
              <a:t> D)</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树的后序</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int</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TotalSize</a:t>
            </a:r>
            <a:r>
              <a:rPr lang="en-US" altLang="zh-CN" sz="1600" dirty="0" smtClean="0">
                <a:latin typeface="Times New Roman" panose="02020603050405020304" pitchFamily="18" charset="0"/>
                <a:cs typeface="Times New Roman" panose="02020603050405020304" pitchFamily="18" charset="0"/>
              </a:rPr>
              <a:t> = 0;</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if (D is legitimate entry)</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TotalSize</a:t>
            </a:r>
            <a:r>
              <a:rPr lang="en-US" altLang="zh-CN" sz="1600" dirty="0" smtClean="0">
                <a:latin typeface="Times New Roman" panose="02020603050405020304" pitchFamily="18" charset="0"/>
                <a:cs typeface="Times New Roman" panose="02020603050405020304" pitchFamily="18" charset="0"/>
              </a:rPr>
              <a:t> = </a:t>
            </a:r>
            <a:r>
              <a:rPr lang="en-US" altLang="zh-CN" sz="1600" dirty="0" err="1" smtClean="0">
                <a:latin typeface="Times New Roman" panose="02020603050405020304" pitchFamily="18" charset="0"/>
                <a:cs typeface="Times New Roman" panose="02020603050405020304" pitchFamily="18" charset="0"/>
              </a:rPr>
              <a:t>FileSize</a:t>
            </a:r>
            <a:r>
              <a:rPr lang="en-US" altLang="zh-CN" sz="1600" dirty="0" smtClean="0">
                <a:latin typeface="Times New Roman" panose="02020603050405020304" pitchFamily="18" charset="0"/>
                <a:cs typeface="Times New Roman" panose="02020603050405020304" pitchFamily="18" charset="0"/>
              </a:rPr>
              <a:t>(D);</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if (</a:t>
            </a:r>
            <a:r>
              <a:rPr lang="en-US" altLang="zh-CN" sz="1600" dirty="0">
                <a:latin typeface="Times New Roman" panose="02020603050405020304" pitchFamily="18" charset="0"/>
                <a:cs typeface="Times New Roman" panose="02020603050405020304" pitchFamily="18" charset="0"/>
              </a:rPr>
              <a:t>D is Directory</a:t>
            </a:r>
            <a:r>
              <a:rPr lang="en-US" altLang="zh-CN" sz="1600" dirty="0" smtClean="0">
                <a:latin typeface="Times New Roman" panose="02020603050405020304" pitchFamily="18" charset="0"/>
                <a:cs typeface="Times New Roman" panose="02020603050405020304" pitchFamily="18" charset="0"/>
              </a:rPr>
              <a: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for (each child C of D)</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TotalSize</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SizeDirectory</a:t>
            </a:r>
            <a:r>
              <a:rPr lang="en-US" altLang="zh-CN" sz="1600" dirty="0" smtClean="0">
                <a:latin typeface="Times New Roman" panose="02020603050405020304" pitchFamily="18" charset="0"/>
                <a:cs typeface="Times New Roman" panose="02020603050405020304" pitchFamily="18" charset="0"/>
              </a:rPr>
              <a:t>(C);</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    }</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return </a:t>
            </a:r>
            <a:r>
              <a:rPr lang="en-US" altLang="zh-CN" sz="1600" dirty="0" err="1" smtClean="0">
                <a:latin typeface="Times New Roman" panose="02020603050405020304" pitchFamily="18" charset="0"/>
                <a:cs typeface="Times New Roman" panose="02020603050405020304" pitchFamily="18" charset="0"/>
              </a:rPr>
              <a:t>TotalSize</a:t>
            </a:r>
            <a:r>
              <a:rPr lang="en-US" altLang="zh-CN" sz="1600" dirty="0" smtClean="0">
                <a:latin typeface="Times New Roman" panose="02020603050405020304" pitchFamily="18" charset="0"/>
                <a:cs typeface="Times New Roman" panose="02020603050405020304" pitchFamily="18" charset="0"/>
              </a:rPr>
              <a: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4876792" y="1832666"/>
            <a:ext cx="4495682" cy="1569660"/>
          </a:xfrm>
          <a:prstGeom prst="rect">
            <a:avLst/>
          </a:prstGeom>
          <a:noFill/>
        </p:spPr>
        <p:txBody>
          <a:bodyPr wrap="square" rtlCol="0">
            <a:spAutoFit/>
          </a:bodyPr>
          <a:lstStyle/>
          <a:p>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思路：</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先算出</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usr</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/mark(30);/</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usr</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alex</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(9);/</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usr</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/bill(32</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子目录的</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总</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块数</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=30+9+32=71</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smtClean="0">
                <a:latin typeface="Times New Roman" panose="02020603050405020304" pitchFamily="18" charset="0"/>
                <a:ea typeface="华文楷体" panose="02010600040101010101" pitchFamily="2" charset="-122"/>
                <a:cs typeface="Times New Roman" panose="02020603050405020304" pitchFamily="18" charset="0"/>
              </a:rPr>
              <a:t>usr</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本身占用的</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块</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得出</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usr</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(72)</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采用树的后序遍历</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31" name="日期占位符 5"/>
          <p:cNvSpPr>
            <a:spLocks noGrp="1"/>
          </p:cNvSpPr>
          <p:nvPr>
            <p:ph type="dt" sz="quarter" idx="12"/>
          </p:nvPr>
        </p:nvSpPr>
        <p:spPr/>
        <p:txBody>
          <a:bodyPr/>
          <a:lstStyle/>
          <a:p>
            <a:pPr>
              <a:defRPr/>
            </a:pPr>
            <a:r>
              <a:rPr lang="en-US" altLang="zh-CN"/>
              <a:t>BUPT</a:t>
            </a:r>
            <a:endParaRPr lang="en-US" altLang="zh-CN"/>
          </a:p>
        </p:txBody>
      </p:sp>
      <p:sp>
        <p:nvSpPr>
          <p:cNvPr id="6246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2469"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树的存储结构</a:t>
            </a:r>
            <a:r>
              <a:rPr lang="en-US" altLang="zh-CN" sz="2400" b="1" dirty="0" smtClean="0">
                <a:solidFill>
                  <a:srgbClr val="8000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多重链表表示法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r>
              <a:rPr lang="zh-CN" altLang="en-US" sz="2400" dirty="0" smtClean="0">
                <a:ea typeface="华文楷体" panose="02010600040101010101" pitchFamily="2" charset="-122"/>
              </a:rPr>
              <a:t>结点结构</a:t>
            </a:r>
            <a:r>
              <a:rPr lang="zh-CN" altLang="en-US" sz="2800" dirty="0" smtClean="0">
                <a:ea typeface="华文楷体" panose="02010600040101010101" pitchFamily="2" charset="-122"/>
              </a:rPr>
              <a:t>        </a:t>
            </a:r>
            <a:r>
              <a:rPr lang="en-US" altLang="zh-CN" sz="2800" dirty="0" smtClean="0">
                <a:ea typeface="华文楷体" panose="02010600040101010101" pitchFamily="2" charset="-122"/>
              </a:rPr>
              <a:t>data child</a:t>
            </a:r>
            <a:r>
              <a:rPr lang="en-US" altLang="zh-CN" sz="2800" baseline="-25000" dirty="0" smtClean="0">
                <a:ea typeface="华文楷体" panose="02010600040101010101" pitchFamily="2" charset="-122"/>
              </a:rPr>
              <a:t>1</a:t>
            </a:r>
            <a:r>
              <a:rPr lang="en-US" altLang="zh-CN" sz="2800" dirty="0" smtClean="0">
                <a:ea typeface="华文楷体" panose="02010600040101010101" pitchFamily="2" charset="-122"/>
              </a:rPr>
              <a:t>  child</a:t>
            </a:r>
            <a:r>
              <a:rPr lang="en-US" altLang="zh-CN" sz="2800" baseline="-25000" dirty="0" smtClean="0">
                <a:ea typeface="华文楷体" panose="02010600040101010101" pitchFamily="2" charset="-122"/>
              </a:rPr>
              <a:t>2</a:t>
            </a:r>
            <a:r>
              <a:rPr lang="en-US" altLang="zh-CN" sz="2800" dirty="0" smtClean="0">
                <a:ea typeface="华文楷体" panose="02010600040101010101" pitchFamily="2" charset="-122"/>
              </a:rPr>
              <a:t>    </a:t>
            </a:r>
            <a:r>
              <a:rPr lang="en-US" altLang="zh-CN" sz="2800" dirty="0" smtClean="0">
                <a:latin typeface="Times New Roman" panose="02020603050405020304" pitchFamily="18" charset="0"/>
                <a:ea typeface="华文楷体" panose="02010600040101010101" pitchFamily="2" charset="-122"/>
              </a:rPr>
              <a:t>…</a:t>
            </a:r>
            <a:r>
              <a:rPr lang="en-US" altLang="zh-CN" sz="2800" dirty="0" smtClean="0">
                <a:ea typeface="华文楷体" panose="02010600040101010101" pitchFamily="2" charset="-122"/>
              </a:rPr>
              <a:t>  </a:t>
            </a:r>
            <a:r>
              <a:rPr lang="en-US" altLang="zh-CN" sz="2800" dirty="0" err="1" smtClean="0">
                <a:ea typeface="华文楷体" panose="02010600040101010101" pitchFamily="2" charset="-122"/>
              </a:rPr>
              <a:t>child</a:t>
            </a:r>
            <a:r>
              <a:rPr lang="en-US" altLang="zh-CN" sz="2800" baseline="-25000" dirty="0" err="1" smtClean="0">
                <a:ea typeface="华文楷体" panose="02010600040101010101" pitchFamily="2" charset="-122"/>
              </a:rPr>
              <a:t>m</a:t>
            </a:r>
            <a:endParaRPr lang="en-US" altLang="zh-CN" sz="2800" baseline="-25000" dirty="0" smtClean="0">
              <a:ea typeface="华文楷体" panose="02010600040101010101" pitchFamily="2" charset="-122"/>
            </a:endParaRPr>
          </a:p>
          <a:p>
            <a:pPr eaLnBrk="1" hangingPunct="1">
              <a:buFont typeface="Wingdings" panose="05000000000000000000" pitchFamily="2" charset="2"/>
              <a:buNone/>
            </a:pPr>
            <a:r>
              <a:rPr lang="en-US" altLang="zh-CN" sz="2800" dirty="0" smtClean="0">
                <a:ea typeface="华文楷体" panose="02010600040101010101" pitchFamily="2" charset="-122"/>
              </a:rPr>
              <a:t>                     </a:t>
            </a:r>
            <a:r>
              <a:rPr lang="zh-CN" altLang="en-US" sz="2400" dirty="0" smtClean="0">
                <a:ea typeface="华文楷体" panose="02010600040101010101" pitchFamily="2" charset="-122"/>
              </a:rPr>
              <a:t>数据域     指针域 </a:t>
            </a:r>
            <a:r>
              <a:rPr lang="en-US" altLang="zh-CN" sz="2400" dirty="0" smtClean="0">
                <a:ea typeface="华文楷体" panose="02010600040101010101" pitchFamily="2" charset="-122"/>
              </a:rPr>
              <a:t>(m: </a:t>
            </a:r>
            <a:r>
              <a:rPr lang="zh-CN" altLang="zh-CN" sz="2400" dirty="0" smtClean="0">
                <a:ea typeface="华文楷体" panose="02010600040101010101" pitchFamily="2" charset="-122"/>
              </a:rPr>
              <a:t>树的度</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双亲表示法</a:t>
            </a:r>
            <a:r>
              <a:rPr lang="en-US" altLang="zh-CN" sz="2400" b="1" dirty="0" smtClean="0">
                <a:solidFill>
                  <a:srgbClr val="CC6600"/>
                </a:solidFill>
                <a:ea typeface="华文楷体" panose="02010600040101010101" pitchFamily="2" charset="-122"/>
              </a:rPr>
              <a:t>]  </a:t>
            </a:r>
            <a:r>
              <a:rPr lang="zh-CN" altLang="en-US" sz="2400" dirty="0" smtClean="0">
                <a:ea typeface="华文楷体" panose="02010600040101010101" pitchFamily="2" charset="-122"/>
              </a:rPr>
              <a:t>用一维数组存储树的信息</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结点序号       </a:t>
            </a:r>
            <a:r>
              <a:rPr lang="en-US" altLang="zh-CN" sz="2400" dirty="0" smtClean="0">
                <a:ea typeface="华文楷体" panose="02010600040101010101" pitchFamily="2" charset="-122"/>
              </a:rPr>
              <a:t>data  parent</a:t>
            </a:r>
            <a:endParaRPr lang="en-US" altLang="zh-CN" sz="2800" dirty="0" smtClean="0">
              <a:ea typeface="华文楷体" panose="02010600040101010101" pitchFamily="2" charset="-122"/>
            </a:endParaRPr>
          </a:p>
          <a:p>
            <a:pPr eaLnBrk="1" hangingPunct="1">
              <a:lnSpc>
                <a:spcPct val="70000"/>
              </a:lnSpc>
              <a:buFont typeface="Wingdings" panose="05000000000000000000" pitchFamily="2" charset="2"/>
              <a:buNone/>
            </a:pPr>
            <a:r>
              <a:rPr lang="en-US" altLang="zh-CN" sz="2800" dirty="0" smtClean="0">
                <a:ea typeface="华文楷体" panose="02010600040101010101" pitchFamily="2" charset="-122"/>
              </a:rPr>
              <a:t>          1               A       0</a:t>
            </a:r>
            <a:endParaRPr lang="en-US" altLang="zh-CN" sz="2800" dirty="0" smtClean="0">
              <a:ea typeface="华文楷体" panose="02010600040101010101" pitchFamily="2" charset="-122"/>
            </a:endParaRPr>
          </a:p>
          <a:p>
            <a:pPr eaLnBrk="1" hangingPunct="1">
              <a:lnSpc>
                <a:spcPct val="70000"/>
              </a:lnSpc>
              <a:buFont typeface="Wingdings" panose="05000000000000000000" pitchFamily="2" charset="2"/>
              <a:buNone/>
            </a:pPr>
            <a:r>
              <a:rPr lang="en-US" altLang="zh-CN" sz="2800" dirty="0" smtClean="0">
                <a:ea typeface="华文楷体" panose="02010600040101010101" pitchFamily="2" charset="-122"/>
              </a:rPr>
              <a:t>          2               B       1</a:t>
            </a:r>
            <a:endParaRPr lang="en-US" altLang="zh-CN" sz="2800" dirty="0" smtClean="0">
              <a:ea typeface="华文楷体" panose="02010600040101010101" pitchFamily="2" charset="-122"/>
            </a:endParaRPr>
          </a:p>
          <a:p>
            <a:pPr eaLnBrk="1" hangingPunct="1">
              <a:lnSpc>
                <a:spcPct val="70000"/>
              </a:lnSpc>
              <a:buFont typeface="Wingdings" panose="05000000000000000000" pitchFamily="2" charset="2"/>
              <a:buNone/>
            </a:pPr>
            <a:r>
              <a:rPr lang="en-US" altLang="zh-CN" sz="2800" dirty="0" smtClean="0">
                <a:ea typeface="华文楷体" panose="02010600040101010101" pitchFamily="2" charset="-122"/>
              </a:rPr>
              <a:t>          3               C       1</a:t>
            </a:r>
            <a:endParaRPr lang="en-US" altLang="zh-CN" sz="2800" dirty="0" smtClean="0">
              <a:ea typeface="华文楷体" panose="02010600040101010101" pitchFamily="2" charset="-122"/>
            </a:endParaRPr>
          </a:p>
          <a:p>
            <a:pPr eaLnBrk="1" hangingPunct="1">
              <a:lnSpc>
                <a:spcPct val="70000"/>
              </a:lnSpc>
              <a:buFont typeface="Wingdings" panose="05000000000000000000" pitchFamily="2" charset="2"/>
              <a:buNone/>
            </a:pPr>
            <a:r>
              <a:rPr lang="en-US" altLang="zh-CN" sz="2800" dirty="0" smtClean="0">
                <a:ea typeface="华文楷体" panose="02010600040101010101" pitchFamily="2" charset="-122"/>
              </a:rPr>
              <a:t>          4               D       3</a:t>
            </a:r>
            <a:endParaRPr lang="en-US" altLang="zh-CN" sz="2800" dirty="0" smtClean="0">
              <a:ea typeface="华文楷体" panose="02010600040101010101" pitchFamily="2" charset="-122"/>
            </a:endParaRPr>
          </a:p>
          <a:p>
            <a:pPr eaLnBrk="1" hangingPunct="1">
              <a:lnSpc>
                <a:spcPct val="70000"/>
              </a:lnSpc>
              <a:buFont typeface="Wingdings" panose="05000000000000000000" pitchFamily="2" charset="2"/>
              <a:buNone/>
            </a:pPr>
            <a:r>
              <a:rPr lang="en-US" altLang="zh-CN" sz="2800" dirty="0" smtClean="0">
                <a:ea typeface="华文楷体" panose="02010600040101010101" pitchFamily="2" charset="-122"/>
              </a:rPr>
              <a:t>          5               E       3</a:t>
            </a:r>
            <a:endParaRPr lang="en-US" altLang="zh-CN" sz="2800" dirty="0" smtClean="0">
              <a:ea typeface="华文楷体" panose="02010600040101010101" pitchFamily="2" charset="-122"/>
            </a:endParaRPr>
          </a:p>
          <a:p>
            <a:pPr eaLnBrk="1" hangingPunct="1">
              <a:lnSpc>
                <a:spcPct val="70000"/>
              </a:lnSpc>
              <a:buFont typeface="Wingdings" panose="05000000000000000000" pitchFamily="2" charset="2"/>
              <a:buNone/>
            </a:pPr>
            <a:r>
              <a:rPr lang="en-US" altLang="zh-CN" sz="2800" dirty="0" smtClean="0">
                <a:ea typeface="华文楷体" panose="02010600040101010101" pitchFamily="2" charset="-122"/>
              </a:rPr>
              <a:t>          6               F       3</a:t>
            </a:r>
            <a:endParaRPr lang="en-US" altLang="zh-CN" sz="28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p:txBody>
      </p:sp>
      <p:sp>
        <p:nvSpPr>
          <p:cNvPr id="62470" name="Rectangle 4"/>
          <p:cNvSpPr>
            <a:spLocks noChangeArrowheads="1"/>
          </p:cNvSpPr>
          <p:nvPr/>
        </p:nvSpPr>
        <p:spPr bwMode="auto">
          <a:xfrm>
            <a:off x="2667000" y="2057400"/>
            <a:ext cx="46482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71" name="Line 5"/>
          <p:cNvSpPr>
            <a:spLocks noChangeShapeType="1"/>
          </p:cNvSpPr>
          <p:nvPr/>
        </p:nvSpPr>
        <p:spPr bwMode="auto">
          <a:xfrm>
            <a:off x="3429000" y="20574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72" name="Line 6"/>
          <p:cNvSpPr>
            <a:spLocks noChangeShapeType="1"/>
          </p:cNvSpPr>
          <p:nvPr/>
        </p:nvSpPr>
        <p:spPr bwMode="auto">
          <a:xfrm>
            <a:off x="4419600" y="20574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73" name="Line 7"/>
          <p:cNvSpPr>
            <a:spLocks noChangeShapeType="1"/>
          </p:cNvSpPr>
          <p:nvPr/>
        </p:nvSpPr>
        <p:spPr bwMode="auto">
          <a:xfrm>
            <a:off x="5486400" y="20574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74" name="Line 8"/>
          <p:cNvSpPr>
            <a:spLocks noChangeShapeType="1"/>
          </p:cNvSpPr>
          <p:nvPr/>
        </p:nvSpPr>
        <p:spPr bwMode="auto">
          <a:xfrm>
            <a:off x="6248400" y="20574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75" name="Rectangle 9"/>
          <p:cNvSpPr>
            <a:spLocks noChangeArrowheads="1"/>
          </p:cNvSpPr>
          <p:nvPr/>
        </p:nvSpPr>
        <p:spPr bwMode="auto">
          <a:xfrm>
            <a:off x="2819400" y="3886200"/>
            <a:ext cx="1600200" cy="2362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76" name="Line 10"/>
          <p:cNvSpPr>
            <a:spLocks noChangeShapeType="1"/>
          </p:cNvSpPr>
          <p:nvPr/>
        </p:nvSpPr>
        <p:spPr bwMode="auto">
          <a:xfrm>
            <a:off x="2819400" y="4267200"/>
            <a:ext cx="1600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77" name="Line 11"/>
          <p:cNvSpPr>
            <a:spLocks noChangeShapeType="1"/>
          </p:cNvSpPr>
          <p:nvPr/>
        </p:nvSpPr>
        <p:spPr bwMode="auto">
          <a:xfrm>
            <a:off x="2819400" y="4648200"/>
            <a:ext cx="1600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78" name="Line 12"/>
          <p:cNvSpPr>
            <a:spLocks noChangeShapeType="1"/>
          </p:cNvSpPr>
          <p:nvPr/>
        </p:nvSpPr>
        <p:spPr bwMode="auto">
          <a:xfrm>
            <a:off x="2819400" y="5029200"/>
            <a:ext cx="1600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79" name="Line 13"/>
          <p:cNvSpPr>
            <a:spLocks noChangeShapeType="1"/>
          </p:cNvSpPr>
          <p:nvPr/>
        </p:nvSpPr>
        <p:spPr bwMode="auto">
          <a:xfrm>
            <a:off x="2819400" y="5410200"/>
            <a:ext cx="1600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80" name="Line 14"/>
          <p:cNvSpPr>
            <a:spLocks noChangeShapeType="1"/>
          </p:cNvSpPr>
          <p:nvPr/>
        </p:nvSpPr>
        <p:spPr bwMode="auto">
          <a:xfrm>
            <a:off x="2819400" y="5791200"/>
            <a:ext cx="1600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81" name="Line 15"/>
          <p:cNvSpPr>
            <a:spLocks noChangeShapeType="1"/>
          </p:cNvSpPr>
          <p:nvPr/>
        </p:nvSpPr>
        <p:spPr bwMode="auto">
          <a:xfrm>
            <a:off x="3657600" y="3886200"/>
            <a:ext cx="0" cy="2362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82" name="Oval 16"/>
          <p:cNvSpPr>
            <a:spLocks noChangeArrowheads="1"/>
          </p:cNvSpPr>
          <p:nvPr/>
        </p:nvSpPr>
        <p:spPr bwMode="auto">
          <a:xfrm>
            <a:off x="6019800" y="3581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83" name="Oval 17"/>
          <p:cNvSpPr>
            <a:spLocks noChangeArrowheads="1"/>
          </p:cNvSpPr>
          <p:nvPr/>
        </p:nvSpPr>
        <p:spPr bwMode="auto">
          <a:xfrm>
            <a:off x="5334000" y="42672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84" name="Oval 18"/>
          <p:cNvSpPr>
            <a:spLocks noChangeArrowheads="1"/>
          </p:cNvSpPr>
          <p:nvPr/>
        </p:nvSpPr>
        <p:spPr bwMode="auto">
          <a:xfrm>
            <a:off x="6781800" y="42672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85" name="Oval 19"/>
          <p:cNvSpPr>
            <a:spLocks noChangeArrowheads="1"/>
          </p:cNvSpPr>
          <p:nvPr/>
        </p:nvSpPr>
        <p:spPr bwMode="auto">
          <a:xfrm>
            <a:off x="5943600" y="5486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86" name="Oval 20"/>
          <p:cNvSpPr>
            <a:spLocks noChangeArrowheads="1"/>
          </p:cNvSpPr>
          <p:nvPr/>
        </p:nvSpPr>
        <p:spPr bwMode="auto">
          <a:xfrm>
            <a:off x="6858000" y="5486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87" name="Oval 21"/>
          <p:cNvSpPr>
            <a:spLocks noChangeArrowheads="1"/>
          </p:cNvSpPr>
          <p:nvPr/>
        </p:nvSpPr>
        <p:spPr bwMode="auto">
          <a:xfrm>
            <a:off x="7696200" y="5486400"/>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2488" name="Line 22"/>
          <p:cNvSpPr>
            <a:spLocks noChangeShapeType="1"/>
          </p:cNvSpPr>
          <p:nvPr/>
        </p:nvSpPr>
        <p:spPr bwMode="auto">
          <a:xfrm flipH="1">
            <a:off x="5486400" y="3962400"/>
            <a:ext cx="762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89" name="Line 23"/>
          <p:cNvSpPr>
            <a:spLocks noChangeShapeType="1"/>
          </p:cNvSpPr>
          <p:nvPr/>
        </p:nvSpPr>
        <p:spPr bwMode="auto">
          <a:xfrm>
            <a:off x="6248400" y="3962400"/>
            <a:ext cx="7620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90" name="Line 24"/>
          <p:cNvSpPr>
            <a:spLocks noChangeShapeType="1"/>
          </p:cNvSpPr>
          <p:nvPr/>
        </p:nvSpPr>
        <p:spPr bwMode="auto">
          <a:xfrm flipH="1">
            <a:off x="6096000" y="4648200"/>
            <a:ext cx="8382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91" name="Line 25"/>
          <p:cNvSpPr>
            <a:spLocks noChangeShapeType="1"/>
          </p:cNvSpPr>
          <p:nvPr/>
        </p:nvSpPr>
        <p:spPr bwMode="auto">
          <a:xfrm>
            <a:off x="7010400" y="4648200"/>
            <a:ext cx="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92" name="Line 26"/>
          <p:cNvSpPr>
            <a:spLocks noChangeShapeType="1"/>
          </p:cNvSpPr>
          <p:nvPr/>
        </p:nvSpPr>
        <p:spPr bwMode="auto">
          <a:xfrm>
            <a:off x="7162800" y="4572000"/>
            <a:ext cx="685800" cy="914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2493" name="Text Box 27"/>
          <p:cNvSpPr txBox="1">
            <a:spLocks noChangeArrowheads="1"/>
          </p:cNvSpPr>
          <p:nvPr/>
        </p:nvSpPr>
        <p:spPr bwMode="auto">
          <a:xfrm>
            <a:off x="5715000" y="35814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1  A</a:t>
            </a:r>
            <a:endParaRPr lang="en-US" altLang="zh-CN" sz="2400" dirty="0">
              <a:latin typeface="Times New Roman" panose="02020603050405020304" pitchFamily="18" charset="0"/>
              <a:ea typeface="华文楷体" panose="02010600040101010101" pitchFamily="2" charset="-122"/>
            </a:endParaRPr>
          </a:p>
        </p:txBody>
      </p:sp>
      <p:sp>
        <p:nvSpPr>
          <p:cNvPr id="62494" name="Text Box 28"/>
          <p:cNvSpPr txBox="1">
            <a:spLocks noChangeArrowheads="1"/>
          </p:cNvSpPr>
          <p:nvPr/>
        </p:nvSpPr>
        <p:spPr bwMode="auto">
          <a:xfrm>
            <a:off x="5029200" y="41910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2  B            3  C</a:t>
            </a:r>
            <a:endParaRPr lang="en-US" altLang="zh-CN" sz="2400" dirty="0">
              <a:latin typeface="Times New Roman" panose="02020603050405020304" pitchFamily="18" charset="0"/>
              <a:ea typeface="华文楷体" panose="02010600040101010101" pitchFamily="2" charset="-122"/>
            </a:endParaRPr>
          </a:p>
        </p:txBody>
      </p:sp>
      <p:sp>
        <p:nvSpPr>
          <p:cNvPr id="62495" name="Text Box 29"/>
          <p:cNvSpPr txBox="1">
            <a:spLocks noChangeArrowheads="1"/>
          </p:cNvSpPr>
          <p:nvPr/>
        </p:nvSpPr>
        <p:spPr bwMode="auto">
          <a:xfrm>
            <a:off x="5638800" y="54864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4  D     5  E     6  F</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3"/>
          <p:cNvSpPr>
            <a:spLocks noGrp="1"/>
          </p:cNvSpPr>
          <p:nvPr>
            <p:ph type="ftr" sz="quarter" idx="10"/>
          </p:nvPr>
        </p:nvSpPr>
        <p:spPr/>
        <p:txBody>
          <a:bodyPr/>
          <a:lstStyle/>
          <a:p>
            <a:pPr>
              <a:defRPr/>
            </a:pPr>
            <a:r>
              <a:rPr lang="en-US" altLang="zh-CN"/>
              <a:t>BUPT SCST</a:t>
            </a:r>
            <a:endParaRPr lang="en-US" altLang="zh-CN"/>
          </a:p>
        </p:txBody>
      </p:sp>
      <p:sp>
        <p:nvSpPr>
          <p:cNvPr id="30" name="日期占位符 5"/>
          <p:cNvSpPr>
            <a:spLocks noGrp="1"/>
          </p:cNvSpPr>
          <p:nvPr>
            <p:ph type="dt" sz="quarter" idx="12"/>
          </p:nvPr>
        </p:nvSpPr>
        <p:spPr/>
        <p:txBody>
          <a:bodyPr/>
          <a:lstStyle/>
          <a:p>
            <a:pPr>
              <a:defRPr/>
            </a:pPr>
            <a:r>
              <a:rPr lang="en-US" altLang="zh-CN"/>
              <a:t>BUPT</a:t>
            </a:r>
            <a:endParaRPr lang="en-US" altLang="zh-CN"/>
          </a:p>
        </p:txBody>
      </p:sp>
      <p:sp>
        <p:nvSpPr>
          <p:cNvPr id="63492" name="Rectangle 2"/>
          <p:cNvSpPr>
            <a:spLocks noChangeArrowheads="1"/>
          </p:cNvSpPr>
          <p:nvPr/>
        </p:nvSpPr>
        <p:spPr bwMode="auto">
          <a:xfrm>
            <a:off x="685800" y="990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dirty="0">
                <a:solidFill>
                  <a:schemeClr val="accent2"/>
                </a:solidFill>
                <a:latin typeface="Verdana" panose="020B0604030504040204" pitchFamily="34" charset="0"/>
                <a:ea typeface="华文楷体" panose="02010600040101010101" pitchFamily="2" charset="-122"/>
              </a:rPr>
              <a:t>[</a:t>
            </a:r>
            <a:r>
              <a:rPr lang="zh-CN" altLang="en-US" sz="2400" dirty="0">
                <a:solidFill>
                  <a:schemeClr val="accent2"/>
                </a:solidFill>
                <a:latin typeface="Verdana" panose="020B0604030504040204" pitchFamily="34" charset="0"/>
                <a:ea typeface="华文楷体" panose="02010600040101010101" pitchFamily="2" charset="-122"/>
              </a:rPr>
              <a:t>孩子链表表示法</a:t>
            </a:r>
            <a:r>
              <a:rPr lang="en-US" altLang="zh-CN" sz="2400" dirty="0">
                <a:solidFill>
                  <a:schemeClr val="accent2"/>
                </a:solidFill>
                <a:latin typeface="Verdana" panose="020B0604030504040204" pitchFamily="34" charset="0"/>
                <a:ea typeface="华文楷体" panose="02010600040101010101" pitchFamily="2" charset="-122"/>
              </a:rPr>
              <a:t>]</a:t>
            </a:r>
            <a:r>
              <a:rPr lang="en-US" altLang="zh-CN" sz="2400" b="1" dirty="0">
                <a:solidFill>
                  <a:schemeClr val="accent2"/>
                </a:solidFill>
                <a:latin typeface="Verdana" panose="020B0604030504040204" pitchFamily="34" charset="0"/>
                <a:ea typeface="华文楷体" panose="02010600040101010101" pitchFamily="2" charset="-122"/>
              </a:rPr>
              <a:t>  </a:t>
            </a:r>
            <a:r>
              <a:rPr lang="zh-CN" altLang="en-US" sz="2400" b="1" dirty="0">
                <a:solidFill>
                  <a:schemeClr val="accent2"/>
                </a:solidFill>
                <a:latin typeface="Verdana" panose="020B0604030504040204" pitchFamily="34" charset="0"/>
                <a:ea typeface="华文楷体" panose="02010600040101010101" pitchFamily="2" charset="-122"/>
              </a:rPr>
              <a:t>数组</a:t>
            </a:r>
            <a:r>
              <a:rPr lang="en-US" altLang="zh-CN" sz="2400" b="1" dirty="0">
                <a:solidFill>
                  <a:schemeClr val="accent2"/>
                </a:solidFill>
                <a:latin typeface="Verdana" panose="020B0604030504040204" pitchFamily="34" charset="0"/>
                <a:ea typeface="华文楷体" panose="02010600040101010101" pitchFamily="2" charset="-122"/>
              </a:rPr>
              <a:t>+</a:t>
            </a:r>
            <a:r>
              <a:rPr lang="zh-CN" altLang="en-US" sz="2400" b="1" dirty="0">
                <a:solidFill>
                  <a:schemeClr val="accent2"/>
                </a:solidFill>
                <a:latin typeface="Verdana" panose="020B0604030504040204" pitchFamily="34" charset="0"/>
                <a:ea typeface="华文楷体" panose="02010600040101010101" pitchFamily="2" charset="-122"/>
              </a:rPr>
              <a:t>单链表</a:t>
            </a:r>
            <a:endParaRPr lang="zh-CN" altLang="en-US" sz="2400" b="1" dirty="0">
              <a:solidFill>
                <a:schemeClr val="accent2"/>
              </a:solidFill>
              <a:latin typeface="Verdana" panose="020B0604030504040204" pitchFamily="34" charset="0"/>
              <a:ea typeface="华文楷体" panose="02010600040101010101" pitchFamily="2" charset="-122"/>
            </a:endParaRPr>
          </a:p>
        </p:txBody>
      </p:sp>
      <p:sp>
        <p:nvSpPr>
          <p:cNvPr id="63493" name="Rectangle 3"/>
          <p:cNvSpPr>
            <a:spLocks noGrp="1" noChangeArrowheads="1"/>
          </p:cNvSpPr>
          <p:nvPr>
            <p:ph idx="1"/>
          </p:nvPr>
        </p:nvSpPr>
        <p:spPr>
          <a:xfrm>
            <a:off x="685800" y="1524000"/>
            <a:ext cx="7772400" cy="5105400"/>
          </a:xfrm>
        </p:spPr>
        <p:txBody>
          <a:bodyPr/>
          <a:lstStyle/>
          <a:p>
            <a:pPr eaLnBrk="1" hangingPunct="1">
              <a:buFont typeface="Wingdings" panose="05000000000000000000" pitchFamily="2" charset="2"/>
              <a:buNone/>
            </a:pPr>
            <a:r>
              <a:rPr lang="en-US" altLang="zh-CN" dirty="0" smtClean="0">
                <a:ea typeface="华文楷体" panose="02010600040101010101" pitchFamily="2" charset="-122"/>
              </a:rPr>
              <a:t>    </a:t>
            </a:r>
            <a:r>
              <a:rPr lang="zh-CN" altLang="en-US" sz="2400" dirty="0" smtClean="0">
                <a:ea typeface="华文楷体" panose="02010600040101010101" pitchFamily="2" charset="-122"/>
              </a:rPr>
              <a:t>结点</a:t>
            </a:r>
            <a:r>
              <a:rPr lang="zh-CN" altLang="en-US" sz="2400" smtClean="0">
                <a:ea typeface="华文楷体" panose="02010600040101010101" pitchFamily="2" charset="-122"/>
              </a:rPr>
              <a:t>序号 </a:t>
            </a:r>
            <a:r>
              <a:rPr lang="en-US" altLang="zh-CN" sz="2400" smtClean="0">
                <a:ea typeface="华文楷体" panose="02010600040101010101" pitchFamily="2" charset="-122"/>
              </a:rPr>
              <a:t>data  </a:t>
            </a:r>
            <a:r>
              <a:rPr lang="en-US" altLang="zh-CN" sz="2400" dirty="0" smtClean="0">
                <a:ea typeface="华文楷体" panose="02010600040101010101" pitchFamily="2" charset="-122"/>
              </a:rPr>
              <a:t>next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1           A                    2         3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2           B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3           C                  4           5          6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4           D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5           E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6           F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a:t>
            </a:r>
            <a:r>
              <a:rPr lang="zh-CN" altLang="zh-CN" sz="2400" b="1" dirty="0" smtClean="0">
                <a:ea typeface="华文楷体" panose="02010600040101010101" pitchFamily="2" charset="-122"/>
              </a:rPr>
              <a:t>孩子兄弟表示法(二叉链表表示法)]</a:t>
            </a:r>
            <a:endParaRPr lang="zh-CN" altLang="zh-CN" sz="2400" b="1"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结点结构         </a:t>
            </a:r>
            <a:r>
              <a:rPr lang="en-US" altLang="zh-CN" sz="2400" dirty="0" err="1" smtClean="0">
                <a:ea typeface="华文楷体" panose="02010600040101010101" pitchFamily="2" charset="-122"/>
              </a:rPr>
              <a:t>firstchild</a:t>
            </a:r>
            <a:r>
              <a:rPr lang="en-US" altLang="zh-CN" sz="2400" dirty="0" smtClean="0">
                <a:ea typeface="华文楷体" panose="02010600040101010101" pitchFamily="2" charset="-122"/>
              </a:rPr>
              <a:t>    data    </a:t>
            </a:r>
            <a:r>
              <a:rPr lang="en-US" altLang="zh-CN" sz="2400" dirty="0" err="1" smtClean="0">
                <a:ea typeface="华文楷体" panose="02010600040101010101" pitchFamily="2" charset="-122"/>
              </a:rPr>
              <a:t>nextsibling</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firstchild</a:t>
            </a:r>
            <a:r>
              <a:rPr lang="en-US" altLang="zh-CN" sz="2400" dirty="0" smtClean="0">
                <a:ea typeface="华文楷体" panose="02010600040101010101" pitchFamily="2" charset="-122"/>
              </a:rPr>
              <a:t>: </a:t>
            </a:r>
            <a:r>
              <a:rPr lang="zh-CN" altLang="zh-CN" sz="2400" dirty="0" smtClean="0">
                <a:ea typeface="华文楷体" panose="02010600040101010101" pitchFamily="2" charset="-122"/>
              </a:rPr>
              <a:t>指向该结点的第一个孩子结点</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err="1" smtClean="0">
                <a:ea typeface="华文楷体" panose="02010600040101010101" pitchFamily="2" charset="-122"/>
              </a:rPr>
              <a:t>nextsibling</a:t>
            </a:r>
            <a:r>
              <a:rPr lang="en-US" altLang="zh-CN" sz="2400" dirty="0" smtClean="0">
                <a:ea typeface="华文楷体" panose="02010600040101010101" pitchFamily="2" charset="-122"/>
              </a:rPr>
              <a:t>: </a:t>
            </a:r>
            <a:r>
              <a:rPr lang="zh-CN" altLang="zh-CN" sz="2400" dirty="0" smtClean="0">
                <a:ea typeface="华文楷体" panose="02010600040101010101" pitchFamily="2" charset="-122"/>
              </a:rPr>
              <a:t>指向该结点的下一个兄弟结点</a:t>
            </a:r>
            <a:endParaRPr lang="zh-CN" altLang="en-US" sz="2400" dirty="0" smtClean="0">
              <a:ea typeface="华文楷体" panose="02010600040101010101" pitchFamily="2" charset="-122"/>
            </a:endParaRPr>
          </a:p>
        </p:txBody>
      </p:sp>
      <p:sp>
        <p:nvSpPr>
          <p:cNvPr id="63494" name="Rectangle 4"/>
          <p:cNvSpPr>
            <a:spLocks noChangeArrowheads="1"/>
          </p:cNvSpPr>
          <p:nvPr/>
        </p:nvSpPr>
        <p:spPr bwMode="auto">
          <a:xfrm>
            <a:off x="2362200" y="2209800"/>
            <a:ext cx="1295400" cy="243836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3495" name="Line 5"/>
          <p:cNvSpPr>
            <a:spLocks noChangeShapeType="1"/>
          </p:cNvSpPr>
          <p:nvPr/>
        </p:nvSpPr>
        <p:spPr bwMode="auto">
          <a:xfrm>
            <a:off x="2971800" y="2209800"/>
            <a:ext cx="0" cy="24383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496" name="Line 6"/>
          <p:cNvSpPr>
            <a:spLocks noChangeShapeType="1"/>
          </p:cNvSpPr>
          <p:nvPr/>
        </p:nvSpPr>
        <p:spPr bwMode="auto">
          <a:xfrm>
            <a:off x="2362200" y="259080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497" name="Line 7"/>
          <p:cNvSpPr>
            <a:spLocks noChangeShapeType="1"/>
          </p:cNvSpPr>
          <p:nvPr/>
        </p:nvSpPr>
        <p:spPr bwMode="auto">
          <a:xfrm>
            <a:off x="2362200" y="297180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498" name="Line 8"/>
          <p:cNvSpPr>
            <a:spLocks noChangeShapeType="1"/>
          </p:cNvSpPr>
          <p:nvPr/>
        </p:nvSpPr>
        <p:spPr bwMode="auto">
          <a:xfrm>
            <a:off x="2362200" y="335280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499" name="Line 9"/>
          <p:cNvSpPr>
            <a:spLocks noChangeShapeType="1"/>
          </p:cNvSpPr>
          <p:nvPr/>
        </p:nvSpPr>
        <p:spPr bwMode="auto">
          <a:xfrm>
            <a:off x="2362200" y="373380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00" name="Line 10"/>
          <p:cNvSpPr>
            <a:spLocks noChangeShapeType="1"/>
          </p:cNvSpPr>
          <p:nvPr/>
        </p:nvSpPr>
        <p:spPr bwMode="auto">
          <a:xfrm>
            <a:off x="2362200" y="4190980"/>
            <a:ext cx="1295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01" name="Rectangle 11"/>
          <p:cNvSpPr>
            <a:spLocks noChangeArrowheads="1"/>
          </p:cNvSpPr>
          <p:nvPr/>
        </p:nvSpPr>
        <p:spPr bwMode="auto">
          <a:xfrm>
            <a:off x="4038600" y="2209800"/>
            <a:ext cx="685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3502" name="Rectangle 12"/>
          <p:cNvSpPr>
            <a:spLocks noChangeArrowheads="1"/>
          </p:cNvSpPr>
          <p:nvPr/>
        </p:nvSpPr>
        <p:spPr bwMode="auto">
          <a:xfrm>
            <a:off x="5029200" y="2209800"/>
            <a:ext cx="685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3503" name="Rectangle 13"/>
          <p:cNvSpPr>
            <a:spLocks noChangeArrowheads="1"/>
          </p:cNvSpPr>
          <p:nvPr/>
        </p:nvSpPr>
        <p:spPr bwMode="auto">
          <a:xfrm>
            <a:off x="4038600" y="2971800"/>
            <a:ext cx="685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3504" name="Rectangle 14"/>
          <p:cNvSpPr>
            <a:spLocks noChangeArrowheads="1"/>
          </p:cNvSpPr>
          <p:nvPr/>
        </p:nvSpPr>
        <p:spPr bwMode="auto">
          <a:xfrm>
            <a:off x="5029200" y="2971800"/>
            <a:ext cx="685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3505" name="Rectangle 15"/>
          <p:cNvSpPr>
            <a:spLocks noChangeArrowheads="1"/>
          </p:cNvSpPr>
          <p:nvPr/>
        </p:nvSpPr>
        <p:spPr bwMode="auto">
          <a:xfrm>
            <a:off x="5943600" y="2971800"/>
            <a:ext cx="6858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3506" name="Line 16"/>
          <p:cNvSpPr>
            <a:spLocks noChangeShapeType="1"/>
          </p:cNvSpPr>
          <p:nvPr/>
        </p:nvSpPr>
        <p:spPr bwMode="auto">
          <a:xfrm>
            <a:off x="44196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07" name="Line 17"/>
          <p:cNvSpPr>
            <a:spLocks noChangeShapeType="1"/>
          </p:cNvSpPr>
          <p:nvPr/>
        </p:nvSpPr>
        <p:spPr bwMode="auto">
          <a:xfrm>
            <a:off x="5334000" y="2209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08" name="Line 18"/>
          <p:cNvSpPr>
            <a:spLocks noChangeShapeType="1"/>
          </p:cNvSpPr>
          <p:nvPr/>
        </p:nvSpPr>
        <p:spPr bwMode="auto">
          <a:xfrm>
            <a:off x="4419600" y="2971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09" name="Line 19"/>
          <p:cNvSpPr>
            <a:spLocks noChangeShapeType="1"/>
          </p:cNvSpPr>
          <p:nvPr/>
        </p:nvSpPr>
        <p:spPr bwMode="auto">
          <a:xfrm>
            <a:off x="5334000" y="2971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0" name="Line 20"/>
          <p:cNvSpPr>
            <a:spLocks noChangeShapeType="1"/>
          </p:cNvSpPr>
          <p:nvPr/>
        </p:nvSpPr>
        <p:spPr bwMode="auto">
          <a:xfrm>
            <a:off x="6248400" y="29718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1" name="Line 21"/>
          <p:cNvSpPr>
            <a:spLocks noChangeShapeType="1"/>
          </p:cNvSpPr>
          <p:nvPr/>
        </p:nvSpPr>
        <p:spPr bwMode="auto">
          <a:xfrm>
            <a:off x="3352800" y="2362200"/>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2" name="Line 22"/>
          <p:cNvSpPr>
            <a:spLocks noChangeShapeType="1"/>
          </p:cNvSpPr>
          <p:nvPr/>
        </p:nvSpPr>
        <p:spPr bwMode="auto">
          <a:xfrm>
            <a:off x="4572000" y="23622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3" name="Line 23"/>
          <p:cNvSpPr>
            <a:spLocks noChangeShapeType="1"/>
          </p:cNvSpPr>
          <p:nvPr/>
        </p:nvSpPr>
        <p:spPr bwMode="auto">
          <a:xfrm>
            <a:off x="3429000" y="3124200"/>
            <a:ext cx="609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4" name="Line 24"/>
          <p:cNvSpPr>
            <a:spLocks noChangeShapeType="1"/>
          </p:cNvSpPr>
          <p:nvPr/>
        </p:nvSpPr>
        <p:spPr bwMode="auto">
          <a:xfrm>
            <a:off x="4572000" y="3124200"/>
            <a:ext cx="45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5" name="Line 25"/>
          <p:cNvSpPr>
            <a:spLocks noChangeShapeType="1"/>
          </p:cNvSpPr>
          <p:nvPr/>
        </p:nvSpPr>
        <p:spPr bwMode="auto">
          <a:xfrm>
            <a:off x="5562600" y="31242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6" name="Rectangle 26"/>
          <p:cNvSpPr>
            <a:spLocks noChangeArrowheads="1"/>
          </p:cNvSpPr>
          <p:nvPr/>
        </p:nvSpPr>
        <p:spPr bwMode="auto">
          <a:xfrm>
            <a:off x="2895600" y="5638800"/>
            <a:ext cx="4268788"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3517" name="Line 27"/>
          <p:cNvSpPr>
            <a:spLocks noChangeShapeType="1"/>
          </p:cNvSpPr>
          <p:nvPr/>
        </p:nvSpPr>
        <p:spPr bwMode="auto">
          <a:xfrm>
            <a:off x="4343400" y="563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3518" name="Line 28"/>
          <p:cNvSpPr>
            <a:spLocks noChangeShapeType="1"/>
          </p:cNvSpPr>
          <p:nvPr/>
        </p:nvSpPr>
        <p:spPr bwMode="auto">
          <a:xfrm>
            <a:off x="5181600" y="56388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2"/>
          </p:nvPr>
        </p:nvSpPr>
        <p:spPr/>
        <p:txBody>
          <a:bodyPr/>
          <a:lstStyle/>
          <a:p>
            <a:pPr>
              <a:defRPr/>
            </a:pPr>
            <a:r>
              <a:rPr lang="en-US" altLang="zh-CN" smtClean="0"/>
              <a:t>BUPT</a:t>
            </a:r>
            <a:endParaRPr lang="en-US" altLang="zh-CN"/>
          </a:p>
        </p:txBody>
      </p:sp>
      <p:sp>
        <p:nvSpPr>
          <p:cNvPr id="5" name="文本框 4"/>
          <p:cNvSpPr txBox="1"/>
          <p:nvPr/>
        </p:nvSpPr>
        <p:spPr>
          <a:xfrm>
            <a:off x="4221884" y="1108279"/>
            <a:ext cx="4771050" cy="4401205"/>
          </a:xfrm>
          <a:prstGeom prst="rect">
            <a:avLst/>
          </a:prstGeom>
          <a:noFill/>
          <a:ln>
            <a:solidFill>
              <a:schemeClr val="accent1"/>
            </a:solidFill>
          </a:ln>
        </p:spPr>
        <p:txBody>
          <a:bodyPr wrap="none" rtlCol="0">
            <a:spAutoFit/>
          </a:bodyPr>
          <a:lstStyle/>
          <a:p>
            <a:pPr fontAlgn="ctr"/>
            <a:r>
              <a:rPr lang="zh-CN" altLang="en-US" sz="2000" b="1" dirty="0" smtClean="0">
                <a:solidFill>
                  <a:srgbClr val="C00000"/>
                </a:solidFill>
                <a:latin typeface="Times New Roman" panose="02020603050405020304" pitchFamily="18" charset="0"/>
                <a:ea typeface="华文楷体" panose="02010600040101010101" pitchFamily="2" charset="-122"/>
              </a:rPr>
              <a:t>孩子链表的定义</a:t>
            </a:r>
            <a:endParaRPr lang="en-GB" altLang="zh-CN" sz="2000" b="1" dirty="0" smtClean="0">
              <a:solidFill>
                <a:srgbClr val="C00000"/>
              </a:solidFill>
              <a:latin typeface="Times New Roman" panose="02020603050405020304" pitchFamily="18" charset="0"/>
              <a:ea typeface="华文楷体" panose="02010600040101010101" pitchFamily="2" charset="-122"/>
            </a:endParaRPr>
          </a:p>
          <a:p>
            <a:pPr fontAlgn="ctr"/>
            <a:r>
              <a:rPr lang="en-GB" altLang="zh-CN" sz="2000" dirty="0" err="1" smtClean="0">
                <a:latin typeface="Times New Roman" panose="02020603050405020304" pitchFamily="18" charset="0"/>
                <a:ea typeface="华文楷体" panose="02010600040101010101" pitchFamily="2" charset="-122"/>
              </a:rPr>
              <a:t>typedef</a:t>
            </a:r>
            <a:r>
              <a:rPr lang="en-GB" altLang="zh-CN" sz="2000" dirty="0" smtClean="0">
                <a:latin typeface="Times New Roman" panose="02020603050405020304" pitchFamily="18" charset="0"/>
                <a:ea typeface="华文楷体" panose="02010600040101010101" pitchFamily="2" charset="-122"/>
              </a:rPr>
              <a:t>  </a:t>
            </a:r>
            <a:r>
              <a:rPr lang="en-GB" altLang="zh-CN" sz="2000" dirty="0" err="1">
                <a:latin typeface="Times New Roman" panose="02020603050405020304" pitchFamily="18" charset="0"/>
                <a:ea typeface="华文楷体" panose="02010600040101010101" pitchFamily="2" charset="-122"/>
              </a:rPr>
              <a:t>struct</a:t>
            </a:r>
            <a:r>
              <a:rPr lang="en-GB" altLang="zh-CN" sz="2000" dirty="0">
                <a:latin typeface="Times New Roman" panose="02020603050405020304" pitchFamily="18" charset="0"/>
                <a:ea typeface="华文楷体" panose="02010600040101010101" pitchFamily="2" charset="-122"/>
              </a:rPr>
              <a:t>  node  {  // </a:t>
            </a:r>
            <a:r>
              <a:rPr lang="zh-CN" altLang="zh-CN" sz="2000" dirty="0">
                <a:latin typeface="Times New Roman" panose="02020603050405020304" pitchFamily="18" charset="0"/>
                <a:ea typeface="华文楷体" panose="02010600040101010101" pitchFamily="2" charset="-122"/>
              </a:rPr>
              <a:t>孩子链表结点</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a:latin typeface="Times New Roman" panose="02020603050405020304" pitchFamily="18" charset="0"/>
                <a:ea typeface="华文楷体" panose="02010600040101010101" pitchFamily="2" charset="-122"/>
              </a:rPr>
              <a:t>   </a:t>
            </a:r>
            <a:r>
              <a:rPr lang="en-GB" altLang="zh-CN" sz="2000" dirty="0" err="1">
                <a:latin typeface="Times New Roman" panose="02020603050405020304" pitchFamily="18" charset="0"/>
                <a:ea typeface="华文楷体" panose="02010600040101010101" pitchFamily="2" charset="-122"/>
              </a:rPr>
              <a:t>int</a:t>
            </a:r>
            <a:r>
              <a:rPr lang="en-GB" altLang="zh-CN" sz="2000" dirty="0">
                <a:latin typeface="Times New Roman" panose="02020603050405020304" pitchFamily="18" charset="0"/>
                <a:ea typeface="华文楷体" panose="02010600040101010101" pitchFamily="2" charset="-122"/>
              </a:rPr>
              <a:t>    child;  // </a:t>
            </a:r>
            <a:r>
              <a:rPr lang="zh-CN" altLang="zh-CN" sz="2000" dirty="0">
                <a:latin typeface="Times New Roman" panose="02020603050405020304" pitchFamily="18" charset="0"/>
                <a:ea typeface="华文楷体" panose="02010600040101010101" pitchFamily="2" charset="-122"/>
              </a:rPr>
              <a:t>孩子下标</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a:latin typeface="Times New Roman" panose="02020603050405020304" pitchFamily="18" charset="0"/>
                <a:ea typeface="华文楷体" panose="02010600040101010101" pitchFamily="2" charset="-122"/>
              </a:rPr>
              <a:t> </a:t>
            </a:r>
            <a:r>
              <a:rPr lang="en-GB" altLang="zh-CN" sz="2000" dirty="0" smtClean="0">
                <a:latin typeface="Times New Roman" panose="02020603050405020304" pitchFamily="18" charset="0"/>
                <a:ea typeface="华文楷体" panose="02010600040101010101" pitchFamily="2" charset="-122"/>
              </a:rPr>
              <a:t>  </a:t>
            </a:r>
            <a:r>
              <a:rPr lang="en-GB" altLang="zh-CN" sz="2000" dirty="0" err="1" smtClean="0">
                <a:latin typeface="Times New Roman" panose="02020603050405020304" pitchFamily="18" charset="0"/>
                <a:ea typeface="华文楷体" panose="02010600040101010101" pitchFamily="2" charset="-122"/>
              </a:rPr>
              <a:t>struct</a:t>
            </a:r>
            <a:r>
              <a:rPr lang="en-GB" altLang="zh-CN" sz="2000" dirty="0" smtClean="0">
                <a:latin typeface="Times New Roman" panose="02020603050405020304" pitchFamily="18" charset="0"/>
                <a:ea typeface="华文楷体" panose="02010600040101010101" pitchFamily="2" charset="-122"/>
              </a:rPr>
              <a:t> node  </a:t>
            </a:r>
            <a:r>
              <a:rPr lang="en-GB" altLang="zh-CN" sz="2000" dirty="0">
                <a:latin typeface="Times New Roman" panose="02020603050405020304" pitchFamily="18" charset="0"/>
                <a:ea typeface="华文楷体" panose="02010600040101010101" pitchFamily="2" charset="-122"/>
              </a:rPr>
              <a:t>*next;</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smtClean="0">
                <a:latin typeface="Times New Roman" panose="02020603050405020304" pitchFamily="18" charset="0"/>
                <a:ea typeface="华文楷体" panose="02010600040101010101" pitchFamily="2" charset="-122"/>
              </a:rPr>
              <a:t>} N</a:t>
            </a:r>
            <a:r>
              <a:rPr lang="en-US" altLang="zh-CN" sz="2000" dirty="0" smtClean="0">
                <a:latin typeface="Times New Roman" panose="02020603050405020304" pitchFamily="18" charset="0"/>
                <a:ea typeface="华文楷体" panose="02010600040101010101" pitchFamily="2" charset="-122"/>
              </a:rPr>
              <a:t>ode</a:t>
            </a:r>
            <a:r>
              <a:rPr lang="en-US" altLang="zh-CN" sz="2000" dirty="0">
                <a:latin typeface="Times New Roman" panose="02020603050405020304" pitchFamily="18" charset="0"/>
                <a:ea typeface="华文楷体" panose="02010600040101010101" pitchFamily="2" charset="-122"/>
              </a:rPr>
              <a:t>;</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err="1">
                <a:latin typeface="Times New Roman" panose="02020603050405020304" pitchFamily="18" charset="0"/>
                <a:ea typeface="华文楷体" panose="02010600040101010101" pitchFamily="2" charset="-122"/>
              </a:rPr>
              <a:t>typedef</a:t>
            </a:r>
            <a:r>
              <a:rPr lang="en-GB" altLang="zh-CN" sz="2000" dirty="0">
                <a:latin typeface="Times New Roman" panose="02020603050405020304" pitchFamily="18" charset="0"/>
                <a:ea typeface="华文楷体" panose="02010600040101010101" pitchFamily="2" charset="-122"/>
              </a:rPr>
              <a:t>  </a:t>
            </a:r>
            <a:r>
              <a:rPr lang="en-GB" altLang="zh-CN" sz="2000" dirty="0" err="1">
                <a:latin typeface="Times New Roman" panose="02020603050405020304" pitchFamily="18" charset="0"/>
                <a:ea typeface="华文楷体" panose="02010600040101010101" pitchFamily="2" charset="-122"/>
              </a:rPr>
              <a:t>struct</a:t>
            </a:r>
            <a:r>
              <a:rPr lang="en-GB" altLang="zh-CN" sz="2000" dirty="0">
                <a:latin typeface="Times New Roman" panose="02020603050405020304" pitchFamily="18" charset="0"/>
                <a:ea typeface="华文楷体" panose="02010600040101010101" pitchFamily="2" charset="-122"/>
              </a:rPr>
              <a:t>  </a:t>
            </a:r>
            <a:r>
              <a:rPr lang="en-GB" altLang="zh-CN" sz="2000" dirty="0" err="1">
                <a:latin typeface="Times New Roman" panose="02020603050405020304" pitchFamily="18" charset="0"/>
                <a:ea typeface="华文楷体" panose="02010600040101010101" pitchFamily="2" charset="-122"/>
              </a:rPr>
              <a:t>treenode</a:t>
            </a:r>
            <a:r>
              <a:rPr lang="en-GB" altLang="zh-CN" sz="2000" dirty="0">
                <a:latin typeface="Times New Roman" panose="02020603050405020304" pitchFamily="18" charset="0"/>
                <a:ea typeface="华文楷体" panose="02010600040101010101" pitchFamily="2" charset="-122"/>
              </a:rPr>
              <a:t>  {  // </a:t>
            </a:r>
            <a:r>
              <a:rPr lang="zh-CN" altLang="zh-CN" sz="2000" dirty="0">
                <a:latin typeface="Times New Roman" panose="02020603050405020304" pitchFamily="18" charset="0"/>
                <a:ea typeface="华文楷体" panose="02010600040101010101" pitchFamily="2" charset="-122"/>
              </a:rPr>
              <a:t>树结点</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a:latin typeface="Times New Roman" panose="02020603050405020304" pitchFamily="18" charset="0"/>
                <a:ea typeface="华文楷体" panose="02010600040101010101" pitchFamily="2" charset="-122"/>
              </a:rPr>
              <a:t>   char   data;  // </a:t>
            </a:r>
            <a:r>
              <a:rPr lang="zh-CN" altLang="zh-CN" sz="2000" dirty="0">
                <a:latin typeface="Times New Roman" panose="02020603050405020304" pitchFamily="18" charset="0"/>
                <a:ea typeface="华文楷体" panose="02010600040101010101" pitchFamily="2" charset="-122"/>
              </a:rPr>
              <a:t>树结点值</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a:latin typeface="Times New Roman" panose="02020603050405020304" pitchFamily="18" charset="0"/>
                <a:ea typeface="华文楷体" panose="02010600040101010101" pitchFamily="2" charset="-122"/>
              </a:rPr>
              <a:t>   </a:t>
            </a:r>
            <a:r>
              <a:rPr lang="en-GB" altLang="zh-CN" sz="2000" dirty="0" smtClean="0">
                <a:latin typeface="Times New Roman" panose="02020603050405020304" pitchFamily="18" charset="0"/>
                <a:ea typeface="华文楷体" panose="02010600040101010101" pitchFamily="2" charset="-122"/>
              </a:rPr>
              <a:t>Node  </a:t>
            </a:r>
            <a:r>
              <a:rPr lang="en-GB" altLang="zh-CN" sz="2000" dirty="0">
                <a:latin typeface="Times New Roman" panose="02020603050405020304" pitchFamily="18" charset="0"/>
                <a:ea typeface="华文楷体" panose="02010600040101010101" pitchFamily="2" charset="-122"/>
              </a:rPr>
              <a:t>*next;  // </a:t>
            </a:r>
            <a:r>
              <a:rPr lang="zh-CN" altLang="zh-CN" sz="2000" dirty="0">
                <a:latin typeface="Times New Roman" panose="02020603050405020304" pitchFamily="18" charset="0"/>
                <a:ea typeface="华文楷体" panose="02010600040101010101" pitchFamily="2" charset="-122"/>
              </a:rPr>
              <a:t>指向第一个孩子的指针</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smtClean="0">
                <a:latin typeface="Times New Roman" panose="02020603050405020304" pitchFamily="18" charset="0"/>
                <a:ea typeface="华文楷体" panose="02010600040101010101" pitchFamily="2" charset="-122"/>
              </a:rPr>
              <a:t>} </a:t>
            </a:r>
            <a:r>
              <a:rPr lang="en-GB" altLang="zh-CN" sz="2000" dirty="0" err="1" smtClean="0">
                <a:latin typeface="Times New Roman" panose="02020603050405020304" pitchFamily="18" charset="0"/>
                <a:ea typeface="华文楷体" panose="02010600040101010101" pitchFamily="2" charset="-122"/>
              </a:rPr>
              <a:t>Treenode</a:t>
            </a:r>
            <a:r>
              <a:rPr lang="en-GB" altLang="zh-CN" sz="2000" dirty="0" smtClean="0">
                <a:latin typeface="Times New Roman" panose="02020603050405020304" pitchFamily="18" charset="0"/>
                <a:ea typeface="华文楷体" panose="02010600040101010101" pitchFamily="2" charset="-122"/>
              </a:rPr>
              <a:t>;</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err="1">
                <a:latin typeface="Times New Roman" panose="02020603050405020304" pitchFamily="18" charset="0"/>
                <a:ea typeface="华文楷体" panose="02010600040101010101" pitchFamily="2" charset="-122"/>
              </a:rPr>
              <a:t>typedef</a:t>
            </a:r>
            <a:r>
              <a:rPr lang="en-GB" altLang="zh-CN" sz="2000" dirty="0">
                <a:latin typeface="Times New Roman" panose="02020603050405020304" pitchFamily="18" charset="0"/>
                <a:ea typeface="华文楷体" panose="02010600040101010101" pitchFamily="2" charset="-122"/>
              </a:rPr>
              <a:t>  </a:t>
            </a:r>
            <a:r>
              <a:rPr lang="en-GB" altLang="zh-CN" sz="2000" dirty="0" err="1">
                <a:latin typeface="Times New Roman" panose="02020603050405020304" pitchFamily="18" charset="0"/>
                <a:ea typeface="华文楷体" panose="02010600040101010101" pitchFamily="2" charset="-122"/>
              </a:rPr>
              <a:t>struct</a:t>
            </a:r>
            <a:r>
              <a:rPr lang="en-GB" altLang="zh-CN" sz="2000" dirty="0">
                <a:latin typeface="Times New Roman" panose="02020603050405020304" pitchFamily="18" charset="0"/>
                <a:ea typeface="华文楷体" panose="02010600040101010101" pitchFamily="2" charset="-122"/>
              </a:rPr>
              <a:t>  {  // </a:t>
            </a:r>
            <a:r>
              <a:rPr lang="zh-CN" altLang="zh-CN" sz="2000" dirty="0">
                <a:latin typeface="Times New Roman" panose="02020603050405020304" pitchFamily="18" charset="0"/>
                <a:ea typeface="华文楷体" panose="02010600040101010101" pitchFamily="2" charset="-122"/>
              </a:rPr>
              <a:t>孩子链表表示的树</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a:latin typeface="Times New Roman" panose="02020603050405020304" pitchFamily="18" charset="0"/>
                <a:ea typeface="华文楷体" panose="02010600040101010101" pitchFamily="2" charset="-122"/>
              </a:rPr>
              <a:t>   </a:t>
            </a:r>
            <a:r>
              <a:rPr lang="en-GB" altLang="zh-CN" sz="2000" dirty="0" err="1" smtClean="0">
                <a:latin typeface="Times New Roman" panose="02020603050405020304" pitchFamily="18" charset="0"/>
                <a:ea typeface="华文楷体" panose="02010600040101010101" pitchFamily="2" charset="-122"/>
              </a:rPr>
              <a:t>Treenode</a:t>
            </a:r>
            <a:r>
              <a:rPr lang="en-GB" altLang="zh-CN" sz="2000" dirty="0" smtClean="0">
                <a:latin typeface="Times New Roman" panose="02020603050405020304" pitchFamily="18" charset="0"/>
                <a:ea typeface="华文楷体" panose="02010600040101010101" pitchFamily="2" charset="-122"/>
              </a:rPr>
              <a:t>  </a:t>
            </a:r>
            <a:r>
              <a:rPr lang="en-GB" altLang="zh-CN" sz="2000" dirty="0">
                <a:latin typeface="Times New Roman" panose="02020603050405020304" pitchFamily="18" charset="0"/>
                <a:ea typeface="华文楷体" panose="02010600040101010101" pitchFamily="2" charset="-122"/>
              </a:rPr>
              <a:t>td[</a:t>
            </a:r>
            <a:r>
              <a:rPr lang="en-GB" altLang="zh-CN" sz="2000" dirty="0" err="1">
                <a:latin typeface="Times New Roman" panose="02020603050405020304" pitchFamily="18" charset="0"/>
                <a:ea typeface="华文楷体" panose="02010600040101010101" pitchFamily="2" charset="-122"/>
              </a:rPr>
              <a:t>maxn</a:t>
            </a:r>
            <a:r>
              <a:rPr lang="en-GB" altLang="zh-CN" sz="2000" dirty="0">
                <a:latin typeface="Times New Roman" panose="02020603050405020304" pitchFamily="18" charset="0"/>
                <a:ea typeface="华文楷体" panose="02010600040101010101" pitchFamily="2" charset="-122"/>
              </a:rPr>
              <a:t>];  // </a:t>
            </a:r>
            <a:r>
              <a:rPr lang="zh-CN" altLang="zh-CN" sz="2000" dirty="0">
                <a:latin typeface="Times New Roman" panose="02020603050405020304" pitchFamily="18" charset="0"/>
                <a:ea typeface="华文楷体" panose="02010600040101010101" pitchFamily="2" charset="-122"/>
              </a:rPr>
              <a:t>结点数组</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a:latin typeface="Times New Roman" panose="02020603050405020304" pitchFamily="18" charset="0"/>
                <a:ea typeface="华文楷体" panose="02010600040101010101" pitchFamily="2" charset="-122"/>
              </a:rPr>
              <a:t>   </a:t>
            </a:r>
            <a:r>
              <a:rPr lang="en-GB" altLang="zh-CN" sz="2000" dirty="0" err="1">
                <a:latin typeface="Times New Roman" panose="02020603050405020304" pitchFamily="18" charset="0"/>
                <a:ea typeface="华文楷体" panose="02010600040101010101" pitchFamily="2" charset="-122"/>
              </a:rPr>
              <a:t>int</a:t>
            </a:r>
            <a:r>
              <a:rPr lang="en-GB" altLang="zh-CN" sz="2000" dirty="0">
                <a:latin typeface="Times New Roman" panose="02020603050405020304" pitchFamily="18" charset="0"/>
                <a:ea typeface="华文楷体" panose="02010600040101010101" pitchFamily="2" charset="-122"/>
              </a:rPr>
              <a:t>       root;  // </a:t>
            </a:r>
            <a:r>
              <a:rPr lang="zh-CN" altLang="zh-CN" sz="2000" dirty="0">
                <a:latin typeface="Times New Roman" panose="02020603050405020304" pitchFamily="18" charset="0"/>
                <a:ea typeface="华文楷体" panose="02010600040101010101" pitchFamily="2" charset="-122"/>
              </a:rPr>
              <a:t>树根结点下标，空树为</a:t>
            </a:r>
            <a:r>
              <a:rPr lang="en-GB" altLang="zh-CN" sz="2000" dirty="0">
                <a:latin typeface="Times New Roman" panose="02020603050405020304" pitchFamily="18" charset="0"/>
                <a:ea typeface="华文楷体" panose="02010600040101010101" pitchFamily="2" charset="-122"/>
              </a:rPr>
              <a:t>-1</a:t>
            </a:r>
            <a:endParaRPr lang="zh-CN" altLang="zh-CN" sz="2000" dirty="0">
              <a:latin typeface="Times New Roman" panose="02020603050405020304" pitchFamily="18" charset="0"/>
              <a:ea typeface="华文楷体" panose="02010600040101010101" pitchFamily="2" charset="-122"/>
            </a:endParaRPr>
          </a:p>
          <a:p>
            <a:pPr fontAlgn="ctr"/>
            <a:r>
              <a:rPr lang="en-GB" altLang="zh-CN" sz="2000" dirty="0">
                <a:latin typeface="Times New Roman" panose="02020603050405020304" pitchFamily="18" charset="0"/>
                <a:ea typeface="华文楷体" panose="02010600040101010101" pitchFamily="2" charset="-122"/>
              </a:rPr>
              <a:t>} </a:t>
            </a:r>
            <a:r>
              <a:rPr lang="en-GB" altLang="zh-CN" sz="2000" dirty="0" err="1">
                <a:latin typeface="Times New Roman" panose="02020603050405020304" pitchFamily="18" charset="0"/>
                <a:ea typeface="华文楷体" panose="02010600040101010101" pitchFamily="2" charset="-122"/>
              </a:rPr>
              <a:t>Ctree</a:t>
            </a:r>
            <a:r>
              <a:rPr lang="en-GB" altLang="zh-CN" sz="2000" dirty="0">
                <a:latin typeface="Times New Roman" panose="02020603050405020304" pitchFamily="18" charset="0"/>
                <a:ea typeface="华文楷体" panose="02010600040101010101" pitchFamily="2" charset="-122"/>
              </a:rPr>
              <a:t>;</a:t>
            </a:r>
            <a:endParaRPr lang="zh-CN" altLang="zh-CN" sz="2000" dirty="0">
              <a:latin typeface="Times New Roman" panose="02020603050405020304" pitchFamily="18" charset="0"/>
              <a:ea typeface="华文楷体" panose="02010600040101010101" pitchFamily="2" charset="-122"/>
            </a:endParaRPr>
          </a:p>
          <a:p>
            <a:endParaRPr lang="zh-CN" altLang="en-US" sz="2000" dirty="0">
              <a:latin typeface="Times New Roman" panose="02020603050405020304" pitchFamily="18" charset="0"/>
              <a:ea typeface="华文楷体" panose="02010600040101010101" pitchFamily="2" charset="-122"/>
            </a:endParaRPr>
          </a:p>
        </p:txBody>
      </p:sp>
      <p:sp>
        <p:nvSpPr>
          <p:cNvPr id="7" name="文本框 6"/>
          <p:cNvSpPr txBox="1"/>
          <p:nvPr/>
        </p:nvSpPr>
        <p:spPr>
          <a:xfrm>
            <a:off x="457308" y="1295456"/>
            <a:ext cx="2888676" cy="2246769"/>
          </a:xfrm>
          <a:prstGeom prst="rect">
            <a:avLst/>
          </a:prstGeom>
          <a:noFill/>
          <a:ln>
            <a:solidFill>
              <a:schemeClr val="accent1"/>
            </a:solidFill>
          </a:ln>
        </p:spPr>
        <p:txBody>
          <a:bodyPr wrap="none" rtlCol="0">
            <a:spAutoFit/>
          </a:bodyPr>
          <a:lstStyle/>
          <a:p>
            <a:r>
              <a:rPr lang="zh-CN" altLang="en-US" sz="2000" b="1" dirty="0" smtClean="0">
                <a:solidFill>
                  <a:srgbClr val="C00000"/>
                </a:solidFill>
                <a:latin typeface="Times New Roman" panose="02020603050405020304" pitchFamily="18" charset="0"/>
                <a:ea typeface="华文楷体" panose="02010600040101010101" pitchFamily="2" charset="-122"/>
              </a:rPr>
              <a:t>双亲表示法的定义</a:t>
            </a:r>
            <a:endParaRPr lang="en-US" altLang="zh-CN" sz="2000" b="1" dirty="0" smtClean="0">
              <a:solidFill>
                <a:srgbClr val="C00000"/>
              </a:solidFill>
              <a:latin typeface="Times New Roman" panose="02020603050405020304" pitchFamily="18" charset="0"/>
              <a:ea typeface="华文楷体" panose="02010600040101010101" pitchFamily="2" charset="-122"/>
            </a:endParaRPr>
          </a:p>
          <a:p>
            <a:r>
              <a:rPr lang="en-US" altLang="zh-CN" sz="2000" dirty="0" err="1" smtClean="0">
                <a:latin typeface="Times New Roman" panose="02020603050405020304" pitchFamily="18" charset="0"/>
                <a:ea typeface="华文楷体" panose="02010600040101010101" pitchFamily="2" charset="-122"/>
              </a:rPr>
              <a:t>struct</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ptree</a:t>
            </a:r>
            <a:endParaRPr lang="en-US" altLang="zh-CN" sz="2000" dirty="0" smtClean="0">
              <a:latin typeface="Times New Roman" panose="02020603050405020304" pitchFamily="18" charset="0"/>
              <a:ea typeface="华文楷体" panose="02010600040101010101" pitchFamily="2" charset="-122"/>
            </a:endParaRPr>
          </a:p>
          <a:p>
            <a:r>
              <a:rPr lang="en-US" altLang="zh-CN" sz="2000" dirty="0" smtClean="0">
                <a:latin typeface="Times New Roman" panose="02020603050405020304" pitchFamily="18" charset="0"/>
                <a:ea typeface="华文楷体" panose="02010600040101010101" pitchFamily="2" charset="-122"/>
              </a:rPr>
              <a:t>{</a:t>
            </a:r>
            <a:endParaRPr lang="en-US" altLang="zh-CN" sz="2000" dirty="0" smtClean="0">
              <a:latin typeface="Times New Roman" panose="02020603050405020304" pitchFamily="18" charset="0"/>
              <a:ea typeface="华文楷体" panose="02010600040101010101" pitchFamily="2" charset="-122"/>
            </a:endParaRPr>
          </a:p>
          <a:p>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elemtype</a:t>
            </a:r>
            <a:r>
              <a:rPr lang="en-US" altLang="zh-CN" sz="2000" dirty="0" smtClean="0">
                <a:latin typeface="Times New Roman" panose="02020603050405020304" pitchFamily="18" charset="0"/>
                <a:ea typeface="华文楷体" panose="02010600040101010101" pitchFamily="2" charset="-122"/>
              </a:rPr>
              <a:t> data;</a:t>
            </a:r>
            <a:endParaRPr lang="en-US" altLang="zh-CN" sz="2000" dirty="0" smtClean="0">
              <a:latin typeface="Times New Roman" panose="02020603050405020304" pitchFamily="18" charset="0"/>
              <a:ea typeface="华文楷体" panose="02010600040101010101" pitchFamily="2" charset="-122"/>
            </a:endParaRPr>
          </a:p>
          <a:p>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int</a:t>
            </a:r>
            <a:r>
              <a:rPr lang="en-US" altLang="zh-CN" sz="2000" dirty="0" smtClean="0">
                <a:latin typeface="Times New Roman" panose="02020603050405020304" pitchFamily="18" charset="0"/>
                <a:ea typeface="华文楷体" panose="02010600040101010101" pitchFamily="2" charset="-122"/>
              </a:rPr>
              <a:t> parent;</a:t>
            </a:r>
            <a:endParaRPr lang="en-US" altLang="zh-CN" sz="2000" dirty="0" smtClean="0">
              <a:latin typeface="Times New Roman" panose="02020603050405020304" pitchFamily="18" charset="0"/>
              <a:ea typeface="华文楷体" panose="02010600040101010101" pitchFamily="2" charset="-122"/>
            </a:endParaRPr>
          </a:p>
          <a:p>
            <a:r>
              <a:rPr lang="en-US" altLang="zh-CN" sz="2000" dirty="0" smtClean="0">
                <a:latin typeface="Times New Roman" panose="02020603050405020304" pitchFamily="18" charset="0"/>
                <a:ea typeface="华文楷体" panose="02010600040101010101" pitchFamily="2" charset="-122"/>
              </a:rPr>
              <a:t>}</a:t>
            </a:r>
            <a:endParaRPr lang="en-US" altLang="zh-CN" sz="2000" dirty="0" smtClean="0">
              <a:latin typeface="Times New Roman" panose="02020603050405020304" pitchFamily="18" charset="0"/>
              <a:ea typeface="华文楷体" panose="02010600040101010101" pitchFamily="2" charset="-122"/>
            </a:endParaRPr>
          </a:p>
          <a:p>
            <a:r>
              <a:rPr lang="en-US" altLang="zh-CN" sz="2000" dirty="0" err="1" smtClean="0">
                <a:latin typeface="Times New Roman" panose="02020603050405020304" pitchFamily="18" charset="0"/>
                <a:ea typeface="华文楷体" panose="02010600040101010101" pitchFamily="2" charset="-122"/>
              </a:rPr>
              <a:t>typedef</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struct</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ptree</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Ptree</a:t>
            </a:r>
            <a:r>
              <a:rPr lang="en-US" altLang="zh-CN" sz="2000" dirty="0" smtClean="0">
                <a:latin typeface="Times New Roman" panose="02020603050405020304" pitchFamily="18" charset="0"/>
                <a:ea typeface="华文楷体" panose="02010600040101010101" pitchFamily="2" charset="-122"/>
              </a:rPr>
              <a:t>;</a:t>
            </a:r>
            <a:endParaRPr lang="zh-CN" altLang="en-US" sz="2000" dirty="0">
              <a:latin typeface="Times New Roman" panose="02020603050405020304" pitchFamily="18" charset="0"/>
              <a:ea typeface="华文楷体" panose="02010600040101010101" pitchFamily="2" charset="-122"/>
            </a:endParaRPr>
          </a:p>
        </p:txBody>
      </p:sp>
      <p:sp>
        <p:nvSpPr>
          <p:cNvPr id="9" name="Text Box 26"/>
          <p:cNvSpPr txBox="1">
            <a:spLocks noChangeArrowheads="1"/>
          </p:cNvSpPr>
          <p:nvPr/>
        </p:nvSpPr>
        <p:spPr bwMode="auto">
          <a:xfrm>
            <a:off x="76198" y="3733792"/>
            <a:ext cx="4114812" cy="2893100"/>
          </a:xfrm>
          <a:prstGeom prst="rect">
            <a:avLst/>
          </a:prstGeom>
          <a:solidFill>
            <a:srgbClr val="FFFF00"/>
          </a:solidFill>
          <a:ln w="9525">
            <a:solidFill>
              <a:schemeClr val="accent1">
                <a:lumMod val="75000"/>
              </a:schemeClr>
            </a:solidFill>
            <a:miter lim="800000"/>
          </a:ln>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70000"/>
              </a:lnSpc>
              <a:spcBef>
                <a:spcPct val="50000"/>
              </a:spcBef>
              <a:buClrTx/>
              <a:buFontTx/>
              <a:buNone/>
            </a:pPr>
            <a:r>
              <a:rPr lang="zh-CN" altLang="en-US" sz="2000" b="1" dirty="0" smtClean="0">
                <a:solidFill>
                  <a:srgbClr val="C00000"/>
                </a:solidFill>
                <a:latin typeface="Times New Roman" panose="02020603050405020304" pitchFamily="18" charset="0"/>
                <a:ea typeface="华文楷体" panose="02010600040101010101" pitchFamily="2" charset="-122"/>
              </a:rPr>
              <a:t>孩子兄弟链表的定义</a:t>
            </a:r>
            <a:endParaRPr lang="en-US" altLang="zh-CN" sz="2000" b="1" dirty="0" smtClean="0">
              <a:solidFill>
                <a:srgbClr val="C00000"/>
              </a:solidFill>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err="1" smtClean="0">
                <a:latin typeface="Times New Roman" panose="02020603050405020304" pitchFamily="18" charset="0"/>
                <a:ea typeface="华文楷体" panose="02010600040101010101" pitchFamily="2" charset="-122"/>
              </a:rPr>
              <a:t>struct</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TreeNode</a:t>
            </a:r>
            <a:endParaRPr lang="en-US" altLang="zh-CN" sz="2000" dirty="0" smtClean="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smtClean="0">
                <a:latin typeface="Times New Roman" panose="02020603050405020304" pitchFamily="18" charset="0"/>
                <a:ea typeface="华文楷体" panose="02010600040101010101" pitchFamily="2" charset="-122"/>
              </a:rPr>
              <a:t>{      </a:t>
            </a:r>
            <a:endParaRPr lang="en-US" altLang="zh-CN" sz="2000" dirty="0" smtClean="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elemtype</a:t>
            </a:r>
            <a:r>
              <a:rPr lang="en-US" altLang="zh-CN" sz="2000" dirty="0" smtClean="0">
                <a:latin typeface="Times New Roman" panose="02020603050405020304" pitchFamily="18" charset="0"/>
                <a:ea typeface="华文楷体" panose="02010600040101010101" pitchFamily="2" charset="-122"/>
              </a:rPr>
              <a:t> </a:t>
            </a:r>
            <a:r>
              <a:rPr lang="en-US" altLang="zh-CN" sz="2000" dirty="0">
                <a:latin typeface="Times New Roman" panose="02020603050405020304" pitchFamily="18" charset="0"/>
                <a:ea typeface="华文楷体" panose="02010600040101010101" pitchFamily="2" charset="-122"/>
              </a:rPr>
              <a:t>data;</a:t>
            </a:r>
            <a:endParaRPr lang="en-US" altLang="zh-CN" sz="2000" dirty="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struct</a:t>
            </a:r>
            <a:r>
              <a:rPr lang="en-US" altLang="zh-CN" sz="2000" dirty="0">
                <a:latin typeface="Times New Roman" panose="02020603050405020304" pitchFamily="18" charset="0"/>
                <a:ea typeface="华文楷体" panose="02010600040101010101" pitchFamily="2" charset="-122"/>
              </a:rPr>
              <a:t> </a:t>
            </a:r>
            <a:r>
              <a:rPr lang="en-US" altLang="zh-CN" sz="2000" dirty="0" err="1">
                <a:latin typeface="Times New Roman" panose="02020603050405020304" pitchFamily="18" charset="0"/>
                <a:ea typeface="华文楷体" panose="02010600040101010101" pitchFamily="2" charset="-122"/>
              </a:rPr>
              <a:t>TreeNode</a:t>
            </a:r>
            <a:r>
              <a:rPr lang="en-US" altLang="zh-CN" sz="2000" dirty="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firstchild</a:t>
            </a:r>
            <a:r>
              <a:rPr lang="en-US" altLang="zh-CN" sz="2000" dirty="0">
                <a:latin typeface="Times New Roman" panose="02020603050405020304" pitchFamily="18" charset="0"/>
                <a:ea typeface="华文楷体" panose="02010600040101010101" pitchFamily="2" charset="-122"/>
              </a:rPr>
              <a:t>; </a:t>
            </a:r>
            <a:endParaRPr lang="en-US" altLang="zh-CN" sz="2000" dirty="0" smtClean="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   </a:t>
            </a:r>
            <a:r>
              <a:rPr lang="en-US" altLang="zh-CN" sz="2000" dirty="0" err="1" smtClean="0">
                <a:latin typeface="Times New Roman" panose="02020603050405020304" pitchFamily="18" charset="0"/>
                <a:ea typeface="华文楷体" panose="02010600040101010101" pitchFamily="2" charset="-122"/>
              </a:rPr>
              <a:t>struct</a:t>
            </a:r>
            <a:r>
              <a:rPr lang="en-US" altLang="zh-CN" sz="2000" dirty="0" smtClean="0">
                <a:latin typeface="Times New Roman" panose="02020603050405020304" pitchFamily="18" charset="0"/>
                <a:ea typeface="华文楷体" panose="02010600040101010101" pitchFamily="2" charset="-122"/>
              </a:rPr>
              <a:t> </a:t>
            </a:r>
            <a:r>
              <a:rPr lang="en-US" altLang="zh-CN" sz="2000" dirty="0" err="1">
                <a:latin typeface="Times New Roman" panose="02020603050405020304" pitchFamily="18" charset="0"/>
                <a:ea typeface="华文楷体" panose="02010600040101010101" pitchFamily="2" charset="-122"/>
              </a:rPr>
              <a:t>TreeNode</a:t>
            </a:r>
            <a:r>
              <a:rPr lang="en-US" altLang="zh-CN" sz="2000" dirty="0">
                <a:latin typeface="Times New Roman" panose="02020603050405020304" pitchFamily="18" charset="0"/>
                <a:ea typeface="华文楷体" panose="02010600040101010101" pitchFamily="2" charset="-122"/>
              </a:rPr>
              <a:t> </a:t>
            </a:r>
            <a:r>
              <a:rPr lang="en-US" altLang="zh-CN" sz="2000" dirty="0" smtClean="0">
                <a:latin typeface="Times New Roman" panose="02020603050405020304" pitchFamily="18" charset="0"/>
                <a:ea typeface="华文楷体" panose="02010600040101010101" pitchFamily="2" charset="-122"/>
              </a:rPr>
              <a:t>*</a:t>
            </a:r>
            <a:r>
              <a:rPr lang="en-US" altLang="zh-CN" sz="2000" dirty="0" err="1" smtClean="0">
                <a:latin typeface="Times New Roman" panose="02020603050405020304" pitchFamily="18" charset="0"/>
                <a:ea typeface="华文楷体" panose="02010600040101010101" pitchFamily="2" charset="-122"/>
              </a:rPr>
              <a:t>nextsibling</a:t>
            </a: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smtClean="0">
                <a:latin typeface="Times New Roman" panose="02020603050405020304" pitchFamily="18" charset="0"/>
                <a:ea typeface="华文楷体" panose="02010600040101010101" pitchFamily="2" charset="-122"/>
              </a:rPr>
              <a:t>} </a:t>
            </a:r>
            <a:endParaRPr lang="en-US" altLang="zh-CN" sz="2000" dirty="0" smtClean="0">
              <a:latin typeface="Times New Roman" panose="02020603050405020304" pitchFamily="18" charset="0"/>
              <a:ea typeface="华文楷体" panose="02010600040101010101" pitchFamily="2" charset="-122"/>
            </a:endParaRPr>
          </a:p>
          <a:p>
            <a:pPr eaLnBrk="1" hangingPunct="1">
              <a:lnSpc>
                <a:spcPct val="70000"/>
              </a:lnSpc>
              <a:spcBef>
                <a:spcPct val="50000"/>
              </a:spcBef>
              <a:buClrTx/>
              <a:buFontTx/>
              <a:buNone/>
            </a:pPr>
            <a:r>
              <a:rPr lang="en-US" altLang="zh-CN" sz="2000" dirty="0" err="1" smtClean="0">
                <a:latin typeface="Times New Roman" panose="02020603050405020304" pitchFamily="18" charset="0"/>
                <a:ea typeface="华文楷体" panose="02010600040101010101" pitchFamily="2" charset="-122"/>
              </a:rPr>
              <a:t>typedef</a:t>
            </a:r>
            <a:r>
              <a:rPr lang="en-US" altLang="zh-CN" sz="2000" dirty="0" smtClean="0">
                <a:latin typeface="Times New Roman" panose="02020603050405020304" pitchFamily="18" charset="0"/>
                <a:ea typeface="华文楷体" panose="02010600040101010101" pitchFamily="2" charset="-122"/>
              </a:rPr>
              <a:t> </a:t>
            </a:r>
            <a:r>
              <a:rPr lang="en-US" altLang="zh-CN" sz="2000" dirty="0" err="1">
                <a:latin typeface="Times New Roman" panose="02020603050405020304" pitchFamily="18" charset="0"/>
                <a:ea typeface="华文楷体" panose="02010600040101010101" pitchFamily="2" charset="-122"/>
              </a:rPr>
              <a:t>struct</a:t>
            </a:r>
            <a:r>
              <a:rPr lang="en-US" altLang="zh-CN" sz="2000" dirty="0">
                <a:latin typeface="Times New Roman" panose="02020603050405020304" pitchFamily="18" charset="0"/>
                <a:ea typeface="华文楷体" panose="02010600040101010101" pitchFamily="2" charset="-122"/>
              </a:rPr>
              <a:t> </a:t>
            </a:r>
            <a:r>
              <a:rPr lang="en-US" altLang="zh-CN" sz="2000" dirty="0" err="1">
                <a:latin typeface="Times New Roman" panose="02020603050405020304" pitchFamily="18" charset="0"/>
                <a:ea typeface="华文楷体" panose="02010600040101010101" pitchFamily="2" charset="-122"/>
              </a:rPr>
              <a:t>TreeNode</a:t>
            </a:r>
            <a:r>
              <a:rPr lang="en-US" altLang="zh-CN" sz="2000" dirty="0">
                <a:latin typeface="Times New Roman" panose="02020603050405020304" pitchFamily="18" charset="0"/>
                <a:ea typeface="华文楷体" panose="02010600040101010101" pitchFamily="2" charset="-122"/>
              </a:rPr>
              <a:t> * </a:t>
            </a:r>
            <a:r>
              <a:rPr lang="en-US" altLang="zh-CN" sz="2000" dirty="0" err="1" smtClean="0">
                <a:latin typeface="Times New Roman" panose="02020603050405020304" pitchFamily="18" charset="0"/>
                <a:ea typeface="华文楷体" panose="02010600040101010101" pitchFamily="2" charset="-122"/>
              </a:rPr>
              <a:t>CSTree</a:t>
            </a:r>
            <a:r>
              <a:rPr lang="en-US" altLang="zh-CN" sz="2000" dirty="0">
                <a:latin typeface="Times New Roman" panose="02020603050405020304" pitchFamily="18" charset="0"/>
                <a:ea typeface="华文楷体" panose="02010600040101010101" pitchFamily="2" charset="-122"/>
              </a:rPr>
              <a:t>;</a:t>
            </a:r>
            <a:endParaRPr lang="en-US" altLang="zh-CN" sz="2000" dirty="0">
              <a:latin typeface="Times New Roman" panose="02020603050405020304" pitchFamily="18" charset="0"/>
              <a:ea typeface="华文楷体" panose="02010600040101010101" pitchFamily="2" charset="-122"/>
            </a:endParaRPr>
          </a:p>
        </p:txBody>
      </p:sp>
      <p:sp>
        <p:nvSpPr>
          <p:cNvPr id="8" name="页脚占位符 3"/>
          <p:cNvSpPr>
            <a:spLocks noGrp="1"/>
          </p:cNvSpPr>
          <p:nvPr>
            <p:ph type="ftr" sz="quarter" idx="10"/>
          </p:nvPr>
        </p:nvSpPr>
        <p:spPr>
          <a:xfrm>
            <a:off x="3851275" y="6461125"/>
            <a:ext cx="4911725" cy="320675"/>
          </a:xfrm>
        </p:spPr>
        <p:txBody>
          <a:bodyPr/>
          <a:lstStyle/>
          <a:p>
            <a:pPr>
              <a:defRPr/>
            </a:pPr>
            <a:r>
              <a:rPr lang="en-US" altLang="zh-CN" dirty="0"/>
              <a:t>BUPT SCST</a:t>
            </a:r>
            <a:endParaRPr lang="en-US" altLang="zh-CN"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页脚占位符 3"/>
          <p:cNvSpPr>
            <a:spLocks noGrp="1"/>
          </p:cNvSpPr>
          <p:nvPr>
            <p:ph type="ftr" sz="quarter" idx="10"/>
          </p:nvPr>
        </p:nvSpPr>
        <p:spPr/>
        <p:txBody>
          <a:bodyPr/>
          <a:lstStyle/>
          <a:p>
            <a:pPr>
              <a:defRPr/>
            </a:pPr>
            <a:r>
              <a:rPr lang="en-US" altLang="zh-CN"/>
              <a:t>BUPT SCST</a:t>
            </a:r>
            <a:endParaRPr lang="en-US" altLang="zh-CN"/>
          </a:p>
        </p:txBody>
      </p:sp>
      <p:sp>
        <p:nvSpPr>
          <p:cNvPr id="31" name="日期占位符 5"/>
          <p:cNvSpPr>
            <a:spLocks noGrp="1"/>
          </p:cNvSpPr>
          <p:nvPr>
            <p:ph type="dt" sz="quarter" idx="12"/>
          </p:nvPr>
        </p:nvSpPr>
        <p:spPr/>
        <p:txBody>
          <a:bodyPr/>
          <a:lstStyle/>
          <a:p>
            <a:pPr>
              <a:defRPr/>
            </a:pPr>
            <a:r>
              <a:rPr lang="en-US" altLang="zh-CN"/>
              <a:t>BUPT</a:t>
            </a:r>
            <a:endParaRPr lang="en-US" altLang="zh-CN"/>
          </a:p>
        </p:txBody>
      </p:sp>
      <p:sp>
        <p:nvSpPr>
          <p:cNvPr id="64516" name="Rectangle 2"/>
          <p:cNvSpPr>
            <a:spLocks noGrp="1" noChangeArrowheads="1"/>
          </p:cNvSpPr>
          <p:nvPr>
            <p:ph idx="1"/>
          </p:nvPr>
        </p:nvSpPr>
        <p:spPr>
          <a:xfrm>
            <a:off x="609600" y="1066800"/>
            <a:ext cx="7772400" cy="5105400"/>
          </a:xfrm>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         A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  B                    C    ^</a:t>
            </a: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  D              ^    E                ^  F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孩子兄弟链表访问某个结点的所有孩子结点：</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从</a:t>
            </a:r>
            <a:r>
              <a:rPr lang="en-US" altLang="zh-CN" sz="2400" dirty="0" err="1" smtClean="0">
                <a:ea typeface="华文楷体" panose="02010600040101010101" pitchFamily="2" charset="-122"/>
              </a:rPr>
              <a:t>firstchild</a:t>
            </a:r>
            <a:r>
              <a:rPr lang="zh-CN" altLang="en-US" sz="2400" dirty="0" smtClean="0">
                <a:ea typeface="华文楷体" panose="02010600040101010101" pitchFamily="2" charset="-122"/>
              </a:rPr>
              <a:t>链找到第一个孩子，沿第一个孩子的</a:t>
            </a:r>
            <a:r>
              <a:rPr lang="en-US" altLang="zh-CN" sz="2400" dirty="0" err="1" smtClean="0">
                <a:ea typeface="华文楷体" panose="02010600040101010101" pitchFamily="2" charset="-122"/>
              </a:rPr>
              <a:t>nextsibling</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链找第二个孩子，</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，直至</a:t>
            </a:r>
            <a:r>
              <a:rPr lang="en-US" altLang="zh-CN" sz="2400" dirty="0" err="1" smtClean="0">
                <a:ea typeface="华文楷体" panose="02010600040101010101" pitchFamily="2" charset="-122"/>
              </a:rPr>
              <a:t>nextsibling</a:t>
            </a:r>
            <a:r>
              <a:rPr lang="zh-CN" altLang="en-US" sz="2400" dirty="0" smtClean="0">
                <a:ea typeface="华文楷体" panose="02010600040101010101" pitchFamily="2" charset="-122"/>
              </a:rPr>
              <a:t>链为空</a:t>
            </a:r>
            <a:r>
              <a:rPr lang="zh-CN" altLang="en-US" dirty="0" smtClean="0">
                <a:ea typeface="华文楷体" panose="02010600040101010101" pitchFamily="2" charset="-122"/>
              </a:rPr>
              <a:t>。</a:t>
            </a:r>
            <a:endParaRPr lang="zh-CN" altLang="en-US" dirty="0" smtClean="0">
              <a:ea typeface="华文楷体" panose="02010600040101010101" pitchFamily="2" charset="-122"/>
            </a:endParaRPr>
          </a:p>
        </p:txBody>
      </p:sp>
      <p:sp>
        <p:nvSpPr>
          <p:cNvPr id="64517" name="Rectangle 3"/>
          <p:cNvSpPr>
            <a:spLocks noChangeArrowheads="1"/>
          </p:cNvSpPr>
          <p:nvPr/>
        </p:nvSpPr>
        <p:spPr bwMode="auto">
          <a:xfrm>
            <a:off x="914400" y="1143000"/>
            <a:ext cx="13716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4518" name="Rectangle 4"/>
          <p:cNvSpPr>
            <a:spLocks noChangeArrowheads="1"/>
          </p:cNvSpPr>
          <p:nvPr/>
        </p:nvSpPr>
        <p:spPr bwMode="auto">
          <a:xfrm>
            <a:off x="838200" y="1981200"/>
            <a:ext cx="13716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4519" name="Rectangle 5"/>
          <p:cNvSpPr>
            <a:spLocks noChangeArrowheads="1"/>
          </p:cNvSpPr>
          <p:nvPr/>
        </p:nvSpPr>
        <p:spPr bwMode="auto">
          <a:xfrm>
            <a:off x="2590800" y="1981200"/>
            <a:ext cx="1219200" cy="457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4520" name="Rectangle 6"/>
          <p:cNvSpPr>
            <a:spLocks noChangeArrowheads="1"/>
          </p:cNvSpPr>
          <p:nvPr/>
        </p:nvSpPr>
        <p:spPr bwMode="auto">
          <a:xfrm>
            <a:off x="2362200" y="2819400"/>
            <a:ext cx="1219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4521" name="Rectangle 7"/>
          <p:cNvSpPr>
            <a:spLocks noChangeArrowheads="1"/>
          </p:cNvSpPr>
          <p:nvPr/>
        </p:nvSpPr>
        <p:spPr bwMode="auto">
          <a:xfrm>
            <a:off x="4114800" y="2819400"/>
            <a:ext cx="12192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4522" name="Rectangle 8"/>
          <p:cNvSpPr>
            <a:spLocks noChangeArrowheads="1"/>
          </p:cNvSpPr>
          <p:nvPr/>
        </p:nvSpPr>
        <p:spPr bwMode="auto">
          <a:xfrm>
            <a:off x="5791200" y="2819400"/>
            <a:ext cx="1295400" cy="3810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64523" name="Line 9"/>
          <p:cNvSpPr>
            <a:spLocks noChangeShapeType="1"/>
          </p:cNvSpPr>
          <p:nvPr/>
        </p:nvSpPr>
        <p:spPr bwMode="auto">
          <a:xfrm>
            <a:off x="1295400" y="1143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24" name="Line 10"/>
          <p:cNvSpPr>
            <a:spLocks noChangeShapeType="1"/>
          </p:cNvSpPr>
          <p:nvPr/>
        </p:nvSpPr>
        <p:spPr bwMode="auto">
          <a:xfrm>
            <a:off x="1905000" y="11430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25" name="Line 11"/>
          <p:cNvSpPr>
            <a:spLocks noChangeShapeType="1"/>
          </p:cNvSpPr>
          <p:nvPr/>
        </p:nvSpPr>
        <p:spPr bwMode="auto">
          <a:xfrm>
            <a:off x="1219200" y="198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26" name="Line 12"/>
          <p:cNvSpPr>
            <a:spLocks noChangeShapeType="1"/>
          </p:cNvSpPr>
          <p:nvPr/>
        </p:nvSpPr>
        <p:spPr bwMode="auto">
          <a:xfrm flipH="1">
            <a:off x="1828800" y="198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27" name="Line 13"/>
          <p:cNvSpPr>
            <a:spLocks noChangeShapeType="1"/>
          </p:cNvSpPr>
          <p:nvPr/>
        </p:nvSpPr>
        <p:spPr bwMode="auto">
          <a:xfrm>
            <a:off x="2895600" y="198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28" name="Line 14"/>
          <p:cNvSpPr>
            <a:spLocks noChangeShapeType="1"/>
          </p:cNvSpPr>
          <p:nvPr/>
        </p:nvSpPr>
        <p:spPr bwMode="auto">
          <a:xfrm>
            <a:off x="3429000" y="1981200"/>
            <a:ext cx="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29" name="Line 15"/>
          <p:cNvSpPr>
            <a:spLocks noChangeShapeType="1"/>
          </p:cNvSpPr>
          <p:nvPr/>
        </p:nvSpPr>
        <p:spPr bwMode="auto">
          <a:xfrm>
            <a:off x="1066800" y="1371600"/>
            <a:ext cx="0" cy="6096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0" name="Line 16"/>
          <p:cNvSpPr>
            <a:spLocks noChangeShapeType="1"/>
          </p:cNvSpPr>
          <p:nvPr/>
        </p:nvSpPr>
        <p:spPr bwMode="auto">
          <a:xfrm>
            <a:off x="1981200" y="2209800"/>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1" name="Line 17"/>
          <p:cNvSpPr>
            <a:spLocks noChangeShapeType="1"/>
          </p:cNvSpPr>
          <p:nvPr/>
        </p:nvSpPr>
        <p:spPr bwMode="auto">
          <a:xfrm>
            <a:off x="2743200" y="28194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2" name="Line 18"/>
          <p:cNvSpPr>
            <a:spLocks noChangeShapeType="1"/>
          </p:cNvSpPr>
          <p:nvPr/>
        </p:nvSpPr>
        <p:spPr bwMode="auto">
          <a:xfrm>
            <a:off x="3276600" y="28194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3" name="Line 19"/>
          <p:cNvSpPr>
            <a:spLocks noChangeShapeType="1"/>
          </p:cNvSpPr>
          <p:nvPr/>
        </p:nvSpPr>
        <p:spPr bwMode="auto">
          <a:xfrm>
            <a:off x="4495800" y="28194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4" name="Line 20"/>
          <p:cNvSpPr>
            <a:spLocks noChangeShapeType="1"/>
          </p:cNvSpPr>
          <p:nvPr/>
        </p:nvSpPr>
        <p:spPr bwMode="auto">
          <a:xfrm>
            <a:off x="4953000" y="28194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5" name="Line 21"/>
          <p:cNvSpPr>
            <a:spLocks noChangeShapeType="1"/>
          </p:cNvSpPr>
          <p:nvPr/>
        </p:nvSpPr>
        <p:spPr bwMode="auto">
          <a:xfrm>
            <a:off x="3429000" y="2971800"/>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6" name="Line 22"/>
          <p:cNvSpPr>
            <a:spLocks noChangeShapeType="1"/>
          </p:cNvSpPr>
          <p:nvPr/>
        </p:nvSpPr>
        <p:spPr bwMode="auto">
          <a:xfrm>
            <a:off x="6248400" y="28194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7" name="Line 23"/>
          <p:cNvSpPr>
            <a:spLocks noChangeShapeType="1"/>
          </p:cNvSpPr>
          <p:nvPr/>
        </p:nvSpPr>
        <p:spPr bwMode="auto">
          <a:xfrm>
            <a:off x="6705600" y="2819400"/>
            <a:ext cx="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8" name="Line 24"/>
          <p:cNvSpPr>
            <a:spLocks noChangeShapeType="1"/>
          </p:cNvSpPr>
          <p:nvPr/>
        </p:nvSpPr>
        <p:spPr bwMode="auto">
          <a:xfrm>
            <a:off x="5105400" y="2971800"/>
            <a:ext cx="6858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39" name="Line 25"/>
          <p:cNvSpPr>
            <a:spLocks noChangeShapeType="1"/>
          </p:cNvSpPr>
          <p:nvPr/>
        </p:nvSpPr>
        <p:spPr bwMode="auto">
          <a:xfrm>
            <a:off x="2819400" y="2133600"/>
            <a:ext cx="0" cy="685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41" name="Line 27"/>
          <p:cNvSpPr>
            <a:spLocks noChangeShapeType="1"/>
          </p:cNvSpPr>
          <p:nvPr/>
        </p:nvSpPr>
        <p:spPr bwMode="auto">
          <a:xfrm>
            <a:off x="533400" y="1295400"/>
            <a:ext cx="3810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64542" name="Text Box 28"/>
          <p:cNvSpPr txBox="1">
            <a:spLocks noChangeArrowheads="1"/>
          </p:cNvSpPr>
          <p:nvPr/>
        </p:nvSpPr>
        <p:spPr bwMode="auto">
          <a:xfrm>
            <a:off x="381000" y="9906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000" dirty="0">
                <a:latin typeface="Times New Roman" panose="02020603050405020304" pitchFamily="18" charset="0"/>
                <a:ea typeface="华文楷体" panose="02010600040101010101" pitchFamily="2" charset="-122"/>
              </a:rPr>
              <a:t>tree</a:t>
            </a:r>
            <a:endParaRPr lang="en-US" altLang="zh-CN" sz="2000" dirty="0">
              <a:latin typeface="Times New Roman" panose="02020603050405020304" pitchFamily="18" charset="0"/>
              <a:ea typeface="华文楷体" panose="02010600040101010101" pitchFamily="2" charset="-122"/>
            </a:endParaRPr>
          </a:p>
        </p:txBody>
      </p:sp>
      <p:sp>
        <p:nvSpPr>
          <p:cNvPr id="64543" name="AutoShape 29">
            <a:hlinkClick r:id="" action="ppaction://hlinkshowjump?jump=firstslide"/>
          </p:cNvPr>
          <p:cNvSpPr>
            <a:spLocks noChangeArrowheads="1"/>
          </p:cNvSpPr>
          <p:nvPr/>
        </p:nvSpPr>
        <p:spPr bwMode="auto">
          <a:xfrm>
            <a:off x="8534400" y="6324600"/>
            <a:ext cx="228600" cy="304800"/>
          </a:xfrm>
          <a:prstGeom prst="star4">
            <a:avLst>
              <a:gd name="adj" fmla="val 12500"/>
            </a:avLst>
          </a:prstGeom>
          <a:solidFill>
            <a:schemeClr val="accent1"/>
          </a:solidFill>
          <a:ln w="9525">
            <a:solidFill>
              <a:schemeClr val="tx1"/>
            </a:solidFill>
            <a:miter lim="800000"/>
          </a:ln>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graphicFrame>
        <p:nvGraphicFramePr>
          <p:cNvPr id="2" name="对象 1"/>
          <p:cNvGraphicFramePr>
            <a:graphicFrameLocks noChangeAspect="1"/>
          </p:cNvGraphicFramePr>
          <p:nvPr/>
        </p:nvGraphicFramePr>
        <p:xfrm>
          <a:off x="3881438" y="3243263"/>
          <a:ext cx="1381125" cy="371475"/>
        </p:xfrm>
        <a:graphic>
          <a:graphicData uri="http://schemas.openxmlformats.org/presentationml/2006/ole">
            <mc:AlternateContent xmlns:mc="http://schemas.openxmlformats.org/markup-compatibility/2006">
              <mc:Choice xmlns:v="urn:schemas-microsoft-com:vml" Requires="v">
                <p:oleObj spid="_x0000_s74798" name="工作表" r:id="rId1" imgW="1628140" imgH="445770" progId="Excel.Sheet.12">
                  <p:embed/>
                </p:oleObj>
              </mc:Choice>
              <mc:Fallback>
                <p:oleObj name="工作表" r:id="rId1" imgW="1628140" imgH="445770" progId="Excel.Sheet.12">
                  <p:embed/>
                  <p:pic>
                    <p:nvPicPr>
                      <p:cNvPr id="0" name="图片 74797"/>
                      <p:cNvPicPr/>
                      <p:nvPr/>
                    </p:nvPicPr>
                    <p:blipFill>
                      <a:blip r:embed="rId2"/>
                      <a:stretch>
                        <a:fillRect/>
                      </a:stretch>
                    </p:blipFill>
                    <p:spPr>
                      <a:xfrm>
                        <a:off x="3881438" y="3243263"/>
                        <a:ext cx="1381125" cy="37147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5540"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6.8 </a:t>
            </a:r>
            <a:r>
              <a:rPr lang="zh-CN" altLang="en-US" sz="2800" dirty="0" smtClean="0">
                <a:ea typeface="华文楷体" panose="02010600040101010101" pitchFamily="2" charset="-122"/>
              </a:rPr>
              <a:t>并查集</a:t>
            </a:r>
            <a:endParaRPr lang="zh-CN" altLang="en-US" sz="2800" dirty="0" smtClean="0">
              <a:ea typeface="华文楷体" panose="02010600040101010101" pitchFamily="2" charset="-122"/>
            </a:endParaRPr>
          </a:p>
        </p:txBody>
      </p:sp>
      <p:sp>
        <p:nvSpPr>
          <p:cNvPr id="65541"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等价类</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假设集合</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中元素为</a:t>
            </a:r>
            <a:r>
              <a:rPr lang="en-US" altLang="zh-CN" sz="2400" b="1" dirty="0" smtClean="0">
                <a:ea typeface="华文楷体" panose="02010600040101010101" pitchFamily="2" charset="-122"/>
              </a:rPr>
              <a:t>0, 1, 2, 3, …, n–1</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S=S</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S</a:t>
            </a:r>
            <a:r>
              <a:rPr lang="en-US" altLang="zh-CN" sz="2400" baseline="-25000" dirty="0" err="1" smtClean="0">
                <a:ea typeface="华文楷体" panose="02010600040101010101" pitchFamily="2" charset="-122"/>
              </a:rPr>
              <a:t>k</a:t>
            </a:r>
            <a:r>
              <a:rPr lang="zh-CN" altLang="en-US" sz="2400" dirty="0" smtClean="0">
                <a:ea typeface="华文楷体" panose="02010600040101010101" pitchFamily="2" charset="-122"/>
              </a:rPr>
              <a:t>，且当</a:t>
            </a:r>
            <a:r>
              <a:rPr lang="en-US" altLang="zh-CN" sz="2400" dirty="0" err="1" smtClean="0">
                <a:ea typeface="华文楷体" panose="02010600040101010101" pitchFamily="2" charset="-122"/>
              </a:rPr>
              <a:t>i</a:t>
            </a:r>
            <a:r>
              <a:rPr lang="en-US" altLang="en-US" sz="2400" dirty="0" err="1" smtClean="0"/>
              <a:t>≠</a:t>
            </a:r>
            <a:r>
              <a:rPr lang="en-US" altLang="zh-CN" sz="2400" dirty="0" err="1" smtClean="0">
                <a:ea typeface="华文楷体" panose="02010600040101010101" pitchFamily="2" charset="-122"/>
              </a:rPr>
              <a:t>j</a:t>
            </a:r>
            <a:r>
              <a:rPr lang="zh-CN" altLang="en-US" sz="2400" dirty="0" smtClean="0">
                <a:ea typeface="华文楷体" panose="02010600040101010101" pitchFamily="2" charset="-122"/>
              </a:rPr>
              <a:t>时，有</a:t>
            </a:r>
            <a:r>
              <a:rPr lang="en-US" altLang="zh-CN" sz="2400" b="1" dirty="0" smtClean="0">
                <a:ea typeface="华文楷体" panose="02010600040101010101" pitchFamily="2" charset="-122"/>
              </a:rPr>
              <a:t>S</a:t>
            </a:r>
            <a:r>
              <a:rPr lang="en-US" altLang="zh-CN" sz="2400" baseline="-25000" dirty="0" smtClean="0">
                <a:ea typeface="华文楷体" panose="02010600040101010101" pitchFamily="2" charset="-122"/>
              </a:rPr>
              <a:t>i</a:t>
            </a:r>
            <a:r>
              <a:rPr lang="en-US" altLang="zh-CN" sz="2400" b="1" dirty="0" smtClean="0">
                <a:ea typeface="华文楷体" panose="02010600040101010101" pitchFamily="2" charset="-122"/>
              </a:rPr>
              <a:t> </a:t>
            </a:r>
            <a:r>
              <a:rPr lang="en-US" altLang="en-US" sz="2400" b="1" dirty="0" smtClean="0"/>
              <a:t>∩</a:t>
            </a:r>
            <a:r>
              <a:rPr lang="en-US" altLang="zh-CN" sz="2400" b="1" dirty="0" err="1" smtClean="0">
                <a:ea typeface="华文楷体" panose="02010600040101010101" pitchFamily="2" charset="-122"/>
              </a:rPr>
              <a:t>S</a:t>
            </a:r>
            <a:r>
              <a:rPr lang="en-US" altLang="zh-CN" sz="2400" baseline="-25000" dirty="0" err="1" smtClean="0">
                <a:ea typeface="华文楷体" panose="02010600040101010101" pitchFamily="2" charset="-122"/>
              </a:rPr>
              <a:t>j</a:t>
            </a:r>
            <a:r>
              <a:rPr lang="en-US" altLang="zh-CN" sz="2400" b="1" dirty="0" smtClean="0">
                <a:ea typeface="华文楷体" panose="02010600040101010101" pitchFamily="2" charset="-122"/>
              </a:rPr>
              <a:t> = </a:t>
            </a:r>
            <a:r>
              <a:rPr lang="en-US" altLang="zh-CN" sz="2400" b="1" dirty="0" smtClean="0">
                <a:ea typeface="华文楷体" panose="02010600040101010101" pitchFamily="2" charset="-122"/>
                <a:sym typeface="Symbol" panose="05050102010706020507" pitchFamily="18" charset="2"/>
              </a:rPr>
              <a:t></a:t>
            </a:r>
            <a:r>
              <a:rPr lang="zh-CN" altLang="en-US" sz="2400" b="1"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则称集合</a:t>
            </a:r>
            <a:r>
              <a:rPr lang="en-US" altLang="zh-CN" sz="2400" b="1" dirty="0" smtClean="0">
                <a:ea typeface="华文楷体" panose="02010600040101010101" pitchFamily="2" charset="-122"/>
                <a:sym typeface="Symbol" panose="05050102010706020507" pitchFamily="18" charset="2"/>
              </a:rPr>
              <a:t>S</a:t>
            </a:r>
            <a:r>
              <a:rPr lang="en-US" altLang="zh-CN" sz="2400" baseline="-25000" dirty="0" smtClean="0">
                <a:ea typeface="华文楷体" panose="02010600040101010101" pitchFamily="2" charset="-122"/>
                <a:sym typeface="Symbol" panose="05050102010706020507" pitchFamily="18" charset="2"/>
              </a:rPr>
              <a:t>1</a:t>
            </a:r>
            <a:r>
              <a:rPr lang="en-US" altLang="zh-CN" sz="2400" b="1" dirty="0" smtClean="0">
                <a:ea typeface="华文楷体" panose="02010600040101010101" pitchFamily="2" charset="-122"/>
                <a:sym typeface="Symbol" panose="05050102010706020507" pitchFamily="18" charset="2"/>
              </a:rPr>
              <a:t>…</a:t>
            </a:r>
            <a:r>
              <a:rPr lang="en-US" altLang="zh-CN" sz="2400" b="1" dirty="0" err="1" smtClean="0">
                <a:ea typeface="华文楷体" panose="02010600040101010101" pitchFamily="2" charset="-122"/>
                <a:sym typeface="Symbol" panose="05050102010706020507" pitchFamily="18" charset="2"/>
              </a:rPr>
              <a:t>S</a:t>
            </a:r>
            <a:r>
              <a:rPr lang="en-US" altLang="zh-CN" sz="2400" baseline="-25000" dirty="0" err="1" smtClean="0">
                <a:ea typeface="华文楷体" panose="02010600040101010101" pitchFamily="2" charset="-122"/>
                <a:sym typeface="Symbol" panose="05050102010706020507" pitchFamily="18" charset="2"/>
              </a:rPr>
              <a:t>k</a:t>
            </a:r>
            <a:r>
              <a:rPr lang="zh-CN" altLang="en-US" sz="2400" dirty="0" smtClean="0">
                <a:ea typeface="华文楷体" panose="02010600040101010101" pitchFamily="2" charset="-122"/>
                <a:sym typeface="Symbol" panose="05050102010706020507" pitchFamily="18" charset="2"/>
              </a:rPr>
              <a:t>为</a:t>
            </a:r>
            <a:r>
              <a:rPr lang="zh-CN" altLang="en-US" sz="2400" b="1" dirty="0" smtClean="0">
                <a:solidFill>
                  <a:schemeClr val="accent2"/>
                </a:solidFill>
                <a:ea typeface="华文楷体" panose="02010600040101010101" pitchFamily="2" charset="-122"/>
                <a:sym typeface="Symbol" panose="05050102010706020507" pitchFamily="18" charset="2"/>
              </a:rPr>
              <a:t>等价类</a:t>
            </a:r>
            <a:r>
              <a:rPr lang="zh-CN" altLang="en-US" b="1" dirty="0" smtClean="0">
                <a:ea typeface="华文楷体" panose="02010600040101010101" pitchFamily="2" charset="-122"/>
                <a:sym typeface="Symbol" panose="05050102010706020507" pitchFamily="18" charset="2"/>
              </a:rPr>
              <a:t>。</a:t>
            </a:r>
            <a:endParaRPr lang="zh-CN" altLang="en-US" b="1"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实例</a:t>
            </a:r>
            <a:r>
              <a:rPr lang="en-US" altLang="zh-CN" sz="2400" b="1" dirty="0" smtClean="0">
                <a:solidFill>
                  <a:schemeClr val="accent2"/>
                </a:solidFill>
                <a:ea typeface="华文楷体" panose="02010600040101010101" pitchFamily="2" charset="-122"/>
              </a:rPr>
              <a:t>1]</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当</a:t>
            </a:r>
            <a:r>
              <a:rPr lang="en-US" altLang="zh-CN" sz="2400" dirty="0" smtClean="0">
                <a:ea typeface="华文楷体" panose="02010600040101010101" pitchFamily="2" charset="-122"/>
              </a:rPr>
              <a:t>n = 10</a:t>
            </a:r>
            <a:r>
              <a:rPr lang="zh-CN" altLang="en-US" sz="2400" dirty="0" smtClean="0">
                <a:ea typeface="华文楷体" panose="02010600040101010101" pitchFamily="2" charset="-122"/>
              </a:rPr>
              <a:t>，元素可划分为三个互不相交的集合（等价类）：</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 = {0, 6, 7, 8}</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 {1, 4, 9}</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3</a:t>
            </a:r>
            <a:r>
              <a:rPr lang="en-US" altLang="zh-CN" sz="2400" dirty="0" smtClean="0">
                <a:ea typeface="华文楷体" panose="02010600040101010101" pitchFamily="2" charset="-122"/>
              </a:rPr>
              <a:t> = {2, 3, 5}</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并查集</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即在等价类基础上进行如下操作：</a:t>
            </a:r>
            <a:endParaRPr lang="zh-CN" altLang="en-US" sz="2400" dirty="0" smtClean="0">
              <a:ea typeface="华文楷体" panose="02010600040101010101" pitchFamily="2" charset="-122"/>
            </a:endParaRPr>
          </a:p>
          <a:p>
            <a:pPr lvl="1" eaLnBrk="1" hangingPunct="1"/>
            <a:r>
              <a:rPr lang="en-US" altLang="zh-CN" sz="2400" dirty="0" smtClean="0">
                <a:solidFill>
                  <a:schemeClr val="accent2"/>
                </a:solidFill>
                <a:ea typeface="华文楷体" panose="02010600040101010101" pitchFamily="2" charset="-122"/>
              </a:rPr>
              <a:t>merge(S</a:t>
            </a:r>
            <a:r>
              <a:rPr lang="en-US" altLang="zh-CN" sz="2400" baseline="-25000" dirty="0" smtClean="0">
                <a:solidFill>
                  <a:schemeClr val="accent2"/>
                </a:solidFill>
                <a:ea typeface="华文楷体" panose="02010600040101010101" pitchFamily="2" charset="-122"/>
              </a:rPr>
              <a:t>i</a:t>
            </a:r>
            <a:r>
              <a:rPr lang="en-US" altLang="zh-CN" sz="2400" dirty="0" smtClean="0">
                <a:solidFill>
                  <a:schemeClr val="accent2"/>
                </a:solidFill>
                <a:ea typeface="华文楷体" panose="02010600040101010101" pitchFamily="2" charset="-122"/>
              </a:rPr>
              <a:t>, </a:t>
            </a:r>
            <a:r>
              <a:rPr lang="en-US" altLang="zh-CN" sz="2400" dirty="0" err="1" smtClean="0">
                <a:solidFill>
                  <a:schemeClr val="accent2"/>
                </a:solidFill>
                <a:ea typeface="华文楷体" panose="02010600040101010101" pitchFamily="2" charset="-122"/>
              </a:rPr>
              <a:t>S</a:t>
            </a:r>
            <a:r>
              <a:rPr lang="en-US" altLang="zh-CN" sz="2400" baseline="-25000" dirty="0" err="1" smtClean="0">
                <a:solidFill>
                  <a:schemeClr val="accent2"/>
                </a:solidFill>
                <a:ea typeface="华文楷体" panose="02010600040101010101" pitchFamily="2" charset="-122"/>
              </a:rPr>
              <a:t>j</a:t>
            </a:r>
            <a:r>
              <a:rPr lang="en-US" altLang="zh-CN" sz="2400" dirty="0" smtClean="0">
                <a:solidFill>
                  <a:schemeClr val="accent2"/>
                </a:solidFill>
                <a:ea typeface="华文楷体" panose="02010600040101010101" pitchFamily="2" charset="-122"/>
              </a:rPr>
              <a:t>)</a:t>
            </a:r>
            <a:r>
              <a:rPr lang="zh-CN" altLang="en-US" sz="2400" dirty="0" smtClean="0">
                <a:ea typeface="华文楷体" panose="02010600040101010101" pitchFamily="2" charset="-122"/>
              </a:rPr>
              <a:t>：求</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和</a:t>
            </a:r>
            <a:r>
              <a:rPr lang="en-US" altLang="zh-CN" sz="2400" dirty="0" err="1" smtClean="0">
                <a:ea typeface="华文楷体" panose="02010600040101010101" pitchFamily="2" charset="-122"/>
              </a:rPr>
              <a:t>S</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的</a:t>
            </a:r>
            <a:r>
              <a:rPr lang="zh-CN" altLang="en-US" sz="2400" b="1" dirty="0" smtClean="0">
                <a:solidFill>
                  <a:schemeClr val="accent2"/>
                </a:solidFill>
                <a:ea typeface="华文楷体" panose="02010600040101010101" pitchFamily="2" charset="-122"/>
              </a:rPr>
              <a:t>并</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和 </a:t>
            </a:r>
            <a:r>
              <a:rPr lang="en-US" altLang="zh-CN" sz="2400" dirty="0" err="1" smtClean="0">
                <a:ea typeface="华文楷体" panose="02010600040101010101" pitchFamily="2" charset="-122"/>
              </a:rPr>
              <a:t>S</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不再独立存在，将被</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 </a:t>
            </a:r>
            <a:r>
              <a:rPr lang="en-US" altLang="zh-CN" sz="2400" dirty="0" err="1" smtClean="0">
                <a:ea typeface="华文楷体" panose="02010600040101010101" pitchFamily="2" charset="-122"/>
              </a:rPr>
              <a:t>S</a:t>
            </a:r>
            <a:r>
              <a:rPr lang="en-US" altLang="zh-CN" sz="2400" baseline="-25000" dirty="0" err="1" smtClean="0">
                <a:ea typeface="华文楷体" panose="02010600040101010101" pitchFamily="2" charset="-122"/>
              </a:rPr>
              <a:t>j</a:t>
            </a:r>
            <a:r>
              <a:rPr lang="zh-CN" altLang="en-US" sz="2400" dirty="0" smtClean="0">
                <a:ea typeface="华文楷体" panose="02010600040101010101" pitchFamily="2" charset="-122"/>
              </a:rPr>
              <a:t>所取代。</a:t>
            </a:r>
            <a:endParaRPr lang="zh-CN" altLang="en-US" sz="2400" dirty="0" smtClean="0">
              <a:ea typeface="华文楷体" panose="02010600040101010101" pitchFamily="2" charset="-122"/>
            </a:endParaRPr>
          </a:p>
          <a:p>
            <a:pPr lvl="1" eaLnBrk="1" hangingPunct="1"/>
            <a:r>
              <a:rPr lang="en-US" altLang="zh-CN" sz="2400" dirty="0" smtClean="0">
                <a:solidFill>
                  <a:schemeClr val="accent2"/>
                </a:solidFill>
                <a:ea typeface="华文楷体" panose="02010600040101010101" pitchFamily="2" charset="-122"/>
              </a:rPr>
              <a:t>find(</a:t>
            </a:r>
            <a:r>
              <a:rPr lang="en-US" altLang="zh-CN" sz="2400" dirty="0" err="1" smtClean="0">
                <a:solidFill>
                  <a:schemeClr val="accent2"/>
                </a:solidFill>
                <a:ea typeface="华文楷体" panose="02010600040101010101" pitchFamily="2" charset="-122"/>
              </a:rPr>
              <a:t>i</a:t>
            </a:r>
            <a:r>
              <a:rPr lang="en-US" altLang="zh-CN" sz="2400" dirty="0" smtClean="0">
                <a:solidFill>
                  <a:schemeClr val="accent2"/>
                </a:solidFill>
                <a:ea typeface="华文楷体" panose="02010600040101010101" pitchFamily="2" charset="-122"/>
              </a:rPr>
              <a:t>)</a:t>
            </a:r>
            <a:r>
              <a:rPr lang="zh-CN" altLang="en-US" sz="2400" dirty="0" smtClean="0">
                <a:ea typeface="华文楷体" panose="02010600040101010101" pitchFamily="2" charset="-122"/>
              </a:rPr>
              <a:t>：</a:t>
            </a:r>
            <a:r>
              <a:rPr lang="zh-CN" altLang="en-US" sz="2400" b="1" dirty="0" smtClean="0">
                <a:solidFill>
                  <a:schemeClr val="accent2"/>
                </a:solidFill>
                <a:ea typeface="华文楷体" panose="02010600040101010101" pitchFamily="2" charset="-122"/>
              </a:rPr>
              <a:t>查</a:t>
            </a:r>
            <a:r>
              <a:rPr lang="zh-CN" altLang="en-US" sz="2400" dirty="0" smtClean="0">
                <a:ea typeface="华文楷体" panose="02010600040101010101" pitchFamily="2" charset="-122"/>
              </a:rPr>
              <a:t>找含元素</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的集合。</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en-US" altLang="zh-CN" b="1" dirty="0" smtClean="0">
              <a:ea typeface="华文楷体" panose="02010600040101010101" pitchFamily="2"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6656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6565" name="Rectangle 3"/>
          <p:cNvSpPr>
            <a:spLocks noGrp="1" noChangeArrowheads="1"/>
          </p:cNvSpPr>
          <p:nvPr>
            <p:ph idx="1"/>
          </p:nvPr>
        </p:nvSpPr>
        <p:spPr>
          <a:xfrm>
            <a:off x="250825" y="1152525"/>
            <a:ext cx="8435975" cy="5248275"/>
          </a:xfrm>
        </p:spPr>
        <p:txBody>
          <a:bodyPr/>
          <a:lstStyle/>
          <a:p>
            <a:pPr eaLnBrk="1" hangingPunct="1">
              <a:buFont typeface="Wingdings" panose="05000000000000000000" pitchFamily="2" charset="2"/>
              <a:buNone/>
            </a:pPr>
            <a:r>
              <a:rPr lang="zh-CN" altLang="en-US" sz="2400" dirty="0" smtClean="0">
                <a:latin typeface="华文楷体" panose="02010600040101010101" pitchFamily="2" charset="-122"/>
                <a:ea typeface="华文楷体" panose="02010600040101010101" pitchFamily="2" charset="-122"/>
              </a:rPr>
              <a:t>为了高效率实现并和查的操作，等价类可以用表示为</a:t>
            </a:r>
            <a:r>
              <a:rPr lang="zh-CN" altLang="en-US" sz="2400" b="1" dirty="0" smtClean="0">
                <a:solidFill>
                  <a:schemeClr val="accent2"/>
                </a:solidFill>
                <a:latin typeface="华文楷体" panose="02010600040101010101" pitchFamily="2" charset="-122"/>
                <a:ea typeface="华文楷体" panose="02010600040101010101" pitchFamily="2" charset="-122"/>
              </a:rPr>
              <a:t>树</a:t>
            </a:r>
            <a:r>
              <a:rPr lang="zh-CN" altLang="en-US" sz="2400" dirty="0" smtClean="0">
                <a:latin typeface="华文楷体" panose="02010600040101010101" pitchFamily="2" charset="-122"/>
                <a:ea typeface="华文楷体" panose="02010600040101010101" pitchFamily="2" charset="-122"/>
              </a:rPr>
              <a:t>的集合（即</a:t>
            </a:r>
            <a:r>
              <a:rPr lang="zh-CN" altLang="en-US" sz="2400" b="1" dirty="0" smtClean="0">
                <a:solidFill>
                  <a:schemeClr val="accent2"/>
                </a:solidFill>
                <a:latin typeface="华文楷体" panose="02010600040101010101" pitchFamily="2" charset="-122"/>
                <a:ea typeface="华文楷体" panose="02010600040101010101" pitchFamily="2" charset="-122"/>
              </a:rPr>
              <a:t>森林</a:t>
            </a:r>
            <a:r>
              <a:rPr lang="zh-CN" altLang="en-US" sz="2400" dirty="0" smtClean="0">
                <a:latin typeface="华文楷体" panose="02010600040101010101" pitchFamily="2" charset="-122"/>
                <a:ea typeface="华文楷体" panose="02010600040101010101" pitchFamily="2" charset="-122"/>
              </a:rPr>
              <a:t>）。</a:t>
            </a:r>
            <a:endParaRPr lang="zh-CN" altLang="en-US" sz="2400" dirty="0" smtClean="0">
              <a:latin typeface="华文楷体" panose="02010600040101010101" pitchFamily="2" charset="-122"/>
              <a:ea typeface="华文楷体" panose="02010600040101010101" pitchFamily="2" charset="-122"/>
            </a:endParaRPr>
          </a:p>
          <a:p>
            <a:pPr eaLnBrk="1" hangingPunct="1">
              <a:buFont typeface="Wingdings" panose="05000000000000000000" pitchFamily="2" charset="2"/>
              <a:buNone/>
            </a:pPr>
            <a:r>
              <a:rPr lang="zh-CN" altLang="en-US" sz="2400" dirty="0" smtClean="0">
                <a:latin typeface="华文楷体" panose="02010600040101010101" pitchFamily="2" charset="-122"/>
                <a:ea typeface="华文楷体" panose="02010600040101010101" pitchFamily="2" charset="-122"/>
              </a:rPr>
              <a:t>如，实例</a:t>
            </a:r>
            <a:r>
              <a:rPr lang="en-US" altLang="zh-CN" sz="2400" dirty="0" smtClean="0">
                <a:latin typeface="华文楷体" panose="02010600040101010101" pitchFamily="2" charset="-122"/>
                <a:ea typeface="华文楷体" panose="02010600040101010101" pitchFamily="2" charset="-122"/>
              </a:rPr>
              <a:t>1</a:t>
            </a:r>
            <a:r>
              <a:rPr lang="zh-CN" altLang="en-US" sz="2400" dirty="0" smtClean="0">
                <a:latin typeface="华文楷体" panose="02010600040101010101" pitchFamily="2" charset="-122"/>
                <a:ea typeface="华文楷体" panose="02010600040101010101" pitchFamily="2" charset="-122"/>
              </a:rPr>
              <a:t>中的</a:t>
            </a:r>
            <a:r>
              <a:rPr lang="en-US" altLang="zh-CN" sz="2400" dirty="0" smtClean="0">
                <a:latin typeface="华文楷体" panose="02010600040101010101" pitchFamily="2" charset="-122"/>
                <a:ea typeface="华文楷体" panose="02010600040101010101" pitchFamily="2" charset="-122"/>
              </a:rPr>
              <a:t>S</a:t>
            </a:r>
            <a:r>
              <a:rPr lang="en-US" altLang="zh-CN" sz="2400" baseline="-25000" dirty="0" smtClean="0">
                <a:latin typeface="华文楷体" panose="02010600040101010101" pitchFamily="2" charset="-122"/>
                <a:ea typeface="华文楷体" panose="02010600040101010101" pitchFamily="2" charset="-122"/>
              </a:rPr>
              <a:t>1</a:t>
            </a:r>
            <a:r>
              <a:rPr lang="zh-CN" altLang="en-US" sz="2400" dirty="0" smtClean="0">
                <a:latin typeface="华文楷体" panose="02010600040101010101" pitchFamily="2" charset="-122"/>
                <a:ea typeface="华文楷体" panose="02010600040101010101" pitchFamily="2" charset="-122"/>
              </a:rPr>
              <a:t>，</a:t>
            </a:r>
            <a:r>
              <a:rPr lang="en-US" altLang="zh-CN" sz="2400" dirty="0" smtClean="0">
                <a:latin typeface="华文楷体" panose="02010600040101010101" pitchFamily="2" charset="-122"/>
                <a:ea typeface="华文楷体" panose="02010600040101010101" pitchFamily="2" charset="-122"/>
              </a:rPr>
              <a:t>S</a:t>
            </a:r>
            <a:r>
              <a:rPr lang="en-US" altLang="zh-CN" sz="2400" baseline="-25000" dirty="0" smtClean="0">
                <a:latin typeface="华文楷体" panose="02010600040101010101" pitchFamily="2" charset="-122"/>
                <a:ea typeface="华文楷体" panose="02010600040101010101" pitchFamily="2" charset="-122"/>
              </a:rPr>
              <a:t>2</a:t>
            </a:r>
            <a:r>
              <a:rPr lang="zh-CN" altLang="en-US" sz="2400" dirty="0" smtClean="0">
                <a:latin typeface="华文楷体" panose="02010600040101010101" pitchFamily="2" charset="-122"/>
                <a:ea typeface="华文楷体" panose="02010600040101010101" pitchFamily="2" charset="-122"/>
              </a:rPr>
              <a:t>和</a:t>
            </a:r>
            <a:r>
              <a:rPr lang="en-US" altLang="zh-CN" sz="2400" dirty="0" smtClean="0">
                <a:latin typeface="华文楷体" panose="02010600040101010101" pitchFamily="2" charset="-122"/>
                <a:ea typeface="华文楷体" panose="02010600040101010101" pitchFamily="2" charset="-122"/>
              </a:rPr>
              <a:t>S</a:t>
            </a:r>
            <a:r>
              <a:rPr lang="en-US" altLang="zh-CN" sz="2400" baseline="-25000" dirty="0" smtClean="0">
                <a:latin typeface="华文楷体" panose="02010600040101010101" pitchFamily="2" charset="-122"/>
                <a:ea typeface="华文楷体" panose="02010600040101010101" pitchFamily="2" charset="-122"/>
              </a:rPr>
              <a:t>3</a:t>
            </a:r>
            <a:r>
              <a:rPr lang="zh-CN" altLang="en-US" sz="2400" dirty="0" smtClean="0">
                <a:latin typeface="华文楷体" panose="02010600040101010101" pitchFamily="2" charset="-122"/>
                <a:ea typeface="华文楷体" panose="02010600040101010101" pitchFamily="2" charset="-122"/>
              </a:rPr>
              <a:t>的表示如下：</a:t>
            </a:r>
            <a:endParaRPr lang="zh-CN" altLang="en-US" sz="2400" dirty="0" smtClean="0">
              <a:latin typeface="华文楷体" panose="02010600040101010101" pitchFamily="2" charset="-122"/>
              <a:ea typeface="华文楷体" panose="02010600040101010101" pitchFamily="2" charset="-122"/>
            </a:endParaRPr>
          </a:p>
        </p:txBody>
      </p:sp>
      <p:pic>
        <p:nvPicPr>
          <p:cNvPr id="66566" name="Picture 4"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2613025"/>
            <a:ext cx="7561263" cy="2400300"/>
          </a:xfrm>
          <a:prstGeom prst="rect">
            <a:avLst/>
          </a:prstGeom>
          <a:solidFill>
            <a:srgbClr val="CCFFCC"/>
          </a:solidFill>
          <a:ln w="28575">
            <a:solidFill>
              <a:schemeClr val="accent1"/>
            </a:solidFill>
            <a:miter lim="800000"/>
            <a:headEnd/>
            <a:tailEnd/>
          </a:ln>
        </p:spPr>
      </p:pic>
      <p:sp>
        <p:nvSpPr>
          <p:cNvPr id="66567" name="Text Box 5"/>
          <p:cNvSpPr txBox="1">
            <a:spLocks noChangeArrowheads="1"/>
          </p:cNvSpPr>
          <p:nvPr/>
        </p:nvSpPr>
        <p:spPr bwMode="auto">
          <a:xfrm>
            <a:off x="395288" y="5291138"/>
            <a:ext cx="8280400" cy="956288"/>
          </a:xfrm>
          <a:prstGeom prst="rect">
            <a:avLst/>
          </a:prstGeom>
          <a:noFill/>
          <a:ln w="38100">
            <a:solidFill>
              <a:schemeClr val="accent1"/>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800" dirty="0">
                <a:latin typeface="华文楷体" panose="02010600040101010101" pitchFamily="2" charset="-122"/>
                <a:ea typeface="华文楷体" panose="02010600040101010101" pitchFamily="2" charset="-122"/>
              </a:rPr>
              <a:t>其中，等价类中的每个集合用一棵树表示，且</a:t>
            </a:r>
            <a:r>
              <a:rPr lang="zh-CN" altLang="en-US" sz="2800" dirty="0">
                <a:solidFill>
                  <a:schemeClr val="accent2"/>
                </a:solidFill>
                <a:latin typeface="华文楷体" panose="02010600040101010101" pitchFamily="2" charset="-122"/>
                <a:ea typeface="华文楷体" panose="02010600040101010101" pitchFamily="2" charset="-122"/>
              </a:rPr>
              <a:t>分枝由子结点指向双亲</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6758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7589" name="Rectangle 3"/>
          <p:cNvSpPr>
            <a:spLocks noGrp="1" noChangeArrowheads="1"/>
          </p:cNvSpPr>
          <p:nvPr>
            <p:ph idx="1"/>
          </p:nvPr>
        </p:nvSpPr>
        <p:spPr/>
        <p:txBody>
          <a:bodyPr/>
          <a:lstStyle/>
          <a:p>
            <a:pPr eaLnBrk="1" hangingPunct="1">
              <a:spcBef>
                <a:spcPct val="0"/>
              </a:spcBef>
              <a:buClrTx/>
              <a:buFontTx/>
              <a:buNone/>
            </a:pPr>
            <a:r>
              <a:rPr lang="zh-CN" altLang="en-US" sz="2400" dirty="0" smtClean="0">
                <a:ea typeface="华文楷体" panose="02010600040101010101" pitchFamily="2" charset="-122"/>
              </a:rPr>
              <a:t>实现并操作可直接使两棵树之一成为另一棵树的子树。</a:t>
            </a:r>
            <a:endParaRPr lang="zh-CN" altLang="en-US" sz="2400" dirty="0" smtClean="0">
              <a:ea typeface="华文楷体" panose="02010600040101010101" pitchFamily="2" charset="-122"/>
            </a:endParaRPr>
          </a:p>
          <a:p>
            <a:pPr eaLnBrk="1" hangingPunct="1">
              <a:spcBef>
                <a:spcPct val="0"/>
              </a:spcBef>
              <a:buClrTx/>
              <a:buFontTx/>
              <a:buNone/>
            </a:pPr>
            <a:r>
              <a:rPr lang="zh-CN" altLang="en-US" sz="2400" dirty="0" smtClean="0">
                <a:ea typeface="华文楷体" panose="02010600040101010101" pitchFamily="2" charset="-122"/>
              </a:rPr>
              <a:t>如</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1</a:t>
            </a:r>
            <a:r>
              <a:rPr lang="en-US" altLang="en-US" dirty="0" smtClean="0"/>
              <a:t>∪</a:t>
            </a:r>
            <a:r>
              <a:rPr lang="en-US" altLang="zh-CN" sz="2400" dirty="0" smtClean="0">
                <a:ea typeface="华文楷体" panose="02010600040101010101" pitchFamily="2" charset="-122"/>
              </a:rPr>
              <a:t> S</a:t>
            </a:r>
            <a:r>
              <a:rPr lang="en-US" altLang="zh-CN" sz="2400" baseline="-25000" dirty="0" smtClean="0">
                <a:ea typeface="华文楷体" panose="02010600040101010101" pitchFamily="2" charset="-122"/>
              </a:rPr>
              <a:t>2</a:t>
            </a:r>
            <a:r>
              <a:rPr lang="zh-CN" altLang="en-US" sz="2400" dirty="0" smtClean="0">
                <a:ea typeface="华文楷体" panose="02010600040101010101" pitchFamily="2" charset="-122"/>
              </a:rPr>
              <a:t>可表示为下列两种形式之一：</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p:txBody>
      </p:sp>
      <p:pic>
        <p:nvPicPr>
          <p:cNvPr id="67590" name="Picture 4"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578100"/>
            <a:ext cx="8280400" cy="2938463"/>
          </a:xfrm>
          <a:prstGeom prst="rect">
            <a:avLst/>
          </a:prstGeom>
          <a:solidFill>
            <a:srgbClr val="CCFFCC"/>
          </a:solidFill>
          <a:ln w="28575">
            <a:solidFill>
              <a:schemeClr val="accent1"/>
            </a:solid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6861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8613" name="Rectangle 3"/>
          <p:cNvSpPr>
            <a:spLocks noGrp="1" noChangeArrowheads="1"/>
          </p:cNvSpPr>
          <p:nvPr>
            <p:ph idx="1"/>
          </p:nvPr>
        </p:nvSpPr>
        <p:spPr>
          <a:xfrm>
            <a:off x="457200" y="1052513"/>
            <a:ext cx="8229600" cy="1766903"/>
          </a:xfrm>
          <a:ln>
            <a:solidFill>
              <a:schemeClr val="accent1"/>
            </a:solidFill>
          </a:ln>
        </p:spPr>
        <p:txBody>
          <a:bodyPr/>
          <a:lstStyle/>
          <a:p>
            <a:pPr eaLnBrk="1" hangingPunct="1">
              <a:buFont typeface="Wingdings" panose="05000000000000000000" pitchFamily="2" charset="2"/>
              <a:buNone/>
            </a:pPr>
            <a:r>
              <a:rPr lang="zh-CN" altLang="en-US" sz="2000" dirty="0" smtClean="0">
                <a:ea typeface="华文楷体" panose="02010600040101010101" pitchFamily="2" charset="-122"/>
              </a:rPr>
              <a:t>如果每个集合名对应一个指针，使之指向表示该集合的树的根，则并操作很容易完成。</a:t>
            </a: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此外，每个根也存放一个指向集合名的指针，这样，当需要判断一个元素属于哪个集合时，可沿着子结点到双亲的链接，定位于根，并确定集合名。</a:t>
            </a:r>
            <a:endParaRPr lang="zh-CN" altLang="en-US" sz="2000" dirty="0" smtClean="0">
              <a:ea typeface="华文楷体" panose="02010600040101010101" pitchFamily="2" charset="-122"/>
            </a:endParaRPr>
          </a:p>
        </p:txBody>
      </p:sp>
      <p:pic>
        <p:nvPicPr>
          <p:cNvPr id="68614" name="Picture 4"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3068638"/>
            <a:ext cx="8748713" cy="2414587"/>
          </a:xfrm>
          <a:prstGeom prst="rect">
            <a:avLst/>
          </a:prstGeom>
          <a:solidFill>
            <a:srgbClr val="CCFFCC"/>
          </a:solidFill>
          <a:ln w="28575">
            <a:solidFill>
              <a:schemeClr val="accent1"/>
            </a:solidFill>
            <a:miter lim="800000"/>
            <a:headEnd/>
            <a:tailEnd/>
          </a:ln>
        </p:spPr>
      </p:pic>
      <p:sp>
        <p:nvSpPr>
          <p:cNvPr id="68615" name="Text Box 5"/>
          <p:cNvSpPr txBox="1">
            <a:spLocks noChangeArrowheads="1"/>
          </p:cNvSpPr>
          <p:nvPr/>
        </p:nvSpPr>
        <p:spPr bwMode="auto">
          <a:xfrm>
            <a:off x="250825" y="5440363"/>
            <a:ext cx="8893175"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800" b="1" dirty="0">
                <a:latin typeface="华文楷体" panose="02010600040101010101" pitchFamily="2" charset="-122"/>
                <a:ea typeface="华文楷体" panose="02010600040101010101" pitchFamily="2" charset="-122"/>
              </a:rPr>
              <a:t>     </a:t>
            </a:r>
            <a:r>
              <a:rPr lang="zh-CN" altLang="en-US" sz="2800" b="1" dirty="0">
                <a:solidFill>
                  <a:schemeClr val="accent2"/>
                </a:solidFill>
                <a:latin typeface="华文楷体" panose="02010600040101010101" pitchFamily="2" charset="-122"/>
                <a:ea typeface="华文楷体" panose="02010600040101010101" pitchFamily="2" charset="-122"/>
              </a:rPr>
              <a:t>以后将直接用树根表示集合。于是，查操作</a:t>
            </a:r>
            <a:r>
              <a:rPr lang="en-US" altLang="zh-CN" sz="2800" b="1" dirty="0">
                <a:latin typeface="华文楷体" panose="02010600040101010101" pitchFamily="2" charset="-122"/>
                <a:ea typeface="华文楷体" panose="02010600040101010101" pitchFamily="2" charset="-122"/>
              </a:rPr>
              <a:t>find(</a:t>
            </a:r>
            <a:r>
              <a:rPr lang="en-US" altLang="zh-CN" sz="2800" b="1" dirty="0" err="1">
                <a:latin typeface="华文楷体" panose="02010600040101010101" pitchFamily="2" charset="-122"/>
                <a:ea typeface="华文楷体" panose="02010600040101010101" pitchFamily="2" charset="-122"/>
              </a:rPr>
              <a:t>i</a:t>
            </a:r>
            <a:r>
              <a:rPr lang="en-US" altLang="zh-CN" sz="2800" b="1" dirty="0">
                <a:latin typeface="华文楷体" panose="02010600040101010101" pitchFamily="2" charset="-122"/>
                <a:ea typeface="华文楷体" panose="02010600040101010101" pitchFamily="2" charset="-122"/>
              </a:rPr>
              <a:t>)</a:t>
            </a:r>
            <a:r>
              <a:rPr lang="zh-CN" altLang="en-US" sz="2800" b="1" dirty="0">
                <a:solidFill>
                  <a:schemeClr val="accent2"/>
                </a:solidFill>
                <a:latin typeface="华文楷体" panose="02010600040101010101" pitchFamily="2" charset="-122"/>
                <a:ea typeface="华文楷体" panose="02010600040101010101" pitchFamily="2" charset="-122"/>
              </a:rPr>
              <a:t>变为：确定含元素</a:t>
            </a:r>
            <a:r>
              <a:rPr lang="en-US" altLang="zh-CN" sz="2800" b="1" dirty="0" err="1">
                <a:solidFill>
                  <a:schemeClr val="accent2"/>
                </a:solidFill>
                <a:latin typeface="华文楷体" panose="02010600040101010101" pitchFamily="2" charset="-122"/>
                <a:ea typeface="华文楷体" panose="02010600040101010101" pitchFamily="2" charset="-122"/>
              </a:rPr>
              <a:t>i</a:t>
            </a:r>
            <a:r>
              <a:rPr lang="zh-CN" altLang="en-US" sz="2800" b="1" dirty="0">
                <a:solidFill>
                  <a:schemeClr val="accent2"/>
                </a:solidFill>
                <a:latin typeface="华文楷体" panose="02010600040101010101" pitchFamily="2" charset="-122"/>
                <a:ea typeface="华文楷体" panose="02010600040101010101" pitchFamily="2" charset="-122"/>
              </a:rPr>
              <a:t>的树的根；并操作</a:t>
            </a:r>
            <a:r>
              <a:rPr lang="en-US" altLang="zh-CN" sz="2800" b="1" dirty="0">
                <a:latin typeface="华文楷体" panose="02010600040101010101" pitchFamily="2" charset="-122"/>
                <a:ea typeface="华文楷体" panose="02010600040101010101" pitchFamily="2" charset="-122"/>
              </a:rPr>
              <a:t>merge(</a:t>
            </a:r>
            <a:r>
              <a:rPr lang="en-US" altLang="zh-CN" sz="2800" b="1" dirty="0" err="1">
                <a:latin typeface="华文楷体" panose="02010600040101010101" pitchFamily="2" charset="-122"/>
                <a:ea typeface="华文楷体" panose="02010600040101010101" pitchFamily="2" charset="-122"/>
              </a:rPr>
              <a:t>i</a:t>
            </a:r>
            <a:r>
              <a:rPr lang="en-US" altLang="zh-CN" sz="2800" b="1" dirty="0">
                <a:latin typeface="华文楷体" panose="02010600040101010101" pitchFamily="2" charset="-122"/>
                <a:ea typeface="华文楷体" panose="02010600040101010101" pitchFamily="2" charset="-122"/>
              </a:rPr>
              <a:t>, j)</a:t>
            </a:r>
            <a:r>
              <a:rPr lang="zh-CN" altLang="en-US" sz="2800" b="1" dirty="0">
                <a:solidFill>
                  <a:schemeClr val="accent2"/>
                </a:solidFill>
                <a:latin typeface="华文楷体" panose="02010600040101010101" pitchFamily="2" charset="-122"/>
                <a:ea typeface="华文楷体" panose="02010600040101010101" pitchFamily="2" charset="-122"/>
              </a:rPr>
              <a:t>变为：需要连接以</a:t>
            </a:r>
            <a:r>
              <a:rPr lang="en-US" altLang="zh-CN" sz="2800" b="1" dirty="0" err="1">
                <a:solidFill>
                  <a:schemeClr val="accent2"/>
                </a:solidFill>
                <a:latin typeface="华文楷体" panose="02010600040101010101" pitchFamily="2" charset="-122"/>
                <a:ea typeface="华文楷体" panose="02010600040101010101" pitchFamily="2" charset="-122"/>
              </a:rPr>
              <a:t>i</a:t>
            </a:r>
            <a:r>
              <a:rPr lang="zh-CN" altLang="en-US" sz="2800" b="1" dirty="0">
                <a:solidFill>
                  <a:schemeClr val="accent2"/>
                </a:solidFill>
                <a:latin typeface="华文楷体" panose="02010600040101010101" pitchFamily="2" charset="-122"/>
                <a:ea typeface="华文楷体" panose="02010600040101010101" pitchFamily="2" charset="-122"/>
              </a:rPr>
              <a:t>为根和以</a:t>
            </a:r>
            <a:r>
              <a:rPr lang="en-US" altLang="zh-CN" sz="2800" b="1" dirty="0">
                <a:solidFill>
                  <a:schemeClr val="accent2"/>
                </a:solidFill>
                <a:latin typeface="华文楷体" panose="02010600040101010101" pitchFamily="2" charset="-122"/>
                <a:ea typeface="华文楷体" panose="02010600040101010101" pitchFamily="2" charset="-122"/>
              </a:rPr>
              <a:t>j</a:t>
            </a:r>
            <a:r>
              <a:rPr lang="zh-CN" altLang="en-US" sz="2800" b="1" dirty="0">
                <a:solidFill>
                  <a:schemeClr val="accent2"/>
                </a:solidFill>
                <a:latin typeface="华文楷体" panose="02010600040101010101" pitchFamily="2" charset="-122"/>
                <a:ea typeface="华文楷体" panose="02010600040101010101" pitchFamily="2" charset="-122"/>
              </a:rPr>
              <a:t>为根的两棵树</a:t>
            </a:r>
            <a:r>
              <a:rPr lang="zh-CN" altLang="en-US" sz="2800" b="1" dirty="0">
                <a:latin typeface="华文楷体" panose="02010600040101010101" pitchFamily="2" charset="-122"/>
                <a:ea typeface="华文楷体" panose="02010600040101010101" pitchFamily="2" charset="-122"/>
              </a:rPr>
              <a:t>。</a:t>
            </a:r>
            <a:endParaRPr lang="zh-CN" altLang="en-US" sz="2800" b="1"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6963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9637" name="Text Box 3"/>
          <p:cNvSpPr>
            <a:spLocks noGrp="1" noChangeArrowheads="1"/>
          </p:cNvSpPr>
          <p:nvPr>
            <p:ph idx="1"/>
          </p:nvPr>
        </p:nvSpPr>
        <p:spPr>
          <a:extLst>
            <a:ext uri="{91240B29-F687-4F45-9708-019B960494DF}">
              <a14:hiddenLine xmlns:a14="http://schemas.microsoft.com/office/drawing/2010/main" w="38100">
                <a:solidFill>
                  <a:srgbClr val="000000"/>
                </a:solidFill>
                <a:miter lim="800000"/>
                <a:headEnd/>
                <a:tailEnd/>
              </a14:hiddenLine>
            </a:ext>
          </a:extLst>
        </p:spPr>
        <p:txBody>
          <a:bodyPr/>
          <a:lstStyle/>
          <a:p>
            <a:pPr eaLnBrk="1" hangingPunct="1">
              <a:buFont typeface="Wingdings" panose="05000000000000000000" pitchFamily="2" charset="2"/>
              <a:buNone/>
            </a:pPr>
            <a:r>
              <a:rPr lang="zh-CN" altLang="en-US" sz="2400" dirty="0" smtClean="0">
                <a:ea typeface="华文楷体" panose="02010600040101010101" pitchFamily="2" charset="-122"/>
              </a:rPr>
              <a:t>由于集合元素为</a:t>
            </a:r>
            <a:r>
              <a:rPr lang="en-US" altLang="zh-CN" sz="2400" dirty="0" smtClean="0">
                <a:ea typeface="华文楷体" panose="02010600040101010101" pitchFamily="2" charset="-122"/>
              </a:rPr>
              <a:t>0, 1, 2, 3, …, n – 1</a:t>
            </a:r>
            <a:r>
              <a:rPr lang="zh-CN" altLang="en-US" sz="2400" dirty="0" smtClean="0">
                <a:ea typeface="华文楷体" panose="02010600040101010101" pitchFamily="2" charset="-122"/>
              </a:rPr>
              <a:t>，可以用数组</a:t>
            </a:r>
            <a:r>
              <a:rPr lang="en-US" altLang="zh-CN" sz="2400" dirty="0" smtClean="0">
                <a:ea typeface="华文楷体" panose="02010600040101010101" pitchFamily="2" charset="-122"/>
              </a:rPr>
              <a:t>parent[Max]</a:t>
            </a:r>
            <a:r>
              <a:rPr lang="zh-CN" altLang="en-US" sz="2400" dirty="0" smtClean="0">
                <a:ea typeface="华文楷体" panose="02010600040101010101" pitchFamily="2" charset="-122"/>
              </a:rPr>
              <a:t>表示树结点。数组的第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个位置表示元素</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对应的树结点。数组元素存放相应树结点的双亲指针。</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则实例</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中</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1</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2</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S</a:t>
            </a:r>
            <a:r>
              <a:rPr lang="en-US" altLang="zh-CN" sz="2400" baseline="-25000" dirty="0" smtClean="0">
                <a:ea typeface="华文楷体" panose="02010600040101010101" pitchFamily="2" charset="-122"/>
              </a:rPr>
              <a:t>3</a:t>
            </a:r>
            <a:r>
              <a:rPr lang="zh-CN" altLang="en-US" sz="2400" dirty="0" smtClean="0">
                <a:ea typeface="华文楷体" panose="02010600040101010101" pitchFamily="2" charset="-122"/>
              </a:rPr>
              <a:t>的数组表示如下：</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***注意根结点的</a:t>
            </a:r>
            <a:r>
              <a:rPr lang="en-US" altLang="zh-CN" sz="2400" dirty="0" smtClean="0">
                <a:ea typeface="华文楷体" panose="02010600040101010101" pitchFamily="2" charset="-122"/>
              </a:rPr>
              <a:t>parent</a:t>
            </a:r>
            <a:r>
              <a:rPr lang="zh-CN" altLang="en-US" sz="2400" dirty="0" smtClean="0">
                <a:ea typeface="华文楷体" panose="02010600040101010101" pitchFamily="2" charset="-122"/>
              </a:rPr>
              <a:t>为</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p:txBody>
      </p:sp>
      <p:pic>
        <p:nvPicPr>
          <p:cNvPr id="69638" name="Picture 4"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0363" y="4421188"/>
            <a:ext cx="8388350" cy="879475"/>
          </a:xfrm>
          <a:prstGeom prst="rect">
            <a:avLst/>
          </a:prstGeom>
          <a:solidFill>
            <a:srgbClr val="CCFFCC"/>
          </a:solidFill>
          <a:ln w="28575">
            <a:solidFill>
              <a:schemeClr val="accent1"/>
            </a:solidFill>
            <a:miter lim="800000"/>
            <a:headEnd/>
            <a:tailEnd/>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06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0661" name="Text Box 3"/>
          <p:cNvSpPr txBox="1">
            <a:spLocks noChangeArrowheads="1"/>
          </p:cNvSpPr>
          <p:nvPr/>
        </p:nvSpPr>
        <p:spPr bwMode="auto">
          <a:xfrm>
            <a:off x="395288" y="1112838"/>
            <a:ext cx="8280400" cy="5548315"/>
          </a:xfrm>
          <a:prstGeom prst="rect">
            <a:avLst/>
          </a:prstGeom>
          <a:noFill/>
          <a:ln w="38100">
            <a:solidFill>
              <a:srgbClr val="000000"/>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800" b="1" dirty="0">
                <a:latin typeface="Times New Roman" panose="02020603050405020304" pitchFamily="18" charset="0"/>
                <a:ea typeface="隶书" panose="02010509060101010101" pitchFamily="49" charset="-122"/>
              </a:rPr>
              <a:t>     </a:t>
            </a:r>
            <a:r>
              <a:rPr lang="zh-CN" altLang="en-US" sz="2800" b="1" dirty="0">
                <a:latin typeface="Times New Roman" panose="02020603050405020304" pitchFamily="18" charset="0"/>
                <a:ea typeface="华文楷体" panose="02010600040101010101" pitchFamily="2" charset="-122"/>
              </a:rPr>
              <a:t>基于上述表示的并查集的类定义和构造函数：</a:t>
            </a:r>
            <a:endParaRPr lang="zh-CN" altLang="en-US" sz="2800" b="1" dirty="0">
              <a:latin typeface="Times New Roman" panose="02020603050405020304" pitchFamily="18" charset="0"/>
              <a:ea typeface="华文楷体" panose="02010600040101010101" pitchFamily="2" charset="-122"/>
            </a:endParaRPr>
          </a:p>
          <a:p>
            <a:pPr eaLnBrk="1" hangingPunct="1">
              <a:spcBef>
                <a:spcPct val="30000"/>
              </a:spcBef>
              <a:buClrTx/>
              <a:buFontTx/>
              <a:buNone/>
            </a:pPr>
            <a:r>
              <a:rPr lang="en-US" altLang="zh-CN" sz="2400" b="1" dirty="0">
                <a:latin typeface="Times New Roman" panose="02020603050405020304" pitchFamily="18" charset="0"/>
                <a:ea typeface="华文楷体" panose="02010600040101010101" pitchFamily="2" charset="-122"/>
              </a:rPr>
              <a:t>class </a:t>
            </a:r>
            <a:r>
              <a:rPr lang="en-US" altLang="zh-CN" sz="2400" dirty="0">
                <a:latin typeface="Times New Roman" panose="02020603050405020304" pitchFamily="18" charset="0"/>
                <a:ea typeface="华文楷体" panose="02010600040101010101" pitchFamily="2" charset="-122"/>
              </a:rPr>
              <a:t>Sets</a:t>
            </a:r>
            <a:r>
              <a:rPr lang="en-US" altLang="zh-CN" sz="2400" b="1" dirty="0">
                <a:latin typeface="Times New Roman" panose="02020603050405020304" pitchFamily="18" charset="0"/>
                <a:ea typeface="华文楷体" panose="02010600040101010101" pitchFamily="2" charset="-122"/>
              </a:rPr>
              <a:t> {</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public:</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集合操作</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a:t>
            </a:r>
            <a:endParaRPr lang="en-US" altLang="zh-CN"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private:</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*parent</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n</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集合元素个数</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30000"/>
              </a:spcBef>
              <a:buClrTx/>
              <a:buFontTx/>
              <a:buNone/>
            </a:pPr>
            <a:r>
              <a:rPr lang="en-US" altLang="zh-CN" sz="2400" dirty="0">
                <a:latin typeface="Times New Roman" panose="02020603050405020304" pitchFamily="18" charset="0"/>
                <a:ea typeface="华文楷体" panose="02010600040101010101" pitchFamily="2" charset="-122"/>
              </a:rPr>
              <a:t>Sets::Sets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sz</a:t>
            </a:r>
            <a:r>
              <a:rPr lang="en-US" altLang="zh-CN" sz="2400" dirty="0">
                <a:latin typeface="Times New Roman" panose="02020603050405020304" pitchFamily="18" charset="0"/>
                <a:ea typeface="华文楷体" panose="02010600040101010101" pitchFamily="2" charset="-122"/>
              </a:rPr>
              <a:t> = </a:t>
            </a:r>
            <a:r>
              <a:rPr lang="en-US" altLang="zh-CN" sz="2400" dirty="0" err="1">
                <a:latin typeface="Times New Roman" panose="02020603050405020304" pitchFamily="18" charset="0"/>
                <a:ea typeface="华文楷体" panose="02010600040101010101" pitchFamily="2" charset="-122"/>
              </a:rPr>
              <a:t>DefaultSize</a:t>
            </a:r>
            <a:r>
              <a:rPr lang="en-US" altLang="zh-CN" sz="2400"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 {</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n = </a:t>
            </a:r>
            <a:r>
              <a:rPr lang="en-US" altLang="zh-CN" sz="2400" dirty="0" err="1">
                <a:latin typeface="Times New Roman" panose="02020603050405020304" pitchFamily="18" charset="0"/>
                <a:ea typeface="华文楷体" panose="02010600040101010101" pitchFamily="2" charset="-122"/>
              </a:rPr>
              <a:t>sz</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parent =</a:t>
            </a:r>
            <a:r>
              <a:rPr lang="en-US" altLang="zh-CN" sz="2400" b="1" dirty="0">
                <a:latin typeface="Times New Roman" panose="02020603050405020304" pitchFamily="18" charset="0"/>
                <a:ea typeface="华文楷体" panose="02010600040101010101" pitchFamily="2" charset="-122"/>
              </a:rPr>
              <a:t> new </a:t>
            </a:r>
            <a:r>
              <a:rPr lang="en-US" altLang="zh-CN" sz="2400" b="1" dirty="0" err="1">
                <a:latin typeface="Times New Roman" panose="02020603050405020304" pitchFamily="18" charset="0"/>
                <a:ea typeface="华文楷体" panose="02010600040101010101" pitchFamily="2" charset="-122"/>
              </a:rPr>
              <a:t>int</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sz</a:t>
            </a:r>
            <a:r>
              <a:rPr lang="en-US" altLang="zh-CN" sz="2400"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for </a:t>
            </a:r>
            <a:r>
              <a:rPr lang="en-US" altLang="zh-CN" sz="2400" dirty="0">
                <a:latin typeface="Times New Roman" panose="02020603050405020304" pitchFamily="18" charset="0"/>
                <a:ea typeface="华文楷体" panose="02010600040101010101" pitchFamily="2" charset="-122"/>
              </a:rPr>
              <a:t>(</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 0</a:t>
            </a:r>
            <a:r>
              <a:rPr lang="en-US" altLang="zh-CN" sz="2400" b="1"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&lt; n</a:t>
            </a:r>
            <a:r>
              <a:rPr lang="en-US" altLang="zh-CN" sz="2400" b="1"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parent[</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 -1</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168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1685" name="Text Box 3"/>
          <p:cNvSpPr txBox="1">
            <a:spLocks noChangeArrowheads="1"/>
          </p:cNvSpPr>
          <p:nvPr/>
        </p:nvSpPr>
        <p:spPr bwMode="auto">
          <a:xfrm>
            <a:off x="395288" y="1190625"/>
            <a:ext cx="8280400" cy="5123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800" b="1" dirty="0">
                <a:latin typeface="Times New Roman" panose="02020603050405020304" pitchFamily="18" charset="0"/>
                <a:ea typeface="隶书" panose="02010509060101010101" pitchFamily="49" charset="-122"/>
              </a:rPr>
              <a:t>     </a:t>
            </a:r>
            <a:r>
              <a:rPr lang="zh-CN" altLang="en-US" sz="2400" b="1" dirty="0">
                <a:solidFill>
                  <a:schemeClr val="accent2"/>
                </a:solidFill>
                <a:latin typeface="华文楷体" panose="02010600040101010101" pitchFamily="2" charset="-122"/>
                <a:ea typeface="华文楷体" panose="02010600040101010101" pitchFamily="2" charset="-122"/>
              </a:rPr>
              <a:t>查操作</a:t>
            </a:r>
            <a:r>
              <a:rPr lang="zh-CN" altLang="en-US" sz="2400" dirty="0">
                <a:latin typeface="华文楷体" panose="02010600040101010101" pitchFamily="2" charset="-122"/>
                <a:ea typeface="华文楷体" panose="02010600040101010101" pitchFamily="2" charset="-122"/>
              </a:rPr>
              <a:t>只需简单地沿着结点</a:t>
            </a:r>
            <a:r>
              <a:rPr lang="en-US" altLang="zh-CN" sz="2400" dirty="0" err="1">
                <a:latin typeface="Times New Roman" panose="02020603050405020304" pitchFamily="18" charset="0"/>
                <a:ea typeface="华文楷体" panose="02010600040101010101" pitchFamily="2" charset="-122"/>
              </a:rPr>
              <a:t>i</a:t>
            </a:r>
            <a:r>
              <a:rPr lang="zh-CN" altLang="en-US" sz="2400" dirty="0">
                <a:latin typeface="华文楷体" panose="02010600040101010101" pitchFamily="2" charset="-122"/>
                <a:ea typeface="华文楷体" panose="02010600040101010101" pitchFamily="2" charset="-122"/>
              </a:rPr>
              <a:t>的</a:t>
            </a:r>
            <a:r>
              <a:rPr lang="en-US" altLang="zh-CN" sz="2400" dirty="0">
                <a:latin typeface="Times New Roman" panose="02020603050405020304" pitchFamily="18" charset="0"/>
                <a:ea typeface="华文楷体" panose="02010600040101010101" pitchFamily="2" charset="-122"/>
              </a:rPr>
              <a:t>parent</a:t>
            </a:r>
            <a:r>
              <a:rPr lang="zh-CN" altLang="en-US" sz="2400" dirty="0">
                <a:latin typeface="华文楷体" panose="02010600040101010101" pitchFamily="2" charset="-122"/>
                <a:ea typeface="华文楷体" panose="02010600040101010101" pitchFamily="2" charset="-122"/>
              </a:rPr>
              <a:t>向上移动，直至到达</a:t>
            </a:r>
            <a:r>
              <a:rPr lang="en-US" altLang="zh-CN" sz="2400" dirty="0">
                <a:latin typeface="Times New Roman" panose="02020603050405020304" pitchFamily="18" charset="0"/>
                <a:ea typeface="华文楷体" panose="02010600040101010101" pitchFamily="2" charset="-122"/>
              </a:rPr>
              <a:t>parent</a:t>
            </a:r>
            <a:r>
              <a:rPr lang="zh-CN" altLang="en-US" sz="2400" dirty="0">
                <a:latin typeface="华文楷体" panose="02010600040101010101" pitchFamily="2" charset="-122"/>
                <a:ea typeface="华文楷体" panose="02010600040101010101" pitchFamily="2" charset="-122"/>
              </a:rPr>
              <a:t>值为</a:t>
            </a:r>
            <a:r>
              <a:rPr lang="en-US" altLang="zh-CN" sz="2400" dirty="0">
                <a:latin typeface="Times New Roman" panose="02020603050405020304" pitchFamily="18" charset="0"/>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的结点：</a:t>
            </a:r>
            <a:endParaRPr lang="zh-CN" altLang="en-US" sz="2400" dirty="0">
              <a:latin typeface="华文楷体" panose="02010600040101010101" pitchFamily="2" charset="-122"/>
              <a:ea typeface="华文楷体" panose="02010600040101010101" pitchFamily="2" charset="-122"/>
            </a:endParaRPr>
          </a:p>
          <a:p>
            <a:pPr eaLnBrk="1" hangingPunct="1">
              <a:spcBef>
                <a:spcPct val="30000"/>
              </a:spcBef>
              <a:buClrTx/>
              <a:buFontTx/>
              <a:buNone/>
            </a:pPr>
            <a:r>
              <a:rPr lang="en-US" altLang="zh-CN" sz="2400" b="1" dirty="0" err="1">
                <a:latin typeface="Times New Roman" panose="02020603050405020304" pitchFamily="18" charset="0"/>
                <a:ea typeface="隶书" panose="02010509060101010101" pitchFamily="49" charset="-122"/>
              </a:rPr>
              <a:t>int</a:t>
            </a:r>
            <a:r>
              <a:rPr lang="en-US" altLang="zh-CN" sz="2400" b="1" dirty="0">
                <a:latin typeface="Times New Roman" panose="02020603050405020304" pitchFamily="18" charset="0"/>
                <a:ea typeface="隶书" panose="02010509060101010101" pitchFamily="49" charset="-122"/>
              </a:rPr>
              <a:t> </a:t>
            </a:r>
            <a:r>
              <a:rPr lang="en-US" altLang="zh-CN" sz="2400" dirty="0">
                <a:latin typeface="Times New Roman" panose="02020603050405020304" pitchFamily="18" charset="0"/>
                <a:ea typeface="隶书" panose="02010509060101010101" pitchFamily="49" charset="-122"/>
              </a:rPr>
              <a:t>Sets::</a:t>
            </a:r>
            <a:r>
              <a:rPr lang="en-US" altLang="zh-CN" sz="2400" dirty="0" err="1">
                <a:latin typeface="Times New Roman" panose="02020603050405020304" pitchFamily="18" charset="0"/>
                <a:ea typeface="隶书" panose="02010509060101010101" pitchFamily="49" charset="-122"/>
              </a:rPr>
              <a:t>SimpleFind</a:t>
            </a:r>
            <a:r>
              <a:rPr lang="en-US" altLang="zh-CN" sz="2400" dirty="0">
                <a:latin typeface="Times New Roman" panose="02020603050405020304" pitchFamily="18" charset="0"/>
                <a:ea typeface="隶书" panose="02010509060101010101" pitchFamily="49" charset="-122"/>
              </a:rPr>
              <a:t> (</a:t>
            </a:r>
            <a:r>
              <a:rPr lang="en-US" altLang="zh-CN" sz="2400" b="1" dirty="0" err="1">
                <a:latin typeface="Times New Roman" panose="02020603050405020304" pitchFamily="18" charset="0"/>
                <a:ea typeface="隶书" panose="02010509060101010101" pitchFamily="49" charset="-122"/>
              </a:rPr>
              <a:t>int</a:t>
            </a:r>
            <a:r>
              <a:rPr lang="en-US" altLang="zh-CN" sz="2400" b="1" dirty="0">
                <a:latin typeface="Times New Roman" panose="02020603050405020304" pitchFamily="18" charset="0"/>
                <a:ea typeface="隶书" panose="02010509060101010101" pitchFamily="49" charset="-122"/>
              </a:rPr>
              <a:t> </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a:t>
            </a:r>
            <a:r>
              <a:rPr lang="en-US" altLang="zh-CN" sz="2400" b="1" dirty="0">
                <a:latin typeface="Times New Roman" panose="02020603050405020304" pitchFamily="18" charset="0"/>
                <a:ea typeface="隶书" panose="02010509060101010101" pitchFamily="49" charset="-122"/>
              </a:rPr>
              <a:t> {		</a:t>
            </a:r>
            <a:r>
              <a:rPr lang="en-US" altLang="zh-CN" sz="2400" dirty="0">
                <a:latin typeface="Times New Roman" panose="02020603050405020304" pitchFamily="18" charset="0"/>
                <a:ea typeface="隶书" panose="02010509060101010101" pitchFamily="49" charset="-122"/>
              </a:rPr>
              <a:t>// </a:t>
            </a:r>
            <a:r>
              <a:rPr lang="zh-CN" altLang="en-US" sz="2400" dirty="0">
                <a:latin typeface="Times New Roman" panose="02020603050405020304" pitchFamily="18" charset="0"/>
                <a:ea typeface="隶书" panose="02010509060101010101" pitchFamily="49" charset="-122"/>
              </a:rPr>
              <a:t>找到含元素</a:t>
            </a:r>
            <a:r>
              <a:rPr lang="en-US" altLang="zh-CN" sz="2400" dirty="0" err="1">
                <a:latin typeface="Times New Roman" panose="02020603050405020304" pitchFamily="18" charset="0"/>
                <a:ea typeface="隶书" panose="02010509060101010101" pitchFamily="49" charset="-122"/>
              </a:rPr>
              <a:t>i</a:t>
            </a:r>
            <a:r>
              <a:rPr lang="zh-CN" altLang="en-US" sz="2400" dirty="0">
                <a:latin typeface="Times New Roman" panose="02020603050405020304" pitchFamily="18" charset="0"/>
                <a:ea typeface="隶书" panose="02010509060101010101" pitchFamily="49" charset="-122"/>
              </a:rPr>
              <a:t>的树的根</a:t>
            </a:r>
            <a:endParaRPr lang="zh-CN" altLang="en-US" sz="2400" dirty="0">
              <a:latin typeface="Times New Roman" panose="02020603050405020304" pitchFamily="18" charset="0"/>
              <a:ea typeface="隶书" panose="02010509060101010101" pitchFamily="49" charset="-122"/>
            </a:endParaRPr>
          </a:p>
          <a:p>
            <a:pPr eaLnBrk="1" hangingPunct="1">
              <a:spcBef>
                <a:spcPct val="0"/>
              </a:spcBef>
              <a:buClrTx/>
              <a:buFontTx/>
              <a:buNone/>
            </a:pPr>
            <a:r>
              <a:rPr lang="zh-CN" altLang="en-US" sz="2400" b="1" dirty="0">
                <a:latin typeface="Times New Roman" panose="02020603050405020304" pitchFamily="18" charset="0"/>
                <a:ea typeface="隶书" panose="02010509060101010101" pitchFamily="49" charset="-122"/>
              </a:rPr>
              <a:t>   </a:t>
            </a:r>
            <a:r>
              <a:rPr lang="en-US" altLang="zh-CN" sz="2400" b="1" dirty="0">
                <a:latin typeface="Times New Roman" panose="02020603050405020304" pitchFamily="18" charset="0"/>
                <a:ea typeface="隶书" panose="02010509060101010101" pitchFamily="49" charset="-122"/>
              </a:rPr>
              <a:t>while </a:t>
            </a:r>
            <a:r>
              <a:rPr lang="en-US" altLang="zh-CN" sz="2400" dirty="0">
                <a:latin typeface="Times New Roman" panose="02020603050405020304" pitchFamily="18" charset="0"/>
                <a:ea typeface="隶书" panose="02010509060101010101" pitchFamily="49" charset="-122"/>
              </a:rPr>
              <a:t>(parent[</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 &gt;= 0) </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 = parent[</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a:t>
            </a:r>
            <a:r>
              <a:rPr lang="en-US" altLang="zh-CN" sz="2400" b="1" dirty="0">
                <a:latin typeface="Times New Roman" panose="02020603050405020304" pitchFamily="18" charset="0"/>
                <a:ea typeface="隶书" panose="02010509060101010101" pitchFamily="49" charset="-122"/>
              </a:rPr>
              <a:t>;</a:t>
            </a:r>
            <a:endParaRPr lang="en-US" altLang="zh-CN" sz="2400" b="1" dirty="0">
              <a:latin typeface="Times New Roman" panose="02020603050405020304" pitchFamily="18" charset="0"/>
              <a:ea typeface="隶书" panose="02010509060101010101" pitchFamily="49" charset="-122"/>
            </a:endParaRPr>
          </a:p>
          <a:p>
            <a:pPr eaLnBrk="1" hangingPunct="1">
              <a:spcBef>
                <a:spcPct val="0"/>
              </a:spcBef>
              <a:buClrTx/>
              <a:buFontTx/>
              <a:buNone/>
            </a:pPr>
            <a:r>
              <a:rPr lang="en-US" altLang="zh-CN" sz="2400" b="1" dirty="0">
                <a:latin typeface="Times New Roman" panose="02020603050405020304" pitchFamily="18" charset="0"/>
                <a:ea typeface="隶书" panose="02010509060101010101" pitchFamily="49" charset="-122"/>
              </a:rPr>
              <a:t>   return </a:t>
            </a:r>
            <a:r>
              <a:rPr lang="en-US" altLang="zh-CN" sz="2400" dirty="0" err="1">
                <a:latin typeface="Times New Roman" panose="02020603050405020304" pitchFamily="18" charset="0"/>
                <a:ea typeface="隶书" panose="02010509060101010101" pitchFamily="49" charset="-122"/>
              </a:rPr>
              <a:t>i</a:t>
            </a:r>
            <a:r>
              <a:rPr lang="en-US" altLang="zh-CN" sz="2400" b="1" dirty="0">
                <a:latin typeface="Times New Roman" panose="02020603050405020304" pitchFamily="18" charset="0"/>
                <a:ea typeface="隶书" panose="02010509060101010101" pitchFamily="49" charset="-122"/>
              </a:rPr>
              <a:t>;</a:t>
            </a:r>
            <a:endParaRPr lang="en-US" altLang="zh-CN" sz="2400" b="1" dirty="0">
              <a:latin typeface="Times New Roman" panose="02020603050405020304" pitchFamily="18" charset="0"/>
              <a:ea typeface="隶书" panose="02010509060101010101" pitchFamily="49" charset="-122"/>
            </a:endParaRPr>
          </a:p>
          <a:p>
            <a:pPr eaLnBrk="1" hangingPunct="1">
              <a:spcBef>
                <a:spcPct val="0"/>
              </a:spcBef>
              <a:buClrTx/>
              <a:buFontTx/>
              <a:buNone/>
            </a:pPr>
            <a:r>
              <a:rPr lang="en-US" altLang="zh-CN" sz="2400" b="1" dirty="0">
                <a:latin typeface="Times New Roman" panose="02020603050405020304" pitchFamily="18" charset="0"/>
                <a:ea typeface="隶书" panose="02010509060101010101" pitchFamily="49" charset="-122"/>
              </a:rPr>
              <a:t>}</a:t>
            </a:r>
            <a:endParaRPr lang="en-US" altLang="zh-CN" sz="2400" b="1" dirty="0">
              <a:latin typeface="Times New Roman" panose="02020603050405020304" pitchFamily="18" charset="0"/>
              <a:ea typeface="隶书" panose="02010509060101010101" pitchFamily="49" charset="-122"/>
            </a:endParaRPr>
          </a:p>
          <a:p>
            <a:pPr eaLnBrk="1" hangingPunct="1">
              <a:spcBef>
                <a:spcPct val="30000"/>
              </a:spcBef>
              <a:buClrTx/>
              <a:buFontTx/>
              <a:buNone/>
            </a:pPr>
            <a:r>
              <a:rPr lang="en-US" altLang="zh-CN" sz="2800" b="1" dirty="0">
                <a:latin typeface="Times New Roman" panose="02020603050405020304" pitchFamily="18" charset="0"/>
                <a:ea typeface="隶书" panose="02010509060101010101" pitchFamily="49" charset="-122"/>
              </a:rPr>
              <a:t>     </a:t>
            </a:r>
            <a:r>
              <a:rPr lang="zh-CN" altLang="en-US" sz="2400" b="1" dirty="0">
                <a:solidFill>
                  <a:schemeClr val="accent2"/>
                </a:solidFill>
                <a:latin typeface="华文楷体" panose="02010600040101010101" pitchFamily="2" charset="-122"/>
                <a:ea typeface="华文楷体" panose="02010600040101010101" pitchFamily="2" charset="-122"/>
              </a:rPr>
              <a:t>并操作</a:t>
            </a:r>
            <a:r>
              <a:rPr lang="zh-CN" altLang="en-US" sz="2400" dirty="0">
                <a:latin typeface="华文楷体" panose="02010600040101010101" pitchFamily="2" charset="-122"/>
                <a:ea typeface="华文楷体" panose="02010600040101010101" pitchFamily="2" charset="-122"/>
              </a:rPr>
              <a:t>也很简单，这里假设采用令第一棵树为第二棵的子树的策略：</a:t>
            </a:r>
            <a:endParaRPr lang="zh-CN" altLang="en-US" sz="2400" dirty="0">
              <a:latin typeface="华文楷体" panose="02010600040101010101" pitchFamily="2" charset="-122"/>
              <a:ea typeface="华文楷体" panose="02010600040101010101" pitchFamily="2" charset="-122"/>
            </a:endParaRPr>
          </a:p>
          <a:p>
            <a:pPr eaLnBrk="1" hangingPunct="1">
              <a:spcBef>
                <a:spcPct val="30000"/>
              </a:spcBef>
              <a:buClrTx/>
              <a:buFontTx/>
              <a:buNone/>
            </a:pPr>
            <a:r>
              <a:rPr lang="en-US" altLang="zh-CN" sz="2400" b="1" dirty="0">
                <a:latin typeface="Times New Roman" panose="02020603050405020304" pitchFamily="18" charset="0"/>
                <a:ea typeface="隶书" panose="02010509060101010101" pitchFamily="49" charset="-122"/>
              </a:rPr>
              <a:t>void </a:t>
            </a:r>
            <a:r>
              <a:rPr lang="en-US" altLang="zh-CN" sz="2400" dirty="0">
                <a:latin typeface="Times New Roman" panose="02020603050405020304" pitchFamily="18" charset="0"/>
                <a:ea typeface="隶书" panose="02010509060101010101" pitchFamily="49" charset="-122"/>
              </a:rPr>
              <a:t>Sets::</a:t>
            </a:r>
            <a:r>
              <a:rPr lang="en-US" altLang="zh-CN" sz="2400" dirty="0" err="1">
                <a:latin typeface="Times New Roman" panose="02020603050405020304" pitchFamily="18" charset="0"/>
                <a:ea typeface="隶书" panose="02010509060101010101" pitchFamily="49" charset="-122"/>
              </a:rPr>
              <a:t>SimpleMerge</a:t>
            </a:r>
            <a:r>
              <a:rPr lang="en-US" altLang="zh-CN" sz="2400" dirty="0">
                <a:latin typeface="Times New Roman" panose="02020603050405020304" pitchFamily="18" charset="0"/>
                <a:ea typeface="隶书" panose="02010509060101010101" pitchFamily="49" charset="-122"/>
              </a:rPr>
              <a:t> (</a:t>
            </a:r>
            <a:r>
              <a:rPr lang="en-US" altLang="zh-CN" sz="2400" b="1" dirty="0" err="1">
                <a:latin typeface="Times New Roman" panose="02020603050405020304" pitchFamily="18" charset="0"/>
                <a:ea typeface="隶书" panose="02010509060101010101" pitchFamily="49" charset="-122"/>
              </a:rPr>
              <a:t>int</a:t>
            </a:r>
            <a:r>
              <a:rPr lang="en-US" altLang="zh-CN" sz="2400" b="1" dirty="0">
                <a:latin typeface="Times New Roman" panose="02020603050405020304" pitchFamily="18" charset="0"/>
                <a:ea typeface="隶书" panose="02010509060101010101" pitchFamily="49" charset="-122"/>
              </a:rPr>
              <a:t> </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a:t>
            </a:r>
            <a:r>
              <a:rPr lang="en-US" altLang="zh-CN" sz="2400" b="1" dirty="0">
                <a:latin typeface="Times New Roman" panose="02020603050405020304" pitchFamily="18" charset="0"/>
                <a:ea typeface="隶书" panose="02010509060101010101" pitchFamily="49" charset="-122"/>
              </a:rPr>
              <a:t> </a:t>
            </a:r>
            <a:r>
              <a:rPr lang="en-US" altLang="zh-CN" sz="2400" b="1" dirty="0" err="1">
                <a:latin typeface="Times New Roman" panose="02020603050405020304" pitchFamily="18" charset="0"/>
                <a:ea typeface="隶书" panose="02010509060101010101" pitchFamily="49" charset="-122"/>
              </a:rPr>
              <a:t>int</a:t>
            </a:r>
            <a:r>
              <a:rPr lang="en-US" altLang="zh-CN" sz="2400" b="1" dirty="0">
                <a:latin typeface="Times New Roman" panose="02020603050405020304" pitchFamily="18" charset="0"/>
                <a:ea typeface="隶书" panose="02010509060101010101" pitchFamily="49" charset="-122"/>
              </a:rPr>
              <a:t> </a:t>
            </a:r>
            <a:r>
              <a:rPr lang="en-US" altLang="zh-CN" sz="2400" dirty="0">
                <a:latin typeface="Times New Roman" panose="02020603050405020304" pitchFamily="18" charset="0"/>
                <a:ea typeface="隶书" panose="02010509060101010101" pitchFamily="49" charset="-122"/>
              </a:rPr>
              <a:t>j)</a:t>
            </a:r>
            <a:r>
              <a:rPr lang="en-US" altLang="zh-CN" sz="2400" b="1" dirty="0">
                <a:latin typeface="Times New Roman" panose="02020603050405020304" pitchFamily="18" charset="0"/>
                <a:ea typeface="隶书" panose="02010509060101010101" pitchFamily="49" charset="-122"/>
              </a:rPr>
              <a:t> {    </a:t>
            </a:r>
            <a:r>
              <a:rPr lang="en-US" altLang="zh-CN" sz="2400" dirty="0">
                <a:latin typeface="Times New Roman" panose="02020603050405020304" pitchFamily="18" charset="0"/>
                <a:ea typeface="隶书" panose="02010509060101010101" pitchFamily="49" charset="-122"/>
              </a:rPr>
              <a:t>// </a:t>
            </a:r>
            <a:r>
              <a:rPr lang="zh-CN" altLang="en-US" sz="2400" dirty="0">
                <a:latin typeface="Times New Roman" panose="02020603050405020304" pitchFamily="18" charset="0"/>
                <a:ea typeface="隶书" panose="02010509060101010101" pitchFamily="49" charset="-122"/>
              </a:rPr>
              <a:t>用以</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 </a:t>
            </a:r>
            <a:r>
              <a:rPr lang="zh-CN" altLang="en-US" sz="2400" dirty="0">
                <a:latin typeface="Times New Roman" panose="02020603050405020304" pitchFamily="18" charset="0"/>
                <a:ea typeface="隶书" panose="02010509060101010101" pitchFamily="49" charset="-122"/>
              </a:rPr>
              <a:t>为根和以</a:t>
            </a:r>
            <a:r>
              <a:rPr lang="en-US" altLang="zh-CN" sz="2400" dirty="0">
                <a:latin typeface="Times New Roman" panose="02020603050405020304" pitchFamily="18" charset="0"/>
                <a:ea typeface="隶书" panose="02010509060101010101" pitchFamily="49" charset="-122"/>
              </a:rPr>
              <a:t>j</a:t>
            </a:r>
            <a:endParaRPr lang="en-US" altLang="zh-CN" sz="2400" dirty="0">
              <a:latin typeface="Times New Roman" panose="02020603050405020304" pitchFamily="18" charset="0"/>
              <a:ea typeface="隶书" panose="02010509060101010101" pitchFamily="49" charset="-122"/>
            </a:endParaRPr>
          </a:p>
          <a:p>
            <a:pPr eaLnBrk="1" hangingPunct="1">
              <a:spcBef>
                <a:spcPct val="0"/>
              </a:spcBef>
              <a:buClrTx/>
              <a:buFontTx/>
              <a:buNone/>
            </a:pPr>
            <a:r>
              <a:rPr lang="en-US" altLang="zh-CN" sz="2400" dirty="0">
                <a:latin typeface="Times New Roman" panose="02020603050405020304" pitchFamily="18" charset="0"/>
                <a:ea typeface="隶书" panose="02010509060101010101" pitchFamily="49" charset="-122"/>
              </a:rPr>
              <a:t>	    //</a:t>
            </a:r>
            <a:r>
              <a:rPr lang="zh-CN" altLang="en-US" sz="2400" dirty="0">
                <a:latin typeface="Times New Roman" panose="02020603050405020304" pitchFamily="18" charset="0"/>
                <a:ea typeface="隶书" panose="02010509060101010101" pitchFamily="49" charset="-122"/>
              </a:rPr>
              <a:t>（</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!=j</a:t>
            </a:r>
            <a:r>
              <a:rPr lang="zh-CN" altLang="en-US" sz="2400" dirty="0">
                <a:latin typeface="Times New Roman" panose="02020603050405020304" pitchFamily="18" charset="0"/>
                <a:ea typeface="隶书" panose="02010509060101010101" pitchFamily="49" charset="-122"/>
              </a:rPr>
              <a:t>）为根的两个不相交集合的并取代它们</a:t>
            </a:r>
            <a:endParaRPr lang="zh-CN" altLang="en-US" sz="2400" dirty="0">
              <a:latin typeface="Times New Roman" panose="02020603050405020304" pitchFamily="18" charset="0"/>
              <a:ea typeface="隶书" panose="02010509060101010101" pitchFamily="49" charset="-122"/>
            </a:endParaRPr>
          </a:p>
          <a:p>
            <a:pPr eaLnBrk="1" hangingPunct="1">
              <a:spcBef>
                <a:spcPct val="0"/>
              </a:spcBef>
              <a:buClrTx/>
              <a:buFontTx/>
              <a:buNone/>
            </a:pPr>
            <a:r>
              <a:rPr lang="zh-CN" altLang="en-US" sz="2400" b="1" dirty="0">
                <a:latin typeface="Times New Roman" panose="02020603050405020304" pitchFamily="18" charset="0"/>
                <a:ea typeface="隶书" panose="02010509060101010101" pitchFamily="49" charset="-122"/>
              </a:rPr>
              <a:t>   </a:t>
            </a:r>
            <a:r>
              <a:rPr lang="en-US" altLang="zh-CN" sz="2400" dirty="0">
                <a:latin typeface="Times New Roman" panose="02020603050405020304" pitchFamily="18" charset="0"/>
                <a:ea typeface="隶书" panose="02010509060101010101" pitchFamily="49" charset="-122"/>
              </a:rPr>
              <a:t>parent[</a:t>
            </a:r>
            <a:r>
              <a:rPr lang="en-US" altLang="zh-CN" sz="2400" dirty="0" err="1">
                <a:latin typeface="Times New Roman" panose="02020603050405020304" pitchFamily="18" charset="0"/>
                <a:ea typeface="隶书" panose="02010509060101010101" pitchFamily="49" charset="-122"/>
              </a:rPr>
              <a:t>i</a:t>
            </a:r>
            <a:r>
              <a:rPr lang="en-US" altLang="zh-CN" sz="2400" dirty="0">
                <a:latin typeface="Times New Roman" panose="02020603050405020304" pitchFamily="18" charset="0"/>
                <a:ea typeface="隶书" panose="02010509060101010101" pitchFamily="49" charset="-122"/>
              </a:rPr>
              <a:t>] = j</a:t>
            </a:r>
            <a:r>
              <a:rPr lang="en-US" altLang="zh-CN" sz="2400" b="1" dirty="0">
                <a:latin typeface="Times New Roman" panose="02020603050405020304" pitchFamily="18" charset="0"/>
                <a:ea typeface="隶书" panose="02010509060101010101" pitchFamily="49" charset="-122"/>
              </a:rPr>
              <a:t>;</a:t>
            </a:r>
            <a:endParaRPr lang="en-US" altLang="zh-CN" sz="2400" b="1" dirty="0">
              <a:latin typeface="Times New Roman" panose="02020603050405020304" pitchFamily="18" charset="0"/>
              <a:ea typeface="隶书" panose="02010509060101010101" pitchFamily="49" charset="-122"/>
            </a:endParaRPr>
          </a:p>
          <a:p>
            <a:pPr eaLnBrk="1" hangingPunct="1">
              <a:spcBef>
                <a:spcPct val="0"/>
              </a:spcBef>
              <a:buClrTx/>
              <a:buFontTx/>
              <a:buNone/>
            </a:pPr>
            <a:r>
              <a:rPr lang="en-US" altLang="zh-CN" sz="2400" b="1" dirty="0">
                <a:latin typeface="Times New Roman" panose="02020603050405020304" pitchFamily="18" charset="0"/>
                <a:ea typeface="隶书" panose="02010509060101010101" pitchFamily="49" charset="-122"/>
              </a:rPr>
              <a:t>}</a:t>
            </a:r>
            <a:r>
              <a:rPr lang="en-US" altLang="zh-CN" b="1" dirty="0">
                <a:latin typeface="Times New Roman" panose="02020603050405020304" pitchFamily="18" charset="0"/>
                <a:ea typeface="楷体_GB2312" pitchFamily="49" charset="-122"/>
              </a:rPr>
              <a:t> </a:t>
            </a:r>
            <a:endParaRPr lang="en-US" altLang="zh-CN" b="1"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4"/>
          <p:cNvSpPr>
            <a:spLocks noGrp="1"/>
          </p:cNvSpPr>
          <p:nvPr>
            <p:ph type="ftr" sz="quarter" idx="10"/>
          </p:nvPr>
        </p:nvSpPr>
        <p:spPr/>
        <p:txBody>
          <a:bodyPr/>
          <a:lstStyle/>
          <a:p>
            <a:pPr>
              <a:defRPr/>
            </a:pPr>
            <a:r>
              <a:rPr lang="en-US" altLang="zh-CN"/>
              <a:t>BUPT SCST</a:t>
            </a:r>
            <a:endParaRPr lang="en-US" altLang="zh-CN"/>
          </a:p>
        </p:txBody>
      </p:sp>
      <p:sp>
        <p:nvSpPr>
          <p:cNvPr id="8" name="日期占位符 6"/>
          <p:cNvSpPr>
            <a:spLocks noGrp="1"/>
          </p:cNvSpPr>
          <p:nvPr>
            <p:ph type="dt" sz="quarter" idx="12"/>
          </p:nvPr>
        </p:nvSpPr>
        <p:spPr/>
        <p:txBody>
          <a:bodyPr/>
          <a:lstStyle/>
          <a:p>
            <a:pPr>
              <a:defRPr/>
            </a:pPr>
            <a:r>
              <a:rPr lang="en-US" altLang="zh-CN"/>
              <a:t>BUPT</a:t>
            </a:r>
            <a:endParaRPr lang="en-US" altLang="zh-CN"/>
          </a:p>
        </p:txBody>
      </p:sp>
      <p:sp>
        <p:nvSpPr>
          <p:cNvPr id="7270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2709" name="Rectangle 3"/>
          <p:cNvSpPr>
            <a:spLocks noGrp="1" noChangeArrowheads="1"/>
          </p:cNvSpPr>
          <p:nvPr>
            <p:ph type="body" sz="half" idx="1"/>
          </p:nvPr>
        </p:nvSpPr>
        <p:spPr>
          <a:xfrm>
            <a:off x="250825" y="1152526"/>
            <a:ext cx="8208963" cy="2844800"/>
          </a:xfrm>
        </p:spPr>
        <p:txBody>
          <a:bodyPr/>
          <a:lstStyle/>
          <a:p>
            <a:pPr eaLnBrk="1" hangingPunct="1">
              <a:buFont typeface="Wingdings" panose="05000000000000000000" pitchFamily="2" charset="2"/>
              <a:buNone/>
            </a:pPr>
            <a:r>
              <a:rPr lang="en-US" altLang="zh-CN" sz="2000" b="1" dirty="0" smtClean="0">
                <a:solidFill>
                  <a:schemeClr val="accent2"/>
                </a:solidFill>
                <a:ea typeface="华文楷体" panose="02010600040101010101" pitchFamily="2" charset="-122"/>
              </a:rPr>
              <a:t>[</a:t>
            </a:r>
            <a:r>
              <a:rPr lang="en-US" altLang="zh-CN" sz="2000" b="1" dirty="0" err="1" smtClean="0">
                <a:solidFill>
                  <a:schemeClr val="accent2"/>
                </a:solidFill>
                <a:ea typeface="华文楷体" panose="02010600040101010101" pitchFamily="2" charset="-122"/>
              </a:rPr>
              <a:t>SimpleMerge</a:t>
            </a:r>
            <a:r>
              <a:rPr lang="zh-CN" altLang="en-US" sz="2000" b="1" dirty="0" smtClean="0">
                <a:solidFill>
                  <a:schemeClr val="accent2"/>
                </a:solidFill>
                <a:ea typeface="华文楷体" panose="02010600040101010101" pitchFamily="2" charset="-122"/>
              </a:rPr>
              <a:t>和</a:t>
            </a:r>
            <a:r>
              <a:rPr lang="en-US" altLang="zh-CN" sz="2000" b="1" dirty="0" err="1" smtClean="0">
                <a:solidFill>
                  <a:schemeClr val="accent2"/>
                </a:solidFill>
                <a:ea typeface="华文楷体" panose="02010600040101010101" pitchFamily="2" charset="-122"/>
              </a:rPr>
              <a:t>SimpleFind</a:t>
            </a:r>
            <a:r>
              <a:rPr lang="zh-CN" altLang="en-US" sz="2000" b="1" dirty="0" smtClean="0">
                <a:solidFill>
                  <a:schemeClr val="accent2"/>
                </a:solidFill>
                <a:ea typeface="华文楷体" panose="02010600040101010101" pitchFamily="2" charset="-122"/>
              </a:rPr>
              <a:t>的复杂度分析</a:t>
            </a:r>
            <a:r>
              <a:rPr lang="en-US" altLang="zh-CN" sz="2000" b="1" dirty="0" smtClean="0">
                <a:solidFill>
                  <a:schemeClr val="accent2"/>
                </a:solidFill>
                <a:ea typeface="华文楷体" panose="02010600040101010101" pitchFamily="2" charset="-122"/>
              </a:rPr>
              <a:t>]</a:t>
            </a:r>
            <a:endParaRPr lang="en-US" altLang="zh-CN" sz="20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000" b="1" dirty="0" smtClean="0">
                <a:ea typeface="华文楷体" panose="02010600040101010101" pitchFamily="2" charset="-122"/>
              </a:rPr>
              <a:t>算法简单，但性能差。</a:t>
            </a:r>
            <a:endParaRPr lang="zh-CN" altLang="en-US" sz="20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例，假设一开始各集合只含一个元素，即</a:t>
            </a:r>
            <a:r>
              <a:rPr lang="en-US" altLang="zh-CN" sz="2400" dirty="0" smtClean="0">
                <a:ea typeface="华文楷体" panose="02010600040101010101" pitchFamily="2" charset="-122"/>
              </a:rPr>
              <a:t>Si =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0≤i &lt; n</a:t>
            </a:r>
            <a:r>
              <a:rPr lang="zh-CN" altLang="en-US" sz="2400" dirty="0" smtClean="0">
                <a:ea typeface="华文楷体" panose="02010600040101010101" pitchFamily="2" charset="-122"/>
              </a:rPr>
              <a:t>。执行以下操作序列：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merge(0,1), merge(1,2), merge(2,3), …, merge(n–2,n–1), find(0), find(1), …, find(n–1)</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将生成一颗的</a:t>
            </a:r>
            <a:r>
              <a:rPr lang="zh-CN" altLang="en-US" sz="2400" b="1" dirty="0" smtClean="0">
                <a:solidFill>
                  <a:schemeClr val="accent2"/>
                </a:solidFill>
                <a:ea typeface="华文楷体" panose="02010600040101010101" pitchFamily="2" charset="-122"/>
              </a:rPr>
              <a:t>退化树</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000" b="1" dirty="0" smtClean="0">
              <a:ea typeface="华文楷体" panose="02010600040101010101" pitchFamily="2" charset="-122"/>
            </a:endParaRPr>
          </a:p>
        </p:txBody>
      </p:sp>
      <p:pic>
        <p:nvPicPr>
          <p:cNvPr id="72710" name="Picture 4"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48489" y="3382963"/>
            <a:ext cx="1204818" cy="3141662"/>
          </a:xfrm>
          <a:prstGeom prst="rect">
            <a:avLst/>
          </a:prstGeom>
          <a:solidFill>
            <a:srgbClr val="CCFFCC"/>
          </a:solidFill>
          <a:ln w="28575">
            <a:solidFill>
              <a:schemeClr val="accent1"/>
            </a:solidFill>
            <a:miter lim="800000"/>
            <a:headEnd/>
            <a:tailEnd/>
          </a:ln>
        </p:spPr>
      </p:pic>
      <p:sp>
        <p:nvSpPr>
          <p:cNvPr id="72711" name="Text Box 5"/>
          <p:cNvSpPr txBox="1">
            <a:spLocks noChangeArrowheads="1"/>
          </p:cNvSpPr>
          <p:nvPr/>
        </p:nvSpPr>
        <p:spPr bwMode="auto">
          <a:xfrm>
            <a:off x="395288" y="4140200"/>
            <a:ext cx="6119812" cy="2241550"/>
          </a:xfrm>
          <a:prstGeom prst="rect">
            <a:avLst/>
          </a:prstGeom>
          <a:solidFill>
            <a:srgbClr val="CCFFCC"/>
          </a:solidFill>
          <a:ln w="31750">
            <a:solidFill>
              <a:schemeClr val="accent1"/>
            </a:solidFill>
            <a:miter lim="800000"/>
          </a:ln>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该序列中的</a:t>
            </a:r>
            <a:r>
              <a:rPr lang="en-US" altLang="zh-CN" sz="2400" dirty="0">
                <a:latin typeface="Times New Roman" panose="02020603050405020304" pitchFamily="18" charset="0"/>
                <a:ea typeface="华文楷体" panose="02010600040101010101" pitchFamily="2" charset="-122"/>
              </a:rPr>
              <a:t>n – 1</a:t>
            </a:r>
            <a:r>
              <a:rPr lang="zh-CN" altLang="en-US" sz="2400" dirty="0">
                <a:latin typeface="Times New Roman" panose="02020603050405020304" pitchFamily="18" charset="0"/>
                <a:ea typeface="华文楷体" panose="02010600040101010101" pitchFamily="2" charset="-122"/>
              </a:rPr>
              <a:t>个</a:t>
            </a:r>
            <a:r>
              <a:rPr lang="en-US" altLang="zh-CN" sz="2400" dirty="0">
                <a:latin typeface="Times New Roman" panose="02020603050405020304" pitchFamily="18" charset="0"/>
                <a:ea typeface="华文楷体" panose="02010600040101010101" pitchFamily="2" charset="-122"/>
              </a:rPr>
              <a:t>merge</a:t>
            </a:r>
            <a:r>
              <a:rPr lang="zh-CN" altLang="en-US" sz="2400" dirty="0">
                <a:latin typeface="Times New Roman" panose="02020603050405020304" pitchFamily="18" charset="0"/>
                <a:ea typeface="华文楷体" panose="02010600040101010101" pitchFamily="2" charset="-122"/>
              </a:rPr>
              <a:t>共需</a:t>
            </a:r>
            <a:r>
              <a:rPr lang="en-US" altLang="zh-CN" sz="2400" dirty="0">
                <a:latin typeface="Times New Roman" panose="02020603050405020304" pitchFamily="18" charset="0"/>
                <a:ea typeface="华文楷体" panose="02010600040101010101" pitchFamily="2" charset="-122"/>
              </a:rPr>
              <a:t>O(n)</a:t>
            </a:r>
            <a:r>
              <a:rPr lang="zh-CN" altLang="en-US" sz="2400" dirty="0">
                <a:latin typeface="Times New Roman" panose="02020603050405020304" pitchFamily="18" charset="0"/>
                <a:ea typeface="华文楷体" panose="02010600040101010101" pitchFamily="2" charset="-122"/>
              </a:rPr>
              <a:t>时间。然而，每个</a:t>
            </a:r>
            <a:r>
              <a:rPr lang="en-US" altLang="zh-CN" sz="2400" dirty="0">
                <a:latin typeface="Times New Roman" panose="02020603050405020304" pitchFamily="18" charset="0"/>
                <a:ea typeface="华文楷体" panose="02010600040101010101" pitchFamily="2" charset="-122"/>
              </a:rPr>
              <a:t>find</a:t>
            </a:r>
            <a:r>
              <a:rPr lang="zh-CN" altLang="en-US" sz="2400" dirty="0">
                <a:latin typeface="Times New Roman" panose="02020603050405020304" pitchFamily="18" charset="0"/>
                <a:ea typeface="华文楷体" panose="02010600040101010101" pitchFamily="2" charset="-122"/>
              </a:rPr>
              <a:t>都需要从相应元素所在结点出发，沿</a:t>
            </a:r>
            <a:r>
              <a:rPr lang="en-US" altLang="zh-CN" sz="2400" dirty="0">
                <a:latin typeface="Times New Roman" panose="02020603050405020304" pitchFamily="18" charset="0"/>
                <a:ea typeface="华文楷体" panose="02010600040101010101" pitchFamily="2" charset="-122"/>
              </a:rPr>
              <a:t>parent</a:t>
            </a:r>
            <a:r>
              <a:rPr lang="zh-CN" altLang="en-US" sz="2400" dirty="0">
                <a:latin typeface="Times New Roman" panose="02020603050405020304" pitchFamily="18" charset="0"/>
                <a:ea typeface="华文楷体" panose="02010600040101010101" pitchFamily="2" charset="-122"/>
              </a:rPr>
              <a:t>指针找到根。从位于第</a:t>
            </a:r>
            <a:r>
              <a:rPr lang="en-US" altLang="zh-CN" sz="2400" dirty="0" err="1">
                <a:latin typeface="Times New Roman" panose="02020603050405020304" pitchFamily="18" charset="0"/>
                <a:ea typeface="华文楷体" panose="02010600040101010101" pitchFamily="2" charset="-122"/>
              </a:rPr>
              <a:t>i</a:t>
            </a:r>
            <a:r>
              <a:rPr lang="zh-CN" altLang="en-US" sz="2400" dirty="0">
                <a:latin typeface="Times New Roman" panose="02020603050405020304" pitchFamily="18" charset="0"/>
                <a:ea typeface="华文楷体" panose="02010600040101010101" pitchFamily="2" charset="-122"/>
              </a:rPr>
              <a:t>层的结点找到根结点需要</a:t>
            </a:r>
            <a:r>
              <a:rPr lang="en-US" altLang="zh-CN" sz="2400" dirty="0">
                <a:latin typeface="Times New Roman" panose="02020603050405020304" pitchFamily="18" charset="0"/>
                <a:ea typeface="华文楷体" panose="02010600040101010101" pitchFamily="2" charset="-122"/>
              </a:rPr>
              <a:t>O(</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时间，完成</a:t>
            </a:r>
            <a:r>
              <a:rPr lang="en-US" altLang="zh-CN" sz="2400" dirty="0">
                <a:latin typeface="Times New Roman" panose="02020603050405020304" pitchFamily="18" charset="0"/>
                <a:ea typeface="华文楷体" panose="02010600040101010101" pitchFamily="2" charset="-122"/>
              </a:rPr>
              <a:t>n</a:t>
            </a:r>
            <a:r>
              <a:rPr lang="zh-CN" altLang="en-US" sz="2400" dirty="0">
                <a:latin typeface="Times New Roman" panose="02020603050405020304" pitchFamily="18" charset="0"/>
                <a:ea typeface="华文楷体" panose="02010600040101010101" pitchFamily="2" charset="-122"/>
              </a:rPr>
              <a:t>个</a:t>
            </a:r>
            <a:r>
              <a:rPr lang="en-US" altLang="zh-CN" sz="2400" dirty="0">
                <a:latin typeface="Times New Roman" panose="02020603050405020304" pitchFamily="18" charset="0"/>
                <a:ea typeface="华文楷体" panose="02010600040101010101" pitchFamily="2" charset="-122"/>
              </a:rPr>
              <a:t>find</a:t>
            </a:r>
            <a:endParaRPr lang="en-US" altLang="zh-CN" sz="2400" dirty="0">
              <a:latin typeface="Times New Roman" panose="02020603050405020304" pitchFamily="18" charset="0"/>
              <a:ea typeface="华文楷体" panose="02010600040101010101" pitchFamily="2" charset="-122"/>
            </a:endParaRPr>
          </a:p>
          <a:p>
            <a:pPr eaLnBrk="1" hangingPunct="1">
              <a:spcBef>
                <a:spcPct val="80000"/>
              </a:spcBef>
              <a:buClrTx/>
              <a:buFontTx/>
              <a:buNone/>
            </a:pPr>
            <a:r>
              <a:rPr lang="zh-CN" altLang="en-US" sz="2400" dirty="0">
                <a:latin typeface="Times New Roman" panose="02020603050405020304" pitchFamily="18" charset="0"/>
                <a:ea typeface="华文楷体" panose="02010600040101010101" pitchFamily="2" charset="-122"/>
              </a:rPr>
              <a:t>共需</a:t>
            </a:r>
            <a:r>
              <a:rPr lang="en-US" altLang="zh-CN" sz="2400" dirty="0">
                <a:latin typeface="Times New Roman" panose="02020603050405020304" pitchFamily="18" charset="0"/>
                <a:ea typeface="华文楷体" panose="02010600040101010101" pitchFamily="2" charset="-122"/>
              </a:rPr>
              <a:t>O(      )=O(n</a:t>
            </a:r>
            <a:r>
              <a:rPr lang="en-US" altLang="zh-CN" sz="2400" baseline="30000" dirty="0">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时间。</a:t>
            </a:r>
            <a:endParaRPr lang="zh-CN" altLang="en-US" sz="2400" dirty="0">
              <a:latin typeface="Times New Roman" panose="02020603050405020304" pitchFamily="18" charset="0"/>
              <a:ea typeface="华文楷体" panose="02010600040101010101" pitchFamily="2" charset="-122"/>
            </a:endParaRPr>
          </a:p>
        </p:txBody>
      </p:sp>
      <p:graphicFrame>
        <p:nvGraphicFramePr>
          <p:cNvPr id="72712" name="Object 6"/>
          <p:cNvGraphicFramePr>
            <a:graphicFrameLocks noGrp="1" noChangeAspect="1"/>
          </p:cNvGraphicFramePr>
          <p:nvPr>
            <p:ph sz="half" idx="2"/>
          </p:nvPr>
        </p:nvGraphicFramePr>
        <p:xfrm>
          <a:off x="1476375" y="5734050"/>
          <a:ext cx="436563" cy="790575"/>
        </p:xfrm>
        <a:graphic>
          <a:graphicData uri="http://schemas.openxmlformats.org/presentationml/2006/ole">
            <mc:AlternateContent xmlns:mc="http://schemas.openxmlformats.org/markup-compatibility/2006">
              <mc:Choice xmlns:v="urn:schemas-microsoft-com:vml" Requires="v">
                <p:oleObj spid="_x0000_s72921" name="" r:id="rId2" imgW="266700" imgH="481965" progId="Equation.3">
                  <p:embed/>
                </p:oleObj>
              </mc:Choice>
              <mc:Fallback>
                <p:oleObj name="" r:id="rId2" imgW="266700" imgH="481965"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5734050"/>
                        <a:ext cx="436563"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373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3733" name="Rectangle 3"/>
          <p:cNvSpPr>
            <a:spLocks noGrp="1" noChangeArrowheads="1"/>
          </p:cNvSpPr>
          <p:nvPr>
            <p:ph idx="1"/>
          </p:nvPr>
        </p:nvSpPr>
        <p:spPr>
          <a:xfrm>
            <a:off x="457200" y="1152525"/>
            <a:ext cx="8229600" cy="2047881"/>
          </a:xfrm>
          <a:ln>
            <a:solidFill>
              <a:schemeClr val="accent1"/>
            </a:solidFill>
          </a:ln>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加权合并</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可以通过</a:t>
            </a:r>
            <a:r>
              <a:rPr lang="zh-CN" altLang="en-US" sz="2400" b="1" dirty="0" smtClean="0">
                <a:solidFill>
                  <a:schemeClr val="accent2"/>
                </a:solidFill>
                <a:ea typeface="华文楷体" panose="02010600040101010101" pitchFamily="2" charset="-122"/>
              </a:rPr>
              <a:t>避免生成退化树</a:t>
            </a:r>
            <a:r>
              <a:rPr lang="zh-CN" altLang="en-US" sz="2400" dirty="0" smtClean="0">
                <a:ea typeface="华文楷体" panose="02010600040101010101" pitchFamily="2" charset="-122"/>
              </a:rPr>
              <a:t>来改善</a:t>
            </a:r>
            <a:r>
              <a:rPr lang="en-US" altLang="zh-CN" sz="2400" dirty="0" smtClean="0">
                <a:ea typeface="华文楷体" panose="02010600040101010101" pitchFamily="2" charset="-122"/>
              </a:rPr>
              <a:t>merge</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find</a:t>
            </a:r>
            <a:r>
              <a:rPr lang="zh-CN" altLang="en-US" sz="2400" dirty="0" smtClean="0">
                <a:ea typeface="华文楷体" panose="02010600040101010101" pitchFamily="2" charset="-122"/>
              </a:rPr>
              <a:t>操作的性能。</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对</a:t>
            </a:r>
            <a:r>
              <a:rPr lang="en-US" altLang="zh-CN" sz="2400" dirty="0" smtClean="0">
                <a:ea typeface="华文楷体" panose="02010600040101010101" pitchFamily="2" charset="-122"/>
              </a:rPr>
              <a:t>merge(</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j)</a:t>
            </a:r>
            <a:r>
              <a:rPr lang="zh-CN" altLang="en-US" sz="2400" dirty="0" smtClean="0">
                <a:ea typeface="华文楷体" panose="02010600040101010101" pitchFamily="2" charset="-122"/>
              </a:rPr>
              <a:t>操作应用以下</a:t>
            </a:r>
            <a:r>
              <a:rPr lang="zh-CN" altLang="en-US" sz="2400" b="1" dirty="0" smtClean="0">
                <a:solidFill>
                  <a:schemeClr val="accent2"/>
                </a:solidFill>
                <a:ea typeface="华文楷体" panose="02010600040101010101" pitchFamily="2" charset="-122"/>
              </a:rPr>
              <a:t>加权规则</a:t>
            </a:r>
            <a:r>
              <a:rPr lang="zh-CN" altLang="en-US" sz="2400" dirty="0" smtClean="0">
                <a:ea typeface="华文楷体" panose="02010600040101010101" pitchFamily="2" charset="-122"/>
              </a:rPr>
              <a:t>：若以</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为根的树中结点数小于以</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为根的树中结点数，则令</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成为</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的双亲，否则令</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成为</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的双亲。</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pic>
        <p:nvPicPr>
          <p:cNvPr id="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98" y="3313118"/>
            <a:ext cx="6302323" cy="3251569"/>
          </a:xfrm>
          <a:prstGeom prst="rect">
            <a:avLst/>
          </a:prstGeom>
          <a:solidFill>
            <a:srgbClr val="CCFFCC"/>
          </a:solidFill>
          <a:ln w="28575">
            <a:solidFill>
              <a:schemeClr val="accent1"/>
            </a:solid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57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5781" name="Rectangle 3"/>
          <p:cNvSpPr>
            <a:spLocks noGrp="1" noChangeArrowheads="1"/>
          </p:cNvSpPr>
          <p:nvPr>
            <p:ph idx="1"/>
          </p:nvPr>
        </p:nvSpPr>
        <p:spPr>
          <a:ln>
            <a:solidFill>
              <a:schemeClr val="accent1"/>
            </a:solidFill>
          </a:ln>
        </p:spPr>
        <p:txBody>
          <a:bodyPr/>
          <a:lstStyle/>
          <a:p>
            <a:pPr eaLnBrk="1" hangingPunct="1">
              <a:lnSpc>
                <a:spcPct val="9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加权合并的实现</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利用根结点的</a:t>
            </a:r>
            <a:r>
              <a:rPr lang="en-US" altLang="zh-CN" sz="2400" dirty="0" smtClean="0">
                <a:ea typeface="华文楷体" panose="02010600040101010101" pitchFamily="2" charset="-122"/>
              </a:rPr>
              <a:t>parent</a:t>
            </a:r>
            <a:r>
              <a:rPr lang="zh-CN" altLang="en-US" sz="2400" dirty="0" smtClean="0">
                <a:ea typeface="华文楷体" panose="02010600040101010101" pitchFamily="2" charset="-122"/>
              </a:rPr>
              <a:t>字段以负数的形式存储计数数据。</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ea typeface="华文楷体" panose="02010600040101010101" pitchFamily="2" charset="-122"/>
              </a:rPr>
              <a:t>void </a:t>
            </a:r>
            <a:r>
              <a:rPr lang="en-US" altLang="zh-CN" sz="2400" dirty="0" smtClean="0">
                <a:ea typeface="华文楷体" panose="02010600040101010101" pitchFamily="2" charset="-122"/>
              </a:rPr>
              <a:t>Sets::</a:t>
            </a:r>
            <a:r>
              <a:rPr lang="en-US" altLang="zh-CN" sz="2400" dirty="0" err="1" smtClean="0">
                <a:ea typeface="华文楷体" panose="02010600040101010101" pitchFamily="2" charset="-122"/>
              </a:rPr>
              <a:t>WeightedMerge</a:t>
            </a:r>
            <a:r>
              <a:rPr lang="en-US" altLang="zh-CN" sz="2400" dirty="0" smtClean="0">
                <a:ea typeface="华文楷体" panose="02010600040101010101" pitchFamily="2" charset="-122"/>
              </a:rPr>
              <a:t> (</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a:t>
            </a:r>
            <a:r>
              <a:rPr lang="en-US" altLang="zh-CN" sz="2400" b="1" dirty="0" smtClean="0">
                <a:ea typeface="华文楷体" panose="02010600040101010101" pitchFamily="2" charset="-122"/>
              </a:rPr>
              <a:t> </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a:t>
            </a:r>
            <a:r>
              <a:rPr lang="en-US" altLang="zh-CN" sz="2400" dirty="0" smtClean="0">
                <a:ea typeface="华文楷体" panose="02010600040101010101" pitchFamily="2" charset="-122"/>
              </a:rPr>
              <a:t>j)</a:t>
            </a:r>
            <a:r>
              <a:rPr lang="en-US" altLang="zh-CN" sz="2400" b="1" dirty="0" smtClean="0">
                <a:ea typeface="华文楷体" panose="02010600040101010101" pitchFamily="2" charset="-122"/>
              </a:rPr>
              <a:t> { </a:t>
            </a:r>
            <a:endParaRPr lang="en-US" altLang="zh-CN"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基于权重规则构造以</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j </a:t>
            </a:r>
            <a:r>
              <a:rPr lang="zh-CN" altLang="en-US" sz="2400" dirty="0" smtClean="0">
                <a:ea typeface="华文楷体" panose="02010600040101010101" pitchFamily="2" charset="-122"/>
              </a:rPr>
              <a:t>为根的集合的并</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ea typeface="华文楷体" panose="02010600040101010101" pitchFamily="2" charset="-122"/>
              </a:rPr>
              <a:t>   </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a:t>
            </a:r>
            <a:r>
              <a:rPr lang="en-US" altLang="zh-CN" sz="2400" dirty="0" smtClean="0">
                <a:ea typeface="华文楷体" panose="02010600040101010101" pitchFamily="2" charset="-122"/>
              </a:rPr>
              <a:t>temp = parent[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 parent[j]</a:t>
            </a:r>
            <a:r>
              <a:rPr lang="en-US" altLang="zh-CN" sz="2400" b="1" dirty="0" smtClean="0">
                <a:ea typeface="华文楷体" panose="02010600040101010101" pitchFamily="2" charset="-122"/>
              </a:rPr>
              <a:t>;</a:t>
            </a:r>
            <a:endParaRPr lang="en-US" altLang="zh-CN"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ea typeface="华文楷体" panose="02010600040101010101" pitchFamily="2" charset="-122"/>
              </a:rPr>
              <a:t>   if </a:t>
            </a:r>
            <a:r>
              <a:rPr lang="en-US" altLang="zh-CN" sz="2400" dirty="0" smtClean="0">
                <a:ea typeface="华文楷体" panose="02010600040101010101" pitchFamily="2" charset="-122"/>
              </a:rPr>
              <a:t>( parent[j] &lt; parent[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a:t>
            </a:r>
            <a:r>
              <a:rPr lang="en-US" altLang="zh-CN" sz="2400" b="1" dirty="0" smtClean="0">
                <a:ea typeface="华文楷体" panose="02010600040101010101" pitchFamily="2" charset="-122"/>
              </a:rPr>
              <a:t> {   	// </a:t>
            </a:r>
            <a:r>
              <a:rPr lang="zh-CN" altLang="en-US" sz="2400" b="1" dirty="0" smtClean="0">
                <a:ea typeface="华文楷体" panose="02010600040101010101" pitchFamily="2" charset="-122"/>
              </a:rPr>
              <a:t>树</a:t>
            </a:r>
            <a:r>
              <a:rPr lang="en-US" altLang="zh-CN" sz="2400" b="1" dirty="0" err="1" smtClean="0">
                <a:ea typeface="华文楷体" panose="02010600040101010101" pitchFamily="2" charset="-122"/>
              </a:rPr>
              <a:t>i</a:t>
            </a:r>
            <a:r>
              <a:rPr lang="en-US" altLang="zh-CN" sz="2400" b="1" dirty="0" smtClean="0">
                <a:ea typeface="华文楷体" panose="02010600040101010101" pitchFamily="2" charset="-122"/>
              </a:rPr>
              <a:t> </a:t>
            </a:r>
            <a:r>
              <a:rPr lang="zh-CN" altLang="en-US" sz="2400" b="1" dirty="0" smtClean="0">
                <a:ea typeface="华文楷体" panose="02010600040101010101" pitchFamily="2" charset="-122"/>
              </a:rPr>
              <a:t>的结点少</a:t>
            </a:r>
            <a:endParaRPr lang="zh-CN" altLang="en-US"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ea typeface="华文楷体" panose="02010600040101010101" pitchFamily="2" charset="-122"/>
              </a:rPr>
              <a:t>      </a:t>
            </a:r>
            <a:r>
              <a:rPr lang="en-US" altLang="zh-CN" sz="2400" dirty="0" smtClean="0">
                <a:ea typeface="华文楷体" panose="02010600040101010101" pitchFamily="2" charset="-122"/>
              </a:rPr>
              <a:t>parent[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 j</a:t>
            </a:r>
            <a:r>
              <a:rPr lang="en-US" altLang="zh-CN" sz="2400" b="1" dirty="0" smtClean="0">
                <a:ea typeface="华文楷体" panose="02010600040101010101" pitchFamily="2" charset="-122"/>
              </a:rPr>
              <a:t>; </a:t>
            </a:r>
            <a:r>
              <a:rPr lang="en-US" altLang="zh-CN" sz="2400" dirty="0" smtClean="0">
                <a:ea typeface="华文楷体" panose="02010600040101010101" pitchFamily="2" charset="-122"/>
              </a:rPr>
              <a:t>parent[j] = temp</a:t>
            </a:r>
            <a:r>
              <a:rPr lang="en-US" altLang="zh-CN" sz="2400" b="1" dirty="0" smtClean="0">
                <a:ea typeface="华文楷体" panose="02010600040101010101" pitchFamily="2" charset="-122"/>
              </a:rPr>
              <a:t>;</a:t>
            </a:r>
            <a:endParaRPr lang="en-US" altLang="zh-CN"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ea typeface="华文楷体" panose="02010600040101010101" pitchFamily="2" charset="-122"/>
              </a:rPr>
              <a:t>   }</a:t>
            </a:r>
            <a:endParaRPr lang="en-US" altLang="zh-CN"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ea typeface="华文楷体" panose="02010600040101010101" pitchFamily="2" charset="-122"/>
              </a:rPr>
              <a:t>   else {    		</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树</a:t>
            </a:r>
            <a:r>
              <a:rPr lang="en-US" altLang="zh-CN" sz="2400" dirty="0" smtClean="0">
                <a:ea typeface="华文楷体" panose="02010600040101010101" pitchFamily="2" charset="-122"/>
              </a:rPr>
              <a:t>j </a:t>
            </a:r>
            <a:r>
              <a:rPr lang="zh-CN" altLang="en-US" sz="2400" dirty="0" smtClean="0">
                <a:ea typeface="华文楷体" panose="02010600040101010101" pitchFamily="2" charset="-122"/>
              </a:rPr>
              <a:t>的结点少或与树</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的同样多</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ea typeface="华文楷体" panose="02010600040101010101" pitchFamily="2" charset="-122"/>
              </a:rPr>
              <a:t>      </a:t>
            </a:r>
            <a:r>
              <a:rPr lang="en-US" altLang="zh-CN" sz="2400" dirty="0" smtClean="0">
                <a:ea typeface="华文楷体" panose="02010600040101010101" pitchFamily="2" charset="-122"/>
              </a:rPr>
              <a:t>parent[j] = </a:t>
            </a:r>
            <a:r>
              <a:rPr lang="en-US" altLang="zh-CN" sz="2400" dirty="0" err="1" smtClean="0">
                <a:ea typeface="华文楷体" panose="02010600040101010101" pitchFamily="2" charset="-122"/>
              </a:rPr>
              <a:t>i</a:t>
            </a:r>
            <a:r>
              <a:rPr lang="en-US" altLang="zh-CN" sz="2400" b="1" dirty="0" smtClean="0">
                <a:ea typeface="华文楷体" panose="02010600040101010101" pitchFamily="2" charset="-122"/>
              </a:rPr>
              <a:t>; </a:t>
            </a:r>
            <a:r>
              <a:rPr lang="en-US" altLang="zh-CN" sz="2400" dirty="0" smtClean="0">
                <a:ea typeface="华文楷体" panose="02010600040101010101" pitchFamily="2" charset="-122"/>
              </a:rPr>
              <a:t>parent[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 temp</a:t>
            </a:r>
            <a:r>
              <a:rPr lang="en-US" altLang="zh-CN" sz="2400" b="1" dirty="0" smtClean="0">
                <a:ea typeface="华文楷体" panose="02010600040101010101" pitchFamily="2" charset="-122"/>
              </a:rPr>
              <a:t>;</a:t>
            </a:r>
            <a:endParaRPr lang="en-US" altLang="zh-CN"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ea typeface="华文楷体" panose="02010600040101010101" pitchFamily="2" charset="-122"/>
              </a:rPr>
              <a:t>   }</a:t>
            </a:r>
            <a:endParaRPr lang="en-US" altLang="zh-CN"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ea typeface="华文楷体" panose="02010600040101010101" pitchFamily="2" charset="-122"/>
              </a:rPr>
              <a:t>}</a:t>
            </a:r>
            <a:endParaRPr lang="en-US" altLang="zh-CN" sz="2400" b="1"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680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6805" name="Rectangle 3"/>
          <p:cNvSpPr>
            <a:spLocks noGrp="1" noChangeArrowheads="1"/>
          </p:cNvSpPr>
          <p:nvPr>
            <p:ph idx="1"/>
          </p:nvPr>
        </p:nvSpPr>
        <p:spPr>
          <a:xfrm>
            <a:off x="179388" y="1152525"/>
            <a:ext cx="8713787" cy="5248275"/>
          </a:xfrm>
          <a:ln>
            <a:solidFill>
              <a:schemeClr val="accent1"/>
            </a:solidFill>
          </a:ln>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en-US" altLang="zh-CN" sz="2400" b="1" dirty="0" err="1" smtClean="0">
                <a:solidFill>
                  <a:schemeClr val="accent2"/>
                </a:solidFill>
                <a:ea typeface="华文楷体" panose="02010600040101010101" pitchFamily="2" charset="-122"/>
              </a:rPr>
              <a:t>WeightedMerge</a:t>
            </a:r>
            <a:r>
              <a:rPr lang="zh-CN" altLang="en-US" sz="2400" b="1" dirty="0" smtClean="0">
                <a:solidFill>
                  <a:schemeClr val="accent2"/>
                </a:solidFill>
                <a:ea typeface="华文楷体" panose="02010600040101010101" pitchFamily="2" charset="-122"/>
              </a:rPr>
              <a:t>和</a:t>
            </a:r>
            <a:r>
              <a:rPr lang="en-US" altLang="zh-CN" sz="2400" b="1" dirty="0" err="1" smtClean="0">
                <a:solidFill>
                  <a:schemeClr val="accent2"/>
                </a:solidFill>
                <a:ea typeface="华文楷体" panose="02010600040101010101" pitchFamily="2" charset="-122"/>
              </a:rPr>
              <a:t>SimpleFind</a:t>
            </a:r>
            <a:r>
              <a:rPr lang="zh-CN" altLang="en-US" sz="2400" b="1" dirty="0" smtClean="0">
                <a:solidFill>
                  <a:schemeClr val="accent2"/>
                </a:solidFill>
                <a:ea typeface="华文楷体" panose="02010600040101010101" pitchFamily="2" charset="-122"/>
              </a:rPr>
              <a:t>的复杂度分析</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一次</a:t>
            </a:r>
            <a:r>
              <a:rPr lang="en-US" altLang="zh-CN" sz="2400" dirty="0" smtClean="0">
                <a:ea typeface="华文楷体" panose="02010600040101010101" pitchFamily="2" charset="-122"/>
              </a:rPr>
              <a:t>merge</a:t>
            </a:r>
            <a:r>
              <a:rPr lang="zh-CN" altLang="en-US" sz="2400" dirty="0" smtClean="0">
                <a:ea typeface="华文楷体" panose="02010600040101010101" pitchFamily="2" charset="-122"/>
              </a:rPr>
              <a:t>操作的时间仍然是</a:t>
            </a:r>
            <a:r>
              <a:rPr lang="en-US" altLang="zh-CN" sz="2400" dirty="0" smtClean="0">
                <a:ea typeface="华文楷体" panose="02010600040101010101" pitchFamily="2" charset="-122"/>
              </a:rPr>
              <a:t>O(1)</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find</a:t>
            </a:r>
            <a:r>
              <a:rPr lang="zh-CN" altLang="en-US" sz="2400" dirty="0" smtClean="0">
                <a:ea typeface="华文楷体" panose="02010600040101010101" pitchFamily="2" charset="-122"/>
              </a:rPr>
              <a:t>操作未变，其一次执行所需要的最长时间可由以下定理</a:t>
            </a:r>
            <a:r>
              <a:rPr lang="en-US" altLang="zh-CN" sz="2400" dirty="0" smtClean="0">
                <a:ea typeface="华文楷体" panose="02010600040101010101" pitchFamily="2" charset="-122"/>
              </a:rPr>
              <a:t>6.8</a:t>
            </a:r>
            <a:r>
              <a:rPr lang="zh-CN" altLang="en-US" sz="2400" dirty="0" smtClean="0">
                <a:ea typeface="华文楷体" panose="02010600040101010101" pitchFamily="2" charset="-122"/>
              </a:rPr>
              <a:t>确定。</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solidFill>
                  <a:srgbClr val="003399"/>
                </a:solidFill>
                <a:ea typeface="华文楷体" panose="02010600040101010101" pitchFamily="2" charset="-122"/>
              </a:rPr>
              <a:t>     </a:t>
            </a:r>
            <a:endParaRPr lang="zh-CN" altLang="en-US" sz="2400" dirty="0" smtClean="0">
              <a:solidFill>
                <a:srgbClr val="003399"/>
              </a:solidFill>
              <a:ea typeface="华文楷体" panose="02010600040101010101" pitchFamily="2" charset="-122"/>
            </a:endParaRPr>
          </a:p>
          <a:p>
            <a:pPr eaLnBrk="1" hangingPunct="1">
              <a:buFont typeface="Wingdings" panose="05000000000000000000" pitchFamily="2" charset="2"/>
              <a:buNone/>
            </a:pPr>
            <a:r>
              <a:rPr lang="zh-CN" altLang="en-US" sz="2400" dirty="0">
                <a:solidFill>
                  <a:srgbClr val="003399"/>
                </a:solidFill>
                <a:ea typeface="华文楷体" panose="02010600040101010101" pitchFamily="2" charset="-122"/>
              </a:rPr>
              <a:t>定理</a:t>
            </a:r>
            <a:r>
              <a:rPr lang="en-US" altLang="zh-CN" sz="2400" dirty="0" smtClean="0">
                <a:solidFill>
                  <a:srgbClr val="003399"/>
                </a:solidFill>
                <a:ea typeface="华文楷体" panose="02010600040101010101" pitchFamily="2" charset="-122"/>
              </a:rPr>
              <a:t> </a:t>
            </a:r>
            <a:r>
              <a:rPr lang="zh-CN" altLang="en-US" sz="2400" dirty="0" smtClean="0">
                <a:solidFill>
                  <a:srgbClr val="003399"/>
                </a:solidFill>
                <a:ea typeface="华文楷体" panose="02010600040101010101" pitchFamily="2" charset="-122"/>
              </a:rPr>
              <a:t>：</a:t>
            </a:r>
            <a:r>
              <a:rPr lang="zh-CN" altLang="en-US" sz="2400" dirty="0" smtClean="0">
                <a:ea typeface="华文楷体" panose="02010600040101010101" pitchFamily="2" charset="-122"/>
              </a:rPr>
              <a:t>假设开始时森林是由</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个含单个结点的树构成的，通过任意次的</a:t>
            </a:r>
            <a:r>
              <a:rPr lang="en-US" altLang="zh-CN" sz="2400" dirty="0" err="1" smtClean="0">
                <a:ea typeface="华文楷体" panose="02010600040101010101" pitchFamily="2" charset="-122"/>
              </a:rPr>
              <a:t>WeightedMerge</a:t>
            </a:r>
            <a:r>
              <a:rPr lang="zh-CN" altLang="en-US" sz="2400" dirty="0" smtClean="0">
                <a:ea typeface="华文楷体" panose="02010600040101010101" pitchFamily="2" charset="-122"/>
              </a:rPr>
              <a:t>操作，森林中的任一子树高度不高于</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log</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n</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+ 1</a:t>
            </a:r>
            <a:r>
              <a:rPr lang="zh-CN" altLang="en-US" sz="2400" dirty="0" smtClean="0">
                <a:ea typeface="华文楷体" panose="02010600040101010101" pitchFamily="2" charset="-122"/>
              </a:rPr>
              <a:t>。</a:t>
            </a:r>
            <a:endParaRPr lang="zh-CN" altLang="en-US" sz="2400" dirty="0" smtClean="0">
              <a:solidFill>
                <a:srgbClr val="003399"/>
              </a:solidFill>
              <a:ea typeface="华文楷体" panose="02010600040101010101" pitchFamily="2" charset="-122"/>
            </a:endParaRPr>
          </a:p>
          <a:p>
            <a:pPr eaLnBrk="1" hangingPunct="1">
              <a:buFont typeface="Wingdings" panose="05000000000000000000" pitchFamily="2" charset="2"/>
              <a:buNone/>
            </a:pPr>
            <a:endParaRPr lang="zh-CN" altLang="en-US"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引理：假设开始时森林是由含单个结点的树构成的，并令</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为一棵具有</a:t>
            </a:r>
            <a:r>
              <a:rPr lang="en-US" altLang="zh-CN" sz="2400" dirty="0" smtClean="0">
                <a:ea typeface="华文楷体" panose="02010600040101010101" pitchFamily="2" charset="-122"/>
              </a:rPr>
              <a:t>m</a:t>
            </a:r>
            <a:r>
              <a:rPr lang="zh-CN" altLang="en-US" sz="2400" dirty="0" smtClean="0">
                <a:ea typeface="华文楷体" panose="02010600040101010101" pitchFamily="2" charset="-122"/>
              </a:rPr>
              <a:t>个结点，且通过执行一系列</a:t>
            </a:r>
            <a:r>
              <a:rPr lang="en-US" altLang="zh-CN" sz="2400" dirty="0" err="1" smtClean="0">
                <a:ea typeface="华文楷体" panose="02010600040101010101" pitchFamily="2" charset="-122"/>
              </a:rPr>
              <a:t>WeightedMerge</a:t>
            </a:r>
            <a:r>
              <a:rPr lang="zh-CN" altLang="en-US" sz="2400" dirty="0" smtClean="0">
                <a:ea typeface="华文楷体" panose="02010600040101010101" pitchFamily="2" charset="-122"/>
              </a:rPr>
              <a:t>函数构成的树，则</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的高度不高于</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log</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m</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+ 1</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solidFill>
                  <a:srgbClr val="003399"/>
                </a:solidFill>
                <a:ea typeface="华文楷体" panose="02010600040101010101" pitchFamily="2" charset="-122"/>
              </a:rPr>
              <a:t>     </a:t>
            </a:r>
            <a:endParaRPr lang="zh-CN" altLang="en-US" sz="2400" dirty="0" smtClean="0">
              <a:solidFill>
                <a:srgbClr val="003399"/>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页脚占位符 3"/>
          <p:cNvSpPr>
            <a:spLocks noGrp="1"/>
          </p:cNvSpPr>
          <p:nvPr>
            <p:ph type="ftr" sz="quarter" idx="10"/>
          </p:nvPr>
        </p:nvSpPr>
        <p:spPr/>
        <p:txBody>
          <a:bodyPr/>
          <a:lstStyle/>
          <a:p>
            <a:pPr>
              <a:defRPr/>
            </a:pPr>
            <a:r>
              <a:rPr lang="en-US" altLang="zh-CN"/>
              <a:t>BUPT SCST</a:t>
            </a:r>
            <a:endParaRPr lang="en-US" altLang="zh-CN"/>
          </a:p>
        </p:txBody>
      </p:sp>
      <p:sp>
        <p:nvSpPr>
          <p:cNvPr id="16" name="日期占位符 5"/>
          <p:cNvSpPr>
            <a:spLocks noGrp="1"/>
          </p:cNvSpPr>
          <p:nvPr>
            <p:ph type="dt" sz="quarter" idx="12"/>
          </p:nvPr>
        </p:nvSpPr>
        <p:spPr/>
        <p:txBody>
          <a:bodyPr/>
          <a:lstStyle/>
          <a:p>
            <a:pPr>
              <a:defRPr/>
            </a:pPr>
            <a:r>
              <a:rPr lang="en-US" altLang="zh-CN"/>
              <a:t>BUPT</a:t>
            </a:r>
            <a:endParaRPr lang="en-US" altLang="zh-CN"/>
          </a:p>
        </p:txBody>
      </p:sp>
      <p:sp>
        <p:nvSpPr>
          <p:cNvPr id="7782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7829" name="Rectangle 3"/>
          <p:cNvSpPr>
            <a:spLocks noGrp="1" noChangeArrowheads="1"/>
          </p:cNvSpPr>
          <p:nvPr>
            <p:ph idx="1"/>
          </p:nvPr>
        </p:nvSpPr>
        <p:spPr>
          <a:xfrm>
            <a:off x="457201" y="1152525"/>
            <a:ext cx="5691188" cy="5476791"/>
          </a:xfrm>
          <a:ln>
            <a:solidFill>
              <a:schemeClr val="accent1"/>
            </a:solidFill>
          </a:ln>
        </p:spPr>
        <p:txBody>
          <a:bodyPr/>
          <a:lstStyle/>
          <a:p>
            <a:pPr eaLnBrk="1" hangingPunct="1">
              <a:buFont typeface="Wingdings" panose="05000000000000000000" pitchFamily="2" charset="2"/>
              <a:buNone/>
            </a:pPr>
            <a:r>
              <a:rPr lang="en-US" altLang="zh-CN" sz="2400" dirty="0" smtClean="0">
                <a:solidFill>
                  <a:srgbClr val="003399"/>
                </a:solidFill>
                <a:ea typeface="华文楷体" panose="02010600040101010101" pitchFamily="2" charset="-122"/>
              </a:rPr>
              <a:t>Proof</a:t>
            </a:r>
            <a:r>
              <a:rPr lang="zh-CN" altLang="en-US" sz="2400" dirty="0" smtClean="0">
                <a:solidFill>
                  <a:srgbClr val="003399"/>
                </a:solidFill>
                <a:ea typeface="华文楷体" panose="02010600040101010101" pitchFamily="2" charset="-122"/>
              </a:rPr>
              <a:t>：</a:t>
            </a:r>
            <a:r>
              <a:rPr lang="zh-CN" altLang="en-US" sz="2400" dirty="0" smtClean="0">
                <a:ea typeface="华文楷体" panose="02010600040101010101" pitchFamily="2" charset="-122"/>
              </a:rPr>
              <a:t>当</a:t>
            </a:r>
            <a:r>
              <a:rPr lang="en-US" altLang="zh-CN" sz="2400" dirty="0" smtClean="0">
                <a:ea typeface="华文楷体" panose="02010600040101010101" pitchFamily="2" charset="-122"/>
              </a:rPr>
              <a:t>m = 1</a:t>
            </a:r>
            <a:r>
              <a:rPr lang="zh-CN" altLang="en-US" sz="2400" dirty="0" smtClean="0">
                <a:ea typeface="华文楷体" panose="02010600040101010101" pitchFamily="2" charset="-122"/>
              </a:rPr>
              <a:t>，显然正确。假设对于所有具有</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a:t>
            </a:r>
            <a:r>
              <a:rPr lang="en-US" altLang="zh-CN" sz="2400" dirty="0" err="1" smtClean="0">
                <a:ea typeface="华文楷体" panose="02010600040101010101" pitchFamily="2" charset="-122"/>
              </a:rPr>
              <a:t>i≤m</a:t>
            </a:r>
            <a:r>
              <a:rPr lang="en-US" altLang="zh-CN" sz="2400" dirty="0" smtClean="0">
                <a:ea typeface="华文楷体" panose="02010600040101010101" pitchFamily="2" charset="-122"/>
              </a:rPr>
              <a:t> – 1</a:t>
            </a:r>
            <a:r>
              <a:rPr lang="zh-CN" altLang="en-US" sz="2400" dirty="0" smtClean="0">
                <a:ea typeface="华文楷体" panose="02010600040101010101" pitchFamily="2" charset="-122"/>
              </a:rPr>
              <a:t>）个结点的树引理正确。下面需要证明对于</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 m</a:t>
            </a:r>
            <a:r>
              <a:rPr lang="zh-CN" altLang="en-US" sz="2400" dirty="0" smtClean="0">
                <a:ea typeface="华文楷体" panose="02010600040101010101" pitchFamily="2" charset="-122"/>
              </a:rPr>
              <a:t>引理也正确。</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设</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是由函数</a:t>
            </a:r>
            <a:r>
              <a:rPr lang="en-US" altLang="zh-CN" sz="2400" dirty="0" err="1" smtClean="0">
                <a:ea typeface="华文楷体" panose="02010600040101010101" pitchFamily="2" charset="-122"/>
              </a:rPr>
              <a:t>WeightedMerge</a:t>
            </a:r>
            <a:r>
              <a:rPr lang="zh-CN" altLang="en-US" sz="2400" dirty="0" smtClean="0">
                <a:ea typeface="华文楷体" panose="02010600040101010101" pitchFamily="2" charset="-122"/>
              </a:rPr>
              <a:t>构建的，有</a:t>
            </a:r>
            <a:r>
              <a:rPr lang="en-US" altLang="zh-CN" sz="2400" dirty="0" smtClean="0">
                <a:ea typeface="华文楷体" panose="02010600040101010101" pitchFamily="2" charset="-122"/>
              </a:rPr>
              <a:t>m</a:t>
            </a:r>
            <a:r>
              <a:rPr lang="zh-CN" altLang="en-US" sz="2400" dirty="0" smtClean="0">
                <a:ea typeface="华文楷体" panose="02010600040101010101" pitchFamily="2" charset="-122"/>
              </a:rPr>
              <a:t>个结点的树。考虑最后一次并操作</a:t>
            </a:r>
            <a:r>
              <a:rPr lang="en-US" altLang="zh-CN" sz="2400" dirty="0" err="1" smtClean="0">
                <a:ea typeface="华文楷体" panose="02010600040101010101" pitchFamily="2" charset="-122"/>
              </a:rPr>
              <a:t>WeightedMerge</a:t>
            </a:r>
            <a:r>
              <a:rPr lang="en-US" altLang="zh-CN" sz="2400" dirty="0" smtClean="0">
                <a:ea typeface="华文楷体" panose="02010600040101010101" pitchFamily="2" charset="-122"/>
              </a:rPr>
              <a:t>(k, j)</a:t>
            </a:r>
            <a:r>
              <a:rPr lang="zh-CN" altLang="en-US" sz="2400" dirty="0" smtClean="0">
                <a:ea typeface="华文楷体" panose="02010600040101010101" pitchFamily="2" charset="-122"/>
              </a:rPr>
              <a:t>。设</a:t>
            </a:r>
            <a:r>
              <a:rPr lang="en-US" altLang="zh-CN" sz="2400" dirty="0" smtClean="0">
                <a:ea typeface="华文楷体" panose="02010600040101010101" pitchFamily="2" charset="-122"/>
              </a:rPr>
              <a:t>a</a:t>
            </a:r>
            <a:r>
              <a:rPr lang="zh-CN" altLang="en-US" sz="2400" dirty="0" smtClean="0">
                <a:ea typeface="华文楷体" panose="02010600040101010101" pitchFamily="2" charset="-122"/>
              </a:rPr>
              <a:t>为树</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的结点数，那么树</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的结点数为</a:t>
            </a:r>
            <a:r>
              <a:rPr lang="en-US" altLang="zh-CN" sz="2400" dirty="0" smtClean="0">
                <a:ea typeface="华文楷体" panose="02010600040101010101" pitchFamily="2" charset="-122"/>
              </a:rPr>
              <a:t>m – a</a:t>
            </a:r>
            <a:r>
              <a:rPr lang="zh-CN" altLang="en-US" sz="2400" dirty="0" smtClean="0">
                <a:ea typeface="华文楷体" panose="02010600040101010101" pitchFamily="2" charset="-122"/>
              </a:rPr>
              <a:t>。不失一般性，设</a:t>
            </a:r>
            <a:r>
              <a:rPr lang="en-US" altLang="zh-CN" sz="2400" dirty="0" smtClean="0">
                <a:ea typeface="华文楷体" panose="02010600040101010101" pitchFamily="2" charset="-122"/>
              </a:rPr>
              <a:t>1≤a≤m/2</a:t>
            </a:r>
            <a:r>
              <a:rPr lang="zh-CN" altLang="en-US" sz="2400" dirty="0" smtClean="0">
                <a:ea typeface="华文楷体" panose="02010600040101010101" pitchFamily="2" charset="-122"/>
              </a:rPr>
              <a:t>，则</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的根为</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因此，</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的高度或者与原树</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的相同或者比原树</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的多一级。若是前一种情况，</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的高度≤ </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log</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(m – a)</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+ 1≤</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log</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m</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+ 1</a:t>
            </a:r>
            <a:r>
              <a:rPr lang="zh-CN" altLang="en-US" sz="2400" dirty="0" smtClean="0">
                <a:ea typeface="华文楷体" panose="02010600040101010101" pitchFamily="2" charset="-122"/>
              </a:rPr>
              <a:t>；若是后一种情况，</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的高度≤ </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log</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a</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+ 2≤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log</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m</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+ 1</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p:txBody>
      </p:sp>
      <p:sp>
        <p:nvSpPr>
          <p:cNvPr id="77830" name="Line 4"/>
          <p:cNvSpPr>
            <a:spLocks noChangeShapeType="1"/>
          </p:cNvSpPr>
          <p:nvPr/>
        </p:nvSpPr>
        <p:spPr bwMode="auto">
          <a:xfrm flipH="1">
            <a:off x="6524625" y="3768725"/>
            <a:ext cx="533400" cy="838200"/>
          </a:xfrm>
          <a:prstGeom prst="line">
            <a:avLst/>
          </a:prstGeom>
          <a:noFill/>
          <a:ln w="28575">
            <a:solidFill>
              <a:srgbClr val="800080"/>
            </a:solidFill>
            <a:miter lim="800000"/>
            <a:head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77831" name="Oval 5"/>
          <p:cNvSpPr>
            <a:spLocks noChangeArrowheads="1"/>
          </p:cNvSpPr>
          <p:nvPr/>
        </p:nvSpPr>
        <p:spPr bwMode="auto">
          <a:xfrm>
            <a:off x="7732713" y="2241550"/>
            <a:ext cx="609600" cy="609600"/>
          </a:xfrm>
          <a:prstGeom prst="ellipse">
            <a:avLst/>
          </a:prstGeom>
          <a:noFill/>
          <a:ln w="38100">
            <a:solidFill>
              <a:srgbClr val="80008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endParaRPr lang="zh-CN" altLang="zh-CN">
              <a:solidFill>
                <a:srgbClr val="0000CC"/>
              </a:solidFill>
              <a:latin typeface="Times New Roman" panose="02020603050405020304" pitchFamily="18" charset="0"/>
              <a:ea typeface="隶书" panose="02010509060101010101" pitchFamily="49" charset="-122"/>
            </a:endParaRPr>
          </a:p>
        </p:txBody>
      </p:sp>
      <p:sp>
        <p:nvSpPr>
          <p:cNvPr id="77832" name="Text Box 6"/>
          <p:cNvSpPr txBox="1">
            <a:spLocks noChangeArrowheads="1"/>
          </p:cNvSpPr>
          <p:nvPr/>
        </p:nvSpPr>
        <p:spPr bwMode="auto">
          <a:xfrm>
            <a:off x="7885113" y="2317750"/>
            <a:ext cx="60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947" tIns="56473" rIns="112947" bIns="56473">
            <a:spAutoFit/>
          </a:bodyPr>
          <a:lstStyle>
            <a:lvl1pPr marL="457200" indent="-457200" defTabSz="112903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defTabSz="112903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defTabSz="1129030">
              <a:spcBef>
                <a:spcPct val="20000"/>
              </a:spcBef>
              <a:buClr>
                <a:schemeClr val="tx1"/>
              </a:buClr>
              <a:buChar char="•"/>
              <a:defRPr sz="2400">
                <a:solidFill>
                  <a:schemeClr val="tx1"/>
                </a:solidFill>
                <a:latin typeface="Arial" panose="020B0604020202020204" pitchFamily="34" charset="0"/>
              </a:defRPr>
            </a:lvl3pPr>
            <a:lvl4pPr marL="1600200" indent="-228600" defTabSz="1129030">
              <a:spcBef>
                <a:spcPct val="20000"/>
              </a:spcBef>
              <a:buChar char="–"/>
              <a:defRPr sz="2000">
                <a:solidFill>
                  <a:schemeClr val="tx1"/>
                </a:solidFill>
                <a:latin typeface="Arial" panose="020B0604020202020204" pitchFamily="34" charset="0"/>
              </a:defRPr>
            </a:lvl4pPr>
            <a:lvl5pPr marL="2057400" indent="-228600" defTabSz="1129030">
              <a:spcBef>
                <a:spcPct val="20000"/>
              </a:spcBef>
              <a:buChar char="»"/>
              <a:defRPr sz="2000">
                <a:solidFill>
                  <a:schemeClr val="tx1"/>
                </a:solidFill>
                <a:latin typeface="Arial" panose="020B0604020202020204" pitchFamily="34" charset="0"/>
              </a:defRPr>
            </a:lvl5pPr>
            <a:lvl6pPr marL="25146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SzPct val="50000"/>
              <a:buFont typeface="Monotype Sorts" pitchFamily="2" charset="2"/>
              <a:buNone/>
            </a:pPr>
            <a:r>
              <a:rPr lang="en-US" altLang="zh-CN" sz="2400" b="1" dirty="0">
                <a:solidFill>
                  <a:srgbClr val="800080"/>
                </a:solidFill>
                <a:latin typeface="Times New Roman" panose="02020603050405020304" pitchFamily="18" charset="0"/>
                <a:ea typeface="楷体_GB2312" pitchFamily="49" charset="-122"/>
              </a:rPr>
              <a:t>k</a:t>
            </a:r>
            <a:endParaRPr lang="en-US" altLang="zh-CN" sz="2400" b="1" dirty="0">
              <a:solidFill>
                <a:srgbClr val="800080"/>
              </a:solidFill>
              <a:latin typeface="Times New Roman" panose="02020603050405020304" pitchFamily="18" charset="0"/>
              <a:ea typeface="楷体_GB2312" pitchFamily="49" charset="-122"/>
            </a:endParaRPr>
          </a:p>
        </p:txBody>
      </p:sp>
      <p:sp>
        <p:nvSpPr>
          <p:cNvPr id="77833" name="Oval 7"/>
          <p:cNvSpPr>
            <a:spLocks noChangeArrowheads="1"/>
          </p:cNvSpPr>
          <p:nvPr/>
        </p:nvSpPr>
        <p:spPr bwMode="auto">
          <a:xfrm>
            <a:off x="6970713" y="3308350"/>
            <a:ext cx="609600" cy="609600"/>
          </a:xfrm>
          <a:prstGeom prst="ellipse">
            <a:avLst/>
          </a:prstGeom>
          <a:noFill/>
          <a:ln w="38100">
            <a:solidFill>
              <a:srgbClr val="80008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endParaRPr lang="zh-CN" altLang="zh-CN">
              <a:solidFill>
                <a:srgbClr val="0000CC"/>
              </a:solidFill>
              <a:latin typeface="Times New Roman" panose="02020603050405020304" pitchFamily="18" charset="0"/>
              <a:ea typeface="隶书" panose="02010509060101010101" pitchFamily="49" charset="-122"/>
            </a:endParaRPr>
          </a:p>
        </p:txBody>
      </p:sp>
      <p:sp>
        <p:nvSpPr>
          <p:cNvPr id="77834" name="Text Box 8"/>
          <p:cNvSpPr txBox="1">
            <a:spLocks noChangeArrowheads="1"/>
          </p:cNvSpPr>
          <p:nvPr/>
        </p:nvSpPr>
        <p:spPr bwMode="auto">
          <a:xfrm>
            <a:off x="7123113" y="3384550"/>
            <a:ext cx="6096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947" tIns="56473" rIns="112947" bIns="56473">
            <a:spAutoFit/>
          </a:bodyPr>
          <a:lstStyle>
            <a:lvl1pPr marL="457200" indent="-457200" defTabSz="112903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defTabSz="112903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defTabSz="1129030">
              <a:spcBef>
                <a:spcPct val="20000"/>
              </a:spcBef>
              <a:buClr>
                <a:schemeClr val="tx1"/>
              </a:buClr>
              <a:buChar char="•"/>
              <a:defRPr sz="2400">
                <a:solidFill>
                  <a:schemeClr val="tx1"/>
                </a:solidFill>
                <a:latin typeface="Arial" panose="020B0604020202020204" pitchFamily="34" charset="0"/>
              </a:defRPr>
            </a:lvl3pPr>
            <a:lvl4pPr marL="1600200" indent="-228600" defTabSz="1129030">
              <a:spcBef>
                <a:spcPct val="20000"/>
              </a:spcBef>
              <a:buChar char="–"/>
              <a:defRPr sz="2000">
                <a:solidFill>
                  <a:schemeClr val="tx1"/>
                </a:solidFill>
                <a:latin typeface="Arial" panose="020B0604020202020204" pitchFamily="34" charset="0"/>
              </a:defRPr>
            </a:lvl4pPr>
            <a:lvl5pPr marL="2057400" indent="-228600" defTabSz="1129030">
              <a:spcBef>
                <a:spcPct val="20000"/>
              </a:spcBef>
              <a:buChar char="»"/>
              <a:defRPr sz="2000">
                <a:solidFill>
                  <a:schemeClr val="tx1"/>
                </a:solidFill>
                <a:latin typeface="Arial" panose="020B0604020202020204" pitchFamily="34" charset="0"/>
              </a:defRPr>
            </a:lvl5pPr>
            <a:lvl6pPr marL="25146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SzPct val="50000"/>
              <a:buFont typeface="Monotype Sorts" pitchFamily="2" charset="2"/>
              <a:buNone/>
            </a:pPr>
            <a:r>
              <a:rPr lang="en-US" altLang="zh-CN" sz="2400" b="1" dirty="0">
                <a:solidFill>
                  <a:srgbClr val="800080"/>
                </a:solidFill>
                <a:latin typeface="Times New Roman" panose="02020603050405020304" pitchFamily="18" charset="0"/>
                <a:ea typeface="楷体_GB2312" pitchFamily="49" charset="-122"/>
              </a:rPr>
              <a:t>j</a:t>
            </a:r>
            <a:endParaRPr lang="en-US" altLang="zh-CN" sz="2400" b="1" dirty="0">
              <a:solidFill>
                <a:srgbClr val="800080"/>
              </a:solidFill>
              <a:latin typeface="Times New Roman" panose="02020603050405020304" pitchFamily="18" charset="0"/>
              <a:ea typeface="楷体_GB2312" pitchFamily="49" charset="-122"/>
            </a:endParaRPr>
          </a:p>
        </p:txBody>
      </p:sp>
      <p:sp>
        <p:nvSpPr>
          <p:cNvPr id="77835" name="Line 9"/>
          <p:cNvSpPr>
            <a:spLocks noChangeShapeType="1"/>
          </p:cNvSpPr>
          <p:nvPr/>
        </p:nvSpPr>
        <p:spPr bwMode="auto">
          <a:xfrm flipH="1">
            <a:off x="7427913" y="2774950"/>
            <a:ext cx="457200" cy="609600"/>
          </a:xfrm>
          <a:prstGeom prst="line">
            <a:avLst/>
          </a:prstGeom>
          <a:noFill/>
          <a:ln w="28575">
            <a:solidFill>
              <a:srgbClr val="800080"/>
            </a:solidFill>
            <a:miter lim="800000"/>
            <a:head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77836" name="Text Box 10"/>
          <p:cNvSpPr txBox="1">
            <a:spLocks noChangeArrowheads="1"/>
          </p:cNvSpPr>
          <p:nvPr/>
        </p:nvSpPr>
        <p:spPr bwMode="auto">
          <a:xfrm>
            <a:off x="6300788" y="4437063"/>
            <a:ext cx="457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947" tIns="56473" rIns="112947" bIns="56473">
            <a:spAutoFit/>
          </a:bodyPr>
          <a:lstStyle>
            <a:lvl1pPr marL="457200" indent="-457200" defTabSz="112903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defTabSz="112903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defTabSz="1129030">
              <a:spcBef>
                <a:spcPct val="20000"/>
              </a:spcBef>
              <a:buClr>
                <a:schemeClr val="tx1"/>
              </a:buClr>
              <a:buChar char="•"/>
              <a:defRPr sz="2400">
                <a:solidFill>
                  <a:schemeClr val="tx1"/>
                </a:solidFill>
                <a:latin typeface="Arial" panose="020B0604020202020204" pitchFamily="34" charset="0"/>
              </a:defRPr>
            </a:lvl3pPr>
            <a:lvl4pPr marL="1600200" indent="-228600" defTabSz="1129030">
              <a:spcBef>
                <a:spcPct val="20000"/>
              </a:spcBef>
              <a:buChar char="–"/>
              <a:defRPr sz="2000">
                <a:solidFill>
                  <a:schemeClr val="tx1"/>
                </a:solidFill>
                <a:latin typeface="Arial" panose="020B0604020202020204" pitchFamily="34" charset="0"/>
              </a:defRPr>
            </a:lvl4pPr>
            <a:lvl5pPr marL="2057400" indent="-228600" defTabSz="1129030">
              <a:spcBef>
                <a:spcPct val="20000"/>
              </a:spcBef>
              <a:buChar char="»"/>
              <a:defRPr sz="2000">
                <a:solidFill>
                  <a:schemeClr val="tx1"/>
                </a:solidFill>
                <a:latin typeface="Arial" panose="020B0604020202020204" pitchFamily="34" charset="0"/>
              </a:defRPr>
            </a:lvl5pPr>
            <a:lvl6pPr marL="25146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SzPct val="50000"/>
              <a:buFont typeface="Monotype Sorts" pitchFamily="2" charset="2"/>
              <a:buNone/>
            </a:pPr>
            <a:r>
              <a:rPr lang="en-US" altLang="zh-CN" sz="2400" b="1" dirty="0">
                <a:solidFill>
                  <a:srgbClr val="800080"/>
                </a:solidFill>
                <a:latin typeface="Times New Roman" panose="02020603050405020304" pitchFamily="18" charset="0"/>
                <a:ea typeface="楷体_GB2312" pitchFamily="49" charset="-122"/>
              </a:rPr>
              <a:t>a </a:t>
            </a:r>
            <a:endParaRPr lang="en-US" altLang="zh-CN" sz="2400" b="1" dirty="0">
              <a:solidFill>
                <a:srgbClr val="800080"/>
              </a:solidFill>
              <a:latin typeface="Times New Roman" panose="02020603050405020304" pitchFamily="18" charset="0"/>
              <a:ea typeface="楷体_GB2312" pitchFamily="49" charset="-122"/>
            </a:endParaRPr>
          </a:p>
        </p:txBody>
      </p:sp>
      <p:sp>
        <p:nvSpPr>
          <p:cNvPr id="77837" name="Line 11"/>
          <p:cNvSpPr>
            <a:spLocks noChangeShapeType="1"/>
          </p:cNvSpPr>
          <p:nvPr/>
        </p:nvSpPr>
        <p:spPr bwMode="auto">
          <a:xfrm>
            <a:off x="8113713" y="2851150"/>
            <a:ext cx="346075" cy="692150"/>
          </a:xfrm>
          <a:prstGeom prst="line">
            <a:avLst/>
          </a:prstGeom>
          <a:noFill/>
          <a:ln w="28575">
            <a:solidFill>
              <a:srgbClr val="800080"/>
            </a:solidFill>
            <a:miter lim="800000"/>
            <a:head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77838" name="Text Box 12"/>
          <p:cNvSpPr txBox="1">
            <a:spLocks noChangeArrowheads="1"/>
          </p:cNvSpPr>
          <p:nvPr/>
        </p:nvSpPr>
        <p:spPr bwMode="auto">
          <a:xfrm>
            <a:off x="8113713" y="3460750"/>
            <a:ext cx="838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947" tIns="56473" rIns="112947" bIns="56473">
            <a:spAutoFit/>
          </a:bodyPr>
          <a:lstStyle>
            <a:lvl1pPr marL="457200" indent="-457200" defTabSz="112903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defTabSz="112903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defTabSz="1129030">
              <a:spcBef>
                <a:spcPct val="20000"/>
              </a:spcBef>
              <a:buClr>
                <a:schemeClr val="tx1"/>
              </a:buClr>
              <a:buChar char="•"/>
              <a:defRPr sz="2400">
                <a:solidFill>
                  <a:schemeClr val="tx1"/>
                </a:solidFill>
                <a:latin typeface="Arial" panose="020B0604020202020204" pitchFamily="34" charset="0"/>
              </a:defRPr>
            </a:lvl3pPr>
            <a:lvl4pPr marL="1600200" indent="-228600" defTabSz="1129030">
              <a:spcBef>
                <a:spcPct val="20000"/>
              </a:spcBef>
              <a:buChar char="–"/>
              <a:defRPr sz="2000">
                <a:solidFill>
                  <a:schemeClr val="tx1"/>
                </a:solidFill>
                <a:latin typeface="Arial" panose="020B0604020202020204" pitchFamily="34" charset="0"/>
              </a:defRPr>
            </a:lvl4pPr>
            <a:lvl5pPr marL="2057400" indent="-228600" defTabSz="1129030">
              <a:spcBef>
                <a:spcPct val="20000"/>
              </a:spcBef>
              <a:buChar char="»"/>
              <a:defRPr sz="2000">
                <a:solidFill>
                  <a:schemeClr val="tx1"/>
                </a:solidFill>
                <a:latin typeface="Arial" panose="020B0604020202020204" pitchFamily="34" charset="0"/>
              </a:defRPr>
            </a:lvl5pPr>
            <a:lvl6pPr marL="25146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903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SzPct val="50000"/>
              <a:buFont typeface="Monotype Sorts" pitchFamily="2" charset="2"/>
              <a:buNone/>
            </a:pPr>
            <a:r>
              <a:rPr lang="en-US" altLang="zh-CN" sz="2400" b="1" dirty="0">
                <a:solidFill>
                  <a:srgbClr val="800080"/>
                </a:solidFill>
                <a:latin typeface="Times New Roman" panose="02020603050405020304" pitchFamily="18" charset="0"/>
                <a:ea typeface="楷体_GB2312" pitchFamily="49" charset="-122"/>
              </a:rPr>
              <a:t>m-a </a:t>
            </a:r>
            <a:endParaRPr lang="en-US" altLang="zh-CN" sz="2400" b="1" dirty="0">
              <a:solidFill>
                <a:srgbClr val="800080"/>
              </a:solidFill>
              <a:latin typeface="Times New Roman" panose="02020603050405020304" pitchFamily="18" charset="0"/>
              <a:ea typeface="楷体_GB2312" pitchFamily="49" charset="-122"/>
            </a:endParaRPr>
          </a:p>
        </p:txBody>
      </p:sp>
      <p:sp>
        <p:nvSpPr>
          <p:cNvPr id="77839" name="Oval 13"/>
          <p:cNvSpPr>
            <a:spLocks noChangeArrowheads="1"/>
          </p:cNvSpPr>
          <p:nvPr/>
        </p:nvSpPr>
        <p:spPr bwMode="auto">
          <a:xfrm rot="7115930">
            <a:off x="6064250" y="3370263"/>
            <a:ext cx="1905000" cy="1447800"/>
          </a:xfrm>
          <a:prstGeom prst="ellipse">
            <a:avLst/>
          </a:prstGeom>
          <a:noFill/>
          <a:ln w="19050">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77840" name="Oval 14"/>
          <p:cNvSpPr>
            <a:spLocks noChangeArrowheads="1"/>
          </p:cNvSpPr>
          <p:nvPr/>
        </p:nvSpPr>
        <p:spPr bwMode="auto">
          <a:xfrm rot="4050266">
            <a:off x="7359650" y="2365375"/>
            <a:ext cx="1981200" cy="1371600"/>
          </a:xfrm>
          <a:prstGeom prst="ellipse">
            <a:avLst/>
          </a:prstGeom>
          <a:noFill/>
          <a:ln w="19050">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885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8853" name="Rectangle 3"/>
          <p:cNvSpPr>
            <a:spLocks noGrp="1" noChangeArrowheads="1"/>
          </p:cNvSpPr>
          <p:nvPr>
            <p:ph idx="1"/>
          </p:nvPr>
        </p:nvSpPr>
        <p:spPr>
          <a:xfrm>
            <a:off x="179388" y="1152525"/>
            <a:ext cx="8785225" cy="5248275"/>
          </a:xfrm>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结论</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由</a:t>
            </a:r>
            <a:r>
              <a:rPr lang="en-US" altLang="zh-CN" sz="2400" dirty="0" smtClean="0">
                <a:ea typeface="华文楷体" panose="02010600040101010101" pitchFamily="2" charset="-122"/>
              </a:rPr>
              <a:t>Th6.8</a:t>
            </a:r>
            <a:r>
              <a:rPr lang="zh-CN" altLang="en-US" sz="2400" dirty="0" smtClean="0">
                <a:ea typeface="华文楷体" panose="02010600040101010101" pitchFamily="2" charset="-122"/>
              </a:rPr>
              <a:t>知：如果一棵树有</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个结点，则一次</a:t>
            </a:r>
            <a:r>
              <a:rPr lang="en-US" altLang="zh-CN" sz="2400" dirty="0" smtClean="0">
                <a:ea typeface="华文楷体" panose="02010600040101010101" pitchFamily="2" charset="-122"/>
              </a:rPr>
              <a:t>find</a:t>
            </a:r>
            <a:r>
              <a:rPr lang="zh-CN" altLang="en-US" sz="2400" dirty="0" smtClean="0">
                <a:ea typeface="华文楷体" panose="02010600040101010101" pitchFamily="2" charset="-122"/>
              </a:rPr>
              <a:t>操作的时间最多为</a:t>
            </a:r>
            <a:r>
              <a:rPr lang="en-US" altLang="zh-CN" sz="2400" dirty="0" smtClean="0">
                <a:ea typeface="华文楷体" panose="02010600040101010101" pitchFamily="2" charset="-122"/>
              </a:rPr>
              <a:t>O(</a:t>
            </a:r>
            <a:r>
              <a:rPr lang="en-US" altLang="zh-CN" sz="2400" dirty="0" err="1" smtClean="0">
                <a:ea typeface="华文楷体" panose="02010600040101010101" pitchFamily="2" charset="-122"/>
              </a:rPr>
              <a:t>logn</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执行</a:t>
            </a:r>
            <a:r>
              <a:rPr lang="en-US" altLang="zh-CN" sz="2400" dirty="0" smtClean="0">
                <a:ea typeface="华文楷体" panose="02010600040101010101" pitchFamily="2" charset="-122"/>
              </a:rPr>
              <a:t>u –1</a:t>
            </a:r>
            <a:r>
              <a:rPr lang="zh-CN" altLang="en-US" sz="2400" dirty="0" smtClean="0">
                <a:ea typeface="华文楷体" panose="02010600040101010101" pitchFamily="2" charset="-122"/>
              </a:rPr>
              <a:t>次</a:t>
            </a:r>
            <a:r>
              <a:rPr lang="en-US" altLang="zh-CN" sz="2400" dirty="0" smtClean="0">
                <a:ea typeface="华文楷体" panose="02010600040101010101" pitchFamily="2" charset="-122"/>
              </a:rPr>
              <a:t>merge</a:t>
            </a:r>
            <a:r>
              <a:rPr lang="zh-CN" altLang="en-US" sz="2400" dirty="0" smtClean="0">
                <a:ea typeface="华文楷体" panose="02010600040101010101" pitchFamily="2" charset="-122"/>
              </a:rPr>
              <a:t>操作和</a:t>
            </a:r>
            <a:r>
              <a:rPr lang="en-US" altLang="zh-CN" sz="2400" dirty="0" smtClean="0">
                <a:ea typeface="华文楷体" panose="02010600040101010101" pitchFamily="2" charset="-122"/>
              </a:rPr>
              <a:t>f</a:t>
            </a:r>
            <a:r>
              <a:rPr lang="zh-CN" altLang="en-US" sz="2400" dirty="0" smtClean="0">
                <a:ea typeface="华文楷体" panose="02010600040101010101" pitchFamily="2" charset="-122"/>
              </a:rPr>
              <a:t>次</a:t>
            </a:r>
            <a:r>
              <a:rPr lang="en-US" altLang="zh-CN" sz="2400" dirty="0" smtClean="0">
                <a:ea typeface="华文楷体" panose="02010600040101010101" pitchFamily="2" charset="-122"/>
              </a:rPr>
              <a:t>find</a:t>
            </a:r>
            <a:r>
              <a:rPr lang="zh-CN" altLang="en-US" sz="2400" dirty="0" smtClean="0">
                <a:ea typeface="华文楷体" panose="02010600040101010101" pitchFamily="2" charset="-122"/>
              </a:rPr>
              <a:t>操作组成的混合序列的分摊复杂度是</a:t>
            </a:r>
            <a:r>
              <a:rPr lang="en-US" altLang="zh-CN" sz="2400" dirty="0" smtClean="0">
                <a:ea typeface="华文楷体" panose="02010600040101010101" pitchFamily="2" charset="-122"/>
              </a:rPr>
              <a:t>O(u + f log u)</a:t>
            </a:r>
            <a:r>
              <a:rPr lang="zh-CN" altLang="en-US" sz="2400" dirty="0" smtClean="0">
                <a:ea typeface="华文楷体" panose="02010600040101010101" pitchFamily="2" charset="-122"/>
              </a:rPr>
              <a:t>，因为每棵树的结点数不超过</a:t>
            </a:r>
            <a:r>
              <a:rPr lang="en-US" altLang="zh-CN" sz="2400" dirty="0" smtClean="0">
                <a:ea typeface="华文楷体" panose="02010600040101010101" pitchFamily="2" charset="-122"/>
              </a:rPr>
              <a:t>u</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初始化</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棵树的森林需要</a:t>
            </a:r>
            <a:r>
              <a:rPr lang="en-US" altLang="zh-CN" sz="2400" dirty="0" smtClean="0">
                <a:ea typeface="华文楷体" panose="02010600040101010101" pitchFamily="2" charset="-122"/>
              </a:rPr>
              <a:t>O(n)</a:t>
            </a:r>
            <a:r>
              <a:rPr lang="zh-CN" altLang="en-US" sz="2400" dirty="0" smtClean="0">
                <a:ea typeface="华文楷体" panose="02010600040101010101" pitchFamily="2" charset="-122"/>
              </a:rPr>
              <a:t>时间。</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b="1"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7987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9877" name="Rectangle 3"/>
          <p:cNvSpPr>
            <a:spLocks noGrp="1" noChangeArrowheads="1"/>
          </p:cNvSpPr>
          <p:nvPr>
            <p:ph idx="1"/>
          </p:nvPr>
        </p:nvSpPr>
        <p:spPr>
          <a:xfrm>
            <a:off x="323850" y="1052513"/>
            <a:ext cx="8229600" cy="5248275"/>
          </a:xfrm>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折叠查找</a:t>
            </a:r>
            <a:r>
              <a:rPr lang="en-US" altLang="zh-CN" sz="2400" b="1" dirty="0" smtClean="0">
                <a:solidFill>
                  <a:schemeClr val="accent2"/>
                </a:solidFill>
                <a:ea typeface="华文楷体" panose="02010600040101010101" pitchFamily="2" charset="-122"/>
              </a:rPr>
              <a:t>]</a:t>
            </a: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问题的解决方法还可以作进一步的改进：这次将对</a:t>
            </a:r>
            <a:r>
              <a:rPr lang="en-US" altLang="zh-CN" sz="2400" dirty="0" smtClean="0">
                <a:ea typeface="华文楷体" panose="02010600040101010101" pitchFamily="2" charset="-122"/>
              </a:rPr>
              <a:t>find</a:t>
            </a:r>
            <a:r>
              <a:rPr lang="zh-CN" altLang="en-US" sz="2400" dirty="0" smtClean="0">
                <a:ea typeface="华文楷体" panose="02010600040101010101" pitchFamily="2" charset="-122"/>
              </a:rPr>
              <a:t>操作应用以下</a:t>
            </a:r>
            <a:r>
              <a:rPr lang="zh-CN" altLang="en-US" sz="2400" b="1" dirty="0" smtClean="0">
                <a:solidFill>
                  <a:schemeClr val="accent2"/>
                </a:solidFill>
                <a:ea typeface="华文楷体" panose="02010600040101010101" pitchFamily="2" charset="-122"/>
              </a:rPr>
              <a:t>坍塌规则</a:t>
            </a:r>
            <a:r>
              <a:rPr lang="zh-CN" altLang="en-US" sz="2400" b="1" dirty="0" smtClean="0">
                <a:ea typeface="华文楷体" panose="02010600040101010101" pitchFamily="2" charset="-122"/>
              </a:rPr>
              <a:t>：将被查结点到其根的路径上所有结点嫁接到根上，即：</a:t>
            </a:r>
            <a:r>
              <a:rPr lang="zh-CN" altLang="en-US" sz="2400" b="1" dirty="0" smtClean="0">
                <a:solidFill>
                  <a:srgbClr val="932917"/>
                </a:solidFill>
                <a:ea typeface="华文楷体" panose="02010600040101010101" pitchFamily="2" charset="-122"/>
              </a:rPr>
              <a:t>若</a:t>
            </a:r>
            <a:r>
              <a:rPr lang="en-US" altLang="zh-CN" sz="2400" b="1" dirty="0" smtClean="0">
                <a:solidFill>
                  <a:srgbClr val="932917"/>
                </a:solidFill>
                <a:ea typeface="华文楷体" panose="02010600040101010101" pitchFamily="2" charset="-122"/>
              </a:rPr>
              <a:t>j</a:t>
            </a:r>
            <a:r>
              <a:rPr lang="zh-CN" altLang="en-US" sz="2400" b="1" dirty="0" smtClean="0">
                <a:solidFill>
                  <a:srgbClr val="932917"/>
                </a:solidFill>
                <a:ea typeface="华文楷体" panose="02010600040101010101" pitchFamily="2" charset="-122"/>
              </a:rPr>
              <a:t>是从</a:t>
            </a:r>
            <a:r>
              <a:rPr lang="en-US" altLang="zh-CN" sz="2400" b="1" dirty="0" err="1" smtClean="0">
                <a:solidFill>
                  <a:srgbClr val="932917"/>
                </a:solidFill>
                <a:ea typeface="华文楷体" panose="02010600040101010101" pitchFamily="2" charset="-122"/>
              </a:rPr>
              <a:t>i</a:t>
            </a:r>
            <a:r>
              <a:rPr lang="zh-CN" altLang="en-US" sz="2400" b="1" dirty="0" smtClean="0">
                <a:solidFill>
                  <a:srgbClr val="932917"/>
                </a:solidFill>
                <a:ea typeface="华文楷体" panose="02010600040101010101" pitchFamily="2" charset="-122"/>
              </a:rPr>
              <a:t>到根的路径中的结点，且</a:t>
            </a:r>
            <a:r>
              <a:rPr lang="en-US" altLang="zh-CN" sz="2400" b="1" dirty="0" smtClean="0">
                <a:solidFill>
                  <a:srgbClr val="932917"/>
                </a:solidFill>
                <a:ea typeface="华文楷体" panose="02010600040101010101" pitchFamily="2" charset="-122"/>
              </a:rPr>
              <a:t>parent[j] </a:t>
            </a:r>
            <a:r>
              <a:rPr lang="en-US" altLang="zh-CN" sz="2400" b="1" dirty="0" smtClean="0">
                <a:solidFill>
                  <a:srgbClr val="932917"/>
                </a:solidFill>
                <a:ea typeface="华文楷体" panose="02010600040101010101" pitchFamily="2" charset="-122"/>
                <a:sym typeface="Symbol" panose="05050102010706020507" pitchFamily="18" charset="2"/>
              </a:rPr>
              <a:t></a:t>
            </a:r>
            <a:r>
              <a:rPr lang="en-US" altLang="zh-CN" sz="2400" b="1" dirty="0" smtClean="0">
                <a:solidFill>
                  <a:srgbClr val="932917"/>
                </a:solidFill>
                <a:ea typeface="华文楷体" panose="02010600040101010101" pitchFamily="2" charset="-122"/>
              </a:rPr>
              <a:t> root(</a:t>
            </a:r>
            <a:r>
              <a:rPr lang="en-US" altLang="zh-CN" sz="2400" b="1" dirty="0" err="1" smtClean="0">
                <a:solidFill>
                  <a:srgbClr val="932917"/>
                </a:solidFill>
                <a:ea typeface="华文楷体" panose="02010600040101010101" pitchFamily="2" charset="-122"/>
              </a:rPr>
              <a:t>i</a:t>
            </a:r>
            <a:r>
              <a:rPr lang="en-US" altLang="zh-CN" sz="2400" b="1" dirty="0" smtClean="0">
                <a:solidFill>
                  <a:srgbClr val="932917"/>
                </a:solidFill>
                <a:ea typeface="华文楷体" panose="02010600040101010101" pitchFamily="2" charset="-122"/>
              </a:rPr>
              <a:t>)</a:t>
            </a:r>
            <a:r>
              <a:rPr lang="zh-CN" altLang="en-US" sz="2400" b="1" dirty="0" smtClean="0">
                <a:solidFill>
                  <a:srgbClr val="932917"/>
                </a:solidFill>
                <a:ea typeface="华文楷体" panose="02010600040101010101" pitchFamily="2" charset="-122"/>
              </a:rPr>
              <a:t>，则将</a:t>
            </a:r>
            <a:r>
              <a:rPr lang="en-US" altLang="zh-CN" sz="2400" b="1" dirty="0" smtClean="0">
                <a:solidFill>
                  <a:srgbClr val="932917"/>
                </a:solidFill>
                <a:ea typeface="华文楷体" panose="02010600040101010101" pitchFamily="2" charset="-122"/>
              </a:rPr>
              <a:t>parent[j] </a:t>
            </a:r>
            <a:r>
              <a:rPr lang="zh-CN" altLang="en-US" sz="2400" b="1" dirty="0" smtClean="0">
                <a:solidFill>
                  <a:srgbClr val="932917"/>
                </a:solidFill>
                <a:ea typeface="华文楷体" panose="02010600040101010101" pitchFamily="2" charset="-122"/>
              </a:rPr>
              <a:t>设置为</a:t>
            </a:r>
            <a:r>
              <a:rPr lang="en-US" altLang="zh-CN" sz="2400" b="1" dirty="0" smtClean="0">
                <a:solidFill>
                  <a:srgbClr val="932917"/>
                </a:solidFill>
                <a:ea typeface="华文楷体" panose="02010600040101010101" pitchFamily="2" charset="-122"/>
              </a:rPr>
              <a:t>root(</a:t>
            </a:r>
            <a:r>
              <a:rPr lang="en-US" altLang="zh-CN" sz="2400" b="1" dirty="0" err="1" smtClean="0">
                <a:solidFill>
                  <a:srgbClr val="932917"/>
                </a:solidFill>
                <a:ea typeface="华文楷体" panose="02010600040101010101" pitchFamily="2" charset="-122"/>
              </a:rPr>
              <a:t>i</a:t>
            </a:r>
            <a:r>
              <a:rPr lang="en-US" altLang="zh-CN" sz="2400" b="1" dirty="0" smtClean="0">
                <a:solidFill>
                  <a:srgbClr val="932917"/>
                </a:solidFill>
                <a:ea typeface="华文楷体" panose="02010600040101010101" pitchFamily="2" charset="-122"/>
              </a:rPr>
              <a:t>)</a:t>
            </a:r>
            <a:r>
              <a:rPr lang="zh-CN" altLang="en-US" sz="2400" b="1" dirty="0" smtClean="0">
                <a:solidFill>
                  <a:srgbClr val="932917"/>
                </a:solidFill>
                <a:ea typeface="华文楷体" panose="02010600040101010101" pitchFamily="2" charset="-122"/>
              </a:rPr>
              <a:t>。</a:t>
            </a:r>
            <a:endParaRPr lang="zh-CN" altLang="en-US" sz="2400" b="1" dirty="0" smtClean="0">
              <a:solidFill>
                <a:srgbClr val="932917"/>
              </a:solidFill>
              <a:ea typeface="华文楷体" panose="02010600040101010101" pitchFamily="2" charset="-122"/>
            </a:endParaRPr>
          </a:p>
        </p:txBody>
      </p:sp>
      <p:pic>
        <p:nvPicPr>
          <p:cNvPr id="7987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3133725"/>
            <a:ext cx="8553450" cy="2959100"/>
          </a:xfrm>
          <a:prstGeom prst="rect">
            <a:avLst/>
          </a:prstGeom>
          <a:solidFill>
            <a:srgbClr val="CCFFCC"/>
          </a:solidFill>
          <a:ln w="28575">
            <a:solidFill>
              <a:schemeClr val="accent1"/>
            </a:solid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809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0901" name="Text Box 3"/>
          <p:cNvSpPr txBox="1">
            <a:spLocks noChangeArrowheads="1"/>
          </p:cNvSpPr>
          <p:nvPr/>
        </p:nvSpPr>
        <p:spPr bwMode="auto">
          <a:xfrm>
            <a:off x="179388" y="2276475"/>
            <a:ext cx="8121650" cy="4157165"/>
          </a:xfrm>
          <a:prstGeom prst="rect">
            <a:avLst/>
          </a:prstGeom>
          <a:solidFill>
            <a:srgbClr val="CCFFCC"/>
          </a:solidFill>
          <a:ln w="28575">
            <a:solidFill>
              <a:schemeClr val="accent1"/>
            </a:solidFill>
            <a:miter lim="800000"/>
          </a:ln>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Sets::</a:t>
            </a:r>
            <a:r>
              <a:rPr lang="en-US" altLang="zh-CN" sz="2400" dirty="0" err="1">
                <a:latin typeface="Times New Roman" panose="02020603050405020304" pitchFamily="18" charset="0"/>
                <a:ea typeface="华文楷体" panose="02010600040101010101" pitchFamily="2" charset="-122"/>
              </a:rPr>
              <a:t>CollapsingFind</a:t>
            </a:r>
            <a:r>
              <a:rPr lang="en-US" altLang="zh-CN" sz="2400" dirty="0">
                <a:latin typeface="Times New Roman" panose="02020603050405020304" pitchFamily="18" charset="0"/>
                <a:ea typeface="华文楷体" panose="02010600040101010101" pitchFamily="2" charset="-122"/>
              </a:rPr>
              <a:t> (</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 {	</a:t>
            </a: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找含元素</a:t>
            </a:r>
            <a:r>
              <a:rPr lang="en-US" altLang="zh-CN" sz="2400" dirty="0" err="1">
                <a:latin typeface="Times New Roman" panose="02020603050405020304" pitchFamily="18" charset="0"/>
                <a:ea typeface="华文楷体" panose="02010600040101010101" pitchFamily="2" charset="-122"/>
              </a:rPr>
              <a:t>i</a:t>
            </a:r>
            <a:r>
              <a:rPr lang="zh-CN" altLang="en-US" sz="2400" dirty="0">
                <a:latin typeface="Times New Roman" panose="02020603050405020304" pitchFamily="18" charset="0"/>
                <a:ea typeface="华文楷体" panose="02010600040101010101" pitchFamily="2" charset="-122"/>
              </a:rPr>
              <a:t>的树的根，</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2400"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for </a:t>
            </a:r>
            <a:r>
              <a:rPr lang="en-US" altLang="zh-CN" sz="2400" dirty="0">
                <a:latin typeface="Times New Roman" panose="02020603050405020304" pitchFamily="18" charset="0"/>
                <a:ea typeface="华文楷体" panose="02010600040101010101" pitchFamily="2" charset="-122"/>
              </a:rPr>
              <a:t>(</a:t>
            </a:r>
            <a:r>
              <a:rPr lang="en-US" altLang="zh-CN" sz="2400" b="1" dirty="0" err="1">
                <a:latin typeface="Times New Roman" panose="02020603050405020304" pitchFamily="18" charset="0"/>
                <a:ea typeface="华文楷体" panose="02010600040101010101" pitchFamily="2" charset="-122"/>
              </a:rPr>
              <a:t>int</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r = </a:t>
            </a:r>
            <a:r>
              <a:rPr lang="en-US" altLang="zh-CN" sz="2400" dirty="0" err="1">
                <a:latin typeface="Times New Roman" panose="02020603050405020304" pitchFamily="18" charset="0"/>
                <a:ea typeface="华文楷体" panose="02010600040101010101" pitchFamily="2" charset="-122"/>
              </a:rPr>
              <a:t>i</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parent[r] &gt;= 0</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r = parent[r])</a:t>
            </a:r>
            <a:r>
              <a:rPr lang="en-US" altLang="zh-CN" sz="2400" b="1"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 </a:t>
            </a:r>
            <a:r>
              <a:rPr lang="zh-CN" altLang="en-US" sz="2400" dirty="0">
                <a:latin typeface="Times New Roman" panose="02020603050405020304" pitchFamily="18" charset="0"/>
                <a:ea typeface="华文楷体" panose="02010600040101010101" pitchFamily="2" charset="-122"/>
              </a:rPr>
              <a:t>找到根</a:t>
            </a:r>
            <a:endParaRPr lang="zh-CN" altLang="en-US" sz="2400"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zh-CN" altLang="en-US" sz="2400" b="1" dirty="0">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while </a:t>
            </a:r>
            <a:r>
              <a:rPr lang="en-US" altLang="zh-CN" sz="2400" dirty="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 r )</a:t>
            </a:r>
            <a:r>
              <a:rPr lang="en-US" altLang="zh-CN" sz="2400" b="1" dirty="0">
                <a:latin typeface="Times New Roman" panose="02020603050405020304" pitchFamily="18" charset="0"/>
                <a:ea typeface="华文楷体" panose="02010600040101010101" pitchFamily="2" charset="-122"/>
              </a:rPr>
              <a:t> </a:t>
            </a:r>
            <a:endParaRPr lang="en-US" altLang="zh-CN" sz="2400" b="1" dirty="0" smtClean="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smtClean="0">
                <a:latin typeface="Times New Roman" panose="02020603050405020304" pitchFamily="18" charset="0"/>
                <a:ea typeface="华文楷体" panose="02010600040101010101" pitchFamily="2" charset="-122"/>
              </a:rPr>
              <a:t>   {</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  </a:t>
            </a:r>
            <a:r>
              <a:rPr lang="en-US" altLang="zh-CN" sz="2400" b="1" dirty="0" err="1" smtClean="0">
                <a:latin typeface="Times New Roman" panose="02020603050405020304" pitchFamily="18" charset="0"/>
                <a:ea typeface="华文楷体" panose="02010600040101010101" pitchFamily="2" charset="-122"/>
              </a:rPr>
              <a:t>int</a:t>
            </a:r>
            <a:r>
              <a:rPr lang="en-US" altLang="zh-CN" sz="2400" b="1" dirty="0" smtClean="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s = parent[</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parent[</a:t>
            </a:r>
            <a:r>
              <a:rPr lang="en-US" altLang="zh-CN" sz="2400" dirty="0" err="1" smtClean="0">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 r</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a:t>
            </a:r>
            <a:r>
              <a:rPr lang="en-US" altLang="zh-CN" sz="2400" b="1" dirty="0" smtClean="0">
                <a:latin typeface="Times New Roman" panose="02020603050405020304" pitchFamily="18" charset="0"/>
                <a:ea typeface="华文楷体" panose="02010600040101010101" pitchFamily="2" charset="-122"/>
              </a:rPr>
              <a:t>   </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 = s</a:t>
            </a:r>
            <a:r>
              <a:rPr lang="en-US" altLang="zh-CN" sz="2400" b="1" dirty="0">
                <a:latin typeface="Times New Roman" panose="02020603050405020304" pitchFamily="18" charset="0"/>
                <a:ea typeface="华文楷体" panose="02010600040101010101" pitchFamily="2" charset="-122"/>
              </a:rPr>
              <a:t>;   </a:t>
            </a:r>
            <a:endParaRPr lang="en-US" altLang="zh-CN" sz="2400" b="1" dirty="0" smtClean="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smtClean="0">
                <a:latin typeface="Times New Roman" panose="02020603050405020304" pitchFamily="18" charset="0"/>
                <a:ea typeface="华文楷体" panose="02010600040101010101" pitchFamily="2" charset="-122"/>
              </a:rPr>
              <a:t>   }</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   return </a:t>
            </a:r>
            <a:r>
              <a:rPr lang="en-US" altLang="zh-CN" sz="2400" dirty="0">
                <a:latin typeface="Times New Roman" panose="02020603050405020304" pitchFamily="18" charset="0"/>
                <a:ea typeface="华文楷体" panose="02010600040101010101" pitchFamily="2" charset="-122"/>
              </a:rPr>
              <a:t>r</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eaLnBrk="1" hangingPunct="1">
              <a:spcBef>
                <a:spcPct val="0"/>
              </a:spcBef>
              <a:buClrTx/>
              <a:buFontTx/>
              <a:buNone/>
            </a:pPr>
            <a:endParaRPr lang="en-US" altLang="zh-CN" sz="2400" dirty="0">
              <a:latin typeface="Times New Roman" panose="02020603050405020304" pitchFamily="18" charset="0"/>
              <a:ea typeface="华文楷体" panose="02010600040101010101" pitchFamily="2" charset="-122"/>
            </a:endParaRPr>
          </a:p>
        </p:txBody>
      </p:sp>
      <p:sp>
        <p:nvSpPr>
          <p:cNvPr id="80902" name="Text Box 4"/>
          <p:cNvSpPr txBox="1">
            <a:spLocks noChangeArrowheads="1"/>
          </p:cNvSpPr>
          <p:nvPr/>
        </p:nvSpPr>
        <p:spPr bwMode="auto">
          <a:xfrm>
            <a:off x="323850" y="1335088"/>
            <a:ext cx="2541378"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A7030F"/>
                </a:solidFill>
                <a:latin typeface="Times New Roman" panose="02020603050405020304" pitchFamily="18" charset="0"/>
                <a:ea typeface="华文楷体" panose="02010600040101010101" pitchFamily="2" charset="-122"/>
              </a:rPr>
              <a:t>[</a:t>
            </a:r>
            <a:r>
              <a:rPr lang="zh-CN" altLang="en-US" sz="2400" b="1" dirty="0" smtClean="0">
                <a:solidFill>
                  <a:srgbClr val="A7030F"/>
                </a:solidFill>
                <a:latin typeface="Times New Roman" panose="02020603050405020304" pitchFamily="18" charset="0"/>
                <a:ea typeface="华文楷体" panose="02010600040101010101" pitchFamily="2" charset="-122"/>
              </a:rPr>
              <a:t>折叠</a:t>
            </a:r>
            <a:r>
              <a:rPr lang="zh-CN" altLang="en-US" sz="2400" b="1" dirty="0">
                <a:solidFill>
                  <a:srgbClr val="A7030F"/>
                </a:solidFill>
                <a:latin typeface="Times New Roman" panose="02020603050405020304" pitchFamily="18" charset="0"/>
                <a:ea typeface="华文楷体" panose="02010600040101010101" pitchFamily="2" charset="-122"/>
              </a:rPr>
              <a:t>查找的</a:t>
            </a:r>
            <a:r>
              <a:rPr lang="zh-CN" altLang="en-US" sz="2400" b="1" dirty="0" smtClean="0">
                <a:solidFill>
                  <a:srgbClr val="A7030F"/>
                </a:solidFill>
                <a:latin typeface="Times New Roman" panose="02020603050405020304" pitchFamily="18" charset="0"/>
                <a:ea typeface="华文楷体" panose="02010600040101010101" pitchFamily="2" charset="-122"/>
              </a:rPr>
              <a:t>实现</a:t>
            </a:r>
            <a:r>
              <a:rPr lang="en-US" altLang="zh-CN" sz="2400" b="1" dirty="0" smtClean="0">
                <a:solidFill>
                  <a:srgbClr val="A7030F"/>
                </a:solidFill>
                <a:latin typeface="Times New Roman" panose="02020603050405020304" pitchFamily="18" charset="0"/>
                <a:ea typeface="华文楷体" panose="02010600040101010101" pitchFamily="2" charset="-122"/>
              </a:rPr>
              <a:t>]</a:t>
            </a:r>
            <a:endParaRPr lang="zh-CN" altLang="en-US" sz="2400" b="1" dirty="0">
              <a:solidFill>
                <a:srgbClr val="A7030F"/>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8192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1925"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000" b="1" dirty="0" smtClean="0">
                <a:solidFill>
                  <a:srgbClr val="932917"/>
                </a:solidFill>
                <a:ea typeface="华文楷体" panose="02010600040101010101" pitchFamily="2" charset="-122"/>
              </a:rPr>
              <a:t>[</a:t>
            </a:r>
            <a:r>
              <a:rPr lang="en-US" altLang="zh-CN" sz="2000" b="1" dirty="0" err="1" smtClean="0">
                <a:solidFill>
                  <a:srgbClr val="932917"/>
                </a:solidFill>
                <a:ea typeface="华文楷体" panose="02010600040101010101" pitchFamily="2" charset="-122"/>
              </a:rPr>
              <a:t>WeightedMerge</a:t>
            </a:r>
            <a:r>
              <a:rPr lang="zh-CN" altLang="en-US" sz="2000" b="1" dirty="0" smtClean="0">
                <a:solidFill>
                  <a:srgbClr val="932917"/>
                </a:solidFill>
                <a:ea typeface="华文楷体" panose="02010600040101010101" pitchFamily="2" charset="-122"/>
              </a:rPr>
              <a:t>和</a:t>
            </a:r>
            <a:r>
              <a:rPr lang="en-US" altLang="zh-CN" sz="2000" b="1" dirty="0" err="1" smtClean="0">
                <a:solidFill>
                  <a:srgbClr val="932917"/>
                </a:solidFill>
                <a:ea typeface="华文楷体" panose="02010600040101010101" pitchFamily="2" charset="-122"/>
              </a:rPr>
              <a:t>CollapsingFind</a:t>
            </a:r>
            <a:r>
              <a:rPr lang="zh-CN" altLang="en-US" sz="2000" b="1" dirty="0" smtClean="0">
                <a:solidFill>
                  <a:srgbClr val="932917"/>
                </a:solidFill>
                <a:ea typeface="华文楷体" panose="02010600040101010101" pitchFamily="2" charset="-122"/>
              </a:rPr>
              <a:t>的复杂度分析</a:t>
            </a:r>
            <a:r>
              <a:rPr lang="en-US" altLang="zh-CN" sz="2000" b="1" dirty="0" smtClean="0">
                <a:solidFill>
                  <a:srgbClr val="932917"/>
                </a:solidFill>
                <a:ea typeface="华文楷体" panose="02010600040101010101" pitchFamily="2" charset="-122"/>
              </a:rPr>
              <a:t>]</a:t>
            </a:r>
            <a:endParaRPr lang="en-US" altLang="zh-CN" sz="2000" b="1" dirty="0" smtClean="0">
              <a:solidFill>
                <a:srgbClr val="932917"/>
              </a:solidFill>
              <a:ea typeface="华文楷体" panose="02010600040101010101" pitchFamily="2" charset="-122"/>
            </a:endParaRPr>
          </a:p>
          <a:p>
            <a:pPr eaLnBrk="1" hangingPunct="1">
              <a:buFont typeface="Wingdings" panose="05000000000000000000" pitchFamily="2" charset="2"/>
              <a:buNone/>
            </a:pP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假设开始时森林是由一组只含单个结点的树构成的，且</a:t>
            </a:r>
            <a:r>
              <a:rPr lang="en-US" altLang="zh-CN" sz="2000" dirty="0" err="1" smtClean="0">
                <a:ea typeface="华文楷体" panose="02010600040101010101" pitchFamily="2" charset="-122"/>
              </a:rPr>
              <a:t>u≥n</a:t>
            </a: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，并令</a:t>
            </a:r>
            <a:r>
              <a:rPr lang="en-US" altLang="zh-CN" sz="2000" dirty="0" smtClean="0">
                <a:ea typeface="华文楷体" panose="02010600040101010101" pitchFamily="2" charset="-122"/>
              </a:rPr>
              <a:t>T(f, u)</a:t>
            </a:r>
            <a:r>
              <a:rPr lang="zh-CN" altLang="en-US" sz="2000" dirty="0" smtClean="0">
                <a:ea typeface="华文楷体" panose="02010600040101010101" pitchFamily="2" charset="-122"/>
              </a:rPr>
              <a:t>为执行</a:t>
            </a:r>
            <a:r>
              <a:rPr lang="en-US" altLang="zh-CN" sz="2000" dirty="0" smtClean="0">
                <a:ea typeface="华文楷体" panose="02010600040101010101" pitchFamily="2" charset="-122"/>
              </a:rPr>
              <a:t>u</a:t>
            </a:r>
            <a:r>
              <a:rPr lang="zh-CN" altLang="en-US" sz="2000" dirty="0" smtClean="0">
                <a:ea typeface="华文楷体" panose="02010600040101010101" pitchFamily="2" charset="-122"/>
              </a:rPr>
              <a:t>次</a:t>
            </a:r>
            <a:r>
              <a:rPr lang="en-US" altLang="zh-CN" sz="2000" dirty="0" err="1" smtClean="0">
                <a:ea typeface="华文楷体" panose="02010600040101010101" pitchFamily="2" charset="-122"/>
              </a:rPr>
              <a:t>WeightedMerge</a:t>
            </a:r>
            <a:r>
              <a:rPr lang="zh-CN" altLang="en-US" sz="2000" dirty="0" smtClean="0">
                <a:ea typeface="华文楷体" panose="02010600040101010101" pitchFamily="2" charset="-122"/>
              </a:rPr>
              <a:t>操作和</a:t>
            </a:r>
            <a:r>
              <a:rPr lang="en-US" altLang="zh-CN" sz="2000" dirty="0" smtClean="0">
                <a:ea typeface="华文楷体" panose="02010600040101010101" pitchFamily="2" charset="-122"/>
              </a:rPr>
              <a:t>f</a:t>
            </a:r>
            <a:r>
              <a:rPr lang="zh-CN" altLang="en-US" sz="2000" dirty="0" smtClean="0">
                <a:ea typeface="华文楷体" panose="02010600040101010101" pitchFamily="2" charset="-122"/>
              </a:rPr>
              <a:t>次</a:t>
            </a:r>
            <a:r>
              <a:rPr lang="en-US" altLang="zh-CN" sz="2000" dirty="0" err="1" smtClean="0">
                <a:ea typeface="华文楷体" panose="02010600040101010101" pitchFamily="2" charset="-122"/>
              </a:rPr>
              <a:t>CollapsingFind</a:t>
            </a:r>
            <a:r>
              <a:rPr lang="zh-CN" altLang="en-US" sz="2000" dirty="0" smtClean="0">
                <a:ea typeface="华文楷体" panose="02010600040101010101" pitchFamily="2" charset="-122"/>
              </a:rPr>
              <a:t>操作组成的混合序列的最长时间，那么对于正常数</a:t>
            </a:r>
            <a:r>
              <a:rPr lang="en-US" altLang="zh-CN" sz="2000" dirty="0" smtClean="0">
                <a:ea typeface="华文楷体" panose="02010600040101010101" pitchFamily="2" charset="-122"/>
              </a:rPr>
              <a:t>k1</a:t>
            </a:r>
            <a:r>
              <a:rPr lang="zh-CN" altLang="en-US" sz="2000" dirty="0" smtClean="0">
                <a:ea typeface="华文楷体" panose="02010600040101010101" pitchFamily="2" charset="-122"/>
              </a:rPr>
              <a:t>和</a:t>
            </a:r>
            <a:r>
              <a:rPr lang="en-US" altLang="zh-CN" sz="2000" dirty="0" smtClean="0">
                <a:ea typeface="华文楷体" panose="02010600040101010101" pitchFamily="2" charset="-122"/>
              </a:rPr>
              <a:t>k2</a:t>
            </a:r>
            <a:r>
              <a:rPr lang="zh-CN" altLang="en-US" sz="2000" dirty="0" smtClean="0">
                <a:ea typeface="华文楷体" panose="02010600040101010101" pitchFamily="2" charset="-122"/>
              </a:rPr>
              <a:t>，有</a:t>
            </a: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   </a:t>
            </a:r>
            <a:r>
              <a:rPr lang="en-US" altLang="zh-CN" sz="2000" b="1" dirty="0" smtClean="0">
                <a:solidFill>
                  <a:srgbClr val="A7030F"/>
                </a:solidFill>
                <a:ea typeface="华文楷体" panose="02010600040101010101" pitchFamily="2" charset="-122"/>
              </a:rPr>
              <a:t>k1(n + f </a:t>
            </a:r>
            <a:r>
              <a:rPr lang="en-US" altLang="zh-CN" sz="2000" b="1" dirty="0" smtClean="0">
                <a:solidFill>
                  <a:srgbClr val="A7030F"/>
                </a:solidFill>
                <a:ea typeface="华文楷体" panose="02010600040101010101" pitchFamily="2" charset="-122"/>
                <a:sym typeface="Symbol" panose="05050102010706020507" pitchFamily="18" charset="2"/>
              </a:rPr>
              <a:t></a:t>
            </a:r>
            <a:r>
              <a:rPr lang="en-US" altLang="zh-CN" sz="2000" b="1" dirty="0" smtClean="0">
                <a:solidFill>
                  <a:srgbClr val="A7030F"/>
                </a:solidFill>
                <a:ea typeface="华文楷体" panose="02010600040101010101" pitchFamily="2" charset="-122"/>
              </a:rPr>
              <a:t>(f + n, n))≤T(f, u)≤k2(n + f </a:t>
            </a:r>
            <a:r>
              <a:rPr lang="en-US" altLang="zh-CN" sz="2000" b="1" dirty="0" smtClean="0">
                <a:solidFill>
                  <a:srgbClr val="A7030F"/>
                </a:solidFill>
                <a:ea typeface="华文楷体" panose="02010600040101010101" pitchFamily="2" charset="-122"/>
                <a:sym typeface="Symbol" panose="05050102010706020507" pitchFamily="18" charset="2"/>
              </a:rPr>
              <a:t></a:t>
            </a:r>
            <a:r>
              <a:rPr lang="en-US" altLang="zh-CN" sz="2000" b="1" dirty="0" smtClean="0">
                <a:solidFill>
                  <a:srgbClr val="A7030F"/>
                </a:solidFill>
                <a:ea typeface="华文楷体" panose="02010600040101010101" pitchFamily="2" charset="-122"/>
              </a:rPr>
              <a:t>(f + n, n))</a:t>
            </a:r>
            <a:endParaRPr lang="en-US" altLang="zh-CN" sz="2000" b="1" dirty="0" smtClean="0">
              <a:solidFill>
                <a:srgbClr val="A7030F"/>
              </a:solidFill>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(p, q)</a:t>
            </a:r>
            <a:r>
              <a:rPr lang="zh-CN" altLang="en-US" sz="2000" dirty="0" smtClean="0">
                <a:ea typeface="华文楷体" panose="02010600040101010101" pitchFamily="2" charset="-122"/>
              </a:rPr>
              <a:t>函数增长非常缓慢，其定义为：</a:t>
            </a:r>
            <a:endParaRPr lang="zh-CN" altLang="en-US" sz="20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0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(p, q) = min{z≥1 | A(z, </a:t>
            </a:r>
            <a:r>
              <a:rPr lang="en-US" altLang="zh-CN" sz="20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p/q</a:t>
            </a:r>
            <a:r>
              <a:rPr lang="en-US" altLang="zh-CN" sz="20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 &gt; log</a:t>
            </a:r>
            <a:r>
              <a:rPr lang="en-US" altLang="zh-CN" sz="2000" baseline="-25000" dirty="0" smtClean="0">
                <a:ea typeface="华文楷体" panose="02010600040101010101" pitchFamily="2" charset="-122"/>
              </a:rPr>
              <a:t>2</a:t>
            </a:r>
            <a:r>
              <a:rPr lang="en-US" altLang="zh-CN" sz="2000" dirty="0" smtClean="0">
                <a:ea typeface="华文楷体" panose="02010600040101010101" pitchFamily="2" charset="-122"/>
              </a:rPr>
              <a:t>q}</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p≥q≥1</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其中，</a:t>
            </a:r>
            <a:r>
              <a:rPr lang="en-US" altLang="zh-CN" sz="2000" dirty="0" smtClean="0">
                <a:ea typeface="华文楷体" panose="02010600040101010101" pitchFamily="2" charset="-122"/>
              </a:rPr>
              <a:t>Ackerman</a:t>
            </a:r>
            <a:r>
              <a:rPr lang="zh-CN" altLang="en-US" sz="2000" dirty="0" smtClean="0">
                <a:ea typeface="华文楷体" panose="02010600040101010101" pitchFamily="2" charset="-122"/>
              </a:rPr>
              <a:t>函数</a:t>
            </a:r>
            <a:r>
              <a:rPr lang="en-US" altLang="zh-CN" sz="2000" dirty="0" smtClean="0">
                <a:ea typeface="华文楷体" panose="02010600040101010101" pitchFamily="2" charset="-122"/>
              </a:rPr>
              <a:t>A(</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j)</a:t>
            </a:r>
            <a:r>
              <a:rPr lang="zh-CN" altLang="en-US" sz="2000" dirty="0" smtClean="0">
                <a:ea typeface="华文楷体" panose="02010600040101010101" pitchFamily="2" charset="-122"/>
              </a:rPr>
              <a:t>定义为：</a:t>
            </a: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A(1, j) = 2j				</a:t>
            </a:r>
            <a:r>
              <a:rPr lang="zh-CN" altLang="en-US" sz="2000" dirty="0" smtClean="0">
                <a:ea typeface="华文楷体" panose="02010600040101010101" pitchFamily="2" charset="-122"/>
              </a:rPr>
              <a:t>当</a:t>
            </a:r>
            <a:r>
              <a:rPr lang="en-US" altLang="zh-CN" sz="2000" dirty="0" smtClean="0">
                <a:ea typeface="华文楷体" panose="02010600040101010101" pitchFamily="2" charset="-122"/>
              </a:rPr>
              <a:t>j≥1</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1) = A(</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 1, 2)			</a:t>
            </a:r>
            <a:r>
              <a:rPr lang="zh-CN" altLang="en-US" sz="2000" dirty="0" smtClean="0">
                <a:ea typeface="华文楷体" panose="02010600040101010101" pitchFamily="2" charset="-122"/>
              </a:rPr>
              <a:t>当</a:t>
            </a:r>
            <a:r>
              <a:rPr lang="en-US" altLang="zh-CN" sz="2000" dirty="0" smtClean="0">
                <a:ea typeface="华文楷体" panose="02010600040101010101" pitchFamily="2" charset="-122"/>
              </a:rPr>
              <a:t>i≥2</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j) = A(</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 1, A(</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j – 1))		</a:t>
            </a:r>
            <a:r>
              <a:rPr lang="zh-CN" altLang="en-US" sz="2000" dirty="0" smtClean="0">
                <a:ea typeface="华文楷体" panose="02010600040101010101" pitchFamily="2" charset="-122"/>
              </a:rPr>
              <a:t>当</a:t>
            </a:r>
            <a:r>
              <a:rPr lang="en-US" altLang="zh-CN" sz="2000" dirty="0" err="1" smtClean="0">
                <a:ea typeface="华文楷体" panose="02010600040101010101" pitchFamily="2" charset="-122"/>
              </a:rPr>
              <a:t>i</a:t>
            </a:r>
            <a:r>
              <a:rPr lang="en-US" altLang="zh-CN" sz="2000" dirty="0" smtClean="0">
                <a:ea typeface="华文楷体" panose="02010600040101010101" pitchFamily="2" charset="-122"/>
              </a:rPr>
              <a:t>, j≥2</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chemeClr val="accent1"/>
                </a:solidFill>
                <a:ea typeface="华文楷体" panose="02010600040101010101" pitchFamily="2" charset="-122"/>
              </a:rPr>
              <a:t>对于任何实际可行的</a:t>
            </a:r>
            <a:r>
              <a:rPr lang="en-US" altLang="zh-CN" sz="2400" b="1" dirty="0" smtClean="0">
                <a:solidFill>
                  <a:schemeClr val="accent1"/>
                </a:solidFill>
                <a:ea typeface="华文楷体" panose="02010600040101010101" pitchFamily="2" charset="-122"/>
              </a:rPr>
              <a:t>p</a:t>
            </a:r>
            <a:r>
              <a:rPr lang="zh-CN" altLang="en-US" sz="2400" b="1" dirty="0" smtClean="0">
                <a:solidFill>
                  <a:schemeClr val="accent1"/>
                </a:solidFill>
                <a:ea typeface="华文楷体" panose="02010600040101010101" pitchFamily="2" charset="-122"/>
              </a:rPr>
              <a:t>和</a:t>
            </a:r>
            <a:r>
              <a:rPr lang="en-US" altLang="zh-CN" sz="2400" b="1" dirty="0" smtClean="0">
                <a:solidFill>
                  <a:schemeClr val="accent1"/>
                </a:solidFill>
                <a:ea typeface="华文楷体" panose="02010600040101010101" pitchFamily="2" charset="-122"/>
              </a:rPr>
              <a:t>q</a:t>
            </a:r>
            <a:r>
              <a:rPr lang="zh-CN" altLang="en-US" sz="2400" b="1" dirty="0" smtClean="0">
                <a:solidFill>
                  <a:schemeClr val="accent1"/>
                </a:solidFill>
                <a:ea typeface="华文楷体" panose="02010600040101010101" pitchFamily="2" charset="-122"/>
              </a:rPr>
              <a:t>，</a:t>
            </a:r>
            <a:r>
              <a:rPr lang="zh-CN" altLang="en-US" sz="2400" b="1" dirty="0" smtClean="0">
                <a:solidFill>
                  <a:schemeClr val="accent1"/>
                </a:solidFill>
                <a:ea typeface="华文楷体" panose="02010600040101010101" pitchFamily="2" charset="-122"/>
                <a:sym typeface="Symbol" panose="05050102010706020507" pitchFamily="18" charset="2"/>
              </a:rPr>
              <a:t></a:t>
            </a:r>
            <a:r>
              <a:rPr lang="en-US" altLang="zh-CN" sz="2400" b="1" dirty="0" smtClean="0">
                <a:solidFill>
                  <a:schemeClr val="accent1"/>
                </a:solidFill>
                <a:ea typeface="华文楷体" panose="02010600040101010101" pitchFamily="2" charset="-122"/>
              </a:rPr>
              <a:t>(p, q)≤4</a:t>
            </a:r>
            <a:r>
              <a:rPr lang="zh-CN" altLang="en-US" sz="2400" b="1"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0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8294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2949"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A(</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j) </a:t>
            </a:r>
            <a:r>
              <a:rPr lang="zh-CN" altLang="en-US" sz="2400" dirty="0" smtClean="0">
                <a:ea typeface="华文楷体" panose="02010600040101010101" pitchFamily="2" charset="-122"/>
              </a:rPr>
              <a:t>增长非常迅速，例如，</a:t>
            </a:r>
            <a:endParaRPr lang="zh-CN" altLang="en-US" sz="2400" dirty="0" smtClean="0">
              <a:ea typeface="华文楷体" panose="02010600040101010101" pitchFamily="2" charset="-122"/>
            </a:endParaRPr>
          </a:p>
        </p:txBody>
      </p:sp>
      <p:pic>
        <p:nvPicPr>
          <p:cNvPr id="82950" name="Picture 4"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1735138"/>
            <a:ext cx="8640763" cy="4430712"/>
          </a:xfrm>
          <a:prstGeom prst="rect">
            <a:avLst/>
          </a:prstGeom>
          <a:solidFill>
            <a:srgbClr val="CCFFCC"/>
          </a:solidFill>
          <a:ln w="28575">
            <a:solidFill>
              <a:schemeClr val="accent1"/>
            </a:solid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8397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3973"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A(3, 1) = 16</a:t>
            </a:r>
            <a:r>
              <a:rPr lang="zh-CN" altLang="en-US" sz="2400" dirty="0" smtClean="0">
                <a:ea typeface="华文楷体" panose="02010600040101010101" pitchFamily="2" charset="-122"/>
              </a:rPr>
              <a:t>，当 </a:t>
            </a:r>
            <a:r>
              <a:rPr lang="en-US" altLang="zh-CN" sz="2400" dirty="0" smtClean="0">
                <a:ea typeface="华文楷体" panose="02010600040101010101" pitchFamily="2" charset="-122"/>
              </a:rPr>
              <a:t>q &lt; 2</a:t>
            </a:r>
            <a:r>
              <a:rPr lang="en-US" altLang="zh-CN" sz="2400" baseline="30000" dirty="0" smtClean="0">
                <a:ea typeface="华文楷体" panose="02010600040101010101" pitchFamily="2" charset="-122"/>
              </a:rPr>
              <a:t>16</a:t>
            </a:r>
            <a:r>
              <a:rPr lang="zh-CN" altLang="en-US" sz="2400" dirty="0" smtClean="0">
                <a:ea typeface="华文楷体" panose="02010600040101010101" pitchFamily="2" charset="-122"/>
              </a:rPr>
              <a:t>且</a:t>
            </a:r>
            <a:r>
              <a:rPr lang="en-US" altLang="zh-CN" sz="2400" dirty="0" err="1" smtClean="0">
                <a:ea typeface="华文楷体" panose="02010600040101010101" pitchFamily="2" charset="-122"/>
              </a:rPr>
              <a:t>p≥q</a:t>
            </a:r>
            <a:r>
              <a:rPr lang="zh-CN" altLang="en-US" sz="2400" dirty="0" smtClean="0">
                <a:ea typeface="华文楷体" panose="02010600040101010101" pitchFamily="2" charset="-122"/>
              </a:rPr>
              <a:t>，</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(p, q)≤3</a:t>
            </a:r>
            <a:r>
              <a:rPr lang="zh-CN" altLang="en-US" sz="2400" dirty="0" smtClean="0">
                <a:ea typeface="华文楷体" panose="02010600040101010101" pitchFamily="2" charset="-122"/>
              </a:rPr>
              <a:t>。而</a:t>
            </a:r>
            <a:r>
              <a:rPr lang="en-US" altLang="zh-CN" sz="2400" dirty="0" smtClean="0">
                <a:ea typeface="华文楷体" panose="02010600040101010101" pitchFamily="2" charset="-122"/>
              </a:rPr>
              <a:t>A(4, 1)</a:t>
            </a:r>
            <a:r>
              <a:rPr lang="zh-CN" altLang="en-US" sz="2400" dirty="0" smtClean="0">
                <a:ea typeface="华文楷体" panose="02010600040101010101" pitchFamily="2" charset="-122"/>
              </a:rPr>
              <a:t>是一个非常大的数，且在本应用中，</a:t>
            </a:r>
            <a:r>
              <a:rPr lang="en-US" altLang="zh-CN" sz="2400" dirty="0" smtClean="0">
                <a:ea typeface="华文楷体" panose="02010600040101010101" pitchFamily="2" charset="-122"/>
              </a:rPr>
              <a:t>q</a:t>
            </a:r>
            <a:r>
              <a:rPr lang="zh-CN" altLang="en-US" sz="2400" dirty="0" smtClean="0">
                <a:ea typeface="华文楷体" panose="02010600040101010101" pitchFamily="2" charset="-122"/>
              </a:rPr>
              <a:t>是集合元素个数</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p</a:t>
            </a:r>
            <a:r>
              <a:rPr lang="zh-CN" altLang="en-US" sz="2400" dirty="0" smtClean="0">
                <a:ea typeface="华文楷体" panose="02010600040101010101" pitchFamily="2" charset="-122"/>
              </a:rPr>
              <a:t>是</a:t>
            </a:r>
            <a:r>
              <a:rPr lang="en-US" altLang="zh-CN" sz="2400" dirty="0" smtClean="0">
                <a:ea typeface="华文楷体" panose="02010600040101010101" pitchFamily="2" charset="-122"/>
              </a:rPr>
              <a:t>n + f </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f</a:t>
            </a:r>
            <a:r>
              <a:rPr lang="zh-CN" altLang="en-US" sz="2400" dirty="0" smtClean="0">
                <a:ea typeface="华文楷体" panose="02010600040101010101" pitchFamily="2" charset="-122"/>
              </a:rPr>
              <a:t>是</a:t>
            </a:r>
            <a:r>
              <a:rPr lang="en-US" altLang="zh-CN" sz="2400" dirty="0" smtClean="0">
                <a:ea typeface="华文楷体" panose="02010600040101010101" pitchFamily="2" charset="-122"/>
              </a:rPr>
              <a:t>find</a:t>
            </a:r>
            <a:r>
              <a:rPr lang="zh-CN" altLang="en-US" sz="2400" dirty="0" smtClean="0">
                <a:ea typeface="华文楷体" panose="02010600040101010101" pitchFamily="2" charset="-122"/>
              </a:rPr>
              <a:t>操作的次数），因此，对于任何实际可行的</a:t>
            </a:r>
            <a:r>
              <a:rPr lang="en-US" altLang="zh-CN" sz="2400" dirty="0" smtClean="0">
                <a:ea typeface="华文楷体" panose="02010600040101010101" pitchFamily="2" charset="-122"/>
              </a:rPr>
              <a:t>p</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q</a:t>
            </a:r>
            <a:r>
              <a:rPr lang="zh-CN" altLang="en-US" sz="2400" dirty="0" smtClean="0">
                <a:ea typeface="华文楷体" panose="02010600040101010101" pitchFamily="2" charset="-122"/>
              </a:rPr>
              <a:t>，</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(p, q)≤4</a:t>
            </a:r>
            <a:r>
              <a:rPr lang="zh-CN" altLang="en-US" sz="2400" b="1" dirty="0" smtClean="0">
                <a:ea typeface="华文楷体" panose="02010600040101010101" pitchFamily="2" charset="-122"/>
              </a:rPr>
              <a:t>。</a:t>
            </a:r>
            <a:endParaRPr lang="zh-CN" altLang="en-US" sz="2400" b="1" dirty="0" smtClean="0">
              <a:ea typeface="华文楷体" panose="02010600040101010101" pitchFamily="2" charset="-122"/>
            </a:endParaRPr>
          </a:p>
          <a:p>
            <a:pPr eaLnBrk="1" hangingPunct="1">
              <a:buFont typeface="Wingdings" panose="05000000000000000000" pitchFamily="2" charset="2"/>
              <a:buNone/>
            </a:pPr>
            <a:endParaRPr lang="zh-CN" altLang="en-US" sz="24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虽然函数</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(f, u)</a:t>
            </a:r>
            <a:r>
              <a:rPr lang="zh-CN" altLang="en-US" sz="2400" dirty="0" smtClean="0">
                <a:ea typeface="华文楷体" panose="02010600040101010101" pitchFamily="2" charset="-122"/>
              </a:rPr>
              <a:t>增长非常缓慢，但求解并查集问题的时间复杂性仍然不是并和查操作次数的线性函数。</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在空间方面，每个元素需要一个结点。</a:t>
            </a:r>
            <a:endParaRPr lang="zh-CN" altLang="en-US" sz="2400" dirty="0" smtClean="0">
              <a:ea typeface="华文楷体" panose="0201060004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84996" name="Rectangle 2"/>
          <p:cNvSpPr>
            <a:spLocks noGrp="1" noChangeArrowheads="1"/>
          </p:cNvSpPr>
          <p:nvPr>
            <p:ph type="title"/>
          </p:nvPr>
        </p:nvSpPr>
        <p:spPr/>
        <p:txBody>
          <a:bodyPr/>
          <a:lstStyle/>
          <a:p>
            <a:pPr eaLnBrk="1" hangingPunct="1"/>
            <a:r>
              <a:rPr lang="zh-CN" altLang="en-US" sz="2800" smtClean="0">
                <a:ea typeface="华文楷体" panose="02010600040101010101" pitchFamily="2" charset="-122"/>
              </a:rPr>
              <a:t>作 </a:t>
            </a:r>
            <a:r>
              <a:rPr lang="zh-CN" altLang="en-US" sz="2800" dirty="0" smtClean="0">
                <a:ea typeface="华文楷体" panose="02010600040101010101" pitchFamily="2" charset="-122"/>
              </a:rPr>
              <a:t>业</a:t>
            </a:r>
            <a:endParaRPr lang="zh-CN" altLang="en-US" sz="2800" dirty="0" smtClean="0">
              <a:ea typeface="华文楷体" panose="02010600040101010101" pitchFamily="2" charset="-122"/>
            </a:endParaRPr>
          </a:p>
        </p:txBody>
      </p:sp>
      <p:sp>
        <p:nvSpPr>
          <p:cNvPr id="84997" name="Rectangle 3"/>
          <p:cNvSpPr>
            <a:spLocks noGrp="1" noChangeArrowheads="1"/>
          </p:cNvSpPr>
          <p:nvPr>
            <p:ph idx="1"/>
          </p:nvPr>
        </p:nvSpPr>
        <p:spPr>
          <a:xfrm>
            <a:off x="457200" y="1152525"/>
            <a:ext cx="8229600" cy="5552989"/>
          </a:xfrm>
        </p:spPr>
        <p:txBody>
          <a:bodyPr/>
          <a:lstStyle/>
          <a:p>
            <a:pPr marL="609600" indent="-609600" eaLnBrk="1" hangingPunct="1">
              <a:lnSpc>
                <a:spcPct val="80000"/>
              </a:lnSpc>
              <a:buFont typeface="Wingdings" panose="05000000000000000000" pitchFamily="2" charset="2"/>
              <a:buNone/>
            </a:pPr>
            <a:r>
              <a:rPr lang="en-US" altLang="zh-CN" sz="1800" dirty="0" smtClean="0">
                <a:ea typeface="华文楷体" panose="02010600040101010101" pitchFamily="2" charset="-122"/>
              </a:rPr>
              <a:t>1. </a:t>
            </a:r>
            <a:r>
              <a:rPr lang="zh-CN" altLang="en-US" sz="1800" dirty="0">
                <a:ea typeface="华文楷体" panose="02010600040101010101" pitchFamily="2" charset="-122"/>
              </a:rPr>
              <a:t>设某二叉树的先序遍历序列为</a:t>
            </a:r>
            <a:r>
              <a:rPr lang="en-US" altLang="zh-CN" sz="1800">
                <a:ea typeface="华文楷体" panose="02010600040101010101" pitchFamily="2" charset="-122"/>
              </a:rPr>
              <a:t>:</a:t>
            </a:r>
            <a:r>
              <a:rPr lang="en-US" altLang="zh-CN" sz="1800" smtClean="0">
                <a:ea typeface="华文楷体" panose="02010600040101010101" pitchFamily="2" charset="-122"/>
              </a:rPr>
              <a:t>ABCDEFGHI</a:t>
            </a:r>
            <a:r>
              <a:rPr lang="zh-CN" altLang="en-US" sz="1800" dirty="0">
                <a:ea typeface="华文楷体" panose="02010600040101010101" pitchFamily="2" charset="-122"/>
              </a:rPr>
              <a:t>，中序遍历序列为</a:t>
            </a:r>
            <a:r>
              <a:rPr lang="en-US" altLang="zh-CN" sz="1800" dirty="0">
                <a:ea typeface="华文楷体" panose="02010600040101010101" pitchFamily="2" charset="-122"/>
              </a:rPr>
              <a:t>:BCAEDGHFI</a:t>
            </a:r>
            <a:r>
              <a:rPr lang="zh-CN" altLang="en-US" sz="1800" dirty="0">
                <a:ea typeface="华文楷体" panose="02010600040101010101" pitchFamily="2" charset="-122"/>
              </a:rPr>
              <a:t>：</a:t>
            </a:r>
            <a:endParaRPr lang="zh-CN" altLang="en-US" sz="1800" dirty="0">
              <a:ea typeface="华文楷体" panose="02010600040101010101" pitchFamily="2" charset="-122"/>
            </a:endParaRPr>
          </a:p>
          <a:p>
            <a:pPr marL="609600" indent="-609600" eaLnBrk="1" hangingPunct="1">
              <a:lnSpc>
                <a:spcPct val="80000"/>
              </a:lnSpc>
              <a:buFont typeface="Wingdings" panose="05000000000000000000" pitchFamily="2" charset="2"/>
              <a:buNone/>
            </a:pPr>
            <a:r>
              <a:rPr lang="zh-CN" altLang="en-US" sz="1800" dirty="0">
                <a:ea typeface="华文楷体" panose="02010600040101010101" pitchFamily="2" charset="-122"/>
              </a:rPr>
              <a:t>（</a:t>
            </a:r>
            <a:r>
              <a:rPr lang="en-US" altLang="zh-CN" sz="1800" dirty="0">
                <a:ea typeface="华文楷体" panose="02010600040101010101" pitchFamily="2" charset="-122"/>
              </a:rPr>
              <a:t>1</a:t>
            </a:r>
            <a:r>
              <a:rPr lang="zh-CN" altLang="en-US" sz="1800" dirty="0">
                <a:ea typeface="华文楷体" panose="02010600040101010101" pitchFamily="2" charset="-122"/>
              </a:rPr>
              <a:t>）试画出该二叉树对应的后序线索二叉树；</a:t>
            </a:r>
            <a:endParaRPr lang="zh-CN" altLang="en-US" sz="1800" dirty="0">
              <a:ea typeface="华文楷体" panose="02010600040101010101" pitchFamily="2" charset="-122"/>
            </a:endParaRPr>
          </a:p>
          <a:p>
            <a:pPr marL="609600" indent="-609600" eaLnBrk="1" hangingPunct="1">
              <a:lnSpc>
                <a:spcPct val="80000"/>
              </a:lnSpc>
              <a:buFont typeface="Wingdings" panose="05000000000000000000" pitchFamily="2" charset="2"/>
              <a:buNone/>
            </a:pPr>
            <a:r>
              <a:rPr lang="zh-CN" altLang="en-US" sz="1800" dirty="0">
                <a:ea typeface="华文楷体" panose="02010600040101010101" pitchFamily="2" charset="-122"/>
              </a:rPr>
              <a:t>（</a:t>
            </a:r>
            <a:r>
              <a:rPr lang="en-US" altLang="zh-CN" sz="1800" dirty="0">
                <a:ea typeface="华文楷体" panose="02010600040101010101" pitchFamily="2" charset="-122"/>
              </a:rPr>
              <a:t>2</a:t>
            </a:r>
            <a:r>
              <a:rPr lang="zh-CN" altLang="en-US" sz="1800" dirty="0">
                <a:ea typeface="华文楷体" panose="02010600040101010101" pitchFamily="2" charset="-122"/>
              </a:rPr>
              <a:t>）将（</a:t>
            </a:r>
            <a:r>
              <a:rPr lang="en-US" altLang="zh-CN" sz="1800" dirty="0">
                <a:ea typeface="华文楷体" panose="02010600040101010101" pitchFamily="2" charset="-122"/>
              </a:rPr>
              <a:t>1</a:t>
            </a:r>
            <a:r>
              <a:rPr lang="zh-CN" altLang="en-US" sz="1800" dirty="0">
                <a:ea typeface="华文楷体" panose="02010600040101010101" pitchFamily="2" charset="-122"/>
              </a:rPr>
              <a:t>）所得的二叉树转化为对应的树或森林；</a:t>
            </a:r>
            <a:endParaRPr lang="zh-CN" altLang="en-US" sz="1800" dirty="0">
              <a:ea typeface="华文楷体" panose="02010600040101010101" pitchFamily="2" charset="-122"/>
            </a:endParaRPr>
          </a:p>
          <a:p>
            <a:pPr marL="609600" indent="-609600" eaLnBrk="1" hangingPunct="1">
              <a:lnSpc>
                <a:spcPct val="80000"/>
              </a:lnSpc>
              <a:buFont typeface="Wingdings" panose="05000000000000000000" pitchFamily="2" charset="2"/>
              <a:buNone/>
            </a:pPr>
            <a:endParaRPr lang="en-US" altLang="zh-CN" sz="1800" dirty="0" smtClean="0">
              <a:ea typeface="华文楷体" panose="02010600040101010101" pitchFamily="2" charset="-122"/>
            </a:endParaRPr>
          </a:p>
          <a:p>
            <a:pPr marL="609600" indent="-609600" eaLnBrk="1" hangingPunct="1">
              <a:lnSpc>
                <a:spcPct val="80000"/>
              </a:lnSpc>
              <a:buFont typeface="Wingdings" panose="05000000000000000000" pitchFamily="2" charset="2"/>
              <a:buNone/>
            </a:pPr>
            <a:r>
              <a:rPr lang="en-US" altLang="zh-CN" sz="1800" dirty="0" smtClean="0">
                <a:ea typeface="华文楷体" panose="02010600040101010101" pitchFamily="2" charset="-122"/>
              </a:rPr>
              <a:t>2. </a:t>
            </a:r>
            <a:r>
              <a:rPr lang="zh-CN" altLang="en-US" sz="1800" dirty="0" smtClean="0">
                <a:ea typeface="华文楷体" panose="02010600040101010101" pitchFamily="2" charset="-122"/>
              </a:rPr>
              <a:t>试编写算法，判断两颗棵以二叉链表表示的二叉树</a:t>
            </a:r>
            <a:r>
              <a:rPr lang="en-US" altLang="zh-CN" sz="1800" dirty="0" smtClean="0">
                <a:ea typeface="华文楷体" panose="02010600040101010101" pitchFamily="2" charset="-122"/>
              </a:rPr>
              <a:t>p</a:t>
            </a:r>
            <a:r>
              <a:rPr lang="zh-CN" altLang="en-US" sz="1800" dirty="0" smtClean="0">
                <a:ea typeface="华文楷体" panose="02010600040101010101" pitchFamily="2" charset="-122"/>
              </a:rPr>
              <a:t>和</a:t>
            </a:r>
            <a:r>
              <a:rPr lang="en-US" altLang="zh-CN" sz="1800" dirty="0" smtClean="0">
                <a:ea typeface="华文楷体" panose="02010600040101010101" pitchFamily="2" charset="-122"/>
              </a:rPr>
              <a:t>q</a:t>
            </a:r>
            <a:r>
              <a:rPr lang="zh-CN" altLang="en-US" sz="1800" dirty="0" smtClean="0">
                <a:ea typeface="华文楷体" panose="02010600040101010101" pitchFamily="2" charset="-122"/>
              </a:rPr>
              <a:t>是否相似。 </a:t>
            </a:r>
            <a:endParaRPr lang="zh-CN" altLang="en-US" sz="1800" dirty="0" smtClean="0">
              <a:ea typeface="华文楷体" panose="02010600040101010101" pitchFamily="2" charset="-122"/>
            </a:endParaRPr>
          </a:p>
          <a:p>
            <a:pPr marL="609600" indent="-609600" eaLnBrk="1" hangingPunct="1">
              <a:lnSpc>
                <a:spcPct val="80000"/>
              </a:lnSpc>
              <a:buNone/>
            </a:pPr>
            <a:r>
              <a:rPr lang="zh-CN" altLang="en-US" sz="1800" b="1" dirty="0" smtClean="0">
                <a:ea typeface="华文楷体" panose="02010600040101010101" pitchFamily="2" charset="-122"/>
              </a:rPr>
              <a:t>       </a:t>
            </a:r>
            <a:r>
              <a:rPr lang="en-US" altLang="zh-CN" sz="1800" b="1" dirty="0" smtClean="0">
                <a:ea typeface="华文楷体" panose="02010600040101010101" pitchFamily="2" charset="-122"/>
              </a:rPr>
              <a:t>bool  Similar(</a:t>
            </a:r>
            <a:r>
              <a:rPr lang="en-US" altLang="zh-CN" sz="1800" b="1" dirty="0" err="1" smtClean="0">
                <a:ea typeface="华文楷体" panose="02010600040101010101" pitchFamily="2" charset="-122"/>
              </a:rPr>
              <a:t>BiTree</a:t>
            </a:r>
            <a:r>
              <a:rPr lang="en-US" altLang="zh-CN" sz="1800" b="1" dirty="0" smtClean="0">
                <a:ea typeface="华文楷体" panose="02010600040101010101" pitchFamily="2" charset="-122"/>
              </a:rPr>
              <a:t>  p, </a:t>
            </a:r>
            <a:r>
              <a:rPr lang="en-US" altLang="zh-CN" sz="1800" b="1" dirty="0" err="1">
                <a:ea typeface="华文楷体" panose="02010600040101010101" pitchFamily="2" charset="-122"/>
              </a:rPr>
              <a:t>BiTree</a:t>
            </a:r>
            <a:r>
              <a:rPr lang="en-US" altLang="zh-CN" sz="1800" b="1" dirty="0">
                <a:ea typeface="华文楷体" panose="02010600040101010101" pitchFamily="2" charset="-122"/>
              </a:rPr>
              <a:t>  </a:t>
            </a:r>
            <a:r>
              <a:rPr lang="en-US" altLang="zh-CN" sz="1800" b="1" dirty="0" smtClean="0">
                <a:ea typeface="华文楷体" panose="02010600040101010101" pitchFamily="2" charset="-122"/>
              </a:rPr>
              <a:t>q)//</a:t>
            </a:r>
            <a:r>
              <a:rPr lang="zh-CN" altLang="en-US" sz="1800" b="1" dirty="0" smtClean="0">
                <a:ea typeface="华文楷体" panose="02010600040101010101" pitchFamily="2" charset="-122"/>
              </a:rPr>
              <a:t>若相似函数返回</a:t>
            </a:r>
            <a:r>
              <a:rPr lang="en-US" altLang="zh-CN" sz="1800" b="1" dirty="0" smtClean="0">
                <a:ea typeface="华文楷体" panose="02010600040101010101" pitchFamily="2" charset="-122"/>
              </a:rPr>
              <a:t>TRUE</a:t>
            </a:r>
            <a:r>
              <a:rPr lang="zh-CN" altLang="en-US" sz="1800" b="1" dirty="0" smtClean="0">
                <a:ea typeface="华文楷体" panose="02010600040101010101" pitchFamily="2" charset="-122"/>
              </a:rPr>
              <a:t>，否则为</a:t>
            </a:r>
            <a:r>
              <a:rPr lang="en-US" altLang="zh-CN" sz="1800" b="1" dirty="0" smtClean="0">
                <a:ea typeface="华文楷体" panose="02010600040101010101" pitchFamily="2" charset="-122"/>
              </a:rPr>
              <a:t>FLASE</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marL="609600" indent="-609600" eaLnBrk="1" hangingPunct="1">
              <a:lnSpc>
                <a:spcPct val="80000"/>
              </a:lnSpc>
              <a:buNone/>
            </a:pPr>
            <a:endParaRPr lang="en-US" altLang="zh-CN" sz="1800" dirty="0" smtClean="0">
              <a:ea typeface="华文楷体" panose="02010600040101010101" pitchFamily="2" charset="-122"/>
            </a:endParaRPr>
          </a:p>
          <a:p>
            <a:pPr marL="609600" indent="-609600" eaLnBrk="1" hangingPunct="1">
              <a:lnSpc>
                <a:spcPct val="80000"/>
              </a:lnSpc>
              <a:buNone/>
            </a:pPr>
            <a:r>
              <a:rPr lang="en-US" altLang="zh-CN" sz="1800" dirty="0" smtClean="0">
                <a:ea typeface="华文楷体" panose="02010600040101010101" pitchFamily="2" charset="-122"/>
              </a:rPr>
              <a:t>3. </a:t>
            </a:r>
            <a:r>
              <a:rPr lang="zh-CN" altLang="en-US" sz="1800" dirty="0" smtClean="0">
                <a:ea typeface="华文楷体" panose="02010600040101010101" pitchFamily="2" charset="-122"/>
              </a:rPr>
              <a:t>编写算法判断一</a:t>
            </a:r>
            <a:r>
              <a:rPr lang="zh-CN" altLang="en-US" sz="1800" dirty="0">
                <a:ea typeface="华文楷体" panose="02010600040101010101" pitchFamily="2" charset="-122"/>
              </a:rPr>
              <a:t>棵以二叉链表</a:t>
            </a:r>
            <a:r>
              <a:rPr lang="zh-CN" altLang="en-US" sz="1800" dirty="0" smtClean="0">
                <a:ea typeface="华文楷体" panose="02010600040101010101" pitchFamily="2" charset="-122"/>
              </a:rPr>
              <a:t>表示的二叉树是否为完全二叉树。</a:t>
            </a:r>
            <a:endParaRPr lang="zh-CN" altLang="en-US" sz="1800" dirty="0" smtClean="0">
              <a:ea typeface="华文楷体" panose="02010600040101010101" pitchFamily="2" charset="-122"/>
            </a:endParaRPr>
          </a:p>
          <a:p>
            <a:pPr marL="609600" indent="-609600" eaLnBrk="1" hangingPunct="1">
              <a:lnSpc>
                <a:spcPct val="80000"/>
              </a:lnSpc>
              <a:buNone/>
            </a:pPr>
            <a:r>
              <a:rPr lang="zh-CN" altLang="en-US" sz="1800" dirty="0" smtClean="0">
                <a:ea typeface="华文楷体" panose="02010600040101010101" pitchFamily="2" charset="-122"/>
              </a:rPr>
              <a:t>      </a:t>
            </a:r>
            <a:r>
              <a:rPr lang="en-US" altLang="zh-CN" sz="1800" b="1" dirty="0" smtClean="0">
                <a:ea typeface="华文楷体" panose="02010600040101010101" pitchFamily="2" charset="-122"/>
              </a:rPr>
              <a:t>bool </a:t>
            </a:r>
            <a:r>
              <a:rPr lang="en-US" altLang="zh-CN" sz="1800" b="1" dirty="0" err="1">
                <a:ea typeface="华文楷体" panose="02010600040101010101" pitchFamily="2" charset="-122"/>
              </a:rPr>
              <a:t>JudgeComplete</a:t>
            </a:r>
            <a:r>
              <a:rPr lang="en-US" altLang="zh-CN" sz="1800" b="1" dirty="0">
                <a:ea typeface="华文楷体" panose="02010600040101010101" pitchFamily="2" charset="-122"/>
              </a:rPr>
              <a:t>(</a:t>
            </a:r>
            <a:r>
              <a:rPr lang="en-US" altLang="zh-CN" sz="1800" b="1" dirty="0" err="1">
                <a:ea typeface="华文楷体" panose="02010600040101010101" pitchFamily="2" charset="-122"/>
              </a:rPr>
              <a:t>BiTree</a:t>
            </a:r>
            <a:r>
              <a:rPr lang="en-US" altLang="zh-CN" sz="1800" b="1" dirty="0">
                <a:ea typeface="华文楷体" panose="02010600040101010101" pitchFamily="2" charset="-122"/>
              </a:rPr>
              <a:t> </a:t>
            </a:r>
            <a:r>
              <a:rPr lang="en-US" altLang="zh-CN" sz="1800" b="1" dirty="0" smtClean="0">
                <a:ea typeface="华文楷体" panose="02010600040101010101" pitchFamily="2" charset="-122"/>
              </a:rPr>
              <a:t>root) </a:t>
            </a:r>
            <a:r>
              <a:rPr lang="en-US" altLang="zh-CN" sz="1800" b="1" dirty="0">
                <a:ea typeface="华文楷体" panose="02010600040101010101" pitchFamily="2" charset="-122"/>
              </a:rPr>
              <a:t>)//root</a:t>
            </a:r>
            <a:r>
              <a:rPr lang="zh-CN" altLang="en-US" sz="1800" b="1" dirty="0">
                <a:ea typeface="华文楷体" panose="02010600040101010101" pitchFamily="2" charset="-122"/>
              </a:rPr>
              <a:t>为</a:t>
            </a:r>
            <a:r>
              <a:rPr lang="zh-CN" altLang="en-US" sz="1800" b="1" dirty="0" smtClean="0">
                <a:ea typeface="华文楷体" panose="02010600040101010101" pitchFamily="2" charset="-122"/>
              </a:rPr>
              <a:t>根</a:t>
            </a:r>
            <a:r>
              <a:rPr lang="en-US" altLang="zh-CN" sz="1800" b="1" dirty="0" smtClean="0">
                <a:ea typeface="华文楷体" panose="02010600040101010101" pitchFamily="2" charset="-122"/>
              </a:rPr>
              <a:t> </a:t>
            </a:r>
            <a:endParaRPr lang="en-US" altLang="zh-CN" sz="1800" b="1" dirty="0" smtClean="0">
              <a:ea typeface="华文楷体" panose="02010600040101010101" pitchFamily="2" charset="-122"/>
            </a:endParaRPr>
          </a:p>
          <a:p>
            <a:pPr marL="609600" indent="-609600" eaLnBrk="1" hangingPunct="1">
              <a:lnSpc>
                <a:spcPct val="80000"/>
              </a:lnSpc>
              <a:buNone/>
            </a:pPr>
            <a:r>
              <a:rPr lang="zh-CN" altLang="en-US" sz="1800" b="1" dirty="0">
                <a:solidFill>
                  <a:srgbClr val="FF0000"/>
                </a:solidFill>
                <a:ea typeface="华文楷体" panose="02010600040101010101" pitchFamily="2" charset="-122"/>
              </a:rPr>
              <a:t>二</a:t>
            </a:r>
            <a:r>
              <a:rPr lang="zh-CN" altLang="en-US" sz="1800" b="1" dirty="0" smtClean="0">
                <a:solidFill>
                  <a:srgbClr val="FF0000"/>
                </a:solidFill>
                <a:ea typeface="华文楷体" panose="02010600040101010101" pitchFamily="2" charset="-122"/>
              </a:rPr>
              <a:t>叉链表结构见课件中的定义</a:t>
            </a:r>
            <a:endParaRPr lang="en-US" altLang="zh-CN" sz="1800" b="1" dirty="0" smtClean="0">
              <a:solidFill>
                <a:srgbClr val="FF0000"/>
              </a:solidFill>
              <a:ea typeface="华文楷体" panose="02010600040101010101" pitchFamily="2" charset="-122"/>
            </a:endParaRPr>
          </a:p>
          <a:p>
            <a:pPr eaLnBrk="1" hangingPunct="1">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eaLnBrk="1" hangingPunct="1">
              <a:buNone/>
            </a:pPr>
            <a:r>
              <a:rPr lang="en-US" altLang="zh-CN" sz="1800" dirty="0" smtClean="0">
                <a:ea typeface="华文楷体" panose="02010600040101010101" pitchFamily="2" charset="-122"/>
              </a:rPr>
              <a:t>4</a:t>
            </a:r>
            <a:r>
              <a:rPr lang="en-US" altLang="zh-CN" sz="1800" dirty="0">
                <a:ea typeface="华文楷体" panose="02010600040101010101" pitchFamily="2" charset="-122"/>
              </a:rPr>
              <a:t>. </a:t>
            </a:r>
            <a:r>
              <a:rPr lang="zh-CN" altLang="en-US" sz="1800" dirty="0">
                <a:ea typeface="华文楷体" panose="02010600040101010101" pitchFamily="2" charset="-122"/>
              </a:rPr>
              <a:t>设计算法求孩子兄弟链表表示的树的度。</a:t>
            </a:r>
            <a:endParaRPr lang="zh-CN" altLang="en-US" sz="1800" dirty="0">
              <a:ea typeface="华文楷体" panose="02010600040101010101" pitchFamily="2" charset="-122"/>
            </a:endParaRPr>
          </a:p>
          <a:p>
            <a:pPr eaLnBrk="1" hangingPunct="1">
              <a:buNone/>
            </a:pPr>
            <a:r>
              <a:rPr lang="en-US" altLang="zh-CN" sz="1800" b="1" dirty="0" err="1">
                <a:ea typeface="华文楷体" panose="02010600040101010101" pitchFamily="2" charset="-122"/>
              </a:rPr>
              <a:t>int</a:t>
            </a:r>
            <a:r>
              <a:rPr lang="en-US" altLang="zh-CN" sz="1800" b="1" dirty="0">
                <a:ea typeface="华文楷体" panose="02010600040101010101" pitchFamily="2" charset="-122"/>
              </a:rPr>
              <a:t>  degree(</a:t>
            </a:r>
            <a:r>
              <a:rPr lang="en-US" altLang="zh-CN" sz="1800" b="1" dirty="0" err="1">
                <a:ea typeface="华文楷体" panose="02010600040101010101" pitchFamily="2" charset="-122"/>
              </a:rPr>
              <a:t>CSTree</a:t>
            </a:r>
            <a:r>
              <a:rPr lang="en-US" altLang="zh-CN" sz="1800" b="1" dirty="0">
                <a:ea typeface="华文楷体" panose="02010600040101010101" pitchFamily="2" charset="-122"/>
              </a:rPr>
              <a:t>  root </a:t>
            </a:r>
            <a:r>
              <a:rPr lang="en-US" altLang="zh-CN" sz="1800" b="1" dirty="0" smtClean="0">
                <a:ea typeface="华文楷体" panose="02010600040101010101" pitchFamily="2" charset="-122"/>
              </a:rPr>
              <a:t>)//root</a:t>
            </a:r>
            <a:r>
              <a:rPr lang="zh-CN" altLang="en-US" sz="1800" b="1" dirty="0" smtClean="0">
                <a:ea typeface="华文楷体" panose="02010600040101010101" pitchFamily="2" charset="-122"/>
              </a:rPr>
              <a:t>为根</a:t>
            </a:r>
            <a:endParaRPr lang="en-US" altLang="zh-CN" sz="1800" dirty="0" smtClean="0">
              <a:ea typeface="华文楷体" panose="02010600040101010101" pitchFamily="2" charset="-122"/>
            </a:endParaRPr>
          </a:p>
          <a:p>
            <a:pPr eaLnBrk="1" hangingPunct="1">
              <a:buNone/>
            </a:pPr>
            <a:endParaRPr lang="en-US" altLang="zh-CN" sz="1800" dirty="0" smtClean="0">
              <a:ea typeface="华文楷体" panose="02010600040101010101" pitchFamily="2" charset="-122"/>
            </a:endParaRPr>
          </a:p>
          <a:p>
            <a:pPr eaLnBrk="1" hangingPunct="1">
              <a:buNone/>
            </a:pPr>
            <a:r>
              <a:rPr lang="en-US" altLang="zh-CN" sz="1800" dirty="0" smtClean="0">
                <a:ea typeface="华文楷体" panose="02010600040101010101" pitchFamily="2" charset="-122"/>
              </a:rPr>
              <a:t>5</a:t>
            </a:r>
            <a:r>
              <a:rPr lang="en-US" altLang="zh-CN" sz="1800" dirty="0">
                <a:ea typeface="华文楷体" panose="02010600040101010101" pitchFamily="2" charset="-122"/>
              </a:rPr>
              <a:t>. </a:t>
            </a:r>
            <a:r>
              <a:rPr lang="zh-CN" altLang="en-US" sz="1800" dirty="0">
                <a:ea typeface="华文楷体" panose="02010600040101010101" pitchFamily="2" charset="-122"/>
              </a:rPr>
              <a:t>试编写算法，对一棵以孩子</a:t>
            </a:r>
            <a:r>
              <a:rPr lang="en-US" altLang="zh-CN" sz="1800" dirty="0">
                <a:ea typeface="华文楷体" panose="02010600040101010101" pitchFamily="2" charset="-122"/>
              </a:rPr>
              <a:t>-</a:t>
            </a:r>
            <a:r>
              <a:rPr lang="zh-CN" altLang="en-US" sz="1800" dirty="0">
                <a:ea typeface="华文楷体" panose="02010600040101010101" pitchFamily="2" charset="-122"/>
              </a:rPr>
              <a:t>兄弟链表表示的树统计叶子的个数。</a:t>
            </a:r>
            <a:endParaRPr lang="en-US" altLang="zh-CN" sz="1800" dirty="0">
              <a:ea typeface="华文楷体" panose="02010600040101010101" pitchFamily="2" charset="-122"/>
            </a:endParaRPr>
          </a:p>
          <a:p>
            <a:pPr eaLnBrk="1" hangingPunct="1">
              <a:buNone/>
            </a:pPr>
            <a:r>
              <a:rPr lang="en-US" altLang="zh-CN" sz="1800" b="1" dirty="0" err="1">
                <a:ea typeface="华文楷体" panose="02010600040101010101" pitchFamily="2" charset="-122"/>
              </a:rPr>
              <a:t>int</a:t>
            </a:r>
            <a:r>
              <a:rPr lang="en-US" altLang="zh-CN" sz="1800" b="1" dirty="0">
                <a:ea typeface="华文楷体" panose="02010600040101010101" pitchFamily="2" charset="-122"/>
              </a:rPr>
              <a:t> Count(</a:t>
            </a:r>
            <a:r>
              <a:rPr lang="en-US" altLang="zh-CN" sz="1800" b="1" dirty="0" err="1">
                <a:ea typeface="华文楷体" panose="02010600040101010101" pitchFamily="2" charset="-122"/>
              </a:rPr>
              <a:t>CSTree</a:t>
            </a:r>
            <a:r>
              <a:rPr lang="en-US" altLang="zh-CN" sz="1800" b="1" dirty="0">
                <a:ea typeface="华文楷体" panose="02010600040101010101" pitchFamily="2" charset="-122"/>
              </a:rPr>
              <a:t> root) //root </a:t>
            </a:r>
            <a:r>
              <a:rPr lang="zh-CN" altLang="en-US" sz="1800" b="1" dirty="0">
                <a:ea typeface="华文楷体" panose="02010600040101010101" pitchFamily="2" charset="-122"/>
              </a:rPr>
              <a:t>为根</a:t>
            </a:r>
            <a:endParaRPr lang="en-US" altLang="zh-CN" sz="1800" b="1" dirty="0">
              <a:ea typeface="华文楷体" panose="02010600040101010101" pitchFamily="2" charset="-122"/>
            </a:endParaRPr>
          </a:p>
          <a:p>
            <a:pPr marL="609600" indent="-609600" eaLnBrk="1" hangingPunct="1">
              <a:lnSpc>
                <a:spcPct val="80000"/>
              </a:lnSpc>
              <a:buNone/>
            </a:pPr>
            <a:r>
              <a:rPr lang="zh-CN" altLang="en-US" sz="1800" b="1" dirty="0">
                <a:solidFill>
                  <a:srgbClr val="FF0000"/>
                </a:solidFill>
                <a:ea typeface="华文楷体" panose="02010600040101010101" pitchFamily="2" charset="-122"/>
              </a:rPr>
              <a:t>孩子兄弟链表结构见课件中的定义</a:t>
            </a:r>
            <a:endParaRPr lang="en-US" altLang="zh-CN" sz="1800" b="1" dirty="0">
              <a:solidFill>
                <a:srgbClr val="FF0000"/>
              </a:solidFill>
              <a:ea typeface="华文楷体" panose="02010600040101010101" pitchFamily="2" charset="-122"/>
            </a:endParaRPr>
          </a:p>
          <a:p>
            <a:pPr marL="609600" indent="-609600" eaLnBrk="1" hangingPunct="1">
              <a:lnSpc>
                <a:spcPct val="80000"/>
              </a:lnSpc>
              <a:buFont typeface="Wingdings" panose="05000000000000000000" pitchFamily="2" charset="2"/>
              <a:buNone/>
            </a:pPr>
            <a:endParaRPr lang="en-US" altLang="zh-CN" sz="1800" b="1" dirty="0">
              <a:ea typeface="华文楷体" panose="0201060004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87044" name="Rectangle 2"/>
          <p:cNvSpPr>
            <a:spLocks noGrp="1" noChangeArrowheads="1"/>
          </p:cNvSpPr>
          <p:nvPr>
            <p:ph type="title"/>
          </p:nvPr>
        </p:nvSpPr>
        <p:spPr/>
        <p:txBody>
          <a:bodyPr/>
          <a:lstStyle/>
          <a:p>
            <a:pPr eaLnBrk="1" hangingPunct="1"/>
            <a:r>
              <a:rPr lang="zh-CN" altLang="en-US" sz="2800" dirty="0" smtClean="0">
                <a:ea typeface="华文楷体" panose="02010600040101010101" pitchFamily="2" charset="-122"/>
              </a:rPr>
              <a:t>、</a:t>
            </a:r>
            <a:endParaRPr lang="zh-CN" altLang="en-US" sz="2800" dirty="0" smtClean="0">
              <a:ea typeface="华文楷体" panose="02010600040101010101" pitchFamily="2" charset="-122"/>
            </a:endParaRPr>
          </a:p>
        </p:txBody>
      </p:sp>
      <p:sp>
        <p:nvSpPr>
          <p:cNvPr id="87045" name="Rectangle 3"/>
          <p:cNvSpPr>
            <a:spLocks noGrp="1" noChangeArrowheads="1"/>
          </p:cNvSpPr>
          <p:nvPr>
            <p:ph idx="1"/>
          </p:nvPr>
        </p:nvSpPr>
        <p:spPr/>
        <p:txBody>
          <a:bodyPr/>
          <a:lstStyle/>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6.</a:t>
            </a:r>
            <a:r>
              <a:rPr lang="zh-CN" altLang="en-US" sz="2400" dirty="0" smtClean="0">
                <a:ea typeface="华文楷体" panose="02010600040101010101" pitchFamily="2" charset="-122"/>
              </a:rPr>
              <a:t>一个深度为</a:t>
            </a:r>
            <a:r>
              <a:rPr lang="en-US" altLang="zh-CN" sz="2400" dirty="0" smtClean="0">
                <a:ea typeface="华文楷体" panose="02010600040101010101" pitchFamily="2" charset="-122"/>
              </a:rPr>
              <a:t>L</a:t>
            </a:r>
            <a:r>
              <a:rPr lang="zh-CN" altLang="en-US" sz="2400" dirty="0" smtClean="0">
                <a:ea typeface="华文楷体" panose="02010600040101010101" pitchFamily="2" charset="-122"/>
              </a:rPr>
              <a:t>的满</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叉树有以下性质：第</a:t>
            </a:r>
            <a:r>
              <a:rPr lang="en-US" altLang="zh-CN" sz="2400" dirty="0" smtClean="0">
                <a:ea typeface="华文楷体" panose="02010600040101010101" pitchFamily="2" charset="-122"/>
              </a:rPr>
              <a:t>L</a:t>
            </a:r>
            <a:r>
              <a:rPr lang="zh-CN" altLang="en-US" sz="2400" dirty="0" smtClean="0">
                <a:ea typeface="华文楷体" panose="02010600040101010101" pitchFamily="2" charset="-122"/>
              </a:rPr>
              <a:t>层上的结点都是叶子结点，其余各层上每个结点都有</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棵非空子树，如果按层次顺序从</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开始对全部结点进行编号，求：</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）各层的结点的数目是多少？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）编号为</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的结点的双亲结点（若存在）的编号是多少？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）编号为</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的结点的第</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个孩子结点（若存在）的编号是多少？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4</a:t>
            </a:r>
            <a:r>
              <a:rPr lang="zh-CN" altLang="en-US" sz="2400" dirty="0" smtClean="0">
                <a:ea typeface="华文楷体" panose="02010600040101010101" pitchFamily="2" charset="-122"/>
              </a:rPr>
              <a:t>）编号为</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的结点有右兄弟的条件是什么？如果有，其右兄弟的编号是多少？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请给出计算和推导过程。</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7. </a:t>
            </a:r>
            <a:r>
              <a:rPr lang="zh-CN" altLang="en-US" sz="2400" dirty="0" smtClean="0">
                <a:ea typeface="华文楷体" panose="02010600040101010101" pitchFamily="2" charset="-122"/>
              </a:rPr>
              <a:t>试证明</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同一棵二叉树的所有叶子结点，在先序序列、中序序列以及后序序列中都按相同的相对位置出现（即先后顺序相同），例如先序</a:t>
            </a:r>
            <a:r>
              <a:rPr lang="en-US" altLang="zh-CN" sz="2400" dirty="0" err="1" smtClean="0">
                <a:ea typeface="华文楷体" panose="02010600040101010101" pitchFamily="2" charset="-122"/>
              </a:rPr>
              <a:t>a</a:t>
            </a:r>
            <a:r>
              <a:rPr lang="en-US" altLang="zh-CN" sz="2400" u="sng" dirty="0" err="1" smtClean="0">
                <a:solidFill>
                  <a:srgbClr val="A7030F"/>
                </a:solidFill>
                <a:ea typeface="华文楷体" panose="02010600040101010101" pitchFamily="2" charset="-122"/>
              </a:rPr>
              <a:t>bc</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后序</a:t>
            </a:r>
            <a:r>
              <a:rPr lang="en-US" altLang="zh-CN" sz="2400" u="sng" dirty="0" err="1" smtClean="0">
                <a:solidFill>
                  <a:srgbClr val="A7030F"/>
                </a:solidFill>
                <a:ea typeface="华文楷体" panose="02010600040101010101" pitchFamily="2" charset="-122"/>
              </a:rPr>
              <a:t>bc</a:t>
            </a:r>
            <a:r>
              <a:rPr lang="en-US" altLang="zh-CN" sz="2400" dirty="0" err="1" smtClean="0">
                <a:ea typeface="华文楷体" panose="02010600040101010101" pitchFamily="2" charset="-122"/>
              </a:rPr>
              <a:t>a</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中序</a:t>
            </a:r>
            <a:r>
              <a:rPr lang="en-US" altLang="zh-CN" sz="2400" u="sng" dirty="0" smtClean="0">
                <a:solidFill>
                  <a:srgbClr val="A7030F"/>
                </a:solidFill>
                <a:ea typeface="华文楷体" panose="02010600040101010101" pitchFamily="2" charset="-122"/>
              </a:rPr>
              <a:t>b</a:t>
            </a:r>
            <a:r>
              <a:rPr lang="en-US" altLang="zh-CN" sz="2400" dirty="0" smtClean="0">
                <a:ea typeface="华文楷体" panose="02010600040101010101" pitchFamily="2" charset="-122"/>
              </a:rPr>
              <a:t>a</a:t>
            </a:r>
            <a:r>
              <a:rPr lang="en-US" altLang="zh-CN" sz="2400" u="sng" dirty="0" smtClean="0">
                <a:solidFill>
                  <a:srgbClr val="A7030F"/>
                </a:solidFill>
                <a:ea typeface="华文楷体" panose="02010600040101010101" pitchFamily="2" charset="-122"/>
              </a:rPr>
              <a:t>c</a:t>
            </a:r>
            <a:r>
              <a:rPr lang="zh-CN" altLang="en-US" sz="2400" dirty="0" smtClean="0">
                <a:ea typeface="华文楷体" panose="02010600040101010101" pitchFamily="2" charset="-122"/>
              </a:rPr>
              <a:t>。</a:t>
            </a:r>
            <a:r>
              <a:rPr lang="zh-CN" altLang="en-US" dirty="0" smtClean="0">
                <a:ea typeface="华文楷体" panose="02010600040101010101" pitchFamily="2" charset="-122"/>
              </a:rPr>
              <a:t>  </a:t>
            </a:r>
            <a:endParaRPr lang="zh-CN" altLang="en-US" dirty="0" smtClean="0">
              <a:ea typeface="华文楷体" panose="0201060004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8806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8069" name="Rectangle 3"/>
          <p:cNvSpPr>
            <a:spLocks noGrp="1" noChangeArrowheads="1"/>
          </p:cNvSpPr>
          <p:nvPr>
            <p:ph idx="1"/>
          </p:nvPr>
        </p:nvSpPr>
        <p:spPr/>
        <p:txBody>
          <a:bodyPr/>
          <a:lstStyle/>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8.</a:t>
            </a:r>
            <a:r>
              <a:rPr lang="zh-CN" altLang="en-US" sz="2400" dirty="0" smtClean="0">
                <a:ea typeface="华文楷体" panose="02010600040101010101" pitchFamily="2" charset="-122"/>
              </a:rPr>
              <a:t>试给出下列有关并查集的操作序列的运算结果：</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merge(1,2), merge(3,4), merge(3,5), merge(1,7),</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merge(3,6), merge(8,9),merge(1,8), merge(3,10), merge(3,11), merge(3,12), merge(3,13),</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merge(14,15), merge(16,0), merge(14,16), merge(1,3), merge(1,14).</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要求</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）对于</a:t>
            </a:r>
            <a:r>
              <a:rPr lang="en-US" altLang="zh-CN" sz="2400" dirty="0" smtClean="0">
                <a:ea typeface="华文楷体" panose="02010600040101010101" pitchFamily="2" charset="-122"/>
              </a:rPr>
              <a:t>merge(</a:t>
            </a:r>
            <a:r>
              <a:rPr lang="en-US" altLang="zh-CN" sz="2400" dirty="0" err="1" smtClean="0">
                <a:ea typeface="华文楷体" panose="02010600040101010101" pitchFamily="2" charset="-122"/>
              </a:rPr>
              <a:t>i,j</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以</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作为</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的双亲；</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）按</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为根的树的高度实现</a:t>
            </a:r>
            <a:r>
              <a:rPr lang="en-US" altLang="zh-CN" sz="2400" dirty="0" smtClean="0">
                <a:ea typeface="华文楷体" panose="02010600040101010101" pitchFamily="2" charset="-122"/>
              </a:rPr>
              <a:t>merge(</a:t>
            </a:r>
            <a:r>
              <a:rPr lang="en-US" altLang="zh-CN" sz="2400" dirty="0" err="1" smtClean="0">
                <a:ea typeface="华文楷体" panose="02010600040101010101" pitchFamily="2" charset="-122"/>
              </a:rPr>
              <a:t>i,j</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高度大者为高度小者的双亲；    </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）按</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和</a:t>
            </a:r>
            <a:r>
              <a:rPr lang="en-US" altLang="zh-CN" sz="2400" dirty="0" smtClean="0">
                <a:ea typeface="华文楷体" panose="02010600040101010101" pitchFamily="2" charset="-122"/>
              </a:rPr>
              <a:t>j</a:t>
            </a:r>
            <a:r>
              <a:rPr lang="zh-CN" altLang="en-US" sz="2400" dirty="0" smtClean="0">
                <a:ea typeface="华文楷体" panose="02010600040101010101" pitchFamily="2" charset="-122"/>
              </a:rPr>
              <a:t>为根的树的结点个数实现</a:t>
            </a:r>
            <a:r>
              <a:rPr lang="en-US" altLang="zh-CN" sz="2400" dirty="0" smtClean="0">
                <a:ea typeface="华文楷体" panose="02010600040101010101" pitchFamily="2" charset="-122"/>
              </a:rPr>
              <a:t>merge(</a:t>
            </a:r>
            <a:r>
              <a:rPr lang="en-US" altLang="zh-CN" sz="2400" dirty="0" err="1" smtClean="0">
                <a:ea typeface="华文楷体" panose="02010600040101010101" pitchFamily="2" charset="-122"/>
              </a:rPr>
              <a:t>i,j</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结点个数大者为结点个数小者的双亲。</a:t>
            </a:r>
            <a:endParaRPr lang="zh-CN" altLang="en-US" sz="2400" dirty="0" smtClean="0">
              <a:ea typeface="华文楷体" panose="0201060004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8909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89093"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dirty="0" smtClean="0">
                <a:ea typeface="华文楷体" panose="02010600040101010101" pitchFamily="2" charset="-122"/>
              </a:rPr>
              <a:t>9.</a:t>
            </a:r>
            <a:r>
              <a:rPr lang="zh-CN" altLang="en-US" sz="2400" dirty="0" smtClean="0">
                <a:ea typeface="华文楷体" panose="02010600040101010101" pitchFamily="2" charset="-122"/>
              </a:rPr>
              <a:t>设</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是一棵二叉树，除叶子结点外，其它结点的度数皆为</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，若 </a:t>
            </a:r>
            <a:r>
              <a:rPr lang="en-US" altLang="zh-CN" sz="2400" dirty="0" smtClean="0">
                <a:ea typeface="华文楷体" panose="02010600040101010101" pitchFamily="2" charset="-122"/>
              </a:rPr>
              <a:t>T</a:t>
            </a:r>
            <a:r>
              <a:rPr lang="zh-CN" altLang="en-US" sz="2400" dirty="0" smtClean="0">
                <a:ea typeface="华文楷体" panose="02010600040101010101" pitchFamily="2" charset="-122"/>
              </a:rPr>
              <a:t>中有</a:t>
            </a:r>
            <a:r>
              <a:rPr lang="en-US" altLang="zh-CN" sz="2400" dirty="0" smtClean="0">
                <a:ea typeface="华文楷体" panose="02010600040101010101" pitchFamily="2" charset="-122"/>
              </a:rPr>
              <a:t>6</a:t>
            </a:r>
            <a:r>
              <a:rPr lang="zh-CN" altLang="en-US" sz="2400" dirty="0" smtClean="0">
                <a:ea typeface="华文楷体" panose="02010600040101010101" pitchFamily="2" charset="-122"/>
              </a:rPr>
              <a:t>个叶结点，试问：</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 T</a:t>
            </a:r>
            <a:r>
              <a:rPr lang="zh-CN" altLang="en-US" sz="2400" dirty="0" smtClean="0">
                <a:ea typeface="华文楷体" panose="02010600040101010101" pitchFamily="2" charset="-122"/>
              </a:rPr>
              <a:t>树的最大深度</a:t>
            </a:r>
            <a:r>
              <a:rPr lang="en-US" altLang="zh-CN" sz="2400" dirty="0" err="1" smtClean="0">
                <a:ea typeface="华文楷体" panose="02010600040101010101" pitchFamily="2" charset="-122"/>
              </a:rPr>
              <a:t>Kmax</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最小可能深度</a:t>
            </a:r>
            <a:r>
              <a:rPr lang="en-US" altLang="zh-CN" sz="2400" dirty="0" err="1" smtClean="0">
                <a:ea typeface="华文楷体" panose="02010600040101010101" pitchFamily="2" charset="-122"/>
              </a:rPr>
              <a:t>Kmin</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(2) T</a:t>
            </a:r>
            <a:r>
              <a:rPr lang="zh-CN" altLang="en-US" sz="2400" dirty="0" smtClean="0">
                <a:ea typeface="华文楷体" panose="02010600040101010101" pitchFamily="2" charset="-122"/>
              </a:rPr>
              <a:t>树中共有多少非叶结点？</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(3) </a:t>
            </a:r>
            <a:r>
              <a:rPr lang="zh-CN" altLang="en-US" sz="2400" dirty="0" smtClean="0">
                <a:ea typeface="华文楷体" panose="02010600040101010101" pitchFamily="2" charset="-122"/>
              </a:rPr>
              <a:t>若叶结点的权值分别为</a:t>
            </a:r>
            <a:r>
              <a:rPr lang="en-US" altLang="zh-CN" sz="2400" dirty="0" smtClean="0">
                <a:ea typeface="华文楷体" panose="02010600040101010101" pitchFamily="2" charset="-122"/>
              </a:rPr>
              <a:t>1,2,3,4,5,6</a:t>
            </a:r>
            <a:r>
              <a:rPr lang="zh-CN" altLang="en-US" sz="2400" dirty="0" smtClean="0">
                <a:ea typeface="华文楷体" panose="02010600040101010101" pitchFamily="2" charset="-122"/>
              </a:rPr>
              <a:t>。请构造一棵哈曼夫树，并计算该哈曼夫树的带权路径长度</a:t>
            </a:r>
            <a:r>
              <a:rPr lang="en-US" altLang="zh-CN" sz="2400" dirty="0" err="1" smtClean="0">
                <a:ea typeface="华文楷体" panose="02010600040101010101" pitchFamily="2" charset="-122"/>
              </a:rPr>
              <a:t>wpl</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p:txBody>
      </p:sp>
      <p:pic>
        <p:nvPicPr>
          <p:cNvPr id="8909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5800" y="3352800"/>
            <a:ext cx="152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8909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5800" y="3352800"/>
            <a:ext cx="152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页脚占位符 3"/>
          <p:cNvSpPr>
            <a:spLocks noGrp="1"/>
          </p:cNvSpPr>
          <p:nvPr>
            <p:ph type="ftr" sz="quarter" idx="10"/>
          </p:nvPr>
        </p:nvSpPr>
        <p:spPr/>
        <p:txBody>
          <a:bodyPr/>
          <a:lstStyle/>
          <a:p>
            <a:pPr>
              <a:defRPr/>
            </a:pPr>
            <a:r>
              <a:rPr lang="en-US" altLang="zh-CN"/>
              <a:t>BUPT SCST</a:t>
            </a:r>
            <a:endParaRPr lang="en-US" altLang="zh-CN"/>
          </a:p>
        </p:txBody>
      </p:sp>
      <p:sp>
        <p:nvSpPr>
          <p:cNvPr id="17" name="日期占位符 5"/>
          <p:cNvSpPr>
            <a:spLocks noGrp="1"/>
          </p:cNvSpPr>
          <p:nvPr>
            <p:ph type="dt" sz="quarter" idx="12"/>
          </p:nvPr>
        </p:nvSpPr>
        <p:spPr/>
        <p:txBody>
          <a:bodyPr/>
          <a:lstStyle/>
          <a:p>
            <a:pPr>
              <a:defRPr/>
            </a:pPr>
            <a:r>
              <a:rPr lang="en-US" altLang="zh-CN"/>
              <a:t>BUPT</a:t>
            </a:r>
            <a:endParaRPr lang="en-US" altLang="zh-CN"/>
          </a:p>
        </p:txBody>
      </p:sp>
      <p:sp>
        <p:nvSpPr>
          <p:cNvPr id="90116" name="Rectangle 2"/>
          <p:cNvSpPr>
            <a:spLocks noGrp="1" noChangeArrowheads="1"/>
          </p:cNvSpPr>
          <p:nvPr>
            <p:ph type="title"/>
          </p:nvPr>
        </p:nvSpPr>
        <p:spPr/>
        <p:txBody>
          <a:bodyPr/>
          <a:lstStyle/>
          <a:p>
            <a:pPr eaLnBrk="1" hangingPunct="1"/>
            <a:r>
              <a:rPr lang="zh-CN" altLang="en-US" sz="2800" dirty="0" smtClean="0">
                <a:ea typeface="华文楷体" panose="02010600040101010101" pitchFamily="2" charset="-122"/>
              </a:rPr>
              <a:t>实验</a:t>
            </a:r>
            <a:endParaRPr lang="zh-CN" altLang="en-US" sz="2800" dirty="0" smtClean="0">
              <a:ea typeface="华文楷体" panose="02010600040101010101" pitchFamily="2" charset="-122"/>
            </a:endParaRPr>
          </a:p>
        </p:txBody>
      </p:sp>
      <p:sp>
        <p:nvSpPr>
          <p:cNvPr id="90117" name="Rectangle 3"/>
          <p:cNvSpPr>
            <a:spLocks noGrp="1" noChangeArrowheads="1"/>
          </p:cNvSpPr>
          <p:nvPr>
            <p:ph idx="1"/>
          </p:nvPr>
        </p:nvSpPr>
        <p:spPr/>
        <p:txBody>
          <a:bodyPr/>
          <a:lstStyle/>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）用先序递归过程建立二叉树 </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存储结构：二叉链表</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，要求：输出二叉树的四种表示法之一</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参见本章课件</a:t>
            </a:r>
            <a:r>
              <a:rPr lang="en-US" altLang="zh-CN" sz="2400" dirty="0" smtClean="0">
                <a:ea typeface="华文楷体" panose="02010600040101010101" pitchFamily="2" charset="-122"/>
              </a:rPr>
              <a:t>P6)</a:t>
            </a:r>
            <a:r>
              <a:rPr lang="zh-CN" altLang="en-US"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输入数据按先序遍历所得序列输入，当某结点左子树或右子树为空时，输入‘*’号，如输入</a:t>
            </a:r>
            <a:r>
              <a:rPr lang="en-US" altLang="zh-CN" sz="2400" dirty="0" err="1" smtClean="0">
                <a:ea typeface="华文楷体" panose="02010600040101010101" pitchFamily="2" charset="-122"/>
              </a:rPr>
              <a:t>abc</a:t>
            </a:r>
            <a:r>
              <a:rPr lang="en-US" altLang="zh-CN" sz="2400" dirty="0" smtClean="0">
                <a:ea typeface="华文楷体" panose="02010600040101010101" pitchFamily="2" charset="-122"/>
              </a:rPr>
              <a:t>**d**e**</a:t>
            </a:r>
            <a:r>
              <a:rPr lang="zh-CN" altLang="en-US" sz="2400" dirty="0" smtClean="0">
                <a:ea typeface="华文楷体" panose="02010600040101010101" pitchFamily="2" charset="-122"/>
              </a:rPr>
              <a:t>得到的二叉树为：</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将任意一个指定的文件进行哈夫曼编码，并以真正的二进制位生成一个二进制文件（压缩文件）；反过来，可将一个压缩文件解码还原为原来的文件。</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提示：对选定的文件以二进制方式读入，一次读入一定的长度如</a:t>
            </a:r>
            <a:r>
              <a:rPr lang="en-US" altLang="zh-CN" sz="2400" dirty="0" smtClean="0">
                <a:ea typeface="华文楷体" panose="02010600040101010101" pitchFamily="2" charset="-122"/>
              </a:rPr>
              <a:t>1024 bytes</a:t>
            </a:r>
            <a:r>
              <a:rPr lang="zh-CN" altLang="en-US" sz="2400" dirty="0" smtClean="0">
                <a:ea typeface="华文楷体" panose="02010600040101010101" pitchFamily="2" charset="-122"/>
              </a:rPr>
              <a:t>，然后对每一字节（一字节</a:t>
            </a:r>
            <a:r>
              <a:rPr lang="en-US" altLang="zh-CN" sz="2400" dirty="0" smtClean="0">
                <a:ea typeface="华文楷体" panose="02010600040101010101" pitchFamily="2" charset="-122"/>
              </a:rPr>
              <a:t>8 bit</a:t>
            </a:r>
            <a:r>
              <a:rPr lang="zh-CN" altLang="en-US" sz="2400" dirty="0" smtClean="0">
                <a:ea typeface="华文楷体" panose="02010600040101010101" pitchFamily="2" charset="-122"/>
              </a:rPr>
              <a:t>，所以刚好对应</a:t>
            </a:r>
            <a:r>
              <a:rPr lang="en-US" altLang="zh-CN" sz="2400" dirty="0" smtClean="0">
                <a:ea typeface="华文楷体" panose="02010600040101010101" pitchFamily="2" charset="-122"/>
              </a:rPr>
              <a:t>256</a:t>
            </a:r>
            <a:r>
              <a:rPr lang="zh-CN" altLang="en-US" sz="2400" dirty="0" smtClean="0">
                <a:ea typeface="华文楷体" panose="02010600040101010101" pitchFamily="2" charset="-122"/>
              </a:rPr>
              <a:t>个</a:t>
            </a:r>
            <a:r>
              <a:rPr lang="en-US" altLang="zh-CN" sz="2400" dirty="0" smtClean="0">
                <a:ea typeface="华文楷体" panose="02010600040101010101" pitchFamily="2" charset="-122"/>
              </a:rPr>
              <a:t>ASCII</a:t>
            </a:r>
            <a:r>
              <a:rPr lang="zh-CN" altLang="en-US" sz="2400" dirty="0" smtClean="0">
                <a:ea typeface="华文楷体" panose="02010600040101010101" pitchFamily="2" charset="-122"/>
              </a:rPr>
              <a:t>字符）进行统计，如此循换统计  </a:t>
            </a:r>
            <a:endParaRPr lang="zh-CN" altLang="en-US" sz="2400" dirty="0" smtClean="0">
              <a:ea typeface="华文楷体" panose="02010600040101010101" pitchFamily="2" charset="-122"/>
            </a:endParaRPr>
          </a:p>
        </p:txBody>
      </p:sp>
      <p:sp>
        <p:nvSpPr>
          <p:cNvPr id="90118" name="Oval 4"/>
          <p:cNvSpPr>
            <a:spLocks noChangeArrowheads="1"/>
          </p:cNvSpPr>
          <p:nvPr/>
        </p:nvSpPr>
        <p:spPr bwMode="auto">
          <a:xfrm>
            <a:off x="4648200" y="2493599"/>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0119" name="Oval 5"/>
          <p:cNvSpPr>
            <a:spLocks noChangeArrowheads="1"/>
          </p:cNvSpPr>
          <p:nvPr/>
        </p:nvSpPr>
        <p:spPr bwMode="auto">
          <a:xfrm>
            <a:off x="4114800" y="3103199"/>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0120" name="Oval 6"/>
          <p:cNvSpPr>
            <a:spLocks noChangeArrowheads="1"/>
          </p:cNvSpPr>
          <p:nvPr/>
        </p:nvSpPr>
        <p:spPr bwMode="auto">
          <a:xfrm>
            <a:off x="5181600" y="3103199"/>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0121" name="Oval 7"/>
          <p:cNvSpPr>
            <a:spLocks noChangeArrowheads="1"/>
          </p:cNvSpPr>
          <p:nvPr/>
        </p:nvSpPr>
        <p:spPr bwMode="auto">
          <a:xfrm>
            <a:off x="3657600" y="3712799"/>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0122" name="Oval 8"/>
          <p:cNvSpPr>
            <a:spLocks noChangeArrowheads="1"/>
          </p:cNvSpPr>
          <p:nvPr/>
        </p:nvSpPr>
        <p:spPr bwMode="auto">
          <a:xfrm>
            <a:off x="4648200" y="3712799"/>
            <a:ext cx="381000" cy="3810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zh-CN" altLang="en-US" sz="2400" dirty="0">
              <a:latin typeface="Times New Roman" panose="02020603050405020304" pitchFamily="18" charset="0"/>
              <a:ea typeface="华文楷体" panose="02010600040101010101" pitchFamily="2" charset="-122"/>
            </a:endParaRPr>
          </a:p>
        </p:txBody>
      </p:sp>
      <p:sp>
        <p:nvSpPr>
          <p:cNvPr id="90123" name="Text Box 9"/>
          <p:cNvSpPr txBox="1">
            <a:spLocks noChangeArrowheads="1"/>
          </p:cNvSpPr>
          <p:nvPr/>
        </p:nvSpPr>
        <p:spPr bwMode="auto">
          <a:xfrm>
            <a:off x="4114800" y="3080339"/>
            <a:ext cx="1447800"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b            e</a:t>
            </a:r>
            <a:endParaRPr lang="en-US" altLang="zh-CN" sz="2400" dirty="0">
              <a:latin typeface="Times New Roman" panose="02020603050405020304" pitchFamily="18" charset="0"/>
              <a:ea typeface="华文楷体" panose="02010600040101010101" pitchFamily="2" charset="-122"/>
            </a:endParaRPr>
          </a:p>
        </p:txBody>
      </p:sp>
      <p:sp>
        <p:nvSpPr>
          <p:cNvPr id="90124" name="Text Box 10"/>
          <p:cNvSpPr txBox="1">
            <a:spLocks noChangeArrowheads="1"/>
          </p:cNvSpPr>
          <p:nvPr/>
        </p:nvSpPr>
        <p:spPr bwMode="auto">
          <a:xfrm>
            <a:off x="3733800" y="3689939"/>
            <a:ext cx="1295400"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2400" dirty="0">
                <a:latin typeface="Times New Roman" panose="02020603050405020304" pitchFamily="18" charset="0"/>
                <a:ea typeface="华文楷体" panose="02010600040101010101" pitchFamily="2" charset="-122"/>
              </a:rPr>
              <a:t>c          d</a:t>
            </a:r>
            <a:endParaRPr lang="en-US" altLang="zh-CN" sz="2400" dirty="0">
              <a:latin typeface="Times New Roman" panose="02020603050405020304" pitchFamily="18" charset="0"/>
              <a:ea typeface="华文楷体" panose="02010600040101010101" pitchFamily="2" charset="-122"/>
            </a:endParaRPr>
          </a:p>
        </p:txBody>
      </p:sp>
      <p:sp>
        <p:nvSpPr>
          <p:cNvPr id="90125" name="Line 11"/>
          <p:cNvSpPr>
            <a:spLocks noChangeShapeType="1"/>
          </p:cNvSpPr>
          <p:nvPr/>
        </p:nvSpPr>
        <p:spPr bwMode="auto">
          <a:xfrm flipH="1">
            <a:off x="4343400" y="2783159"/>
            <a:ext cx="381000" cy="3352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0126" name="Line 12"/>
          <p:cNvSpPr>
            <a:spLocks noChangeShapeType="1"/>
          </p:cNvSpPr>
          <p:nvPr/>
        </p:nvSpPr>
        <p:spPr bwMode="auto">
          <a:xfrm flipH="1">
            <a:off x="3886200" y="3392759"/>
            <a:ext cx="228600" cy="3352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0127" name="Line 13"/>
          <p:cNvSpPr>
            <a:spLocks noChangeShapeType="1"/>
          </p:cNvSpPr>
          <p:nvPr/>
        </p:nvSpPr>
        <p:spPr bwMode="auto">
          <a:xfrm>
            <a:off x="4419600" y="3392759"/>
            <a:ext cx="381000" cy="3352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0128" name="Line 14"/>
          <p:cNvSpPr>
            <a:spLocks noChangeShapeType="1"/>
          </p:cNvSpPr>
          <p:nvPr/>
        </p:nvSpPr>
        <p:spPr bwMode="auto">
          <a:xfrm>
            <a:off x="5029200" y="2798399"/>
            <a:ext cx="30480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90129" name="Text Box 15"/>
          <p:cNvSpPr txBox="1">
            <a:spLocks noChangeArrowheads="1"/>
          </p:cNvSpPr>
          <p:nvPr/>
        </p:nvSpPr>
        <p:spPr bwMode="auto">
          <a:xfrm>
            <a:off x="4643438" y="2457560"/>
            <a:ext cx="360362" cy="40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lang="en-US" altLang="zh-CN" sz="1800" dirty="0">
                <a:latin typeface="Times New Roman" panose="02020603050405020304" pitchFamily="18" charset="0"/>
                <a:ea typeface="华文楷体" panose="02010600040101010101" pitchFamily="2" charset="-122"/>
              </a:rPr>
              <a:t>a</a:t>
            </a:r>
            <a:endParaRPr lang="en-US" altLang="zh-CN" sz="1800" dirty="0">
              <a:latin typeface="Times New Roman" panose="02020603050405020304" pitchFamily="18" charset="0"/>
              <a:ea typeface="华文楷体" panose="02010600040101010101" pitchFamily="2" charset="-122"/>
            </a:endParaRPr>
          </a:p>
        </p:txBody>
      </p:sp>
    </p:spTree>
  </p:cSld>
  <p:clrMapOvr>
    <a:masterClrMapping/>
  </p:clrMapOvr>
</p:sld>
</file>

<file path=ppt/theme/theme1.xml><?xml version="1.0" encoding="utf-8"?>
<a:theme xmlns:a="http://schemas.openxmlformats.org/drawingml/2006/main" name="国外精美的的PPT模板及图标之二">
  <a:themeElements>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国外精美的的PPT模板及图标之二">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defRPr>
        </a:defPPr>
      </a:lstStyle>
    </a:spDef>
    <a:lnDef>
      <a:spPr bwMode="auto">
        <a:xfrm>
          <a:off x="0" y="0"/>
          <a:ext cx="1" cy="1"/>
        </a:xfrm>
        <a:custGeom>
          <a:avLst/>
          <a:gdLst/>
          <a:ahLst/>
          <a:cxnLst/>
          <a:rect l="0" t="0" r="0" b="0"/>
          <a:pathLst/>
        </a:custGeom>
        <a:solidFill>
          <a:schemeClr val="accent1"/>
        </a:solid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kumimoji="0" lang="zh-CN" altLang="en-US"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defRPr>
        </a:defPPr>
      </a:lstStyle>
    </a:lnDef>
  </a:objectDefaults>
  <a:extraClrSchemeLst>
    <a:extraClrScheme>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国外精美的的PPT模板及图标之二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国外精美的的PPT模板及图标之二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0</TotalTime>
  <Words>26188</Words>
  <Application>WPS 演示</Application>
  <PresentationFormat>全屏显示(4:3)</PresentationFormat>
  <Paragraphs>2636</Paragraphs>
  <Slides>94</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94</vt:i4>
      </vt:variant>
    </vt:vector>
  </HeadingPairs>
  <TitlesOfParts>
    <vt:vector size="115" baseType="lpstr">
      <vt:lpstr>Arial</vt:lpstr>
      <vt:lpstr>宋体</vt:lpstr>
      <vt:lpstr>Wingdings</vt:lpstr>
      <vt:lpstr>Symbol</vt:lpstr>
      <vt:lpstr>Times New Roman</vt:lpstr>
      <vt:lpstr>华文楷体</vt:lpstr>
      <vt:lpstr>Verdana</vt:lpstr>
      <vt:lpstr>Cambria Math</vt:lpstr>
      <vt:lpstr>微软雅黑</vt:lpstr>
      <vt:lpstr>Arial Unicode MS</vt:lpstr>
      <vt:lpstr>Calibri</vt:lpstr>
      <vt:lpstr>楷体_GB2312</vt:lpstr>
      <vt:lpstr>新宋体</vt:lpstr>
      <vt:lpstr>隶书</vt:lpstr>
      <vt:lpstr>Monotype Sorts</vt:lpstr>
      <vt:lpstr>Wingdings</vt:lpstr>
      <vt:lpstr>国外精美的的PPT模板及图标之二</vt:lpstr>
      <vt:lpstr>MS_ClipArt_Gallery.2</vt:lpstr>
      <vt:lpstr>Equation.3</vt:lpstr>
      <vt:lpstr>Excel.Sheet.12</vt:lpstr>
      <vt:lpstr>Equation.3</vt:lpstr>
      <vt:lpstr>第六章    树与二叉树</vt:lpstr>
      <vt:lpstr>6.1 树的结构及基本操作</vt:lpstr>
      <vt:lpstr>PowerPoint 演示文稿</vt:lpstr>
      <vt:lpstr>PowerPoint 演示文稿</vt:lpstr>
      <vt:lpstr>PowerPoint 演示文稿</vt:lpstr>
      <vt:lpstr>PowerPoint 演示文稿</vt:lpstr>
      <vt:lpstr>PowerPoint 演示文稿</vt:lpstr>
      <vt:lpstr>PowerPoint 演示文稿</vt:lpstr>
      <vt:lpstr>6.2 二叉树的定义与性质</vt:lpstr>
      <vt:lpstr>PowerPoint 演示文稿</vt:lpstr>
      <vt:lpstr>PowerPoint 演示文稿</vt:lpstr>
      <vt:lpstr>PowerPoint 演示文稿</vt:lpstr>
      <vt:lpstr>6.3 二叉树的存储结构</vt:lpstr>
      <vt:lpstr>PowerPoint 演示文稿</vt:lpstr>
      <vt:lpstr>PowerPoint 演示文稿</vt:lpstr>
      <vt:lpstr>PowerPoint 演示文稿</vt:lpstr>
      <vt:lpstr>PowerPoint 演示文稿</vt:lpstr>
      <vt:lpstr>6.4 二叉树的遍历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6.5 算术表达式二叉树</vt:lpstr>
      <vt:lpstr>PowerPoint 演示文稿</vt:lpstr>
      <vt:lpstr>PowerPoint 演示文稿</vt:lpstr>
      <vt:lpstr>6.6 线索二叉树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6.7 哈夫曼树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6.8 树和森林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6.8 并查集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 业</vt:lpstr>
      <vt:lpstr>、</vt:lpstr>
      <vt:lpstr>PowerPoint 演示文稿</vt:lpstr>
      <vt:lpstr>PowerPoint 演示文稿</vt:lpstr>
      <vt:lpstr>实验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sunnylife</dc:creator>
  <cp:lastModifiedBy>岁月无声</cp:lastModifiedBy>
  <cp:revision>323</cp:revision>
  <dcterms:created xsi:type="dcterms:W3CDTF">2022-10-20T01:46:00Z</dcterms:created>
  <dcterms:modified xsi:type="dcterms:W3CDTF">2025-05-09T08:23:45Z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1171E812887044A8882B14B787DF13F6</vt:lpwstr>
  </property>
  <property fmtid="{D5CDD505-2E9C-101B-9397-08002B2CF9AE}" pid="4" name="KSOProductBuildVer">
    <vt:lpwstr>2052-12.1.0.20305</vt:lpwstr>
  </property>
</Properties>
</file>