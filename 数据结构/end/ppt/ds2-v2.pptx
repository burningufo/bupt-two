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367" r:id="rId3"/>
    <p:sldId id="372" r:id="rId4"/>
    <p:sldId id="370" r:id="rId5"/>
    <p:sldId id="373" r:id="rId6"/>
    <p:sldId id="374" r:id="rId7"/>
    <p:sldId id="417" r:id="rId8"/>
    <p:sldId id="375" r:id="rId9"/>
    <p:sldId id="376" r:id="rId10"/>
    <p:sldId id="377" r:id="rId11"/>
    <p:sldId id="378" r:id="rId12"/>
    <p:sldId id="380" r:id="rId13"/>
    <p:sldId id="421" r:id="rId14"/>
    <p:sldId id="381" r:id="rId15"/>
    <p:sldId id="379" r:id="rId16"/>
    <p:sldId id="382" r:id="rId17"/>
    <p:sldId id="383" r:id="rId18"/>
    <p:sldId id="259" r:id="rId19"/>
    <p:sldId id="385" r:id="rId20"/>
    <p:sldId id="289" r:id="rId21"/>
    <p:sldId id="423" r:id="rId22"/>
    <p:sldId id="386" r:id="rId23"/>
    <p:sldId id="387" r:id="rId24"/>
    <p:sldId id="390" r:id="rId25"/>
    <p:sldId id="420" r:id="rId26"/>
    <p:sldId id="389" r:id="rId27"/>
    <p:sldId id="424" r:id="rId28"/>
    <p:sldId id="391" r:id="rId29"/>
    <p:sldId id="388" r:id="rId30"/>
    <p:sldId id="281" r:id="rId31"/>
    <p:sldId id="394" r:id="rId32"/>
    <p:sldId id="393" r:id="rId33"/>
    <p:sldId id="282" r:id="rId34"/>
    <p:sldId id="392" r:id="rId35"/>
    <p:sldId id="422" r:id="rId36"/>
    <p:sldId id="291" r:id="rId37"/>
    <p:sldId id="398" r:id="rId38"/>
    <p:sldId id="399" r:id="rId39"/>
    <p:sldId id="400" r:id="rId40"/>
    <p:sldId id="401" r:id="rId41"/>
    <p:sldId id="402" r:id="rId42"/>
    <p:sldId id="403" r:id="rId43"/>
    <p:sldId id="404" r:id="rId44"/>
    <p:sldId id="405" r:id="rId46"/>
    <p:sldId id="406" r:id="rId47"/>
    <p:sldId id="407" r:id="rId48"/>
    <p:sldId id="395" r:id="rId49"/>
    <p:sldId id="397" r:id="rId50"/>
    <p:sldId id="408" r:id="rId51"/>
    <p:sldId id="396" r:id="rId52"/>
    <p:sldId id="409" r:id="rId53"/>
    <p:sldId id="416" r:id="rId54"/>
    <p:sldId id="411" r:id="rId55"/>
    <p:sldId id="412" r:id="rId56"/>
    <p:sldId id="413" r:id="rId57"/>
    <p:sldId id="414" r:id="rId58"/>
    <p:sldId id="425" r:id="rId5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66"/>
    <a:srgbClr val="CC6600"/>
    <a:srgbClr val="800000"/>
    <a:srgbClr val="FF99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4683" autoAdjust="0"/>
  </p:normalViewPr>
  <p:slideViewPr>
    <p:cSldViewPr showGuides="1">
      <p:cViewPr varScale="1">
        <p:scale>
          <a:sx n="68" d="100"/>
          <a:sy n="68" d="100"/>
        </p:scale>
        <p:origin x="1440"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98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notesMaster" Target="notesMasters/notesMaster1.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华文楷体" panose="02010600040101010101" pitchFamily="2" charset="-122"/>
                <a:ea typeface="华文楷体" panose="02010600040101010101" pitchFamily="2" charset="-122"/>
              </a:defRPr>
            </a:lvl1pPr>
          </a:lstStyle>
          <a:p>
            <a:pPr>
              <a:defRPr/>
            </a:pPr>
            <a:endParaRPr lang="en-US" altLang="zh-CN" dirty="0"/>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华文楷体" panose="02010600040101010101" pitchFamily="2" charset="-122"/>
                <a:ea typeface="华文楷体" panose="02010600040101010101" pitchFamily="2" charset="-122"/>
              </a:defRPr>
            </a:lvl1pPr>
          </a:lstStyle>
          <a:p>
            <a:pPr>
              <a:defRPr/>
            </a:pPr>
            <a:endParaRPr lang="en-US" altLang="zh-CN" dirty="0"/>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dirty="0" smtClean="0"/>
              <a:t>单击此处编辑母版文本样式</a:t>
            </a:r>
            <a:endParaRPr lang="zh-CN" altLang="en-US" noProof="0" dirty="0" smtClean="0"/>
          </a:p>
          <a:p>
            <a:pPr lvl="1"/>
            <a:r>
              <a:rPr lang="zh-CN" altLang="en-US" noProof="0" dirty="0" smtClean="0"/>
              <a:t>第二级</a:t>
            </a:r>
            <a:endParaRPr lang="zh-CN" altLang="en-US" noProof="0" dirty="0" smtClean="0"/>
          </a:p>
          <a:p>
            <a:pPr lvl="2"/>
            <a:r>
              <a:rPr lang="zh-CN" altLang="en-US" noProof="0" dirty="0" smtClean="0"/>
              <a:t>第三级</a:t>
            </a:r>
            <a:endParaRPr lang="zh-CN" altLang="en-US" noProof="0" dirty="0" smtClean="0"/>
          </a:p>
          <a:p>
            <a:pPr lvl="3"/>
            <a:r>
              <a:rPr lang="zh-CN" altLang="en-US" noProof="0" dirty="0" smtClean="0"/>
              <a:t>第四级</a:t>
            </a:r>
            <a:endParaRPr lang="zh-CN" altLang="en-US" noProof="0" dirty="0" smtClean="0"/>
          </a:p>
          <a:p>
            <a:pPr lvl="4"/>
            <a:r>
              <a:rPr lang="zh-CN" altLang="en-US" noProof="0" dirty="0" smtClean="0"/>
              <a:t>第五级</a:t>
            </a:r>
            <a:endParaRPr lang="zh-CN" altLang="en-US" noProof="0" dirty="0" smtClean="0"/>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华文楷体" panose="02010600040101010101" pitchFamily="2" charset="-122"/>
                <a:ea typeface="华文楷体" panose="02010600040101010101" pitchFamily="2" charset="-122"/>
              </a:defRPr>
            </a:lvl1pPr>
          </a:lstStyle>
          <a:p>
            <a:pPr>
              <a:defRPr/>
            </a:pPr>
            <a:endParaRPr lang="en-US" altLang="zh-CN" dirty="0"/>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华文楷体" panose="02010600040101010101" pitchFamily="2" charset="-122"/>
                <a:ea typeface="华文楷体" panose="02010600040101010101" pitchFamily="2" charset="-122"/>
              </a:defRPr>
            </a:lvl1pPr>
          </a:lstStyle>
          <a:p>
            <a:pPr>
              <a:defRPr/>
            </a:pPr>
            <a:fld id="{FC5D637C-14F5-487C-87B5-562147C3AE44}" type="slidenum">
              <a:rPr lang="en-US" altLang="zh-CN" smtClean="0"/>
            </a:fld>
            <a:endParaRPr lang="en-US" altLang="zh-C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华文楷体" panose="02010600040101010101" pitchFamily="2" charset="-122"/>
        <a:ea typeface="华文楷体" panose="0201060004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华文楷体" panose="02010600040101010101" pitchFamily="2" charset="-122"/>
        <a:ea typeface="华文楷体" panose="0201060004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华文楷体" panose="02010600040101010101" pitchFamily="2" charset="-122"/>
        <a:ea typeface="华文楷体" panose="0201060004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华文楷体" panose="02010600040101010101" pitchFamily="2" charset="-122"/>
        <a:ea typeface="华文楷体" panose="0201060004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华文楷体" panose="02010600040101010101" pitchFamily="2" charset="-122"/>
        <a:ea typeface="华文楷体" panose="0201060004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4C5158F-2D6B-4EDC-9B70-0BED95C2A175}" type="slidenum">
              <a:rPr lang="en-US" altLang="zh-CN" smtClean="0">
                <a:latin typeface="华文楷体" panose="02010600040101010101" pitchFamily="2" charset="-122"/>
                <a:ea typeface="华文楷体" panose="02010600040101010101" pitchFamily="2" charset="-122"/>
              </a:rPr>
            </a:fld>
            <a:endParaRPr lang="en-US" altLang="zh-CN" dirty="0" smtClean="0">
              <a:latin typeface="华文楷体" panose="02010600040101010101" pitchFamily="2" charset="-122"/>
              <a:ea typeface="华文楷体" panose="02010600040101010101" pitchFamily="2" charset="-122"/>
            </a:endParaRPr>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2355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2"/>
          <p:cNvSpPr>
            <a:spLocks noChangeArrowheads="1"/>
          </p:cNvSpPr>
          <p:nvPr/>
        </p:nvSpPr>
        <p:spPr bwMode="ltGray">
          <a:xfrm>
            <a:off x="0" y="6611938"/>
            <a:ext cx="9144000" cy="26035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dirty="0" smtClean="0">
              <a:latin typeface="华文楷体" panose="02010600040101010101" pitchFamily="2" charset="-122"/>
              <a:ea typeface="华文楷体" panose="02010600040101010101" pitchFamily="2" charset="-122"/>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p:cNvSpPr txBox="1">
            <a:spLocks noChangeArrowheads="1"/>
          </p:cNvSpPr>
          <p:nvPr/>
        </p:nvSpPr>
        <p:spPr bwMode="auto">
          <a:xfrm>
            <a:off x="376238" y="228600"/>
            <a:ext cx="11477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600" b="1" dirty="0" smtClean="0">
                <a:solidFill>
                  <a:schemeClr val="tx2"/>
                </a:solidFill>
                <a:latin typeface="华文楷体" panose="02010600040101010101" pitchFamily="2" charset="-122"/>
                <a:ea typeface="华文楷体" panose="02010600040101010101" pitchFamily="2" charset="-122"/>
              </a:rPr>
              <a:t>BUPT</a:t>
            </a:r>
            <a:endParaRPr lang="en-US" altLang="zh-CN" sz="2400" b="1" dirty="0" smtClean="0">
              <a:latin typeface="华文楷体" panose="02010600040101010101" pitchFamily="2" charset="-122"/>
              <a:ea typeface="华文楷体" panose="02010600040101010101" pitchFamily="2" charset="-122"/>
            </a:endParaRPr>
          </a:p>
        </p:txBody>
      </p:sp>
      <p:sp>
        <p:nvSpPr>
          <p:cNvPr id="128004" name="Rectangle 4"/>
          <p:cNvSpPr>
            <a:spLocks noGrp="1" noChangeArrowheads="1"/>
          </p:cNvSpPr>
          <p:nvPr>
            <p:ph type="subTitle" idx="1"/>
          </p:nvPr>
        </p:nvSpPr>
        <p:spPr bwMode="gray">
          <a:xfrm>
            <a:off x="1371600" y="5867400"/>
            <a:ext cx="6553200" cy="533400"/>
          </a:xfrm>
        </p:spPr>
        <p:txBody>
          <a:bodyPr/>
          <a:lstStyle>
            <a:lvl1pPr marL="0" indent="0" algn="ctr">
              <a:buFont typeface="Wingdings" panose="05000000000000000000" pitchFamily="2" charset="2"/>
              <a:buNone/>
              <a:defRPr sz="1800" b="1">
                <a:solidFill>
                  <a:schemeClr val="tx2"/>
                </a:solidFill>
                <a:latin typeface="Verdana" panose="020B0604030504040204" pitchFamily="34" charset="0"/>
              </a:defRPr>
            </a:lvl1pPr>
          </a:lstStyle>
          <a:p>
            <a:r>
              <a:rPr lang="en-US" altLang="zh-CN"/>
              <a:t>Click to edit Master subtitle style</a:t>
            </a:r>
            <a:endParaRPr lang="en-US" altLang="zh-CN"/>
          </a:p>
        </p:txBody>
      </p:sp>
      <p:sp>
        <p:nvSpPr>
          <p:cNvPr id="128006" name="Rectangle 6"/>
          <p:cNvSpPr>
            <a:spLocks noGrp="1" noChangeArrowheads="1"/>
          </p:cNvSpPr>
          <p:nvPr>
            <p:ph type="ctrTitle" sz="quarter" hasCustomPrompt="1"/>
          </p:nvPr>
        </p:nvSpPr>
        <p:spPr bwMode="gray">
          <a:xfrm>
            <a:off x="0" y="4868863"/>
            <a:ext cx="9144000" cy="720725"/>
          </a:xfrm>
          <a:gradFill rotWithShape="1">
            <a:gsLst>
              <a:gs pos="0">
                <a:schemeClr val="tx1">
                  <a:gamma/>
                  <a:shade val="46275"/>
                  <a:invGamma/>
                </a:schemeClr>
              </a:gs>
              <a:gs pos="50000">
                <a:schemeClr val="tx1"/>
              </a:gs>
              <a:gs pos="100000">
                <a:schemeClr val="tx1">
                  <a:gamma/>
                  <a:shade val="46275"/>
                  <a:invGamma/>
                </a:schemeClr>
              </a:gs>
            </a:gsLst>
            <a:lin ang="0" scaled="1"/>
          </a:gradFill>
        </p:spPr>
        <p:txBody>
          <a:bodyPr/>
          <a:lstStyle>
            <a:lvl1pPr>
              <a:defRPr sz="4000"/>
            </a:lvl1pPr>
          </a:lstStyle>
          <a:p>
            <a:r>
              <a:rPr lang="en-US" altLang="ko-KR"/>
              <a:t>Click to edit Master title</a:t>
            </a:r>
            <a:br>
              <a:rPr lang="en-US" altLang="ko-KR"/>
            </a:br>
            <a:r>
              <a:rPr lang="en-US" altLang="ko-KR"/>
              <a:t> style</a:t>
            </a:r>
            <a:endParaRPr lang="en-US" altLang="ko-K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CAD162DF-A162-40AB-ADE3-1F275A8F01F8}"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A19F21FB-90F5-4F47-9356-1B098875D568}"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9A849141-4291-4960-A710-304911718A99}"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8" name="Rectangle 5"/>
          <p:cNvSpPr>
            <a:spLocks noGrp="1" noChangeArrowheads="1"/>
          </p:cNvSpPr>
          <p:nvPr>
            <p:ph type="sldNum" sz="quarter" idx="11"/>
          </p:nvPr>
        </p:nvSpPr>
        <p:spPr/>
        <p:txBody>
          <a:bodyPr/>
          <a:lstStyle>
            <a:lvl1pPr>
              <a:defRPr/>
            </a:lvl1pPr>
          </a:lstStyle>
          <a:p>
            <a:pPr>
              <a:defRPr/>
            </a:pPr>
            <a:fld id="{DC3E40A2-F3DB-45B4-BAB7-EB8291C25438}" type="slidenum">
              <a:rPr lang="en-US" altLang="zh-CN"/>
            </a:fld>
            <a:endParaRPr lang="en-US" altLang="zh-CN"/>
          </a:p>
        </p:txBody>
      </p:sp>
      <p:sp>
        <p:nvSpPr>
          <p:cNvPr id="9"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4" name="Rectangle 5"/>
          <p:cNvSpPr>
            <a:spLocks noGrp="1" noChangeArrowheads="1"/>
          </p:cNvSpPr>
          <p:nvPr>
            <p:ph type="sldNum" sz="quarter" idx="11"/>
          </p:nvPr>
        </p:nvSpPr>
        <p:spPr/>
        <p:txBody>
          <a:bodyPr/>
          <a:lstStyle>
            <a:lvl1pPr>
              <a:defRPr/>
            </a:lvl1pPr>
          </a:lstStyle>
          <a:p>
            <a:pPr>
              <a:defRPr/>
            </a:pPr>
            <a:fld id="{494D87B1-6775-46F6-9770-4985200514C9}" type="slidenum">
              <a:rPr lang="en-US" altLang="zh-CN"/>
            </a:fld>
            <a:endParaRPr lang="en-US" altLang="zh-CN"/>
          </a:p>
        </p:txBody>
      </p:sp>
      <p:sp>
        <p:nvSpPr>
          <p:cNvPr id="5"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3" name="Rectangle 5"/>
          <p:cNvSpPr>
            <a:spLocks noGrp="1" noChangeArrowheads="1"/>
          </p:cNvSpPr>
          <p:nvPr>
            <p:ph type="sldNum" sz="quarter" idx="11"/>
          </p:nvPr>
        </p:nvSpPr>
        <p:spPr/>
        <p:txBody>
          <a:bodyPr/>
          <a:lstStyle>
            <a:lvl1pPr>
              <a:defRPr/>
            </a:lvl1pPr>
          </a:lstStyle>
          <a:p>
            <a:pPr>
              <a:defRPr/>
            </a:pPr>
            <a:fld id="{CB2B4A10-1141-47DE-A699-3ACB29BB71BB}" type="slidenum">
              <a:rPr lang="en-US" altLang="zh-CN"/>
            </a:fld>
            <a:endParaRPr lang="en-US" altLang="zh-CN"/>
          </a:p>
        </p:txBody>
      </p:sp>
      <p:sp>
        <p:nvSpPr>
          <p:cNvPr id="4"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09D9E0C5-D0E4-4333-8C2F-B2886668B928}"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30CF57AE-59CE-4C56-8A1F-3697E722A656}"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2E6C1FA1-9D35-47B8-B85E-89E0FB0A61F3}"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C2F4F20B-1DB6-44BC-81A4-78A94A2CE7F6}"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78" name="Rectangle 2"/>
          <p:cNvSpPr>
            <a:spLocks noChangeArrowheads="1"/>
          </p:cNvSpPr>
          <p:nvPr/>
        </p:nvSpPr>
        <p:spPr bwMode="ltGray">
          <a:xfrm>
            <a:off x="0" y="0"/>
            <a:ext cx="9144000" cy="836613"/>
          </a:xfrm>
          <a:prstGeom prst="rect">
            <a:avLst/>
          </a:prstGeom>
          <a:gradFill rotWithShape="1">
            <a:gsLst>
              <a:gs pos="0">
                <a:schemeClr val="tx1">
                  <a:gamma/>
                  <a:shade val="46275"/>
                  <a:invGamma/>
                </a:schemeClr>
              </a:gs>
              <a:gs pos="50000">
                <a:schemeClr val="tx1"/>
              </a:gs>
              <a:gs pos="100000">
                <a:schemeClr val="tx1">
                  <a:gamma/>
                  <a:shade val="46275"/>
                  <a:invGamma/>
                </a:schemeClr>
              </a:gs>
            </a:gsLst>
            <a:lin ang="0" scaled="1"/>
          </a:gradFill>
          <a:ln w="9525">
            <a:noFill/>
            <a:miter lim="800000"/>
          </a:ln>
          <a:effectLst/>
        </p:spPr>
        <p:txBody>
          <a:bodyPr wrap="none" anchor="ctr"/>
          <a:lstStyle/>
          <a:p>
            <a:pPr eaLnBrk="1" hangingPunct="1">
              <a:defRPr/>
            </a:pPr>
            <a:endParaRPr lang="zh-CN" altLang="en-US" dirty="0">
              <a:latin typeface="华文楷体" panose="02010600040101010101" pitchFamily="2" charset="-122"/>
              <a:ea typeface="华文楷体" panose="02010600040101010101" pitchFamily="2" charset="-122"/>
            </a:endParaRPr>
          </a:p>
        </p:txBody>
      </p:sp>
      <p:sp>
        <p:nvSpPr>
          <p:cNvPr id="1027" name="Rectangle 3"/>
          <p:cNvSpPr>
            <a:spLocks noGrp="1" noChangeArrowheads="1"/>
          </p:cNvSpPr>
          <p:nvPr>
            <p:ph type="body" idx="1"/>
          </p:nvPr>
        </p:nvSpPr>
        <p:spPr bwMode="auto">
          <a:xfrm>
            <a:off x="457200" y="1152525"/>
            <a:ext cx="82296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dirty="0" smtClean="0"/>
              <a:t>Click to edit Master text styles</a:t>
            </a:r>
            <a:endParaRPr lang="en-US" altLang="zh-CN" dirty="0" smtClean="0"/>
          </a:p>
          <a:p>
            <a:pPr lvl="1"/>
            <a:r>
              <a:rPr lang="en-US" altLang="zh-CN" dirty="0" smtClean="0"/>
              <a:t>Second level</a:t>
            </a:r>
            <a:endParaRPr lang="en-US" altLang="zh-CN" dirty="0" smtClean="0"/>
          </a:p>
          <a:p>
            <a:pPr lvl="2"/>
            <a:r>
              <a:rPr lang="en-US" altLang="zh-CN" dirty="0" smtClean="0"/>
              <a:t>Third level</a:t>
            </a:r>
            <a:endParaRPr lang="en-US" altLang="zh-CN" dirty="0" smtClean="0"/>
          </a:p>
          <a:p>
            <a:pPr lvl="3"/>
            <a:r>
              <a:rPr lang="en-US" altLang="zh-CN" dirty="0" smtClean="0"/>
              <a:t>Fourth level</a:t>
            </a:r>
            <a:endParaRPr lang="en-US" altLang="zh-CN" dirty="0" smtClean="0"/>
          </a:p>
          <a:p>
            <a:pPr lvl="4"/>
            <a:r>
              <a:rPr lang="en-US" altLang="zh-CN" dirty="0" smtClean="0"/>
              <a:t>Fifth level</a:t>
            </a:r>
            <a:endParaRPr lang="en-US" altLang="zh-CN" dirty="0" smtClean="0"/>
          </a:p>
        </p:txBody>
      </p:sp>
      <p:sp>
        <p:nvSpPr>
          <p:cNvPr id="126980" name="Rectangle 4"/>
          <p:cNvSpPr>
            <a:spLocks noGrp="1" noChangeArrowheads="1"/>
          </p:cNvSpPr>
          <p:nvPr>
            <p:ph type="ftr" sz="quarter" idx="3"/>
          </p:nvPr>
        </p:nvSpPr>
        <p:spPr bwMode="auto">
          <a:xfrm>
            <a:off x="3851275" y="6461125"/>
            <a:ext cx="4911725" cy="320675"/>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1">
                <a:latin typeface="+mj-lt"/>
                <a:ea typeface="华文楷体" panose="02010600040101010101" pitchFamily="2" charset="-122"/>
              </a:defRPr>
            </a:lvl1pPr>
          </a:lstStyle>
          <a:p>
            <a:pPr>
              <a:defRPr/>
            </a:pPr>
            <a:r>
              <a:rPr lang="en-US" altLang="zh-CN" dirty="0" smtClean="0"/>
              <a:t>BUPT SCST</a:t>
            </a:r>
            <a:endParaRPr lang="en-US" altLang="zh-CN" dirty="0"/>
          </a:p>
        </p:txBody>
      </p:sp>
      <p:sp>
        <p:nvSpPr>
          <p:cNvPr id="126981" name="Rectangle 5"/>
          <p:cNvSpPr>
            <a:spLocks noGrp="1" noChangeArrowheads="1"/>
          </p:cNvSpPr>
          <p:nvPr>
            <p:ph type="sldNum" sz="quarter" idx="4"/>
          </p:nvPr>
        </p:nvSpPr>
        <p:spPr bwMode="auto">
          <a:xfrm>
            <a:off x="107950" y="6421438"/>
            <a:ext cx="792163"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atin typeface="Verdana" panose="020B0604030504040204" pitchFamily="34" charset="0"/>
                <a:ea typeface="华文楷体" panose="02010600040101010101" pitchFamily="2" charset="-122"/>
              </a:defRPr>
            </a:lvl1pPr>
          </a:lstStyle>
          <a:p>
            <a:pPr>
              <a:defRPr/>
            </a:pPr>
            <a:fld id="{259C35F8-861E-4DC9-9F77-E42FB2D70DD8}" type="slidenum">
              <a:rPr lang="en-US" altLang="zh-CN" smtClean="0"/>
            </a:fld>
            <a:endParaRPr lang="en-US" altLang="zh-CN" dirty="0"/>
          </a:p>
        </p:txBody>
      </p:sp>
      <p:sp>
        <p:nvSpPr>
          <p:cNvPr id="1030" name="Rectangle 6"/>
          <p:cNvSpPr>
            <a:spLocks noGrp="1" noChangeArrowheads="1"/>
          </p:cNvSpPr>
          <p:nvPr>
            <p:ph type="title"/>
          </p:nvPr>
        </p:nvSpPr>
        <p:spPr bwMode="white">
          <a:xfrm>
            <a:off x="304800" y="152400"/>
            <a:ext cx="84582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
        <p:nvSpPr>
          <p:cNvPr id="1031" name="Text Box 7"/>
          <p:cNvSpPr txBox="1">
            <a:spLocks noChangeArrowheads="1"/>
          </p:cNvSpPr>
          <p:nvPr/>
        </p:nvSpPr>
        <p:spPr bwMode="gray">
          <a:xfrm>
            <a:off x="0" y="838200"/>
            <a:ext cx="9144000" cy="24447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zh-CN" altLang="zh-CN" sz="1000" b="1" dirty="0" smtClean="0">
              <a:solidFill>
                <a:schemeClr val="bg1"/>
              </a:solidFill>
              <a:latin typeface="Verdana" panose="020B0604030504040204" pitchFamily="34" charset="0"/>
              <a:ea typeface="华文楷体" panose="02010600040101010101" pitchFamily="2" charset="-122"/>
            </a:endParaRPr>
          </a:p>
        </p:txBody>
      </p:sp>
      <p:sp>
        <p:nvSpPr>
          <p:cNvPr id="126984" name="Rectangle 8"/>
          <p:cNvSpPr>
            <a:spLocks noGrp="1" noChangeArrowheads="1"/>
          </p:cNvSpPr>
          <p:nvPr>
            <p:ph type="dt" sz="half" idx="2"/>
          </p:nvPr>
        </p:nvSpPr>
        <p:spPr bwMode="gray">
          <a:xfrm>
            <a:off x="14288" y="838200"/>
            <a:ext cx="8458200" cy="228600"/>
          </a:xfrm>
          <a:prstGeom prst="rect">
            <a:avLst/>
          </a:prstGeom>
          <a:noFill/>
          <a:ln w="9525">
            <a:noFill/>
            <a:miter lim="800000"/>
          </a:ln>
          <a:effectLst/>
        </p:spPr>
        <p:txBody>
          <a:bodyPr vert="horz" wrap="square" lIns="91440" tIns="45720" rIns="91440" bIns="45720" numCol="1" anchor="t" anchorCtr="0" compatLnSpc="1"/>
          <a:lstStyle>
            <a:lvl1pPr eaLnBrk="1" hangingPunct="1">
              <a:defRPr sz="1000" b="1">
                <a:solidFill>
                  <a:schemeClr val="bg1"/>
                </a:solidFill>
                <a:latin typeface="+mj-lt"/>
                <a:ea typeface="华文楷体" panose="02010600040101010101" pitchFamily="2" charset="-122"/>
              </a:defRPr>
            </a:lvl1pPr>
          </a:lstStyle>
          <a:p>
            <a:pPr>
              <a:defRPr/>
            </a:pPr>
            <a:r>
              <a:rPr lang="en-US" altLang="zh-CN" dirty="0" smtClean="0"/>
              <a:t>BUPT</a:t>
            </a:r>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defRPr>
      </a:lvl2pPr>
      <a:lvl3pPr algn="ctr" rtl="0" eaLnBrk="0" fontAlgn="base" hangingPunct="0">
        <a:spcBef>
          <a:spcPct val="0"/>
        </a:spcBef>
        <a:spcAft>
          <a:spcPct val="0"/>
        </a:spcAft>
        <a:defRPr sz="3200" b="1">
          <a:solidFill>
            <a:schemeClr val="bg1"/>
          </a:solidFill>
          <a:latin typeface="Verdana" panose="020B0604030504040204" pitchFamily="34" charset="0"/>
        </a:defRPr>
      </a:lvl3pPr>
      <a:lvl4pPr algn="ctr" rtl="0" eaLnBrk="0" fontAlgn="base" hangingPunct="0">
        <a:spcBef>
          <a:spcPct val="0"/>
        </a:spcBef>
        <a:spcAft>
          <a:spcPct val="0"/>
        </a:spcAft>
        <a:defRPr sz="3200" b="1">
          <a:solidFill>
            <a:schemeClr val="bg1"/>
          </a:solidFill>
          <a:latin typeface="Verdana" panose="020B0604030504040204" pitchFamily="34" charset="0"/>
        </a:defRPr>
      </a:lvl4pPr>
      <a:lvl5pPr algn="ctr" rtl="0" eaLnBrk="0" fontAlgn="base" hangingPunct="0">
        <a:spcBef>
          <a:spcPct val="0"/>
        </a:spcBef>
        <a:spcAft>
          <a:spcPct val="0"/>
        </a:spcAft>
        <a:defRPr sz="3200" b="1">
          <a:solidFill>
            <a:schemeClr val="bg1"/>
          </a:solidFill>
          <a:latin typeface="Verdana" panose="020B0604030504040204" pitchFamily="34" charset="0"/>
        </a:defRPr>
      </a:lvl5pPr>
      <a:lvl6pPr marL="457200" algn="ctr" rtl="0" fontAlgn="base">
        <a:spcBef>
          <a:spcPct val="0"/>
        </a:spcBef>
        <a:spcAft>
          <a:spcPct val="0"/>
        </a:spcAft>
        <a:defRPr sz="3200" b="1">
          <a:solidFill>
            <a:schemeClr val="bg1"/>
          </a:solidFill>
          <a:latin typeface="Verdana" panose="020B0604030504040204" pitchFamily="34" charset="0"/>
        </a:defRPr>
      </a:lvl6pPr>
      <a:lvl7pPr marL="914400" algn="ctr" rtl="0" fontAlgn="base">
        <a:spcBef>
          <a:spcPct val="0"/>
        </a:spcBef>
        <a:spcAft>
          <a:spcPct val="0"/>
        </a:spcAft>
        <a:defRPr sz="3200" b="1">
          <a:solidFill>
            <a:schemeClr val="bg1"/>
          </a:solidFill>
          <a:latin typeface="Verdana" panose="020B0604030504040204" pitchFamily="34" charset="0"/>
        </a:defRPr>
      </a:lvl7pPr>
      <a:lvl8pPr marL="1371600" algn="ctr" rtl="0" fontAlgn="base">
        <a:spcBef>
          <a:spcPct val="0"/>
        </a:spcBef>
        <a:spcAft>
          <a:spcPct val="0"/>
        </a:spcAft>
        <a:defRPr sz="3200" b="1">
          <a:solidFill>
            <a:schemeClr val="bg1"/>
          </a:solidFill>
          <a:latin typeface="Verdana" panose="020B0604030504040204" pitchFamily="34" charset="0"/>
        </a:defRPr>
      </a:lvl8pPr>
      <a:lvl9pPr marL="1828800" algn="ctr" rtl="0" fontAlgn="base">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a:solidFill>
            <a:schemeClr val="tx1"/>
          </a:solidFill>
          <a:latin typeface="华文楷体" panose="02010600040101010101" pitchFamily="2" charset="-122"/>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华文楷体" panose="02010600040101010101" pitchFamily="2" charset="-122"/>
        </a:defRPr>
      </a:lvl2pPr>
      <a:lvl3pPr marL="1143000" indent="-228600" algn="l" rtl="0" eaLnBrk="0" fontAlgn="base" hangingPunct="0">
        <a:spcBef>
          <a:spcPct val="20000"/>
        </a:spcBef>
        <a:spcAft>
          <a:spcPct val="0"/>
        </a:spcAft>
        <a:buClr>
          <a:schemeClr val="tx1"/>
        </a:buClr>
        <a:buChar char="•"/>
        <a:defRPr sz="2400">
          <a:solidFill>
            <a:schemeClr val="tx1"/>
          </a:solidFill>
          <a:latin typeface="华文楷体" panose="02010600040101010101" pitchFamily="2" charset="-122"/>
        </a:defRPr>
      </a:lvl3pPr>
      <a:lvl4pPr marL="1600200" indent="-228600" algn="l" rtl="0" eaLnBrk="0" fontAlgn="base" hangingPunct="0">
        <a:spcBef>
          <a:spcPct val="20000"/>
        </a:spcBef>
        <a:spcAft>
          <a:spcPct val="0"/>
        </a:spcAft>
        <a:buChar char="–"/>
        <a:defRPr sz="2000">
          <a:solidFill>
            <a:schemeClr val="tx1"/>
          </a:solidFill>
          <a:latin typeface="华文楷体" panose="02010600040101010101" pitchFamily="2" charset="-122"/>
        </a:defRPr>
      </a:lvl4pPr>
      <a:lvl5pPr marL="2057400" indent="-228600" algn="l" rtl="0" eaLnBrk="0" fontAlgn="base" hangingPunct="0">
        <a:spcBef>
          <a:spcPct val="20000"/>
        </a:spcBef>
        <a:spcAft>
          <a:spcPct val="0"/>
        </a:spcAft>
        <a:buChar char="»"/>
        <a:defRPr sz="2000">
          <a:solidFill>
            <a:schemeClr val="tx1"/>
          </a:solidFill>
          <a:latin typeface="华文楷体" panose="02010600040101010101" pitchFamily="2" charset="-122"/>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2" name="Rectangle 4"/>
          <p:cNvSpPr>
            <a:spLocks noGrp="1" noChangeArrowheads="1"/>
          </p:cNvSpPr>
          <p:nvPr>
            <p:ph type="ctrTitle"/>
          </p:nvPr>
        </p:nvSpPr>
        <p:spPr/>
        <p:txBody>
          <a:bodyPr/>
          <a:lstStyle/>
          <a:p>
            <a:pPr eaLnBrk="1" hangingPunct="1">
              <a:defRPr/>
            </a:pPr>
            <a:r>
              <a:rPr lang="zh-CN" altLang="en-US" dirty="0" smtClean="0">
                <a:ea typeface="华文楷体" panose="02010600040101010101" pitchFamily="2" charset="-122"/>
              </a:rPr>
              <a:t>第二章 线性表</a:t>
            </a:r>
            <a:endParaRPr lang="zh-CN" altLang="en-US" dirty="0" smtClean="0">
              <a:ea typeface="华文楷体" panose="02010600040101010101" pitchFamily="2" charset="-122"/>
            </a:endParaRPr>
          </a:p>
        </p:txBody>
      </p:sp>
      <p:sp>
        <p:nvSpPr>
          <p:cNvPr id="4099" name="Rectangle 5"/>
          <p:cNvSpPr>
            <a:spLocks noGrp="1" noChangeArrowheads="1"/>
          </p:cNvSpPr>
          <p:nvPr>
            <p:ph type="subTitle" idx="1"/>
          </p:nvPr>
        </p:nvSpPr>
        <p:spPr/>
        <p:txBody>
          <a:bodyPr/>
          <a:lstStyle/>
          <a:p>
            <a:pPr eaLnBrk="1" hangingPunct="1">
              <a:lnSpc>
                <a:spcPct val="80000"/>
              </a:lnSpc>
            </a:pPr>
            <a:r>
              <a:rPr lang="zh-CN" altLang="en-US" sz="1600" dirty="0" smtClean="0">
                <a:ea typeface="华文楷体" panose="02010600040101010101" pitchFamily="2" charset="-122"/>
              </a:rPr>
              <a:t>杨震</a:t>
            </a:r>
            <a:endParaRPr lang="zh-CN" altLang="en-US" sz="1600" dirty="0" smtClean="0">
              <a:ea typeface="华文楷体" panose="02010600040101010101" pitchFamily="2" charset="-122"/>
            </a:endParaRPr>
          </a:p>
          <a:p>
            <a:pPr eaLnBrk="1" hangingPunct="1">
              <a:lnSpc>
                <a:spcPct val="80000"/>
              </a:lnSpc>
            </a:pPr>
            <a:r>
              <a:rPr lang="zh-CN" altLang="en-US" sz="1600" dirty="0" smtClean="0">
                <a:ea typeface="华文楷体" panose="02010600040101010101" pitchFamily="2" charset="-122"/>
              </a:rPr>
              <a:t>北京邮电大学计算机学院</a:t>
            </a:r>
            <a:endParaRPr lang="zh-CN" altLang="en-US" sz="16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页脚占位符 3"/>
          <p:cNvSpPr>
            <a:spLocks noGrp="1"/>
          </p:cNvSpPr>
          <p:nvPr>
            <p:ph type="ftr" sz="quarter" idx="10"/>
          </p:nvPr>
        </p:nvSpPr>
        <p:spPr/>
        <p:txBody>
          <a:bodyPr/>
          <a:lstStyle/>
          <a:p>
            <a:pPr>
              <a:defRPr/>
            </a:pPr>
            <a:r>
              <a:rPr lang="en-US" altLang="zh-CN"/>
              <a:t>BUPT SCST</a:t>
            </a:r>
            <a:endParaRPr lang="en-US" altLang="zh-CN"/>
          </a:p>
        </p:txBody>
      </p:sp>
      <p:sp>
        <p:nvSpPr>
          <p:cNvPr id="512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C51FB18B-38EC-491A-A138-202092F8A28B}"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53" name="日期占位符 5"/>
          <p:cNvSpPr>
            <a:spLocks noGrp="1"/>
          </p:cNvSpPr>
          <p:nvPr>
            <p:ph type="dt" sz="quarter" idx="12"/>
          </p:nvPr>
        </p:nvSpPr>
        <p:spPr/>
        <p:txBody>
          <a:bodyPr/>
          <a:lstStyle/>
          <a:p>
            <a:pPr>
              <a:defRPr/>
            </a:pPr>
            <a:r>
              <a:rPr lang="en-US" altLang="zh-CN"/>
              <a:t>BUPT</a:t>
            </a:r>
            <a:endParaRPr lang="en-US" altLang="zh-CN"/>
          </a:p>
        </p:txBody>
      </p:sp>
      <p:sp>
        <p:nvSpPr>
          <p:cNvPr id="5125" name="Rectangle 2"/>
          <p:cNvSpPr>
            <a:spLocks noGrp="1" noChangeArrowheads="1"/>
          </p:cNvSpPr>
          <p:nvPr>
            <p:ph type="title"/>
          </p:nvPr>
        </p:nvSpPr>
        <p:spPr bwMode="auto"/>
        <p:txBody>
          <a:bodyPr/>
          <a:lstStyle/>
          <a:p>
            <a:pPr eaLnBrk="1" hangingPunct="1"/>
            <a:r>
              <a:rPr lang="zh-CN" altLang="en-US" sz="3600" dirty="0" smtClean="0">
                <a:ea typeface="华文楷体" panose="02010600040101010101" pitchFamily="2" charset="-122"/>
              </a:rPr>
              <a:t>提纲</a:t>
            </a:r>
            <a:endParaRPr lang="zh-CN" altLang="en-US" sz="2000" dirty="0" smtClean="0">
              <a:solidFill>
                <a:schemeClr val="hlink"/>
              </a:solidFill>
              <a:ea typeface="华文楷体" panose="02010600040101010101" pitchFamily="2" charset="-122"/>
            </a:endParaRPr>
          </a:p>
        </p:txBody>
      </p:sp>
      <p:grpSp>
        <p:nvGrpSpPr>
          <p:cNvPr id="5126" name="Group 3"/>
          <p:cNvGrpSpPr/>
          <p:nvPr/>
        </p:nvGrpSpPr>
        <p:grpSpPr bwMode="auto">
          <a:xfrm>
            <a:off x="107950" y="1755775"/>
            <a:ext cx="762000" cy="665163"/>
            <a:chOff x="1110" y="2656"/>
            <a:chExt cx="1549" cy="1351"/>
          </a:xfrm>
        </p:grpSpPr>
        <p:sp>
          <p:nvSpPr>
            <p:cNvPr id="5171"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5172"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36198"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eaLnBrk="1" hangingPunct="1">
                <a:defRPr/>
              </a:pPr>
              <a:endParaRPr lang="zh-CN" altLang="en-US" dirty="0">
                <a:latin typeface="华文楷体" panose="02010600040101010101" pitchFamily="2" charset="-122"/>
                <a:ea typeface="华文楷体" panose="02010600040101010101" pitchFamily="2" charset="-122"/>
              </a:endParaRPr>
            </a:p>
          </p:txBody>
        </p:sp>
      </p:grpSp>
      <p:grpSp>
        <p:nvGrpSpPr>
          <p:cNvPr id="5127" name="Group 7"/>
          <p:cNvGrpSpPr/>
          <p:nvPr/>
        </p:nvGrpSpPr>
        <p:grpSpPr bwMode="auto">
          <a:xfrm>
            <a:off x="107950" y="2546350"/>
            <a:ext cx="762000" cy="665163"/>
            <a:chOff x="3174" y="2656"/>
            <a:chExt cx="1549" cy="1351"/>
          </a:xfrm>
        </p:grpSpPr>
        <p:sp>
          <p:nvSpPr>
            <p:cNvPr id="5168"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5169"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36202"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eaLnBrk="1" hangingPunct="1">
                <a:defRPr/>
              </a:pPr>
              <a:endParaRPr lang="zh-CN" altLang="en-US" dirty="0">
                <a:latin typeface="华文楷体" panose="02010600040101010101" pitchFamily="2" charset="-122"/>
                <a:ea typeface="华文楷体" panose="02010600040101010101" pitchFamily="2" charset="-122"/>
              </a:endParaRPr>
            </a:p>
          </p:txBody>
        </p:sp>
      </p:grpSp>
      <p:sp>
        <p:nvSpPr>
          <p:cNvPr id="5128" name="Line 11"/>
          <p:cNvSpPr>
            <a:spLocks noChangeShapeType="1"/>
          </p:cNvSpPr>
          <p:nvPr/>
        </p:nvSpPr>
        <p:spPr bwMode="auto">
          <a:xfrm flipV="1">
            <a:off x="717550" y="2349500"/>
            <a:ext cx="2774950" cy="15875"/>
          </a:xfrm>
          <a:prstGeom prst="line">
            <a:avLst/>
          </a:prstGeom>
          <a:noFill/>
          <a:ln w="25400">
            <a:solidFill>
              <a:srgbClr val="C0C0C0"/>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5129" name="Text Box 12"/>
          <p:cNvSpPr txBox="1">
            <a:spLocks noChangeArrowheads="1"/>
          </p:cNvSpPr>
          <p:nvPr/>
        </p:nvSpPr>
        <p:spPr bwMode="auto">
          <a:xfrm>
            <a:off x="971550" y="1812925"/>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zh-CN" altLang="en-US" sz="2400" dirty="0">
                <a:latin typeface="华文楷体" panose="02010600040101010101" pitchFamily="2" charset="-122"/>
                <a:ea typeface="华文楷体" panose="02010600040101010101" pitchFamily="2" charset="-122"/>
              </a:rPr>
              <a:t>线性表定义</a:t>
            </a:r>
            <a:endParaRPr lang="zh-CN" altLang="en-US" sz="2400" dirty="0">
              <a:latin typeface="华文楷体" panose="02010600040101010101" pitchFamily="2" charset="-122"/>
              <a:ea typeface="华文楷体" panose="02010600040101010101" pitchFamily="2" charset="-122"/>
            </a:endParaRPr>
          </a:p>
        </p:txBody>
      </p:sp>
      <p:sp>
        <p:nvSpPr>
          <p:cNvPr id="5130" name="Text Box 13"/>
          <p:cNvSpPr txBox="1">
            <a:spLocks noChangeArrowheads="1"/>
          </p:cNvSpPr>
          <p:nvPr/>
        </p:nvSpPr>
        <p:spPr bwMode="gray">
          <a:xfrm>
            <a:off x="312529" y="1854200"/>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zh-CN" sz="2400" b="1" dirty="0">
                <a:latin typeface="华文楷体" panose="02010600040101010101" pitchFamily="2" charset="-122"/>
                <a:ea typeface="华文楷体" panose="02010600040101010101" pitchFamily="2" charset="-122"/>
              </a:rPr>
              <a:t>1</a:t>
            </a:r>
            <a:endParaRPr lang="en-US" altLang="zh-CN" sz="2400" b="1" dirty="0">
              <a:latin typeface="华文楷体" panose="02010600040101010101" pitchFamily="2" charset="-122"/>
              <a:ea typeface="华文楷体" panose="02010600040101010101" pitchFamily="2" charset="-122"/>
            </a:endParaRPr>
          </a:p>
        </p:txBody>
      </p:sp>
      <p:sp>
        <p:nvSpPr>
          <p:cNvPr id="5131" name="Line 14"/>
          <p:cNvSpPr>
            <a:spLocks noChangeShapeType="1"/>
          </p:cNvSpPr>
          <p:nvPr/>
        </p:nvSpPr>
        <p:spPr bwMode="auto">
          <a:xfrm flipV="1">
            <a:off x="684213" y="3141663"/>
            <a:ext cx="2808287" cy="0"/>
          </a:xfrm>
          <a:prstGeom prst="line">
            <a:avLst/>
          </a:prstGeom>
          <a:noFill/>
          <a:ln w="25400">
            <a:solidFill>
              <a:srgbClr val="C0C0C0"/>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5132" name="Text Box 15"/>
          <p:cNvSpPr txBox="1">
            <a:spLocks noChangeArrowheads="1"/>
          </p:cNvSpPr>
          <p:nvPr/>
        </p:nvSpPr>
        <p:spPr bwMode="auto">
          <a:xfrm>
            <a:off x="996950" y="2603500"/>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zh-CN" altLang="en-US" sz="2400" dirty="0">
                <a:latin typeface="华文楷体" panose="02010600040101010101" pitchFamily="2" charset="-122"/>
                <a:ea typeface="华文楷体" panose="02010600040101010101" pitchFamily="2" charset="-122"/>
              </a:rPr>
              <a:t>向量（顺序表）</a:t>
            </a:r>
            <a:endParaRPr lang="zh-CN" altLang="en-US" sz="2400" dirty="0">
              <a:latin typeface="华文楷体" panose="02010600040101010101" pitchFamily="2" charset="-122"/>
              <a:ea typeface="华文楷体" panose="02010600040101010101" pitchFamily="2" charset="-122"/>
            </a:endParaRPr>
          </a:p>
        </p:txBody>
      </p:sp>
      <p:sp>
        <p:nvSpPr>
          <p:cNvPr id="5133" name="Text Box 16"/>
          <p:cNvSpPr txBox="1">
            <a:spLocks noChangeArrowheads="1"/>
          </p:cNvSpPr>
          <p:nvPr/>
        </p:nvSpPr>
        <p:spPr bwMode="gray">
          <a:xfrm>
            <a:off x="312529" y="2644775"/>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zh-CN" sz="2400" b="1" dirty="0">
                <a:latin typeface="华文楷体" panose="02010600040101010101" pitchFamily="2" charset="-122"/>
                <a:ea typeface="华文楷体" panose="02010600040101010101" pitchFamily="2" charset="-122"/>
              </a:rPr>
              <a:t>2</a:t>
            </a:r>
            <a:endParaRPr lang="en-US" altLang="zh-CN" sz="2400" b="1" dirty="0">
              <a:latin typeface="华文楷体" panose="02010600040101010101" pitchFamily="2" charset="-122"/>
              <a:ea typeface="华文楷体" panose="02010600040101010101" pitchFamily="2" charset="-122"/>
            </a:endParaRPr>
          </a:p>
        </p:txBody>
      </p:sp>
      <p:grpSp>
        <p:nvGrpSpPr>
          <p:cNvPr id="5134" name="Group 17"/>
          <p:cNvGrpSpPr/>
          <p:nvPr/>
        </p:nvGrpSpPr>
        <p:grpSpPr bwMode="auto">
          <a:xfrm>
            <a:off x="107950" y="3340100"/>
            <a:ext cx="762000" cy="665163"/>
            <a:chOff x="1110" y="2656"/>
            <a:chExt cx="1549" cy="1351"/>
          </a:xfrm>
        </p:grpSpPr>
        <p:sp>
          <p:nvSpPr>
            <p:cNvPr id="516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516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36212"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eaLnBrk="1" hangingPunct="1">
                <a:defRPr/>
              </a:pPr>
              <a:endParaRPr lang="zh-CN" altLang="en-US" dirty="0">
                <a:latin typeface="华文楷体" panose="02010600040101010101" pitchFamily="2" charset="-122"/>
                <a:ea typeface="华文楷体" panose="02010600040101010101" pitchFamily="2" charset="-122"/>
              </a:endParaRPr>
            </a:p>
          </p:txBody>
        </p:sp>
      </p:grpSp>
      <p:grpSp>
        <p:nvGrpSpPr>
          <p:cNvPr id="5135" name="Group 21"/>
          <p:cNvGrpSpPr/>
          <p:nvPr/>
        </p:nvGrpSpPr>
        <p:grpSpPr bwMode="auto">
          <a:xfrm>
            <a:off x="107950" y="4114800"/>
            <a:ext cx="762000" cy="665163"/>
            <a:chOff x="3174" y="2656"/>
            <a:chExt cx="1549" cy="1351"/>
          </a:xfrm>
        </p:grpSpPr>
        <p:sp>
          <p:nvSpPr>
            <p:cNvPr id="5162"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5163"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36216" name="AutoShape 24"/>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eaLnBrk="1" hangingPunct="1">
                <a:defRPr/>
              </a:pPr>
              <a:endParaRPr lang="zh-CN" altLang="en-US" dirty="0">
                <a:latin typeface="华文楷体" panose="02010600040101010101" pitchFamily="2" charset="-122"/>
                <a:ea typeface="华文楷体" panose="02010600040101010101" pitchFamily="2" charset="-122"/>
              </a:endParaRPr>
            </a:p>
          </p:txBody>
        </p:sp>
      </p:grpSp>
      <p:sp>
        <p:nvSpPr>
          <p:cNvPr id="5136" name="Line 25"/>
          <p:cNvSpPr>
            <a:spLocks noChangeShapeType="1"/>
          </p:cNvSpPr>
          <p:nvPr/>
        </p:nvSpPr>
        <p:spPr bwMode="auto">
          <a:xfrm>
            <a:off x="755650" y="3860800"/>
            <a:ext cx="2736850" cy="0"/>
          </a:xfrm>
          <a:prstGeom prst="line">
            <a:avLst/>
          </a:prstGeom>
          <a:noFill/>
          <a:ln w="25400">
            <a:solidFill>
              <a:srgbClr val="C0C0C0"/>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5137" name="Text Box 26"/>
          <p:cNvSpPr txBox="1">
            <a:spLocks noChangeArrowheads="1"/>
          </p:cNvSpPr>
          <p:nvPr/>
        </p:nvSpPr>
        <p:spPr bwMode="auto">
          <a:xfrm>
            <a:off x="958850" y="339725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zh-CN" altLang="en-US" sz="2400" dirty="0">
                <a:latin typeface="华文楷体" panose="02010600040101010101" pitchFamily="2" charset="-122"/>
                <a:ea typeface="华文楷体" panose="02010600040101010101" pitchFamily="2" charset="-122"/>
              </a:rPr>
              <a:t>单链表</a:t>
            </a:r>
            <a:endParaRPr lang="zh-CN" altLang="en-US" sz="2400" dirty="0">
              <a:latin typeface="华文楷体" panose="02010600040101010101" pitchFamily="2" charset="-122"/>
              <a:ea typeface="华文楷体" panose="02010600040101010101" pitchFamily="2" charset="-122"/>
            </a:endParaRPr>
          </a:p>
        </p:txBody>
      </p:sp>
      <p:sp>
        <p:nvSpPr>
          <p:cNvPr id="5138" name="Text Box 27"/>
          <p:cNvSpPr txBox="1">
            <a:spLocks noChangeArrowheads="1"/>
          </p:cNvSpPr>
          <p:nvPr/>
        </p:nvSpPr>
        <p:spPr bwMode="gray">
          <a:xfrm>
            <a:off x="312529" y="3438525"/>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zh-CN" sz="2400" b="1" dirty="0">
                <a:latin typeface="华文楷体" panose="02010600040101010101" pitchFamily="2" charset="-122"/>
                <a:ea typeface="华文楷体" panose="02010600040101010101" pitchFamily="2" charset="-122"/>
              </a:rPr>
              <a:t>3</a:t>
            </a:r>
            <a:endParaRPr lang="en-US" altLang="zh-CN" sz="2400" b="1" dirty="0">
              <a:latin typeface="华文楷体" panose="02010600040101010101" pitchFamily="2" charset="-122"/>
              <a:ea typeface="华文楷体" panose="02010600040101010101" pitchFamily="2" charset="-122"/>
            </a:endParaRPr>
          </a:p>
        </p:txBody>
      </p:sp>
      <p:sp>
        <p:nvSpPr>
          <p:cNvPr id="5139" name="Line 28"/>
          <p:cNvSpPr>
            <a:spLocks noChangeShapeType="1"/>
          </p:cNvSpPr>
          <p:nvPr/>
        </p:nvSpPr>
        <p:spPr bwMode="auto">
          <a:xfrm>
            <a:off x="717550" y="4724400"/>
            <a:ext cx="2774950" cy="0"/>
          </a:xfrm>
          <a:prstGeom prst="line">
            <a:avLst/>
          </a:prstGeom>
          <a:noFill/>
          <a:ln w="25400">
            <a:solidFill>
              <a:srgbClr val="C0C0C0"/>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5140" name="Text Box 29"/>
          <p:cNvSpPr txBox="1">
            <a:spLocks noChangeArrowheads="1"/>
          </p:cNvSpPr>
          <p:nvPr/>
        </p:nvSpPr>
        <p:spPr bwMode="auto">
          <a:xfrm>
            <a:off x="900113" y="4149725"/>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zh-CN" altLang="en-US" sz="2400" dirty="0">
                <a:latin typeface="华文楷体" panose="02010600040101010101" pitchFamily="2" charset="-122"/>
                <a:ea typeface="华文楷体" panose="02010600040101010101" pitchFamily="2" charset="-122"/>
              </a:rPr>
              <a:t>单循环链表</a:t>
            </a:r>
            <a:endParaRPr lang="zh-CN" altLang="en-US" sz="2400" dirty="0">
              <a:latin typeface="华文楷体" panose="02010600040101010101" pitchFamily="2" charset="-122"/>
              <a:ea typeface="华文楷体" panose="02010600040101010101" pitchFamily="2" charset="-122"/>
            </a:endParaRPr>
          </a:p>
        </p:txBody>
      </p:sp>
      <p:sp>
        <p:nvSpPr>
          <p:cNvPr id="5141" name="Text Box 30"/>
          <p:cNvSpPr txBox="1">
            <a:spLocks noChangeArrowheads="1"/>
          </p:cNvSpPr>
          <p:nvPr/>
        </p:nvSpPr>
        <p:spPr bwMode="gray">
          <a:xfrm>
            <a:off x="312529" y="4213225"/>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zh-CN" sz="2400" b="1" dirty="0">
                <a:latin typeface="华文楷体" panose="02010600040101010101" pitchFamily="2" charset="-122"/>
                <a:ea typeface="华文楷体" panose="02010600040101010101" pitchFamily="2" charset="-122"/>
              </a:rPr>
              <a:t>4</a:t>
            </a:r>
            <a:endParaRPr lang="en-US" altLang="zh-CN" sz="2400" b="1" dirty="0">
              <a:latin typeface="华文楷体" panose="02010600040101010101" pitchFamily="2" charset="-122"/>
              <a:ea typeface="华文楷体" panose="02010600040101010101" pitchFamily="2" charset="-122"/>
            </a:endParaRPr>
          </a:p>
        </p:txBody>
      </p:sp>
      <p:grpSp>
        <p:nvGrpSpPr>
          <p:cNvPr id="5142" name="Group 52"/>
          <p:cNvGrpSpPr/>
          <p:nvPr/>
        </p:nvGrpSpPr>
        <p:grpSpPr bwMode="auto">
          <a:xfrm>
            <a:off x="114300" y="4924425"/>
            <a:ext cx="762000" cy="665163"/>
            <a:chOff x="1110" y="2656"/>
            <a:chExt cx="1549" cy="1351"/>
          </a:xfrm>
        </p:grpSpPr>
        <p:sp>
          <p:nvSpPr>
            <p:cNvPr id="5159" name="AutoShape 53"/>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5160" name="AutoShape 54"/>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36247" name="AutoShape 55"/>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eaLnBrk="1" hangingPunct="1">
                <a:defRPr/>
              </a:pPr>
              <a:endParaRPr lang="zh-CN" altLang="en-US" dirty="0">
                <a:latin typeface="华文楷体" panose="02010600040101010101" pitchFamily="2" charset="-122"/>
                <a:ea typeface="华文楷体" panose="02010600040101010101" pitchFamily="2" charset="-122"/>
              </a:endParaRPr>
            </a:p>
          </p:txBody>
        </p:sp>
      </p:grpSp>
      <p:sp>
        <p:nvSpPr>
          <p:cNvPr id="5143" name="Line 60"/>
          <p:cNvSpPr>
            <a:spLocks noChangeShapeType="1"/>
          </p:cNvSpPr>
          <p:nvPr/>
        </p:nvSpPr>
        <p:spPr bwMode="auto">
          <a:xfrm>
            <a:off x="723900" y="5589588"/>
            <a:ext cx="2768600" cy="0"/>
          </a:xfrm>
          <a:prstGeom prst="line">
            <a:avLst/>
          </a:prstGeom>
          <a:noFill/>
          <a:ln w="25400">
            <a:solidFill>
              <a:srgbClr val="C0C0C0"/>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5144" name="Text Box 61"/>
          <p:cNvSpPr txBox="1">
            <a:spLocks noChangeArrowheads="1"/>
          </p:cNvSpPr>
          <p:nvPr/>
        </p:nvSpPr>
        <p:spPr bwMode="auto">
          <a:xfrm>
            <a:off x="952500" y="4981575"/>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zh-CN" altLang="en-US" sz="2400" dirty="0">
                <a:latin typeface="华文楷体" panose="02010600040101010101" pitchFamily="2" charset="-122"/>
                <a:ea typeface="华文楷体" panose="02010600040101010101" pitchFamily="2" charset="-122"/>
              </a:rPr>
              <a:t>双向链表</a:t>
            </a:r>
            <a:endParaRPr lang="zh-CN" altLang="en-US" sz="2400" dirty="0">
              <a:latin typeface="华文楷体" panose="02010600040101010101" pitchFamily="2" charset="-122"/>
              <a:ea typeface="华文楷体" panose="02010600040101010101" pitchFamily="2" charset="-122"/>
            </a:endParaRPr>
          </a:p>
        </p:txBody>
      </p:sp>
      <p:sp>
        <p:nvSpPr>
          <p:cNvPr id="5145" name="Text Box 62"/>
          <p:cNvSpPr txBox="1">
            <a:spLocks noChangeArrowheads="1"/>
          </p:cNvSpPr>
          <p:nvPr/>
        </p:nvSpPr>
        <p:spPr bwMode="gray">
          <a:xfrm>
            <a:off x="318879" y="5022850"/>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zh-CN" sz="2400" b="1" dirty="0">
                <a:latin typeface="华文楷体" panose="02010600040101010101" pitchFamily="2" charset="-122"/>
                <a:ea typeface="华文楷体" panose="02010600040101010101" pitchFamily="2" charset="-122"/>
              </a:rPr>
              <a:t>5</a:t>
            </a:r>
            <a:endParaRPr lang="en-US" altLang="zh-CN" sz="2400" b="1" dirty="0">
              <a:latin typeface="华文楷体" panose="02010600040101010101" pitchFamily="2" charset="-122"/>
              <a:ea typeface="华文楷体" panose="02010600040101010101" pitchFamily="2" charset="-122"/>
            </a:endParaRPr>
          </a:p>
        </p:txBody>
      </p:sp>
      <p:grpSp>
        <p:nvGrpSpPr>
          <p:cNvPr id="5146" name="Group 66"/>
          <p:cNvGrpSpPr/>
          <p:nvPr/>
        </p:nvGrpSpPr>
        <p:grpSpPr bwMode="auto">
          <a:xfrm>
            <a:off x="4541838" y="1773238"/>
            <a:ext cx="762000" cy="665162"/>
            <a:chOff x="1110" y="2656"/>
            <a:chExt cx="1549" cy="1351"/>
          </a:xfrm>
        </p:grpSpPr>
        <p:sp>
          <p:nvSpPr>
            <p:cNvPr id="5156" name="AutoShape 67"/>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5157" name="AutoShape 68"/>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36261" name="AutoShape 69"/>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eaLnBrk="1" hangingPunct="1">
                <a:defRPr/>
              </a:pPr>
              <a:endParaRPr lang="zh-CN" altLang="en-US" dirty="0">
                <a:latin typeface="华文楷体" panose="02010600040101010101" pitchFamily="2" charset="-122"/>
                <a:ea typeface="华文楷体" panose="02010600040101010101" pitchFamily="2" charset="-122"/>
              </a:endParaRPr>
            </a:p>
          </p:txBody>
        </p:sp>
      </p:grpSp>
      <p:grpSp>
        <p:nvGrpSpPr>
          <p:cNvPr id="5147" name="Group 70"/>
          <p:cNvGrpSpPr/>
          <p:nvPr/>
        </p:nvGrpSpPr>
        <p:grpSpPr bwMode="auto">
          <a:xfrm>
            <a:off x="4541838" y="2563813"/>
            <a:ext cx="762000" cy="665162"/>
            <a:chOff x="3174" y="2656"/>
            <a:chExt cx="1549" cy="1351"/>
          </a:xfrm>
        </p:grpSpPr>
        <p:sp>
          <p:nvSpPr>
            <p:cNvPr id="5153" name="AutoShape 71"/>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5154" name="AutoShape 72"/>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36265" name="AutoShape 73"/>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eaLnBrk="1" hangingPunct="1">
                <a:defRPr/>
              </a:pPr>
              <a:endParaRPr lang="zh-CN" altLang="en-US" dirty="0">
                <a:latin typeface="华文楷体" panose="02010600040101010101" pitchFamily="2" charset="-122"/>
                <a:ea typeface="华文楷体" panose="02010600040101010101" pitchFamily="2" charset="-122"/>
              </a:endParaRPr>
            </a:p>
          </p:txBody>
        </p:sp>
      </p:grpSp>
      <p:sp>
        <p:nvSpPr>
          <p:cNvPr id="5148" name="Line 74"/>
          <p:cNvSpPr>
            <a:spLocks noChangeShapeType="1"/>
          </p:cNvSpPr>
          <p:nvPr/>
        </p:nvSpPr>
        <p:spPr bwMode="auto">
          <a:xfrm flipV="1">
            <a:off x="5151438" y="2366963"/>
            <a:ext cx="2774950" cy="15875"/>
          </a:xfrm>
          <a:prstGeom prst="line">
            <a:avLst/>
          </a:prstGeom>
          <a:noFill/>
          <a:ln w="25400">
            <a:solidFill>
              <a:srgbClr val="C0C0C0"/>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5149" name="Text Box 75"/>
          <p:cNvSpPr txBox="1">
            <a:spLocks noChangeArrowheads="1"/>
          </p:cNvSpPr>
          <p:nvPr/>
        </p:nvSpPr>
        <p:spPr bwMode="auto">
          <a:xfrm>
            <a:off x="5405438" y="1830388"/>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zh-CN" altLang="en-US" sz="2400" dirty="0">
                <a:latin typeface="华文楷体" panose="02010600040101010101" pitchFamily="2" charset="-122"/>
                <a:ea typeface="华文楷体" panose="02010600040101010101" pitchFamily="2" charset="-122"/>
              </a:rPr>
              <a:t>静态链表</a:t>
            </a:r>
            <a:endParaRPr lang="zh-CN" altLang="en-US" sz="2400" dirty="0">
              <a:latin typeface="华文楷体" panose="02010600040101010101" pitchFamily="2" charset="-122"/>
              <a:ea typeface="华文楷体" panose="02010600040101010101" pitchFamily="2" charset="-122"/>
            </a:endParaRPr>
          </a:p>
        </p:txBody>
      </p:sp>
      <p:sp>
        <p:nvSpPr>
          <p:cNvPr id="5150" name="Text Box 76"/>
          <p:cNvSpPr txBox="1">
            <a:spLocks noChangeArrowheads="1"/>
          </p:cNvSpPr>
          <p:nvPr/>
        </p:nvSpPr>
        <p:spPr bwMode="gray">
          <a:xfrm>
            <a:off x="4746417" y="1871663"/>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zh-CN" sz="2400" b="1" dirty="0">
                <a:latin typeface="华文楷体" panose="02010600040101010101" pitchFamily="2" charset="-122"/>
                <a:ea typeface="华文楷体" panose="02010600040101010101" pitchFamily="2" charset="-122"/>
              </a:rPr>
              <a:t>6</a:t>
            </a:r>
            <a:endParaRPr lang="en-US" altLang="zh-CN" sz="2400" b="1" dirty="0">
              <a:latin typeface="华文楷体" panose="02010600040101010101" pitchFamily="2" charset="-122"/>
              <a:ea typeface="华文楷体" panose="02010600040101010101" pitchFamily="2" charset="-122"/>
            </a:endParaRPr>
          </a:p>
        </p:txBody>
      </p:sp>
      <p:sp>
        <p:nvSpPr>
          <p:cNvPr id="5151" name="Line 77"/>
          <p:cNvSpPr>
            <a:spLocks noChangeShapeType="1"/>
          </p:cNvSpPr>
          <p:nvPr/>
        </p:nvSpPr>
        <p:spPr bwMode="auto">
          <a:xfrm flipV="1">
            <a:off x="5118100" y="3159125"/>
            <a:ext cx="2808288" cy="0"/>
          </a:xfrm>
          <a:prstGeom prst="line">
            <a:avLst/>
          </a:prstGeom>
          <a:noFill/>
          <a:ln w="25400">
            <a:solidFill>
              <a:srgbClr val="C0C0C0"/>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5152" name="Text Box 78"/>
          <p:cNvSpPr txBox="1">
            <a:spLocks noChangeArrowheads="1"/>
          </p:cNvSpPr>
          <p:nvPr/>
        </p:nvSpPr>
        <p:spPr bwMode="auto">
          <a:xfrm>
            <a:off x="5430838" y="2620963"/>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zh-CN" altLang="en-US" sz="2400" dirty="0">
                <a:latin typeface="华文楷体" panose="02010600040101010101" pitchFamily="2" charset="-122"/>
                <a:ea typeface="华文楷体" panose="02010600040101010101" pitchFamily="2" charset="-122"/>
              </a:rPr>
              <a:t>线性表的应用</a:t>
            </a:r>
            <a:endParaRPr lang="zh-CN" altLang="en-US" sz="2400" dirty="0">
              <a:latin typeface="华文楷体" panose="02010600040101010101" pitchFamily="2" charset="-122"/>
              <a:ea typeface="华文楷体" panose="02010600040101010101" pitchFamily="2" charset="-122"/>
            </a:endParaRPr>
          </a:p>
        </p:txBody>
      </p:sp>
      <p:sp>
        <p:nvSpPr>
          <p:cNvPr id="54" name="Text Box 76"/>
          <p:cNvSpPr txBox="1">
            <a:spLocks noChangeArrowheads="1"/>
          </p:cNvSpPr>
          <p:nvPr/>
        </p:nvSpPr>
        <p:spPr bwMode="gray">
          <a:xfrm>
            <a:off x="4745093" y="2644775"/>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zh-CN" sz="2400" b="1" dirty="0" smtClean="0">
                <a:latin typeface="华文楷体" panose="02010600040101010101" pitchFamily="2" charset="-122"/>
                <a:ea typeface="华文楷体" panose="02010600040101010101" pitchFamily="2" charset="-122"/>
              </a:rPr>
              <a:t>7</a:t>
            </a:r>
            <a:endParaRPr lang="en-US" altLang="zh-CN" sz="2400" b="1"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614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B81CAF4B-D7BA-4674-BF73-1B03756A37C9}"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8" name="日期占位符 5"/>
          <p:cNvSpPr>
            <a:spLocks noGrp="1"/>
          </p:cNvSpPr>
          <p:nvPr>
            <p:ph type="dt" sz="quarter" idx="12"/>
          </p:nvPr>
        </p:nvSpPr>
        <p:spPr/>
        <p:txBody>
          <a:bodyPr/>
          <a:lstStyle/>
          <a:p>
            <a:pPr>
              <a:defRPr/>
            </a:pPr>
            <a:r>
              <a:rPr lang="en-US" altLang="zh-CN"/>
              <a:t>BUPT</a:t>
            </a:r>
            <a:endParaRPr lang="en-US" altLang="zh-CN"/>
          </a:p>
        </p:txBody>
      </p:sp>
      <p:sp>
        <p:nvSpPr>
          <p:cNvPr id="6149"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2.1 </a:t>
            </a:r>
            <a:r>
              <a:rPr lang="zh-CN" altLang="en-US" sz="2800" dirty="0" smtClean="0">
                <a:ea typeface="华文楷体" panose="02010600040101010101" pitchFamily="2" charset="-122"/>
              </a:rPr>
              <a:t>线性表定义</a:t>
            </a:r>
            <a:endParaRPr lang="zh-CN" altLang="en-US" sz="2800" dirty="0" smtClean="0">
              <a:ea typeface="华文楷体" panose="02010600040101010101" pitchFamily="2" charset="-122"/>
            </a:endParaRPr>
          </a:p>
        </p:txBody>
      </p:sp>
      <p:sp>
        <p:nvSpPr>
          <p:cNvPr id="6150" name="Rectangle 3"/>
          <p:cNvSpPr>
            <a:spLocks noGrp="1" noChangeArrowheads="1"/>
          </p:cNvSpPr>
          <p:nvPr>
            <p:ph type="body" idx="1"/>
          </p:nvPr>
        </p:nvSpPr>
        <p:spPr>
          <a:xfrm>
            <a:off x="457200" y="3716338"/>
            <a:ext cx="8229600" cy="2684462"/>
          </a:xfrm>
        </p:spPr>
        <p:txBody>
          <a:bodyPr/>
          <a:lstStyle/>
          <a:p>
            <a:pPr eaLnBrk="1" hangingPunct="1">
              <a:lnSpc>
                <a:spcPct val="90000"/>
              </a:lnSpc>
              <a:buFont typeface="Wingdings" panose="05000000000000000000" pitchFamily="2" charset="2"/>
              <a:buNone/>
            </a:pPr>
            <a:r>
              <a:rPr lang="zh-CN" altLang="en-US" sz="2800" b="1" dirty="0" smtClean="0">
                <a:solidFill>
                  <a:srgbClr val="CC6600"/>
                </a:solidFill>
                <a:ea typeface="华文楷体" panose="02010600040101010101" pitchFamily="2" charset="-122"/>
              </a:rPr>
              <a:t>线性表的特点</a:t>
            </a:r>
            <a:r>
              <a:rPr lang="zh-CN" altLang="en-US" sz="2800" dirty="0" smtClean="0">
                <a:ea typeface="华文楷体" panose="02010600040101010101" pitchFamily="2" charset="-122"/>
              </a:rPr>
              <a:t>：</a:t>
            </a:r>
            <a:r>
              <a:rPr lang="zh-CN" altLang="en-US" sz="2400" dirty="0" smtClean="0">
                <a:ea typeface="华文楷体" panose="02010600040101010101" pitchFamily="2" charset="-122"/>
              </a:rPr>
              <a:t>在数据元素的非空有限集中</a:t>
            </a:r>
            <a:endParaRPr lang="zh-CN" altLang="en-US" sz="2400" dirty="0" smtClean="0">
              <a:ea typeface="华文楷体" panose="02010600040101010101" pitchFamily="2" charset="-122"/>
            </a:endParaRPr>
          </a:p>
          <a:p>
            <a:pPr eaLnBrk="1" hangingPunct="1">
              <a:lnSpc>
                <a:spcPct val="90000"/>
              </a:lnSpc>
            </a:pPr>
            <a:r>
              <a:rPr lang="zh-CN" altLang="en-US" sz="2400" dirty="0" smtClean="0">
                <a:ea typeface="华文楷体" panose="02010600040101010101" pitchFamily="2" charset="-122"/>
              </a:rPr>
              <a:t>数据元素间是线性关系，数据元素在表中的</a:t>
            </a:r>
            <a:r>
              <a:rPr lang="zh-CN" altLang="en-US" sz="2400" dirty="0" smtClean="0">
                <a:solidFill>
                  <a:schemeClr val="accent2"/>
                </a:solidFill>
                <a:ea typeface="华文楷体" panose="02010600040101010101" pitchFamily="2" charset="-122"/>
              </a:rPr>
              <a:t>位置</a:t>
            </a:r>
            <a:r>
              <a:rPr lang="zh-CN" altLang="en-US" sz="2400" dirty="0" smtClean="0">
                <a:ea typeface="华文楷体" panose="02010600040101010101" pitchFamily="2" charset="-122"/>
              </a:rPr>
              <a:t>只取决于其</a:t>
            </a:r>
            <a:r>
              <a:rPr lang="zh-CN" altLang="en-US" sz="2400" dirty="0" smtClean="0">
                <a:solidFill>
                  <a:schemeClr val="accent2"/>
                </a:solidFill>
                <a:ea typeface="华文楷体" panose="02010600040101010101" pitchFamily="2" charset="-122"/>
              </a:rPr>
              <a:t>序号</a:t>
            </a:r>
            <a:endParaRPr lang="zh-CN" altLang="en-US" sz="2400" dirty="0" smtClean="0">
              <a:ea typeface="华文楷体" panose="02010600040101010101" pitchFamily="2" charset="-122"/>
            </a:endParaRPr>
          </a:p>
          <a:p>
            <a:pPr eaLnBrk="1" hangingPunct="1">
              <a:lnSpc>
                <a:spcPct val="90000"/>
              </a:lnSpc>
            </a:pPr>
            <a:r>
              <a:rPr lang="zh-CN" altLang="en-US" sz="2400" dirty="0" smtClean="0">
                <a:ea typeface="华文楷体" panose="02010600040101010101" pitchFamily="2" charset="-122"/>
              </a:rPr>
              <a:t>存在</a:t>
            </a:r>
            <a:r>
              <a:rPr lang="zh-CN" altLang="en-US" sz="2400" dirty="0" smtClean="0">
                <a:solidFill>
                  <a:schemeClr val="accent2"/>
                </a:solidFill>
                <a:ea typeface="华文楷体" panose="02010600040101010101" pitchFamily="2" charset="-122"/>
              </a:rPr>
              <a:t>唯一</a:t>
            </a:r>
            <a:r>
              <a:rPr lang="zh-CN" altLang="en-US" sz="2400" dirty="0" smtClean="0">
                <a:ea typeface="华文楷体" panose="02010600040101010101" pitchFamily="2" charset="-122"/>
              </a:rPr>
              <a:t>的一个被称作“</a:t>
            </a:r>
            <a:r>
              <a:rPr lang="zh-CN" altLang="en-US" sz="2400" dirty="0" smtClean="0">
                <a:solidFill>
                  <a:schemeClr val="accent2"/>
                </a:solidFill>
                <a:ea typeface="华文楷体" panose="02010600040101010101" pitchFamily="2" charset="-122"/>
              </a:rPr>
              <a:t>第一个</a:t>
            </a:r>
            <a:r>
              <a:rPr lang="zh-CN" altLang="en-US" sz="2400" dirty="0" smtClean="0">
                <a:ea typeface="华文楷体" panose="02010600040101010101" pitchFamily="2" charset="-122"/>
              </a:rPr>
              <a:t>”的数据元素和</a:t>
            </a:r>
            <a:r>
              <a:rPr lang="zh-CN" altLang="en-US" sz="2400" dirty="0" smtClean="0">
                <a:solidFill>
                  <a:schemeClr val="accent2"/>
                </a:solidFill>
                <a:ea typeface="华文楷体" panose="02010600040101010101" pitchFamily="2" charset="-122"/>
              </a:rPr>
              <a:t>唯一</a:t>
            </a:r>
            <a:r>
              <a:rPr lang="zh-CN" altLang="en-US" sz="2400" dirty="0" smtClean="0">
                <a:ea typeface="华文楷体" panose="02010600040101010101" pitchFamily="2" charset="-122"/>
              </a:rPr>
              <a:t>的一个被称作“</a:t>
            </a:r>
            <a:r>
              <a:rPr lang="zh-CN" altLang="en-US" sz="2400" dirty="0" smtClean="0">
                <a:solidFill>
                  <a:schemeClr val="accent2"/>
                </a:solidFill>
                <a:ea typeface="华文楷体" panose="02010600040101010101" pitchFamily="2" charset="-122"/>
              </a:rPr>
              <a:t>最后一个</a:t>
            </a:r>
            <a:r>
              <a:rPr lang="zh-CN" altLang="en-US" sz="2400" dirty="0" smtClean="0">
                <a:ea typeface="华文楷体" panose="02010600040101010101" pitchFamily="2" charset="-122"/>
              </a:rPr>
              <a:t>”的数据元素</a:t>
            </a:r>
            <a:endParaRPr lang="zh-CN" altLang="en-US" sz="2400" dirty="0" smtClean="0">
              <a:ea typeface="华文楷体" panose="02010600040101010101" pitchFamily="2" charset="-122"/>
            </a:endParaRPr>
          </a:p>
          <a:p>
            <a:pPr eaLnBrk="1" hangingPunct="1">
              <a:lnSpc>
                <a:spcPct val="90000"/>
              </a:lnSpc>
            </a:pPr>
            <a:r>
              <a:rPr lang="zh-CN" altLang="en-US" sz="2400" dirty="0" smtClean="0">
                <a:ea typeface="华文楷体" panose="02010600040101010101" pitchFamily="2" charset="-122"/>
              </a:rPr>
              <a:t>除第一个外，每个数据元素均</a:t>
            </a:r>
            <a:r>
              <a:rPr lang="zh-CN" altLang="en-US" sz="2400" dirty="0" smtClean="0">
                <a:solidFill>
                  <a:schemeClr val="accent2"/>
                </a:solidFill>
                <a:ea typeface="华文楷体" panose="02010600040101010101" pitchFamily="2" charset="-122"/>
              </a:rPr>
              <a:t>只有一个前驱；</a:t>
            </a:r>
            <a:r>
              <a:rPr lang="zh-CN" altLang="en-US" sz="2400" dirty="0" smtClean="0">
                <a:ea typeface="华文楷体" panose="02010600040101010101" pitchFamily="2" charset="-122"/>
              </a:rPr>
              <a:t>除最后一个外，每个数据元素均</a:t>
            </a:r>
            <a:r>
              <a:rPr lang="zh-CN" altLang="en-US" sz="2400" dirty="0" smtClean="0">
                <a:solidFill>
                  <a:schemeClr val="accent2"/>
                </a:solidFill>
                <a:ea typeface="华文楷体" panose="02010600040101010101" pitchFamily="2" charset="-122"/>
              </a:rPr>
              <a:t>只有一个后继</a:t>
            </a:r>
            <a:endParaRPr lang="zh-CN" altLang="en-US" sz="2400" dirty="0" smtClean="0">
              <a:ea typeface="华文楷体" panose="02010600040101010101" pitchFamily="2" charset="-122"/>
            </a:endParaRPr>
          </a:p>
        </p:txBody>
      </p:sp>
      <p:sp>
        <p:nvSpPr>
          <p:cNvPr id="6151" name="Rectangle 4"/>
          <p:cNvSpPr>
            <a:spLocks noChangeArrowheads="1"/>
          </p:cNvSpPr>
          <p:nvPr/>
        </p:nvSpPr>
        <p:spPr bwMode="auto">
          <a:xfrm>
            <a:off x="395288" y="1125538"/>
            <a:ext cx="8370887" cy="2519362"/>
          </a:xfrm>
          <a:prstGeom prst="rect">
            <a:avLst/>
          </a:prstGeom>
          <a:solidFill>
            <a:schemeClr val="bg1"/>
          </a:solidFill>
          <a:ln w="12700">
            <a:solidFill>
              <a:srgbClr val="00B050"/>
            </a:solidFill>
            <a:prstDash val="dash"/>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b="1" dirty="0">
                <a:solidFill>
                  <a:srgbClr val="CC6600"/>
                </a:solidFill>
                <a:latin typeface="华文楷体" panose="02010600040101010101" pitchFamily="2" charset="-122"/>
                <a:ea typeface="华文楷体" panose="02010600040101010101" pitchFamily="2" charset="-122"/>
              </a:rPr>
              <a:t>形式定义</a:t>
            </a:r>
            <a:r>
              <a:rPr lang="zh-CN" altLang="en-US" sz="2400" dirty="0">
                <a:latin typeface="华文楷体" panose="02010600040101010101" pitchFamily="2" charset="-122"/>
                <a:ea typeface="华文楷体" panose="02010600040101010101" pitchFamily="2" charset="-122"/>
              </a:rPr>
              <a:t>：由</a:t>
            </a:r>
            <a:r>
              <a:rPr lang="en-US" altLang="zh-CN" sz="2400" dirty="0">
                <a:latin typeface="华文楷体" panose="02010600040101010101" pitchFamily="2" charset="-122"/>
                <a:ea typeface="华文楷体" panose="02010600040101010101" pitchFamily="2" charset="-122"/>
              </a:rPr>
              <a:t>n (n</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0) </a:t>
            </a:r>
            <a:r>
              <a:rPr lang="zh-CN" altLang="en-US" sz="2400" dirty="0">
                <a:latin typeface="华文楷体" panose="02010600040101010101" pitchFamily="2" charset="-122"/>
                <a:ea typeface="华文楷体" panose="02010600040101010101" pitchFamily="2" charset="-122"/>
                <a:sym typeface="Symbol" panose="05050102010706020507" pitchFamily="18" charset="2"/>
              </a:rPr>
              <a:t>个数据元素组成的</a:t>
            </a:r>
            <a:r>
              <a:rPr lang="zh-CN" altLang="en-US" sz="2400" b="1" dirty="0">
                <a:solidFill>
                  <a:schemeClr val="accent2"/>
                </a:solidFill>
                <a:latin typeface="华文楷体" panose="02010600040101010101" pitchFamily="2" charset="-122"/>
                <a:ea typeface="华文楷体" panose="02010600040101010101" pitchFamily="2" charset="-122"/>
                <a:sym typeface="Symbol" panose="05050102010706020507" pitchFamily="18" charset="2"/>
              </a:rPr>
              <a:t>有序序列</a:t>
            </a:r>
            <a:r>
              <a:rPr lang="zh-CN" altLang="en-US" sz="2400" dirty="0">
                <a:latin typeface="华文楷体" panose="02010600040101010101" pitchFamily="2" charset="-122"/>
                <a:ea typeface="华文楷体" panose="02010600040101010101" pitchFamily="2" charset="-122"/>
                <a:sym typeface="Symbol" panose="05050102010706020507" pitchFamily="18" charset="2"/>
              </a:rPr>
              <a:t>。</a:t>
            </a:r>
            <a:endParaRPr lang="zh-CN" altLang="en-US" sz="2400" dirty="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0"/>
              </a:spcBef>
              <a:buClrTx/>
              <a:buFontTx/>
              <a:buNone/>
            </a:pPr>
            <a:r>
              <a:rPr lang="en-US" altLang="zh-CN" sz="2400" dirty="0" err="1">
                <a:latin typeface="华文楷体" panose="02010600040101010101" pitchFamily="2" charset="-122"/>
                <a:ea typeface="华文楷体" panose="02010600040101010101" pitchFamily="2" charset="-122"/>
              </a:rPr>
              <a:t>Linear_list</a:t>
            </a:r>
            <a:r>
              <a:rPr lang="en-US" altLang="zh-CN" sz="2400" dirty="0">
                <a:latin typeface="华文楷体" panose="02010600040101010101" pitchFamily="2" charset="-122"/>
                <a:ea typeface="华文楷体" panose="02010600040101010101" pitchFamily="2" charset="-122"/>
              </a:rPr>
              <a:t> = (D, S)</a:t>
            </a:r>
            <a:endParaRPr lang="en-US" altLang="zh-CN" sz="2400"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其中：</a:t>
            </a:r>
            <a:r>
              <a:rPr lang="en-US" altLang="zh-CN" sz="2400" dirty="0">
                <a:latin typeface="华文楷体" panose="02010600040101010101" pitchFamily="2" charset="-122"/>
                <a:ea typeface="华文楷体" panose="02010600040101010101" pitchFamily="2" charset="-122"/>
              </a:rPr>
              <a:t>D={</a:t>
            </a:r>
            <a:r>
              <a:rPr lang="en-US" altLang="zh-CN" sz="2400" dirty="0" err="1">
                <a:latin typeface="华文楷体" panose="02010600040101010101" pitchFamily="2" charset="-122"/>
                <a:ea typeface="华文楷体" panose="02010600040101010101" pitchFamily="2" charset="-122"/>
              </a:rPr>
              <a:t>a</a:t>
            </a:r>
            <a:r>
              <a:rPr lang="en-US" altLang="zh-CN" sz="2400" baseline="-25000" dirty="0" err="1">
                <a:latin typeface="华文楷体" panose="02010600040101010101" pitchFamily="2" charset="-122"/>
                <a:ea typeface="华文楷体" panose="02010600040101010101" pitchFamily="2" charset="-122"/>
              </a:rPr>
              <a:t>i</a:t>
            </a:r>
            <a:r>
              <a:rPr lang="en-US" altLang="zh-CN"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 </a:t>
            </a:r>
            <a:r>
              <a:rPr lang="en-US" altLang="zh-CN" sz="2400" dirty="0" err="1">
                <a:latin typeface="华文楷体" panose="02010600040101010101" pitchFamily="2" charset="-122"/>
                <a:ea typeface="华文楷体" panose="02010600040101010101" pitchFamily="2" charset="-122"/>
                <a:sym typeface="Symbol" panose="05050102010706020507" pitchFamily="18" charset="2"/>
              </a:rPr>
              <a:t>a</a:t>
            </a:r>
            <a:r>
              <a:rPr lang="en-US" altLang="zh-CN" sz="2400" baseline="-25000" dirty="0" err="1">
                <a:latin typeface="华文楷体" panose="02010600040101010101" pitchFamily="2" charset="-122"/>
                <a:ea typeface="华文楷体" panose="02010600040101010101" pitchFamily="2" charset="-122"/>
                <a:sym typeface="Symbol" panose="05050102010706020507" pitchFamily="18" charset="2"/>
              </a:rPr>
              <a:t>i</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 D</a:t>
            </a:r>
            <a:r>
              <a:rPr lang="en-US" altLang="zh-CN" sz="2400" baseline="-25000" dirty="0">
                <a:latin typeface="华文楷体" panose="02010600040101010101" pitchFamily="2" charset="-122"/>
                <a:ea typeface="华文楷体" panose="02010600040101010101" pitchFamily="2" charset="-122"/>
                <a:sym typeface="Symbol" panose="05050102010706020507" pitchFamily="18" charset="2"/>
              </a:rPr>
              <a:t>0</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 , </a:t>
            </a:r>
            <a:r>
              <a:rPr lang="en-US" altLang="zh-CN" sz="2400" dirty="0" err="1">
                <a:latin typeface="华文楷体" panose="02010600040101010101" pitchFamily="2" charset="-122"/>
                <a:ea typeface="华文楷体" panose="02010600040101010101" pitchFamily="2" charset="-122"/>
                <a:sym typeface="Symbol" panose="05050102010706020507" pitchFamily="18" charset="2"/>
              </a:rPr>
              <a:t>i</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=1, , </a:t>
            </a:r>
            <a:r>
              <a:rPr lang="en-US" altLang="zh-CN" sz="2400" dirty="0" err="1">
                <a:latin typeface="华文楷体" panose="02010600040101010101" pitchFamily="2" charset="-122"/>
                <a:ea typeface="华文楷体" panose="02010600040101010101" pitchFamily="2" charset="-122"/>
                <a:sym typeface="Symbol" panose="05050102010706020507" pitchFamily="18" charset="2"/>
              </a:rPr>
              <a:t>n;n</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 0}</a:t>
            </a:r>
            <a:endParaRPr lang="en-US" altLang="zh-CN" sz="2400" dirty="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0"/>
              </a:spcBef>
              <a:buClrTx/>
              <a:buFontTx/>
              <a:buNone/>
            </a:pPr>
            <a:r>
              <a:rPr lang="en-US" altLang="zh-CN" sz="2400" dirty="0">
                <a:latin typeface="华文楷体" panose="02010600040101010101" pitchFamily="2" charset="-122"/>
                <a:ea typeface="华文楷体" panose="02010600040101010101" pitchFamily="2" charset="-122"/>
                <a:sym typeface="Symbol" panose="05050102010706020507" pitchFamily="18" charset="2"/>
              </a:rPr>
              <a:t>                 R={N}  N={&lt;</a:t>
            </a:r>
            <a:r>
              <a:rPr lang="en-US" altLang="zh-CN" sz="2400" dirty="0" err="1">
                <a:latin typeface="华文楷体" panose="02010600040101010101" pitchFamily="2" charset="-122"/>
                <a:ea typeface="华文楷体" panose="02010600040101010101" pitchFamily="2" charset="-122"/>
                <a:sym typeface="Symbol" panose="05050102010706020507" pitchFamily="18" charset="2"/>
              </a:rPr>
              <a:t>a</a:t>
            </a:r>
            <a:r>
              <a:rPr lang="en-US" altLang="zh-CN" sz="2400" baseline="-25000" dirty="0" err="1">
                <a:latin typeface="华文楷体" panose="02010600040101010101" pitchFamily="2" charset="-122"/>
                <a:ea typeface="华文楷体" panose="02010600040101010101" pitchFamily="2" charset="-122"/>
                <a:sym typeface="Symbol" panose="05050102010706020507" pitchFamily="18" charset="2"/>
              </a:rPr>
              <a:t>i</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 , a</a:t>
            </a:r>
            <a:r>
              <a:rPr lang="en-US" altLang="zh-CN" sz="2400" baseline="-25000" dirty="0">
                <a:latin typeface="华文楷体" panose="02010600040101010101" pitchFamily="2" charset="-122"/>
                <a:ea typeface="华文楷体" panose="02010600040101010101" pitchFamily="2" charset="-122"/>
                <a:sym typeface="Symbol" panose="05050102010706020507" pitchFamily="18" charset="2"/>
              </a:rPr>
              <a:t>i+1</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&gt;| </a:t>
            </a:r>
            <a:r>
              <a:rPr lang="en-US" altLang="zh-CN" sz="2400" dirty="0" err="1">
                <a:latin typeface="华文楷体" panose="02010600040101010101" pitchFamily="2" charset="-122"/>
                <a:ea typeface="华文楷体" panose="02010600040101010101" pitchFamily="2" charset="-122"/>
                <a:sym typeface="Symbol" panose="05050102010706020507" pitchFamily="18" charset="2"/>
              </a:rPr>
              <a:t>a</a:t>
            </a:r>
            <a:r>
              <a:rPr lang="en-US" altLang="zh-CN" sz="2400" baseline="-25000" dirty="0" err="1">
                <a:latin typeface="华文楷体" panose="02010600040101010101" pitchFamily="2" charset="-122"/>
                <a:ea typeface="华文楷体" panose="02010600040101010101" pitchFamily="2" charset="-122"/>
                <a:sym typeface="Symbol" panose="05050102010706020507" pitchFamily="18" charset="2"/>
              </a:rPr>
              <a:t>i</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 a</a:t>
            </a:r>
            <a:r>
              <a:rPr lang="en-US" altLang="zh-CN" sz="2400" baseline="-25000" dirty="0">
                <a:latin typeface="华文楷体" panose="02010600040101010101" pitchFamily="2" charset="-122"/>
                <a:ea typeface="华文楷体" panose="02010600040101010101" pitchFamily="2" charset="-122"/>
                <a:sym typeface="Symbol" panose="05050102010706020507" pitchFamily="18" charset="2"/>
              </a:rPr>
              <a:t>i+1</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 D</a:t>
            </a:r>
            <a:r>
              <a:rPr lang="en-US" altLang="zh-CN" sz="2400" baseline="-25000" dirty="0">
                <a:latin typeface="华文楷体" panose="02010600040101010101" pitchFamily="2" charset="-122"/>
                <a:ea typeface="华文楷体" panose="02010600040101010101" pitchFamily="2" charset="-122"/>
                <a:sym typeface="Symbol" panose="05050102010706020507" pitchFamily="18" charset="2"/>
              </a:rPr>
              <a:t>0</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 , </a:t>
            </a:r>
            <a:r>
              <a:rPr lang="en-US" altLang="zh-CN" sz="2400" dirty="0" err="1">
                <a:latin typeface="华文楷体" panose="02010600040101010101" pitchFamily="2" charset="-122"/>
                <a:ea typeface="华文楷体" panose="02010600040101010101" pitchFamily="2" charset="-122"/>
                <a:sym typeface="Symbol" panose="05050102010706020507" pitchFamily="18" charset="2"/>
              </a:rPr>
              <a:t>i</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=1,2, , n }</a:t>
            </a:r>
            <a:endParaRPr lang="en-US" altLang="zh-CN" sz="2400" dirty="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0"/>
              </a:spcBef>
              <a:buClrTx/>
              <a:buFontTx/>
              <a:buNone/>
            </a:pPr>
            <a:r>
              <a:rPr lang="en-US" altLang="zh-CN" sz="2400" dirty="0">
                <a:latin typeface="华文楷体" panose="02010600040101010101" pitchFamily="2" charset="-122"/>
                <a:ea typeface="华文楷体" panose="02010600040101010101" pitchFamily="2" charset="-122"/>
                <a:sym typeface="Symbol" panose="05050102010706020507" pitchFamily="18" charset="2"/>
              </a:rPr>
              <a:t>                  D</a:t>
            </a:r>
            <a:r>
              <a:rPr lang="en-US" altLang="zh-CN" sz="2400" baseline="-25000" dirty="0">
                <a:latin typeface="华文楷体" panose="02010600040101010101" pitchFamily="2" charset="-122"/>
                <a:ea typeface="华文楷体" panose="02010600040101010101" pitchFamily="2" charset="-122"/>
                <a:sym typeface="Symbol" panose="05050102010706020507" pitchFamily="18" charset="2"/>
              </a:rPr>
              <a:t>0</a:t>
            </a:r>
            <a:r>
              <a:rPr lang="zh-CN" altLang="zh-CN" sz="2400" dirty="0">
                <a:latin typeface="华文楷体" panose="02010600040101010101" pitchFamily="2" charset="-122"/>
                <a:ea typeface="华文楷体" panose="02010600040101010101" pitchFamily="2" charset="-122"/>
                <a:sym typeface="Symbol" panose="05050102010706020507" pitchFamily="18" charset="2"/>
              </a:rPr>
              <a:t>为某个数据对象</a:t>
            </a:r>
            <a:endParaRPr lang="zh-CN" altLang="zh-CN" sz="2400" dirty="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0"/>
              </a:spcBef>
              <a:buClrTx/>
              <a:buFontTx/>
              <a:buNone/>
            </a:pPr>
            <a:r>
              <a:rPr lang="zh-CN" altLang="zh-CN" sz="2400" dirty="0">
                <a:latin typeface="华文楷体" panose="02010600040101010101" pitchFamily="2" charset="-122"/>
                <a:ea typeface="华文楷体" panose="02010600040101010101" pitchFamily="2" charset="-122"/>
                <a:sym typeface="Symbol" panose="05050102010706020507" pitchFamily="18" charset="2"/>
              </a:rPr>
              <a:t>      或者简记为</a:t>
            </a:r>
            <a:r>
              <a:rPr lang="zh-CN" altLang="zh-CN" sz="2400" b="1" dirty="0">
                <a:latin typeface="华文楷体" panose="02010600040101010101" pitchFamily="2" charset="-122"/>
                <a:ea typeface="华文楷体" panose="02010600040101010101" pitchFamily="2" charset="-122"/>
                <a:sym typeface="Symbol" panose="05050102010706020507" pitchFamily="18" charset="2"/>
              </a:rPr>
              <a:t>：(</a:t>
            </a:r>
            <a:r>
              <a:rPr lang="en-US" altLang="zh-CN" sz="2400" b="1" dirty="0">
                <a:latin typeface="华文楷体" panose="02010600040101010101" pitchFamily="2" charset="-122"/>
                <a:ea typeface="华文楷体" panose="02010600040101010101" pitchFamily="2" charset="-122"/>
                <a:sym typeface="Symbol" panose="05050102010706020507" pitchFamily="18" charset="2"/>
              </a:rPr>
              <a:t>a</a:t>
            </a:r>
            <a:r>
              <a:rPr lang="en-US" altLang="zh-CN" sz="2400" baseline="-25000" dirty="0">
                <a:latin typeface="华文楷体" panose="02010600040101010101" pitchFamily="2" charset="-122"/>
                <a:ea typeface="华文楷体" panose="02010600040101010101" pitchFamily="2" charset="-122"/>
                <a:sym typeface="Symbol" panose="05050102010706020507" pitchFamily="18" charset="2"/>
              </a:rPr>
              <a:t>1</a:t>
            </a:r>
            <a:r>
              <a:rPr lang="en-US" altLang="zh-CN" sz="2400" b="1" dirty="0">
                <a:latin typeface="华文楷体" panose="02010600040101010101" pitchFamily="2" charset="-122"/>
                <a:ea typeface="华文楷体" panose="02010600040101010101" pitchFamily="2" charset="-122"/>
                <a:sym typeface="Symbol" panose="05050102010706020507" pitchFamily="18" charset="2"/>
              </a:rPr>
              <a:t>, …, </a:t>
            </a:r>
            <a:r>
              <a:rPr lang="en-US" altLang="zh-CN" sz="2400" b="1" dirty="0" err="1">
                <a:latin typeface="华文楷体" panose="02010600040101010101" pitchFamily="2" charset="-122"/>
                <a:ea typeface="华文楷体" panose="02010600040101010101" pitchFamily="2" charset="-122"/>
                <a:sym typeface="Symbol" panose="05050102010706020507" pitchFamily="18" charset="2"/>
              </a:rPr>
              <a:t>a</a:t>
            </a:r>
            <a:r>
              <a:rPr lang="en-US" altLang="zh-CN" sz="2400" baseline="-25000" dirty="0" err="1">
                <a:latin typeface="华文楷体" panose="02010600040101010101" pitchFamily="2" charset="-122"/>
                <a:ea typeface="华文楷体" panose="02010600040101010101" pitchFamily="2" charset="-122"/>
                <a:sym typeface="Symbol" panose="05050102010706020507" pitchFamily="18" charset="2"/>
              </a:rPr>
              <a:t>i</a:t>
            </a:r>
            <a:r>
              <a:rPr lang="en-US" altLang="zh-CN" sz="2400" b="1" dirty="0">
                <a:latin typeface="华文楷体" panose="02010600040101010101" pitchFamily="2" charset="-122"/>
                <a:ea typeface="华文楷体" panose="02010600040101010101" pitchFamily="2" charset="-122"/>
                <a:sym typeface="Symbol" panose="05050102010706020507" pitchFamily="18" charset="2"/>
              </a:rPr>
              <a:t> , …a</a:t>
            </a:r>
            <a:r>
              <a:rPr lang="en-US" altLang="zh-CN" sz="2400" baseline="-25000" dirty="0">
                <a:latin typeface="华文楷体" panose="02010600040101010101" pitchFamily="2" charset="-122"/>
                <a:ea typeface="华文楷体" panose="02010600040101010101" pitchFamily="2" charset="-122"/>
                <a:sym typeface="Symbol" panose="05050102010706020507" pitchFamily="18" charset="2"/>
              </a:rPr>
              <a:t>n</a:t>
            </a:r>
            <a:r>
              <a:rPr lang="en-US" altLang="zh-CN" sz="2400" b="1" dirty="0">
                <a:latin typeface="华文楷体" panose="02010600040101010101" pitchFamily="2" charset="-122"/>
                <a:ea typeface="华文楷体" panose="02010600040101010101" pitchFamily="2" charset="-122"/>
                <a:sym typeface="Symbol" panose="05050102010706020507" pitchFamily="18" charset="2"/>
              </a:rPr>
              <a:t> )</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  </a:t>
            </a:r>
            <a:r>
              <a:rPr lang="en-US" altLang="zh-CN" sz="2400" dirty="0">
                <a:latin typeface="华文楷体" panose="02010600040101010101" pitchFamily="2" charset="-122"/>
                <a:ea typeface="华文楷体" panose="02010600040101010101" pitchFamily="2" charset="-122"/>
              </a:rPr>
              <a:t>n</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0</a:t>
            </a:r>
            <a:endParaRPr lang="en-US" altLang="zh-CN" sz="2400" dirty="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0"/>
              </a:spcBef>
              <a:buClrTx/>
              <a:buFontTx/>
              <a:buNone/>
            </a:pPr>
            <a:r>
              <a:rPr lang="en-US" altLang="zh-CN" sz="2400" dirty="0">
                <a:latin typeface="华文楷体" panose="02010600040101010101" pitchFamily="2" charset="-122"/>
                <a:ea typeface="华文楷体" panose="02010600040101010101" pitchFamily="2" charset="-122"/>
                <a:sym typeface="Symbol" panose="05050102010706020507" pitchFamily="18" charset="2"/>
              </a:rPr>
              <a:t>      </a:t>
            </a:r>
            <a:r>
              <a:rPr lang="zh-CN" altLang="en-US" sz="2400" dirty="0">
                <a:latin typeface="华文楷体" panose="02010600040101010101" pitchFamily="2" charset="-122"/>
                <a:ea typeface="华文楷体" panose="02010600040101010101" pitchFamily="2" charset="-122"/>
                <a:sym typeface="Symbol" panose="05050102010706020507" pitchFamily="18" charset="2"/>
              </a:rPr>
              <a:t>（</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n</a:t>
            </a:r>
            <a:r>
              <a:rPr lang="zh-CN" altLang="en-US" sz="2400" dirty="0">
                <a:latin typeface="华文楷体" panose="02010600040101010101" pitchFamily="2" charset="-122"/>
                <a:ea typeface="华文楷体" panose="02010600040101010101" pitchFamily="2" charset="-122"/>
                <a:sym typeface="Symbol" panose="05050102010706020507" pitchFamily="18" charset="2"/>
              </a:rPr>
              <a:t>为</a:t>
            </a:r>
            <a:r>
              <a:rPr lang="zh-CN" altLang="en-US" sz="2400" b="1" dirty="0">
                <a:solidFill>
                  <a:srgbClr val="FF3300"/>
                </a:solidFill>
                <a:latin typeface="华文楷体" panose="02010600040101010101" pitchFamily="2" charset="-122"/>
                <a:ea typeface="华文楷体" panose="02010600040101010101" pitchFamily="2" charset="-122"/>
                <a:sym typeface="Symbol" panose="05050102010706020507" pitchFamily="18" charset="2"/>
              </a:rPr>
              <a:t>表长</a:t>
            </a:r>
            <a:r>
              <a:rPr lang="zh-CN" altLang="en-US" sz="2400" dirty="0">
                <a:latin typeface="华文楷体" panose="02010600040101010101" pitchFamily="2" charset="-122"/>
                <a:ea typeface="华文楷体" panose="02010600040101010101" pitchFamily="2" charset="-122"/>
                <a:sym typeface="Symbol" panose="05050102010706020507" pitchFamily="18" charset="2"/>
              </a:rPr>
              <a:t>。 当</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n=0</a:t>
            </a:r>
            <a:r>
              <a:rPr lang="zh-CN" altLang="en-US" sz="2400" dirty="0">
                <a:latin typeface="华文楷体" panose="02010600040101010101" pitchFamily="2" charset="-122"/>
                <a:ea typeface="华文楷体" panose="02010600040101010101" pitchFamily="2" charset="-122"/>
                <a:sym typeface="Symbol" panose="05050102010706020507" pitchFamily="18" charset="2"/>
              </a:rPr>
              <a:t>，称为</a:t>
            </a:r>
            <a:r>
              <a:rPr lang="zh-CN" altLang="en-US" sz="2400" b="1" dirty="0">
                <a:solidFill>
                  <a:srgbClr val="FF3300"/>
                </a:solidFill>
                <a:latin typeface="华文楷体" panose="02010600040101010101" pitchFamily="2" charset="-122"/>
                <a:ea typeface="华文楷体" panose="02010600040101010101" pitchFamily="2" charset="-122"/>
                <a:sym typeface="Symbol" panose="05050102010706020507" pitchFamily="18" charset="2"/>
              </a:rPr>
              <a:t>空表</a:t>
            </a:r>
            <a:r>
              <a:rPr lang="zh-CN" altLang="en-US" sz="2400" dirty="0">
                <a:latin typeface="华文楷体" panose="02010600040101010101" pitchFamily="2" charset="-122"/>
                <a:ea typeface="华文楷体" panose="02010600040101010101" pitchFamily="2" charset="-122"/>
                <a:sym typeface="Symbol" panose="05050102010706020507" pitchFamily="18" charset="2"/>
              </a:rPr>
              <a:t>）</a:t>
            </a:r>
            <a:endParaRPr lang="zh-CN" altLang="en-US" sz="2400" dirty="0">
              <a:latin typeface="华文楷体" panose="02010600040101010101" pitchFamily="2" charset="-122"/>
              <a:ea typeface="华文楷体" panose="02010600040101010101" pitchFamily="2" charset="-122"/>
              <a:sym typeface="Symbol" panose="05050102010706020507" pitchFamily="18" charset="2"/>
            </a:endParaRPr>
          </a:p>
        </p:txBody>
      </p:sp>
      <p:sp>
        <p:nvSpPr>
          <p:cNvPr id="6152" name="Text Box 7"/>
          <p:cNvSpPr txBox="1">
            <a:spLocks noChangeArrowheads="1"/>
          </p:cNvSpPr>
          <p:nvPr/>
        </p:nvSpPr>
        <p:spPr bwMode="auto">
          <a:xfrm>
            <a:off x="395288" y="4076700"/>
            <a:ext cx="83534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zh-CN" sz="18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页脚占位符 3"/>
          <p:cNvSpPr>
            <a:spLocks noGrp="1"/>
          </p:cNvSpPr>
          <p:nvPr>
            <p:ph type="ftr" sz="quarter" idx="10"/>
          </p:nvPr>
        </p:nvSpPr>
        <p:spPr/>
        <p:txBody>
          <a:bodyPr/>
          <a:lstStyle/>
          <a:p>
            <a:pPr>
              <a:defRPr/>
            </a:pPr>
            <a:r>
              <a:rPr lang="en-US" altLang="zh-CN"/>
              <a:t>BUPT SCST</a:t>
            </a:r>
            <a:endParaRPr lang="en-US" altLang="zh-CN"/>
          </a:p>
        </p:txBody>
      </p:sp>
      <p:sp>
        <p:nvSpPr>
          <p:cNvPr id="717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EB2C1176-D18D-407F-B6AC-BEAAEDA73456}"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23" name="日期占位符 5"/>
          <p:cNvSpPr>
            <a:spLocks noGrp="1"/>
          </p:cNvSpPr>
          <p:nvPr>
            <p:ph type="dt" sz="quarter" idx="12"/>
          </p:nvPr>
        </p:nvSpPr>
        <p:spPr/>
        <p:txBody>
          <a:bodyPr/>
          <a:lstStyle/>
          <a:p>
            <a:pPr>
              <a:defRPr/>
            </a:pPr>
            <a:r>
              <a:rPr lang="en-US" altLang="zh-CN"/>
              <a:t>BUPT</a:t>
            </a:r>
            <a:endParaRPr lang="en-US" altLang="zh-CN"/>
          </a:p>
        </p:txBody>
      </p:sp>
      <p:sp>
        <p:nvSpPr>
          <p:cNvPr id="7173"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2.2 </a:t>
            </a:r>
            <a:r>
              <a:rPr lang="zh-CN" altLang="en-US" sz="2800" dirty="0" smtClean="0">
                <a:ea typeface="华文楷体" panose="02010600040101010101" pitchFamily="2" charset="-122"/>
              </a:rPr>
              <a:t>向量（顺序表）</a:t>
            </a:r>
            <a:endParaRPr lang="zh-CN" altLang="en-US" sz="2800" dirty="0" smtClean="0">
              <a:ea typeface="华文楷体" panose="02010600040101010101" pitchFamily="2" charset="-122"/>
            </a:endParaRPr>
          </a:p>
        </p:txBody>
      </p:sp>
      <p:sp>
        <p:nvSpPr>
          <p:cNvPr id="7174" name="Rectangle 4"/>
          <p:cNvSpPr>
            <a:spLocks noChangeArrowheads="1"/>
          </p:cNvSpPr>
          <p:nvPr/>
        </p:nvSpPr>
        <p:spPr bwMode="auto">
          <a:xfrm>
            <a:off x="685800" y="14478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endParaRPr lang="en-US" altLang="zh-CN" sz="28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800" dirty="0">
                <a:latin typeface="华文楷体" panose="02010600040101010101" pitchFamily="2" charset="-122"/>
                <a:ea typeface="华文楷体" panose="02010600040101010101" pitchFamily="2" charset="-122"/>
              </a:rPr>
              <a:t>    b</a:t>
            </a:r>
            <a:endParaRPr lang="en-US" altLang="zh-CN" sz="28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800" dirty="0">
                <a:latin typeface="华文楷体" panose="02010600040101010101" pitchFamily="2" charset="-122"/>
                <a:ea typeface="华文楷体" panose="02010600040101010101" pitchFamily="2" charset="-122"/>
              </a:rPr>
              <a:t>    </a:t>
            </a:r>
            <a:r>
              <a:rPr lang="en-US" altLang="zh-CN" sz="2800" dirty="0" err="1">
                <a:latin typeface="华文楷体" panose="02010600040101010101" pitchFamily="2" charset="-122"/>
                <a:ea typeface="华文楷体" panose="02010600040101010101" pitchFamily="2" charset="-122"/>
              </a:rPr>
              <a:t>b+c</a:t>
            </a:r>
            <a:endParaRPr lang="en-US" altLang="zh-CN" sz="28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endParaRPr lang="en-US" altLang="zh-CN" sz="28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800" dirty="0">
                <a:latin typeface="华文楷体" panose="02010600040101010101" pitchFamily="2" charset="-122"/>
                <a:ea typeface="华文楷体" panose="02010600040101010101" pitchFamily="2" charset="-122"/>
              </a:rPr>
              <a:t>    b+(i-1)c</a:t>
            </a:r>
            <a:endParaRPr lang="en-US" altLang="zh-CN" sz="28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endParaRPr lang="en-US" altLang="zh-CN" sz="28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800" dirty="0">
                <a:latin typeface="华文楷体" panose="02010600040101010101" pitchFamily="2" charset="-122"/>
                <a:ea typeface="华文楷体" panose="02010600040101010101" pitchFamily="2" charset="-122"/>
              </a:rPr>
              <a:t>    b+(n-1)c</a:t>
            </a:r>
            <a:endParaRPr lang="en-US" altLang="zh-CN" sz="28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endParaRPr lang="en-US" altLang="zh-CN" sz="28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800" dirty="0">
                <a:latin typeface="华文楷体" panose="02010600040101010101" pitchFamily="2" charset="-122"/>
                <a:ea typeface="华文楷体" panose="02010600040101010101" pitchFamily="2" charset="-122"/>
              </a:rPr>
              <a:t>    b+(max-1)c</a:t>
            </a:r>
            <a:endParaRPr lang="en-US" altLang="zh-CN" sz="2800" dirty="0">
              <a:latin typeface="华文楷体" panose="02010600040101010101" pitchFamily="2" charset="-122"/>
              <a:ea typeface="华文楷体" panose="02010600040101010101" pitchFamily="2" charset="-122"/>
            </a:endParaRPr>
          </a:p>
        </p:txBody>
      </p:sp>
      <p:sp>
        <p:nvSpPr>
          <p:cNvPr id="7175" name="Rectangle 5"/>
          <p:cNvSpPr>
            <a:spLocks noChangeArrowheads="1"/>
          </p:cNvSpPr>
          <p:nvPr/>
        </p:nvSpPr>
        <p:spPr bwMode="auto">
          <a:xfrm>
            <a:off x="3276600" y="1981200"/>
            <a:ext cx="1981200" cy="4038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7176" name="Line 6"/>
          <p:cNvSpPr>
            <a:spLocks noChangeShapeType="1"/>
          </p:cNvSpPr>
          <p:nvPr/>
        </p:nvSpPr>
        <p:spPr bwMode="auto">
          <a:xfrm>
            <a:off x="3276600" y="2362200"/>
            <a:ext cx="1981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7177" name="Line 7"/>
          <p:cNvSpPr>
            <a:spLocks noChangeShapeType="1"/>
          </p:cNvSpPr>
          <p:nvPr/>
        </p:nvSpPr>
        <p:spPr bwMode="auto">
          <a:xfrm>
            <a:off x="3276600" y="2743200"/>
            <a:ext cx="1981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7178" name="Line 8"/>
          <p:cNvSpPr>
            <a:spLocks noChangeShapeType="1"/>
          </p:cNvSpPr>
          <p:nvPr/>
        </p:nvSpPr>
        <p:spPr bwMode="auto">
          <a:xfrm>
            <a:off x="3276600" y="3505200"/>
            <a:ext cx="1981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7179" name="Line 9"/>
          <p:cNvSpPr>
            <a:spLocks noChangeShapeType="1"/>
          </p:cNvSpPr>
          <p:nvPr/>
        </p:nvSpPr>
        <p:spPr bwMode="auto">
          <a:xfrm>
            <a:off x="3276600" y="3886200"/>
            <a:ext cx="1981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7180" name="Line 10"/>
          <p:cNvSpPr>
            <a:spLocks noChangeShapeType="1"/>
          </p:cNvSpPr>
          <p:nvPr/>
        </p:nvSpPr>
        <p:spPr bwMode="auto">
          <a:xfrm>
            <a:off x="3276600" y="4648200"/>
            <a:ext cx="1981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7181" name="Line 11"/>
          <p:cNvSpPr>
            <a:spLocks noChangeShapeType="1"/>
          </p:cNvSpPr>
          <p:nvPr/>
        </p:nvSpPr>
        <p:spPr bwMode="auto">
          <a:xfrm>
            <a:off x="3276600" y="5029200"/>
            <a:ext cx="1981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7182" name="Line 12"/>
          <p:cNvSpPr>
            <a:spLocks noChangeShapeType="1"/>
          </p:cNvSpPr>
          <p:nvPr/>
        </p:nvSpPr>
        <p:spPr bwMode="auto">
          <a:xfrm flipV="1">
            <a:off x="3276600" y="5562600"/>
            <a:ext cx="1981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7183" name="Text Box 13"/>
          <p:cNvSpPr txBox="1">
            <a:spLocks noChangeArrowheads="1"/>
          </p:cNvSpPr>
          <p:nvPr/>
        </p:nvSpPr>
        <p:spPr bwMode="auto">
          <a:xfrm>
            <a:off x="3962400" y="1828800"/>
            <a:ext cx="83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800" dirty="0">
                <a:latin typeface="华文楷体" panose="02010600040101010101" pitchFamily="2" charset="-122"/>
                <a:ea typeface="华文楷体" panose="02010600040101010101" pitchFamily="2" charset="-122"/>
              </a:rPr>
              <a:t>a</a:t>
            </a:r>
            <a:r>
              <a:rPr kumimoji="1" lang="en-US" altLang="zh-CN" sz="2800" baseline="-25000" dirty="0">
                <a:latin typeface="华文楷体" panose="02010600040101010101" pitchFamily="2" charset="-122"/>
                <a:ea typeface="华文楷体" panose="02010600040101010101" pitchFamily="2" charset="-122"/>
              </a:rPr>
              <a:t>1</a:t>
            </a:r>
            <a:endParaRPr kumimoji="1" lang="en-US" altLang="zh-CN" sz="2800" dirty="0">
              <a:latin typeface="华文楷体" panose="02010600040101010101" pitchFamily="2" charset="-122"/>
              <a:ea typeface="华文楷体" panose="02010600040101010101" pitchFamily="2" charset="-122"/>
            </a:endParaRPr>
          </a:p>
        </p:txBody>
      </p:sp>
      <p:sp>
        <p:nvSpPr>
          <p:cNvPr id="7184" name="Text Box 14"/>
          <p:cNvSpPr txBox="1">
            <a:spLocks noChangeArrowheads="1"/>
          </p:cNvSpPr>
          <p:nvPr/>
        </p:nvSpPr>
        <p:spPr bwMode="auto">
          <a:xfrm>
            <a:off x="3962400" y="2286000"/>
            <a:ext cx="76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800" dirty="0">
                <a:latin typeface="华文楷体" panose="02010600040101010101" pitchFamily="2" charset="-122"/>
                <a:ea typeface="华文楷体" panose="02010600040101010101" pitchFamily="2" charset="-122"/>
              </a:rPr>
              <a:t>a</a:t>
            </a:r>
            <a:r>
              <a:rPr kumimoji="1" lang="en-US" altLang="zh-CN" sz="2800" baseline="-25000" dirty="0">
                <a:latin typeface="华文楷体" panose="02010600040101010101" pitchFamily="2" charset="-122"/>
                <a:ea typeface="华文楷体" panose="02010600040101010101" pitchFamily="2" charset="-122"/>
              </a:rPr>
              <a:t>2</a:t>
            </a:r>
            <a:endParaRPr kumimoji="1" lang="en-US" altLang="zh-CN" sz="2800" dirty="0">
              <a:latin typeface="华文楷体" panose="02010600040101010101" pitchFamily="2" charset="-122"/>
              <a:ea typeface="华文楷体" panose="02010600040101010101" pitchFamily="2" charset="-122"/>
            </a:endParaRPr>
          </a:p>
        </p:txBody>
      </p:sp>
      <p:sp>
        <p:nvSpPr>
          <p:cNvPr id="7185" name="Text Box 15"/>
          <p:cNvSpPr txBox="1">
            <a:spLocks noChangeArrowheads="1"/>
          </p:cNvSpPr>
          <p:nvPr/>
        </p:nvSpPr>
        <p:spPr bwMode="auto">
          <a:xfrm>
            <a:off x="4038600" y="3429000"/>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800" dirty="0" err="1">
                <a:latin typeface="华文楷体" panose="02010600040101010101" pitchFamily="2" charset="-122"/>
                <a:ea typeface="华文楷体" panose="02010600040101010101" pitchFamily="2" charset="-122"/>
              </a:rPr>
              <a:t>a</a:t>
            </a:r>
            <a:r>
              <a:rPr kumimoji="1" lang="en-US" altLang="zh-CN" sz="2800" baseline="-25000" dirty="0" err="1">
                <a:latin typeface="华文楷体" panose="02010600040101010101" pitchFamily="2" charset="-122"/>
                <a:ea typeface="华文楷体" panose="02010600040101010101" pitchFamily="2" charset="-122"/>
              </a:rPr>
              <a:t>i</a:t>
            </a:r>
            <a:endParaRPr kumimoji="1" lang="en-US" altLang="zh-CN" sz="2800" dirty="0">
              <a:latin typeface="华文楷体" panose="02010600040101010101" pitchFamily="2" charset="-122"/>
              <a:ea typeface="华文楷体" panose="02010600040101010101" pitchFamily="2" charset="-122"/>
            </a:endParaRPr>
          </a:p>
        </p:txBody>
      </p:sp>
      <p:sp>
        <p:nvSpPr>
          <p:cNvPr id="7186" name="Text Box 16"/>
          <p:cNvSpPr txBox="1">
            <a:spLocks noChangeArrowheads="1"/>
          </p:cNvSpPr>
          <p:nvPr/>
        </p:nvSpPr>
        <p:spPr bwMode="auto">
          <a:xfrm>
            <a:off x="4067175" y="4508500"/>
            <a:ext cx="865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800" dirty="0">
                <a:latin typeface="华文楷体" panose="02010600040101010101" pitchFamily="2" charset="-122"/>
                <a:ea typeface="华文楷体" panose="02010600040101010101" pitchFamily="2" charset="-122"/>
              </a:rPr>
              <a:t>a</a:t>
            </a:r>
            <a:r>
              <a:rPr kumimoji="1" lang="en-US" altLang="zh-CN" sz="2800" baseline="-25000" dirty="0">
                <a:latin typeface="华文楷体" panose="02010600040101010101" pitchFamily="2" charset="-122"/>
                <a:ea typeface="华文楷体" panose="02010600040101010101" pitchFamily="2" charset="-122"/>
              </a:rPr>
              <a:t>n</a:t>
            </a:r>
            <a:endParaRPr kumimoji="1" lang="en-US" altLang="zh-CN" sz="2800" dirty="0">
              <a:latin typeface="华文楷体" panose="02010600040101010101" pitchFamily="2" charset="-122"/>
              <a:ea typeface="华文楷体" panose="02010600040101010101" pitchFamily="2" charset="-122"/>
            </a:endParaRPr>
          </a:p>
        </p:txBody>
      </p:sp>
      <p:sp>
        <p:nvSpPr>
          <p:cNvPr id="7187" name="AutoShape 17"/>
          <p:cNvSpPr/>
          <p:nvPr/>
        </p:nvSpPr>
        <p:spPr bwMode="auto">
          <a:xfrm>
            <a:off x="5410200" y="5105400"/>
            <a:ext cx="228600" cy="914400"/>
          </a:xfrm>
          <a:prstGeom prst="rightBrace">
            <a:avLst>
              <a:gd name="adj1" fmla="val 3333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7188" name="Text Box 18"/>
          <p:cNvSpPr txBox="1">
            <a:spLocks noChangeArrowheads="1"/>
          </p:cNvSpPr>
          <p:nvPr/>
        </p:nvSpPr>
        <p:spPr bwMode="auto">
          <a:xfrm>
            <a:off x="5715000" y="5257800"/>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400" dirty="0">
                <a:latin typeface="华文楷体" panose="02010600040101010101" pitchFamily="2" charset="-122"/>
                <a:ea typeface="华文楷体" panose="02010600040101010101" pitchFamily="2" charset="-122"/>
              </a:rPr>
              <a:t>空闲</a:t>
            </a:r>
            <a:endParaRPr kumimoji="1" lang="zh-CN" altLang="en-US" sz="2400" dirty="0">
              <a:latin typeface="华文楷体" panose="02010600040101010101" pitchFamily="2" charset="-122"/>
              <a:ea typeface="华文楷体" panose="02010600040101010101" pitchFamily="2" charset="-122"/>
            </a:endParaRPr>
          </a:p>
        </p:txBody>
      </p:sp>
      <p:sp>
        <p:nvSpPr>
          <p:cNvPr id="7189" name="AutoShape 19"/>
          <p:cNvSpPr/>
          <p:nvPr/>
        </p:nvSpPr>
        <p:spPr bwMode="auto">
          <a:xfrm>
            <a:off x="5334000" y="1981200"/>
            <a:ext cx="76200" cy="304800"/>
          </a:xfrm>
          <a:prstGeom prst="rightBrace">
            <a:avLst>
              <a:gd name="adj1" fmla="val 3333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7190" name="Text Box 20"/>
          <p:cNvSpPr txBox="1">
            <a:spLocks noChangeArrowheads="1"/>
          </p:cNvSpPr>
          <p:nvPr/>
        </p:nvSpPr>
        <p:spPr bwMode="auto">
          <a:xfrm>
            <a:off x="5410200" y="19050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c</a:t>
            </a:r>
            <a:r>
              <a:rPr kumimoji="1" lang="zh-CN" altLang="zh-CN" sz="2400" dirty="0">
                <a:latin typeface="华文楷体" panose="02010600040101010101" pitchFamily="2" charset="-122"/>
                <a:ea typeface="华文楷体" panose="02010600040101010101" pitchFamily="2" charset="-122"/>
              </a:rPr>
              <a:t>个存储单元</a:t>
            </a:r>
            <a:endParaRPr kumimoji="1" lang="zh-CN" altLang="en-US" sz="2400" dirty="0">
              <a:latin typeface="华文楷体" panose="02010600040101010101" pitchFamily="2" charset="-122"/>
              <a:ea typeface="华文楷体" panose="02010600040101010101" pitchFamily="2" charset="-122"/>
            </a:endParaRPr>
          </a:p>
        </p:txBody>
      </p:sp>
      <p:sp>
        <p:nvSpPr>
          <p:cNvPr id="7191" name="Text Box 21"/>
          <p:cNvSpPr txBox="1">
            <a:spLocks noChangeArrowheads="1"/>
          </p:cNvSpPr>
          <p:nvPr/>
        </p:nvSpPr>
        <p:spPr bwMode="auto">
          <a:xfrm>
            <a:off x="1143000" y="1219200"/>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400" b="1">
                <a:solidFill>
                  <a:srgbClr val="CC6600"/>
                </a:solidFill>
                <a:latin typeface="楷体_GB2312" pitchFamily="49" charset="-122"/>
                <a:ea typeface="楷体_GB2312" pitchFamily="49" charset="-122"/>
              </a:rPr>
              <a:t>起始地址为</a:t>
            </a:r>
            <a:r>
              <a:rPr kumimoji="1" lang="en-US" altLang="zh-CN" sz="2400" b="1">
                <a:solidFill>
                  <a:schemeClr val="accent2"/>
                </a:solidFill>
                <a:latin typeface="楷体_GB2312" pitchFamily="49" charset="-122"/>
                <a:ea typeface="楷体_GB2312" pitchFamily="49" charset="-122"/>
              </a:rPr>
              <a:t>b</a:t>
            </a:r>
            <a:r>
              <a:rPr kumimoji="1" lang="zh-CN" altLang="en-US" sz="2400" b="1">
                <a:solidFill>
                  <a:srgbClr val="CC6600"/>
                </a:solidFill>
                <a:latin typeface="楷体_GB2312" pitchFamily="49" charset="-122"/>
                <a:ea typeface="楷体_GB2312" pitchFamily="49" charset="-122"/>
              </a:rPr>
              <a:t>、最多可容纳</a:t>
            </a:r>
            <a:r>
              <a:rPr kumimoji="1" lang="en-US" altLang="zh-CN" sz="2400" b="1">
                <a:solidFill>
                  <a:schemeClr val="accent2"/>
                </a:solidFill>
                <a:latin typeface="楷体_GB2312" pitchFamily="49" charset="-122"/>
                <a:ea typeface="楷体_GB2312" pitchFamily="49" charset="-122"/>
              </a:rPr>
              <a:t>max</a:t>
            </a:r>
            <a:r>
              <a:rPr kumimoji="1" lang="zh-CN" altLang="en-US" sz="2400" b="1">
                <a:solidFill>
                  <a:srgbClr val="CC6600"/>
                </a:solidFill>
                <a:latin typeface="楷体_GB2312" pitchFamily="49" charset="-122"/>
                <a:ea typeface="楷体_GB2312" pitchFamily="49" charset="-122"/>
              </a:rPr>
              <a:t>个元素的向量</a:t>
            </a:r>
            <a:endParaRPr kumimoji="1" lang="zh-CN" altLang="en-US" sz="2400" b="1">
              <a:solidFill>
                <a:srgbClr val="CC6600"/>
              </a:solidFill>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0"/>
          </p:nvPr>
        </p:nvSpPr>
        <p:spPr/>
        <p:txBody>
          <a:bodyPr/>
          <a:lstStyle/>
          <a:p>
            <a:pPr>
              <a:defRPr/>
            </a:pPr>
            <a:r>
              <a:rPr lang="en-US" altLang="zh-CN"/>
              <a:t>BUPT SCST</a:t>
            </a:r>
            <a:endParaRPr lang="en-US" altLang="zh-CN"/>
          </a:p>
        </p:txBody>
      </p:sp>
      <p:sp>
        <p:nvSpPr>
          <p:cNvPr id="819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13151203-9217-4DBD-98D0-BE63BEC5DE02}"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10" name="日期占位符 5"/>
          <p:cNvSpPr>
            <a:spLocks noGrp="1"/>
          </p:cNvSpPr>
          <p:nvPr>
            <p:ph type="dt" sz="quarter" idx="12"/>
          </p:nvPr>
        </p:nvSpPr>
        <p:spPr/>
        <p:txBody>
          <a:bodyPr/>
          <a:lstStyle/>
          <a:p>
            <a:pPr>
              <a:defRPr/>
            </a:pPr>
            <a:r>
              <a:rPr lang="en-US" altLang="zh-CN"/>
              <a:t>BUPT</a:t>
            </a:r>
            <a:endParaRPr lang="en-US" altLang="zh-CN"/>
          </a:p>
        </p:txBody>
      </p:sp>
      <p:sp>
        <p:nvSpPr>
          <p:cNvPr id="8197" name="Rectangle 2"/>
          <p:cNvSpPr>
            <a:spLocks noGrp="1" noChangeArrowheads="1"/>
          </p:cNvSpPr>
          <p:nvPr>
            <p:ph type="title"/>
          </p:nvPr>
        </p:nvSpPr>
        <p:spPr/>
        <p:txBody>
          <a:bodyPr/>
          <a:lstStyle/>
          <a:p>
            <a:pPr algn="l" eaLnBrk="1" hangingPunct="1"/>
            <a:r>
              <a:rPr lang="zh-CN" altLang="en-US" dirty="0" smtClean="0">
                <a:ea typeface="华文楷体" panose="02010600040101010101" pitchFamily="2" charset="-122"/>
              </a:rPr>
              <a:t>顺序表的构造函数与析构函数</a:t>
            </a:r>
            <a:endParaRPr lang="zh-CN" altLang="en-US" dirty="0" smtClean="0">
              <a:ea typeface="华文楷体" panose="02010600040101010101" pitchFamily="2" charset="-122"/>
            </a:endParaRPr>
          </a:p>
        </p:txBody>
      </p:sp>
      <p:sp>
        <p:nvSpPr>
          <p:cNvPr id="8198" name="Rectangle 3"/>
          <p:cNvSpPr>
            <a:spLocks noGrp="1" noChangeArrowheads="1"/>
          </p:cNvSpPr>
          <p:nvPr>
            <p:ph type="body" idx="1"/>
          </p:nvPr>
        </p:nvSpPr>
        <p:spPr>
          <a:xfrm>
            <a:off x="250825" y="1196975"/>
            <a:ext cx="8208963" cy="5248275"/>
          </a:xfrm>
        </p:spPr>
        <p:txBody>
          <a:bodyPr/>
          <a:lstStyle/>
          <a:p>
            <a:pPr eaLnBrk="1" hangingPunct="1">
              <a:lnSpc>
                <a:spcPct val="90000"/>
              </a:lnSpc>
              <a:buFont typeface="Wingdings" panose="05000000000000000000" pitchFamily="2" charset="2"/>
              <a:buNone/>
            </a:pPr>
            <a:r>
              <a:rPr lang="en-US" altLang="zh-CN" sz="2000" dirty="0" err="1" smtClean="0">
                <a:ea typeface="华文楷体" panose="02010600040101010101" pitchFamily="2" charset="-122"/>
              </a:rPr>
              <a:t>tempate</a:t>
            </a:r>
            <a:r>
              <a:rPr lang="en-US" altLang="zh-CN" sz="2000" dirty="0" smtClean="0">
                <a:ea typeface="华文楷体" panose="02010600040101010101" pitchFamily="2" charset="-122"/>
              </a:rPr>
              <a:t>&lt;</a:t>
            </a:r>
            <a:r>
              <a:rPr lang="en-US" altLang="zh-CN" sz="2000" dirty="0" err="1" smtClean="0">
                <a:ea typeface="华文楷体" panose="02010600040101010101" pitchFamily="2" charset="-122"/>
              </a:rPr>
              <a:t>typename</a:t>
            </a:r>
            <a:r>
              <a:rPr lang="en-US" altLang="zh-CN" sz="2000" dirty="0" smtClean="0">
                <a:ea typeface="华文楷体" panose="02010600040101010101" pitchFamily="2" charset="-122"/>
              </a:rPr>
              <a:t> T&gt;</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000" dirty="0" err="1" smtClean="0">
                <a:ea typeface="华文楷体" panose="02010600040101010101" pitchFamily="2" charset="-122"/>
              </a:rPr>
              <a:t>struct</a:t>
            </a:r>
            <a:r>
              <a:rPr lang="en-US" altLang="zh-CN" sz="2000" dirty="0" smtClean="0">
                <a:ea typeface="华文楷体" panose="02010600040101010101" pitchFamily="2" charset="-122"/>
              </a:rPr>
              <a:t> Vector {</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000" dirty="0" smtClean="0">
                <a:ea typeface="华文楷体" panose="02010600040101010101" pitchFamily="2" charset="-122"/>
              </a:rPr>
              <a:t>    T* </a:t>
            </a:r>
            <a:r>
              <a:rPr lang="en-US" altLang="zh-CN" sz="2000" dirty="0" err="1" smtClean="0">
                <a:ea typeface="华文楷体" panose="02010600040101010101" pitchFamily="2" charset="-122"/>
              </a:rPr>
              <a:t>elem</a:t>
            </a:r>
            <a:r>
              <a:rPr lang="en-US" altLang="zh-CN" sz="2000" dirty="0" smtClean="0">
                <a:ea typeface="华文楷体" panose="02010600040101010101" pitchFamily="2" charset="-122"/>
              </a:rPr>
              <a:t>;\\T</a:t>
            </a:r>
            <a:r>
              <a:rPr lang="zh-CN" altLang="en-US" sz="2000" dirty="0" smtClean="0">
                <a:ea typeface="华文楷体" panose="02010600040101010101" pitchFamily="2" charset="-122"/>
              </a:rPr>
              <a:t>为数据元素的类型</a:t>
            </a:r>
            <a:endParaRPr lang="zh-CN" altLang="en-US" sz="20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000" dirty="0" smtClean="0">
                <a:ea typeface="华文楷体" panose="02010600040101010101" pitchFamily="2" charset="-122"/>
              </a:rPr>
              <a:t>     </a:t>
            </a:r>
            <a:r>
              <a:rPr lang="en-US" altLang="zh-CN" sz="2000" dirty="0" err="1" smtClean="0">
                <a:ea typeface="华文楷体" panose="02010600040101010101" pitchFamily="2" charset="-122"/>
              </a:rPr>
              <a:t>int</a:t>
            </a:r>
            <a:r>
              <a:rPr lang="en-US" altLang="zh-CN" sz="2000" dirty="0" smtClean="0">
                <a:ea typeface="华文楷体" panose="02010600040101010101" pitchFamily="2" charset="-122"/>
              </a:rPr>
              <a:t> size;</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int</a:t>
            </a:r>
            <a:r>
              <a:rPr lang="en-US" altLang="zh-CN" sz="2000" dirty="0" smtClean="0">
                <a:ea typeface="华文楷体" panose="02010600040101010101" pitchFamily="2" charset="-122"/>
              </a:rPr>
              <a:t> capacity;</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000" dirty="0" smtClean="0">
                <a:ea typeface="华文楷体" panose="02010600040101010101" pitchFamily="2" charset="-122"/>
              </a:rPr>
              <a:t>     </a:t>
            </a:r>
            <a:r>
              <a:rPr lang="en-US" altLang="zh-CN" sz="2000" b="1" dirty="0" smtClean="0">
                <a:ea typeface="华文楷体" panose="02010600040101010101" pitchFamily="2" charset="-122"/>
              </a:rPr>
              <a:t>Vector</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int</a:t>
            </a:r>
            <a:r>
              <a:rPr lang="en-US" altLang="zh-CN" sz="2000" dirty="0" smtClean="0">
                <a:ea typeface="华文楷体" panose="02010600040101010101" pitchFamily="2" charset="-122"/>
              </a:rPr>
              <a:t> n=0; T </a:t>
            </a:r>
            <a:r>
              <a:rPr lang="en-US" altLang="zh-CN" sz="2000" dirty="0" err="1" smtClean="0">
                <a:ea typeface="华文楷体" panose="02010600040101010101" pitchFamily="2" charset="-122"/>
              </a:rPr>
              <a:t>const</a:t>
            </a:r>
            <a:r>
              <a:rPr lang="en-US" altLang="zh-CN" sz="2000" dirty="0" smtClean="0">
                <a:ea typeface="华文楷体" panose="02010600040101010101" pitchFamily="2" charset="-122"/>
              </a:rPr>
              <a:t>&amp; t=T())</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elem</a:t>
            </a:r>
            <a:r>
              <a:rPr lang="en-US" altLang="zh-CN" sz="2000" dirty="0" smtClean="0">
                <a:ea typeface="华文楷体" panose="02010600040101010101" pitchFamily="2" charset="-122"/>
              </a:rPr>
              <a:t>(0),size(0),capacity(0)</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elem</a:t>
            </a:r>
            <a:r>
              <a:rPr lang="en-US" altLang="zh-CN" sz="2000" dirty="0" smtClean="0">
                <a:ea typeface="华文楷体" panose="02010600040101010101" pitchFamily="2" charset="-122"/>
              </a:rPr>
              <a:t>=(T*)</a:t>
            </a:r>
            <a:r>
              <a:rPr lang="en-US" altLang="zh-CN" sz="2000" dirty="0" err="1" smtClean="0">
                <a:ea typeface="华文楷体" panose="02010600040101010101" pitchFamily="2" charset="-122"/>
              </a:rPr>
              <a:t>malloc</a:t>
            </a:r>
            <a:r>
              <a:rPr lang="en-US" altLang="zh-CN" sz="2000" dirty="0" smtClean="0">
                <a:ea typeface="华文楷体" panose="02010600040101010101" pitchFamily="2" charset="-122"/>
              </a:rPr>
              <a:t>(n*</a:t>
            </a:r>
            <a:r>
              <a:rPr lang="en-US" altLang="zh-CN" sz="2000" dirty="0" err="1" smtClean="0">
                <a:ea typeface="华文楷体" panose="02010600040101010101" pitchFamily="2" charset="-122"/>
              </a:rPr>
              <a:t>sizeof</a:t>
            </a:r>
            <a:r>
              <a:rPr lang="en-US" altLang="zh-CN" sz="2000" dirty="0" smtClean="0">
                <a:ea typeface="华文楷体" panose="02010600040101010101" pitchFamily="2" charset="-122"/>
              </a:rPr>
              <a:t>(T));</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uninitialized_fill</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elem</a:t>
            </a: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elem+n,t</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000" dirty="0" smtClean="0">
                <a:ea typeface="华文楷体" panose="02010600040101010101" pitchFamily="2" charset="-122"/>
              </a:rPr>
              <a:t>        size=capacity=n;</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000" dirty="0" smtClean="0">
                <a:ea typeface="华文楷体" panose="02010600040101010101" pitchFamily="2" charset="-122"/>
              </a:rPr>
              <a:t>    </a:t>
            </a:r>
            <a:r>
              <a:rPr lang="en-US" altLang="zh-CN" sz="2000" b="1" dirty="0" smtClean="0">
                <a:ea typeface="华文楷体" panose="02010600040101010101" pitchFamily="2" charset="-122"/>
              </a:rPr>
              <a:t>virtual ~Vector</a:t>
            </a:r>
            <a:r>
              <a:rPr lang="en-US" altLang="zh-CN" sz="2000" dirty="0" smtClean="0">
                <a:ea typeface="华文楷体" panose="02010600040101010101" pitchFamily="2" charset="-122"/>
              </a:rPr>
              <a:t>() {    free(</a:t>
            </a:r>
            <a:r>
              <a:rPr lang="en-US" altLang="zh-CN" sz="2000" dirty="0" err="1" smtClean="0">
                <a:ea typeface="华文楷体" panose="02010600040101010101" pitchFamily="2" charset="-122"/>
              </a:rPr>
              <a:t>elem</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90000"/>
              </a:lnSpc>
              <a:buFont typeface="Wingdings" panose="05000000000000000000" pitchFamily="2" charset="2"/>
              <a:buNone/>
            </a:pPr>
            <a:endParaRPr lang="en-US" altLang="zh-CN" sz="1800" dirty="0" smtClean="0">
              <a:ea typeface="华文楷体" panose="02010600040101010101" pitchFamily="2" charset="-122"/>
            </a:endParaRPr>
          </a:p>
        </p:txBody>
      </p:sp>
      <p:sp>
        <p:nvSpPr>
          <p:cNvPr id="138245" name="Oval 5"/>
          <p:cNvSpPr>
            <a:spLocks noChangeArrowheads="1"/>
          </p:cNvSpPr>
          <p:nvPr/>
        </p:nvSpPr>
        <p:spPr bwMode="auto">
          <a:xfrm>
            <a:off x="684213" y="3860800"/>
            <a:ext cx="4105275" cy="431800"/>
          </a:xfrm>
          <a:prstGeom prst="ellipse">
            <a:avLst/>
          </a:prstGeom>
          <a:solidFill>
            <a:schemeClr val="bg1">
              <a:alpha val="0"/>
            </a:schemeClr>
          </a:solidFill>
          <a:ln w="28575">
            <a:solidFill>
              <a:srgbClr val="FF0000"/>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38247" name="AutoShape 7"/>
          <p:cNvSpPr/>
          <p:nvPr/>
        </p:nvSpPr>
        <p:spPr bwMode="auto">
          <a:xfrm>
            <a:off x="2843213" y="1628775"/>
            <a:ext cx="1655762" cy="428625"/>
          </a:xfrm>
          <a:prstGeom prst="callout1">
            <a:avLst>
              <a:gd name="adj1" fmla="val 117778"/>
              <a:gd name="adj2" fmla="val 93097"/>
              <a:gd name="adj3" fmla="val 117778"/>
              <a:gd name="adj4" fmla="val -69606"/>
            </a:avLst>
          </a:prstGeom>
          <a:solidFill>
            <a:schemeClr val="bg1"/>
          </a:solidFill>
          <a:ln w="22225">
            <a:solidFill>
              <a:srgbClr val="FF0000"/>
            </a:solidFill>
            <a:miter lim="800000"/>
          </a:ln>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zh-CN" altLang="en-US" sz="1800" b="1" dirty="0">
                <a:latin typeface="华文楷体" panose="02010600040101010101" pitchFamily="2" charset="-122"/>
                <a:ea typeface="华文楷体" panose="02010600040101010101" pitchFamily="2" charset="-122"/>
              </a:rPr>
              <a:t>向量的基地址</a:t>
            </a:r>
            <a:endParaRPr lang="zh-CN" altLang="en-US" sz="1800" b="1" dirty="0">
              <a:latin typeface="华文楷体" panose="02010600040101010101" pitchFamily="2" charset="-122"/>
              <a:ea typeface="华文楷体" panose="02010600040101010101" pitchFamily="2" charset="-122"/>
            </a:endParaRPr>
          </a:p>
        </p:txBody>
      </p:sp>
      <p:sp>
        <p:nvSpPr>
          <p:cNvPr id="138248" name="AutoShape 8"/>
          <p:cNvSpPr/>
          <p:nvPr/>
        </p:nvSpPr>
        <p:spPr bwMode="auto">
          <a:xfrm>
            <a:off x="2843213" y="1992313"/>
            <a:ext cx="2519362" cy="428625"/>
          </a:xfrm>
          <a:prstGeom prst="callout1">
            <a:avLst>
              <a:gd name="adj1" fmla="val 117778"/>
              <a:gd name="adj2" fmla="val 95463"/>
              <a:gd name="adj3" fmla="val 117778"/>
              <a:gd name="adj4" fmla="val -45745"/>
            </a:avLst>
          </a:prstGeom>
          <a:solidFill>
            <a:schemeClr val="bg1"/>
          </a:solidFill>
          <a:ln w="22225">
            <a:solidFill>
              <a:srgbClr val="FF0000"/>
            </a:solidFill>
            <a:miter lim="800000"/>
          </a:ln>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zh-CN" altLang="en-US" sz="1800" b="1" dirty="0">
                <a:latin typeface="华文楷体" panose="02010600040101010101" pitchFamily="2" charset="-122"/>
                <a:ea typeface="华文楷体" panose="02010600040101010101" pitchFamily="2" charset="-122"/>
              </a:rPr>
              <a:t>向量中实际元素个数</a:t>
            </a:r>
            <a:endParaRPr lang="zh-CN" altLang="en-US" sz="1800" b="1" dirty="0">
              <a:latin typeface="华文楷体" panose="02010600040101010101" pitchFamily="2" charset="-122"/>
              <a:ea typeface="华文楷体" panose="02010600040101010101" pitchFamily="2" charset="-122"/>
            </a:endParaRPr>
          </a:p>
        </p:txBody>
      </p:sp>
      <p:sp>
        <p:nvSpPr>
          <p:cNvPr id="138249" name="AutoShape 9"/>
          <p:cNvSpPr/>
          <p:nvPr/>
        </p:nvSpPr>
        <p:spPr bwMode="auto">
          <a:xfrm>
            <a:off x="3276600" y="2352675"/>
            <a:ext cx="2519363" cy="428625"/>
          </a:xfrm>
          <a:prstGeom prst="callout1">
            <a:avLst>
              <a:gd name="adj1" fmla="val 117778"/>
              <a:gd name="adj2" fmla="val 95463"/>
              <a:gd name="adj3" fmla="val 117778"/>
              <a:gd name="adj4" fmla="val -45745"/>
            </a:avLst>
          </a:prstGeom>
          <a:solidFill>
            <a:schemeClr val="bg1"/>
          </a:solidFill>
          <a:ln w="22225">
            <a:solidFill>
              <a:srgbClr val="FF0000"/>
            </a:solidFill>
            <a:miter lim="800000"/>
          </a:ln>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zh-CN" altLang="en-US" sz="1800" b="1" dirty="0">
                <a:latin typeface="华文楷体" panose="02010600040101010101" pitchFamily="2" charset="-122"/>
                <a:ea typeface="华文楷体" panose="02010600040101010101" pitchFamily="2" charset="-122"/>
              </a:rPr>
              <a:t>向量能容纳的元素个数</a:t>
            </a:r>
            <a:endParaRPr lang="zh-CN" altLang="en-US" sz="1800" b="1"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247"/>
                                        </p:tgtEl>
                                        <p:attrNameLst>
                                          <p:attrName>style.visibility</p:attrName>
                                        </p:attrNameLst>
                                      </p:cBhvr>
                                      <p:to>
                                        <p:strVal val="visible"/>
                                      </p:to>
                                    </p:set>
                                    <p:anim calcmode="lin" valueType="num">
                                      <p:cBhvr additive="base">
                                        <p:cTn id="7" dur="500" fill="hold"/>
                                        <p:tgtEl>
                                          <p:spTgt spid="138247"/>
                                        </p:tgtEl>
                                        <p:attrNameLst>
                                          <p:attrName>ppt_x</p:attrName>
                                        </p:attrNameLst>
                                      </p:cBhvr>
                                      <p:tavLst>
                                        <p:tav tm="0">
                                          <p:val>
                                            <p:strVal val="#ppt_x"/>
                                          </p:val>
                                        </p:tav>
                                        <p:tav tm="100000">
                                          <p:val>
                                            <p:strVal val="#ppt_x"/>
                                          </p:val>
                                        </p:tav>
                                      </p:tavLst>
                                    </p:anim>
                                    <p:anim calcmode="lin" valueType="num">
                                      <p:cBhvr additive="base">
                                        <p:cTn id="8" dur="500" fill="hold"/>
                                        <p:tgtEl>
                                          <p:spTgt spid="1382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xit" presetSubtype="10" fill="hold" grpId="1" nodeType="clickEffect">
                                  <p:stCondLst>
                                    <p:cond delay="0"/>
                                  </p:stCondLst>
                                  <p:childTnLst>
                                    <p:animEffect transition="out" filter="blinds(horizontal)">
                                      <p:cBhvr>
                                        <p:cTn id="12" dur="500"/>
                                        <p:tgtEl>
                                          <p:spTgt spid="138247"/>
                                        </p:tgtEl>
                                      </p:cBhvr>
                                    </p:animEffect>
                                    <p:set>
                                      <p:cBhvr>
                                        <p:cTn id="13" dur="1" fill="hold">
                                          <p:stCondLst>
                                            <p:cond delay="499"/>
                                          </p:stCondLst>
                                        </p:cTn>
                                        <p:tgtEl>
                                          <p:spTgt spid="138247"/>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8248"/>
                                        </p:tgtEl>
                                        <p:attrNameLst>
                                          <p:attrName>style.visibility</p:attrName>
                                        </p:attrNameLst>
                                      </p:cBhvr>
                                      <p:to>
                                        <p:strVal val="visible"/>
                                      </p:to>
                                    </p:set>
                                    <p:animEffect transition="in" filter="box(in)">
                                      <p:cBhvr>
                                        <p:cTn id="18" dur="500"/>
                                        <p:tgtEl>
                                          <p:spTgt spid="13824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xit" presetSubtype="4" fill="hold" grpId="1" nodeType="clickEffect">
                                  <p:stCondLst>
                                    <p:cond delay="0"/>
                                  </p:stCondLst>
                                  <p:childTnLst>
                                    <p:anim calcmode="lin" valueType="num">
                                      <p:cBhvr additive="base">
                                        <p:cTn id="22" dur="500"/>
                                        <p:tgtEl>
                                          <p:spTgt spid="138248"/>
                                        </p:tgtEl>
                                        <p:attrNameLst>
                                          <p:attrName>ppt_x</p:attrName>
                                        </p:attrNameLst>
                                      </p:cBhvr>
                                      <p:tavLst>
                                        <p:tav tm="0">
                                          <p:val>
                                            <p:strVal val="ppt_x"/>
                                          </p:val>
                                        </p:tav>
                                        <p:tav tm="100000">
                                          <p:val>
                                            <p:strVal val="ppt_x"/>
                                          </p:val>
                                        </p:tav>
                                      </p:tavLst>
                                    </p:anim>
                                    <p:anim calcmode="lin" valueType="num">
                                      <p:cBhvr additive="base">
                                        <p:cTn id="23" dur="500"/>
                                        <p:tgtEl>
                                          <p:spTgt spid="138248"/>
                                        </p:tgtEl>
                                        <p:attrNameLst>
                                          <p:attrName>ppt_y</p:attrName>
                                        </p:attrNameLst>
                                      </p:cBhvr>
                                      <p:tavLst>
                                        <p:tav tm="0">
                                          <p:val>
                                            <p:strVal val="ppt_y"/>
                                          </p:val>
                                        </p:tav>
                                        <p:tav tm="100000">
                                          <p:val>
                                            <p:strVal val="1+ppt_h/2"/>
                                          </p:val>
                                        </p:tav>
                                      </p:tavLst>
                                    </p:anim>
                                    <p:set>
                                      <p:cBhvr>
                                        <p:cTn id="24" dur="1" fill="hold">
                                          <p:stCondLst>
                                            <p:cond delay="499"/>
                                          </p:stCondLst>
                                        </p:cTn>
                                        <p:tgtEl>
                                          <p:spTgt spid="13824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138249"/>
                                        </p:tgtEl>
                                        <p:attrNameLst>
                                          <p:attrName>style.visibility</p:attrName>
                                        </p:attrNameLst>
                                      </p:cBhvr>
                                      <p:to>
                                        <p:strVal val="visible"/>
                                      </p:to>
                                    </p:set>
                                    <p:animEffect transition="in" filter="box(in)">
                                      <p:cBhvr>
                                        <p:cTn id="29" dur="500"/>
                                        <p:tgtEl>
                                          <p:spTgt spid="138249"/>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xit" presetSubtype="4" fill="hold" grpId="1" nodeType="clickEffect">
                                  <p:stCondLst>
                                    <p:cond delay="0"/>
                                  </p:stCondLst>
                                  <p:childTnLst>
                                    <p:anim calcmode="lin" valueType="num">
                                      <p:cBhvr additive="base">
                                        <p:cTn id="33" dur="500"/>
                                        <p:tgtEl>
                                          <p:spTgt spid="138249"/>
                                        </p:tgtEl>
                                        <p:attrNameLst>
                                          <p:attrName>ppt_x</p:attrName>
                                        </p:attrNameLst>
                                      </p:cBhvr>
                                      <p:tavLst>
                                        <p:tav tm="0">
                                          <p:val>
                                            <p:strVal val="ppt_x"/>
                                          </p:val>
                                        </p:tav>
                                        <p:tav tm="100000">
                                          <p:val>
                                            <p:strVal val="ppt_x"/>
                                          </p:val>
                                        </p:tav>
                                      </p:tavLst>
                                    </p:anim>
                                    <p:anim calcmode="lin" valueType="num">
                                      <p:cBhvr additive="base">
                                        <p:cTn id="34" dur="500"/>
                                        <p:tgtEl>
                                          <p:spTgt spid="138249"/>
                                        </p:tgtEl>
                                        <p:attrNameLst>
                                          <p:attrName>ppt_y</p:attrName>
                                        </p:attrNameLst>
                                      </p:cBhvr>
                                      <p:tavLst>
                                        <p:tav tm="0">
                                          <p:val>
                                            <p:strVal val="ppt_y"/>
                                          </p:val>
                                        </p:tav>
                                        <p:tav tm="100000">
                                          <p:val>
                                            <p:strVal val="1+ppt_h/2"/>
                                          </p:val>
                                        </p:tav>
                                      </p:tavLst>
                                    </p:anim>
                                    <p:set>
                                      <p:cBhvr>
                                        <p:cTn id="35" dur="1" fill="hold">
                                          <p:stCondLst>
                                            <p:cond delay="499"/>
                                          </p:stCondLst>
                                        </p:cTn>
                                        <p:tgtEl>
                                          <p:spTgt spid="138249"/>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38245"/>
                                        </p:tgtEl>
                                        <p:attrNameLst>
                                          <p:attrName>style.visibility</p:attrName>
                                        </p:attrNameLst>
                                      </p:cBhvr>
                                      <p:to>
                                        <p:strVal val="visible"/>
                                      </p:to>
                                    </p:set>
                                    <p:anim calcmode="lin" valueType="num">
                                      <p:cBhvr additive="base">
                                        <p:cTn id="40" dur="500" fill="hold"/>
                                        <p:tgtEl>
                                          <p:spTgt spid="138245"/>
                                        </p:tgtEl>
                                        <p:attrNameLst>
                                          <p:attrName>ppt_x</p:attrName>
                                        </p:attrNameLst>
                                      </p:cBhvr>
                                      <p:tavLst>
                                        <p:tav tm="0">
                                          <p:val>
                                            <p:strVal val="#ppt_x"/>
                                          </p:val>
                                        </p:tav>
                                        <p:tav tm="100000">
                                          <p:val>
                                            <p:strVal val="#ppt_x"/>
                                          </p:val>
                                        </p:tav>
                                      </p:tavLst>
                                    </p:anim>
                                    <p:anim calcmode="lin" valueType="num">
                                      <p:cBhvr additive="base">
                                        <p:cTn id="41" dur="500" fill="hold"/>
                                        <p:tgtEl>
                                          <p:spTgt spid="1382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5" grpId="0" animBg="1"/>
      <p:bldP spid="138247" grpId="0" animBg="1"/>
      <p:bldP spid="138247" grpId="1" animBg="1"/>
      <p:bldP spid="138248" grpId="0" animBg="1"/>
      <p:bldP spid="138248" grpId="1" animBg="1"/>
      <p:bldP spid="138249" grpId="0" animBg="1"/>
      <p:bldP spid="138249"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dirty="0" smtClean="0">
                <a:ea typeface="华文楷体" panose="02010600040101010101" pitchFamily="2" charset="-122"/>
              </a:rPr>
              <a:t>*动态内存分配</a:t>
            </a:r>
            <a:endParaRPr lang="zh-CN" altLang="en-US" dirty="0" smtClean="0">
              <a:ea typeface="华文楷体" panose="02010600040101010101" pitchFamily="2" charset="-122"/>
            </a:endParaRPr>
          </a:p>
        </p:txBody>
      </p:sp>
      <p:sp>
        <p:nvSpPr>
          <p:cNvPr id="9219" name="内容占位符 2"/>
          <p:cNvSpPr>
            <a:spLocks noGrp="1"/>
          </p:cNvSpPr>
          <p:nvPr>
            <p:ph idx="1"/>
          </p:nvPr>
        </p:nvSpPr>
        <p:spPr/>
        <p:txBody>
          <a:bodyPr/>
          <a:lstStyle/>
          <a:p>
            <a:r>
              <a:rPr lang="en-US" altLang="zh-CN" dirty="0" err="1" smtClean="0">
                <a:ea typeface="华文楷体" panose="02010600040101010101" pitchFamily="2" charset="-122"/>
              </a:rPr>
              <a:t>malloc</a:t>
            </a:r>
            <a:r>
              <a:rPr lang="en-US" altLang="zh-CN" dirty="0" smtClean="0">
                <a:ea typeface="华文楷体" panose="02010600040101010101" pitchFamily="2" charset="-122"/>
              </a:rPr>
              <a:t> </a:t>
            </a:r>
            <a:r>
              <a:rPr lang="zh-CN" altLang="en-US" dirty="0" smtClean="0">
                <a:ea typeface="华文楷体" panose="02010600040101010101" pitchFamily="2" charset="-122"/>
              </a:rPr>
              <a:t>和</a:t>
            </a:r>
            <a:r>
              <a:rPr lang="en-US" altLang="zh-CN" dirty="0" smtClean="0">
                <a:ea typeface="华文楷体" panose="02010600040101010101" pitchFamily="2" charset="-122"/>
              </a:rPr>
              <a:t>free</a:t>
            </a:r>
            <a:r>
              <a:rPr lang="zh-CN" altLang="en-US" dirty="0" smtClean="0">
                <a:ea typeface="华文楷体" panose="02010600040101010101" pitchFamily="2" charset="-122"/>
              </a:rPr>
              <a:t>函数</a:t>
            </a:r>
            <a:endParaRPr lang="en-US" altLang="zh-CN" dirty="0" smtClean="0">
              <a:ea typeface="华文楷体" panose="02010600040101010101" pitchFamily="2" charset="-122"/>
            </a:endParaRPr>
          </a:p>
          <a:p>
            <a:pPr>
              <a:buFont typeface="Wingdings" panose="05000000000000000000" pitchFamily="2" charset="2"/>
              <a:buNone/>
            </a:pPr>
            <a:r>
              <a:rPr lang="en-US" altLang="zh-CN" dirty="0" err="1" smtClean="0">
                <a:ea typeface="华文楷体" panose="02010600040101010101" pitchFamily="2" charset="-122"/>
              </a:rPr>
              <a:t>int</a:t>
            </a:r>
            <a:r>
              <a:rPr lang="en-US" altLang="zh-CN" dirty="0" smtClean="0">
                <a:ea typeface="华文楷体" panose="02010600040101010101" pitchFamily="2" charset="-122"/>
              </a:rPr>
              <a:t> </a:t>
            </a:r>
            <a:r>
              <a:rPr lang="zh-CN" altLang="en-US" dirty="0" smtClean="0">
                <a:ea typeface="华文楷体" panose="02010600040101010101" pitchFamily="2" charset="-122"/>
              </a:rPr>
              <a:t>*</a:t>
            </a:r>
            <a:r>
              <a:rPr lang="en-US" altLang="zh-CN" dirty="0" smtClean="0">
                <a:ea typeface="华文楷体" panose="02010600040101010101" pitchFamily="2" charset="-122"/>
              </a:rPr>
              <a:t>p1;… p1=(</a:t>
            </a:r>
            <a:r>
              <a:rPr lang="en-US" altLang="zh-CN" dirty="0" err="1" smtClean="0">
                <a:ea typeface="华文楷体" panose="02010600040101010101" pitchFamily="2" charset="-122"/>
              </a:rPr>
              <a:t>int</a:t>
            </a:r>
            <a:r>
              <a:rPr lang="en-US" altLang="zh-CN" dirty="0" smtClean="0">
                <a:ea typeface="华文楷体" panose="02010600040101010101" pitchFamily="2" charset="-122"/>
              </a:rPr>
              <a:t> </a:t>
            </a:r>
            <a:r>
              <a:rPr lang="zh-CN" altLang="en-US" dirty="0" smtClean="0">
                <a:ea typeface="华文楷体" panose="02010600040101010101" pitchFamily="2" charset="-122"/>
              </a:rPr>
              <a:t>*</a:t>
            </a:r>
            <a:r>
              <a:rPr lang="en-US" altLang="zh-CN" dirty="0" smtClean="0">
                <a:ea typeface="华文楷体" panose="02010600040101010101" pitchFamily="2" charset="-122"/>
              </a:rPr>
              <a:t>)</a:t>
            </a:r>
            <a:r>
              <a:rPr lang="en-US" altLang="zh-CN" dirty="0" err="1" smtClean="0">
                <a:ea typeface="华文楷体" panose="02010600040101010101" pitchFamily="2" charset="-122"/>
              </a:rPr>
              <a:t>malloc</a:t>
            </a:r>
            <a:r>
              <a:rPr lang="en-US" altLang="zh-CN" dirty="0" smtClean="0">
                <a:ea typeface="华文楷体" panose="02010600040101010101" pitchFamily="2" charset="-122"/>
              </a:rPr>
              <a:t>(25*</a:t>
            </a:r>
            <a:r>
              <a:rPr lang="en-US" altLang="zh-CN" dirty="0" err="1" smtClean="0">
                <a:ea typeface="华文楷体" panose="02010600040101010101" pitchFamily="2" charset="-122"/>
              </a:rPr>
              <a:t>sizeof</a:t>
            </a:r>
            <a:r>
              <a:rPr lang="en-US" altLang="zh-CN" dirty="0" smtClean="0">
                <a:ea typeface="华文楷体" panose="02010600040101010101" pitchFamily="2" charset="-122"/>
              </a:rPr>
              <a:t>(</a:t>
            </a:r>
            <a:r>
              <a:rPr lang="en-US" altLang="zh-CN" dirty="0" err="1" smtClean="0">
                <a:ea typeface="华文楷体" panose="02010600040101010101" pitchFamily="2" charset="-122"/>
              </a:rPr>
              <a:t>int</a:t>
            </a:r>
            <a:r>
              <a:rPr lang="en-US" altLang="zh-CN" dirty="0" smtClean="0">
                <a:ea typeface="华文楷体" panose="02010600040101010101" pitchFamily="2" charset="-122"/>
              </a:rPr>
              <a:t>));...</a:t>
            </a:r>
            <a:endParaRPr lang="en-US" altLang="zh-CN" dirty="0" smtClean="0">
              <a:ea typeface="华文楷体" panose="02010600040101010101" pitchFamily="2" charset="-122"/>
            </a:endParaRPr>
          </a:p>
          <a:p>
            <a:pPr>
              <a:buFont typeface="Wingdings" panose="05000000000000000000" pitchFamily="2" charset="2"/>
              <a:buNone/>
            </a:pPr>
            <a:r>
              <a:rPr lang="en-US" altLang="zh-CN" dirty="0" err="1" smtClean="0">
                <a:ea typeface="华文楷体" panose="02010600040101010101" pitchFamily="2" charset="-122"/>
              </a:rPr>
              <a:t>int</a:t>
            </a:r>
            <a:r>
              <a:rPr lang="en-US" altLang="zh-CN" dirty="0" smtClean="0">
                <a:ea typeface="华文楷体" panose="02010600040101010101" pitchFamily="2" charset="-122"/>
              </a:rPr>
              <a:t> *p2=p1;</a:t>
            </a:r>
            <a:endParaRPr lang="en-US" altLang="zh-CN" dirty="0" smtClean="0">
              <a:ea typeface="华文楷体" panose="02010600040101010101" pitchFamily="2" charset="-122"/>
            </a:endParaRPr>
          </a:p>
          <a:p>
            <a:pPr>
              <a:buFont typeface="Wingdings" panose="05000000000000000000" pitchFamily="2" charset="2"/>
              <a:buNone/>
            </a:pPr>
            <a:r>
              <a:rPr lang="en-US" altLang="zh-CN" dirty="0" smtClean="0">
                <a:ea typeface="华文楷体" panose="02010600040101010101" pitchFamily="2" charset="-122"/>
              </a:rPr>
              <a:t>for(</a:t>
            </a:r>
            <a:r>
              <a:rPr lang="en-US" altLang="zh-CN" dirty="0" err="1" smtClean="0">
                <a:ea typeface="华文楷体" panose="02010600040101010101" pitchFamily="2" charset="-122"/>
              </a:rPr>
              <a:t>i</a:t>
            </a:r>
            <a:r>
              <a:rPr lang="en-US" altLang="zh-CN" dirty="0" smtClean="0">
                <a:ea typeface="华文楷体" panose="02010600040101010101" pitchFamily="2" charset="-122"/>
              </a:rPr>
              <a:t>=0;i&lt;25;i++) </a:t>
            </a:r>
            <a:r>
              <a:rPr lang="en-US" altLang="zh-CN" dirty="0" smtClean="0">
                <a:solidFill>
                  <a:srgbClr val="FF0000"/>
                </a:solidFill>
                <a:ea typeface="华文楷体" panose="02010600040101010101" pitchFamily="2" charset="-122"/>
              </a:rPr>
              <a:t>*p2++=0; </a:t>
            </a:r>
            <a:r>
              <a:rPr lang="zh-CN" altLang="en-US" dirty="0" smtClean="0">
                <a:solidFill>
                  <a:srgbClr val="FF0000"/>
                </a:solidFill>
                <a:ea typeface="华文楷体" panose="02010600040101010101" pitchFamily="2" charset="-122"/>
              </a:rPr>
              <a:t>或 </a:t>
            </a:r>
            <a:r>
              <a:rPr lang="en-US" altLang="zh-CN" dirty="0" smtClean="0">
                <a:solidFill>
                  <a:srgbClr val="FF0000"/>
                </a:solidFill>
                <a:ea typeface="华文楷体" panose="02010600040101010101" pitchFamily="2" charset="-122"/>
              </a:rPr>
              <a:t>p2[</a:t>
            </a:r>
            <a:r>
              <a:rPr lang="en-US" altLang="zh-CN" dirty="0" err="1" smtClean="0">
                <a:solidFill>
                  <a:srgbClr val="FF0000"/>
                </a:solidFill>
                <a:ea typeface="华文楷体" panose="02010600040101010101" pitchFamily="2" charset="-122"/>
              </a:rPr>
              <a:t>i</a:t>
            </a:r>
            <a:r>
              <a:rPr lang="en-US" altLang="zh-CN" dirty="0" smtClean="0">
                <a:solidFill>
                  <a:srgbClr val="FF0000"/>
                </a:solidFill>
                <a:ea typeface="华文楷体" panose="02010600040101010101" pitchFamily="2" charset="-122"/>
              </a:rPr>
              <a:t>]=0;</a:t>
            </a:r>
            <a:endParaRPr lang="en-US" altLang="zh-CN" dirty="0" smtClean="0">
              <a:solidFill>
                <a:srgbClr val="FF0000"/>
              </a:solidFill>
              <a:ea typeface="华文楷体" panose="02010600040101010101" pitchFamily="2" charset="-122"/>
            </a:endParaRPr>
          </a:p>
          <a:p>
            <a:r>
              <a:rPr lang="zh-CN" altLang="en-US" dirty="0" smtClean="0">
                <a:ea typeface="华文楷体" panose="02010600040101010101" pitchFamily="2" charset="-122"/>
              </a:rPr>
              <a:t>常见错误</a:t>
            </a:r>
            <a:endParaRPr lang="en-US" altLang="zh-CN" dirty="0" smtClean="0">
              <a:ea typeface="华文楷体" panose="02010600040101010101" pitchFamily="2" charset="-122"/>
            </a:endParaRPr>
          </a:p>
          <a:p>
            <a:pPr lvl="1"/>
            <a:r>
              <a:rPr lang="zh-CN" altLang="en-US" dirty="0" smtClean="0">
                <a:ea typeface="华文楷体" panose="02010600040101010101" pitchFamily="2" charset="-122"/>
              </a:rPr>
              <a:t>未检查内存是否成功分配；</a:t>
            </a:r>
            <a:endParaRPr lang="en-US" altLang="zh-CN" dirty="0" smtClean="0">
              <a:ea typeface="华文楷体" panose="02010600040101010101" pitchFamily="2" charset="-122"/>
            </a:endParaRPr>
          </a:p>
          <a:p>
            <a:pPr lvl="1"/>
            <a:r>
              <a:rPr lang="zh-CN" altLang="en-US" dirty="0" smtClean="0">
                <a:ea typeface="华文楷体" panose="02010600040101010101" pitchFamily="2" charset="-122"/>
              </a:rPr>
              <a:t>使用</a:t>
            </a:r>
            <a:r>
              <a:rPr lang="en-US" altLang="zh-CN" dirty="0" smtClean="0">
                <a:ea typeface="华文楷体" panose="02010600040101010101" pitchFamily="2" charset="-122"/>
              </a:rPr>
              <a:t>free</a:t>
            </a:r>
            <a:r>
              <a:rPr lang="zh-CN" altLang="en-US" dirty="0" smtClean="0">
                <a:ea typeface="华文楷体" panose="02010600040101010101" pitchFamily="2" charset="-122"/>
              </a:rPr>
              <a:t>是必须是一个从</a:t>
            </a:r>
            <a:r>
              <a:rPr lang="en-US" altLang="zh-CN" dirty="0" err="1" smtClean="0">
                <a:ea typeface="华文楷体" panose="02010600040101010101" pitchFamily="2" charset="-122"/>
              </a:rPr>
              <a:t>malloc</a:t>
            </a:r>
            <a:r>
              <a:rPr lang="zh-CN" altLang="en-US" dirty="0" smtClean="0">
                <a:ea typeface="华文楷体" panose="02010600040101010101" pitchFamily="2" charset="-122"/>
              </a:rPr>
              <a:t>、</a:t>
            </a:r>
            <a:r>
              <a:rPr lang="en-US" altLang="zh-CN" dirty="0" err="1" smtClean="0">
                <a:ea typeface="华文楷体" panose="02010600040101010101" pitchFamily="2" charset="-122"/>
              </a:rPr>
              <a:t>calloc</a:t>
            </a:r>
            <a:r>
              <a:rPr lang="en-US" altLang="zh-CN" dirty="0" smtClean="0">
                <a:ea typeface="华文楷体" panose="02010600040101010101" pitchFamily="2" charset="-122"/>
              </a:rPr>
              <a:t>/</a:t>
            </a:r>
            <a:r>
              <a:rPr lang="en-US" altLang="zh-CN" dirty="0" err="1" smtClean="0">
                <a:ea typeface="华文楷体" panose="02010600040101010101" pitchFamily="2" charset="-122"/>
              </a:rPr>
              <a:t>realloc</a:t>
            </a:r>
            <a:r>
              <a:rPr lang="zh-CN" altLang="en-US" dirty="0" smtClean="0">
                <a:ea typeface="华文楷体" panose="02010600040101010101" pitchFamily="2" charset="-122"/>
              </a:rPr>
              <a:t>函数返回的指针，不能释放一块并非动态分配的内存，也不能释放一块动态分配内存的一部分。</a:t>
            </a:r>
            <a:endParaRPr lang="en-US" altLang="zh-CN" dirty="0" smtClean="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922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D9F936DA-7478-4155-8252-F7D9785C870E}"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1024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100ED274-E511-42F2-B56D-EF1F097806FE}"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10245" name="Rectangle 2"/>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顺序表的判空与求长度</a:t>
            </a:r>
            <a:endParaRPr lang="zh-CN" altLang="en-US" sz="2800" dirty="0" smtClean="0">
              <a:ea typeface="华文楷体" panose="02010600040101010101" pitchFamily="2" charset="-122"/>
            </a:endParaRPr>
          </a:p>
        </p:txBody>
      </p:sp>
      <p:sp>
        <p:nvSpPr>
          <p:cNvPr id="10246"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800" dirty="0" smtClean="0">
                <a:ea typeface="华文楷体" panose="02010600040101010101" pitchFamily="2" charset="-122"/>
              </a:rPr>
              <a:t>template&lt;</a:t>
            </a:r>
            <a:r>
              <a:rPr lang="en-US" altLang="zh-CN" sz="2800" dirty="0" err="1" smtClean="0">
                <a:ea typeface="华文楷体" panose="02010600040101010101" pitchFamily="2" charset="-122"/>
              </a:rPr>
              <a:t>typename</a:t>
            </a:r>
            <a:r>
              <a:rPr lang="en-US" altLang="zh-CN" sz="2800" dirty="0" smtClean="0">
                <a:ea typeface="华文楷体" panose="02010600040101010101" pitchFamily="2" charset="-122"/>
              </a:rPr>
              <a:t> T&gt;</a:t>
            </a: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err="1" smtClean="0">
                <a:ea typeface="华文楷体" panose="02010600040101010101" pitchFamily="2" charset="-122"/>
              </a:rPr>
              <a:t>struct</a:t>
            </a:r>
            <a:r>
              <a:rPr lang="en-US" altLang="zh-CN" sz="2800" dirty="0" smtClean="0">
                <a:ea typeface="华文楷体" panose="02010600040101010101" pitchFamily="2" charset="-122"/>
              </a:rPr>
              <a:t> Vector {</a:t>
            </a: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bool empty(void) </a:t>
            </a:r>
            <a:r>
              <a:rPr lang="en-US" altLang="zh-CN" sz="2800" dirty="0" err="1" smtClean="0">
                <a:ea typeface="华文楷体" panose="02010600040101010101" pitchFamily="2" charset="-122"/>
              </a:rPr>
              <a:t>const</a:t>
            </a: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return size==0;</a:t>
            </a: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a:t>
            </a:r>
            <a:r>
              <a:rPr lang="en-US" altLang="zh-CN" sz="2800" dirty="0" err="1" smtClean="0">
                <a:ea typeface="华文楷体" panose="02010600040101010101" pitchFamily="2" charset="-122"/>
              </a:rPr>
              <a:t>int</a:t>
            </a:r>
            <a:r>
              <a:rPr lang="en-US" altLang="zh-CN" sz="2800" dirty="0" smtClean="0">
                <a:ea typeface="华文楷体" panose="02010600040101010101" pitchFamily="2" charset="-122"/>
              </a:rPr>
              <a:t> size(void) </a:t>
            </a:r>
            <a:r>
              <a:rPr lang="en-US" altLang="zh-CN" sz="2800" dirty="0" err="1" smtClean="0">
                <a:ea typeface="华文楷体" panose="02010600040101010101" pitchFamily="2" charset="-122"/>
              </a:rPr>
              <a:t>const</a:t>
            </a: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return size;</a:t>
            </a: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1126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72E73B3E-E8AC-4101-97DF-BAE76559F80B}"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8" name="日期占位符 5"/>
          <p:cNvSpPr>
            <a:spLocks noGrp="1"/>
          </p:cNvSpPr>
          <p:nvPr>
            <p:ph type="dt" sz="quarter" idx="12"/>
          </p:nvPr>
        </p:nvSpPr>
        <p:spPr/>
        <p:txBody>
          <a:bodyPr/>
          <a:lstStyle/>
          <a:p>
            <a:pPr>
              <a:defRPr/>
            </a:pPr>
            <a:r>
              <a:rPr lang="en-US" altLang="zh-CN"/>
              <a:t>BUPT</a:t>
            </a:r>
            <a:endParaRPr lang="en-US" altLang="zh-CN"/>
          </a:p>
        </p:txBody>
      </p:sp>
      <p:sp>
        <p:nvSpPr>
          <p:cNvPr id="11269" name="Rectangle 2"/>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顺序表迭代子</a:t>
            </a:r>
            <a:endParaRPr lang="zh-CN" altLang="en-US" sz="2800" dirty="0" smtClean="0">
              <a:ea typeface="华文楷体" panose="02010600040101010101" pitchFamily="2" charset="-122"/>
            </a:endParaRPr>
          </a:p>
        </p:txBody>
      </p:sp>
      <p:sp>
        <p:nvSpPr>
          <p:cNvPr id="11270"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template&lt;</a:t>
            </a:r>
            <a:r>
              <a:rPr lang="en-US" altLang="zh-CN" sz="2800" dirty="0" err="1" smtClean="0">
                <a:ea typeface="华文楷体" panose="02010600040101010101" pitchFamily="2" charset="-122"/>
              </a:rPr>
              <a:t>typename</a:t>
            </a:r>
            <a:r>
              <a:rPr lang="en-US" altLang="zh-CN" sz="2800" dirty="0" smtClean="0">
                <a:ea typeface="华文楷体" panose="02010600040101010101" pitchFamily="2" charset="-122"/>
              </a:rPr>
              <a:t> T&gt;</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err="1" smtClean="0">
                <a:ea typeface="华文楷体" panose="02010600040101010101" pitchFamily="2" charset="-122"/>
              </a:rPr>
              <a:t>struct</a:t>
            </a:r>
            <a:r>
              <a:rPr lang="en-US" altLang="zh-CN" sz="2800" dirty="0" smtClean="0">
                <a:ea typeface="华文楷体" panose="02010600040101010101" pitchFamily="2" charset="-122"/>
              </a:rPr>
              <a:t> Vector {</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r>
              <a:rPr lang="en-US" altLang="zh-CN" sz="2800" dirty="0" err="1" smtClean="0">
                <a:ea typeface="华文楷体" panose="02010600040101010101" pitchFamily="2" charset="-122"/>
              </a:rPr>
              <a:t>typedef</a:t>
            </a:r>
            <a:r>
              <a:rPr lang="en-US" altLang="zh-CN" sz="2800" dirty="0" smtClean="0">
                <a:ea typeface="华文楷体" panose="02010600040101010101" pitchFamily="2" charset="-122"/>
              </a:rPr>
              <a:t> T* Iterator;</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Iterator begin(void)</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return </a:t>
            </a:r>
            <a:r>
              <a:rPr lang="en-US" altLang="zh-CN" sz="2800" dirty="0" err="1" smtClean="0">
                <a:ea typeface="华文楷体" panose="02010600040101010101" pitchFamily="2" charset="-122"/>
              </a:rPr>
              <a:t>elem</a:t>
            </a:r>
            <a:r>
              <a:rPr lang="en-US" altLang="zh-CN" sz="2800" dirty="0" smtClean="0">
                <a:ea typeface="华文楷体" panose="02010600040101010101" pitchFamily="2" charset="-122"/>
              </a:rPr>
              <a:t>;</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Iterator end(void)</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return </a:t>
            </a:r>
            <a:r>
              <a:rPr lang="en-US" altLang="zh-CN" sz="2800" dirty="0" err="1" smtClean="0">
                <a:ea typeface="华文楷体" panose="02010600040101010101" pitchFamily="2" charset="-122"/>
              </a:rPr>
              <a:t>elem+size</a:t>
            </a:r>
            <a:r>
              <a:rPr lang="en-US" altLang="zh-CN" sz="2800" dirty="0" smtClean="0">
                <a:ea typeface="华文楷体" panose="02010600040101010101" pitchFamily="2" charset="-122"/>
              </a:rPr>
              <a:t>;</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p:txBody>
      </p:sp>
      <p:sp>
        <p:nvSpPr>
          <p:cNvPr id="140294" name="AutoShape 6"/>
          <p:cNvSpPr/>
          <p:nvPr/>
        </p:nvSpPr>
        <p:spPr bwMode="auto">
          <a:xfrm>
            <a:off x="4211638" y="2420938"/>
            <a:ext cx="1655762" cy="428625"/>
          </a:xfrm>
          <a:prstGeom prst="callout1">
            <a:avLst>
              <a:gd name="adj1" fmla="val 117778"/>
              <a:gd name="adj2" fmla="val 93097"/>
              <a:gd name="adj3" fmla="val 117778"/>
              <a:gd name="adj4" fmla="val -69606"/>
            </a:avLst>
          </a:prstGeom>
          <a:solidFill>
            <a:schemeClr val="bg1"/>
          </a:solidFill>
          <a:ln w="22225">
            <a:solidFill>
              <a:srgbClr val="FF0000"/>
            </a:solidFill>
            <a:miter lim="800000"/>
          </a:ln>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zh-CN" altLang="en-US" sz="1800" b="1" dirty="0">
                <a:latin typeface="华文楷体" panose="02010600040101010101" pitchFamily="2" charset="-122"/>
                <a:ea typeface="华文楷体" panose="02010600040101010101" pitchFamily="2" charset="-122"/>
              </a:rPr>
              <a:t>返回向量首元素地址</a:t>
            </a:r>
            <a:endParaRPr lang="zh-CN" altLang="en-US" sz="1800" b="1" dirty="0">
              <a:latin typeface="华文楷体" panose="02010600040101010101" pitchFamily="2" charset="-122"/>
              <a:ea typeface="华文楷体" panose="02010600040101010101" pitchFamily="2" charset="-122"/>
            </a:endParaRPr>
          </a:p>
        </p:txBody>
      </p:sp>
      <p:sp>
        <p:nvSpPr>
          <p:cNvPr id="140295" name="AutoShape 7"/>
          <p:cNvSpPr/>
          <p:nvPr/>
        </p:nvSpPr>
        <p:spPr bwMode="auto">
          <a:xfrm>
            <a:off x="3851275" y="4295775"/>
            <a:ext cx="2449513" cy="428625"/>
          </a:xfrm>
          <a:prstGeom prst="callout1">
            <a:avLst>
              <a:gd name="adj1" fmla="val 117778"/>
              <a:gd name="adj2" fmla="val 95333"/>
              <a:gd name="adj3" fmla="val 117778"/>
              <a:gd name="adj4" fmla="val -47051"/>
            </a:avLst>
          </a:prstGeom>
          <a:solidFill>
            <a:schemeClr val="bg1"/>
          </a:solidFill>
          <a:ln w="22225">
            <a:solidFill>
              <a:srgbClr val="FF0000"/>
            </a:solidFill>
            <a:miter lim="800000"/>
          </a:ln>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zh-CN" altLang="en-US" sz="1800" b="1" dirty="0">
                <a:latin typeface="华文楷体" panose="02010600040101010101" pitchFamily="2" charset="-122"/>
                <a:ea typeface="华文楷体" panose="02010600040101010101" pitchFamily="2" charset="-122"/>
              </a:rPr>
              <a:t>返回向量尾元素的下一个地址地址</a:t>
            </a:r>
            <a:endParaRPr lang="zh-CN" altLang="en-US" sz="1800" b="1"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0294"/>
                                        </p:tgtEl>
                                        <p:attrNameLst>
                                          <p:attrName>style.visibility</p:attrName>
                                        </p:attrNameLst>
                                      </p:cBhvr>
                                      <p:to>
                                        <p:strVal val="visible"/>
                                      </p:to>
                                    </p:set>
                                    <p:anim calcmode="lin" valueType="num">
                                      <p:cBhvr additive="base">
                                        <p:cTn id="7" dur="500" fill="hold"/>
                                        <p:tgtEl>
                                          <p:spTgt spid="140294"/>
                                        </p:tgtEl>
                                        <p:attrNameLst>
                                          <p:attrName>ppt_x</p:attrName>
                                        </p:attrNameLst>
                                      </p:cBhvr>
                                      <p:tavLst>
                                        <p:tav tm="0">
                                          <p:val>
                                            <p:strVal val="#ppt_x"/>
                                          </p:val>
                                        </p:tav>
                                        <p:tav tm="100000">
                                          <p:val>
                                            <p:strVal val="#ppt_x"/>
                                          </p:val>
                                        </p:tav>
                                      </p:tavLst>
                                    </p:anim>
                                    <p:anim calcmode="lin" valueType="num">
                                      <p:cBhvr additive="base">
                                        <p:cTn id="8" dur="500" fill="hold"/>
                                        <p:tgtEl>
                                          <p:spTgt spid="1402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xit" presetSubtype="10" fill="hold" grpId="1" nodeType="clickEffect">
                                  <p:stCondLst>
                                    <p:cond delay="0"/>
                                  </p:stCondLst>
                                  <p:childTnLst>
                                    <p:animEffect transition="out" filter="blinds(horizontal)">
                                      <p:cBhvr>
                                        <p:cTn id="12" dur="500"/>
                                        <p:tgtEl>
                                          <p:spTgt spid="140294"/>
                                        </p:tgtEl>
                                      </p:cBhvr>
                                    </p:animEffect>
                                    <p:set>
                                      <p:cBhvr>
                                        <p:cTn id="13" dur="1" fill="hold">
                                          <p:stCondLst>
                                            <p:cond delay="499"/>
                                          </p:stCondLst>
                                        </p:cTn>
                                        <p:tgtEl>
                                          <p:spTgt spid="140294"/>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0295"/>
                                        </p:tgtEl>
                                        <p:attrNameLst>
                                          <p:attrName>style.visibility</p:attrName>
                                        </p:attrNameLst>
                                      </p:cBhvr>
                                      <p:to>
                                        <p:strVal val="visible"/>
                                      </p:to>
                                    </p:set>
                                    <p:anim calcmode="lin" valueType="num">
                                      <p:cBhvr additive="base">
                                        <p:cTn id="18" dur="500" fill="hold"/>
                                        <p:tgtEl>
                                          <p:spTgt spid="140295"/>
                                        </p:tgtEl>
                                        <p:attrNameLst>
                                          <p:attrName>ppt_x</p:attrName>
                                        </p:attrNameLst>
                                      </p:cBhvr>
                                      <p:tavLst>
                                        <p:tav tm="0">
                                          <p:val>
                                            <p:strVal val="#ppt_x"/>
                                          </p:val>
                                        </p:tav>
                                        <p:tav tm="100000">
                                          <p:val>
                                            <p:strVal val="#ppt_x"/>
                                          </p:val>
                                        </p:tav>
                                      </p:tavLst>
                                    </p:anim>
                                    <p:anim calcmode="lin" valueType="num">
                                      <p:cBhvr additive="base">
                                        <p:cTn id="19" dur="500" fill="hold"/>
                                        <p:tgtEl>
                                          <p:spTgt spid="14029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xit" presetSubtype="10" fill="hold" grpId="1" nodeType="clickEffect">
                                  <p:stCondLst>
                                    <p:cond delay="0"/>
                                  </p:stCondLst>
                                  <p:childTnLst>
                                    <p:animEffect transition="out" filter="blinds(horizontal)">
                                      <p:cBhvr>
                                        <p:cTn id="23" dur="500"/>
                                        <p:tgtEl>
                                          <p:spTgt spid="140295"/>
                                        </p:tgtEl>
                                      </p:cBhvr>
                                    </p:animEffect>
                                    <p:set>
                                      <p:cBhvr>
                                        <p:cTn id="24" dur="1" fill="hold">
                                          <p:stCondLst>
                                            <p:cond delay="499"/>
                                          </p:stCondLst>
                                        </p:cTn>
                                        <p:tgtEl>
                                          <p:spTgt spid="1402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4" grpId="0" animBg="1"/>
      <p:bldP spid="140294" grpId="1" animBg="1"/>
      <p:bldP spid="140295" grpId="0" animBg="1"/>
      <p:bldP spid="140295"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3"/>
          <p:cNvSpPr>
            <a:spLocks noGrp="1"/>
          </p:cNvSpPr>
          <p:nvPr>
            <p:ph type="ftr" sz="quarter" idx="10"/>
          </p:nvPr>
        </p:nvSpPr>
        <p:spPr/>
        <p:txBody>
          <a:bodyPr/>
          <a:lstStyle/>
          <a:p>
            <a:pPr>
              <a:defRPr/>
            </a:pPr>
            <a:r>
              <a:rPr lang="en-US" altLang="zh-CN"/>
              <a:t>BUPT SCST</a:t>
            </a:r>
            <a:endParaRPr lang="en-US" altLang="zh-CN"/>
          </a:p>
        </p:txBody>
      </p:sp>
      <p:sp>
        <p:nvSpPr>
          <p:cNvPr id="1229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ACBCFEA6-16C5-4FBA-BC3C-E2E94DDB51DC}"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9" name="日期占位符 5"/>
          <p:cNvSpPr>
            <a:spLocks noGrp="1"/>
          </p:cNvSpPr>
          <p:nvPr>
            <p:ph type="dt" sz="quarter" idx="12"/>
          </p:nvPr>
        </p:nvSpPr>
        <p:spPr/>
        <p:txBody>
          <a:bodyPr/>
          <a:lstStyle/>
          <a:p>
            <a:pPr>
              <a:defRPr/>
            </a:pPr>
            <a:r>
              <a:rPr lang="en-US" altLang="zh-CN"/>
              <a:t>BUPT</a:t>
            </a:r>
            <a:endParaRPr lang="en-US" altLang="zh-CN"/>
          </a:p>
        </p:txBody>
      </p:sp>
      <p:sp>
        <p:nvSpPr>
          <p:cNvPr id="12293" name="Rectangle 2"/>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获取顺序表成员</a:t>
            </a:r>
            <a:endParaRPr lang="zh-CN" altLang="en-US" sz="2800" dirty="0" smtClean="0">
              <a:ea typeface="华文楷体" panose="02010600040101010101" pitchFamily="2" charset="-122"/>
            </a:endParaRPr>
          </a:p>
        </p:txBody>
      </p:sp>
      <p:sp>
        <p:nvSpPr>
          <p:cNvPr id="12294" name="Rectangle 3"/>
          <p:cNvSpPr>
            <a:spLocks noGrp="1" noChangeArrowheads="1"/>
          </p:cNvSpPr>
          <p:nvPr>
            <p:ph type="body" idx="1"/>
          </p:nvPr>
        </p:nvSpPr>
        <p:spPr>
          <a:xfrm>
            <a:off x="395288" y="1152525"/>
            <a:ext cx="8229600" cy="5248275"/>
          </a:xfrm>
        </p:spPr>
        <p:txBody>
          <a:bodyPr/>
          <a:lstStyle/>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Template&lt;</a:t>
            </a:r>
            <a:r>
              <a:rPr lang="en-US" altLang="zh-CN" sz="2400" dirty="0" err="1" smtClean="0">
                <a:ea typeface="华文楷体" panose="02010600040101010101" pitchFamily="2" charset="-122"/>
              </a:rPr>
              <a:t>typename</a:t>
            </a:r>
            <a:r>
              <a:rPr lang="en-US" altLang="zh-CN" sz="2400" dirty="0" smtClean="0">
                <a:ea typeface="华文楷体" panose="02010600040101010101" pitchFamily="2" charset="-122"/>
              </a:rPr>
              <a:t> T&gt;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err="1" smtClean="0">
                <a:ea typeface="华文楷体" panose="02010600040101010101" pitchFamily="2" charset="-122"/>
              </a:rPr>
              <a:t>Struct</a:t>
            </a:r>
            <a:r>
              <a:rPr lang="en-US" altLang="zh-CN" sz="2400" dirty="0" smtClean="0">
                <a:ea typeface="华文楷体" panose="02010600040101010101" pitchFamily="2" charset="-122"/>
              </a:rPr>
              <a:t> Vector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T&amp; front(void)</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return </a:t>
            </a:r>
            <a:r>
              <a:rPr lang="en-US" altLang="zh-CN" sz="2400" dirty="0" err="1" smtClean="0">
                <a:ea typeface="华文楷体" panose="02010600040101010101" pitchFamily="2" charset="-122"/>
              </a:rPr>
              <a:t>elem</a:t>
            </a:r>
            <a:r>
              <a:rPr lang="en-US" altLang="zh-CN" sz="2400" dirty="0" smtClean="0">
                <a:ea typeface="华文楷体" panose="02010600040101010101" pitchFamily="2" charset="-122"/>
              </a:rPr>
              <a:t>[0];</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T&amp; back(void)</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return </a:t>
            </a:r>
            <a:r>
              <a:rPr lang="en-US" altLang="zh-CN" sz="2400" dirty="0" err="1" smtClean="0">
                <a:ea typeface="华文楷体" panose="02010600040101010101" pitchFamily="2" charset="-122"/>
              </a:rPr>
              <a:t>elem</a:t>
            </a:r>
            <a:r>
              <a:rPr lang="en-US" altLang="zh-CN" sz="2400" dirty="0" smtClean="0">
                <a:ea typeface="华文楷体" panose="02010600040101010101" pitchFamily="2" charset="-122"/>
              </a:rPr>
              <a:t>[szie-1];</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T&amp; operator[] (</a:t>
            </a:r>
            <a:r>
              <a:rPr lang="en-US" altLang="zh-CN" sz="2400" dirty="0" err="1" smtClean="0">
                <a:ea typeface="华文楷体" panose="02010600040101010101" pitchFamily="2" charset="-122"/>
              </a:rPr>
              <a:t>int</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 //</a:t>
            </a:r>
            <a:r>
              <a:rPr lang="zh-CN" altLang="en-US" sz="2400" dirty="0" smtClean="0">
                <a:ea typeface="华文楷体" panose="02010600040101010101" pitchFamily="2" charset="-122"/>
              </a:rPr>
              <a:t>前提条件：</a:t>
            </a:r>
            <a:r>
              <a:rPr lang="en-US" altLang="zh-CN" sz="2400" dirty="0" smtClean="0">
                <a:ea typeface="华文楷体" panose="02010600040101010101" pitchFamily="2" charset="-122"/>
              </a:rPr>
              <a:t>0&lt;=</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&lt;=size;</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return </a:t>
            </a:r>
            <a:r>
              <a:rPr lang="en-US" altLang="zh-CN" sz="2400" dirty="0" err="1" smtClean="0">
                <a:ea typeface="华文楷体" panose="02010600040101010101" pitchFamily="2" charset="-122"/>
              </a:rPr>
              <a:t>elem</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p:txBody>
      </p:sp>
      <p:sp>
        <p:nvSpPr>
          <p:cNvPr id="142341" name="AutoShape 5"/>
          <p:cNvSpPr/>
          <p:nvPr/>
        </p:nvSpPr>
        <p:spPr bwMode="auto">
          <a:xfrm>
            <a:off x="2771775" y="1773238"/>
            <a:ext cx="1655763" cy="428625"/>
          </a:xfrm>
          <a:prstGeom prst="callout1">
            <a:avLst>
              <a:gd name="adj1" fmla="val 117778"/>
              <a:gd name="adj2" fmla="val 93097"/>
              <a:gd name="adj3" fmla="val 117778"/>
              <a:gd name="adj4" fmla="val -69606"/>
            </a:avLst>
          </a:prstGeom>
          <a:solidFill>
            <a:schemeClr val="bg1"/>
          </a:solidFill>
          <a:ln w="22225">
            <a:solidFill>
              <a:srgbClr val="FF0000"/>
            </a:solidFill>
            <a:miter lim="800000"/>
          </a:ln>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zh-CN" altLang="en-US" sz="1800" b="1" dirty="0">
                <a:latin typeface="华文楷体" panose="02010600040101010101" pitchFamily="2" charset="-122"/>
                <a:ea typeface="华文楷体" panose="02010600040101010101" pitchFamily="2" charset="-122"/>
              </a:rPr>
              <a:t>取向量首元素</a:t>
            </a:r>
            <a:endParaRPr lang="zh-CN" altLang="en-US" sz="1800" b="1" dirty="0">
              <a:latin typeface="华文楷体" panose="02010600040101010101" pitchFamily="2" charset="-122"/>
              <a:ea typeface="华文楷体" panose="02010600040101010101" pitchFamily="2" charset="-122"/>
            </a:endParaRPr>
          </a:p>
        </p:txBody>
      </p:sp>
      <p:sp>
        <p:nvSpPr>
          <p:cNvPr id="142342" name="AutoShape 6"/>
          <p:cNvSpPr/>
          <p:nvPr/>
        </p:nvSpPr>
        <p:spPr bwMode="auto">
          <a:xfrm>
            <a:off x="2843213" y="3216275"/>
            <a:ext cx="1655762" cy="428625"/>
          </a:xfrm>
          <a:prstGeom prst="callout1">
            <a:avLst>
              <a:gd name="adj1" fmla="val 117778"/>
              <a:gd name="adj2" fmla="val 93097"/>
              <a:gd name="adj3" fmla="val 117778"/>
              <a:gd name="adj4" fmla="val -69606"/>
            </a:avLst>
          </a:prstGeom>
          <a:solidFill>
            <a:schemeClr val="bg1"/>
          </a:solidFill>
          <a:ln w="22225">
            <a:solidFill>
              <a:srgbClr val="FF0000"/>
            </a:solidFill>
            <a:miter lim="800000"/>
          </a:ln>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zh-CN" altLang="en-US" sz="1800" b="1" dirty="0">
                <a:latin typeface="华文楷体" panose="02010600040101010101" pitchFamily="2" charset="-122"/>
                <a:ea typeface="华文楷体" panose="02010600040101010101" pitchFamily="2" charset="-122"/>
              </a:rPr>
              <a:t>取向量尾元素</a:t>
            </a:r>
            <a:endParaRPr lang="zh-CN" altLang="en-US" sz="1800" b="1" dirty="0">
              <a:latin typeface="华文楷体" panose="02010600040101010101" pitchFamily="2" charset="-122"/>
              <a:ea typeface="华文楷体" panose="02010600040101010101" pitchFamily="2" charset="-122"/>
            </a:endParaRPr>
          </a:p>
        </p:txBody>
      </p:sp>
      <p:sp>
        <p:nvSpPr>
          <p:cNvPr id="142344" name="AutoShape 8"/>
          <p:cNvSpPr/>
          <p:nvPr/>
        </p:nvSpPr>
        <p:spPr bwMode="auto">
          <a:xfrm>
            <a:off x="3852863" y="4656138"/>
            <a:ext cx="2374900" cy="428625"/>
          </a:xfrm>
          <a:prstGeom prst="callout1">
            <a:avLst>
              <a:gd name="adj1" fmla="val 117778"/>
              <a:gd name="adj2" fmla="val 95185"/>
              <a:gd name="adj3" fmla="val 117778"/>
              <a:gd name="adj4" fmla="val -48528"/>
            </a:avLst>
          </a:prstGeom>
          <a:solidFill>
            <a:schemeClr val="bg1"/>
          </a:solidFill>
          <a:ln w="22225">
            <a:solidFill>
              <a:srgbClr val="FF0000"/>
            </a:solidFill>
            <a:miter lim="800000"/>
          </a:ln>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zh-CN" altLang="en-US" sz="1800" b="1" dirty="0">
                <a:latin typeface="华文楷体" panose="02010600040101010101" pitchFamily="2" charset="-122"/>
                <a:ea typeface="华文楷体" panose="02010600040101010101" pitchFamily="2" charset="-122"/>
              </a:rPr>
              <a:t>取向量第</a:t>
            </a:r>
            <a:r>
              <a:rPr lang="en-US" altLang="zh-CN" sz="1800" b="1" dirty="0" err="1">
                <a:latin typeface="华文楷体" panose="02010600040101010101" pitchFamily="2" charset="-122"/>
                <a:ea typeface="华文楷体" panose="02010600040101010101" pitchFamily="2" charset="-122"/>
              </a:rPr>
              <a:t>i</a:t>
            </a:r>
            <a:r>
              <a:rPr lang="zh-CN" altLang="en-US" sz="1800" b="1" dirty="0">
                <a:latin typeface="华文楷体" panose="02010600040101010101" pitchFamily="2" charset="-122"/>
                <a:ea typeface="华文楷体" panose="02010600040101010101" pitchFamily="2" charset="-122"/>
              </a:rPr>
              <a:t>个元素</a:t>
            </a:r>
            <a:endParaRPr lang="zh-CN" altLang="en-US" sz="1800" b="1"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2341"/>
                                        </p:tgtEl>
                                        <p:attrNameLst>
                                          <p:attrName>style.visibility</p:attrName>
                                        </p:attrNameLst>
                                      </p:cBhvr>
                                      <p:to>
                                        <p:strVal val="visible"/>
                                      </p:to>
                                    </p:set>
                                    <p:anim calcmode="lin" valueType="num">
                                      <p:cBhvr additive="base">
                                        <p:cTn id="7" dur="500" fill="hold"/>
                                        <p:tgtEl>
                                          <p:spTgt spid="142341"/>
                                        </p:tgtEl>
                                        <p:attrNameLst>
                                          <p:attrName>ppt_x</p:attrName>
                                        </p:attrNameLst>
                                      </p:cBhvr>
                                      <p:tavLst>
                                        <p:tav tm="0">
                                          <p:val>
                                            <p:strVal val="#ppt_x"/>
                                          </p:val>
                                        </p:tav>
                                        <p:tav tm="100000">
                                          <p:val>
                                            <p:strVal val="#ppt_x"/>
                                          </p:val>
                                        </p:tav>
                                      </p:tavLst>
                                    </p:anim>
                                    <p:anim calcmode="lin" valueType="num">
                                      <p:cBhvr additive="base">
                                        <p:cTn id="8" dur="500" fill="hold"/>
                                        <p:tgtEl>
                                          <p:spTgt spid="14234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xit" presetSubtype="10" fill="hold" grpId="1" nodeType="clickEffect">
                                  <p:stCondLst>
                                    <p:cond delay="0"/>
                                  </p:stCondLst>
                                  <p:childTnLst>
                                    <p:animEffect transition="out" filter="blinds(horizontal)">
                                      <p:cBhvr>
                                        <p:cTn id="12" dur="500"/>
                                        <p:tgtEl>
                                          <p:spTgt spid="142341"/>
                                        </p:tgtEl>
                                      </p:cBhvr>
                                    </p:animEffect>
                                    <p:set>
                                      <p:cBhvr>
                                        <p:cTn id="13" dur="1" fill="hold">
                                          <p:stCondLst>
                                            <p:cond delay="499"/>
                                          </p:stCondLst>
                                        </p:cTn>
                                        <p:tgtEl>
                                          <p:spTgt spid="142341"/>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2342"/>
                                        </p:tgtEl>
                                        <p:attrNameLst>
                                          <p:attrName>style.visibility</p:attrName>
                                        </p:attrNameLst>
                                      </p:cBhvr>
                                      <p:to>
                                        <p:strVal val="visible"/>
                                      </p:to>
                                    </p:set>
                                    <p:anim calcmode="lin" valueType="num">
                                      <p:cBhvr additive="base">
                                        <p:cTn id="18" dur="500" fill="hold"/>
                                        <p:tgtEl>
                                          <p:spTgt spid="142342"/>
                                        </p:tgtEl>
                                        <p:attrNameLst>
                                          <p:attrName>ppt_x</p:attrName>
                                        </p:attrNameLst>
                                      </p:cBhvr>
                                      <p:tavLst>
                                        <p:tav tm="0">
                                          <p:val>
                                            <p:strVal val="#ppt_x"/>
                                          </p:val>
                                        </p:tav>
                                        <p:tav tm="100000">
                                          <p:val>
                                            <p:strVal val="#ppt_x"/>
                                          </p:val>
                                        </p:tav>
                                      </p:tavLst>
                                    </p:anim>
                                    <p:anim calcmode="lin" valueType="num">
                                      <p:cBhvr additive="base">
                                        <p:cTn id="19" dur="500" fill="hold"/>
                                        <p:tgtEl>
                                          <p:spTgt spid="14234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xit" presetSubtype="10" fill="hold" grpId="1" nodeType="clickEffect">
                                  <p:stCondLst>
                                    <p:cond delay="0"/>
                                  </p:stCondLst>
                                  <p:childTnLst>
                                    <p:animEffect transition="out" filter="blinds(horizontal)">
                                      <p:cBhvr>
                                        <p:cTn id="23" dur="500"/>
                                        <p:tgtEl>
                                          <p:spTgt spid="142342"/>
                                        </p:tgtEl>
                                      </p:cBhvr>
                                    </p:animEffect>
                                    <p:set>
                                      <p:cBhvr>
                                        <p:cTn id="24" dur="1" fill="hold">
                                          <p:stCondLst>
                                            <p:cond delay="499"/>
                                          </p:stCondLst>
                                        </p:cTn>
                                        <p:tgtEl>
                                          <p:spTgt spid="14234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2344"/>
                                        </p:tgtEl>
                                        <p:attrNameLst>
                                          <p:attrName>style.visibility</p:attrName>
                                        </p:attrNameLst>
                                      </p:cBhvr>
                                      <p:to>
                                        <p:strVal val="visible"/>
                                      </p:to>
                                    </p:set>
                                    <p:anim calcmode="lin" valueType="num">
                                      <p:cBhvr additive="base">
                                        <p:cTn id="29" dur="500" fill="hold"/>
                                        <p:tgtEl>
                                          <p:spTgt spid="142344"/>
                                        </p:tgtEl>
                                        <p:attrNameLst>
                                          <p:attrName>ppt_x</p:attrName>
                                        </p:attrNameLst>
                                      </p:cBhvr>
                                      <p:tavLst>
                                        <p:tav tm="0">
                                          <p:val>
                                            <p:strVal val="#ppt_x"/>
                                          </p:val>
                                        </p:tav>
                                        <p:tav tm="100000">
                                          <p:val>
                                            <p:strVal val="#ppt_x"/>
                                          </p:val>
                                        </p:tav>
                                      </p:tavLst>
                                    </p:anim>
                                    <p:anim calcmode="lin" valueType="num">
                                      <p:cBhvr additive="base">
                                        <p:cTn id="30" dur="500" fill="hold"/>
                                        <p:tgtEl>
                                          <p:spTgt spid="14234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grpId="1" nodeType="clickEffect">
                                  <p:stCondLst>
                                    <p:cond delay="0"/>
                                  </p:stCondLst>
                                  <p:childTnLst>
                                    <p:animEffect transition="out" filter="blinds(horizontal)">
                                      <p:cBhvr>
                                        <p:cTn id="34" dur="500"/>
                                        <p:tgtEl>
                                          <p:spTgt spid="142344"/>
                                        </p:tgtEl>
                                      </p:cBhvr>
                                    </p:animEffect>
                                    <p:set>
                                      <p:cBhvr>
                                        <p:cTn id="35" dur="1" fill="hold">
                                          <p:stCondLst>
                                            <p:cond delay="499"/>
                                          </p:stCondLst>
                                        </p:cTn>
                                        <p:tgtEl>
                                          <p:spTgt spid="1423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1" grpId="0" animBg="1"/>
      <p:bldP spid="142341" grpId="1" animBg="1"/>
      <p:bldP spid="142342" grpId="0" animBg="1"/>
      <p:bldP spid="142342" grpId="1" animBg="1"/>
      <p:bldP spid="142344" grpId="0" animBg="1"/>
      <p:bldP spid="142344"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页脚占位符 3"/>
          <p:cNvSpPr>
            <a:spLocks noGrp="1"/>
          </p:cNvSpPr>
          <p:nvPr>
            <p:ph type="ftr" sz="quarter" idx="10"/>
          </p:nvPr>
        </p:nvSpPr>
        <p:spPr/>
        <p:txBody>
          <a:bodyPr/>
          <a:lstStyle/>
          <a:p>
            <a:pPr>
              <a:defRPr/>
            </a:pPr>
            <a:r>
              <a:rPr lang="en-US" altLang="zh-CN"/>
              <a:t>BUPT SCST</a:t>
            </a:r>
            <a:endParaRPr lang="en-US" altLang="zh-CN"/>
          </a:p>
        </p:txBody>
      </p:sp>
      <p:sp>
        <p:nvSpPr>
          <p:cNvPr id="1331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E74BBDA2-4648-48DD-8BEA-EF9DFC073506}"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45" name="日期占位符 5"/>
          <p:cNvSpPr>
            <a:spLocks noGrp="1"/>
          </p:cNvSpPr>
          <p:nvPr>
            <p:ph type="dt" sz="quarter" idx="12"/>
          </p:nvPr>
        </p:nvSpPr>
        <p:spPr/>
        <p:txBody>
          <a:bodyPr/>
          <a:lstStyle/>
          <a:p>
            <a:pPr>
              <a:defRPr/>
            </a:pPr>
            <a:r>
              <a:rPr lang="en-US" altLang="zh-CN"/>
              <a:t>BUPT</a:t>
            </a:r>
            <a:endParaRPr lang="en-US" altLang="zh-CN"/>
          </a:p>
        </p:txBody>
      </p:sp>
      <p:sp>
        <p:nvSpPr>
          <p:cNvPr id="13317" name="Rectangle 2"/>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顺序表元素的删除</a:t>
            </a:r>
            <a:endParaRPr lang="zh-CN" altLang="en-US" sz="2800" dirty="0" smtClean="0">
              <a:ea typeface="华文楷体" panose="02010600040101010101" pitchFamily="2" charset="-122"/>
            </a:endParaRPr>
          </a:p>
        </p:txBody>
      </p:sp>
      <p:sp>
        <p:nvSpPr>
          <p:cNvPr id="13318" name="Rectangle 3"/>
          <p:cNvSpPr>
            <a:spLocks noGrp="1" noChangeArrowheads="1"/>
          </p:cNvSpPr>
          <p:nvPr>
            <p:ph type="body" idx="1"/>
          </p:nvPr>
        </p:nvSpPr>
        <p:spPr>
          <a:xfrm>
            <a:off x="457200" y="1152525"/>
            <a:ext cx="5338763" cy="5445125"/>
          </a:xfrm>
        </p:spPr>
        <p:txBody>
          <a:bodyPr/>
          <a:lstStyle/>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Template&lt;</a:t>
            </a:r>
            <a:r>
              <a:rPr lang="en-US" altLang="zh-CN" sz="2800" dirty="0" err="1" smtClean="0">
                <a:ea typeface="华文楷体" panose="02010600040101010101" pitchFamily="2" charset="-122"/>
              </a:rPr>
              <a:t>typename</a:t>
            </a:r>
            <a:r>
              <a:rPr lang="en-US" altLang="zh-CN" sz="2800" dirty="0" smtClean="0">
                <a:ea typeface="华文楷体" panose="02010600040101010101" pitchFamily="2" charset="-122"/>
              </a:rPr>
              <a:t> T&gt;</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err="1" smtClean="0">
                <a:ea typeface="华文楷体" panose="02010600040101010101" pitchFamily="2" charset="-122"/>
              </a:rPr>
              <a:t>Strcut</a:t>
            </a:r>
            <a:r>
              <a:rPr lang="en-US" altLang="zh-CN" sz="2800" dirty="0" smtClean="0">
                <a:ea typeface="华文楷体" panose="02010600040101010101" pitchFamily="2" charset="-122"/>
              </a:rPr>
              <a:t> Vector {</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void </a:t>
            </a:r>
            <a:r>
              <a:rPr lang="en-US" altLang="zh-CN" sz="2800" dirty="0" err="1" smtClean="0">
                <a:ea typeface="华文楷体" panose="02010600040101010101" pitchFamily="2" charset="-122"/>
              </a:rPr>
              <a:t>pop_back</a:t>
            </a:r>
            <a:r>
              <a:rPr lang="en-US" altLang="zh-CN" sz="2800" dirty="0" smtClean="0">
                <a:ea typeface="华文楷体" panose="02010600040101010101" pitchFamily="2" charset="-122"/>
              </a:rPr>
              <a:t>(void)</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r>
              <a:rPr lang="en-US" altLang="zh-CN" sz="2800" b="1" dirty="0" smtClean="0">
                <a:solidFill>
                  <a:srgbClr val="FF3300"/>
                </a:solidFill>
                <a:ea typeface="华文楷体" panose="02010600040101010101" pitchFamily="2" charset="-122"/>
              </a:rPr>
              <a:t>size--;</a:t>
            </a:r>
            <a:endParaRPr lang="en-US" altLang="zh-CN" sz="2800" b="1" dirty="0" smtClean="0">
              <a:solidFill>
                <a:srgbClr val="FF3300"/>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void erase(Iterator </a:t>
            </a:r>
            <a:r>
              <a:rPr lang="en-US" altLang="zh-CN" sz="2800" dirty="0" err="1" smtClean="0">
                <a:ea typeface="华文楷体" panose="02010600040101010101" pitchFamily="2" charset="-122"/>
              </a:rPr>
              <a:t>pos</a:t>
            </a:r>
            <a:r>
              <a:rPr lang="en-US" altLang="zh-CN" sz="2800" dirty="0" smtClean="0">
                <a:ea typeface="华文楷体" panose="02010600040101010101" pitchFamily="2" charset="-122"/>
              </a:rPr>
              <a:t>)</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r>
              <a:rPr lang="en-US" altLang="zh-CN" sz="2800" b="1" dirty="0" err="1" smtClean="0">
                <a:solidFill>
                  <a:srgbClr val="FF3300"/>
                </a:solidFill>
                <a:ea typeface="华文楷体" panose="02010600040101010101" pitchFamily="2" charset="-122"/>
              </a:rPr>
              <a:t>memmove</a:t>
            </a:r>
            <a:r>
              <a:rPr lang="en-US" altLang="zh-CN" sz="2800" dirty="0" smtClean="0">
                <a:solidFill>
                  <a:srgbClr val="FF3300"/>
                </a:solidFill>
                <a:ea typeface="华文楷体" panose="02010600040101010101" pitchFamily="2" charset="-122"/>
              </a:rPr>
              <a:t>(pos,pos+1,</a:t>
            </a:r>
            <a:endParaRPr lang="en-US" altLang="zh-CN" sz="2800" dirty="0" smtClean="0">
              <a:solidFill>
                <a:srgbClr val="FF3300"/>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solidFill>
                  <a:srgbClr val="FF3300"/>
                </a:solidFill>
                <a:ea typeface="华文楷体" panose="02010600040101010101" pitchFamily="2" charset="-122"/>
              </a:rPr>
              <a:t>   </a:t>
            </a:r>
            <a:r>
              <a:rPr lang="en-US" altLang="zh-CN" sz="2800" dirty="0" err="1" smtClean="0">
                <a:solidFill>
                  <a:srgbClr val="FF3300"/>
                </a:solidFill>
                <a:ea typeface="华文楷体" panose="02010600040101010101" pitchFamily="2" charset="-122"/>
              </a:rPr>
              <a:t>sizeof</a:t>
            </a:r>
            <a:r>
              <a:rPr lang="en-US" altLang="zh-CN" sz="2800" dirty="0" smtClean="0">
                <a:solidFill>
                  <a:srgbClr val="FF3300"/>
                </a:solidFill>
                <a:ea typeface="华文楷体" panose="02010600040101010101" pitchFamily="2" charset="-122"/>
              </a:rPr>
              <a:t>(T)*(</a:t>
            </a:r>
            <a:r>
              <a:rPr lang="en-US" altLang="zh-CN" sz="2800" b="1" dirty="0" err="1" smtClean="0">
                <a:solidFill>
                  <a:srgbClr val="FF3300"/>
                </a:solidFill>
                <a:ea typeface="华文楷体" panose="02010600040101010101" pitchFamily="2" charset="-122"/>
              </a:rPr>
              <a:t>elem</a:t>
            </a:r>
            <a:r>
              <a:rPr lang="en-US" altLang="zh-CN" sz="2800" b="1" dirty="0" smtClean="0">
                <a:solidFill>
                  <a:srgbClr val="FF3300"/>
                </a:solidFill>
                <a:ea typeface="华文楷体" panose="02010600040101010101" pitchFamily="2" charset="-122"/>
              </a:rPr>
              <a:t>+--size-</a:t>
            </a:r>
            <a:r>
              <a:rPr lang="en-US" altLang="zh-CN" sz="2800" b="1" dirty="0" err="1" smtClean="0">
                <a:solidFill>
                  <a:srgbClr val="FF3300"/>
                </a:solidFill>
                <a:ea typeface="华文楷体" panose="02010600040101010101" pitchFamily="2" charset="-122"/>
              </a:rPr>
              <a:t>pos</a:t>
            </a:r>
            <a:r>
              <a:rPr lang="en-US" altLang="zh-CN" sz="2800" dirty="0" smtClean="0">
                <a:solidFill>
                  <a:srgbClr val="FF3300"/>
                </a:solidFill>
                <a:ea typeface="华文楷体" panose="02010600040101010101" pitchFamily="2" charset="-122"/>
              </a:rPr>
              <a:t>));</a:t>
            </a:r>
            <a:endParaRPr lang="en-US" altLang="zh-CN" sz="2800" dirty="0" smtClean="0">
              <a:solidFill>
                <a:srgbClr val="FF3300"/>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p:txBody>
      </p:sp>
      <p:sp>
        <p:nvSpPr>
          <p:cNvPr id="143365" name="Rectangle 5"/>
          <p:cNvSpPr>
            <a:spLocks noChangeArrowheads="1"/>
          </p:cNvSpPr>
          <p:nvPr/>
        </p:nvSpPr>
        <p:spPr bwMode="auto">
          <a:xfrm>
            <a:off x="4429125" y="1268413"/>
            <a:ext cx="4679950" cy="576262"/>
          </a:xfrm>
          <a:prstGeom prst="rect">
            <a:avLst/>
          </a:prstGeom>
          <a:solidFill>
            <a:schemeClr val="bg1"/>
          </a:solidFill>
          <a:ln w="28575" algn="ctr">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43366" name="Line 6"/>
          <p:cNvSpPr>
            <a:spLocks noChangeShapeType="1"/>
          </p:cNvSpPr>
          <p:nvPr/>
        </p:nvSpPr>
        <p:spPr bwMode="auto">
          <a:xfrm>
            <a:off x="5508625" y="1268413"/>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367" name="Line 7"/>
          <p:cNvSpPr>
            <a:spLocks noChangeShapeType="1"/>
          </p:cNvSpPr>
          <p:nvPr/>
        </p:nvSpPr>
        <p:spPr bwMode="auto">
          <a:xfrm>
            <a:off x="4932363"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368" name="Line 8"/>
          <p:cNvSpPr>
            <a:spLocks noChangeShapeType="1"/>
          </p:cNvSpPr>
          <p:nvPr/>
        </p:nvSpPr>
        <p:spPr bwMode="auto">
          <a:xfrm>
            <a:off x="5364163"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369" name="Line 9"/>
          <p:cNvSpPr>
            <a:spLocks noChangeShapeType="1"/>
          </p:cNvSpPr>
          <p:nvPr/>
        </p:nvSpPr>
        <p:spPr bwMode="auto">
          <a:xfrm>
            <a:off x="6156325"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370" name="Line 10"/>
          <p:cNvSpPr>
            <a:spLocks noChangeShapeType="1"/>
          </p:cNvSpPr>
          <p:nvPr/>
        </p:nvSpPr>
        <p:spPr bwMode="auto">
          <a:xfrm>
            <a:off x="6588125"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371" name="Line 11"/>
          <p:cNvSpPr>
            <a:spLocks noChangeShapeType="1"/>
          </p:cNvSpPr>
          <p:nvPr/>
        </p:nvSpPr>
        <p:spPr bwMode="auto">
          <a:xfrm>
            <a:off x="7019925"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372" name="Line 12"/>
          <p:cNvSpPr>
            <a:spLocks noChangeShapeType="1"/>
          </p:cNvSpPr>
          <p:nvPr/>
        </p:nvSpPr>
        <p:spPr bwMode="auto">
          <a:xfrm>
            <a:off x="7667625"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373" name="Line 13"/>
          <p:cNvSpPr>
            <a:spLocks noChangeShapeType="1"/>
          </p:cNvSpPr>
          <p:nvPr/>
        </p:nvSpPr>
        <p:spPr bwMode="auto">
          <a:xfrm>
            <a:off x="8101013"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374" name="Line 14"/>
          <p:cNvSpPr>
            <a:spLocks noChangeShapeType="1"/>
          </p:cNvSpPr>
          <p:nvPr/>
        </p:nvSpPr>
        <p:spPr bwMode="auto">
          <a:xfrm>
            <a:off x="8532813"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375" name="Text Box 15"/>
          <p:cNvSpPr txBox="1">
            <a:spLocks noChangeArrowheads="1"/>
          </p:cNvSpPr>
          <p:nvPr/>
        </p:nvSpPr>
        <p:spPr bwMode="auto">
          <a:xfrm>
            <a:off x="4427538" y="1412875"/>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0</a:t>
            </a:r>
            <a:endParaRPr lang="en-US" altLang="zh-CN" sz="1800" baseline="-25000" dirty="0">
              <a:latin typeface="华文楷体" panose="02010600040101010101" pitchFamily="2" charset="-122"/>
              <a:ea typeface="华文楷体" panose="02010600040101010101" pitchFamily="2" charset="-122"/>
            </a:endParaRPr>
          </a:p>
        </p:txBody>
      </p:sp>
      <p:sp>
        <p:nvSpPr>
          <p:cNvPr id="143376" name="Text Box 16"/>
          <p:cNvSpPr txBox="1">
            <a:spLocks noChangeArrowheads="1"/>
          </p:cNvSpPr>
          <p:nvPr/>
        </p:nvSpPr>
        <p:spPr bwMode="auto">
          <a:xfrm>
            <a:off x="4930775" y="1406525"/>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1</a:t>
            </a:r>
            <a:endParaRPr lang="en-US" altLang="zh-CN" sz="1800" baseline="-25000" dirty="0">
              <a:latin typeface="华文楷体" panose="02010600040101010101" pitchFamily="2" charset="-122"/>
              <a:ea typeface="华文楷体" panose="02010600040101010101" pitchFamily="2" charset="-122"/>
            </a:endParaRPr>
          </a:p>
        </p:txBody>
      </p:sp>
      <p:sp>
        <p:nvSpPr>
          <p:cNvPr id="143377" name="Text Box 17"/>
          <p:cNvSpPr txBox="1">
            <a:spLocks noChangeArrowheads="1"/>
          </p:cNvSpPr>
          <p:nvPr/>
        </p:nvSpPr>
        <p:spPr bwMode="auto">
          <a:xfrm>
            <a:off x="6154738" y="1406525"/>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b="1" dirty="0" err="1">
                <a:solidFill>
                  <a:srgbClr val="FF3300"/>
                </a:solidFill>
                <a:latin typeface="华文楷体" panose="02010600040101010101" pitchFamily="2" charset="-122"/>
                <a:ea typeface="华文楷体" panose="02010600040101010101" pitchFamily="2" charset="-122"/>
              </a:rPr>
              <a:t>a</a:t>
            </a:r>
            <a:r>
              <a:rPr lang="en-US" altLang="zh-CN" sz="1800" b="1" baseline="-25000" dirty="0" err="1">
                <a:solidFill>
                  <a:srgbClr val="FF3300"/>
                </a:solidFill>
                <a:latin typeface="华文楷体" panose="02010600040101010101" pitchFamily="2" charset="-122"/>
                <a:ea typeface="华文楷体" panose="02010600040101010101" pitchFamily="2" charset="-122"/>
              </a:rPr>
              <a:t>i</a:t>
            </a:r>
            <a:endParaRPr lang="en-US" altLang="zh-CN" sz="1800" b="1" baseline="-25000" dirty="0">
              <a:solidFill>
                <a:srgbClr val="FF3300"/>
              </a:solidFill>
              <a:latin typeface="华文楷体" panose="02010600040101010101" pitchFamily="2" charset="-122"/>
              <a:ea typeface="华文楷体" panose="02010600040101010101" pitchFamily="2" charset="-122"/>
            </a:endParaRPr>
          </a:p>
        </p:txBody>
      </p:sp>
      <p:sp>
        <p:nvSpPr>
          <p:cNvPr id="143378" name="Text Box 18"/>
          <p:cNvSpPr txBox="1">
            <a:spLocks noChangeArrowheads="1"/>
          </p:cNvSpPr>
          <p:nvPr/>
        </p:nvSpPr>
        <p:spPr bwMode="auto">
          <a:xfrm>
            <a:off x="6516688" y="1412875"/>
            <a:ext cx="576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i+1</a:t>
            </a:r>
            <a:endParaRPr lang="en-US" altLang="zh-CN" sz="1800" baseline="-25000" dirty="0">
              <a:latin typeface="华文楷体" panose="02010600040101010101" pitchFamily="2" charset="-122"/>
              <a:ea typeface="华文楷体" panose="02010600040101010101" pitchFamily="2" charset="-122"/>
            </a:endParaRPr>
          </a:p>
        </p:txBody>
      </p:sp>
      <p:sp>
        <p:nvSpPr>
          <p:cNvPr id="143379" name="Text Box 19"/>
          <p:cNvSpPr txBox="1">
            <a:spLocks noChangeArrowheads="1"/>
          </p:cNvSpPr>
          <p:nvPr/>
        </p:nvSpPr>
        <p:spPr bwMode="auto">
          <a:xfrm>
            <a:off x="5364163" y="1484313"/>
            <a:ext cx="7921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p:txBody>
      </p:sp>
      <p:sp>
        <p:nvSpPr>
          <p:cNvPr id="143380" name="Text Box 20"/>
          <p:cNvSpPr txBox="1">
            <a:spLocks noChangeArrowheads="1"/>
          </p:cNvSpPr>
          <p:nvPr/>
        </p:nvSpPr>
        <p:spPr bwMode="auto">
          <a:xfrm>
            <a:off x="7019925" y="1412875"/>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p:txBody>
      </p:sp>
      <p:sp>
        <p:nvSpPr>
          <p:cNvPr id="143381" name="Text Box 21"/>
          <p:cNvSpPr txBox="1">
            <a:spLocks noChangeArrowheads="1"/>
          </p:cNvSpPr>
          <p:nvPr/>
        </p:nvSpPr>
        <p:spPr bwMode="auto">
          <a:xfrm>
            <a:off x="7596188" y="1406525"/>
            <a:ext cx="649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n-2</a:t>
            </a:r>
            <a:endParaRPr lang="en-US" altLang="zh-CN" sz="1800" baseline="-25000" dirty="0">
              <a:latin typeface="华文楷体" panose="02010600040101010101" pitchFamily="2" charset="-122"/>
              <a:ea typeface="华文楷体" panose="02010600040101010101" pitchFamily="2" charset="-122"/>
            </a:endParaRPr>
          </a:p>
        </p:txBody>
      </p:sp>
      <p:sp>
        <p:nvSpPr>
          <p:cNvPr id="143399" name="Text Box 39"/>
          <p:cNvSpPr txBox="1">
            <a:spLocks noChangeArrowheads="1"/>
          </p:cNvSpPr>
          <p:nvPr/>
        </p:nvSpPr>
        <p:spPr bwMode="auto">
          <a:xfrm>
            <a:off x="8027988" y="1412875"/>
            <a:ext cx="576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n-1</a:t>
            </a:r>
            <a:endParaRPr lang="en-US" altLang="zh-CN" sz="1800" baseline="-25000" dirty="0">
              <a:latin typeface="华文楷体" panose="02010600040101010101" pitchFamily="2" charset="-122"/>
              <a:ea typeface="华文楷体" panose="02010600040101010101" pitchFamily="2" charset="-122"/>
            </a:endParaRPr>
          </a:p>
        </p:txBody>
      </p:sp>
      <p:sp>
        <p:nvSpPr>
          <p:cNvPr id="143400" name="Rectangle 40"/>
          <p:cNvSpPr>
            <a:spLocks noChangeArrowheads="1"/>
          </p:cNvSpPr>
          <p:nvPr/>
        </p:nvSpPr>
        <p:spPr bwMode="auto">
          <a:xfrm>
            <a:off x="4429125" y="2846388"/>
            <a:ext cx="4679950" cy="576262"/>
          </a:xfrm>
          <a:prstGeom prst="rect">
            <a:avLst/>
          </a:prstGeom>
          <a:solidFill>
            <a:schemeClr val="bg1"/>
          </a:solidFill>
          <a:ln w="28575" algn="ctr">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43401" name="Line 41"/>
          <p:cNvSpPr>
            <a:spLocks noChangeShapeType="1"/>
          </p:cNvSpPr>
          <p:nvPr/>
        </p:nvSpPr>
        <p:spPr bwMode="auto">
          <a:xfrm>
            <a:off x="5508625" y="2846388"/>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402" name="Line 42"/>
          <p:cNvSpPr>
            <a:spLocks noChangeShapeType="1"/>
          </p:cNvSpPr>
          <p:nvPr/>
        </p:nvSpPr>
        <p:spPr bwMode="auto">
          <a:xfrm>
            <a:off x="4932363"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403" name="Line 43"/>
          <p:cNvSpPr>
            <a:spLocks noChangeShapeType="1"/>
          </p:cNvSpPr>
          <p:nvPr/>
        </p:nvSpPr>
        <p:spPr bwMode="auto">
          <a:xfrm>
            <a:off x="5364163"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404" name="Line 44"/>
          <p:cNvSpPr>
            <a:spLocks noChangeShapeType="1"/>
          </p:cNvSpPr>
          <p:nvPr/>
        </p:nvSpPr>
        <p:spPr bwMode="auto">
          <a:xfrm>
            <a:off x="6156325"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405" name="Line 45"/>
          <p:cNvSpPr>
            <a:spLocks noChangeShapeType="1"/>
          </p:cNvSpPr>
          <p:nvPr/>
        </p:nvSpPr>
        <p:spPr bwMode="auto">
          <a:xfrm>
            <a:off x="6588125"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406" name="Line 46"/>
          <p:cNvSpPr>
            <a:spLocks noChangeShapeType="1"/>
          </p:cNvSpPr>
          <p:nvPr/>
        </p:nvSpPr>
        <p:spPr bwMode="auto">
          <a:xfrm>
            <a:off x="7019925"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407" name="Line 47"/>
          <p:cNvSpPr>
            <a:spLocks noChangeShapeType="1"/>
          </p:cNvSpPr>
          <p:nvPr/>
        </p:nvSpPr>
        <p:spPr bwMode="auto">
          <a:xfrm>
            <a:off x="7667625"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408" name="Line 48"/>
          <p:cNvSpPr>
            <a:spLocks noChangeShapeType="1"/>
          </p:cNvSpPr>
          <p:nvPr/>
        </p:nvSpPr>
        <p:spPr bwMode="auto">
          <a:xfrm>
            <a:off x="8101013"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409" name="Line 49"/>
          <p:cNvSpPr>
            <a:spLocks noChangeShapeType="1"/>
          </p:cNvSpPr>
          <p:nvPr/>
        </p:nvSpPr>
        <p:spPr bwMode="auto">
          <a:xfrm>
            <a:off x="8532813"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410" name="Text Box 50"/>
          <p:cNvSpPr txBox="1">
            <a:spLocks noChangeArrowheads="1"/>
          </p:cNvSpPr>
          <p:nvPr/>
        </p:nvSpPr>
        <p:spPr bwMode="auto">
          <a:xfrm>
            <a:off x="4427538" y="299085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0</a:t>
            </a:r>
            <a:endParaRPr lang="en-US" altLang="zh-CN" sz="1800" baseline="-25000" dirty="0">
              <a:latin typeface="华文楷体" panose="02010600040101010101" pitchFamily="2" charset="-122"/>
              <a:ea typeface="华文楷体" panose="02010600040101010101" pitchFamily="2" charset="-122"/>
            </a:endParaRPr>
          </a:p>
        </p:txBody>
      </p:sp>
      <p:sp>
        <p:nvSpPr>
          <p:cNvPr id="143411" name="Text Box 51"/>
          <p:cNvSpPr txBox="1">
            <a:spLocks noChangeArrowheads="1"/>
          </p:cNvSpPr>
          <p:nvPr/>
        </p:nvSpPr>
        <p:spPr bwMode="auto">
          <a:xfrm>
            <a:off x="4930775" y="298450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1</a:t>
            </a:r>
            <a:endParaRPr lang="en-US" altLang="zh-CN" sz="1800" baseline="-25000" dirty="0">
              <a:latin typeface="华文楷体" panose="02010600040101010101" pitchFamily="2" charset="-122"/>
              <a:ea typeface="华文楷体" panose="02010600040101010101" pitchFamily="2" charset="-122"/>
            </a:endParaRPr>
          </a:p>
        </p:txBody>
      </p:sp>
      <p:sp>
        <p:nvSpPr>
          <p:cNvPr id="143413" name="Text Box 53"/>
          <p:cNvSpPr txBox="1">
            <a:spLocks noChangeArrowheads="1"/>
          </p:cNvSpPr>
          <p:nvPr/>
        </p:nvSpPr>
        <p:spPr bwMode="auto">
          <a:xfrm>
            <a:off x="6083300" y="2990850"/>
            <a:ext cx="576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i+1</a:t>
            </a:r>
            <a:endParaRPr lang="en-US" altLang="zh-CN" sz="1800" baseline="-25000" dirty="0">
              <a:latin typeface="华文楷体" panose="02010600040101010101" pitchFamily="2" charset="-122"/>
              <a:ea typeface="华文楷体" panose="02010600040101010101" pitchFamily="2" charset="-122"/>
            </a:endParaRPr>
          </a:p>
        </p:txBody>
      </p:sp>
      <p:sp>
        <p:nvSpPr>
          <p:cNvPr id="143414" name="Text Box 54"/>
          <p:cNvSpPr txBox="1">
            <a:spLocks noChangeArrowheads="1"/>
          </p:cNvSpPr>
          <p:nvPr/>
        </p:nvSpPr>
        <p:spPr bwMode="auto">
          <a:xfrm>
            <a:off x="5364163" y="3062288"/>
            <a:ext cx="7921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p:txBody>
      </p:sp>
      <p:sp>
        <p:nvSpPr>
          <p:cNvPr id="143415" name="Text Box 55"/>
          <p:cNvSpPr txBox="1">
            <a:spLocks noChangeArrowheads="1"/>
          </p:cNvSpPr>
          <p:nvPr/>
        </p:nvSpPr>
        <p:spPr bwMode="auto">
          <a:xfrm>
            <a:off x="7019925" y="2990850"/>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p:txBody>
      </p:sp>
      <p:sp>
        <p:nvSpPr>
          <p:cNvPr id="143417" name="Text Box 57"/>
          <p:cNvSpPr txBox="1">
            <a:spLocks noChangeArrowheads="1"/>
          </p:cNvSpPr>
          <p:nvPr/>
        </p:nvSpPr>
        <p:spPr bwMode="auto">
          <a:xfrm>
            <a:off x="7596188" y="2990850"/>
            <a:ext cx="576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n-1</a:t>
            </a:r>
            <a:endParaRPr lang="en-US" altLang="zh-CN" sz="1800" baseline="-25000" dirty="0">
              <a:latin typeface="华文楷体" panose="02010600040101010101" pitchFamily="2" charset="-122"/>
              <a:ea typeface="华文楷体" panose="02010600040101010101" pitchFamily="2" charset="-122"/>
            </a:endParaRPr>
          </a:p>
        </p:txBody>
      </p:sp>
      <p:sp>
        <p:nvSpPr>
          <p:cNvPr id="143418" name="Freeform 58"/>
          <p:cNvSpPr/>
          <p:nvPr/>
        </p:nvSpPr>
        <p:spPr bwMode="auto">
          <a:xfrm flipH="1">
            <a:off x="6300788" y="1844675"/>
            <a:ext cx="431800" cy="1008063"/>
          </a:xfrm>
          <a:custGeom>
            <a:avLst/>
            <a:gdLst>
              <a:gd name="T0" fmla="*/ 2147483646 w 344"/>
              <a:gd name="T1" fmla="*/ 0 h 1200"/>
              <a:gd name="T2" fmla="*/ 2147483646 w 344"/>
              <a:gd name="T3" fmla="*/ 2147483646 h 1200"/>
              <a:gd name="T4" fmla="*/ 2147483646 w 344"/>
              <a:gd name="T5" fmla="*/ 2147483646 h 1200"/>
              <a:gd name="T6" fmla="*/ 0 60000 65536"/>
              <a:gd name="T7" fmla="*/ 0 60000 65536"/>
              <a:gd name="T8" fmla="*/ 0 60000 65536"/>
              <a:gd name="T9" fmla="*/ 0 w 344"/>
              <a:gd name="T10" fmla="*/ 0 h 1200"/>
              <a:gd name="T11" fmla="*/ 344 w 344"/>
              <a:gd name="T12" fmla="*/ 1200 h 1200"/>
            </a:gdLst>
            <a:ahLst/>
            <a:cxnLst>
              <a:cxn ang="T6">
                <a:pos x="T0" y="T1"/>
              </a:cxn>
              <a:cxn ang="T7">
                <a:pos x="T2" y="T3"/>
              </a:cxn>
              <a:cxn ang="T8">
                <a:pos x="T4" y="T5"/>
              </a:cxn>
            </a:cxnLst>
            <a:rect l="T9" t="T10" r="T11" b="T12"/>
            <a:pathLst>
              <a:path w="344" h="1200">
                <a:moveTo>
                  <a:pt x="8" y="0"/>
                </a:moveTo>
                <a:cubicBezTo>
                  <a:pt x="4" y="140"/>
                  <a:pt x="0" y="280"/>
                  <a:pt x="56" y="480"/>
                </a:cubicBezTo>
                <a:cubicBezTo>
                  <a:pt x="112" y="680"/>
                  <a:pt x="228" y="940"/>
                  <a:pt x="344" y="1200"/>
                </a:cubicBezTo>
              </a:path>
            </a:pathLst>
          </a:custGeom>
          <a:noFill/>
          <a:ln w="57150">
            <a:solidFill>
              <a:schemeClr val="accent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3419" name="Freeform 59"/>
          <p:cNvSpPr/>
          <p:nvPr/>
        </p:nvSpPr>
        <p:spPr bwMode="auto">
          <a:xfrm flipH="1">
            <a:off x="7885113" y="1844675"/>
            <a:ext cx="431800" cy="1008063"/>
          </a:xfrm>
          <a:custGeom>
            <a:avLst/>
            <a:gdLst>
              <a:gd name="T0" fmla="*/ 2147483646 w 344"/>
              <a:gd name="T1" fmla="*/ 0 h 1200"/>
              <a:gd name="T2" fmla="*/ 2147483646 w 344"/>
              <a:gd name="T3" fmla="*/ 2147483646 h 1200"/>
              <a:gd name="T4" fmla="*/ 2147483646 w 344"/>
              <a:gd name="T5" fmla="*/ 2147483646 h 1200"/>
              <a:gd name="T6" fmla="*/ 0 60000 65536"/>
              <a:gd name="T7" fmla="*/ 0 60000 65536"/>
              <a:gd name="T8" fmla="*/ 0 60000 65536"/>
              <a:gd name="T9" fmla="*/ 0 w 344"/>
              <a:gd name="T10" fmla="*/ 0 h 1200"/>
              <a:gd name="T11" fmla="*/ 344 w 344"/>
              <a:gd name="T12" fmla="*/ 1200 h 1200"/>
            </a:gdLst>
            <a:ahLst/>
            <a:cxnLst>
              <a:cxn ang="T6">
                <a:pos x="T0" y="T1"/>
              </a:cxn>
              <a:cxn ang="T7">
                <a:pos x="T2" y="T3"/>
              </a:cxn>
              <a:cxn ang="T8">
                <a:pos x="T4" y="T5"/>
              </a:cxn>
            </a:cxnLst>
            <a:rect l="T9" t="T10" r="T11" b="T12"/>
            <a:pathLst>
              <a:path w="344" h="1200">
                <a:moveTo>
                  <a:pt x="8" y="0"/>
                </a:moveTo>
                <a:cubicBezTo>
                  <a:pt x="4" y="140"/>
                  <a:pt x="0" y="280"/>
                  <a:pt x="56" y="480"/>
                </a:cubicBezTo>
                <a:cubicBezTo>
                  <a:pt x="112" y="680"/>
                  <a:pt x="228" y="940"/>
                  <a:pt x="344" y="1200"/>
                </a:cubicBezTo>
              </a:path>
            </a:pathLst>
          </a:custGeom>
          <a:noFill/>
          <a:ln w="57150">
            <a:solidFill>
              <a:schemeClr val="accent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3355" name="Text Box 62"/>
          <p:cNvSpPr txBox="1">
            <a:spLocks noChangeArrowheads="1"/>
          </p:cNvSpPr>
          <p:nvPr/>
        </p:nvSpPr>
        <p:spPr bwMode="auto">
          <a:xfrm>
            <a:off x="5795963" y="4149725"/>
            <a:ext cx="24479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endParaRPr lang="zh-CN" altLang="zh-CN" sz="1800" dirty="0">
              <a:latin typeface="华文楷体" panose="02010600040101010101" pitchFamily="2" charset="-122"/>
              <a:ea typeface="华文楷体" panose="02010600040101010101" pitchFamily="2" charset="-122"/>
            </a:endParaRPr>
          </a:p>
        </p:txBody>
      </p:sp>
      <p:sp>
        <p:nvSpPr>
          <p:cNvPr id="143426" name="AutoShape 66"/>
          <p:cNvSpPr/>
          <p:nvPr/>
        </p:nvSpPr>
        <p:spPr bwMode="auto">
          <a:xfrm>
            <a:off x="5724525" y="4868863"/>
            <a:ext cx="1655763" cy="428625"/>
          </a:xfrm>
          <a:prstGeom prst="callout1">
            <a:avLst>
              <a:gd name="adj1" fmla="val 117778"/>
              <a:gd name="adj2" fmla="val 93097"/>
              <a:gd name="adj3" fmla="val 117778"/>
              <a:gd name="adj4" fmla="val -69606"/>
            </a:avLst>
          </a:prstGeom>
          <a:solidFill>
            <a:schemeClr val="bg1"/>
          </a:solidFill>
          <a:ln w="22225">
            <a:solidFill>
              <a:srgbClr val="FF0000"/>
            </a:solidFill>
            <a:miter lim="800000"/>
          </a:ln>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C</a:t>
            </a:r>
            <a:r>
              <a:rPr lang="zh-CN" altLang="en-US" sz="1800" b="1" dirty="0">
                <a:latin typeface="华文楷体" panose="02010600040101010101" pitchFamily="2" charset="-122"/>
                <a:ea typeface="华文楷体" panose="02010600040101010101" pitchFamily="2" charset="-122"/>
              </a:rPr>
              <a:t>语言的标准库函数</a:t>
            </a:r>
            <a:endParaRPr lang="zh-CN" altLang="en-US" sz="1800" b="1" dirty="0">
              <a:latin typeface="华文楷体" panose="02010600040101010101" pitchFamily="2" charset="-122"/>
              <a:ea typeface="华文楷体" panose="02010600040101010101" pitchFamily="2" charset="-122"/>
            </a:endParaRPr>
          </a:p>
        </p:txBody>
      </p:sp>
      <p:sp>
        <p:nvSpPr>
          <p:cNvPr id="143427" name="Oval 67"/>
          <p:cNvSpPr>
            <a:spLocks noChangeArrowheads="1"/>
          </p:cNvSpPr>
          <p:nvPr/>
        </p:nvSpPr>
        <p:spPr bwMode="auto">
          <a:xfrm>
            <a:off x="2411413" y="5373688"/>
            <a:ext cx="2808287" cy="431800"/>
          </a:xfrm>
          <a:prstGeom prst="ellipse">
            <a:avLst/>
          </a:prstGeom>
          <a:solidFill>
            <a:schemeClr val="bg1">
              <a:alpha val="0"/>
            </a:schemeClr>
          </a:solidFill>
          <a:ln w="28575">
            <a:solidFill>
              <a:srgbClr val="FF0000"/>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426"/>
                                        </p:tgtEl>
                                        <p:attrNameLst>
                                          <p:attrName>style.visibility</p:attrName>
                                        </p:attrNameLst>
                                      </p:cBhvr>
                                      <p:to>
                                        <p:strVal val="visible"/>
                                      </p:to>
                                    </p:set>
                                    <p:anim calcmode="lin" valueType="num">
                                      <p:cBhvr additive="base">
                                        <p:cTn id="7" dur="500" fill="hold"/>
                                        <p:tgtEl>
                                          <p:spTgt spid="143426"/>
                                        </p:tgtEl>
                                        <p:attrNameLst>
                                          <p:attrName>ppt_x</p:attrName>
                                        </p:attrNameLst>
                                      </p:cBhvr>
                                      <p:tavLst>
                                        <p:tav tm="0">
                                          <p:val>
                                            <p:strVal val="#ppt_x"/>
                                          </p:val>
                                        </p:tav>
                                        <p:tav tm="100000">
                                          <p:val>
                                            <p:strVal val="#ppt_x"/>
                                          </p:val>
                                        </p:tav>
                                      </p:tavLst>
                                    </p:anim>
                                    <p:anim calcmode="lin" valueType="num">
                                      <p:cBhvr additive="base">
                                        <p:cTn id="8" dur="500" fill="hold"/>
                                        <p:tgtEl>
                                          <p:spTgt spid="1434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143365"/>
                                        </p:tgtEl>
                                        <p:attrNameLst>
                                          <p:attrName>style.visibility</p:attrName>
                                        </p:attrNameLst>
                                      </p:cBhvr>
                                      <p:to>
                                        <p:strVal val="visible"/>
                                      </p:to>
                                    </p:set>
                                    <p:animEffect transition="in" filter="checkerboard(across)">
                                      <p:cBhvr>
                                        <p:cTn id="13" dur="500"/>
                                        <p:tgtEl>
                                          <p:spTgt spid="143365"/>
                                        </p:tgtEl>
                                      </p:cBhvr>
                                    </p:animEffect>
                                  </p:childTnLst>
                                </p:cTn>
                              </p:par>
                              <p:par>
                                <p:cTn id="14" presetID="5" presetClass="entr" presetSubtype="10" fill="hold" nodeType="withEffect">
                                  <p:stCondLst>
                                    <p:cond delay="0"/>
                                  </p:stCondLst>
                                  <p:childTnLst>
                                    <p:set>
                                      <p:cBhvr>
                                        <p:cTn id="15" dur="1" fill="hold">
                                          <p:stCondLst>
                                            <p:cond delay="0"/>
                                          </p:stCondLst>
                                        </p:cTn>
                                        <p:tgtEl>
                                          <p:spTgt spid="143366"/>
                                        </p:tgtEl>
                                        <p:attrNameLst>
                                          <p:attrName>style.visibility</p:attrName>
                                        </p:attrNameLst>
                                      </p:cBhvr>
                                      <p:to>
                                        <p:strVal val="visible"/>
                                      </p:to>
                                    </p:set>
                                    <p:animEffect transition="in" filter="checkerboard(across)">
                                      <p:cBhvr>
                                        <p:cTn id="16" dur="500"/>
                                        <p:tgtEl>
                                          <p:spTgt spid="143366"/>
                                        </p:tgtEl>
                                      </p:cBhvr>
                                    </p:animEffect>
                                  </p:childTnLst>
                                </p:cTn>
                              </p:par>
                              <p:par>
                                <p:cTn id="17" presetID="5" presetClass="entr" presetSubtype="10" fill="hold" nodeType="withEffect">
                                  <p:stCondLst>
                                    <p:cond delay="0"/>
                                  </p:stCondLst>
                                  <p:childTnLst>
                                    <p:set>
                                      <p:cBhvr>
                                        <p:cTn id="18" dur="1" fill="hold">
                                          <p:stCondLst>
                                            <p:cond delay="0"/>
                                          </p:stCondLst>
                                        </p:cTn>
                                        <p:tgtEl>
                                          <p:spTgt spid="143367"/>
                                        </p:tgtEl>
                                        <p:attrNameLst>
                                          <p:attrName>style.visibility</p:attrName>
                                        </p:attrNameLst>
                                      </p:cBhvr>
                                      <p:to>
                                        <p:strVal val="visible"/>
                                      </p:to>
                                    </p:set>
                                    <p:animEffect transition="in" filter="checkerboard(across)">
                                      <p:cBhvr>
                                        <p:cTn id="19" dur="500"/>
                                        <p:tgtEl>
                                          <p:spTgt spid="143367"/>
                                        </p:tgtEl>
                                      </p:cBhvr>
                                    </p:animEffect>
                                  </p:childTnLst>
                                </p:cTn>
                              </p:par>
                              <p:par>
                                <p:cTn id="20" presetID="5" presetClass="entr" presetSubtype="10" fill="hold" nodeType="withEffect">
                                  <p:stCondLst>
                                    <p:cond delay="0"/>
                                  </p:stCondLst>
                                  <p:childTnLst>
                                    <p:set>
                                      <p:cBhvr>
                                        <p:cTn id="21" dur="1" fill="hold">
                                          <p:stCondLst>
                                            <p:cond delay="0"/>
                                          </p:stCondLst>
                                        </p:cTn>
                                        <p:tgtEl>
                                          <p:spTgt spid="143368"/>
                                        </p:tgtEl>
                                        <p:attrNameLst>
                                          <p:attrName>style.visibility</p:attrName>
                                        </p:attrNameLst>
                                      </p:cBhvr>
                                      <p:to>
                                        <p:strVal val="visible"/>
                                      </p:to>
                                    </p:set>
                                    <p:animEffect transition="in" filter="checkerboard(across)">
                                      <p:cBhvr>
                                        <p:cTn id="22" dur="500"/>
                                        <p:tgtEl>
                                          <p:spTgt spid="143368"/>
                                        </p:tgtEl>
                                      </p:cBhvr>
                                    </p:animEffect>
                                  </p:childTnLst>
                                </p:cTn>
                              </p:par>
                              <p:par>
                                <p:cTn id="23" presetID="5" presetClass="entr" presetSubtype="10" fill="hold" nodeType="withEffect">
                                  <p:stCondLst>
                                    <p:cond delay="0"/>
                                  </p:stCondLst>
                                  <p:childTnLst>
                                    <p:set>
                                      <p:cBhvr>
                                        <p:cTn id="24" dur="1" fill="hold">
                                          <p:stCondLst>
                                            <p:cond delay="0"/>
                                          </p:stCondLst>
                                        </p:cTn>
                                        <p:tgtEl>
                                          <p:spTgt spid="143369"/>
                                        </p:tgtEl>
                                        <p:attrNameLst>
                                          <p:attrName>style.visibility</p:attrName>
                                        </p:attrNameLst>
                                      </p:cBhvr>
                                      <p:to>
                                        <p:strVal val="visible"/>
                                      </p:to>
                                    </p:set>
                                    <p:animEffect transition="in" filter="checkerboard(across)">
                                      <p:cBhvr>
                                        <p:cTn id="25" dur="500"/>
                                        <p:tgtEl>
                                          <p:spTgt spid="143369"/>
                                        </p:tgtEl>
                                      </p:cBhvr>
                                    </p:animEffect>
                                  </p:childTnLst>
                                </p:cTn>
                              </p:par>
                              <p:par>
                                <p:cTn id="26" presetID="5" presetClass="entr" presetSubtype="10" fill="hold" nodeType="withEffect">
                                  <p:stCondLst>
                                    <p:cond delay="0"/>
                                  </p:stCondLst>
                                  <p:childTnLst>
                                    <p:set>
                                      <p:cBhvr>
                                        <p:cTn id="27" dur="1" fill="hold">
                                          <p:stCondLst>
                                            <p:cond delay="0"/>
                                          </p:stCondLst>
                                        </p:cTn>
                                        <p:tgtEl>
                                          <p:spTgt spid="143370"/>
                                        </p:tgtEl>
                                        <p:attrNameLst>
                                          <p:attrName>style.visibility</p:attrName>
                                        </p:attrNameLst>
                                      </p:cBhvr>
                                      <p:to>
                                        <p:strVal val="visible"/>
                                      </p:to>
                                    </p:set>
                                    <p:animEffect transition="in" filter="checkerboard(across)">
                                      <p:cBhvr>
                                        <p:cTn id="28" dur="500"/>
                                        <p:tgtEl>
                                          <p:spTgt spid="143370"/>
                                        </p:tgtEl>
                                      </p:cBhvr>
                                    </p:animEffect>
                                  </p:childTnLst>
                                </p:cTn>
                              </p:par>
                              <p:par>
                                <p:cTn id="29" presetID="5" presetClass="entr" presetSubtype="10" fill="hold" nodeType="withEffect">
                                  <p:stCondLst>
                                    <p:cond delay="0"/>
                                  </p:stCondLst>
                                  <p:childTnLst>
                                    <p:set>
                                      <p:cBhvr>
                                        <p:cTn id="30" dur="1" fill="hold">
                                          <p:stCondLst>
                                            <p:cond delay="0"/>
                                          </p:stCondLst>
                                        </p:cTn>
                                        <p:tgtEl>
                                          <p:spTgt spid="143371"/>
                                        </p:tgtEl>
                                        <p:attrNameLst>
                                          <p:attrName>style.visibility</p:attrName>
                                        </p:attrNameLst>
                                      </p:cBhvr>
                                      <p:to>
                                        <p:strVal val="visible"/>
                                      </p:to>
                                    </p:set>
                                    <p:animEffect transition="in" filter="checkerboard(across)">
                                      <p:cBhvr>
                                        <p:cTn id="31" dur="500"/>
                                        <p:tgtEl>
                                          <p:spTgt spid="143371"/>
                                        </p:tgtEl>
                                      </p:cBhvr>
                                    </p:animEffect>
                                  </p:childTnLst>
                                </p:cTn>
                              </p:par>
                              <p:par>
                                <p:cTn id="32" presetID="5" presetClass="entr" presetSubtype="10" fill="hold" nodeType="withEffect">
                                  <p:stCondLst>
                                    <p:cond delay="0"/>
                                  </p:stCondLst>
                                  <p:childTnLst>
                                    <p:set>
                                      <p:cBhvr>
                                        <p:cTn id="33" dur="1" fill="hold">
                                          <p:stCondLst>
                                            <p:cond delay="0"/>
                                          </p:stCondLst>
                                        </p:cTn>
                                        <p:tgtEl>
                                          <p:spTgt spid="143372"/>
                                        </p:tgtEl>
                                        <p:attrNameLst>
                                          <p:attrName>style.visibility</p:attrName>
                                        </p:attrNameLst>
                                      </p:cBhvr>
                                      <p:to>
                                        <p:strVal val="visible"/>
                                      </p:to>
                                    </p:set>
                                    <p:animEffect transition="in" filter="checkerboard(across)">
                                      <p:cBhvr>
                                        <p:cTn id="34" dur="500"/>
                                        <p:tgtEl>
                                          <p:spTgt spid="143372"/>
                                        </p:tgtEl>
                                      </p:cBhvr>
                                    </p:animEffect>
                                  </p:childTnLst>
                                </p:cTn>
                              </p:par>
                              <p:par>
                                <p:cTn id="35" presetID="5" presetClass="entr" presetSubtype="10" fill="hold" nodeType="withEffect">
                                  <p:stCondLst>
                                    <p:cond delay="0"/>
                                  </p:stCondLst>
                                  <p:childTnLst>
                                    <p:set>
                                      <p:cBhvr>
                                        <p:cTn id="36" dur="1" fill="hold">
                                          <p:stCondLst>
                                            <p:cond delay="0"/>
                                          </p:stCondLst>
                                        </p:cTn>
                                        <p:tgtEl>
                                          <p:spTgt spid="143373"/>
                                        </p:tgtEl>
                                        <p:attrNameLst>
                                          <p:attrName>style.visibility</p:attrName>
                                        </p:attrNameLst>
                                      </p:cBhvr>
                                      <p:to>
                                        <p:strVal val="visible"/>
                                      </p:to>
                                    </p:set>
                                    <p:animEffect transition="in" filter="checkerboard(across)">
                                      <p:cBhvr>
                                        <p:cTn id="37" dur="500"/>
                                        <p:tgtEl>
                                          <p:spTgt spid="143373"/>
                                        </p:tgtEl>
                                      </p:cBhvr>
                                    </p:animEffect>
                                  </p:childTnLst>
                                </p:cTn>
                              </p:par>
                              <p:par>
                                <p:cTn id="38" presetID="5" presetClass="entr" presetSubtype="10" fill="hold" nodeType="withEffect">
                                  <p:stCondLst>
                                    <p:cond delay="0"/>
                                  </p:stCondLst>
                                  <p:childTnLst>
                                    <p:set>
                                      <p:cBhvr>
                                        <p:cTn id="39" dur="1" fill="hold">
                                          <p:stCondLst>
                                            <p:cond delay="0"/>
                                          </p:stCondLst>
                                        </p:cTn>
                                        <p:tgtEl>
                                          <p:spTgt spid="143374"/>
                                        </p:tgtEl>
                                        <p:attrNameLst>
                                          <p:attrName>style.visibility</p:attrName>
                                        </p:attrNameLst>
                                      </p:cBhvr>
                                      <p:to>
                                        <p:strVal val="visible"/>
                                      </p:to>
                                    </p:set>
                                    <p:animEffect transition="in" filter="checkerboard(across)">
                                      <p:cBhvr>
                                        <p:cTn id="40" dur="500"/>
                                        <p:tgtEl>
                                          <p:spTgt spid="143374"/>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43375"/>
                                        </p:tgtEl>
                                        <p:attrNameLst>
                                          <p:attrName>style.visibility</p:attrName>
                                        </p:attrNameLst>
                                      </p:cBhvr>
                                      <p:to>
                                        <p:strVal val="visible"/>
                                      </p:to>
                                    </p:set>
                                    <p:animEffect transition="in" filter="checkerboard(across)">
                                      <p:cBhvr>
                                        <p:cTn id="43" dur="500"/>
                                        <p:tgtEl>
                                          <p:spTgt spid="143375"/>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43376"/>
                                        </p:tgtEl>
                                        <p:attrNameLst>
                                          <p:attrName>style.visibility</p:attrName>
                                        </p:attrNameLst>
                                      </p:cBhvr>
                                      <p:to>
                                        <p:strVal val="visible"/>
                                      </p:to>
                                    </p:set>
                                    <p:animEffect transition="in" filter="checkerboard(across)">
                                      <p:cBhvr>
                                        <p:cTn id="46" dur="500"/>
                                        <p:tgtEl>
                                          <p:spTgt spid="143376"/>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43377"/>
                                        </p:tgtEl>
                                        <p:attrNameLst>
                                          <p:attrName>style.visibility</p:attrName>
                                        </p:attrNameLst>
                                      </p:cBhvr>
                                      <p:to>
                                        <p:strVal val="visible"/>
                                      </p:to>
                                    </p:set>
                                    <p:animEffect transition="in" filter="checkerboard(across)">
                                      <p:cBhvr>
                                        <p:cTn id="49" dur="500"/>
                                        <p:tgtEl>
                                          <p:spTgt spid="143377"/>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143378"/>
                                        </p:tgtEl>
                                        <p:attrNameLst>
                                          <p:attrName>style.visibility</p:attrName>
                                        </p:attrNameLst>
                                      </p:cBhvr>
                                      <p:to>
                                        <p:strVal val="visible"/>
                                      </p:to>
                                    </p:set>
                                    <p:animEffect transition="in" filter="checkerboard(across)">
                                      <p:cBhvr>
                                        <p:cTn id="52" dur="500"/>
                                        <p:tgtEl>
                                          <p:spTgt spid="143378"/>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143379"/>
                                        </p:tgtEl>
                                        <p:attrNameLst>
                                          <p:attrName>style.visibility</p:attrName>
                                        </p:attrNameLst>
                                      </p:cBhvr>
                                      <p:to>
                                        <p:strVal val="visible"/>
                                      </p:to>
                                    </p:set>
                                    <p:animEffect transition="in" filter="checkerboard(across)">
                                      <p:cBhvr>
                                        <p:cTn id="55" dur="500"/>
                                        <p:tgtEl>
                                          <p:spTgt spid="143379"/>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143380"/>
                                        </p:tgtEl>
                                        <p:attrNameLst>
                                          <p:attrName>style.visibility</p:attrName>
                                        </p:attrNameLst>
                                      </p:cBhvr>
                                      <p:to>
                                        <p:strVal val="visible"/>
                                      </p:to>
                                    </p:set>
                                    <p:animEffect transition="in" filter="checkerboard(across)">
                                      <p:cBhvr>
                                        <p:cTn id="58" dur="500"/>
                                        <p:tgtEl>
                                          <p:spTgt spid="143380"/>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143381"/>
                                        </p:tgtEl>
                                        <p:attrNameLst>
                                          <p:attrName>style.visibility</p:attrName>
                                        </p:attrNameLst>
                                      </p:cBhvr>
                                      <p:to>
                                        <p:strVal val="visible"/>
                                      </p:to>
                                    </p:set>
                                    <p:animEffect transition="in" filter="checkerboard(across)">
                                      <p:cBhvr>
                                        <p:cTn id="61" dur="500"/>
                                        <p:tgtEl>
                                          <p:spTgt spid="143381"/>
                                        </p:tgtEl>
                                      </p:cBhvr>
                                    </p:animEffect>
                                  </p:childTnLst>
                                </p:cTn>
                              </p:par>
                              <p:par>
                                <p:cTn id="62" presetID="5" presetClass="entr" presetSubtype="10" fill="hold" grpId="0" nodeType="withEffect">
                                  <p:stCondLst>
                                    <p:cond delay="0"/>
                                  </p:stCondLst>
                                  <p:childTnLst>
                                    <p:set>
                                      <p:cBhvr>
                                        <p:cTn id="63" dur="1" fill="hold">
                                          <p:stCondLst>
                                            <p:cond delay="0"/>
                                          </p:stCondLst>
                                        </p:cTn>
                                        <p:tgtEl>
                                          <p:spTgt spid="143399"/>
                                        </p:tgtEl>
                                        <p:attrNameLst>
                                          <p:attrName>style.visibility</p:attrName>
                                        </p:attrNameLst>
                                      </p:cBhvr>
                                      <p:to>
                                        <p:strVal val="visible"/>
                                      </p:to>
                                    </p:set>
                                    <p:animEffect transition="in" filter="checkerboard(across)">
                                      <p:cBhvr>
                                        <p:cTn id="64" dur="500"/>
                                        <p:tgtEl>
                                          <p:spTgt spid="143399"/>
                                        </p:tgtEl>
                                      </p:cBhvr>
                                    </p:animEffect>
                                  </p:childTnLst>
                                </p:cTn>
                              </p:par>
                              <p:par>
                                <p:cTn id="65" presetID="5" presetClass="entr" presetSubtype="10" fill="hold" grpId="0" nodeType="withEffect">
                                  <p:stCondLst>
                                    <p:cond delay="0"/>
                                  </p:stCondLst>
                                  <p:childTnLst>
                                    <p:set>
                                      <p:cBhvr>
                                        <p:cTn id="66" dur="1" fill="hold">
                                          <p:stCondLst>
                                            <p:cond delay="0"/>
                                          </p:stCondLst>
                                        </p:cTn>
                                        <p:tgtEl>
                                          <p:spTgt spid="143400"/>
                                        </p:tgtEl>
                                        <p:attrNameLst>
                                          <p:attrName>style.visibility</p:attrName>
                                        </p:attrNameLst>
                                      </p:cBhvr>
                                      <p:to>
                                        <p:strVal val="visible"/>
                                      </p:to>
                                    </p:set>
                                    <p:animEffect transition="in" filter="checkerboard(across)">
                                      <p:cBhvr>
                                        <p:cTn id="67" dur="500"/>
                                        <p:tgtEl>
                                          <p:spTgt spid="143400"/>
                                        </p:tgtEl>
                                      </p:cBhvr>
                                    </p:animEffect>
                                  </p:childTnLst>
                                </p:cTn>
                              </p:par>
                              <p:par>
                                <p:cTn id="68" presetID="5" presetClass="entr" presetSubtype="10" fill="hold" nodeType="withEffect">
                                  <p:stCondLst>
                                    <p:cond delay="0"/>
                                  </p:stCondLst>
                                  <p:childTnLst>
                                    <p:set>
                                      <p:cBhvr>
                                        <p:cTn id="69" dur="1" fill="hold">
                                          <p:stCondLst>
                                            <p:cond delay="0"/>
                                          </p:stCondLst>
                                        </p:cTn>
                                        <p:tgtEl>
                                          <p:spTgt spid="143401"/>
                                        </p:tgtEl>
                                        <p:attrNameLst>
                                          <p:attrName>style.visibility</p:attrName>
                                        </p:attrNameLst>
                                      </p:cBhvr>
                                      <p:to>
                                        <p:strVal val="visible"/>
                                      </p:to>
                                    </p:set>
                                    <p:animEffect transition="in" filter="checkerboard(across)">
                                      <p:cBhvr>
                                        <p:cTn id="70" dur="500"/>
                                        <p:tgtEl>
                                          <p:spTgt spid="143401"/>
                                        </p:tgtEl>
                                      </p:cBhvr>
                                    </p:animEffect>
                                  </p:childTnLst>
                                </p:cTn>
                              </p:par>
                              <p:par>
                                <p:cTn id="71" presetID="5" presetClass="entr" presetSubtype="10" fill="hold" nodeType="withEffect">
                                  <p:stCondLst>
                                    <p:cond delay="0"/>
                                  </p:stCondLst>
                                  <p:childTnLst>
                                    <p:set>
                                      <p:cBhvr>
                                        <p:cTn id="72" dur="1" fill="hold">
                                          <p:stCondLst>
                                            <p:cond delay="0"/>
                                          </p:stCondLst>
                                        </p:cTn>
                                        <p:tgtEl>
                                          <p:spTgt spid="143402"/>
                                        </p:tgtEl>
                                        <p:attrNameLst>
                                          <p:attrName>style.visibility</p:attrName>
                                        </p:attrNameLst>
                                      </p:cBhvr>
                                      <p:to>
                                        <p:strVal val="visible"/>
                                      </p:to>
                                    </p:set>
                                    <p:animEffect transition="in" filter="checkerboard(across)">
                                      <p:cBhvr>
                                        <p:cTn id="73" dur="500"/>
                                        <p:tgtEl>
                                          <p:spTgt spid="143402"/>
                                        </p:tgtEl>
                                      </p:cBhvr>
                                    </p:animEffect>
                                  </p:childTnLst>
                                </p:cTn>
                              </p:par>
                              <p:par>
                                <p:cTn id="74" presetID="5" presetClass="entr" presetSubtype="10" fill="hold" nodeType="withEffect">
                                  <p:stCondLst>
                                    <p:cond delay="0"/>
                                  </p:stCondLst>
                                  <p:childTnLst>
                                    <p:set>
                                      <p:cBhvr>
                                        <p:cTn id="75" dur="1" fill="hold">
                                          <p:stCondLst>
                                            <p:cond delay="0"/>
                                          </p:stCondLst>
                                        </p:cTn>
                                        <p:tgtEl>
                                          <p:spTgt spid="143403"/>
                                        </p:tgtEl>
                                        <p:attrNameLst>
                                          <p:attrName>style.visibility</p:attrName>
                                        </p:attrNameLst>
                                      </p:cBhvr>
                                      <p:to>
                                        <p:strVal val="visible"/>
                                      </p:to>
                                    </p:set>
                                    <p:animEffect transition="in" filter="checkerboard(across)">
                                      <p:cBhvr>
                                        <p:cTn id="76" dur="500"/>
                                        <p:tgtEl>
                                          <p:spTgt spid="143403"/>
                                        </p:tgtEl>
                                      </p:cBhvr>
                                    </p:animEffect>
                                  </p:childTnLst>
                                </p:cTn>
                              </p:par>
                              <p:par>
                                <p:cTn id="77" presetID="5" presetClass="entr" presetSubtype="10" fill="hold" nodeType="withEffect">
                                  <p:stCondLst>
                                    <p:cond delay="0"/>
                                  </p:stCondLst>
                                  <p:childTnLst>
                                    <p:set>
                                      <p:cBhvr>
                                        <p:cTn id="78" dur="1" fill="hold">
                                          <p:stCondLst>
                                            <p:cond delay="0"/>
                                          </p:stCondLst>
                                        </p:cTn>
                                        <p:tgtEl>
                                          <p:spTgt spid="143404"/>
                                        </p:tgtEl>
                                        <p:attrNameLst>
                                          <p:attrName>style.visibility</p:attrName>
                                        </p:attrNameLst>
                                      </p:cBhvr>
                                      <p:to>
                                        <p:strVal val="visible"/>
                                      </p:to>
                                    </p:set>
                                    <p:animEffect transition="in" filter="checkerboard(across)">
                                      <p:cBhvr>
                                        <p:cTn id="79" dur="500"/>
                                        <p:tgtEl>
                                          <p:spTgt spid="143404"/>
                                        </p:tgtEl>
                                      </p:cBhvr>
                                    </p:animEffect>
                                  </p:childTnLst>
                                </p:cTn>
                              </p:par>
                              <p:par>
                                <p:cTn id="80" presetID="5" presetClass="entr" presetSubtype="10" fill="hold" nodeType="withEffect">
                                  <p:stCondLst>
                                    <p:cond delay="0"/>
                                  </p:stCondLst>
                                  <p:childTnLst>
                                    <p:set>
                                      <p:cBhvr>
                                        <p:cTn id="81" dur="1" fill="hold">
                                          <p:stCondLst>
                                            <p:cond delay="0"/>
                                          </p:stCondLst>
                                        </p:cTn>
                                        <p:tgtEl>
                                          <p:spTgt spid="143405"/>
                                        </p:tgtEl>
                                        <p:attrNameLst>
                                          <p:attrName>style.visibility</p:attrName>
                                        </p:attrNameLst>
                                      </p:cBhvr>
                                      <p:to>
                                        <p:strVal val="visible"/>
                                      </p:to>
                                    </p:set>
                                    <p:animEffect transition="in" filter="checkerboard(across)">
                                      <p:cBhvr>
                                        <p:cTn id="82" dur="500"/>
                                        <p:tgtEl>
                                          <p:spTgt spid="143405"/>
                                        </p:tgtEl>
                                      </p:cBhvr>
                                    </p:animEffect>
                                  </p:childTnLst>
                                </p:cTn>
                              </p:par>
                              <p:par>
                                <p:cTn id="83" presetID="5" presetClass="entr" presetSubtype="10" fill="hold" nodeType="withEffect">
                                  <p:stCondLst>
                                    <p:cond delay="0"/>
                                  </p:stCondLst>
                                  <p:childTnLst>
                                    <p:set>
                                      <p:cBhvr>
                                        <p:cTn id="84" dur="1" fill="hold">
                                          <p:stCondLst>
                                            <p:cond delay="0"/>
                                          </p:stCondLst>
                                        </p:cTn>
                                        <p:tgtEl>
                                          <p:spTgt spid="143406"/>
                                        </p:tgtEl>
                                        <p:attrNameLst>
                                          <p:attrName>style.visibility</p:attrName>
                                        </p:attrNameLst>
                                      </p:cBhvr>
                                      <p:to>
                                        <p:strVal val="visible"/>
                                      </p:to>
                                    </p:set>
                                    <p:animEffect transition="in" filter="checkerboard(across)">
                                      <p:cBhvr>
                                        <p:cTn id="85" dur="500"/>
                                        <p:tgtEl>
                                          <p:spTgt spid="143406"/>
                                        </p:tgtEl>
                                      </p:cBhvr>
                                    </p:animEffect>
                                  </p:childTnLst>
                                </p:cTn>
                              </p:par>
                              <p:par>
                                <p:cTn id="86" presetID="5" presetClass="entr" presetSubtype="10" fill="hold" nodeType="withEffect">
                                  <p:stCondLst>
                                    <p:cond delay="0"/>
                                  </p:stCondLst>
                                  <p:childTnLst>
                                    <p:set>
                                      <p:cBhvr>
                                        <p:cTn id="87" dur="1" fill="hold">
                                          <p:stCondLst>
                                            <p:cond delay="0"/>
                                          </p:stCondLst>
                                        </p:cTn>
                                        <p:tgtEl>
                                          <p:spTgt spid="143407"/>
                                        </p:tgtEl>
                                        <p:attrNameLst>
                                          <p:attrName>style.visibility</p:attrName>
                                        </p:attrNameLst>
                                      </p:cBhvr>
                                      <p:to>
                                        <p:strVal val="visible"/>
                                      </p:to>
                                    </p:set>
                                    <p:animEffect transition="in" filter="checkerboard(across)">
                                      <p:cBhvr>
                                        <p:cTn id="88" dur="500"/>
                                        <p:tgtEl>
                                          <p:spTgt spid="143407"/>
                                        </p:tgtEl>
                                      </p:cBhvr>
                                    </p:animEffect>
                                  </p:childTnLst>
                                </p:cTn>
                              </p:par>
                              <p:par>
                                <p:cTn id="89" presetID="5" presetClass="entr" presetSubtype="10" fill="hold" nodeType="withEffect">
                                  <p:stCondLst>
                                    <p:cond delay="0"/>
                                  </p:stCondLst>
                                  <p:childTnLst>
                                    <p:set>
                                      <p:cBhvr>
                                        <p:cTn id="90" dur="1" fill="hold">
                                          <p:stCondLst>
                                            <p:cond delay="0"/>
                                          </p:stCondLst>
                                        </p:cTn>
                                        <p:tgtEl>
                                          <p:spTgt spid="143408"/>
                                        </p:tgtEl>
                                        <p:attrNameLst>
                                          <p:attrName>style.visibility</p:attrName>
                                        </p:attrNameLst>
                                      </p:cBhvr>
                                      <p:to>
                                        <p:strVal val="visible"/>
                                      </p:to>
                                    </p:set>
                                    <p:animEffect transition="in" filter="checkerboard(across)">
                                      <p:cBhvr>
                                        <p:cTn id="91" dur="500"/>
                                        <p:tgtEl>
                                          <p:spTgt spid="143408"/>
                                        </p:tgtEl>
                                      </p:cBhvr>
                                    </p:animEffect>
                                  </p:childTnLst>
                                </p:cTn>
                              </p:par>
                              <p:par>
                                <p:cTn id="92" presetID="5" presetClass="entr" presetSubtype="10" fill="hold" nodeType="withEffect">
                                  <p:stCondLst>
                                    <p:cond delay="0"/>
                                  </p:stCondLst>
                                  <p:childTnLst>
                                    <p:set>
                                      <p:cBhvr>
                                        <p:cTn id="93" dur="1" fill="hold">
                                          <p:stCondLst>
                                            <p:cond delay="0"/>
                                          </p:stCondLst>
                                        </p:cTn>
                                        <p:tgtEl>
                                          <p:spTgt spid="143409"/>
                                        </p:tgtEl>
                                        <p:attrNameLst>
                                          <p:attrName>style.visibility</p:attrName>
                                        </p:attrNameLst>
                                      </p:cBhvr>
                                      <p:to>
                                        <p:strVal val="visible"/>
                                      </p:to>
                                    </p:set>
                                    <p:animEffect transition="in" filter="checkerboard(across)">
                                      <p:cBhvr>
                                        <p:cTn id="94" dur="500"/>
                                        <p:tgtEl>
                                          <p:spTgt spid="143409"/>
                                        </p:tgtEl>
                                      </p:cBhvr>
                                    </p:animEffect>
                                  </p:childTnLst>
                                </p:cTn>
                              </p:par>
                              <p:par>
                                <p:cTn id="95" presetID="5" presetClass="entr" presetSubtype="10" fill="hold" grpId="0" nodeType="withEffect">
                                  <p:stCondLst>
                                    <p:cond delay="0"/>
                                  </p:stCondLst>
                                  <p:childTnLst>
                                    <p:set>
                                      <p:cBhvr>
                                        <p:cTn id="96" dur="1" fill="hold">
                                          <p:stCondLst>
                                            <p:cond delay="0"/>
                                          </p:stCondLst>
                                        </p:cTn>
                                        <p:tgtEl>
                                          <p:spTgt spid="143410"/>
                                        </p:tgtEl>
                                        <p:attrNameLst>
                                          <p:attrName>style.visibility</p:attrName>
                                        </p:attrNameLst>
                                      </p:cBhvr>
                                      <p:to>
                                        <p:strVal val="visible"/>
                                      </p:to>
                                    </p:set>
                                    <p:animEffect transition="in" filter="checkerboard(across)">
                                      <p:cBhvr>
                                        <p:cTn id="97" dur="500"/>
                                        <p:tgtEl>
                                          <p:spTgt spid="143410"/>
                                        </p:tgtEl>
                                      </p:cBhvr>
                                    </p:animEffect>
                                  </p:childTnLst>
                                </p:cTn>
                              </p:par>
                              <p:par>
                                <p:cTn id="98" presetID="5" presetClass="entr" presetSubtype="10" fill="hold" grpId="0" nodeType="withEffect">
                                  <p:stCondLst>
                                    <p:cond delay="0"/>
                                  </p:stCondLst>
                                  <p:childTnLst>
                                    <p:set>
                                      <p:cBhvr>
                                        <p:cTn id="99" dur="1" fill="hold">
                                          <p:stCondLst>
                                            <p:cond delay="0"/>
                                          </p:stCondLst>
                                        </p:cTn>
                                        <p:tgtEl>
                                          <p:spTgt spid="143411"/>
                                        </p:tgtEl>
                                        <p:attrNameLst>
                                          <p:attrName>style.visibility</p:attrName>
                                        </p:attrNameLst>
                                      </p:cBhvr>
                                      <p:to>
                                        <p:strVal val="visible"/>
                                      </p:to>
                                    </p:set>
                                    <p:animEffect transition="in" filter="checkerboard(across)">
                                      <p:cBhvr>
                                        <p:cTn id="100" dur="500"/>
                                        <p:tgtEl>
                                          <p:spTgt spid="143411"/>
                                        </p:tgtEl>
                                      </p:cBhvr>
                                    </p:animEffect>
                                  </p:childTnLst>
                                </p:cTn>
                              </p:par>
                              <p:par>
                                <p:cTn id="101" presetID="5" presetClass="entr" presetSubtype="10" fill="hold" grpId="0" nodeType="withEffect">
                                  <p:stCondLst>
                                    <p:cond delay="0"/>
                                  </p:stCondLst>
                                  <p:childTnLst>
                                    <p:set>
                                      <p:cBhvr>
                                        <p:cTn id="102" dur="1" fill="hold">
                                          <p:stCondLst>
                                            <p:cond delay="0"/>
                                          </p:stCondLst>
                                        </p:cTn>
                                        <p:tgtEl>
                                          <p:spTgt spid="143413"/>
                                        </p:tgtEl>
                                        <p:attrNameLst>
                                          <p:attrName>style.visibility</p:attrName>
                                        </p:attrNameLst>
                                      </p:cBhvr>
                                      <p:to>
                                        <p:strVal val="visible"/>
                                      </p:to>
                                    </p:set>
                                    <p:animEffect transition="in" filter="checkerboard(across)">
                                      <p:cBhvr>
                                        <p:cTn id="103" dur="500"/>
                                        <p:tgtEl>
                                          <p:spTgt spid="143413"/>
                                        </p:tgtEl>
                                      </p:cBhvr>
                                    </p:animEffect>
                                  </p:childTnLst>
                                </p:cTn>
                              </p:par>
                              <p:par>
                                <p:cTn id="104" presetID="5" presetClass="entr" presetSubtype="10" fill="hold" grpId="0" nodeType="withEffect">
                                  <p:stCondLst>
                                    <p:cond delay="0"/>
                                  </p:stCondLst>
                                  <p:childTnLst>
                                    <p:set>
                                      <p:cBhvr>
                                        <p:cTn id="105" dur="1" fill="hold">
                                          <p:stCondLst>
                                            <p:cond delay="0"/>
                                          </p:stCondLst>
                                        </p:cTn>
                                        <p:tgtEl>
                                          <p:spTgt spid="143414"/>
                                        </p:tgtEl>
                                        <p:attrNameLst>
                                          <p:attrName>style.visibility</p:attrName>
                                        </p:attrNameLst>
                                      </p:cBhvr>
                                      <p:to>
                                        <p:strVal val="visible"/>
                                      </p:to>
                                    </p:set>
                                    <p:animEffect transition="in" filter="checkerboard(across)">
                                      <p:cBhvr>
                                        <p:cTn id="106" dur="500"/>
                                        <p:tgtEl>
                                          <p:spTgt spid="143414"/>
                                        </p:tgtEl>
                                      </p:cBhvr>
                                    </p:animEffect>
                                  </p:childTnLst>
                                </p:cTn>
                              </p:par>
                              <p:par>
                                <p:cTn id="107" presetID="5" presetClass="entr" presetSubtype="10" fill="hold" grpId="0" nodeType="withEffect">
                                  <p:stCondLst>
                                    <p:cond delay="0"/>
                                  </p:stCondLst>
                                  <p:childTnLst>
                                    <p:set>
                                      <p:cBhvr>
                                        <p:cTn id="108" dur="1" fill="hold">
                                          <p:stCondLst>
                                            <p:cond delay="0"/>
                                          </p:stCondLst>
                                        </p:cTn>
                                        <p:tgtEl>
                                          <p:spTgt spid="143415"/>
                                        </p:tgtEl>
                                        <p:attrNameLst>
                                          <p:attrName>style.visibility</p:attrName>
                                        </p:attrNameLst>
                                      </p:cBhvr>
                                      <p:to>
                                        <p:strVal val="visible"/>
                                      </p:to>
                                    </p:set>
                                    <p:animEffect transition="in" filter="checkerboard(across)">
                                      <p:cBhvr>
                                        <p:cTn id="109" dur="500"/>
                                        <p:tgtEl>
                                          <p:spTgt spid="143415"/>
                                        </p:tgtEl>
                                      </p:cBhvr>
                                    </p:animEffect>
                                  </p:childTnLst>
                                </p:cTn>
                              </p:par>
                              <p:par>
                                <p:cTn id="110" presetID="5" presetClass="entr" presetSubtype="10" fill="hold" grpId="0" nodeType="withEffect">
                                  <p:stCondLst>
                                    <p:cond delay="0"/>
                                  </p:stCondLst>
                                  <p:childTnLst>
                                    <p:set>
                                      <p:cBhvr>
                                        <p:cTn id="111" dur="1" fill="hold">
                                          <p:stCondLst>
                                            <p:cond delay="0"/>
                                          </p:stCondLst>
                                        </p:cTn>
                                        <p:tgtEl>
                                          <p:spTgt spid="143417"/>
                                        </p:tgtEl>
                                        <p:attrNameLst>
                                          <p:attrName>style.visibility</p:attrName>
                                        </p:attrNameLst>
                                      </p:cBhvr>
                                      <p:to>
                                        <p:strVal val="visible"/>
                                      </p:to>
                                    </p:set>
                                    <p:animEffect transition="in" filter="checkerboard(across)">
                                      <p:cBhvr>
                                        <p:cTn id="112" dur="500"/>
                                        <p:tgtEl>
                                          <p:spTgt spid="143417"/>
                                        </p:tgtEl>
                                      </p:cBhvr>
                                    </p:animEffect>
                                  </p:childTnLst>
                                </p:cTn>
                              </p:par>
                              <p:par>
                                <p:cTn id="113" presetID="5" presetClass="entr" presetSubtype="10" fill="hold" nodeType="withEffect">
                                  <p:stCondLst>
                                    <p:cond delay="0"/>
                                  </p:stCondLst>
                                  <p:childTnLst>
                                    <p:set>
                                      <p:cBhvr>
                                        <p:cTn id="114" dur="1" fill="hold">
                                          <p:stCondLst>
                                            <p:cond delay="0"/>
                                          </p:stCondLst>
                                        </p:cTn>
                                        <p:tgtEl>
                                          <p:spTgt spid="143418"/>
                                        </p:tgtEl>
                                        <p:attrNameLst>
                                          <p:attrName>style.visibility</p:attrName>
                                        </p:attrNameLst>
                                      </p:cBhvr>
                                      <p:to>
                                        <p:strVal val="visible"/>
                                      </p:to>
                                    </p:set>
                                    <p:animEffect transition="in" filter="checkerboard(across)">
                                      <p:cBhvr>
                                        <p:cTn id="115" dur="500"/>
                                        <p:tgtEl>
                                          <p:spTgt spid="143418"/>
                                        </p:tgtEl>
                                      </p:cBhvr>
                                    </p:animEffect>
                                  </p:childTnLst>
                                </p:cTn>
                              </p:par>
                              <p:par>
                                <p:cTn id="116" presetID="5" presetClass="entr" presetSubtype="10" fill="hold" nodeType="withEffect">
                                  <p:stCondLst>
                                    <p:cond delay="0"/>
                                  </p:stCondLst>
                                  <p:childTnLst>
                                    <p:set>
                                      <p:cBhvr>
                                        <p:cTn id="117" dur="1" fill="hold">
                                          <p:stCondLst>
                                            <p:cond delay="0"/>
                                          </p:stCondLst>
                                        </p:cTn>
                                        <p:tgtEl>
                                          <p:spTgt spid="143419"/>
                                        </p:tgtEl>
                                        <p:attrNameLst>
                                          <p:attrName>style.visibility</p:attrName>
                                        </p:attrNameLst>
                                      </p:cBhvr>
                                      <p:to>
                                        <p:strVal val="visible"/>
                                      </p:to>
                                    </p:set>
                                    <p:animEffect transition="in" filter="checkerboard(across)">
                                      <p:cBhvr>
                                        <p:cTn id="118" dur="500"/>
                                        <p:tgtEl>
                                          <p:spTgt spid="143419"/>
                                        </p:tgtEl>
                                      </p:cBhvr>
                                    </p:animEffect>
                                  </p:childTnLst>
                                </p:cTn>
                              </p:par>
                            </p:childTnLst>
                          </p:cTn>
                        </p:par>
                      </p:childTnLst>
                    </p:cTn>
                  </p:par>
                  <p:par>
                    <p:cTn id="119" fill="hold">
                      <p:stCondLst>
                        <p:cond delay="indefinite"/>
                      </p:stCondLst>
                      <p:childTnLst>
                        <p:par>
                          <p:cTn id="120" fill="hold">
                            <p:stCondLst>
                              <p:cond delay="0"/>
                            </p:stCondLst>
                            <p:childTnLst>
                              <p:par>
                                <p:cTn id="121" presetID="3" presetClass="exit" presetSubtype="10" fill="hold" grpId="1" nodeType="clickEffect">
                                  <p:stCondLst>
                                    <p:cond delay="0"/>
                                  </p:stCondLst>
                                  <p:childTnLst>
                                    <p:animEffect transition="out" filter="blinds(horizontal)">
                                      <p:cBhvr>
                                        <p:cTn id="122" dur="500"/>
                                        <p:tgtEl>
                                          <p:spTgt spid="143426"/>
                                        </p:tgtEl>
                                      </p:cBhvr>
                                    </p:animEffect>
                                    <p:set>
                                      <p:cBhvr>
                                        <p:cTn id="123" dur="1" fill="hold">
                                          <p:stCondLst>
                                            <p:cond delay="499"/>
                                          </p:stCondLst>
                                        </p:cTn>
                                        <p:tgtEl>
                                          <p:spTgt spid="143426"/>
                                        </p:tgtEl>
                                        <p:attrNameLst>
                                          <p:attrName>style.visibility</p:attrName>
                                        </p:attrNameLst>
                                      </p:cBhvr>
                                      <p:to>
                                        <p:strVal val="hidden"/>
                                      </p:to>
                                    </p:set>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143427"/>
                                        </p:tgtEl>
                                        <p:attrNameLst>
                                          <p:attrName>style.visibility</p:attrName>
                                        </p:attrNameLst>
                                      </p:cBhvr>
                                      <p:to>
                                        <p:strVal val="visible"/>
                                      </p:to>
                                    </p:set>
                                    <p:anim calcmode="lin" valueType="num">
                                      <p:cBhvr additive="base">
                                        <p:cTn id="128" dur="500" fill="hold"/>
                                        <p:tgtEl>
                                          <p:spTgt spid="143427"/>
                                        </p:tgtEl>
                                        <p:attrNameLst>
                                          <p:attrName>ppt_x</p:attrName>
                                        </p:attrNameLst>
                                      </p:cBhvr>
                                      <p:tavLst>
                                        <p:tav tm="0">
                                          <p:val>
                                            <p:strVal val="#ppt_x"/>
                                          </p:val>
                                        </p:tav>
                                        <p:tav tm="100000">
                                          <p:val>
                                            <p:strVal val="#ppt_x"/>
                                          </p:val>
                                        </p:tav>
                                      </p:tavLst>
                                    </p:anim>
                                    <p:anim calcmode="lin" valueType="num">
                                      <p:cBhvr additive="base">
                                        <p:cTn id="129" dur="500" fill="hold"/>
                                        <p:tgtEl>
                                          <p:spTgt spid="1434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5" grpId="0" animBg="1"/>
      <p:bldP spid="143375" grpId="0"/>
      <p:bldP spid="143376" grpId="0"/>
      <p:bldP spid="143377" grpId="0"/>
      <p:bldP spid="143378" grpId="0"/>
      <p:bldP spid="143379" grpId="0"/>
      <p:bldP spid="143380" grpId="0"/>
      <p:bldP spid="143381" grpId="0"/>
      <p:bldP spid="143399" grpId="0"/>
      <p:bldP spid="143400" grpId="0" animBg="1"/>
      <p:bldP spid="143410" grpId="0"/>
      <p:bldP spid="143411" grpId="0"/>
      <p:bldP spid="143413" grpId="0"/>
      <p:bldP spid="143414" grpId="0"/>
      <p:bldP spid="143415" grpId="0"/>
      <p:bldP spid="143417" grpId="0"/>
      <p:bldP spid="143426" grpId="0" animBg="1"/>
      <p:bldP spid="143426" grpId="1" animBg="1"/>
      <p:bldP spid="14342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1433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5BFB4556-939F-46A7-84F4-13921E4B387B}"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8" name="日期占位符 5"/>
          <p:cNvSpPr>
            <a:spLocks noGrp="1"/>
          </p:cNvSpPr>
          <p:nvPr>
            <p:ph type="dt" sz="quarter" idx="12"/>
          </p:nvPr>
        </p:nvSpPr>
        <p:spPr/>
        <p:txBody>
          <a:bodyPr/>
          <a:lstStyle/>
          <a:p>
            <a:pPr>
              <a:defRPr/>
            </a:pPr>
            <a:r>
              <a:rPr lang="en-US" altLang="zh-CN"/>
              <a:t>BUPT</a:t>
            </a:r>
            <a:endParaRPr lang="en-US" altLang="zh-CN"/>
          </a:p>
        </p:txBody>
      </p:sp>
      <p:sp>
        <p:nvSpPr>
          <p:cNvPr id="14341" name="Rectangle 2"/>
          <p:cNvSpPr>
            <a:spLocks noGrp="1" noChangeArrowheads="1"/>
          </p:cNvSpPr>
          <p:nvPr>
            <p:ph type="title"/>
          </p:nvPr>
        </p:nvSpPr>
        <p:spPr/>
        <p:txBody>
          <a:bodyPr/>
          <a:lstStyle/>
          <a:p>
            <a:pPr algn="l" eaLnBrk="1" hangingPunct="1"/>
            <a:endParaRPr lang="zh-CN" altLang="zh-CN" dirty="0" smtClean="0">
              <a:ea typeface="华文楷体" panose="02010600040101010101" pitchFamily="2" charset="-122"/>
            </a:endParaRPr>
          </a:p>
        </p:txBody>
      </p:sp>
      <p:sp>
        <p:nvSpPr>
          <p:cNvPr id="14342" name="Rectangle 3"/>
          <p:cNvSpPr>
            <a:spLocks noGrp="1" noChangeArrowheads="1"/>
          </p:cNvSpPr>
          <p:nvPr>
            <p:ph type="body" idx="1"/>
          </p:nvPr>
        </p:nvSpPr>
        <p:spPr/>
        <p:txBody>
          <a:bodyPr/>
          <a:lstStyle/>
          <a:p>
            <a:pPr eaLnBrk="1" hangingPunct="1">
              <a:buFont typeface="Wingdings" panose="05000000000000000000" pitchFamily="2" charset="2"/>
              <a:buNone/>
            </a:pPr>
            <a:endParaRPr lang="zh-CN" altLang="zh-CN" dirty="0" smtClean="0">
              <a:ea typeface="华文楷体" panose="02010600040101010101" pitchFamily="2" charset="-122"/>
            </a:endParaRPr>
          </a:p>
        </p:txBody>
      </p:sp>
      <p:sp>
        <p:nvSpPr>
          <p:cNvPr id="14343" name="Rectangle 4"/>
          <p:cNvSpPr>
            <a:spLocks noChangeArrowheads="1"/>
          </p:cNvSpPr>
          <p:nvPr/>
        </p:nvSpPr>
        <p:spPr bwMode="auto">
          <a:xfrm>
            <a:off x="495300" y="1196975"/>
            <a:ext cx="8324850" cy="5208588"/>
          </a:xfrm>
          <a:prstGeom prst="rect">
            <a:avLst/>
          </a:prstGeom>
          <a:solidFill>
            <a:schemeClr val="bg1"/>
          </a:solidFill>
          <a:ln w="12700">
            <a:solidFill>
              <a:srgbClr val="99FF66"/>
            </a:solidFill>
            <a:prstDash val="dash"/>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4344" name="Text Box 5"/>
          <p:cNvSpPr txBox="1">
            <a:spLocks noChangeArrowheads="1"/>
          </p:cNvSpPr>
          <p:nvPr/>
        </p:nvSpPr>
        <p:spPr bwMode="auto">
          <a:xfrm>
            <a:off x="468313" y="1196975"/>
            <a:ext cx="8340725" cy="476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void* </a:t>
            </a:r>
            <a:r>
              <a:rPr lang="en-US" altLang="zh-CN" sz="1800" b="1" dirty="0" err="1">
                <a:solidFill>
                  <a:srgbClr val="FF3300"/>
                </a:solidFill>
                <a:latin typeface="华文楷体" panose="02010600040101010101" pitchFamily="2" charset="-122"/>
                <a:ea typeface="华文楷体" panose="02010600040101010101" pitchFamily="2" charset="-122"/>
              </a:rPr>
              <a:t>memmove</a:t>
            </a:r>
            <a:r>
              <a:rPr lang="en-US" altLang="zh-CN" sz="1800" b="1" dirty="0">
                <a:latin typeface="华文楷体" panose="02010600040101010101" pitchFamily="2" charset="-122"/>
                <a:ea typeface="华文楷体" panose="02010600040101010101" pitchFamily="2" charset="-122"/>
              </a:rPr>
              <a:t>(void* </a:t>
            </a:r>
            <a:r>
              <a:rPr lang="en-US" altLang="zh-CN" sz="1800" b="1" dirty="0" err="1">
                <a:latin typeface="华文楷体" panose="02010600040101010101" pitchFamily="2" charset="-122"/>
                <a:ea typeface="华文楷体" panose="02010600040101010101" pitchFamily="2" charset="-122"/>
              </a:rPr>
              <a:t>dest</a:t>
            </a:r>
            <a:r>
              <a:rPr lang="en-US" altLang="zh-CN" sz="1800" b="1" dirty="0">
                <a:latin typeface="华文楷体" panose="02010600040101010101" pitchFamily="2" charset="-122"/>
                <a:ea typeface="华文楷体" panose="02010600040101010101" pitchFamily="2" charset="-122"/>
              </a:rPr>
              <a:t>, void* source, </a:t>
            </a:r>
            <a:r>
              <a:rPr lang="en-US" altLang="zh-CN" sz="1800" b="1" dirty="0" err="1">
                <a:latin typeface="华文楷体" panose="02010600040101010101" pitchFamily="2" charset="-122"/>
                <a:ea typeface="华文楷体" panose="02010600040101010101" pitchFamily="2" charset="-122"/>
              </a:rPr>
              <a:t>size_t</a:t>
            </a:r>
            <a:r>
              <a:rPr lang="en-US" altLang="zh-CN" sz="1800" b="1" dirty="0">
                <a:latin typeface="华文楷体" panose="02010600040101010101" pitchFamily="2" charset="-122"/>
                <a:ea typeface="华文楷体" panose="02010600040101010101" pitchFamily="2" charset="-122"/>
              </a:rPr>
              <a:t> count)</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void* ret = </a:t>
            </a:r>
            <a:r>
              <a:rPr lang="en-US" altLang="zh-CN" sz="1800" b="1" dirty="0" err="1">
                <a:latin typeface="华文楷体" panose="02010600040101010101" pitchFamily="2" charset="-122"/>
                <a:ea typeface="华文楷体" panose="02010600040101010101" pitchFamily="2" charset="-122"/>
              </a:rPr>
              <a:t>dest</a:t>
            </a:r>
            <a:r>
              <a:rPr lang="en-US" altLang="zh-CN" sz="1800" b="1" dirty="0">
                <a:latin typeface="华文楷体" panose="02010600040101010101" pitchFamily="2" charset="-122"/>
                <a:ea typeface="华文楷体" panose="02010600040101010101" pitchFamily="2" charset="-122"/>
              </a:rPr>
              <a:t>;</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if (</a:t>
            </a:r>
            <a:r>
              <a:rPr lang="en-US" altLang="zh-CN" sz="1800" b="1" dirty="0" err="1">
                <a:latin typeface="华文楷体" panose="02010600040101010101" pitchFamily="2" charset="-122"/>
                <a:ea typeface="华文楷体" panose="02010600040101010101" pitchFamily="2" charset="-122"/>
              </a:rPr>
              <a:t>dest</a:t>
            </a:r>
            <a:r>
              <a:rPr lang="en-US" altLang="zh-CN" sz="1800" b="1" dirty="0">
                <a:latin typeface="华文楷体" panose="02010600040101010101" pitchFamily="2" charset="-122"/>
                <a:ea typeface="华文楷体" panose="02010600040101010101" pitchFamily="2" charset="-122"/>
              </a:rPr>
              <a:t> &lt;= source || </a:t>
            </a:r>
            <a:r>
              <a:rPr lang="en-US" altLang="zh-CN" sz="1800" b="1" dirty="0" err="1">
                <a:latin typeface="华文楷体" panose="02010600040101010101" pitchFamily="2" charset="-122"/>
                <a:ea typeface="华文楷体" panose="02010600040101010101" pitchFamily="2" charset="-122"/>
              </a:rPr>
              <a:t>dest</a:t>
            </a:r>
            <a:r>
              <a:rPr lang="en-US" altLang="zh-CN" sz="1800" b="1" dirty="0">
                <a:latin typeface="华文楷体" panose="02010600040101010101" pitchFamily="2" charset="-122"/>
                <a:ea typeface="华文楷体" panose="02010600040101010101" pitchFamily="2" charset="-122"/>
              </a:rPr>
              <a:t> &gt;= (source + count))</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while (count - -)</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a:t>
            </a:r>
            <a:r>
              <a:rPr lang="en-US" altLang="zh-CN" sz="1800" b="1" dirty="0" err="1">
                <a:latin typeface="华文楷体" panose="02010600040101010101" pitchFamily="2" charset="-122"/>
                <a:ea typeface="华文楷体" panose="02010600040101010101" pitchFamily="2" charset="-122"/>
              </a:rPr>
              <a:t>dest</a:t>
            </a:r>
            <a:r>
              <a:rPr lang="en-US" altLang="zh-CN" sz="1800" b="1" dirty="0">
                <a:latin typeface="华文楷体" panose="02010600040101010101" pitchFamily="2" charset="-122"/>
                <a:ea typeface="华文楷体" panose="02010600040101010101" pitchFamily="2" charset="-122"/>
              </a:rPr>
              <a:t>++ = *source++;</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else</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a:t>
            </a:r>
            <a:r>
              <a:rPr lang="en-US" altLang="zh-CN" sz="1800" b="1" dirty="0" err="1">
                <a:latin typeface="华文楷体" panose="02010600040101010101" pitchFamily="2" charset="-122"/>
                <a:ea typeface="华文楷体" panose="02010600040101010101" pitchFamily="2" charset="-122"/>
              </a:rPr>
              <a:t>dest</a:t>
            </a:r>
            <a:r>
              <a:rPr lang="en-US" altLang="zh-CN" sz="1800" b="1" dirty="0">
                <a:latin typeface="华文楷体" panose="02010600040101010101" pitchFamily="2" charset="-122"/>
                <a:ea typeface="华文楷体" panose="02010600040101010101" pitchFamily="2" charset="-122"/>
              </a:rPr>
              <a:t> += count - 1;</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source += count - 1;</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while (count- -)</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a:t>
            </a:r>
            <a:r>
              <a:rPr lang="en-US" altLang="zh-CN" sz="1800" b="1" dirty="0" err="1">
                <a:latin typeface="华文楷体" panose="02010600040101010101" pitchFamily="2" charset="-122"/>
                <a:ea typeface="华文楷体" panose="02010600040101010101" pitchFamily="2" charset="-122"/>
              </a:rPr>
              <a:t>dest</a:t>
            </a:r>
            <a:r>
              <a:rPr lang="en-US" altLang="zh-CN" sz="1800" b="1" dirty="0">
                <a:latin typeface="华文楷体" panose="02010600040101010101" pitchFamily="2" charset="-122"/>
                <a:ea typeface="华文楷体" panose="02010600040101010101" pitchFamily="2" charset="-122"/>
              </a:rPr>
              <a:t>-- = *source--;</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return ret;</a:t>
            </a:r>
            <a:endParaRPr lang="en-US" altLang="zh-CN" sz="1800" b="1"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1800" b="1" dirty="0">
                <a:latin typeface="华文楷体" panose="02010600040101010101" pitchFamily="2" charset="-122"/>
                <a:ea typeface="华文楷体" panose="02010600040101010101" pitchFamily="2" charset="-122"/>
              </a:rPr>
              <a:t>   }</a:t>
            </a:r>
            <a:endParaRPr lang="en-US" altLang="zh-CN" sz="1800" b="1"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endParaRPr lang="zh-CN" altLang="en-US" dirty="0" smtClean="0">
              <a:ea typeface="华文楷体" panose="02010600040101010101" pitchFamily="2" charset="-122"/>
            </a:endParaRPr>
          </a:p>
        </p:txBody>
      </p:sp>
      <p:sp>
        <p:nvSpPr>
          <p:cNvPr id="3" name="内容占位符 2"/>
          <p:cNvSpPr>
            <a:spLocks noGrp="1"/>
          </p:cNvSpPr>
          <p:nvPr>
            <p:ph idx="1"/>
          </p:nvPr>
        </p:nvSpPr>
        <p:spPr/>
        <p:txBody>
          <a:bodyPr/>
          <a:lstStyle/>
          <a:p>
            <a:pPr marL="0" indent="0">
              <a:buFont typeface="Wingdings" panose="05000000000000000000" pitchFamily="2" charset="2"/>
              <a:buNone/>
            </a:pPr>
            <a:r>
              <a:rPr lang="en-US" altLang="zh-CN" sz="2400" dirty="0" smtClean="0">
                <a:ea typeface="华文楷体" panose="02010600040101010101" pitchFamily="2" charset="-122"/>
              </a:rPr>
              <a:t>void </a:t>
            </a:r>
            <a:r>
              <a:rPr lang="en-US" altLang="zh-CN" sz="2400" dirty="0" err="1" smtClean="0">
                <a:ea typeface="华文楷体" panose="02010600040101010101" pitchFamily="2" charset="-122"/>
              </a:rPr>
              <a:t>strcpy</a:t>
            </a:r>
            <a:r>
              <a:rPr lang="en-US" altLang="zh-CN" sz="2400" dirty="0" smtClean="0">
                <a:ea typeface="华文楷体" panose="02010600040101010101" pitchFamily="2" charset="-122"/>
              </a:rPr>
              <a:t>(char *</a:t>
            </a:r>
            <a:r>
              <a:rPr lang="en-US" altLang="zh-CN" sz="2400" dirty="0" err="1" smtClean="0">
                <a:ea typeface="华文楷体" panose="02010600040101010101" pitchFamily="2" charset="-122"/>
              </a:rPr>
              <a:t>dest</a:t>
            </a:r>
            <a:r>
              <a:rPr lang="en-US" altLang="zh-CN" sz="2400" dirty="0" smtClean="0">
                <a:ea typeface="华文楷体" panose="02010600040101010101" pitchFamily="2" charset="-122"/>
              </a:rPr>
              <a:t>, char </a:t>
            </a:r>
            <a:r>
              <a:rPr lang="en-US" altLang="zh-CN" sz="2400" dirty="0" err="1" smtClean="0">
                <a:ea typeface="华文楷体" panose="02010600040101010101" pitchFamily="2" charset="-122"/>
              </a:rPr>
              <a:t>const</a:t>
            </a:r>
            <a:r>
              <a:rPr lang="en-US" altLang="zh-CN" sz="2400" dirty="0" smtClean="0">
                <a:ea typeface="华文楷体" panose="02010600040101010101" pitchFamily="2" charset="-122"/>
              </a:rPr>
              <a:t> *source) </a:t>
            </a:r>
            <a:endParaRPr lang="en-US" altLang="zh-CN" sz="2400" dirty="0" smtClean="0">
              <a:ea typeface="华文楷体" panose="02010600040101010101" pitchFamily="2" charset="-122"/>
            </a:endParaRPr>
          </a:p>
          <a:p>
            <a:pPr marL="0" indent="0">
              <a:buFont typeface="Wingdings" panose="05000000000000000000" pitchFamily="2" charset="2"/>
              <a:buNone/>
            </a:pP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marL="0" indent="0">
              <a:buFont typeface="Wingdings" panose="05000000000000000000" pitchFamily="2" charset="2"/>
              <a:buNone/>
            </a:pPr>
            <a:r>
              <a:rPr lang="en-US" altLang="zh-CN" sz="2400" dirty="0" smtClean="0">
                <a:ea typeface="华文楷体" panose="02010600040101010101" pitchFamily="2" charset="-122"/>
              </a:rPr>
              <a:t>	while((*</a:t>
            </a:r>
            <a:r>
              <a:rPr lang="en-US" altLang="zh-CN" sz="2400" dirty="0" err="1" smtClean="0">
                <a:ea typeface="华文楷体" panose="02010600040101010101" pitchFamily="2" charset="-122"/>
              </a:rPr>
              <a:t>dest</a:t>
            </a:r>
            <a:r>
              <a:rPr lang="en-US" altLang="zh-CN" sz="2400" dirty="0" smtClean="0">
                <a:ea typeface="华文楷体" panose="02010600040101010101" pitchFamily="2" charset="-122"/>
              </a:rPr>
              <a:t>++ = *source++) != ‘\0’) ;</a:t>
            </a:r>
            <a:endParaRPr lang="en-US" altLang="zh-CN" sz="2400" dirty="0" smtClean="0">
              <a:ea typeface="华文楷体" panose="02010600040101010101" pitchFamily="2" charset="-122"/>
            </a:endParaRPr>
          </a:p>
          <a:p>
            <a:pPr marL="0" indent="0">
              <a:buFont typeface="Wingdings" panose="05000000000000000000" pitchFamily="2" charset="2"/>
              <a:buNone/>
            </a:pP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marL="0" indent="0">
              <a:buFont typeface="Wingdings" panose="05000000000000000000" pitchFamily="2" charset="2"/>
              <a:buNone/>
            </a:pPr>
            <a:endParaRPr lang="en-US" altLang="zh-CN" sz="2400" dirty="0" smtClean="0">
              <a:ea typeface="华文楷体" panose="02010600040101010101" pitchFamily="2" charset="-122"/>
            </a:endParaRPr>
          </a:p>
          <a:p>
            <a:pPr marL="0" indent="0">
              <a:buFont typeface="Wingdings" panose="05000000000000000000" pitchFamily="2" charset="2"/>
              <a:buNone/>
            </a:pPr>
            <a:r>
              <a:rPr lang="zh-CN" altLang="en-US" sz="2400" dirty="0" smtClean="0">
                <a:ea typeface="华文楷体" panose="02010600040101010101" pitchFamily="2" charset="-122"/>
              </a:rPr>
              <a:t>对比</a:t>
            </a:r>
            <a:r>
              <a:rPr lang="en-US" altLang="zh-CN" sz="2400" dirty="0" err="1" smtClean="0">
                <a:ea typeface="华文楷体" panose="02010600040101010101" pitchFamily="2" charset="-122"/>
              </a:rPr>
              <a:t>memmove</a:t>
            </a:r>
            <a:r>
              <a:rPr lang="zh-CN" altLang="en-US" sz="2400" dirty="0" smtClean="0">
                <a:ea typeface="华文楷体" panose="02010600040101010101" pitchFamily="2" charset="-122"/>
              </a:rPr>
              <a:t>函数，</a:t>
            </a:r>
            <a:r>
              <a:rPr lang="en-US" altLang="zh-CN" sz="2400" dirty="0" smtClean="0">
                <a:ea typeface="华文楷体" panose="02010600040101010101" pitchFamily="2" charset="-122"/>
              </a:rPr>
              <a:t>source</a:t>
            </a:r>
            <a:r>
              <a:rPr lang="zh-CN" altLang="en-US" sz="2400" dirty="0" smtClean="0">
                <a:ea typeface="华文楷体" panose="02010600040101010101" pitchFamily="2" charset="-122"/>
              </a:rPr>
              <a:t>指针为</a:t>
            </a:r>
            <a:r>
              <a:rPr lang="en-US" altLang="zh-CN" sz="2400" dirty="0" err="1" smtClean="0">
                <a:ea typeface="华文楷体" panose="02010600040101010101" pitchFamily="2" charset="-122"/>
              </a:rPr>
              <a:t>const</a:t>
            </a:r>
            <a:r>
              <a:rPr lang="zh-CN" altLang="en-US" sz="2400" dirty="0" smtClean="0">
                <a:ea typeface="华文楷体" panose="02010600040101010101" pitchFamily="2" charset="-122"/>
              </a:rPr>
              <a:t>，有什么用？</a:t>
            </a:r>
            <a:endParaRPr lang="en-US" altLang="zh-CN" sz="2400" dirty="0" smtClean="0">
              <a:ea typeface="华文楷体" panose="02010600040101010101" pitchFamily="2" charset="-122"/>
            </a:endParaRPr>
          </a:p>
          <a:p>
            <a:pPr marL="0" indent="0">
              <a:buFont typeface="Wingdings" panose="05000000000000000000" pitchFamily="2" charset="2"/>
              <a:buNone/>
            </a:pPr>
            <a:r>
              <a:rPr lang="en-US" altLang="zh-CN" sz="2400" dirty="0" smtClean="0">
                <a:ea typeface="华文楷体" panose="02010600040101010101" pitchFamily="2" charset="-122"/>
              </a:rPr>
              <a:t>*source++</a:t>
            </a:r>
            <a:r>
              <a:rPr lang="zh-CN" altLang="en-US" sz="2400" dirty="0" smtClean="0">
                <a:ea typeface="华文楷体" panose="02010600040101010101" pitchFamily="2" charset="-122"/>
              </a:rPr>
              <a:t>表达式，他取得</a:t>
            </a:r>
            <a:r>
              <a:rPr lang="en-US" altLang="zh-CN" sz="2400" dirty="0" smtClean="0">
                <a:ea typeface="华文楷体" panose="02010600040101010101" pitchFamily="2" charset="-122"/>
              </a:rPr>
              <a:t>source</a:t>
            </a:r>
            <a:r>
              <a:rPr lang="zh-CN" altLang="en-US" sz="2400" dirty="0" smtClean="0">
                <a:ea typeface="华文楷体" panose="02010600040101010101" pitchFamily="2" charset="-122"/>
              </a:rPr>
              <a:t>所指向的那个字符，且同时修改</a:t>
            </a:r>
            <a:r>
              <a:rPr lang="en-US" altLang="zh-CN" sz="2400" dirty="0" smtClean="0">
                <a:ea typeface="华文楷体" panose="02010600040101010101" pitchFamily="2" charset="-122"/>
              </a:rPr>
              <a:t>source</a:t>
            </a:r>
            <a:r>
              <a:rPr lang="zh-CN" altLang="en-US" sz="2400" dirty="0" smtClean="0">
                <a:ea typeface="华文楷体" panose="02010600040101010101" pitchFamily="2" charset="-122"/>
              </a:rPr>
              <a:t>使得它指向下一个字符，但对于形参的修改并不会影响调用程序的实参。</a:t>
            </a:r>
            <a:endParaRPr lang="zh-CN" altLang="en-US" sz="2400" dirty="0" smtClean="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1536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FA1290AB-8D13-485B-9417-CDBAA59F00AB}"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1638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4A31F11B-00B9-4971-8ABC-256F960D3B7C}"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16389" name="Rectangle 2"/>
          <p:cNvSpPr>
            <a:spLocks noGrp="1" noChangeArrowheads="1"/>
          </p:cNvSpPr>
          <p:nvPr>
            <p:ph type="title"/>
          </p:nvPr>
        </p:nvSpPr>
        <p:spPr/>
        <p:txBody>
          <a:bodyPr/>
          <a:lstStyle/>
          <a:p>
            <a:pPr algn="l" eaLnBrk="1" hangingPunct="1"/>
            <a:r>
              <a:rPr lang="zh-CN" altLang="en-US" dirty="0" smtClean="0">
                <a:ea typeface="华文楷体" panose="02010600040101010101" pitchFamily="2" charset="-122"/>
              </a:rPr>
              <a:t>顺序表的存储管理</a:t>
            </a:r>
            <a:endParaRPr lang="zh-CN" altLang="en-US" dirty="0" smtClean="0">
              <a:ea typeface="华文楷体" panose="02010600040101010101" pitchFamily="2" charset="-122"/>
            </a:endParaRPr>
          </a:p>
        </p:txBody>
      </p:sp>
      <p:sp>
        <p:nvSpPr>
          <p:cNvPr id="16390"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template&lt;</a:t>
            </a:r>
            <a:r>
              <a:rPr lang="en-US" altLang="zh-CN" sz="1800" dirty="0" err="1" smtClean="0">
                <a:ea typeface="华文楷体" panose="02010600040101010101" pitchFamily="2" charset="-122"/>
              </a:rPr>
              <a:t>typename</a:t>
            </a:r>
            <a:r>
              <a:rPr lang="en-US" altLang="zh-CN" sz="1800" dirty="0" smtClean="0">
                <a:ea typeface="华文楷体" panose="02010600040101010101" pitchFamily="2" charset="-122"/>
              </a:rPr>
              <a:t> T&gt;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Vector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void reserve(</a:t>
            </a:r>
            <a:r>
              <a:rPr lang="en-US" altLang="zh-CN" sz="1800" dirty="0" err="1" smtClean="0">
                <a:ea typeface="华文楷体" panose="02010600040101010101" pitchFamily="2" charset="-122"/>
              </a:rPr>
              <a:t>int</a:t>
            </a:r>
            <a:r>
              <a:rPr lang="en-US" altLang="zh-CN" sz="1800" dirty="0" smtClean="0">
                <a:ea typeface="华文楷体" panose="02010600040101010101" pitchFamily="2" charset="-122"/>
              </a:rPr>
              <a:t> n)</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if (n&gt;capacity)</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elem</a:t>
            </a:r>
            <a:r>
              <a:rPr lang="en-US" altLang="zh-CN" sz="1800" dirty="0" smtClean="0">
                <a:ea typeface="华文楷体" panose="02010600040101010101" pitchFamily="2" charset="-122"/>
              </a:rPr>
              <a:t>=(T*)</a:t>
            </a:r>
            <a:r>
              <a:rPr lang="en-US" altLang="zh-CN" sz="1800" dirty="0" err="1" smtClean="0">
                <a:ea typeface="华文楷体" panose="02010600040101010101" pitchFamily="2" charset="-122"/>
              </a:rPr>
              <a:t>realloc</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elem,n</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sizeof</a:t>
            </a:r>
            <a:r>
              <a:rPr lang="en-US" altLang="zh-CN" sz="1800" dirty="0" smtClean="0">
                <a:ea typeface="华文楷体" panose="02010600040101010101" pitchFamily="2" charset="-122"/>
              </a:rPr>
              <a:t>(T));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uninitialized_fill</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elem+size,elem+n,T</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capacity=n;</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protected:</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bool full(void) </a:t>
            </a:r>
            <a:r>
              <a:rPr lang="en-US" altLang="zh-CN" sz="1800" dirty="0" err="1" smtClean="0">
                <a:ea typeface="华文楷体" panose="02010600040101010101" pitchFamily="2" charset="-122"/>
              </a:rPr>
              <a:t>const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	return size==capacity;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int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next_capacity</a:t>
            </a:r>
            <a:r>
              <a:rPr lang="en-US" altLang="zh-CN" sz="1800" dirty="0" smtClean="0">
                <a:ea typeface="华文楷体" panose="02010600040101010101" pitchFamily="2" charset="-122"/>
              </a:rPr>
              <a:t>(void) </a:t>
            </a:r>
            <a:r>
              <a:rPr lang="en-US" altLang="zh-CN" sz="1800" dirty="0" err="1" smtClean="0">
                <a:ea typeface="华文楷体" panose="02010600040101010101" pitchFamily="2" charset="-122"/>
              </a:rPr>
              <a:t>const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return capacity&lt;= 0 ?1:2*capacity;</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页脚占位符 3"/>
          <p:cNvSpPr>
            <a:spLocks noGrp="1"/>
          </p:cNvSpPr>
          <p:nvPr>
            <p:ph type="ftr" sz="quarter" idx="10"/>
          </p:nvPr>
        </p:nvSpPr>
        <p:spPr/>
        <p:txBody>
          <a:bodyPr/>
          <a:lstStyle/>
          <a:p>
            <a:pPr>
              <a:defRPr/>
            </a:pPr>
            <a:r>
              <a:rPr lang="en-US" altLang="zh-CN"/>
              <a:t>BUPT SCST</a:t>
            </a:r>
            <a:endParaRPr lang="en-US" altLang="zh-CN"/>
          </a:p>
        </p:txBody>
      </p:sp>
      <p:sp>
        <p:nvSpPr>
          <p:cNvPr id="1741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AEC15D68-02E9-4904-8253-D20F1437CD5B}"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45" name="日期占位符 5"/>
          <p:cNvSpPr>
            <a:spLocks noGrp="1"/>
          </p:cNvSpPr>
          <p:nvPr>
            <p:ph type="dt" sz="quarter" idx="12"/>
          </p:nvPr>
        </p:nvSpPr>
        <p:spPr/>
        <p:txBody>
          <a:bodyPr/>
          <a:lstStyle/>
          <a:p>
            <a:pPr>
              <a:defRPr/>
            </a:pPr>
            <a:r>
              <a:rPr lang="en-US" altLang="zh-CN"/>
              <a:t>BUPT</a:t>
            </a:r>
            <a:endParaRPr lang="en-US" altLang="zh-CN"/>
          </a:p>
        </p:txBody>
      </p:sp>
      <p:sp>
        <p:nvSpPr>
          <p:cNvPr id="17413" name="Rectangle 2"/>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顺序表元素的添加</a:t>
            </a:r>
            <a:endParaRPr lang="zh-CN" altLang="en-US" sz="2800" dirty="0" smtClean="0">
              <a:ea typeface="华文楷体" panose="02010600040101010101" pitchFamily="2" charset="-122"/>
            </a:endParaRPr>
          </a:p>
        </p:txBody>
      </p:sp>
      <p:sp>
        <p:nvSpPr>
          <p:cNvPr id="17414" name="Rectangle 3"/>
          <p:cNvSpPr>
            <a:spLocks noGrp="1" noChangeArrowheads="1"/>
          </p:cNvSpPr>
          <p:nvPr>
            <p:ph type="body" idx="1"/>
          </p:nvPr>
        </p:nvSpPr>
        <p:spPr>
          <a:xfrm>
            <a:off x="323850" y="1152525"/>
            <a:ext cx="8229600" cy="5248275"/>
          </a:xfrm>
        </p:spPr>
        <p:txBody>
          <a:bodyPr/>
          <a:lstStyle/>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template&lt;</a:t>
            </a:r>
            <a:r>
              <a:rPr lang="en-US" altLang="zh-CN" sz="1800" dirty="0" err="1" smtClean="0">
                <a:ea typeface="华文楷体" panose="02010600040101010101" pitchFamily="2" charset="-122"/>
              </a:rPr>
              <a:t>typename</a:t>
            </a:r>
            <a:r>
              <a:rPr lang="en-US" altLang="zh-CN" sz="1800" dirty="0" smtClean="0">
                <a:ea typeface="华文楷体" panose="02010600040101010101" pitchFamily="2" charset="-122"/>
              </a:rPr>
              <a:t> T&gt;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Vector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void </a:t>
            </a:r>
            <a:r>
              <a:rPr lang="en-US" altLang="zh-CN" sz="1800" dirty="0" err="1" smtClean="0">
                <a:ea typeface="华文楷体" panose="02010600040101010101" pitchFamily="2" charset="-122"/>
              </a:rPr>
              <a:t>push_back</a:t>
            </a:r>
            <a:r>
              <a:rPr lang="en-US" altLang="zh-CN" sz="1800" dirty="0" smtClean="0">
                <a:ea typeface="华文楷体" panose="02010600040101010101" pitchFamily="2" charset="-122"/>
              </a:rPr>
              <a:t>(T </a:t>
            </a:r>
            <a:r>
              <a:rPr lang="en-US" altLang="zh-CN" sz="1800" dirty="0" err="1" smtClean="0">
                <a:ea typeface="华文楷体" panose="02010600040101010101" pitchFamily="2" charset="-122"/>
              </a:rPr>
              <a:t>const</a:t>
            </a:r>
            <a:r>
              <a:rPr lang="en-US" altLang="zh-CN" sz="1800" dirty="0" smtClean="0">
                <a:ea typeface="华文楷体" panose="02010600040101010101" pitchFamily="2" charset="-122"/>
              </a:rPr>
              <a:t>&amp; 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zh-CN" altLang="en-US" sz="1800" dirty="0" smtClean="0">
                <a:ea typeface="华文楷体" panose="02010600040101010101" pitchFamily="2" charset="-122"/>
              </a:rPr>
              <a:t>添加在向量尾部</a:t>
            </a:r>
            <a:endParaRPr lang="zh-CN" altLang="en-US" sz="18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1800" dirty="0" smtClean="0">
                <a:ea typeface="华文楷体" panose="02010600040101010101" pitchFamily="2" charset="-122"/>
              </a:rPr>
              <a:t>		</a:t>
            </a:r>
            <a:r>
              <a:rPr lang="en-US" altLang="zh-CN" sz="1800" dirty="0" smtClean="0">
                <a:ea typeface="华文楷体" panose="02010600040101010101" pitchFamily="2" charset="-122"/>
              </a:rPr>
              <a:t>if (full())</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reverse(</a:t>
            </a:r>
            <a:r>
              <a:rPr lang="en-US" altLang="zh-CN" sz="1800" dirty="0" err="1" smtClean="0">
                <a:ea typeface="华文楷体" panose="02010600040101010101" pitchFamily="2" charset="-122"/>
              </a:rPr>
              <a:t>next_capacity</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elem</a:t>
            </a:r>
            <a:r>
              <a:rPr lang="en-US" altLang="zh-CN" sz="1800" dirty="0" smtClean="0">
                <a:ea typeface="华文楷体" panose="02010600040101010101" pitchFamily="2" charset="-122"/>
              </a:rPr>
              <a:t>[size++];</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void insert(Iterator </a:t>
            </a:r>
            <a:r>
              <a:rPr lang="en-US" altLang="zh-CN" sz="1800" dirty="0" err="1" smtClean="0">
                <a:ea typeface="华文楷体" panose="02010600040101010101" pitchFamily="2" charset="-122"/>
              </a:rPr>
              <a:t>pos</a:t>
            </a:r>
            <a:r>
              <a:rPr lang="en-US" altLang="zh-CN" sz="1800" dirty="0" smtClean="0">
                <a:ea typeface="华文楷体" panose="02010600040101010101" pitchFamily="2" charset="-122"/>
              </a:rPr>
              <a:t>, T </a:t>
            </a:r>
            <a:r>
              <a:rPr lang="en-US" altLang="zh-CN" sz="1800" dirty="0" err="1" smtClean="0">
                <a:ea typeface="华文楷体" panose="02010600040101010101" pitchFamily="2" charset="-122"/>
              </a:rPr>
              <a:t>const</a:t>
            </a:r>
            <a:r>
              <a:rPr lang="en-US" altLang="zh-CN" sz="1800" dirty="0" smtClean="0">
                <a:ea typeface="华文楷体" panose="02010600040101010101" pitchFamily="2" charset="-122"/>
              </a:rPr>
              <a:t> &amp;t)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if (full())</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zh-CN" altLang="en-US" sz="1800" dirty="0" smtClean="0">
                <a:ea typeface="华文楷体" panose="02010600040101010101" pitchFamily="2" charset="-122"/>
              </a:rPr>
              <a:t>添加在</a:t>
            </a:r>
            <a:r>
              <a:rPr lang="en-US" altLang="zh-CN" sz="1800" dirty="0" err="1" smtClean="0">
                <a:ea typeface="华文楷体" panose="02010600040101010101" pitchFamily="2" charset="-122"/>
              </a:rPr>
              <a:t>pos</a:t>
            </a:r>
            <a:r>
              <a:rPr lang="zh-CN" altLang="en-US" sz="1800" dirty="0" smtClean="0">
                <a:ea typeface="华文楷体" panose="02010600040101010101" pitchFamily="2" charset="-122"/>
              </a:rPr>
              <a:t>之前</a:t>
            </a:r>
            <a:endParaRPr lang="zh-CN" altLang="en-US" sz="18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1800" dirty="0" smtClean="0">
                <a:ea typeface="华文楷体" panose="02010600040101010101" pitchFamily="2" charset="-122"/>
              </a:rPr>
              <a:t>		    </a:t>
            </a:r>
            <a:r>
              <a:rPr lang="en-US" altLang="zh-CN" sz="1800" dirty="0" err="1" smtClean="0">
                <a:ea typeface="华文楷体" panose="02010600040101010101" pitchFamily="2" charset="-122"/>
              </a:rPr>
              <a:t>int</a:t>
            </a:r>
            <a:r>
              <a:rPr lang="en-US" altLang="zh-CN" sz="1800" dirty="0" smtClean="0">
                <a:ea typeface="华文楷体" panose="02010600040101010101" pitchFamily="2" charset="-122"/>
              </a:rPr>
              <a:t> count offset=</a:t>
            </a:r>
            <a:r>
              <a:rPr lang="en-US" altLang="zh-CN" sz="1800" dirty="0" err="1" smtClean="0">
                <a:ea typeface="华文楷体" panose="02010600040101010101" pitchFamily="2" charset="-122"/>
              </a:rPr>
              <a:t>pos-elem</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reserve(</a:t>
            </a:r>
            <a:r>
              <a:rPr lang="en-US" altLang="zh-CN" sz="1800" dirty="0" err="1" smtClean="0">
                <a:ea typeface="华文楷体" panose="02010600040101010101" pitchFamily="2" charset="-122"/>
              </a:rPr>
              <a:t>next_capacity</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pos</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elem+offset</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memmove</a:t>
            </a:r>
            <a:r>
              <a:rPr lang="en-US" altLang="zh-CN" sz="1800" dirty="0" smtClean="0">
                <a:ea typeface="华文楷体" panose="02010600040101010101" pitchFamily="2" charset="-122"/>
              </a:rPr>
              <a:t>(pos+1,pos,</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sizeof</a:t>
            </a:r>
            <a:r>
              <a:rPr lang="en-US" altLang="zh-CN" sz="1800" dirty="0" smtClean="0">
                <a:ea typeface="华文楷体" panose="02010600040101010101" pitchFamily="2" charset="-122"/>
              </a:rPr>
              <a:t>(T)*(</a:t>
            </a:r>
            <a:r>
              <a:rPr lang="en-US" altLang="zh-CN" sz="1800" b="1" dirty="0" err="1" smtClean="0">
                <a:ea typeface="华文楷体" panose="02010600040101010101" pitchFamily="2" charset="-122"/>
              </a:rPr>
              <a:t>elem+size</a:t>
            </a:r>
            <a:r>
              <a:rPr lang="en-US" altLang="zh-CN" sz="1800" b="1" dirty="0" smtClean="0">
                <a:ea typeface="华文楷体" panose="02010600040101010101" pitchFamily="2" charset="-122"/>
              </a:rPr>
              <a:t>++-</a:t>
            </a:r>
            <a:r>
              <a:rPr lang="en-US" altLang="zh-CN" sz="1800" b="1" dirty="0" err="1" smtClean="0">
                <a:ea typeface="华文楷体" panose="02010600040101010101" pitchFamily="2" charset="-122"/>
              </a:rPr>
              <a:t>pos</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pos</a:t>
            </a:r>
            <a:r>
              <a:rPr lang="en-US" altLang="zh-CN" sz="1800" dirty="0" smtClean="0">
                <a:ea typeface="华文楷体" panose="02010600040101010101" pitchFamily="2" charset="-122"/>
              </a:rPr>
              <a:t>=t;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p:txBody>
      </p:sp>
      <p:sp>
        <p:nvSpPr>
          <p:cNvPr id="144422" name="Rectangle 38"/>
          <p:cNvSpPr>
            <a:spLocks noChangeArrowheads="1"/>
          </p:cNvSpPr>
          <p:nvPr/>
        </p:nvSpPr>
        <p:spPr bwMode="auto">
          <a:xfrm>
            <a:off x="4429125" y="1268413"/>
            <a:ext cx="4679950" cy="576262"/>
          </a:xfrm>
          <a:prstGeom prst="rect">
            <a:avLst/>
          </a:prstGeom>
          <a:solidFill>
            <a:schemeClr val="bg1"/>
          </a:solidFill>
          <a:ln w="28575" algn="ctr">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44423" name="Line 39"/>
          <p:cNvSpPr>
            <a:spLocks noChangeShapeType="1"/>
          </p:cNvSpPr>
          <p:nvPr/>
        </p:nvSpPr>
        <p:spPr bwMode="auto">
          <a:xfrm>
            <a:off x="5508625" y="1268413"/>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24" name="Line 40"/>
          <p:cNvSpPr>
            <a:spLocks noChangeShapeType="1"/>
          </p:cNvSpPr>
          <p:nvPr/>
        </p:nvSpPr>
        <p:spPr bwMode="auto">
          <a:xfrm>
            <a:off x="4932363"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25" name="Line 41"/>
          <p:cNvSpPr>
            <a:spLocks noChangeShapeType="1"/>
          </p:cNvSpPr>
          <p:nvPr/>
        </p:nvSpPr>
        <p:spPr bwMode="auto">
          <a:xfrm>
            <a:off x="5364163"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26" name="Line 42"/>
          <p:cNvSpPr>
            <a:spLocks noChangeShapeType="1"/>
          </p:cNvSpPr>
          <p:nvPr/>
        </p:nvSpPr>
        <p:spPr bwMode="auto">
          <a:xfrm>
            <a:off x="6156325"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27" name="Line 43"/>
          <p:cNvSpPr>
            <a:spLocks noChangeShapeType="1"/>
          </p:cNvSpPr>
          <p:nvPr/>
        </p:nvSpPr>
        <p:spPr bwMode="auto">
          <a:xfrm>
            <a:off x="6588125"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28" name="Line 44"/>
          <p:cNvSpPr>
            <a:spLocks noChangeShapeType="1"/>
          </p:cNvSpPr>
          <p:nvPr/>
        </p:nvSpPr>
        <p:spPr bwMode="auto">
          <a:xfrm>
            <a:off x="7019925"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29" name="Line 45"/>
          <p:cNvSpPr>
            <a:spLocks noChangeShapeType="1"/>
          </p:cNvSpPr>
          <p:nvPr/>
        </p:nvSpPr>
        <p:spPr bwMode="auto">
          <a:xfrm>
            <a:off x="7667625"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30" name="Line 46"/>
          <p:cNvSpPr>
            <a:spLocks noChangeShapeType="1"/>
          </p:cNvSpPr>
          <p:nvPr/>
        </p:nvSpPr>
        <p:spPr bwMode="auto">
          <a:xfrm>
            <a:off x="8101013"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31" name="Line 47"/>
          <p:cNvSpPr>
            <a:spLocks noChangeShapeType="1"/>
          </p:cNvSpPr>
          <p:nvPr/>
        </p:nvSpPr>
        <p:spPr bwMode="auto">
          <a:xfrm>
            <a:off x="8532813" y="1268413"/>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32" name="Text Box 48"/>
          <p:cNvSpPr txBox="1">
            <a:spLocks noChangeArrowheads="1"/>
          </p:cNvSpPr>
          <p:nvPr/>
        </p:nvSpPr>
        <p:spPr bwMode="auto">
          <a:xfrm>
            <a:off x="4427538" y="1412875"/>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1</a:t>
            </a:r>
            <a:endParaRPr lang="en-US" altLang="zh-CN" sz="1800" baseline="-25000" dirty="0">
              <a:latin typeface="华文楷体" panose="02010600040101010101" pitchFamily="2" charset="-122"/>
              <a:ea typeface="华文楷体" panose="02010600040101010101" pitchFamily="2" charset="-122"/>
            </a:endParaRPr>
          </a:p>
        </p:txBody>
      </p:sp>
      <p:sp>
        <p:nvSpPr>
          <p:cNvPr id="144433" name="Text Box 49"/>
          <p:cNvSpPr txBox="1">
            <a:spLocks noChangeArrowheads="1"/>
          </p:cNvSpPr>
          <p:nvPr/>
        </p:nvSpPr>
        <p:spPr bwMode="auto">
          <a:xfrm>
            <a:off x="4930775" y="1406525"/>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2</a:t>
            </a:r>
            <a:endParaRPr lang="en-US" altLang="zh-CN" sz="1800" baseline="-25000" dirty="0">
              <a:latin typeface="华文楷体" panose="02010600040101010101" pitchFamily="2" charset="-122"/>
              <a:ea typeface="华文楷体" panose="02010600040101010101" pitchFamily="2" charset="-122"/>
            </a:endParaRPr>
          </a:p>
        </p:txBody>
      </p:sp>
      <p:sp>
        <p:nvSpPr>
          <p:cNvPr id="144434" name="Text Box 50"/>
          <p:cNvSpPr txBox="1">
            <a:spLocks noChangeArrowheads="1"/>
          </p:cNvSpPr>
          <p:nvPr/>
        </p:nvSpPr>
        <p:spPr bwMode="auto">
          <a:xfrm>
            <a:off x="6154738" y="1406525"/>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i-1</a:t>
            </a:r>
            <a:endParaRPr lang="en-US" altLang="zh-CN" sz="1800" baseline="-25000" dirty="0">
              <a:latin typeface="华文楷体" panose="02010600040101010101" pitchFamily="2" charset="-122"/>
              <a:ea typeface="华文楷体" panose="02010600040101010101" pitchFamily="2" charset="-122"/>
            </a:endParaRPr>
          </a:p>
        </p:txBody>
      </p:sp>
      <p:sp>
        <p:nvSpPr>
          <p:cNvPr id="144435" name="Text Box 51"/>
          <p:cNvSpPr txBox="1">
            <a:spLocks noChangeArrowheads="1"/>
          </p:cNvSpPr>
          <p:nvPr/>
        </p:nvSpPr>
        <p:spPr bwMode="auto">
          <a:xfrm>
            <a:off x="6516688" y="1412875"/>
            <a:ext cx="576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err="1">
                <a:latin typeface="华文楷体" panose="02010600040101010101" pitchFamily="2" charset="-122"/>
                <a:ea typeface="华文楷体" panose="02010600040101010101" pitchFamily="2" charset="-122"/>
              </a:rPr>
              <a:t>a</a:t>
            </a:r>
            <a:r>
              <a:rPr lang="en-US" altLang="zh-CN" sz="1800" baseline="-25000" dirty="0" err="1">
                <a:latin typeface="华文楷体" panose="02010600040101010101" pitchFamily="2" charset="-122"/>
                <a:ea typeface="华文楷体" panose="02010600040101010101" pitchFamily="2" charset="-122"/>
              </a:rPr>
              <a:t>i</a:t>
            </a:r>
            <a:endParaRPr lang="en-US" altLang="zh-CN" sz="1800" baseline="-25000" dirty="0">
              <a:latin typeface="华文楷体" panose="02010600040101010101" pitchFamily="2" charset="-122"/>
              <a:ea typeface="华文楷体" panose="02010600040101010101" pitchFamily="2" charset="-122"/>
            </a:endParaRPr>
          </a:p>
        </p:txBody>
      </p:sp>
      <p:sp>
        <p:nvSpPr>
          <p:cNvPr id="144436" name="Text Box 52"/>
          <p:cNvSpPr txBox="1">
            <a:spLocks noChangeArrowheads="1"/>
          </p:cNvSpPr>
          <p:nvPr/>
        </p:nvSpPr>
        <p:spPr bwMode="auto">
          <a:xfrm>
            <a:off x="5364163" y="1484313"/>
            <a:ext cx="7921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p:txBody>
      </p:sp>
      <p:sp>
        <p:nvSpPr>
          <p:cNvPr id="144437" name="Text Box 53"/>
          <p:cNvSpPr txBox="1">
            <a:spLocks noChangeArrowheads="1"/>
          </p:cNvSpPr>
          <p:nvPr/>
        </p:nvSpPr>
        <p:spPr bwMode="auto">
          <a:xfrm>
            <a:off x="7019925" y="1412875"/>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p:txBody>
      </p:sp>
      <p:sp>
        <p:nvSpPr>
          <p:cNvPr id="144438" name="Text Box 54"/>
          <p:cNvSpPr txBox="1">
            <a:spLocks noChangeArrowheads="1"/>
          </p:cNvSpPr>
          <p:nvPr/>
        </p:nvSpPr>
        <p:spPr bwMode="auto">
          <a:xfrm>
            <a:off x="7596188" y="1406525"/>
            <a:ext cx="649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n-1</a:t>
            </a:r>
            <a:endParaRPr lang="en-US" altLang="zh-CN" sz="1800" baseline="-25000" dirty="0">
              <a:latin typeface="华文楷体" panose="02010600040101010101" pitchFamily="2" charset="-122"/>
              <a:ea typeface="华文楷体" panose="02010600040101010101" pitchFamily="2" charset="-122"/>
            </a:endParaRPr>
          </a:p>
        </p:txBody>
      </p:sp>
      <p:sp>
        <p:nvSpPr>
          <p:cNvPr id="144440" name="Rectangle 56"/>
          <p:cNvSpPr>
            <a:spLocks noChangeArrowheads="1"/>
          </p:cNvSpPr>
          <p:nvPr/>
        </p:nvSpPr>
        <p:spPr bwMode="auto">
          <a:xfrm>
            <a:off x="4429125" y="2846388"/>
            <a:ext cx="4679950" cy="576262"/>
          </a:xfrm>
          <a:prstGeom prst="rect">
            <a:avLst/>
          </a:prstGeom>
          <a:solidFill>
            <a:schemeClr val="bg1"/>
          </a:solidFill>
          <a:ln w="28575" algn="ctr">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44441" name="Line 57"/>
          <p:cNvSpPr>
            <a:spLocks noChangeShapeType="1"/>
          </p:cNvSpPr>
          <p:nvPr/>
        </p:nvSpPr>
        <p:spPr bwMode="auto">
          <a:xfrm>
            <a:off x="5508625" y="2846388"/>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42" name="Line 58"/>
          <p:cNvSpPr>
            <a:spLocks noChangeShapeType="1"/>
          </p:cNvSpPr>
          <p:nvPr/>
        </p:nvSpPr>
        <p:spPr bwMode="auto">
          <a:xfrm>
            <a:off x="4932363"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43" name="Line 59"/>
          <p:cNvSpPr>
            <a:spLocks noChangeShapeType="1"/>
          </p:cNvSpPr>
          <p:nvPr/>
        </p:nvSpPr>
        <p:spPr bwMode="auto">
          <a:xfrm>
            <a:off x="5364163"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44" name="Line 60"/>
          <p:cNvSpPr>
            <a:spLocks noChangeShapeType="1"/>
          </p:cNvSpPr>
          <p:nvPr/>
        </p:nvSpPr>
        <p:spPr bwMode="auto">
          <a:xfrm>
            <a:off x="6156325"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45" name="Line 61"/>
          <p:cNvSpPr>
            <a:spLocks noChangeShapeType="1"/>
          </p:cNvSpPr>
          <p:nvPr/>
        </p:nvSpPr>
        <p:spPr bwMode="auto">
          <a:xfrm>
            <a:off x="6588125"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46" name="Line 62"/>
          <p:cNvSpPr>
            <a:spLocks noChangeShapeType="1"/>
          </p:cNvSpPr>
          <p:nvPr/>
        </p:nvSpPr>
        <p:spPr bwMode="auto">
          <a:xfrm>
            <a:off x="7019925"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47" name="Line 63"/>
          <p:cNvSpPr>
            <a:spLocks noChangeShapeType="1"/>
          </p:cNvSpPr>
          <p:nvPr/>
        </p:nvSpPr>
        <p:spPr bwMode="auto">
          <a:xfrm>
            <a:off x="7667625"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48" name="Line 64"/>
          <p:cNvSpPr>
            <a:spLocks noChangeShapeType="1"/>
          </p:cNvSpPr>
          <p:nvPr/>
        </p:nvSpPr>
        <p:spPr bwMode="auto">
          <a:xfrm>
            <a:off x="8101013"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49" name="Line 65"/>
          <p:cNvSpPr>
            <a:spLocks noChangeShapeType="1"/>
          </p:cNvSpPr>
          <p:nvPr/>
        </p:nvSpPr>
        <p:spPr bwMode="auto">
          <a:xfrm>
            <a:off x="8532813" y="2846388"/>
            <a:ext cx="0"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50" name="Text Box 66"/>
          <p:cNvSpPr txBox="1">
            <a:spLocks noChangeArrowheads="1"/>
          </p:cNvSpPr>
          <p:nvPr/>
        </p:nvSpPr>
        <p:spPr bwMode="auto">
          <a:xfrm>
            <a:off x="4427538" y="299085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1</a:t>
            </a:r>
            <a:endParaRPr lang="en-US" altLang="zh-CN" sz="1800" baseline="-25000" dirty="0">
              <a:latin typeface="华文楷体" panose="02010600040101010101" pitchFamily="2" charset="-122"/>
              <a:ea typeface="华文楷体" panose="02010600040101010101" pitchFamily="2" charset="-122"/>
            </a:endParaRPr>
          </a:p>
        </p:txBody>
      </p:sp>
      <p:sp>
        <p:nvSpPr>
          <p:cNvPr id="144451" name="Text Box 67"/>
          <p:cNvSpPr txBox="1">
            <a:spLocks noChangeArrowheads="1"/>
          </p:cNvSpPr>
          <p:nvPr/>
        </p:nvSpPr>
        <p:spPr bwMode="auto">
          <a:xfrm>
            <a:off x="4930775" y="298450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2</a:t>
            </a:r>
            <a:endParaRPr lang="en-US" altLang="zh-CN" sz="1800" baseline="-25000" dirty="0">
              <a:latin typeface="华文楷体" panose="02010600040101010101" pitchFamily="2" charset="-122"/>
              <a:ea typeface="华文楷体" panose="02010600040101010101" pitchFamily="2" charset="-122"/>
            </a:endParaRPr>
          </a:p>
        </p:txBody>
      </p:sp>
      <p:sp>
        <p:nvSpPr>
          <p:cNvPr id="144452" name="Text Box 68"/>
          <p:cNvSpPr txBox="1">
            <a:spLocks noChangeArrowheads="1"/>
          </p:cNvSpPr>
          <p:nvPr/>
        </p:nvSpPr>
        <p:spPr bwMode="auto">
          <a:xfrm>
            <a:off x="6083300" y="2990850"/>
            <a:ext cx="576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i-1</a:t>
            </a:r>
            <a:endParaRPr lang="en-US" altLang="zh-CN" sz="1800" baseline="-25000" dirty="0">
              <a:latin typeface="华文楷体" panose="02010600040101010101" pitchFamily="2" charset="-122"/>
              <a:ea typeface="华文楷体" panose="02010600040101010101" pitchFamily="2" charset="-122"/>
            </a:endParaRPr>
          </a:p>
        </p:txBody>
      </p:sp>
      <p:sp>
        <p:nvSpPr>
          <p:cNvPr id="144453" name="Text Box 69"/>
          <p:cNvSpPr txBox="1">
            <a:spLocks noChangeArrowheads="1"/>
          </p:cNvSpPr>
          <p:nvPr/>
        </p:nvSpPr>
        <p:spPr bwMode="auto">
          <a:xfrm>
            <a:off x="5364163" y="3062288"/>
            <a:ext cx="7921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p:txBody>
      </p:sp>
      <p:sp>
        <p:nvSpPr>
          <p:cNvPr id="144454" name="Text Box 70"/>
          <p:cNvSpPr txBox="1">
            <a:spLocks noChangeArrowheads="1"/>
          </p:cNvSpPr>
          <p:nvPr/>
        </p:nvSpPr>
        <p:spPr bwMode="auto">
          <a:xfrm>
            <a:off x="7019925" y="2990850"/>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p:txBody>
      </p:sp>
      <p:sp>
        <p:nvSpPr>
          <p:cNvPr id="144455" name="Text Box 71"/>
          <p:cNvSpPr txBox="1">
            <a:spLocks noChangeArrowheads="1"/>
          </p:cNvSpPr>
          <p:nvPr/>
        </p:nvSpPr>
        <p:spPr bwMode="auto">
          <a:xfrm>
            <a:off x="7596188" y="2990850"/>
            <a:ext cx="576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n-2</a:t>
            </a:r>
            <a:endParaRPr lang="en-US" altLang="zh-CN" sz="1800" baseline="-25000" dirty="0">
              <a:latin typeface="华文楷体" panose="02010600040101010101" pitchFamily="2" charset="-122"/>
              <a:ea typeface="华文楷体" panose="02010600040101010101" pitchFamily="2" charset="-122"/>
            </a:endParaRPr>
          </a:p>
        </p:txBody>
      </p:sp>
      <p:sp>
        <p:nvSpPr>
          <p:cNvPr id="144456" name="Freeform 72"/>
          <p:cNvSpPr/>
          <p:nvPr/>
        </p:nvSpPr>
        <p:spPr bwMode="auto">
          <a:xfrm>
            <a:off x="6732588" y="1844675"/>
            <a:ext cx="433387" cy="1008063"/>
          </a:xfrm>
          <a:custGeom>
            <a:avLst/>
            <a:gdLst>
              <a:gd name="T0" fmla="*/ 2147483646 w 344"/>
              <a:gd name="T1" fmla="*/ 0 h 1200"/>
              <a:gd name="T2" fmla="*/ 2147483646 w 344"/>
              <a:gd name="T3" fmla="*/ 2147483646 h 1200"/>
              <a:gd name="T4" fmla="*/ 2147483646 w 344"/>
              <a:gd name="T5" fmla="*/ 2147483646 h 1200"/>
              <a:gd name="T6" fmla="*/ 0 60000 65536"/>
              <a:gd name="T7" fmla="*/ 0 60000 65536"/>
              <a:gd name="T8" fmla="*/ 0 60000 65536"/>
              <a:gd name="T9" fmla="*/ 0 w 344"/>
              <a:gd name="T10" fmla="*/ 0 h 1200"/>
              <a:gd name="T11" fmla="*/ 344 w 344"/>
              <a:gd name="T12" fmla="*/ 1200 h 1200"/>
            </a:gdLst>
            <a:ahLst/>
            <a:cxnLst>
              <a:cxn ang="T6">
                <a:pos x="T0" y="T1"/>
              </a:cxn>
              <a:cxn ang="T7">
                <a:pos x="T2" y="T3"/>
              </a:cxn>
              <a:cxn ang="T8">
                <a:pos x="T4" y="T5"/>
              </a:cxn>
            </a:cxnLst>
            <a:rect l="T9" t="T10" r="T11" b="T12"/>
            <a:pathLst>
              <a:path w="344" h="1200">
                <a:moveTo>
                  <a:pt x="8" y="0"/>
                </a:moveTo>
                <a:cubicBezTo>
                  <a:pt x="4" y="140"/>
                  <a:pt x="0" y="280"/>
                  <a:pt x="56" y="480"/>
                </a:cubicBezTo>
                <a:cubicBezTo>
                  <a:pt x="112" y="680"/>
                  <a:pt x="228" y="940"/>
                  <a:pt x="344" y="1200"/>
                </a:cubicBezTo>
              </a:path>
            </a:pathLst>
          </a:custGeom>
          <a:noFill/>
          <a:ln w="57150">
            <a:solidFill>
              <a:schemeClr val="accent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58" name="Text Box 74"/>
          <p:cNvSpPr txBox="1">
            <a:spLocks noChangeArrowheads="1"/>
          </p:cNvSpPr>
          <p:nvPr/>
        </p:nvSpPr>
        <p:spPr bwMode="auto">
          <a:xfrm>
            <a:off x="6516688" y="2997200"/>
            <a:ext cx="576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1800" b="1" dirty="0">
                <a:solidFill>
                  <a:srgbClr val="FF3300"/>
                </a:solidFill>
                <a:latin typeface="华文楷体" panose="02010600040101010101" pitchFamily="2" charset="-122"/>
                <a:ea typeface="华文楷体" panose="02010600040101010101" pitchFamily="2" charset="-122"/>
              </a:rPr>
              <a:t>e</a:t>
            </a:r>
            <a:endParaRPr lang="en-US" altLang="zh-CN" sz="1800" b="1" baseline="-25000" dirty="0">
              <a:solidFill>
                <a:srgbClr val="FF3300"/>
              </a:solidFill>
              <a:latin typeface="华文楷体" panose="02010600040101010101" pitchFamily="2" charset="-122"/>
              <a:ea typeface="华文楷体" panose="02010600040101010101" pitchFamily="2" charset="-122"/>
            </a:endParaRPr>
          </a:p>
        </p:txBody>
      </p:sp>
      <p:sp>
        <p:nvSpPr>
          <p:cNvPr id="144459" name="Freeform 75"/>
          <p:cNvSpPr/>
          <p:nvPr/>
        </p:nvSpPr>
        <p:spPr bwMode="auto">
          <a:xfrm>
            <a:off x="7883525" y="1844675"/>
            <a:ext cx="433388" cy="1008063"/>
          </a:xfrm>
          <a:custGeom>
            <a:avLst/>
            <a:gdLst>
              <a:gd name="T0" fmla="*/ 2147483646 w 344"/>
              <a:gd name="T1" fmla="*/ 0 h 1200"/>
              <a:gd name="T2" fmla="*/ 2147483646 w 344"/>
              <a:gd name="T3" fmla="*/ 2147483646 h 1200"/>
              <a:gd name="T4" fmla="*/ 2147483646 w 344"/>
              <a:gd name="T5" fmla="*/ 2147483646 h 1200"/>
              <a:gd name="T6" fmla="*/ 0 60000 65536"/>
              <a:gd name="T7" fmla="*/ 0 60000 65536"/>
              <a:gd name="T8" fmla="*/ 0 60000 65536"/>
              <a:gd name="T9" fmla="*/ 0 w 344"/>
              <a:gd name="T10" fmla="*/ 0 h 1200"/>
              <a:gd name="T11" fmla="*/ 344 w 344"/>
              <a:gd name="T12" fmla="*/ 1200 h 1200"/>
            </a:gdLst>
            <a:ahLst/>
            <a:cxnLst>
              <a:cxn ang="T6">
                <a:pos x="T0" y="T1"/>
              </a:cxn>
              <a:cxn ang="T7">
                <a:pos x="T2" y="T3"/>
              </a:cxn>
              <a:cxn ang="T8">
                <a:pos x="T4" y="T5"/>
              </a:cxn>
            </a:cxnLst>
            <a:rect l="T9" t="T10" r="T11" b="T12"/>
            <a:pathLst>
              <a:path w="344" h="1200">
                <a:moveTo>
                  <a:pt x="8" y="0"/>
                </a:moveTo>
                <a:cubicBezTo>
                  <a:pt x="4" y="140"/>
                  <a:pt x="0" y="280"/>
                  <a:pt x="56" y="480"/>
                </a:cubicBezTo>
                <a:cubicBezTo>
                  <a:pt x="112" y="680"/>
                  <a:pt x="228" y="940"/>
                  <a:pt x="344" y="1200"/>
                </a:cubicBezTo>
              </a:path>
            </a:pathLst>
          </a:custGeom>
          <a:noFill/>
          <a:ln w="57150">
            <a:solidFill>
              <a:schemeClr val="accent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44460" name="Rectangle 76"/>
          <p:cNvSpPr>
            <a:spLocks noChangeArrowheads="1"/>
          </p:cNvSpPr>
          <p:nvPr/>
        </p:nvSpPr>
        <p:spPr bwMode="auto">
          <a:xfrm>
            <a:off x="8097725" y="2990850"/>
            <a:ext cx="4828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1800" dirty="0">
                <a:latin typeface="华文楷体" panose="02010600040101010101" pitchFamily="2" charset="-122"/>
                <a:ea typeface="华文楷体" panose="02010600040101010101" pitchFamily="2" charset="-122"/>
              </a:rPr>
              <a:t>a</a:t>
            </a:r>
            <a:r>
              <a:rPr lang="en-US" altLang="zh-CN" sz="1800" baseline="-25000" dirty="0">
                <a:latin typeface="华文楷体" panose="02010600040101010101" pitchFamily="2" charset="-122"/>
                <a:ea typeface="华文楷体" panose="02010600040101010101" pitchFamily="2" charset="-122"/>
              </a:rPr>
              <a:t>n-1</a:t>
            </a:r>
            <a:endParaRPr lang="en-US" altLang="zh-CN" sz="1800" baseline="-25000" dirty="0">
              <a:latin typeface="华文楷体" panose="02010600040101010101" pitchFamily="2" charset="-122"/>
              <a:ea typeface="华文楷体" panose="02010600040101010101" pitchFamily="2" charset="-122"/>
            </a:endParaRPr>
          </a:p>
        </p:txBody>
      </p:sp>
      <p:sp>
        <p:nvSpPr>
          <p:cNvPr id="144461" name="Oval 77"/>
          <p:cNvSpPr>
            <a:spLocks noChangeArrowheads="1"/>
          </p:cNvSpPr>
          <p:nvPr/>
        </p:nvSpPr>
        <p:spPr bwMode="auto">
          <a:xfrm>
            <a:off x="2268538" y="5734050"/>
            <a:ext cx="2160587" cy="431800"/>
          </a:xfrm>
          <a:prstGeom prst="ellipse">
            <a:avLst/>
          </a:prstGeom>
          <a:solidFill>
            <a:schemeClr val="bg1">
              <a:alpha val="0"/>
            </a:schemeClr>
          </a:solidFill>
          <a:ln w="28575">
            <a:solidFill>
              <a:srgbClr val="FF0000"/>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144463" name="Text Box 79"/>
          <p:cNvSpPr txBox="1">
            <a:spLocks noChangeArrowheads="1"/>
          </p:cNvSpPr>
          <p:nvPr/>
        </p:nvSpPr>
        <p:spPr bwMode="auto">
          <a:xfrm>
            <a:off x="4859338" y="4006850"/>
            <a:ext cx="4211637" cy="2667000"/>
          </a:xfrm>
          <a:prstGeom prst="rect">
            <a:avLst/>
          </a:prstGeom>
          <a:solidFill>
            <a:srgbClr val="CCFFCC"/>
          </a:solidFill>
          <a:ln w="19050" algn="ctr">
            <a:solidFill>
              <a:schemeClr val="accent1"/>
            </a:solidFill>
            <a:miter lim="800000"/>
          </a:ln>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a:solidFill>
                  <a:schemeClr val="accent2"/>
                </a:solidFill>
                <a:latin typeface="华文楷体" panose="02010600040101010101" pitchFamily="2" charset="-122"/>
                <a:ea typeface="华文楷体" panose="02010600040101010101" pitchFamily="2" charset="-122"/>
                <a:sym typeface="Symbol" panose="05050102010706020507" pitchFamily="18" charset="2"/>
              </a:rPr>
              <a:t>[</a:t>
            </a:r>
            <a:r>
              <a:rPr lang="zh-CN" altLang="en-US" sz="2400" b="1" dirty="0">
                <a:solidFill>
                  <a:schemeClr val="accent2"/>
                </a:solidFill>
                <a:latin typeface="华文楷体" panose="02010600040101010101" pitchFamily="2" charset="-122"/>
                <a:ea typeface="华文楷体" panose="02010600040101010101" pitchFamily="2" charset="-122"/>
                <a:sym typeface="Symbol" panose="05050102010706020507" pitchFamily="18" charset="2"/>
              </a:rPr>
              <a:t>性能分析</a:t>
            </a:r>
            <a:r>
              <a:rPr lang="en-US" altLang="zh-CN" sz="2400" b="1" dirty="0">
                <a:solidFill>
                  <a:schemeClr val="accent2"/>
                </a:solidFill>
                <a:latin typeface="华文楷体" panose="02010600040101010101" pitchFamily="2" charset="-122"/>
                <a:ea typeface="华文楷体" panose="02010600040101010101" pitchFamily="2" charset="-122"/>
                <a:sym typeface="Symbol" panose="05050102010706020507" pitchFamily="18" charset="2"/>
              </a:rPr>
              <a:t>]</a:t>
            </a:r>
            <a:endParaRPr lang="en-US" altLang="zh-CN" sz="2400" b="1" dirty="0">
              <a:solidFill>
                <a:schemeClr val="accent2"/>
              </a:solidFill>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0"/>
              </a:spcBef>
              <a:buClrTx/>
              <a:buFontTx/>
              <a:buChar char="•"/>
            </a:pPr>
            <a:r>
              <a:rPr lang="zh-CN" altLang="en-US" sz="2400" dirty="0">
                <a:latin typeface="华文楷体" panose="02010600040101010101" pitchFamily="2" charset="-122"/>
                <a:ea typeface="华文楷体" panose="02010600040101010101" pitchFamily="2" charset="-122"/>
                <a:sym typeface="Symbol" panose="05050102010706020507" pitchFamily="18" charset="2"/>
              </a:rPr>
              <a:t>最好 </a:t>
            </a:r>
            <a:r>
              <a:rPr lang="en-US" altLang="zh-CN" sz="2400" dirty="0" err="1">
                <a:latin typeface="华文楷体" panose="02010600040101010101" pitchFamily="2" charset="-122"/>
                <a:ea typeface="华文楷体" panose="02010600040101010101" pitchFamily="2" charset="-122"/>
                <a:sym typeface="Symbol" panose="05050102010706020507" pitchFamily="18" charset="2"/>
              </a:rPr>
              <a:t>i</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=n  </a:t>
            </a:r>
            <a:r>
              <a:rPr lang="zh-CN" altLang="en-US" sz="2400" dirty="0">
                <a:latin typeface="华文楷体" panose="02010600040101010101" pitchFamily="2" charset="-122"/>
                <a:ea typeface="华文楷体" panose="02010600040101010101" pitchFamily="2" charset="-122"/>
                <a:sym typeface="Symbol" panose="05050102010706020507" pitchFamily="18" charset="2"/>
              </a:rPr>
              <a:t>不用移动结点               时间复杂度 </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O(1)</a:t>
            </a:r>
            <a:endParaRPr lang="en-US" altLang="zh-CN" sz="2400" dirty="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0"/>
              </a:spcBef>
              <a:buClrTx/>
              <a:buFontTx/>
              <a:buChar char="•"/>
            </a:pPr>
            <a:r>
              <a:rPr lang="zh-CN" altLang="en-US" sz="2400" dirty="0">
                <a:latin typeface="华文楷体" panose="02010600040101010101" pitchFamily="2" charset="-122"/>
                <a:ea typeface="华文楷体" panose="02010600040101010101" pitchFamily="2" charset="-122"/>
                <a:sym typeface="Symbol" panose="05050102010706020507" pitchFamily="18" charset="2"/>
              </a:rPr>
              <a:t>最差    </a:t>
            </a:r>
            <a:r>
              <a:rPr lang="en-US" altLang="zh-CN" sz="2400" dirty="0" err="1">
                <a:latin typeface="华文楷体" panose="02010600040101010101" pitchFamily="2" charset="-122"/>
                <a:ea typeface="华文楷体" panose="02010600040101010101" pitchFamily="2" charset="-122"/>
                <a:sym typeface="Symbol" panose="05050102010706020507" pitchFamily="18" charset="2"/>
              </a:rPr>
              <a:t>i</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=0  </a:t>
            </a:r>
            <a:r>
              <a:rPr lang="zh-CN" altLang="en-US" sz="2400" dirty="0">
                <a:latin typeface="华文楷体" panose="02010600040101010101" pitchFamily="2" charset="-122"/>
                <a:ea typeface="华文楷体" panose="02010600040101010101" pitchFamily="2" charset="-122"/>
                <a:sym typeface="Symbol" panose="05050102010706020507" pitchFamily="18" charset="2"/>
              </a:rPr>
              <a:t>需移动所有结点</a:t>
            </a:r>
            <a:endParaRPr lang="zh-CN" altLang="en-US" sz="2400" dirty="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0"/>
              </a:spcBef>
              <a:buClrTx/>
              <a:buFontTx/>
              <a:buNone/>
            </a:pPr>
            <a:r>
              <a:rPr lang="zh-CN" altLang="en-US" sz="2400" dirty="0">
                <a:latin typeface="华文楷体" panose="02010600040101010101" pitchFamily="2" charset="-122"/>
                <a:ea typeface="华文楷体" panose="02010600040101010101" pitchFamily="2" charset="-122"/>
                <a:sym typeface="Symbol" panose="05050102010706020507" pitchFamily="18" charset="2"/>
              </a:rPr>
              <a:t>时间复杂</a:t>
            </a:r>
            <a:r>
              <a:rPr lang="zh-CN" altLang="en-US" sz="1800" dirty="0">
                <a:latin typeface="华文楷体" panose="02010600040101010101" pitchFamily="2" charset="-122"/>
                <a:ea typeface="华文楷体" panose="02010600040101010101" pitchFamily="2" charset="-122"/>
                <a:sym typeface="Symbol" panose="05050102010706020507" pitchFamily="18" charset="2"/>
              </a:rPr>
              <a:t>度 </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O(n)</a:t>
            </a:r>
            <a:endParaRPr lang="en-US" altLang="zh-CN" sz="2400" dirty="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0"/>
              </a:spcBef>
              <a:buClrTx/>
              <a:buFontTx/>
              <a:buChar char="•"/>
            </a:pPr>
            <a:r>
              <a:rPr lang="zh-CN" altLang="zh-CN" sz="2400" dirty="0">
                <a:latin typeface="华文楷体" panose="02010600040101010101" pitchFamily="2" charset="-122"/>
                <a:ea typeface="华文楷体" panose="02010600040101010101" pitchFamily="2" charset="-122"/>
                <a:sym typeface="Symbol" panose="05050102010706020507" pitchFamily="18" charset="2"/>
              </a:rPr>
              <a:t>平均                                                         </a:t>
            </a:r>
            <a:r>
              <a:rPr lang="zh-CN" altLang="en-US" sz="2400" dirty="0">
                <a:latin typeface="华文楷体" panose="02010600040101010101" pitchFamily="2" charset="-122"/>
                <a:ea typeface="华文楷体" panose="02010600040101010101" pitchFamily="2" charset="-122"/>
                <a:sym typeface="Symbol" panose="05050102010706020507" pitchFamily="18" charset="2"/>
              </a:rPr>
              <a:t> </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O(n)</a:t>
            </a:r>
            <a:endParaRPr lang="en-US" altLang="zh-CN" sz="2400" dirty="0">
              <a:latin typeface="华文楷体" panose="02010600040101010101" pitchFamily="2" charset="-122"/>
              <a:ea typeface="华文楷体" panose="0201060004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4422"/>
                                        </p:tgtEl>
                                        <p:attrNameLst>
                                          <p:attrName>style.visibility</p:attrName>
                                        </p:attrNameLst>
                                      </p:cBhvr>
                                      <p:to>
                                        <p:strVal val="visible"/>
                                      </p:to>
                                    </p:set>
                                    <p:anim calcmode="lin" valueType="num">
                                      <p:cBhvr additive="base">
                                        <p:cTn id="7" dur="500" fill="hold"/>
                                        <p:tgtEl>
                                          <p:spTgt spid="144422"/>
                                        </p:tgtEl>
                                        <p:attrNameLst>
                                          <p:attrName>ppt_x</p:attrName>
                                        </p:attrNameLst>
                                      </p:cBhvr>
                                      <p:tavLst>
                                        <p:tav tm="0">
                                          <p:val>
                                            <p:strVal val="#ppt_x"/>
                                          </p:val>
                                        </p:tav>
                                        <p:tav tm="100000">
                                          <p:val>
                                            <p:strVal val="#ppt_x"/>
                                          </p:val>
                                        </p:tav>
                                      </p:tavLst>
                                    </p:anim>
                                    <p:anim calcmode="lin" valueType="num">
                                      <p:cBhvr additive="base">
                                        <p:cTn id="8" dur="500" fill="hold"/>
                                        <p:tgtEl>
                                          <p:spTgt spid="14442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4423"/>
                                        </p:tgtEl>
                                        <p:attrNameLst>
                                          <p:attrName>style.visibility</p:attrName>
                                        </p:attrNameLst>
                                      </p:cBhvr>
                                      <p:to>
                                        <p:strVal val="visible"/>
                                      </p:to>
                                    </p:set>
                                    <p:anim calcmode="lin" valueType="num">
                                      <p:cBhvr additive="base">
                                        <p:cTn id="11" dur="500" fill="hold"/>
                                        <p:tgtEl>
                                          <p:spTgt spid="144423"/>
                                        </p:tgtEl>
                                        <p:attrNameLst>
                                          <p:attrName>ppt_x</p:attrName>
                                        </p:attrNameLst>
                                      </p:cBhvr>
                                      <p:tavLst>
                                        <p:tav tm="0">
                                          <p:val>
                                            <p:strVal val="#ppt_x"/>
                                          </p:val>
                                        </p:tav>
                                        <p:tav tm="100000">
                                          <p:val>
                                            <p:strVal val="#ppt_x"/>
                                          </p:val>
                                        </p:tav>
                                      </p:tavLst>
                                    </p:anim>
                                    <p:anim calcmode="lin" valueType="num">
                                      <p:cBhvr additive="base">
                                        <p:cTn id="12" dur="500" fill="hold"/>
                                        <p:tgtEl>
                                          <p:spTgt spid="14442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4424"/>
                                        </p:tgtEl>
                                        <p:attrNameLst>
                                          <p:attrName>style.visibility</p:attrName>
                                        </p:attrNameLst>
                                      </p:cBhvr>
                                      <p:to>
                                        <p:strVal val="visible"/>
                                      </p:to>
                                    </p:set>
                                    <p:anim calcmode="lin" valueType="num">
                                      <p:cBhvr additive="base">
                                        <p:cTn id="15" dur="500" fill="hold"/>
                                        <p:tgtEl>
                                          <p:spTgt spid="144424"/>
                                        </p:tgtEl>
                                        <p:attrNameLst>
                                          <p:attrName>ppt_x</p:attrName>
                                        </p:attrNameLst>
                                      </p:cBhvr>
                                      <p:tavLst>
                                        <p:tav tm="0">
                                          <p:val>
                                            <p:strVal val="#ppt_x"/>
                                          </p:val>
                                        </p:tav>
                                        <p:tav tm="100000">
                                          <p:val>
                                            <p:strVal val="#ppt_x"/>
                                          </p:val>
                                        </p:tav>
                                      </p:tavLst>
                                    </p:anim>
                                    <p:anim calcmode="lin" valueType="num">
                                      <p:cBhvr additive="base">
                                        <p:cTn id="16" dur="500" fill="hold"/>
                                        <p:tgtEl>
                                          <p:spTgt spid="14442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4425"/>
                                        </p:tgtEl>
                                        <p:attrNameLst>
                                          <p:attrName>style.visibility</p:attrName>
                                        </p:attrNameLst>
                                      </p:cBhvr>
                                      <p:to>
                                        <p:strVal val="visible"/>
                                      </p:to>
                                    </p:set>
                                    <p:anim calcmode="lin" valueType="num">
                                      <p:cBhvr additive="base">
                                        <p:cTn id="19" dur="500" fill="hold"/>
                                        <p:tgtEl>
                                          <p:spTgt spid="144425"/>
                                        </p:tgtEl>
                                        <p:attrNameLst>
                                          <p:attrName>ppt_x</p:attrName>
                                        </p:attrNameLst>
                                      </p:cBhvr>
                                      <p:tavLst>
                                        <p:tav tm="0">
                                          <p:val>
                                            <p:strVal val="#ppt_x"/>
                                          </p:val>
                                        </p:tav>
                                        <p:tav tm="100000">
                                          <p:val>
                                            <p:strVal val="#ppt_x"/>
                                          </p:val>
                                        </p:tav>
                                      </p:tavLst>
                                    </p:anim>
                                    <p:anim calcmode="lin" valueType="num">
                                      <p:cBhvr additive="base">
                                        <p:cTn id="20" dur="500" fill="hold"/>
                                        <p:tgtEl>
                                          <p:spTgt spid="14442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4426"/>
                                        </p:tgtEl>
                                        <p:attrNameLst>
                                          <p:attrName>style.visibility</p:attrName>
                                        </p:attrNameLst>
                                      </p:cBhvr>
                                      <p:to>
                                        <p:strVal val="visible"/>
                                      </p:to>
                                    </p:set>
                                    <p:anim calcmode="lin" valueType="num">
                                      <p:cBhvr additive="base">
                                        <p:cTn id="23" dur="500" fill="hold"/>
                                        <p:tgtEl>
                                          <p:spTgt spid="144426"/>
                                        </p:tgtEl>
                                        <p:attrNameLst>
                                          <p:attrName>ppt_x</p:attrName>
                                        </p:attrNameLst>
                                      </p:cBhvr>
                                      <p:tavLst>
                                        <p:tav tm="0">
                                          <p:val>
                                            <p:strVal val="#ppt_x"/>
                                          </p:val>
                                        </p:tav>
                                        <p:tav tm="100000">
                                          <p:val>
                                            <p:strVal val="#ppt_x"/>
                                          </p:val>
                                        </p:tav>
                                      </p:tavLst>
                                    </p:anim>
                                    <p:anim calcmode="lin" valueType="num">
                                      <p:cBhvr additive="base">
                                        <p:cTn id="24" dur="500" fill="hold"/>
                                        <p:tgtEl>
                                          <p:spTgt spid="14442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4427"/>
                                        </p:tgtEl>
                                        <p:attrNameLst>
                                          <p:attrName>style.visibility</p:attrName>
                                        </p:attrNameLst>
                                      </p:cBhvr>
                                      <p:to>
                                        <p:strVal val="visible"/>
                                      </p:to>
                                    </p:set>
                                    <p:anim calcmode="lin" valueType="num">
                                      <p:cBhvr additive="base">
                                        <p:cTn id="27" dur="500" fill="hold"/>
                                        <p:tgtEl>
                                          <p:spTgt spid="144427"/>
                                        </p:tgtEl>
                                        <p:attrNameLst>
                                          <p:attrName>ppt_x</p:attrName>
                                        </p:attrNameLst>
                                      </p:cBhvr>
                                      <p:tavLst>
                                        <p:tav tm="0">
                                          <p:val>
                                            <p:strVal val="#ppt_x"/>
                                          </p:val>
                                        </p:tav>
                                        <p:tav tm="100000">
                                          <p:val>
                                            <p:strVal val="#ppt_x"/>
                                          </p:val>
                                        </p:tav>
                                      </p:tavLst>
                                    </p:anim>
                                    <p:anim calcmode="lin" valueType="num">
                                      <p:cBhvr additive="base">
                                        <p:cTn id="28" dur="500" fill="hold"/>
                                        <p:tgtEl>
                                          <p:spTgt spid="144427"/>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44428"/>
                                        </p:tgtEl>
                                        <p:attrNameLst>
                                          <p:attrName>style.visibility</p:attrName>
                                        </p:attrNameLst>
                                      </p:cBhvr>
                                      <p:to>
                                        <p:strVal val="visible"/>
                                      </p:to>
                                    </p:set>
                                    <p:anim calcmode="lin" valueType="num">
                                      <p:cBhvr additive="base">
                                        <p:cTn id="31" dur="500" fill="hold"/>
                                        <p:tgtEl>
                                          <p:spTgt spid="144428"/>
                                        </p:tgtEl>
                                        <p:attrNameLst>
                                          <p:attrName>ppt_x</p:attrName>
                                        </p:attrNameLst>
                                      </p:cBhvr>
                                      <p:tavLst>
                                        <p:tav tm="0">
                                          <p:val>
                                            <p:strVal val="#ppt_x"/>
                                          </p:val>
                                        </p:tav>
                                        <p:tav tm="100000">
                                          <p:val>
                                            <p:strVal val="#ppt_x"/>
                                          </p:val>
                                        </p:tav>
                                      </p:tavLst>
                                    </p:anim>
                                    <p:anim calcmode="lin" valueType="num">
                                      <p:cBhvr additive="base">
                                        <p:cTn id="32" dur="500" fill="hold"/>
                                        <p:tgtEl>
                                          <p:spTgt spid="14442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44429"/>
                                        </p:tgtEl>
                                        <p:attrNameLst>
                                          <p:attrName>style.visibility</p:attrName>
                                        </p:attrNameLst>
                                      </p:cBhvr>
                                      <p:to>
                                        <p:strVal val="visible"/>
                                      </p:to>
                                    </p:set>
                                    <p:anim calcmode="lin" valueType="num">
                                      <p:cBhvr additive="base">
                                        <p:cTn id="35" dur="500" fill="hold"/>
                                        <p:tgtEl>
                                          <p:spTgt spid="144429"/>
                                        </p:tgtEl>
                                        <p:attrNameLst>
                                          <p:attrName>ppt_x</p:attrName>
                                        </p:attrNameLst>
                                      </p:cBhvr>
                                      <p:tavLst>
                                        <p:tav tm="0">
                                          <p:val>
                                            <p:strVal val="#ppt_x"/>
                                          </p:val>
                                        </p:tav>
                                        <p:tav tm="100000">
                                          <p:val>
                                            <p:strVal val="#ppt_x"/>
                                          </p:val>
                                        </p:tav>
                                      </p:tavLst>
                                    </p:anim>
                                    <p:anim calcmode="lin" valueType="num">
                                      <p:cBhvr additive="base">
                                        <p:cTn id="36" dur="500" fill="hold"/>
                                        <p:tgtEl>
                                          <p:spTgt spid="144429"/>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44430"/>
                                        </p:tgtEl>
                                        <p:attrNameLst>
                                          <p:attrName>style.visibility</p:attrName>
                                        </p:attrNameLst>
                                      </p:cBhvr>
                                      <p:to>
                                        <p:strVal val="visible"/>
                                      </p:to>
                                    </p:set>
                                    <p:anim calcmode="lin" valueType="num">
                                      <p:cBhvr additive="base">
                                        <p:cTn id="39" dur="500" fill="hold"/>
                                        <p:tgtEl>
                                          <p:spTgt spid="144430"/>
                                        </p:tgtEl>
                                        <p:attrNameLst>
                                          <p:attrName>ppt_x</p:attrName>
                                        </p:attrNameLst>
                                      </p:cBhvr>
                                      <p:tavLst>
                                        <p:tav tm="0">
                                          <p:val>
                                            <p:strVal val="#ppt_x"/>
                                          </p:val>
                                        </p:tav>
                                        <p:tav tm="100000">
                                          <p:val>
                                            <p:strVal val="#ppt_x"/>
                                          </p:val>
                                        </p:tav>
                                      </p:tavLst>
                                    </p:anim>
                                    <p:anim calcmode="lin" valueType="num">
                                      <p:cBhvr additive="base">
                                        <p:cTn id="40" dur="500" fill="hold"/>
                                        <p:tgtEl>
                                          <p:spTgt spid="144430"/>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44431"/>
                                        </p:tgtEl>
                                        <p:attrNameLst>
                                          <p:attrName>style.visibility</p:attrName>
                                        </p:attrNameLst>
                                      </p:cBhvr>
                                      <p:to>
                                        <p:strVal val="visible"/>
                                      </p:to>
                                    </p:set>
                                    <p:anim calcmode="lin" valueType="num">
                                      <p:cBhvr additive="base">
                                        <p:cTn id="43" dur="500" fill="hold"/>
                                        <p:tgtEl>
                                          <p:spTgt spid="144431"/>
                                        </p:tgtEl>
                                        <p:attrNameLst>
                                          <p:attrName>ppt_x</p:attrName>
                                        </p:attrNameLst>
                                      </p:cBhvr>
                                      <p:tavLst>
                                        <p:tav tm="0">
                                          <p:val>
                                            <p:strVal val="#ppt_x"/>
                                          </p:val>
                                        </p:tav>
                                        <p:tav tm="100000">
                                          <p:val>
                                            <p:strVal val="#ppt_x"/>
                                          </p:val>
                                        </p:tav>
                                      </p:tavLst>
                                    </p:anim>
                                    <p:anim calcmode="lin" valueType="num">
                                      <p:cBhvr additive="base">
                                        <p:cTn id="44" dur="500" fill="hold"/>
                                        <p:tgtEl>
                                          <p:spTgt spid="14443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44432"/>
                                        </p:tgtEl>
                                        <p:attrNameLst>
                                          <p:attrName>style.visibility</p:attrName>
                                        </p:attrNameLst>
                                      </p:cBhvr>
                                      <p:to>
                                        <p:strVal val="visible"/>
                                      </p:to>
                                    </p:set>
                                    <p:anim calcmode="lin" valueType="num">
                                      <p:cBhvr additive="base">
                                        <p:cTn id="47" dur="500" fill="hold"/>
                                        <p:tgtEl>
                                          <p:spTgt spid="144432"/>
                                        </p:tgtEl>
                                        <p:attrNameLst>
                                          <p:attrName>ppt_x</p:attrName>
                                        </p:attrNameLst>
                                      </p:cBhvr>
                                      <p:tavLst>
                                        <p:tav tm="0">
                                          <p:val>
                                            <p:strVal val="#ppt_x"/>
                                          </p:val>
                                        </p:tav>
                                        <p:tav tm="100000">
                                          <p:val>
                                            <p:strVal val="#ppt_x"/>
                                          </p:val>
                                        </p:tav>
                                      </p:tavLst>
                                    </p:anim>
                                    <p:anim calcmode="lin" valueType="num">
                                      <p:cBhvr additive="base">
                                        <p:cTn id="48" dur="500" fill="hold"/>
                                        <p:tgtEl>
                                          <p:spTgt spid="144432"/>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44433"/>
                                        </p:tgtEl>
                                        <p:attrNameLst>
                                          <p:attrName>style.visibility</p:attrName>
                                        </p:attrNameLst>
                                      </p:cBhvr>
                                      <p:to>
                                        <p:strVal val="visible"/>
                                      </p:to>
                                    </p:set>
                                    <p:anim calcmode="lin" valueType="num">
                                      <p:cBhvr additive="base">
                                        <p:cTn id="51" dur="500" fill="hold"/>
                                        <p:tgtEl>
                                          <p:spTgt spid="144433"/>
                                        </p:tgtEl>
                                        <p:attrNameLst>
                                          <p:attrName>ppt_x</p:attrName>
                                        </p:attrNameLst>
                                      </p:cBhvr>
                                      <p:tavLst>
                                        <p:tav tm="0">
                                          <p:val>
                                            <p:strVal val="#ppt_x"/>
                                          </p:val>
                                        </p:tav>
                                        <p:tav tm="100000">
                                          <p:val>
                                            <p:strVal val="#ppt_x"/>
                                          </p:val>
                                        </p:tav>
                                      </p:tavLst>
                                    </p:anim>
                                    <p:anim calcmode="lin" valueType="num">
                                      <p:cBhvr additive="base">
                                        <p:cTn id="52" dur="500" fill="hold"/>
                                        <p:tgtEl>
                                          <p:spTgt spid="14443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44434"/>
                                        </p:tgtEl>
                                        <p:attrNameLst>
                                          <p:attrName>style.visibility</p:attrName>
                                        </p:attrNameLst>
                                      </p:cBhvr>
                                      <p:to>
                                        <p:strVal val="visible"/>
                                      </p:to>
                                    </p:set>
                                    <p:anim calcmode="lin" valueType="num">
                                      <p:cBhvr additive="base">
                                        <p:cTn id="55" dur="500" fill="hold"/>
                                        <p:tgtEl>
                                          <p:spTgt spid="144434"/>
                                        </p:tgtEl>
                                        <p:attrNameLst>
                                          <p:attrName>ppt_x</p:attrName>
                                        </p:attrNameLst>
                                      </p:cBhvr>
                                      <p:tavLst>
                                        <p:tav tm="0">
                                          <p:val>
                                            <p:strVal val="#ppt_x"/>
                                          </p:val>
                                        </p:tav>
                                        <p:tav tm="100000">
                                          <p:val>
                                            <p:strVal val="#ppt_x"/>
                                          </p:val>
                                        </p:tav>
                                      </p:tavLst>
                                    </p:anim>
                                    <p:anim calcmode="lin" valueType="num">
                                      <p:cBhvr additive="base">
                                        <p:cTn id="56" dur="500" fill="hold"/>
                                        <p:tgtEl>
                                          <p:spTgt spid="144434"/>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44435"/>
                                        </p:tgtEl>
                                        <p:attrNameLst>
                                          <p:attrName>style.visibility</p:attrName>
                                        </p:attrNameLst>
                                      </p:cBhvr>
                                      <p:to>
                                        <p:strVal val="visible"/>
                                      </p:to>
                                    </p:set>
                                    <p:anim calcmode="lin" valueType="num">
                                      <p:cBhvr additive="base">
                                        <p:cTn id="59" dur="500" fill="hold"/>
                                        <p:tgtEl>
                                          <p:spTgt spid="144435"/>
                                        </p:tgtEl>
                                        <p:attrNameLst>
                                          <p:attrName>ppt_x</p:attrName>
                                        </p:attrNameLst>
                                      </p:cBhvr>
                                      <p:tavLst>
                                        <p:tav tm="0">
                                          <p:val>
                                            <p:strVal val="#ppt_x"/>
                                          </p:val>
                                        </p:tav>
                                        <p:tav tm="100000">
                                          <p:val>
                                            <p:strVal val="#ppt_x"/>
                                          </p:val>
                                        </p:tav>
                                      </p:tavLst>
                                    </p:anim>
                                    <p:anim calcmode="lin" valueType="num">
                                      <p:cBhvr additive="base">
                                        <p:cTn id="60" dur="500" fill="hold"/>
                                        <p:tgtEl>
                                          <p:spTgt spid="144435"/>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44436"/>
                                        </p:tgtEl>
                                        <p:attrNameLst>
                                          <p:attrName>style.visibility</p:attrName>
                                        </p:attrNameLst>
                                      </p:cBhvr>
                                      <p:to>
                                        <p:strVal val="visible"/>
                                      </p:to>
                                    </p:set>
                                    <p:anim calcmode="lin" valueType="num">
                                      <p:cBhvr additive="base">
                                        <p:cTn id="63" dur="500" fill="hold"/>
                                        <p:tgtEl>
                                          <p:spTgt spid="144436"/>
                                        </p:tgtEl>
                                        <p:attrNameLst>
                                          <p:attrName>ppt_x</p:attrName>
                                        </p:attrNameLst>
                                      </p:cBhvr>
                                      <p:tavLst>
                                        <p:tav tm="0">
                                          <p:val>
                                            <p:strVal val="#ppt_x"/>
                                          </p:val>
                                        </p:tav>
                                        <p:tav tm="100000">
                                          <p:val>
                                            <p:strVal val="#ppt_x"/>
                                          </p:val>
                                        </p:tav>
                                      </p:tavLst>
                                    </p:anim>
                                    <p:anim calcmode="lin" valueType="num">
                                      <p:cBhvr additive="base">
                                        <p:cTn id="64" dur="500" fill="hold"/>
                                        <p:tgtEl>
                                          <p:spTgt spid="144436"/>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44437"/>
                                        </p:tgtEl>
                                        <p:attrNameLst>
                                          <p:attrName>style.visibility</p:attrName>
                                        </p:attrNameLst>
                                      </p:cBhvr>
                                      <p:to>
                                        <p:strVal val="visible"/>
                                      </p:to>
                                    </p:set>
                                    <p:anim calcmode="lin" valueType="num">
                                      <p:cBhvr additive="base">
                                        <p:cTn id="67" dur="500" fill="hold"/>
                                        <p:tgtEl>
                                          <p:spTgt spid="144437"/>
                                        </p:tgtEl>
                                        <p:attrNameLst>
                                          <p:attrName>ppt_x</p:attrName>
                                        </p:attrNameLst>
                                      </p:cBhvr>
                                      <p:tavLst>
                                        <p:tav tm="0">
                                          <p:val>
                                            <p:strVal val="#ppt_x"/>
                                          </p:val>
                                        </p:tav>
                                        <p:tav tm="100000">
                                          <p:val>
                                            <p:strVal val="#ppt_x"/>
                                          </p:val>
                                        </p:tav>
                                      </p:tavLst>
                                    </p:anim>
                                    <p:anim calcmode="lin" valueType="num">
                                      <p:cBhvr additive="base">
                                        <p:cTn id="68" dur="500" fill="hold"/>
                                        <p:tgtEl>
                                          <p:spTgt spid="144437"/>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44438"/>
                                        </p:tgtEl>
                                        <p:attrNameLst>
                                          <p:attrName>style.visibility</p:attrName>
                                        </p:attrNameLst>
                                      </p:cBhvr>
                                      <p:to>
                                        <p:strVal val="visible"/>
                                      </p:to>
                                    </p:set>
                                    <p:anim calcmode="lin" valueType="num">
                                      <p:cBhvr additive="base">
                                        <p:cTn id="71" dur="500" fill="hold"/>
                                        <p:tgtEl>
                                          <p:spTgt spid="144438"/>
                                        </p:tgtEl>
                                        <p:attrNameLst>
                                          <p:attrName>ppt_x</p:attrName>
                                        </p:attrNameLst>
                                      </p:cBhvr>
                                      <p:tavLst>
                                        <p:tav tm="0">
                                          <p:val>
                                            <p:strVal val="#ppt_x"/>
                                          </p:val>
                                        </p:tav>
                                        <p:tav tm="100000">
                                          <p:val>
                                            <p:strVal val="#ppt_x"/>
                                          </p:val>
                                        </p:tav>
                                      </p:tavLst>
                                    </p:anim>
                                    <p:anim calcmode="lin" valueType="num">
                                      <p:cBhvr additive="base">
                                        <p:cTn id="72" dur="500" fill="hold"/>
                                        <p:tgtEl>
                                          <p:spTgt spid="144438"/>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44440"/>
                                        </p:tgtEl>
                                        <p:attrNameLst>
                                          <p:attrName>style.visibility</p:attrName>
                                        </p:attrNameLst>
                                      </p:cBhvr>
                                      <p:to>
                                        <p:strVal val="visible"/>
                                      </p:to>
                                    </p:set>
                                    <p:anim calcmode="lin" valueType="num">
                                      <p:cBhvr additive="base">
                                        <p:cTn id="75" dur="500" fill="hold"/>
                                        <p:tgtEl>
                                          <p:spTgt spid="144440"/>
                                        </p:tgtEl>
                                        <p:attrNameLst>
                                          <p:attrName>ppt_x</p:attrName>
                                        </p:attrNameLst>
                                      </p:cBhvr>
                                      <p:tavLst>
                                        <p:tav tm="0">
                                          <p:val>
                                            <p:strVal val="#ppt_x"/>
                                          </p:val>
                                        </p:tav>
                                        <p:tav tm="100000">
                                          <p:val>
                                            <p:strVal val="#ppt_x"/>
                                          </p:val>
                                        </p:tav>
                                      </p:tavLst>
                                    </p:anim>
                                    <p:anim calcmode="lin" valueType="num">
                                      <p:cBhvr additive="base">
                                        <p:cTn id="76" dur="500" fill="hold"/>
                                        <p:tgtEl>
                                          <p:spTgt spid="144440"/>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144441"/>
                                        </p:tgtEl>
                                        <p:attrNameLst>
                                          <p:attrName>style.visibility</p:attrName>
                                        </p:attrNameLst>
                                      </p:cBhvr>
                                      <p:to>
                                        <p:strVal val="visible"/>
                                      </p:to>
                                    </p:set>
                                    <p:anim calcmode="lin" valueType="num">
                                      <p:cBhvr additive="base">
                                        <p:cTn id="79" dur="500" fill="hold"/>
                                        <p:tgtEl>
                                          <p:spTgt spid="144441"/>
                                        </p:tgtEl>
                                        <p:attrNameLst>
                                          <p:attrName>ppt_x</p:attrName>
                                        </p:attrNameLst>
                                      </p:cBhvr>
                                      <p:tavLst>
                                        <p:tav tm="0">
                                          <p:val>
                                            <p:strVal val="#ppt_x"/>
                                          </p:val>
                                        </p:tav>
                                        <p:tav tm="100000">
                                          <p:val>
                                            <p:strVal val="#ppt_x"/>
                                          </p:val>
                                        </p:tav>
                                      </p:tavLst>
                                    </p:anim>
                                    <p:anim calcmode="lin" valueType="num">
                                      <p:cBhvr additive="base">
                                        <p:cTn id="80" dur="500" fill="hold"/>
                                        <p:tgtEl>
                                          <p:spTgt spid="144441"/>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144442"/>
                                        </p:tgtEl>
                                        <p:attrNameLst>
                                          <p:attrName>style.visibility</p:attrName>
                                        </p:attrNameLst>
                                      </p:cBhvr>
                                      <p:to>
                                        <p:strVal val="visible"/>
                                      </p:to>
                                    </p:set>
                                    <p:anim calcmode="lin" valueType="num">
                                      <p:cBhvr additive="base">
                                        <p:cTn id="83" dur="500" fill="hold"/>
                                        <p:tgtEl>
                                          <p:spTgt spid="144442"/>
                                        </p:tgtEl>
                                        <p:attrNameLst>
                                          <p:attrName>ppt_x</p:attrName>
                                        </p:attrNameLst>
                                      </p:cBhvr>
                                      <p:tavLst>
                                        <p:tav tm="0">
                                          <p:val>
                                            <p:strVal val="#ppt_x"/>
                                          </p:val>
                                        </p:tav>
                                        <p:tav tm="100000">
                                          <p:val>
                                            <p:strVal val="#ppt_x"/>
                                          </p:val>
                                        </p:tav>
                                      </p:tavLst>
                                    </p:anim>
                                    <p:anim calcmode="lin" valueType="num">
                                      <p:cBhvr additive="base">
                                        <p:cTn id="84" dur="500" fill="hold"/>
                                        <p:tgtEl>
                                          <p:spTgt spid="144442"/>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144443"/>
                                        </p:tgtEl>
                                        <p:attrNameLst>
                                          <p:attrName>style.visibility</p:attrName>
                                        </p:attrNameLst>
                                      </p:cBhvr>
                                      <p:to>
                                        <p:strVal val="visible"/>
                                      </p:to>
                                    </p:set>
                                    <p:anim calcmode="lin" valueType="num">
                                      <p:cBhvr additive="base">
                                        <p:cTn id="87" dur="500" fill="hold"/>
                                        <p:tgtEl>
                                          <p:spTgt spid="144443"/>
                                        </p:tgtEl>
                                        <p:attrNameLst>
                                          <p:attrName>ppt_x</p:attrName>
                                        </p:attrNameLst>
                                      </p:cBhvr>
                                      <p:tavLst>
                                        <p:tav tm="0">
                                          <p:val>
                                            <p:strVal val="#ppt_x"/>
                                          </p:val>
                                        </p:tav>
                                        <p:tav tm="100000">
                                          <p:val>
                                            <p:strVal val="#ppt_x"/>
                                          </p:val>
                                        </p:tav>
                                      </p:tavLst>
                                    </p:anim>
                                    <p:anim calcmode="lin" valueType="num">
                                      <p:cBhvr additive="base">
                                        <p:cTn id="88" dur="500" fill="hold"/>
                                        <p:tgtEl>
                                          <p:spTgt spid="144443"/>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144444"/>
                                        </p:tgtEl>
                                        <p:attrNameLst>
                                          <p:attrName>style.visibility</p:attrName>
                                        </p:attrNameLst>
                                      </p:cBhvr>
                                      <p:to>
                                        <p:strVal val="visible"/>
                                      </p:to>
                                    </p:set>
                                    <p:anim calcmode="lin" valueType="num">
                                      <p:cBhvr additive="base">
                                        <p:cTn id="91" dur="500" fill="hold"/>
                                        <p:tgtEl>
                                          <p:spTgt spid="144444"/>
                                        </p:tgtEl>
                                        <p:attrNameLst>
                                          <p:attrName>ppt_x</p:attrName>
                                        </p:attrNameLst>
                                      </p:cBhvr>
                                      <p:tavLst>
                                        <p:tav tm="0">
                                          <p:val>
                                            <p:strVal val="#ppt_x"/>
                                          </p:val>
                                        </p:tav>
                                        <p:tav tm="100000">
                                          <p:val>
                                            <p:strVal val="#ppt_x"/>
                                          </p:val>
                                        </p:tav>
                                      </p:tavLst>
                                    </p:anim>
                                    <p:anim calcmode="lin" valueType="num">
                                      <p:cBhvr additive="base">
                                        <p:cTn id="92" dur="500" fill="hold"/>
                                        <p:tgtEl>
                                          <p:spTgt spid="144444"/>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144445"/>
                                        </p:tgtEl>
                                        <p:attrNameLst>
                                          <p:attrName>style.visibility</p:attrName>
                                        </p:attrNameLst>
                                      </p:cBhvr>
                                      <p:to>
                                        <p:strVal val="visible"/>
                                      </p:to>
                                    </p:set>
                                    <p:anim calcmode="lin" valueType="num">
                                      <p:cBhvr additive="base">
                                        <p:cTn id="95" dur="500" fill="hold"/>
                                        <p:tgtEl>
                                          <p:spTgt spid="144445"/>
                                        </p:tgtEl>
                                        <p:attrNameLst>
                                          <p:attrName>ppt_x</p:attrName>
                                        </p:attrNameLst>
                                      </p:cBhvr>
                                      <p:tavLst>
                                        <p:tav tm="0">
                                          <p:val>
                                            <p:strVal val="#ppt_x"/>
                                          </p:val>
                                        </p:tav>
                                        <p:tav tm="100000">
                                          <p:val>
                                            <p:strVal val="#ppt_x"/>
                                          </p:val>
                                        </p:tav>
                                      </p:tavLst>
                                    </p:anim>
                                    <p:anim calcmode="lin" valueType="num">
                                      <p:cBhvr additive="base">
                                        <p:cTn id="96" dur="500" fill="hold"/>
                                        <p:tgtEl>
                                          <p:spTgt spid="144445"/>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144446"/>
                                        </p:tgtEl>
                                        <p:attrNameLst>
                                          <p:attrName>style.visibility</p:attrName>
                                        </p:attrNameLst>
                                      </p:cBhvr>
                                      <p:to>
                                        <p:strVal val="visible"/>
                                      </p:to>
                                    </p:set>
                                    <p:anim calcmode="lin" valueType="num">
                                      <p:cBhvr additive="base">
                                        <p:cTn id="99" dur="500" fill="hold"/>
                                        <p:tgtEl>
                                          <p:spTgt spid="144446"/>
                                        </p:tgtEl>
                                        <p:attrNameLst>
                                          <p:attrName>ppt_x</p:attrName>
                                        </p:attrNameLst>
                                      </p:cBhvr>
                                      <p:tavLst>
                                        <p:tav tm="0">
                                          <p:val>
                                            <p:strVal val="#ppt_x"/>
                                          </p:val>
                                        </p:tav>
                                        <p:tav tm="100000">
                                          <p:val>
                                            <p:strVal val="#ppt_x"/>
                                          </p:val>
                                        </p:tav>
                                      </p:tavLst>
                                    </p:anim>
                                    <p:anim calcmode="lin" valueType="num">
                                      <p:cBhvr additive="base">
                                        <p:cTn id="100" dur="500" fill="hold"/>
                                        <p:tgtEl>
                                          <p:spTgt spid="144446"/>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144447"/>
                                        </p:tgtEl>
                                        <p:attrNameLst>
                                          <p:attrName>style.visibility</p:attrName>
                                        </p:attrNameLst>
                                      </p:cBhvr>
                                      <p:to>
                                        <p:strVal val="visible"/>
                                      </p:to>
                                    </p:set>
                                    <p:anim calcmode="lin" valueType="num">
                                      <p:cBhvr additive="base">
                                        <p:cTn id="103" dur="500" fill="hold"/>
                                        <p:tgtEl>
                                          <p:spTgt spid="144447"/>
                                        </p:tgtEl>
                                        <p:attrNameLst>
                                          <p:attrName>ppt_x</p:attrName>
                                        </p:attrNameLst>
                                      </p:cBhvr>
                                      <p:tavLst>
                                        <p:tav tm="0">
                                          <p:val>
                                            <p:strVal val="#ppt_x"/>
                                          </p:val>
                                        </p:tav>
                                        <p:tav tm="100000">
                                          <p:val>
                                            <p:strVal val="#ppt_x"/>
                                          </p:val>
                                        </p:tav>
                                      </p:tavLst>
                                    </p:anim>
                                    <p:anim calcmode="lin" valueType="num">
                                      <p:cBhvr additive="base">
                                        <p:cTn id="104" dur="500" fill="hold"/>
                                        <p:tgtEl>
                                          <p:spTgt spid="144447"/>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144448"/>
                                        </p:tgtEl>
                                        <p:attrNameLst>
                                          <p:attrName>style.visibility</p:attrName>
                                        </p:attrNameLst>
                                      </p:cBhvr>
                                      <p:to>
                                        <p:strVal val="visible"/>
                                      </p:to>
                                    </p:set>
                                    <p:anim calcmode="lin" valueType="num">
                                      <p:cBhvr additive="base">
                                        <p:cTn id="107" dur="500" fill="hold"/>
                                        <p:tgtEl>
                                          <p:spTgt spid="144448"/>
                                        </p:tgtEl>
                                        <p:attrNameLst>
                                          <p:attrName>ppt_x</p:attrName>
                                        </p:attrNameLst>
                                      </p:cBhvr>
                                      <p:tavLst>
                                        <p:tav tm="0">
                                          <p:val>
                                            <p:strVal val="#ppt_x"/>
                                          </p:val>
                                        </p:tav>
                                        <p:tav tm="100000">
                                          <p:val>
                                            <p:strVal val="#ppt_x"/>
                                          </p:val>
                                        </p:tav>
                                      </p:tavLst>
                                    </p:anim>
                                    <p:anim calcmode="lin" valueType="num">
                                      <p:cBhvr additive="base">
                                        <p:cTn id="108" dur="500" fill="hold"/>
                                        <p:tgtEl>
                                          <p:spTgt spid="144448"/>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144449"/>
                                        </p:tgtEl>
                                        <p:attrNameLst>
                                          <p:attrName>style.visibility</p:attrName>
                                        </p:attrNameLst>
                                      </p:cBhvr>
                                      <p:to>
                                        <p:strVal val="visible"/>
                                      </p:to>
                                    </p:set>
                                    <p:anim calcmode="lin" valueType="num">
                                      <p:cBhvr additive="base">
                                        <p:cTn id="111" dur="500" fill="hold"/>
                                        <p:tgtEl>
                                          <p:spTgt spid="144449"/>
                                        </p:tgtEl>
                                        <p:attrNameLst>
                                          <p:attrName>ppt_x</p:attrName>
                                        </p:attrNameLst>
                                      </p:cBhvr>
                                      <p:tavLst>
                                        <p:tav tm="0">
                                          <p:val>
                                            <p:strVal val="#ppt_x"/>
                                          </p:val>
                                        </p:tav>
                                        <p:tav tm="100000">
                                          <p:val>
                                            <p:strVal val="#ppt_x"/>
                                          </p:val>
                                        </p:tav>
                                      </p:tavLst>
                                    </p:anim>
                                    <p:anim calcmode="lin" valueType="num">
                                      <p:cBhvr additive="base">
                                        <p:cTn id="112" dur="500" fill="hold"/>
                                        <p:tgtEl>
                                          <p:spTgt spid="144449"/>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144450"/>
                                        </p:tgtEl>
                                        <p:attrNameLst>
                                          <p:attrName>style.visibility</p:attrName>
                                        </p:attrNameLst>
                                      </p:cBhvr>
                                      <p:to>
                                        <p:strVal val="visible"/>
                                      </p:to>
                                    </p:set>
                                    <p:anim calcmode="lin" valueType="num">
                                      <p:cBhvr additive="base">
                                        <p:cTn id="115" dur="500" fill="hold"/>
                                        <p:tgtEl>
                                          <p:spTgt spid="144450"/>
                                        </p:tgtEl>
                                        <p:attrNameLst>
                                          <p:attrName>ppt_x</p:attrName>
                                        </p:attrNameLst>
                                      </p:cBhvr>
                                      <p:tavLst>
                                        <p:tav tm="0">
                                          <p:val>
                                            <p:strVal val="#ppt_x"/>
                                          </p:val>
                                        </p:tav>
                                        <p:tav tm="100000">
                                          <p:val>
                                            <p:strVal val="#ppt_x"/>
                                          </p:val>
                                        </p:tav>
                                      </p:tavLst>
                                    </p:anim>
                                    <p:anim calcmode="lin" valueType="num">
                                      <p:cBhvr additive="base">
                                        <p:cTn id="116" dur="500" fill="hold"/>
                                        <p:tgtEl>
                                          <p:spTgt spid="144450"/>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144451"/>
                                        </p:tgtEl>
                                        <p:attrNameLst>
                                          <p:attrName>style.visibility</p:attrName>
                                        </p:attrNameLst>
                                      </p:cBhvr>
                                      <p:to>
                                        <p:strVal val="visible"/>
                                      </p:to>
                                    </p:set>
                                    <p:anim calcmode="lin" valueType="num">
                                      <p:cBhvr additive="base">
                                        <p:cTn id="119" dur="500" fill="hold"/>
                                        <p:tgtEl>
                                          <p:spTgt spid="144451"/>
                                        </p:tgtEl>
                                        <p:attrNameLst>
                                          <p:attrName>ppt_x</p:attrName>
                                        </p:attrNameLst>
                                      </p:cBhvr>
                                      <p:tavLst>
                                        <p:tav tm="0">
                                          <p:val>
                                            <p:strVal val="#ppt_x"/>
                                          </p:val>
                                        </p:tav>
                                        <p:tav tm="100000">
                                          <p:val>
                                            <p:strVal val="#ppt_x"/>
                                          </p:val>
                                        </p:tav>
                                      </p:tavLst>
                                    </p:anim>
                                    <p:anim calcmode="lin" valueType="num">
                                      <p:cBhvr additive="base">
                                        <p:cTn id="120" dur="500" fill="hold"/>
                                        <p:tgtEl>
                                          <p:spTgt spid="144451"/>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144452"/>
                                        </p:tgtEl>
                                        <p:attrNameLst>
                                          <p:attrName>style.visibility</p:attrName>
                                        </p:attrNameLst>
                                      </p:cBhvr>
                                      <p:to>
                                        <p:strVal val="visible"/>
                                      </p:to>
                                    </p:set>
                                    <p:anim calcmode="lin" valueType="num">
                                      <p:cBhvr additive="base">
                                        <p:cTn id="123" dur="500" fill="hold"/>
                                        <p:tgtEl>
                                          <p:spTgt spid="144452"/>
                                        </p:tgtEl>
                                        <p:attrNameLst>
                                          <p:attrName>ppt_x</p:attrName>
                                        </p:attrNameLst>
                                      </p:cBhvr>
                                      <p:tavLst>
                                        <p:tav tm="0">
                                          <p:val>
                                            <p:strVal val="#ppt_x"/>
                                          </p:val>
                                        </p:tav>
                                        <p:tav tm="100000">
                                          <p:val>
                                            <p:strVal val="#ppt_x"/>
                                          </p:val>
                                        </p:tav>
                                      </p:tavLst>
                                    </p:anim>
                                    <p:anim calcmode="lin" valueType="num">
                                      <p:cBhvr additive="base">
                                        <p:cTn id="124" dur="500" fill="hold"/>
                                        <p:tgtEl>
                                          <p:spTgt spid="144452"/>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144453"/>
                                        </p:tgtEl>
                                        <p:attrNameLst>
                                          <p:attrName>style.visibility</p:attrName>
                                        </p:attrNameLst>
                                      </p:cBhvr>
                                      <p:to>
                                        <p:strVal val="visible"/>
                                      </p:to>
                                    </p:set>
                                    <p:anim calcmode="lin" valueType="num">
                                      <p:cBhvr additive="base">
                                        <p:cTn id="127" dur="500" fill="hold"/>
                                        <p:tgtEl>
                                          <p:spTgt spid="144453"/>
                                        </p:tgtEl>
                                        <p:attrNameLst>
                                          <p:attrName>ppt_x</p:attrName>
                                        </p:attrNameLst>
                                      </p:cBhvr>
                                      <p:tavLst>
                                        <p:tav tm="0">
                                          <p:val>
                                            <p:strVal val="#ppt_x"/>
                                          </p:val>
                                        </p:tav>
                                        <p:tav tm="100000">
                                          <p:val>
                                            <p:strVal val="#ppt_x"/>
                                          </p:val>
                                        </p:tav>
                                      </p:tavLst>
                                    </p:anim>
                                    <p:anim calcmode="lin" valueType="num">
                                      <p:cBhvr additive="base">
                                        <p:cTn id="128" dur="500" fill="hold"/>
                                        <p:tgtEl>
                                          <p:spTgt spid="144453"/>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144454"/>
                                        </p:tgtEl>
                                        <p:attrNameLst>
                                          <p:attrName>style.visibility</p:attrName>
                                        </p:attrNameLst>
                                      </p:cBhvr>
                                      <p:to>
                                        <p:strVal val="visible"/>
                                      </p:to>
                                    </p:set>
                                    <p:anim calcmode="lin" valueType="num">
                                      <p:cBhvr additive="base">
                                        <p:cTn id="131" dur="500" fill="hold"/>
                                        <p:tgtEl>
                                          <p:spTgt spid="144454"/>
                                        </p:tgtEl>
                                        <p:attrNameLst>
                                          <p:attrName>ppt_x</p:attrName>
                                        </p:attrNameLst>
                                      </p:cBhvr>
                                      <p:tavLst>
                                        <p:tav tm="0">
                                          <p:val>
                                            <p:strVal val="#ppt_x"/>
                                          </p:val>
                                        </p:tav>
                                        <p:tav tm="100000">
                                          <p:val>
                                            <p:strVal val="#ppt_x"/>
                                          </p:val>
                                        </p:tav>
                                      </p:tavLst>
                                    </p:anim>
                                    <p:anim calcmode="lin" valueType="num">
                                      <p:cBhvr additive="base">
                                        <p:cTn id="132" dur="500" fill="hold"/>
                                        <p:tgtEl>
                                          <p:spTgt spid="144454"/>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144455"/>
                                        </p:tgtEl>
                                        <p:attrNameLst>
                                          <p:attrName>style.visibility</p:attrName>
                                        </p:attrNameLst>
                                      </p:cBhvr>
                                      <p:to>
                                        <p:strVal val="visible"/>
                                      </p:to>
                                    </p:set>
                                    <p:anim calcmode="lin" valueType="num">
                                      <p:cBhvr additive="base">
                                        <p:cTn id="135" dur="500" fill="hold"/>
                                        <p:tgtEl>
                                          <p:spTgt spid="144455"/>
                                        </p:tgtEl>
                                        <p:attrNameLst>
                                          <p:attrName>ppt_x</p:attrName>
                                        </p:attrNameLst>
                                      </p:cBhvr>
                                      <p:tavLst>
                                        <p:tav tm="0">
                                          <p:val>
                                            <p:strVal val="#ppt_x"/>
                                          </p:val>
                                        </p:tav>
                                        <p:tav tm="100000">
                                          <p:val>
                                            <p:strVal val="#ppt_x"/>
                                          </p:val>
                                        </p:tav>
                                      </p:tavLst>
                                    </p:anim>
                                    <p:anim calcmode="lin" valueType="num">
                                      <p:cBhvr additive="base">
                                        <p:cTn id="136" dur="500" fill="hold"/>
                                        <p:tgtEl>
                                          <p:spTgt spid="144455"/>
                                        </p:tgtEl>
                                        <p:attrNameLst>
                                          <p:attrName>ppt_y</p:attrName>
                                        </p:attrNameLst>
                                      </p:cBhvr>
                                      <p:tavLst>
                                        <p:tav tm="0">
                                          <p:val>
                                            <p:strVal val="1+#ppt_h/2"/>
                                          </p:val>
                                        </p:tav>
                                        <p:tav tm="100000">
                                          <p:val>
                                            <p:strVal val="#ppt_y"/>
                                          </p:val>
                                        </p:tav>
                                      </p:tavLst>
                                    </p:anim>
                                  </p:childTnLst>
                                </p:cTn>
                              </p:par>
                              <p:par>
                                <p:cTn id="137" presetID="2" presetClass="entr" presetSubtype="4" fill="hold" nodeType="withEffect">
                                  <p:stCondLst>
                                    <p:cond delay="0"/>
                                  </p:stCondLst>
                                  <p:childTnLst>
                                    <p:set>
                                      <p:cBhvr>
                                        <p:cTn id="138" dur="1" fill="hold">
                                          <p:stCondLst>
                                            <p:cond delay="0"/>
                                          </p:stCondLst>
                                        </p:cTn>
                                        <p:tgtEl>
                                          <p:spTgt spid="144456"/>
                                        </p:tgtEl>
                                        <p:attrNameLst>
                                          <p:attrName>style.visibility</p:attrName>
                                        </p:attrNameLst>
                                      </p:cBhvr>
                                      <p:to>
                                        <p:strVal val="visible"/>
                                      </p:to>
                                    </p:set>
                                    <p:anim calcmode="lin" valueType="num">
                                      <p:cBhvr additive="base">
                                        <p:cTn id="139" dur="500" fill="hold"/>
                                        <p:tgtEl>
                                          <p:spTgt spid="144456"/>
                                        </p:tgtEl>
                                        <p:attrNameLst>
                                          <p:attrName>ppt_x</p:attrName>
                                        </p:attrNameLst>
                                      </p:cBhvr>
                                      <p:tavLst>
                                        <p:tav tm="0">
                                          <p:val>
                                            <p:strVal val="#ppt_x"/>
                                          </p:val>
                                        </p:tav>
                                        <p:tav tm="100000">
                                          <p:val>
                                            <p:strVal val="#ppt_x"/>
                                          </p:val>
                                        </p:tav>
                                      </p:tavLst>
                                    </p:anim>
                                    <p:anim calcmode="lin" valueType="num">
                                      <p:cBhvr additive="base">
                                        <p:cTn id="140" dur="500" fill="hold"/>
                                        <p:tgtEl>
                                          <p:spTgt spid="144456"/>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144458"/>
                                        </p:tgtEl>
                                        <p:attrNameLst>
                                          <p:attrName>style.visibility</p:attrName>
                                        </p:attrNameLst>
                                      </p:cBhvr>
                                      <p:to>
                                        <p:strVal val="visible"/>
                                      </p:to>
                                    </p:set>
                                    <p:anim calcmode="lin" valueType="num">
                                      <p:cBhvr additive="base">
                                        <p:cTn id="143" dur="500" fill="hold"/>
                                        <p:tgtEl>
                                          <p:spTgt spid="144458"/>
                                        </p:tgtEl>
                                        <p:attrNameLst>
                                          <p:attrName>ppt_x</p:attrName>
                                        </p:attrNameLst>
                                      </p:cBhvr>
                                      <p:tavLst>
                                        <p:tav tm="0">
                                          <p:val>
                                            <p:strVal val="#ppt_x"/>
                                          </p:val>
                                        </p:tav>
                                        <p:tav tm="100000">
                                          <p:val>
                                            <p:strVal val="#ppt_x"/>
                                          </p:val>
                                        </p:tav>
                                      </p:tavLst>
                                    </p:anim>
                                    <p:anim calcmode="lin" valueType="num">
                                      <p:cBhvr additive="base">
                                        <p:cTn id="144" dur="500" fill="hold"/>
                                        <p:tgtEl>
                                          <p:spTgt spid="144458"/>
                                        </p:tgtEl>
                                        <p:attrNameLst>
                                          <p:attrName>ppt_y</p:attrName>
                                        </p:attrNameLst>
                                      </p:cBhvr>
                                      <p:tavLst>
                                        <p:tav tm="0">
                                          <p:val>
                                            <p:strVal val="1+#ppt_h/2"/>
                                          </p:val>
                                        </p:tav>
                                        <p:tav tm="100000">
                                          <p:val>
                                            <p:strVal val="#ppt_y"/>
                                          </p:val>
                                        </p:tav>
                                      </p:tavLst>
                                    </p:anim>
                                  </p:childTnLst>
                                </p:cTn>
                              </p:par>
                              <p:par>
                                <p:cTn id="145" presetID="2" presetClass="entr" presetSubtype="4" fill="hold" nodeType="withEffect">
                                  <p:stCondLst>
                                    <p:cond delay="0"/>
                                  </p:stCondLst>
                                  <p:childTnLst>
                                    <p:set>
                                      <p:cBhvr>
                                        <p:cTn id="146" dur="1" fill="hold">
                                          <p:stCondLst>
                                            <p:cond delay="0"/>
                                          </p:stCondLst>
                                        </p:cTn>
                                        <p:tgtEl>
                                          <p:spTgt spid="144459"/>
                                        </p:tgtEl>
                                        <p:attrNameLst>
                                          <p:attrName>style.visibility</p:attrName>
                                        </p:attrNameLst>
                                      </p:cBhvr>
                                      <p:to>
                                        <p:strVal val="visible"/>
                                      </p:to>
                                    </p:set>
                                    <p:anim calcmode="lin" valueType="num">
                                      <p:cBhvr additive="base">
                                        <p:cTn id="147" dur="500" fill="hold"/>
                                        <p:tgtEl>
                                          <p:spTgt spid="144459"/>
                                        </p:tgtEl>
                                        <p:attrNameLst>
                                          <p:attrName>ppt_x</p:attrName>
                                        </p:attrNameLst>
                                      </p:cBhvr>
                                      <p:tavLst>
                                        <p:tav tm="0">
                                          <p:val>
                                            <p:strVal val="#ppt_x"/>
                                          </p:val>
                                        </p:tav>
                                        <p:tav tm="100000">
                                          <p:val>
                                            <p:strVal val="#ppt_x"/>
                                          </p:val>
                                        </p:tav>
                                      </p:tavLst>
                                    </p:anim>
                                    <p:anim calcmode="lin" valueType="num">
                                      <p:cBhvr additive="base">
                                        <p:cTn id="148" dur="500" fill="hold"/>
                                        <p:tgtEl>
                                          <p:spTgt spid="144459"/>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144460"/>
                                        </p:tgtEl>
                                        <p:attrNameLst>
                                          <p:attrName>style.visibility</p:attrName>
                                        </p:attrNameLst>
                                      </p:cBhvr>
                                      <p:to>
                                        <p:strVal val="visible"/>
                                      </p:to>
                                    </p:set>
                                    <p:anim calcmode="lin" valueType="num">
                                      <p:cBhvr additive="base">
                                        <p:cTn id="151" dur="500" fill="hold"/>
                                        <p:tgtEl>
                                          <p:spTgt spid="144460"/>
                                        </p:tgtEl>
                                        <p:attrNameLst>
                                          <p:attrName>ppt_x</p:attrName>
                                        </p:attrNameLst>
                                      </p:cBhvr>
                                      <p:tavLst>
                                        <p:tav tm="0">
                                          <p:val>
                                            <p:strVal val="#ppt_x"/>
                                          </p:val>
                                        </p:tav>
                                        <p:tav tm="100000">
                                          <p:val>
                                            <p:strVal val="#ppt_x"/>
                                          </p:val>
                                        </p:tav>
                                      </p:tavLst>
                                    </p:anim>
                                    <p:anim calcmode="lin" valueType="num">
                                      <p:cBhvr additive="base">
                                        <p:cTn id="152" dur="500" fill="hold"/>
                                        <p:tgtEl>
                                          <p:spTgt spid="144460"/>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grpId="0" nodeType="clickEffect">
                                  <p:stCondLst>
                                    <p:cond delay="0"/>
                                  </p:stCondLst>
                                  <p:childTnLst>
                                    <p:set>
                                      <p:cBhvr>
                                        <p:cTn id="156" dur="1" fill="hold">
                                          <p:stCondLst>
                                            <p:cond delay="0"/>
                                          </p:stCondLst>
                                        </p:cTn>
                                        <p:tgtEl>
                                          <p:spTgt spid="144461"/>
                                        </p:tgtEl>
                                        <p:attrNameLst>
                                          <p:attrName>style.visibility</p:attrName>
                                        </p:attrNameLst>
                                      </p:cBhvr>
                                      <p:to>
                                        <p:strVal val="visible"/>
                                      </p:to>
                                    </p:set>
                                    <p:anim calcmode="lin" valueType="num">
                                      <p:cBhvr additive="base">
                                        <p:cTn id="157" dur="500" fill="hold"/>
                                        <p:tgtEl>
                                          <p:spTgt spid="144461"/>
                                        </p:tgtEl>
                                        <p:attrNameLst>
                                          <p:attrName>ppt_x</p:attrName>
                                        </p:attrNameLst>
                                      </p:cBhvr>
                                      <p:tavLst>
                                        <p:tav tm="0">
                                          <p:val>
                                            <p:strVal val="#ppt_x"/>
                                          </p:val>
                                        </p:tav>
                                        <p:tav tm="100000">
                                          <p:val>
                                            <p:strVal val="#ppt_x"/>
                                          </p:val>
                                        </p:tav>
                                      </p:tavLst>
                                    </p:anim>
                                    <p:anim calcmode="lin" valueType="num">
                                      <p:cBhvr additive="base">
                                        <p:cTn id="158" dur="500" fill="hold"/>
                                        <p:tgtEl>
                                          <p:spTgt spid="144461"/>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5" presetClass="entr" presetSubtype="10" fill="hold" grpId="0" nodeType="clickEffect">
                                  <p:stCondLst>
                                    <p:cond delay="0"/>
                                  </p:stCondLst>
                                  <p:childTnLst>
                                    <p:set>
                                      <p:cBhvr>
                                        <p:cTn id="162" dur="1" fill="hold">
                                          <p:stCondLst>
                                            <p:cond delay="0"/>
                                          </p:stCondLst>
                                        </p:cTn>
                                        <p:tgtEl>
                                          <p:spTgt spid="144463"/>
                                        </p:tgtEl>
                                        <p:attrNameLst>
                                          <p:attrName>style.visibility</p:attrName>
                                        </p:attrNameLst>
                                      </p:cBhvr>
                                      <p:to>
                                        <p:strVal val="visible"/>
                                      </p:to>
                                    </p:set>
                                    <p:animEffect transition="in" filter="checkerboard(across)">
                                      <p:cBhvr>
                                        <p:cTn id="163" dur="500"/>
                                        <p:tgtEl>
                                          <p:spTgt spid="144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422" grpId="0" animBg="1"/>
      <p:bldP spid="144432" grpId="0"/>
      <p:bldP spid="144433" grpId="0"/>
      <p:bldP spid="144434" grpId="0"/>
      <p:bldP spid="144435" grpId="0"/>
      <p:bldP spid="144436" grpId="0"/>
      <p:bldP spid="144437" grpId="0"/>
      <p:bldP spid="144438" grpId="0"/>
      <p:bldP spid="144440" grpId="0" animBg="1"/>
      <p:bldP spid="144450" grpId="0"/>
      <p:bldP spid="144451" grpId="0"/>
      <p:bldP spid="144452" grpId="0"/>
      <p:bldP spid="144453" grpId="0"/>
      <p:bldP spid="144454" grpId="0"/>
      <p:bldP spid="144455" grpId="0"/>
      <p:bldP spid="144458" grpId="0"/>
      <p:bldP spid="144460" grpId="0"/>
      <p:bldP spid="144461" grpId="0" animBg="1"/>
      <p:bldP spid="14446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1843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4C7C50C5-DA1E-4144-8CF3-70D068F4BF02}"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18437" name="Rectangle 2"/>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顺序表的其他成员函数</a:t>
            </a:r>
            <a:endParaRPr lang="zh-CN" altLang="en-US" sz="2800" dirty="0" smtClean="0">
              <a:ea typeface="华文楷体" panose="02010600040101010101" pitchFamily="2" charset="-122"/>
            </a:endParaRPr>
          </a:p>
        </p:txBody>
      </p:sp>
      <p:sp>
        <p:nvSpPr>
          <p:cNvPr id="18438" name="Rectangle 3"/>
          <p:cNvSpPr>
            <a:spLocks noGrp="1" noChangeArrowheads="1"/>
          </p:cNvSpPr>
          <p:nvPr>
            <p:ph type="body" idx="1"/>
          </p:nvPr>
        </p:nvSpPr>
        <p:spPr>
          <a:xfrm>
            <a:off x="519113" y="1125538"/>
            <a:ext cx="8229600" cy="5248275"/>
          </a:xfrm>
        </p:spPr>
        <p:txBody>
          <a:bodyPr/>
          <a:lstStyle/>
          <a:p>
            <a:pPr eaLnBrk="1" hangingPunct="1">
              <a:buFont typeface="Wingdings" panose="05000000000000000000" pitchFamily="2" charset="2"/>
              <a:buNone/>
            </a:pPr>
            <a:r>
              <a:rPr lang="en-US" altLang="zh-CN" sz="2000" dirty="0" smtClean="0">
                <a:ea typeface="华文楷体" panose="02010600040101010101" pitchFamily="2" charset="-122"/>
              </a:rPr>
              <a:t>template&lt;</a:t>
            </a:r>
            <a:r>
              <a:rPr lang="en-US" altLang="zh-CN" sz="2000" dirty="0" err="1" smtClean="0">
                <a:ea typeface="华文楷体" panose="02010600040101010101" pitchFamily="2" charset="-122"/>
              </a:rPr>
              <a:t>typename</a:t>
            </a:r>
            <a:r>
              <a:rPr lang="en-US" altLang="zh-CN" sz="2000" dirty="0" smtClean="0">
                <a:ea typeface="华文楷体" panose="02010600040101010101" pitchFamily="2" charset="-122"/>
              </a:rPr>
              <a:t> T&gt;</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void Vector&lt;T&gt;::resize(</a:t>
            </a:r>
            <a:r>
              <a:rPr lang="en-US" altLang="zh-CN" sz="2000" dirty="0" err="1" smtClean="0">
                <a:ea typeface="华文楷体" panose="02010600040101010101" pitchFamily="2" charset="-122"/>
              </a:rPr>
              <a:t>int</a:t>
            </a: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n,T</a:t>
            </a: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const</a:t>
            </a:r>
            <a:r>
              <a:rPr lang="en-US" altLang="zh-CN" sz="2000" dirty="0" smtClean="0">
                <a:ea typeface="华文楷体" panose="02010600040101010101" pitchFamily="2" charset="-122"/>
              </a:rPr>
              <a:t> &amp;t=T())</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reverse(n);</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if (size&lt;n)</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uninitialized_fill</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elem+size,elem+n,T</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size=n;</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template&lt;</a:t>
            </a:r>
            <a:r>
              <a:rPr lang="en-US" altLang="zh-CN" sz="2000" dirty="0" err="1" smtClean="0">
                <a:ea typeface="华文楷体" panose="02010600040101010101" pitchFamily="2" charset="-122"/>
              </a:rPr>
              <a:t>typename</a:t>
            </a:r>
            <a:r>
              <a:rPr lang="en-US" altLang="zh-CN" sz="2000" dirty="0" smtClean="0">
                <a:ea typeface="华文楷体" panose="02010600040101010101" pitchFamily="2" charset="-122"/>
              </a:rPr>
              <a:t> T&gt;</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void swap(Vector&lt;T&gt;&amp; a, Vector&lt;T&gt;&amp; b)</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std</a:t>
            </a:r>
            <a:r>
              <a:rPr lang="en-US" altLang="zh-CN" sz="2000" dirty="0" smtClean="0">
                <a:ea typeface="华文楷体" panose="02010600040101010101" pitchFamily="2" charset="-122"/>
              </a:rPr>
              <a:t>::swap(</a:t>
            </a:r>
            <a:r>
              <a:rPr lang="en-US" altLang="zh-CN" sz="2000" dirty="0" err="1" smtClean="0">
                <a:ea typeface="华文楷体" panose="02010600040101010101" pitchFamily="2" charset="-122"/>
              </a:rPr>
              <a:t>a.elem,b.elem</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std</a:t>
            </a:r>
            <a:r>
              <a:rPr lang="en-US" altLang="zh-CN" sz="2000" dirty="0" smtClean="0">
                <a:ea typeface="华文楷体" panose="02010600040101010101" pitchFamily="2" charset="-122"/>
              </a:rPr>
              <a:t>::swap(</a:t>
            </a:r>
            <a:r>
              <a:rPr lang="en-US" altLang="zh-CN" sz="2000" dirty="0" err="1" smtClean="0">
                <a:ea typeface="华文楷体" panose="02010600040101010101" pitchFamily="2" charset="-122"/>
              </a:rPr>
              <a:t>a.size,b.size</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std</a:t>
            </a:r>
            <a:r>
              <a:rPr lang="en-US" altLang="zh-CN" sz="2000" dirty="0" smtClean="0">
                <a:ea typeface="华文楷体" panose="02010600040101010101" pitchFamily="2" charset="-122"/>
              </a:rPr>
              <a:t>::swap(</a:t>
            </a:r>
            <a:r>
              <a:rPr lang="en-US" altLang="zh-CN" sz="2000" dirty="0" err="1" smtClean="0">
                <a:ea typeface="华文楷体" panose="02010600040101010101" pitchFamily="2" charset="-122"/>
              </a:rPr>
              <a:t>a.capacity,b.capacity</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1945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59D00AC9-985B-4024-8101-E0140823052B}"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19461" name="Rectangle 2"/>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顺序表的优缺点</a:t>
            </a:r>
            <a:endParaRPr lang="zh-CN" altLang="en-US" sz="2800" dirty="0" smtClean="0">
              <a:ea typeface="华文楷体" panose="02010600040101010101" pitchFamily="2" charset="-122"/>
            </a:endParaRPr>
          </a:p>
        </p:txBody>
      </p:sp>
      <p:sp>
        <p:nvSpPr>
          <p:cNvPr id="19462" name="Rectangle 4"/>
          <p:cNvSpPr>
            <a:spLocks noGrp="1" noChangeArrowheads="1"/>
          </p:cNvSpPr>
          <p:nvPr>
            <p:ph type="body" idx="1"/>
          </p:nvPr>
        </p:nvSpPr>
        <p:spPr>
          <a:noFill/>
        </p:spPr>
        <p:txBody>
          <a:bodyPr/>
          <a:lstStyle/>
          <a:p>
            <a:pPr eaLnBrk="1" hangingPunct="1"/>
            <a:r>
              <a:rPr lang="zh-CN" altLang="en-US" b="1" dirty="0" smtClean="0">
                <a:solidFill>
                  <a:schemeClr val="accent2"/>
                </a:solidFill>
                <a:ea typeface="华文楷体" panose="02010600040101010101" pitchFamily="2" charset="-122"/>
              </a:rPr>
              <a:t>优点</a:t>
            </a:r>
            <a:endParaRPr lang="zh-CN" altLang="en-US" dirty="0" smtClean="0">
              <a:solidFill>
                <a:schemeClr val="accent2"/>
              </a:solidFill>
              <a:ea typeface="华文楷体" panose="02010600040101010101" pitchFamily="2" charset="-122"/>
            </a:endParaRPr>
          </a:p>
          <a:p>
            <a:pPr lvl="1" eaLnBrk="1" hangingPunct="1"/>
            <a:r>
              <a:rPr lang="zh-CN" altLang="en-US" dirty="0" smtClean="0">
                <a:ea typeface="华文楷体" panose="02010600040101010101" pitchFamily="2" charset="-122"/>
              </a:rPr>
              <a:t>逻辑相邻，物理相邻</a:t>
            </a:r>
            <a:endParaRPr lang="zh-CN" altLang="en-US" dirty="0" smtClean="0">
              <a:ea typeface="华文楷体" panose="02010600040101010101" pitchFamily="2" charset="-122"/>
            </a:endParaRPr>
          </a:p>
          <a:p>
            <a:pPr lvl="1" eaLnBrk="1" hangingPunct="1"/>
            <a:r>
              <a:rPr lang="zh-CN" altLang="en-US" dirty="0" smtClean="0">
                <a:ea typeface="华文楷体" panose="02010600040101010101" pitchFamily="2" charset="-122"/>
              </a:rPr>
              <a:t>可随机存取任一元素</a:t>
            </a:r>
            <a:endParaRPr lang="zh-CN" altLang="en-US" dirty="0" smtClean="0">
              <a:ea typeface="华文楷体" panose="02010600040101010101" pitchFamily="2" charset="-122"/>
            </a:endParaRPr>
          </a:p>
          <a:p>
            <a:pPr lvl="1" eaLnBrk="1" hangingPunct="1"/>
            <a:r>
              <a:rPr lang="zh-CN" altLang="en-US" dirty="0" smtClean="0">
                <a:ea typeface="华文楷体" panose="02010600040101010101" pitchFamily="2" charset="-122"/>
              </a:rPr>
              <a:t>存储空间使用紧凑</a:t>
            </a:r>
            <a:endParaRPr lang="zh-CN" altLang="en-US" dirty="0" smtClean="0">
              <a:ea typeface="华文楷体" panose="02010600040101010101" pitchFamily="2" charset="-122"/>
            </a:endParaRPr>
          </a:p>
          <a:p>
            <a:pPr lvl="1" eaLnBrk="1" hangingPunct="1"/>
            <a:endParaRPr lang="zh-CN" altLang="en-US" dirty="0" smtClean="0">
              <a:ea typeface="华文楷体" panose="02010600040101010101" pitchFamily="2" charset="-122"/>
            </a:endParaRPr>
          </a:p>
          <a:p>
            <a:pPr eaLnBrk="1" hangingPunct="1"/>
            <a:r>
              <a:rPr lang="zh-CN" altLang="en-US" b="1" dirty="0" smtClean="0">
                <a:solidFill>
                  <a:schemeClr val="accent2"/>
                </a:solidFill>
                <a:ea typeface="华文楷体" panose="02010600040101010101" pitchFamily="2" charset="-122"/>
              </a:rPr>
              <a:t>缺点</a:t>
            </a:r>
            <a:endParaRPr lang="zh-CN" altLang="en-US" b="1" dirty="0" smtClean="0">
              <a:solidFill>
                <a:schemeClr val="accent2"/>
              </a:solidFill>
              <a:ea typeface="华文楷体" panose="02010600040101010101" pitchFamily="2" charset="-122"/>
            </a:endParaRPr>
          </a:p>
          <a:p>
            <a:pPr lvl="1" eaLnBrk="1" hangingPunct="1"/>
            <a:r>
              <a:rPr lang="zh-CN" altLang="en-US" dirty="0" smtClean="0">
                <a:ea typeface="华文楷体" panose="02010600040101010101" pitchFamily="2" charset="-122"/>
              </a:rPr>
              <a:t>插入、删除操作需要移动大量的元素</a:t>
            </a:r>
            <a:endParaRPr lang="zh-CN" altLang="en-US" dirty="0" smtClean="0">
              <a:ea typeface="华文楷体" panose="02010600040101010101" pitchFamily="2" charset="-122"/>
            </a:endParaRPr>
          </a:p>
          <a:p>
            <a:pPr lvl="1" eaLnBrk="1" hangingPunct="1"/>
            <a:r>
              <a:rPr lang="zh-CN" altLang="en-US" dirty="0" smtClean="0">
                <a:ea typeface="华文楷体" panose="02010600040101010101" pitchFamily="2" charset="-122"/>
              </a:rPr>
              <a:t>预先分配空间需按最大空间分配，利用不充分</a:t>
            </a:r>
            <a:endParaRPr lang="zh-CN" altLang="en-US" dirty="0" smtClean="0">
              <a:ea typeface="华文楷体" panose="02010600040101010101" pitchFamily="2" charset="-122"/>
            </a:endParaRPr>
          </a:p>
          <a:p>
            <a:pPr lvl="1" eaLnBrk="1" hangingPunct="1"/>
            <a:r>
              <a:rPr lang="zh-CN" altLang="en-US" dirty="0" smtClean="0">
                <a:ea typeface="华文楷体" panose="02010600040101010101" pitchFamily="2" charset="-122"/>
              </a:rPr>
              <a:t>表容量扩充困难</a:t>
            </a:r>
            <a:endParaRPr lang="zh-CN" altLang="en-US"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页脚占位符 3"/>
          <p:cNvSpPr>
            <a:spLocks noGrp="1"/>
          </p:cNvSpPr>
          <p:nvPr>
            <p:ph type="ftr" sz="quarter" idx="10"/>
          </p:nvPr>
        </p:nvSpPr>
        <p:spPr/>
        <p:txBody>
          <a:bodyPr/>
          <a:lstStyle/>
          <a:p>
            <a:pPr>
              <a:defRPr/>
            </a:pPr>
            <a:r>
              <a:rPr lang="en-US" altLang="zh-CN"/>
              <a:t>BUPT SCST</a:t>
            </a:r>
            <a:endParaRPr lang="en-US" altLang="zh-CN"/>
          </a:p>
        </p:txBody>
      </p:sp>
      <p:sp>
        <p:nvSpPr>
          <p:cNvPr id="2048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448BA290-F5CD-49DE-8551-96D25D75BFD3}"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2" name="日期占位符 5"/>
          <p:cNvSpPr>
            <a:spLocks noGrp="1"/>
          </p:cNvSpPr>
          <p:nvPr>
            <p:ph type="dt" sz="quarter" idx="12"/>
          </p:nvPr>
        </p:nvSpPr>
        <p:spPr/>
        <p:txBody>
          <a:bodyPr/>
          <a:lstStyle/>
          <a:p>
            <a:pPr>
              <a:defRPr/>
            </a:pPr>
            <a:r>
              <a:rPr lang="en-US" altLang="zh-CN"/>
              <a:t>BUPT</a:t>
            </a:r>
            <a:endParaRPr lang="en-US" altLang="zh-CN"/>
          </a:p>
        </p:txBody>
      </p:sp>
      <p:sp>
        <p:nvSpPr>
          <p:cNvPr id="20485" name="Rectangle 21"/>
          <p:cNvSpPr>
            <a:spLocks noChangeArrowheads="1"/>
          </p:cNvSpPr>
          <p:nvPr/>
        </p:nvSpPr>
        <p:spPr bwMode="auto">
          <a:xfrm>
            <a:off x="6019800" y="5029200"/>
            <a:ext cx="762000" cy="3810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486" name="Rectangle 20"/>
          <p:cNvSpPr>
            <a:spLocks noChangeArrowheads="1"/>
          </p:cNvSpPr>
          <p:nvPr/>
        </p:nvSpPr>
        <p:spPr bwMode="auto">
          <a:xfrm>
            <a:off x="4267200" y="5029200"/>
            <a:ext cx="685800" cy="3810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487" name="Rectangle 18"/>
          <p:cNvSpPr>
            <a:spLocks noChangeArrowheads="1"/>
          </p:cNvSpPr>
          <p:nvPr/>
        </p:nvSpPr>
        <p:spPr bwMode="auto">
          <a:xfrm>
            <a:off x="2819400" y="5029200"/>
            <a:ext cx="762000" cy="3810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488" name="Rectangle 10"/>
          <p:cNvSpPr>
            <a:spLocks noChangeArrowheads="1"/>
          </p:cNvSpPr>
          <p:nvPr/>
        </p:nvSpPr>
        <p:spPr bwMode="auto">
          <a:xfrm>
            <a:off x="5791200" y="3962400"/>
            <a:ext cx="914400" cy="4572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489" name="Rectangle 8"/>
          <p:cNvSpPr>
            <a:spLocks noChangeArrowheads="1"/>
          </p:cNvSpPr>
          <p:nvPr/>
        </p:nvSpPr>
        <p:spPr bwMode="auto">
          <a:xfrm>
            <a:off x="4038600" y="4038600"/>
            <a:ext cx="838200" cy="3810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490" name="Rectangle 6"/>
          <p:cNvSpPr>
            <a:spLocks noChangeArrowheads="1"/>
          </p:cNvSpPr>
          <p:nvPr/>
        </p:nvSpPr>
        <p:spPr bwMode="auto">
          <a:xfrm>
            <a:off x="2667000" y="4038600"/>
            <a:ext cx="838200" cy="3810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491" name="Rectangle 4"/>
          <p:cNvSpPr>
            <a:spLocks noChangeArrowheads="1"/>
          </p:cNvSpPr>
          <p:nvPr/>
        </p:nvSpPr>
        <p:spPr bwMode="auto">
          <a:xfrm>
            <a:off x="3276600" y="1905000"/>
            <a:ext cx="1828800" cy="4572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kumimoji="1" lang="zh-CN" altLang="zh-CN" sz="2400" dirty="0">
              <a:latin typeface="华文楷体" panose="02010600040101010101" pitchFamily="2" charset="-122"/>
              <a:ea typeface="华文楷体" panose="02010600040101010101" pitchFamily="2" charset="-122"/>
            </a:endParaRPr>
          </a:p>
        </p:txBody>
      </p:sp>
      <p:sp>
        <p:nvSpPr>
          <p:cNvPr id="20492" name="Rectangle 2"/>
          <p:cNvSpPr>
            <a:spLocks noGrp="1" noChangeArrowheads="1"/>
          </p:cNvSpPr>
          <p:nvPr>
            <p:ph type="title"/>
          </p:nvPr>
        </p:nvSpPr>
        <p:spPr>
          <a:xfrm>
            <a:off x="304800" y="152400"/>
            <a:ext cx="8458200" cy="612775"/>
          </a:xfrm>
        </p:spPr>
        <p:txBody>
          <a:bodyPr/>
          <a:lstStyle/>
          <a:p>
            <a:pPr algn="l" eaLnBrk="1" hangingPunct="1"/>
            <a:r>
              <a:rPr lang="en-US" altLang="zh-CN" sz="2800" dirty="0" smtClean="0">
                <a:ea typeface="华文楷体" panose="02010600040101010101" pitchFamily="2" charset="-122"/>
              </a:rPr>
              <a:t>2.3 </a:t>
            </a:r>
            <a:r>
              <a:rPr lang="zh-CN" altLang="en-US" sz="2800" dirty="0" smtClean="0">
                <a:ea typeface="华文楷体" panose="02010600040101010101" pitchFamily="2" charset="-122"/>
              </a:rPr>
              <a:t>单链表</a:t>
            </a:r>
            <a:endParaRPr lang="zh-CN" altLang="en-US" sz="2800" dirty="0" smtClean="0">
              <a:ea typeface="华文楷体" panose="02010600040101010101" pitchFamily="2" charset="-122"/>
            </a:endParaRPr>
          </a:p>
        </p:txBody>
      </p:sp>
      <p:sp>
        <p:nvSpPr>
          <p:cNvPr id="20493" name="Rectangle 3"/>
          <p:cNvSpPr>
            <a:spLocks noGrp="1" noChangeArrowheads="1"/>
          </p:cNvSpPr>
          <p:nvPr>
            <p:ph type="body" idx="1"/>
          </p:nvPr>
        </p:nvSpPr>
        <p:spPr>
          <a:xfrm>
            <a:off x="685800" y="1447800"/>
            <a:ext cx="7772400" cy="4648200"/>
          </a:xfrm>
        </p:spPr>
        <p:txBody>
          <a:bodyPr/>
          <a:lstStyle/>
          <a:p>
            <a:pPr eaLnBrk="1" hangingPunct="1">
              <a:buFont typeface="Wingdings" panose="05000000000000000000" pitchFamily="2" charset="2"/>
              <a:buNone/>
            </a:pP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zh-CN" altLang="en-US" sz="2400" b="1" dirty="0" smtClean="0">
                <a:solidFill>
                  <a:srgbClr val="CC6600"/>
                </a:solidFill>
                <a:ea typeface="华文楷体" panose="02010600040101010101" pitchFamily="2" charset="-122"/>
              </a:rPr>
              <a:t>结点的物理表示</a:t>
            </a:r>
            <a:r>
              <a:rPr lang="zh-CN" altLang="en-US" sz="2800" dirty="0" smtClean="0">
                <a:ea typeface="华文楷体" panose="02010600040101010101" pitchFamily="2" charset="-122"/>
              </a:rPr>
              <a:t>    </a:t>
            </a:r>
            <a:r>
              <a:rPr lang="en-US" altLang="zh-CN" sz="2800" dirty="0" smtClean="0">
                <a:ea typeface="华文楷体" panose="02010600040101010101" pitchFamily="2" charset="-122"/>
              </a:rPr>
              <a:t>value  next</a:t>
            </a: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a:t>
            </a:r>
            <a:r>
              <a:rPr lang="zh-CN" altLang="en-US" sz="2400" dirty="0" smtClean="0">
                <a:ea typeface="华文楷体" panose="02010600040101010101" pitchFamily="2" charset="-122"/>
              </a:rPr>
              <a:t>数据域  指针域</a:t>
            </a:r>
            <a:endParaRPr lang="zh-CN" altLang="en-US" sz="2800" dirty="0" smtClean="0">
              <a:ea typeface="华文楷体" panose="02010600040101010101" pitchFamily="2" charset="-122"/>
            </a:endParaRPr>
          </a:p>
          <a:p>
            <a:pPr eaLnBrk="1" hangingPunct="1">
              <a:buFont typeface="Wingdings" panose="05000000000000000000" pitchFamily="2" charset="2"/>
              <a:buNone/>
            </a:pPr>
            <a:r>
              <a:rPr lang="zh-CN" altLang="en-US" sz="2400" b="1" dirty="0" smtClean="0">
                <a:solidFill>
                  <a:srgbClr val="CC6600"/>
                </a:solidFill>
                <a:ea typeface="华文楷体" panose="02010600040101010101" pitchFamily="2" charset="-122"/>
              </a:rPr>
              <a:t>两种基本形式</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800" dirty="0" smtClean="0">
              <a:ea typeface="华文楷体" panose="02010600040101010101" pitchFamily="2" charset="-122"/>
            </a:endParaRPr>
          </a:p>
          <a:p>
            <a:pPr eaLnBrk="1" hangingPunct="1">
              <a:buFont typeface="Wingdings" panose="05000000000000000000" pitchFamily="2" charset="2"/>
              <a:buNone/>
            </a:pPr>
            <a:r>
              <a:rPr lang="zh-CN" altLang="en-US" sz="2800" dirty="0" smtClean="0">
                <a:ea typeface="华文楷体" panose="02010600040101010101" pitchFamily="2" charset="-122"/>
              </a:rPr>
              <a:t>         </a:t>
            </a:r>
            <a:r>
              <a:rPr lang="zh-CN" altLang="en-US" sz="2800" dirty="0" smtClean="0">
                <a:ea typeface="华文楷体" panose="02010600040101010101" pitchFamily="2" charset="-122"/>
              </a:rPr>
              <a:t>              </a:t>
            </a:r>
            <a:r>
              <a:rPr lang="en-US" altLang="zh-CN" sz="2800" dirty="0" smtClean="0">
                <a:ea typeface="华文楷体" panose="02010600040101010101" pitchFamily="2" charset="-122"/>
              </a:rPr>
              <a:t>a</a:t>
            </a:r>
            <a:r>
              <a:rPr lang="en-US" altLang="zh-CN" sz="2800" baseline="-25000" dirty="0" smtClean="0">
                <a:ea typeface="华文楷体" panose="02010600040101010101" pitchFamily="2" charset="-122"/>
              </a:rPr>
              <a:t>1</a:t>
            </a:r>
            <a:r>
              <a:rPr lang="en-US" altLang="zh-CN" sz="2800" dirty="0" smtClean="0">
                <a:ea typeface="华文楷体" panose="02010600040101010101" pitchFamily="2" charset="-122"/>
              </a:rPr>
              <a:t>         </a:t>
            </a:r>
            <a:r>
              <a:rPr lang="en-US" altLang="zh-CN" sz="2800" dirty="0" smtClean="0">
                <a:ea typeface="华文楷体" panose="02010600040101010101" pitchFamily="2" charset="-122"/>
              </a:rPr>
              <a:t>   </a:t>
            </a:r>
            <a:r>
              <a:rPr lang="en-US" altLang="zh-CN" sz="2800" dirty="0" smtClean="0">
                <a:ea typeface="华文楷体" panose="02010600040101010101" pitchFamily="2" charset="-122"/>
              </a:rPr>
              <a:t>a</a:t>
            </a:r>
            <a:r>
              <a:rPr lang="en-US" altLang="zh-CN" sz="2800" baseline="-25000" dirty="0" smtClean="0">
                <a:ea typeface="华文楷体" panose="02010600040101010101" pitchFamily="2" charset="-122"/>
              </a:rPr>
              <a:t>2</a:t>
            </a:r>
            <a:r>
              <a:rPr lang="en-US" altLang="zh-CN" sz="2800" dirty="0" smtClean="0">
                <a:ea typeface="华文楷体" panose="02010600040101010101" pitchFamily="2" charset="-122"/>
              </a:rPr>
              <a:t>   </a:t>
            </a:r>
            <a:r>
              <a:rPr lang="en-US" altLang="zh-CN" sz="2800" dirty="0" smtClean="0">
                <a:ea typeface="华文楷体" panose="02010600040101010101" pitchFamily="2" charset="-122"/>
              </a:rPr>
              <a:t>                 </a:t>
            </a:r>
            <a:r>
              <a:rPr lang="en-US" altLang="zh-CN" sz="2800" dirty="0" smtClean="0">
                <a:ea typeface="华文楷体" panose="02010600040101010101" pitchFamily="2" charset="-122"/>
              </a:rPr>
              <a:t>a</a:t>
            </a:r>
            <a:r>
              <a:rPr lang="en-US" altLang="zh-CN" sz="2800" baseline="-25000" dirty="0" smtClean="0">
                <a:ea typeface="华文楷体" panose="02010600040101010101" pitchFamily="2" charset="-122"/>
              </a:rPr>
              <a:t>n</a:t>
            </a: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buFont typeface="Wingdings" panose="05000000000000000000" pitchFamily="2" charset="2"/>
              <a:buNone/>
            </a:pP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a:t>
            </a:r>
            <a:r>
              <a:rPr lang="en-US" altLang="zh-CN" sz="2800" dirty="0" smtClean="0">
                <a:ea typeface="华文楷体" panose="02010600040101010101" pitchFamily="2" charset="-122"/>
              </a:rPr>
              <a:t>                   </a:t>
            </a:r>
            <a:r>
              <a:rPr lang="en-US" altLang="zh-CN" sz="2800" dirty="0" smtClean="0">
                <a:ea typeface="华文楷体" panose="02010600040101010101" pitchFamily="2" charset="-122"/>
              </a:rPr>
              <a:t>a</a:t>
            </a:r>
            <a:r>
              <a:rPr lang="en-US" altLang="zh-CN" sz="2800" baseline="-25000" dirty="0" smtClean="0">
                <a:ea typeface="华文楷体" panose="02010600040101010101" pitchFamily="2" charset="-122"/>
              </a:rPr>
              <a:t>1       </a:t>
            </a:r>
            <a:r>
              <a:rPr lang="en-US" altLang="zh-CN" sz="2800" baseline="-25000" dirty="0" smtClean="0">
                <a:ea typeface="华文楷体" panose="02010600040101010101" pitchFamily="2" charset="-122"/>
              </a:rPr>
              <a:t>              </a:t>
            </a:r>
            <a:r>
              <a:rPr lang="en-US" altLang="zh-CN" sz="2800" dirty="0" smtClean="0">
                <a:ea typeface="华文楷体" panose="02010600040101010101" pitchFamily="2" charset="-122"/>
              </a:rPr>
              <a:t>a</a:t>
            </a:r>
            <a:r>
              <a:rPr lang="en-US" altLang="zh-CN" sz="2800" baseline="-25000" dirty="0" smtClean="0">
                <a:ea typeface="华文楷体" panose="02010600040101010101" pitchFamily="2" charset="-122"/>
              </a:rPr>
              <a:t>2                          </a:t>
            </a:r>
            <a:r>
              <a:rPr lang="en-US" altLang="zh-CN" sz="2800" dirty="0" smtClean="0">
                <a:ea typeface="华文楷体" panose="02010600040101010101" pitchFamily="2" charset="-122"/>
              </a:rPr>
              <a:t>a</a:t>
            </a:r>
            <a:r>
              <a:rPr lang="en-US" altLang="zh-CN" sz="2800" baseline="-25000" dirty="0" smtClean="0">
                <a:ea typeface="华文楷体" panose="02010600040101010101" pitchFamily="2" charset="-122"/>
              </a:rPr>
              <a:t>n</a:t>
            </a: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p:txBody>
      </p:sp>
      <p:sp>
        <p:nvSpPr>
          <p:cNvPr id="20494" name="Line 5"/>
          <p:cNvSpPr>
            <a:spLocks noChangeShapeType="1"/>
          </p:cNvSpPr>
          <p:nvPr/>
        </p:nvSpPr>
        <p:spPr bwMode="auto">
          <a:xfrm>
            <a:off x="4191000" y="190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495" name="Line 7"/>
          <p:cNvSpPr>
            <a:spLocks noChangeShapeType="1"/>
          </p:cNvSpPr>
          <p:nvPr/>
        </p:nvSpPr>
        <p:spPr bwMode="auto">
          <a:xfrm flipH="1">
            <a:off x="3124200" y="40386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496" name="Line 9"/>
          <p:cNvSpPr>
            <a:spLocks noChangeShapeType="1"/>
          </p:cNvSpPr>
          <p:nvPr/>
        </p:nvSpPr>
        <p:spPr bwMode="auto">
          <a:xfrm>
            <a:off x="4419600" y="40386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497" name="Line 11"/>
          <p:cNvSpPr>
            <a:spLocks noChangeShapeType="1"/>
          </p:cNvSpPr>
          <p:nvPr/>
        </p:nvSpPr>
        <p:spPr bwMode="auto">
          <a:xfrm>
            <a:off x="6372225" y="3962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498" name="Line 13"/>
          <p:cNvSpPr>
            <a:spLocks noChangeShapeType="1"/>
          </p:cNvSpPr>
          <p:nvPr/>
        </p:nvSpPr>
        <p:spPr bwMode="auto">
          <a:xfrm>
            <a:off x="3276600" y="4267200"/>
            <a:ext cx="685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499" name="Line 14"/>
          <p:cNvSpPr>
            <a:spLocks noChangeShapeType="1"/>
          </p:cNvSpPr>
          <p:nvPr/>
        </p:nvSpPr>
        <p:spPr bwMode="auto">
          <a:xfrm>
            <a:off x="4724400" y="4267200"/>
            <a:ext cx="304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00" name="Line 15"/>
          <p:cNvSpPr>
            <a:spLocks noChangeShapeType="1"/>
          </p:cNvSpPr>
          <p:nvPr/>
        </p:nvSpPr>
        <p:spPr bwMode="auto">
          <a:xfrm>
            <a:off x="5486400" y="4267200"/>
            <a:ext cx="304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01" name="Rectangle 16"/>
          <p:cNvSpPr>
            <a:spLocks noChangeArrowheads="1"/>
          </p:cNvSpPr>
          <p:nvPr/>
        </p:nvSpPr>
        <p:spPr bwMode="auto">
          <a:xfrm>
            <a:off x="1752600" y="5029200"/>
            <a:ext cx="762000" cy="3810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502" name="Line 19"/>
          <p:cNvSpPr>
            <a:spLocks noChangeShapeType="1"/>
          </p:cNvSpPr>
          <p:nvPr/>
        </p:nvSpPr>
        <p:spPr bwMode="auto">
          <a:xfrm>
            <a:off x="3352800" y="50292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03" name="Line 22"/>
          <p:cNvSpPr>
            <a:spLocks noChangeShapeType="1"/>
          </p:cNvSpPr>
          <p:nvPr/>
        </p:nvSpPr>
        <p:spPr bwMode="auto">
          <a:xfrm>
            <a:off x="4724400" y="50292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04" name="Line 23"/>
          <p:cNvSpPr>
            <a:spLocks noChangeShapeType="1"/>
          </p:cNvSpPr>
          <p:nvPr/>
        </p:nvSpPr>
        <p:spPr bwMode="auto">
          <a:xfrm>
            <a:off x="6516688" y="5013325"/>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05" name="Line 24"/>
          <p:cNvSpPr>
            <a:spLocks noChangeShapeType="1"/>
          </p:cNvSpPr>
          <p:nvPr/>
        </p:nvSpPr>
        <p:spPr bwMode="auto">
          <a:xfrm>
            <a:off x="2362200" y="5181600"/>
            <a:ext cx="38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06" name="Line 25"/>
          <p:cNvSpPr>
            <a:spLocks noChangeShapeType="1"/>
          </p:cNvSpPr>
          <p:nvPr/>
        </p:nvSpPr>
        <p:spPr bwMode="auto">
          <a:xfrm>
            <a:off x="3429000" y="5181600"/>
            <a:ext cx="762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07" name="Line 26"/>
          <p:cNvSpPr>
            <a:spLocks noChangeShapeType="1"/>
          </p:cNvSpPr>
          <p:nvPr/>
        </p:nvSpPr>
        <p:spPr bwMode="auto">
          <a:xfrm>
            <a:off x="4876800" y="5257800"/>
            <a:ext cx="38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08" name="Line 27"/>
          <p:cNvSpPr>
            <a:spLocks noChangeShapeType="1"/>
          </p:cNvSpPr>
          <p:nvPr/>
        </p:nvSpPr>
        <p:spPr bwMode="auto">
          <a:xfrm>
            <a:off x="5791200" y="5257800"/>
            <a:ext cx="228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09" name="Line 32"/>
          <p:cNvSpPr>
            <a:spLocks noChangeShapeType="1"/>
          </p:cNvSpPr>
          <p:nvPr/>
        </p:nvSpPr>
        <p:spPr bwMode="auto">
          <a:xfrm>
            <a:off x="5105400" y="4267200"/>
            <a:ext cx="304800" cy="0"/>
          </a:xfrm>
          <a:prstGeom prst="line">
            <a:avLst/>
          </a:prstGeom>
          <a:noFill/>
          <a:ln w="9525"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10" name="Line 33"/>
          <p:cNvSpPr>
            <a:spLocks noChangeShapeType="1"/>
          </p:cNvSpPr>
          <p:nvPr/>
        </p:nvSpPr>
        <p:spPr bwMode="auto">
          <a:xfrm>
            <a:off x="5257800" y="5257800"/>
            <a:ext cx="533400" cy="0"/>
          </a:xfrm>
          <a:prstGeom prst="line">
            <a:avLst/>
          </a:prstGeom>
          <a:noFill/>
          <a:ln w="9525"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11" name="Text Box 36"/>
          <p:cNvSpPr txBox="1">
            <a:spLocks noChangeArrowheads="1"/>
          </p:cNvSpPr>
          <p:nvPr/>
        </p:nvSpPr>
        <p:spPr bwMode="auto">
          <a:xfrm>
            <a:off x="468313" y="3357563"/>
            <a:ext cx="1501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000" dirty="0">
                <a:latin typeface="华文楷体" panose="02010600040101010101" pitchFamily="2" charset="-122"/>
                <a:ea typeface="华文楷体" panose="02010600040101010101" pitchFamily="2" charset="-122"/>
              </a:rPr>
              <a:t>头</a:t>
            </a:r>
            <a:r>
              <a:rPr kumimoji="1" lang="zh-CN" altLang="en-US" sz="2000" dirty="0" smtClean="0">
                <a:latin typeface="华文楷体" panose="02010600040101010101" pitchFamily="2" charset="-122"/>
                <a:ea typeface="华文楷体" panose="02010600040101010101" pitchFamily="2" charset="-122"/>
              </a:rPr>
              <a:t>指针</a:t>
            </a:r>
            <a:r>
              <a:rPr kumimoji="1" lang="en-US" altLang="zh-CN" sz="2000" dirty="0" smtClean="0">
                <a:latin typeface="华文楷体" panose="02010600040101010101" pitchFamily="2" charset="-122"/>
                <a:ea typeface="华文楷体" panose="02010600040101010101" pitchFamily="2" charset="-122"/>
              </a:rPr>
              <a:t>L</a:t>
            </a:r>
            <a:endParaRPr kumimoji="1" lang="en-US" altLang="zh-CN" sz="2000" dirty="0">
              <a:latin typeface="华文楷体" panose="02010600040101010101" pitchFamily="2" charset="-122"/>
              <a:ea typeface="华文楷体" panose="02010600040101010101" pitchFamily="2" charset="-122"/>
            </a:endParaRPr>
          </a:p>
        </p:txBody>
      </p:sp>
      <p:sp>
        <p:nvSpPr>
          <p:cNvPr id="20512" name="Text Box 37"/>
          <p:cNvSpPr txBox="1">
            <a:spLocks noChangeArrowheads="1"/>
          </p:cNvSpPr>
          <p:nvPr/>
        </p:nvSpPr>
        <p:spPr bwMode="auto">
          <a:xfrm>
            <a:off x="228600" y="4419600"/>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000" dirty="0">
                <a:latin typeface="华文楷体" panose="02010600040101010101" pitchFamily="2" charset="-122"/>
                <a:ea typeface="华文楷体" panose="02010600040101010101" pitchFamily="2" charset="-122"/>
              </a:rPr>
              <a:t>头指针</a:t>
            </a:r>
            <a:endParaRPr kumimoji="1" lang="zh-CN" altLang="en-US" sz="2000" dirty="0">
              <a:latin typeface="华文楷体" panose="02010600040101010101" pitchFamily="2" charset="-122"/>
              <a:ea typeface="华文楷体" panose="02010600040101010101" pitchFamily="2" charset="-122"/>
            </a:endParaRPr>
          </a:p>
        </p:txBody>
      </p:sp>
      <p:sp>
        <p:nvSpPr>
          <p:cNvPr id="20513" name="Text Box 38"/>
          <p:cNvSpPr txBox="1">
            <a:spLocks noChangeArrowheads="1"/>
          </p:cNvSpPr>
          <p:nvPr/>
        </p:nvSpPr>
        <p:spPr bwMode="auto">
          <a:xfrm>
            <a:off x="1600200" y="54102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000" dirty="0">
                <a:latin typeface="华文楷体" panose="02010600040101010101" pitchFamily="2" charset="-122"/>
                <a:ea typeface="华文楷体" panose="02010600040101010101" pitchFamily="2" charset="-122"/>
              </a:rPr>
              <a:t>头结点</a:t>
            </a:r>
            <a:endParaRPr kumimoji="1" lang="zh-CN" altLang="en-US" sz="2000" dirty="0">
              <a:latin typeface="华文楷体" panose="02010600040101010101" pitchFamily="2" charset="-122"/>
              <a:ea typeface="华文楷体" panose="02010600040101010101" pitchFamily="2" charset="-122"/>
            </a:endParaRPr>
          </a:p>
        </p:txBody>
      </p:sp>
      <p:sp>
        <p:nvSpPr>
          <p:cNvPr id="20514" name="Text Box 39"/>
          <p:cNvSpPr txBox="1">
            <a:spLocks noChangeArrowheads="1"/>
          </p:cNvSpPr>
          <p:nvPr/>
        </p:nvSpPr>
        <p:spPr bwMode="auto">
          <a:xfrm>
            <a:off x="2590800" y="54102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000" dirty="0">
                <a:latin typeface="华文楷体" panose="02010600040101010101" pitchFamily="2" charset="-122"/>
                <a:ea typeface="华文楷体" panose="02010600040101010101" pitchFamily="2" charset="-122"/>
              </a:rPr>
              <a:t>首元结点</a:t>
            </a:r>
            <a:endParaRPr kumimoji="1" lang="zh-CN" altLang="en-US" sz="2400" dirty="0">
              <a:latin typeface="华文楷体" panose="02010600040101010101" pitchFamily="2" charset="-122"/>
              <a:ea typeface="华文楷体" panose="02010600040101010101" pitchFamily="2" charset="-122"/>
            </a:endParaRPr>
          </a:p>
        </p:txBody>
      </p:sp>
      <p:sp>
        <p:nvSpPr>
          <p:cNvPr id="20515" name="Text Box 40"/>
          <p:cNvSpPr txBox="1">
            <a:spLocks noChangeArrowheads="1"/>
          </p:cNvSpPr>
          <p:nvPr/>
        </p:nvSpPr>
        <p:spPr bwMode="auto">
          <a:xfrm>
            <a:off x="2514600" y="4495800"/>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000" dirty="0">
                <a:latin typeface="华文楷体" panose="02010600040101010101" pitchFamily="2" charset="-122"/>
                <a:ea typeface="华文楷体" panose="02010600040101010101" pitchFamily="2" charset="-122"/>
              </a:rPr>
              <a:t>首元结点</a:t>
            </a:r>
            <a:endParaRPr kumimoji="1" lang="zh-CN" altLang="en-US" sz="2000" dirty="0">
              <a:latin typeface="华文楷体" panose="02010600040101010101" pitchFamily="2" charset="-122"/>
              <a:ea typeface="华文楷体" panose="02010600040101010101" pitchFamily="2" charset="-122"/>
            </a:endParaRPr>
          </a:p>
        </p:txBody>
      </p:sp>
      <p:sp>
        <p:nvSpPr>
          <p:cNvPr id="20516" name="Text Box 42"/>
          <p:cNvSpPr txBox="1">
            <a:spLocks noChangeArrowheads="1"/>
          </p:cNvSpPr>
          <p:nvPr/>
        </p:nvSpPr>
        <p:spPr bwMode="auto">
          <a:xfrm>
            <a:off x="6878638" y="3789363"/>
            <a:ext cx="1654175" cy="854075"/>
          </a:xfrm>
          <a:prstGeom prst="rect">
            <a:avLst/>
          </a:prstGeom>
          <a:noFill/>
          <a:ln w="9525">
            <a:solidFill>
              <a:srgbClr val="99FF66"/>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000" dirty="0">
                <a:latin typeface="华文楷体" panose="02010600040101010101" pitchFamily="2" charset="-122"/>
                <a:ea typeface="华文楷体" panose="02010600040101010101" pitchFamily="2" charset="-122"/>
              </a:rPr>
              <a:t>空表：</a:t>
            </a:r>
            <a:endParaRPr kumimoji="1" lang="zh-CN" altLang="en-US" sz="2000" dirty="0">
              <a:latin typeface="华文楷体" panose="02010600040101010101" pitchFamily="2" charset="-122"/>
              <a:ea typeface="华文楷体" panose="02010600040101010101" pitchFamily="2" charset="-122"/>
            </a:endParaRPr>
          </a:p>
          <a:p>
            <a:pPr eaLnBrk="1" hangingPunct="1">
              <a:spcBef>
                <a:spcPct val="50000"/>
              </a:spcBef>
              <a:buClrTx/>
              <a:buFontTx/>
              <a:buNone/>
            </a:pPr>
            <a:r>
              <a:rPr kumimoji="1" lang="en-US" altLang="zh-CN" sz="2000" dirty="0" smtClean="0">
                <a:latin typeface="华文楷体" panose="02010600040101010101" pitchFamily="2" charset="-122"/>
                <a:ea typeface="华文楷体" panose="02010600040101010101" pitchFamily="2" charset="-122"/>
              </a:rPr>
              <a:t>L= NULL</a:t>
            </a:r>
            <a:endParaRPr kumimoji="1" lang="en-US" altLang="zh-CN" sz="2000" dirty="0">
              <a:latin typeface="华文楷体" panose="02010600040101010101" pitchFamily="2" charset="-122"/>
              <a:ea typeface="华文楷体" panose="02010600040101010101" pitchFamily="2" charset="-122"/>
            </a:endParaRPr>
          </a:p>
        </p:txBody>
      </p:sp>
      <p:sp>
        <p:nvSpPr>
          <p:cNvPr id="20517" name="Text Box 43"/>
          <p:cNvSpPr txBox="1">
            <a:spLocks noChangeArrowheads="1"/>
          </p:cNvSpPr>
          <p:nvPr/>
        </p:nvSpPr>
        <p:spPr bwMode="auto">
          <a:xfrm>
            <a:off x="7010400" y="4648200"/>
            <a:ext cx="874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华文楷体" panose="02010600040101010101" pitchFamily="2" charset="-122"/>
                <a:ea typeface="华文楷体" panose="02010600040101010101" pitchFamily="2" charset="-122"/>
              </a:rPr>
              <a:t>first</a:t>
            </a:r>
            <a:endParaRPr kumimoji="1" lang="en-US" altLang="zh-CN" sz="2000" dirty="0">
              <a:latin typeface="华文楷体" panose="02010600040101010101" pitchFamily="2" charset="-122"/>
              <a:ea typeface="华文楷体" panose="02010600040101010101" pitchFamily="2" charset="-122"/>
            </a:endParaRPr>
          </a:p>
        </p:txBody>
      </p:sp>
      <p:sp>
        <p:nvSpPr>
          <p:cNvPr id="20518" name="Rectangle 44"/>
          <p:cNvSpPr>
            <a:spLocks noChangeArrowheads="1"/>
          </p:cNvSpPr>
          <p:nvPr/>
        </p:nvSpPr>
        <p:spPr bwMode="auto">
          <a:xfrm>
            <a:off x="7315200" y="5105400"/>
            <a:ext cx="990600" cy="3810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519" name="Text Box 49"/>
          <p:cNvSpPr txBox="1">
            <a:spLocks noChangeArrowheads="1"/>
          </p:cNvSpPr>
          <p:nvPr/>
        </p:nvSpPr>
        <p:spPr bwMode="auto">
          <a:xfrm>
            <a:off x="7924800" y="5105400"/>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华文楷体" panose="02010600040101010101" pitchFamily="2" charset="-122"/>
                <a:ea typeface="华文楷体" panose="02010600040101010101" pitchFamily="2" charset="-122"/>
              </a:rPr>
              <a:t>^</a:t>
            </a:r>
            <a:endParaRPr kumimoji="1" lang="en-US" altLang="zh-CN" sz="2000" dirty="0">
              <a:latin typeface="华文楷体" panose="02010600040101010101" pitchFamily="2" charset="-122"/>
              <a:ea typeface="华文楷体" panose="02010600040101010101" pitchFamily="2" charset="-122"/>
            </a:endParaRPr>
          </a:p>
        </p:txBody>
      </p:sp>
      <p:sp>
        <p:nvSpPr>
          <p:cNvPr id="20520" name="Text Box 51"/>
          <p:cNvSpPr txBox="1">
            <a:spLocks noChangeArrowheads="1"/>
          </p:cNvSpPr>
          <p:nvPr/>
        </p:nvSpPr>
        <p:spPr bwMode="auto">
          <a:xfrm>
            <a:off x="1600200" y="3505200"/>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华文楷体" panose="02010600040101010101" pitchFamily="2" charset="-122"/>
                <a:ea typeface="华文楷体" panose="02010600040101010101" pitchFamily="2" charset="-122"/>
              </a:rPr>
              <a:t> 1264</a:t>
            </a:r>
            <a:endParaRPr kumimoji="1" lang="en-US" altLang="zh-CN" sz="2000" dirty="0">
              <a:latin typeface="华文楷体" panose="02010600040101010101" pitchFamily="2" charset="-122"/>
              <a:ea typeface="华文楷体" panose="02010600040101010101" pitchFamily="2" charset="-122"/>
            </a:endParaRPr>
          </a:p>
        </p:txBody>
      </p:sp>
      <p:sp>
        <p:nvSpPr>
          <p:cNvPr id="20521" name="Text Box 52"/>
          <p:cNvSpPr txBox="1">
            <a:spLocks noChangeArrowheads="1"/>
          </p:cNvSpPr>
          <p:nvPr/>
        </p:nvSpPr>
        <p:spPr bwMode="auto">
          <a:xfrm>
            <a:off x="2590800" y="37338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华文楷体" panose="02010600040101010101" pitchFamily="2" charset="-122"/>
                <a:ea typeface="华文楷体" panose="02010600040101010101" pitchFamily="2" charset="-122"/>
              </a:rPr>
              <a:t>1264</a:t>
            </a:r>
            <a:endParaRPr kumimoji="1" lang="en-US" altLang="zh-CN" sz="2000" dirty="0">
              <a:latin typeface="华文楷体" panose="02010600040101010101" pitchFamily="2" charset="-122"/>
              <a:ea typeface="华文楷体" panose="02010600040101010101" pitchFamily="2" charset="-122"/>
            </a:endParaRPr>
          </a:p>
        </p:txBody>
      </p:sp>
      <p:sp>
        <p:nvSpPr>
          <p:cNvPr id="20522" name="Rectangle 53"/>
          <p:cNvSpPr>
            <a:spLocks noChangeArrowheads="1"/>
          </p:cNvSpPr>
          <p:nvPr/>
        </p:nvSpPr>
        <p:spPr bwMode="auto">
          <a:xfrm>
            <a:off x="1752600" y="3505200"/>
            <a:ext cx="5334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523" name="Freeform 56"/>
          <p:cNvSpPr/>
          <p:nvPr/>
        </p:nvSpPr>
        <p:spPr bwMode="auto">
          <a:xfrm>
            <a:off x="1447800" y="4800600"/>
            <a:ext cx="304800" cy="381000"/>
          </a:xfrm>
          <a:custGeom>
            <a:avLst/>
            <a:gdLst>
              <a:gd name="T0" fmla="*/ 2147483646 w 400"/>
              <a:gd name="T1" fmla="*/ 0 h 304"/>
              <a:gd name="T2" fmla="*/ 2147483646 w 400"/>
              <a:gd name="T3" fmla="*/ 2147483646 h 304"/>
              <a:gd name="T4" fmla="*/ 2147483646 w 400"/>
              <a:gd name="T5" fmla="*/ 2147483646 h 304"/>
              <a:gd name="T6" fmla="*/ 2147483646 w 400"/>
              <a:gd name="T7" fmla="*/ 2147483646 h 304"/>
              <a:gd name="T8" fmla="*/ 0 60000 65536"/>
              <a:gd name="T9" fmla="*/ 0 60000 65536"/>
              <a:gd name="T10" fmla="*/ 0 60000 65536"/>
              <a:gd name="T11" fmla="*/ 0 60000 65536"/>
              <a:gd name="T12" fmla="*/ 0 w 400"/>
              <a:gd name="T13" fmla="*/ 0 h 304"/>
              <a:gd name="T14" fmla="*/ 400 w 400"/>
              <a:gd name="T15" fmla="*/ 304 h 304"/>
            </a:gdLst>
            <a:ahLst/>
            <a:cxnLst>
              <a:cxn ang="T8">
                <a:pos x="T0" y="T1"/>
              </a:cxn>
              <a:cxn ang="T9">
                <a:pos x="T2" y="T3"/>
              </a:cxn>
              <a:cxn ang="T10">
                <a:pos x="T4" y="T5"/>
              </a:cxn>
              <a:cxn ang="T11">
                <a:pos x="T6" y="T7"/>
              </a:cxn>
            </a:cxnLst>
            <a:rect l="T12" t="T13" r="T14" b="T15"/>
            <a:pathLst>
              <a:path w="400" h="304">
                <a:moveTo>
                  <a:pt x="16" y="0"/>
                </a:moveTo>
                <a:cubicBezTo>
                  <a:pt x="8" y="72"/>
                  <a:pt x="0" y="144"/>
                  <a:pt x="16" y="192"/>
                </a:cubicBezTo>
                <a:cubicBezTo>
                  <a:pt x="32" y="240"/>
                  <a:pt x="48" y="272"/>
                  <a:pt x="112" y="288"/>
                </a:cubicBezTo>
                <a:cubicBezTo>
                  <a:pt x="176" y="304"/>
                  <a:pt x="288" y="296"/>
                  <a:pt x="400" y="288"/>
                </a:cubicBezTo>
              </a:path>
            </a:pathLst>
          </a:custGeom>
          <a:noFill/>
          <a:ln w="38100">
            <a:solidFill>
              <a:schemeClr val="accent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24" name="Text Box 57"/>
          <p:cNvSpPr txBox="1">
            <a:spLocks noChangeArrowheads="1"/>
          </p:cNvSpPr>
          <p:nvPr/>
        </p:nvSpPr>
        <p:spPr bwMode="auto">
          <a:xfrm>
            <a:off x="1219200" y="44958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1800" dirty="0">
                <a:latin typeface="华文楷体" panose="02010600040101010101" pitchFamily="2" charset="-122"/>
                <a:ea typeface="华文楷体" panose="02010600040101010101" pitchFamily="2" charset="-122"/>
              </a:rPr>
              <a:t>4016</a:t>
            </a:r>
            <a:endParaRPr kumimoji="1" lang="en-US" altLang="zh-CN" sz="2400" dirty="0">
              <a:latin typeface="华文楷体" panose="02010600040101010101" pitchFamily="2" charset="-122"/>
              <a:ea typeface="华文楷体" panose="02010600040101010101" pitchFamily="2" charset="-122"/>
            </a:endParaRPr>
          </a:p>
        </p:txBody>
      </p:sp>
      <p:sp>
        <p:nvSpPr>
          <p:cNvPr id="20525" name="Rectangle 58"/>
          <p:cNvSpPr>
            <a:spLocks noChangeArrowheads="1"/>
          </p:cNvSpPr>
          <p:nvPr/>
        </p:nvSpPr>
        <p:spPr bwMode="auto">
          <a:xfrm>
            <a:off x="1295400" y="4419600"/>
            <a:ext cx="5334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526" name="Freeform 59"/>
          <p:cNvSpPr/>
          <p:nvPr/>
        </p:nvSpPr>
        <p:spPr bwMode="auto">
          <a:xfrm>
            <a:off x="1981200" y="3810000"/>
            <a:ext cx="685800" cy="381000"/>
          </a:xfrm>
          <a:custGeom>
            <a:avLst/>
            <a:gdLst>
              <a:gd name="T0" fmla="*/ 2147483646 w 400"/>
              <a:gd name="T1" fmla="*/ 0 h 304"/>
              <a:gd name="T2" fmla="*/ 2147483646 w 400"/>
              <a:gd name="T3" fmla="*/ 2147483646 h 304"/>
              <a:gd name="T4" fmla="*/ 2147483646 w 400"/>
              <a:gd name="T5" fmla="*/ 2147483646 h 304"/>
              <a:gd name="T6" fmla="*/ 2147483646 w 400"/>
              <a:gd name="T7" fmla="*/ 2147483646 h 304"/>
              <a:gd name="T8" fmla="*/ 0 60000 65536"/>
              <a:gd name="T9" fmla="*/ 0 60000 65536"/>
              <a:gd name="T10" fmla="*/ 0 60000 65536"/>
              <a:gd name="T11" fmla="*/ 0 60000 65536"/>
              <a:gd name="T12" fmla="*/ 0 w 400"/>
              <a:gd name="T13" fmla="*/ 0 h 304"/>
              <a:gd name="T14" fmla="*/ 400 w 400"/>
              <a:gd name="T15" fmla="*/ 304 h 304"/>
            </a:gdLst>
            <a:ahLst/>
            <a:cxnLst>
              <a:cxn ang="T8">
                <a:pos x="T0" y="T1"/>
              </a:cxn>
              <a:cxn ang="T9">
                <a:pos x="T2" y="T3"/>
              </a:cxn>
              <a:cxn ang="T10">
                <a:pos x="T4" y="T5"/>
              </a:cxn>
              <a:cxn ang="T11">
                <a:pos x="T6" y="T7"/>
              </a:cxn>
            </a:cxnLst>
            <a:rect l="T12" t="T13" r="T14" b="T15"/>
            <a:pathLst>
              <a:path w="400" h="304">
                <a:moveTo>
                  <a:pt x="16" y="0"/>
                </a:moveTo>
                <a:cubicBezTo>
                  <a:pt x="8" y="72"/>
                  <a:pt x="0" y="144"/>
                  <a:pt x="16" y="192"/>
                </a:cubicBezTo>
                <a:cubicBezTo>
                  <a:pt x="32" y="240"/>
                  <a:pt x="48" y="272"/>
                  <a:pt x="112" y="288"/>
                </a:cubicBezTo>
                <a:cubicBezTo>
                  <a:pt x="176" y="304"/>
                  <a:pt x="288" y="296"/>
                  <a:pt x="400" y="288"/>
                </a:cubicBezTo>
              </a:path>
            </a:pathLst>
          </a:custGeom>
          <a:noFill/>
          <a:ln w="38100">
            <a:solidFill>
              <a:schemeClr val="accent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27" name="Text Box 60"/>
          <p:cNvSpPr txBox="1">
            <a:spLocks noChangeArrowheads="1"/>
          </p:cNvSpPr>
          <p:nvPr/>
        </p:nvSpPr>
        <p:spPr bwMode="auto">
          <a:xfrm>
            <a:off x="1752600" y="4724400"/>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1800" dirty="0">
                <a:latin typeface="华文楷体" panose="02010600040101010101" pitchFamily="2" charset="-122"/>
                <a:ea typeface="华文楷体" panose="02010600040101010101" pitchFamily="2" charset="-122"/>
              </a:rPr>
              <a:t>4016</a:t>
            </a:r>
            <a:endParaRPr kumimoji="1" lang="en-US" altLang="zh-CN" sz="1800" dirty="0">
              <a:latin typeface="华文楷体" panose="02010600040101010101" pitchFamily="2" charset="-122"/>
              <a:ea typeface="华文楷体" panose="02010600040101010101" pitchFamily="2" charset="-122"/>
            </a:endParaRPr>
          </a:p>
        </p:txBody>
      </p:sp>
      <p:sp>
        <p:nvSpPr>
          <p:cNvPr id="20528" name="Rectangle 61" descr="浅色上对角线"/>
          <p:cNvSpPr>
            <a:spLocks noChangeArrowheads="1"/>
          </p:cNvSpPr>
          <p:nvPr/>
        </p:nvSpPr>
        <p:spPr bwMode="auto">
          <a:xfrm>
            <a:off x="1752600" y="5029200"/>
            <a:ext cx="457200" cy="381000"/>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529" name="Rectangle 62" descr="浅色上对角线"/>
          <p:cNvSpPr>
            <a:spLocks noChangeArrowheads="1"/>
          </p:cNvSpPr>
          <p:nvPr/>
        </p:nvSpPr>
        <p:spPr bwMode="auto">
          <a:xfrm>
            <a:off x="7315200" y="5105400"/>
            <a:ext cx="609600" cy="381000"/>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530" name="Freeform 65"/>
          <p:cNvSpPr/>
          <p:nvPr/>
        </p:nvSpPr>
        <p:spPr bwMode="auto">
          <a:xfrm>
            <a:off x="7137400" y="4953000"/>
            <a:ext cx="177800" cy="381000"/>
          </a:xfrm>
          <a:custGeom>
            <a:avLst/>
            <a:gdLst>
              <a:gd name="T0" fmla="*/ 2147483646 w 112"/>
              <a:gd name="T1" fmla="*/ 0 h 240"/>
              <a:gd name="T2" fmla="*/ 2147483646 w 112"/>
              <a:gd name="T3" fmla="*/ 2147483646 h 240"/>
              <a:gd name="T4" fmla="*/ 2147483646 w 112"/>
              <a:gd name="T5" fmla="*/ 2147483646 h 240"/>
              <a:gd name="T6" fmla="*/ 0 60000 65536"/>
              <a:gd name="T7" fmla="*/ 0 60000 65536"/>
              <a:gd name="T8" fmla="*/ 0 60000 65536"/>
              <a:gd name="T9" fmla="*/ 0 w 112"/>
              <a:gd name="T10" fmla="*/ 0 h 240"/>
              <a:gd name="T11" fmla="*/ 112 w 112"/>
              <a:gd name="T12" fmla="*/ 240 h 240"/>
            </a:gdLst>
            <a:ahLst/>
            <a:cxnLst>
              <a:cxn ang="T6">
                <a:pos x="T0" y="T1"/>
              </a:cxn>
              <a:cxn ang="T7">
                <a:pos x="T2" y="T3"/>
              </a:cxn>
              <a:cxn ang="T8">
                <a:pos x="T4" y="T5"/>
              </a:cxn>
            </a:cxnLst>
            <a:rect l="T9" t="T10" r="T11" b="T12"/>
            <a:pathLst>
              <a:path w="112" h="240">
                <a:moveTo>
                  <a:pt x="16" y="0"/>
                </a:moveTo>
                <a:cubicBezTo>
                  <a:pt x="8" y="52"/>
                  <a:pt x="0" y="104"/>
                  <a:pt x="16" y="144"/>
                </a:cubicBezTo>
                <a:cubicBezTo>
                  <a:pt x="32" y="184"/>
                  <a:pt x="72" y="212"/>
                  <a:pt x="112" y="240"/>
                </a:cubicBezTo>
              </a:path>
            </a:pathLst>
          </a:custGeom>
          <a:noFill/>
          <a:ln w="2857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31" name="AutoShape 69"/>
          <p:cNvSpPr/>
          <p:nvPr/>
        </p:nvSpPr>
        <p:spPr bwMode="auto">
          <a:xfrm>
            <a:off x="5410200" y="2716213"/>
            <a:ext cx="3200400" cy="1016000"/>
          </a:xfrm>
          <a:prstGeom prst="borderCallout2">
            <a:avLst>
              <a:gd name="adj1" fmla="val 11250"/>
              <a:gd name="adj2" fmla="val -2380"/>
              <a:gd name="adj3" fmla="val 11250"/>
              <a:gd name="adj4" fmla="val -19194"/>
              <a:gd name="adj5" fmla="val 230625"/>
              <a:gd name="adj6" fmla="val -97023"/>
            </a:avLst>
          </a:prstGeom>
          <a:solidFill>
            <a:schemeClr val="bg1"/>
          </a:solidFill>
          <a:ln w="9525">
            <a:solidFill>
              <a:schemeClr val="accent2"/>
            </a:solidFill>
            <a:miter lim="800000"/>
          </a:ln>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zh-CN" altLang="en-US" sz="2000" b="1" dirty="0">
                <a:solidFill>
                  <a:schemeClr val="accent2"/>
                </a:solidFill>
                <a:latin typeface="华文楷体" panose="02010600040101010101" pitchFamily="2" charset="-122"/>
                <a:ea typeface="楷体_GB2312" pitchFamily="49" charset="-122"/>
              </a:rPr>
              <a:t>头结点的作用</a:t>
            </a:r>
            <a:r>
              <a:rPr kumimoji="1" lang="zh-CN" altLang="en-US" sz="2000" dirty="0">
                <a:solidFill>
                  <a:schemeClr val="accent2"/>
                </a:solidFill>
                <a:latin typeface="华文楷体" panose="02010600040101010101" pitchFamily="2" charset="-122"/>
                <a:ea typeface="楷体_GB2312" pitchFamily="49" charset="-122"/>
              </a:rPr>
              <a:t>：插入和删除第一个数据元素时不必对头指针进行特殊处理。</a:t>
            </a:r>
            <a:endParaRPr kumimoji="1" lang="zh-CN" altLang="en-US" sz="2000" dirty="0">
              <a:latin typeface="华文楷体" panose="02010600040101010101" pitchFamily="2" charset="-122"/>
              <a:ea typeface="楷体_GB2312" pitchFamily="49" charset="-122"/>
            </a:endParaRPr>
          </a:p>
        </p:txBody>
      </p:sp>
      <p:sp>
        <p:nvSpPr>
          <p:cNvPr id="20532" name="Line 70"/>
          <p:cNvSpPr>
            <a:spLocks noChangeShapeType="1"/>
          </p:cNvSpPr>
          <p:nvPr/>
        </p:nvSpPr>
        <p:spPr bwMode="auto">
          <a:xfrm>
            <a:off x="6934200" y="476250"/>
            <a:ext cx="0" cy="2209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33" name="Line 71"/>
          <p:cNvSpPr>
            <a:spLocks noChangeShapeType="1"/>
          </p:cNvSpPr>
          <p:nvPr/>
        </p:nvSpPr>
        <p:spPr bwMode="auto">
          <a:xfrm>
            <a:off x="7696200" y="498475"/>
            <a:ext cx="0" cy="2209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34" name="Rectangle 72"/>
          <p:cNvSpPr>
            <a:spLocks noChangeArrowheads="1"/>
          </p:cNvSpPr>
          <p:nvPr/>
        </p:nvSpPr>
        <p:spPr bwMode="auto">
          <a:xfrm>
            <a:off x="6934200" y="968375"/>
            <a:ext cx="762000" cy="2286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535" name="Rectangle 73"/>
          <p:cNvSpPr>
            <a:spLocks noChangeArrowheads="1"/>
          </p:cNvSpPr>
          <p:nvPr/>
        </p:nvSpPr>
        <p:spPr bwMode="auto">
          <a:xfrm>
            <a:off x="6934200" y="1425575"/>
            <a:ext cx="762000" cy="2286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536" name="Rectangle 74"/>
          <p:cNvSpPr>
            <a:spLocks noChangeArrowheads="1"/>
          </p:cNvSpPr>
          <p:nvPr/>
        </p:nvSpPr>
        <p:spPr bwMode="auto">
          <a:xfrm>
            <a:off x="6934200" y="2263775"/>
            <a:ext cx="762000" cy="2286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0537" name="Line 75"/>
          <p:cNvSpPr>
            <a:spLocks noChangeShapeType="1"/>
          </p:cNvSpPr>
          <p:nvPr/>
        </p:nvSpPr>
        <p:spPr bwMode="auto">
          <a:xfrm>
            <a:off x="6324600" y="1501775"/>
            <a:ext cx="60960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38" name="Freeform 76"/>
          <p:cNvSpPr/>
          <p:nvPr/>
        </p:nvSpPr>
        <p:spPr bwMode="auto">
          <a:xfrm>
            <a:off x="7467600" y="1552575"/>
            <a:ext cx="469900" cy="863600"/>
          </a:xfrm>
          <a:custGeom>
            <a:avLst/>
            <a:gdLst>
              <a:gd name="T0" fmla="*/ 0 w 248"/>
              <a:gd name="T1" fmla="*/ 2147483646 h 544"/>
              <a:gd name="T2" fmla="*/ 2147483646 w 248"/>
              <a:gd name="T3" fmla="*/ 2147483646 h 544"/>
              <a:gd name="T4" fmla="*/ 2147483646 w 248"/>
              <a:gd name="T5" fmla="*/ 2147483646 h 544"/>
              <a:gd name="T6" fmla="*/ 2147483646 w 248"/>
              <a:gd name="T7" fmla="*/ 2147483646 h 544"/>
              <a:gd name="T8" fmla="*/ 0 60000 65536"/>
              <a:gd name="T9" fmla="*/ 0 60000 65536"/>
              <a:gd name="T10" fmla="*/ 0 60000 65536"/>
              <a:gd name="T11" fmla="*/ 0 60000 65536"/>
              <a:gd name="T12" fmla="*/ 0 w 248"/>
              <a:gd name="T13" fmla="*/ 0 h 544"/>
              <a:gd name="T14" fmla="*/ 248 w 248"/>
              <a:gd name="T15" fmla="*/ 544 h 544"/>
            </a:gdLst>
            <a:ahLst/>
            <a:cxnLst>
              <a:cxn ang="T8">
                <a:pos x="T0" y="T1"/>
              </a:cxn>
              <a:cxn ang="T9">
                <a:pos x="T2" y="T3"/>
              </a:cxn>
              <a:cxn ang="T10">
                <a:pos x="T4" y="T5"/>
              </a:cxn>
              <a:cxn ang="T11">
                <a:pos x="T6" y="T7"/>
              </a:cxn>
            </a:cxnLst>
            <a:rect l="T12" t="T13" r="T14" b="T15"/>
            <a:pathLst>
              <a:path w="248" h="544">
                <a:moveTo>
                  <a:pt x="0" y="16"/>
                </a:moveTo>
                <a:cubicBezTo>
                  <a:pt x="76" y="8"/>
                  <a:pt x="152" y="0"/>
                  <a:pt x="192" y="64"/>
                </a:cubicBezTo>
                <a:cubicBezTo>
                  <a:pt x="232" y="128"/>
                  <a:pt x="248" y="320"/>
                  <a:pt x="240" y="400"/>
                </a:cubicBezTo>
                <a:cubicBezTo>
                  <a:pt x="232" y="480"/>
                  <a:pt x="188" y="512"/>
                  <a:pt x="144" y="544"/>
                </a:cubicBezTo>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39" name="Freeform 77"/>
          <p:cNvSpPr/>
          <p:nvPr/>
        </p:nvSpPr>
        <p:spPr bwMode="auto">
          <a:xfrm>
            <a:off x="6578600" y="1120775"/>
            <a:ext cx="889000" cy="1371600"/>
          </a:xfrm>
          <a:custGeom>
            <a:avLst/>
            <a:gdLst>
              <a:gd name="T0" fmla="*/ 2147483646 w 560"/>
              <a:gd name="T1" fmla="*/ 2147483646 h 864"/>
              <a:gd name="T2" fmla="*/ 2147483646 w 560"/>
              <a:gd name="T3" fmla="*/ 2147483646 h 864"/>
              <a:gd name="T4" fmla="*/ 2147483646 w 560"/>
              <a:gd name="T5" fmla="*/ 2147483646 h 864"/>
              <a:gd name="T6" fmla="*/ 2147483646 w 560"/>
              <a:gd name="T7" fmla="*/ 2147483646 h 864"/>
              <a:gd name="T8" fmla="*/ 2147483646 w 560"/>
              <a:gd name="T9" fmla="*/ 0 h 864"/>
              <a:gd name="T10" fmla="*/ 0 60000 65536"/>
              <a:gd name="T11" fmla="*/ 0 60000 65536"/>
              <a:gd name="T12" fmla="*/ 0 60000 65536"/>
              <a:gd name="T13" fmla="*/ 0 60000 65536"/>
              <a:gd name="T14" fmla="*/ 0 60000 65536"/>
              <a:gd name="T15" fmla="*/ 0 w 560"/>
              <a:gd name="T16" fmla="*/ 0 h 864"/>
              <a:gd name="T17" fmla="*/ 560 w 560"/>
              <a:gd name="T18" fmla="*/ 864 h 864"/>
            </a:gdLst>
            <a:ahLst/>
            <a:cxnLst>
              <a:cxn ang="T10">
                <a:pos x="T0" y="T1"/>
              </a:cxn>
              <a:cxn ang="T11">
                <a:pos x="T2" y="T3"/>
              </a:cxn>
              <a:cxn ang="T12">
                <a:pos x="T4" y="T5"/>
              </a:cxn>
              <a:cxn ang="T13">
                <a:pos x="T6" y="T7"/>
              </a:cxn>
              <a:cxn ang="T14">
                <a:pos x="T8" y="T9"/>
              </a:cxn>
            </a:cxnLst>
            <a:rect l="T15" t="T16" r="T17" b="T18"/>
            <a:pathLst>
              <a:path w="560" h="864">
                <a:moveTo>
                  <a:pt x="560" y="816"/>
                </a:moveTo>
                <a:cubicBezTo>
                  <a:pt x="388" y="840"/>
                  <a:pt x="216" y="864"/>
                  <a:pt x="128" y="816"/>
                </a:cubicBezTo>
                <a:cubicBezTo>
                  <a:pt x="40" y="768"/>
                  <a:pt x="48" y="640"/>
                  <a:pt x="32" y="528"/>
                </a:cubicBezTo>
                <a:cubicBezTo>
                  <a:pt x="16" y="416"/>
                  <a:pt x="0" y="232"/>
                  <a:pt x="32" y="144"/>
                </a:cubicBezTo>
                <a:cubicBezTo>
                  <a:pt x="64" y="56"/>
                  <a:pt x="144" y="28"/>
                  <a:pt x="224" y="0"/>
                </a:cubicBezTo>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40" name="Text Box 78"/>
          <p:cNvSpPr txBox="1">
            <a:spLocks noChangeArrowheads="1"/>
          </p:cNvSpPr>
          <p:nvPr/>
        </p:nvSpPr>
        <p:spPr bwMode="auto">
          <a:xfrm>
            <a:off x="5859263" y="1196975"/>
            <a:ext cx="465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b="1" dirty="0" smtClean="0">
                <a:latin typeface="华文楷体" panose="02010600040101010101" pitchFamily="2" charset="-122"/>
                <a:ea typeface="华文楷体" panose="02010600040101010101" pitchFamily="2" charset="-122"/>
              </a:rPr>
              <a:t>L</a:t>
            </a:r>
            <a:endParaRPr kumimoji="1" lang="en-US" altLang="zh-CN" sz="2400" dirty="0">
              <a:latin typeface="华文楷体" panose="02010600040101010101" pitchFamily="2" charset="-122"/>
              <a:ea typeface="华文楷体" panose="02010600040101010101" pitchFamily="2" charset="-122"/>
            </a:endParaRPr>
          </a:p>
        </p:txBody>
      </p:sp>
      <p:sp>
        <p:nvSpPr>
          <p:cNvPr id="20541" name="Line 79"/>
          <p:cNvSpPr>
            <a:spLocks noChangeShapeType="1"/>
          </p:cNvSpPr>
          <p:nvPr/>
        </p:nvSpPr>
        <p:spPr bwMode="auto">
          <a:xfrm>
            <a:off x="7543800" y="1044575"/>
            <a:ext cx="304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0542" name="Text Box 80"/>
          <p:cNvSpPr txBox="1">
            <a:spLocks noChangeArrowheads="1"/>
          </p:cNvSpPr>
          <p:nvPr/>
        </p:nvSpPr>
        <p:spPr bwMode="auto">
          <a:xfrm>
            <a:off x="5149850" y="5659438"/>
            <a:ext cx="3419475" cy="879475"/>
          </a:xfrm>
          <a:prstGeom prst="rect">
            <a:avLst/>
          </a:prstGeom>
          <a:solidFill>
            <a:schemeClr val="bg1"/>
          </a:solidFill>
          <a:ln w="25400">
            <a:solidFill>
              <a:srgbClr val="99FF66"/>
            </a:solidFill>
            <a:miter lim="800000"/>
          </a:ln>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000" dirty="0">
                <a:latin typeface="华文楷体" panose="02010600040101010101" pitchFamily="2" charset="-122"/>
                <a:ea typeface="华文楷体" panose="02010600040101010101" pitchFamily="2" charset="-122"/>
              </a:rPr>
              <a:t>带头节点单链表判空：</a:t>
            </a:r>
            <a:endParaRPr kumimoji="1" lang="zh-CN" altLang="en-US" sz="2000" dirty="0">
              <a:latin typeface="华文楷体" panose="02010600040101010101" pitchFamily="2" charset="-122"/>
              <a:ea typeface="华文楷体" panose="02010600040101010101" pitchFamily="2" charset="-122"/>
            </a:endParaRPr>
          </a:p>
          <a:p>
            <a:pPr eaLnBrk="1" hangingPunct="1">
              <a:spcBef>
                <a:spcPct val="50000"/>
              </a:spcBef>
              <a:buClrTx/>
              <a:buFontTx/>
              <a:buNone/>
            </a:pPr>
            <a:r>
              <a:rPr kumimoji="1" lang="en-US" altLang="zh-CN" sz="2000" dirty="0" smtClean="0">
                <a:latin typeface="华文楷体" panose="02010600040101010101" pitchFamily="2" charset="-122"/>
                <a:ea typeface="华文楷体" panose="02010600040101010101" pitchFamily="2" charset="-122"/>
              </a:rPr>
              <a:t>L-</a:t>
            </a:r>
            <a:r>
              <a:rPr kumimoji="1" lang="en-US" altLang="zh-CN" sz="2000" dirty="0">
                <a:latin typeface="华文楷体" panose="02010600040101010101" pitchFamily="2" charset="-122"/>
                <a:ea typeface="华文楷体" panose="02010600040101010101" pitchFamily="2" charset="-122"/>
              </a:rPr>
              <a:t>&gt;</a:t>
            </a:r>
            <a:r>
              <a:rPr kumimoji="1" lang="en-US" altLang="zh-CN" sz="2000" dirty="0" smtClean="0">
                <a:latin typeface="华文楷体" panose="02010600040101010101" pitchFamily="2" charset="-122"/>
                <a:ea typeface="华文楷体" panose="02010600040101010101" pitchFamily="2" charset="-122"/>
              </a:rPr>
              <a:t>next != NULL</a:t>
            </a:r>
            <a:endParaRPr kumimoji="1" lang="en-US" altLang="zh-CN" sz="20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2150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C58AFCD9-68E3-4A3C-8AD6-6FB4B22C0C4A}"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21509" name="Rectangle 2"/>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单链表节点类型定义</a:t>
            </a:r>
            <a:endParaRPr lang="zh-CN" altLang="en-US" sz="2800" dirty="0" smtClean="0">
              <a:ea typeface="华文楷体" panose="02010600040101010101" pitchFamily="2" charset="-122"/>
            </a:endParaRPr>
          </a:p>
        </p:txBody>
      </p:sp>
      <p:sp>
        <p:nvSpPr>
          <p:cNvPr id="21510"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dirty="0" err="1" smtClean="0">
                <a:ea typeface="华文楷体" panose="02010600040101010101" pitchFamily="2" charset="-122"/>
              </a:rPr>
              <a:t>struct</a:t>
            </a:r>
            <a:r>
              <a:rPr lang="en-US" altLang="zh-CN" sz="2400" dirty="0" smtClean="0">
                <a:ea typeface="华文楷体" panose="02010600040101010101" pitchFamily="2" charset="-122"/>
              </a:rPr>
              <a:t> node</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None/>
            </a:pPr>
            <a:r>
              <a:rPr lang="en-US" altLang="zh-CN" sz="2400" dirty="0">
                <a:ea typeface="华文楷体" panose="02010600040101010101" pitchFamily="2" charset="-122"/>
              </a:rPr>
              <a:t>	</a:t>
            </a:r>
            <a:r>
              <a:rPr lang="en-US" altLang="zh-CN" sz="2400" dirty="0" err="1">
                <a:ea typeface="华文楷体" panose="02010600040101010101" pitchFamily="2" charset="-122"/>
              </a:rPr>
              <a:t>elemtype</a:t>
            </a:r>
            <a:r>
              <a:rPr lang="en-US" altLang="zh-CN" sz="2400" dirty="0">
                <a:ea typeface="华文楷体" panose="02010600040101010101" pitchFamily="2" charset="-122"/>
              </a:rPr>
              <a:t> data</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struct</a:t>
            </a:r>
            <a:r>
              <a:rPr lang="en-US" altLang="zh-CN" sz="2400" dirty="0" smtClean="0">
                <a:ea typeface="华文楷体" panose="02010600040101010101" pitchFamily="2" charset="-122"/>
              </a:rPr>
              <a:t> node </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next;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err="1" smtClean="0">
                <a:ea typeface="华文楷体" panose="02010600040101010101" pitchFamily="2" charset="-122"/>
              </a:rPr>
              <a:t>typedef</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struct</a:t>
            </a:r>
            <a:r>
              <a:rPr lang="en-US" altLang="zh-CN" sz="2400" dirty="0" smtClean="0">
                <a:ea typeface="华文楷体" panose="02010600040101010101" pitchFamily="2" charset="-122"/>
              </a:rPr>
              <a:t> node </a:t>
            </a:r>
            <a:r>
              <a:rPr lang="en-US" altLang="zh-CN" sz="2400" dirty="0" err="1" smtClean="0">
                <a:ea typeface="华文楷体" panose="02010600040101010101" pitchFamily="2" charset="-122"/>
              </a:rPr>
              <a:t>Node</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None/>
            </a:pPr>
            <a:r>
              <a:rPr lang="en-US" altLang="zh-CN" sz="2400" dirty="0" err="1">
                <a:ea typeface="华文楷体" panose="02010600040101010101" pitchFamily="2" charset="-122"/>
              </a:rPr>
              <a:t>typedef</a:t>
            </a:r>
            <a:r>
              <a:rPr lang="en-US" altLang="zh-CN" sz="2400" dirty="0">
                <a:ea typeface="华文楷体" panose="02010600040101010101" pitchFamily="2" charset="-122"/>
              </a:rPr>
              <a:t> </a:t>
            </a:r>
            <a:r>
              <a:rPr lang="en-US" altLang="zh-CN" sz="2400" dirty="0" err="1">
                <a:ea typeface="华文楷体" panose="02010600040101010101" pitchFamily="2" charset="-122"/>
              </a:rPr>
              <a:t>struct</a:t>
            </a:r>
            <a:r>
              <a:rPr lang="en-US" altLang="zh-CN" sz="2400" dirty="0">
                <a:ea typeface="华文楷体" panose="02010600040101010101" pitchFamily="2" charset="-122"/>
              </a:rPr>
              <a:t> node </a:t>
            </a:r>
            <a:r>
              <a:rPr lang="zh-CN" altLang="en-US" sz="2400" dirty="0" smtClean="0">
                <a:ea typeface="华文楷体" panose="02010600040101010101" pitchFamily="2" charset="-122"/>
              </a:rPr>
              <a:t>*</a:t>
            </a:r>
            <a:r>
              <a:rPr lang="en-US" altLang="zh-CN" sz="2400" dirty="0" err="1" smtClean="0">
                <a:ea typeface="华文楷体" panose="02010600040101010101" pitchFamily="2" charset="-122"/>
              </a:rPr>
              <a:t>PtrToNode</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None/>
            </a:pPr>
            <a:r>
              <a:rPr lang="en-US" altLang="zh-CN" sz="2400" dirty="0" err="1" smtClean="0">
                <a:ea typeface="华文楷体" panose="02010600040101010101" pitchFamily="2" charset="-122"/>
              </a:rPr>
              <a:t>typedef</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PtrToNode</a:t>
            </a:r>
            <a:r>
              <a:rPr lang="en-US" altLang="zh-CN" sz="2400" dirty="0" smtClean="0">
                <a:ea typeface="华文楷体" panose="02010600040101010101" pitchFamily="2" charset="-122"/>
              </a:rPr>
              <a:t> List;</a:t>
            </a:r>
            <a:endParaRPr lang="en-US" altLang="zh-CN" sz="2400" dirty="0" smtClean="0">
              <a:ea typeface="华文楷体" panose="02010600040101010101" pitchFamily="2" charset="-122"/>
            </a:endParaRPr>
          </a:p>
          <a:p>
            <a:pPr eaLnBrk="1" hangingPunct="1">
              <a:buNone/>
            </a:pPr>
            <a:r>
              <a:rPr lang="en-US" altLang="zh-CN" sz="2400" dirty="0" err="1">
                <a:ea typeface="华文楷体" panose="02010600040101010101" pitchFamily="2" charset="-122"/>
              </a:rPr>
              <a:t>typedef</a:t>
            </a:r>
            <a:r>
              <a:rPr lang="en-US" altLang="zh-CN" sz="2400" dirty="0">
                <a:ea typeface="华文楷体" panose="02010600040101010101" pitchFamily="2" charset="-122"/>
              </a:rPr>
              <a:t> </a:t>
            </a:r>
            <a:r>
              <a:rPr lang="en-US" altLang="zh-CN" sz="2400" dirty="0" err="1">
                <a:ea typeface="华文楷体" panose="02010600040101010101" pitchFamily="2" charset="-122"/>
              </a:rPr>
              <a:t>PtrToNode</a:t>
            </a:r>
            <a:r>
              <a:rPr lang="en-US" altLang="zh-CN" sz="2400" dirty="0">
                <a:ea typeface="华文楷体" panose="02010600040101010101" pitchFamily="2" charset="-122"/>
              </a:rPr>
              <a:t> </a:t>
            </a:r>
            <a:r>
              <a:rPr lang="en-US" altLang="zh-CN" sz="2400" dirty="0" smtClean="0">
                <a:ea typeface="华文楷体" panose="02010600040101010101" pitchFamily="2" charset="-122"/>
              </a:rPr>
              <a:t>Position;</a:t>
            </a:r>
            <a:endParaRPr lang="en-US" altLang="zh-CN" sz="2400" dirty="0">
              <a:ea typeface="华文楷体" panose="02010600040101010101" pitchFamily="2" charset="-122"/>
            </a:endParaRPr>
          </a:p>
          <a:p>
            <a:pPr eaLnBrk="1" hangingPunct="1">
              <a:buNone/>
            </a:pPr>
            <a:endParaRPr lang="en-US" altLang="zh-CN" sz="2400" dirty="0" smtClean="0">
              <a:ea typeface="华文楷体" panose="02010600040101010101" pitchFamily="2" charset="-122"/>
            </a:endParaRPr>
          </a:p>
          <a:p>
            <a:pPr eaLnBrk="1" hangingPunct="1">
              <a:buNone/>
            </a:pPr>
            <a:endParaRPr lang="en-US" altLang="zh-CN" sz="2400" dirty="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页脚占位符 3"/>
          <p:cNvSpPr>
            <a:spLocks noGrp="1"/>
          </p:cNvSpPr>
          <p:nvPr>
            <p:ph type="ftr" sz="quarter" idx="10"/>
          </p:nvPr>
        </p:nvSpPr>
        <p:spPr/>
        <p:txBody>
          <a:bodyPr/>
          <a:lstStyle/>
          <a:p>
            <a:pPr>
              <a:defRPr/>
            </a:pPr>
            <a:r>
              <a:rPr lang="en-US" altLang="zh-CN"/>
              <a:t>BUPT SCST</a:t>
            </a:r>
            <a:endParaRPr lang="en-US" altLang="zh-CN"/>
          </a:p>
        </p:txBody>
      </p:sp>
      <p:sp>
        <p:nvSpPr>
          <p:cNvPr id="2253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D3F03409-E707-4C4B-95CD-DB50FBAC1CA1}"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22" name="日期占位符 5"/>
          <p:cNvSpPr>
            <a:spLocks noGrp="1"/>
          </p:cNvSpPr>
          <p:nvPr>
            <p:ph type="dt" sz="quarter" idx="12"/>
          </p:nvPr>
        </p:nvSpPr>
        <p:spPr/>
        <p:txBody>
          <a:bodyPr/>
          <a:lstStyle/>
          <a:p>
            <a:pPr>
              <a:defRPr/>
            </a:pPr>
            <a:r>
              <a:rPr lang="en-US" altLang="zh-CN"/>
              <a:t>BUPT</a:t>
            </a:r>
            <a:endParaRPr lang="en-US" altLang="zh-CN"/>
          </a:p>
        </p:txBody>
      </p:sp>
      <p:sp>
        <p:nvSpPr>
          <p:cNvPr id="22533" name="Rectangle 2051"/>
          <p:cNvSpPr>
            <a:spLocks noGrp="1" noChangeArrowheads="1"/>
          </p:cNvSpPr>
          <p:nvPr>
            <p:ph type="body" idx="1"/>
          </p:nvPr>
        </p:nvSpPr>
        <p:spPr>
          <a:xfrm>
            <a:off x="685800" y="1143000"/>
            <a:ext cx="7772400" cy="4953000"/>
          </a:xfrm>
        </p:spPr>
        <p:txBody>
          <a:bodyPr/>
          <a:lstStyle/>
          <a:p>
            <a:pPr eaLnBrk="1" hangingPunct="1">
              <a:buFont typeface="Wingdings" panose="05000000000000000000" pitchFamily="2" charset="2"/>
              <a:buNone/>
            </a:pPr>
            <a:r>
              <a:rPr lang="zh-CN" altLang="zh-CN" sz="2400" b="1" dirty="0" smtClean="0">
                <a:solidFill>
                  <a:schemeClr val="accent2"/>
                </a:solidFill>
                <a:ea typeface="华文楷体" panose="02010600040101010101" pitchFamily="2" charset="-122"/>
              </a:rPr>
              <a:t>[查找]</a:t>
            </a:r>
            <a:endParaRPr lang="en-US" altLang="zh-CN" sz="2400" b="1" dirty="0" smtClean="0">
              <a:solidFill>
                <a:srgbClr val="FF3300"/>
              </a:solidFill>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L                                                p</a:t>
            </a: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a</a:t>
            </a:r>
            <a:r>
              <a:rPr lang="en-US" altLang="zh-CN" sz="2800" baseline="-25000" dirty="0" smtClean="0">
                <a:ea typeface="华文楷体" panose="02010600040101010101" pitchFamily="2" charset="-122"/>
              </a:rPr>
              <a:t>1</a:t>
            </a:r>
            <a:r>
              <a:rPr lang="en-US" altLang="zh-CN" sz="2800" dirty="0" smtClean="0">
                <a:ea typeface="华文楷体" panose="02010600040101010101" pitchFamily="2" charset="-122"/>
              </a:rPr>
              <a:t>                   a</a:t>
            </a:r>
            <a:r>
              <a:rPr lang="en-US" altLang="zh-CN" sz="2800" baseline="-25000" dirty="0" smtClean="0">
                <a:ea typeface="华文楷体" panose="02010600040101010101" pitchFamily="2" charset="-122"/>
              </a:rPr>
              <a:t>i-1             </a:t>
            </a:r>
            <a:r>
              <a:rPr lang="en-US" altLang="zh-CN" sz="2800" dirty="0" smtClean="0">
                <a:ea typeface="华文楷体" panose="02010600040101010101" pitchFamily="2" charset="-122"/>
              </a:rPr>
              <a:t>x</a:t>
            </a:r>
            <a:r>
              <a:rPr lang="en-US" altLang="zh-CN" sz="2800" baseline="-25000" dirty="0" smtClean="0">
                <a:ea typeface="华文楷体" panose="02010600040101010101" pitchFamily="2" charset="-122"/>
              </a:rPr>
              <a:t>                              </a:t>
            </a:r>
            <a:r>
              <a:rPr lang="en-US" altLang="zh-CN" sz="2800" dirty="0" smtClean="0">
                <a:ea typeface="华文楷体" panose="02010600040101010101" pitchFamily="2" charset="-122"/>
              </a:rPr>
              <a:t>a</a:t>
            </a:r>
            <a:r>
              <a:rPr lang="en-US" altLang="zh-CN" sz="2800" baseline="-25000" dirty="0" smtClean="0">
                <a:ea typeface="华文楷体" panose="02010600040101010101" pitchFamily="2" charset="-122"/>
              </a:rPr>
              <a:t>n</a:t>
            </a: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800" dirty="0" smtClean="0">
              <a:ea typeface="华文楷体" panose="02010600040101010101" pitchFamily="2" charset="-122"/>
            </a:endParaRPr>
          </a:p>
        </p:txBody>
      </p:sp>
      <p:sp>
        <p:nvSpPr>
          <p:cNvPr id="22534" name="Rectangle 2052"/>
          <p:cNvSpPr>
            <a:spLocks noChangeArrowheads="1"/>
          </p:cNvSpPr>
          <p:nvPr/>
        </p:nvSpPr>
        <p:spPr bwMode="auto">
          <a:xfrm>
            <a:off x="1143000" y="2209800"/>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2535" name="Rectangle 2053"/>
          <p:cNvSpPr>
            <a:spLocks noChangeArrowheads="1"/>
          </p:cNvSpPr>
          <p:nvPr/>
        </p:nvSpPr>
        <p:spPr bwMode="auto">
          <a:xfrm>
            <a:off x="2286000" y="2209800"/>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2536" name="Rectangle 2054"/>
          <p:cNvSpPr>
            <a:spLocks noChangeArrowheads="1"/>
          </p:cNvSpPr>
          <p:nvPr/>
        </p:nvSpPr>
        <p:spPr bwMode="auto">
          <a:xfrm>
            <a:off x="4267200" y="2209800"/>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2537" name="Rectangle 2055"/>
          <p:cNvSpPr>
            <a:spLocks noChangeArrowheads="1"/>
          </p:cNvSpPr>
          <p:nvPr/>
        </p:nvSpPr>
        <p:spPr bwMode="auto">
          <a:xfrm>
            <a:off x="5486400" y="2209800"/>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2538" name="Rectangle 2056"/>
          <p:cNvSpPr>
            <a:spLocks noChangeArrowheads="1"/>
          </p:cNvSpPr>
          <p:nvPr/>
        </p:nvSpPr>
        <p:spPr bwMode="auto">
          <a:xfrm>
            <a:off x="7467600" y="2209800"/>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2539" name="Line 2058"/>
          <p:cNvSpPr>
            <a:spLocks noChangeShapeType="1"/>
          </p:cNvSpPr>
          <p:nvPr/>
        </p:nvSpPr>
        <p:spPr bwMode="auto">
          <a:xfrm>
            <a:off x="2743200" y="2209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2540" name="Line 2059"/>
          <p:cNvSpPr>
            <a:spLocks noChangeShapeType="1"/>
          </p:cNvSpPr>
          <p:nvPr/>
        </p:nvSpPr>
        <p:spPr bwMode="auto">
          <a:xfrm>
            <a:off x="4800600" y="2209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2541" name="Line 2060"/>
          <p:cNvSpPr>
            <a:spLocks noChangeShapeType="1"/>
          </p:cNvSpPr>
          <p:nvPr/>
        </p:nvSpPr>
        <p:spPr bwMode="auto">
          <a:xfrm>
            <a:off x="5943600" y="2209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2542" name="Line 2061"/>
          <p:cNvSpPr>
            <a:spLocks noChangeShapeType="1"/>
          </p:cNvSpPr>
          <p:nvPr/>
        </p:nvSpPr>
        <p:spPr bwMode="auto">
          <a:xfrm>
            <a:off x="7848600" y="2209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2543" name="Line 2062"/>
          <p:cNvSpPr>
            <a:spLocks noChangeShapeType="1"/>
          </p:cNvSpPr>
          <p:nvPr/>
        </p:nvSpPr>
        <p:spPr bwMode="auto">
          <a:xfrm>
            <a:off x="1752600" y="2362200"/>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2544" name="Line 2063"/>
          <p:cNvSpPr>
            <a:spLocks noChangeShapeType="1"/>
          </p:cNvSpPr>
          <p:nvPr/>
        </p:nvSpPr>
        <p:spPr bwMode="auto">
          <a:xfrm>
            <a:off x="2971800" y="2362200"/>
            <a:ext cx="1295400" cy="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2545" name="Line 2064"/>
          <p:cNvSpPr>
            <a:spLocks noChangeShapeType="1"/>
          </p:cNvSpPr>
          <p:nvPr/>
        </p:nvSpPr>
        <p:spPr bwMode="auto">
          <a:xfrm>
            <a:off x="4953000" y="2362200"/>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2546" name="Line 2065"/>
          <p:cNvSpPr>
            <a:spLocks noChangeShapeType="1"/>
          </p:cNvSpPr>
          <p:nvPr/>
        </p:nvSpPr>
        <p:spPr bwMode="auto">
          <a:xfrm>
            <a:off x="6172200" y="2362200"/>
            <a:ext cx="1295400" cy="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2547" name="Rectangle 2069" descr="浅色上对角线"/>
          <p:cNvSpPr>
            <a:spLocks noChangeArrowheads="1"/>
          </p:cNvSpPr>
          <p:nvPr/>
        </p:nvSpPr>
        <p:spPr bwMode="auto">
          <a:xfrm>
            <a:off x="1143000" y="2209800"/>
            <a:ext cx="533400" cy="381000"/>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2548" name="Text Box 2072"/>
          <p:cNvSpPr txBox="1">
            <a:spLocks noChangeArrowheads="1"/>
          </p:cNvSpPr>
          <p:nvPr/>
        </p:nvSpPr>
        <p:spPr bwMode="auto">
          <a:xfrm>
            <a:off x="898525" y="2654737"/>
            <a:ext cx="7559675" cy="3631763"/>
          </a:xfrm>
          <a:prstGeom prst="rect">
            <a:avLst/>
          </a:prstGeom>
          <a:solidFill>
            <a:schemeClr val="bg1"/>
          </a:solidFill>
          <a:ln w="19050" algn="ctr">
            <a:solidFill>
              <a:schemeClr val="accent1"/>
            </a:solidFill>
            <a:miter lim="800000"/>
          </a:ln>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smtClean="0">
                <a:latin typeface="华文楷体" panose="02010600040101010101" pitchFamily="2" charset="-122"/>
                <a:ea typeface="华文楷体" panose="02010600040101010101" pitchFamily="2" charset="-122"/>
              </a:rPr>
              <a:t>Position Find(List L, Element X)</a:t>
            </a:r>
            <a:endParaRPr lang="en-US" altLang="zh-CN" sz="2000" dirty="0" smtClean="0">
              <a:latin typeface="华文楷体" panose="02010600040101010101" pitchFamily="2" charset="-122"/>
              <a:ea typeface="华文楷体" panose="02010600040101010101" pitchFamily="2" charset="-122"/>
            </a:endParaRPr>
          </a:p>
          <a:p>
            <a:pPr eaLnBrk="1" hangingPunct="1">
              <a:spcBef>
                <a:spcPct val="50000"/>
              </a:spcBef>
              <a:buClrTx/>
              <a:buFontTx/>
              <a:buNone/>
            </a:pPr>
            <a:r>
              <a:rPr lang="en-US" altLang="zh-CN" sz="2000" dirty="0">
                <a:latin typeface="华文楷体" panose="02010600040101010101" pitchFamily="2" charset="-122"/>
                <a:ea typeface="华文楷体" panose="02010600040101010101" pitchFamily="2" charset="-122"/>
              </a:rPr>
              <a:t>{</a:t>
            </a:r>
            <a:endParaRPr lang="en-US" altLang="zh-CN" sz="2000" dirty="0">
              <a:latin typeface="华文楷体" panose="02010600040101010101" pitchFamily="2" charset="-122"/>
              <a:ea typeface="华文楷体" panose="02010600040101010101" pitchFamily="2" charset="-122"/>
            </a:endParaRPr>
          </a:p>
          <a:p>
            <a:pPr eaLnBrk="1" hangingPunct="1">
              <a:spcBef>
                <a:spcPct val="50000"/>
              </a:spcBef>
              <a:buClrTx/>
              <a:buFontTx/>
              <a:buNone/>
            </a:pPr>
            <a:r>
              <a:rPr lang="en-US" altLang="zh-CN" sz="2000" dirty="0">
                <a:latin typeface="华文楷体" panose="02010600040101010101" pitchFamily="2" charset="-122"/>
                <a:ea typeface="华文楷体" panose="02010600040101010101" pitchFamily="2" charset="-122"/>
              </a:rPr>
              <a:t> </a:t>
            </a:r>
            <a:r>
              <a:rPr lang="en-US" altLang="zh-CN" sz="2000" dirty="0" smtClean="0">
                <a:latin typeface="华文楷体" panose="02010600040101010101" pitchFamily="2" charset="-122"/>
                <a:ea typeface="华文楷体" panose="02010600040101010101" pitchFamily="2" charset="-122"/>
              </a:rPr>
              <a:t>    Position p = L-&gt;next;</a:t>
            </a:r>
            <a:endParaRPr lang="en-US" altLang="zh-CN" sz="2000" dirty="0" smtClean="0">
              <a:latin typeface="华文楷体" panose="02010600040101010101" pitchFamily="2" charset="-122"/>
              <a:ea typeface="华文楷体" panose="02010600040101010101" pitchFamily="2" charset="-122"/>
            </a:endParaRPr>
          </a:p>
          <a:p>
            <a:pPr eaLnBrk="1" hangingPunct="1">
              <a:spcBef>
                <a:spcPct val="50000"/>
              </a:spcBef>
              <a:buClrTx/>
              <a:buFontTx/>
              <a:buNone/>
            </a:pPr>
            <a:r>
              <a:rPr lang="en-US" altLang="zh-CN" sz="2000" dirty="0" smtClean="0">
                <a:latin typeface="华文楷体" panose="02010600040101010101" pitchFamily="2" charset="-122"/>
                <a:ea typeface="华文楷体" panose="02010600040101010101" pitchFamily="2" charset="-122"/>
              </a:rPr>
              <a:t>     </a:t>
            </a:r>
            <a:r>
              <a:rPr lang="en-US" altLang="zh-CN" sz="2000" dirty="0">
                <a:latin typeface="华文楷体" panose="02010600040101010101" pitchFamily="2" charset="-122"/>
                <a:ea typeface="华文楷体" panose="02010600040101010101" pitchFamily="2" charset="-122"/>
              </a:rPr>
              <a:t>while </a:t>
            </a:r>
            <a:r>
              <a:rPr lang="en-US" altLang="zh-CN" sz="2000" dirty="0" smtClean="0">
                <a:latin typeface="华文楷体" panose="02010600040101010101" pitchFamily="2" charset="-122"/>
                <a:ea typeface="华文楷体" panose="02010600040101010101" pitchFamily="2" charset="-122"/>
              </a:rPr>
              <a:t>(p</a:t>
            </a: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!=NULL </a:t>
            </a:r>
            <a:r>
              <a:rPr lang="en-US" altLang="zh-CN" sz="2000" dirty="0">
                <a:latin typeface="华文楷体" panose="02010600040101010101" pitchFamily="2" charset="-122"/>
                <a:ea typeface="华文楷体" panose="02010600040101010101" pitchFamily="2" charset="-122"/>
                <a:sym typeface="Symbol" panose="05050102010706020507" pitchFamily="18" charset="2"/>
              </a:rPr>
              <a:t>&amp;&amp; </a:t>
            </a: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p-&gt;data != X)</a:t>
            </a:r>
            <a:endParaRPr lang="en-US" altLang="zh-CN" sz="2000" dirty="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50000"/>
              </a:spcBef>
              <a:buClrTx/>
              <a:buFontTx/>
              <a:buNone/>
            </a:pPr>
            <a:r>
              <a:rPr lang="en-US" altLang="zh-CN" sz="2000" dirty="0">
                <a:latin typeface="华文楷体" panose="02010600040101010101" pitchFamily="2" charset="-122"/>
                <a:ea typeface="华文楷体" panose="02010600040101010101" pitchFamily="2" charset="-122"/>
                <a:sym typeface="Symbol" panose="05050102010706020507" pitchFamily="18" charset="2"/>
              </a:rPr>
              <a:t>     	</a:t>
            </a: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p=p-</a:t>
            </a:r>
            <a:r>
              <a:rPr lang="en-US" altLang="zh-CN" sz="2000" dirty="0">
                <a:latin typeface="华文楷体" panose="02010600040101010101" pitchFamily="2" charset="-122"/>
                <a:ea typeface="华文楷体" panose="02010600040101010101" pitchFamily="2" charset="-122"/>
                <a:sym typeface="Symbol" panose="05050102010706020507" pitchFamily="18" charset="2"/>
              </a:rPr>
              <a:t>&gt;next; </a:t>
            </a: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 </a:t>
            </a:r>
            <a:endParaRPr lang="en-US" altLang="zh-CN" sz="2000" dirty="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50000"/>
              </a:spcBef>
              <a:buClrTx/>
              <a:buFontTx/>
              <a:buNone/>
            </a:pPr>
            <a:r>
              <a:rPr lang="en-US" altLang="zh-CN" sz="2000" dirty="0">
                <a:latin typeface="华文楷体" panose="02010600040101010101" pitchFamily="2" charset="-122"/>
                <a:ea typeface="华文楷体" panose="02010600040101010101" pitchFamily="2" charset="-122"/>
                <a:sym typeface="Symbol" panose="05050102010706020507" pitchFamily="18" charset="2"/>
              </a:rPr>
              <a:t> </a:t>
            </a: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   return p;</a:t>
            </a:r>
            <a:endParaRPr lang="en-US" altLang="zh-CN" sz="2000" dirty="0" smtClean="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50000"/>
              </a:spcBef>
              <a:buClrTx/>
              <a:buNone/>
            </a:pP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 </a:t>
            </a:r>
            <a:endParaRPr lang="en-US" altLang="zh-CN" sz="2000" dirty="0" smtClean="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50000"/>
              </a:spcBef>
              <a:buClrTx/>
              <a:buNone/>
            </a:pPr>
            <a:r>
              <a:rPr lang="zh-CN" altLang="en-US" sz="2000" dirty="0" smtClean="0">
                <a:latin typeface="华文楷体" panose="02010600040101010101" pitchFamily="2" charset="-122"/>
                <a:ea typeface="华文楷体" panose="02010600040101010101" pitchFamily="2" charset="-122"/>
                <a:sym typeface="Symbol" panose="05050102010706020507" pitchFamily="18" charset="2"/>
              </a:rPr>
              <a:t>时间</a:t>
            </a:r>
            <a:r>
              <a:rPr lang="zh-CN" altLang="en-US" sz="2000" dirty="0">
                <a:latin typeface="华文楷体" panose="02010600040101010101" pitchFamily="2" charset="-122"/>
                <a:ea typeface="华文楷体" panose="02010600040101010101" pitchFamily="2" charset="-122"/>
                <a:sym typeface="Symbol" panose="05050102010706020507" pitchFamily="18" charset="2"/>
              </a:rPr>
              <a:t>复杂</a:t>
            </a:r>
            <a:r>
              <a:rPr lang="zh-CN" altLang="en-US" sz="2000" dirty="0" smtClean="0">
                <a:latin typeface="华文楷体" panose="02010600040101010101" pitchFamily="2" charset="-122"/>
                <a:ea typeface="华文楷体" panose="02010600040101010101" pitchFamily="2" charset="-122"/>
                <a:sym typeface="Symbol" panose="05050102010706020507" pitchFamily="18" charset="2"/>
              </a:rPr>
              <a:t>度取决于</a:t>
            </a: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x</a:t>
            </a:r>
            <a:r>
              <a:rPr lang="zh-CN" altLang="en-US" sz="2000" dirty="0" smtClean="0">
                <a:latin typeface="华文楷体" panose="02010600040101010101" pitchFamily="2" charset="-122"/>
                <a:ea typeface="华文楷体" panose="02010600040101010101" pitchFamily="2" charset="-122"/>
                <a:sym typeface="Symbol" panose="05050102010706020507" pitchFamily="18" charset="2"/>
              </a:rPr>
              <a:t>：最好</a:t>
            </a:r>
            <a:r>
              <a:rPr lang="en-US" altLang="zh-CN" sz="2000" dirty="0" smtClean="0">
                <a:latin typeface="华文楷体" panose="02010600040101010101" pitchFamily="2" charset="-122"/>
                <a:ea typeface="华文楷体" panose="02010600040101010101" pitchFamily="2" charset="-122"/>
              </a:rPr>
              <a:t>O(n)</a:t>
            </a:r>
            <a:r>
              <a:rPr lang="zh-CN" altLang="en-US" sz="2000" dirty="0" smtClean="0">
                <a:latin typeface="华文楷体" panose="02010600040101010101" pitchFamily="2" charset="-122"/>
                <a:ea typeface="华文楷体" panose="02010600040101010101" pitchFamily="2" charset="-122"/>
              </a:rPr>
              <a:t>，</a:t>
            </a:r>
            <a:r>
              <a:rPr lang="zh-CN" altLang="en-US" sz="2000" dirty="0" smtClean="0">
                <a:latin typeface="华文楷体" panose="02010600040101010101" pitchFamily="2" charset="-122"/>
                <a:ea typeface="华文楷体" panose="02010600040101010101" pitchFamily="2" charset="-122"/>
                <a:sym typeface="Symbol" panose="05050102010706020507" pitchFamily="18" charset="2"/>
              </a:rPr>
              <a:t>最坏</a:t>
            </a:r>
            <a:r>
              <a:rPr lang="en-US" altLang="zh-CN" sz="2000" dirty="0" smtClean="0">
                <a:latin typeface="华文楷体" panose="02010600040101010101" pitchFamily="2" charset="-122"/>
                <a:ea typeface="华文楷体" panose="02010600040101010101" pitchFamily="2" charset="-122"/>
              </a:rPr>
              <a:t>O(n)</a:t>
            </a:r>
            <a:r>
              <a:rPr lang="zh-CN" altLang="en-US" sz="2000" dirty="0" smtClean="0">
                <a:latin typeface="华文楷体" panose="02010600040101010101" pitchFamily="2" charset="-122"/>
                <a:ea typeface="华文楷体" panose="02010600040101010101" pitchFamily="2" charset="-122"/>
              </a:rPr>
              <a:t>，等概率下平均</a:t>
            </a:r>
            <a:r>
              <a:rPr lang="en-US" altLang="zh-CN" sz="2000" dirty="0" smtClean="0">
                <a:latin typeface="华文楷体" panose="02010600040101010101" pitchFamily="2" charset="-122"/>
                <a:ea typeface="华文楷体" panose="02010600040101010101" pitchFamily="2" charset="-122"/>
              </a:rPr>
              <a:t>O(n)</a:t>
            </a:r>
            <a:endParaRPr lang="en-US" altLang="zh-CN" sz="2000" dirty="0">
              <a:latin typeface="华文楷体" panose="02010600040101010101" pitchFamily="2" charset="-122"/>
              <a:ea typeface="华文楷体" panose="02010600040101010101" pitchFamily="2" charset="-122"/>
            </a:endParaRPr>
          </a:p>
        </p:txBody>
      </p:sp>
      <p:sp>
        <p:nvSpPr>
          <p:cNvPr id="22549" name="Rectangle 2073"/>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单链表查找</a:t>
            </a:r>
            <a:endParaRPr lang="zh-CN" altLang="zh-CN" sz="2800" dirty="0" smtClean="0">
              <a:ea typeface="华文楷体" panose="02010600040101010101" pitchFamily="2" charset="-122"/>
            </a:endParaRPr>
          </a:p>
        </p:txBody>
      </p:sp>
      <p:sp>
        <p:nvSpPr>
          <p:cNvPr id="22550" name="Line 2074"/>
          <p:cNvSpPr>
            <a:spLocks noChangeShapeType="1"/>
          </p:cNvSpPr>
          <p:nvPr/>
        </p:nvSpPr>
        <p:spPr bwMode="auto">
          <a:xfrm>
            <a:off x="5724525" y="1989138"/>
            <a:ext cx="0" cy="287337"/>
          </a:xfrm>
          <a:prstGeom prst="line">
            <a:avLst/>
          </a:prstGeom>
          <a:noFill/>
          <a:ln w="25400">
            <a:solidFill>
              <a:schemeClr val="accent1"/>
            </a:solidFill>
            <a:rou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dirty="0">
              <a:latin typeface="华文楷体" panose="02010600040101010101" pitchFamily="2" charset="-122"/>
              <a:ea typeface="华文楷体" panose="02010600040101010101" pitchFamily="2" charset="-122"/>
            </a:endParaRPr>
          </a:p>
        </p:txBody>
      </p:sp>
      <p:cxnSp>
        <p:nvCxnSpPr>
          <p:cNvPr id="3" name="肘形连接符 2"/>
          <p:cNvCxnSpPr/>
          <p:nvPr/>
        </p:nvCxnSpPr>
        <p:spPr bwMode="auto">
          <a:xfrm rot="16200000" flipH="1">
            <a:off x="1293168" y="1955304"/>
            <a:ext cx="364976" cy="144016"/>
          </a:xfrm>
          <a:prstGeom prst="bentConnector3">
            <a:avLst/>
          </a:prstGeom>
          <a:noFill/>
          <a:ln w="22225" cap="flat" cmpd="sng" algn="ctr">
            <a:solidFill>
              <a:schemeClr val="accent1"/>
            </a:solidFill>
            <a:prstDash val="solid"/>
            <a:round/>
            <a:headEnd type="none" w="med" len="med"/>
            <a:tailEnd type="triangle"/>
          </a:ln>
          <a:effectLst/>
        </p:spPr>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灯片编号占位符 4"/>
          <p:cNvSpPr>
            <a:spLocks noGrp="1"/>
          </p:cNvSpPr>
          <p:nvPr>
            <p:ph type="sldNum" sz="quarter" idx="11"/>
          </p:nvPr>
        </p:nvSpPr>
        <p:spPr/>
        <p:txBody>
          <a:bodyPr/>
          <a:lstStyle/>
          <a:p>
            <a:pPr>
              <a:defRPr/>
            </a:pPr>
            <a:fld id="{CAD162DF-A162-40AB-ADE3-1F275A8F01F8}" type="slidenum">
              <a:rPr lang="en-US" altLang="zh-CN" smtClean="0"/>
            </a:fld>
            <a:endParaRPr lang="en-US" altLang="zh-CN"/>
          </a:p>
        </p:txBody>
      </p:sp>
      <p:sp>
        <p:nvSpPr>
          <p:cNvPr id="6" name="日期占位符 5"/>
          <p:cNvSpPr>
            <a:spLocks noGrp="1"/>
          </p:cNvSpPr>
          <p:nvPr>
            <p:ph type="dt" sz="half" idx="12"/>
          </p:nvPr>
        </p:nvSpPr>
        <p:spPr/>
        <p:txBody>
          <a:bodyPr/>
          <a:lstStyle/>
          <a:p>
            <a:pPr>
              <a:defRPr/>
            </a:pPr>
            <a:r>
              <a:rPr lang="en-US" altLang="zh-CN" smtClean="0"/>
              <a:t>BUPT</a:t>
            </a:r>
            <a:endParaRPr lang="en-US" altLang="zh-CN"/>
          </a:p>
        </p:txBody>
      </p:sp>
      <p:sp>
        <p:nvSpPr>
          <p:cNvPr id="25" name="Rectangle 2051"/>
          <p:cNvSpPr txBox="1">
            <a:spLocks noChangeArrowheads="1"/>
          </p:cNvSpPr>
          <p:nvPr/>
        </p:nvSpPr>
        <p:spPr bwMode="auto">
          <a:xfrm>
            <a:off x="685800" y="1143000"/>
            <a:ext cx="7772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Times New Roman" panose="02020603050405020304" pitchFamily="18" charset="0"/>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buFont typeface="Wingdings" panose="05000000000000000000" pitchFamily="2" charset="2"/>
              <a:buNone/>
            </a:pPr>
            <a:r>
              <a:rPr lang="zh-CN" altLang="zh-CN" sz="2400" b="1" kern="0" dirty="0" smtClean="0">
                <a:solidFill>
                  <a:schemeClr val="accent2"/>
                </a:solidFill>
                <a:latin typeface="华文楷体" panose="02010600040101010101" pitchFamily="2" charset="-122"/>
                <a:ea typeface="华文楷体" panose="02010600040101010101" pitchFamily="2" charset="-122"/>
              </a:rPr>
              <a:t>[查找</a:t>
            </a:r>
            <a:r>
              <a:rPr lang="zh-CN" altLang="en-US" sz="2400" b="1" kern="0" dirty="0" smtClean="0">
                <a:solidFill>
                  <a:schemeClr val="accent2"/>
                </a:solidFill>
                <a:latin typeface="华文楷体" panose="02010600040101010101" pitchFamily="2" charset="-122"/>
                <a:ea typeface="华文楷体" panose="02010600040101010101" pitchFamily="2" charset="-122"/>
              </a:rPr>
              <a:t>前驱结点</a:t>
            </a:r>
            <a:r>
              <a:rPr lang="zh-CN" altLang="zh-CN" sz="2400" b="1" kern="0" dirty="0" smtClean="0">
                <a:solidFill>
                  <a:schemeClr val="accent2"/>
                </a:solidFill>
                <a:latin typeface="华文楷体" panose="02010600040101010101" pitchFamily="2" charset="-122"/>
                <a:ea typeface="华文楷体" panose="02010600040101010101" pitchFamily="2" charset="-122"/>
              </a:rPr>
              <a:t>]</a:t>
            </a:r>
            <a:endParaRPr lang="en-US" altLang="zh-CN" sz="2400" b="1" kern="0" dirty="0" smtClean="0">
              <a:solidFill>
                <a:srgbClr val="FF3300"/>
              </a:solidFill>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800" kern="0" dirty="0" smtClean="0">
                <a:latin typeface="华文楷体" panose="02010600040101010101" pitchFamily="2" charset="-122"/>
                <a:ea typeface="华文楷体" panose="02010600040101010101" pitchFamily="2" charset="-122"/>
              </a:rPr>
              <a:t>    L                                    p</a:t>
            </a:r>
            <a:endParaRPr lang="en-US" altLang="zh-CN" sz="2800" kern="0" dirty="0" smtClean="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800" kern="0" dirty="0" smtClean="0">
                <a:latin typeface="华文楷体" panose="02010600040101010101" pitchFamily="2" charset="-122"/>
                <a:ea typeface="华文楷体" panose="02010600040101010101" pitchFamily="2" charset="-122"/>
              </a:rPr>
              <a:t>                  a</a:t>
            </a:r>
            <a:r>
              <a:rPr lang="en-US" altLang="zh-CN" sz="2800" kern="0" baseline="-25000" dirty="0" smtClean="0">
                <a:latin typeface="华文楷体" panose="02010600040101010101" pitchFamily="2" charset="-122"/>
                <a:ea typeface="华文楷体" panose="02010600040101010101" pitchFamily="2" charset="-122"/>
              </a:rPr>
              <a:t>1</a:t>
            </a:r>
            <a:r>
              <a:rPr lang="en-US" altLang="zh-CN" sz="2800" kern="0" dirty="0" smtClean="0">
                <a:latin typeface="华文楷体" panose="02010600040101010101" pitchFamily="2" charset="-122"/>
                <a:ea typeface="华文楷体" panose="02010600040101010101" pitchFamily="2" charset="-122"/>
              </a:rPr>
              <a:t>                   a</a:t>
            </a:r>
            <a:r>
              <a:rPr lang="en-US" altLang="zh-CN" sz="2800" kern="0" baseline="-25000" dirty="0" smtClean="0">
                <a:latin typeface="华文楷体" panose="02010600040101010101" pitchFamily="2" charset="-122"/>
                <a:ea typeface="华文楷体" panose="02010600040101010101" pitchFamily="2" charset="-122"/>
              </a:rPr>
              <a:t>i-1             </a:t>
            </a:r>
            <a:r>
              <a:rPr lang="en-US" altLang="zh-CN" sz="2800" kern="0" dirty="0" smtClean="0">
                <a:latin typeface="华文楷体" panose="02010600040101010101" pitchFamily="2" charset="-122"/>
                <a:ea typeface="华文楷体" panose="02010600040101010101" pitchFamily="2" charset="-122"/>
              </a:rPr>
              <a:t>x</a:t>
            </a:r>
            <a:r>
              <a:rPr lang="en-US" altLang="zh-CN" sz="2800" kern="0" baseline="-25000" dirty="0" smtClean="0">
                <a:latin typeface="华文楷体" panose="02010600040101010101" pitchFamily="2" charset="-122"/>
                <a:ea typeface="华文楷体" panose="02010600040101010101" pitchFamily="2" charset="-122"/>
              </a:rPr>
              <a:t>                              </a:t>
            </a:r>
            <a:r>
              <a:rPr lang="en-US" altLang="zh-CN" sz="2800" kern="0" dirty="0" smtClean="0">
                <a:latin typeface="华文楷体" panose="02010600040101010101" pitchFamily="2" charset="-122"/>
                <a:ea typeface="华文楷体" panose="02010600040101010101" pitchFamily="2" charset="-122"/>
              </a:rPr>
              <a:t>a</a:t>
            </a:r>
            <a:r>
              <a:rPr lang="en-US" altLang="zh-CN" sz="2800" kern="0" baseline="-25000" dirty="0" smtClean="0">
                <a:latin typeface="华文楷体" panose="02010600040101010101" pitchFamily="2" charset="-122"/>
                <a:ea typeface="华文楷体" panose="02010600040101010101" pitchFamily="2" charset="-122"/>
              </a:rPr>
              <a:t>n</a:t>
            </a:r>
            <a:r>
              <a:rPr lang="en-US" altLang="zh-CN" sz="2800" kern="0" dirty="0" smtClean="0">
                <a:latin typeface="华文楷体" panose="02010600040101010101" pitchFamily="2" charset="-122"/>
                <a:ea typeface="华文楷体" panose="02010600040101010101" pitchFamily="2" charset="-122"/>
              </a:rPr>
              <a:t>  ^</a:t>
            </a:r>
            <a:endParaRPr lang="en-US" altLang="zh-CN" sz="2800" kern="0" dirty="0" smtClean="0">
              <a:latin typeface="华文楷体" panose="02010600040101010101" pitchFamily="2" charset="-122"/>
              <a:ea typeface="华文楷体" panose="02010600040101010101" pitchFamily="2" charset="-122"/>
            </a:endParaRPr>
          </a:p>
          <a:p>
            <a:pPr eaLnBrk="1" hangingPunct="1">
              <a:lnSpc>
                <a:spcPct val="80000"/>
              </a:lnSpc>
              <a:buFont typeface="Wingdings" panose="05000000000000000000" pitchFamily="2" charset="2"/>
              <a:buNone/>
            </a:pPr>
            <a:endParaRPr lang="en-US" altLang="zh-CN" sz="2800" kern="0" dirty="0" smtClean="0">
              <a:latin typeface="华文楷体" panose="02010600040101010101" pitchFamily="2" charset="-122"/>
              <a:ea typeface="华文楷体" panose="02010600040101010101" pitchFamily="2" charset="-122"/>
            </a:endParaRPr>
          </a:p>
        </p:txBody>
      </p:sp>
      <p:sp>
        <p:nvSpPr>
          <p:cNvPr id="26" name="Rectangle 2052"/>
          <p:cNvSpPr>
            <a:spLocks noChangeArrowheads="1"/>
          </p:cNvSpPr>
          <p:nvPr/>
        </p:nvSpPr>
        <p:spPr bwMode="auto">
          <a:xfrm>
            <a:off x="1143000" y="2209800"/>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7" name="Rectangle 2053"/>
          <p:cNvSpPr>
            <a:spLocks noChangeArrowheads="1"/>
          </p:cNvSpPr>
          <p:nvPr/>
        </p:nvSpPr>
        <p:spPr bwMode="auto">
          <a:xfrm>
            <a:off x="2286000" y="2209800"/>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8" name="Rectangle 2054"/>
          <p:cNvSpPr>
            <a:spLocks noChangeArrowheads="1"/>
          </p:cNvSpPr>
          <p:nvPr/>
        </p:nvSpPr>
        <p:spPr bwMode="auto">
          <a:xfrm>
            <a:off x="4267200" y="2209800"/>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9" name="Rectangle 2055"/>
          <p:cNvSpPr>
            <a:spLocks noChangeArrowheads="1"/>
          </p:cNvSpPr>
          <p:nvPr/>
        </p:nvSpPr>
        <p:spPr bwMode="auto">
          <a:xfrm>
            <a:off x="5486400" y="2209800"/>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 name="Rectangle 2056"/>
          <p:cNvSpPr>
            <a:spLocks noChangeArrowheads="1"/>
          </p:cNvSpPr>
          <p:nvPr/>
        </p:nvSpPr>
        <p:spPr bwMode="auto">
          <a:xfrm>
            <a:off x="7467600" y="2209800"/>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1" name="Line 2058"/>
          <p:cNvSpPr>
            <a:spLocks noChangeShapeType="1"/>
          </p:cNvSpPr>
          <p:nvPr/>
        </p:nvSpPr>
        <p:spPr bwMode="auto">
          <a:xfrm>
            <a:off x="2743200" y="2209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2" name="Line 2059"/>
          <p:cNvSpPr>
            <a:spLocks noChangeShapeType="1"/>
          </p:cNvSpPr>
          <p:nvPr/>
        </p:nvSpPr>
        <p:spPr bwMode="auto">
          <a:xfrm>
            <a:off x="4800600" y="2209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 name="Line 2060"/>
          <p:cNvSpPr>
            <a:spLocks noChangeShapeType="1"/>
          </p:cNvSpPr>
          <p:nvPr/>
        </p:nvSpPr>
        <p:spPr bwMode="auto">
          <a:xfrm>
            <a:off x="5943600" y="2209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4" name="Line 2061"/>
          <p:cNvSpPr>
            <a:spLocks noChangeShapeType="1"/>
          </p:cNvSpPr>
          <p:nvPr/>
        </p:nvSpPr>
        <p:spPr bwMode="auto">
          <a:xfrm>
            <a:off x="7848600" y="2209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5" name="Line 2062"/>
          <p:cNvSpPr>
            <a:spLocks noChangeShapeType="1"/>
          </p:cNvSpPr>
          <p:nvPr/>
        </p:nvSpPr>
        <p:spPr bwMode="auto">
          <a:xfrm>
            <a:off x="1752600" y="2362200"/>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6" name="Line 2063"/>
          <p:cNvSpPr>
            <a:spLocks noChangeShapeType="1"/>
          </p:cNvSpPr>
          <p:nvPr/>
        </p:nvSpPr>
        <p:spPr bwMode="auto">
          <a:xfrm>
            <a:off x="2971800" y="2362200"/>
            <a:ext cx="1295400" cy="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7" name="Line 2064"/>
          <p:cNvSpPr>
            <a:spLocks noChangeShapeType="1"/>
          </p:cNvSpPr>
          <p:nvPr/>
        </p:nvSpPr>
        <p:spPr bwMode="auto">
          <a:xfrm>
            <a:off x="4953000" y="2362200"/>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8" name="Line 2065"/>
          <p:cNvSpPr>
            <a:spLocks noChangeShapeType="1"/>
          </p:cNvSpPr>
          <p:nvPr/>
        </p:nvSpPr>
        <p:spPr bwMode="auto">
          <a:xfrm>
            <a:off x="6172200" y="2362200"/>
            <a:ext cx="1295400" cy="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9" name="Rectangle 2069" descr="浅色上对角线"/>
          <p:cNvSpPr>
            <a:spLocks noChangeArrowheads="1"/>
          </p:cNvSpPr>
          <p:nvPr/>
        </p:nvSpPr>
        <p:spPr bwMode="auto">
          <a:xfrm>
            <a:off x="1143000" y="2209800"/>
            <a:ext cx="533400" cy="381000"/>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40" name="Text Box 2072"/>
          <p:cNvSpPr txBox="1">
            <a:spLocks noChangeArrowheads="1"/>
          </p:cNvSpPr>
          <p:nvPr/>
        </p:nvSpPr>
        <p:spPr bwMode="auto">
          <a:xfrm>
            <a:off x="900113" y="2619164"/>
            <a:ext cx="7559675" cy="3631763"/>
          </a:xfrm>
          <a:prstGeom prst="rect">
            <a:avLst/>
          </a:prstGeom>
          <a:solidFill>
            <a:srgbClr val="CCFFFF"/>
          </a:solidFill>
          <a:ln w="19050" algn="ctr">
            <a:solidFill>
              <a:schemeClr val="accent1"/>
            </a:solidFill>
            <a:miter lim="800000"/>
          </a:ln>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smtClean="0">
                <a:latin typeface="华文楷体" panose="02010600040101010101" pitchFamily="2" charset="-122"/>
                <a:ea typeface="华文楷体" panose="02010600040101010101" pitchFamily="2" charset="-122"/>
              </a:rPr>
              <a:t>Position </a:t>
            </a:r>
            <a:r>
              <a:rPr lang="en-US" altLang="zh-CN" sz="2000" dirty="0" err="1" smtClean="0">
                <a:latin typeface="华文楷体" panose="02010600040101010101" pitchFamily="2" charset="-122"/>
                <a:ea typeface="华文楷体" panose="02010600040101010101" pitchFamily="2" charset="-122"/>
              </a:rPr>
              <a:t>FindPrevious</a:t>
            </a:r>
            <a:r>
              <a:rPr lang="en-US" altLang="zh-CN" sz="2000" dirty="0" smtClean="0">
                <a:latin typeface="华文楷体" panose="02010600040101010101" pitchFamily="2" charset="-122"/>
                <a:ea typeface="华文楷体" panose="02010600040101010101" pitchFamily="2" charset="-122"/>
              </a:rPr>
              <a:t>(List L</a:t>
            </a:r>
            <a:r>
              <a:rPr lang="en-US" altLang="zh-CN" sz="2000" dirty="0">
                <a:latin typeface="华文楷体" panose="02010600040101010101" pitchFamily="2" charset="-122"/>
                <a:ea typeface="华文楷体" panose="02010600040101010101" pitchFamily="2" charset="-122"/>
              </a:rPr>
              <a:t>, </a:t>
            </a:r>
            <a:r>
              <a:rPr lang="en-US" altLang="zh-CN" sz="2000" dirty="0" err="1" smtClean="0">
                <a:latin typeface="华文楷体" panose="02010600040101010101" pitchFamily="2" charset="-122"/>
                <a:ea typeface="华文楷体" panose="02010600040101010101" pitchFamily="2" charset="-122"/>
              </a:rPr>
              <a:t>elemtype</a:t>
            </a:r>
            <a:r>
              <a:rPr lang="en-US" altLang="zh-CN" sz="2000" dirty="0" smtClean="0">
                <a:latin typeface="华文楷体" panose="02010600040101010101" pitchFamily="2" charset="-122"/>
                <a:ea typeface="华文楷体" panose="02010600040101010101" pitchFamily="2" charset="-122"/>
              </a:rPr>
              <a:t> X)</a:t>
            </a:r>
            <a:endParaRPr lang="en-US" altLang="zh-CN" sz="2000" dirty="0" smtClean="0">
              <a:latin typeface="华文楷体" panose="02010600040101010101" pitchFamily="2" charset="-122"/>
              <a:ea typeface="华文楷体" panose="02010600040101010101" pitchFamily="2" charset="-122"/>
            </a:endParaRPr>
          </a:p>
          <a:p>
            <a:pPr eaLnBrk="1" hangingPunct="1">
              <a:spcBef>
                <a:spcPct val="50000"/>
              </a:spcBef>
              <a:buClrTx/>
              <a:buFontTx/>
              <a:buNone/>
            </a:pPr>
            <a:r>
              <a:rPr lang="en-US" altLang="zh-CN" sz="2000" dirty="0">
                <a:latin typeface="华文楷体" panose="02010600040101010101" pitchFamily="2" charset="-122"/>
                <a:ea typeface="华文楷体" panose="02010600040101010101" pitchFamily="2" charset="-122"/>
              </a:rPr>
              <a:t>{</a:t>
            </a:r>
            <a:endParaRPr lang="en-US" altLang="zh-CN" sz="2000" dirty="0">
              <a:latin typeface="华文楷体" panose="02010600040101010101" pitchFamily="2" charset="-122"/>
              <a:ea typeface="华文楷体" panose="02010600040101010101" pitchFamily="2" charset="-122"/>
            </a:endParaRPr>
          </a:p>
          <a:p>
            <a:pPr eaLnBrk="1" hangingPunct="1">
              <a:spcBef>
                <a:spcPct val="50000"/>
              </a:spcBef>
              <a:buClrTx/>
              <a:buFontTx/>
              <a:buNone/>
            </a:pPr>
            <a:r>
              <a:rPr lang="en-US" altLang="zh-CN" sz="2000" dirty="0">
                <a:latin typeface="华文楷体" panose="02010600040101010101" pitchFamily="2" charset="-122"/>
                <a:ea typeface="华文楷体" panose="02010600040101010101" pitchFamily="2" charset="-122"/>
              </a:rPr>
              <a:t> </a:t>
            </a:r>
            <a:r>
              <a:rPr lang="en-US" altLang="zh-CN" sz="2000" dirty="0" smtClean="0">
                <a:latin typeface="华文楷体" panose="02010600040101010101" pitchFamily="2" charset="-122"/>
                <a:ea typeface="华文楷体" panose="02010600040101010101" pitchFamily="2" charset="-122"/>
              </a:rPr>
              <a:t>    Position p = L;</a:t>
            </a:r>
            <a:endParaRPr lang="en-US" altLang="zh-CN" sz="2000" dirty="0" smtClean="0">
              <a:latin typeface="华文楷体" panose="02010600040101010101" pitchFamily="2" charset="-122"/>
              <a:ea typeface="华文楷体" panose="02010600040101010101" pitchFamily="2" charset="-122"/>
            </a:endParaRPr>
          </a:p>
          <a:p>
            <a:pPr eaLnBrk="1" hangingPunct="1">
              <a:spcBef>
                <a:spcPct val="50000"/>
              </a:spcBef>
              <a:buClrTx/>
              <a:buFontTx/>
              <a:buNone/>
            </a:pPr>
            <a:r>
              <a:rPr lang="en-US" altLang="zh-CN" sz="2000" dirty="0" smtClean="0">
                <a:latin typeface="华文楷体" panose="02010600040101010101" pitchFamily="2" charset="-122"/>
                <a:ea typeface="华文楷体" panose="02010600040101010101" pitchFamily="2" charset="-122"/>
              </a:rPr>
              <a:t>     </a:t>
            </a:r>
            <a:r>
              <a:rPr lang="en-US" altLang="zh-CN" sz="2000" dirty="0">
                <a:latin typeface="华文楷体" panose="02010600040101010101" pitchFamily="2" charset="-122"/>
                <a:ea typeface="华文楷体" panose="02010600040101010101" pitchFamily="2" charset="-122"/>
              </a:rPr>
              <a:t>while </a:t>
            </a:r>
            <a:r>
              <a:rPr lang="en-US" altLang="zh-CN" sz="2000" dirty="0" smtClean="0">
                <a:latin typeface="华文楷体" panose="02010600040101010101" pitchFamily="2" charset="-122"/>
                <a:ea typeface="华文楷体" panose="02010600040101010101" pitchFamily="2" charset="-122"/>
              </a:rPr>
              <a:t>(p</a:t>
            </a: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-&gt;next != NULL &amp;&amp; p-&gt;next-&gt;data != X)</a:t>
            </a:r>
            <a:endParaRPr lang="en-US" altLang="zh-CN" sz="2000" dirty="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50000"/>
              </a:spcBef>
              <a:buClrTx/>
              <a:buFontTx/>
              <a:buNone/>
            </a:pPr>
            <a:r>
              <a:rPr lang="en-US" altLang="zh-CN" sz="2000" dirty="0">
                <a:latin typeface="华文楷体" panose="02010600040101010101" pitchFamily="2" charset="-122"/>
                <a:ea typeface="华文楷体" panose="02010600040101010101" pitchFamily="2" charset="-122"/>
                <a:sym typeface="Symbol" panose="05050102010706020507" pitchFamily="18" charset="2"/>
              </a:rPr>
              <a:t>     	</a:t>
            </a: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p=p-</a:t>
            </a:r>
            <a:r>
              <a:rPr lang="en-US" altLang="zh-CN" sz="2000" dirty="0">
                <a:latin typeface="华文楷体" panose="02010600040101010101" pitchFamily="2" charset="-122"/>
                <a:ea typeface="华文楷体" panose="02010600040101010101" pitchFamily="2" charset="-122"/>
                <a:sym typeface="Symbol" panose="05050102010706020507" pitchFamily="18" charset="2"/>
              </a:rPr>
              <a:t>&gt;next; </a:t>
            </a: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 </a:t>
            </a:r>
            <a:endParaRPr lang="en-US" altLang="zh-CN" sz="2000" dirty="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50000"/>
              </a:spcBef>
              <a:buClrTx/>
              <a:buFontTx/>
              <a:buNone/>
            </a:pPr>
            <a:r>
              <a:rPr lang="en-US" altLang="zh-CN" sz="2000" dirty="0">
                <a:latin typeface="华文楷体" panose="02010600040101010101" pitchFamily="2" charset="-122"/>
                <a:ea typeface="华文楷体" panose="02010600040101010101" pitchFamily="2" charset="-122"/>
                <a:sym typeface="Symbol" panose="05050102010706020507" pitchFamily="18" charset="2"/>
              </a:rPr>
              <a:t> </a:t>
            </a: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   return p;</a:t>
            </a:r>
            <a:endParaRPr lang="en-US" altLang="zh-CN" sz="2000" dirty="0" smtClean="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50000"/>
              </a:spcBef>
              <a:buClrTx/>
              <a:buNone/>
            </a:pP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 </a:t>
            </a:r>
            <a:endParaRPr lang="en-US" altLang="zh-CN" sz="2000" dirty="0" smtClean="0">
              <a:latin typeface="华文楷体" panose="02010600040101010101" pitchFamily="2" charset="-122"/>
              <a:ea typeface="华文楷体" panose="02010600040101010101" pitchFamily="2" charset="-122"/>
              <a:sym typeface="Symbol" panose="05050102010706020507" pitchFamily="18" charset="2"/>
            </a:endParaRPr>
          </a:p>
          <a:p>
            <a:pPr eaLnBrk="1" hangingPunct="1">
              <a:spcBef>
                <a:spcPct val="50000"/>
              </a:spcBef>
              <a:buClrTx/>
              <a:buNone/>
            </a:pPr>
            <a:r>
              <a:rPr lang="zh-CN" altLang="en-US" sz="2000" dirty="0" smtClean="0">
                <a:latin typeface="华文楷体" panose="02010600040101010101" pitchFamily="2" charset="-122"/>
                <a:ea typeface="华文楷体" panose="02010600040101010101" pitchFamily="2" charset="-122"/>
                <a:sym typeface="Symbol" panose="05050102010706020507" pitchFamily="18" charset="2"/>
              </a:rPr>
              <a:t>时间</a:t>
            </a:r>
            <a:r>
              <a:rPr lang="zh-CN" altLang="en-US" sz="2000" dirty="0">
                <a:latin typeface="华文楷体" panose="02010600040101010101" pitchFamily="2" charset="-122"/>
                <a:ea typeface="华文楷体" panose="02010600040101010101" pitchFamily="2" charset="-122"/>
                <a:sym typeface="Symbol" panose="05050102010706020507" pitchFamily="18" charset="2"/>
              </a:rPr>
              <a:t>复杂</a:t>
            </a:r>
            <a:r>
              <a:rPr lang="zh-CN" altLang="en-US" sz="2000" dirty="0" smtClean="0">
                <a:latin typeface="华文楷体" panose="02010600040101010101" pitchFamily="2" charset="-122"/>
                <a:ea typeface="华文楷体" panose="02010600040101010101" pitchFamily="2" charset="-122"/>
                <a:sym typeface="Symbol" panose="05050102010706020507" pitchFamily="18" charset="2"/>
              </a:rPr>
              <a:t>度取决于</a:t>
            </a:r>
            <a:r>
              <a:rPr lang="en-US" altLang="zh-CN" sz="2000" dirty="0" smtClean="0">
                <a:latin typeface="华文楷体" panose="02010600040101010101" pitchFamily="2" charset="-122"/>
                <a:ea typeface="华文楷体" panose="02010600040101010101" pitchFamily="2" charset="-122"/>
                <a:sym typeface="Symbol" panose="05050102010706020507" pitchFamily="18" charset="2"/>
              </a:rPr>
              <a:t>x</a:t>
            </a:r>
            <a:r>
              <a:rPr lang="zh-CN" altLang="en-US" sz="2000" dirty="0" smtClean="0">
                <a:latin typeface="华文楷体" panose="02010600040101010101" pitchFamily="2" charset="-122"/>
                <a:ea typeface="华文楷体" panose="02010600040101010101" pitchFamily="2" charset="-122"/>
                <a:sym typeface="Symbol" panose="05050102010706020507" pitchFamily="18" charset="2"/>
              </a:rPr>
              <a:t>：最好</a:t>
            </a:r>
            <a:r>
              <a:rPr lang="en-US" altLang="zh-CN" sz="2000" dirty="0" smtClean="0">
                <a:latin typeface="华文楷体" panose="02010600040101010101" pitchFamily="2" charset="-122"/>
                <a:ea typeface="华文楷体" panose="02010600040101010101" pitchFamily="2" charset="-122"/>
              </a:rPr>
              <a:t>O(n)</a:t>
            </a:r>
            <a:r>
              <a:rPr lang="zh-CN" altLang="en-US" sz="2000" dirty="0" smtClean="0">
                <a:latin typeface="华文楷体" panose="02010600040101010101" pitchFamily="2" charset="-122"/>
                <a:ea typeface="华文楷体" panose="02010600040101010101" pitchFamily="2" charset="-122"/>
              </a:rPr>
              <a:t>，</a:t>
            </a:r>
            <a:r>
              <a:rPr lang="zh-CN" altLang="en-US" sz="2000" dirty="0" smtClean="0">
                <a:latin typeface="华文楷体" panose="02010600040101010101" pitchFamily="2" charset="-122"/>
                <a:ea typeface="华文楷体" panose="02010600040101010101" pitchFamily="2" charset="-122"/>
                <a:sym typeface="Symbol" panose="05050102010706020507" pitchFamily="18" charset="2"/>
              </a:rPr>
              <a:t>最坏</a:t>
            </a:r>
            <a:r>
              <a:rPr lang="en-US" altLang="zh-CN" sz="2000" dirty="0" smtClean="0">
                <a:latin typeface="华文楷体" panose="02010600040101010101" pitchFamily="2" charset="-122"/>
                <a:ea typeface="华文楷体" panose="02010600040101010101" pitchFamily="2" charset="-122"/>
              </a:rPr>
              <a:t>O(n)</a:t>
            </a:r>
            <a:r>
              <a:rPr lang="zh-CN" altLang="en-US" sz="2000" dirty="0" smtClean="0">
                <a:latin typeface="华文楷体" panose="02010600040101010101" pitchFamily="2" charset="-122"/>
                <a:ea typeface="华文楷体" panose="02010600040101010101" pitchFamily="2" charset="-122"/>
              </a:rPr>
              <a:t>，等概率下平均</a:t>
            </a:r>
            <a:r>
              <a:rPr lang="en-US" altLang="zh-CN" sz="2000" dirty="0" smtClean="0">
                <a:latin typeface="华文楷体" panose="02010600040101010101" pitchFamily="2" charset="-122"/>
                <a:ea typeface="华文楷体" panose="02010600040101010101" pitchFamily="2" charset="-122"/>
              </a:rPr>
              <a:t>O(n)</a:t>
            </a:r>
            <a:endParaRPr lang="en-US" altLang="zh-CN" sz="2000" dirty="0">
              <a:latin typeface="华文楷体" panose="02010600040101010101" pitchFamily="2" charset="-122"/>
              <a:ea typeface="华文楷体" panose="02010600040101010101" pitchFamily="2" charset="-122"/>
            </a:endParaRPr>
          </a:p>
        </p:txBody>
      </p:sp>
      <p:sp>
        <p:nvSpPr>
          <p:cNvPr id="41" name="Line 2074"/>
          <p:cNvSpPr>
            <a:spLocks noChangeShapeType="1"/>
          </p:cNvSpPr>
          <p:nvPr/>
        </p:nvSpPr>
        <p:spPr bwMode="auto">
          <a:xfrm>
            <a:off x="4644008" y="1922463"/>
            <a:ext cx="0" cy="287337"/>
          </a:xfrm>
          <a:prstGeom prst="line">
            <a:avLst/>
          </a:prstGeom>
          <a:noFill/>
          <a:ln w="25400">
            <a:solidFill>
              <a:schemeClr val="accent1"/>
            </a:solidFill>
            <a:rou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dirty="0">
              <a:latin typeface="华文楷体" panose="02010600040101010101" pitchFamily="2" charset="-122"/>
              <a:ea typeface="华文楷体" panose="02010600040101010101" pitchFamily="2" charset="-122"/>
            </a:endParaRPr>
          </a:p>
        </p:txBody>
      </p:sp>
      <p:cxnSp>
        <p:nvCxnSpPr>
          <p:cNvPr id="42" name="肘形连接符 41"/>
          <p:cNvCxnSpPr/>
          <p:nvPr/>
        </p:nvCxnSpPr>
        <p:spPr bwMode="auto">
          <a:xfrm rot="16200000" flipH="1">
            <a:off x="1293168" y="1955304"/>
            <a:ext cx="364976" cy="144016"/>
          </a:xfrm>
          <a:prstGeom prst="bentConnector3">
            <a:avLst/>
          </a:prstGeom>
          <a:noFill/>
          <a:ln w="22225" cap="flat" cmpd="sng" algn="ctr">
            <a:solidFill>
              <a:schemeClr val="accent1"/>
            </a:solidFill>
            <a:prstDash val="solid"/>
            <a:round/>
            <a:headEnd type="none" w="med" len="med"/>
            <a:tailEnd type="triangle"/>
          </a:ln>
          <a:effectLst/>
        </p:spPr>
      </p:cxn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页脚占位符 3"/>
          <p:cNvSpPr>
            <a:spLocks noGrp="1"/>
          </p:cNvSpPr>
          <p:nvPr>
            <p:ph type="ftr" sz="quarter" idx="10"/>
          </p:nvPr>
        </p:nvSpPr>
        <p:spPr/>
        <p:txBody>
          <a:bodyPr/>
          <a:lstStyle/>
          <a:p>
            <a:pPr>
              <a:defRPr/>
            </a:pPr>
            <a:r>
              <a:rPr lang="en-US" altLang="zh-CN"/>
              <a:t>BUPT SCST</a:t>
            </a:r>
            <a:endParaRPr lang="en-US" altLang="zh-CN"/>
          </a:p>
        </p:txBody>
      </p:sp>
      <p:sp>
        <p:nvSpPr>
          <p:cNvPr id="2355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72E33170-520E-454E-988A-1C586B0F24E6}"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35" name="日期占位符 5"/>
          <p:cNvSpPr>
            <a:spLocks noGrp="1"/>
          </p:cNvSpPr>
          <p:nvPr>
            <p:ph type="dt" sz="quarter" idx="12"/>
          </p:nvPr>
        </p:nvSpPr>
        <p:spPr/>
        <p:txBody>
          <a:bodyPr/>
          <a:lstStyle/>
          <a:p>
            <a:pPr>
              <a:defRPr/>
            </a:pPr>
            <a:r>
              <a:rPr lang="en-US" altLang="zh-CN"/>
              <a:t>BUPT</a:t>
            </a:r>
            <a:endParaRPr lang="en-US" altLang="zh-CN"/>
          </a:p>
        </p:txBody>
      </p:sp>
      <p:sp>
        <p:nvSpPr>
          <p:cNvPr id="23557" name="Rectangle 2"/>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单链表节点的插入</a:t>
            </a:r>
            <a:endParaRPr lang="zh-CN" altLang="zh-CN" sz="2800" dirty="0" smtClean="0">
              <a:ea typeface="华文楷体" panose="02010600040101010101" pitchFamily="2" charset="-122"/>
            </a:endParaRPr>
          </a:p>
        </p:txBody>
      </p:sp>
      <p:sp>
        <p:nvSpPr>
          <p:cNvPr id="23558" name="Rectangle 3"/>
          <p:cNvSpPr>
            <a:spLocks noGrp="1" noChangeArrowheads="1"/>
          </p:cNvSpPr>
          <p:nvPr>
            <p:ph type="body" idx="1"/>
          </p:nvPr>
        </p:nvSpPr>
        <p:spPr>
          <a:xfrm>
            <a:off x="395288" y="1052513"/>
            <a:ext cx="8229600" cy="5248275"/>
          </a:xfrm>
        </p:spPr>
        <p:txBody>
          <a:bodyPr/>
          <a:lstStyle/>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链表中间插入元素</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p:txBody>
      </p:sp>
      <p:sp>
        <p:nvSpPr>
          <p:cNvPr id="23559" name="Rectangle 18"/>
          <p:cNvSpPr>
            <a:spLocks noChangeArrowheads="1"/>
          </p:cNvSpPr>
          <p:nvPr/>
        </p:nvSpPr>
        <p:spPr bwMode="auto">
          <a:xfrm>
            <a:off x="1187450" y="2174875"/>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3560" name="Rectangle 19"/>
          <p:cNvSpPr>
            <a:spLocks noChangeArrowheads="1"/>
          </p:cNvSpPr>
          <p:nvPr/>
        </p:nvSpPr>
        <p:spPr bwMode="auto">
          <a:xfrm>
            <a:off x="2330450" y="2174875"/>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3561" name="Rectangle 20"/>
          <p:cNvSpPr>
            <a:spLocks noChangeArrowheads="1"/>
          </p:cNvSpPr>
          <p:nvPr/>
        </p:nvSpPr>
        <p:spPr bwMode="auto">
          <a:xfrm>
            <a:off x="4235450" y="2174875"/>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3562" name="Rectangle 21"/>
          <p:cNvSpPr>
            <a:spLocks noChangeArrowheads="1"/>
          </p:cNvSpPr>
          <p:nvPr/>
        </p:nvSpPr>
        <p:spPr bwMode="auto">
          <a:xfrm>
            <a:off x="5454650" y="2174875"/>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3563" name="Rectangle 22"/>
          <p:cNvSpPr>
            <a:spLocks noChangeArrowheads="1"/>
          </p:cNvSpPr>
          <p:nvPr/>
        </p:nvSpPr>
        <p:spPr bwMode="auto">
          <a:xfrm>
            <a:off x="7435850" y="2174875"/>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3564" name="Line 23"/>
          <p:cNvSpPr>
            <a:spLocks noChangeShapeType="1"/>
          </p:cNvSpPr>
          <p:nvPr/>
        </p:nvSpPr>
        <p:spPr bwMode="auto">
          <a:xfrm flipH="1">
            <a:off x="1644650" y="2174875"/>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3565" name="Line 24"/>
          <p:cNvSpPr>
            <a:spLocks noChangeShapeType="1"/>
          </p:cNvSpPr>
          <p:nvPr/>
        </p:nvSpPr>
        <p:spPr bwMode="auto">
          <a:xfrm>
            <a:off x="2787650" y="2174875"/>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3566" name="Line 25"/>
          <p:cNvSpPr>
            <a:spLocks noChangeShapeType="1"/>
          </p:cNvSpPr>
          <p:nvPr/>
        </p:nvSpPr>
        <p:spPr bwMode="auto">
          <a:xfrm>
            <a:off x="4768850" y="2174875"/>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3567" name="Line 26"/>
          <p:cNvSpPr>
            <a:spLocks noChangeShapeType="1"/>
          </p:cNvSpPr>
          <p:nvPr/>
        </p:nvSpPr>
        <p:spPr bwMode="auto">
          <a:xfrm>
            <a:off x="5911850" y="2174875"/>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3568" name="Line 27"/>
          <p:cNvSpPr>
            <a:spLocks noChangeShapeType="1"/>
          </p:cNvSpPr>
          <p:nvPr/>
        </p:nvSpPr>
        <p:spPr bwMode="auto">
          <a:xfrm>
            <a:off x="7816850" y="2174875"/>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3569" name="Line 28"/>
          <p:cNvSpPr>
            <a:spLocks noChangeShapeType="1"/>
          </p:cNvSpPr>
          <p:nvPr/>
        </p:nvSpPr>
        <p:spPr bwMode="auto">
          <a:xfrm>
            <a:off x="1806575" y="2327275"/>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3570" name="Line 29"/>
          <p:cNvSpPr>
            <a:spLocks noChangeShapeType="1"/>
          </p:cNvSpPr>
          <p:nvPr/>
        </p:nvSpPr>
        <p:spPr bwMode="auto">
          <a:xfrm>
            <a:off x="2940050" y="2327275"/>
            <a:ext cx="1295400" cy="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3571" name="Line 30"/>
          <p:cNvSpPr>
            <a:spLocks noChangeShapeType="1"/>
          </p:cNvSpPr>
          <p:nvPr/>
        </p:nvSpPr>
        <p:spPr bwMode="auto">
          <a:xfrm>
            <a:off x="4921250" y="2403475"/>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3572" name="Line 31"/>
          <p:cNvSpPr>
            <a:spLocks noChangeShapeType="1"/>
          </p:cNvSpPr>
          <p:nvPr/>
        </p:nvSpPr>
        <p:spPr bwMode="auto">
          <a:xfrm>
            <a:off x="6140450" y="2327275"/>
            <a:ext cx="1295400" cy="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3573" name="Rectangle 32"/>
          <p:cNvSpPr>
            <a:spLocks noChangeArrowheads="1"/>
          </p:cNvSpPr>
          <p:nvPr/>
        </p:nvSpPr>
        <p:spPr bwMode="auto">
          <a:xfrm>
            <a:off x="5073650" y="1641475"/>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3574" name="Line 33"/>
          <p:cNvSpPr>
            <a:spLocks noChangeShapeType="1"/>
          </p:cNvSpPr>
          <p:nvPr/>
        </p:nvSpPr>
        <p:spPr bwMode="auto">
          <a:xfrm>
            <a:off x="5530850" y="1641475"/>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3575" name="Text Box 34"/>
          <p:cNvSpPr txBox="1">
            <a:spLocks noChangeArrowheads="1"/>
          </p:cNvSpPr>
          <p:nvPr/>
        </p:nvSpPr>
        <p:spPr bwMode="auto">
          <a:xfrm>
            <a:off x="5219700" y="102711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s</a:t>
            </a:r>
            <a:endParaRPr kumimoji="1" lang="en-US" altLang="zh-CN" sz="2400" dirty="0">
              <a:latin typeface="华文楷体" panose="02010600040101010101" pitchFamily="2" charset="-122"/>
              <a:ea typeface="华文楷体" panose="02010600040101010101" pitchFamily="2" charset="-122"/>
            </a:endParaRPr>
          </a:p>
        </p:txBody>
      </p:sp>
      <p:sp>
        <p:nvSpPr>
          <p:cNvPr id="23576" name="Text Box 35"/>
          <p:cNvSpPr txBox="1">
            <a:spLocks noChangeArrowheads="1"/>
          </p:cNvSpPr>
          <p:nvPr/>
        </p:nvSpPr>
        <p:spPr bwMode="auto">
          <a:xfrm>
            <a:off x="4406900" y="261143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p</a:t>
            </a:r>
            <a:endParaRPr kumimoji="1" lang="en-US" altLang="zh-CN" sz="2400" dirty="0">
              <a:latin typeface="华文楷体" panose="02010600040101010101" pitchFamily="2" charset="-122"/>
              <a:ea typeface="华文楷体" panose="02010600040101010101" pitchFamily="2" charset="-122"/>
            </a:endParaRPr>
          </a:p>
        </p:txBody>
      </p:sp>
      <p:sp>
        <p:nvSpPr>
          <p:cNvPr id="152612" name="Line 36"/>
          <p:cNvSpPr>
            <a:spLocks noChangeShapeType="1"/>
          </p:cNvSpPr>
          <p:nvPr/>
        </p:nvSpPr>
        <p:spPr bwMode="auto">
          <a:xfrm flipV="1">
            <a:off x="4845050" y="1946275"/>
            <a:ext cx="152400" cy="304800"/>
          </a:xfrm>
          <a:prstGeom prst="line">
            <a:avLst/>
          </a:prstGeom>
          <a:noFill/>
          <a:ln w="9525">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52613" name="Line 37"/>
          <p:cNvSpPr>
            <a:spLocks noChangeShapeType="1"/>
          </p:cNvSpPr>
          <p:nvPr/>
        </p:nvSpPr>
        <p:spPr bwMode="auto">
          <a:xfrm>
            <a:off x="5759450" y="1870075"/>
            <a:ext cx="381000" cy="304800"/>
          </a:xfrm>
          <a:prstGeom prst="line">
            <a:avLst/>
          </a:prstGeom>
          <a:noFill/>
          <a:ln w="9525">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grpSp>
        <p:nvGrpSpPr>
          <p:cNvPr id="2" name="Group 38"/>
          <p:cNvGrpSpPr/>
          <p:nvPr/>
        </p:nvGrpSpPr>
        <p:grpSpPr bwMode="auto">
          <a:xfrm>
            <a:off x="5073650" y="2251075"/>
            <a:ext cx="369888" cy="371475"/>
            <a:chOff x="3445" y="3577"/>
            <a:chExt cx="233" cy="234"/>
          </a:xfrm>
        </p:grpSpPr>
        <p:sp>
          <p:nvSpPr>
            <p:cNvPr id="23586" name="Line 39"/>
            <p:cNvSpPr>
              <a:spLocks noChangeShapeType="1"/>
            </p:cNvSpPr>
            <p:nvPr/>
          </p:nvSpPr>
          <p:spPr bwMode="auto">
            <a:xfrm flipH="1">
              <a:off x="3445" y="3589"/>
              <a:ext cx="210" cy="211"/>
            </a:xfrm>
            <a:prstGeom prst="line">
              <a:avLst/>
            </a:prstGeom>
            <a:noFill/>
            <a:ln w="38100">
              <a:solidFill>
                <a:srgbClr val="FF3300"/>
              </a:solidFill>
              <a:round/>
            </a:ln>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23587" name="Line 40"/>
            <p:cNvSpPr>
              <a:spLocks noChangeShapeType="1"/>
            </p:cNvSpPr>
            <p:nvPr/>
          </p:nvSpPr>
          <p:spPr bwMode="auto">
            <a:xfrm>
              <a:off x="3445" y="3577"/>
              <a:ext cx="233" cy="234"/>
            </a:xfrm>
            <a:prstGeom prst="line">
              <a:avLst/>
            </a:prstGeom>
            <a:noFill/>
            <a:ln w="38100">
              <a:solidFill>
                <a:srgbClr val="FF3300"/>
              </a:solidFill>
              <a:round/>
            </a:ln>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grpSp>
      <p:sp>
        <p:nvSpPr>
          <p:cNvPr id="152617" name="Text Box 41"/>
          <p:cNvSpPr txBox="1">
            <a:spLocks noChangeArrowheads="1"/>
          </p:cNvSpPr>
          <p:nvPr/>
        </p:nvSpPr>
        <p:spPr bwMode="auto">
          <a:xfrm>
            <a:off x="5870769" y="1638152"/>
            <a:ext cx="2358637"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kumimoji="1" lang="en-US" altLang="zh-CN" sz="2400" dirty="0">
                <a:solidFill>
                  <a:srgbClr val="FF3300"/>
                </a:solidFill>
                <a:latin typeface="华文楷体" panose="02010600040101010101" pitchFamily="2" charset="-122"/>
                <a:ea typeface="隶书" panose="02010509060101010101" pitchFamily="49" charset="-122"/>
              </a:rPr>
              <a:t>s-&gt;next=p-&gt;next;</a:t>
            </a:r>
            <a:endParaRPr kumimoji="1" lang="en-US" altLang="zh-CN" sz="2400" dirty="0">
              <a:solidFill>
                <a:srgbClr val="FF3300"/>
              </a:solidFill>
              <a:latin typeface="华文楷体" panose="02010600040101010101" pitchFamily="2" charset="-122"/>
              <a:ea typeface="隶书" panose="02010509060101010101" pitchFamily="49" charset="-122"/>
            </a:endParaRPr>
          </a:p>
        </p:txBody>
      </p:sp>
      <p:sp>
        <p:nvSpPr>
          <p:cNvPr id="152618" name="Text Box 42"/>
          <p:cNvSpPr txBox="1">
            <a:spLocks noChangeArrowheads="1"/>
          </p:cNvSpPr>
          <p:nvPr/>
        </p:nvSpPr>
        <p:spPr bwMode="auto">
          <a:xfrm>
            <a:off x="3545861" y="1409552"/>
            <a:ext cx="1541104"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kumimoji="1" lang="en-US" altLang="zh-CN" sz="2400" dirty="0">
                <a:solidFill>
                  <a:srgbClr val="FF3300"/>
                </a:solidFill>
                <a:latin typeface="华文楷体" panose="02010600040101010101" pitchFamily="2" charset="-122"/>
                <a:ea typeface="华文楷体" panose="02010600040101010101" pitchFamily="2" charset="-122"/>
              </a:rPr>
              <a:t>p-&gt;next=s;</a:t>
            </a:r>
            <a:endParaRPr kumimoji="1" lang="en-US" altLang="zh-CN" sz="2400" dirty="0">
              <a:solidFill>
                <a:schemeClr val="folHlink"/>
              </a:solidFill>
              <a:latin typeface="华文楷体" panose="02010600040101010101" pitchFamily="2" charset="-122"/>
              <a:ea typeface="华文楷体" panose="02010600040101010101" pitchFamily="2" charset="-122"/>
            </a:endParaRPr>
          </a:p>
        </p:txBody>
      </p:sp>
      <p:sp>
        <p:nvSpPr>
          <p:cNvPr id="152619" name="Text Box 43"/>
          <p:cNvSpPr txBox="1">
            <a:spLocks noChangeArrowheads="1"/>
          </p:cNvSpPr>
          <p:nvPr/>
        </p:nvSpPr>
        <p:spPr bwMode="auto">
          <a:xfrm>
            <a:off x="5623297" y="3053710"/>
            <a:ext cx="3144466" cy="2092881"/>
          </a:xfrm>
          <a:prstGeom prst="rect">
            <a:avLst/>
          </a:prstGeom>
          <a:solidFill>
            <a:srgbClr val="CCFFFF"/>
          </a:solidFill>
          <a:ln w="19050" algn="ctr">
            <a:solidFill>
              <a:schemeClr val="accent1"/>
            </a:solidFill>
            <a:miter lim="800000"/>
          </a:ln>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华文楷体" panose="02010600040101010101" pitchFamily="2" charset="-122"/>
                <a:ea typeface="华文楷体" panose="02010600040101010101" pitchFamily="2" charset="-122"/>
              </a:rPr>
              <a:t>s-&gt;</a:t>
            </a:r>
            <a:r>
              <a:rPr lang="en-US" altLang="zh-CN" sz="2000" dirty="0" smtClean="0">
                <a:latin typeface="华文楷体" panose="02010600040101010101" pitchFamily="2" charset="-122"/>
                <a:ea typeface="华文楷体" panose="02010600040101010101" pitchFamily="2" charset="-122"/>
              </a:rPr>
              <a:t>next = p-</a:t>
            </a:r>
            <a:r>
              <a:rPr lang="en-US" altLang="zh-CN" sz="2000" dirty="0">
                <a:latin typeface="华文楷体" panose="02010600040101010101" pitchFamily="2" charset="-122"/>
                <a:ea typeface="华文楷体" panose="02010600040101010101" pitchFamily="2" charset="-122"/>
              </a:rPr>
              <a:t>&gt;next;</a:t>
            </a:r>
            <a:endParaRPr lang="en-US" altLang="zh-CN" sz="2000" dirty="0">
              <a:latin typeface="华文楷体" panose="02010600040101010101" pitchFamily="2" charset="-122"/>
              <a:ea typeface="华文楷体" panose="02010600040101010101" pitchFamily="2" charset="-122"/>
            </a:endParaRPr>
          </a:p>
          <a:p>
            <a:pPr eaLnBrk="1" hangingPunct="1">
              <a:spcBef>
                <a:spcPct val="50000"/>
              </a:spcBef>
              <a:buClrTx/>
              <a:buFontTx/>
              <a:buNone/>
            </a:pPr>
            <a:r>
              <a:rPr lang="en-US" altLang="zh-CN" sz="2000" dirty="0">
                <a:latin typeface="华文楷体" panose="02010600040101010101" pitchFamily="2" charset="-122"/>
                <a:ea typeface="华文楷体" panose="02010600040101010101" pitchFamily="2" charset="-122"/>
              </a:rPr>
              <a:t>p-&gt;</a:t>
            </a:r>
            <a:r>
              <a:rPr lang="en-US" altLang="zh-CN" sz="2000" dirty="0" smtClean="0">
                <a:latin typeface="华文楷体" panose="02010600040101010101" pitchFamily="2" charset="-122"/>
                <a:ea typeface="华文楷体" panose="02010600040101010101" pitchFamily="2" charset="-122"/>
              </a:rPr>
              <a:t>next = s</a:t>
            </a:r>
            <a:r>
              <a:rPr lang="en-US" altLang="zh-CN" sz="2000" dirty="0">
                <a:latin typeface="华文楷体" panose="02010600040101010101" pitchFamily="2" charset="-122"/>
                <a:ea typeface="华文楷体" panose="02010600040101010101" pitchFamily="2" charset="-122"/>
              </a:rPr>
              <a:t>; </a:t>
            </a:r>
            <a:r>
              <a:rPr lang="en-US" altLang="zh-CN" sz="2000" b="1" dirty="0" smtClean="0">
                <a:solidFill>
                  <a:schemeClr val="accent2"/>
                </a:solidFill>
                <a:latin typeface="华文楷体" panose="02010600040101010101" pitchFamily="2" charset="-122"/>
                <a:ea typeface="华文楷体" panose="02010600040101010101" pitchFamily="2" charset="-122"/>
              </a:rPr>
              <a:t>[</a:t>
            </a:r>
            <a:r>
              <a:rPr lang="zh-CN" altLang="en-US" sz="2000" b="1" dirty="0">
                <a:solidFill>
                  <a:schemeClr val="accent2"/>
                </a:solidFill>
                <a:latin typeface="华文楷体" panose="02010600040101010101" pitchFamily="2" charset="-122"/>
                <a:ea typeface="华文楷体" panose="02010600040101010101" pitchFamily="2" charset="-122"/>
              </a:rPr>
              <a:t>顺序不能颠倒</a:t>
            </a:r>
            <a:r>
              <a:rPr lang="en-US" altLang="zh-CN" sz="2000" b="1" dirty="0">
                <a:solidFill>
                  <a:schemeClr val="accent2"/>
                </a:solidFill>
                <a:latin typeface="华文楷体" panose="02010600040101010101" pitchFamily="2" charset="-122"/>
                <a:ea typeface="华文楷体" panose="02010600040101010101" pitchFamily="2" charset="-122"/>
              </a:rPr>
              <a:t>]</a:t>
            </a:r>
            <a:endParaRPr lang="en-US" altLang="zh-CN" sz="2000" b="1" dirty="0">
              <a:solidFill>
                <a:schemeClr val="accent2"/>
              </a:solidFill>
              <a:latin typeface="华文楷体" panose="02010600040101010101" pitchFamily="2" charset="-122"/>
              <a:ea typeface="华文楷体" panose="02010600040101010101" pitchFamily="2" charset="-122"/>
            </a:endParaRPr>
          </a:p>
          <a:p>
            <a:pPr eaLnBrk="1" hangingPunct="1">
              <a:spcBef>
                <a:spcPct val="50000"/>
              </a:spcBef>
              <a:buClrTx/>
              <a:buFontTx/>
              <a:buNone/>
            </a:pPr>
            <a:endParaRPr lang="en-US" altLang="zh-CN" sz="2000" b="1" dirty="0" smtClean="0">
              <a:solidFill>
                <a:schemeClr val="accent2"/>
              </a:solidFill>
              <a:latin typeface="华文楷体" panose="02010600040101010101" pitchFamily="2" charset="-122"/>
              <a:ea typeface="华文楷体" panose="02010600040101010101" pitchFamily="2" charset="-122"/>
            </a:endParaRPr>
          </a:p>
          <a:p>
            <a:pPr eaLnBrk="1" hangingPunct="1">
              <a:spcBef>
                <a:spcPct val="50000"/>
              </a:spcBef>
              <a:buClrTx/>
              <a:buFontTx/>
              <a:buNone/>
            </a:pPr>
            <a:r>
              <a:rPr lang="en-US" altLang="zh-CN" sz="2000" b="1" dirty="0" smtClean="0">
                <a:solidFill>
                  <a:schemeClr val="accent2"/>
                </a:solidFill>
                <a:latin typeface="华文楷体" panose="02010600040101010101" pitchFamily="2" charset="-122"/>
                <a:ea typeface="华文楷体" panose="02010600040101010101" pitchFamily="2" charset="-122"/>
              </a:rPr>
              <a:t>[</a:t>
            </a:r>
            <a:r>
              <a:rPr lang="zh-CN" altLang="en-US" sz="2000" b="1" dirty="0">
                <a:solidFill>
                  <a:schemeClr val="accent2"/>
                </a:solidFill>
                <a:latin typeface="华文楷体" panose="02010600040101010101" pitchFamily="2" charset="-122"/>
                <a:ea typeface="华文楷体" panose="02010600040101010101" pitchFamily="2" charset="-122"/>
              </a:rPr>
              <a:t>思考</a:t>
            </a:r>
            <a:r>
              <a:rPr lang="en-US" altLang="zh-CN" sz="2000" b="1" dirty="0">
                <a:solidFill>
                  <a:schemeClr val="accent2"/>
                </a:solidFill>
                <a:latin typeface="华文楷体" panose="02010600040101010101" pitchFamily="2" charset="-122"/>
                <a:ea typeface="华文楷体" panose="02010600040101010101" pitchFamily="2" charset="-122"/>
              </a:rPr>
              <a:t>]</a:t>
            </a:r>
            <a:r>
              <a:rPr lang="zh-CN" altLang="en-US" sz="2000" b="1" dirty="0">
                <a:solidFill>
                  <a:schemeClr val="accent2"/>
                </a:solidFill>
                <a:latin typeface="华文楷体" panose="02010600040101010101" pitchFamily="2" charset="-122"/>
                <a:ea typeface="华文楷体" panose="02010600040101010101" pitchFamily="2" charset="-122"/>
              </a:rPr>
              <a:t>：在表头插入，表尾插入情况如何？</a:t>
            </a:r>
            <a:endParaRPr lang="zh-CN" altLang="en-US" sz="2000" dirty="0">
              <a:latin typeface="华文楷体" panose="02010600040101010101" pitchFamily="2" charset="-122"/>
              <a:ea typeface="华文楷体" panose="02010600040101010101" pitchFamily="2" charset="-122"/>
            </a:endParaRPr>
          </a:p>
        </p:txBody>
      </p:sp>
      <p:sp>
        <p:nvSpPr>
          <p:cNvPr id="23583" name="Freeform 44"/>
          <p:cNvSpPr/>
          <p:nvPr/>
        </p:nvSpPr>
        <p:spPr bwMode="auto">
          <a:xfrm>
            <a:off x="882650" y="1968500"/>
            <a:ext cx="304800" cy="381000"/>
          </a:xfrm>
          <a:custGeom>
            <a:avLst/>
            <a:gdLst>
              <a:gd name="T0" fmla="*/ 2147483646 w 400"/>
              <a:gd name="T1" fmla="*/ 0 h 304"/>
              <a:gd name="T2" fmla="*/ 2147483646 w 400"/>
              <a:gd name="T3" fmla="*/ 2147483646 h 304"/>
              <a:gd name="T4" fmla="*/ 2147483646 w 400"/>
              <a:gd name="T5" fmla="*/ 2147483646 h 304"/>
              <a:gd name="T6" fmla="*/ 2147483646 w 400"/>
              <a:gd name="T7" fmla="*/ 2147483646 h 304"/>
              <a:gd name="T8" fmla="*/ 0 60000 65536"/>
              <a:gd name="T9" fmla="*/ 0 60000 65536"/>
              <a:gd name="T10" fmla="*/ 0 60000 65536"/>
              <a:gd name="T11" fmla="*/ 0 60000 65536"/>
              <a:gd name="T12" fmla="*/ 0 w 400"/>
              <a:gd name="T13" fmla="*/ 0 h 304"/>
              <a:gd name="T14" fmla="*/ 400 w 400"/>
              <a:gd name="T15" fmla="*/ 304 h 304"/>
            </a:gdLst>
            <a:ahLst/>
            <a:cxnLst>
              <a:cxn ang="T8">
                <a:pos x="T0" y="T1"/>
              </a:cxn>
              <a:cxn ang="T9">
                <a:pos x="T2" y="T3"/>
              </a:cxn>
              <a:cxn ang="T10">
                <a:pos x="T4" y="T5"/>
              </a:cxn>
              <a:cxn ang="T11">
                <a:pos x="T6" y="T7"/>
              </a:cxn>
            </a:cxnLst>
            <a:rect l="T12" t="T13" r="T14" b="T15"/>
            <a:pathLst>
              <a:path w="400" h="304">
                <a:moveTo>
                  <a:pt x="16" y="0"/>
                </a:moveTo>
                <a:cubicBezTo>
                  <a:pt x="8" y="72"/>
                  <a:pt x="0" y="144"/>
                  <a:pt x="16" y="192"/>
                </a:cubicBezTo>
                <a:cubicBezTo>
                  <a:pt x="32" y="240"/>
                  <a:pt x="48" y="272"/>
                  <a:pt x="112" y="288"/>
                </a:cubicBezTo>
                <a:cubicBezTo>
                  <a:pt x="176" y="304"/>
                  <a:pt x="288" y="296"/>
                  <a:pt x="400" y="288"/>
                </a:cubicBezTo>
              </a:path>
            </a:pathLst>
          </a:custGeom>
          <a:noFill/>
          <a:ln w="38100">
            <a:solidFill>
              <a:schemeClr val="accent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3584" name="Line 45"/>
          <p:cNvSpPr>
            <a:spLocks noChangeShapeType="1"/>
          </p:cNvSpPr>
          <p:nvPr/>
        </p:nvSpPr>
        <p:spPr bwMode="auto">
          <a:xfrm flipV="1">
            <a:off x="4500563" y="2565400"/>
            <a:ext cx="0" cy="215900"/>
          </a:xfrm>
          <a:prstGeom prst="line">
            <a:avLst/>
          </a:prstGeom>
          <a:noFill/>
          <a:ln w="22225">
            <a:solidFill>
              <a:schemeClr val="accent1"/>
            </a:solidFill>
            <a:rou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dirty="0">
              <a:latin typeface="华文楷体" panose="02010600040101010101" pitchFamily="2" charset="-122"/>
              <a:ea typeface="华文楷体" panose="02010600040101010101" pitchFamily="2" charset="-122"/>
            </a:endParaRPr>
          </a:p>
        </p:txBody>
      </p:sp>
      <p:sp>
        <p:nvSpPr>
          <p:cNvPr id="23585" name="Line 46"/>
          <p:cNvSpPr>
            <a:spLocks noChangeShapeType="1"/>
          </p:cNvSpPr>
          <p:nvPr/>
        </p:nvSpPr>
        <p:spPr bwMode="auto">
          <a:xfrm>
            <a:off x="5364163" y="1341438"/>
            <a:ext cx="0" cy="287337"/>
          </a:xfrm>
          <a:prstGeom prst="line">
            <a:avLst/>
          </a:prstGeom>
          <a:noFill/>
          <a:ln w="22225">
            <a:solidFill>
              <a:schemeClr val="accent1"/>
            </a:solidFill>
            <a:rou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dirty="0">
              <a:latin typeface="华文楷体" panose="02010600040101010101" pitchFamily="2" charset="-122"/>
              <a:ea typeface="华文楷体" panose="02010600040101010101" pitchFamily="2" charset="-122"/>
            </a:endParaRPr>
          </a:p>
        </p:txBody>
      </p:sp>
      <p:sp>
        <p:nvSpPr>
          <p:cNvPr id="3" name="文本框 2"/>
          <p:cNvSpPr txBox="1"/>
          <p:nvPr/>
        </p:nvSpPr>
        <p:spPr>
          <a:xfrm>
            <a:off x="304800" y="3068638"/>
            <a:ext cx="4864100" cy="3170099"/>
          </a:xfrm>
          <a:prstGeom prst="rect">
            <a:avLst/>
          </a:prstGeom>
          <a:solidFill>
            <a:srgbClr val="CCFFFF"/>
          </a:solidFill>
          <a:ln w="19050" algn="ctr">
            <a:solidFill>
              <a:schemeClr val="accent1"/>
            </a:solidFill>
            <a:miter lim="800000"/>
          </a:ln>
        </p:spPr>
        <p:txBody>
          <a:bodyPr wrap="square">
            <a:spAutoFit/>
          </a:bodyPr>
          <a:lstStyle>
            <a:defPPr>
              <a:defRPr lang="zh-CN"/>
            </a:defPPr>
            <a:lvl1pPr eaLnBrk="1" hangingPunct="1">
              <a:spcBef>
                <a:spcPct val="50000"/>
              </a:spcBef>
              <a:buClrTx/>
              <a:buFontTx/>
              <a:buNone/>
              <a:defRPr sz="2400">
                <a:latin typeface="Times New Roman" panose="02020603050405020304" pitchFamily="18" charset="0"/>
                <a:ea typeface="华文楷体" panose="02010600040101010101" pitchFamily="2" charset="-122"/>
              </a:defRPr>
            </a:lvl1pPr>
            <a:lvl2pPr marL="742950" indent="-285750">
              <a:spcBef>
                <a:spcPct val="20000"/>
              </a:spcBef>
              <a:buClr>
                <a:schemeClr val="accent1"/>
              </a:buClr>
              <a:buFont typeface="Wingdings" panose="05000000000000000000" pitchFamily="2" charset="2"/>
              <a:buChar char="§"/>
              <a:defRPr sz="2800"/>
            </a:lvl2pPr>
            <a:lvl3pPr marL="1143000" indent="-228600">
              <a:spcBef>
                <a:spcPct val="20000"/>
              </a:spcBef>
              <a:buClr>
                <a:schemeClr val="tx1"/>
              </a:buClr>
              <a:buChar char="•"/>
              <a:defRPr sz="2400"/>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en-US" altLang="zh-CN" sz="2000" dirty="0" smtClean="0">
                <a:latin typeface="华文楷体" panose="02010600040101010101" pitchFamily="2" charset="-122"/>
              </a:rPr>
              <a:t>void Insert(List L,</a:t>
            </a:r>
            <a:r>
              <a:rPr lang="en-US" altLang="zh-CN" sz="2000" dirty="0">
                <a:latin typeface="华文楷体" panose="02010600040101010101" pitchFamily="2" charset="-122"/>
              </a:rPr>
              <a:t> </a:t>
            </a:r>
            <a:r>
              <a:rPr lang="en-US" altLang="zh-CN" sz="2000" dirty="0" smtClean="0">
                <a:latin typeface="华文楷体" panose="02010600040101010101" pitchFamily="2" charset="-122"/>
              </a:rPr>
              <a:t>Position p, Position s )</a:t>
            </a:r>
            <a:endParaRPr lang="en-US" altLang="zh-CN" sz="2000" dirty="0" smtClean="0">
              <a:latin typeface="华文楷体" panose="02010600040101010101" pitchFamily="2" charset="-122"/>
            </a:endParaRPr>
          </a:p>
          <a:p>
            <a:r>
              <a:rPr lang="en-US" altLang="zh-CN" sz="2000" dirty="0" smtClean="0">
                <a:latin typeface="华文楷体" panose="02010600040101010101" pitchFamily="2" charset="-122"/>
              </a:rPr>
              <a:t>{</a:t>
            </a:r>
            <a:endParaRPr lang="en-US" altLang="zh-CN" sz="2000" dirty="0" smtClean="0">
              <a:latin typeface="华文楷体" panose="02010600040101010101" pitchFamily="2" charset="-122"/>
            </a:endParaRPr>
          </a:p>
          <a:p>
            <a:r>
              <a:rPr lang="en-US" altLang="zh-CN" sz="2000" dirty="0" smtClean="0">
                <a:latin typeface="华文楷体" panose="02010600040101010101" pitchFamily="2" charset="-122"/>
              </a:rPr>
              <a:t>        if(s == NULL || p==NULL)</a:t>
            </a:r>
            <a:endParaRPr lang="en-US" altLang="zh-CN" sz="2000" dirty="0" smtClean="0">
              <a:latin typeface="华文楷体" panose="02010600040101010101" pitchFamily="2" charset="-122"/>
            </a:endParaRPr>
          </a:p>
          <a:p>
            <a:r>
              <a:rPr lang="en-US" altLang="zh-CN" sz="2000" dirty="0">
                <a:latin typeface="华文楷体" panose="02010600040101010101" pitchFamily="2" charset="-122"/>
              </a:rPr>
              <a:t>	</a:t>
            </a:r>
            <a:r>
              <a:rPr lang="en-US" altLang="zh-CN" sz="2000" dirty="0" smtClean="0">
                <a:latin typeface="华文楷体" panose="02010600040101010101" pitchFamily="2" charset="-122"/>
              </a:rPr>
              <a:t>exit(“out of space!”);</a:t>
            </a:r>
            <a:endParaRPr lang="en-US" altLang="zh-CN" sz="2000" dirty="0" smtClean="0">
              <a:latin typeface="华文楷体" panose="02010600040101010101" pitchFamily="2" charset="-122"/>
            </a:endParaRPr>
          </a:p>
          <a:p>
            <a:r>
              <a:rPr lang="en-US" altLang="zh-CN" sz="2000" dirty="0" smtClean="0">
                <a:latin typeface="华文楷体" panose="02010600040101010101" pitchFamily="2" charset="-122"/>
              </a:rPr>
              <a:t>        </a:t>
            </a:r>
            <a:r>
              <a:rPr lang="en-US" altLang="zh-CN" sz="2000" dirty="0">
                <a:latin typeface="华文楷体" panose="02010600040101010101" pitchFamily="2" charset="-122"/>
              </a:rPr>
              <a:t>s-&gt;</a:t>
            </a:r>
            <a:r>
              <a:rPr lang="en-US" altLang="zh-CN" sz="2000" dirty="0" smtClean="0">
                <a:latin typeface="华文楷体" panose="02010600040101010101" pitchFamily="2" charset="-122"/>
              </a:rPr>
              <a:t>next = p-</a:t>
            </a:r>
            <a:r>
              <a:rPr lang="en-US" altLang="zh-CN" sz="2000" dirty="0">
                <a:latin typeface="华文楷体" panose="02010600040101010101" pitchFamily="2" charset="-122"/>
              </a:rPr>
              <a:t>&gt;next</a:t>
            </a:r>
            <a:r>
              <a:rPr lang="en-US" altLang="zh-CN" sz="2000" dirty="0" smtClean="0">
                <a:latin typeface="华文楷体" panose="02010600040101010101" pitchFamily="2" charset="-122"/>
              </a:rPr>
              <a:t>;</a:t>
            </a:r>
            <a:endParaRPr lang="en-US" altLang="zh-CN" sz="2000" dirty="0" smtClean="0">
              <a:latin typeface="华文楷体" panose="02010600040101010101" pitchFamily="2" charset="-122"/>
            </a:endParaRPr>
          </a:p>
          <a:p>
            <a:r>
              <a:rPr lang="en-US" altLang="zh-CN" sz="2000" dirty="0" smtClean="0">
                <a:latin typeface="华文楷体" panose="02010600040101010101" pitchFamily="2" charset="-122"/>
              </a:rPr>
              <a:t>        p-</a:t>
            </a:r>
            <a:r>
              <a:rPr lang="en-US" altLang="zh-CN" sz="2000" dirty="0">
                <a:latin typeface="华文楷体" panose="02010600040101010101" pitchFamily="2" charset="-122"/>
              </a:rPr>
              <a:t>&gt;</a:t>
            </a:r>
            <a:r>
              <a:rPr lang="en-US" altLang="zh-CN" sz="2000" dirty="0" smtClean="0">
                <a:latin typeface="华文楷体" panose="02010600040101010101" pitchFamily="2" charset="-122"/>
              </a:rPr>
              <a:t>next = s;</a:t>
            </a:r>
            <a:endParaRPr lang="en-US" altLang="zh-CN" sz="2000" dirty="0" smtClean="0">
              <a:latin typeface="华文楷体" panose="02010600040101010101" pitchFamily="2" charset="-122"/>
            </a:endParaRPr>
          </a:p>
          <a:p>
            <a:r>
              <a:rPr lang="en-US" altLang="zh-CN" sz="2000" dirty="0">
                <a:latin typeface="华文楷体" panose="02010600040101010101" pitchFamily="2" charset="-122"/>
              </a:rPr>
              <a:t>}</a:t>
            </a:r>
            <a:endParaRPr lang="zh-CN" altLang="en-US" sz="2000" dirty="0">
              <a:latin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2617">
                                            <p:txEl>
                                              <p:pRg st="0" end="0"/>
                                            </p:txEl>
                                          </p:spTgt>
                                        </p:tgtEl>
                                        <p:attrNameLst>
                                          <p:attrName>style.visibility</p:attrName>
                                        </p:attrNameLst>
                                      </p:cBhvr>
                                      <p:to>
                                        <p:strVal val="visible"/>
                                      </p:to>
                                    </p:set>
                                    <p:anim calcmode="lin" valueType="num">
                                      <p:cBhvr additive="base">
                                        <p:cTn id="7" dur="500" fill="hold"/>
                                        <p:tgtEl>
                                          <p:spTgt spid="15261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5261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CARBRAKE.WAV"/>
                                        </p:tgtEl>
                                      </p:cMediaNode>
                                    </p:audio>
                                  </p:sub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52613"/>
                                        </p:tgtEl>
                                        <p:attrNameLst>
                                          <p:attrName>style.visibility</p:attrName>
                                        </p:attrNameLst>
                                      </p:cBhvr>
                                      <p:to>
                                        <p:strVal val="visible"/>
                                      </p:to>
                                    </p:set>
                                    <p:anim calcmode="lin" valueType="num">
                                      <p:cBhvr additive="base">
                                        <p:cTn id="12" dur="500" fill="hold"/>
                                        <p:tgtEl>
                                          <p:spTgt spid="152613"/>
                                        </p:tgtEl>
                                        <p:attrNameLst>
                                          <p:attrName>ppt_x</p:attrName>
                                        </p:attrNameLst>
                                      </p:cBhvr>
                                      <p:tavLst>
                                        <p:tav tm="0">
                                          <p:val>
                                            <p:strVal val="1+#ppt_w/2"/>
                                          </p:val>
                                        </p:tav>
                                        <p:tav tm="100000">
                                          <p:val>
                                            <p:strVal val="#ppt_x"/>
                                          </p:val>
                                        </p:tav>
                                      </p:tavLst>
                                    </p:anim>
                                    <p:anim calcmode="lin" valueType="num">
                                      <p:cBhvr additive="base">
                                        <p:cTn id="13" dur="500" fill="hold"/>
                                        <p:tgtEl>
                                          <p:spTgt spid="1526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1" name="CARBRAKE.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152612"/>
                                        </p:tgtEl>
                                        <p:attrNameLst>
                                          <p:attrName>style.visibility</p:attrName>
                                        </p:attrNameLst>
                                      </p:cBhvr>
                                      <p:to>
                                        <p:strVal val="visible"/>
                                      </p:to>
                                    </p:set>
                                    <p:anim calcmode="lin" valueType="num">
                                      <p:cBhvr additive="base">
                                        <p:cTn id="18" dur="500" fill="hold"/>
                                        <p:tgtEl>
                                          <p:spTgt spid="152612"/>
                                        </p:tgtEl>
                                        <p:attrNameLst>
                                          <p:attrName>ppt_x</p:attrName>
                                        </p:attrNameLst>
                                      </p:cBhvr>
                                      <p:tavLst>
                                        <p:tav tm="0">
                                          <p:val>
                                            <p:strVal val="1+#ppt_w/2"/>
                                          </p:val>
                                        </p:tav>
                                        <p:tav tm="100000">
                                          <p:val>
                                            <p:strVal val="#ppt_x"/>
                                          </p:val>
                                        </p:tav>
                                      </p:tavLst>
                                    </p:anim>
                                    <p:anim calcmode="lin" valueType="num">
                                      <p:cBhvr additive="base">
                                        <p:cTn id="19" dur="500" fill="hold"/>
                                        <p:tgtEl>
                                          <p:spTgt spid="1526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1" name="CARBRAKE.WAV"/>
                                        </p:tgtEl>
                                      </p:cMediaNode>
                                    </p:audio>
                                  </p:subTnLst>
                                </p:cTn>
                              </p:par>
                            </p:childTnLst>
                          </p:cTn>
                        </p:par>
                        <p:par>
                          <p:cTn id="20" fill="hold">
                            <p:stCondLst>
                              <p:cond delay="500"/>
                            </p:stCondLst>
                            <p:childTnLst>
                              <p:par>
                                <p:cTn id="21" presetID="2" presetClass="entr" presetSubtype="2" fill="hold" grpId="0" nodeType="afterEffect">
                                  <p:stCondLst>
                                    <p:cond delay="0"/>
                                  </p:stCondLst>
                                  <p:childTnLst>
                                    <p:set>
                                      <p:cBhvr>
                                        <p:cTn id="22" dur="1" fill="hold">
                                          <p:stCondLst>
                                            <p:cond delay="0"/>
                                          </p:stCondLst>
                                        </p:cTn>
                                        <p:tgtEl>
                                          <p:spTgt spid="152618">
                                            <p:txEl>
                                              <p:pRg st="0" end="0"/>
                                            </p:txEl>
                                          </p:spTgt>
                                        </p:tgtEl>
                                        <p:attrNameLst>
                                          <p:attrName>style.visibility</p:attrName>
                                        </p:attrNameLst>
                                      </p:cBhvr>
                                      <p:to>
                                        <p:strVal val="visible"/>
                                      </p:to>
                                    </p:set>
                                    <p:anim calcmode="lin" valueType="num">
                                      <p:cBhvr additive="base">
                                        <p:cTn id="23" dur="500" fill="hold"/>
                                        <p:tgtEl>
                                          <p:spTgt spid="152618">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5261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1" name="CARBRAKE.WAV"/>
                                        </p:tgtEl>
                                      </p:cMediaNode>
                                    </p:audio>
                                  </p:subTnLst>
                                </p:cTn>
                              </p:par>
                            </p:childTnLst>
                          </p:cTn>
                        </p:par>
                        <p:par>
                          <p:cTn id="25" fill="hold">
                            <p:stCondLst>
                              <p:cond delay="1000"/>
                            </p:stCondLst>
                            <p:childTnLst>
                              <p:par>
                                <p:cTn id="26" presetID="2" presetClass="entr" presetSubtype="2"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1+#ppt_w/2"/>
                                          </p:val>
                                        </p:tav>
                                        <p:tav tm="100000">
                                          <p:val>
                                            <p:strVal val="#ppt_x"/>
                                          </p:val>
                                        </p:tav>
                                      </p:tavLst>
                                    </p:anim>
                                    <p:anim calcmode="lin" valueType="num">
                                      <p:cBhvr additive="base">
                                        <p:cTn id="29"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6"/>
                                            </p:cond>
                                          </p:stCondLst>
                                          <p:endCondLst>
                                            <p:cond evt="onStopAudio" delay="0">
                                              <p:tgtEl>
                                                <p:sldTgt/>
                                              </p:tgtEl>
                                            </p:cond>
                                          </p:endCondLst>
                                        </p:cTn>
                                        <p:tgtEl>
                                          <p:sndTgt r:embed="rId1" name="CARBRAKE.WAV"/>
                                        </p:tgtEl>
                                      </p:cMediaNode>
                                    </p:audio>
                                  </p:subTnLst>
                                </p:cTn>
                              </p:par>
                            </p:childTnLst>
                          </p:cTn>
                        </p:par>
                      </p:childTnLst>
                    </p:cTn>
                  </p:par>
                  <p:par>
                    <p:cTn id="30" fill="hold">
                      <p:stCondLst>
                        <p:cond delay="indefinite"/>
                      </p:stCondLst>
                      <p:childTnLst>
                        <p:par>
                          <p:cTn id="31" fill="hold">
                            <p:stCondLst>
                              <p:cond delay="0"/>
                            </p:stCondLst>
                            <p:childTnLst>
                              <p:par>
                                <p:cTn id="32" presetID="8" presetClass="entr" presetSubtype="16" fill="hold" grpId="0" nodeType="clickEffect">
                                  <p:stCondLst>
                                    <p:cond delay="0"/>
                                  </p:stCondLst>
                                  <p:childTnLst>
                                    <p:set>
                                      <p:cBhvr>
                                        <p:cTn id="33" dur="1" fill="hold">
                                          <p:stCondLst>
                                            <p:cond delay="0"/>
                                          </p:stCondLst>
                                        </p:cTn>
                                        <p:tgtEl>
                                          <p:spTgt spid="152619"/>
                                        </p:tgtEl>
                                        <p:attrNameLst>
                                          <p:attrName>style.visibility</p:attrName>
                                        </p:attrNameLst>
                                      </p:cBhvr>
                                      <p:to>
                                        <p:strVal val="visible"/>
                                      </p:to>
                                    </p:set>
                                    <p:animEffect transition="in" filter="diamond(in)">
                                      <p:cBhvr>
                                        <p:cTn id="34" dur="2000"/>
                                        <p:tgtEl>
                                          <p:spTgt spid="152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617" grpId="0" autoUpdateAnimBg="0" build="p"/>
      <p:bldP spid="152618" grpId="0" advAuto="0" autoUpdateAnimBg="0" build="p"/>
      <p:bldP spid="1526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2457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64C2082E-F305-4710-937F-B5B23CE90982}"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48" name="日期占位符 5"/>
          <p:cNvSpPr>
            <a:spLocks noGrp="1"/>
          </p:cNvSpPr>
          <p:nvPr>
            <p:ph type="dt" sz="quarter" idx="12"/>
          </p:nvPr>
        </p:nvSpPr>
        <p:spPr/>
        <p:txBody>
          <a:bodyPr/>
          <a:lstStyle/>
          <a:p>
            <a:pPr>
              <a:defRPr/>
            </a:pPr>
            <a:r>
              <a:rPr lang="en-US" altLang="zh-CN"/>
              <a:t>BUPT</a:t>
            </a:r>
            <a:endParaRPr lang="en-US" altLang="zh-CN"/>
          </a:p>
        </p:txBody>
      </p:sp>
      <p:sp>
        <p:nvSpPr>
          <p:cNvPr id="24581" name="Rectangle 2"/>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头插法与尾插法</a:t>
            </a:r>
            <a:endParaRPr lang="zh-CN" altLang="zh-CN" sz="2800" dirty="0" smtClean="0">
              <a:ea typeface="华文楷体" panose="02010600040101010101" pitchFamily="2" charset="-122"/>
            </a:endParaRPr>
          </a:p>
        </p:txBody>
      </p:sp>
      <p:sp>
        <p:nvSpPr>
          <p:cNvPr id="24582"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例</a:t>
            </a:r>
            <a:r>
              <a:rPr lang="en-US" altLang="zh-CN" sz="2400" b="1" dirty="0" smtClean="0">
                <a:solidFill>
                  <a:schemeClr val="accent2"/>
                </a:solidFill>
                <a:ea typeface="华文楷体" panose="02010600040101010101" pitchFamily="2" charset="-122"/>
              </a:rPr>
              <a:t>1]</a:t>
            </a:r>
            <a:r>
              <a:rPr lang="zh-CN" altLang="en-US" sz="2400" dirty="0" smtClean="0">
                <a:solidFill>
                  <a:schemeClr val="accent2"/>
                </a:solidFill>
                <a:ea typeface="华文楷体" panose="02010600040101010101" pitchFamily="2" charset="-122"/>
              </a:rPr>
              <a:t>：带头节点的单链表的生成</a:t>
            </a:r>
            <a:endParaRPr lang="zh-CN" altLang="en-US" sz="2400" dirty="0" smtClean="0">
              <a:solidFill>
                <a:schemeClr val="accent2"/>
              </a:solidFill>
              <a:ea typeface="华文楷体" panose="02010600040101010101" pitchFamily="2" charset="-122"/>
            </a:endParaRPr>
          </a:p>
        </p:txBody>
      </p:sp>
      <p:sp>
        <p:nvSpPr>
          <p:cNvPr id="24583" name="Rectangle 4"/>
          <p:cNvSpPr>
            <a:spLocks noChangeArrowheads="1"/>
          </p:cNvSpPr>
          <p:nvPr/>
        </p:nvSpPr>
        <p:spPr bwMode="white">
          <a:xfrm>
            <a:off x="304800" y="44450"/>
            <a:ext cx="8458200"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zh-CN" sz="1800" b="1" dirty="0">
              <a:solidFill>
                <a:schemeClr val="bg1"/>
              </a:solidFill>
              <a:latin typeface="Verdana" panose="020B0604030504040204" pitchFamily="34" charset="0"/>
              <a:ea typeface="华文楷体" panose="02010600040101010101" pitchFamily="2" charset="-122"/>
            </a:endParaRPr>
          </a:p>
        </p:txBody>
      </p:sp>
      <p:sp>
        <p:nvSpPr>
          <p:cNvPr id="24584" name="Rectangle 5"/>
          <p:cNvSpPr>
            <a:spLocks noChangeArrowheads="1"/>
          </p:cNvSpPr>
          <p:nvPr/>
        </p:nvSpPr>
        <p:spPr bwMode="auto">
          <a:xfrm>
            <a:off x="685800" y="173355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设输入数据元素序列为</a:t>
            </a:r>
            <a:r>
              <a:rPr lang="en-US" altLang="zh-CN" sz="2400" dirty="0">
                <a:latin typeface="华文楷体" panose="02010600040101010101" pitchFamily="2" charset="-122"/>
                <a:ea typeface="华文楷体" panose="02010600040101010101" pitchFamily="2" charset="-122"/>
              </a:rPr>
              <a:t>[a</a:t>
            </a:r>
            <a:r>
              <a:rPr lang="en-US" altLang="zh-CN" sz="2400" baseline="-25000" dirty="0">
                <a:latin typeface="华文楷体" panose="02010600040101010101" pitchFamily="2" charset="-122"/>
                <a:ea typeface="华文楷体" panose="02010600040101010101" pitchFamily="2" charset="-122"/>
              </a:rPr>
              <a:t>1</a:t>
            </a:r>
            <a:r>
              <a:rPr lang="en-US" altLang="zh-CN" sz="2400" dirty="0">
                <a:latin typeface="华文楷体" panose="02010600040101010101" pitchFamily="2" charset="-122"/>
                <a:ea typeface="华文楷体" panose="02010600040101010101" pitchFamily="2" charset="-122"/>
              </a:rPr>
              <a:t>, a</a:t>
            </a:r>
            <a:r>
              <a:rPr lang="en-US" altLang="zh-CN" sz="2400" baseline="-25000" dirty="0">
                <a:latin typeface="华文楷体" panose="02010600040101010101" pitchFamily="2" charset="-122"/>
                <a:ea typeface="华文楷体" panose="02010600040101010101" pitchFamily="2" charset="-122"/>
              </a:rPr>
              <a:t>2</a:t>
            </a:r>
            <a:r>
              <a:rPr lang="en-US" altLang="zh-CN" sz="2400" dirty="0">
                <a:latin typeface="华文楷体" panose="02010600040101010101" pitchFamily="2" charset="-122"/>
                <a:ea typeface="华文楷体" panose="02010600040101010101" pitchFamily="2" charset="-122"/>
              </a:rPr>
              <a:t> , a</a:t>
            </a:r>
            <a:r>
              <a:rPr lang="en-US" altLang="zh-CN" sz="2400" baseline="-25000" dirty="0">
                <a:latin typeface="华文楷体" panose="02010600040101010101" pitchFamily="2" charset="-122"/>
                <a:ea typeface="华文楷体" panose="02010600040101010101" pitchFamily="2" charset="-122"/>
              </a:rPr>
              <a:t>3</a:t>
            </a:r>
            <a:r>
              <a:rPr lang="en-US" altLang="zh-CN"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400" dirty="0">
                <a:solidFill>
                  <a:schemeClr val="accent2"/>
                </a:solidFill>
                <a:latin typeface="华文楷体" panose="02010600040101010101" pitchFamily="2" charset="-122"/>
                <a:ea typeface="华文楷体" panose="02010600040101010101" pitchFamily="2" charset="-122"/>
              </a:rPr>
              <a:t>1)</a:t>
            </a:r>
            <a:r>
              <a:rPr lang="zh-CN" altLang="en-US" sz="2400" dirty="0">
                <a:solidFill>
                  <a:schemeClr val="accent2"/>
                </a:solidFill>
                <a:latin typeface="华文楷体" panose="02010600040101010101" pitchFamily="2" charset="-122"/>
                <a:ea typeface="华文楷体" panose="02010600040101010101" pitchFamily="2" charset="-122"/>
              </a:rPr>
              <a:t>头插法</a:t>
            </a:r>
            <a:r>
              <a:rPr lang="zh-CN" altLang="en-US" sz="2800" dirty="0">
                <a:solidFill>
                  <a:schemeClr val="accent2"/>
                </a:solidFill>
                <a:latin typeface="华文楷体" panose="02010600040101010101" pitchFamily="2" charset="-122"/>
                <a:ea typeface="华文楷体" panose="02010600040101010101" pitchFamily="2" charset="-122"/>
              </a:rPr>
              <a:t>  </a:t>
            </a:r>
            <a:r>
              <a:rPr lang="en-US" altLang="zh-CN" sz="2800" dirty="0">
                <a:solidFill>
                  <a:schemeClr val="accent2"/>
                </a:solidFill>
                <a:latin typeface="华文楷体" panose="02010600040101010101" pitchFamily="2" charset="-122"/>
                <a:ea typeface="华文楷体" panose="02010600040101010101" pitchFamily="2" charset="-122"/>
              </a:rPr>
              <a:t>O(n)</a:t>
            </a:r>
            <a:endParaRPr lang="en-US" altLang="zh-CN" sz="2800" dirty="0">
              <a:solidFill>
                <a:schemeClr val="accent2"/>
              </a:solidFill>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endParaRPr lang="en-US" altLang="zh-CN" sz="28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800" dirty="0">
                <a:latin typeface="华文楷体" panose="02010600040101010101" pitchFamily="2" charset="-122"/>
                <a:ea typeface="华文楷体" panose="02010600040101010101" pitchFamily="2" charset="-122"/>
              </a:rPr>
              <a:t>      </a:t>
            </a:r>
            <a:r>
              <a:rPr lang="en-US" altLang="zh-CN" sz="2800" dirty="0" smtClean="0">
                <a:latin typeface="华文楷体" panose="02010600040101010101" pitchFamily="2" charset="-122"/>
                <a:ea typeface="华文楷体" panose="02010600040101010101" pitchFamily="2" charset="-122"/>
              </a:rPr>
              <a:t>      L  </a:t>
            </a:r>
            <a:endParaRPr lang="en-US" altLang="zh-CN" sz="28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endParaRPr lang="en-US" altLang="zh-CN" sz="28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400" dirty="0">
                <a:solidFill>
                  <a:schemeClr val="accent2"/>
                </a:solidFill>
                <a:latin typeface="华文楷体" panose="02010600040101010101" pitchFamily="2" charset="-122"/>
                <a:ea typeface="华文楷体" panose="02010600040101010101" pitchFamily="2" charset="-122"/>
              </a:rPr>
              <a:t>2)</a:t>
            </a:r>
            <a:r>
              <a:rPr lang="zh-CN" altLang="en-US" sz="2400" dirty="0">
                <a:solidFill>
                  <a:schemeClr val="accent2"/>
                </a:solidFill>
                <a:latin typeface="华文楷体" panose="02010600040101010101" pitchFamily="2" charset="-122"/>
                <a:ea typeface="华文楷体" panose="02010600040101010101" pitchFamily="2" charset="-122"/>
              </a:rPr>
              <a:t>尾插法</a:t>
            </a:r>
            <a:r>
              <a:rPr lang="zh-CN" altLang="en-US" sz="2800" dirty="0">
                <a:solidFill>
                  <a:schemeClr val="accent2"/>
                </a:solidFill>
                <a:latin typeface="华文楷体" panose="02010600040101010101" pitchFamily="2" charset="-122"/>
                <a:ea typeface="华文楷体" panose="02010600040101010101" pitchFamily="2" charset="-122"/>
              </a:rPr>
              <a:t>  </a:t>
            </a:r>
            <a:r>
              <a:rPr lang="en-US" altLang="zh-CN" sz="2800" dirty="0">
                <a:solidFill>
                  <a:schemeClr val="accent2"/>
                </a:solidFill>
                <a:latin typeface="华文楷体" panose="02010600040101010101" pitchFamily="2" charset="-122"/>
                <a:ea typeface="华文楷体" panose="02010600040101010101" pitchFamily="2" charset="-122"/>
              </a:rPr>
              <a:t>O(n</a:t>
            </a:r>
            <a:r>
              <a:rPr lang="en-US" altLang="zh-CN" sz="2800" baseline="30000" dirty="0">
                <a:solidFill>
                  <a:schemeClr val="accent2"/>
                </a:solidFill>
                <a:latin typeface="华文楷体" panose="02010600040101010101" pitchFamily="2" charset="-122"/>
                <a:ea typeface="华文楷体" panose="02010600040101010101" pitchFamily="2" charset="-122"/>
              </a:rPr>
              <a:t>2</a:t>
            </a:r>
            <a:r>
              <a:rPr lang="en-US" altLang="zh-CN" sz="2800" dirty="0">
                <a:solidFill>
                  <a:schemeClr val="accent2"/>
                </a:solidFill>
                <a:latin typeface="华文楷体" panose="02010600040101010101" pitchFamily="2" charset="-122"/>
                <a:ea typeface="华文楷体" panose="02010600040101010101" pitchFamily="2" charset="-122"/>
              </a:rPr>
              <a:t>)</a:t>
            </a:r>
            <a:endParaRPr lang="en-US" altLang="zh-CN" sz="2800" dirty="0">
              <a:solidFill>
                <a:schemeClr val="accent2"/>
              </a:solidFill>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endParaRPr lang="en-US" altLang="zh-CN" sz="28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800" dirty="0">
                <a:latin typeface="华文楷体" panose="02010600040101010101" pitchFamily="2" charset="-122"/>
                <a:ea typeface="华文楷体" panose="02010600040101010101" pitchFamily="2" charset="-122"/>
              </a:rPr>
              <a:t>      </a:t>
            </a:r>
            <a:r>
              <a:rPr lang="en-US" altLang="zh-CN" sz="2800" dirty="0" smtClean="0">
                <a:latin typeface="华文楷体" panose="02010600040101010101" pitchFamily="2" charset="-122"/>
                <a:ea typeface="华文楷体" panose="02010600040101010101" pitchFamily="2" charset="-122"/>
              </a:rPr>
              <a:t>       L                       </a:t>
            </a:r>
            <a:r>
              <a:rPr lang="en-US" altLang="zh-CN" sz="2400" dirty="0">
                <a:latin typeface="华文楷体" panose="02010600040101010101" pitchFamily="2" charset="-122"/>
                <a:ea typeface="华文楷体" panose="02010600040101010101" pitchFamily="2" charset="-122"/>
              </a:rPr>
              <a:t>a</a:t>
            </a:r>
            <a:r>
              <a:rPr lang="en-US" altLang="zh-CN" sz="2400" baseline="-25000" dirty="0">
                <a:latin typeface="华文楷体" panose="02010600040101010101" pitchFamily="2" charset="-122"/>
                <a:ea typeface="华文楷体" panose="02010600040101010101" pitchFamily="2" charset="-122"/>
              </a:rPr>
              <a:t>1</a:t>
            </a:r>
            <a:r>
              <a:rPr lang="en-US" altLang="zh-CN" baseline="-25000" dirty="0">
                <a:latin typeface="华文楷体" panose="02010600040101010101" pitchFamily="2" charset="-122"/>
                <a:ea typeface="华文楷体" panose="02010600040101010101" pitchFamily="2" charset="-122"/>
              </a:rPr>
              <a:t>               </a:t>
            </a:r>
            <a:r>
              <a:rPr lang="en-US" altLang="zh-CN" baseline="-25000" dirty="0" smtClean="0">
                <a:latin typeface="华文楷体" panose="02010600040101010101" pitchFamily="2" charset="-122"/>
                <a:ea typeface="华文楷体" panose="02010600040101010101" pitchFamily="2" charset="-122"/>
              </a:rPr>
              <a:t>  </a:t>
            </a:r>
            <a:r>
              <a:rPr lang="en-US" altLang="zh-CN" sz="2400" dirty="0" smtClean="0">
                <a:latin typeface="华文楷体" panose="02010600040101010101" pitchFamily="2" charset="-122"/>
                <a:ea typeface="华文楷体" panose="02010600040101010101" pitchFamily="2" charset="-122"/>
              </a:rPr>
              <a:t>a</a:t>
            </a:r>
            <a:r>
              <a:rPr lang="en-US" altLang="zh-CN" sz="2400" baseline="-25000" dirty="0" smtClean="0">
                <a:latin typeface="华文楷体" panose="02010600040101010101" pitchFamily="2" charset="-122"/>
                <a:ea typeface="华文楷体" panose="02010600040101010101" pitchFamily="2" charset="-122"/>
              </a:rPr>
              <a:t>2</a:t>
            </a:r>
            <a:r>
              <a:rPr lang="en-US" altLang="zh-CN" baseline="-25000" dirty="0" smtClean="0">
                <a:latin typeface="华文楷体" panose="02010600040101010101" pitchFamily="2" charset="-122"/>
                <a:ea typeface="华文楷体" panose="02010600040101010101" pitchFamily="2" charset="-122"/>
              </a:rPr>
              <a:t>                   </a:t>
            </a:r>
            <a:r>
              <a:rPr lang="en-US" altLang="zh-CN" sz="2400" dirty="0" smtClean="0">
                <a:latin typeface="华文楷体" panose="02010600040101010101" pitchFamily="2" charset="-122"/>
                <a:ea typeface="华文楷体" panose="02010600040101010101" pitchFamily="2" charset="-122"/>
              </a:rPr>
              <a:t>a</a:t>
            </a:r>
            <a:r>
              <a:rPr lang="en-US" altLang="zh-CN" sz="2400" baseline="-25000" dirty="0" smtClean="0">
                <a:latin typeface="华文楷体" panose="02010600040101010101" pitchFamily="2" charset="-122"/>
                <a:ea typeface="华文楷体" panose="02010600040101010101" pitchFamily="2" charset="-122"/>
              </a:rPr>
              <a:t>3</a:t>
            </a:r>
            <a:r>
              <a:rPr lang="en-US" altLang="zh-CN" baseline="-25000" dirty="0" smtClean="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endParaRPr lang="en-US" altLang="zh-CN" sz="2800" dirty="0">
              <a:latin typeface="华文楷体" panose="02010600040101010101" pitchFamily="2" charset="-122"/>
              <a:ea typeface="华文楷体" panose="02010600040101010101" pitchFamily="2" charset="-122"/>
            </a:endParaRPr>
          </a:p>
        </p:txBody>
      </p:sp>
      <p:sp>
        <p:nvSpPr>
          <p:cNvPr id="24585" name="Rectangle 6"/>
          <p:cNvSpPr>
            <a:spLocks noChangeArrowheads="1"/>
          </p:cNvSpPr>
          <p:nvPr/>
        </p:nvSpPr>
        <p:spPr bwMode="auto">
          <a:xfrm>
            <a:off x="2514600" y="3332163"/>
            <a:ext cx="9144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4586" name="Line 7"/>
          <p:cNvSpPr>
            <a:spLocks noChangeShapeType="1"/>
          </p:cNvSpPr>
          <p:nvPr/>
        </p:nvSpPr>
        <p:spPr bwMode="auto">
          <a:xfrm>
            <a:off x="2057400" y="3560763"/>
            <a:ext cx="45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587" name="Rectangle 8"/>
          <p:cNvSpPr>
            <a:spLocks noChangeArrowheads="1"/>
          </p:cNvSpPr>
          <p:nvPr/>
        </p:nvSpPr>
        <p:spPr bwMode="auto">
          <a:xfrm>
            <a:off x="2590800" y="5389563"/>
            <a:ext cx="8382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4588" name="Rectangle 9"/>
          <p:cNvSpPr>
            <a:spLocks noChangeArrowheads="1"/>
          </p:cNvSpPr>
          <p:nvPr/>
        </p:nvSpPr>
        <p:spPr bwMode="auto">
          <a:xfrm>
            <a:off x="4038600" y="5389563"/>
            <a:ext cx="9144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4589" name="Rectangle 10"/>
          <p:cNvSpPr>
            <a:spLocks noChangeArrowheads="1"/>
          </p:cNvSpPr>
          <p:nvPr/>
        </p:nvSpPr>
        <p:spPr bwMode="auto">
          <a:xfrm>
            <a:off x="5486400" y="5389563"/>
            <a:ext cx="9144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4590" name="Rectangle 11"/>
          <p:cNvSpPr>
            <a:spLocks noChangeArrowheads="1"/>
          </p:cNvSpPr>
          <p:nvPr/>
        </p:nvSpPr>
        <p:spPr bwMode="auto">
          <a:xfrm>
            <a:off x="6858000" y="5389563"/>
            <a:ext cx="9144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4591" name="Line 12"/>
          <p:cNvSpPr>
            <a:spLocks noChangeShapeType="1"/>
          </p:cNvSpPr>
          <p:nvPr/>
        </p:nvSpPr>
        <p:spPr bwMode="auto">
          <a:xfrm>
            <a:off x="4648200" y="5389563"/>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592" name="Line 13"/>
          <p:cNvSpPr>
            <a:spLocks noChangeShapeType="1"/>
          </p:cNvSpPr>
          <p:nvPr/>
        </p:nvSpPr>
        <p:spPr bwMode="auto">
          <a:xfrm>
            <a:off x="6096000" y="5389563"/>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593" name="Line 14"/>
          <p:cNvSpPr>
            <a:spLocks noChangeShapeType="1"/>
          </p:cNvSpPr>
          <p:nvPr/>
        </p:nvSpPr>
        <p:spPr bwMode="auto">
          <a:xfrm>
            <a:off x="7391400" y="5389563"/>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594" name="Line 15"/>
          <p:cNvSpPr>
            <a:spLocks noChangeShapeType="1"/>
          </p:cNvSpPr>
          <p:nvPr/>
        </p:nvSpPr>
        <p:spPr bwMode="auto">
          <a:xfrm>
            <a:off x="3276600" y="5618163"/>
            <a:ext cx="762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595" name="Line 16"/>
          <p:cNvSpPr>
            <a:spLocks noChangeShapeType="1"/>
          </p:cNvSpPr>
          <p:nvPr/>
        </p:nvSpPr>
        <p:spPr bwMode="auto">
          <a:xfrm>
            <a:off x="4724400" y="5618163"/>
            <a:ext cx="762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596" name="Line 17"/>
          <p:cNvSpPr>
            <a:spLocks noChangeShapeType="1"/>
          </p:cNvSpPr>
          <p:nvPr/>
        </p:nvSpPr>
        <p:spPr bwMode="auto">
          <a:xfrm>
            <a:off x="6248400" y="5618163"/>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597" name="Line 18"/>
          <p:cNvSpPr>
            <a:spLocks noChangeShapeType="1"/>
          </p:cNvSpPr>
          <p:nvPr/>
        </p:nvSpPr>
        <p:spPr bwMode="auto">
          <a:xfrm>
            <a:off x="2133600" y="5618163"/>
            <a:ext cx="45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598" name="Rectangle 19" descr="浅色上对角线"/>
          <p:cNvSpPr>
            <a:spLocks noChangeArrowheads="1"/>
          </p:cNvSpPr>
          <p:nvPr/>
        </p:nvSpPr>
        <p:spPr bwMode="auto">
          <a:xfrm>
            <a:off x="2514600" y="3332163"/>
            <a:ext cx="609600" cy="457200"/>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4599" name="Rectangle 20" descr="浅色上对角线"/>
          <p:cNvSpPr>
            <a:spLocks noChangeArrowheads="1"/>
          </p:cNvSpPr>
          <p:nvPr/>
        </p:nvSpPr>
        <p:spPr bwMode="auto">
          <a:xfrm>
            <a:off x="2590800" y="5389563"/>
            <a:ext cx="533400" cy="457200"/>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4600" name="Text Box 21"/>
          <p:cNvSpPr txBox="1">
            <a:spLocks noChangeArrowheads="1"/>
          </p:cNvSpPr>
          <p:nvPr/>
        </p:nvSpPr>
        <p:spPr bwMode="auto">
          <a:xfrm>
            <a:off x="3124200" y="333216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a:t>
            </a:r>
            <a:endParaRPr kumimoji="1" lang="en-US" altLang="zh-CN" sz="2400" dirty="0">
              <a:latin typeface="华文楷体" panose="02010600040101010101" pitchFamily="2" charset="-122"/>
              <a:ea typeface="华文楷体" panose="02010600040101010101" pitchFamily="2" charset="-122"/>
            </a:endParaRPr>
          </a:p>
        </p:txBody>
      </p:sp>
      <p:grpSp>
        <p:nvGrpSpPr>
          <p:cNvPr id="2" name="Group 22"/>
          <p:cNvGrpSpPr/>
          <p:nvPr/>
        </p:nvGrpSpPr>
        <p:grpSpPr bwMode="auto">
          <a:xfrm>
            <a:off x="3124200" y="3332163"/>
            <a:ext cx="1447800" cy="466725"/>
            <a:chOff x="3360" y="2256"/>
            <a:chExt cx="912" cy="294"/>
          </a:xfrm>
        </p:grpSpPr>
        <p:sp>
          <p:nvSpPr>
            <p:cNvPr id="24621" name="Text Box 23"/>
            <p:cNvSpPr txBox="1">
              <a:spLocks noChangeArrowheads="1"/>
            </p:cNvSpPr>
            <p:nvPr/>
          </p:nvSpPr>
          <p:spPr bwMode="auto">
            <a:xfrm>
              <a:off x="3744" y="2256"/>
              <a:ext cx="52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a</a:t>
              </a:r>
              <a:r>
                <a:rPr kumimoji="1" lang="en-US" altLang="zh-CN" sz="2400" baseline="-25000" dirty="0">
                  <a:latin typeface="华文楷体" panose="02010600040101010101" pitchFamily="2" charset="-122"/>
                  <a:ea typeface="华文楷体" panose="02010600040101010101" pitchFamily="2" charset="-122"/>
                </a:rPr>
                <a:t>1    </a:t>
              </a:r>
              <a:r>
                <a:rPr kumimoji="1" lang="en-US" altLang="zh-CN" sz="2400" dirty="0">
                  <a:latin typeface="华文楷体" panose="02010600040101010101" pitchFamily="2" charset="-122"/>
                  <a:ea typeface="华文楷体" panose="02010600040101010101" pitchFamily="2" charset="-122"/>
                </a:rPr>
                <a:t>^</a:t>
              </a:r>
              <a:endParaRPr kumimoji="1" lang="en-US" altLang="zh-CN" sz="2400" dirty="0">
                <a:latin typeface="华文楷体" panose="02010600040101010101" pitchFamily="2" charset="-122"/>
                <a:ea typeface="华文楷体" panose="02010600040101010101" pitchFamily="2" charset="-122"/>
              </a:endParaRPr>
            </a:p>
          </p:txBody>
        </p:sp>
        <p:sp>
          <p:nvSpPr>
            <p:cNvPr id="24622" name="Rectangle 24"/>
            <p:cNvSpPr>
              <a:spLocks noChangeArrowheads="1"/>
            </p:cNvSpPr>
            <p:nvPr/>
          </p:nvSpPr>
          <p:spPr bwMode="auto">
            <a:xfrm>
              <a:off x="3360" y="2256"/>
              <a:ext cx="192" cy="288"/>
            </a:xfrm>
            <a:prstGeom prst="rect">
              <a:avLst/>
            </a:prstGeom>
            <a:solidFill>
              <a:schemeClr val="bg1"/>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4623" name="Line 25"/>
            <p:cNvSpPr>
              <a:spLocks noChangeShapeType="1"/>
            </p:cNvSpPr>
            <p:nvPr/>
          </p:nvSpPr>
          <p:spPr bwMode="auto">
            <a:xfrm>
              <a:off x="3456" y="2400"/>
              <a:ext cx="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624" name="Line 26"/>
            <p:cNvSpPr>
              <a:spLocks noChangeShapeType="1"/>
            </p:cNvSpPr>
            <p:nvPr/>
          </p:nvSpPr>
          <p:spPr bwMode="auto">
            <a:xfrm>
              <a:off x="4032" y="2256"/>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grpSp>
      <p:grpSp>
        <p:nvGrpSpPr>
          <p:cNvPr id="3" name="Group 27"/>
          <p:cNvGrpSpPr/>
          <p:nvPr/>
        </p:nvGrpSpPr>
        <p:grpSpPr bwMode="auto">
          <a:xfrm>
            <a:off x="3733800" y="3103563"/>
            <a:ext cx="1981200" cy="914400"/>
            <a:chOff x="3456" y="1728"/>
            <a:chExt cx="1248" cy="576"/>
          </a:xfrm>
        </p:grpSpPr>
        <p:sp>
          <p:nvSpPr>
            <p:cNvPr id="24615" name="Text Box 28"/>
            <p:cNvSpPr txBox="1">
              <a:spLocks noChangeArrowheads="1"/>
            </p:cNvSpPr>
            <p:nvPr/>
          </p:nvSpPr>
          <p:spPr bwMode="auto">
            <a:xfrm>
              <a:off x="4176" y="1872"/>
              <a:ext cx="52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a</a:t>
              </a:r>
              <a:r>
                <a:rPr kumimoji="1" lang="en-US" altLang="zh-CN" sz="2400" baseline="-25000" dirty="0">
                  <a:latin typeface="华文楷体" panose="02010600040101010101" pitchFamily="2" charset="-122"/>
                  <a:ea typeface="华文楷体" panose="02010600040101010101" pitchFamily="2" charset="-122"/>
                </a:rPr>
                <a:t>1    </a:t>
              </a:r>
              <a:r>
                <a:rPr kumimoji="1" lang="en-US" altLang="zh-CN" sz="2400" dirty="0">
                  <a:latin typeface="华文楷体" panose="02010600040101010101" pitchFamily="2" charset="-122"/>
                  <a:ea typeface="华文楷体" panose="02010600040101010101" pitchFamily="2" charset="-122"/>
                </a:rPr>
                <a:t>^</a:t>
              </a:r>
              <a:endParaRPr kumimoji="1" lang="en-US" altLang="zh-CN" sz="2400" dirty="0">
                <a:latin typeface="华文楷体" panose="02010600040101010101" pitchFamily="2" charset="-122"/>
                <a:ea typeface="华文楷体" panose="02010600040101010101" pitchFamily="2" charset="-122"/>
              </a:endParaRPr>
            </a:p>
          </p:txBody>
        </p:sp>
        <p:sp>
          <p:nvSpPr>
            <p:cNvPr id="24616" name="Line 29"/>
            <p:cNvSpPr>
              <a:spLocks noChangeShapeType="1"/>
            </p:cNvSpPr>
            <p:nvPr/>
          </p:nvSpPr>
          <p:spPr bwMode="auto">
            <a:xfrm>
              <a:off x="4464" y="1872"/>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617" name="Rectangle 30"/>
            <p:cNvSpPr>
              <a:spLocks noChangeArrowheads="1"/>
            </p:cNvSpPr>
            <p:nvPr/>
          </p:nvSpPr>
          <p:spPr bwMode="auto">
            <a:xfrm>
              <a:off x="3456" y="1728"/>
              <a:ext cx="672" cy="5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4618" name="Text Box 31"/>
            <p:cNvSpPr txBox="1">
              <a:spLocks noChangeArrowheads="1"/>
            </p:cNvSpPr>
            <p:nvPr/>
          </p:nvSpPr>
          <p:spPr bwMode="auto">
            <a:xfrm>
              <a:off x="3456" y="1872"/>
              <a:ext cx="52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a</a:t>
              </a:r>
              <a:r>
                <a:rPr kumimoji="1" lang="en-US" altLang="zh-CN" sz="2400" baseline="-25000" dirty="0">
                  <a:latin typeface="华文楷体" panose="02010600040101010101" pitchFamily="2" charset="-122"/>
                  <a:ea typeface="华文楷体" panose="02010600040101010101" pitchFamily="2" charset="-122"/>
                </a:rPr>
                <a:t>2</a:t>
              </a:r>
              <a:endParaRPr kumimoji="1" lang="en-US" altLang="zh-CN" sz="2400" baseline="-25000" dirty="0">
                <a:latin typeface="华文楷体" panose="02010600040101010101" pitchFamily="2" charset="-122"/>
                <a:ea typeface="华文楷体" panose="02010600040101010101" pitchFamily="2" charset="-122"/>
              </a:endParaRPr>
            </a:p>
          </p:txBody>
        </p:sp>
        <p:sp>
          <p:nvSpPr>
            <p:cNvPr id="24619" name="Line 32"/>
            <p:cNvSpPr>
              <a:spLocks noChangeShapeType="1"/>
            </p:cNvSpPr>
            <p:nvPr/>
          </p:nvSpPr>
          <p:spPr bwMode="auto">
            <a:xfrm>
              <a:off x="3792" y="1872"/>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620" name="Line 33"/>
            <p:cNvSpPr>
              <a:spLocks noChangeShapeType="1"/>
            </p:cNvSpPr>
            <p:nvPr/>
          </p:nvSpPr>
          <p:spPr bwMode="auto">
            <a:xfrm>
              <a:off x="3888" y="2016"/>
              <a:ext cx="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grpSp>
      <p:sp>
        <p:nvSpPr>
          <p:cNvPr id="153634" name="Rectangle 34"/>
          <p:cNvSpPr>
            <a:spLocks noChangeArrowheads="1"/>
          </p:cNvSpPr>
          <p:nvPr/>
        </p:nvSpPr>
        <p:spPr bwMode="auto">
          <a:xfrm>
            <a:off x="3733800" y="2951163"/>
            <a:ext cx="2819400" cy="1219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grpSp>
        <p:nvGrpSpPr>
          <p:cNvPr id="4" name="Group 35"/>
          <p:cNvGrpSpPr/>
          <p:nvPr/>
        </p:nvGrpSpPr>
        <p:grpSpPr bwMode="auto">
          <a:xfrm>
            <a:off x="3733800" y="3103563"/>
            <a:ext cx="3124200" cy="914400"/>
            <a:chOff x="2880" y="192"/>
            <a:chExt cx="1968" cy="576"/>
          </a:xfrm>
        </p:grpSpPr>
        <p:sp>
          <p:nvSpPr>
            <p:cNvPr id="24605" name="Line 36"/>
            <p:cNvSpPr>
              <a:spLocks noChangeShapeType="1"/>
            </p:cNvSpPr>
            <p:nvPr/>
          </p:nvSpPr>
          <p:spPr bwMode="auto">
            <a:xfrm>
              <a:off x="3216" y="336"/>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606" name="Line 37"/>
            <p:cNvSpPr>
              <a:spLocks noChangeShapeType="1"/>
            </p:cNvSpPr>
            <p:nvPr/>
          </p:nvSpPr>
          <p:spPr bwMode="auto">
            <a:xfrm>
              <a:off x="3312" y="480"/>
              <a:ext cx="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607" name="Text Box 38"/>
            <p:cNvSpPr txBox="1">
              <a:spLocks noChangeArrowheads="1"/>
            </p:cNvSpPr>
            <p:nvPr/>
          </p:nvSpPr>
          <p:spPr bwMode="auto">
            <a:xfrm>
              <a:off x="2880" y="336"/>
              <a:ext cx="52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a</a:t>
              </a:r>
              <a:r>
                <a:rPr kumimoji="1" lang="en-US" altLang="zh-CN" sz="2400" baseline="-25000" dirty="0">
                  <a:latin typeface="华文楷体" panose="02010600040101010101" pitchFamily="2" charset="-122"/>
                  <a:ea typeface="华文楷体" panose="02010600040101010101" pitchFamily="2" charset="-122"/>
                </a:rPr>
                <a:t>3</a:t>
              </a:r>
              <a:endParaRPr kumimoji="1" lang="en-US" altLang="zh-CN" sz="2400" dirty="0">
                <a:latin typeface="华文楷体" panose="02010600040101010101" pitchFamily="2" charset="-122"/>
                <a:ea typeface="华文楷体" panose="02010600040101010101" pitchFamily="2" charset="-122"/>
              </a:endParaRPr>
            </a:p>
          </p:txBody>
        </p:sp>
        <p:grpSp>
          <p:nvGrpSpPr>
            <p:cNvPr id="24608" name="Group 39"/>
            <p:cNvGrpSpPr/>
            <p:nvPr/>
          </p:nvGrpSpPr>
          <p:grpSpPr bwMode="auto">
            <a:xfrm>
              <a:off x="3600" y="192"/>
              <a:ext cx="1248" cy="576"/>
              <a:chOff x="3456" y="1728"/>
              <a:chExt cx="1248" cy="576"/>
            </a:xfrm>
          </p:grpSpPr>
          <p:sp>
            <p:nvSpPr>
              <p:cNvPr id="24609" name="Text Box 40"/>
              <p:cNvSpPr txBox="1">
                <a:spLocks noChangeArrowheads="1"/>
              </p:cNvSpPr>
              <p:nvPr/>
            </p:nvSpPr>
            <p:spPr bwMode="auto">
              <a:xfrm>
                <a:off x="4176" y="1872"/>
                <a:ext cx="52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a</a:t>
                </a:r>
                <a:r>
                  <a:rPr kumimoji="1" lang="en-US" altLang="zh-CN" sz="2400" baseline="-25000" dirty="0">
                    <a:latin typeface="华文楷体" panose="02010600040101010101" pitchFamily="2" charset="-122"/>
                    <a:ea typeface="华文楷体" panose="02010600040101010101" pitchFamily="2" charset="-122"/>
                  </a:rPr>
                  <a:t>1    </a:t>
                </a:r>
                <a:r>
                  <a:rPr kumimoji="1" lang="en-US" altLang="zh-CN" sz="2400" dirty="0">
                    <a:latin typeface="华文楷体" panose="02010600040101010101" pitchFamily="2" charset="-122"/>
                    <a:ea typeface="华文楷体" panose="02010600040101010101" pitchFamily="2" charset="-122"/>
                  </a:rPr>
                  <a:t>^</a:t>
                </a:r>
                <a:endParaRPr kumimoji="1" lang="en-US" altLang="zh-CN" sz="2400" dirty="0">
                  <a:latin typeface="华文楷体" panose="02010600040101010101" pitchFamily="2" charset="-122"/>
                  <a:ea typeface="华文楷体" panose="02010600040101010101" pitchFamily="2" charset="-122"/>
                </a:endParaRPr>
              </a:p>
            </p:txBody>
          </p:sp>
          <p:sp>
            <p:nvSpPr>
              <p:cNvPr id="24610" name="Line 41"/>
              <p:cNvSpPr>
                <a:spLocks noChangeShapeType="1"/>
              </p:cNvSpPr>
              <p:nvPr/>
            </p:nvSpPr>
            <p:spPr bwMode="auto">
              <a:xfrm>
                <a:off x="4464" y="1872"/>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611" name="Rectangle 42"/>
              <p:cNvSpPr>
                <a:spLocks noChangeArrowheads="1"/>
              </p:cNvSpPr>
              <p:nvPr/>
            </p:nvSpPr>
            <p:spPr bwMode="auto">
              <a:xfrm>
                <a:off x="3456" y="1728"/>
                <a:ext cx="672" cy="5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24612" name="Text Box 43"/>
              <p:cNvSpPr txBox="1">
                <a:spLocks noChangeArrowheads="1"/>
              </p:cNvSpPr>
              <p:nvPr/>
            </p:nvSpPr>
            <p:spPr bwMode="auto">
              <a:xfrm>
                <a:off x="3456" y="1872"/>
                <a:ext cx="52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a</a:t>
                </a:r>
                <a:r>
                  <a:rPr kumimoji="1" lang="en-US" altLang="zh-CN" sz="2400" baseline="-25000" dirty="0">
                    <a:latin typeface="华文楷体" panose="02010600040101010101" pitchFamily="2" charset="-122"/>
                    <a:ea typeface="华文楷体" panose="02010600040101010101" pitchFamily="2" charset="-122"/>
                  </a:rPr>
                  <a:t>2</a:t>
                </a:r>
                <a:endParaRPr kumimoji="1" lang="en-US" altLang="zh-CN" sz="2400" baseline="-25000" dirty="0">
                  <a:latin typeface="华文楷体" panose="02010600040101010101" pitchFamily="2" charset="-122"/>
                  <a:ea typeface="华文楷体" panose="02010600040101010101" pitchFamily="2" charset="-122"/>
                </a:endParaRPr>
              </a:p>
            </p:txBody>
          </p:sp>
          <p:sp>
            <p:nvSpPr>
              <p:cNvPr id="24613" name="Line 44"/>
              <p:cNvSpPr>
                <a:spLocks noChangeShapeType="1"/>
              </p:cNvSpPr>
              <p:nvPr/>
            </p:nvSpPr>
            <p:spPr bwMode="auto">
              <a:xfrm>
                <a:off x="3792" y="1872"/>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24614" name="Line 45"/>
              <p:cNvSpPr>
                <a:spLocks noChangeShapeType="1"/>
              </p:cNvSpPr>
              <p:nvPr/>
            </p:nvSpPr>
            <p:spPr bwMode="auto">
              <a:xfrm>
                <a:off x="3888" y="2016"/>
                <a:ext cx="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53634"/>
                                        </p:tgtEl>
                                        <p:attrNameLst>
                                          <p:attrName>style.visibility</p:attrName>
                                        </p:attrNameLst>
                                      </p:cBhvr>
                                      <p:to>
                                        <p:strVal val="visible"/>
                                      </p:to>
                                    </p:set>
                                    <p:anim calcmode="lin" valueType="num">
                                      <p:cBhvr additive="base">
                                        <p:cTn id="19" dur="500" fill="hold"/>
                                        <p:tgtEl>
                                          <p:spTgt spid="153634"/>
                                        </p:tgtEl>
                                        <p:attrNameLst>
                                          <p:attrName>ppt_x</p:attrName>
                                        </p:attrNameLst>
                                      </p:cBhvr>
                                      <p:tavLst>
                                        <p:tav tm="0">
                                          <p:val>
                                            <p:strVal val="1+#ppt_w/2"/>
                                          </p:val>
                                        </p:tav>
                                        <p:tav tm="100000">
                                          <p:val>
                                            <p:strVal val="#ppt_x"/>
                                          </p:val>
                                        </p:tav>
                                      </p:tavLst>
                                    </p:anim>
                                    <p:anim calcmode="lin" valueType="num">
                                      <p:cBhvr additive="base">
                                        <p:cTn id="20" dur="500" fill="hold"/>
                                        <p:tgtEl>
                                          <p:spTgt spid="15363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par>
                          <p:cTn id="21" fill="hold">
                            <p:stCondLst>
                              <p:cond delay="500"/>
                            </p:stCondLst>
                            <p:childTnLst>
                              <p:par>
                                <p:cTn id="22" presetID="2" presetClass="entr" presetSubtype="2"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1+#ppt_w/2"/>
                                          </p:val>
                                        </p:tav>
                                        <p:tav tm="100000">
                                          <p:val>
                                            <p:strVal val="#ppt_x"/>
                                          </p:val>
                                        </p:tav>
                                      </p:tavLst>
                                    </p:anim>
                                    <p:anim calcmode="lin" valueType="num">
                                      <p:cBhvr additive="base">
                                        <p:cTn id="25"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3"/>
          <p:cNvSpPr>
            <a:spLocks noGrp="1"/>
          </p:cNvSpPr>
          <p:nvPr>
            <p:ph type="ftr" sz="quarter" idx="10"/>
          </p:nvPr>
        </p:nvSpPr>
        <p:spPr/>
        <p:txBody>
          <a:bodyPr/>
          <a:lstStyle/>
          <a:p>
            <a:pPr>
              <a:defRPr/>
            </a:pPr>
            <a:r>
              <a:rPr lang="en-US" altLang="zh-CN"/>
              <a:t>BUPT SCST</a:t>
            </a:r>
            <a:endParaRPr lang="en-US" altLang="zh-CN"/>
          </a:p>
        </p:txBody>
      </p:sp>
      <p:sp>
        <p:nvSpPr>
          <p:cNvPr id="2560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FA554EB1-121E-4AB7-A889-CBFA48FCB8A2}"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9" name="日期占位符 5"/>
          <p:cNvSpPr>
            <a:spLocks noGrp="1"/>
          </p:cNvSpPr>
          <p:nvPr>
            <p:ph type="dt" sz="quarter" idx="12"/>
          </p:nvPr>
        </p:nvSpPr>
        <p:spPr/>
        <p:txBody>
          <a:bodyPr/>
          <a:lstStyle/>
          <a:p>
            <a:pPr>
              <a:defRPr/>
            </a:pPr>
            <a:r>
              <a:rPr lang="en-US" altLang="zh-CN"/>
              <a:t>BUPT</a:t>
            </a:r>
            <a:endParaRPr lang="en-US" altLang="zh-CN"/>
          </a:p>
        </p:txBody>
      </p:sp>
      <p:sp>
        <p:nvSpPr>
          <p:cNvPr id="25605"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5606"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b="1" dirty="0" smtClean="0">
                <a:solidFill>
                  <a:schemeClr val="accent2"/>
                </a:solidFill>
                <a:ea typeface="华文楷体" panose="02010600040101010101" pitchFamily="2" charset="-122"/>
              </a:rPr>
              <a:t>[</a:t>
            </a:r>
            <a:r>
              <a:rPr lang="zh-CN" altLang="en-US" b="1" dirty="0" smtClean="0">
                <a:solidFill>
                  <a:schemeClr val="accent2"/>
                </a:solidFill>
                <a:ea typeface="华文楷体" panose="02010600040101010101" pitchFamily="2" charset="-122"/>
              </a:rPr>
              <a:t>思考</a:t>
            </a:r>
            <a:r>
              <a:rPr lang="en-US" altLang="zh-CN" b="1" dirty="0" smtClean="0">
                <a:solidFill>
                  <a:schemeClr val="accent2"/>
                </a:solidFill>
                <a:ea typeface="华文楷体" panose="02010600040101010101" pitchFamily="2" charset="-122"/>
              </a:rPr>
              <a:t>]</a:t>
            </a:r>
            <a:r>
              <a:rPr lang="zh-CN" altLang="en-US" dirty="0" smtClean="0">
                <a:ea typeface="华文楷体" panose="02010600040101010101" pitchFamily="2" charset="-122"/>
              </a:rPr>
              <a:t>：对于一个具有</a:t>
            </a:r>
            <a:r>
              <a:rPr lang="en-US" altLang="zh-CN" dirty="0" smtClean="0">
                <a:ea typeface="华文楷体" panose="02010600040101010101" pitchFamily="2" charset="-122"/>
              </a:rPr>
              <a:t>n</a:t>
            </a:r>
            <a:r>
              <a:rPr lang="zh-CN" altLang="en-US" dirty="0" smtClean="0">
                <a:ea typeface="华文楷体" panose="02010600040101010101" pitchFamily="2" charset="-122"/>
              </a:rPr>
              <a:t>个结点的单链表，在已知的结点（其指针为</a:t>
            </a:r>
            <a:r>
              <a:rPr lang="en-US" altLang="zh-CN" dirty="0" smtClean="0">
                <a:ea typeface="华文楷体" panose="02010600040101010101" pitchFamily="2" charset="-122"/>
              </a:rPr>
              <a:t>p</a:t>
            </a:r>
            <a:r>
              <a:rPr lang="zh-CN" altLang="en-US" dirty="0" smtClean="0">
                <a:ea typeface="华文楷体" panose="02010600040101010101" pitchFamily="2" charset="-122"/>
              </a:rPr>
              <a:t>）后插入一个新结点的时间复杂度为</a:t>
            </a:r>
            <a:r>
              <a:rPr lang="en-US" altLang="zh-CN" dirty="0" smtClean="0">
                <a:ea typeface="华文楷体" panose="02010600040101010101" pitchFamily="2" charset="-122"/>
              </a:rPr>
              <a:t>________,</a:t>
            </a:r>
            <a:r>
              <a:rPr lang="zh-CN" altLang="en-US" dirty="0" smtClean="0">
                <a:ea typeface="华文楷体" panose="02010600040101010101" pitchFamily="2" charset="-122"/>
              </a:rPr>
              <a:t>在给定值为</a:t>
            </a:r>
            <a:r>
              <a:rPr lang="en-US" altLang="zh-CN" dirty="0" smtClean="0">
                <a:ea typeface="华文楷体" panose="02010600040101010101" pitchFamily="2" charset="-122"/>
              </a:rPr>
              <a:t>x</a:t>
            </a:r>
            <a:r>
              <a:rPr lang="zh-CN" altLang="en-US" dirty="0" smtClean="0">
                <a:ea typeface="华文楷体" panose="02010600040101010101" pitchFamily="2" charset="-122"/>
              </a:rPr>
              <a:t>的结点后插入一个新结点的平均时间复杂度为</a:t>
            </a:r>
            <a:r>
              <a:rPr lang="en-US" altLang="zh-CN" dirty="0" smtClean="0">
                <a:ea typeface="华文楷体" panose="02010600040101010101" pitchFamily="2" charset="-122"/>
              </a:rPr>
              <a:t>________</a:t>
            </a:r>
            <a:r>
              <a:rPr lang="zh-CN" altLang="en-US" dirty="0" smtClean="0">
                <a:ea typeface="华文楷体" panose="02010600040101010101" pitchFamily="2" charset="-122"/>
              </a:rPr>
              <a:t>。 </a:t>
            </a:r>
            <a:endParaRPr lang="zh-CN" altLang="en-US" dirty="0" smtClean="0">
              <a:ea typeface="华文楷体" panose="02010600040101010101" pitchFamily="2" charset="-122"/>
            </a:endParaRPr>
          </a:p>
        </p:txBody>
      </p:sp>
      <p:sp>
        <p:nvSpPr>
          <p:cNvPr id="156676" name="Text Box 4"/>
          <p:cNvSpPr txBox="1">
            <a:spLocks noChangeArrowheads="1"/>
          </p:cNvSpPr>
          <p:nvPr/>
        </p:nvSpPr>
        <p:spPr bwMode="auto">
          <a:xfrm>
            <a:off x="4211638" y="2205038"/>
            <a:ext cx="1081087"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solidFill>
                  <a:srgbClr val="FF3300"/>
                </a:solidFill>
                <a:latin typeface="华文楷体" panose="02010600040101010101" pitchFamily="2" charset="-122"/>
                <a:ea typeface="华文楷体" panose="02010600040101010101" pitchFamily="2" charset="-122"/>
              </a:rPr>
              <a:t>O(1)</a:t>
            </a:r>
            <a:endParaRPr lang="en-US" altLang="zh-CN" sz="2400" b="1" dirty="0">
              <a:solidFill>
                <a:srgbClr val="FF3300"/>
              </a:solidFill>
              <a:latin typeface="华文楷体" panose="02010600040101010101" pitchFamily="2" charset="-122"/>
              <a:ea typeface="华文楷体" panose="02010600040101010101" pitchFamily="2" charset="-122"/>
            </a:endParaRPr>
          </a:p>
        </p:txBody>
      </p:sp>
      <p:sp>
        <p:nvSpPr>
          <p:cNvPr id="156677" name="Text Box 5"/>
          <p:cNvSpPr txBox="1">
            <a:spLocks noChangeArrowheads="1"/>
          </p:cNvSpPr>
          <p:nvPr/>
        </p:nvSpPr>
        <p:spPr bwMode="auto">
          <a:xfrm>
            <a:off x="1762125" y="3187700"/>
            <a:ext cx="1081088"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solidFill>
                  <a:srgbClr val="FF3300"/>
                </a:solidFill>
                <a:latin typeface="华文楷体" panose="02010600040101010101" pitchFamily="2" charset="-122"/>
                <a:ea typeface="华文楷体" panose="02010600040101010101" pitchFamily="2" charset="-122"/>
              </a:rPr>
              <a:t>O(n)</a:t>
            </a:r>
            <a:endParaRPr lang="en-US" altLang="zh-CN" sz="2400" b="1" dirty="0">
              <a:solidFill>
                <a:srgbClr val="FF3300"/>
              </a:solidFill>
              <a:latin typeface="华文楷体" panose="02010600040101010101" pitchFamily="2" charset="-122"/>
              <a:ea typeface="华文楷体" panose="02010600040101010101" pitchFamily="2" charset="-122"/>
            </a:endParaRPr>
          </a:p>
        </p:txBody>
      </p:sp>
      <p:sp>
        <p:nvSpPr>
          <p:cNvPr id="156678" name="Rectangle 6"/>
          <p:cNvSpPr>
            <a:spLocks noChangeArrowheads="1"/>
          </p:cNvSpPr>
          <p:nvPr/>
        </p:nvSpPr>
        <p:spPr bwMode="auto">
          <a:xfrm>
            <a:off x="539750" y="4987925"/>
            <a:ext cx="7416800" cy="844550"/>
          </a:xfrm>
          <a:prstGeom prst="rect">
            <a:avLst/>
          </a:prstGeom>
          <a:noFill/>
          <a:ln w="22225" algn="ctr">
            <a:solidFill>
              <a:schemeClr val="accent1"/>
            </a:solidFill>
            <a:miter lim="800000"/>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dirty="0">
                <a:latin typeface="华文楷体" panose="02010600040101010101" pitchFamily="2" charset="-122"/>
                <a:ea typeface="华文楷体" panose="02010600040101010101" pitchFamily="2" charset="-122"/>
              </a:rPr>
              <a:t>在单链表已知的结点（其指针为</a:t>
            </a:r>
            <a:r>
              <a:rPr lang="en-US" altLang="zh-CN"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）前插入一个新结点的时间复杂度又为多少？</a:t>
            </a:r>
            <a:endParaRPr lang="zh-CN" altLang="en-US" sz="24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56676"/>
                                        </p:tgtEl>
                                        <p:attrNameLst>
                                          <p:attrName>style.visibility</p:attrName>
                                        </p:attrNameLst>
                                      </p:cBhvr>
                                      <p:to>
                                        <p:strVal val="visible"/>
                                      </p:to>
                                    </p:set>
                                    <p:animEffect transition="in" filter="diamond(in)">
                                      <p:cBhvr>
                                        <p:cTn id="7" dur="2000"/>
                                        <p:tgtEl>
                                          <p:spTgt spid="15667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56677"/>
                                        </p:tgtEl>
                                        <p:attrNameLst>
                                          <p:attrName>style.visibility</p:attrName>
                                        </p:attrNameLst>
                                      </p:cBhvr>
                                      <p:to>
                                        <p:strVal val="visible"/>
                                      </p:to>
                                    </p:set>
                                    <p:animEffect transition="in" filter="diamond(in)">
                                      <p:cBhvr>
                                        <p:cTn id="12" dur="2000"/>
                                        <p:tgtEl>
                                          <p:spTgt spid="15667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56678"/>
                                        </p:tgtEl>
                                        <p:attrNameLst>
                                          <p:attrName>style.visibility</p:attrName>
                                        </p:attrNameLst>
                                      </p:cBhvr>
                                      <p:to>
                                        <p:strVal val="visible"/>
                                      </p:to>
                                    </p:set>
                                    <p:animEffect transition="in" filter="box(in)">
                                      <p:cBhvr>
                                        <p:cTn id="17" dur="500"/>
                                        <p:tgtEl>
                                          <p:spTgt spid="156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6" grpId="0"/>
      <p:bldP spid="156677" grpId="0"/>
      <p:bldP spid="15667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algn="l" eaLnBrk="1" hangingPunct="1"/>
            <a:r>
              <a:rPr lang="zh-CN" altLang="en-US" sz="2800" dirty="0" smtClean="0">
                <a:ea typeface="华文楷体" panose="02010600040101010101" pitchFamily="2" charset="-122"/>
              </a:rPr>
              <a:t>有序表中的插入</a:t>
            </a:r>
            <a:endParaRPr lang="zh-CN" altLang="en-US" sz="2800" dirty="0" smtClean="0">
              <a:ea typeface="华文楷体" panose="02010600040101010101" pitchFamily="2" charset="-122"/>
            </a:endParaRPr>
          </a:p>
        </p:txBody>
      </p:sp>
      <p:sp>
        <p:nvSpPr>
          <p:cNvPr id="3" name="内容占位符 2"/>
          <p:cNvSpPr>
            <a:spLocks noGrp="1"/>
          </p:cNvSpPr>
          <p:nvPr>
            <p:ph idx="1"/>
          </p:nvPr>
        </p:nvSpPr>
        <p:spPr>
          <a:xfrm>
            <a:off x="468313" y="1066800"/>
            <a:ext cx="8218487" cy="5458544"/>
          </a:xfrm>
        </p:spPr>
        <p:txBody>
          <a:bodyPr/>
          <a:lstStyle/>
          <a:p>
            <a:pPr marL="0" indent="0">
              <a:buFont typeface="Wingdings" panose="05000000000000000000" pitchFamily="2" charset="2"/>
              <a:buNone/>
            </a:pPr>
            <a:r>
              <a:rPr lang="zh-CN" altLang="en-US" sz="2000" dirty="0" smtClean="0">
                <a:ea typeface="华文楷体" panose="02010600040101010101" pitchFamily="2" charset="-122"/>
              </a:rPr>
              <a:t>无头结点</a:t>
            </a:r>
            <a:r>
              <a:rPr lang="zh-CN" altLang="en-US" sz="2000" dirty="0">
                <a:ea typeface="华文楷体" panose="02010600040101010101" pitchFamily="2" charset="-122"/>
              </a:rPr>
              <a:t>递增</a:t>
            </a:r>
            <a:r>
              <a:rPr lang="zh-CN" altLang="en-US" sz="2000" dirty="0" smtClean="0">
                <a:ea typeface="华文楷体" panose="02010600040101010101" pitchFamily="2" charset="-122"/>
              </a:rPr>
              <a:t>有序单链表的插入</a:t>
            </a:r>
            <a:endParaRPr lang="en-US" altLang="zh-CN" sz="2000" dirty="0" smtClean="0">
              <a:ea typeface="华文楷体" panose="02010600040101010101" pitchFamily="2" charset="-122"/>
            </a:endParaRPr>
          </a:p>
          <a:p>
            <a:pPr marL="0" indent="0">
              <a:buNone/>
            </a:pPr>
            <a:r>
              <a:rPr lang="en-US" altLang="zh-CN" sz="2000" dirty="0" smtClean="0">
                <a:ea typeface="华文楷体" panose="02010600040101010101" pitchFamily="2" charset="-122"/>
              </a:rPr>
              <a:t>BOOL insert(List &amp;L</a:t>
            </a:r>
            <a:r>
              <a:rPr lang="zh-CN" altLang="en-US" sz="2000" dirty="0" smtClean="0">
                <a:ea typeface="华文楷体" panose="02010600040101010101" pitchFamily="2" charset="-122"/>
              </a:rPr>
              <a:t>， </a:t>
            </a:r>
            <a:r>
              <a:rPr lang="en-US" altLang="zh-CN" sz="2000" dirty="0" err="1">
                <a:ea typeface="华文楷体" panose="02010600040101010101" pitchFamily="2" charset="-122"/>
              </a:rPr>
              <a:t>elemtype</a:t>
            </a: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newdata</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marL="400050" lvl="1" indent="0">
              <a:buNone/>
            </a:pPr>
            <a:r>
              <a:rPr lang="en-US" altLang="zh-CN" sz="2000" dirty="0" smtClean="0">
                <a:ea typeface="华文楷体" panose="02010600040101010101" pitchFamily="2" charset="-122"/>
              </a:rPr>
              <a:t>Position *; </a:t>
            </a:r>
            <a:r>
              <a:rPr lang="en-US" altLang="zh-CN" sz="2000" dirty="0" err="1" smtClean="0">
                <a:ea typeface="华文楷体" panose="02010600040101010101" pitchFamily="2" charset="-122"/>
              </a:rPr>
              <a:t>new,current,prev</a:t>
            </a:r>
            <a:r>
              <a:rPr lang="en-US" altLang="zh-CN" sz="2000" dirty="0" smtClean="0">
                <a:ea typeface="华文楷体" panose="02010600040101010101" pitchFamily="2" charset="-122"/>
              </a:rPr>
              <a:t> current = L;</a:t>
            </a:r>
            <a:endParaRPr lang="en-US" altLang="zh-CN" sz="2000" dirty="0" smtClean="0">
              <a:ea typeface="华文楷体" panose="02010600040101010101" pitchFamily="2" charset="-122"/>
            </a:endParaRPr>
          </a:p>
          <a:p>
            <a:pPr marL="400050" lvl="1" indent="0">
              <a:buFont typeface="Wingdings" panose="05000000000000000000" pitchFamily="2" charset="2"/>
              <a:buNone/>
            </a:pPr>
            <a:r>
              <a:rPr lang="en-US" altLang="zh-CN" sz="2000" dirty="0" smtClean="0">
                <a:ea typeface="华文楷体" panose="02010600040101010101" pitchFamily="2" charset="-122"/>
              </a:rPr>
              <a:t>While(current != NULL &amp;&amp; current-&gt;data&lt;</a:t>
            </a:r>
            <a:r>
              <a:rPr lang="en-US" altLang="zh-CN" sz="2000" dirty="0" err="1" smtClean="0">
                <a:ea typeface="华文楷体" panose="02010600040101010101" pitchFamily="2" charset="-122"/>
              </a:rPr>
              <a:t>newdata</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marL="400050" lvl="1" indent="0">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prev</a:t>
            </a:r>
            <a:r>
              <a:rPr lang="en-US" altLang="zh-CN" sz="2000" dirty="0" smtClean="0">
                <a:ea typeface="华文楷体" panose="02010600040101010101" pitchFamily="2" charset="-122"/>
              </a:rPr>
              <a:t>= current; current =  current-&gt;next;</a:t>
            </a:r>
            <a:endParaRPr lang="en-US" altLang="zh-CN" sz="2000" dirty="0" smtClean="0">
              <a:ea typeface="华文楷体" panose="02010600040101010101" pitchFamily="2" charset="-122"/>
            </a:endParaRPr>
          </a:p>
          <a:p>
            <a:pPr marL="400050" lvl="1" indent="0">
              <a:buFont typeface="Wingdings" panose="05000000000000000000" pitchFamily="2" charset="2"/>
              <a:buNone/>
            </a:pP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marL="400050" lvl="1" indent="0">
              <a:buFont typeface="Wingdings" panose="05000000000000000000" pitchFamily="2" charset="2"/>
              <a:buNone/>
            </a:pPr>
            <a:r>
              <a:rPr lang="en-US" altLang="zh-CN" sz="2000" dirty="0" smtClean="0">
                <a:ea typeface="华文楷体" panose="02010600040101010101" pitchFamily="2" charset="-122"/>
              </a:rPr>
              <a:t>new =(Node *)</a:t>
            </a:r>
            <a:r>
              <a:rPr lang="en-US" altLang="zh-CN" sz="2000" dirty="0" err="1" smtClean="0">
                <a:ea typeface="华文楷体" panose="02010600040101010101" pitchFamily="2" charset="-122"/>
              </a:rPr>
              <a:t>malloc</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sizeof</a:t>
            </a:r>
            <a:r>
              <a:rPr lang="en-US" altLang="zh-CN" sz="2000" dirty="0" smtClean="0">
                <a:ea typeface="华文楷体" panose="02010600040101010101" pitchFamily="2" charset="-122"/>
              </a:rPr>
              <a:t>(Node)); </a:t>
            </a:r>
            <a:endParaRPr lang="en-US" altLang="zh-CN" sz="2000" dirty="0" smtClean="0">
              <a:ea typeface="华文楷体" panose="02010600040101010101" pitchFamily="2" charset="-122"/>
            </a:endParaRPr>
          </a:p>
          <a:p>
            <a:pPr marL="400050" lvl="1" indent="0">
              <a:buFont typeface="Wingdings" panose="05000000000000000000" pitchFamily="2" charset="2"/>
              <a:buNone/>
            </a:pPr>
            <a:r>
              <a:rPr lang="zh-CN" altLang="en-US" sz="2000" dirty="0" smtClean="0">
                <a:ea typeface="华文楷体" panose="02010600040101010101" pitchFamily="2" charset="-122"/>
              </a:rPr>
              <a:t>判空和赋值语句略</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marL="400050" lvl="1" indent="0">
              <a:buFont typeface="Wingdings" panose="05000000000000000000" pitchFamily="2" charset="2"/>
              <a:buNone/>
            </a:pPr>
            <a:r>
              <a:rPr lang="en-US" altLang="zh-CN" sz="2000" dirty="0" smtClean="0">
                <a:solidFill>
                  <a:srgbClr val="FF0000"/>
                </a:solidFill>
                <a:ea typeface="华文楷体" panose="02010600040101010101" pitchFamily="2" charset="-122"/>
              </a:rPr>
              <a:t>new-&gt;next = </a:t>
            </a:r>
            <a:r>
              <a:rPr lang="en-US" altLang="zh-CN" sz="2000" dirty="0" err="1" smtClean="0">
                <a:solidFill>
                  <a:srgbClr val="FF0000"/>
                </a:solidFill>
                <a:ea typeface="华文楷体" panose="02010600040101010101" pitchFamily="2" charset="-122"/>
              </a:rPr>
              <a:t>prev</a:t>
            </a:r>
            <a:r>
              <a:rPr lang="en-US" altLang="zh-CN" sz="2000" dirty="0" smtClean="0">
                <a:solidFill>
                  <a:srgbClr val="FF0000"/>
                </a:solidFill>
                <a:ea typeface="华文楷体" panose="02010600040101010101" pitchFamily="2" charset="-122"/>
              </a:rPr>
              <a:t>-&gt;next;</a:t>
            </a:r>
            <a:endParaRPr lang="en-US" altLang="zh-CN" sz="2000" dirty="0" smtClean="0">
              <a:solidFill>
                <a:srgbClr val="FF0000"/>
              </a:solidFill>
              <a:ea typeface="华文楷体" panose="02010600040101010101" pitchFamily="2" charset="-122"/>
            </a:endParaRPr>
          </a:p>
          <a:p>
            <a:pPr marL="400050" lvl="1" indent="0">
              <a:buFont typeface="Wingdings" panose="05000000000000000000" pitchFamily="2" charset="2"/>
              <a:buNone/>
            </a:pPr>
            <a:r>
              <a:rPr lang="en-US" altLang="zh-CN" sz="2000" dirty="0" err="1" smtClean="0">
                <a:solidFill>
                  <a:srgbClr val="FF0000"/>
                </a:solidFill>
                <a:ea typeface="华文楷体" panose="02010600040101010101" pitchFamily="2" charset="-122"/>
              </a:rPr>
              <a:t>prev</a:t>
            </a:r>
            <a:r>
              <a:rPr lang="en-US" altLang="zh-CN" sz="2000" dirty="0" smtClean="0">
                <a:solidFill>
                  <a:srgbClr val="FF0000"/>
                </a:solidFill>
                <a:ea typeface="华文楷体" panose="02010600040101010101" pitchFamily="2" charset="-122"/>
              </a:rPr>
              <a:t>-&gt;next = new;</a:t>
            </a:r>
            <a:endParaRPr lang="en-US" altLang="zh-CN" sz="2000" dirty="0" smtClean="0">
              <a:solidFill>
                <a:srgbClr val="FF0000"/>
              </a:solidFill>
              <a:ea typeface="华文楷体" panose="02010600040101010101" pitchFamily="2" charset="-122"/>
            </a:endParaRPr>
          </a:p>
          <a:p>
            <a:pPr marL="400050" lvl="1" indent="0">
              <a:buFont typeface="Wingdings" panose="05000000000000000000" pitchFamily="2" charset="2"/>
              <a:buNone/>
            </a:pPr>
            <a:r>
              <a:rPr lang="en-US" altLang="zh-CN" sz="2000" dirty="0" smtClean="0">
                <a:ea typeface="华文楷体" panose="02010600040101010101" pitchFamily="2" charset="-122"/>
              </a:rPr>
              <a:t>return TRUE;</a:t>
            </a:r>
            <a:endParaRPr lang="en-US" altLang="zh-CN" sz="2000" dirty="0" smtClean="0">
              <a:ea typeface="华文楷体" panose="02010600040101010101" pitchFamily="2" charset="-122"/>
            </a:endParaRPr>
          </a:p>
          <a:p>
            <a:pPr marL="0" indent="0">
              <a:buFont typeface="Wingdings" panose="05000000000000000000" pitchFamily="2" charset="2"/>
              <a:buNone/>
            </a:pP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Font typeface="Wingdings" panose="05000000000000000000" pitchFamily="2" charset="2"/>
              <a:buNone/>
            </a:pP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Font typeface="Wingdings" panose="05000000000000000000" pitchFamily="2" charset="2"/>
              <a:buNone/>
            </a:pPr>
            <a:r>
              <a:rPr lang="zh-CN" altLang="en-US" sz="2000" dirty="0" smtClean="0">
                <a:ea typeface="华文楷体" panose="02010600040101010101" pitchFamily="2" charset="-122"/>
              </a:rPr>
              <a:t>主函数调用方式：</a:t>
            </a:r>
            <a:endParaRPr lang="en-US" altLang="zh-CN" sz="2000" dirty="0" smtClean="0">
              <a:ea typeface="华文楷体" panose="02010600040101010101" pitchFamily="2" charset="-122"/>
            </a:endParaRPr>
          </a:p>
          <a:p>
            <a:pPr marL="0" indent="0">
              <a:buFont typeface="Wingdings" panose="05000000000000000000" pitchFamily="2" charset="2"/>
              <a:buNone/>
            </a:pPr>
            <a:r>
              <a:rPr lang="en-US" altLang="zh-CN" sz="2000" dirty="0" smtClean="0">
                <a:ea typeface="华文楷体" panose="02010600040101010101" pitchFamily="2" charset="-122"/>
              </a:rPr>
              <a:t>Result = insert(</a:t>
            </a:r>
            <a:r>
              <a:rPr lang="en-US" altLang="zh-CN" sz="2000" dirty="0" err="1" smtClean="0">
                <a:ea typeface="华文楷体" panose="02010600040101010101" pitchFamily="2" charset="-122"/>
              </a:rPr>
              <a:t>head,X</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//head</a:t>
            </a:r>
            <a:r>
              <a:rPr lang="zh-CN" altLang="en-US" sz="2000" dirty="0" smtClean="0">
                <a:ea typeface="华文楷体" panose="02010600040101010101" pitchFamily="2" charset="-122"/>
              </a:rPr>
              <a:t>为头指针</a:t>
            </a:r>
            <a:endParaRPr lang="en-US" altLang="zh-CN" sz="2000" dirty="0" smtClean="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2662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0414324D-97B8-424F-BF83-14ECDCC55BFB}"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dirty="0" smtClean="0"/>
              <a:t>BUPT</a:t>
            </a:r>
            <a:endParaRPr lang="en-US" altLang="zh-C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3"/>
          <p:cNvSpPr>
            <a:spLocks noGrp="1"/>
          </p:cNvSpPr>
          <p:nvPr>
            <p:ph type="ftr" sz="quarter" idx="10"/>
          </p:nvPr>
        </p:nvSpPr>
        <p:spPr/>
        <p:txBody>
          <a:bodyPr/>
          <a:lstStyle/>
          <a:p>
            <a:pPr>
              <a:defRPr/>
            </a:pPr>
            <a:r>
              <a:rPr lang="en-US" altLang="zh-CN"/>
              <a:t>BUPT SCST</a:t>
            </a:r>
            <a:endParaRPr lang="en-US" altLang="zh-CN"/>
          </a:p>
        </p:txBody>
      </p:sp>
      <p:sp>
        <p:nvSpPr>
          <p:cNvPr id="2765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C082F020-A373-496F-9433-E52AE3B2966E}"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9" name="日期占位符 5"/>
          <p:cNvSpPr>
            <a:spLocks noGrp="1"/>
          </p:cNvSpPr>
          <p:nvPr>
            <p:ph type="dt" sz="quarter" idx="12"/>
          </p:nvPr>
        </p:nvSpPr>
        <p:spPr/>
        <p:txBody>
          <a:bodyPr/>
          <a:lstStyle/>
          <a:p>
            <a:pPr>
              <a:defRPr/>
            </a:pPr>
            <a:r>
              <a:rPr lang="en-US" altLang="zh-CN"/>
              <a:t>BUPT</a:t>
            </a:r>
            <a:endParaRPr lang="en-US" altLang="zh-CN"/>
          </a:p>
        </p:txBody>
      </p:sp>
      <p:sp>
        <p:nvSpPr>
          <p:cNvPr id="27653" name="Rectangle 2"/>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单链表的删除</a:t>
            </a:r>
            <a:endParaRPr lang="zh-CN" altLang="zh-CN" sz="2800" dirty="0" smtClean="0">
              <a:ea typeface="华文楷体" panose="02010600040101010101" pitchFamily="2" charset="-122"/>
            </a:endParaRPr>
          </a:p>
        </p:txBody>
      </p:sp>
      <p:sp>
        <p:nvSpPr>
          <p:cNvPr id="155651" name="Rectangle 3"/>
          <p:cNvSpPr>
            <a:spLocks noGrp="1" noChangeArrowheads="1"/>
          </p:cNvSpPr>
          <p:nvPr>
            <p:ph type="body" idx="1"/>
          </p:nvPr>
        </p:nvSpPr>
        <p:spPr/>
        <p:txBody>
          <a:bodyPr/>
          <a:lstStyle/>
          <a:p>
            <a:pPr eaLnBrk="1" hangingPunct="1">
              <a:buFont typeface="Wingdings" panose="05000000000000000000" pitchFamily="2" charset="2"/>
              <a:buNone/>
              <a:defRPr/>
            </a:pPr>
            <a:r>
              <a:rPr lang="en-US" altLang="zh-CN" sz="2400" b="1" dirty="0" smtClean="0">
                <a:solidFill>
                  <a:schemeClr val="accent2"/>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2400" b="1" dirty="0" smtClean="0">
                <a:solidFill>
                  <a:schemeClr val="accent2"/>
                </a:solidFill>
                <a:effectLst>
                  <a:outerShdw blurRad="38100" dist="38100" dir="2700000" algn="tl">
                    <a:srgbClr val="C0C0C0"/>
                  </a:outerShdw>
                </a:effectLst>
                <a:latin typeface="华文楷体" panose="02010600040101010101" pitchFamily="2" charset="-122"/>
                <a:ea typeface="华文楷体" panose="02010600040101010101" pitchFamily="2" charset="-122"/>
              </a:rPr>
              <a:t>删除</a:t>
            </a:r>
            <a:r>
              <a:rPr lang="en-US" altLang="zh-CN" sz="2400" b="1" dirty="0" smtClean="0">
                <a:solidFill>
                  <a:schemeClr val="accent2"/>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endParaRPr lang="en-US" altLang="zh-CN" sz="2400" b="1" dirty="0" smtClean="0">
              <a:solidFill>
                <a:schemeClr val="accent2"/>
              </a:solidFill>
              <a:effectLst>
                <a:outerShdw blurRad="38100" dist="38100" dir="2700000" algn="tl">
                  <a:srgbClr val="C0C0C0"/>
                </a:outerShdw>
              </a:effectLst>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defRPr/>
            </a:pPr>
            <a:endParaRPr lang="en-US" altLang="zh-CN" sz="2400" b="1" dirty="0" smtClean="0">
              <a:solidFill>
                <a:schemeClr val="accent2"/>
              </a:solidFill>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sp>
        <p:nvSpPr>
          <p:cNvPr id="155652" name="Rectangle 4"/>
          <p:cNvSpPr>
            <a:spLocks noChangeArrowheads="1"/>
          </p:cNvSpPr>
          <p:nvPr/>
        </p:nvSpPr>
        <p:spPr bwMode="auto">
          <a:xfrm>
            <a:off x="1042988" y="1779588"/>
            <a:ext cx="6121400" cy="833178"/>
          </a:xfrm>
          <a:prstGeom prst="rect">
            <a:avLst/>
          </a:prstGeom>
          <a:noFill/>
          <a:ln w="25400" algn="ctr">
            <a:noFill/>
            <a:miter lim="800000"/>
          </a:ln>
          <a:effectLst/>
        </p:spPr>
        <p:txBody>
          <a:bodyPr lIns="90000" tIns="46800" rIns="90000" bIns="46800">
            <a:spAutoFit/>
          </a:bodyPr>
          <a:lstStyle/>
          <a:p>
            <a:pPr lvl="1" algn="ctr" eaLnBrk="1" hangingPunct="1">
              <a:defRPr/>
            </a:pPr>
            <a:r>
              <a:rPr kumimoji="1" lang="zh-CN" altLang="en-US" sz="2400" b="1" dirty="0">
                <a:solidFill>
                  <a:srgbClr val="0000FF"/>
                </a:solidFill>
                <a:effectLst>
                  <a:outerShdw blurRad="38100" dist="38100" dir="2700000" algn="tl">
                    <a:srgbClr val="C0C0C0"/>
                  </a:outerShdw>
                </a:effectLst>
                <a:latin typeface="华文楷体" panose="02010600040101010101" pitchFamily="2" charset="-122"/>
                <a:ea typeface="华文楷体" panose="02010600040101010101" pitchFamily="2" charset="-122"/>
              </a:rPr>
              <a:t>第一种情况</a:t>
            </a:r>
            <a:r>
              <a:rPr kumimoji="1" lang="en-US" altLang="zh-CN" sz="2400" b="1" dirty="0">
                <a:solidFill>
                  <a:srgbClr val="0000FF"/>
                </a:solidFill>
                <a:effectLst>
                  <a:outerShdw blurRad="38100" dist="38100" dir="2700000" algn="tl">
                    <a:srgbClr val="C0C0C0"/>
                  </a:outerShdw>
                </a:effectLst>
                <a:latin typeface="华文楷体" panose="02010600040101010101" pitchFamily="2" charset="-122"/>
                <a:ea typeface="华文楷体" panose="02010600040101010101" pitchFamily="2" charset="-122"/>
              </a:rPr>
              <a:t>: </a:t>
            </a:r>
            <a:r>
              <a:rPr kumimoji="1" lang="zh-CN" altLang="en-US" sz="2400" b="1" dirty="0">
                <a:solidFill>
                  <a:srgbClr val="0000FF"/>
                </a:solidFill>
                <a:effectLst>
                  <a:outerShdw blurRad="38100" dist="38100" dir="2700000" algn="tl">
                    <a:srgbClr val="C0C0C0"/>
                  </a:outerShdw>
                </a:effectLst>
                <a:latin typeface="华文楷体" panose="02010600040101010101" pitchFamily="2" charset="-122"/>
                <a:ea typeface="华文楷体" panose="02010600040101010101" pitchFamily="2" charset="-122"/>
              </a:rPr>
              <a:t>删除表中第一个元素</a:t>
            </a:r>
            <a:endParaRPr kumimoji="1" lang="zh-CN" altLang="en-US" sz="2400" b="1" dirty="0">
              <a:solidFill>
                <a:srgbClr val="0000FF"/>
              </a:solidFill>
              <a:effectLst>
                <a:outerShdw blurRad="38100" dist="38100" dir="2700000" algn="tl">
                  <a:srgbClr val="C0C0C0"/>
                </a:outerShdw>
              </a:effectLst>
              <a:latin typeface="华文楷体" panose="02010600040101010101" pitchFamily="2" charset="-122"/>
              <a:ea typeface="华文楷体" panose="02010600040101010101" pitchFamily="2" charset="-122"/>
            </a:endParaRPr>
          </a:p>
          <a:p>
            <a:pPr lvl="1" algn="ctr" eaLnBrk="1" hangingPunct="1">
              <a:defRPr/>
            </a:pPr>
            <a:r>
              <a:rPr kumimoji="1" lang="zh-CN" altLang="en-US" sz="2400" b="1" dirty="0">
                <a:solidFill>
                  <a:srgbClr val="0000FF"/>
                </a:solidFill>
                <a:effectLst>
                  <a:outerShdw blurRad="38100" dist="38100" dir="2700000" algn="tl">
                    <a:srgbClr val="C0C0C0"/>
                  </a:outerShdw>
                </a:effectLst>
                <a:latin typeface="华文楷体" panose="02010600040101010101" pitchFamily="2" charset="-122"/>
                <a:ea typeface="华文楷体" panose="02010600040101010101" pitchFamily="2" charset="-122"/>
              </a:rPr>
              <a:t>第二种情况</a:t>
            </a:r>
            <a:r>
              <a:rPr kumimoji="1" lang="en-US" altLang="zh-CN" sz="2400" b="1" dirty="0">
                <a:solidFill>
                  <a:srgbClr val="0000FF"/>
                </a:solidFill>
                <a:effectLst>
                  <a:outerShdw blurRad="38100" dist="38100" dir="2700000" algn="tl">
                    <a:srgbClr val="C0C0C0"/>
                  </a:outerShdw>
                </a:effectLst>
                <a:latin typeface="华文楷体" panose="02010600040101010101" pitchFamily="2" charset="-122"/>
                <a:ea typeface="华文楷体" panose="02010600040101010101" pitchFamily="2" charset="-122"/>
              </a:rPr>
              <a:t>: </a:t>
            </a:r>
            <a:r>
              <a:rPr kumimoji="1" lang="zh-CN" altLang="en-US" sz="2400" b="1" dirty="0">
                <a:solidFill>
                  <a:srgbClr val="0000FF"/>
                </a:solidFill>
                <a:effectLst>
                  <a:outerShdw blurRad="38100" dist="38100" dir="2700000" algn="tl">
                    <a:srgbClr val="C0C0C0"/>
                  </a:outerShdw>
                </a:effectLst>
                <a:latin typeface="华文楷体" panose="02010600040101010101" pitchFamily="2" charset="-122"/>
                <a:ea typeface="华文楷体" panose="02010600040101010101" pitchFamily="2" charset="-122"/>
              </a:rPr>
              <a:t>删除表中或表尾元素</a:t>
            </a:r>
            <a:endParaRPr kumimoji="1" lang="zh-CN" altLang="en-US" sz="2400" b="1" dirty="0">
              <a:solidFill>
                <a:srgbClr val="0000FF"/>
              </a:solidFill>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pic>
        <p:nvPicPr>
          <p:cNvPr id="27656"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2698750"/>
            <a:ext cx="8316913" cy="2703513"/>
          </a:xfrm>
          <a:prstGeom prst="rect">
            <a:avLst/>
          </a:prstGeom>
          <a:noFill/>
          <a:ln w="222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400050" lvl="1" indent="0">
              <a:buNone/>
            </a:pPr>
            <a:r>
              <a:rPr lang="en-US" altLang="zh-CN" sz="2400" dirty="0" smtClean="0"/>
              <a:t>void </a:t>
            </a:r>
            <a:r>
              <a:rPr lang="en-US" altLang="zh-CN" sz="2400" dirty="0" err="1" smtClean="0"/>
              <a:t>DeleteNode</a:t>
            </a:r>
            <a:r>
              <a:rPr lang="en-US" altLang="zh-CN" sz="2400" dirty="0" smtClean="0"/>
              <a:t>( List L ,Position q</a:t>
            </a:r>
            <a:r>
              <a:rPr lang="en-US" altLang="zh-CN" sz="2000" dirty="0">
                <a:ea typeface="华文楷体" panose="02010600040101010101" pitchFamily="2" charset="-122"/>
              </a:rPr>
              <a:t>)//</a:t>
            </a:r>
            <a:r>
              <a:rPr lang="zh-CN" altLang="en-US" sz="2000" dirty="0">
                <a:ea typeface="华文楷体" panose="02010600040101010101" pitchFamily="2" charset="-122"/>
              </a:rPr>
              <a:t>刪除表中元素</a:t>
            </a:r>
            <a:r>
              <a:rPr lang="en-US" altLang="zh-CN" sz="2000" dirty="0">
                <a:ea typeface="华文楷体" panose="02010600040101010101" pitchFamily="2" charset="-122"/>
              </a:rPr>
              <a:t>q</a:t>
            </a:r>
            <a:endParaRPr lang="en-US" altLang="zh-CN" sz="2000" dirty="0">
              <a:ea typeface="华文楷体" panose="02010600040101010101" pitchFamily="2" charset="-122"/>
            </a:endParaRPr>
          </a:p>
          <a:p>
            <a:pPr marL="0" indent="0">
              <a:buNone/>
            </a:pPr>
            <a:r>
              <a:rPr lang="en-US" altLang="zh-CN" sz="2400" dirty="0" smtClean="0"/>
              <a:t>{</a:t>
            </a:r>
            <a:endParaRPr lang="en-US" altLang="zh-CN" sz="2400" dirty="0" smtClean="0"/>
          </a:p>
          <a:p>
            <a:pPr marL="0" indent="0">
              <a:buNone/>
            </a:pPr>
            <a:r>
              <a:rPr lang="en-US" altLang="zh-CN" sz="2400" dirty="0" smtClean="0"/>
              <a:t>	 p=L;</a:t>
            </a:r>
            <a:endParaRPr lang="en-US" altLang="zh-CN" sz="2400" dirty="0" smtClean="0"/>
          </a:p>
          <a:p>
            <a:pPr marL="0" indent="0">
              <a:buNone/>
            </a:pPr>
            <a:r>
              <a:rPr lang="en-US" altLang="zh-CN" sz="2400" dirty="0"/>
              <a:t>	</a:t>
            </a:r>
            <a:r>
              <a:rPr lang="en-US" altLang="zh-CN" sz="2400" dirty="0" smtClean="0"/>
              <a:t> while (p-&gt;next != NULL &amp;&amp;</a:t>
            </a:r>
            <a:r>
              <a:rPr lang="en-US" altLang="zh-CN" sz="2400" dirty="0"/>
              <a:t> p-&gt;next != q</a:t>
            </a:r>
            <a:r>
              <a:rPr lang="en-US" altLang="zh-CN" sz="2400" dirty="0" smtClean="0"/>
              <a:t>)</a:t>
            </a:r>
            <a:r>
              <a:rPr lang="en-US" altLang="zh-CN" sz="2400" dirty="0"/>
              <a:t>	</a:t>
            </a:r>
            <a:endParaRPr lang="en-US" altLang="zh-CN" sz="2400" dirty="0" smtClean="0"/>
          </a:p>
          <a:p>
            <a:pPr marL="0" indent="0">
              <a:buNone/>
            </a:pPr>
            <a:r>
              <a:rPr lang="en-US" altLang="zh-CN" sz="2400" dirty="0"/>
              <a:t>	</a:t>
            </a:r>
            <a:r>
              <a:rPr lang="en-US" altLang="zh-CN" sz="2400" dirty="0" smtClean="0"/>
              <a:t>	p = p-&gt;next;</a:t>
            </a:r>
            <a:endParaRPr lang="en-US" altLang="zh-CN" sz="2400" dirty="0" smtClean="0"/>
          </a:p>
          <a:p>
            <a:pPr marL="0" indent="0">
              <a:buNone/>
            </a:pPr>
            <a:r>
              <a:rPr lang="en-US" altLang="zh-CN" sz="2400" dirty="0"/>
              <a:t>	</a:t>
            </a:r>
            <a:r>
              <a:rPr lang="en-US" altLang="zh-CN" sz="2400" dirty="0" smtClean="0"/>
              <a:t>if(</a:t>
            </a:r>
            <a:r>
              <a:rPr lang="en-US" altLang="zh-CN" sz="2400" dirty="0"/>
              <a:t>p-&gt;next </a:t>
            </a:r>
            <a:r>
              <a:rPr lang="en-US" altLang="zh-CN" sz="2400" dirty="0" smtClean="0"/>
              <a:t>== q)</a:t>
            </a:r>
            <a:endParaRPr lang="en-US" altLang="zh-CN" sz="2400" dirty="0" smtClean="0"/>
          </a:p>
          <a:p>
            <a:pPr marL="0" indent="0">
              <a:buNone/>
            </a:pPr>
            <a:r>
              <a:rPr lang="en-US" altLang="zh-CN" sz="2400" dirty="0"/>
              <a:t>	</a:t>
            </a:r>
            <a:r>
              <a:rPr lang="en-US" altLang="zh-CN" sz="2400" dirty="0" smtClean="0"/>
              <a:t>{</a:t>
            </a:r>
            <a:endParaRPr lang="en-US" altLang="zh-CN" sz="2400" dirty="0" smtClean="0"/>
          </a:p>
          <a:p>
            <a:pPr marL="0" indent="0">
              <a:buNone/>
            </a:pPr>
            <a:r>
              <a:rPr lang="en-US" altLang="zh-CN" sz="2400" dirty="0"/>
              <a:t>	</a:t>
            </a:r>
            <a:r>
              <a:rPr lang="en-US" altLang="zh-CN" sz="2400" dirty="0" smtClean="0"/>
              <a:t>	p-&gt;next = q-&gt;next;</a:t>
            </a:r>
            <a:endParaRPr lang="en-US" altLang="zh-CN" sz="2400" dirty="0" smtClean="0"/>
          </a:p>
          <a:p>
            <a:pPr marL="0" indent="0">
              <a:buNone/>
            </a:pPr>
            <a:r>
              <a:rPr lang="en-US" altLang="zh-CN" sz="2400" dirty="0"/>
              <a:t>	</a:t>
            </a:r>
            <a:r>
              <a:rPr lang="en-US" altLang="zh-CN" sz="2400" dirty="0" smtClean="0"/>
              <a:t>	free(q);</a:t>
            </a:r>
            <a:endParaRPr lang="en-US" altLang="zh-CN" sz="2400" dirty="0" smtClean="0"/>
          </a:p>
          <a:p>
            <a:pPr marL="0" indent="0">
              <a:buNone/>
            </a:pPr>
            <a:r>
              <a:rPr lang="en-US" altLang="zh-CN" sz="2400" dirty="0"/>
              <a:t>	</a:t>
            </a:r>
            <a:r>
              <a:rPr lang="en-US" altLang="zh-CN" sz="2400" dirty="0" smtClean="0"/>
              <a:t>}</a:t>
            </a:r>
            <a:endParaRPr lang="en-US" altLang="zh-CN" sz="2400" dirty="0" smtClean="0"/>
          </a:p>
          <a:p>
            <a:pPr marL="0" indent="0">
              <a:buNone/>
            </a:pPr>
            <a:r>
              <a:rPr lang="en-US" altLang="zh-CN" sz="2400" dirty="0" smtClean="0"/>
              <a:t>}</a:t>
            </a:r>
            <a:endParaRPr lang="en-US" altLang="zh-CN" sz="2400" dirty="0" smtClean="0"/>
          </a:p>
          <a:p>
            <a:pPr marL="0" indent="0">
              <a:buNone/>
            </a:pPr>
            <a:endParaRPr lang="zh-CN" altLang="en-US" sz="2400" dirty="0"/>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灯片编号占位符 4"/>
          <p:cNvSpPr>
            <a:spLocks noGrp="1"/>
          </p:cNvSpPr>
          <p:nvPr>
            <p:ph type="sldNum" sz="quarter" idx="11"/>
          </p:nvPr>
        </p:nvSpPr>
        <p:spPr/>
        <p:txBody>
          <a:bodyPr/>
          <a:lstStyle/>
          <a:p>
            <a:pPr>
              <a:defRPr/>
            </a:pPr>
            <a:fld id="{CAD162DF-A162-40AB-ADE3-1F275A8F01F8}" type="slidenum">
              <a:rPr lang="en-US" altLang="zh-CN" smtClean="0"/>
            </a:fld>
            <a:endParaRPr lang="en-US" altLang="zh-CN"/>
          </a:p>
        </p:txBody>
      </p:sp>
      <p:sp>
        <p:nvSpPr>
          <p:cNvPr id="6" name="日期占位符 5"/>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2867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EC5FA310-126A-43A7-983D-179FC67C653F}"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28677"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57699" name="Rectangle 3"/>
          <p:cNvSpPr>
            <a:spLocks noGrp="1" noChangeArrowheads="1"/>
          </p:cNvSpPr>
          <p:nvPr>
            <p:ph type="body" idx="1"/>
          </p:nvPr>
        </p:nvSpPr>
        <p:spPr/>
        <p:txBody>
          <a:bodyPr/>
          <a:lstStyle/>
          <a:p>
            <a:pPr eaLnBrk="1" hangingPunct="1">
              <a:spcBef>
                <a:spcPct val="0"/>
              </a:spcBef>
              <a:buClrTx/>
              <a:buFontTx/>
              <a:buNone/>
              <a:defRPr/>
            </a:pPr>
            <a:r>
              <a:rPr lang="en-US" altLang="zh-CN" sz="2800" b="1" dirty="0" smtClean="0">
                <a:solidFill>
                  <a:schemeClr val="accent2"/>
                </a:solidFill>
                <a:ea typeface="华文楷体" panose="02010600040101010101" pitchFamily="2" charset="-122"/>
              </a:rPr>
              <a:t>[</a:t>
            </a:r>
            <a:r>
              <a:rPr lang="zh-CN" altLang="en-US" sz="2800" b="1" dirty="0" smtClean="0">
                <a:solidFill>
                  <a:schemeClr val="accent2"/>
                </a:solidFill>
                <a:ea typeface="华文楷体" panose="02010600040101010101" pitchFamily="2" charset="-122"/>
              </a:rPr>
              <a:t>例</a:t>
            </a:r>
            <a:r>
              <a:rPr lang="en-US" altLang="zh-CN" sz="2800" b="1" dirty="0" smtClean="0">
                <a:solidFill>
                  <a:schemeClr val="accent2"/>
                </a:solidFill>
                <a:ea typeface="华文楷体" panose="02010600040101010101" pitchFamily="2" charset="-122"/>
              </a:rPr>
              <a:t>2]</a:t>
            </a:r>
            <a:r>
              <a:rPr kumimoji="1" lang="zh-CN" altLang="en-US" sz="2800" b="1" dirty="0" smtClean="0">
                <a:solidFill>
                  <a:srgbClr val="0000CC"/>
                </a:solidFill>
                <a:effectLst>
                  <a:outerShdw blurRad="38100" dist="38100" dir="2700000" algn="tl">
                    <a:srgbClr val="C0C0C0"/>
                  </a:outerShdw>
                </a:effectLst>
                <a:ea typeface="华文楷体" panose="02010600040101010101" pitchFamily="2" charset="-122"/>
              </a:rPr>
              <a:t>从带表头结点的单链表中删除第一个结点</a:t>
            </a:r>
            <a:endParaRPr kumimoji="1" lang="zh-CN" altLang="en-US" sz="2800" dirty="0" smtClean="0">
              <a:ea typeface="华文楷体" panose="02010600040101010101" pitchFamily="2" charset="-122"/>
            </a:endParaRPr>
          </a:p>
          <a:p>
            <a:pPr eaLnBrk="1" hangingPunct="1">
              <a:buFont typeface="Wingdings" panose="05000000000000000000" pitchFamily="2" charset="2"/>
              <a:buNone/>
              <a:defRPr/>
            </a:pPr>
            <a:endParaRPr lang="en-US" altLang="zh-CN" dirty="0" smtClean="0">
              <a:ea typeface="华文楷体" panose="02010600040101010101" pitchFamily="2" charset="-122"/>
            </a:endParaRPr>
          </a:p>
        </p:txBody>
      </p:sp>
      <p:pic>
        <p:nvPicPr>
          <p:cNvPr id="2867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313" y="2503488"/>
            <a:ext cx="8243887" cy="2678112"/>
          </a:xfrm>
          <a:prstGeom prst="rect">
            <a:avLst/>
          </a:prstGeom>
          <a:noFill/>
          <a:ln w="2222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2969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F04F26A0-879F-4C5D-85B5-017943E00157}"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29701" name="Rectangle 2"/>
          <p:cNvSpPr>
            <a:spLocks noGrp="1" noChangeArrowheads="1"/>
          </p:cNvSpPr>
          <p:nvPr>
            <p:ph type="title"/>
          </p:nvPr>
        </p:nvSpPr>
        <p:spPr/>
        <p:txBody>
          <a:bodyPr/>
          <a:lstStyle/>
          <a:p>
            <a:pPr algn="l" eaLnBrk="1" hangingPunct="1"/>
            <a:r>
              <a:rPr lang="zh-CN" altLang="en-US" sz="2800" dirty="0" smtClean="0">
                <a:ea typeface="华文楷体" panose="02010600040101010101" pitchFamily="2" charset="-122"/>
              </a:rPr>
              <a:t>单链表操作的综合应用</a:t>
            </a:r>
            <a:endParaRPr lang="zh-CN" altLang="zh-CN" sz="2800" dirty="0" smtClean="0">
              <a:ea typeface="华文楷体" panose="02010600040101010101" pitchFamily="2" charset="-122"/>
            </a:endParaRPr>
          </a:p>
        </p:txBody>
      </p:sp>
      <p:sp>
        <p:nvSpPr>
          <p:cNvPr id="29702"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800" b="1" dirty="0" smtClean="0">
                <a:solidFill>
                  <a:schemeClr val="accent2"/>
                </a:solidFill>
                <a:ea typeface="华文楷体" panose="02010600040101010101" pitchFamily="2" charset="-122"/>
              </a:rPr>
              <a:t>[</a:t>
            </a:r>
            <a:r>
              <a:rPr lang="zh-CN" altLang="en-US" sz="2800" b="1" dirty="0" smtClean="0">
                <a:solidFill>
                  <a:schemeClr val="accent2"/>
                </a:solidFill>
                <a:ea typeface="华文楷体" panose="02010600040101010101" pitchFamily="2" charset="-122"/>
              </a:rPr>
              <a:t>例</a:t>
            </a:r>
            <a:r>
              <a:rPr lang="en-US" altLang="zh-CN" sz="2800" b="1" dirty="0" smtClean="0">
                <a:solidFill>
                  <a:schemeClr val="accent2"/>
                </a:solidFill>
                <a:ea typeface="华文楷体" panose="02010600040101010101" pitchFamily="2" charset="-122"/>
              </a:rPr>
              <a:t>3]</a:t>
            </a:r>
            <a:r>
              <a:rPr lang="zh-CN" altLang="en-US" sz="2400" dirty="0" smtClean="0">
                <a:ea typeface="华文楷体" panose="02010600040101010101" pitchFamily="2" charset="-122"/>
              </a:rPr>
              <a:t>以下程序的功能是实现带附加头结点的单链表数据结点逆序连接，请填空完善之。</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err="1" smtClean="0">
                <a:ea typeface="华文楷体" panose="02010600040101010101" pitchFamily="2" charset="-122"/>
              </a:rPr>
              <a:t>typedef</a:t>
            </a: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struct</a:t>
            </a:r>
            <a:r>
              <a:rPr lang="en-US" altLang="zh-CN" sz="2000" dirty="0" smtClean="0">
                <a:ea typeface="华文楷体" panose="02010600040101010101" pitchFamily="2" charset="-122"/>
              </a:rPr>
              <a:t> node</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int</a:t>
            </a:r>
            <a:r>
              <a:rPr lang="en-US" altLang="zh-CN" sz="2000" dirty="0" smtClean="0">
                <a:ea typeface="华文楷体" panose="02010600040101010101" pitchFamily="2" charset="-122"/>
              </a:rPr>
              <a:t> data;  </a:t>
            </a:r>
            <a:r>
              <a:rPr lang="en-US" altLang="zh-CN" sz="2000" dirty="0" err="1" smtClean="0">
                <a:ea typeface="华文楷体" panose="02010600040101010101" pitchFamily="2" charset="-122"/>
              </a:rPr>
              <a:t>struct</a:t>
            </a:r>
            <a:r>
              <a:rPr lang="en-US" altLang="zh-CN" sz="2000" dirty="0" smtClean="0">
                <a:ea typeface="华文楷体" panose="02010600040101010101" pitchFamily="2" charset="-122"/>
              </a:rPr>
              <a:t> node *next;</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linknode</a:t>
            </a:r>
            <a:r>
              <a:rPr lang="en-US" altLang="zh-CN" sz="2000" dirty="0" smtClean="0">
                <a:ea typeface="华文楷体" panose="02010600040101010101" pitchFamily="2" charset="-122"/>
              </a:rPr>
              <a:t>,*pointer;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void reverse(pointer &amp; h)\\h</a:t>
            </a:r>
            <a:r>
              <a:rPr lang="zh-CN" altLang="en-US" sz="2000" dirty="0" smtClean="0">
                <a:ea typeface="华文楷体" panose="02010600040101010101" pitchFamily="2" charset="-122"/>
              </a:rPr>
              <a:t>为头指针</a:t>
            </a:r>
            <a:endParaRPr lang="zh-CN" altLang="en-US" sz="20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000" dirty="0" smtClean="0">
                <a:ea typeface="华文楷体" panose="02010600040101010101" pitchFamily="2" charset="-122"/>
              </a:rPr>
              <a:t> </a:t>
            </a:r>
            <a:r>
              <a:rPr lang="en-US" altLang="zh-CN" sz="2000" dirty="0" smtClean="0">
                <a:ea typeface="华文楷体" panose="02010600040101010101" pitchFamily="2" charset="-122"/>
              </a:rPr>
              <a:t>{ pointer </a:t>
            </a:r>
            <a:r>
              <a:rPr lang="en-US" altLang="zh-CN" sz="2000" dirty="0" err="1" smtClean="0">
                <a:ea typeface="华文楷体" panose="02010600040101010101" pitchFamily="2" charset="-122"/>
              </a:rPr>
              <a:t>p,q</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p=h-&gt;next;  h-&gt;next=NULL;</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while(</a:t>
            </a:r>
            <a:r>
              <a:rPr lang="en-US" altLang="zh-CN" sz="2000" u="sng" dirty="0" smtClean="0">
                <a:ea typeface="华文楷体" panose="02010600040101010101" pitchFamily="2" charset="-122"/>
              </a:rPr>
              <a:t>(1)____</a:t>
            </a:r>
            <a:r>
              <a:rPr lang="en-US" altLang="zh-CN" sz="2000" dirty="0" smtClean="0">
                <a:ea typeface="华文楷体" panose="02010600040101010101" pitchFamily="2" charset="-122"/>
              </a:rPr>
              <a:t>____)</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q=p;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p=p-&gt;next;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q-&gt;next=h-&gt;next;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h-&gt;next=</a:t>
            </a:r>
            <a:r>
              <a:rPr lang="en-US" altLang="zh-CN" sz="2000" u="sng" dirty="0" smtClean="0">
                <a:ea typeface="华文楷体" panose="02010600040101010101" pitchFamily="2" charset="-122"/>
              </a:rPr>
              <a:t>(2)__</a:t>
            </a:r>
            <a:r>
              <a:rPr lang="en-US" altLang="zh-CN" sz="2000" dirty="0" smtClean="0">
                <a:ea typeface="华文楷体" panose="02010600040101010101" pitchFamily="2" charset="-122"/>
              </a:rPr>
              <a:t>______;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p:txBody>
      </p:sp>
      <p:sp>
        <p:nvSpPr>
          <p:cNvPr id="154628" name="Rectangle 4"/>
          <p:cNvSpPr>
            <a:spLocks noChangeArrowheads="1"/>
          </p:cNvSpPr>
          <p:nvPr/>
        </p:nvSpPr>
        <p:spPr bwMode="auto">
          <a:xfrm>
            <a:off x="4356100" y="3772566"/>
            <a:ext cx="4330700" cy="1017844"/>
          </a:xfrm>
          <a:prstGeom prst="rect">
            <a:avLst/>
          </a:prstGeom>
          <a:solidFill>
            <a:srgbClr val="CCFFFF"/>
          </a:solidFill>
          <a:ln w="25400" algn="ctr">
            <a:solidFill>
              <a:schemeClr val="accent1"/>
            </a:solidFill>
            <a:miter lim="800000"/>
          </a:ln>
        </p:spPr>
        <p:txBody>
          <a:bodyPr wrap="square" lIns="90000" tIns="46800" rIns="90000" bIns="46800"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000" dirty="0">
                <a:latin typeface="华文楷体" panose="02010600040101010101" pitchFamily="2" charset="-122"/>
                <a:ea typeface="华文楷体" panose="02010600040101010101" pitchFamily="2" charset="-122"/>
              </a:rPr>
              <a:t>(1)p</a:t>
            </a:r>
            <a:r>
              <a:rPr lang="en-US" altLang="zh-CN" sz="2000" dirty="0" smtClean="0">
                <a:latin typeface="华文楷体" panose="02010600040101010101" pitchFamily="2" charset="-122"/>
                <a:ea typeface="华文楷体" panose="02010600040101010101" pitchFamily="2" charset="-122"/>
              </a:rPr>
              <a:t>!=NULL  </a:t>
            </a:r>
            <a:r>
              <a:rPr lang="en-US" altLang="zh-CN"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链表未到尾就一直作</a:t>
            </a:r>
            <a:endParaRPr lang="zh-CN" altLang="en-US" sz="2000"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en-US" altLang="zh-CN" sz="2000" dirty="0">
                <a:latin typeface="华文楷体" panose="02010600040101010101" pitchFamily="2" charset="-122"/>
                <a:ea typeface="华文楷体" panose="02010600040101010101" pitchFamily="2" charset="-122"/>
              </a:rPr>
              <a:t>(2)q      ∥</a:t>
            </a:r>
            <a:r>
              <a:rPr lang="zh-CN" altLang="en-US" sz="2000" dirty="0">
                <a:latin typeface="华文楷体" panose="02010600040101010101" pitchFamily="2" charset="-122"/>
                <a:ea typeface="华文楷体" panose="02010600040101010101" pitchFamily="2" charset="-122"/>
              </a:rPr>
              <a:t>将当前结点作为头结点</a:t>
            </a:r>
            <a:endParaRPr lang="zh-CN" altLang="en-US" sz="2000" dirty="0">
              <a:latin typeface="华文楷体" panose="02010600040101010101" pitchFamily="2" charset="-122"/>
              <a:ea typeface="华文楷体" panose="02010600040101010101" pitchFamily="2" charset="-122"/>
            </a:endParaRPr>
          </a:p>
          <a:p>
            <a:pPr eaLnBrk="1" hangingPunct="1">
              <a:spcBef>
                <a:spcPct val="0"/>
              </a:spcBef>
              <a:buClrTx/>
              <a:buFontTx/>
              <a:buNone/>
            </a:pPr>
            <a:r>
              <a:rPr lang="zh-CN" altLang="en-US" sz="2000" dirty="0">
                <a:latin typeface="华文楷体" panose="02010600040101010101" pitchFamily="2" charset="-122"/>
                <a:ea typeface="华文楷体" panose="02010600040101010101" pitchFamily="2" charset="-122"/>
              </a:rPr>
              <a:t>               后的第一元素结点插入  </a:t>
            </a:r>
            <a:endParaRPr lang="zh-CN" altLang="en-US" sz="20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4628"/>
                                        </p:tgtEl>
                                        <p:attrNameLst>
                                          <p:attrName>style.visibility</p:attrName>
                                        </p:attrNameLst>
                                      </p:cBhvr>
                                      <p:to>
                                        <p:strVal val="visible"/>
                                      </p:to>
                                    </p:set>
                                    <p:animEffect transition="in" filter="box(in)">
                                      <p:cBhvr>
                                        <p:cTn id="7" dur="500"/>
                                        <p:tgtEl>
                                          <p:spTgt spid="154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页脚占位符 3"/>
          <p:cNvSpPr>
            <a:spLocks noGrp="1"/>
          </p:cNvSpPr>
          <p:nvPr>
            <p:ph type="ftr" sz="quarter" idx="10"/>
          </p:nvPr>
        </p:nvSpPr>
        <p:spPr/>
        <p:txBody>
          <a:bodyPr/>
          <a:lstStyle/>
          <a:p>
            <a:pPr>
              <a:defRPr/>
            </a:pPr>
            <a:r>
              <a:rPr lang="en-US" altLang="zh-CN"/>
              <a:t>BUPT SCST</a:t>
            </a:r>
            <a:endParaRPr lang="en-US" altLang="zh-CN"/>
          </a:p>
        </p:txBody>
      </p:sp>
      <p:sp>
        <p:nvSpPr>
          <p:cNvPr id="3072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57DE5E08-76FA-404B-B01D-C59ED00F6051}"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1" name="日期占位符 5"/>
          <p:cNvSpPr>
            <a:spLocks noGrp="1"/>
          </p:cNvSpPr>
          <p:nvPr>
            <p:ph type="dt" sz="quarter" idx="12"/>
          </p:nvPr>
        </p:nvSpPr>
        <p:spPr/>
        <p:txBody>
          <a:bodyPr/>
          <a:lstStyle/>
          <a:p>
            <a:pPr>
              <a:defRPr/>
            </a:pPr>
            <a:r>
              <a:rPr lang="en-US" altLang="zh-CN"/>
              <a:t>BUPT</a:t>
            </a:r>
            <a:endParaRPr lang="en-US" altLang="zh-CN"/>
          </a:p>
        </p:txBody>
      </p:sp>
      <p:sp>
        <p:nvSpPr>
          <p:cNvPr id="30725" name="Rectangle 2"/>
          <p:cNvSpPr>
            <a:spLocks noGrp="1" noChangeArrowheads="1"/>
          </p:cNvSpPr>
          <p:nvPr>
            <p:ph type="title"/>
          </p:nvPr>
        </p:nvSpPr>
        <p:spPr>
          <a:xfrm>
            <a:off x="304800" y="152400"/>
            <a:ext cx="8458200" cy="376238"/>
          </a:xfrm>
        </p:spPr>
        <p:txBody>
          <a:bodyPr/>
          <a:lstStyle/>
          <a:p>
            <a:pPr algn="l" eaLnBrk="1" hangingPunct="1"/>
            <a:r>
              <a:rPr lang="en-US" altLang="zh-CN" dirty="0" smtClean="0">
                <a:ea typeface="华文楷体" panose="02010600040101010101" pitchFamily="2" charset="-122"/>
              </a:rPr>
              <a:t>2.4 </a:t>
            </a:r>
            <a:r>
              <a:rPr lang="zh-CN" altLang="en-US" dirty="0" smtClean="0">
                <a:ea typeface="华文楷体" panose="02010600040101010101" pitchFamily="2" charset="-122"/>
              </a:rPr>
              <a:t>单循环链表</a:t>
            </a:r>
            <a:endParaRPr lang="zh-CN" altLang="en-US" dirty="0" smtClean="0">
              <a:ea typeface="华文楷体" panose="02010600040101010101" pitchFamily="2" charset="-122"/>
            </a:endParaRPr>
          </a:p>
        </p:txBody>
      </p:sp>
      <p:sp>
        <p:nvSpPr>
          <p:cNvPr id="30726" name="Rectangle 3"/>
          <p:cNvSpPr>
            <a:spLocks noGrp="1" noChangeArrowheads="1"/>
          </p:cNvSpPr>
          <p:nvPr>
            <p:ph type="body" idx="1"/>
          </p:nvPr>
        </p:nvSpPr>
        <p:spPr>
          <a:xfrm>
            <a:off x="685800" y="1295400"/>
            <a:ext cx="7772400" cy="4800600"/>
          </a:xfrm>
        </p:spPr>
        <p:txBody>
          <a:bodyPr/>
          <a:lstStyle/>
          <a:p>
            <a:pPr eaLnBrk="1" hangingPunct="1">
              <a:buFont typeface="Wingdings" panose="05000000000000000000" pitchFamily="2" charset="2"/>
              <a:buNone/>
            </a:pPr>
            <a:endParaRPr lang="en-US" altLang="zh-CN" dirty="0" smtClean="0">
              <a:ea typeface="华文楷体" panose="02010600040101010101" pitchFamily="2" charset="-122"/>
            </a:endParaRPr>
          </a:p>
          <a:p>
            <a:pPr eaLnBrk="1" hangingPunct="1">
              <a:buFont typeface="Wingdings" panose="05000000000000000000" pitchFamily="2" charset="2"/>
              <a:buNone/>
            </a:pPr>
            <a:r>
              <a:rPr lang="en-US" altLang="zh-CN" dirty="0" smtClean="0">
                <a:ea typeface="华文楷体" panose="02010600040101010101" pitchFamily="2" charset="-122"/>
              </a:rPr>
              <a:t>                   a</a:t>
            </a:r>
            <a:r>
              <a:rPr lang="en-US" altLang="zh-CN" baseline="-25000" dirty="0" smtClean="0">
                <a:ea typeface="华文楷体" panose="02010600040101010101" pitchFamily="2" charset="-122"/>
              </a:rPr>
              <a:t>0               </a:t>
            </a:r>
            <a:r>
              <a:rPr lang="en-US" altLang="zh-CN" dirty="0" smtClean="0">
                <a:ea typeface="华文楷体" panose="02010600040101010101" pitchFamily="2" charset="-122"/>
              </a:rPr>
              <a:t>a</a:t>
            </a:r>
            <a:r>
              <a:rPr lang="en-US" altLang="zh-CN" baseline="-25000" dirty="0" smtClean="0">
                <a:ea typeface="华文楷体" panose="02010600040101010101" pitchFamily="2" charset="-122"/>
              </a:rPr>
              <a:t>1</a:t>
            </a:r>
            <a:r>
              <a:rPr lang="en-US" altLang="zh-CN" dirty="0" smtClean="0">
                <a:ea typeface="华文楷体" panose="02010600040101010101" pitchFamily="2" charset="-122"/>
              </a:rPr>
              <a:t>                   a</a:t>
            </a:r>
            <a:r>
              <a:rPr lang="en-US" altLang="zh-CN" baseline="-25000" dirty="0" smtClean="0">
                <a:ea typeface="华文楷体" panose="02010600040101010101" pitchFamily="2" charset="-122"/>
              </a:rPr>
              <a:t>n-1</a:t>
            </a:r>
            <a:endParaRPr lang="en-US" altLang="zh-CN" baseline="-25000" dirty="0" smtClean="0">
              <a:ea typeface="华文楷体" panose="02010600040101010101" pitchFamily="2" charset="-122"/>
            </a:endParaRPr>
          </a:p>
          <a:p>
            <a:pPr eaLnBrk="1" hangingPunct="1">
              <a:buFont typeface="Wingdings" panose="05000000000000000000" pitchFamily="2" charset="2"/>
              <a:buNone/>
            </a:pPr>
            <a:endParaRPr lang="en-US" altLang="zh-CN" baseline="-25000" dirty="0" smtClean="0">
              <a:ea typeface="华文楷体" panose="02010600040101010101" pitchFamily="2" charset="-122"/>
            </a:endParaRPr>
          </a:p>
          <a:p>
            <a:pPr eaLnBrk="1" hangingPunct="1">
              <a:buFont typeface="Wingdings" panose="05000000000000000000" pitchFamily="2" charset="2"/>
              <a:buNone/>
            </a:pPr>
            <a:endParaRPr lang="en-US" altLang="zh-CN" baseline="-25000" dirty="0" smtClean="0">
              <a:ea typeface="华文楷体" panose="02010600040101010101" pitchFamily="2" charset="-122"/>
            </a:endParaRPr>
          </a:p>
          <a:p>
            <a:pPr eaLnBrk="1" hangingPunct="1">
              <a:buFont typeface="Wingdings" panose="05000000000000000000" pitchFamily="2" charset="2"/>
              <a:buNone/>
            </a:pPr>
            <a:r>
              <a:rPr lang="en-US" altLang="zh-CN" baseline="-25000" dirty="0" smtClean="0">
                <a:ea typeface="华文楷体" panose="02010600040101010101" pitchFamily="2" charset="-122"/>
              </a:rPr>
              <a:t>                           </a:t>
            </a:r>
            <a:r>
              <a:rPr lang="en-US" altLang="zh-CN" dirty="0" smtClean="0">
                <a:ea typeface="华文楷体" panose="02010600040101010101" pitchFamily="2" charset="-122"/>
              </a:rPr>
              <a:t>a</a:t>
            </a:r>
            <a:r>
              <a:rPr lang="en-US" altLang="zh-CN" baseline="-25000" dirty="0" smtClean="0">
                <a:ea typeface="华文楷体" panose="02010600040101010101" pitchFamily="2" charset="-122"/>
              </a:rPr>
              <a:t>0                 </a:t>
            </a:r>
            <a:r>
              <a:rPr lang="en-US" altLang="zh-CN" dirty="0" smtClean="0">
                <a:ea typeface="华文楷体" panose="02010600040101010101" pitchFamily="2" charset="-122"/>
              </a:rPr>
              <a:t>a</a:t>
            </a:r>
            <a:r>
              <a:rPr lang="en-US" altLang="zh-CN" baseline="-25000" dirty="0" smtClean="0">
                <a:ea typeface="华文楷体" panose="02010600040101010101" pitchFamily="2" charset="-122"/>
              </a:rPr>
              <a:t>1</a:t>
            </a:r>
            <a:r>
              <a:rPr lang="en-US" altLang="zh-CN" dirty="0" smtClean="0">
                <a:ea typeface="华文楷体" panose="02010600040101010101" pitchFamily="2" charset="-122"/>
              </a:rPr>
              <a:t>                   a</a:t>
            </a:r>
            <a:r>
              <a:rPr lang="en-US" altLang="zh-CN" baseline="-25000" dirty="0" smtClean="0">
                <a:ea typeface="华文楷体" panose="02010600040101010101" pitchFamily="2" charset="-122"/>
              </a:rPr>
              <a:t>n-1</a:t>
            </a:r>
            <a:endParaRPr lang="en-US" altLang="zh-CN" dirty="0" smtClean="0">
              <a:ea typeface="华文楷体" panose="02010600040101010101" pitchFamily="2" charset="-122"/>
            </a:endParaRPr>
          </a:p>
        </p:txBody>
      </p:sp>
      <p:sp>
        <p:nvSpPr>
          <p:cNvPr id="30727" name="Rectangle 4"/>
          <p:cNvSpPr>
            <a:spLocks noChangeArrowheads="1"/>
          </p:cNvSpPr>
          <p:nvPr/>
        </p:nvSpPr>
        <p:spPr bwMode="auto">
          <a:xfrm>
            <a:off x="2667000" y="1981200"/>
            <a:ext cx="762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728" name="Rectangle 5"/>
          <p:cNvSpPr>
            <a:spLocks noChangeArrowheads="1"/>
          </p:cNvSpPr>
          <p:nvPr/>
        </p:nvSpPr>
        <p:spPr bwMode="auto">
          <a:xfrm>
            <a:off x="4038600" y="1981200"/>
            <a:ext cx="8382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729" name="Rectangle 6"/>
          <p:cNvSpPr>
            <a:spLocks noChangeArrowheads="1"/>
          </p:cNvSpPr>
          <p:nvPr/>
        </p:nvSpPr>
        <p:spPr bwMode="auto">
          <a:xfrm>
            <a:off x="6324600" y="1981200"/>
            <a:ext cx="8382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730" name="Rectangle 7"/>
          <p:cNvSpPr>
            <a:spLocks noChangeArrowheads="1"/>
          </p:cNvSpPr>
          <p:nvPr/>
        </p:nvSpPr>
        <p:spPr bwMode="auto">
          <a:xfrm>
            <a:off x="1447800" y="1981200"/>
            <a:ext cx="8382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731" name="Line 9"/>
          <p:cNvSpPr>
            <a:spLocks noChangeShapeType="1"/>
          </p:cNvSpPr>
          <p:nvPr/>
        </p:nvSpPr>
        <p:spPr bwMode="auto">
          <a:xfrm>
            <a:off x="3200400" y="1981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32" name="Line 10"/>
          <p:cNvSpPr>
            <a:spLocks noChangeShapeType="1"/>
          </p:cNvSpPr>
          <p:nvPr/>
        </p:nvSpPr>
        <p:spPr bwMode="auto">
          <a:xfrm>
            <a:off x="4572000" y="1981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33" name="Line 11"/>
          <p:cNvSpPr>
            <a:spLocks noChangeShapeType="1"/>
          </p:cNvSpPr>
          <p:nvPr/>
        </p:nvSpPr>
        <p:spPr bwMode="auto">
          <a:xfrm>
            <a:off x="6858000" y="1981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34" name="Line 12"/>
          <p:cNvSpPr>
            <a:spLocks noChangeShapeType="1"/>
          </p:cNvSpPr>
          <p:nvPr/>
        </p:nvSpPr>
        <p:spPr bwMode="auto">
          <a:xfrm>
            <a:off x="2133600" y="2209800"/>
            <a:ext cx="45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35" name="Line 13"/>
          <p:cNvSpPr>
            <a:spLocks noChangeShapeType="1"/>
          </p:cNvSpPr>
          <p:nvPr/>
        </p:nvSpPr>
        <p:spPr bwMode="auto">
          <a:xfrm>
            <a:off x="3352800" y="2209800"/>
            <a:ext cx="685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36" name="Line 14"/>
          <p:cNvSpPr>
            <a:spLocks noChangeShapeType="1"/>
          </p:cNvSpPr>
          <p:nvPr/>
        </p:nvSpPr>
        <p:spPr bwMode="auto">
          <a:xfrm>
            <a:off x="4724400" y="2209800"/>
            <a:ext cx="304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37" name="Line 15"/>
          <p:cNvSpPr>
            <a:spLocks noChangeShapeType="1"/>
          </p:cNvSpPr>
          <p:nvPr/>
        </p:nvSpPr>
        <p:spPr bwMode="auto">
          <a:xfrm>
            <a:off x="5943600" y="2209800"/>
            <a:ext cx="38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38" name="Line 16"/>
          <p:cNvSpPr>
            <a:spLocks noChangeShapeType="1"/>
          </p:cNvSpPr>
          <p:nvPr/>
        </p:nvSpPr>
        <p:spPr bwMode="auto">
          <a:xfrm>
            <a:off x="5105400" y="2209800"/>
            <a:ext cx="685800" cy="0"/>
          </a:xfrm>
          <a:prstGeom prst="line">
            <a:avLst/>
          </a:prstGeom>
          <a:noFill/>
          <a:ln w="9525"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39" name="Line 17"/>
          <p:cNvSpPr>
            <a:spLocks noChangeShapeType="1"/>
          </p:cNvSpPr>
          <p:nvPr/>
        </p:nvSpPr>
        <p:spPr bwMode="auto">
          <a:xfrm>
            <a:off x="7010400" y="2286000"/>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40" name="Line 18"/>
          <p:cNvSpPr>
            <a:spLocks noChangeShapeType="1"/>
          </p:cNvSpPr>
          <p:nvPr/>
        </p:nvSpPr>
        <p:spPr bwMode="auto">
          <a:xfrm flipV="1">
            <a:off x="7467600" y="1676400"/>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41" name="Line 19"/>
          <p:cNvSpPr>
            <a:spLocks noChangeShapeType="1"/>
          </p:cNvSpPr>
          <p:nvPr/>
        </p:nvSpPr>
        <p:spPr bwMode="auto">
          <a:xfrm flipH="1">
            <a:off x="914400" y="1676400"/>
            <a:ext cx="6553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42" name="Line 20"/>
          <p:cNvSpPr>
            <a:spLocks noChangeShapeType="1"/>
          </p:cNvSpPr>
          <p:nvPr/>
        </p:nvSpPr>
        <p:spPr bwMode="auto">
          <a:xfrm>
            <a:off x="914400" y="16764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43" name="Line 21"/>
          <p:cNvSpPr>
            <a:spLocks noChangeShapeType="1"/>
          </p:cNvSpPr>
          <p:nvPr/>
        </p:nvSpPr>
        <p:spPr bwMode="auto">
          <a:xfrm>
            <a:off x="914400" y="2209800"/>
            <a:ext cx="45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44" name="Text Box 31"/>
          <p:cNvSpPr txBox="1">
            <a:spLocks noChangeArrowheads="1"/>
          </p:cNvSpPr>
          <p:nvPr/>
        </p:nvSpPr>
        <p:spPr bwMode="auto">
          <a:xfrm>
            <a:off x="1295400" y="2438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b="1" dirty="0">
                <a:solidFill>
                  <a:srgbClr val="FF3300"/>
                </a:solidFill>
                <a:latin typeface="华文楷体" panose="02010600040101010101" pitchFamily="2" charset="-122"/>
                <a:ea typeface="华文楷体" panose="02010600040101010101" pitchFamily="2" charset="-122"/>
              </a:rPr>
              <a:t>H</a:t>
            </a:r>
            <a:endParaRPr kumimoji="1" lang="en-US" altLang="zh-CN" sz="2400" dirty="0">
              <a:latin typeface="华文楷体" panose="02010600040101010101" pitchFamily="2" charset="-122"/>
              <a:ea typeface="华文楷体" panose="02010600040101010101" pitchFamily="2" charset="-122"/>
            </a:endParaRPr>
          </a:p>
        </p:txBody>
      </p:sp>
      <p:sp>
        <p:nvSpPr>
          <p:cNvPr id="30745" name="Rectangle 32"/>
          <p:cNvSpPr>
            <a:spLocks noChangeArrowheads="1"/>
          </p:cNvSpPr>
          <p:nvPr/>
        </p:nvSpPr>
        <p:spPr bwMode="auto">
          <a:xfrm>
            <a:off x="2590800" y="3352800"/>
            <a:ext cx="9906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746" name="Rectangle 33"/>
          <p:cNvSpPr>
            <a:spLocks noChangeArrowheads="1"/>
          </p:cNvSpPr>
          <p:nvPr/>
        </p:nvSpPr>
        <p:spPr bwMode="auto">
          <a:xfrm>
            <a:off x="4038600" y="3352800"/>
            <a:ext cx="10668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747" name="Rectangle 34"/>
          <p:cNvSpPr>
            <a:spLocks noChangeArrowheads="1"/>
          </p:cNvSpPr>
          <p:nvPr/>
        </p:nvSpPr>
        <p:spPr bwMode="auto">
          <a:xfrm>
            <a:off x="6324600" y="3352800"/>
            <a:ext cx="9906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748" name="Rectangle 35"/>
          <p:cNvSpPr>
            <a:spLocks noChangeArrowheads="1"/>
          </p:cNvSpPr>
          <p:nvPr/>
        </p:nvSpPr>
        <p:spPr bwMode="auto">
          <a:xfrm>
            <a:off x="1295400" y="3352800"/>
            <a:ext cx="8382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749" name="Line 37"/>
          <p:cNvSpPr>
            <a:spLocks noChangeShapeType="1"/>
          </p:cNvSpPr>
          <p:nvPr/>
        </p:nvSpPr>
        <p:spPr bwMode="auto">
          <a:xfrm>
            <a:off x="3200400" y="3352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50" name="Line 38"/>
          <p:cNvSpPr>
            <a:spLocks noChangeShapeType="1"/>
          </p:cNvSpPr>
          <p:nvPr/>
        </p:nvSpPr>
        <p:spPr bwMode="auto">
          <a:xfrm>
            <a:off x="4724400" y="3352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51" name="Line 39"/>
          <p:cNvSpPr>
            <a:spLocks noChangeShapeType="1"/>
          </p:cNvSpPr>
          <p:nvPr/>
        </p:nvSpPr>
        <p:spPr bwMode="auto">
          <a:xfrm>
            <a:off x="6934200" y="3352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52" name="Line 40"/>
          <p:cNvSpPr>
            <a:spLocks noChangeShapeType="1"/>
          </p:cNvSpPr>
          <p:nvPr/>
        </p:nvSpPr>
        <p:spPr bwMode="auto">
          <a:xfrm>
            <a:off x="1981200" y="3581400"/>
            <a:ext cx="609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53" name="Line 41"/>
          <p:cNvSpPr>
            <a:spLocks noChangeShapeType="1"/>
          </p:cNvSpPr>
          <p:nvPr/>
        </p:nvSpPr>
        <p:spPr bwMode="auto">
          <a:xfrm>
            <a:off x="3429000" y="3581400"/>
            <a:ext cx="609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54" name="Line 42"/>
          <p:cNvSpPr>
            <a:spLocks noChangeShapeType="1"/>
          </p:cNvSpPr>
          <p:nvPr/>
        </p:nvSpPr>
        <p:spPr bwMode="auto">
          <a:xfrm>
            <a:off x="5029200" y="3581400"/>
            <a:ext cx="38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55" name="Line 43"/>
          <p:cNvSpPr>
            <a:spLocks noChangeShapeType="1"/>
          </p:cNvSpPr>
          <p:nvPr/>
        </p:nvSpPr>
        <p:spPr bwMode="auto">
          <a:xfrm>
            <a:off x="5943600" y="3581400"/>
            <a:ext cx="304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56" name="Line 44"/>
          <p:cNvSpPr>
            <a:spLocks noChangeShapeType="1"/>
          </p:cNvSpPr>
          <p:nvPr/>
        </p:nvSpPr>
        <p:spPr bwMode="auto">
          <a:xfrm>
            <a:off x="5562600" y="3581400"/>
            <a:ext cx="381000" cy="0"/>
          </a:xfrm>
          <a:prstGeom prst="line">
            <a:avLst/>
          </a:prstGeom>
          <a:noFill/>
          <a:ln w="9525"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57" name="Line 45"/>
          <p:cNvSpPr>
            <a:spLocks noChangeShapeType="1"/>
          </p:cNvSpPr>
          <p:nvPr/>
        </p:nvSpPr>
        <p:spPr bwMode="auto">
          <a:xfrm>
            <a:off x="7162800" y="3581400"/>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58" name="Line 46"/>
          <p:cNvSpPr>
            <a:spLocks noChangeShapeType="1"/>
          </p:cNvSpPr>
          <p:nvPr/>
        </p:nvSpPr>
        <p:spPr bwMode="auto">
          <a:xfrm flipV="1">
            <a:off x="7620000" y="31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59" name="Line 47"/>
          <p:cNvSpPr>
            <a:spLocks noChangeShapeType="1"/>
          </p:cNvSpPr>
          <p:nvPr/>
        </p:nvSpPr>
        <p:spPr bwMode="auto">
          <a:xfrm flipH="1">
            <a:off x="914400" y="3124200"/>
            <a:ext cx="6705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60" name="Line 48"/>
          <p:cNvSpPr>
            <a:spLocks noChangeShapeType="1"/>
          </p:cNvSpPr>
          <p:nvPr/>
        </p:nvSpPr>
        <p:spPr bwMode="auto">
          <a:xfrm>
            <a:off x="914400" y="31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61" name="Line 49"/>
          <p:cNvSpPr>
            <a:spLocks noChangeShapeType="1"/>
          </p:cNvSpPr>
          <p:nvPr/>
        </p:nvSpPr>
        <p:spPr bwMode="auto">
          <a:xfrm>
            <a:off x="914400" y="3581400"/>
            <a:ext cx="38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62" name="Text Box 50"/>
          <p:cNvSpPr txBox="1">
            <a:spLocks noChangeArrowheads="1"/>
          </p:cNvSpPr>
          <p:nvPr/>
        </p:nvSpPr>
        <p:spPr bwMode="auto">
          <a:xfrm>
            <a:off x="6019800" y="38862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b="1" dirty="0">
                <a:solidFill>
                  <a:srgbClr val="FF3300"/>
                </a:solidFill>
                <a:latin typeface="华文楷体" panose="02010600040101010101" pitchFamily="2" charset="-122"/>
                <a:ea typeface="华文楷体" panose="02010600040101010101" pitchFamily="2" charset="-122"/>
              </a:rPr>
              <a:t>R</a:t>
            </a:r>
            <a:endParaRPr kumimoji="1" lang="en-US" altLang="zh-CN" sz="2400" dirty="0">
              <a:latin typeface="华文楷体" panose="02010600040101010101" pitchFamily="2" charset="-122"/>
              <a:ea typeface="华文楷体" panose="02010600040101010101" pitchFamily="2" charset="-122"/>
            </a:endParaRPr>
          </a:p>
        </p:txBody>
      </p:sp>
      <p:sp>
        <p:nvSpPr>
          <p:cNvPr id="30763" name="Line 51"/>
          <p:cNvSpPr>
            <a:spLocks noChangeShapeType="1"/>
          </p:cNvSpPr>
          <p:nvPr/>
        </p:nvSpPr>
        <p:spPr bwMode="auto">
          <a:xfrm>
            <a:off x="6324600" y="4114800"/>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64" name="Line 52"/>
          <p:cNvSpPr>
            <a:spLocks noChangeShapeType="1"/>
          </p:cNvSpPr>
          <p:nvPr/>
        </p:nvSpPr>
        <p:spPr bwMode="auto">
          <a:xfrm flipV="1">
            <a:off x="6781800" y="3810000"/>
            <a:ext cx="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65" name="Line 54"/>
          <p:cNvSpPr>
            <a:spLocks noChangeShapeType="1"/>
          </p:cNvSpPr>
          <p:nvPr/>
        </p:nvSpPr>
        <p:spPr bwMode="auto">
          <a:xfrm>
            <a:off x="1676400" y="2667000"/>
            <a:ext cx="304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66" name="Line 55"/>
          <p:cNvSpPr>
            <a:spLocks noChangeShapeType="1"/>
          </p:cNvSpPr>
          <p:nvPr/>
        </p:nvSpPr>
        <p:spPr bwMode="auto">
          <a:xfrm flipV="1">
            <a:off x="1981200" y="2438400"/>
            <a:ext cx="0" cy="228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67" name="Rectangle 56"/>
          <p:cNvSpPr>
            <a:spLocks noChangeArrowheads="1"/>
          </p:cNvSpPr>
          <p:nvPr/>
        </p:nvSpPr>
        <p:spPr bwMode="auto">
          <a:xfrm>
            <a:off x="3429000" y="4572000"/>
            <a:ext cx="9144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768" name="Line 58"/>
          <p:cNvSpPr>
            <a:spLocks noChangeShapeType="1"/>
          </p:cNvSpPr>
          <p:nvPr/>
        </p:nvSpPr>
        <p:spPr bwMode="auto">
          <a:xfrm>
            <a:off x="4267200" y="4800600"/>
            <a:ext cx="609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69" name="Line 59"/>
          <p:cNvSpPr>
            <a:spLocks noChangeShapeType="1"/>
          </p:cNvSpPr>
          <p:nvPr/>
        </p:nvSpPr>
        <p:spPr bwMode="auto">
          <a:xfrm flipV="1">
            <a:off x="4876800" y="4191000"/>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70" name="Line 60"/>
          <p:cNvSpPr>
            <a:spLocks noChangeShapeType="1"/>
          </p:cNvSpPr>
          <p:nvPr/>
        </p:nvSpPr>
        <p:spPr bwMode="auto">
          <a:xfrm flipH="1">
            <a:off x="2971800" y="4191000"/>
            <a:ext cx="1905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71" name="Line 61"/>
          <p:cNvSpPr>
            <a:spLocks noChangeShapeType="1"/>
          </p:cNvSpPr>
          <p:nvPr/>
        </p:nvSpPr>
        <p:spPr bwMode="auto">
          <a:xfrm>
            <a:off x="2971800" y="4191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72" name="Line 62"/>
          <p:cNvSpPr>
            <a:spLocks noChangeShapeType="1"/>
          </p:cNvSpPr>
          <p:nvPr/>
        </p:nvSpPr>
        <p:spPr bwMode="auto">
          <a:xfrm>
            <a:off x="2971800" y="4724400"/>
            <a:ext cx="45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73" name="Text Box 63"/>
          <p:cNvSpPr txBox="1">
            <a:spLocks noChangeArrowheads="1"/>
          </p:cNvSpPr>
          <p:nvPr/>
        </p:nvSpPr>
        <p:spPr bwMode="auto">
          <a:xfrm>
            <a:off x="2819400" y="5105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H</a:t>
            </a:r>
            <a:endParaRPr kumimoji="1" lang="en-US" altLang="zh-CN" sz="2400" dirty="0">
              <a:latin typeface="华文楷体" panose="02010600040101010101" pitchFamily="2" charset="-122"/>
              <a:ea typeface="华文楷体" panose="02010600040101010101" pitchFamily="2" charset="-122"/>
            </a:endParaRPr>
          </a:p>
        </p:txBody>
      </p:sp>
      <p:sp>
        <p:nvSpPr>
          <p:cNvPr id="30774" name="Line 64"/>
          <p:cNvSpPr>
            <a:spLocks noChangeShapeType="1"/>
          </p:cNvSpPr>
          <p:nvPr/>
        </p:nvSpPr>
        <p:spPr bwMode="auto">
          <a:xfrm>
            <a:off x="3124200" y="5334000"/>
            <a:ext cx="762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75" name="Line 66"/>
          <p:cNvSpPr>
            <a:spLocks noChangeShapeType="1"/>
          </p:cNvSpPr>
          <p:nvPr/>
        </p:nvSpPr>
        <p:spPr bwMode="auto">
          <a:xfrm flipV="1">
            <a:off x="3886200" y="5029200"/>
            <a:ext cx="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0776" name="Text Box 73"/>
          <p:cNvSpPr txBox="1">
            <a:spLocks noChangeArrowheads="1"/>
          </p:cNvSpPr>
          <p:nvPr/>
        </p:nvSpPr>
        <p:spPr bwMode="auto">
          <a:xfrm>
            <a:off x="990600" y="41910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400" dirty="0">
                <a:latin typeface="华文楷体" panose="02010600040101010101" pitchFamily="2" charset="-122"/>
                <a:ea typeface="华文楷体" panose="02010600040101010101" pitchFamily="2" charset="-122"/>
              </a:rPr>
              <a:t>空循环链表</a:t>
            </a:r>
            <a:endParaRPr kumimoji="1" lang="zh-CN" altLang="en-US" sz="2400" dirty="0">
              <a:latin typeface="华文楷体" panose="02010600040101010101" pitchFamily="2" charset="-122"/>
              <a:ea typeface="华文楷体" panose="02010600040101010101" pitchFamily="2" charset="-122"/>
            </a:endParaRPr>
          </a:p>
        </p:txBody>
      </p:sp>
      <p:sp>
        <p:nvSpPr>
          <p:cNvPr id="30777" name="Text Box 74"/>
          <p:cNvSpPr txBox="1">
            <a:spLocks noChangeArrowheads="1"/>
          </p:cNvSpPr>
          <p:nvPr/>
        </p:nvSpPr>
        <p:spPr bwMode="auto">
          <a:xfrm>
            <a:off x="5334000" y="48768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H-&gt;next==H</a:t>
            </a:r>
            <a:endParaRPr kumimoji="1" lang="en-US" altLang="zh-CN" sz="2400" dirty="0">
              <a:latin typeface="华文楷体" panose="02010600040101010101" pitchFamily="2" charset="-122"/>
              <a:ea typeface="华文楷体" panose="02010600040101010101" pitchFamily="2" charset="-122"/>
            </a:endParaRPr>
          </a:p>
        </p:txBody>
      </p:sp>
      <p:sp>
        <p:nvSpPr>
          <p:cNvPr id="30778" name="Rectangle 75" descr="浅色上对角线"/>
          <p:cNvSpPr>
            <a:spLocks noChangeArrowheads="1"/>
          </p:cNvSpPr>
          <p:nvPr/>
        </p:nvSpPr>
        <p:spPr bwMode="auto">
          <a:xfrm>
            <a:off x="1447800" y="1981200"/>
            <a:ext cx="533400" cy="457200"/>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779" name="Rectangle 76" descr="浅色上对角线"/>
          <p:cNvSpPr>
            <a:spLocks noChangeArrowheads="1"/>
          </p:cNvSpPr>
          <p:nvPr/>
        </p:nvSpPr>
        <p:spPr bwMode="auto">
          <a:xfrm>
            <a:off x="1295400" y="3352800"/>
            <a:ext cx="533400" cy="457200"/>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780" name="Rectangle 78" descr="浅色上对角线"/>
          <p:cNvSpPr>
            <a:spLocks noChangeArrowheads="1"/>
          </p:cNvSpPr>
          <p:nvPr/>
        </p:nvSpPr>
        <p:spPr bwMode="auto">
          <a:xfrm>
            <a:off x="3429000" y="4572000"/>
            <a:ext cx="533400" cy="457200"/>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0781" name="Text Box 79"/>
          <p:cNvSpPr txBox="1">
            <a:spLocks noChangeArrowheads="1"/>
          </p:cNvSpPr>
          <p:nvPr/>
        </p:nvSpPr>
        <p:spPr bwMode="auto">
          <a:xfrm>
            <a:off x="762000" y="5486400"/>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400" dirty="0">
                <a:solidFill>
                  <a:schemeClr val="accent2"/>
                </a:solidFill>
                <a:latin typeface="华文楷体" panose="02010600040101010101" pitchFamily="2" charset="-122"/>
                <a:ea typeface="华文楷体" panose="02010600040101010101" pitchFamily="2" charset="-122"/>
              </a:rPr>
              <a:t>循环链表类型定义与单链表相同</a:t>
            </a:r>
            <a:endParaRPr kumimoji="1" lang="zh-CN" altLang="en-US" sz="24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3174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5FE32618-35B1-4E45-B929-154A392A46AB}"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31749"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1750" name="Rectangle 5"/>
          <p:cNvSpPr>
            <a:spLocks noGrp="1" noChangeArrowheads="1"/>
          </p:cNvSpPr>
          <p:nvPr>
            <p:ph type="body" idx="1"/>
          </p:nvPr>
        </p:nvSpPr>
        <p:spPr/>
        <p:txBody>
          <a:bodyPr/>
          <a:lstStyle/>
          <a:p>
            <a:pPr eaLnBrk="1" hangingPunct="1"/>
            <a:r>
              <a:rPr lang="zh-CN" altLang="en-US" sz="2400" dirty="0" smtClean="0">
                <a:ea typeface="华文楷体" panose="02010600040101010101" pitchFamily="2" charset="-122"/>
              </a:rPr>
              <a:t>在单循环链表表尾插入一个元素</a:t>
            </a:r>
            <a:endParaRPr lang="zh-CN" altLang="en-US" sz="2400" dirty="0" smtClean="0">
              <a:ea typeface="华文楷体" panose="02010600040101010101" pitchFamily="2" charset="-122"/>
            </a:endParaRPr>
          </a:p>
        </p:txBody>
      </p:sp>
      <p:pic>
        <p:nvPicPr>
          <p:cNvPr id="31751"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3068638"/>
            <a:ext cx="8229600" cy="1285875"/>
          </a:xfrm>
          <a:prstGeom prst="rect">
            <a:avLst/>
          </a:prstGeom>
          <a:noFill/>
          <a:ln w="2222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3277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81B5C948-2967-4649-9815-685192EA1F71}"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32773"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2774" name="Rectangle 3"/>
          <p:cNvSpPr>
            <a:spLocks noGrp="1" noChangeArrowheads="1"/>
          </p:cNvSpPr>
          <p:nvPr>
            <p:ph type="body" idx="1"/>
          </p:nvPr>
        </p:nvSpPr>
        <p:spPr/>
        <p:txBody>
          <a:bodyPr/>
          <a:lstStyle/>
          <a:p>
            <a:pPr eaLnBrk="1" hangingPunct="1"/>
            <a:r>
              <a:rPr lang="zh-CN" altLang="en-US" sz="2800" dirty="0" smtClean="0">
                <a:ea typeface="华文楷体" panose="02010600040101010101" pitchFamily="2" charset="-122"/>
              </a:rPr>
              <a:t>单循环链表特点</a:t>
            </a:r>
            <a:endParaRPr lang="en-US" altLang="zh-CN" sz="28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是单链表的变形。</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最后一个结点的后继指针不为 </a:t>
            </a:r>
            <a:r>
              <a:rPr lang="en-US" altLang="zh-CN" sz="2400" dirty="0" smtClean="0">
                <a:ea typeface="华文楷体" panose="02010600040101010101" pitchFamily="2" charset="-122"/>
              </a:rPr>
              <a:t>0 (NULL)</a:t>
            </a:r>
            <a:r>
              <a:rPr lang="zh-CN" altLang="en-US" sz="2400" dirty="0" smtClean="0">
                <a:ea typeface="华文楷体" panose="02010600040101010101" pitchFamily="2" charset="-122"/>
              </a:rPr>
              <a:t>，而是指向了表的前端。</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为简化操作，在单循环链表中往往加入表头结点。</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只要知道表中某一结点的地址，就可搜寻到所有其他结点的地址。</a:t>
            </a:r>
            <a:endParaRPr lang="zh-CN" altLang="en-US"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页脚占位符 3"/>
          <p:cNvSpPr>
            <a:spLocks noGrp="1"/>
          </p:cNvSpPr>
          <p:nvPr>
            <p:ph type="ftr" sz="quarter" idx="10"/>
          </p:nvPr>
        </p:nvSpPr>
        <p:spPr/>
        <p:txBody>
          <a:bodyPr/>
          <a:lstStyle/>
          <a:p>
            <a:pPr>
              <a:defRPr/>
            </a:pPr>
            <a:r>
              <a:rPr lang="en-US" altLang="zh-CN"/>
              <a:t>BUPT SCST</a:t>
            </a:r>
            <a:endParaRPr lang="en-US" altLang="zh-CN"/>
          </a:p>
        </p:txBody>
      </p:sp>
      <p:sp>
        <p:nvSpPr>
          <p:cNvPr id="3379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EDD5B604-345D-4676-A876-3AD7BD329D76}"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55" name="日期占位符 5"/>
          <p:cNvSpPr>
            <a:spLocks noGrp="1"/>
          </p:cNvSpPr>
          <p:nvPr>
            <p:ph type="dt" sz="quarter" idx="12"/>
          </p:nvPr>
        </p:nvSpPr>
        <p:spPr/>
        <p:txBody>
          <a:bodyPr/>
          <a:lstStyle/>
          <a:p>
            <a:pPr>
              <a:defRPr/>
            </a:pPr>
            <a:r>
              <a:rPr lang="en-US" altLang="zh-CN"/>
              <a:t>BUPT</a:t>
            </a:r>
            <a:endParaRPr lang="en-US" altLang="zh-CN"/>
          </a:p>
        </p:txBody>
      </p:sp>
      <p:sp>
        <p:nvSpPr>
          <p:cNvPr id="33797" name="Rectangle 4"/>
          <p:cNvSpPr>
            <a:spLocks noChangeArrowheads="1"/>
          </p:cNvSpPr>
          <p:nvPr/>
        </p:nvSpPr>
        <p:spPr bwMode="auto">
          <a:xfrm>
            <a:off x="4114800" y="1447800"/>
            <a:ext cx="3124200" cy="533400"/>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3798" name="Rectangle 2"/>
          <p:cNvSpPr>
            <a:spLocks noGrp="1" noChangeArrowheads="1"/>
          </p:cNvSpPr>
          <p:nvPr>
            <p:ph type="title"/>
          </p:nvPr>
        </p:nvSpPr>
        <p:spPr>
          <a:xfrm>
            <a:off x="304800" y="152400"/>
            <a:ext cx="8458200" cy="376238"/>
          </a:xfrm>
        </p:spPr>
        <p:txBody>
          <a:bodyPr/>
          <a:lstStyle/>
          <a:p>
            <a:pPr algn="l" eaLnBrk="1" hangingPunct="1"/>
            <a:r>
              <a:rPr lang="en-US" altLang="zh-CN" dirty="0" smtClean="0">
                <a:ea typeface="华文楷体" panose="02010600040101010101" pitchFamily="2" charset="-122"/>
              </a:rPr>
              <a:t>2.5 </a:t>
            </a:r>
            <a:r>
              <a:rPr lang="zh-CN" altLang="en-US" dirty="0" smtClean="0">
                <a:ea typeface="华文楷体" panose="02010600040101010101" pitchFamily="2" charset="-122"/>
              </a:rPr>
              <a:t>双向链表</a:t>
            </a:r>
            <a:endParaRPr lang="zh-CN" altLang="en-US" dirty="0" smtClean="0">
              <a:ea typeface="华文楷体" panose="02010600040101010101" pitchFamily="2" charset="-122"/>
            </a:endParaRPr>
          </a:p>
        </p:txBody>
      </p:sp>
      <p:sp>
        <p:nvSpPr>
          <p:cNvPr id="33799" name="Rectangle 3"/>
          <p:cNvSpPr>
            <a:spLocks noGrp="1" noChangeArrowheads="1"/>
          </p:cNvSpPr>
          <p:nvPr>
            <p:ph type="body" idx="1"/>
          </p:nvPr>
        </p:nvSpPr>
        <p:spPr>
          <a:xfrm>
            <a:off x="685800" y="1447800"/>
            <a:ext cx="7772400" cy="4648200"/>
          </a:xfrm>
        </p:spPr>
        <p:txBody>
          <a:bodyPr/>
          <a:lstStyle/>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结点的物理表示     </a:t>
            </a:r>
            <a:r>
              <a:rPr lang="zh-CN" altLang="en-US" sz="2800" dirty="0" smtClean="0">
                <a:ea typeface="华文楷体" panose="02010600040101010101" pitchFamily="2" charset="-122"/>
              </a:rPr>
              <a:t>       </a:t>
            </a:r>
            <a:r>
              <a:rPr lang="en-US" altLang="zh-CN" sz="2800" dirty="0" err="1" smtClean="0">
                <a:ea typeface="华文楷体" panose="02010600040101010101" pitchFamily="2" charset="-122"/>
              </a:rPr>
              <a:t>prev</a:t>
            </a:r>
            <a:r>
              <a:rPr lang="en-US" altLang="zh-CN" sz="2800" dirty="0" smtClean="0">
                <a:ea typeface="华文楷体" panose="02010600040101010101" pitchFamily="2" charset="-122"/>
              </a:rPr>
              <a:t>  data        next</a:t>
            </a:r>
            <a:endParaRPr lang="en-US" altLang="zh-CN" sz="2800" dirty="0" smtClean="0">
              <a:ea typeface="华文楷体" panose="02010600040101010101" pitchFamily="2" charset="-122"/>
            </a:endParaRPr>
          </a:p>
          <a:p>
            <a:pPr eaLnBrk="1" hangingPunct="1">
              <a:buFont typeface="Wingdings" panose="05000000000000000000" pitchFamily="2" charset="2"/>
              <a:buNone/>
            </a:pPr>
            <a:endParaRPr lang="en-US" altLang="zh-CN" sz="28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a</a:t>
            </a:r>
            <a:r>
              <a:rPr lang="en-US" altLang="zh-CN" sz="2800" baseline="-25000" dirty="0" smtClean="0">
                <a:ea typeface="华文楷体" panose="02010600040101010101" pitchFamily="2" charset="-122"/>
              </a:rPr>
              <a:t>0                   </a:t>
            </a:r>
            <a:r>
              <a:rPr lang="en-US" altLang="zh-CN" sz="2800" dirty="0" smtClean="0">
                <a:ea typeface="华文楷体" panose="02010600040101010101" pitchFamily="2" charset="-122"/>
              </a:rPr>
              <a:t>a</a:t>
            </a:r>
            <a:r>
              <a:rPr lang="en-US" altLang="zh-CN" sz="2800" baseline="-25000" dirty="0" smtClean="0">
                <a:ea typeface="华文楷体" panose="02010600040101010101" pitchFamily="2" charset="-122"/>
              </a:rPr>
              <a:t>1                                    </a:t>
            </a:r>
            <a:r>
              <a:rPr lang="en-US" altLang="zh-CN" sz="2800" dirty="0" smtClean="0">
                <a:ea typeface="华文楷体" panose="02010600040101010101" pitchFamily="2" charset="-122"/>
              </a:rPr>
              <a:t>a</a:t>
            </a:r>
            <a:r>
              <a:rPr lang="en-US" altLang="zh-CN" sz="2800" baseline="-25000" dirty="0" smtClean="0">
                <a:ea typeface="华文楷体" panose="02010600040101010101" pitchFamily="2" charset="-122"/>
              </a:rPr>
              <a:t>n-1</a:t>
            </a:r>
            <a:endParaRPr lang="en-US" altLang="zh-CN" sz="2800" dirty="0" smtClean="0">
              <a:ea typeface="华文楷体" panose="02010600040101010101" pitchFamily="2" charset="-122"/>
            </a:endParaRPr>
          </a:p>
        </p:txBody>
      </p:sp>
      <p:sp>
        <p:nvSpPr>
          <p:cNvPr id="33800" name="Line 5"/>
          <p:cNvSpPr>
            <a:spLocks noChangeShapeType="1"/>
          </p:cNvSpPr>
          <p:nvPr/>
        </p:nvSpPr>
        <p:spPr bwMode="auto">
          <a:xfrm>
            <a:off x="5029200" y="14478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01" name="Line 6"/>
          <p:cNvSpPr>
            <a:spLocks noChangeShapeType="1"/>
          </p:cNvSpPr>
          <p:nvPr/>
        </p:nvSpPr>
        <p:spPr bwMode="auto">
          <a:xfrm>
            <a:off x="6324600" y="14478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02" name="Rectangle 7"/>
          <p:cNvSpPr>
            <a:spLocks noChangeArrowheads="1"/>
          </p:cNvSpPr>
          <p:nvPr/>
        </p:nvSpPr>
        <p:spPr bwMode="auto">
          <a:xfrm>
            <a:off x="1371600" y="2514600"/>
            <a:ext cx="1143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3803" name="Rectangle 10"/>
          <p:cNvSpPr>
            <a:spLocks noChangeArrowheads="1"/>
          </p:cNvSpPr>
          <p:nvPr/>
        </p:nvSpPr>
        <p:spPr bwMode="auto">
          <a:xfrm>
            <a:off x="2819400" y="2514600"/>
            <a:ext cx="1143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3804" name="Line 11"/>
          <p:cNvSpPr>
            <a:spLocks noChangeShapeType="1"/>
          </p:cNvSpPr>
          <p:nvPr/>
        </p:nvSpPr>
        <p:spPr bwMode="auto">
          <a:xfrm>
            <a:off x="3200400" y="2514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05" name="Line 12"/>
          <p:cNvSpPr>
            <a:spLocks noChangeShapeType="1"/>
          </p:cNvSpPr>
          <p:nvPr/>
        </p:nvSpPr>
        <p:spPr bwMode="auto">
          <a:xfrm>
            <a:off x="3657600" y="2514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06" name="Rectangle 13"/>
          <p:cNvSpPr>
            <a:spLocks noChangeArrowheads="1"/>
          </p:cNvSpPr>
          <p:nvPr/>
        </p:nvSpPr>
        <p:spPr bwMode="auto">
          <a:xfrm>
            <a:off x="4343400" y="2514600"/>
            <a:ext cx="12954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3807" name="Line 14"/>
          <p:cNvSpPr>
            <a:spLocks noChangeShapeType="1"/>
          </p:cNvSpPr>
          <p:nvPr/>
        </p:nvSpPr>
        <p:spPr bwMode="auto">
          <a:xfrm>
            <a:off x="4724400" y="2514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08" name="Line 15"/>
          <p:cNvSpPr>
            <a:spLocks noChangeShapeType="1"/>
          </p:cNvSpPr>
          <p:nvPr/>
        </p:nvSpPr>
        <p:spPr bwMode="auto">
          <a:xfrm>
            <a:off x="5334000" y="2514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09" name="Rectangle 16"/>
          <p:cNvSpPr>
            <a:spLocks noChangeArrowheads="1"/>
          </p:cNvSpPr>
          <p:nvPr/>
        </p:nvSpPr>
        <p:spPr bwMode="auto">
          <a:xfrm>
            <a:off x="6781800" y="2514600"/>
            <a:ext cx="12192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3810" name="Line 17"/>
          <p:cNvSpPr>
            <a:spLocks noChangeShapeType="1"/>
          </p:cNvSpPr>
          <p:nvPr/>
        </p:nvSpPr>
        <p:spPr bwMode="auto">
          <a:xfrm>
            <a:off x="7086600" y="2514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11" name="Line 18"/>
          <p:cNvSpPr>
            <a:spLocks noChangeShapeType="1"/>
          </p:cNvSpPr>
          <p:nvPr/>
        </p:nvSpPr>
        <p:spPr bwMode="auto">
          <a:xfrm>
            <a:off x="7696200" y="2514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12" name="Line 19"/>
          <p:cNvSpPr>
            <a:spLocks noChangeShapeType="1"/>
          </p:cNvSpPr>
          <p:nvPr/>
        </p:nvSpPr>
        <p:spPr bwMode="auto">
          <a:xfrm>
            <a:off x="2362200" y="2590800"/>
            <a:ext cx="38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13" name="Line 20"/>
          <p:cNvSpPr>
            <a:spLocks noChangeShapeType="1"/>
          </p:cNvSpPr>
          <p:nvPr/>
        </p:nvSpPr>
        <p:spPr bwMode="auto">
          <a:xfrm>
            <a:off x="3886200" y="2590800"/>
            <a:ext cx="45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14" name="Line 21"/>
          <p:cNvSpPr>
            <a:spLocks noChangeShapeType="1"/>
          </p:cNvSpPr>
          <p:nvPr/>
        </p:nvSpPr>
        <p:spPr bwMode="auto">
          <a:xfrm>
            <a:off x="6324600" y="2667000"/>
            <a:ext cx="38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15" name="Line 22"/>
          <p:cNvSpPr>
            <a:spLocks noChangeShapeType="1"/>
          </p:cNvSpPr>
          <p:nvPr/>
        </p:nvSpPr>
        <p:spPr bwMode="auto">
          <a:xfrm flipV="1">
            <a:off x="7848600" y="22860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16" name="Line 23"/>
          <p:cNvSpPr>
            <a:spLocks noChangeShapeType="1"/>
          </p:cNvSpPr>
          <p:nvPr/>
        </p:nvSpPr>
        <p:spPr bwMode="auto">
          <a:xfrm flipH="1">
            <a:off x="990600" y="2286000"/>
            <a:ext cx="6858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17" name="Line 24"/>
          <p:cNvSpPr>
            <a:spLocks noChangeShapeType="1"/>
          </p:cNvSpPr>
          <p:nvPr/>
        </p:nvSpPr>
        <p:spPr bwMode="auto">
          <a:xfrm>
            <a:off x="990600" y="2286000"/>
            <a:ext cx="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18" name="Line 26"/>
          <p:cNvSpPr>
            <a:spLocks noChangeShapeType="1"/>
          </p:cNvSpPr>
          <p:nvPr/>
        </p:nvSpPr>
        <p:spPr bwMode="auto">
          <a:xfrm>
            <a:off x="990600" y="2590800"/>
            <a:ext cx="38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19" name="Line 27"/>
          <p:cNvSpPr>
            <a:spLocks noChangeShapeType="1"/>
          </p:cNvSpPr>
          <p:nvPr/>
        </p:nvSpPr>
        <p:spPr bwMode="auto">
          <a:xfrm flipH="1">
            <a:off x="990600" y="2819400"/>
            <a:ext cx="533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20" name="Line 28"/>
          <p:cNvSpPr>
            <a:spLocks noChangeShapeType="1"/>
          </p:cNvSpPr>
          <p:nvPr/>
        </p:nvSpPr>
        <p:spPr bwMode="auto">
          <a:xfrm>
            <a:off x="990600" y="2819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21" name="Line 29"/>
          <p:cNvSpPr>
            <a:spLocks noChangeShapeType="1"/>
          </p:cNvSpPr>
          <p:nvPr/>
        </p:nvSpPr>
        <p:spPr bwMode="auto">
          <a:xfrm>
            <a:off x="990600" y="3276600"/>
            <a:ext cx="6400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22" name="Line 30"/>
          <p:cNvSpPr>
            <a:spLocks noChangeShapeType="1"/>
          </p:cNvSpPr>
          <p:nvPr/>
        </p:nvSpPr>
        <p:spPr bwMode="auto">
          <a:xfrm flipV="1">
            <a:off x="7391400" y="2971800"/>
            <a:ext cx="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23" name="Line 31"/>
          <p:cNvSpPr>
            <a:spLocks noChangeShapeType="1"/>
          </p:cNvSpPr>
          <p:nvPr/>
        </p:nvSpPr>
        <p:spPr bwMode="auto">
          <a:xfrm flipH="1">
            <a:off x="2514600" y="2819400"/>
            <a:ext cx="45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24" name="Line 32"/>
          <p:cNvSpPr>
            <a:spLocks noChangeShapeType="1"/>
          </p:cNvSpPr>
          <p:nvPr/>
        </p:nvSpPr>
        <p:spPr bwMode="auto">
          <a:xfrm flipH="1">
            <a:off x="3962400" y="2819400"/>
            <a:ext cx="609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25" name="Line 33"/>
          <p:cNvSpPr>
            <a:spLocks noChangeShapeType="1"/>
          </p:cNvSpPr>
          <p:nvPr/>
        </p:nvSpPr>
        <p:spPr bwMode="auto">
          <a:xfrm flipH="1">
            <a:off x="5715000" y="2819400"/>
            <a:ext cx="45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26" name="Line 34"/>
          <p:cNvSpPr>
            <a:spLocks noChangeShapeType="1"/>
          </p:cNvSpPr>
          <p:nvPr/>
        </p:nvSpPr>
        <p:spPr bwMode="auto">
          <a:xfrm>
            <a:off x="6324600" y="2819400"/>
            <a:ext cx="609600" cy="0"/>
          </a:xfrm>
          <a:prstGeom prst="line">
            <a:avLst/>
          </a:prstGeom>
          <a:noFill/>
          <a:ln w="9525"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27" name="Line 35"/>
          <p:cNvSpPr>
            <a:spLocks noChangeShapeType="1"/>
          </p:cNvSpPr>
          <p:nvPr/>
        </p:nvSpPr>
        <p:spPr bwMode="auto">
          <a:xfrm>
            <a:off x="5486400" y="2667000"/>
            <a:ext cx="838200" cy="0"/>
          </a:xfrm>
          <a:prstGeom prst="line">
            <a:avLst/>
          </a:prstGeom>
          <a:noFill/>
          <a:ln w="9525"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28" name="Line 38"/>
          <p:cNvSpPr>
            <a:spLocks noChangeShapeType="1"/>
          </p:cNvSpPr>
          <p:nvPr/>
        </p:nvSpPr>
        <p:spPr bwMode="auto">
          <a:xfrm>
            <a:off x="685800" y="2743200"/>
            <a:ext cx="685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29" name="Line 39"/>
          <p:cNvSpPr>
            <a:spLocks noChangeShapeType="1"/>
          </p:cNvSpPr>
          <p:nvPr/>
        </p:nvSpPr>
        <p:spPr bwMode="auto">
          <a:xfrm>
            <a:off x="685800" y="2743200"/>
            <a:ext cx="0" cy="762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30" name="Text Box 40"/>
          <p:cNvSpPr txBox="1">
            <a:spLocks noChangeArrowheads="1"/>
          </p:cNvSpPr>
          <p:nvPr/>
        </p:nvSpPr>
        <p:spPr bwMode="auto">
          <a:xfrm>
            <a:off x="533400" y="34290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H</a:t>
            </a:r>
            <a:endParaRPr kumimoji="1" lang="en-US" altLang="zh-CN" sz="2400" dirty="0">
              <a:latin typeface="华文楷体" panose="02010600040101010101" pitchFamily="2" charset="-122"/>
              <a:ea typeface="华文楷体" panose="02010600040101010101" pitchFamily="2" charset="-122"/>
            </a:endParaRPr>
          </a:p>
        </p:txBody>
      </p:sp>
      <p:sp>
        <p:nvSpPr>
          <p:cNvPr id="33831" name="Rectangle 41"/>
          <p:cNvSpPr>
            <a:spLocks noChangeArrowheads="1"/>
          </p:cNvSpPr>
          <p:nvPr/>
        </p:nvSpPr>
        <p:spPr bwMode="auto">
          <a:xfrm>
            <a:off x="2971800" y="4343400"/>
            <a:ext cx="1752600" cy="533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3832" name="Line 44"/>
          <p:cNvSpPr>
            <a:spLocks noChangeShapeType="1"/>
          </p:cNvSpPr>
          <p:nvPr/>
        </p:nvSpPr>
        <p:spPr bwMode="auto">
          <a:xfrm flipV="1">
            <a:off x="4495800" y="39624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33" name="Line 45"/>
          <p:cNvSpPr>
            <a:spLocks noChangeShapeType="1"/>
          </p:cNvSpPr>
          <p:nvPr/>
        </p:nvSpPr>
        <p:spPr bwMode="auto">
          <a:xfrm flipH="1">
            <a:off x="3200400" y="3962400"/>
            <a:ext cx="1295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34" name="Line 47"/>
          <p:cNvSpPr>
            <a:spLocks noChangeShapeType="1"/>
          </p:cNvSpPr>
          <p:nvPr/>
        </p:nvSpPr>
        <p:spPr bwMode="auto">
          <a:xfrm>
            <a:off x="3200400" y="3962400"/>
            <a:ext cx="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35" name="Line 48"/>
          <p:cNvSpPr>
            <a:spLocks noChangeShapeType="1"/>
          </p:cNvSpPr>
          <p:nvPr/>
        </p:nvSpPr>
        <p:spPr bwMode="auto">
          <a:xfrm>
            <a:off x="3200400" y="4648200"/>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36" name="Line 49"/>
          <p:cNvSpPr>
            <a:spLocks noChangeShapeType="1"/>
          </p:cNvSpPr>
          <p:nvPr/>
        </p:nvSpPr>
        <p:spPr bwMode="auto">
          <a:xfrm>
            <a:off x="3200400" y="5257800"/>
            <a:ext cx="1295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37" name="Line 50"/>
          <p:cNvSpPr>
            <a:spLocks noChangeShapeType="1"/>
          </p:cNvSpPr>
          <p:nvPr/>
        </p:nvSpPr>
        <p:spPr bwMode="auto">
          <a:xfrm flipV="1">
            <a:off x="4495800" y="4876800"/>
            <a:ext cx="0" cy="3810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38" name="Line 53"/>
          <p:cNvSpPr>
            <a:spLocks noChangeShapeType="1"/>
          </p:cNvSpPr>
          <p:nvPr/>
        </p:nvSpPr>
        <p:spPr bwMode="auto">
          <a:xfrm>
            <a:off x="2438400" y="4572000"/>
            <a:ext cx="45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39" name="Line 54"/>
          <p:cNvSpPr>
            <a:spLocks noChangeShapeType="1"/>
          </p:cNvSpPr>
          <p:nvPr/>
        </p:nvSpPr>
        <p:spPr bwMode="auto">
          <a:xfrm>
            <a:off x="24384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33840" name="Text Box 55"/>
          <p:cNvSpPr txBox="1">
            <a:spLocks noChangeArrowheads="1"/>
          </p:cNvSpPr>
          <p:nvPr/>
        </p:nvSpPr>
        <p:spPr bwMode="auto">
          <a:xfrm>
            <a:off x="2209800" y="5105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华文楷体" panose="02010600040101010101" pitchFamily="2" charset="-122"/>
                <a:ea typeface="华文楷体" panose="02010600040101010101" pitchFamily="2" charset="-122"/>
              </a:rPr>
              <a:t>H</a:t>
            </a:r>
            <a:endParaRPr kumimoji="1" lang="en-US" altLang="zh-CN" sz="2400" dirty="0">
              <a:latin typeface="华文楷体" panose="02010600040101010101" pitchFamily="2" charset="-122"/>
              <a:ea typeface="华文楷体" panose="02010600040101010101" pitchFamily="2" charset="-122"/>
            </a:endParaRPr>
          </a:p>
        </p:txBody>
      </p:sp>
      <p:sp>
        <p:nvSpPr>
          <p:cNvPr id="31800" name="Text Box 56"/>
          <p:cNvSpPr txBox="1">
            <a:spLocks noChangeArrowheads="1"/>
          </p:cNvSpPr>
          <p:nvPr/>
        </p:nvSpPr>
        <p:spPr bwMode="auto">
          <a:xfrm>
            <a:off x="5003800" y="4385450"/>
            <a:ext cx="3168650" cy="371513"/>
          </a:xfrm>
          <a:prstGeom prst="rect">
            <a:avLst/>
          </a:prstGeom>
          <a:noFill/>
          <a:ln w="22225" algn="ctr">
            <a:solidFill>
              <a:schemeClr val="accent1"/>
            </a:solidFill>
            <a:miter lim="800000"/>
          </a:ln>
          <a:effectLst/>
        </p:spPr>
        <p:txBody>
          <a:bodyPr lIns="90000" tIns="46800" rIns="90000" bIns="46800" anchor="ctr">
            <a:spAutoFit/>
          </a:bodyPr>
          <a:lstStyle/>
          <a:p>
            <a:pPr eaLnBrk="1" hangingPunct="1">
              <a:defRPr/>
            </a:pPr>
            <a:r>
              <a:rPr kumimoji="1" lang="en-US" altLang="zh-CN" b="1" i="1" dirty="0">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H-&gt;next==H-&gt;</a:t>
            </a:r>
            <a:r>
              <a:rPr kumimoji="1" lang="en-US" altLang="zh-CN" b="1" i="1" dirty="0" err="1">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prev</a:t>
            </a:r>
            <a:r>
              <a:rPr kumimoji="1" lang="en-US" altLang="zh-CN" b="1" i="1" dirty="0">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==H</a:t>
            </a:r>
            <a:endParaRPr kumimoji="1" lang="en-US" altLang="zh-CN" b="1" i="1" dirty="0">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sp>
        <p:nvSpPr>
          <p:cNvPr id="33842" name="Rectangle 57" descr="浅色上对角线"/>
          <p:cNvSpPr>
            <a:spLocks noChangeArrowheads="1"/>
          </p:cNvSpPr>
          <p:nvPr/>
        </p:nvSpPr>
        <p:spPr bwMode="auto">
          <a:xfrm>
            <a:off x="3352800" y="4343400"/>
            <a:ext cx="990600" cy="533400"/>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1802" name="Text Box 58"/>
          <p:cNvSpPr txBox="1">
            <a:spLocks noChangeArrowheads="1"/>
          </p:cNvSpPr>
          <p:nvPr/>
        </p:nvSpPr>
        <p:spPr bwMode="auto">
          <a:xfrm>
            <a:off x="685800" y="5666255"/>
            <a:ext cx="7543800" cy="402291"/>
          </a:xfrm>
          <a:prstGeom prst="rect">
            <a:avLst/>
          </a:prstGeom>
          <a:solidFill>
            <a:srgbClr val="CCFFFF"/>
          </a:solidFill>
          <a:ln w="25400" algn="ctr">
            <a:solidFill>
              <a:schemeClr val="accent1"/>
            </a:solidFill>
            <a:miter lim="800000"/>
          </a:ln>
        </p:spPr>
        <p:txBody>
          <a:bodyPr lIns="90000" tIns="46800" rIns="90000" bIns="46800"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000" b="1" dirty="0">
                <a:solidFill>
                  <a:schemeClr val="accent2"/>
                </a:solidFill>
                <a:latin typeface="华文楷体" panose="02010600040101010101" pitchFamily="2" charset="-122"/>
                <a:ea typeface="华文楷体" panose="02010600040101010101" pitchFamily="2" charset="-122"/>
              </a:rPr>
              <a:t>思考：能否以</a:t>
            </a:r>
            <a:r>
              <a:rPr lang="en-US" altLang="zh-CN" sz="2000" b="1" dirty="0">
                <a:solidFill>
                  <a:schemeClr val="accent2"/>
                </a:solidFill>
                <a:latin typeface="华文楷体" panose="02010600040101010101" pitchFamily="2" charset="-122"/>
                <a:ea typeface="华文楷体" panose="02010600040101010101" pitchFamily="2" charset="-122"/>
              </a:rPr>
              <a:t>H-&gt;next==H-&gt;</a:t>
            </a:r>
            <a:r>
              <a:rPr lang="en-US" altLang="zh-CN" sz="2000" b="1" dirty="0" err="1">
                <a:solidFill>
                  <a:schemeClr val="accent2"/>
                </a:solidFill>
                <a:latin typeface="华文楷体" panose="02010600040101010101" pitchFamily="2" charset="-122"/>
                <a:ea typeface="华文楷体" panose="02010600040101010101" pitchFamily="2" charset="-122"/>
              </a:rPr>
              <a:t>prev</a:t>
            </a:r>
            <a:r>
              <a:rPr lang="zh-CN" altLang="en-US" sz="2000" b="1" dirty="0">
                <a:solidFill>
                  <a:schemeClr val="accent2"/>
                </a:solidFill>
                <a:latin typeface="华文楷体" panose="02010600040101010101" pitchFamily="2" charset="-122"/>
                <a:ea typeface="华文楷体" panose="02010600040101010101" pitchFamily="2" charset="-122"/>
              </a:rPr>
              <a:t>判定双向链表为空？</a:t>
            </a:r>
            <a:endParaRPr lang="zh-CN" altLang="en-US" sz="2000" b="1" dirty="0">
              <a:solidFill>
                <a:schemeClr val="accent2"/>
              </a:solidFill>
              <a:latin typeface="华文楷体" panose="02010600040101010101" pitchFamily="2" charset="-122"/>
              <a:ea typeface="华文楷体" panose="02010600040101010101" pitchFamily="2" charset="-122"/>
            </a:endParaRPr>
          </a:p>
        </p:txBody>
      </p:sp>
      <p:sp>
        <p:nvSpPr>
          <p:cNvPr id="33844" name="Rectangle 59" descr="浅色上对角线"/>
          <p:cNvSpPr>
            <a:spLocks noChangeArrowheads="1"/>
          </p:cNvSpPr>
          <p:nvPr/>
        </p:nvSpPr>
        <p:spPr bwMode="auto">
          <a:xfrm>
            <a:off x="1676400" y="2514600"/>
            <a:ext cx="533400" cy="457200"/>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1804" name="Rectangle 60"/>
          <p:cNvSpPr>
            <a:spLocks noChangeArrowheads="1"/>
          </p:cNvSpPr>
          <p:nvPr/>
        </p:nvSpPr>
        <p:spPr bwMode="auto">
          <a:xfrm>
            <a:off x="1403350" y="3409137"/>
            <a:ext cx="3990493" cy="371513"/>
          </a:xfrm>
          <a:prstGeom prst="rect">
            <a:avLst/>
          </a:prstGeom>
          <a:noFill/>
          <a:ln w="22225" algn="ctr">
            <a:solidFill>
              <a:schemeClr val="accent1"/>
            </a:solidFill>
            <a:miter lim="800000"/>
          </a:ln>
          <a:effectLst/>
        </p:spPr>
        <p:txBody>
          <a:bodyPr wrap="none" lIns="90000" tIns="46800" rIns="90000" bIns="46800" anchor="ctr">
            <a:spAutoFit/>
          </a:bodyPr>
          <a:lstStyle/>
          <a:p>
            <a:pPr eaLnBrk="1" hangingPunct="1">
              <a:defRPr/>
            </a:pPr>
            <a:r>
              <a:rPr kumimoji="1" lang="en-US" altLang="zh-CN" b="1" i="1" dirty="0">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p ==</a:t>
            </a:r>
            <a:r>
              <a:rPr kumimoji="1" lang="en-US" altLang="zh-CN" b="1" dirty="0">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 </a:t>
            </a:r>
            <a:r>
              <a:rPr kumimoji="1" lang="en-US" altLang="zh-CN" b="1" i="1" dirty="0" err="1">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p</a:t>
            </a:r>
            <a:r>
              <a:rPr kumimoji="1" lang="en-US" altLang="zh-CN" b="1" dirty="0" err="1">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kumimoji="1" lang="en-US" altLang="zh-CN" b="1" i="1" dirty="0" err="1">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prev</a:t>
            </a:r>
            <a:r>
              <a:rPr kumimoji="1" lang="en-US" altLang="zh-CN" b="1" dirty="0" err="1">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kumimoji="1" lang="en-US" altLang="zh-CN" b="1" i="1" dirty="0" err="1">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next</a:t>
            </a:r>
            <a:r>
              <a:rPr kumimoji="1" lang="en-US" altLang="zh-CN" b="1" i="1" dirty="0">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 == </a:t>
            </a:r>
            <a:r>
              <a:rPr kumimoji="1" lang="en-US" altLang="zh-CN" b="1" i="1" dirty="0" err="1">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p</a:t>
            </a:r>
            <a:r>
              <a:rPr kumimoji="1" lang="en-US" altLang="zh-CN" b="1" dirty="0" err="1">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kumimoji="1" lang="en-US" altLang="zh-CN" b="1" i="1" dirty="0" err="1">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next</a:t>
            </a:r>
            <a:r>
              <a:rPr kumimoji="1" lang="en-US" altLang="zh-CN" b="1" dirty="0" err="1">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kumimoji="1" lang="en-US" altLang="zh-CN" b="1" i="1" dirty="0" err="1">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prev</a:t>
            </a:r>
            <a:endParaRPr kumimoji="1" lang="en-US" altLang="zh-CN" b="1" i="1" dirty="0">
              <a:solidFill>
                <a:srgbClr val="FF3300"/>
              </a:solidFill>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sp>
        <p:nvSpPr>
          <p:cNvPr id="31805" name="Text Box 61"/>
          <p:cNvSpPr txBox="1">
            <a:spLocks noChangeArrowheads="1"/>
          </p:cNvSpPr>
          <p:nvPr/>
        </p:nvSpPr>
        <p:spPr bwMode="auto">
          <a:xfrm>
            <a:off x="4500563" y="1844675"/>
            <a:ext cx="863600"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b="1" dirty="0">
                <a:solidFill>
                  <a:srgbClr val="FF3300"/>
                </a:solidFill>
                <a:latin typeface="华文楷体" panose="02010600040101010101" pitchFamily="2" charset="-122"/>
                <a:ea typeface="华文楷体" panose="02010600040101010101" pitchFamily="2" charset="-122"/>
              </a:rPr>
              <a:t>p</a:t>
            </a:r>
            <a:endParaRPr lang="en-US" altLang="zh-CN" sz="2400" b="1" dirty="0">
              <a:solidFill>
                <a:srgbClr val="FF3300"/>
              </a:solidFill>
              <a:latin typeface="华文楷体" panose="02010600040101010101" pitchFamily="2" charset="-122"/>
              <a:ea typeface="华文楷体" panose="02010600040101010101" pitchFamily="2" charset="-122"/>
            </a:endParaRPr>
          </a:p>
        </p:txBody>
      </p:sp>
      <p:sp>
        <p:nvSpPr>
          <p:cNvPr id="31807" name="Line 63"/>
          <p:cNvSpPr>
            <a:spLocks noChangeShapeType="1"/>
          </p:cNvSpPr>
          <p:nvPr/>
        </p:nvSpPr>
        <p:spPr bwMode="auto">
          <a:xfrm>
            <a:off x="4572000" y="2133600"/>
            <a:ext cx="0" cy="358775"/>
          </a:xfrm>
          <a:prstGeom prst="line">
            <a:avLst/>
          </a:prstGeom>
          <a:noFill/>
          <a:ln w="22225">
            <a:solidFill>
              <a:schemeClr val="accent1"/>
            </a:solidFill>
            <a:rou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807"/>
                                        </p:tgtEl>
                                        <p:attrNameLst>
                                          <p:attrName>style.visibility</p:attrName>
                                        </p:attrNameLst>
                                      </p:cBhvr>
                                      <p:to>
                                        <p:strVal val="visible"/>
                                      </p:to>
                                    </p:set>
                                    <p:anim calcmode="lin" valueType="num">
                                      <p:cBhvr additive="base">
                                        <p:cTn id="7" dur="500" fill="hold"/>
                                        <p:tgtEl>
                                          <p:spTgt spid="31807"/>
                                        </p:tgtEl>
                                        <p:attrNameLst>
                                          <p:attrName>ppt_x</p:attrName>
                                        </p:attrNameLst>
                                      </p:cBhvr>
                                      <p:tavLst>
                                        <p:tav tm="0">
                                          <p:val>
                                            <p:strVal val="#ppt_x"/>
                                          </p:val>
                                        </p:tav>
                                        <p:tav tm="100000">
                                          <p:val>
                                            <p:strVal val="#ppt_x"/>
                                          </p:val>
                                        </p:tav>
                                      </p:tavLst>
                                    </p:anim>
                                    <p:anim calcmode="lin" valueType="num">
                                      <p:cBhvr additive="base">
                                        <p:cTn id="8" dur="500" fill="hold"/>
                                        <p:tgtEl>
                                          <p:spTgt spid="3180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805"/>
                                        </p:tgtEl>
                                        <p:attrNameLst>
                                          <p:attrName>style.visibility</p:attrName>
                                        </p:attrNameLst>
                                      </p:cBhvr>
                                      <p:to>
                                        <p:strVal val="visible"/>
                                      </p:to>
                                    </p:set>
                                    <p:anim calcmode="lin" valueType="num">
                                      <p:cBhvr additive="base">
                                        <p:cTn id="11" dur="500" fill="hold"/>
                                        <p:tgtEl>
                                          <p:spTgt spid="31805"/>
                                        </p:tgtEl>
                                        <p:attrNameLst>
                                          <p:attrName>ppt_x</p:attrName>
                                        </p:attrNameLst>
                                      </p:cBhvr>
                                      <p:tavLst>
                                        <p:tav tm="0">
                                          <p:val>
                                            <p:strVal val="#ppt_x"/>
                                          </p:val>
                                        </p:tav>
                                        <p:tav tm="100000">
                                          <p:val>
                                            <p:strVal val="#ppt_x"/>
                                          </p:val>
                                        </p:tav>
                                      </p:tavLst>
                                    </p:anim>
                                    <p:anim calcmode="lin" valueType="num">
                                      <p:cBhvr additive="base">
                                        <p:cTn id="12" dur="500" fill="hold"/>
                                        <p:tgtEl>
                                          <p:spTgt spid="3180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1804"/>
                                        </p:tgtEl>
                                        <p:attrNameLst>
                                          <p:attrName>style.visibility</p:attrName>
                                        </p:attrNameLst>
                                      </p:cBhvr>
                                      <p:to>
                                        <p:strVal val="visible"/>
                                      </p:to>
                                    </p:set>
                                    <p:animEffect transition="in" filter="diamond(in)">
                                      <p:cBhvr>
                                        <p:cTn id="17" dur="2000"/>
                                        <p:tgtEl>
                                          <p:spTgt spid="3180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31802">
                                            <p:txEl>
                                              <p:pRg st="0" end="0"/>
                                            </p:txEl>
                                          </p:spTgt>
                                        </p:tgtEl>
                                        <p:attrNameLst>
                                          <p:attrName>style.visibility</p:attrName>
                                        </p:attrNameLst>
                                      </p:cBhvr>
                                      <p:to>
                                        <p:strVal val="visible"/>
                                      </p:to>
                                    </p:set>
                                    <p:anim calcmode="lin" valueType="num">
                                      <p:cBhvr additive="base">
                                        <p:cTn id="22" dur="500" fill="hold"/>
                                        <p:tgtEl>
                                          <p:spTgt spid="31802">
                                            <p:txEl>
                                              <p:pRg st="0" end="0"/>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3180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02" grpId="0" autoUpdateAnimBg="0" build="p"/>
      <p:bldP spid="31804" grpId="0" animBg="1"/>
      <p:bldP spid="3180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页脚占位符 3"/>
          <p:cNvSpPr>
            <a:spLocks noGrp="1"/>
          </p:cNvSpPr>
          <p:nvPr>
            <p:ph type="ftr" sz="quarter" idx="10"/>
          </p:nvPr>
        </p:nvSpPr>
        <p:spPr/>
        <p:txBody>
          <a:bodyPr/>
          <a:lstStyle/>
          <a:p>
            <a:pPr>
              <a:defRPr/>
            </a:pPr>
            <a:r>
              <a:rPr lang="en-US" altLang="zh-CN"/>
              <a:t>BUPT SCST</a:t>
            </a:r>
            <a:endParaRPr lang="en-US" altLang="zh-CN"/>
          </a:p>
        </p:txBody>
      </p:sp>
      <p:sp>
        <p:nvSpPr>
          <p:cNvPr id="3481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B8788ADE-4104-4C83-8D61-6A7FA9084B1F}"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13" name="日期占位符 5"/>
          <p:cNvSpPr>
            <a:spLocks noGrp="1"/>
          </p:cNvSpPr>
          <p:nvPr>
            <p:ph type="dt" sz="quarter" idx="12"/>
          </p:nvPr>
        </p:nvSpPr>
        <p:spPr/>
        <p:txBody>
          <a:bodyPr/>
          <a:lstStyle/>
          <a:p>
            <a:pPr>
              <a:defRPr/>
            </a:pPr>
            <a:r>
              <a:rPr lang="en-US" altLang="zh-CN"/>
              <a:t>BUPT</a:t>
            </a:r>
            <a:endParaRPr lang="en-US" altLang="zh-CN"/>
          </a:p>
        </p:txBody>
      </p:sp>
      <p:sp>
        <p:nvSpPr>
          <p:cNvPr id="34821" name="Rectangle 2"/>
          <p:cNvSpPr>
            <a:spLocks noGrp="1" noChangeArrowheads="1"/>
          </p:cNvSpPr>
          <p:nvPr>
            <p:ph type="title"/>
          </p:nvPr>
        </p:nvSpPr>
        <p:spPr/>
        <p:txBody>
          <a:bodyPr/>
          <a:lstStyle/>
          <a:p>
            <a:pPr eaLnBrk="1" hangingPunct="1"/>
            <a:endParaRPr lang="zh-CN" altLang="zh-CN" sz="2800" dirty="0" smtClean="0">
              <a:ea typeface="华文楷体" panose="02010600040101010101" pitchFamily="2" charset="-122"/>
            </a:endParaRPr>
          </a:p>
        </p:txBody>
      </p:sp>
      <p:pic>
        <p:nvPicPr>
          <p:cNvPr id="3482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688" y="3657600"/>
            <a:ext cx="9069387" cy="1447800"/>
          </a:xfrm>
          <a:prstGeom prst="rect">
            <a:avLst/>
          </a:prstGeom>
          <a:noFill/>
          <a:ln w="2222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
        <p:nvSpPr>
          <p:cNvPr id="158725" name="Text Box 5"/>
          <p:cNvSpPr txBox="1">
            <a:spLocks noChangeArrowheads="1"/>
          </p:cNvSpPr>
          <p:nvPr/>
        </p:nvSpPr>
        <p:spPr bwMode="auto">
          <a:xfrm>
            <a:off x="3894968" y="1613453"/>
            <a:ext cx="4824338" cy="1499044"/>
          </a:xfrm>
          <a:prstGeom prst="rect">
            <a:avLst/>
          </a:prstGeom>
          <a:noFill/>
          <a:ln w="9525">
            <a:solidFill>
              <a:srgbClr val="92D050"/>
            </a:solidFill>
            <a:miter lim="800000"/>
          </a:ln>
          <a:extLst>
            <a:ext uri="{909E8E84-426E-40DD-AFC4-6F175D3DCCD1}">
              <a14:hiddenFill xmlns:a14="http://schemas.microsoft.com/office/drawing/2010/main">
                <a:solidFill>
                  <a:srgbClr val="FFFFFF"/>
                </a:solidFill>
              </a14:hiddenFill>
            </a:ext>
          </a:extLst>
        </p:spPr>
        <p:txBody>
          <a:bodyPr wrap="square" lIns="112947" tIns="56473" rIns="112947" bIns="56473">
            <a:spAutoFit/>
          </a:bodyPr>
          <a:lstStyle>
            <a:lvl1pPr defTabSz="112903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defTabSz="112903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defTabSz="1129030">
              <a:spcBef>
                <a:spcPct val="20000"/>
              </a:spcBef>
              <a:buClr>
                <a:schemeClr val="tx1"/>
              </a:buClr>
              <a:buChar char="•"/>
              <a:defRPr sz="2400">
                <a:solidFill>
                  <a:schemeClr val="tx1"/>
                </a:solidFill>
                <a:latin typeface="Arial" panose="020B0604020202020204" pitchFamily="34" charset="0"/>
              </a:defRPr>
            </a:lvl3pPr>
            <a:lvl4pPr marL="1600200" indent="-228600" defTabSz="1129030">
              <a:spcBef>
                <a:spcPct val="20000"/>
              </a:spcBef>
              <a:buChar char="–"/>
              <a:defRPr sz="2000">
                <a:solidFill>
                  <a:schemeClr val="tx1"/>
                </a:solidFill>
                <a:latin typeface="Arial" panose="020B0604020202020204" pitchFamily="34" charset="0"/>
              </a:defRPr>
            </a:lvl4pPr>
            <a:lvl5pPr marL="2057400" indent="-228600" defTabSz="1129030">
              <a:spcBef>
                <a:spcPct val="20000"/>
              </a:spcBef>
              <a:buChar char="»"/>
              <a:defRPr sz="2000">
                <a:solidFill>
                  <a:schemeClr val="tx1"/>
                </a:solidFill>
                <a:latin typeface="Arial" panose="020B0604020202020204" pitchFamily="34" charset="0"/>
              </a:defRPr>
            </a:lvl5pPr>
            <a:lvl6pPr marL="25146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0"/>
              </a:spcBef>
              <a:buClrTx/>
              <a:buFontTx/>
              <a:buNone/>
            </a:pPr>
            <a:r>
              <a:rPr lang="zh-CN" altLang="en-US" sz="2000" dirty="0" smtClean="0">
                <a:latin typeface="华文楷体" panose="02010600040101010101" pitchFamily="2" charset="-122"/>
                <a:ea typeface="华文楷体" panose="02010600040101010101" pitchFamily="2" charset="-122"/>
              </a:rPr>
              <a:t>①</a:t>
            </a:r>
            <a:r>
              <a:rPr lang="en-US" altLang="zh-CN" sz="2000" dirty="0" smtClean="0">
                <a:latin typeface="华文楷体" panose="02010600040101010101" pitchFamily="2" charset="-122"/>
                <a:ea typeface="华文楷体" panose="02010600040101010101" pitchFamily="2" charset="-122"/>
              </a:rPr>
              <a:t>p-&gt;</a:t>
            </a:r>
            <a:r>
              <a:rPr lang="en-US" altLang="zh-CN" sz="2000" dirty="0" err="1" smtClean="0">
                <a:latin typeface="华文楷体" panose="02010600040101010101" pitchFamily="2" charset="-122"/>
                <a:ea typeface="华文楷体" panose="02010600040101010101" pitchFamily="2" charset="-122"/>
              </a:rPr>
              <a:t>prev</a:t>
            </a:r>
            <a:r>
              <a:rPr lang="en-US" altLang="zh-CN" sz="2000" dirty="0" smtClean="0">
                <a:latin typeface="华文楷体" panose="02010600040101010101" pitchFamily="2" charset="-122"/>
                <a:ea typeface="华文楷体" panose="02010600040101010101" pitchFamily="2" charset="-122"/>
              </a:rPr>
              <a:t> = current;</a:t>
            </a:r>
            <a:endParaRPr lang="en-US" altLang="zh-CN" sz="2000" dirty="0" smtClean="0">
              <a:latin typeface="华文楷体" panose="02010600040101010101" pitchFamily="2" charset="-122"/>
              <a:ea typeface="华文楷体" panose="02010600040101010101" pitchFamily="2" charset="-122"/>
            </a:endParaRPr>
          </a:p>
          <a:p>
            <a:pPr>
              <a:lnSpc>
                <a:spcPct val="90000"/>
              </a:lnSpc>
              <a:spcBef>
                <a:spcPct val="0"/>
              </a:spcBef>
              <a:buClrTx/>
              <a:buFontTx/>
              <a:buNone/>
            </a:pPr>
            <a:r>
              <a:rPr lang="zh-CN" altLang="en-US" sz="2000" dirty="0" smtClean="0">
                <a:latin typeface="华文楷体" panose="02010600040101010101" pitchFamily="2" charset="-122"/>
                <a:ea typeface="华文楷体" panose="02010600040101010101" pitchFamily="2" charset="-122"/>
              </a:rPr>
              <a:t>②</a:t>
            </a:r>
            <a:r>
              <a:rPr lang="en-US" altLang="zh-CN" sz="2000" dirty="0" smtClean="0">
                <a:latin typeface="华文楷体" panose="02010600040101010101" pitchFamily="2" charset="-122"/>
                <a:ea typeface="华文楷体" panose="02010600040101010101" pitchFamily="2" charset="-122"/>
              </a:rPr>
              <a:t>p-&gt;next = current-&gt;next;</a:t>
            </a:r>
            <a:endParaRPr lang="en-US" altLang="zh-CN" sz="2000" dirty="0" smtClean="0">
              <a:latin typeface="华文楷体" panose="02010600040101010101" pitchFamily="2" charset="-122"/>
              <a:ea typeface="华文楷体" panose="02010600040101010101" pitchFamily="2" charset="-122"/>
            </a:endParaRPr>
          </a:p>
          <a:p>
            <a:pPr>
              <a:lnSpc>
                <a:spcPct val="90000"/>
              </a:lnSpc>
              <a:spcBef>
                <a:spcPct val="0"/>
              </a:spcBef>
              <a:buClrTx/>
              <a:buFontTx/>
              <a:buNone/>
            </a:pPr>
            <a:r>
              <a:rPr lang="zh-CN" altLang="en-US" sz="2000" dirty="0" smtClean="0">
                <a:latin typeface="华文楷体" panose="02010600040101010101" pitchFamily="2" charset="-122"/>
                <a:ea typeface="华文楷体" panose="02010600040101010101" pitchFamily="2" charset="-122"/>
              </a:rPr>
              <a:t>③</a:t>
            </a:r>
            <a:r>
              <a:rPr lang="en-US" altLang="zh-CN" sz="2000" dirty="0" smtClean="0">
                <a:latin typeface="华文楷体" panose="02010600040101010101" pitchFamily="2" charset="-122"/>
                <a:ea typeface="华文楷体" panose="02010600040101010101" pitchFamily="2" charset="-122"/>
              </a:rPr>
              <a:t>current-</a:t>
            </a:r>
            <a:r>
              <a:rPr lang="en-US" altLang="zh-CN" sz="2000" dirty="0">
                <a:latin typeface="华文楷体" panose="02010600040101010101" pitchFamily="2" charset="-122"/>
                <a:ea typeface="华文楷体" panose="02010600040101010101" pitchFamily="2" charset="-122"/>
              </a:rPr>
              <a:t>&gt;next = p;</a:t>
            </a:r>
            <a:endParaRPr lang="en-US" altLang="zh-CN" sz="2000" dirty="0">
              <a:latin typeface="华文楷体" panose="02010600040101010101" pitchFamily="2" charset="-122"/>
              <a:ea typeface="华文楷体" panose="02010600040101010101" pitchFamily="2" charset="-122"/>
            </a:endParaRPr>
          </a:p>
          <a:p>
            <a:pPr>
              <a:lnSpc>
                <a:spcPct val="90000"/>
              </a:lnSpc>
              <a:spcBef>
                <a:spcPct val="0"/>
              </a:spcBef>
              <a:buClrTx/>
              <a:buFontTx/>
              <a:buNone/>
            </a:pPr>
            <a:r>
              <a:rPr lang="zh-CN" altLang="en-US" sz="2000" dirty="0" smtClean="0">
                <a:latin typeface="华文楷体" panose="02010600040101010101" pitchFamily="2" charset="-122"/>
                <a:ea typeface="华文楷体" panose="02010600040101010101" pitchFamily="2" charset="-122"/>
              </a:rPr>
              <a:t>④</a:t>
            </a:r>
            <a:r>
              <a:rPr lang="en-US" altLang="zh-CN" sz="2000" dirty="0" smtClean="0">
                <a:latin typeface="华文楷体" panose="02010600040101010101" pitchFamily="2" charset="-122"/>
                <a:ea typeface="华文楷体" panose="02010600040101010101" pitchFamily="2" charset="-122"/>
              </a:rPr>
              <a:t>current-</a:t>
            </a:r>
            <a:r>
              <a:rPr lang="en-US" altLang="zh-CN" sz="2000" dirty="0">
                <a:latin typeface="华文楷体" panose="02010600040101010101" pitchFamily="2" charset="-122"/>
                <a:ea typeface="华文楷体" panose="02010600040101010101" pitchFamily="2" charset="-122"/>
              </a:rPr>
              <a:t>&gt;next-&gt;</a:t>
            </a:r>
            <a:r>
              <a:rPr lang="en-US" altLang="zh-CN" sz="2000" dirty="0" err="1">
                <a:latin typeface="华文楷体" panose="02010600040101010101" pitchFamily="2" charset="-122"/>
                <a:ea typeface="华文楷体" panose="02010600040101010101" pitchFamily="2" charset="-122"/>
              </a:rPr>
              <a:t>prev</a:t>
            </a:r>
            <a:r>
              <a:rPr lang="en-US" altLang="zh-CN" sz="2000" dirty="0">
                <a:latin typeface="华文楷体" panose="02010600040101010101" pitchFamily="2" charset="-122"/>
                <a:ea typeface="华文楷体" panose="02010600040101010101" pitchFamily="2" charset="-122"/>
              </a:rPr>
              <a:t> = p;</a:t>
            </a:r>
            <a:endParaRPr lang="en-US" altLang="zh-CN" sz="2000" dirty="0">
              <a:latin typeface="华文楷体" panose="02010600040101010101" pitchFamily="2" charset="-122"/>
              <a:ea typeface="华文楷体" panose="02010600040101010101" pitchFamily="2" charset="-122"/>
            </a:endParaRPr>
          </a:p>
          <a:p>
            <a:pPr>
              <a:lnSpc>
                <a:spcPct val="90000"/>
              </a:lnSpc>
              <a:spcBef>
                <a:spcPct val="0"/>
              </a:spcBef>
              <a:buClrTx/>
              <a:buFontTx/>
              <a:buNone/>
            </a:pPr>
            <a:r>
              <a:rPr lang="zh-CN" altLang="en-US" sz="2000" dirty="0" smtClean="0">
                <a:solidFill>
                  <a:srgbClr val="FF0000"/>
                </a:solidFill>
                <a:latin typeface="华文楷体" panose="02010600040101010101" pitchFamily="2" charset="-122"/>
                <a:ea typeface="华文楷体" panose="02010600040101010101" pitchFamily="2" charset="-122"/>
              </a:rPr>
              <a:t>正确语序是？应该遵循何种原则？</a:t>
            </a:r>
            <a:endParaRPr lang="en-US" altLang="zh-CN" sz="2000" dirty="0">
              <a:solidFill>
                <a:srgbClr val="FF0000"/>
              </a:solidFill>
              <a:latin typeface="华文楷体" panose="02010600040101010101" pitchFamily="2" charset="-122"/>
              <a:ea typeface="华文楷体" panose="02010600040101010101" pitchFamily="2" charset="-122"/>
            </a:endParaRPr>
          </a:p>
        </p:txBody>
      </p:sp>
      <p:pic>
        <p:nvPicPr>
          <p:cNvPr id="3482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3" y="5084763"/>
            <a:ext cx="9107487" cy="1517650"/>
          </a:xfrm>
          <a:prstGeom prst="rect">
            <a:avLst/>
          </a:prstGeom>
          <a:noFill/>
          <a:ln w="2222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
        <p:nvSpPr>
          <p:cNvPr id="34825" name="Text Box 7"/>
          <p:cNvSpPr txBox="1">
            <a:spLocks noChangeArrowheads="1"/>
          </p:cNvSpPr>
          <p:nvPr/>
        </p:nvSpPr>
        <p:spPr bwMode="auto">
          <a:xfrm>
            <a:off x="381000" y="1000125"/>
            <a:ext cx="7736566" cy="85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2947" tIns="56473" rIns="112947" bIns="56473">
            <a:spAutoFit/>
          </a:bodyPr>
          <a:lstStyle>
            <a:lvl1pPr defTabSz="112903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defTabSz="112903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defTabSz="1129030">
              <a:spcBef>
                <a:spcPct val="20000"/>
              </a:spcBef>
              <a:buClr>
                <a:schemeClr val="tx1"/>
              </a:buClr>
              <a:buChar char="•"/>
              <a:defRPr sz="2400">
                <a:solidFill>
                  <a:schemeClr val="tx1"/>
                </a:solidFill>
                <a:latin typeface="Arial" panose="020B0604020202020204" pitchFamily="34" charset="0"/>
              </a:defRPr>
            </a:lvl3pPr>
            <a:lvl4pPr marL="1600200" indent="-228600" defTabSz="1129030">
              <a:spcBef>
                <a:spcPct val="20000"/>
              </a:spcBef>
              <a:buChar char="–"/>
              <a:defRPr sz="2000">
                <a:solidFill>
                  <a:schemeClr val="tx1"/>
                </a:solidFill>
                <a:latin typeface="Arial" panose="020B0604020202020204" pitchFamily="34" charset="0"/>
              </a:defRPr>
            </a:lvl4pPr>
            <a:lvl5pPr marL="2057400" indent="-228600" defTabSz="1129030">
              <a:spcBef>
                <a:spcPct val="20000"/>
              </a:spcBef>
              <a:buChar char="»"/>
              <a:defRPr sz="2000">
                <a:solidFill>
                  <a:schemeClr val="tx1"/>
                </a:solidFill>
                <a:latin typeface="Arial" panose="020B0604020202020204" pitchFamily="34" charset="0"/>
              </a:defRPr>
            </a:lvl5pPr>
            <a:lvl6pPr marL="25146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dirty="0">
                <a:solidFill>
                  <a:schemeClr val="accent2"/>
                </a:solidFill>
                <a:latin typeface="华文楷体" panose="02010600040101010101" pitchFamily="2" charset="-122"/>
                <a:ea typeface="华文楷体" panose="02010600040101010101" pitchFamily="2" charset="-122"/>
              </a:rPr>
              <a:t>[</a:t>
            </a:r>
            <a:r>
              <a:rPr lang="zh-CN" altLang="en-US" sz="2400" dirty="0">
                <a:solidFill>
                  <a:schemeClr val="accent2"/>
                </a:solidFill>
                <a:latin typeface="华文楷体" panose="02010600040101010101" pitchFamily="2" charset="-122"/>
                <a:ea typeface="华文楷体" panose="02010600040101010101" pitchFamily="2" charset="-122"/>
              </a:rPr>
              <a:t>例</a:t>
            </a:r>
            <a:r>
              <a:rPr lang="en-US" altLang="zh-CN" sz="2400" dirty="0">
                <a:solidFill>
                  <a:schemeClr val="accent2"/>
                </a:solidFill>
                <a:latin typeface="华文楷体" panose="02010600040101010101" pitchFamily="2" charset="-122"/>
                <a:ea typeface="华文楷体" panose="02010600040101010101" pitchFamily="2" charset="-122"/>
              </a:rPr>
              <a:t>]</a:t>
            </a:r>
            <a:r>
              <a:rPr lang="zh-CN" altLang="en-US" sz="2400" dirty="0">
                <a:solidFill>
                  <a:schemeClr val="accent2"/>
                </a:solidFill>
                <a:latin typeface="华文楷体" panose="02010600040101010101" pitchFamily="2" charset="-122"/>
                <a:ea typeface="华文楷体" panose="02010600040101010101" pitchFamily="2" charset="-122"/>
              </a:rPr>
              <a:t>：在</a:t>
            </a:r>
            <a:r>
              <a:rPr lang="en-US" altLang="zh-CN" sz="2400" dirty="0">
                <a:solidFill>
                  <a:schemeClr val="accent2"/>
                </a:solidFill>
                <a:latin typeface="华文楷体" panose="02010600040101010101" pitchFamily="2" charset="-122"/>
                <a:ea typeface="华文楷体" panose="02010600040101010101" pitchFamily="2" charset="-122"/>
              </a:rPr>
              <a:t>current</a:t>
            </a:r>
            <a:r>
              <a:rPr lang="zh-CN" altLang="en-US" sz="2400" dirty="0">
                <a:solidFill>
                  <a:schemeClr val="accent2"/>
                </a:solidFill>
                <a:latin typeface="华文楷体" panose="02010600040101010101" pitchFamily="2" charset="-122"/>
                <a:ea typeface="华文楷体" panose="02010600040101010101" pitchFamily="2" charset="-122"/>
              </a:rPr>
              <a:t>后插入一个节点</a:t>
            </a:r>
            <a:r>
              <a:rPr lang="en-US" altLang="zh-CN" sz="2400" dirty="0">
                <a:solidFill>
                  <a:schemeClr val="accent2"/>
                </a:solidFill>
                <a:latin typeface="华文楷体" panose="02010600040101010101" pitchFamily="2" charset="-122"/>
                <a:ea typeface="华文楷体" panose="02010600040101010101" pitchFamily="2" charset="-122"/>
              </a:rPr>
              <a:t>p</a:t>
            </a:r>
            <a:r>
              <a:rPr lang="zh-CN" altLang="en-US" sz="2400" dirty="0">
                <a:solidFill>
                  <a:schemeClr val="accent2"/>
                </a:solidFill>
                <a:latin typeface="华文楷体" panose="02010600040101010101" pitchFamily="2" charset="-122"/>
                <a:ea typeface="华文楷体" panose="02010600040101010101" pitchFamily="2" charset="-122"/>
              </a:rPr>
              <a:t>，并用</a:t>
            </a:r>
            <a:r>
              <a:rPr lang="en-US" altLang="zh-CN" sz="2400" dirty="0">
                <a:solidFill>
                  <a:schemeClr val="accent2"/>
                </a:solidFill>
                <a:latin typeface="华文楷体" panose="02010600040101010101" pitchFamily="2" charset="-122"/>
                <a:ea typeface="华文楷体" panose="02010600040101010101" pitchFamily="2" charset="-122"/>
              </a:rPr>
              <a:t>current</a:t>
            </a:r>
            <a:r>
              <a:rPr lang="zh-CN" altLang="en-US" sz="2400" dirty="0">
                <a:solidFill>
                  <a:schemeClr val="accent2"/>
                </a:solidFill>
                <a:latin typeface="华文楷体" panose="02010600040101010101" pitchFamily="2" charset="-122"/>
                <a:ea typeface="华文楷体" panose="02010600040101010101" pitchFamily="2" charset="-122"/>
              </a:rPr>
              <a:t>指向插入</a:t>
            </a:r>
            <a:endParaRPr lang="zh-CN" altLang="en-US" sz="2400" dirty="0">
              <a:solidFill>
                <a:schemeClr val="accent2"/>
              </a:solidFill>
              <a:latin typeface="华文楷体" panose="02010600040101010101" pitchFamily="2" charset="-122"/>
              <a:ea typeface="华文楷体" panose="02010600040101010101" pitchFamily="2" charset="-122"/>
            </a:endParaRPr>
          </a:p>
          <a:p>
            <a:pPr eaLnBrk="1" hangingPunct="1">
              <a:spcBef>
                <a:spcPct val="0"/>
              </a:spcBef>
              <a:buClrTx/>
              <a:buFontTx/>
              <a:buNone/>
            </a:pPr>
            <a:r>
              <a:rPr lang="zh-CN" altLang="en-US" sz="2400" dirty="0">
                <a:solidFill>
                  <a:schemeClr val="accent2"/>
                </a:solidFill>
                <a:latin typeface="华文楷体" panose="02010600040101010101" pitchFamily="2" charset="-122"/>
                <a:ea typeface="华文楷体" panose="02010600040101010101" pitchFamily="2" charset="-122"/>
              </a:rPr>
              <a:t>后的节点</a:t>
            </a:r>
            <a:endParaRPr lang="zh-CN" altLang="en-US" sz="2400" dirty="0">
              <a:solidFill>
                <a:schemeClr val="accent2"/>
              </a:solidFill>
              <a:latin typeface="华文楷体" panose="02010600040101010101" pitchFamily="2" charset="-122"/>
              <a:ea typeface="华文楷体" panose="02010600040101010101" pitchFamily="2" charset="-122"/>
            </a:endParaRPr>
          </a:p>
        </p:txBody>
      </p:sp>
      <p:sp>
        <p:nvSpPr>
          <p:cNvPr id="34826" name="Line 9"/>
          <p:cNvSpPr>
            <a:spLocks noChangeShapeType="1"/>
          </p:cNvSpPr>
          <p:nvPr/>
        </p:nvSpPr>
        <p:spPr bwMode="auto">
          <a:xfrm flipV="1">
            <a:off x="3995738" y="6021388"/>
            <a:ext cx="0" cy="360362"/>
          </a:xfrm>
          <a:prstGeom prst="line">
            <a:avLst/>
          </a:prstGeom>
          <a:noFill/>
          <a:ln w="22225">
            <a:solidFill>
              <a:schemeClr val="accent1"/>
            </a:solidFill>
            <a:rou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dirty="0">
              <a:latin typeface="华文楷体" panose="02010600040101010101" pitchFamily="2" charset="-122"/>
              <a:ea typeface="华文楷体" panose="02010600040101010101" pitchFamily="2" charset="-122"/>
            </a:endParaRPr>
          </a:p>
        </p:txBody>
      </p:sp>
      <p:sp>
        <p:nvSpPr>
          <p:cNvPr id="34827" name="Text Box 10"/>
          <p:cNvSpPr txBox="1">
            <a:spLocks noChangeArrowheads="1"/>
          </p:cNvSpPr>
          <p:nvPr/>
        </p:nvSpPr>
        <p:spPr bwMode="auto">
          <a:xfrm>
            <a:off x="3851275" y="6165850"/>
            <a:ext cx="503238"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b="1" dirty="0">
                <a:solidFill>
                  <a:srgbClr val="FF3300"/>
                </a:solidFill>
                <a:latin typeface="华文楷体" panose="02010600040101010101" pitchFamily="2" charset="-122"/>
                <a:ea typeface="华文楷体" panose="02010600040101010101" pitchFamily="2" charset="-122"/>
              </a:rPr>
              <a:t>p</a:t>
            </a:r>
            <a:endParaRPr lang="en-US" altLang="zh-CN" sz="2400" b="1" dirty="0">
              <a:solidFill>
                <a:srgbClr val="FF3300"/>
              </a:solidFill>
              <a:latin typeface="华文楷体" panose="02010600040101010101" pitchFamily="2" charset="-122"/>
              <a:ea typeface="华文楷体" panose="02010600040101010101" pitchFamily="2" charset="-122"/>
            </a:endParaRPr>
          </a:p>
        </p:txBody>
      </p:sp>
      <p:sp>
        <p:nvSpPr>
          <p:cNvPr id="34828" name="Text Box 20"/>
          <p:cNvSpPr txBox="1">
            <a:spLocks noChangeArrowheads="1"/>
          </p:cNvSpPr>
          <p:nvPr/>
        </p:nvSpPr>
        <p:spPr bwMode="auto">
          <a:xfrm>
            <a:off x="8388350" y="4941888"/>
            <a:ext cx="503238"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b="1" dirty="0">
                <a:solidFill>
                  <a:srgbClr val="FF3300"/>
                </a:solidFill>
                <a:latin typeface="华文楷体" panose="02010600040101010101" pitchFamily="2" charset="-122"/>
                <a:ea typeface="华文楷体" panose="02010600040101010101" pitchFamily="2" charset="-122"/>
              </a:rPr>
              <a:t>p</a:t>
            </a:r>
            <a:endParaRPr lang="en-US" altLang="zh-CN" sz="2400" b="1" dirty="0">
              <a:solidFill>
                <a:srgbClr val="FF3300"/>
              </a:solidFill>
              <a:latin typeface="华文楷体" panose="02010600040101010101" pitchFamily="2" charset="-122"/>
              <a:ea typeface="华文楷体" panose="02010600040101010101" pitchFamily="2" charset="-122"/>
            </a:endParaRPr>
          </a:p>
        </p:txBody>
      </p:sp>
      <p:sp>
        <p:nvSpPr>
          <p:cNvPr id="34829" name="Line 21"/>
          <p:cNvSpPr>
            <a:spLocks noChangeShapeType="1"/>
          </p:cNvSpPr>
          <p:nvPr/>
        </p:nvSpPr>
        <p:spPr bwMode="auto">
          <a:xfrm>
            <a:off x="8243888" y="4941888"/>
            <a:ext cx="0" cy="503237"/>
          </a:xfrm>
          <a:prstGeom prst="line">
            <a:avLst/>
          </a:prstGeom>
          <a:noFill/>
          <a:ln w="22225">
            <a:solidFill>
              <a:schemeClr val="accent1"/>
            </a:solidFill>
            <a:rou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dirty="0">
              <a:latin typeface="华文楷体" panose="02010600040101010101" pitchFamily="2" charset="-122"/>
              <a:ea typeface="华文楷体" panose="02010600040101010101" pitchFamily="2" charset="-122"/>
            </a:endParaRPr>
          </a:p>
        </p:txBody>
      </p:sp>
      <p:sp>
        <p:nvSpPr>
          <p:cNvPr id="14" name="文本框 13"/>
          <p:cNvSpPr txBox="1"/>
          <p:nvPr/>
        </p:nvSpPr>
        <p:spPr>
          <a:xfrm>
            <a:off x="260006" y="1758365"/>
            <a:ext cx="2727818" cy="2031325"/>
          </a:xfrm>
          <a:prstGeom prst="rect">
            <a:avLst/>
          </a:prstGeom>
          <a:noFill/>
          <a:ln>
            <a:solidFill>
              <a:srgbClr val="92D050"/>
            </a:solidFill>
          </a:ln>
        </p:spPr>
        <p:txBody>
          <a:bodyPr wrap="square" rtlCol="0">
            <a:spAutoFit/>
          </a:bodyPr>
          <a:lstStyle/>
          <a:p>
            <a:pPr eaLnBrk="1" hangingPunct="1">
              <a:buFont typeface="Wingdings" panose="05000000000000000000" pitchFamily="2" charset="2"/>
              <a:buNone/>
            </a:pPr>
            <a:r>
              <a:rPr lang="zh-CN" altLang="en-US" dirty="0" smtClean="0">
                <a:latin typeface="华文楷体" panose="02010600040101010101" pitchFamily="2" charset="-122"/>
                <a:ea typeface="华文楷体" panose="02010600040101010101" pitchFamily="2" charset="-122"/>
              </a:rPr>
              <a:t>双链表结点定义</a:t>
            </a:r>
            <a:endParaRPr lang="en-US" altLang="zh-CN" dirty="0" smtClean="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dirty="0" err="1" smtClean="0">
                <a:latin typeface="华文楷体" panose="02010600040101010101" pitchFamily="2" charset="-122"/>
                <a:ea typeface="华文楷体" panose="02010600040101010101" pitchFamily="2" charset="-122"/>
              </a:rPr>
              <a:t>struct</a:t>
            </a:r>
            <a:r>
              <a:rPr lang="en-US" altLang="zh-CN" dirty="0" smtClean="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node</a:t>
            </a:r>
            <a:endParaRPr lang="en-US" altLang="zh-CN"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dirty="0" smtClean="0">
                <a:latin typeface="华文楷体" panose="02010600040101010101" pitchFamily="2" charset="-122"/>
                <a:ea typeface="华文楷体" panose="02010600040101010101" pitchFamily="2" charset="-122"/>
              </a:rPr>
              <a:t>{</a:t>
            </a:r>
            <a:endParaRPr lang="en-US" altLang="zh-CN" dirty="0" smtClean="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r>
              <a:rPr lang="en-US" altLang="zh-CN" dirty="0" err="1" smtClean="0">
                <a:latin typeface="华文楷体" panose="02010600040101010101" pitchFamily="2" charset="-122"/>
                <a:ea typeface="华文楷体" panose="02010600040101010101" pitchFamily="2" charset="-122"/>
              </a:rPr>
              <a:t>elemtype</a:t>
            </a:r>
            <a:r>
              <a:rPr lang="en-US" altLang="zh-CN" dirty="0" smtClean="0">
                <a:latin typeface="华文楷体" panose="02010600040101010101" pitchFamily="2" charset="-122"/>
                <a:ea typeface="华文楷体" panose="02010600040101010101" pitchFamily="2" charset="-122"/>
              </a:rPr>
              <a:t> data;</a:t>
            </a:r>
            <a:endParaRPr lang="en-US" altLang="zh-CN" dirty="0" smtClean="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r>
              <a:rPr lang="en-US" altLang="zh-CN" dirty="0" err="1" smtClean="0">
                <a:latin typeface="华文楷体" panose="02010600040101010101" pitchFamily="2" charset="-122"/>
                <a:ea typeface="华文楷体" panose="02010600040101010101" pitchFamily="2" charset="-122"/>
              </a:rPr>
              <a:t>struct</a:t>
            </a:r>
            <a:r>
              <a:rPr lang="en-US" altLang="zh-CN" dirty="0" smtClean="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node </a:t>
            </a:r>
            <a:r>
              <a:rPr lang="zh-CN" altLang="en-US" dirty="0">
                <a:latin typeface="华文楷体" panose="02010600040101010101" pitchFamily="2" charset="-122"/>
                <a:ea typeface="华文楷体" panose="02010600040101010101" pitchFamily="2" charset="-122"/>
              </a:rPr>
              <a:t>*</a:t>
            </a:r>
            <a:r>
              <a:rPr lang="en-US" altLang="zh-CN" dirty="0" smtClean="0">
                <a:latin typeface="华文楷体" panose="02010600040101010101" pitchFamily="2" charset="-122"/>
                <a:ea typeface="华文楷体" panose="02010600040101010101" pitchFamily="2" charset="-122"/>
              </a:rPr>
              <a:t>next, </a:t>
            </a:r>
            <a:r>
              <a:rPr lang="en-US" altLang="zh-CN" dirty="0" err="1" smtClean="0">
                <a:latin typeface="华文楷体" panose="02010600040101010101" pitchFamily="2" charset="-122"/>
                <a:ea typeface="华文楷体" panose="02010600040101010101" pitchFamily="2" charset="-122"/>
              </a:rPr>
              <a:t>prev</a:t>
            </a:r>
            <a:r>
              <a:rPr lang="en-US" altLang="zh-CN" dirty="0" smtClean="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endParaRPr lang="zh-CN" altLang="en-US" dirty="0">
              <a:latin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8725"/>
                                        </p:tgtEl>
                                        <p:attrNameLst>
                                          <p:attrName>style.visibility</p:attrName>
                                        </p:attrNameLst>
                                      </p:cBhvr>
                                      <p:to>
                                        <p:strVal val="visible"/>
                                      </p:to>
                                    </p:set>
                                    <p:anim calcmode="lin" valueType="num">
                                      <p:cBhvr additive="base">
                                        <p:cTn id="7" dur="500" fill="hold"/>
                                        <p:tgtEl>
                                          <p:spTgt spid="158725"/>
                                        </p:tgtEl>
                                        <p:attrNameLst>
                                          <p:attrName>ppt_x</p:attrName>
                                        </p:attrNameLst>
                                      </p:cBhvr>
                                      <p:tavLst>
                                        <p:tav tm="0">
                                          <p:val>
                                            <p:strVal val="#ppt_x"/>
                                          </p:val>
                                        </p:tav>
                                        <p:tav tm="100000">
                                          <p:val>
                                            <p:strVal val="#ppt_x"/>
                                          </p:val>
                                        </p:tav>
                                      </p:tavLst>
                                    </p:anim>
                                    <p:anim calcmode="lin" valueType="num">
                                      <p:cBhvr additive="base">
                                        <p:cTn id="8" dur="500" fill="hold"/>
                                        <p:tgtEl>
                                          <p:spTgt spid="158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pPr algn="l"/>
            <a:r>
              <a:rPr lang="zh-CN" altLang="en-US" sz="2400" dirty="0" smtClean="0">
                <a:ea typeface="华文楷体" panose="02010600040101010101" pitchFamily="2" charset="-122"/>
              </a:rPr>
              <a:t>双向循环有序链表的插入算法</a:t>
            </a:r>
            <a:endParaRPr lang="zh-CN" altLang="en-US" sz="2400" dirty="0" smtClean="0">
              <a:ea typeface="华文楷体" panose="02010600040101010101" pitchFamily="2" charset="-122"/>
            </a:endParaRPr>
          </a:p>
        </p:txBody>
      </p:sp>
      <p:sp>
        <p:nvSpPr>
          <p:cNvPr id="35843" name="内容占位符 2"/>
          <p:cNvSpPr>
            <a:spLocks noGrp="1"/>
          </p:cNvSpPr>
          <p:nvPr>
            <p:ph idx="1"/>
          </p:nvPr>
        </p:nvSpPr>
        <p:spPr>
          <a:xfrm>
            <a:off x="487262" y="1119495"/>
            <a:ext cx="8229600" cy="5444827"/>
          </a:xfrm>
          <a:ln>
            <a:solidFill>
              <a:srgbClr val="92D050"/>
            </a:solidFill>
          </a:ln>
        </p:spPr>
        <p:txBody>
          <a:bodyPr/>
          <a:lstStyle/>
          <a:p>
            <a:pPr marL="0" indent="0">
              <a:buFont typeface="Wingdings" panose="05000000000000000000" pitchFamily="2" charset="2"/>
              <a:buNone/>
            </a:pPr>
            <a:r>
              <a:rPr lang="en-US" altLang="zh-CN" sz="2000" dirty="0" err="1" smtClean="0">
                <a:ea typeface="华文楷体" panose="02010600040101010101" pitchFamily="2" charset="-122"/>
              </a:rPr>
              <a:t>int</a:t>
            </a:r>
            <a:r>
              <a:rPr lang="en-US" altLang="zh-CN" sz="2000" dirty="0" smtClean="0">
                <a:ea typeface="华文楷体" panose="02010600040101010101" pitchFamily="2" charset="-122"/>
              </a:rPr>
              <a:t> insert</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Node</a:t>
            </a:r>
            <a:r>
              <a:rPr lang="zh-CN" altLang="en-US" sz="2000" dirty="0" smtClean="0">
                <a:ea typeface="华文楷体" panose="02010600040101010101" pitchFamily="2" charset="-122"/>
              </a:rPr>
              <a:t>* </a:t>
            </a:r>
            <a:r>
              <a:rPr lang="en-US" altLang="zh-CN" sz="2000" dirty="0" smtClean="0">
                <a:ea typeface="华文楷体" panose="02010600040101010101" pitchFamily="2" charset="-122"/>
              </a:rPr>
              <a:t>head, </a:t>
            </a:r>
            <a:r>
              <a:rPr lang="en-US" altLang="zh-CN" sz="2000" dirty="0" err="1" smtClean="0">
                <a:ea typeface="华文楷体" panose="02010600040101010101" pitchFamily="2" charset="-122"/>
              </a:rPr>
              <a:t>int</a:t>
            </a:r>
            <a:r>
              <a:rPr lang="en-US" altLang="zh-CN" sz="2000" dirty="0" smtClean="0">
                <a:ea typeface="华文楷体" panose="02010600040101010101" pitchFamily="2" charset="-122"/>
              </a:rPr>
              <a:t> value</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Font typeface="Wingdings" panose="05000000000000000000" pitchFamily="2" charset="2"/>
              <a:buNone/>
            </a:pPr>
            <a:r>
              <a:rPr lang="en-US" altLang="zh-CN" sz="2000" dirty="0" smtClean="0">
                <a:ea typeface="华文楷体" panose="02010600040101010101" pitchFamily="2" charset="-122"/>
              </a:rPr>
              <a:t>	Node *</a:t>
            </a:r>
            <a:r>
              <a:rPr lang="en-US" altLang="zh-CN" sz="2000" dirty="0" err="1" smtClean="0">
                <a:ea typeface="华文楷体" panose="02010600040101010101" pitchFamily="2" charset="-122"/>
              </a:rPr>
              <a:t>thisnode</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nextnode,newnode</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Font typeface="Wingdings" panose="05000000000000000000" pitchFamily="2" charset="2"/>
              <a:buNone/>
            </a:pPr>
            <a:r>
              <a:rPr lang="en-US" altLang="zh-CN" sz="2000" dirty="0" smtClean="0">
                <a:ea typeface="华文楷体" panose="02010600040101010101" pitchFamily="2" charset="-122"/>
              </a:rPr>
              <a:t>	for (</a:t>
            </a:r>
            <a:r>
              <a:rPr lang="en-US" altLang="zh-CN" sz="2000" dirty="0" err="1" smtClean="0">
                <a:ea typeface="华文楷体" panose="02010600040101010101" pitchFamily="2" charset="-122"/>
              </a:rPr>
              <a:t>thisnode</a:t>
            </a:r>
            <a:r>
              <a:rPr lang="en-US" altLang="zh-CN" sz="2000" dirty="0" smtClean="0">
                <a:ea typeface="华文楷体" panose="02010600040101010101" pitchFamily="2" charset="-122"/>
              </a:rPr>
              <a:t>=head; (</a:t>
            </a:r>
            <a:r>
              <a:rPr lang="en-US" altLang="zh-CN" sz="2000" dirty="0" err="1" smtClean="0">
                <a:ea typeface="华文楷体" panose="02010600040101010101" pitchFamily="2" charset="-122"/>
              </a:rPr>
              <a:t>nextnode</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thisnode</a:t>
            </a:r>
            <a:r>
              <a:rPr lang="en-US" altLang="zh-CN" sz="2000" dirty="0" smtClean="0">
                <a:ea typeface="华文楷体" panose="02010600040101010101" pitchFamily="2" charset="-122"/>
              </a:rPr>
              <a:t>-&gt;next)!=head; 	</a:t>
            </a:r>
            <a:r>
              <a:rPr lang="en-US" altLang="zh-CN" sz="2000" dirty="0" err="1" smtClean="0">
                <a:ea typeface="华文楷体" panose="02010600040101010101" pitchFamily="2" charset="-122"/>
              </a:rPr>
              <a:t>thisnode</a:t>
            </a: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nextnode</a:t>
            </a: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marL="0" indent="0">
              <a:buFont typeface="Wingdings" panose="05000000000000000000" pitchFamily="2" charset="2"/>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if (</a:t>
            </a:r>
            <a:r>
              <a:rPr lang="en-US" altLang="zh-CN" sz="2000" dirty="0" err="1" smtClean="0">
                <a:ea typeface="华文楷体" panose="02010600040101010101" pitchFamily="2" charset="-122"/>
              </a:rPr>
              <a:t>nextnode</a:t>
            </a:r>
            <a:r>
              <a:rPr lang="en-US" altLang="zh-CN" sz="2000" dirty="0" smtClean="0">
                <a:ea typeface="华文楷体" panose="02010600040101010101" pitchFamily="2" charset="-122"/>
              </a:rPr>
              <a:t>-&gt;data==value)	return 0;</a:t>
            </a:r>
            <a:endParaRPr lang="en-US" altLang="zh-CN" sz="2000" dirty="0" smtClean="0">
              <a:ea typeface="华文楷体" panose="02010600040101010101" pitchFamily="2" charset="-122"/>
            </a:endParaRPr>
          </a:p>
          <a:p>
            <a:pPr marL="0" indent="0">
              <a:buFont typeface="Wingdings" panose="05000000000000000000" pitchFamily="2" charset="2"/>
              <a:buNone/>
            </a:pPr>
            <a:r>
              <a:rPr lang="en-US" altLang="zh-CN" sz="2000" dirty="0" smtClean="0">
                <a:ea typeface="华文楷体" panose="02010600040101010101" pitchFamily="2" charset="-122"/>
              </a:rPr>
              <a:t>	    if (</a:t>
            </a:r>
            <a:r>
              <a:rPr lang="en-US" altLang="zh-CN" sz="2000" dirty="0" err="1" smtClean="0">
                <a:ea typeface="华文楷体" panose="02010600040101010101" pitchFamily="2" charset="-122"/>
              </a:rPr>
              <a:t>nextnode</a:t>
            </a:r>
            <a:r>
              <a:rPr lang="en-US" altLang="zh-CN" sz="2000" dirty="0" smtClean="0">
                <a:ea typeface="华文楷体" panose="02010600040101010101" pitchFamily="2" charset="-122"/>
              </a:rPr>
              <a:t>-&gt;data &gt; value)	break;</a:t>
            </a:r>
            <a:endParaRPr lang="en-US" altLang="zh-CN" sz="2000" dirty="0" smtClean="0">
              <a:ea typeface="华文楷体" panose="02010600040101010101" pitchFamily="2" charset="-122"/>
            </a:endParaRPr>
          </a:p>
          <a:p>
            <a:pPr marL="0" indent="0">
              <a:buFont typeface="Wingdings" panose="05000000000000000000" pitchFamily="2" charset="2"/>
              <a:buNone/>
            </a:pP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marL="0" indent="0">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newnode</a:t>
            </a:r>
            <a:r>
              <a:rPr lang="en-US" altLang="zh-CN" sz="2000" dirty="0" smtClean="0">
                <a:ea typeface="华文楷体" panose="02010600040101010101" pitchFamily="2" charset="-122"/>
              </a:rPr>
              <a:t> = (Node*) </a:t>
            </a:r>
            <a:r>
              <a:rPr lang="en-US" altLang="zh-CN" sz="2000" dirty="0" err="1" smtClean="0">
                <a:ea typeface="华文楷体" panose="02010600040101010101" pitchFamily="2" charset="-122"/>
              </a:rPr>
              <a:t>malloc</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sizeof</a:t>
            </a:r>
            <a:r>
              <a:rPr lang="en-US" altLang="zh-CN" sz="2000" dirty="0" smtClean="0">
                <a:ea typeface="华文楷体" panose="02010600040101010101" pitchFamily="2" charset="-122"/>
              </a:rPr>
              <a:t>(Node));</a:t>
            </a:r>
            <a:endParaRPr lang="en-US" altLang="zh-CN" sz="2000" dirty="0" smtClean="0">
              <a:ea typeface="华文楷体" panose="02010600040101010101" pitchFamily="2" charset="-122"/>
            </a:endParaRPr>
          </a:p>
          <a:p>
            <a:pPr marL="0" indent="0">
              <a:buFont typeface="Wingdings" panose="05000000000000000000" pitchFamily="2" charset="2"/>
              <a:buNone/>
            </a:pPr>
            <a:r>
              <a:rPr lang="en-US" altLang="zh-CN" sz="2000" dirty="0" smtClean="0">
                <a:ea typeface="华文楷体" panose="02010600040101010101" pitchFamily="2" charset="-122"/>
              </a:rPr>
              <a:t>	if (</a:t>
            </a:r>
            <a:r>
              <a:rPr lang="en-US" altLang="zh-CN" sz="2000" dirty="0" err="1" smtClean="0">
                <a:ea typeface="华文楷体" panose="02010600040101010101" pitchFamily="2" charset="-122"/>
              </a:rPr>
              <a:t>newnode</a:t>
            </a:r>
            <a:r>
              <a:rPr lang="en-US" altLang="zh-CN" sz="2000" dirty="0" smtClean="0">
                <a:ea typeface="华文楷体" panose="02010600040101010101" pitchFamily="2" charset="-122"/>
              </a:rPr>
              <a:t> == NULL) return -1</a:t>
            </a:r>
            <a:r>
              <a:rPr lang="zh-CN" altLang="en-US"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nextnode</a:t>
            </a:r>
            <a:r>
              <a:rPr lang="en-US" altLang="zh-CN" sz="2000" dirty="0" smtClean="0">
                <a:ea typeface="华文楷体" panose="02010600040101010101" pitchFamily="2" charset="-122"/>
              </a:rPr>
              <a:t>-&gt;data= value;</a:t>
            </a:r>
            <a:endParaRPr lang="en-US" altLang="zh-CN" sz="2000" dirty="0" smtClean="0">
              <a:ea typeface="华文楷体" panose="02010600040101010101" pitchFamily="2" charset="-122"/>
            </a:endParaRPr>
          </a:p>
          <a:p>
            <a:pPr marL="0" indent="0">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solidFill>
                  <a:srgbClr val="FF0000"/>
                </a:solidFill>
                <a:ea typeface="华文楷体" panose="02010600040101010101" pitchFamily="2" charset="-122"/>
              </a:rPr>
              <a:t>newnode</a:t>
            </a:r>
            <a:r>
              <a:rPr lang="en-US" altLang="zh-CN" sz="2000" dirty="0" smtClean="0">
                <a:solidFill>
                  <a:srgbClr val="FF0000"/>
                </a:solidFill>
                <a:ea typeface="华文楷体" panose="02010600040101010101" pitchFamily="2" charset="-122"/>
              </a:rPr>
              <a:t>-&gt;next = </a:t>
            </a:r>
            <a:r>
              <a:rPr lang="en-US" altLang="zh-CN" sz="2000" dirty="0" err="1" smtClean="0">
                <a:solidFill>
                  <a:srgbClr val="FF0000"/>
                </a:solidFill>
                <a:ea typeface="华文楷体" panose="02010600040101010101" pitchFamily="2" charset="-122"/>
              </a:rPr>
              <a:t>nextnode</a:t>
            </a:r>
            <a:r>
              <a:rPr lang="en-US" altLang="zh-CN" sz="2000" dirty="0" smtClean="0">
                <a:solidFill>
                  <a:srgbClr val="FF0000"/>
                </a:solidFill>
                <a:ea typeface="华文楷体" panose="02010600040101010101" pitchFamily="2" charset="-122"/>
              </a:rPr>
              <a:t>;</a:t>
            </a:r>
            <a:endParaRPr lang="en-US" altLang="zh-CN" sz="2000" dirty="0" smtClean="0">
              <a:solidFill>
                <a:srgbClr val="FF0000"/>
              </a:solidFill>
              <a:ea typeface="华文楷体" panose="02010600040101010101" pitchFamily="2" charset="-122"/>
            </a:endParaRPr>
          </a:p>
          <a:p>
            <a:pPr marL="0" indent="0">
              <a:buFont typeface="Wingdings" panose="05000000000000000000" pitchFamily="2" charset="2"/>
              <a:buNone/>
            </a:pPr>
            <a:r>
              <a:rPr lang="en-US" altLang="zh-CN" sz="2000" dirty="0" smtClean="0">
                <a:solidFill>
                  <a:srgbClr val="FF0000"/>
                </a:solidFill>
                <a:ea typeface="华文楷体" panose="02010600040101010101" pitchFamily="2" charset="-122"/>
              </a:rPr>
              <a:t>	</a:t>
            </a:r>
            <a:r>
              <a:rPr lang="en-US" altLang="zh-CN" sz="2000" dirty="0" err="1" smtClean="0">
                <a:solidFill>
                  <a:srgbClr val="FF0000"/>
                </a:solidFill>
                <a:ea typeface="华文楷体" panose="02010600040101010101" pitchFamily="2" charset="-122"/>
              </a:rPr>
              <a:t>thisnode</a:t>
            </a:r>
            <a:r>
              <a:rPr lang="en-US" altLang="zh-CN" sz="2000" dirty="0" smtClean="0">
                <a:solidFill>
                  <a:srgbClr val="FF0000"/>
                </a:solidFill>
                <a:ea typeface="华文楷体" panose="02010600040101010101" pitchFamily="2" charset="-122"/>
              </a:rPr>
              <a:t>-&gt;next = </a:t>
            </a:r>
            <a:r>
              <a:rPr lang="en-US" altLang="zh-CN" sz="2000" dirty="0" err="1" smtClean="0">
                <a:solidFill>
                  <a:srgbClr val="FF0000"/>
                </a:solidFill>
                <a:ea typeface="华文楷体" panose="02010600040101010101" pitchFamily="2" charset="-122"/>
              </a:rPr>
              <a:t>newnode</a:t>
            </a:r>
            <a:r>
              <a:rPr lang="en-US" altLang="zh-CN" sz="2000" dirty="0" smtClean="0">
                <a:solidFill>
                  <a:srgbClr val="FF0000"/>
                </a:solidFill>
                <a:ea typeface="华文楷体" panose="02010600040101010101" pitchFamily="2" charset="-122"/>
              </a:rPr>
              <a:t>;</a:t>
            </a:r>
            <a:endParaRPr lang="en-US" altLang="zh-CN" sz="2000" dirty="0" smtClean="0">
              <a:solidFill>
                <a:srgbClr val="FF0000"/>
              </a:solidFill>
              <a:ea typeface="华文楷体" panose="02010600040101010101" pitchFamily="2" charset="-122"/>
            </a:endParaRPr>
          </a:p>
          <a:p>
            <a:pPr marL="0" indent="0">
              <a:buFont typeface="Wingdings" panose="05000000000000000000" pitchFamily="2" charset="2"/>
              <a:buNone/>
            </a:pPr>
            <a:r>
              <a:rPr lang="en-US" altLang="zh-CN" sz="2000" dirty="0" smtClean="0">
                <a:solidFill>
                  <a:srgbClr val="FF0000"/>
                </a:solidFill>
                <a:ea typeface="华文楷体" panose="02010600040101010101" pitchFamily="2" charset="-122"/>
              </a:rPr>
              <a:t>	</a:t>
            </a:r>
            <a:r>
              <a:rPr lang="en-US" altLang="zh-CN" sz="2000" dirty="0" err="1" smtClean="0">
                <a:solidFill>
                  <a:srgbClr val="FF0000"/>
                </a:solidFill>
                <a:ea typeface="华文楷体" panose="02010600040101010101" pitchFamily="2" charset="-122"/>
              </a:rPr>
              <a:t>newnode</a:t>
            </a:r>
            <a:r>
              <a:rPr lang="en-US" altLang="zh-CN" sz="2000" dirty="0" smtClean="0">
                <a:solidFill>
                  <a:srgbClr val="FF0000"/>
                </a:solidFill>
                <a:ea typeface="华文楷体" panose="02010600040101010101" pitchFamily="2" charset="-122"/>
              </a:rPr>
              <a:t>-&gt;</a:t>
            </a:r>
            <a:r>
              <a:rPr lang="en-US" altLang="zh-CN" sz="2000" dirty="0" err="1" smtClean="0">
                <a:solidFill>
                  <a:srgbClr val="FF0000"/>
                </a:solidFill>
                <a:ea typeface="华文楷体" panose="02010600040101010101" pitchFamily="2" charset="-122"/>
              </a:rPr>
              <a:t>prev</a:t>
            </a:r>
            <a:r>
              <a:rPr lang="en-US" altLang="zh-CN" sz="2000" dirty="0" smtClean="0">
                <a:solidFill>
                  <a:srgbClr val="FF0000"/>
                </a:solidFill>
                <a:ea typeface="华文楷体" panose="02010600040101010101" pitchFamily="2" charset="-122"/>
              </a:rPr>
              <a:t> = </a:t>
            </a:r>
            <a:r>
              <a:rPr lang="en-US" altLang="zh-CN" sz="2000" dirty="0" err="1" smtClean="0">
                <a:solidFill>
                  <a:srgbClr val="FF0000"/>
                </a:solidFill>
                <a:ea typeface="华文楷体" panose="02010600040101010101" pitchFamily="2" charset="-122"/>
              </a:rPr>
              <a:t>thisnode</a:t>
            </a:r>
            <a:r>
              <a:rPr lang="en-US" altLang="zh-CN" sz="2000" dirty="0" smtClean="0">
                <a:solidFill>
                  <a:srgbClr val="FF0000"/>
                </a:solidFill>
                <a:ea typeface="华文楷体" panose="02010600040101010101" pitchFamily="2" charset="-122"/>
              </a:rPr>
              <a:t>;</a:t>
            </a:r>
            <a:endParaRPr lang="en-US" altLang="zh-CN" sz="2000" dirty="0" smtClean="0">
              <a:solidFill>
                <a:srgbClr val="FF0000"/>
              </a:solidFill>
              <a:ea typeface="华文楷体" panose="02010600040101010101" pitchFamily="2" charset="-122"/>
            </a:endParaRPr>
          </a:p>
          <a:p>
            <a:pPr marL="0" indent="0">
              <a:buFont typeface="Wingdings" panose="05000000000000000000" pitchFamily="2" charset="2"/>
              <a:buNone/>
            </a:pPr>
            <a:r>
              <a:rPr lang="en-US" altLang="zh-CN" sz="2000" dirty="0" smtClean="0">
                <a:solidFill>
                  <a:srgbClr val="FF0000"/>
                </a:solidFill>
                <a:ea typeface="华文楷体" panose="02010600040101010101" pitchFamily="2" charset="-122"/>
              </a:rPr>
              <a:t>	</a:t>
            </a:r>
            <a:r>
              <a:rPr lang="en-US" altLang="zh-CN" sz="2000" dirty="0" err="1" smtClean="0">
                <a:solidFill>
                  <a:srgbClr val="FF0000"/>
                </a:solidFill>
                <a:ea typeface="华文楷体" panose="02010600040101010101" pitchFamily="2" charset="-122"/>
              </a:rPr>
              <a:t>nextnode</a:t>
            </a:r>
            <a:r>
              <a:rPr lang="en-US" altLang="zh-CN" sz="2000" dirty="0" smtClean="0">
                <a:solidFill>
                  <a:srgbClr val="FF0000"/>
                </a:solidFill>
                <a:ea typeface="华文楷体" panose="02010600040101010101" pitchFamily="2" charset="-122"/>
              </a:rPr>
              <a:t>-&gt;</a:t>
            </a:r>
            <a:r>
              <a:rPr lang="en-US" altLang="zh-CN" sz="2000" dirty="0" err="1" smtClean="0">
                <a:solidFill>
                  <a:srgbClr val="FF0000"/>
                </a:solidFill>
                <a:ea typeface="华文楷体" panose="02010600040101010101" pitchFamily="2" charset="-122"/>
              </a:rPr>
              <a:t>prev</a:t>
            </a:r>
            <a:r>
              <a:rPr lang="en-US" altLang="zh-CN" sz="2000" dirty="0" smtClean="0">
                <a:solidFill>
                  <a:srgbClr val="FF0000"/>
                </a:solidFill>
                <a:ea typeface="华文楷体" panose="02010600040101010101" pitchFamily="2" charset="-122"/>
              </a:rPr>
              <a:t> =</a:t>
            </a:r>
            <a:r>
              <a:rPr lang="en-US" altLang="zh-CN" sz="2000" dirty="0" err="1" smtClean="0">
                <a:solidFill>
                  <a:srgbClr val="FF0000"/>
                </a:solidFill>
                <a:ea typeface="华文楷体" panose="02010600040101010101" pitchFamily="2" charset="-122"/>
              </a:rPr>
              <a:t>newnode</a:t>
            </a:r>
            <a:r>
              <a:rPr lang="en-US" altLang="zh-CN" sz="2000" dirty="0" smtClean="0">
                <a:solidFill>
                  <a:srgbClr val="FF0000"/>
                </a:solidFill>
                <a:ea typeface="华文楷体" panose="02010600040101010101" pitchFamily="2" charset="-122"/>
              </a:rPr>
              <a:t>;</a:t>
            </a:r>
            <a:endParaRPr lang="en-US" altLang="zh-CN" sz="2000" dirty="0" smtClean="0">
              <a:solidFill>
                <a:srgbClr val="FF0000"/>
              </a:solidFill>
              <a:ea typeface="华文楷体" panose="02010600040101010101" pitchFamily="2" charset="-122"/>
            </a:endParaRPr>
          </a:p>
          <a:p>
            <a:pPr marL="0" indent="0">
              <a:buFont typeface="Wingdings" panose="05000000000000000000" pitchFamily="2" charset="2"/>
              <a:buNone/>
            </a:pPr>
            <a:r>
              <a:rPr lang="en-US" altLang="zh-CN" sz="2000" dirty="0" smtClean="0">
                <a:ea typeface="华文楷体" panose="02010600040101010101" pitchFamily="2" charset="-122"/>
              </a:rPr>
              <a:t>              return 1;}</a:t>
            </a:r>
            <a:endParaRPr lang="zh-CN" altLang="en-US" sz="2000" dirty="0" smtClean="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3584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CE59CEC5-4DA0-4CF8-B57B-A389478B2CFB}"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4"/>
          <p:cNvSpPr>
            <a:spLocks noGrp="1"/>
          </p:cNvSpPr>
          <p:nvPr>
            <p:ph type="ftr" sz="quarter" idx="10"/>
          </p:nvPr>
        </p:nvSpPr>
        <p:spPr/>
        <p:txBody>
          <a:bodyPr/>
          <a:lstStyle/>
          <a:p>
            <a:pPr>
              <a:defRPr/>
            </a:pPr>
            <a:r>
              <a:rPr lang="en-US" altLang="zh-CN"/>
              <a:t>BUPT SCST</a:t>
            </a:r>
            <a:endParaRPr lang="en-US" altLang="zh-CN"/>
          </a:p>
        </p:txBody>
      </p:sp>
      <p:sp>
        <p:nvSpPr>
          <p:cNvPr id="36867" name="灯片编号占位符 5"/>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61F5F088-4971-4190-A558-69E4C6550F1D}"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10" name="日期占位符 6"/>
          <p:cNvSpPr>
            <a:spLocks noGrp="1"/>
          </p:cNvSpPr>
          <p:nvPr>
            <p:ph type="dt" sz="quarter" idx="12"/>
          </p:nvPr>
        </p:nvSpPr>
        <p:spPr/>
        <p:txBody>
          <a:bodyPr/>
          <a:lstStyle/>
          <a:p>
            <a:pPr>
              <a:defRPr/>
            </a:pPr>
            <a:r>
              <a:rPr lang="en-US" altLang="zh-CN"/>
              <a:t>BUPT</a:t>
            </a:r>
            <a:endParaRPr lang="en-US" altLang="zh-CN"/>
          </a:p>
        </p:txBody>
      </p:sp>
      <p:sp>
        <p:nvSpPr>
          <p:cNvPr id="36869" name="Rectangle 2"/>
          <p:cNvSpPr>
            <a:spLocks noGrp="1" noChangeArrowheads="1"/>
          </p:cNvSpPr>
          <p:nvPr>
            <p:ph type="title"/>
          </p:nvPr>
        </p:nvSpPr>
        <p:spPr>
          <a:xfrm>
            <a:off x="304800" y="152400"/>
            <a:ext cx="8458200" cy="376238"/>
          </a:xfrm>
        </p:spPr>
        <p:txBody>
          <a:bodyPr/>
          <a:lstStyle/>
          <a:p>
            <a:pPr algn="l" eaLnBrk="1" hangingPunct="1"/>
            <a:r>
              <a:rPr lang="zh-CN" altLang="en-US" sz="2800" dirty="0" smtClean="0">
                <a:ea typeface="华文楷体" panose="02010600040101010101" pitchFamily="2" charset="-122"/>
              </a:rPr>
              <a:t>顺序表和链表的比较</a:t>
            </a:r>
            <a:endParaRPr lang="zh-CN" altLang="en-US" sz="2800" u="sng" dirty="0" smtClean="0">
              <a:ea typeface="华文楷体" panose="02010600040101010101" pitchFamily="2" charset="-122"/>
            </a:endParaRPr>
          </a:p>
        </p:txBody>
      </p:sp>
      <p:sp>
        <p:nvSpPr>
          <p:cNvPr id="36870" name="Rectangle 3"/>
          <p:cNvSpPr>
            <a:spLocks noGrp="1" noChangeArrowheads="1"/>
          </p:cNvSpPr>
          <p:nvPr>
            <p:ph type="body" sz="half" idx="1"/>
          </p:nvPr>
        </p:nvSpPr>
        <p:spPr>
          <a:xfrm>
            <a:off x="685800" y="1676400"/>
            <a:ext cx="3810000" cy="4419600"/>
          </a:xfrm>
        </p:spPr>
        <p:txBody>
          <a:bodyPr/>
          <a:lstStyle/>
          <a:p>
            <a:pPr eaLnBrk="1" hangingPunct="1"/>
            <a:r>
              <a:rPr lang="zh-CN" altLang="en-US" sz="2400" b="1" dirty="0" smtClean="0">
                <a:solidFill>
                  <a:schemeClr val="accent2"/>
                </a:solidFill>
                <a:ea typeface="华文楷体" panose="02010600040101010101" pitchFamily="2" charset="-122"/>
              </a:rPr>
              <a:t>空间</a:t>
            </a:r>
            <a:endParaRPr lang="zh-CN" altLang="en-US" sz="2400" b="1" dirty="0" smtClean="0">
              <a:solidFill>
                <a:srgbClr val="FF9900"/>
              </a:solidFill>
              <a:ea typeface="华文楷体" panose="02010600040101010101" pitchFamily="2" charset="-122"/>
            </a:endParaRPr>
          </a:p>
          <a:p>
            <a:pPr lvl="1" eaLnBrk="1" hangingPunct="1"/>
            <a:r>
              <a:rPr lang="zh-CN" altLang="en-US" dirty="0" smtClean="0">
                <a:ea typeface="华文楷体" panose="02010600040101010101" pitchFamily="2" charset="-122"/>
              </a:rPr>
              <a:t>存储空间静态分配，需事先确定</a:t>
            </a:r>
            <a:endParaRPr lang="zh-CN" altLang="en-US" dirty="0" smtClean="0">
              <a:ea typeface="华文楷体" panose="02010600040101010101" pitchFamily="2" charset="-122"/>
            </a:endParaRPr>
          </a:p>
          <a:p>
            <a:pPr lvl="1" eaLnBrk="1" hangingPunct="1"/>
            <a:r>
              <a:rPr lang="zh-CN" altLang="en-US" dirty="0" smtClean="0">
                <a:ea typeface="华文楷体" panose="02010600040101010101" pitchFamily="2" charset="-122"/>
              </a:rPr>
              <a:t>存储密度高</a:t>
            </a:r>
            <a:r>
              <a:rPr lang="en-US" altLang="zh-CN" dirty="0" smtClean="0">
                <a:ea typeface="华文楷体" panose="02010600040101010101" pitchFamily="2" charset="-122"/>
              </a:rPr>
              <a:t>(d=1)             (</a:t>
            </a:r>
            <a:r>
              <a:rPr lang="zh-CN" altLang="en-US" dirty="0" smtClean="0">
                <a:ea typeface="华文楷体" panose="02010600040101010101" pitchFamily="2" charset="-122"/>
              </a:rPr>
              <a:t>不考虑空闲区</a:t>
            </a:r>
            <a:r>
              <a:rPr lang="en-US" altLang="zh-CN" dirty="0" smtClean="0">
                <a:ea typeface="华文楷体" panose="02010600040101010101" pitchFamily="2" charset="-122"/>
              </a:rPr>
              <a:t>)</a:t>
            </a:r>
            <a:endParaRPr lang="en-US" altLang="zh-CN" dirty="0" smtClean="0">
              <a:ea typeface="华文楷体" panose="02010600040101010101" pitchFamily="2" charset="-122"/>
            </a:endParaRPr>
          </a:p>
          <a:p>
            <a:pPr eaLnBrk="1" hangingPunct="1"/>
            <a:r>
              <a:rPr lang="zh-CN" altLang="en-US" sz="2400" b="1" dirty="0" smtClean="0">
                <a:solidFill>
                  <a:schemeClr val="accent2"/>
                </a:solidFill>
                <a:ea typeface="华文楷体" panose="02010600040101010101" pitchFamily="2" charset="-122"/>
              </a:rPr>
              <a:t>时间</a:t>
            </a:r>
            <a:endParaRPr lang="zh-CN" altLang="en-US" sz="2400" b="1" dirty="0" smtClean="0">
              <a:solidFill>
                <a:srgbClr val="FF9900"/>
              </a:solidFill>
              <a:ea typeface="华文楷体" panose="02010600040101010101" pitchFamily="2" charset="-122"/>
            </a:endParaRPr>
          </a:p>
          <a:p>
            <a:pPr lvl="1" eaLnBrk="1" hangingPunct="1"/>
            <a:r>
              <a:rPr lang="zh-CN" altLang="en-US" dirty="0" smtClean="0">
                <a:ea typeface="华文楷体" panose="02010600040101010101" pitchFamily="2" charset="-122"/>
              </a:rPr>
              <a:t>是随机存取结构，可以根据序号直接定位</a:t>
            </a:r>
            <a:endParaRPr lang="zh-CN" altLang="en-US" dirty="0" smtClean="0">
              <a:ea typeface="华文楷体" panose="02010600040101010101" pitchFamily="2" charset="-122"/>
            </a:endParaRPr>
          </a:p>
          <a:p>
            <a:pPr lvl="1" eaLnBrk="1" hangingPunct="1"/>
            <a:r>
              <a:rPr lang="zh-CN" altLang="en-US" dirty="0" smtClean="0">
                <a:ea typeface="华文楷体" panose="02010600040101010101" pitchFamily="2" charset="-122"/>
              </a:rPr>
              <a:t>插入</a:t>
            </a:r>
            <a:r>
              <a:rPr lang="en-US" altLang="zh-CN" dirty="0" smtClean="0">
                <a:ea typeface="华文楷体" panose="02010600040101010101" pitchFamily="2" charset="-122"/>
              </a:rPr>
              <a:t>/</a:t>
            </a:r>
            <a:r>
              <a:rPr lang="zh-CN" altLang="en-US" dirty="0" smtClean="0">
                <a:ea typeface="华文楷体" panose="02010600040101010101" pitchFamily="2" charset="-122"/>
              </a:rPr>
              <a:t>删除结点操作时数据元素要移动</a:t>
            </a:r>
            <a:endParaRPr lang="zh-CN" altLang="en-US" dirty="0" smtClean="0">
              <a:ea typeface="华文楷体" panose="02010600040101010101" pitchFamily="2" charset="-122"/>
            </a:endParaRPr>
          </a:p>
        </p:txBody>
      </p:sp>
      <p:sp>
        <p:nvSpPr>
          <p:cNvPr id="36871" name="Rectangle 4"/>
          <p:cNvSpPr>
            <a:spLocks noGrp="1" noChangeArrowheads="1"/>
          </p:cNvSpPr>
          <p:nvPr>
            <p:ph type="body" sz="half" idx="2"/>
          </p:nvPr>
        </p:nvSpPr>
        <p:spPr>
          <a:xfrm>
            <a:off x="4648200" y="1676400"/>
            <a:ext cx="3810000" cy="4419600"/>
          </a:xfrm>
        </p:spPr>
        <p:txBody>
          <a:bodyPr/>
          <a:lstStyle/>
          <a:p>
            <a:pPr eaLnBrk="1" hangingPunct="1"/>
            <a:r>
              <a:rPr lang="zh-CN" altLang="en-US" sz="2400" b="1" dirty="0" smtClean="0">
                <a:solidFill>
                  <a:schemeClr val="accent2"/>
                </a:solidFill>
                <a:ea typeface="华文楷体" panose="02010600040101010101" pitchFamily="2" charset="-122"/>
              </a:rPr>
              <a:t>空间</a:t>
            </a:r>
            <a:endParaRPr lang="zh-CN" altLang="en-US" sz="2400" dirty="0" smtClean="0">
              <a:ea typeface="华文楷体" panose="02010600040101010101" pitchFamily="2" charset="-122"/>
            </a:endParaRPr>
          </a:p>
          <a:p>
            <a:pPr lvl="1" eaLnBrk="1" hangingPunct="1"/>
            <a:r>
              <a:rPr lang="zh-CN" altLang="en-US" dirty="0" smtClean="0">
                <a:ea typeface="华文楷体" panose="02010600040101010101" pitchFamily="2" charset="-122"/>
              </a:rPr>
              <a:t>存储空间动态分配，可以按需要使用</a:t>
            </a:r>
            <a:endParaRPr lang="zh-CN" altLang="en-US" dirty="0" smtClean="0">
              <a:ea typeface="华文楷体" panose="02010600040101010101" pitchFamily="2" charset="-122"/>
            </a:endParaRPr>
          </a:p>
          <a:p>
            <a:pPr lvl="1" eaLnBrk="1" hangingPunct="1"/>
            <a:r>
              <a:rPr lang="zh-CN" altLang="en-US" dirty="0" smtClean="0">
                <a:ea typeface="华文楷体" panose="02010600040101010101" pitchFamily="2" charset="-122"/>
              </a:rPr>
              <a:t>每一结点附加指针域</a:t>
            </a:r>
            <a:r>
              <a:rPr lang="en-US" altLang="zh-CN" dirty="0" smtClean="0">
                <a:ea typeface="华文楷体" panose="02010600040101010101" pitchFamily="2" charset="-122"/>
              </a:rPr>
              <a:t>(d&lt;1)</a:t>
            </a:r>
            <a:endParaRPr lang="en-US" altLang="zh-CN" dirty="0" smtClean="0">
              <a:ea typeface="华文楷体" panose="02010600040101010101" pitchFamily="2" charset="-122"/>
            </a:endParaRPr>
          </a:p>
          <a:p>
            <a:pPr eaLnBrk="1" hangingPunct="1"/>
            <a:r>
              <a:rPr lang="zh-CN" altLang="en-US" sz="2400" b="1" dirty="0" smtClean="0">
                <a:solidFill>
                  <a:schemeClr val="accent2"/>
                </a:solidFill>
                <a:ea typeface="华文楷体" panose="02010600040101010101" pitchFamily="2" charset="-122"/>
              </a:rPr>
              <a:t>时间</a:t>
            </a:r>
            <a:endParaRPr lang="zh-CN" altLang="en-US" sz="2400" b="1" dirty="0" smtClean="0">
              <a:ea typeface="华文楷体" panose="02010600040101010101" pitchFamily="2" charset="-122"/>
            </a:endParaRPr>
          </a:p>
          <a:p>
            <a:pPr lvl="1" eaLnBrk="1" hangingPunct="1"/>
            <a:r>
              <a:rPr lang="zh-CN" altLang="en-US" dirty="0" smtClean="0">
                <a:ea typeface="华文楷体" panose="02010600040101010101" pitchFamily="2" charset="-122"/>
              </a:rPr>
              <a:t>是非随机存取结构，定位需从头指针扫描</a:t>
            </a:r>
            <a:endParaRPr lang="zh-CN" altLang="en-US" dirty="0" smtClean="0">
              <a:ea typeface="华文楷体" panose="02010600040101010101" pitchFamily="2" charset="-122"/>
            </a:endParaRPr>
          </a:p>
          <a:p>
            <a:pPr lvl="1" eaLnBrk="1" hangingPunct="1"/>
            <a:r>
              <a:rPr lang="zh-CN" altLang="en-US" dirty="0" smtClean="0">
                <a:ea typeface="华文楷体" panose="02010600040101010101" pitchFamily="2" charset="-122"/>
              </a:rPr>
              <a:t>插入</a:t>
            </a:r>
            <a:r>
              <a:rPr lang="en-US" altLang="zh-CN" dirty="0" smtClean="0">
                <a:ea typeface="华文楷体" panose="02010600040101010101" pitchFamily="2" charset="-122"/>
              </a:rPr>
              <a:t>/</a:t>
            </a:r>
            <a:r>
              <a:rPr lang="zh-CN" altLang="en-US" dirty="0" smtClean="0">
                <a:ea typeface="华文楷体" panose="02010600040101010101" pitchFamily="2" charset="-122"/>
              </a:rPr>
              <a:t>删除结点操作时通常只要修改指针</a:t>
            </a:r>
            <a:endParaRPr lang="zh-CN" altLang="en-US" dirty="0" smtClean="0">
              <a:ea typeface="华文楷体" panose="02010600040101010101" pitchFamily="2" charset="-122"/>
            </a:endParaRPr>
          </a:p>
        </p:txBody>
      </p:sp>
      <p:sp>
        <p:nvSpPr>
          <p:cNvPr id="36872" name="Rectangle 5"/>
          <p:cNvSpPr>
            <a:spLocks noChangeArrowheads="1"/>
          </p:cNvSpPr>
          <p:nvPr/>
        </p:nvSpPr>
        <p:spPr bwMode="auto">
          <a:xfrm>
            <a:off x="609600" y="1600200"/>
            <a:ext cx="3810000" cy="4343400"/>
          </a:xfrm>
          <a:prstGeom prst="rect">
            <a:avLst/>
          </a:prstGeom>
          <a:noFill/>
          <a:ln w="9525">
            <a:solidFill>
              <a:srgbClr val="99FF66"/>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6873" name="Rectangle 6"/>
          <p:cNvSpPr>
            <a:spLocks noChangeArrowheads="1"/>
          </p:cNvSpPr>
          <p:nvPr/>
        </p:nvSpPr>
        <p:spPr bwMode="auto">
          <a:xfrm>
            <a:off x="4648200" y="1600200"/>
            <a:ext cx="3810000" cy="4419600"/>
          </a:xfrm>
          <a:prstGeom prst="rect">
            <a:avLst/>
          </a:prstGeom>
          <a:noFill/>
          <a:ln w="9525">
            <a:solidFill>
              <a:srgbClr val="99FF66"/>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6874" name="AutoShape 39">
            <a:hlinkClick r:id="" action="ppaction://hlinkshowjump?jump=firstslide"/>
          </p:cNvPr>
          <p:cNvSpPr>
            <a:spLocks noChangeArrowheads="1"/>
          </p:cNvSpPr>
          <p:nvPr/>
        </p:nvSpPr>
        <p:spPr bwMode="auto">
          <a:xfrm>
            <a:off x="8382000" y="6248400"/>
            <a:ext cx="304800" cy="304800"/>
          </a:xfrm>
          <a:prstGeom prst="star4">
            <a:avLst>
              <a:gd name="adj" fmla="val 12500"/>
            </a:avLst>
          </a:prstGeom>
          <a:solidFill>
            <a:schemeClr val="accent1"/>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3789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42F11338-83D3-4151-95CC-BF46CBCB51C3}"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8" name="日期占位符 5"/>
          <p:cNvSpPr>
            <a:spLocks noGrp="1"/>
          </p:cNvSpPr>
          <p:nvPr>
            <p:ph type="dt" sz="quarter" idx="12"/>
          </p:nvPr>
        </p:nvSpPr>
        <p:spPr/>
        <p:txBody>
          <a:bodyPr/>
          <a:lstStyle/>
          <a:p>
            <a:pPr>
              <a:defRPr/>
            </a:pPr>
            <a:r>
              <a:rPr lang="en-US" altLang="zh-CN"/>
              <a:t>BUPT</a:t>
            </a:r>
            <a:endParaRPr lang="en-US" altLang="zh-CN"/>
          </a:p>
        </p:txBody>
      </p:sp>
      <p:sp>
        <p:nvSpPr>
          <p:cNvPr id="37893"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2.6 </a:t>
            </a:r>
            <a:r>
              <a:rPr lang="zh-CN" altLang="en-US" sz="2800" dirty="0" smtClean="0">
                <a:ea typeface="华文楷体" panose="02010600040101010101" pitchFamily="2" charset="-122"/>
              </a:rPr>
              <a:t>静态链表</a:t>
            </a:r>
            <a:endParaRPr lang="zh-CN" altLang="en-US" sz="2800" dirty="0" smtClean="0">
              <a:ea typeface="华文楷体" panose="02010600040101010101" pitchFamily="2" charset="-122"/>
            </a:endParaRPr>
          </a:p>
        </p:txBody>
      </p:sp>
      <p:sp>
        <p:nvSpPr>
          <p:cNvPr id="37894" name="Rectangle 3"/>
          <p:cNvSpPr>
            <a:spLocks noGrp="1" noChangeArrowheads="1"/>
          </p:cNvSpPr>
          <p:nvPr>
            <p:ph type="body" idx="1"/>
          </p:nvPr>
        </p:nvSpPr>
        <p:spPr/>
        <p:txBody>
          <a:bodyPr/>
          <a:lstStyle/>
          <a:p>
            <a:pPr eaLnBrk="1" hangingPunct="1"/>
            <a:r>
              <a:rPr lang="zh-CN" altLang="en-US" sz="2400" dirty="0" smtClean="0">
                <a:ea typeface="华文楷体" panose="02010600040101010101" pitchFamily="2" charset="-122"/>
              </a:rPr>
              <a:t>用数组模拟链表</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链表的游标实现</a:t>
            </a:r>
            <a:endParaRPr lang="zh-CN" altLang="en-US" sz="2400" dirty="0" smtClean="0">
              <a:ea typeface="华文楷体" panose="02010600040101010101" pitchFamily="2" charset="-122"/>
            </a:endParaRPr>
          </a:p>
          <a:p>
            <a:pPr lvl="1" eaLnBrk="1" hangingPunct="1"/>
            <a:r>
              <a:rPr lang="zh-CN" altLang="en-US" sz="2000" dirty="0" smtClean="0">
                <a:ea typeface="华文楷体" panose="02010600040101010101" pitchFamily="2" charset="-122"/>
              </a:rPr>
              <a:t>逻辑上看像链表</a:t>
            </a:r>
            <a:endParaRPr lang="zh-CN" altLang="en-US" sz="2000" dirty="0" smtClean="0">
              <a:ea typeface="华文楷体" panose="02010600040101010101" pitchFamily="2" charset="-122"/>
            </a:endParaRPr>
          </a:p>
          <a:p>
            <a:pPr lvl="1" eaLnBrk="1" hangingPunct="1"/>
            <a:r>
              <a:rPr lang="zh-CN" altLang="en-US" sz="2000" dirty="0" smtClean="0">
                <a:ea typeface="华文楷体" panose="02010600040101010101" pitchFamily="2" charset="-122"/>
              </a:rPr>
              <a:t>物理上看是数组</a:t>
            </a:r>
            <a:endParaRPr lang="zh-CN" altLang="en-US" sz="20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静态单链表</a:t>
            </a: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带头节点</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pic>
        <p:nvPicPr>
          <p:cNvPr id="3789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2780929"/>
            <a:ext cx="5687069" cy="2221876"/>
          </a:xfrm>
          <a:prstGeom prst="rect">
            <a:avLst/>
          </a:prstGeom>
          <a:noFill/>
          <a:ln w="2222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
        <p:nvSpPr>
          <p:cNvPr id="164869" name="Text Box 5"/>
          <p:cNvSpPr txBox="1">
            <a:spLocks noChangeArrowheads="1"/>
          </p:cNvSpPr>
          <p:nvPr/>
        </p:nvSpPr>
        <p:spPr bwMode="auto">
          <a:xfrm>
            <a:off x="590550" y="5824538"/>
            <a:ext cx="7797800" cy="869950"/>
          </a:xfrm>
          <a:prstGeom prst="rect">
            <a:avLst/>
          </a:prstGeom>
          <a:solidFill>
            <a:srgbClr val="CCFFFF"/>
          </a:solidFill>
          <a:ln w="25400">
            <a:solidFill>
              <a:schemeClr val="accent1"/>
            </a:solidFill>
            <a:miter lim="800000"/>
          </a:ln>
        </p:spPr>
        <p:txBody>
          <a:bodyPr lIns="112947" tIns="56473" rIns="112947" bIns="56473">
            <a:spAutoFit/>
          </a:bodyPr>
          <a:lstStyle/>
          <a:p>
            <a:pPr defTabSz="1129030" eaLnBrk="1" hangingPunct="1">
              <a:defRPr/>
            </a:pPr>
            <a:r>
              <a:rPr kumimoji="1" lang="zh-CN" altLang="en-US" sz="2400" b="1" dirty="0">
                <a:solidFill>
                  <a:srgbClr val="0000FF"/>
                </a:solidFill>
                <a:effectLst>
                  <a:outerShdw blurRad="38100" dist="38100" dir="2700000" algn="tl">
                    <a:srgbClr val="000000"/>
                  </a:outerShdw>
                </a:effectLst>
                <a:latin typeface="华文楷体" panose="02010600040101010101" pitchFamily="2" charset="-122"/>
                <a:ea typeface="华文楷体" panose="02010600040101010101" pitchFamily="2" charset="-122"/>
              </a:rPr>
              <a:t>分配节点：</a:t>
            </a:r>
            <a:r>
              <a:rPr kumimoji="1" lang="zh-CN" altLang="en-US" sz="2400" b="1" dirty="0">
                <a:latin typeface="华文楷体" panose="02010600040101010101" pitchFamily="2" charset="-122"/>
                <a:ea typeface="华文楷体" panose="02010600040101010101" pitchFamily="2" charset="-122"/>
              </a:rPr>
              <a:t> </a:t>
            </a:r>
            <a:r>
              <a:rPr kumimoji="1" lang="en-US" altLang="zh-CN" sz="2400" b="1" i="1" dirty="0">
                <a:solidFill>
                  <a:srgbClr val="FF3300"/>
                </a:solidFill>
                <a:latin typeface="华文楷体" panose="02010600040101010101" pitchFamily="2" charset="-122"/>
                <a:ea typeface="华文楷体" panose="02010600040101010101" pitchFamily="2" charset="-122"/>
              </a:rPr>
              <a:t>j</a:t>
            </a:r>
            <a:r>
              <a:rPr kumimoji="1" lang="en-US" altLang="zh-CN" sz="2400" b="1" dirty="0">
                <a:solidFill>
                  <a:srgbClr val="FF3300"/>
                </a:solidFill>
                <a:latin typeface="华文楷体" panose="02010600040101010101" pitchFamily="2" charset="-122"/>
                <a:ea typeface="华文楷体" panose="02010600040101010101" pitchFamily="2" charset="-122"/>
              </a:rPr>
              <a:t> = </a:t>
            </a:r>
            <a:r>
              <a:rPr kumimoji="1" lang="en-US" altLang="zh-CN" sz="2400" b="1" i="1" dirty="0" err="1">
                <a:solidFill>
                  <a:srgbClr val="FF3300"/>
                </a:solidFill>
                <a:latin typeface="华文楷体" panose="02010600040101010101" pitchFamily="2" charset="-122"/>
                <a:ea typeface="华文楷体" panose="02010600040101010101" pitchFamily="2" charset="-122"/>
              </a:rPr>
              <a:t>avil</a:t>
            </a:r>
            <a:r>
              <a:rPr kumimoji="1" lang="en-US" altLang="zh-CN" sz="2400" b="1" dirty="0">
                <a:solidFill>
                  <a:srgbClr val="FF3300"/>
                </a:solidFill>
                <a:latin typeface="华文楷体" panose="02010600040101010101" pitchFamily="2" charset="-122"/>
                <a:ea typeface="华文楷体" panose="02010600040101010101" pitchFamily="2" charset="-122"/>
              </a:rPr>
              <a:t>;  </a:t>
            </a:r>
            <a:r>
              <a:rPr kumimoji="1" lang="en-US" altLang="zh-CN" sz="2400" b="1" i="1" dirty="0" err="1">
                <a:solidFill>
                  <a:srgbClr val="FF3300"/>
                </a:solidFill>
                <a:latin typeface="华文楷体" panose="02010600040101010101" pitchFamily="2" charset="-122"/>
                <a:ea typeface="华文楷体" panose="02010600040101010101" pitchFamily="2" charset="-122"/>
              </a:rPr>
              <a:t>avil</a:t>
            </a:r>
            <a:r>
              <a:rPr kumimoji="1" lang="en-US" altLang="zh-CN" sz="2400" b="1" i="1" dirty="0">
                <a:solidFill>
                  <a:srgbClr val="FF3300"/>
                </a:solidFill>
                <a:latin typeface="华文楷体" panose="02010600040101010101" pitchFamily="2" charset="-122"/>
                <a:ea typeface="华文楷体" panose="02010600040101010101" pitchFamily="2" charset="-122"/>
              </a:rPr>
              <a:t> </a:t>
            </a:r>
            <a:r>
              <a:rPr kumimoji="1" lang="en-US" altLang="zh-CN" sz="2400" b="1" dirty="0">
                <a:solidFill>
                  <a:srgbClr val="FF3300"/>
                </a:solidFill>
                <a:latin typeface="华文楷体" panose="02010600040101010101" pitchFamily="2" charset="-122"/>
                <a:ea typeface="华文楷体" panose="02010600040101010101" pitchFamily="2" charset="-122"/>
              </a:rPr>
              <a:t>= </a:t>
            </a:r>
            <a:r>
              <a:rPr kumimoji="1" lang="en-US" altLang="zh-CN" sz="2400" b="1" i="1" dirty="0">
                <a:solidFill>
                  <a:srgbClr val="FF3300"/>
                </a:solidFill>
                <a:latin typeface="华文楷体" panose="02010600040101010101" pitchFamily="2" charset="-122"/>
                <a:ea typeface="华文楷体" panose="02010600040101010101" pitchFamily="2" charset="-122"/>
              </a:rPr>
              <a:t>A</a:t>
            </a:r>
            <a:r>
              <a:rPr kumimoji="1" lang="en-US" altLang="zh-CN" sz="2400" b="1" dirty="0">
                <a:solidFill>
                  <a:srgbClr val="FF3300"/>
                </a:solidFill>
                <a:latin typeface="华文楷体" panose="02010600040101010101" pitchFamily="2" charset="-122"/>
                <a:ea typeface="华文楷体" panose="02010600040101010101" pitchFamily="2" charset="-122"/>
              </a:rPr>
              <a:t>[</a:t>
            </a:r>
            <a:r>
              <a:rPr kumimoji="1" lang="en-US" altLang="zh-CN" sz="2400" b="1" i="1" dirty="0" err="1">
                <a:solidFill>
                  <a:srgbClr val="FF3300"/>
                </a:solidFill>
                <a:latin typeface="华文楷体" panose="02010600040101010101" pitchFamily="2" charset="-122"/>
                <a:ea typeface="华文楷体" panose="02010600040101010101" pitchFamily="2" charset="-122"/>
              </a:rPr>
              <a:t>avil</a:t>
            </a:r>
            <a:r>
              <a:rPr kumimoji="1" lang="en-US" altLang="zh-CN" sz="2400" b="1" dirty="0">
                <a:solidFill>
                  <a:srgbClr val="FF3300"/>
                </a:solidFill>
                <a:latin typeface="华文楷体" panose="02010600040101010101" pitchFamily="2" charset="-122"/>
                <a:ea typeface="华文楷体" panose="02010600040101010101" pitchFamily="2" charset="-122"/>
              </a:rPr>
              <a:t>].</a:t>
            </a:r>
            <a:r>
              <a:rPr kumimoji="1" lang="en-US" altLang="zh-CN" sz="2400" b="1" i="1" dirty="0">
                <a:solidFill>
                  <a:srgbClr val="FF3300"/>
                </a:solidFill>
                <a:latin typeface="华文楷体" panose="02010600040101010101" pitchFamily="2" charset="-122"/>
                <a:ea typeface="华文楷体" panose="02010600040101010101" pitchFamily="2" charset="-122"/>
              </a:rPr>
              <a:t>link</a:t>
            </a:r>
            <a:r>
              <a:rPr kumimoji="1" lang="en-US" altLang="zh-CN" sz="2400" b="1" dirty="0">
                <a:solidFill>
                  <a:srgbClr val="FF3300"/>
                </a:solidFill>
                <a:latin typeface="华文楷体" panose="02010600040101010101" pitchFamily="2" charset="-122"/>
                <a:ea typeface="华文楷体" panose="02010600040101010101" pitchFamily="2" charset="-122"/>
              </a:rPr>
              <a:t>;</a:t>
            </a:r>
            <a:endParaRPr kumimoji="1" lang="en-US" altLang="zh-CN" sz="2400" b="1" dirty="0">
              <a:solidFill>
                <a:srgbClr val="FF3300"/>
              </a:solidFill>
              <a:latin typeface="华文楷体" panose="02010600040101010101" pitchFamily="2" charset="-122"/>
              <a:ea typeface="华文楷体" panose="02010600040101010101" pitchFamily="2" charset="-122"/>
            </a:endParaRPr>
          </a:p>
          <a:p>
            <a:pPr defTabSz="1129030" eaLnBrk="1" hangingPunct="1">
              <a:defRPr/>
            </a:pPr>
            <a:r>
              <a:rPr kumimoji="1" lang="zh-CN" altLang="en-US" sz="2400" b="1" dirty="0">
                <a:solidFill>
                  <a:srgbClr val="0000FF"/>
                </a:solidFill>
                <a:effectLst>
                  <a:outerShdw blurRad="38100" dist="38100" dir="2700000" algn="tl">
                    <a:srgbClr val="000000"/>
                  </a:outerShdw>
                </a:effectLst>
                <a:latin typeface="华文楷体" panose="02010600040101010101" pitchFamily="2" charset="-122"/>
                <a:ea typeface="华文楷体" panose="02010600040101010101" pitchFamily="2" charset="-122"/>
              </a:rPr>
              <a:t>释放节点： </a:t>
            </a:r>
            <a:r>
              <a:rPr kumimoji="1" lang="en-US" altLang="zh-CN" sz="2400" b="1" i="1" dirty="0">
                <a:solidFill>
                  <a:srgbClr val="FF3300"/>
                </a:solidFill>
                <a:latin typeface="华文楷体" panose="02010600040101010101" pitchFamily="2" charset="-122"/>
                <a:ea typeface="华文楷体" panose="02010600040101010101" pitchFamily="2" charset="-122"/>
              </a:rPr>
              <a:t>A</a:t>
            </a:r>
            <a:r>
              <a:rPr kumimoji="1" lang="en-US" altLang="zh-CN" sz="2400" b="1" dirty="0">
                <a:solidFill>
                  <a:srgbClr val="FF3300"/>
                </a:solidFill>
                <a:latin typeface="华文楷体" panose="02010600040101010101" pitchFamily="2" charset="-122"/>
                <a:ea typeface="华文楷体" panose="02010600040101010101" pitchFamily="2" charset="-122"/>
              </a:rPr>
              <a:t>[</a:t>
            </a:r>
            <a:r>
              <a:rPr kumimoji="1" lang="en-US" altLang="zh-CN" sz="2400" b="1" i="1" dirty="0" err="1">
                <a:solidFill>
                  <a:srgbClr val="FF3300"/>
                </a:solidFill>
                <a:latin typeface="华文楷体" panose="02010600040101010101" pitchFamily="2" charset="-122"/>
                <a:ea typeface="华文楷体" panose="02010600040101010101" pitchFamily="2" charset="-122"/>
              </a:rPr>
              <a:t>i</a:t>
            </a:r>
            <a:r>
              <a:rPr kumimoji="1" lang="en-US" altLang="zh-CN" sz="2400" b="1" dirty="0">
                <a:solidFill>
                  <a:srgbClr val="FF3300"/>
                </a:solidFill>
                <a:latin typeface="华文楷体" panose="02010600040101010101" pitchFamily="2" charset="-122"/>
                <a:ea typeface="华文楷体" panose="02010600040101010101" pitchFamily="2" charset="-122"/>
              </a:rPr>
              <a:t>].</a:t>
            </a:r>
            <a:r>
              <a:rPr kumimoji="1" lang="en-US" altLang="zh-CN" sz="2400" b="1" i="1" dirty="0">
                <a:solidFill>
                  <a:srgbClr val="FF3300"/>
                </a:solidFill>
                <a:latin typeface="华文楷体" panose="02010600040101010101" pitchFamily="2" charset="-122"/>
                <a:ea typeface="华文楷体" panose="02010600040101010101" pitchFamily="2" charset="-122"/>
              </a:rPr>
              <a:t>link</a:t>
            </a:r>
            <a:r>
              <a:rPr kumimoji="1" lang="en-US" altLang="zh-CN" sz="2400" b="1" dirty="0">
                <a:solidFill>
                  <a:srgbClr val="FF3300"/>
                </a:solidFill>
                <a:latin typeface="华文楷体" panose="02010600040101010101" pitchFamily="2" charset="-122"/>
                <a:ea typeface="华文楷体" panose="02010600040101010101" pitchFamily="2" charset="-122"/>
              </a:rPr>
              <a:t> = </a:t>
            </a:r>
            <a:r>
              <a:rPr kumimoji="1" lang="en-US" altLang="zh-CN" sz="2400" b="1" i="1" dirty="0" err="1">
                <a:solidFill>
                  <a:srgbClr val="FF3300"/>
                </a:solidFill>
                <a:latin typeface="华文楷体" panose="02010600040101010101" pitchFamily="2" charset="-122"/>
                <a:ea typeface="华文楷体" panose="02010600040101010101" pitchFamily="2" charset="-122"/>
              </a:rPr>
              <a:t>avil</a:t>
            </a:r>
            <a:r>
              <a:rPr kumimoji="1" lang="en-US" altLang="zh-CN" sz="2400" b="1" dirty="0">
                <a:solidFill>
                  <a:srgbClr val="FF3300"/>
                </a:solidFill>
                <a:latin typeface="华文楷体" panose="02010600040101010101" pitchFamily="2" charset="-122"/>
                <a:ea typeface="华文楷体" panose="02010600040101010101" pitchFamily="2" charset="-122"/>
              </a:rPr>
              <a:t>;  </a:t>
            </a:r>
            <a:r>
              <a:rPr kumimoji="1" lang="en-US" altLang="zh-CN" sz="2400" b="1" i="1" dirty="0" err="1">
                <a:solidFill>
                  <a:srgbClr val="FF3300"/>
                </a:solidFill>
                <a:latin typeface="华文楷体" panose="02010600040101010101" pitchFamily="2" charset="-122"/>
                <a:ea typeface="华文楷体" panose="02010600040101010101" pitchFamily="2" charset="-122"/>
              </a:rPr>
              <a:t>avil</a:t>
            </a:r>
            <a:r>
              <a:rPr kumimoji="1" lang="en-US" altLang="zh-CN" sz="2400" b="1" dirty="0">
                <a:solidFill>
                  <a:srgbClr val="FF3300"/>
                </a:solidFill>
                <a:latin typeface="华文楷体" panose="02010600040101010101" pitchFamily="2" charset="-122"/>
                <a:ea typeface="华文楷体" panose="02010600040101010101" pitchFamily="2" charset="-122"/>
              </a:rPr>
              <a:t> = </a:t>
            </a:r>
            <a:r>
              <a:rPr kumimoji="1" lang="en-US" altLang="zh-CN" sz="2400" b="1" i="1" dirty="0" err="1">
                <a:solidFill>
                  <a:srgbClr val="FF3300"/>
                </a:solidFill>
                <a:latin typeface="华文楷体" panose="02010600040101010101" pitchFamily="2" charset="-122"/>
                <a:ea typeface="华文楷体" panose="02010600040101010101" pitchFamily="2" charset="-122"/>
              </a:rPr>
              <a:t>i</a:t>
            </a:r>
            <a:r>
              <a:rPr kumimoji="1" lang="en-US" altLang="zh-CN" sz="2400" b="1" dirty="0">
                <a:solidFill>
                  <a:srgbClr val="FF3300"/>
                </a:solidFill>
                <a:latin typeface="华文楷体" panose="02010600040101010101" pitchFamily="2" charset="-122"/>
                <a:ea typeface="华文楷体" panose="02010600040101010101" pitchFamily="2" charset="-122"/>
              </a:rPr>
              <a:t>;</a:t>
            </a:r>
            <a:endParaRPr kumimoji="1" lang="en-US" altLang="zh-CN" sz="2400" b="1" dirty="0">
              <a:solidFill>
                <a:srgbClr val="FF3300"/>
              </a:solidFill>
              <a:latin typeface="华文楷体" panose="02010600040101010101" pitchFamily="2" charset="-122"/>
              <a:ea typeface="华文楷体" panose="02010600040101010101" pitchFamily="2" charset="-122"/>
            </a:endParaRPr>
          </a:p>
        </p:txBody>
      </p:sp>
      <p:sp>
        <p:nvSpPr>
          <p:cNvPr id="9" name="文本框 8"/>
          <p:cNvSpPr txBox="1"/>
          <p:nvPr/>
        </p:nvSpPr>
        <p:spPr>
          <a:xfrm>
            <a:off x="6144269" y="1309485"/>
            <a:ext cx="2892227" cy="4093428"/>
          </a:xfrm>
          <a:prstGeom prst="rect">
            <a:avLst/>
          </a:prstGeom>
          <a:noFill/>
          <a:ln>
            <a:solidFill>
              <a:srgbClr val="92D050"/>
            </a:solidFill>
          </a:ln>
        </p:spPr>
        <p:txBody>
          <a:bodyPr wrap="square" rtlCol="0">
            <a:spAutoFit/>
          </a:bodyPr>
          <a:lstStyle/>
          <a:p>
            <a:r>
              <a:rPr lang="zh-CN" altLang="en-US" sz="2000" dirty="0">
                <a:latin typeface="华文楷体" panose="02010600040101010101" pitchFamily="2" charset="-122"/>
                <a:ea typeface="华文楷体" panose="02010600040101010101" pitchFamily="2" charset="-122"/>
              </a:rPr>
              <a:t>单链表游标的定义</a:t>
            </a:r>
            <a:endParaRPr lang="en-US" altLang="zh-CN" sz="2000" dirty="0">
              <a:latin typeface="华文楷体" panose="02010600040101010101" pitchFamily="2" charset="-122"/>
              <a:ea typeface="华文楷体" panose="02010600040101010101" pitchFamily="2" charset="-122"/>
            </a:endParaRPr>
          </a:p>
          <a:p>
            <a:r>
              <a:rPr lang="en-US" altLang="zh-CN" sz="2000" dirty="0" err="1">
                <a:latin typeface="华文楷体" panose="02010600040101010101" pitchFamily="2" charset="-122"/>
                <a:ea typeface="华文楷体" panose="02010600040101010101" pitchFamily="2" charset="-122"/>
              </a:rPr>
              <a:t>typedef</a:t>
            </a:r>
            <a:r>
              <a:rPr lang="en-US" altLang="zh-CN" sz="2000" dirty="0">
                <a:latin typeface="华文楷体" panose="02010600040101010101" pitchFamily="2" charset="-122"/>
                <a:ea typeface="华文楷体" panose="02010600040101010101" pitchFamily="2" charset="-122"/>
              </a:rPr>
              <a:t> </a:t>
            </a:r>
            <a:r>
              <a:rPr lang="en-US" altLang="zh-CN" sz="2000" dirty="0" err="1">
                <a:latin typeface="华文楷体" panose="02010600040101010101" pitchFamily="2" charset="-122"/>
                <a:ea typeface="华文楷体" panose="02010600040101010101" pitchFamily="2" charset="-122"/>
              </a:rPr>
              <a:t>int</a:t>
            </a:r>
            <a:r>
              <a:rPr lang="en-US" altLang="zh-CN" sz="2000" dirty="0">
                <a:latin typeface="华文楷体" panose="02010600040101010101" pitchFamily="2" charset="-122"/>
                <a:ea typeface="华文楷体" panose="02010600040101010101" pitchFamily="2" charset="-122"/>
              </a:rPr>
              <a:t> </a:t>
            </a:r>
            <a:r>
              <a:rPr lang="en-US" altLang="zh-CN" sz="2000" dirty="0" err="1">
                <a:latin typeface="华文楷体" panose="02010600040101010101" pitchFamily="2" charset="-122"/>
                <a:ea typeface="华文楷体" panose="02010600040101010101" pitchFamily="2" charset="-122"/>
              </a:rPr>
              <a:t>PtrNode</a:t>
            </a:r>
            <a:r>
              <a:rPr lang="en-US" altLang="zh-CN" sz="2000" dirty="0">
                <a:latin typeface="华文楷体" panose="02010600040101010101" pitchFamily="2" charset="-122"/>
                <a:ea typeface="华文楷体" panose="02010600040101010101" pitchFamily="2" charset="-122"/>
              </a:rPr>
              <a:t>;</a:t>
            </a:r>
            <a:endParaRPr lang="en-US" altLang="zh-CN" sz="2000" dirty="0">
              <a:latin typeface="华文楷体" panose="02010600040101010101" pitchFamily="2" charset="-122"/>
              <a:ea typeface="华文楷体" panose="02010600040101010101" pitchFamily="2" charset="-122"/>
            </a:endParaRPr>
          </a:p>
          <a:p>
            <a:r>
              <a:rPr lang="en-US" altLang="zh-CN" sz="2000" dirty="0" err="1">
                <a:latin typeface="华文楷体" panose="02010600040101010101" pitchFamily="2" charset="-122"/>
                <a:ea typeface="华文楷体" panose="02010600040101010101" pitchFamily="2" charset="-122"/>
              </a:rPr>
              <a:t>typedef</a:t>
            </a:r>
            <a:r>
              <a:rPr lang="en-US" altLang="zh-CN" sz="2000" dirty="0">
                <a:latin typeface="华文楷体" panose="02010600040101010101" pitchFamily="2" charset="-122"/>
                <a:ea typeface="华文楷体" panose="02010600040101010101" pitchFamily="2" charset="-122"/>
              </a:rPr>
              <a:t> </a:t>
            </a:r>
            <a:r>
              <a:rPr lang="en-US" altLang="zh-CN" sz="2000" dirty="0" err="1">
                <a:latin typeface="华文楷体" panose="02010600040101010101" pitchFamily="2" charset="-122"/>
                <a:ea typeface="华文楷体" panose="02010600040101010101" pitchFamily="2" charset="-122"/>
              </a:rPr>
              <a:t>PtrNode</a:t>
            </a:r>
            <a:r>
              <a:rPr lang="en-US" altLang="zh-CN" sz="2000" dirty="0">
                <a:latin typeface="华文楷体" panose="02010600040101010101" pitchFamily="2" charset="-122"/>
                <a:ea typeface="华文楷体" panose="02010600040101010101" pitchFamily="2" charset="-122"/>
              </a:rPr>
              <a:t> List;</a:t>
            </a:r>
            <a:endParaRPr lang="en-US" altLang="zh-CN" sz="2000" dirty="0">
              <a:latin typeface="华文楷体" panose="02010600040101010101" pitchFamily="2" charset="-122"/>
              <a:ea typeface="华文楷体" panose="02010600040101010101" pitchFamily="2" charset="-122"/>
            </a:endParaRPr>
          </a:p>
          <a:p>
            <a:r>
              <a:rPr lang="en-US" altLang="zh-CN" sz="2000" dirty="0" err="1">
                <a:latin typeface="华文楷体" panose="02010600040101010101" pitchFamily="2" charset="-122"/>
                <a:ea typeface="华文楷体" panose="02010600040101010101" pitchFamily="2" charset="-122"/>
              </a:rPr>
              <a:t>typedef</a:t>
            </a:r>
            <a:r>
              <a:rPr lang="en-US" altLang="zh-CN" sz="2000" dirty="0">
                <a:latin typeface="华文楷体" panose="02010600040101010101" pitchFamily="2" charset="-122"/>
                <a:ea typeface="华文楷体" panose="02010600040101010101" pitchFamily="2" charset="-122"/>
              </a:rPr>
              <a:t> </a:t>
            </a:r>
            <a:r>
              <a:rPr lang="en-US" altLang="zh-CN" sz="2000" dirty="0" err="1">
                <a:latin typeface="华文楷体" panose="02010600040101010101" pitchFamily="2" charset="-122"/>
                <a:ea typeface="华文楷体" panose="02010600040101010101" pitchFamily="2" charset="-122"/>
              </a:rPr>
              <a:t>PtrNode</a:t>
            </a:r>
            <a:r>
              <a:rPr lang="en-US" altLang="zh-CN" sz="2000" dirty="0">
                <a:latin typeface="华文楷体" panose="02010600040101010101" pitchFamily="2" charset="-122"/>
                <a:ea typeface="华文楷体" panose="02010600040101010101" pitchFamily="2" charset="-122"/>
              </a:rPr>
              <a:t> Position;</a:t>
            </a:r>
            <a:endParaRPr lang="en-US" altLang="zh-CN" sz="2000" dirty="0">
              <a:latin typeface="华文楷体" panose="02010600040101010101" pitchFamily="2" charset="-122"/>
              <a:ea typeface="华文楷体" panose="02010600040101010101" pitchFamily="2" charset="-122"/>
            </a:endParaRPr>
          </a:p>
          <a:p>
            <a:endParaRPr lang="en-US" altLang="zh-CN" sz="2000" dirty="0">
              <a:latin typeface="华文楷体" panose="02010600040101010101" pitchFamily="2" charset="-122"/>
              <a:ea typeface="华文楷体" panose="02010600040101010101" pitchFamily="2" charset="-122"/>
            </a:endParaRPr>
          </a:p>
          <a:p>
            <a:r>
              <a:rPr lang="en-US" altLang="zh-CN" sz="2000" dirty="0" err="1">
                <a:latin typeface="华文楷体" panose="02010600040101010101" pitchFamily="2" charset="-122"/>
                <a:ea typeface="华文楷体" panose="02010600040101010101" pitchFamily="2" charset="-122"/>
              </a:rPr>
              <a:t>struct</a:t>
            </a:r>
            <a:r>
              <a:rPr lang="en-US" altLang="zh-CN" sz="2000" dirty="0">
                <a:latin typeface="华文楷体" panose="02010600040101010101" pitchFamily="2" charset="-122"/>
                <a:ea typeface="华文楷体" panose="02010600040101010101" pitchFamily="2" charset="-122"/>
              </a:rPr>
              <a:t> Node</a:t>
            </a:r>
            <a:endParaRPr lang="en-US" altLang="zh-CN" sz="2000" dirty="0">
              <a:latin typeface="华文楷体" panose="02010600040101010101" pitchFamily="2" charset="-122"/>
              <a:ea typeface="华文楷体" panose="02010600040101010101" pitchFamily="2" charset="-122"/>
            </a:endParaRPr>
          </a:p>
          <a:p>
            <a:r>
              <a:rPr lang="en-US" altLang="zh-CN" sz="2000" dirty="0">
                <a:latin typeface="华文楷体" panose="02010600040101010101" pitchFamily="2" charset="-122"/>
                <a:ea typeface="华文楷体" panose="02010600040101010101" pitchFamily="2" charset="-122"/>
              </a:rPr>
              <a:t>{</a:t>
            </a:r>
            <a:endParaRPr lang="en-US" altLang="zh-CN" sz="2000" dirty="0">
              <a:latin typeface="华文楷体" panose="02010600040101010101" pitchFamily="2" charset="-122"/>
              <a:ea typeface="华文楷体" panose="02010600040101010101" pitchFamily="2" charset="-122"/>
            </a:endParaRPr>
          </a:p>
          <a:p>
            <a:r>
              <a:rPr lang="en-US" altLang="zh-CN" sz="2000" dirty="0">
                <a:latin typeface="华文楷体" panose="02010600040101010101" pitchFamily="2" charset="-122"/>
                <a:ea typeface="华文楷体" panose="02010600040101010101" pitchFamily="2" charset="-122"/>
              </a:rPr>
              <a:t>    </a:t>
            </a:r>
            <a:r>
              <a:rPr lang="en-US" altLang="zh-CN" sz="2000" dirty="0" err="1">
                <a:latin typeface="华文楷体" panose="02010600040101010101" pitchFamily="2" charset="-122"/>
                <a:ea typeface="华文楷体" panose="02010600040101010101" pitchFamily="2" charset="-122"/>
              </a:rPr>
              <a:t>elemtype</a:t>
            </a:r>
            <a:r>
              <a:rPr lang="en-US" altLang="zh-CN" sz="2000" dirty="0">
                <a:latin typeface="华文楷体" panose="02010600040101010101" pitchFamily="2" charset="-122"/>
                <a:ea typeface="华文楷体" panose="02010600040101010101" pitchFamily="2" charset="-122"/>
              </a:rPr>
              <a:t> data;</a:t>
            </a:r>
            <a:endParaRPr lang="en-US" altLang="zh-CN" sz="2000" dirty="0">
              <a:latin typeface="华文楷体" panose="02010600040101010101" pitchFamily="2" charset="-122"/>
              <a:ea typeface="华文楷体" panose="02010600040101010101" pitchFamily="2" charset="-122"/>
            </a:endParaRPr>
          </a:p>
          <a:p>
            <a:r>
              <a:rPr lang="en-US" altLang="zh-CN" sz="2000" dirty="0">
                <a:latin typeface="华文楷体" panose="02010600040101010101" pitchFamily="2" charset="-122"/>
                <a:ea typeface="华文楷体" panose="02010600040101010101" pitchFamily="2" charset="-122"/>
              </a:rPr>
              <a:t>    Position link;</a:t>
            </a:r>
            <a:endParaRPr lang="en-US" altLang="zh-CN" sz="2000" dirty="0">
              <a:latin typeface="华文楷体" panose="02010600040101010101" pitchFamily="2" charset="-122"/>
              <a:ea typeface="华文楷体" panose="02010600040101010101" pitchFamily="2" charset="-122"/>
            </a:endParaRPr>
          </a:p>
          <a:p>
            <a:r>
              <a:rPr lang="en-US" altLang="zh-CN" sz="2000" dirty="0">
                <a:latin typeface="华文楷体" panose="02010600040101010101" pitchFamily="2" charset="-122"/>
                <a:ea typeface="华文楷体" panose="02010600040101010101" pitchFamily="2" charset="-122"/>
              </a:rPr>
              <a:t>}</a:t>
            </a:r>
            <a:endParaRPr lang="en-US" altLang="zh-CN" sz="2000" dirty="0">
              <a:latin typeface="华文楷体" panose="02010600040101010101" pitchFamily="2" charset="-122"/>
              <a:ea typeface="华文楷体" panose="02010600040101010101" pitchFamily="2" charset="-122"/>
            </a:endParaRPr>
          </a:p>
          <a:p>
            <a:endParaRPr lang="en-US" altLang="zh-CN" sz="2000" dirty="0">
              <a:latin typeface="华文楷体" panose="02010600040101010101" pitchFamily="2" charset="-122"/>
              <a:ea typeface="华文楷体" panose="02010600040101010101" pitchFamily="2" charset="-122"/>
            </a:endParaRPr>
          </a:p>
          <a:p>
            <a:r>
              <a:rPr lang="en-US" altLang="zh-CN" sz="2000" dirty="0" err="1">
                <a:latin typeface="华文楷体" panose="02010600040101010101" pitchFamily="2" charset="-122"/>
                <a:ea typeface="华文楷体" panose="02010600040101010101" pitchFamily="2" charset="-122"/>
              </a:rPr>
              <a:t>Stuct</a:t>
            </a:r>
            <a:r>
              <a:rPr lang="en-US" altLang="zh-CN" sz="2000" dirty="0">
                <a:latin typeface="华文楷体" panose="02010600040101010101" pitchFamily="2" charset="-122"/>
                <a:ea typeface="华文楷体" panose="02010600040101010101" pitchFamily="2" charset="-122"/>
              </a:rPr>
              <a:t> </a:t>
            </a:r>
            <a:r>
              <a:rPr lang="en-US" altLang="zh-CN" sz="2000" dirty="0" smtClean="0">
                <a:latin typeface="华文楷体" panose="02010600040101010101" pitchFamily="2" charset="-122"/>
                <a:ea typeface="华文楷体" panose="02010600040101010101" pitchFamily="2" charset="-122"/>
              </a:rPr>
              <a:t>Node A[</a:t>
            </a:r>
            <a:r>
              <a:rPr lang="en-US" altLang="zh-CN" sz="2000" dirty="0" err="1" smtClean="0">
                <a:latin typeface="华文楷体" panose="02010600040101010101" pitchFamily="2" charset="-122"/>
                <a:ea typeface="华文楷体" panose="02010600040101010101" pitchFamily="2" charset="-122"/>
              </a:rPr>
              <a:t>ApaceSize</a:t>
            </a:r>
            <a:r>
              <a:rPr lang="en-US" altLang="zh-CN" sz="2000" dirty="0">
                <a:latin typeface="华文楷体" panose="02010600040101010101" pitchFamily="2" charset="-122"/>
                <a:ea typeface="华文楷体" panose="02010600040101010101" pitchFamily="2" charset="-122"/>
              </a:rPr>
              <a:t>];</a:t>
            </a:r>
            <a:endParaRPr lang="en-US" altLang="zh-CN" sz="2000" dirty="0">
              <a:latin typeface="华文楷体" panose="02010600040101010101" pitchFamily="2" charset="-122"/>
              <a:ea typeface="华文楷体" panose="02010600040101010101" pitchFamily="2" charset="-122"/>
            </a:endParaRPr>
          </a:p>
          <a:p>
            <a:endParaRPr lang="en-US" altLang="zh-CN" sz="20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4869"/>
                                        </p:tgtEl>
                                        <p:attrNameLst>
                                          <p:attrName>style.visibility</p:attrName>
                                        </p:attrNameLst>
                                      </p:cBhvr>
                                      <p:to>
                                        <p:strVal val="visible"/>
                                      </p:to>
                                    </p:set>
                                    <p:anim calcmode="lin" valueType="num">
                                      <p:cBhvr additive="base">
                                        <p:cTn id="7" dur="500" fill="hold"/>
                                        <p:tgtEl>
                                          <p:spTgt spid="164869"/>
                                        </p:tgtEl>
                                        <p:attrNameLst>
                                          <p:attrName>ppt_x</p:attrName>
                                        </p:attrNameLst>
                                      </p:cBhvr>
                                      <p:tavLst>
                                        <p:tav tm="0">
                                          <p:val>
                                            <p:strVal val="#ppt_x"/>
                                          </p:val>
                                        </p:tav>
                                        <p:tav tm="100000">
                                          <p:val>
                                            <p:strVal val="#ppt_x"/>
                                          </p:val>
                                        </p:tav>
                                      </p:tavLst>
                                    </p:anim>
                                    <p:anim calcmode="lin" valueType="num">
                                      <p:cBhvr additive="base">
                                        <p:cTn id="8" dur="500" fill="hold"/>
                                        <p:tgtEl>
                                          <p:spTgt spid="1648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页脚占位符 3"/>
          <p:cNvSpPr>
            <a:spLocks noGrp="1"/>
          </p:cNvSpPr>
          <p:nvPr>
            <p:ph type="ftr" sz="quarter" idx="10"/>
          </p:nvPr>
        </p:nvSpPr>
        <p:spPr/>
        <p:txBody>
          <a:bodyPr/>
          <a:lstStyle/>
          <a:p>
            <a:pPr>
              <a:defRPr/>
            </a:pPr>
            <a:r>
              <a:rPr lang="en-US" altLang="zh-CN"/>
              <a:t>BUPT SCST</a:t>
            </a:r>
            <a:endParaRPr lang="en-US" altLang="zh-CN"/>
          </a:p>
        </p:txBody>
      </p:sp>
      <p:sp>
        <p:nvSpPr>
          <p:cNvPr id="3891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9698C730-578D-4DD5-9568-33AE90C5C482}"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15" name="日期占位符 5"/>
          <p:cNvSpPr>
            <a:spLocks noGrp="1"/>
          </p:cNvSpPr>
          <p:nvPr>
            <p:ph type="dt" sz="quarter" idx="12"/>
          </p:nvPr>
        </p:nvSpPr>
        <p:spPr/>
        <p:txBody>
          <a:bodyPr/>
          <a:lstStyle/>
          <a:p>
            <a:pPr>
              <a:defRPr/>
            </a:pPr>
            <a:r>
              <a:rPr lang="en-US" altLang="zh-CN"/>
              <a:t>BUPT</a:t>
            </a:r>
            <a:endParaRPr lang="en-US" altLang="zh-CN"/>
          </a:p>
        </p:txBody>
      </p:sp>
      <p:sp>
        <p:nvSpPr>
          <p:cNvPr id="38917"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8918"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静态双链表</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en-US" altLang="zh-CN" sz="2400" dirty="0" err="1" smtClean="0">
                <a:ea typeface="华文楷体" panose="02010600040101010101" pitchFamily="2" charset="-122"/>
              </a:rPr>
              <a:t>struct</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Stnode</a:t>
            </a:r>
            <a:r>
              <a:rPr lang="en-US" altLang="zh-CN" sz="2400" dirty="0" smtClean="0">
                <a:ea typeface="华文楷体" panose="02010600040101010101" pitchFamily="2" charset="-122"/>
              </a:rPr>
              <a:t> { </a:t>
            </a:r>
            <a:r>
              <a:rPr lang="en-US" altLang="zh-CN" sz="2400" dirty="0" err="1" smtClean="0">
                <a:ea typeface="华文楷体" panose="02010600040101010101" pitchFamily="2" charset="-122"/>
              </a:rPr>
              <a:t>int</a:t>
            </a:r>
            <a:r>
              <a:rPr lang="en-US" altLang="zh-CN" sz="2400" dirty="0" smtClean="0">
                <a:ea typeface="华文楷体" panose="02010600040101010101" pitchFamily="2" charset="-122"/>
              </a:rPr>
              <a:t> next, </a:t>
            </a:r>
            <a:r>
              <a:rPr lang="en-US" altLang="zh-CN" sz="2400" dirty="0" err="1" smtClean="0">
                <a:ea typeface="华文楷体" panose="02010600040101010101" pitchFamily="2" charset="-122"/>
              </a:rPr>
              <a:t>int</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prev</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elemtype</a:t>
            </a:r>
            <a:r>
              <a:rPr lang="en-US" altLang="zh-CN" sz="2400" dirty="0" smtClean="0">
                <a:ea typeface="华文楷体" panose="02010600040101010101" pitchFamily="2" charset="-122"/>
              </a:rPr>
              <a:t> data};</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base[0]</a:t>
            </a:r>
            <a:r>
              <a:rPr lang="zh-CN" altLang="en-US" sz="2400" dirty="0" smtClean="0">
                <a:ea typeface="华文楷体" panose="02010600040101010101" pitchFamily="2" charset="-122"/>
              </a:rPr>
              <a:t>为头节点</a:t>
            </a:r>
            <a:endParaRPr lang="zh-CN" altLang="en-US" sz="2400" dirty="0" smtClean="0">
              <a:ea typeface="华文楷体" panose="02010600040101010101" pitchFamily="2" charset="-122"/>
            </a:endParaRPr>
          </a:p>
        </p:txBody>
      </p:sp>
      <p:pic>
        <p:nvPicPr>
          <p:cNvPr id="3891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313" y="2836863"/>
            <a:ext cx="8351837" cy="2679700"/>
          </a:xfrm>
          <a:prstGeom prst="rect">
            <a:avLst/>
          </a:prstGeom>
          <a:noFill/>
          <a:ln w="2222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
        <p:nvSpPr>
          <p:cNvPr id="165895" name="Freeform 7"/>
          <p:cNvSpPr/>
          <p:nvPr/>
        </p:nvSpPr>
        <p:spPr bwMode="auto">
          <a:xfrm rot="5921016">
            <a:off x="4069557" y="859631"/>
            <a:ext cx="1887538" cy="4886325"/>
          </a:xfrm>
          <a:custGeom>
            <a:avLst/>
            <a:gdLst>
              <a:gd name="T0" fmla="*/ 2147483646 w 560"/>
              <a:gd name="T1" fmla="*/ 2147483646 h 864"/>
              <a:gd name="T2" fmla="*/ 2147483646 w 560"/>
              <a:gd name="T3" fmla="*/ 2147483646 h 864"/>
              <a:gd name="T4" fmla="*/ 2147483646 w 560"/>
              <a:gd name="T5" fmla="*/ 2147483646 h 864"/>
              <a:gd name="T6" fmla="*/ 2147483646 w 560"/>
              <a:gd name="T7" fmla="*/ 2147483646 h 864"/>
              <a:gd name="T8" fmla="*/ 2147483646 w 560"/>
              <a:gd name="T9" fmla="*/ 0 h 864"/>
              <a:gd name="T10" fmla="*/ 0 60000 65536"/>
              <a:gd name="T11" fmla="*/ 0 60000 65536"/>
              <a:gd name="T12" fmla="*/ 0 60000 65536"/>
              <a:gd name="T13" fmla="*/ 0 60000 65536"/>
              <a:gd name="T14" fmla="*/ 0 60000 65536"/>
              <a:gd name="T15" fmla="*/ 0 w 560"/>
              <a:gd name="T16" fmla="*/ 0 h 864"/>
              <a:gd name="T17" fmla="*/ 560 w 560"/>
              <a:gd name="T18" fmla="*/ 864 h 864"/>
            </a:gdLst>
            <a:ahLst/>
            <a:cxnLst>
              <a:cxn ang="T10">
                <a:pos x="T0" y="T1"/>
              </a:cxn>
              <a:cxn ang="T11">
                <a:pos x="T2" y="T3"/>
              </a:cxn>
              <a:cxn ang="T12">
                <a:pos x="T4" y="T5"/>
              </a:cxn>
              <a:cxn ang="T13">
                <a:pos x="T6" y="T7"/>
              </a:cxn>
              <a:cxn ang="T14">
                <a:pos x="T8" y="T9"/>
              </a:cxn>
            </a:cxnLst>
            <a:rect l="T15" t="T16" r="T17" b="T18"/>
            <a:pathLst>
              <a:path w="560" h="864">
                <a:moveTo>
                  <a:pt x="560" y="816"/>
                </a:moveTo>
                <a:cubicBezTo>
                  <a:pt x="388" y="840"/>
                  <a:pt x="216" y="864"/>
                  <a:pt x="128" y="816"/>
                </a:cubicBezTo>
                <a:cubicBezTo>
                  <a:pt x="40" y="768"/>
                  <a:pt x="48" y="640"/>
                  <a:pt x="32" y="528"/>
                </a:cubicBezTo>
                <a:cubicBezTo>
                  <a:pt x="16" y="416"/>
                  <a:pt x="0" y="232"/>
                  <a:pt x="32" y="144"/>
                </a:cubicBezTo>
                <a:cubicBezTo>
                  <a:pt x="64" y="56"/>
                  <a:pt x="144" y="28"/>
                  <a:pt x="224" y="0"/>
                </a:cubicBezTo>
              </a:path>
            </a:pathLst>
          </a:custGeom>
          <a:noFill/>
          <a:ln w="38100">
            <a:solidFill>
              <a:srgbClr val="FF99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65897" name="Freeform 9"/>
          <p:cNvSpPr/>
          <p:nvPr/>
        </p:nvSpPr>
        <p:spPr bwMode="auto">
          <a:xfrm>
            <a:off x="5940425" y="3284538"/>
            <a:ext cx="1511300" cy="576262"/>
          </a:xfrm>
          <a:custGeom>
            <a:avLst/>
            <a:gdLst>
              <a:gd name="T0" fmla="*/ 2147483646 w 952"/>
              <a:gd name="T1" fmla="*/ 2147483646 h 514"/>
              <a:gd name="T2" fmla="*/ 2147483646 w 952"/>
              <a:gd name="T3" fmla="*/ 2147483646 h 514"/>
              <a:gd name="T4" fmla="*/ 2147483646 w 952"/>
              <a:gd name="T5" fmla="*/ 2147483646 h 514"/>
              <a:gd name="T6" fmla="*/ 0 w 952"/>
              <a:gd name="T7" fmla="*/ 2147483646 h 514"/>
              <a:gd name="T8" fmla="*/ 0 60000 65536"/>
              <a:gd name="T9" fmla="*/ 0 60000 65536"/>
              <a:gd name="T10" fmla="*/ 0 60000 65536"/>
              <a:gd name="T11" fmla="*/ 0 60000 65536"/>
              <a:gd name="T12" fmla="*/ 0 w 952"/>
              <a:gd name="T13" fmla="*/ 0 h 514"/>
              <a:gd name="T14" fmla="*/ 952 w 952"/>
              <a:gd name="T15" fmla="*/ 514 h 514"/>
            </a:gdLst>
            <a:ahLst/>
            <a:cxnLst>
              <a:cxn ang="T8">
                <a:pos x="T0" y="T1"/>
              </a:cxn>
              <a:cxn ang="T9">
                <a:pos x="T2" y="T3"/>
              </a:cxn>
              <a:cxn ang="T10">
                <a:pos x="T4" y="T5"/>
              </a:cxn>
              <a:cxn ang="T11">
                <a:pos x="T6" y="T7"/>
              </a:cxn>
            </a:cxnLst>
            <a:rect l="T12" t="T13" r="T14" b="T15"/>
            <a:pathLst>
              <a:path w="952" h="514">
                <a:moveTo>
                  <a:pt x="952" y="514"/>
                </a:moveTo>
                <a:cubicBezTo>
                  <a:pt x="903" y="351"/>
                  <a:pt x="854" y="189"/>
                  <a:pt x="726" y="106"/>
                </a:cubicBezTo>
                <a:cubicBezTo>
                  <a:pt x="598" y="23"/>
                  <a:pt x="302" y="0"/>
                  <a:pt x="181" y="15"/>
                </a:cubicBezTo>
                <a:cubicBezTo>
                  <a:pt x="60" y="30"/>
                  <a:pt x="30" y="167"/>
                  <a:pt x="0" y="197"/>
                </a:cubicBezTo>
              </a:path>
            </a:pathLst>
          </a:custGeom>
          <a:noFill/>
          <a:ln w="38100">
            <a:solidFill>
              <a:srgbClr val="FF99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65898" name="Freeform 10"/>
          <p:cNvSpPr/>
          <p:nvPr/>
        </p:nvSpPr>
        <p:spPr bwMode="auto">
          <a:xfrm>
            <a:off x="4140200" y="3176588"/>
            <a:ext cx="1655763" cy="757237"/>
          </a:xfrm>
          <a:custGeom>
            <a:avLst/>
            <a:gdLst>
              <a:gd name="T0" fmla="*/ 2147483646 w 1043"/>
              <a:gd name="T1" fmla="*/ 2147483646 h 431"/>
              <a:gd name="T2" fmla="*/ 2147483646 w 1043"/>
              <a:gd name="T3" fmla="*/ 2147483646 h 431"/>
              <a:gd name="T4" fmla="*/ 2147483646 w 1043"/>
              <a:gd name="T5" fmla="*/ 2147483646 h 431"/>
              <a:gd name="T6" fmla="*/ 2147483646 w 1043"/>
              <a:gd name="T7" fmla="*/ 2147483646 h 431"/>
              <a:gd name="T8" fmla="*/ 0 60000 65536"/>
              <a:gd name="T9" fmla="*/ 0 60000 65536"/>
              <a:gd name="T10" fmla="*/ 0 60000 65536"/>
              <a:gd name="T11" fmla="*/ 0 60000 65536"/>
              <a:gd name="T12" fmla="*/ 0 w 1043"/>
              <a:gd name="T13" fmla="*/ 0 h 431"/>
              <a:gd name="T14" fmla="*/ 1043 w 1043"/>
              <a:gd name="T15" fmla="*/ 431 h 431"/>
            </a:gdLst>
            <a:ahLst/>
            <a:cxnLst>
              <a:cxn ang="T8">
                <a:pos x="T0" y="T1"/>
              </a:cxn>
              <a:cxn ang="T9">
                <a:pos x="T2" y="T3"/>
              </a:cxn>
              <a:cxn ang="T10">
                <a:pos x="T4" y="T5"/>
              </a:cxn>
              <a:cxn ang="T11">
                <a:pos x="T6" y="T7"/>
              </a:cxn>
            </a:cxnLst>
            <a:rect l="T12" t="T13" r="T14" b="T15"/>
            <a:pathLst>
              <a:path w="1043" h="431">
                <a:moveTo>
                  <a:pt x="1043" y="431"/>
                </a:moveTo>
                <a:cubicBezTo>
                  <a:pt x="1028" y="283"/>
                  <a:pt x="1013" y="136"/>
                  <a:pt x="862" y="68"/>
                </a:cubicBezTo>
                <a:cubicBezTo>
                  <a:pt x="711" y="0"/>
                  <a:pt x="272" y="8"/>
                  <a:pt x="136" y="23"/>
                </a:cubicBezTo>
                <a:cubicBezTo>
                  <a:pt x="0" y="38"/>
                  <a:pt x="60" y="129"/>
                  <a:pt x="45" y="159"/>
                </a:cubicBezTo>
              </a:path>
            </a:pathLst>
          </a:custGeom>
          <a:noFill/>
          <a:ln w="38100">
            <a:solidFill>
              <a:srgbClr val="FF99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65899" name="Freeform 11"/>
          <p:cNvSpPr/>
          <p:nvPr/>
        </p:nvSpPr>
        <p:spPr bwMode="auto">
          <a:xfrm>
            <a:off x="2700338" y="3357563"/>
            <a:ext cx="1511300" cy="576262"/>
          </a:xfrm>
          <a:custGeom>
            <a:avLst/>
            <a:gdLst>
              <a:gd name="T0" fmla="*/ 2147483646 w 1043"/>
              <a:gd name="T1" fmla="*/ 2147483646 h 431"/>
              <a:gd name="T2" fmla="*/ 2147483646 w 1043"/>
              <a:gd name="T3" fmla="*/ 2147483646 h 431"/>
              <a:gd name="T4" fmla="*/ 2147483646 w 1043"/>
              <a:gd name="T5" fmla="*/ 2147483646 h 431"/>
              <a:gd name="T6" fmla="*/ 2147483646 w 1043"/>
              <a:gd name="T7" fmla="*/ 2147483646 h 431"/>
              <a:gd name="T8" fmla="*/ 0 60000 65536"/>
              <a:gd name="T9" fmla="*/ 0 60000 65536"/>
              <a:gd name="T10" fmla="*/ 0 60000 65536"/>
              <a:gd name="T11" fmla="*/ 0 60000 65536"/>
              <a:gd name="T12" fmla="*/ 0 w 1043"/>
              <a:gd name="T13" fmla="*/ 0 h 431"/>
              <a:gd name="T14" fmla="*/ 1043 w 1043"/>
              <a:gd name="T15" fmla="*/ 431 h 431"/>
            </a:gdLst>
            <a:ahLst/>
            <a:cxnLst>
              <a:cxn ang="T8">
                <a:pos x="T0" y="T1"/>
              </a:cxn>
              <a:cxn ang="T9">
                <a:pos x="T2" y="T3"/>
              </a:cxn>
              <a:cxn ang="T10">
                <a:pos x="T4" y="T5"/>
              </a:cxn>
              <a:cxn ang="T11">
                <a:pos x="T6" y="T7"/>
              </a:cxn>
            </a:cxnLst>
            <a:rect l="T12" t="T13" r="T14" b="T15"/>
            <a:pathLst>
              <a:path w="1043" h="431">
                <a:moveTo>
                  <a:pt x="1043" y="431"/>
                </a:moveTo>
                <a:cubicBezTo>
                  <a:pt x="1028" y="283"/>
                  <a:pt x="1013" y="136"/>
                  <a:pt x="862" y="68"/>
                </a:cubicBezTo>
                <a:cubicBezTo>
                  <a:pt x="711" y="0"/>
                  <a:pt x="272" y="8"/>
                  <a:pt x="136" y="23"/>
                </a:cubicBezTo>
                <a:cubicBezTo>
                  <a:pt x="0" y="38"/>
                  <a:pt x="60" y="129"/>
                  <a:pt x="45" y="159"/>
                </a:cubicBezTo>
              </a:path>
            </a:pathLst>
          </a:custGeom>
          <a:noFill/>
          <a:ln w="38100">
            <a:solidFill>
              <a:srgbClr val="FF99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65900" name="Freeform 12"/>
          <p:cNvSpPr/>
          <p:nvPr/>
        </p:nvSpPr>
        <p:spPr bwMode="auto">
          <a:xfrm>
            <a:off x="2460625" y="5373688"/>
            <a:ext cx="1858963" cy="492125"/>
          </a:xfrm>
          <a:custGeom>
            <a:avLst/>
            <a:gdLst>
              <a:gd name="T0" fmla="*/ 2147483646 w 1171"/>
              <a:gd name="T1" fmla="*/ 0 h 310"/>
              <a:gd name="T2" fmla="*/ 2147483646 w 1171"/>
              <a:gd name="T3" fmla="*/ 2147483646 h 310"/>
              <a:gd name="T4" fmla="*/ 2147483646 w 1171"/>
              <a:gd name="T5" fmla="*/ 2147483646 h 310"/>
              <a:gd name="T6" fmla="*/ 2147483646 w 1171"/>
              <a:gd name="T7" fmla="*/ 0 h 310"/>
              <a:gd name="T8" fmla="*/ 0 60000 65536"/>
              <a:gd name="T9" fmla="*/ 0 60000 65536"/>
              <a:gd name="T10" fmla="*/ 0 60000 65536"/>
              <a:gd name="T11" fmla="*/ 0 60000 65536"/>
              <a:gd name="T12" fmla="*/ 0 w 1171"/>
              <a:gd name="T13" fmla="*/ 0 h 310"/>
              <a:gd name="T14" fmla="*/ 1171 w 1171"/>
              <a:gd name="T15" fmla="*/ 310 h 310"/>
            </a:gdLst>
            <a:ahLst/>
            <a:cxnLst>
              <a:cxn ang="T8">
                <a:pos x="T0" y="T1"/>
              </a:cxn>
              <a:cxn ang="T9">
                <a:pos x="T2" y="T3"/>
              </a:cxn>
              <a:cxn ang="T10">
                <a:pos x="T4" y="T5"/>
              </a:cxn>
              <a:cxn ang="T11">
                <a:pos x="T6" y="T7"/>
              </a:cxn>
            </a:cxnLst>
            <a:rect l="T12" t="T13" r="T14" b="T15"/>
            <a:pathLst>
              <a:path w="1171" h="310">
                <a:moveTo>
                  <a:pt x="105" y="0"/>
                </a:moveTo>
                <a:cubicBezTo>
                  <a:pt x="52" y="91"/>
                  <a:pt x="0" y="182"/>
                  <a:pt x="151" y="227"/>
                </a:cubicBezTo>
                <a:cubicBezTo>
                  <a:pt x="302" y="272"/>
                  <a:pt x="853" y="310"/>
                  <a:pt x="1012" y="272"/>
                </a:cubicBezTo>
                <a:cubicBezTo>
                  <a:pt x="1171" y="234"/>
                  <a:pt x="1088" y="45"/>
                  <a:pt x="1103" y="0"/>
                </a:cubicBezTo>
              </a:path>
            </a:pathLst>
          </a:custGeom>
          <a:noFill/>
          <a:ln w="38100">
            <a:solidFill>
              <a:srgbClr val="FF99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65901" name="Freeform 13"/>
          <p:cNvSpPr/>
          <p:nvPr/>
        </p:nvSpPr>
        <p:spPr bwMode="auto">
          <a:xfrm>
            <a:off x="4284663" y="5373688"/>
            <a:ext cx="1439862" cy="492125"/>
          </a:xfrm>
          <a:custGeom>
            <a:avLst/>
            <a:gdLst>
              <a:gd name="T0" fmla="*/ 2147483646 w 1171"/>
              <a:gd name="T1" fmla="*/ 0 h 310"/>
              <a:gd name="T2" fmla="*/ 2147483646 w 1171"/>
              <a:gd name="T3" fmla="*/ 2147483646 h 310"/>
              <a:gd name="T4" fmla="*/ 2147483646 w 1171"/>
              <a:gd name="T5" fmla="*/ 2147483646 h 310"/>
              <a:gd name="T6" fmla="*/ 2147483646 w 1171"/>
              <a:gd name="T7" fmla="*/ 0 h 310"/>
              <a:gd name="T8" fmla="*/ 0 60000 65536"/>
              <a:gd name="T9" fmla="*/ 0 60000 65536"/>
              <a:gd name="T10" fmla="*/ 0 60000 65536"/>
              <a:gd name="T11" fmla="*/ 0 60000 65536"/>
              <a:gd name="T12" fmla="*/ 0 w 1171"/>
              <a:gd name="T13" fmla="*/ 0 h 310"/>
              <a:gd name="T14" fmla="*/ 1171 w 1171"/>
              <a:gd name="T15" fmla="*/ 310 h 310"/>
            </a:gdLst>
            <a:ahLst/>
            <a:cxnLst>
              <a:cxn ang="T8">
                <a:pos x="T0" y="T1"/>
              </a:cxn>
              <a:cxn ang="T9">
                <a:pos x="T2" y="T3"/>
              </a:cxn>
              <a:cxn ang="T10">
                <a:pos x="T4" y="T5"/>
              </a:cxn>
              <a:cxn ang="T11">
                <a:pos x="T6" y="T7"/>
              </a:cxn>
            </a:cxnLst>
            <a:rect l="T12" t="T13" r="T14" b="T15"/>
            <a:pathLst>
              <a:path w="1171" h="310">
                <a:moveTo>
                  <a:pt x="105" y="0"/>
                </a:moveTo>
                <a:cubicBezTo>
                  <a:pt x="52" y="91"/>
                  <a:pt x="0" y="182"/>
                  <a:pt x="151" y="227"/>
                </a:cubicBezTo>
                <a:cubicBezTo>
                  <a:pt x="302" y="272"/>
                  <a:pt x="853" y="310"/>
                  <a:pt x="1012" y="272"/>
                </a:cubicBezTo>
                <a:cubicBezTo>
                  <a:pt x="1171" y="234"/>
                  <a:pt x="1088" y="45"/>
                  <a:pt x="1103" y="0"/>
                </a:cubicBezTo>
              </a:path>
            </a:pathLst>
          </a:custGeom>
          <a:noFill/>
          <a:ln w="38100">
            <a:solidFill>
              <a:srgbClr val="FF99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65902" name="Freeform 14"/>
          <p:cNvSpPr/>
          <p:nvPr/>
        </p:nvSpPr>
        <p:spPr bwMode="auto">
          <a:xfrm>
            <a:off x="5651500" y="5373688"/>
            <a:ext cx="1858963" cy="492125"/>
          </a:xfrm>
          <a:custGeom>
            <a:avLst/>
            <a:gdLst>
              <a:gd name="T0" fmla="*/ 2147483646 w 1171"/>
              <a:gd name="T1" fmla="*/ 0 h 310"/>
              <a:gd name="T2" fmla="*/ 2147483646 w 1171"/>
              <a:gd name="T3" fmla="*/ 2147483646 h 310"/>
              <a:gd name="T4" fmla="*/ 2147483646 w 1171"/>
              <a:gd name="T5" fmla="*/ 2147483646 h 310"/>
              <a:gd name="T6" fmla="*/ 2147483646 w 1171"/>
              <a:gd name="T7" fmla="*/ 0 h 310"/>
              <a:gd name="T8" fmla="*/ 0 60000 65536"/>
              <a:gd name="T9" fmla="*/ 0 60000 65536"/>
              <a:gd name="T10" fmla="*/ 0 60000 65536"/>
              <a:gd name="T11" fmla="*/ 0 60000 65536"/>
              <a:gd name="T12" fmla="*/ 0 w 1171"/>
              <a:gd name="T13" fmla="*/ 0 h 310"/>
              <a:gd name="T14" fmla="*/ 1171 w 1171"/>
              <a:gd name="T15" fmla="*/ 310 h 310"/>
            </a:gdLst>
            <a:ahLst/>
            <a:cxnLst>
              <a:cxn ang="T8">
                <a:pos x="T0" y="T1"/>
              </a:cxn>
              <a:cxn ang="T9">
                <a:pos x="T2" y="T3"/>
              </a:cxn>
              <a:cxn ang="T10">
                <a:pos x="T4" y="T5"/>
              </a:cxn>
              <a:cxn ang="T11">
                <a:pos x="T6" y="T7"/>
              </a:cxn>
            </a:cxnLst>
            <a:rect l="T12" t="T13" r="T14" b="T15"/>
            <a:pathLst>
              <a:path w="1171" h="310">
                <a:moveTo>
                  <a:pt x="105" y="0"/>
                </a:moveTo>
                <a:cubicBezTo>
                  <a:pt x="52" y="91"/>
                  <a:pt x="0" y="182"/>
                  <a:pt x="151" y="227"/>
                </a:cubicBezTo>
                <a:cubicBezTo>
                  <a:pt x="302" y="272"/>
                  <a:pt x="853" y="310"/>
                  <a:pt x="1012" y="272"/>
                </a:cubicBezTo>
                <a:cubicBezTo>
                  <a:pt x="1171" y="234"/>
                  <a:pt x="1088" y="45"/>
                  <a:pt x="1103" y="0"/>
                </a:cubicBezTo>
              </a:path>
            </a:pathLst>
          </a:custGeom>
          <a:noFill/>
          <a:ln w="38100">
            <a:solidFill>
              <a:srgbClr val="FF99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165903" name="Freeform 15"/>
          <p:cNvSpPr/>
          <p:nvPr/>
        </p:nvSpPr>
        <p:spPr bwMode="auto">
          <a:xfrm>
            <a:off x="1476375" y="5373688"/>
            <a:ext cx="6348413" cy="755650"/>
          </a:xfrm>
          <a:custGeom>
            <a:avLst/>
            <a:gdLst>
              <a:gd name="T0" fmla="*/ 2147483646 w 3999"/>
              <a:gd name="T1" fmla="*/ 0 h 476"/>
              <a:gd name="T2" fmla="*/ 2147483646 w 3999"/>
              <a:gd name="T3" fmla="*/ 2147483646 h 476"/>
              <a:gd name="T4" fmla="*/ 2147483646 w 3999"/>
              <a:gd name="T5" fmla="*/ 2147483646 h 476"/>
              <a:gd name="T6" fmla="*/ 2147483646 w 3999"/>
              <a:gd name="T7" fmla="*/ 2147483646 h 476"/>
              <a:gd name="T8" fmla="*/ 2147483646 w 3999"/>
              <a:gd name="T9" fmla="*/ 0 h 476"/>
              <a:gd name="T10" fmla="*/ 0 60000 65536"/>
              <a:gd name="T11" fmla="*/ 0 60000 65536"/>
              <a:gd name="T12" fmla="*/ 0 60000 65536"/>
              <a:gd name="T13" fmla="*/ 0 60000 65536"/>
              <a:gd name="T14" fmla="*/ 0 60000 65536"/>
              <a:gd name="T15" fmla="*/ 0 w 3999"/>
              <a:gd name="T16" fmla="*/ 0 h 476"/>
              <a:gd name="T17" fmla="*/ 3999 w 3999"/>
              <a:gd name="T18" fmla="*/ 476 h 476"/>
            </a:gdLst>
            <a:ahLst/>
            <a:cxnLst>
              <a:cxn ang="T10">
                <a:pos x="T0" y="T1"/>
              </a:cxn>
              <a:cxn ang="T11">
                <a:pos x="T2" y="T3"/>
              </a:cxn>
              <a:cxn ang="T12">
                <a:pos x="T4" y="T5"/>
              </a:cxn>
              <a:cxn ang="T13">
                <a:pos x="T6" y="T7"/>
              </a:cxn>
              <a:cxn ang="T14">
                <a:pos x="T8" y="T9"/>
              </a:cxn>
            </a:cxnLst>
            <a:rect l="T15" t="T16" r="T17" b="T18"/>
            <a:pathLst>
              <a:path w="3999" h="476">
                <a:moveTo>
                  <a:pt x="3855" y="0"/>
                </a:moveTo>
                <a:cubicBezTo>
                  <a:pt x="3927" y="124"/>
                  <a:pt x="3999" y="249"/>
                  <a:pt x="3855" y="317"/>
                </a:cubicBezTo>
                <a:cubicBezTo>
                  <a:pt x="3711" y="385"/>
                  <a:pt x="3567" y="393"/>
                  <a:pt x="2993" y="408"/>
                </a:cubicBezTo>
                <a:cubicBezTo>
                  <a:pt x="2419" y="423"/>
                  <a:pt x="816" y="476"/>
                  <a:pt x="408" y="408"/>
                </a:cubicBezTo>
                <a:cubicBezTo>
                  <a:pt x="0" y="340"/>
                  <a:pt x="521" y="68"/>
                  <a:pt x="544" y="0"/>
                </a:cubicBezTo>
              </a:path>
            </a:pathLst>
          </a:custGeom>
          <a:noFill/>
          <a:ln w="38100">
            <a:solidFill>
              <a:srgbClr val="FF99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5895"/>
                                        </p:tgtEl>
                                        <p:attrNameLst>
                                          <p:attrName>style.visibility</p:attrName>
                                        </p:attrNameLst>
                                      </p:cBhvr>
                                      <p:to>
                                        <p:strVal val="visible"/>
                                      </p:to>
                                    </p:set>
                                    <p:anim calcmode="lin" valueType="num">
                                      <p:cBhvr additive="base">
                                        <p:cTn id="7" dur="500" fill="hold"/>
                                        <p:tgtEl>
                                          <p:spTgt spid="165895"/>
                                        </p:tgtEl>
                                        <p:attrNameLst>
                                          <p:attrName>ppt_x</p:attrName>
                                        </p:attrNameLst>
                                      </p:cBhvr>
                                      <p:tavLst>
                                        <p:tav tm="0">
                                          <p:val>
                                            <p:strVal val="#ppt_x"/>
                                          </p:val>
                                        </p:tav>
                                        <p:tav tm="100000">
                                          <p:val>
                                            <p:strVal val="#ppt_x"/>
                                          </p:val>
                                        </p:tav>
                                      </p:tavLst>
                                    </p:anim>
                                    <p:anim calcmode="lin" valueType="num">
                                      <p:cBhvr additive="base">
                                        <p:cTn id="8" dur="500" fill="hold"/>
                                        <p:tgtEl>
                                          <p:spTgt spid="1658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165897"/>
                                        </p:tgtEl>
                                        <p:attrNameLst>
                                          <p:attrName>style.visibility</p:attrName>
                                        </p:attrNameLst>
                                      </p:cBhvr>
                                      <p:to>
                                        <p:strVal val="visible"/>
                                      </p:to>
                                    </p:set>
                                    <p:animEffect transition="in" filter="box(in)">
                                      <p:cBhvr>
                                        <p:cTn id="13" dur="500"/>
                                        <p:tgtEl>
                                          <p:spTgt spid="165897"/>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165898"/>
                                        </p:tgtEl>
                                        <p:attrNameLst>
                                          <p:attrName>style.visibility</p:attrName>
                                        </p:attrNameLst>
                                      </p:cBhvr>
                                      <p:to>
                                        <p:strVal val="visible"/>
                                      </p:to>
                                    </p:set>
                                    <p:animEffect transition="in" filter="diamond(in)">
                                      <p:cBhvr>
                                        <p:cTn id="18" dur="2000"/>
                                        <p:tgtEl>
                                          <p:spTgt spid="165898"/>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165899"/>
                                        </p:tgtEl>
                                        <p:attrNameLst>
                                          <p:attrName>style.visibility</p:attrName>
                                        </p:attrNameLst>
                                      </p:cBhvr>
                                      <p:to>
                                        <p:strVal val="visible"/>
                                      </p:to>
                                    </p:set>
                                    <p:animEffect transition="in" filter="checkerboard(across)">
                                      <p:cBhvr>
                                        <p:cTn id="23" dur="500"/>
                                        <p:tgtEl>
                                          <p:spTgt spid="165899"/>
                                        </p:tgtEl>
                                      </p:cBhvr>
                                    </p:animEffect>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nodeType="clickEffect">
                                  <p:stCondLst>
                                    <p:cond delay="0"/>
                                  </p:stCondLst>
                                  <p:childTnLst>
                                    <p:set>
                                      <p:cBhvr>
                                        <p:cTn id="27" dur="1" fill="hold">
                                          <p:stCondLst>
                                            <p:cond delay="0"/>
                                          </p:stCondLst>
                                        </p:cTn>
                                        <p:tgtEl>
                                          <p:spTgt spid="165900"/>
                                        </p:tgtEl>
                                        <p:attrNameLst>
                                          <p:attrName>style.visibility</p:attrName>
                                        </p:attrNameLst>
                                      </p:cBhvr>
                                      <p:to>
                                        <p:strVal val="visible"/>
                                      </p:to>
                                    </p:set>
                                    <p:animEffect transition="in" filter="diamond(in)">
                                      <p:cBhvr>
                                        <p:cTn id="28" dur="2000"/>
                                        <p:tgtEl>
                                          <p:spTgt spid="165900"/>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nodeType="clickEffect">
                                  <p:stCondLst>
                                    <p:cond delay="0"/>
                                  </p:stCondLst>
                                  <p:childTnLst>
                                    <p:set>
                                      <p:cBhvr>
                                        <p:cTn id="32" dur="1" fill="hold">
                                          <p:stCondLst>
                                            <p:cond delay="0"/>
                                          </p:stCondLst>
                                        </p:cTn>
                                        <p:tgtEl>
                                          <p:spTgt spid="165901"/>
                                        </p:tgtEl>
                                        <p:attrNameLst>
                                          <p:attrName>style.visibility</p:attrName>
                                        </p:attrNameLst>
                                      </p:cBhvr>
                                      <p:to>
                                        <p:strVal val="visible"/>
                                      </p:to>
                                    </p:set>
                                    <p:animEffect transition="in" filter="diamond(in)">
                                      <p:cBhvr>
                                        <p:cTn id="33" dur="2000"/>
                                        <p:tgtEl>
                                          <p:spTgt spid="165901"/>
                                        </p:tgtEl>
                                      </p:cBhvr>
                                    </p:animEffect>
                                  </p:childTnLst>
                                </p:cTn>
                              </p:par>
                            </p:childTnLst>
                          </p:cTn>
                        </p:par>
                      </p:childTnLst>
                    </p:cTn>
                  </p:par>
                  <p:par>
                    <p:cTn id="34" fill="hold">
                      <p:stCondLst>
                        <p:cond delay="indefinite"/>
                      </p:stCondLst>
                      <p:childTnLst>
                        <p:par>
                          <p:cTn id="35" fill="hold">
                            <p:stCondLst>
                              <p:cond delay="0"/>
                            </p:stCondLst>
                            <p:childTnLst>
                              <p:par>
                                <p:cTn id="36" presetID="8" presetClass="entr" presetSubtype="16" fill="hold" nodeType="clickEffect">
                                  <p:stCondLst>
                                    <p:cond delay="0"/>
                                  </p:stCondLst>
                                  <p:childTnLst>
                                    <p:set>
                                      <p:cBhvr>
                                        <p:cTn id="37" dur="1" fill="hold">
                                          <p:stCondLst>
                                            <p:cond delay="0"/>
                                          </p:stCondLst>
                                        </p:cTn>
                                        <p:tgtEl>
                                          <p:spTgt spid="165902"/>
                                        </p:tgtEl>
                                        <p:attrNameLst>
                                          <p:attrName>style.visibility</p:attrName>
                                        </p:attrNameLst>
                                      </p:cBhvr>
                                      <p:to>
                                        <p:strVal val="visible"/>
                                      </p:to>
                                    </p:set>
                                    <p:animEffect transition="in" filter="diamond(in)">
                                      <p:cBhvr>
                                        <p:cTn id="38" dur="2000"/>
                                        <p:tgtEl>
                                          <p:spTgt spid="165902"/>
                                        </p:tgtEl>
                                      </p:cBhvr>
                                    </p:animEffect>
                                  </p:childTnLst>
                                </p:cTn>
                              </p:par>
                            </p:childTnLst>
                          </p:cTn>
                        </p:par>
                      </p:childTnLst>
                    </p:cTn>
                  </p:par>
                  <p:par>
                    <p:cTn id="39" fill="hold">
                      <p:stCondLst>
                        <p:cond delay="indefinite"/>
                      </p:stCondLst>
                      <p:childTnLst>
                        <p:par>
                          <p:cTn id="40" fill="hold">
                            <p:stCondLst>
                              <p:cond delay="0"/>
                            </p:stCondLst>
                            <p:childTnLst>
                              <p:par>
                                <p:cTn id="41" presetID="8" presetClass="entr" presetSubtype="16" fill="hold" nodeType="clickEffect">
                                  <p:stCondLst>
                                    <p:cond delay="0"/>
                                  </p:stCondLst>
                                  <p:childTnLst>
                                    <p:set>
                                      <p:cBhvr>
                                        <p:cTn id="42" dur="1" fill="hold">
                                          <p:stCondLst>
                                            <p:cond delay="0"/>
                                          </p:stCondLst>
                                        </p:cTn>
                                        <p:tgtEl>
                                          <p:spTgt spid="165903"/>
                                        </p:tgtEl>
                                        <p:attrNameLst>
                                          <p:attrName>style.visibility</p:attrName>
                                        </p:attrNameLst>
                                      </p:cBhvr>
                                      <p:to>
                                        <p:strVal val="visible"/>
                                      </p:to>
                                    </p:set>
                                    <p:animEffect transition="in" filter="diamond(in)">
                                      <p:cBhvr>
                                        <p:cTn id="43" dur="2000"/>
                                        <p:tgtEl>
                                          <p:spTgt spid="1659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3993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75B3DF96-E6FD-4F22-B43F-1C47C9018239}"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8" name="日期占位符 5"/>
          <p:cNvSpPr>
            <a:spLocks noGrp="1"/>
          </p:cNvSpPr>
          <p:nvPr>
            <p:ph type="dt" sz="quarter" idx="12"/>
          </p:nvPr>
        </p:nvSpPr>
        <p:spPr/>
        <p:txBody>
          <a:bodyPr/>
          <a:lstStyle/>
          <a:p>
            <a:pPr>
              <a:defRPr/>
            </a:pPr>
            <a:r>
              <a:rPr lang="en-US" altLang="zh-CN"/>
              <a:t>BUPT</a:t>
            </a:r>
            <a:endParaRPr lang="en-US" altLang="zh-CN"/>
          </a:p>
        </p:txBody>
      </p:sp>
      <p:sp>
        <p:nvSpPr>
          <p:cNvPr id="39941" name="Rectangle 2"/>
          <p:cNvSpPr>
            <a:spLocks noGrp="1" noChangeArrowheads="1"/>
          </p:cNvSpPr>
          <p:nvPr>
            <p:ph type="title"/>
          </p:nvPr>
        </p:nvSpPr>
        <p:spPr>
          <a:xfrm>
            <a:off x="685800" y="304800"/>
            <a:ext cx="7772400" cy="685800"/>
          </a:xfrm>
        </p:spPr>
        <p:txBody>
          <a:bodyPr/>
          <a:lstStyle/>
          <a:p>
            <a:pPr algn="l" eaLnBrk="1" hangingPunct="1"/>
            <a:r>
              <a:rPr lang="en-US" altLang="zh-CN" sz="2800" dirty="0" smtClean="0">
                <a:ea typeface="华文楷体" panose="02010600040101010101" pitchFamily="2" charset="-122"/>
              </a:rPr>
              <a:t>2.7 </a:t>
            </a:r>
            <a:r>
              <a:rPr lang="zh-CN" altLang="en-US" sz="2800" dirty="0" smtClean="0">
                <a:ea typeface="华文楷体" panose="02010600040101010101" pitchFamily="2" charset="-122"/>
              </a:rPr>
              <a:t>线性表应用示例</a:t>
            </a:r>
            <a:endParaRPr lang="zh-CN" altLang="en-US" sz="2800" dirty="0" smtClean="0">
              <a:ea typeface="华文楷体" panose="02010600040101010101" pitchFamily="2" charset="-122"/>
            </a:endParaRPr>
          </a:p>
        </p:txBody>
      </p:sp>
      <p:sp>
        <p:nvSpPr>
          <p:cNvPr id="39942" name="Rectangle 3"/>
          <p:cNvSpPr>
            <a:spLocks noGrp="1" noChangeArrowheads="1"/>
          </p:cNvSpPr>
          <p:nvPr>
            <p:ph type="body" idx="1"/>
          </p:nvPr>
        </p:nvSpPr>
        <p:spPr>
          <a:xfrm>
            <a:off x="685800" y="1219200"/>
            <a:ext cx="7772400" cy="4724400"/>
          </a:xfrm>
        </p:spPr>
        <p:txBody>
          <a:bodyPr/>
          <a:lstStyle/>
          <a:p>
            <a:pPr eaLnBrk="1" hangingPunct="1">
              <a:lnSpc>
                <a:spcPct val="90000"/>
              </a:lnSpc>
              <a:buFont typeface="Wingdings" panose="05000000000000000000" pitchFamily="2" charset="2"/>
              <a:buNone/>
            </a:pPr>
            <a:r>
              <a:rPr lang="zh-CN" altLang="en-US" sz="2400" b="1" dirty="0" smtClean="0">
                <a:solidFill>
                  <a:srgbClr val="800000"/>
                </a:solidFill>
                <a:ea typeface="华文楷体" panose="02010600040101010101" pitchFamily="2" charset="-122"/>
              </a:rPr>
              <a:t>一元</a:t>
            </a:r>
            <a:r>
              <a:rPr lang="en-US" altLang="zh-CN" sz="2400" b="1" dirty="0" smtClean="0">
                <a:solidFill>
                  <a:srgbClr val="800000"/>
                </a:solidFill>
                <a:ea typeface="华文楷体" panose="02010600040101010101" pitchFamily="2" charset="-122"/>
              </a:rPr>
              <a:t>n</a:t>
            </a:r>
            <a:r>
              <a:rPr lang="zh-CN" altLang="en-US" sz="2400" b="1" dirty="0" smtClean="0">
                <a:solidFill>
                  <a:srgbClr val="800000"/>
                </a:solidFill>
                <a:ea typeface="华文楷体" panose="02010600040101010101" pitchFamily="2" charset="-122"/>
              </a:rPr>
              <a:t>次多项式相加</a:t>
            </a:r>
            <a:endParaRPr lang="zh-CN" altLang="en-US" sz="2400" b="1" dirty="0" smtClean="0">
              <a:solidFill>
                <a:srgbClr val="800000"/>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CC6600"/>
                </a:solidFill>
                <a:ea typeface="华文楷体" panose="02010600040101010101" pitchFamily="2" charset="-122"/>
              </a:rPr>
              <a:t>数学表示</a:t>
            </a:r>
            <a:endParaRPr lang="zh-CN" altLang="en-US" sz="2400" b="1" dirty="0" smtClean="0">
              <a:solidFill>
                <a:srgbClr val="FF9900"/>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err="1" smtClean="0">
                <a:ea typeface="华文楷体" panose="02010600040101010101" pitchFamily="2" charset="-122"/>
              </a:rPr>
              <a:t>p</a:t>
            </a:r>
            <a:r>
              <a:rPr lang="en-US" altLang="zh-CN" sz="2400" baseline="-25000" dirty="0" err="1" smtClean="0">
                <a:ea typeface="华文楷体" panose="02010600040101010101" pitchFamily="2" charset="-122"/>
              </a:rPr>
              <a:t>n</a:t>
            </a:r>
            <a:r>
              <a:rPr lang="en-US" altLang="zh-CN" sz="2400" dirty="0" smtClean="0">
                <a:ea typeface="华文楷体" panose="02010600040101010101" pitchFamily="2" charset="-122"/>
              </a:rPr>
              <a:t>(x)=p</a:t>
            </a:r>
            <a:r>
              <a:rPr lang="en-US" altLang="zh-CN" sz="2400" baseline="-25000" dirty="0" smtClean="0">
                <a:ea typeface="华文楷体" panose="02010600040101010101" pitchFamily="2" charset="-122"/>
              </a:rPr>
              <a:t>0</a:t>
            </a:r>
            <a:r>
              <a:rPr lang="en-US" altLang="zh-CN" sz="2400" dirty="0" smtClean="0">
                <a:ea typeface="华文楷体" panose="02010600040101010101" pitchFamily="2" charset="-122"/>
              </a:rPr>
              <a:t> + p</a:t>
            </a:r>
            <a:r>
              <a:rPr lang="en-US" altLang="zh-CN" sz="2400" baseline="-25000" dirty="0" smtClean="0">
                <a:ea typeface="华文楷体" panose="02010600040101010101" pitchFamily="2" charset="-122"/>
              </a:rPr>
              <a:t>1</a:t>
            </a:r>
            <a:r>
              <a:rPr lang="en-US" altLang="zh-CN" sz="2400" dirty="0" smtClean="0">
                <a:ea typeface="华文楷体" panose="02010600040101010101" pitchFamily="2" charset="-122"/>
              </a:rPr>
              <a:t>x + p</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x</a:t>
            </a:r>
            <a:r>
              <a:rPr lang="en-US" altLang="zh-CN" sz="2400" baseline="30000" dirty="0" smtClean="0">
                <a:ea typeface="华文楷体" panose="02010600040101010101" pitchFamily="2" charset="-122"/>
              </a:rPr>
              <a:t>2</a:t>
            </a:r>
            <a:r>
              <a:rPr lang="en-US" altLang="zh-CN" sz="2400" dirty="0" smtClean="0">
                <a:ea typeface="华文楷体" panose="02010600040101010101" pitchFamily="2" charset="-122"/>
              </a:rPr>
              <a:t> + … + </a:t>
            </a:r>
            <a:r>
              <a:rPr lang="en-US" altLang="zh-CN" sz="2400" dirty="0" err="1" smtClean="0">
                <a:ea typeface="华文楷体" panose="02010600040101010101" pitchFamily="2" charset="-122"/>
              </a:rPr>
              <a:t>p</a:t>
            </a:r>
            <a:r>
              <a:rPr lang="en-US" altLang="zh-CN" sz="2400" baseline="-25000" dirty="0" err="1" smtClean="0">
                <a:ea typeface="华文楷体" panose="02010600040101010101" pitchFamily="2" charset="-122"/>
              </a:rPr>
              <a:t>n</a:t>
            </a:r>
            <a:r>
              <a:rPr lang="en-US" altLang="zh-CN" sz="2400" dirty="0" err="1" smtClean="0">
                <a:ea typeface="华文楷体" panose="02010600040101010101" pitchFamily="2" charset="-122"/>
              </a:rPr>
              <a:t>x</a:t>
            </a:r>
            <a:r>
              <a:rPr lang="en-US" altLang="zh-CN" sz="2400" baseline="30000" dirty="0" err="1" smtClean="0">
                <a:ea typeface="华文楷体" panose="02010600040101010101" pitchFamily="2" charset="-122"/>
              </a:rPr>
              <a:t>n</a:t>
            </a:r>
            <a:endParaRPr lang="en-US" altLang="zh-CN" sz="2400" dirty="0" smtClean="0">
              <a:ea typeface="华文楷体" panose="02010600040101010101" pitchFamily="2" charset="-122"/>
            </a:endParaRPr>
          </a:p>
          <a:p>
            <a:pPr eaLnBrk="1" hangingPunct="1">
              <a:lnSpc>
                <a:spcPct val="90000"/>
              </a:lnSpc>
              <a:spcBef>
                <a:spcPct val="50000"/>
              </a:spcBef>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例</a:t>
            </a:r>
            <a:r>
              <a:rPr lang="en-US" altLang="zh-CN" sz="2400" dirty="0" smtClean="0">
                <a:ea typeface="华文楷体" panose="02010600040101010101" pitchFamily="2" charset="-122"/>
              </a:rPr>
              <a:t>] pa(x)=7+3x+9x</a:t>
            </a:r>
            <a:r>
              <a:rPr lang="en-US" altLang="zh-CN" sz="2400" baseline="30000" dirty="0" smtClean="0">
                <a:ea typeface="华文楷体" panose="02010600040101010101" pitchFamily="2" charset="-122"/>
              </a:rPr>
              <a:t>8</a:t>
            </a:r>
            <a:r>
              <a:rPr lang="en-US" altLang="zh-CN" sz="2400" dirty="0" smtClean="0">
                <a:ea typeface="华文楷体" panose="02010600040101010101" pitchFamily="2" charset="-122"/>
              </a:rPr>
              <a:t>+5x</a:t>
            </a:r>
            <a:r>
              <a:rPr lang="en-US" altLang="zh-CN" sz="2400" baseline="30000" dirty="0" smtClean="0">
                <a:ea typeface="华文楷体" panose="02010600040101010101" pitchFamily="2" charset="-122"/>
              </a:rPr>
              <a:t>17</a:t>
            </a:r>
            <a:endParaRPr lang="en-US" altLang="zh-CN" sz="2400" dirty="0" smtClean="0">
              <a:ea typeface="华文楷体" panose="02010600040101010101" pitchFamily="2" charset="-122"/>
            </a:endParaRPr>
          </a:p>
          <a:p>
            <a:pPr eaLnBrk="1" hangingPunct="1">
              <a:lnSpc>
                <a:spcPct val="90000"/>
              </a:lnSpc>
              <a:spcBef>
                <a:spcPct val="50000"/>
              </a:spcBef>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pb</a:t>
            </a:r>
            <a:r>
              <a:rPr lang="en-US" altLang="zh-CN" sz="2400" dirty="0" smtClean="0">
                <a:ea typeface="华文楷体" panose="02010600040101010101" pitchFamily="2" charset="-122"/>
              </a:rPr>
              <a:t>(x)=8x+22x</a:t>
            </a:r>
            <a:r>
              <a:rPr lang="en-US" altLang="zh-CN" sz="2400" baseline="30000" dirty="0" smtClean="0">
                <a:ea typeface="华文楷体" panose="02010600040101010101" pitchFamily="2" charset="-122"/>
              </a:rPr>
              <a:t>7</a:t>
            </a:r>
            <a:r>
              <a:rPr lang="en-US" altLang="zh-CN" sz="2400" dirty="0" smtClean="0">
                <a:ea typeface="华文楷体" panose="02010600040101010101" pitchFamily="2" charset="-122"/>
              </a:rPr>
              <a:t>-9x</a:t>
            </a:r>
            <a:r>
              <a:rPr lang="en-US" altLang="zh-CN" sz="2400" baseline="30000" dirty="0" smtClean="0">
                <a:ea typeface="华文楷体" panose="02010600040101010101" pitchFamily="2" charset="-122"/>
              </a:rPr>
              <a:t>8</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CC6600"/>
                </a:solidFill>
                <a:ea typeface="华文楷体" panose="02010600040101010101" pitchFamily="2" charset="-122"/>
              </a:rPr>
              <a:t>选择数据结构及其存储方式</a:t>
            </a:r>
            <a:endParaRPr lang="zh-CN" altLang="en-US" sz="2400" b="1" dirty="0" smtClean="0">
              <a:solidFill>
                <a:srgbClr val="FF9900"/>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线性表：数据元素  </a:t>
            </a:r>
            <a:r>
              <a:rPr lang="en-US" altLang="zh-CN" sz="2400" dirty="0" smtClean="0">
                <a:ea typeface="华文楷体" panose="02010600040101010101" pitchFamily="2" charset="-122"/>
              </a:rPr>
              <a:t>(p)</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a:t>
            </a:r>
            <a:r>
              <a:rPr lang="en-US" altLang="zh-CN" sz="2400" dirty="0" err="1" smtClean="0">
                <a:ea typeface="华文楷体" panose="02010600040101010101" pitchFamily="2" charset="-122"/>
              </a:rPr>
              <a:t>p,e</a:t>
            </a:r>
            <a:r>
              <a:rPr lang="zh-CN" altLang="en-US" sz="2400" dirty="0" smtClean="0">
                <a:ea typeface="华文楷体" panose="02010600040101010101" pitchFamily="2" charset="-122"/>
              </a:rPr>
              <a:t>）  </a:t>
            </a:r>
            <a:r>
              <a:rPr lang="zh-CN" altLang="en-US" sz="2400" b="1" dirty="0" smtClean="0">
                <a:solidFill>
                  <a:schemeClr val="accent2"/>
                </a:solidFill>
                <a:ea typeface="华文楷体" panose="02010600040101010101" pitchFamily="2" charset="-122"/>
                <a:sym typeface="Symbol" panose="05050102010706020507" pitchFamily="18" charset="2"/>
              </a:rPr>
              <a:t></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存储结构：顺序表</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带头结点的单链表   </a:t>
            </a:r>
            <a:r>
              <a:rPr lang="zh-CN" altLang="en-US" sz="2400" b="1" dirty="0" smtClean="0">
                <a:solidFill>
                  <a:schemeClr val="accent2"/>
                </a:solidFill>
                <a:ea typeface="华文楷体" panose="02010600040101010101" pitchFamily="2" charset="-122"/>
                <a:sym typeface="Symbol" panose="05050102010706020507" pitchFamily="18" charset="2"/>
              </a:rPr>
              <a:t></a:t>
            </a:r>
            <a:endParaRPr lang="zh-CN" altLang="en-US" sz="2400" b="1" dirty="0" smtClean="0">
              <a:solidFill>
                <a:schemeClr val="accent2"/>
              </a:solidFill>
              <a:ea typeface="华文楷体" panose="02010600040101010101" pitchFamily="2" charset="-122"/>
              <a:sym typeface="Symbol" panose="05050102010706020507" pitchFamily="18" charset="2"/>
            </a:endParaRPr>
          </a:p>
        </p:txBody>
      </p:sp>
      <p:sp>
        <p:nvSpPr>
          <p:cNvPr id="39943" name="AutoShape 4"/>
          <p:cNvSpPr/>
          <p:nvPr/>
        </p:nvSpPr>
        <p:spPr bwMode="auto">
          <a:xfrm>
            <a:off x="3581400" y="4343400"/>
            <a:ext cx="76200" cy="533400"/>
          </a:xfrm>
          <a:prstGeom prst="leftBrace">
            <a:avLst>
              <a:gd name="adj1" fmla="val 5833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39944" name="AutoShape 5"/>
          <p:cNvSpPr/>
          <p:nvPr/>
        </p:nvSpPr>
        <p:spPr bwMode="auto">
          <a:xfrm>
            <a:off x="2514600" y="5181600"/>
            <a:ext cx="76200" cy="457200"/>
          </a:xfrm>
          <a:prstGeom prst="leftBrace">
            <a:avLst>
              <a:gd name="adj1" fmla="val 5000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页脚占位符 3"/>
          <p:cNvSpPr>
            <a:spLocks noGrp="1"/>
          </p:cNvSpPr>
          <p:nvPr>
            <p:ph type="ftr" sz="quarter" idx="10"/>
          </p:nvPr>
        </p:nvSpPr>
        <p:spPr/>
        <p:txBody>
          <a:bodyPr/>
          <a:lstStyle/>
          <a:p>
            <a:pPr>
              <a:defRPr/>
            </a:pPr>
            <a:r>
              <a:rPr lang="en-US" altLang="zh-CN"/>
              <a:t>BUPT SCST</a:t>
            </a:r>
            <a:endParaRPr lang="en-US" altLang="zh-CN"/>
          </a:p>
        </p:txBody>
      </p:sp>
      <p:sp>
        <p:nvSpPr>
          <p:cNvPr id="4096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73F43E9B-CB8B-4E33-BACE-69FD60077EC5}"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99" name="日期占位符 5"/>
          <p:cNvSpPr>
            <a:spLocks noGrp="1"/>
          </p:cNvSpPr>
          <p:nvPr>
            <p:ph type="dt" sz="quarter" idx="12"/>
          </p:nvPr>
        </p:nvSpPr>
        <p:spPr/>
        <p:txBody>
          <a:bodyPr/>
          <a:lstStyle/>
          <a:p>
            <a:pPr>
              <a:defRPr/>
            </a:pPr>
            <a:r>
              <a:rPr lang="en-US" altLang="zh-CN"/>
              <a:t>BUPT</a:t>
            </a:r>
            <a:endParaRPr lang="en-US" altLang="zh-CN"/>
          </a:p>
        </p:txBody>
      </p:sp>
      <p:sp>
        <p:nvSpPr>
          <p:cNvPr id="40965" name="Rectangle 2"/>
          <p:cNvSpPr>
            <a:spLocks noChangeArrowheads="1"/>
          </p:cNvSpPr>
          <p:nvPr/>
        </p:nvSpPr>
        <p:spPr bwMode="auto">
          <a:xfrm>
            <a:off x="685800" y="1484313"/>
            <a:ext cx="4267200" cy="2859087"/>
          </a:xfrm>
          <a:prstGeom prst="rect">
            <a:avLst/>
          </a:prstGeom>
          <a:solidFill>
            <a:schemeClr val="hlink"/>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40966" name="Rectangle 3"/>
          <p:cNvSpPr>
            <a:spLocks noGrp="1" noChangeArrowheads="1"/>
          </p:cNvSpPr>
          <p:nvPr>
            <p:ph type="body" idx="1"/>
          </p:nvPr>
        </p:nvSpPr>
        <p:spPr>
          <a:xfrm>
            <a:off x="685800" y="1052513"/>
            <a:ext cx="7772400" cy="5043487"/>
          </a:xfrm>
        </p:spPr>
        <p:txBody>
          <a:bodyPr/>
          <a:lstStyle/>
          <a:p>
            <a:pPr eaLnBrk="1" hangingPunct="1">
              <a:buFont typeface="Wingdings" panose="05000000000000000000" pitchFamily="2" charset="2"/>
              <a:buNone/>
            </a:pPr>
            <a:r>
              <a:rPr lang="zh-CN" altLang="en-US" sz="2400" b="1" dirty="0" smtClean="0">
                <a:solidFill>
                  <a:srgbClr val="CC6600"/>
                </a:solidFill>
                <a:ea typeface="华文楷体" panose="02010600040101010101" pitchFamily="2" charset="-122"/>
              </a:rPr>
              <a:t>存储结构定义</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err="1" smtClean="0">
                <a:ea typeface="华文楷体" panose="02010600040101010101" pitchFamily="2" charset="-122"/>
              </a:rPr>
              <a:t>typedef</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struct</a:t>
            </a:r>
            <a:r>
              <a:rPr lang="en-US" altLang="zh-CN" sz="2400" dirty="0" smtClean="0">
                <a:ea typeface="华文楷体" panose="02010600040101010101" pitchFamily="2" charset="-122"/>
              </a:rPr>
              <a:t> node{</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double </a:t>
            </a:r>
            <a:r>
              <a:rPr lang="en-US" altLang="zh-CN" sz="2400" dirty="0" err="1" smtClean="0">
                <a:ea typeface="华文楷体" panose="02010600040101010101" pitchFamily="2" charset="-122"/>
                <a:sym typeface="Symbol" panose="05050102010706020507" pitchFamily="18" charset="2"/>
              </a:rPr>
              <a:t>cof</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int</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sym typeface="Symbol" panose="05050102010706020507" pitchFamily="18" charset="2"/>
              </a:rPr>
              <a:t>exp</a:t>
            </a:r>
            <a:r>
              <a:rPr lang="en-US" altLang="zh-CN" sz="2400" dirty="0" smtClean="0">
                <a:ea typeface="华文楷体" panose="02010600040101010101" pitchFamily="2" charset="-122"/>
                <a:sym typeface="Symbol" panose="05050102010706020507" pitchFamily="18" charset="2"/>
              </a:rPr>
              <a:t>;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err="1" smtClean="0">
                <a:ea typeface="华文楷体" panose="02010600040101010101" pitchFamily="2" charset="-122"/>
              </a:rPr>
              <a:t>struct</a:t>
            </a:r>
            <a:r>
              <a:rPr lang="en-US" altLang="zh-CN" sz="2400" dirty="0" smtClean="0">
                <a:ea typeface="华文楷体" panose="02010600040101010101" pitchFamily="2" charset="-122"/>
              </a:rPr>
              <a:t> node next;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linknode</a:t>
            </a:r>
            <a:r>
              <a:rPr lang="en-US" altLang="zh-CN" sz="2400" dirty="0" smtClean="0">
                <a:ea typeface="华文楷体" panose="02010600040101010101" pitchFamily="2" charset="-122"/>
              </a:rPr>
              <a:t>,*link;</a:t>
            </a:r>
            <a:endParaRPr lang="en-US" altLang="zh-CN" sz="2400" dirty="0" smtClean="0">
              <a:ea typeface="华文楷体" panose="02010600040101010101" pitchFamily="2" charset="-122"/>
            </a:endParaRPr>
          </a:p>
        </p:txBody>
      </p:sp>
      <p:grpSp>
        <p:nvGrpSpPr>
          <p:cNvPr id="40967" name="Group 4"/>
          <p:cNvGrpSpPr/>
          <p:nvPr/>
        </p:nvGrpSpPr>
        <p:grpSpPr bwMode="auto">
          <a:xfrm>
            <a:off x="1028700" y="4687888"/>
            <a:ext cx="1182688" cy="369887"/>
            <a:chOff x="933" y="2622"/>
            <a:chExt cx="745" cy="233"/>
          </a:xfrm>
        </p:grpSpPr>
        <p:sp>
          <p:nvSpPr>
            <p:cNvPr id="41057" name="Rectangle 5" descr="浅色上对角线"/>
            <p:cNvSpPr>
              <a:spLocks noChangeArrowheads="1"/>
            </p:cNvSpPr>
            <p:nvPr/>
          </p:nvSpPr>
          <p:spPr bwMode="auto">
            <a:xfrm>
              <a:off x="933" y="2622"/>
              <a:ext cx="116" cy="233"/>
            </a:xfrm>
            <a:prstGeom prst="rect">
              <a:avLst/>
            </a:prstGeom>
            <a:blipFill dpi="0" rotWithShape="0">
              <a:blip r:embed="rId1"/>
              <a:srcRect/>
              <a:tile tx="0" ty="0" sx="100000" sy="100000" flip="none" algn="tl"/>
            </a:blipFill>
            <a:ln w="9525">
              <a:solidFill>
                <a:schemeClr val="tx1"/>
              </a:solidFill>
              <a:miter lim="800000"/>
            </a:ln>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41058" name="Rectangle 6"/>
            <p:cNvSpPr>
              <a:spLocks noChangeArrowheads="1"/>
            </p:cNvSpPr>
            <p:nvPr/>
          </p:nvSpPr>
          <p:spPr bwMode="auto">
            <a:xfrm>
              <a:off x="1200" y="2622"/>
              <a:ext cx="478" cy="23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41059" name="Line 7"/>
            <p:cNvSpPr>
              <a:spLocks noChangeShapeType="1"/>
            </p:cNvSpPr>
            <p:nvPr/>
          </p:nvSpPr>
          <p:spPr bwMode="auto">
            <a:xfrm>
              <a:off x="1446" y="2622"/>
              <a:ext cx="0" cy="2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sp>
        <p:nvSpPr>
          <p:cNvPr id="40968" name="Text Box 8"/>
          <p:cNvSpPr txBox="1">
            <a:spLocks noChangeArrowheads="1"/>
          </p:cNvSpPr>
          <p:nvPr/>
        </p:nvSpPr>
        <p:spPr bwMode="auto">
          <a:xfrm>
            <a:off x="1468438" y="4684713"/>
            <a:ext cx="395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-1</a:t>
            </a:r>
            <a:endParaRPr kumimoji="1" lang="en-US" altLang="zh-CN" sz="2000" dirty="0">
              <a:latin typeface="华文楷体" panose="02010600040101010101" pitchFamily="2" charset="-122"/>
              <a:ea typeface="华文楷体" panose="02010600040101010101" pitchFamily="2" charset="-122"/>
            </a:endParaRPr>
          </a:p>
        </p:txBody>
      </p:sp>
      <p:sp>
        <p:nvSpPr>
          <p:cNvPr id="40969" name="Line 9"/>
          <p:cNvSpPr>
            <a:spLocks noChangeShapeType="1"/>
          </p:cNvSpPr>
          <p:nvPr/>
        </p:nvSpPr>
        <p:spPr bwMode="auto">
          <a:xfrm>
            <a:off x="588963" y="4864100"/>
            <a:ext cx="43973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0970" name="Text Box 10"/>
          <p:cNvSpPr txBox="1">
            <a:spLocks noChangeArrowheads="1"/>
          </p:cNvSpPr>
          <p:nvPr/>
        </p:nvSpPr>
        <p:spPr bwMode="auto">
          <a:xfrm>
            <a:off x="201613" y="4648200"/>
            <a:ext cx="423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pa</a:t>
            </a:r>
            <a:endParaRPr kumimoji="1" lang="en-US" altLang="zh-CN" sz="2000" dirty="0">
              <a:latin typeface="华文楷体" panose="02010600040101010101" pitchFamily="2" charset="-122"/>
              <a:ea typeface="华文楷体" panose="02010600040101010101" pitchFamily="2" charset="-122"/>
            </a:endParaRPr>
          </a:p>
        </p:txBody>
      </p:sp>
      <p:grpSp>
        <p:nvGrpSpPr>
          <p:cNvPr id="40971" name="Group 11"/>
          <p:cNvGrpSpPr/>
          <p:nvPr/>
        </p:nvGrpSpPr>
        <p:grpSpPr bwMode="auto">
          <a:xfrm>
            <a:off x="2141538" y="4687888"/>
            <a:ext cx="1738312" cy="439737"/>
            <a:chOff x="1634" y="2622"/>
            <a:chExt cx="1095" cy="277"/>
          </a:xfrm>
        </p:grpSpPr>
        <p:sp>
          <p:nvSpPr>
            <p:cNvPr id="41052" name="Line 12"/>
            <p:cNvSpPr>
              <a:spLocks noChangeShapeType="1"/>
            </p:cNvSpPr>
            <p:nvPr/>
          </p:nvSpPr>
          <p:spPr bwMode="auto">
            <a:xfrm>
              <a:off x="1634" y="2744"/>
              <a:ext cx="32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nvGrpSpPr>
            <p:cNvPr id="41053" name="Group 13"/>
            <p:cNvGrpSpPr/>
            <p:nvPr/>
          </p:nvGrpSpPr>
          <p:grpSpPr bwMode="auto">
            <a:xfrm>
              <a:off x="1967" y="2622"/>
              <a:ext cx="762" cy="277"/>
              <a:chOff x="1822" y="3178"/>
              <a:chExt cx="762" cy="277"/>
            </a:xfrm>
          </p:grpSpPr>
          <p:sp>
            <p:nvSpPr>
              <p:cNvPr id="41054" name="Rectangle 14"/>
              <p:cNvSpPr>
                <a:spLocks noChangeArrowheads="1"/>
              </p:cNvSpPr>
              <p:nvPr/>
            </p:nvSpPr>
            <p:spPr bwMode="auto">
              <a:xfrm>
                <a:off x="1822" y="3183"/>
                <a:ext cx="76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7     0       </a:t>
                </a:r>
                <a:endParaRPr kumimoji="1" lang="en-US" altLang="zh-CN" sz="2000" dirty="0">
                  <a:latin typeface="华文楷体" panose="02010600040101010101" pitchFamily="2" charset="-122"/>
                  <a:ea typeface="华文楷体" panose="02010600040101010101" pitchFamily="2" charset="-122"/>
                </a:endParaRPr>
              </a:p>
            </p:txBody>
          </p:sp>
          <p:sp>
            <p:nvSpPr>
              <p:cNvPr id="41055" name="Line 15"/>
              <p:cNvSpPr>
                <a:spLocks noChangeShapeType="1"/>
              </p:cNvSpPr>
              <p:nvPr/>
            </p:nvSpPr>
            <p:spPr bwMode="auto">
              <a:xfrm flipH="1">
                <a:off x="2067" y="3178"/>
                <a:ext cx="0" cy="277"/>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1056" name="Line 16"/>
              <p:cNvSpPr>
                <a:spLocks noChangeShapeType="1"/>
              </p:cNvSpPr>
              <p:nvPr/>
            </p:nvSpPr>
            <p:spPr bwMode="auto">
              <a:xfrm>
                <a:off x="2334" y="3178"/>
                <a:ext cx="0" cy="266"/>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grpSp>
      <p:grpSp>
        <p:nvGrpSpPr>
          <p:cNvPr id="40972" name="Group 17"/>
          <p:cNvGrpSpPr/>
          <p:nvPr/>
        </p:nvGrpSpPr>
        <p:grpSpPr bwMode="auto">
          <a:xfrm>
            <a:off x="3757613" y="4681538"/>
            <a:ext cx="1738312" cy="439737"/>
            <a:chOff x="1634" y="2622"/>
            <a:chExt cx="1095" cy="277"/>
          </a:xfrm>
        </p:grpSpPr>
        <p:sp>
          <p:nvSpPr>
            <p:cNvPr id="41047" name="Line 18"/>
            <p:cNvSpPr>
              <a:spLocks noChangeShapeType="1"/>
            </p:cNvSpPr>
            <p:nvPr/>
          </p:nvSpPr>
          <p:spPr bwMode="auto">
            <a:xfrm>
              <a:off x="1634" y="2744"/>
              <a:ext cx="32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nvGrpSpPr>
            <p:cNvPr id="41048" name="Group 19"/>
            <p:cNvGrpSpPr/>
            <p:nvPr/>
          </p:nvGrpSpPr>
          <p:grpSpPr bwMode="auto">
            <a:xfrm>
              <a:off x="1967" y="2622"/>
              <a:ext cx="762" cy="277"/>
              <a:chOff x="1822" y="3178"/>
              <a:chExt cx="762" cy="277"/>
            </a:xfrm>
          </p:grpSpPr>
          <p:sp>
            <p:nvSpPr>
              <p:cNvPr id="41049" name="Rectangle 20"/>
              <p:cNvSpPr>
                <a:spLocks noChangeArrowheads="1"/>
              </p:cNvSpPr>
              <p:nvPr/>
            </p:nvSpPr>
            <p:spPr bwMode="auto">
              <a:xfrm>
                <a:off x="1822" y="3183"/>
                <a:ext cx="76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3     1       </a:t>
                </a:r>
                <a:endParaRPr kumimoji="1" lang="en-US" altLang="zh-CN" sz="2000" dirty="0">
                  <a:latin typeface="华文楷体" panose="02010600040101010101" pitchFamily="2" charset="-122"/>
                  <a:ea typeface="华文楷体" panose="02010600040101010101" pitchFamily="2" charset="-122"/>
                </a:endParaRPr>
              </a:p>
            </p:txBody>
          </p:sp>
          <p:sp>
            <p:nvSpPr>
              <p:cNvPr id="41050" name="Line 21"/>
              <p:cNvSpPr>
                <a:spLocks noChangeShapeType="1"/>
              </p:cNvSpPr>
              <p:nvPr/>
            </p:nvSpPr>
            <p:spPr bwMode="auto">
              <a:xfrm flipH="1">
                <a:off x="2067" y="3178"/>
                <a:ext cx="0" cy="277"/>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1051" name="Line 22"/>
              <p:cNvSpPr>
                <a:spLocks noChangeShapeType="1"/>
              </p:cNvSpPr>
              <p:nvPr/>
            </p:nvSpPr>
            <p:spPr bwMode="auto">
              <a:xfrm>
                <a:off x="2334" y="3178"/>
                <a:ext cx="0" cy="266"/>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grpSp>
      <p:grpSp>
        <p:nvGrpSpPr>
          <p:cNvPr id="40973" name="Group 23"/>
          <p:cNvGrpSpPr/>
          <p:nvPr/>
        </p:nvGrpSpPr>
        <p:grpSpPr bwMode="auto">
          <a:xfrm>
            <a:off x="5346700" y="4681538"/>
            <a:ext cx="1674813" cy="439737"/>
            <a:chOff x="1634" y="2622"/>
            <a:chExt cx="1055" cy="277"/>
          </a:xfrm>
        </p:grpSpPr>
        <p:sp>
          <p:nvSpPr>
            <p:cNvPr id="41042" name="Line 24"/>
            <p:cNvSpPr>
              <a:spLocks noChangeShapeType="1"/>
            </p:cNvSpPr>
            <p:nvPr/>
          </p:nvSpPr>
          <p:spPr bwMode="auto">
            <a:xfrm>
              <a:off x="1634" y="2744"/>
              <a:ext cx="32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nvGrpSpPr>
            <p:cNvPr id="41043" name="Group 25"/>
            <p:cNvGrpSpPr/>
            <p:nvPr/>
          </p:nvGrpSpPr>
          <p:grpSpPr bwMode="auto">
            <a:xfrm>
              <a:off x="1967" y="2622"/>
              <a:ext cx="722" cy="277"/>
              <a:chOff x="1822" y="3178"/>
              <a:chExt cx="722" cy="277"/>
            </a:xfrm>
          </p:grpSpPr>
          <p:sp>
            <p:nvSpPr>
              <p:cNvPr id="41044" name="Rectangle 26"/>
              <p:cNvSpPr>
                <a:spLocks noChangeArrowheads="1"/>
              </p:cNvSpPr>
              <p:nvPr/>
            </p:nvSpPr>
            <p:spPr bwMode="auto">
              <a:xfrm>
                <a:off x="1822" y="3183"/>
                <a:ext cx="72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9     8      </a:t>
                </a:r>
                <a:endParaRPr kumimoji="1" lang="en-US" altLang="zh-CN" sz="2000" dirty="0">
                  <a:latin typeface="华文楷体" panose="02010600040101010101" pitchFamily="2" charset="-122"/>
                  <a:ea typeface="华文楷体" panose="02010600040101010101" pitchFamily="2" charset="-122"/>
                </a:endParaRPr>
              </a:p>
            </p:txBody>
          </p:sp>
          <p:sp>
            <p:nvSpPr>
              <p:cNvPr id="41045" name="Line 27"/>
              <p:cNvSpPr>
                <a:spLocks noChangeShapeType="1"/>
              </p:cNvSpPr>
              <p:nvPr/>
            </p:nvSpPr>
            <p:spPr bwMode="auto">
              <a:xfrm flipH="1">
                <a:off x="2067" y="3178"/>
                <a:ext cx="0" cy="277"/>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1046" name="Line 28"/>
              <p:cNvSpPr>
                <a:spLocks noChangeShapeType="1"/>
              </p:cNvSpPr>
              <p:nvPr/>
            </p:nvSpPr>
            <p:spPr bwMode="auto">
              <a:xfrm>
                <a:off x="2334" y="3178"/>
                <a:ext cx="0" cy="266"/>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grpSp>
      <p:grpSp>
        <p:nvGrpSpPr>
          <p:cNvPr id="40974" name="Group 29"/>
          <p:cNvGrpSpPr/>
          <p:nvPr/>
        </p:nvGrpSpPr>
        <p:grpSpPr bwMode="auto">
          <a:xfrm>
            <a:off x="6953250" y="4681538"/>
            <a:ext cx="1857375" cy="439737"/>
            <a:chOff x="1634" y="2622"/>
            <a:chExt cx="1170" cy="277"/>
          </a:xfrm>
        </p:grpSpPr>
        <p:sp>
          <p:nvSpPr>
            <p:cNvPr id="41037" name="Line 30"/>
            <p:cNvSpPr>
              <a:spLocks noChangeShapeType="1"/>
            </p:cNvSpPr>
            <p:nvPr/>
          </p:nvSpPr>
          <p:spPr bwMode="auto">
            <a:xfrm>
              <a:off x="1634" y="2744"/>
              <a:ext cx="32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nvGrpSpPr>
            <p:cNvPr id="41038" name="Group 31"/>
            <p:cNvGrpSpPr/>
            <p:nvPr/>
          </p:nvGrpSpPr>
          <p:grpSpPr bwMode="auto">
            <a:xfrm>
              <a:off x="1967" y="2622"/>
              <a:ext cx="837" cy="277"/>
              <a:chOff x="1822" y="3178"/>
              <a:chExt cx="837" cy="277"/>
            </a:xfrm>
          </p:grpSpPr>
          <p:sp>
            <p:nvSpPr>
              <p:cNvPr id="41039" name="Rectangle 32"/>
              <p:cNvSpPr>
                <a:spLocks noChangeArrowheads="1"/>
              </p:cNvSpPr>
              <p:nvPr/>
            </p:nvSpPr>
            <p:spPr bwMode="auto">
              <a:xfrm>
                <a:off x="1822" y="3183"/>
                <a:ext cx="837"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5    17    ^  </a:t>
                </a:r>
                <a:endParaRPr kumimoji="1" lang="en-US" altLang="zh-CN" sz="2000" dirty="0">
                  <a:latin typeface="华文楷体" panose="02010600040101010101" pitchFamily="2" charset="-122"/>
                  <a:ea typeface="华文楷体" panose="02010600040101010101" pitchFamily="2" charset="-122"/>
                </a:endParaRPr>
              </a:p>
            </p:txBody>
          </p:sp>
          <p:sp>
            <p:nvSpPr>
              <p:cNvPr id="41040" name="Line 33"/>
              <p:cNvSpPr>
                <a:spLocks noChangeShapeType="1"/>
              </p:cNvSpPr>
              <p:nvPr/>
            </p:nvSpPr>
            <p:spPr bwMode="auto">
              <a:xfrm flipH="1">
                <a:off x="2067" y="3178"/>
                <a:ext cx="0" cy="277"/>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1041" name="Line 34"/>
              <p:cNvSpPr>
                <a:spLocks noChangeShapeType="1"/>
              </p:cNvSpPr>
              <p:nvPr/>
            </p:nvSpPr>
            <p:spPr bwMode="auto">
              <a:xfrm>
                <a:off x="2334" y="3178"/>
                <a:ext cx="0" cy="266"/>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grpSp>
      <p:grpSp>
        <p:nvGrpSpPr>
          <p:cNvPr id="40975" name="Group 35"/>
          <p:cNvGrpSpPr/>
          <p:nvPr/>
        </p:nvGrpSpPr>
        <p:grpSpPr bwMode="auto">
          <a:xfrm>
            <a:off x="180976" y="5408618"/>
            <a:ext cx="6967538" cy="517526"/>
            <a:chOff x="114" y="3407"/>
            <a:chExt cx="4389" cy="326"/>
          </a:xfrm>
        </p:grpSpPr>
        <p:grpSp>
          <p:nvGrpSpPr>
            <p:cNvPr id="41012" name="Group 36"/>
            <p:cNvGrpSpPr/>
            <p:nvPr/>
          </p:nvGrpSpPr>
          <p:grpSpPr bwMode="auto">
            <a:xfrm>
              <a:off x="644" y="3433"/>
              <a:ext cx="745" cy="233"/>
              <a:chOff x="933" y="2622"/>
              <a:chExt cx="745" cy="233"/>
            </a:xfrm>
          </p:grpSpPr>
          <p:sp>
            <p:nvSpPr>
              <p:cNvPr id="41034" name="Rectangle 37" descr="浅色上对角线"/>
              <p:cNvSpPr>
                <a:spLocks noChangeArrowheads="1"/>
              </p:cNvSpPr>
              <p:nvPr/>
            </p:nvSpPr>
            <p:spPr bwMode="auto">
              <a:xfrm>
                <a:off x="933" y="2622"/>
                <a:ext cx="116" cy="233"/>
              </a:xfrm>
              <a:prstGeom prst="rect">
                <a:avLst/>
              </a:prstGeom>
              <a:blipFill dpi="0" rotWithShape="0">
                <a:blip r:embed="rId1"/>
                <a:srcRect/>
                <a:tile tx="0" ty="0" sx="100000" sy="100000" flip="none" algn="tl"/>
              </a:blipFill>
              <a:ln w="9525">
                <a:solidFill>
                  <a:schemeClr val="tx1"/>
                </a:solidFill>
                <a:miter lim="800000"/>
              </a:ln>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41035" name="Rectangle 38"/>
              <p:cNvSpPr>
                <a:spLocks noChangeArrowheads="1"/>
              </p:cNvSpPr>
              <p:nvPr/>
            </p:nvSpPr>
            <p:spPr bwMode="auto">
              <a:xfrm>
                <a:off x="1200" y="2622"/>
                <a:ext cx="478" cy="23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41036" name="Line 39"/>
              <p:cNvSpPr>
                <a:spLocks noChangeShapeType="1"/>
              </p:cNvSpPr>
              <p:nvPr/>
            </p:nvSpPr>
            <p:spPr bwMode="auto">
              <a:xfrm>
                <a:off x="1446" y="2622"/>
                <a:ext cx="0" cy="2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sp>
          <p:nvSpPr>
            <p:cNvPr id="41013" name="Text Box 40"/>
            <p:cNvSpPr txBox="1">
              <a:spLocks noChangeArrowheads="1"/>
            </p:cNvSpPr>
            <p:nvPr/>
          </p:nvSpPr>
          <p:spPr bwMode="auto">
            <a:xfrm>
              <a:off x="921" y="3431"/>
              <a:ext cx="2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-1</a:t>
              </a:r>
              <a:endParaRPr kumimoji="1" lang="en-US" altLang="zh-CN" sz="2000" dirty="0">
                <a:latin typeface="华文楷体" panose="02010600040101010101" pitchFamily="2" charset="-122"/>
                <a:ea typeface="华文楷体" panose="02010600040101010101" pitchFamily="2" charset="-122"/>
              </a:endParaRPr>
            </a:p>
          </p:txBody>
        </p:sp>
        <p:sp>
          <p:nvSpPr>
            <p:cNvPr id="41014" name="Line 41"/>
            <p:cNvSpPr>
              <a:spLocks noChangeShapeType="1"/>
            </p:cNvSpPr>
            <p:nvPr/>
          </p:nvSpPr>
          <p:spPr bwMode="auto">
            <a:xfrm>
              <a:off x="367" y="3544"/>
              <a:ext cx="27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1015" name="Text Box 42"/>
            <p:cNvSpPr txBox="1">
              <a:spLocks noChangeArrowheads="1"/>
            </p:cNvSpPr>
            <p:nvPr/>
          </p:nvSpPr>
          <p:spPr bwMode="auto">
            <a:xfrm>
              <a:off x="114" y="3407"/>
              <a:ext cx="28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kumimoji="1" lang="en-US" altLang="zh-CN" sz="2000" dirty="0" err="1">
                  <a:latin typeface="华文楷体" panose="02010600040101010101" pitchFamily="2" charset="-122"/>
                  <a:ea typeface="华文楷体" panose="02010600040101010101" pitchFamily="2" charset="-122"/>
                </a:rPr>
                <a:t>pb</a:t>
              </a:r>
              <a:endParaRPr kumimoji="1" lang="en-US" altLang="zh-CN" sz="2000" dirty="0">
                <a:latin typeface="华文楷体" panose="02010600040101010101" pitchFamily="2" charset="-122"/>
                <a:ea typeface="华文楷体" panose="02010600040101010101" pitchFamily="2" charset="-122"/>
              </a:endParaRPr>
            </a:p>
          </p:txBody>
        </p:sp>
        <p:grpSp>
          <p:nvGrpSpPr>
            <p:cNvPr id="41016" name="Group 43"/>
            <p:cNvGrpSpPr/>
            <p:nvPr/>
          </p:nvGrpSpPr>
          <p:grpSpPr bwMode="auto">
            <a:xfrm>
              <a:off x="1345" y="3456"/>
              <a:ext cx="1097" cy="277"/>
              <a:chOff x="1345" y="3456"/>
              <a:chExt cx="1097" cy="277"/>
            </a:xfrm>
          </p:grpSpPr>
          <p:sp>
            <p:nvSpPr>
              <p:cNvPr id="41029" name="Line 44"/>
              <p:cNvSpPr>
                <a:spLocks noChangeShapeType="1"/>
              </p:cNvSpPr>
              <p:nvPr/>
            </p:nvSpPr>
            <p:spPr bwMode="auto">
              <a:xfrm>
                <a:off x="1345" y="3555"/>
                <a:ext cx="32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nvGrpSpPr>
              <p:cNvPr id="41030" name="Group 45"/>
              <p:cNvGrpSpPr/>
              <p:nvPr/>
            </p:nvGrpSpPr>
            <p:grpSpPr bwMode="auto">
              <a:xfrm>
                <a:off x="1680" y="3456"/>
                <a:ext cx="762" cy="277"/>
                <a:chOff x="1822" y="3178"/>
                <a:chExt cx="762" cy="277"/>
              </a:xfrm>
            </p:grpSpPr>
            <p:sp>
              <p:nvSpPr>
                <p:cNvPr id="41031" name="Rectangle 46"/>
                <p:cNvSpPr>
                  <a:spLocks noChangeArrowheads="1"/>
                </p:cNvSpPr>
                <p:nvPr/>
              </p:nvSpPr>
              <p:spPr bwMode="auto">
                <a:xfrm>
                  <a:off x="1822" y="3183"/>
                  <a:ext cx="76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8     1       </a:t>
                  </a:r>
                  <a:endParaRPr kumimoji="1" lang="en-US" altLang="zh-CN" sz="2000" dirty="0">
                    <a:latin typeface="华文楷体" panose="02010600040101010101" pitchFamily="2" charset="-122"/>
                    <a:ea typeface="华文楷体" panose="02010600040101010101" pitchFamily="2" charset="-122"/>
                  </a:endParaRPr>
                </a:p>
              </p:txBody>
            </p:sp>
            <p:sp>
              <p:nvSpPr>
                <p:cNvPr id="41032" name="Line 47"/>
                <p:cNvSpPr>
                  <a:spLocks noChangeShapeType="1"/>
                </p:cNvSpPr>
                <p:nvPr/>
              </p:nvSpPr>
              <p:spPr bwMode="auto">
                <a:xfrm flipH="1">
                  <a:off x="2067" y="3178"/>
                  <a:ext cx="0" cy="277"/>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1033" name="Line 48"/>
                <p:cNvSpPr>
                  <a:spLocks noChangeShapeType="1"/>
                </p:cNvSpPr>
                <p:nvPr/>
              </p:nvSpPr>
              <p:spPr bwMode="auto">
                <a:xfrm>
                  <a:off x="2334" y="3178"/>
                  <a:ext cx="0" cy="266"/>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grpSp>
        <p:grpSp>
          <p:nvGrpSpPr>
            <p:cNvPr id="41017" name="Group 49"/>
            <p:cNvGrpSpPr/>
            <p:nvPr/>
          </p:nvGrpSpPr>
          <p:grpSpPr bwMode="auto">
            <a:xfrm>
              <a:off x="2363" y="3429"/>
              <a:ext cx="1095" cy="277"/>
              <a:chOff x="1634" y="2622"/>
              <a:chExt cx="1095" cy="277"/>
            </a:xfrm>
          </p:grpSpPr>
          <p:sp>
            <p:nvSpPr>
              <p:cNvPr id="41024" name="Line 50"/>
              <p:cNvSpPr>
                <a:spLocks noChangeShapeType="1"/>
              </p:cNvSpPr>
              <p:nvPr/>
            </p:nvSpPr>
            <p:spPr bwMode="auto">
              <a:xfrm>
                <a:off x="1634" y="2744"/>
                <a:ext cx="32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nvGrpSpPr>
              <p:cNvPr id="41025" name="Group 51"/>
              <p:cNvGrpSpPr/>
              <p:nvPr/>
            </p:nvGrpSpPr>
            <p:grpSpPr bwMode="auto">
              <a:xfrm>
                <a:off x="1967" y="2622"/>
                <a:ext cx="762" cy="277"/>
                <a:chOff x="1822" y="3178"/>
                <a:chExt cx="762" cy="277"/>
              </a:xfrm>
            </p:grpSpPr>
            <p:sp>
              <p:nvSpPr>
                <p:cNvPr id="41026" name="Rectangle 52"/>
                <p:cNvSpPr>
                  <a:spLocks noChangeArrowheads="1"/>
                </p:cNvSpPr>
                <p:nvPr/>
              </p:nvSpPr>
              <p:spPr bwMode="auto">
                <a:xfrm>
                  <a:off x="1822" y="3183"/>
                  <a:ext cx="76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22   7       </a:t>
                  </a:r>
                  <a:endParaRPr kumimoji="1" lang="en-US" altLang="zh-CN" sz="2000" dirty="0">
                    <a:latin typeface="华文楷体" panose="02010600040101010101" pitchFamily="2" charset="-122"/>
                    <a:ea typeface="华文楷体" panose="02010600040101010101" pitchFamily="2" charset="-122"/>
                  </a:endParaRPr>
                </a:p>
              </p:txBody>
            </p:sp>
            <p:sp>
              <p:nvSpPr>
                <p:cNvPr id="41027" name="Line 53"/>
                <p:cNvSpPr>
                  <a:spLocks noChangeShapeType="1"/>
                </p:cNvSpPr>
                <p:nvPr/>
              </p:nvSpPr>
              <p:spPr bwMode="auto">
                <a:xfrm flipH="1">
                  <a:off x="2067" y="3178"/>
                  <a:ext cx="0" cy="277"/>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1028" name="Line 54"/>
                <p:cNvSpPr>
                  <a:spLocks noChangeShapeType="1"/>
                </p:cNvSpPr>
                <p:nvPr/>
              </p:nvSpPr>
              <p:spPr bwMode="auto">
                <a:xfrm>
                  <a:off x="2334" y="3178"/>
                  <a:ext cx="0" cy="266"/>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grpSp>
        <p:grpSp>
          <p:nvGrpSpPr>
            <p:cNvPr id="41018" name="Group 55"/>
            <p:cNvGrpSpPr/>
            <p:nvPr/>
          </p:nvGrpSpPr>
          <p:grpSpPr bwMode="auto">
            <a:xfrm>
              <a:off x="3360" y="3408"/>
              <a:ext cx="1143" cy="277"/>
              <a:chOff x="1634" y="2622"/>
              <a:chExt cx="1143" cy="277"/>
            </a:xfrm>
          </p:grpSpPr>
          <p:sp>
            <p:nvSpPr>
              <p:cNvPr id="41019" name="Line 56"/>
              <p:cNvSpPr>
                <a:spLocks noChangeShapeType="1"/>
              </p:cNvSpPr>
              <p:nvPr/>
            </p:nvSpPr>
            <p:spPr bwMode="auto">
              <a:xfrm>
                <a:off x="1634" y="2744"/>
                <a:ext cx="32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nvGrpSpPr>
              <p:cNvPr id="41020" name="Group 57"/>
              <p:cNvGrpSpPr/>
              <p:nvPr/>
            </p:nvGrpSpPr>
            <p:grpSpPr bwMode="auto">
              <a:xfrm>
                <a:off x="1967" y="2622"/>
                <a:ext cx="810" cy="277"/>
                <a:chOff x="1822" y="3178"/>
                <a:chExt cx="810" cy="277"/>
              </a:xfrm>
            </p:grpSpPr>
            <p:sp>
              <p:nvSpPr>
                <p:cNvPr id="41021" name="Rectangle 58"/>
                <p:cNvSpPr>
                  <a:spLocks noChangeArrowheads="1"/>
                </p:cNvSpPr>
                <p:nvPr/>
              </p:nvSpPr>
              <p:spPr bwMode="auto">
                <a:xfrm>
                  <a:off x="1822" y="3183"/>
                  <a:ext cx="810"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-9    8    ^  </a:t>
                  </a:r>
                  <a:endParaRPr kumimoji="1" lang="en-US" altLang="zh-CN" sz="2000" dirty="0">
                    <a:latin typeface="华文楷体" panose="02010600040101010101" pitchFamily="2" charset="-122"/>
                    <a:ea typeface="华文楷体" panose="02010600040101010101" pitchFamily="2" charset="-122"/>
                  </a:endParaRPr>
                </a:p>
              </p:txBody>
            </p:sp>
            <p:sp>
              <p:nvSpPr>
                <p:cNvPr id="41022" name="Line 59"/>
                <p:cNvSpPr>
                  <a:spLocks noChangeShapeType="1"/>
                </p:cNvSpPr>
                <p:nvPr/>
              </p:nvSpPr>
              <p:spPr bwMode="auto">
                <a:xfrm flipH="1">
                  <a:off x="2067" y="3178"/>
                  <a:ext cx="0" cy="277"/>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1023" name="Line 60"/>
                <p:cNvSpPr>
                  <a:spLocks noChangeShapeType="1"/>
                </p:cNvSpPr>
                <p:nvPr/>
              </p:nvSpPr>
              <p:spPr bwMode="auto">
                <a:xfrm>
                  <a:off x="2334" y="3178"/>
                  <a:ext cx="0" cy="266"/>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grpSp>
      </p:grpSp>
      <p:sp>
        <p:nvSpPr>
          <p:cNvPr id="40976" name="Freeform 61"/>
          <p:cNvSpPr/>
          <p:nvPr/>
        </p:nvSpPr>
        <p:spPr bwMode="auto">
          <a:xfrm>
            <a:off x="3200400" y="5105400"/>
            <a:ext cx="1371600" cy="381000"/>
          </a:xfrm>
          <a:custGeom>
            <a:avLst/>
            <a:gdLst>
              <a:gd name="T0" fmla="*/ 0 w 864"/>
              <a:gd name="T1" fmla="*/ 2147483646 h 240"/>
              <a:gd name="T2" fmla="*/ 2147483646 w 864"/>
              <a:gd name="T3" fmla="*/ 2147483646 h 240"/>
              <a:gd name="T4" fmla="*/ 2147483646 w 864"/>
              <a:gd name="T5" fmla="*/ 2147483646 h 240"/>
              <a:gd name="T6" fmla="*/ 2147483646 w 864"/>
              <a:gd name="T7" fmla="*/ 0 h 240"/>
              <a:gd name="T8" fmla="*/ 0 60000 65536"/>
              <a:gd name="T9" fmla="*/ 0 60000 65536"/>
              <a:gd name="T10" fmla="*/ 0 60000 65536"/>
              <a:gd name="T11" fmla="*/ 0 60000 65536"/>
              <a:gd name="T12" fmla="*/ 0 w 864"/>
              <a:gd name="T13" fmla="*/ 0 h 240"/>
              <a:gd name="T14" fmla="*/ 864 w 864"/>
              <a:gd name="T15" fmla="*/ 240 h 240"/>
            </a:gdLst>
            <a:ahLst/>
            <a:cxnLst>
              <a:cxn ang="T8">
                <a:pos x="T0" y="T1"/>
              </a:cxn>
              <a:cxn ang="T9">
                <a:pos x="T2" y="T3"/>
              </a:cxn>
              <a:cxn ang="T10">
                <a:pos x="T4" y="T5"/>
              </a:cxn>
              <a:cxn ang="T11">
                <a:pos x="T6" y="T7"/>
              </a:cxn>
            </a:cxnLst>
            <a:rect l="T12" t="T13" r="T14" b="T15"/>
            <a:pathLst>
              <a:path w="864" h="240">
                <a:moveTo>
                  <a:pt x="0" y="240"/>
                </a:moveTo>
                <a:cubicBezTo>
                  <a:pt x="44" y="204"/>
                  <a:pt x="88" y="168"/>
                  <a:pt x="192" y="144"/>
                </a:cubicBezTo>
                <a:cubicBezTo>
                  <a:pt x="296" y="120"/>
                  <a:pt x="512" y="120"/>
                  <a:pt x="624" y="96"/>
                </a:cubicBezTo>
                <a:cubicBezTo>
                  <a:pt x="736" y="72"/>
                  <a:pt x="800" y="36"/>
                  <a:pt x="864" y="0"/>
                </a:cubicBezTo>
              </a:path>
            </a:pathLst>
          </a:custGeom>
          <a:noFill/>
          <a:ln w="38100">
            <a:solidFill>
              <a:schemeClr val="accent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40977" name="Freeform 62"/>
          <p:cNvSpPr/>
          <p:nvPr/>
        </p:nvSpPr>
        <p:spPr bwMode="auto">
          <a:xfrm>
            <a:off x="4953000" y="4953000"/>
            <a:ext cx="762000" cy="457200"/>
          </a:xfrm>
          <a:custGeom>
            <a:avLst/>
            <a:gdLst>
              <a:gd name="T0" fmla="*/ 0 w 480"/>
              <a:gd name="T1" fmla="*/ 2147483646 h 288"/>
              <a:gd name="T2" fmla="*/ 2147483646 w 480"/>
              <a:gd name="T3" fmla="*/ 2147483646 h 288"/>
              <a:gd name="T4" fmla="*/ 2147483646 w 480"/>
              <a:gd name="T5" fmla="*/ 2147483646 h 288"/>
              <a:gd name="T6" fmla="*/ 2147483646 w 480"/>
              <a:gd name="T7" fmla="*/ 0 h 288"/>
              <a:gd name="T8" fmla="*/ 0 60000 65536"/>
              <a:gd name="T9" fmla="*/ 0 60000 65536"/>
              <a:gd name="T10" fmla="*/ 0 60000 65536"/>
              <a:gd name="T11" fmla="*/ 0 60000 65536"/>
              <a:gd name="T12" fmla="*/ 0 w 480"/>
              <a:gd name="T13" fmla="*/ 0 h 288"/>
              <a:gd name="T14" fmla="*/ 480 w 480"/>
              <a:gd name="T15" fmla="*/ 288 h 288"/>
            </a:gdLst>
            <a:ahLst/>
            <a:cxnLst>
              <a:cxn ang="T8">
                <a:pos x="T0" y="T1"/>
              </a:cxn>
              <a:cxn ang="T9">
                <a:pos x="T2" y="T3"/>
              </a:cxn>
              <a:cxn ang="T10">
                <a:pos x="T4" y="T5"/>
              </a:cxn>
              <a:cxn ang="T11">
                <a:pos x="T6" y="T7"/>
              </a:cxn>
            </a:cxnLst>
            <a:rect l="T12" t="T13" r="T14" b="T15"/>
            <a:pathLst>
              <a:path w="480" h="288">
                <a:moveTo>
                  <a:pt x="0" y="288"/>
                </a:moveTo>
                <a:cubicBezTo>
                  <a:pt x="60" y="252"/>
                  <a:pt x="120" y="216"/>
                  <a:pt x="192" y="192"/>
                </a:cubicBezTo>
                <a:cubicBezTo>
                  <a:pt x="264" y="168"/>
                  <a:pt x="384" y="176"/>
                  <a:pt x="432" y="144"/>
                </a:cubicBezTo>
                <a:cubicBezTo>
                  <a:pt x="480" y="112"/>
                  <a:pt x="480" y="56"/>
                  <a:pt x="480" y="0"/>
                </a:cubicBezTo>
              </a:path>
            </a:pathLst>
          </a:custGeom>
          <a:noFill/>
          <a:ln w="38100">
            <a:solidFill>
              <a:schemeClr val="accent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40978" name="Line 63"/>
          <p:cNvSpPr>
            <a:spLocks noChangeShapeType="1"/>
          </p:cNvSpPr>
          <p:nvPr/>
        </p:nvSpPr>
        <p:spPr bwMode="auto">
          <a:xfrm flipV="1">
            <a:off x="6477000" y="5105400"/>
            <a:ext cx="0" cy="304800"/>
          </a:xfrm>
          <a:prstGeom prst="line">
            <a:avLst/>
          </a:prstGeom>
          <a:noFill/>
          <a:ln w="38100">
            <a:solidFill>
              <a:schemeClr val="accent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grpSp>
        <p:nvGrpSpPr>
          <p:cNvPr id="19" name="Group 64"/>
          <p:cNvGrpSpPr/>
          <p:nvPr/>
        </p:nvGrpSpPr>
        <p:grpSpPr bwMode="auto">
          <a:xfrm>
            <a:off x="228600" y="2590800"/>
            <a:ext cx="8609013" cy="1828800"/>
            <a:chOff x="144" y="1632"/>
            <a:chExt cx="5423" cy="1152"/>
          </a:xfrm>
        </p:grpSpPr>
        <p:sp>
          <p:nvSpPr>
            <p:cNvPr id="40980" name="Freeform 65"/>
            <p:cNvSpPr/>
            <p:nvPr/>
          </p:nvSpPr>
          <p:spPr bwMode="auto">
            <a:xfrm>
              <a:off x="336" y="1632"/>
              <a:ext cx="2928" cy="1152"/>
            </a:xfrm>
            <a:custGeom>
              <a:avLst/>
              <a:gdLst>
                <a:gd name="T0" fmla="*/ 0 w 2928"/>
                <a:gd name="T1" fmla="*/ 0 h 1248"/>
                <a:gd name="T2" fmla="*/ 432 w 2928"/>
                <a:gd name="T3" fmla="*/ 161 h 1248"/>
                <a:gd name="T4" fmla="*/ 816 w 2928"/>
                <a:gd name="T5" fmla="*/ 97 h 1248"/>
                <a:gd name="T6" fmla="*/ 1104 w 2928"/>
                <a:gd name="T7" fmla="*/ 194 h 1248"/>
                <a:gd name="T8" fmla="*/ 1488 w 2928"/>
                <a:gd name="T9" fmla="*/ 97 h 1248"/>
                <a:gd name="T10" fmla="*/ 2928 w 2928"/>
                <a:gd name="T11" fmla="*/ 32 h 1248"/>
                <a:gd name="T12" fmla="*/ 2928 w 2928"/>
                <a:gd name="T13" fmla="*/ 836 h 1248"/>
                <a:gd name="T14" fmla="*/ 0 w 2928"/>
                <a:gd name="T15" fmla="*/ 836 h 1248"/>
                <a:gd name="T16" fmla="*/ 0 w 2928"/>
                <a:gd name="T17" fmla="*/ 0 h 12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28"/>
                <a:gd name="T28" fmla="*/ 0 h 1248"/>
                <a:gd name="T29" fmla="*/ 2928 w 2928"/>
                <a:gd name="T30" fmla="*/ 1248 h 12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28" h="1248">
                  <a:moveTo>
                    <a:pt x="0" y="0"/>
                  </a:moveTo>
                  <a:lnTo>
                    <a:pt x="432" y="240"/>
                  </a:lnTo>
                  <a:lnTo>
                    <a:pt x="816" y="144"/>
                  </a:lnTo>
                  <a:lnTo>
                    <a:pt x="1104" y="288"/>
                  </a:lnTo>
                  <a:lnTo>
                    <a:pt x="1488" y="144"/>
                  </a:lnTo>
                  <a:lnTo>
                    <a:pt x="2928" y="48"/>
                  </a:lnTo>
                  <a:lnTo>
                    <a:pt x="2928" y="1248"/>
                  </a:lnTo>
                  <a:lnTo>
                    <a:pt x="0" y="1248"/>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dirty="0">
                <a:latin typeface="华文楷体" panose="02010600040101010101" pitchFamily="2" charset="-122"/>
                <a:ea typeface="华文楷体" panose="02010600040101010101" pitchFamily="2" charset="-122"/>
              </a:endParaRPr>
            </a:p>
          </p:txBody>
        </p:sp>
        <p:grpSp>
          <p:nvGrpSpPr>
            <p:cNvPr id="40981" name="Group 66"/>
            <p:cNvGrpSpPr/>
            <p:nvPr/>
          </p:nvGrpSpPr>
          <p:grpSpPr bwMode="auto">
            <a:xfrm>
              <a:off x="665" y="2281"/>
              <a:ext cx="745" cy="233"/>
              <a:chOff x="933" y="2622"/>
              <a:chExt cx="745" cy="233"/>
            </a:xfrm>
          </p:grpSpPr>
          <p:sp>
            <p:nvSpPr>
              <p:cNvPr id="41009" name="Rectangle 67" descr="浅色上对角线"/>
              <p:cNvSpPr>
                <a:spLocks noChangeArrowheads="1"/>
              </p:cNvSpPr>
              <p:nvPr/>
            </p:nvSpPr>
            <p:spPr bwMode="auto">
              <a:xfrm>
                <a:off x="933" y="2622"/>
                <a:ext cx="116" cy="233"/>
              </a:xfrm>
              <a:prstGeom prst="rect">
                <a:avLst/>
              </a:prstGeom>
              <a:blipFill dpi="0" rotWithShape="0">
                <a:blip r:embed="rId1"/>
                <a:srcRect/>
                <a:tile tx="0" ty="0" sx="100000" sy="100000" flip="none" algn="tl"/>
              </a:blipFill>
              <a:ln w="9525">
                <a:solidFill>
                  <a:schemeClr val="tx1"/>
                </a:solidFill>
                <a:miter lim="800000"/>
              </a:ln>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41010" name="Rectangle 68"/>
              <p:cNvSpPr>
                <a:spLocks noChangeArrowheads="1"/>
              </p:cNvSpPr>
              <p:nvPr/>
            </p:nvSpPr>
            <p:spPr bwMode="auto">
              <a:xfrm>
                <a:off x="1200" y="2622"/>
                <a:ext cx="478" cy="23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41011" name="Line 69"/>
              <p:cNvSpPr>
                <a:spLocks noChangeShapeType="1"/>
              </p:cNvSpPr>
              <p:nvPr/>
            </p:nvSpPr>
            <p:spPr bwMode="auto">
              <a:xfrm>
                <a:off x="1446" y="2622"/>
                <a:ext cx="0" cy="2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sp>
          <p:nvSpPr>
            <p:cNvPr id="40982" name="Text Box 70"/>
            <p:cNvSpPr txBox="1">
              <a:spLocks noChangeArrowheads="1"/>
            </p:cNvSpPr>
            <p:nvPr/>
          </p:nvSpPr>
          <p:spPr bwMode="auto">
            <a:xfrm>
              <a:off x="942" y="2279"/>
              <a:ext cx="2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-1</a:t>
              </a:r>
              <a:endParaRPr kumimoji="1" lang="en-US" altLang="zh-CN" sz="2000" dirty="0">
                <a:latin typeface="华文楷体" panose="02010600040101010101" pitchFamily="2" charset="-122"/>
                <a:ea typeface="华文楷体" panose="02010600040101010101" pitchFamily="2" charset="-122"/>
              </a:endParaRPr>
            </a:p>
          </p:txBody>
        </p:sp>
        <p:sp>
          <p:nvSpPr>
            <p:cNvPr id="40983" name="Line 71"/>
            <p:cNvSpPr>
              <a:spLocks noChangeShapeType="1"/>
            </p:cNvSpPr>
            <p:nvPr/>
          </p:nvSpPr>
          <p:spPr bwMode="auto">
            <a:xfrm>
              <a:off x="388" y="2392"/>
              <a:ext cx="27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0984" name="Text Box 72"/>
            <p:cNvSpPr txBox="1">
              <a:spLocks noChangeArrowheads="1"/>
            </p:cNvSpPr>
            <p:nvPr/>
          </p:nvSpPr>
          <p:spPr bwMode="auto">
            <a:xfrm>
              <a:off x="144" y="2256"/>
              <a:ext cx="2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pa</a:t>
              </a:r>
              <a:endParaRPr kumimoji="1" lang="en-US" altLang="zh-CN" sz="2000" dirty="0">
                <a:latin typeface="华文楷体" panose="02010600040101010101" pitchFamily="2" charset="-122"/>
                <a:ea typeface="华文楷体" panose="02010600040101010101" pitchFamily="2" charset="-122"/>
              </a:endParaRPr>
            </a:p>
          </p:txBody>
        </p:sp>
        <p:grpSp>
          <p:nvGrpSpPr>
            <p:cNvPr id="40985" name="Group 73"/>
            <p:cNvGrpSpPr/>
            <p:nvPr/>
          </p:nvGrpSpPr>
          <p:grpSpPr bwMode="auto">
            <a:xfrm>
              <a:off x="1366" y="2281"/>
              <a:ext cx="1095" cy="277"/>
              <a:chOff x="1634" y="2622"/>
              <a:chExt cx="1095" cy="277"/>
            </a:xfrm>
          </p:grpSpPr>
          <p:sp>
            <p:nvSpPr>
              <p:cNvPr id="41004" name="Line 74"/>
              <p:cNvSpPr>
                <a:spLocks noChangeShapeType="1"/>
              </p:cNvSpPr>
              <p:nvPr/>
            </p:nvSpPr>
            <p:spPr bwMode="auto">
              <a:xfrm>
                <a:off x="1634" y="2744"/>
                <a:ext cx="32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nvGrpSpPr>
              <p:cNvPr id="41005" name="Group 75"/>
              <p:cNvGrpSpPr/>
              <p:nvPr/>
            </p:nvGrpSpPr>
            <p:grpSpPr bwMode="auto">
              <a:xfrm>
                <a:off x="1967" y="2622"/>
                <a:ext cx="762" cy="277"/>
                <a:chOff x="1822" y="3178"/>
                <a:chExt cx="762" cy="277"/>
              </a:xfrm>
            </p:grpSpPr>
            <p:sp>
              <p:nvSpPr>
                <p:cNvPr id="41006" name="Rectangle 76"/>
                <p:cNvSpPr>
                  <a:spLocks noChangeArrowheads="1"/>
                </p:cNvSpPr>
                <p:nvPr/>
              </p:nvSpPr>
              <p:spPr bwMode="auto">
                <a:xfrm>
                  <a:off x="1822" y="3183"/>
                  <a:ext cx="76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7     0       </a:t>
                  </a:r>
                  <a:endParaRPr kumimoji="1" lang="en-US" altLang="zh-CN" sz="2000" dirty="0">
                    <a:latin typeface="华文楷体" panose="02010600040101010101" pitchFamily="2" charset="-122"/>
                    <a:ea typeface="华文楷体" panose="02010600040101010101" pitchFamily="2" charset="-122"/>
                  </a:endParaRPr>
                </a:p>
              </p:txBody>
            </p:sp>
            <p:sp>
              <p:nvSpPr>
                <p:cNvPr id="41007" name="Line 77"/>
                <p:cNvSpPr>
                  <a:spLocks noChangeShapeType="1"/>
                </p:cNvSpPr>
                <p:nvPr/>
              </p:nvSpPr>
              <p:spPr bwMode="auto">
                <a:xfrm flipH="1">
                  <a:off x="2067" y="3178"/>
                  <a:ext cx="0" cy="277"/>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1008" name="Line 78"/>
                <p:cNvSpPr>
                  <a:spLocks noChangeShapeType="1"/>
                </p:cNvSpPr>
                <p:nvPr/>
              </p:nvSpPr>
              <p:spPr bwMode="auto">
                <a:xfrm>
                  <a:off x="2334" y="3178"/>
                  <a:ext cx="0" cy="266"/>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grpSp>
        <p:grpSp>
          <p:nvGrpSpPr>
            <p:cNvPr id="40986" name="Group 79"/>
            <p:cNvGrpSpPr/>
            <p:nvPr/>
          </p:nvGrpSpPr>
          <p:grpSpPr bwMode="auto">
            <a:xfrm>
              <a:off x="2384" y="2277"/>
              <a:ext cx="1135" cy="277"/>
              <a:chOff x="1634" y="2622"/>
              <a:chExt cx="1135" cy="277"/>
            </a:xfrm>
          </p:grpSpPr>
          <p:sp>
            <p:nvSpPr>
              <p:cNvPr id="40999" name="Line 80"/>
              <p:cNvSpPr>
                <a:spLocks noChangeShapeType="1"/>
              </p:cNvSpPr>
              <p:nvPr/>
            </p:nvSpPr>
            <p:spPr bwMode="auto">
              <a:xfrm>
                <a:off x="1634" y="2744"/>
                <a:ext cx="32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nvGrpSpPr>
              <p:cNvPr id="41000" name="Group 81"/>
              <p:cNvGrpSpPr/>
              <p:nvPr/>
            </p:nvGrpSpPr>
            <p:grpSpPr bwMode="auto">
              <a:xfrm>
                <a:off x="1967" y="2622"/>
                <a:ext cx="802" cy="277"/>
                <a:chOff x="1822" y="3178"/>
                <a:chExt cx="802" cy="277"/>
              </a:xfrm>
            </p:grpSpPr>
            <p:sp>
              <p:nvSpPr>
                <p:cNvPr id="41001" name="Rectangle 82"/>
                <p:cNvSpPr>
                  <a:spLocks noChangeArrowheads="1"/>
                </p:cNvSpPr>
                <p:nvPr/>
              </p:nvSpPr>
              <p:spPr bwMode="auto">
                <a:xfrm>
                  <a:off x="1822" y="3183"/>
                  <a:ext cx="80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000" dirty="0">
                      <a:solidFill>
                        <a:srgbClr val="FF3300"/>
                      </a:solidFill>
                      <a:latin typeface="华文楷体" panose="02010600040101010101" pitchFamily="2" charset="-122"/>
                      <a:ea typeface="华文楷体" panose="02010600040101010101" pitchFamily="2" charset="-122"/>
                    </a:rPr>
                    <a:t>11</a:t>
                  </a:r>
                  <a:r>
                    <a:rPr kumimoji="1" lang="en-US" altLang="zh-CN" sz="2000" dirty="0">
                      <a:latin typeface="华文楷体" panose="02010600040101010101" pitchFamily="2" charset="-122"/>
                      <a:ea typeface="华文楷体" panose="02010600040101010101" pitchFamily="2" charset="-122"/>
                    </a:rPr>
                    <a:t>    1       </a:t>
                  </a:r>
                  <a:endParaRPr kumimoji="1" lang="en-US" altLang="zh-CN" sz="2000" dirty="0">
                    <a:latin typeface="华文楷体" panose="02010600040101010101" pitchFamily="2" charset="-122"/>
                    <a:ea typeface="华文楷体" panose="02010600040101010101" pitchFamily="2" charset="-122"/>
                  </a:endParaRPr>
                </a:p>
              </p:txBody>
            </p:sp>
            <p:sp>
              <p:nvSpPr>
                <p:cNvPr id="41002" name="Line 83"/>
                <p:cNvSpPr>
                  <a:spLocks noChangeShapeType="1"/>
                </p:cNvSpPr>
                <p:nvPr/>
              </p:nvSpPr>
              <p:spPr bwMode="auto">
                <a:xfrm flipH="1">
                  <a:off x="2067" y="3178"/>
                  <a:ext cx="0" cy="277"/>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1003" name="Line 84"/>
                <p:cNvSpPr>
                  <a:spLocks noChangeShapeType="1"/>
                </p:cNvSpPr>
                <p:nvPr/>
              </p:nvSpPr>
              <p:spPr bwMode="auto">
                <a:xfrm>
                  <a:off x="2334" y="3178"/>
                  <a:ext cx="0" cy="266"/>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grpSp>
        <p:grpSp>
          <p:nvGrpSpPr>
            <p:cNvPr id="40987" name="Group 85"/>
            <p:cNvGrpSpPr/>
            <p:nvPr/>
          </p:nvGrpSpPr>
          <p:grpSpPr bwMode="auto">
            <a:xfrm>
              <a:off x="3385" y="2277"/>
              <a:ext cx="1055" cy="277"/>
              <a:chOff x="1634" y="2622"/>
              <a:chExt cx="1055" cy="277"/>
            </a:xfrm>
          </p:grpSpPr>
          <p:sp>
            <p:nvSpPr>
              <p:cNvPr id="40994" name="Line 86"/>
              <p:cNvSpPr>
                <a:spLocks noChangeShapeType="1"/>
              </p:cNvSpPr>
              <p:nvPr/>
            </p:nvSpPr>
            <p:spPr bwMode="auto">
              <a:xfrm>
                <a:off x="1634" y="2744"/>
                <a:ext cx="32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nvGrpSpPr>
              <p:cNvPr id="40995" name="Group 87"/>
              <p:cNvGrpSpPr/>
              <p:nvPr/>
            </p:nvGrpSpPr>
            <p:grpSpPr bwMode="auto">
              <a:xfrm>
                <a:off x="1967" y="2622"/>
                <a:ext cx="722" cy="277"/>
                <a:chOff x="1822" y="3178"/>
                <a:chExt cx="722" cy="277"/>
              </a:xfrm>
            </p:grpSpPr>
            <p:sp>
              <p:nvSpPr>
                <p:cNvPr id="40996" name="Rectangle 88"/>
                <p:cNvSpPr>
                  <a:spLocks noChangeArrowheads="1"/>
                </p:cNvSpPr>
                <p:nvPr/>
              </p:nvSpPr>
              <p:spPr bwMode="auto">
                <a:xfrm>
                  <a:off x="1822" y="3183"/>
                  <a:ext cx="72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22   7      </a:t>
                  </a:r>
                  <a:endParaRPr kumimoji="1" lang="en-US" altLang="zh-CN" sz="2000" dirty="0">
                    <a:latin typeface="华文楷体" panose="02010600040101010101" pitchFamily="2" charset="-122"/>
                    <a:ea typeface="华文楷体" panose="02010600040101010101" pitchFamily="2" charset="-122"/>
                  </a:endParaRPr>
                </a:p>
              </p:txBody>
            </p:sp>
            <p:sp>
              <p:nvSpPr>
                <p:cNvPr id="40997" name="Line 89"/>
                <p:cNvSpPr>
                  <a:spLocks noChangeShapeType="1"/>
                </p:cNvSpPr>
                <p:nvPr/>
              </p:nvSpPr>
              <p:spPr bwMode="auto">
                <a:xfrm flipH="1">
                  <a:off x="2067" y="3178"/>
                  <a:ext cx="0" cy="277"/>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0998" name="Line 90"/>
                <p:cNvSpPr>
                  <a:spLocks noChangeShapeType="1"/>
                </p:cNvSpPr>
                <p:nvPr/>
              </p:nvSpPr>
              <p:spPr bwMode="auto">
                <a:xfrm>
                  <a:off x="2334" y="3178"/>
                  <a:ext cx="0" cy="266"/>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grpSp>
        <p:grpSp>
          <p:nvGrpSpPr>
            <p:cNvPr id="40988" name="Group 91"/>
            <p:cNvGrpSpPr/>
            <p:nvPr/>
          </p:nvGrpSpPr>
          <p:grpSpPr bwMode="auto">
            <a:xfrm>
              <a:off x="4397" y="2277"/>
              <a:ext cx="1170" cy="277"/>
              <a:chOff x="1634" y="2622"/>
              <a:chExt cx="1170" cy="277"/>
            </a:xfrm>
          </p:grpSpPr>
          <p:sp>
            <p:nvSpPr>
              <p:cNvPr id="40989" name="Line 92"/>
              <p:cNvSpPr>
                <a:spLocks noChangeShapeType="1"/>
              </p:cNvSpPr>
              <p:nvPr/>
            </p:nvSpPr>
            <p:spPr bwMode="auto">
              <a:xfrm>
                <a:off x="1634" y="2744"/>
                <a:ext cx="32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nvGrpSpPr>
              <p:cNvPr id="40990" name="Group 93"/>
              <p:cNvGrpSpPr/>
              <p:nvPr/>
            </p:nvGrpSpPr>
            <p:grpSpPr bwMode="auto">
              <a:xfrm>
                <a:off x="1967" y="2622"/>
                <a:ext cx="837" cy="277"/>
                <a:chOff x="1822" y="3178"/>
                <a:chExt cx="837" cy="277"/>
              </a:xfrm>
            </p:grpSpPr>
            <p:sp>
              <p:nvSpPr>
                <p:cNvPr id="40991" name="Rectangle 94"/>
                <p:cNvSpPr>
                  <a:spLocks noChangeArrowheads="1"/>
                </p:cNvSpPr>
                <p:nvPr/>
              </p:nvSpPr>
              <p:spPr bwMode="auto">
                <a:xfrm>
                  <a:off x="1822" y="3183"/>
                  <a:ext cx="837"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000" dirty="0">
                      <a:latin typeface="华文楷体" panose="02010600040101010101" pitchFamily="2" charset="-122"/>
                      <a:ea typeface="华文楷体" panose="02010600040101010101" pitchFamily="2" charset="-122"/>
                    </a:rPr>
                    <a:t>5    17    ^  </a:t>
                  </a:r>
                  <a:endParaRPr kumimoji="1" lang="en-US" altLang="zh-CN" sz="2000" dirty="0">
                    <a:latin typeface="华文楷体" panose="02010600040101010101" pitchFamily="2" charset="-122"/>
                    <a:ea typeface="华文楷体" panose="02010600040101010101" pitchFamily="2" charset="-122"/>
                  </a:endParaRPr>
                </a:p>
              </p:txBody>
            </p:sp>
            <p:sp>
              <p:nvSpPr>
                <p:cNvPr id="40992" name="Line 95"/>
                <p:cNvSpPr>
                  <a:spLocks noChangeShapeType="1"/>
                </p:cNvSpPr>
                <p:nvPr/>
              </p:nvSpPr>
              <p:spPr bwMode="auto">
                <a:xfrm flipH="1">
                  <a:off x="2067" y="3178"/>
                  <a:ext cx="0" cy="277"/>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nchor="ctr">
                  <a:spAutoFit/>
                </a:bodyPr>
                <a:lstStyle/>
                <a:p>
                  <a:endParaRPr lang="zh-CN" altLang="en-US" dirty="0">
                    <a:latin typeface="华文楷体" panose="02010600040101010101" pitchFamily="2" charset="-122"/>
                    <a:ea typeface="华文楷体" panose="02010600040101010101" pitchFamily="2" charset="-122"/>
                  </a:endParaRPr>
                </a:p>
              </p:txBody>
            </p:sp>
            <p:sp>
              <p:nvSpPr>
                <p:cNvPr id="40993" name="Line 96"/>
                <p:cNvSpPr>
                  <a:spLocks noChangeShapeType="1"/>
                </p:cNvSpPr>
                <p:nvPr/>
              </p:nvSpPr>
              <p:spPr bwMode="auto">
                <a:xfrm>
                  <a:off x="2334" y="3178"/>
                  <a:ext cx="0" cy="266"/>
                </a:xfrm>
                <a:prstGeom prst="line">
                  <a:avLst/>
                </a:prstGeom>
                <a:noFill/>
                <a:ln w="9525">
                  <a:solidFill>
                    <a:schemeClr val="tx1"/>
                  </a:solidFill>
                  <a:rou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dirty="0">
                    <a:latin typeface="华文楷体" panose="02010600040101010101" pitchFamily="2" charset="-122"/>
                    <a:ea typeface="华文楷体" panose="02010600040101010101" pitchFamily="2" charset="-122"/>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3"/>
          <p:cNvSpPr>
            <a:spLocks noGrp="1"/>
          </p:cNvSpPr>
          <p:nvPr>
            <p:ph type="ftr" sz="quarter" idx="10"/>
          </p:nvPr>
        </p:nvSpPr>
        <p:spPr/>
        <p:txBody>
          <a:bodyPr/>
          <a:lstStyle/>
          <a:p>
            <a:pPr>
              <a:defRPr/>
            </a:pPr>
            <a:r>
              <a:rPr lang="en-US" altLang="zh-CN"/>
              <a:t>BUPT SCST</a:t>
            </a:r>
            <a:endParaRPr lang="en-US" altLang="zh-CN"/>
          </a:p>
        </p:txBody>
      </p:sp>
      <p:sp>
        <p:nvSpPr>
          <p:cNvPr id="4198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52F0A543-FD3C-4A73-8B16-0DB83A9AA31C}"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9" name="日期占位符 5"/>
          <p:cNvSpPr>
            <a:spLocks noGrp="1"/>
          </p:cNvSpPr>
          <p:nvPr>
            <p:ph type="dt" sz="quarter" idx="12"/>
          </p:nvPr>
        </p:nvSpPr>
        <p:spPr/>
        <p:txBody>
          <a:bodyPr/>
          <a:lstStyle/>
          <a:p>
            <a:pPr>
              <a:defRPr/>
            </a:pPr>
            <a:r>
              <a:rPr lang="en-US" altLang="zh-CN"/>
              <a:t>BUPT</a:t>
            </a:r>
            <a:endParaRPr lang="en-US" altLang="zh-CN"/>
          </a:p>
        </p:txBody>
      </p:sp>
      <p:sp>
        <p:nvSpPr>
          <p:cNvPr id="41989" name="Rectangle 2"/>
          <p:cNvSpPr>
            <a:spLocks noGrp="1" noChangeArrowheads="1"/>
          </p:cNvSpPr>
          <p:nvPr>
            <p:ph type="title"/>
          </p:nvPr>
        </p:nvSpPr>
        <p:spPr>
          <a:xfrm>
            <a:off x="533400" y="685800"/>
            <a:ext cx="7772400" cy="533400"/>
          </a:xfrm>
        </p:spPr>
        <p:txBody>
          <a:bodyPr/>
          <a:lstStyle/>
          <a:p>
            <a:pPr algn="l" eaLnBrk="1" hangingPunct="1"/>
            <a:r>
              <a:rPr lang="en-US" altLang="zh-CN" sz="1600" b="0" dirty="0" smtClean="0">
                <a:solidFill>
                  <a:srgbClr val="FF9900"/>
                </a:solidFill>
                <a:ea typeface="华文楷体" panose="02010600040101010101" pitchFamily="2" charset="-122"/>
              </a:rPr>
              <a:t>  </a:t>
            </a:r>
            <a:r>
              <a:rPr lang="zh-CN" altLang="en-US" sz="1600" b="0" dirty="0" smtClean="0">
                <a:solidFill>
                  <a:srgbClr val="CC6600"/>
                </a:solidFill>
                <a:ea typeface="华文楷体" panose="02010600040101010101" pitchFamily="2" charset="-122"/>
              </a:rPr>
              <a:t>算法实现         </a:t>
            </a:r>
            <a:r>
              <a:rPr lang="zh-CN" altLang="en-US" sz="1600" dirty="0" smtClean="0">
                <a:ea typeface="楷体_GB2312" pitchFamily="49" charset="-122"/>
              </a:rPr>
              <a:t>设多项式按指数升序排列</a:t>
            </a:r>
            <a:endParaRPr lang="zh-CN" altLang="en-US" sz="2400" dirty="0" smtClean="0">
              <a:ea typeface="楷体_GB2312" pitchFamily="49" charset="-122"/>
            </a:endParaRPr>
          </a:p>
        </p:txBody>
      </p:sp>
      <p:sp>
        <p:nvSpPr>
          <p:cNvPr id="41990" name="Rectangle 3"/>
          <p:cNvSpPr>
            <a:spLocks noGrp="1" noChangeArrowheads="1"/>
          </p:cNvSpPr>
          <p:nvPr>
            <p:ph type="body" idx="1"/>
          </p:nvPr>
        </p:nvSpPr>
        <p:spPr>
          <a:xfrm>
            <a:off x="685800" y="1447800"/>
            <a:ext cx="7239000" cy="4648200"/>
          </a:xfrm>
          <a:solidFill>
            <a:schemeClr val="bg1"/>
          </a:solidFill>
          <a:ln>
            <a:solidFill>
              <a:srgbClr val="92D050"/>
            </a:solidFill>
          </a:ln>
        </p:spPr>
        <p:txBody>
          <a:bodyPr/>
          <a:lstStyle/>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void </a:t>
            </a:r>
            <a:r>
              <a:rPr lang="en-US" altLang="zh-CN" sz="2400" b="1" dirty="0" err="1" smtClean="0">
                <a:solidFill>
                  <a:schemeClr val="accent2"/>
                </a:solidFill>
                <a:ea typeface="华文楷体" panose="02010600040101010101" pitchFamily="2" charset="-122"/>
              </a:rPr>
              <a:t>add_poly</a:t>
            </a:r>
            <a:r>
              <a:rPr lang="en-US" altLang="zh-CN" sz="2400" dirty="0" smtClean="0">
                <a:ea typeface="华文楷体" panose="02010600040101010101" pitchFamily="2" charset="-122"/>
              </a:rPr>
              <a:t>(link &amp; pa, link&amp; </a:t>
            </a:r>
            <a:r>
              <a:rPr lang="en-US" altLang="zh-CN" sz="2400" dirty="0" err="1" smtClean="0">
                <a:ea typeface="华文楷体" panose="02010600040101010101" pitchFamily="2" charset="-122"/>
              </a:rPr>
              <a:t>pb</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p =pa-&gt;next;    q =</a:t>
            </a:r>
            <a:r>
              <a:rPr lang="en-US" altLang="zh-CN" sz="2400" dirty="0" err="1" smtClean="0">
                <a:ea typeface="华文楷体" panose="02010600040101010101" pitchFamily="2" charset="-122"/>
              </a:rPr>
              <a:t>pb</a:t>
            </a:r>
            <a:r>
              <a:rPr lang="en-US" altLang="zh-CN" sz="2400" dirty="0" smtClean="0">
                <a:ea typeface="华文楷体" panose="02010600040101010101" pitchFamily="2" charset="-122"/>
              </a:rPr>
              <a:t>-&gt;next;   pre =pa;</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while ((p</a:t>
            </a:r>
            <a:r>
              <a:rPr lang="en-US" altLang="zh-CN" sz="2400" dirty="0" smtClean="0">
                <a:ea typeface="华文楷体" panose="02010600040101010101" pitchFamily="2" charset="-122"/>
                <a:sym typeface="Symbol" panose="05050102010706020507" pitchFamily="18" charset="2"/>
              </a:rPr>
              <a:t>!=NULL) &amp;&amp; (q!= NULL)) </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if (p-&gt;</a:t>
            </a:r>
            <a:r>
              <a:rPr lang="en-US" altLang="zh-CN" sz="2400" dirty="0" err="1" smtClean="0">
                <a:ea typeface="华文楷体" panose="02010600040101010101" pitchFamily="2" charset="-122"/>
                <a:sym typeface="Symbol" panose="05050102010706020507" pitchFamily="18" charset="2"/>
              </a:rPr>
              <a:t>exp</a:t>
            </a:r>
            <a:r>
              <a:rPr lang="en-US" altLang="zh-CN" sz="2400" dirty="0" smtClean="0">
                <a:ea typeface="华文楷体" panose="02010600040101010101" pitchFamily="2" charset="-122"/>
                <a:sym typeface="Symbol" panose="05050102010706020507" pitchFamily="18" charset="2"/>
              </a:rPr>
              <a:t>&lt;q-&gt;</a:t>
            </a:r>
            <a:r>
              <a:rPr lang="en-US" altLang="zh-CN" sz="2400" dirty="0" err="1" smtClean="0">
                <a:ea typeface="华文楷体" panose="02010600040101010101" pitchFamily="2" charset="-122"/>
                <a:sym typeface="Symbol" panose="05050102010706020507" pitchFamily="18" charset="2"/>
              </a:rPr>
              <a:t>exp</a:t>
            </a:r>
            <a:r>
              <a:rPr lang="en-US" altLang="zh-CN" sz="2400" dirty="0" smtClean="0">
                <a:ea typeface="华文楷体" panose="02010600040101010101" pitchFamily="2" charset="-122"/>
                <a:sym typeface="Symbol" panose="05050102010706020507" pitchFamily="18" charset="2"/>
              </a:rPr>
              <a:t>) </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if (p-&gt;</a:t>
            </a:r>
            <a:r>
              <a:rPr lang="en-US" altLang="zh-CN" sz="2400" dirty="0" err="1" smtClean="0">
                <a:ea typeface="华文楷体" panose="02010600040101010101" pitchFamily="2" charset="-122"/>
                <a:sym typeface="Symbol" panose="05050102010706020507" pitchFamily="18" charset="2"/>
              </a:rPr>
              <a:t>exp</a:t>
            </a:r>
            <a:r>
              <a:rPr lang="en-US" altLang="zh-CN" sz="2400" dirty="0" smtClean="0">
                <a:ea typeface="华文楷体" panose="02010600040101010101" pitchFamily="2" charset="-122"/>
                <a:sym typeface="Symbol" panose="05050102010706020507" pitchFamily="18" charset="2"/>
              </a:rPr>
              <a:t>=q-&gt;</a:t>
            </a:r>
            <a:r>
              <a:rPr lang="en-US" altLang="zh-CN" sz="2400" dirty="0" err="1" smtClean="0">
                <a:ea typeface="华文楷体" panose="02010600040101010101" pitchFamily="2" charset="-122"/>
                <a:sym typeface="Symbol" panose="05050102010706020507" pitchFamily="18" charset="2"/>
              </a:rPr>
              <a:t>exp</a:t>
            </a:r>
            <a:r>
              <a:rPr lang="en-US" altLang="zh-CN" sz="2400" dirty="0" smtClean="0">
                <a:ea typeface="华文楷体" panose="02010600040101010101" pitchFamily="2" charset="-122"/>
                <a:sym typeface="Symbol" panose="05050102010706020507" pitchFamily="18" charset="2"/>
              </a:rPr>
              <a:t>)</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if ( p-&gt;</a:t>
            </a:r>
            <a:r>
              <a:rPr lang="en-US" altLang="zh-CN" sz="2400" dirty="0" err="1" smtClean="0">
                <a:ea typeface="华文楷体" panose="02010600040101010101" pitchFamily="2" charset="-122"/>
                <a:sym typeface="Symbol" panose="05050102010706020507" pitchFamily="18" charset="2"/>
              </a:rPr>
              <a:t>exp</a:t>
            </a:r>
            <a:r>
              <a:rPr lang="en-US" altLang="zh-CN" sz="2400" dirty="0" smtClean="0">
                <a:ea typeface="华文楷体" panose="02010600040101010101" pitchFamily="2" charset="-122"/>
                <a:sym typeface="Symbol" panose="05050102010706020507" pitchFamily="18" charset="2"/>
              </a:rPr>
              <a:t>&gt;q-&gt;</a:t>
            </a:r>
            <a:r>
              <a:rPr lang="en-US" altLang="zh-CN" sz="2400" dirty="0" err="1" smtClean="0">
                <a:ea typeface="华文楷体" panose="02010600040101010101" pitchFamily="2" charset="-122"/>
                <a:sym typeface="Symbol" panose="05050102010706020507" pitchFamily="18" charset="2"/>
              </a:rPr>
              <a:t>exp</a:t>
            </a:r>
            <a:r>
              <a:rPr lang="en-US" altLang="zh-CN" sz="2400" dirty="0" smtClean="0">
                <a:ea typeface="华文楷体" panose="02010600040101010101" pitchFamily="2" charset="-122"/>
                <a:sym typeface="Symbol" panose="05050102010706020507" pitchFamily="18" charset="2"/>
              </a:rPr>
              <a:t>)</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if (q!=NULL) pre-&gt;next=q;</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free(</a:t>
            </a:r>
            <a:r>
              <a:rPr lang="en-US" altLang="zh-CN" sz="2400" dirty="0" err="1" smtClean="0">
                <a:ea typeface="华文楷体" panose="02010600040101010101" pitchFamily="2" charset="-122"/>
                <a:sym typeface="Symbol" panose="05050102010706020507" pitchFamily="18" charset="2"/>
              </a:rPr>
              <a:t>pb</a:t>
            </a:r>
            <a:r>
              <a:rPr lang="en-US" altLang="zh-CN" sz="2400" dirty="0" smtClean="0">
                <a:ea typeface="华文楷体" panose="02010600040101010101" pitchFamily="2" charset="-122"/>
                <a:sym typeface="Symbol" panose="05050102010706020507" pitchFamily="18" charset="2"/>
              </a:rPr>
              <a:t>);</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a:t>
            </a:r>
            <a:endParaRPr lang="en-US" altLang="zh-CN" sz="2400" dirty="0" smtClean="0">
              <a:ea typeface="华文楷体" panose="02010600040101010101" pitchFamily="2" charset="-122"/>
              <a:sym typeface="Symbol" panose="05050102010706020507" pitchFamily="18" charset="2"/>
            </a:endParaRPr>
          </a:p>
        </p:txBody>
      </p:sp>
      <p:sp>
        <p:nvSpPr>
          <p:cNvPr id="41991" name="Rectangle 4"/>
          <p:cNvSpPr>
            <a:spLocks noChangeArrowheads="1"/>
          </p:cNvSpPr>
          <p:nvPr/>
        </p:nvSpPr>
        <p:spPr bwMode="auto">
          <a:xfrm>
            <a:off x="4518025" y="3284538"/>
            <a:ext cx="22860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41992" name="Rectangle 5"/>
          <p:cNvSpPr>
            <a:spLocks noChangeArrowheads="1"/>
          </p:cNvSpPr>
          <p:nvPr/>
        </p:nvSpPr>
        <p:spPr bwMode="auto">
          <a:xfrm>
            <a:off x="4518025" y="3716338"/>
            <a:ext cx="2286000" cy="304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
        <p:nvSpPr>
          <p:cNvPr id="41993" name="Rectangle 6"/>
          <p:cNvSpPr>
            <a:spLocks noChangeArrowheads="1"/>
          </p:cNvSpPr>
          <p:nvPr/>
        </p:nvSpPr>
        <p:spPr bwMode="auto">
          <a:xfrm>
            <a:off x="4518025" y="4076700"/>
            <a:ext cx="22860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4301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A1611A3A-F03F-4E65-8DE3-036E6767AA3E}"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43013"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3014" name="Rectangle 3"/>
          <p:cNvSpPr>
            <a:spLocks noGrp="1" noChangeArrowheads="1"/>
          </p:cNvSpPr>
          <p:nvPr>
            <p:ph type="body" idx="1"/>
          </p:nvPr>
        </p:nvSpPr>
        <p:spPr/>
        <p:txBody>
          <a:bodyPr/>
          <a:lstStyle/>
          <a:p>
            <a:pPr eaLnBrk="1" hangingPunct="1">
              <a:lnSpc>
                <a:spcPct val="80000"/>
              </a:lnSpc>
            </a:pPr>
            <a:r>
              <a:rPr lang="zh-CN" altLang="en-US" sz="1800" dirty="0" smtClean="0">
                <a:ea typeface="华文楷体" panose="02010600040101010101" pitchFamily="2" charset="-122"/>
              </a:rPr>
              <a:t>阅读以下算法，填充空格，使其成为完整的算法。其功能是在一个</a:t>
            </a:r>
            <a:r>
              <a:rPr lang="zh-CN" altLang="en-US" sz="1800" b="1" dirty="0" smtClean="0">
                <a:ea typeface="华文楷体" panose="02010600040101010101" pitchFamily="2" charset="-122"/>
              </a:rPr>
              <a:t>非递减</a:t>
            </a:r>
            <a:r>
              <a:rPr lang="zh-CN" altLang="en-US" sz="1800" dirty="0" smtClean="0">
                <a:ea typeface="华文楷体" panose="02010600040101010101" pitchFamily="2" charset="-122"/>
              </a:rPr>
              <a:t>的顺序存储线性表中，删除所有值相等的多余元素。</a:t>
            </a:r>
            <a:endParaRPr lang="zh-CN" altLang="en-US"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p:txBody>
      </p:sp>
      <p:sp>
        <p:nvSpPr>
          <p:cNvPr id="169988" name="Rectangle 4"/>
          <p:cNvSpPr>
            <a:spLocks noChangeArrowheads="1"/>
          </p:cNvSpPr>
          <p:nvPr/>
        </p:nvSpPr>
        <p:spPr bwMode="auto">
          <a:xfrm>
            <a:off x="3430731" y="4941168"/>
            <a:ext cx="5689600" cy="1081087"/>
          </a:xfrm>
          <a:prstGeom prst="rect">
            <a:avLst/>
          </a:prstGeom>
          <a:solidFill>
            <a:schemeClr val="bg1"/>
          </a:solidFill>
          <a:ln w="9525">
            <a:solidFill>
              <a:srgbClr val="92D050"/>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Verdana" panose="020B0604030504040204" pitchFamily="34" charset="0"/>
                <a:ea typeface="华文楷体" panose="02010600040101010101" pitchFamily="2" charset="-122"/>
              </a:rPr>
              <a:t>(1)i+1&lt;=</a:t>
            </a:r>
            <a:r>
              <a:rPr lang="en-US" altLang="zh-CN" sz="1800" dirty="0" err="1">
                <a:latin typeface="Verdana" panose="020B0604030504040204" pitchFamily="34" charset="0"/>
                <a:ea typeface="华文楷体" panose="02010600040101010101" pitchFamily="2" charset="-122"/>
              </a:rPr>
              <a:t>L.last</a:t>
            </a:r>
            <a:r>
              <a:rPr lang="en-US" altLang="zh-CN" sz="1800" dirty="0">
                <a:latin typeface="Verdana" panose="020B0604030504040204" pitchFamily="34" charset="0"/>
                <a:ea typeface="华文楷体" panose="02010600040101010101" pitchFamily="2" charset="-122"/>
              </a:rPr>
              <a:t>  </a:t>
            </a:r>
            <a:r>
              <a:rPr lang="en-US" altLang="zh-CN" sz="1800" dirty="0" smtClean="0">
                <a:latin typeface="Verdana" panose="020B0604030504040204" pitchFamily="34" charset="0"/>
                <a:ea typeface="华文楷体" panose="02010600040101010101" pitchFamily="2" charset="-122"/>
              </a:rPr>
              <a:t>//</a:t>
            </a:r>
            <a:r>
              <a:rPr lang="en-US" altLang="zh-CN" sz="1800" dirty="0" err="1" smtClean="0">
                <a:latin typeface="Verdana" panose="020B0604030504040204" pitchFamily="34" charset="0"/>
                <a:ea typeface="华文楷体" panose="02010600040101010101" pitchFamily="2" charset="-122"/>
              </a:rPr>
              <a:t>L.last</a:t>
            </a:r>
            <a:r>
              <a:rPr lang="en-US" altLang="zh-CN" sz="1800" dirty="0" smtClean="0">
                <a:latin typeface="Verdana" panose="020B0604030504040204" pitchFamily="34" charset="0"/>
                <a:ea typeface="华文楷体" panose="02010600040101010101" pitchFamily="2" charset="-122"/>
              </a:rPr>
              <a:t> </a:t>
            </a:r>
            <a:r>
              <a:rPr lang="zh-CN" altLang="en-US" sz="1800" dirty="0">
                <a:latin typeface="Verdana" panose="020B0604030504040204" pitchFamily="34" charset="0"/>
                <a:ea typeface="华文楷体" panose="02010600040101010101" pitchFamily="2" charset="-122"/>
              </a:rPr>
              <a:t>为元素个数 </a:t>
            </a:r>
            <a:endParaRPr lang="zh-CN" altLang="en-US" sz="1800" dirty="0">
              <a:latin typeface="Verdana" panose="020B0604030504040204" pitchFamily="34" charset="0"/>
              <a:ea typeface="华文楷体" panose="02010600040101010101" pitchFamily="2" charset="-122"/>
            </a:endParaRPr>
          </a:p>
          <a:p>
            <a:pPr eaLnBrk="1" hangingPunct="1">
              <a:spcBef>
                <a:spcPct val="0"/>
              </a:spcBef>
              <a:buClrTx/>
              <a:buFontTx/>
              <a:buNone/>
            </a:pPr>
            <a:r>
              <a:rPr lang="en-US" altLang="zh-CN" sz="1800" dirty="0">
                <a:latin typeface="Verdana" panose="020B0604030504040204" pitchFamily="34" charset="0"/>
                <a:ea typeface="华文楷体" panose="02010600040101010101" pitchFamily="2" charset="-122"/>
              </a:rPr>
              <a:t>(2)</a:t>
            </a:r>
            <a:r>
              <a:rPr lang="en-US" altLang="zh-CN" sz="1800" dirty="0" err="1">
                <a:latin typeface="Verdana" panose="020B0604030504040204" pitchFamily="34" charset="0"/>
                <a:ea typeface="华文楷体" panose="02010600040101010101" pitchFamily="2" charset="-122"/>
              </a:rPr>
              <a:t>j++</a:t>
            </a:r>
            <a:r>
              <a:rPr lang="en-US" altLang="zh-CN" sz="1800" dirty="0">
                <a:latin typeface="Verdana" panose="020B0604030504040204" pitchFamily="34" charset="0"/>
                <a:ea typeface="华文楷体" panose="02010600040101010101" pitchFamily="2" charset="-122"/>
              </a:rPr>
              <a:t>     /</a:t>
            </a:r>
            <a:r>
              <a:rPr lang="en-US" altLang="zh-CN" sz="1800" dirty="0" smtClean="0">
                <a:latin typeface="Verdana" panose="020B0604030504040204" pitchFamily="34" charset="0"/>
                <a:ea typeface="华文楷体" panose="02010600040101010101" pitchFamily="2" charset="-122"/>
              </a:rPr>
              <a:t>/</a:t>
            </a:r>
            <a:r>
              <a:rPr lang="zh-CN" altLang="en-US" sz="1800" dirty="0" smtClean="0">
                <a:latin typeface="Verdana" panose="020B0604030504040204" pitchFamily="34" charset="0"/>
                <a:ea typeface="华文楷体" panose="02010600040101010101" pitchFamily="2" charset="-122"/>
              </a:rPr>
              <a:t>有</a:t>
            </a:r>
            <a:r>
              <a:rPr lang="zh-CN" altLang="en-US" sz="1800" dirty="0">
                <a:latin typeface="Verdana" panose="020B0604030504040204" pitchFamily="34" charset="0"/>
                <a:ea typeface="华文楷体" panose="02010600040101010101" pitchFamily="2" charset="-122"/>
              </a:rPr>
              <a:t>值不相等的元素</a:t>
            </a:r>
            <a:endParaRPr lang="zh-CN" altLang="en-US" sz="1800" dirty="0">
              <a:latin typeface="Verdana" panose="020B0604030504040204" pitchFamily="34" charset="0"/>
              <a:ea typeface="华文楷体" panose="02010600040101010101" pitchFamily="2" charset="-122"/>
            </a:endParaRPr>
          </a:p>
          <a:p>
            <a:pPr eaLnBrk="1" hangingPunct="1">
              <a:spcBef>
                <a:spcPct val="0"/>
              </a:spcBef>
              <a:buClrTx/>
              <a:buFontTx/>
              <a:buNone/>
            </a:pPr>
            <a:r>
              <a:rPr lang="en-US" altLang="zh-CN" sz="1800" dirty="0">
                <a:latin typeface="Verdana" panose="020B0604030504040204" pitchFamily="34" charset="0"/>
                <a:ea typeface="华文楷体" panose="02010600040101010101" pitchFamily="2" charset="-122"/>
              </a:rPr>
              <a:t>(3)</a:t>
            </a:r>
            <a:r>
              <a:rPr lang="en-US" altLang="zh-CN" sz="1800" dirty="0" err="1">
                <a:latin typeface="Verdana" panose="020B0604030504040204" pitchFamily="34" charset="0"/>
                <a:ea typeface="华文楷体" panose="02010600040101010101" pitchFamily="2" charset="-122"/>
              </a:rPr>
              <a:t>L.elem</a:t>
            </a:r>
            <a:r>
              <a:rPr lang="en-US" altLang="zh-CN" sz="1800" dirty="0">
                <a:latin typeface="Verdana" panose="020B0604030504040204" pitchFamily="34" charset="0"/>
                <a:ea typeface="华文楷体" panose="02010600040101010101" pitchFamily="2" charset="-122"/>
              </a:rPr>
              <a:t>[j]=</a:t>
            </a:r>
            <a:r>
              <a:rPr lang="en-US" altLang="zh-CN" sz="1800" dirty="0" err="1">
                <a:latin typeface="Verdana" panose="020B0604030504040204" pitchFamily="34" charset="0"/>
                <a:ea typeface="华文楷体" panose="02010600040101010101" pitchFamily="2" charset="-122"/>
              </a:rPr>
              <a:t>L.elem</a:t>
            </a:r>
            <a:r>
              <a:rPr lang="en-US" altLang="zh-CN" sz="1800" dirty="0">
                <a:latin typeface="Verdana" panose="020B0604030504040204" pitchFamily="34" charset="0"/>
                <a:ea typeface="华文楷体" panose="02010600040101010101" pitchFamily="2" charset="-122"/>
              </a:rPr>
              <a:t>[</a:t>
            </a:r>
            <a:r>
              <a:rPr lang="en-US" altLang="zh-CN" sz="1800" dirty="0" err="1">
                <a:latin typeface="Verdana" panose="020B0604030504040204" pitchFamily="34" charset="0"/>
                <a:ea typeface="华文楷体" panose="02010600040101010101" pitchFamily="2" charset="-122"/>
              </a:rPr>
              <a:t>i</a:t>
            </a:r>
            <a:r>
              <a:rPr lang="en-US" altLang="zh-CN" sz="1800" dirty="0">
                <a:latin typeface="Verdana" panose="020B0604030504040204" pitchFamily="34" charset="0"/>
                <a:ea typeface="华文楷体" panose="02010600040101010101" pitchFamily="2" charset="-122"/>
              </a:rPr>
              <a:t>]  </a:t>
            </a:r>
            <a:r>
              <a:rPr lang="en-US" altLang="zh-CN" sz="1800" dirty="0" smtClean="0">
                <a:latin typeface="Verdana" panose="020B0604030504040204" pitchFamily="34" charset="0"/>
                <a:ea typeface="华文楷体" panose="02010600040101010101" pitchFamily="2" charset="-122"/>
              </a:rPr>
              <a:t>//</a:t>
            </a:r>
            <a:r>
              <a:rPr lang="zh-CN" altLang="en-US" sz="1800" dirty="0" smtClean="0">
                <a:latin typeface="Verdana" panose="020B0604030504040204" pitchFamily="34" charset="0"/>
                <a:ea typeface="华文楷体" panose="02010600040101010101" pitchFamily="2" charset="-122"/>
              </a:rPr>
              <a:t>元素</a:t>
            </a:r>
            <a:r>
              <a:rPr lang="zh-CN" altLang="en-US" sz="1800" dirty="0">
                <a:latin typeface="Verdana" panose="020B0604030504040204" pitchFamily="34" charset="0"/>
                <a:ea typeface="华文楷体" panose="02010600040101010101" pitchFamily="2" charset="-122"/>
              </a:rPr>
              <a:t>前移</a:t>
            </a:r>
            <a:endParaRPr lang="zh-CN" altLang="en-US" sz="1800" dirty="0">
              <a:latin typeface="Verdana" panose="020B0604030504040204" pitchFamily="34" charset="0"/>
              <a:ea typeface="华文楷体" panose="02010600040101010101" pitchFamily="2" charset="-122"/>
            </a:endParaRPr>
          </a:p>
          <a:p>
            <a:pPr eaLnBrk="1" hangingPunct="1">
              <a:spcBef>
                <a:spcPct val="0"/>
              </a:spcBef>
              <a:buClrTx/>
              <a:buFontTx/>
              <a:buNone/>
            </a:pPr>
            <a:r>
              <a:rPr lang="en-US" altLang="zh-CN" sz="1800" dirty="0">
                <a:latin typeface="Verdana" panose="020B0604030504040204" pitchFamily="34" charset="0"/>
                <a:ea typeface="华文楷体" panose="02010600040101010101" pitchFamily="2" charset="-122"/>
              </a:rPr>
              <a:t>(4)</a:t>
            </a:r>
            <a:r>
              <a:rPr lang="en-US" altLang="zh-CN" sz="1800" dirty="0" err="1">
                <a:latin typeface="Verdana" panose="020B0604030504040204" pitchFamily="34" charset="0"/>
                <a:ea typeface="华文楷体" panose="02010600040101010101" pitchFamily="2" charset="-122"/>
              </a:rPr>
              <a:t>L.last</a:t>
            </a:r>
            <a:r>
              <a:rPr lang="en-US" altLang="zh-CN" sz="1800" dirty="0">
                <a:latin typeface="Verdana" panose="020B0604030504040204" pitchFamily="34" charset="0"/>
                <a:ea typeface="华文楷体" panose="02010600040101010101" pitchFamily="2" charset="-122"/>
              </a:rPr>
              <a:t>=j  </a:t>
            </a:r>
            <a:r>
              <a:rPr lang="en-US" altLang="zh-CN" sz="1800" dirty="0" smtClean="0">
                <a:latin typeface="Verdana" panose="020B0604030504040204" pitchFamily="34" charset="0"/>
                <a:ea typeface="华文楷体" panose="02010600040101010101" pitchFamily="2" charset="-122"/>
              </a:rPr>
              <a:t>//</a:t>
            </a:r>
            <a:r>
              <a:rPr lang="zh-CN" altLang="en-US" sz="1800" dirty="0" smtClean="0">
                <a:latin typeface="Verdana" panose="020B0604030504040204" pitchFamily="34" charset="0"/>
                <a:ea typeface="华文楷体" panose="02010600040101010101" pitchFamily="2" charset="-122"/>
              </a:rPr>
              <a:t>元素</a:t>
            </a:r>
            <a:r>
              <a:rPr lang="zh-CN" altLang="en-US" sz="1800" dirty="0">
                <a:latin typeface="Verdana" panose="020B0604030504040204" pitchFamily="34" charset="0"/>
                <a:ea typeface="华文楷体" panose="02010600040101010101" pitchFamily="2" charset="-122"/>
              </a:rPr>
              <a:t>个数</a:t>
            </a:r>
            <a:endParaRPr lang="zh-CN" altLang="en-US" sz="1800" dirty="0">
              <a:latin typeface="Verdana" panose="020B0604030504040204" pitchFamily="34" charset="0"/>
              <a:ea typeface="华文楷体" panose="02010600040101010101" pitchFamily="2" charset="-122"/>
            </a:endParaRPr>
          </a:p>
        </p:txBody>
      </p:sp>
      <p:sp>
        <p:nvSpPr>
          <p:cNvPr id="2" name="文本框 1"/>
          <p:cNvSpPr txBox="1"/>
          <p:nvPr/>
        </p:nvSpPr>
        <p:spPr>
          <a:xfrm>
            <a:off x="457200" y="1655986"/>
            <a:ext cx="4834880" cy="4579715"/>
          </a:xfrm>
          <a:prstGeom prst="rect">
            <a:avLst/>
          </a:prstGeom>
          <a:noFill/>
          <a:ln>
            <a:solidFill>
              <a:srgbClr val="92D050"/>
            </a:solidFill>
          </a:ln>
        </p:spPr>
        <p:txBody>
          <a:bodyPr wrap="square" rtlCol="0">
            <a:spAutoFit/>
          </a:bodyPr>
          <a:lstStyle/>
          <a:p>
            <a:pPr eaLnBrk="1" hangingPunct="1">
              <a:lnSpc>
                <a:spcPct val="80000"/>
              </a:lnSpc>
            </a:pPr>
            <a:r>
              <a:rPr lang="en-US" altLang="zh-CN" dirty="0">
                <a:latin typeface="华文楷体" panose="02010600040101010101" pitchFamily="2" charset="-122"/>
                <a:ea typeface="华文楷体" panose="02010600040101010101" pitchFamily="2" charset="-122"/>
              </a:rPr>
              <a:t>define </a:t>
            </a:r>
            <a:r>
              <a:rPr lang="en-US" altLang="zh-CN" dirty="0" err="1">
                <a:latin typeface="华文楷体" panose="02010600040101010101" pitchFamily="2" charset="-122"/>
                <a:ea typeface="华文楷体" panose="02010600040101010101" pitchFamily="2" charset="-122"/>
              </a:rPr>
              <a:t>maxlen</a:t>
            </a:r>
            <a:r>
              <a:rPr lang="en-US" altLang="zh-CN" dirty="0">
                <a:latin typeface="华文楷体" panose="02010600040101010101" pitchFamily="2" charset="-122"/>
                <a:ea typeface="华文楷体" panose="02010600040101010101" pitchFamily="2" charset="-122"/>
              </a:rPr>
              <a:t>=30</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err="1">
                <a:latin typeface="华文楷体" panose="02010600040101010101" pitchFamily="2" charset="-122"/>
                <a:ea typeface="华文楷体" panose="02010600040101010101" pitchFamily="2" charset="-122"/>
              </a:rPr>
              <a:t>Struct</a:t>
            </a:r>
            <a:r>
              <a:rPr lang="en-US" altLang="zh-CN" dirty="0">
                <a:latin typeface="华文楷体" panose="02010600040101010101" pitchFamily="2" charset="-122"/>
                <a:ea typeface="华文楷体" panose="02010600040101010101" pitchFamily="2" charset="-122"/>
              </a:rPr>
              <a:t> node {</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err="1">
                <a:latin typeface="华文楷体" panose="02010600040101010101" pitchFamily="2" charset="-122"/>
                <a:ea typeface="华文楷体" panose="02010600040101010101" pitchFamily="2" charset="-122"/>
              </a:rPr>
              <a:t>int</a:t>
            </a:r>
            <a:r>
              <a:rPr lang="en-US" altLang="zh-CN" dirty="0">
                <a:latin typeface="华文楷体" panose="02010600040101010101" pitchFamily="2" charset="-122"/>
                <a:ea typeface="华文楷体" panose="02010600040101010101" pitchFamily="2" charset="-122"/>
              </a:rPr>
              <a:t> </a:t>
            </a:r>
            <a:r>
              <a:rPr lang="en-US" altLang="zh-CN" dirty="0" err="1" smtClean="0">
                <a:latin typeface="华文楷体" panose="02010600040101010101" pitchFamily="2" charset="-122"/>
                <a:ea typeface="华文楷体" panose="02010600040101010101" pitchFamily="2" charset="-122"/>
              </a:rPr>
              <a:t>elem</a:t>
            </a:r>
            <a:r>
              <a:rPr lang="en-US" altLang="zh-CN" dirty="0" smtClean="0">
                <a:latin typeface="华文楷体" panose="02010600040101010101" pitchFamily="2" charset="-122"/>
                <a:ea typeface="华文楷体" panose="02010600040101010101" pitchFamily="2" charset="-122"/>
              </a:rPr>
              <a:t>[</a:t>
            </a:r>
            <a:r>
              <a:rPr lang="en-US" altLang="zh-CN" dirty="0" err="1" smtClean="0">
                <a:latin typeface="华文楷体" panose="02010600040101010101" pitchFamily="2" charset="-122"/>
                <a:ea typeface="华文楷体" panose="02010600040101010101" pitchFamily="2" charset="-122"/>
              </a:rPr>
              <a:t>maxlen</a:t>
            </a:r>
            <a:r>
              <a:rPr lang="en-US"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err="1">
                <a:latin typeface="华文楷体" panose="02010600040101010101" pitchFamily="2" charset="-122"/>
                <a:ea typeface="华文楷体" panose="02010600040101010101" pitchFamily="2" charset="-122"/>
              </a:rPr>
              <a:t>int</a:t>
            </a:r>
            <a:r>
              <a:rPr lang="en-US" altLang="zh-CN" dirty="0">
                <a:latin typeface="华文楷体" panose="02010600040101010101" pitchFamily="2" charset="-122"/>
                <a:ea typeface="华文楷体" panose="02010600040101010101" pitchFamily="2" charset="-122"/>
              </a:rPr>
              <a:t> last};</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void exam (</a:t>
            </a:r>
            <a:r>
              <a:rPr lang="en-US" altLang="zh-CN" dirty="0" err="1">
                <a:latin typeface="华文楷体" panose="02010600040101010101" pitchFamily="2" charset="-122"/>
                <a:ea typeface="华文楷体" panose="02010600040101010101" pitchFamily="2" charset="-122"/>
              </a:rPr>
              <a:t>struct</a:t>
            </a:r>
            <a:r>
              <a:rPr lang="en-US" altLang="zh-CN" dirty="0">
                <a:latin typeface="华文楷体" panose="02010600040101010101" pitchFamily="2" charset="-122"/>
                <a:ea typeface="华文楷体" panose="02010600040101010101" pitchFamily="2" charset="-122"/>
              </a:rPr>
              <a:t> node &amp;L</a:t>
            </a:r>
            <a:r>
              <a:rPr lang="en-US" altLang="zh-CN" dirty="0" smtClean="0">
                <a:latin typeface="华文楷体" panose="02010600040101010101" pitchFamily="2" charset="-122"/>
                <a:ea typeface="华文楷体" panose="02010600040101010101" pitchFamily="2" charset="-122"/>
              </a:rPr>
              <a:t>)</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dirty="0" smtClean="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j=0</a:t>
            </a:r>
            <a:r>
              <a:rPr lang="en-US" altLang="zh-CN" dirty="0">
                <a:latin typeface="华文楷体" panose="02010600040101010101" pitchFamily="2" charset="-122"/>
                <a:ea typeface="华文楷体" panose="02010600040101010101" pitchFamily="2" charset="-122"/>
              </a:rPr>
              <a:t>;  </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r>
              <a:rPr lang="en-US" altLang="zh-CN" dirty="0" err="1" smtClean="0">
                <a:latin typeface="华文楷体" panose="02010600040101010101" pitchFamily="2" charset="-122"/>
                <a:ea typeface="华文楷体" panose="02010600040101010101" pitchFamily="2" charset="-122"/>
              </a:rPr>
              <a:t>i</a:t>
            </a:r>
            <a:r>
              <a:rPr lang="en-US" altLang="zh-CN" dirty="0" smtClean="0">
                <a:latin typeface="华文楷体" panose="02010600040101010101" pitchFamily="2" charset="-122"/>
                <a:ea typeface="华文楷体" panose="02010600040101010101" pitchFamily="2" charset="-122"/>
              </a:rPr>
              <a:t>=1</a:t>
            </a:r>
            <a:r>
              <a:rPr lang="en-US"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while </a:t>
            </a:r>
            <a:r>
              <a:rPr lang="en-US" altLang="zh-CN" u="sng" dirty="0">
                <a:latin typeface="华文楷体" panose="02010600040101010101" pitchFamily="2" charset="-122"/>
                <a:ea typeface="华文楷体" panose="02010600040101010101" pitchFamily="2" charset="-122"/>
              </a:rPr>
              <a:t>(1)______</a:t>
            </a:r>
            <a:r>
              <a:rPr lang="en-US" altLang="zh-CN" dirty="0">
                <a:latin typeface="华文楷体" panose="02010600040101010101" pitchFamily="2" charset="-122"/>
                <a:ea typeface="华文楷体" panose="02010600040101010101" pitchFamily="2" charset="-122"/>
              </a:rPr>
              <a:t> </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 </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if  (</a:t>
            </a:r>
            <a:r>
              <a:rPr lang="en-US" altLang="zh-CN" dirty="0" err="1" smtClean="0">
                <a:latin typeface="华文楷体" panose="02010600040101010101" pitchFamily="2" charset="-122"/>
                <a:ea typeface="华文楷体" panose="02010600040101010101" pitchFamily="2" charset="-122"/>
              </a:rPr>
              <a:t>L.elem</a:t>
            </a:r>
            <a:r>
              <a:rPr lang="en-US" altLang="zh-CN" dirty="0" smtClean="0">
                <a:latin typeface="华文楷体" panose="02010600040101010101" pitchFamily="2" charset="-122"/>
                <a:ea typeface="华文楷体" panose="02010600040101010101" pitchFamily="2" charset="-122"/>
              </a:rPr>
              <a:t>[</a:t>
            </a:r>
            <a:r>
              <a:rPr lang="en-US" altLang="zh-CN" dirty="0" err="1" smtClean="0">
                <a:latin typeface="华文楷体" panose="02010600040101010101" pitchFamily="2" charset="-122"/>
                <a:ea typeface="华文楷体" panose="02010600040101010101" pitchFamily="2" charset="-122"/>
              </a:rPr>
              <a:t>i</a:t>
            </a:r>
            <a:r>
              <a:rPr lang="en-US" altLang="zh-CN" dirty="0">
                <a:latin typeface="华文楷体" panose="02010600040101010101" pitchFamily="2" charset="-122"/>
                <a:ea typeface="华文楷体" panose="02010600040101010101" pitchFamily="2" charset="-122"/>
              </a:rPr>
              <a:t>]!=</a:t>
            </a:r>
            <a:r>
              <a:rPr lang="en-US" altLang="zh-CN" dirty="0" err="1">
                <a:latin typeface="华文楷体" panose="02010600040101010101" pitchFamily="2" charset="-122"/>
                <a:ea typeface="华文楷体" panose="02010600040101010101" pitchFamily="2" charset="-122"/>
              </a:rPr>
              <a:t>L.elem</a:t>
            </a:r>
            <a:r>
              <a:rPr lang="en-US" altLang="zh-CN" dirty="0">
                <a:latin typeface="华文楷体" panose="02010600040101010101" pitchFamily="2" charset="-122"/>
                <a:ea typeface="华文楷体" panose="02010600040101010101" pitchFamily="2" charset="-122"/>
              </a:rPr>
              <a:t>[j</a:t>
            </a:r>
            <a:r>
              <a:rPr lang="en-US" altLang="zh-CN" dirty="0" smtClean="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2</a:t>
            </a:r>
            <a:r>
              <a:rPr lang="en-US" altLang="zh-CN" u="sng" dirty="0">
                <a:latin typeface="华文楷体" panose="02010600040101010101" pitchFamily="2" charset="-122"/>
                <a:ea typeface="华文楷体" panose="02010600040101010101" pitchFamily="2" charset="-122"/>
              </a:rPr>
              <a:t>)___</a:t>
            </a:r>
            <a:r>
              <a:rPr lang="en-US" altLang="zh-CN" dirty="0">
                <a:latin typeface="华文楷体" panose="02010600040101010101" pitchFamily="2" charset="-122"/>
                <a:ea typeface="华文楷体" panose="02010600040101010101" pitchFamily="2" charset="-122"/>
              </a:rPr>
              <a:t>____; </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3</a:t>
            </a:r>
            <a:r>
              <a:rPr lang="en-US" altLang="zh-CN" u="sng" dirty="0" smtClean="0">
                <a:latin typeface="华文楷体" panose="02010600040101010101" pitchFamily="2" charset="-122"/>
                <a:ea typeface="华文楷体" panose="02010600040101010101" pitchFamily="2" charset="-122"/>
              </a:rPr>
              <a:t>)</a:t>
            </a:r>
            <a:r>
              <a:rPr lang="en-US" altLang="zh-CN" dirty="0" smtClean="0">
                <a:latin typeface="华文楷体" panose="02010600040101010101" pitchFamily="2" charset="-122"/>
                <a:ea typeface="华文楷体" panose="02010600040101010101" pitchFamily="2" charset="-122"/>
              </a:rPr>
              <a:t>______;</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r>
              <a:rPr lang="en-US" altLang="zh-CN" dirty="0" err="1" smtClean="0">
                <a:latin typeface="华文楷体" panose="02010600040101010101" pitchFamily="2" charset="-122"/>
                <a:ea typeface="华文楷体" panose="02010600040101010101" pitchFamily="2" charset="-122"/>
              </a:rPr>
              <a:t>i</a:t>
            </a:r>
            <a:r>
              <a:rPr lang="en-US" altLang="zh-CN" dirty="0" smtClean="0">
                <a:latin typeface="华文楷体" panose="02010600040101010101" pitchFamily="2" charset="-122"/>
                <a:ea typeface="华文楷体" panose="02010600040101010101" pitchFamily="2" charset="-122"/>
              </a:rPr>
              <a:t>=i+1</a:t>
            </a:r>
            <a:r>
              <a:rPr lang="en-US"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u="sng" dirty="0">
                <a:latin typeface="华文楷体" panose="02010600040101010101" pitchFamily="2" charset="-122"/>
                <a:ea typeface="华文楷体" panose="02010600040101010101" pitchFamily="2" charset="-122"/>
              </a:rPr>
              <a:t>(4) ______</a:t>
            </a:r>
            <a:r>
              <a:rPr lang="en-US" altLang="zh-CN" dirty="0">
                <a:latin typeface="华文楷体" panose="02010600040101010101" pitchFamily="2" charset="-122"/>
                <a:ea typeface="华文楷体" panose="02010600040101010101" pitchFamily="2" charset="-122"/>
              </a:rPr>
              <a:t>__;</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endParaRPr lang="zh-CN" altLang="en-US" dirty="0">
              <a:latin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9988"/>
                                        </p:tgtEl>
                                        <p:attrNameLst>
                                          <p:attrName>style.visibility</p:attrName>
                                        </p:attrNameLst>
                                      </p:cBhvr>
                                      <p:to>
                                        <p:strVal val="visible"/>
                                      </p:to>
                                    </p:set>
                                    <p:anim calcmode="lin" valueType="num">
                                      <p:cBhvr additive="base">
                                        <p:cTn id="7" dur="500" fill="hold"/>
                                        <p:tgtEl>
                                          <p:spTgt spid="169988"/>
                                        </p:tgtEl>
                                        <p:attrNameLst>
                                          <p:attrName>ppt_x</p:attrName>
                                        </p:attrNameLst>
                                      </p:cBhvr>
                                      <p:tavLst>
                                        <p:tav tm="0">
                                          <p:val>
                                            <p:strVal val="#ppt_x"/>
                                          </p:val>
                                        </p:tav>
                                        <p:tav tm="100000">
                                          <p:val>
                                            <p:strVal val="#ppt_x"/>
                                          </p:val>
                                        </p:tav>
                                      </p:tavLst>
                                    </p:anim>
                                    <p:anim calcmode="lin" valueType="num">
                                      <p:cBhvr additive="base">
                                        <p:cTn id="8" dur="500" fill="hold"/>
                                        <p:tgtEl>
                                          <p:spTgt spid="1699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4403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5B736D47-9641-4422-80C2-1F3BB7ED34AD}"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44037" name="Rectangle 2"/>
          <p:cNvSpPr>
            <a:spLocks noGrp="1" noChangeArrowheads="1"/>
          </p:cNvSpPr>
          <p:nvPr>
            <p:ph type="title"/>
          </p:nvPr>
        </p:nvSpPr>
        <p:spPr>
          <a:xfrm>
            <a:off x="304800" y="152400"/>
            <a:ext cx="8458200" cy="442913"/>
          </a:xfrm>
        </p:spPr>
        <p:txBody>
          <a:bodyPr/>
          <a:lstStyle/>
          <a:p>
            <a:pPr eaLnBrk="1" hangingPunct="1"/>
            <a:endParaRPr lang="zh-CN" altLang="zh-CN" dirty="0" smtClean="0">
              <a:ea typeface="华文楷体" panose="02010600040101010101" pitchFamily="2" charset="-122"/>
            </a:endParaRPr>
          </a:p>
        </p:txBody>
      </p:sp>
      <p:sp>
        <p:nvSpPr>
          <p:cNvPr id="44038" name="Rectangle 3"/>
          <p:cNvSpPr>
            <a:spLocks noGrp="1" noChangeArrowheads="1"/>
          </p:cNvSpPr>
          <p:nvPr>
            <p:ph type="body" idx="1"/>
          </p:nvPr>
        </p:nvSpPr>
        <p:spPr>
          <a:xfrm>
            <a:off x="609600" y="1125538"/>
            <a:ext cx="8153400" cy="5295900"/>
          </a:xfrm>
        </p:spPr>
        <p:txBody>
          <a:bodyPr/>
          <a:lstStyle/>
          <a:p>
            <a:pPr marL="0" indent="0" eaLnBrk="1" hangingPunct="1">
              <a:lnSpc>
                <a:spcPct val="80000"/>
              </a:lnSpc>
              <a:buNone/>
            </a:pPr>
            <a:r>
              <a:rPr lang="zh-CN" altLang="en-US" sz="1600" dirty="0" smtClean="0">
                <a:ea typeface="华文楷体" panose="02010600040101010101" pitchFamily="2" charset="-122"/>
              </a:rPr>
              <a:t>对于给定的不含头结点的单链表</a:t>
            </a:r>
            <a:r>
              <a:rPr lang="en-US" altLang="zh-CN" sz="1600" dirty="0" smtClean="0">
                <a:ea typeface="华文楷体" panose="02010600040101010101" pitchFamily="2" charset="-122"/>
              </a:rPr>
              <a:t>head , </a:t>
            </a:r>
            <a:r>
              <a:rPr lang="zh-CN" altLang="en-US" sz="1600" dirty="0" smtClean="0">
                <a:ea typeface="华文楷体" panose="02010600040101010101" pitchFamily="2" charset="-122"/>
              </a:rPr>
              <a:t>下面的程序过程实现了按结点值非降次序输出单链表中的所有结点，在每次输出一个结点时，就把刚输出的结点从链表中删去。请在划线处填上适当的内容，使之成为一个完整的程序过程，每个空框只填一个语句</a:t>
            </a: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eaLnBrk="1" hangingPunct="1">
              <a:lnSpc>
                <a:spcPct val="80000"/>
              </a:lnSpc>
              <a:buNone/>
            </a:pPr>
            <a:endParaRPr lang="en-US" altLang="zh-CN" sz="14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void </a:t>
            </a:r>
            <a:r>
              <a:rPr lang="en-US" altLang="zh-CN" sz="1600" dirty="0" err="1" smtClean="0">
                <a:ea typeface="华文楷体" panose="02010600040101010101" pitchFamily="2" charset="-122"/>
              </a:rPr>
              <a:t>sort_output_delete</a:t>
            </a:r>
            <a:r>
              <a:rPr lang="en-US" altLang="zh-CN" sz="1600" dirty="0" smtClean="0">
                <a:ea typeface="华文楷体" panose="02010600040101010101" pitchFamily="2" charset="-122"/>
              </a:rPr>
              <a:t> (</a:t>
            </a:r>
            <a:r>
              <a:rPr lang="en-US" altLang="zh-CN" sz="1600" dirty="0" err="1" smtClean="0">
                <a:ea typeface="华文楷体" panose="02010600040101010101" pitchFamily="2" charset="-122"/>
              </a:rPr>
              <a:t>nodeptr</a:t>
            </a:r>
            <a:r>
              <a:rPr lang="en-US" altLang="zh-CN" sz="1600" dirty="0" smtClean="0">
                <a:ea typeface="华文楷体" panose="02010600040101010101" pitchFamily="2" charset="-122"/>
              </a:rPr>
              <a:t> head);</a:t>
            </a:r>
            <a:endParaRPr lang="en-US" altLang="zh-CN" sz="16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  </a:t>
            </a:r>
            <a:r>
              <a:rPr lang="en-US" altLang="zh-CN" sz="1600" dirty="0" err="1" smtClean="0">
                <a:ea typeface="华文楷体" panose="02010600040101010101" pitchFamily="2" charset="-122"/>
              </a:rPr>
              <a:t>nodeptr</a:t>
            </a:r>
            <a:r>
              <a:rPr lang="en-US" altLang="zh-CN" sz="1600" dirty="0" smtClean="0">
                <a:ea typeface="华文楷体" panose="02010600040101010101" pitchFamily="2" charset="-122"/>
              </a:rPr>
              <a:t> </a:t>
            </a:r>
            <a:r>
              <a:rPr lang="en-US" altLang="zh-CN" sz="1600" dirty="0" err="1" smtClean="0">
                <a:ea typeface="华文楷体" panose="02010600040101010101" pitchFamily="2" charset="-122"/>
              </a:rPr>
              <a:t>p,q,r,s</a:t>
            </a: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 while( head !=NULL)</a:t>
            </a:r>
            <a:endParaRPr lang="en-US" altLang="zh-CN" sz="16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 {    p= NULL </a:t>
            </a:r>
            <a:r>
              <a:rPr lang="zh-CN" altLang="en-US" sz="1600" dirty="0" smtClean="0">
                <a:ea typeface="华文楷体" panose="02010600040101010101" pitchFamily="2" charset="-122"/>
              </a:rPr>
              <a:t>；</a:t>
            </a:r>
            <a:r>
              <a:rPr lang="en-US" altLang="zh-CN" sz="1600" dirty="0" smtClean="0">
                <a:ea typeface="华文楷体" panose="02010600040101010101" pitchFamily="2" charset="-122"/>
              </a:rPr>
              <a:t>q= head</a:t>
            </a:r>
            <a:r>
              <a:rPr lang="zh-CN" altLang="en-US" sz="1600" dirty="0" smtClean="0">
                <a:ea typeface="华文楷体" panose="02010600040101010101" pitchFamily="2" charset="-122"/>
              </a:rPr>
              <a:t>；</a:t>
            </a:r>
            <a:r>
              <a:rPr lang="en-US" altLang="zh-CN" sz="1600" dirty="0" smtClean="0">
                <a:ea typeface="华文楷体" panose="02010600040101010101" pitchFamily="2" charset="-122"/>
              </a:rPr>
              <a:t>r= q </a:t>
            </a:r>
            <a:r>
              <a:rPr lang="zh-CN" altLang="en-US" sz="1600" dirty="0" smtClean="0">
                <a:ea typeface="华文楷体" panose="02010600040101010101" pitchFamily="2" charset="-122"/>
              </a:rPr>
              <a:t>；</a:t>
            </a:r>
            <a:r>
              <a:rPr lang="en-US" altLang="zh-CN" sz="1600" dirty="0" smtClean="0">
                <a:ea typeface="华文楷体" panose="02010600040101010101" pitchFamily="2" charset="-122"/>
              </a:rPr>
              <a:t>s=q-&gt;next </a:t>
            </a:r>
            <a:r>
              <a:rPr lang="zh-CN" altLang="en-US" sz="1600" dirty="0" smtClean="0">
                <a:ea typeface="华文楷体" panose="02010600040101010101" pitchFamily="2" charset="-122"/>
              </a:rPr>
              <a:t>；</a:t>
            </a:r>
            <a:endParaRPr lang="zh-CN" altLang="en-US" sz="1600" dirty="0" smtClean="0">
              <a:ea typeface="华文楷体" panose="02010600040101010101" pitchFamily="2" charset="-122"/>
            </a:endParaRPr>
          </a:p>
          <a:p>
            <a:pPr marL="0" indent="0" eaLnBrk="1" hangingPunct="1">
              <a:lnSpc>
                <a:spcPct val="80000"/>
              </a:lnSpc>
              <a:buNone/>
            </a:pPr>
            <a:r>
              <a:rPr lang="zh-CN" altLang="en-US" sz="1600" dirty="0" smtClean="0">
                <a:ea typeface="华文楷体" panose="02010600040101010101" pitchFamily="2" charset="-122"/>
              </a:rPr>
              <a:t>       </a:t>
            </a:r>
            <a:r>
              <a:rPr lang="en-US" altLang="zh-CN" sz="1600" dirty="0" smtClean="0">
                <a:ea typeface="华文楷体" panose="02010600040101010101" pitchFamily="2" charset="-122"/>
              </a:rPr>
              <a:t>while</a:t>
            </a:r>
            <a:r>
              <a:rPr lang="zh-CN" altLang="en-US" sz="1600" dirty="0" smtClean="0">
                <a:ea typeface="华文楷体" panose="02010600040101010101" pitchFamily="2" charset="-122"/>
              </a:rPr>
              <a:t>（ </a:t>
            </a:r>
            <a:r>
              <a:rPr lang="en-US" altLang="zh-CN" sz="1600" dirty="0" smtClean="0">
                <a:ea typeface="华文楷体" panose="02010600040101010101" pitchFamily="2" charset="-122"/>
              </a:rPr>
              <a:t>s != NULL)</a:t>
            </a:r>
            <a:endParaRPr lang="en-US" altLang="zh-CN" sz="16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      { if  (s-&gt;data &lt; q-&gt;data )</a:t>
            </a:r>
            <a:endParaRPr lang="en-US" altLang="zh-CN" sz="16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         {  </a:t>
            </a:r>
            <a:r>
              <a:rPr lang="en-US" altLang="zh-CN" sz="1600" u="sng" dirty="0" smtClean="0">
                <a:ea typeface="华文楷体" panose="02010600040101010101" pitchFamily="2" charset="-122"/>
              </a:rPr>
              <a:t>(1)__</a:t>
            </a:r>
            <a:r>
              <a:rPr lang="en-US" altLang="zh-CN" sz="1600" dirty="0" smtClean="0">
                <a:ea typeface="华文楷体" panose="02010600040101010101" pitchFamily="2" charset="-122"/>
              </a:rPr>
              <a:t>; </a:t>
            </a:r>
            <a:r>
              <a:rPr lang="en-US" altLang="zh-CN" sz="1600" u="sng" dirty="0" smtClean="0">
                <a:ea typeface="华文楷体" panose="02010600040101010101" pitchFamily="2" charset="-122"/>
              </a:rPr>
              <a:t>(2)___</a:t>
            </a:r>
            <a:r>
              <a:rPr lang="en-US" altLang="zh-CN" sz="1600" dirty="0" smtClean="0">
                <a:ea typeface="华文楷体" panose="02010600040101010101" pitchFamily="2" charset="-122"/>
              </a:rPr>
              <a:t> </a:t>
            </a:r>
            <a:r>
              <a:rPr lang="zh-CN" altLang="en-US" sz="1600" dirty="0" smtClean="0">
                <a:ea typeface="华文楷体" panose="02010600040101010101" pitchFamily="2" charset="-122"/>
              </a:rPr>
              <a:t>；</a:t>
            </a: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          r= s </a:t>
            </a:r>
            <a:r>
              <a:rPr lang="zh-CN" altLang="en-US" sz="1600" dirty="0" smtClean="0">
                <a:ea typeface="华文楷体" panose="02010600040101010101" pitchFamily="2" charset="-122"/>
              </a:rPr>
              <a:t>；  </a:t>
            </a:r>
            <a:r>
              <a:rPr lang="en-US" altLang="zh-CN" sz="1600" u="sng" dirty="0" smtClean="0">
                <a:ea typeface="华文楷体" panose="02010600040101010101" pitchFamily="2" charset="-122"/>
              </a:rPr>
              <a:t>(3)___</a:t>
            </a:r>
            <a:r>
              <a:rPr lang="zh-CN" altLang="en-US" sz="1600" u="sng" dirty="0" smtClean="0">
                <a:ea typeface="华文楷体" panose="02010600040101010101" pitchFamily="2" charset="-122"/>
              </a:rPr>
              <a:t>；</a:t>
            </a:r>
            <a:endParaRPr lang="zh-CN" altLang="en-US" sz="1600" dirty="0" smtClean="0">
              <a:ea typeface="华文楷体" panose="02010600040101010101" pitchFamily="2" charset="-122"/>
            </a:endParaRPr>
          </a:p>
          <a:p>
            <a:pPr marL="0" indent="0" eaLnBrk="1" hangingPunct="1">
              <a:lnSpc>
                <a:spcPct val="80000"/>
              </a:lnSpc>
              <a:buNone/>
            </a:pPr>
            <a:r>
              <a:rPr lang="zh-CN" altLang="en-US" sz="1600" dirty="0" smtClean="0">
                <a:ea typeface="华文楷体" panose="02010600040101010101" pitchFamily="2" charset="-122"/>
              </a:rPr>
              <a:t>      </a:t>
            </a: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    </a:t>
            </a:r>
            <a:r>
              <a:rPr lang="en-US" altLang="zh-CN" sz="1600" dirty="0" err="1" smtClean="0">
                <a:ea typeface="华文楷体" panose="02010600040101010101" pitchFamily="2" charset="-122"/>
              </a:rPr>
              <a:t>printf</a:t>
            </a:r>
            <a:r>
              <a:rPr lang="en-US" altLang="zh-CN" sz="1600" dirty="0" smtClean="0">
                <a:ea typeface="华文楷体" panose="02010600040101010101" pitchFamily="2" charset="-122"/>
              </a:rPr>
              <a:t>(q-&gt;data) </a:t>
            </a:r>
            <a:r>
              <a:rPr lang="zh-CN" altLang="en-US" sz="1600" dirty="0" smtClean="0">
                <a:ea typeface="华文楷体" panose="02010600040101010101" pitchFamily="2" charset="-122"/>
              </a:rPr>
              <a:t>；</a:t>
            </a:r>
            <a:endParaRPr lang="zh-CN" altLang="en-US" sz="1600" dirty="0" smtClean="0">
              <a:ea typeface="华文楷体" panose="02010600040101010101" pitchFamily="2" charset="-122"/>
            </a:endParaRPr>
          </a:p>
          <a:p>
            <a:pPr marL="0" indent="0" eaLnBrk="1" hangingPunct="1">
              <a:lnSpc>
                <a:spcPct val="80000"/>
              </a:lnSpc>
              <a:buNone/>
            </a:pPr>
            <a:r>
              <a:rPr lang="zh-CN" altLang="en-US" sz="1600" dirty="0" smtClean="0">
                <a:ea typeface="华文楷体" panose="02010600040101010101" pitchFamily="2" charset="-122"/>
              </a:rPr>
              <a:t>    </a:t>
            </a:r>
            <a:r>
              <a:rPr lang="en-US" altLang="zh-CN" sz="1600" dirty="0" smtClean="0">
                <a:ea typeface="华文楷体" panose="02010600040101010101" pitchFamily="2" charset="-122"/>
              </a:rPr>
              <a:t>if (p==NULL) </a:t>
            </a:r>
            <a:endParaRPr lang="en-US" altLang="zh-CN" sz="16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         </a:t>
            </a:r>
            <a:r>
              <a:rPr lang="en-US" altLang="zh-CN" sz="1600" u="sng" dirty="0" smtClean="0">
                <a:ea typeface="华文楷体" panose="02010600040101010101" pitchFamily="2" charset="-122"/>
              </a:rPr>
              <a:t>(4)_</a:t>
            </a:r>
            <a:r>
              <a:rPr lang="en-US" altLang="zh-CN" sz="1600" dirty="0" smtClean="0">
                <a:ea typeface="华文楷体" panose="02010600040101010101" pitchFamily="2" charset="-122"/>
              </a:rPr>
              <a:t>__  </a:t>
            </a:r>
            <a:endParaRPr lang="en-US" altLang="zh-CN" sz="16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    else  </a:t>
            </a:r>
            <a:r>
              <a:rPr lang="en-US" altLang="zh-CN" sz="1600" u="sng" dirty="0" smtClean="0">
                <a:ea typeface="华文楷体" panose="02010600040101010101" pitchFamily="2" charset="-122"/>
              </a:rPr>
              <a:t>(5)_</a:t>
            </a:r>
            <a:r>
              <a:rPr lang="en-US" altLang="zh-CN" sz="1600" dirty="0" smtClean="0">
                <a:ea typeface="华文楷体" panose="02010600040101010101" pitchFamily="2" charset="-122"/>
              </a:rPr>
              <a:t>___ </a:t>
            </a:r>
            <a:r>
              <a:rPr lang="zh-CN" altLang="en-US" sz="1600" dirty="0" smtClean="0">
                <a:ea typeface="华文楷体" panose="02010600040101010101" pitchFamily="2" charset="-122"/>
              </a:rPr>
              <a:t>；</a:t>
            </a:r>
            <a:endParaRPr lang="zh-CN" altLang="en-US" sz="1600" dirty="0" smtClean="0">
              <a:ea typeface="华文楷体" panose="02010600040101010101" pitchFamily="2" charset="-122"/>
            </a:endParaRPr>
          </a:p>
          <a:p>
            <a:pPr marL="0" indent="0" eaLnBrk="1" hangingPunct="1">
              <a:lnSpc>
                <a:spcPct val="80000"/>
              </a:lnSpc>
              <a:buNone/>
            </a:pPr>
            <a:r>
              <a:rPr lang="zh-CN" altLang="en-US" sz="1600" dirty="0" smtClean="0">
                <a:ea typeface="华文楷体" panose="02010600040101010101" pitchFamily="2" charset="-122"/>
              </a:rPr>
              <a:t>    </a:t>
            </a:r>
            <a:r>
              <a:rPr lang="en-US" altLang="zh-CN" sz="1600" dirty="0" smtClean="0">
                <a:ea typeface="华文楷体" panose="02010600040101010101" pitchFamily="2" charset="-122"/>
              </a:rPr>
              <a:t>free (q) </a:t>
            </a:r>
            <a:r>
              <a:rPr lang="zh-CN" altLang="en-US" sz="1600" dirty="0" smtClean="0">
                <a:ea typeface="华文楷体" panose="02010600040101010101" pitchFamily="2" charset="-122"/>
              </a:rPr>
              <a:t>；</a:t>
            </a:r>
            <a:endParaRPr lang="zh-CN" altLang="en-US" sz="1600" dirty="0" smtClean="0">
              <a:ea typeface="华文楷体" panose="02010600040101010101" pitchFamily="2" charset="-122"/>
            </a:endParaRPr>
          </a:p>
          <a:p>
            <a:pPr marL="0" indent="0" eaLnBrk="1" hangingPunct="1">
              <a:lnSpc>
                <a:spcPct val="80000"/>
              </a:lnSpc>
              <a:buNone/>
            </a:pPr>
            <a:r>
              <a:rPr lang="zh-CN" altLang="en-US" sz="1600" dirty="0" smtClean="0">
                <a:ea typeface="华文楷体" panose="02010600040101010101" pitchFamily="2" charset="-122"/>
              </a:rPr>
              <a:t> </a:t>
            </a: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        ……….</a:t>
            </a:r>
            <a:endParaRPr lang="en-US" altLang="zh-CN" sz="1600" dirty="0" smtClean="0">
              <a:ea typeface="华文楷体" panose="02010600040101010101" pitchFamily="2" charset="-122"/>
            </a:endParaRPr>
          </a:p>
          <a:p>
            <a:pPr marL="0" indent="0" eaLnBrk="1" hangingPunct="1">
              <a:lnSpc>
                <a:spcPct val="80000"/>
              </a:lnSpc>
              <a:buNone/>
            </a:pPr>
            <a:r>
              <a:rPr lang="en-US" altLang="zh-CN" sz="1600" dirty="0" smtClean="0">
                <a:ea typeface="华文楷体" panose="02010600040101010101" pitchFamily="2" charset="-122"/>
              </a:rPr>
              <a:t>} </a:t>
            </a:r>
            <a:endParaRPr lang="en-US" altLang="zh-CN" sz="1600" dirty="0" smtClean="0">
              <a:ea typeface="华文楷体" panose="02010600040101010101" pitchFamily="2" charset="-122"/>
            </a:endParaRPr>
          </a:p>
        </p:txBody>
      </p:sp>
      <p:sp>
        <p:nvSpPr>
          <p:cNvPr id="171012" name="Rectangle 4"/>
          <p:cNvSpPr>
            <a:spLocks noChangeArrowheads="1"/>
          </p:cNvSpPr>
          <p:nvPr/>
        </p:nvSpPr>
        <p:spPr bwMode="auto">
          <a:xfrm>
            <a:off x="3203848" y="4005064"/>
            <a:ext cx="5559152" cy="2304256"/>
          </a:xfrm>
          <a:prstGeom prst="rect">
            <a:avLst/>
          </a:prstGeom>
          <a:solidFill>
            <a:schemeClr val="bg1"/>
          </a:solidFill>
          <a:ln w="9525">
            <a:solidFill>
              <a:srgbClr val="92D050"/>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Verdana" panose="020B0604030504040204" pitchFamily="34" charset="0"/>
                <a:ea typeface="华文楷体" panose="02010600040101010101" pitchFamily="2" charset="-122"/>
              </a:rPr>
              <a:t>(1)p=r;∥r</a:t>
            </a:r>
            <a:r>
              <a:rPr lang="zh-CN" altLang="en-US" sz="1800" dirty="0">
                <a:latin typeface="Verdana" panose="020B0604030504040204" pitchFamily="34" charset="0"/>
                <a:ea typeface="华文楷体" panose="02010600040101010101" pitchFamily="2" charset="-122"/>
              </a:rPr>
              <a:t>指向指针</a:t>
            </a:r>
            <a:r>
              <a:rPr lang="en-US" altLang="zh-CN" sz="1800" dirty="0">
                <a:latin typeface="Verdana" panose="020B0604030504040204" pitchFamily="34" charset="0"/>
                <a:ea typeface="华文楷体" panose="02010600040101010101" pitchFamily="2" charset="-122"/>
              </a:rPr>
              <a:t>s</a:t>
            </a:r>
            <a:r>
              <a:rPr lang="zh-CN" altLang="en-US" sz="1800" dirty="0">
                <a:latin typeface="Verdana" panose="020B0604030504040204" pitchFamily="34" charset="0"/>
                <a:ea typeface="华文楷体" panose="02010600040101010101" pitchFamily="2" charset="-122"/>
              </a:rPr>
              <a:t>的前驱，</a:t>
            </a:r>
            <a:r>
              <a:rPr lang="en-US" altLang="zh-CN" sz="1800" dirty="0">
                <a:latin typeface="Verdana" panose="020B0604030504040204" pitchFamily="34" charset="0"/>
                <a:ea typeface="华文楷体" panose="02010600040101010101" pitchFamily="2" charset="-122"/>
              </a:rPr>
              <a:t>p</a:t>
            </a:r>
            <a:r>
              <a:rPr lang="zh-CN" altLang="en-US" sz="1800" dirty="0">
                <a:latin typeface="Verdana" panose="020B0604030504040204" pitchFamily="34" charset="0"/>
                <a:ea typeface="华文楷体" panose="02010600040101010101" pitchFamily="2" charset="-122"/>
              </a:rPr>
              <a:t>指向最小值的前驱。</a:t>
            </a:r>
            <a:endParaRPr lang="zh-CN" altLang="en-US" sz="1800" dirty="0">
              <a:latin typeface="Verdana" panose="020B0604030504040204" pitchFamily="34" charset="0"/>
              <a:ea typeface="华文楷体" panose="02010600040101010101" pitchFamily="2" charset="-122"/>
            </a:endParaRPr>
          </a:p>
          <a:p>
            <a:pPr eaLnBrk="1" hangingPunct="1">
              <a:spcBef>
                <a:spcPct val="0"/>
              </a:spcBef>
              <a:buClrTx/>
              <a:buFontTx/>
              <a:buNone/>
            </a:pPr>
            <a:r>
              <a:rPr lang="en-US" altLang="zh-CN" sz="1800" dirty="0">
                <a:latin typeface="Verdana" panose="020B0604030504040204" pitchFamily="34" charset="0"/>
                <a:ea typeface="华文楷体" panose="02010600040101010101" pitchFamily="2" charset="-122"/>
              </a:rPr>
              <a:t>(2)q=s;∥q</a:t>
            </a:r>
            <a:r>
              <a:rPr lang="zh-CN" altLang="en-US" sz="1800" dirty="0">
                <a:latin typeface="Verdana" panose="020B0604030504040204" pitchFamily="34" charset="0"/>
                <a:ea typeface="华文楷体" panose="02010600040101010101" pitchFamily="2" charset="-122"/>
              </a:rPr>
              <a:t>指向最小值结点，</a:t>
            </a:r>
            <a:r>
              <a:rPr lang="en-US" altLang="zh-CN" sz="1800" dirty="0">
                <a:latin typeface="Verdana" panose="020B0604030504040204" pitchFamily="34" charset="0"/>
                <a:ea typeface="华文楷体" panose="02010600040101010101" pitchFamily="2" charset="-122"/>
              </a:rPr>
              <a:t>s</a:t>
            </a:r>
            <a:r>
              <a:rPr lang="zh-CN" altLang="en-US" sz="1800" dirty="0">
                <a:latin typeface="Verdana" panose="020B0604030504040204" pitchFamily="34" charset="0"/>
                <a:ea typeface="华文楷体" panose="02010600040101010101" pitchFamily="2" charset="-122"/>
              </a:rPr>
              <a:t>是工作指针</a:t>
            </a:r>
            <a:endParaRPr lang="zh-CN" altLang="en-US" sz="1800" dirty="0">
              <a:latin typeface="Verdana" panose="020B0604030504040204" pitchFamily="34" charset="0"/>
              <a:ea typeface="华文楷体" panose="02010600040101010101" pitchFamily="2" charset="-122"/>
            </a:endParaRPr>
          </a:p>
          <a:p>
            <a:pPr eaLnBrk="1" hangingPunct="1">
              <a:spcBef>
                <a:spcPct val="0"/>
              </a:spcBef>
              <a:buClrTx/>
              <a:buFontTx/>
              <a:buNone/>
            </a:pPr>
            <a:r>
              <a:rPr lang="en-US" altLang="zh-CN" sz="1800" dirty="0">
                <a:latin typeface="Verdana" panose="020B0604030504040204" pitchFamily="34" charset="0"/>
                <a:ea typeface="华文楷体" panose="02010600040101010101" pitchFamily="2" charset="-122"/>
              </a:rPr>
              <a:t>(3)s=s-&gt;next∥</a:t>
            </a:r>
            <a:r>
              <a:rPr lang="zh-CN" altLang="en-US" sz="1800" dirty="0">
                <a:latin typeface="Verdana" panose="020B0604030504040204" pitchFamily="34" charset="0"/>
                <a:ea typeface="华文楷体" panose="02010600040101010101" pitchFamily="2" charset="-122"/>
              </a:rPr>
              <a:t>工作指针后移</a:t>
            </a:r>
            <a:endParaRPr lang="zh-CN" altLang="en-US" sz="1800" dirty="0">
              <a:latin typeface="Verdana" panose="020B0604030504040204" pitchFamily="34" charset="0"/>
              <a:ea typeface="华文楷体" panose="02010600040101010101" pitchFamily="2" charset="-122"/>
            </a:endParaRPr>
          </a:p>
          <a:p>
            <a:pPr eaLnBrk="1" hangingPunct="1">
              <a:spcBef>
                <a:spcPct val="0"/>
              </a:spcBef>
              <a:buClrTx/>
              <a:buFontTx/>
              <a:buNone/>
            </a:pPr>
            <a:r>
              <a:rPr lang="en-US" altLang="zh-CN" sz="1800" dirty="0">
                <a:latin typeface="Verdana" panose="020B0604030504040204" pitchFamily="34" charset="0"/>
                <a:ea typeface="华文楷体" panose="02010600040101010101" pitchFamily="2" charset="-122"/>
              </a:rPr>
              <a:t>(4)head=head-&gt;next;∥</a:t>
            </a:r>
            <a:r>
              <a:rPr lang="zh-CN" altLang="en-US" sz="1800" dirty="0">
                <a:latin typeface="Verdana" panose="020B0604030504040204" pitchFamily="34" charset="0"/>
                <a:ea typeface="华文楷体" panose="02010600040101010101" pitchFamily="2" charset="-122"/>
              </a:rPr>
              <a:t>第一个结点值最小；</a:t>
            </a:r>
            <a:endParaRPr lang="zh-CN" altLang="en-US" sz="1800" dirty="0">
              <a:latin typeface="Verdana" panose="020B0604030504040204" pitchFamily="34" charset="0"/>
              <a:ea typeface="华文楷体" panose="02010600040101010101" pitchFamily="2" charset="-122"/>
            </a:endParaRPr>
          </a:p>
          <a:p>
            <a:pPr eaLnBrk="1" hangingPunct="1">
              <a:spcBef>
                <a:spcPct val="0"/>
              </a:spcBef>
              <a:buClrTx/>
              <a:buFontTx/>
              <a:buNone/>
            </a:pPr>
            <a:r>
              <a:rPr lang="en-US" altLang="zh-CN" sz="1800" dirty="0">
                <a:latin typeface="Verdana" panose="020B0604030504040204" pitchFamily="34" charset="0"/>
                <a:ea typeface="华文楷体" panose="02010600040101010101" pitchFamily="2" charset="-122"/>
              </a:rPr>
              <a:t>(5)p-&gt;next=q-&gt;next;∥</a:t>
            </a:r>
            <a:r>
              <a:rPr lang="zh-CN" altLang="en-US" sz="1800" dirty="0">
                <a:latin typeface="Verdana" panose="020B0604030504040204" pitchFamily="34" charset="0"/>
                <a:ea typeface="华文楷体" panose="02010600040101010101" pitchFamily="2" charset="-122"/>
              </a:rPr>
              <a:t>跨过被删结点</a:t>
            </a:r>
            <a:endParaRPr lang="zh-CN" altLang="en-US" sz="1800" dirty="0">
              <a:latin typeface="Verdana" panose="020B0604030504040204" pitchFamily="34"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1012"/>
                                        </p:tgtEl>
                                        <p:attrNameLst>
                                          <p:attrName>style.visibility</p:attrName>
                                        </p:attrNameLst>
                                      </p:cBhvr>
                                      <p:to>
                                        <p:strVal val="visible"/>
                                      </p:to>
                                    </p:set>
                                    <p:animEffect transition="in" filter="checkerboard(across)">
                                      <p:cBhvr>
                                        <p:cTn id="7" dur="500"/>
                                        <p:tgtEl>
                                          <p:spTgt spid="171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4608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36C684D8-3DDD-4DAA-9746-F1DDD3FF3E5A}"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46085"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73059" name="Rectangle 3"/>
          <p:cNvSpPr>
            <a:spLocks noGrp="1" noChangeArrowheads="1"/>
          </p:cNvSpPr>
          <p:nvPr>
            <p:ph type="body" idx="1"/>
          </p:nvPr>
        </p:nvSpPr>
        <p:spPr>
          <a:xfrm>
            <a:off x="611188" y="1125538"/>
            <a:ext cx="8153400" cy="5407025"/>
          </a:xfrm>
        </p:spPr>
        <p:txBody>
          <a:bodyPr/>
          <a:lstStyle/>
          <a:p>
            <a:pPr marL="0" indent="0" eaLnBrk="1" hangingPunct="1">
              <a:lnSpc>
                <a:spcPct val="80000"/>
              </a:lnSpc>
              <a:buNone/>
            </a:pPr>
            <a:r>
              <a:rPr lang="zh-CN" altLang="en-US" sz="1600" dirty="0" smtClean="0">
                <a:ea typeface="华文楷体" panose="02010600040101010101" pitchFamily="2" charset="-122"/>
              </a:rPr>
              <a:t>请写一算法</a:t>
            </a:r>
            <a:r>
              <a:rPr lang="en-US" altLang="zh-CN" sz="1600" dirty="0" smtClean="0">
                <a:ea typeface="华文楷体" panose="02010600040101010101" pitchFamily="2" charset="-122"/>
              </a:rPr>
              <a:t>Link </a:t>
            </a:r>
            <a:r>
              <a:rPr lang="en-US" altLang="zh-CN" sz="1600" dirty="0" err="1" smtClean="0">
                <a:ea typeface="华文楷体" panose="02010600040101010101" pitchFamily="2" charset="-122"/>
              </a:rPr>
              <a:t>LinkListSort</a:t>
            </a:r>
            <a:r>
              <a:rPr lang="en-US" altLang="zh-CN" sz="1600" dirty="0" smtClean="0">
                <a:ea typeface="华文楷体" panose="02010600040101010101" pitchFamily="2" charset="-122"/>
              </a:rPr>
              <a:t>(Link list) </a:t>
            </a:r>
            <a:r>
              <a:rPr lang="zh-CN" altLang="en-US" sz="1600" dirty="0" smtClean="0">
                <a:ea typeface="华文楷体" panose="02010600040101010101" pitchFamily="2" charset="-122"/>
              </a:rPr>
              <a:t>，将不带头结点的单链表按结点数据域的值的大小从小到大重新链接。要求链接过程中不得使用除该链表以外的任何链结点空间。</a:t>
            </a:r>
            <a:endParaRPr lang="zh-CN" altLang="en-US" sz="1600" dirty="0" smtClean="0">
              <a:ea typeface="华文楷体" panose="02010600040101010101" pitchFamily="2" charset="-122"/>
            </a:endParaRPr>
          </a:p>
        </p:txBody>
      </p:sp>
      <p:sp>
        <p:nvSpPr>
          <p:cNvPr id="2" name="文本框 1"/>
          <p:cNvSpPr txBox="1"/>
          <p:nvPr/>
        </p:nvSpPr>
        <p:spPr>
          <a:xfrm>
            <a:off x="859012" y="1621620"/>
            <a:ext cx="8105476" cy="4967514"/>
          </a:xfrm>
          <a:prstGeom prst="rect">
            <a:avLst/>
          </a:prstGeom>
          <a:noFill/>
          <a:ln>
            <a:solidFill>
              <a:srgbClr val="99FF66"/>
            </a:solidFill>
          </a:ln>
        </p:spPr>
        <p:txBody>
          <a:bodyPr wrap="square" rtlCol="0">
            <a:spAutoFit/>
          </a:bodyPr>
          <a:lstStyle/>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Link </a:t>
            </a:r>
            <a:r>
              <a:rPr lang="en-US" altLang="zh-CN" dirty="0" err="1">
                <a:latin typeface="华文楷体" panose="02010600040101010101" pitchFamily="2" charset="-122"/>
                <a:ea typeface="华文楷体" panose="02010600040101010101" pitchFamily="2" charset="-122"/>
              </a:rPr>
              <a:t>LinkListSort</a:t>
            </a:r>
            <a:r>
              <a:rPr lang="en-US" altLang="zh-CN" dirty="0">
                <a:latin typeface="华文楷体" panose="02010600040101010101" pitchFamily="2" charset="-122"/>
                <a:ea typeface="华文楷体" panose="02010600040101010101" pitchFamily="2" charset="-122"/>
              </a:rPr>
              <a:t>(Link list)</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smtClean="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p=list-&gt;next;   ∥p</a:t>
            </a:r>
            <a:r>
              <a:rPr lang="zh-CN" altLang="en-US" dirty="0">
                <a:latin typeface="华文楷体" panose="02010600040101010101" pitchFamily="2" charset="-122"/>
                <a:ea typeface="华文楷体" panose="02010600040101010101" pitchFamily="2" charset="-122"/>
              </a:rPr>
              <a:t>是工作指针，指向待排序的当前元素。</a:t>
            </a:r>
            <a:endParaRPr lang="zh-CN" altLang="en-US" dirty="0">
              <a:latin typeface="华文楷体" panose="02010600040101010101" pitchFamily="2" charset="-122"/>
              <a:ea typeface="华文楷体" panose="02010600040101010101" pitchFamily="2" charset="-122"/>
            </a:endParaRPr>
          </a:p>
          <a:p>
            <a:pPr marL="0" indent="0" eaLnBrk="1" hangingPunct="1">
              <a:lnSpc>
                <a:spcPct val="80000"/>
              </a:lnSpc>
              <a:buNone/>
            </a:pP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list-&gt;next=NULL;∥</a:t>
            </a:r>
            <a:r>
              <a:rPr lang="zh-CN" altLang="en-US" dirty="0">
                <a:latin typeface="华文楷体" panose="02010600040101010101" pitchFamily="2" charset="-122"/>
                <a:ea typeface="华文楷体" panose="02010600040101010101" pitchFamily="2" charset="-122"/>
              </a:rPr>
              <a:t>假定第一个元素有序，即链表中现只有一个结点。</a:t>
            </a:r>
            <a:endParaRPr lang="zh-CN" altLang="en-US" dirty="0">
              <a:latin typeface="华文楷体" panose="02010600040101010101" pitchFamily="2" charset="-122"/>
              <a:ea typeface="华文楷体" panose="02010600040101010101" pitchFamily="2" charset="-122"/>
            </a:endParaRPr>
          </a:p>
          <a:p>
            <a:pPr marL="0" indent="0" eaLnBrk="1" hangingPunct="1">
              <a:lnSpc>
                <a:spcPct val="80000"/>
              </a:lnSpc>
              <a:buNone/>
            </a:pPr>
            <a:r>
              <a:rPr lang="zh-CN" altLang="en-US" dirty="0">
                <a:latin typeface="华文楷体" panose="02010600040101010101" pitchFamily="2" charset="-122"/>
                <a:ea typeface="华文楷体" panose="02010600040101010101" pitchFamily="2" charset="-122"/>
              </a:rPr>
              <a:t>          </a:t>
            </a:r>
            <a:r>
              <a:rPr lang="en-US" altLang="zh-CN" b="1" dirty="0" smtClean="0">
                <a:latin typeface="华文楷体" panose="02010600040101010101" pitchFamily="2" charset="-122"/>
                <a:ea typeface="华文楷体" panose="02010600040101010101" pitchFamily="2" charset="-122"/>
              </a:rPr>
              <a:t>while</a:t>
            </a:r>
            <a:r>
              <a:rPr lang="en-US" altLang="zh-CN" dirty="0" smtClean="0">
                <a:latin typeface="华文楷体" panose="02010600040101010101" pitchFamily="2" charset="-122"/>
                <a:ea typeface="华文楷体" panose="02010600040101010101" pitchFamily="2" charset="-122"/>
              </a:rPr>
              <a:t>(p != NULL)</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r=p-</a:t>
            </a:r>
            <a:r>
              <a:rPr lang="en-US" altLang="zh-CN" dirty="0">
                <a:latin typeface="华文楷体" panose="02010600040101010101" pitchFamily="2" charset="-122"/>
                <a:ea typeface="华文楷体" panose="02010600040101010101" pitchFamily="2" charset="-122"/>
              </a:rPr>
              <a:t>&gt;next;    ∥r</a:t>
            </a:r>
            <a:r>
              <a:rPr lang="zh-CN" altLang="en-US" dirty="0">
                <a:latin typeface="华文楷体" panose="02010600040101010101" pitchFamily="2" charset="-122"/>
                <a:ea typeface="华文楷体" panose="02010600040101010101" pitchFamily="2" charset="-122"/>
              </a:rPr>
              <a:t>是</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的后继。</a:t>
            </a:r>
            <a:endParaRPr lang="zh-CN" altLang="en-US" dirty="0">
              <a:latin typeface="华文楷体" panose="02010600040101010101" pitchFamily="2" charset="-122"/>
              <a:ea typeface="华文楷体" panose="02010600040101010101" pitchFamily="2" charset="-122"/>
            </a:endParaRPr>
          </a:p>
          <a:p>
            <a:pPr marL="0" indent="0" eaLnBrk="1" hangingPunct="1">
              <a:lnSpc>
                <a:spcPct val="80000"/>
              </a:lnSpc>
              <a:buNone/>
            </a:pPr>
            <a:r>
              <a:rPr lang="zh-CN" altLang="en-US" dirty="0">
                <a:latin typeface="华文楷体" panose="02010600040101010101" pitchFamily="2" charset="-122"/>
                <a:ea typeface="华文楷体" panose="02010600040101010101" pitchFamily="2" charset="-122"/>
              </a:rPr>
              <a:t>              </a:t>
            </a:r>
            <a:r>
              <a:rPr lang="zh-CN" altLang="en-US" dirty="0" smtClean="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q=list</a:t>
            </a:r>
            <a:r>
              <a:rPr lang="en-US"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r>
              <a:rPr lang="en-US" altLang="zh-CN" b="1" dirty="0" smtClean="0">
                <a:latin typeface="华文楷体" panose="02010600040101010101" pitchFamily="2" charset="-122"/>
                <a:ea typeface="华文楷体" panose="02010600040101010101" pitchFamily="2" charset="-122"/>
              </a:rPr>
              <a:t>if</a:t>
            </a:r>
            <a:r>
              <a:rPr lang="en-US" altLang="zh-CN" dirty="0" smtClean="0">
                <a:latin typeface="华文楷体" panose="02010600040101010101" pitchFamily="2" charset="-122"/>
                <a:ea typeface="华文楷体" panose="02010600040101010101" pitchFamily="2" charset="-122"/>
              </a:rPr>
              <a:t>(q-</a:t>
            </a:r>
            <a:r>
              <a:rPr lang="en-US" altLang="zh-CN" dirty="0">
                <a:latin typeface="华文楷体" panose="02010600040101010101" pitchFamily="2" charset="-122"/>
                <a:ea typeface="华文楷体" panose="02010600040101010101" pitchFamily="2" charset="-122"/>
              </a:rPr>
              <a:t>&gt;data&gt;p-&gt;data)∥</a:t>
            </a:r>
            <a:r>
              <a:rPr lang="zh-CN" altLang="en-US" dirty="0">
                <a:latin typeface="华文楷体" panose="02010600040101010101" pitchFamily="2" charset="-122"/>
                <a:ea typeface="华文楷体" panose="02010600040101010101" pitchFamily="2" charset="-122"/>
              </a:rPr>
              <a:t>处理待排序结点</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比第一个元素结点小的情况。</a:t>
            </a:r>
            <a:endParaRPr lang="zh-CN" altLang="en-US" dirty="0">
              <a:latin typeface="华文楷体" panose="02010600040101010101" pitchFamily="2" charset="-122"/>
              <a:ea typeface="华文楷体" panose="02010600040101010101" pitchFamily="2" charset="-122"/>
            </a:endParaRPr>
          </a:p>
          <a:p>
            <a:pPr marL="0" indent="0" eaLnBrk="1" hangingPunct="1">
              <a:lnSpc>
                <a:spcPct val="80000"/>
              </a:lnSpc>
              <a:buNone/>
            </a:pPr>
            <a:r>
              <a:rPr lang="zh-CN" altLang="en-US" dirty="0">
                <a:latin typeface="华文楷体" panose="02010600040101010101" pitchFamily="2" charset="-122"/>
                <a:ea typeface="华文楷体" panose="02010600040101010101" pitchFamily="2" charset="-122"/>
              </a:rPr>
              <a:t>              </a:t>
            </a:r>
            <a:r>
              <a:rPr lang="zh-CN" altLang="en-US" dirty="0" smtClean="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p-&gt;next=list;</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list=p</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链表指针指向最小元素。</a:t>
            </a:r>
            <a:endParaRPr lang="zh-CN" altLang="en-US" dirty="0">
              <a:latin typeface="华文楷体" panose="02010600040101010101" pitchFamily="2" charset="-122"/>
              <a:ea typeface="华文楷体" panose="02010600040101010101" pitchFamily="2" charset="-122"/>
            </a:endParaRPr>
          </a:p>
          <a:p>
            <a:pPr marL="0" indent="0" eaLnBrk="1" hangingPunct="1">
              <a:lnSpc>
                <a:spcPct val="80000"/>
              </a:lnSpc>
              <a:buNone/>
            </a:pP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r>
              <a:rPr lang="en-US" altLang="zh-CN" b="1" dirty="0" smtClean="0">
                <a:latin typeface="华文楷体" panose="02010600040101010101" pitchFamily="2" charset="-122"/>
                <a:ea typeface="华文楷体" panose="02010600040101010101" pitchFamily="2" charset="-122"/>
              </a:rPr>
              <a:t>else</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查找元素值最小的结点。</a:t>
            </a:r>
            <a:endParaRPr lang="zh-CN" altLang="en-US" dirty="0">
              <a:latin typeface="华文楷体" panose="02010600040101010101" pitchFamily="2" charset="-122"/>
              <a:ea typeface="华文楷体" panose="02010600040101010101" pitchFamily="2" charset="-122"/>
            </a:endParaRPr>
          </a:p>
          <a:p>
            <a:pPr marL="0" indent="0" eaLnBrk="1" hangingPunct="1">
              <a:lnSpc>
                <a:spcPct val="80000"/>
              </a:lnSpc>
              <a:buNone/>
            </a:pP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  </a:t>
            </a:r>
            <a:endParaRPr lang="en-US" altLang="zh-CN" dirty="0" smtClean="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b="1" dirty="0">
                <a:latin typeface="华文楷体" panose="02010600040101010101" pitchFamily="2" charset="-122"/>
                <a:ea typeface="华文楷体" panose="02010600040101010101" pitchFamily="2" charset="-122"/>
              </a:rPr>
              <a:t>	</a:t>
            </a:r>
            <a:r>
              <a:rPr lang="en-US" altLang="zh-CN" b="1" dirty="0" smtClean="0">
                <a:latin typeface="华文楷体" panose="02010600040101010101" pitchFamily="2" charset="-122"/>
                <a:ea typeface="华文楷体" panose="02010600040101010101" pitchFamily="2" charset="-122"/>
              </a:rPr>
              <a:t>  while</a:t>
            </a:r>
            <a:r>
              <a:rPr lang="en-US" altLang="zh-CN" dirty="0" smtClean="0">
                <a:latin typeface="华文楷体" panose="02010600040101010101" pitchFamily="2" charset="-122"/>
                <a:ea typeface="华文楷体" panose="02010600040101010101" pitchFamily="2" charset="-122"/>
              </a:rPr>
              <a:t>(q-</a:t>
            </a:r>
            <a:r>
              <a:rPr lang="en-US" altLang="zh-CN" dirty="0">
                <a:latin typeface="华文楷体" panose="02010600040101010101" pitchFamily="2" charset="-122"/>
                <a:ea typeface="华文楷体" panose="02010600040101010101" pitchFamily="2" charset="-122"/>
              </a:rPr>
              <a:t>&gt;next!=null &amp;&amp; q-&gt;next-&gt;data&lt;p-&gt;data)</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q=q-</a:t>
            </a:r>
            <a:r>
              <a:rPr lang="en-US" altLang="zh-CN" dirty="0">
                <a:latin typeface="华文楷体" panose="02010600040101010101" pitchFamily="2" charset="-122"/>
                <a:ea typeface="华文楷体" panose="02010600040101010101" pitchFamily="2" charset="-122"/>
              </a:rPr>
              <a:t>&gt;next;</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p-</a:t>
            </a:r>
            <a:r>
              <a:rPr lang="en-US" altLang="zh-CN" dirty="0">
                <a:latin typeface="华文楷体" panose="02010600040101010101" pitchFamily="2" charset="-122"/>
                <a:ea typeface="华文楷体" panose="02010600040101010101" pitchFamily="2" charset="-122"/>
              </a:rPr>
              <a:t>&gt;next=q-&gt;next;∥</a:t>
            </a:r>
            <a:r>
              <a:rPr lang="zh-CN" altLang="en-US" dirty="0">
                <a:latin typeface="华文楷体" panose="02010600040101010101" pitchFamily="2" charset="-122"/>
                <a:ea typeface="华文楷体" panose="02010600040101010101" pitchFamily="2" charset="-122"/>
              </a:rPr>
              <a:t>将当前排序结点链入有序链表中。</a:t>
            </a:r>
            <a:endParaRPr lang="zh-CN" altLang="en-US" dirty="0">
              <a:latin typeface="华文楷体" panose="02010600040101010101" pitchFamily="2" charset="-122"/>
              <a:ea typeface="华文楷体" panose="02010600040101010101" pitchFamily="2" charset="-122"/>
            </a:endParaRPr>
          </a:p>
          <a:p>
            <a:pPr marL="0" indent="0" eaLnBrk="1" hangingPunct="1">
              <a:lnSpc>
                <a:spcPct val="80000"/>
              </a:lnSpc>
              <a:buNone/>
            </a:pPr>
            <a:r>
              <a:rPr lang="zh-CN" altLang="en-US" dirty="0">
                <a:latin typeface="华文楷体" panose="02010600040101010101" pitchFamily="2" charset="-122"/>
                <a:ea typeface="华文楷体" panose="02010600040101010101" pitchFamily="2" charset="-122"/>
              </a:rPr>
              <a:t>                 </a:t>
            </a:r>
            <a:r>
              <a:rPr lang="zh-CN" altLang="en-US" dirty="0" smtClean="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q-</a:t>
            </a:r>
            <a:r>
              <a:rPr lang="en-US" altLang="zh-CN" dirty="0">
                <a:latin typeface="华文楷体" panose="02010600040101010101" pitchFamily="2" charset="-122"/>
                <a:ea typeface="华文楷体" panose="02010600040101010101" pitchFamily="2" charset="-122"/>
              </a:rPr>
              <a:t>&gt;next=p;   </a:t>
            </a:r>
            <a:endParaRPr lang="en-US" altLang="zh-CN" dirty="0" smtClean="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p=r</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指向下个待排序结点。</a:t>
            </a:r>
            <a:endParaRPr lang="zh-CN" altLang="en-US" dirty="0">
              <a:latin typeface="华文楷体" panose="02010600040101010101" pitchFamily="2" charset="-122"/>
              <a:ea typeface="华文楷体" panose="02010600040101010101" pitchFamily="2" charset="-122"/>
            </a:endParaRPr>
          </a:p>
          <a:p>
            <a:pPr marL="0" indent="0" eaLnBrk="1" hangingPunct="1">
              <a:lnSpc>
                <a:spcPct val="80000"/>
              </a:lnSpc>
              <a:buNone/>
            </a:pPr>
            <a:r>
              <a:rPr lang="zh-CN" altLang="en-US"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a:t>
            </a:r>
            <a:endParaRPr lang="en-US" altLang="zh-CN" dirty="0" smtClean="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smtClean="0">
                <a:latin typeface="华文楷体" panose="02010600040101010101" pitchFamily="2" charset="-122"/>
                <a:ea typeface="华文楷体" panose="02010600040101010101" pitchFamily="2" charset="-122"/>
              </a:rPr>
              <a:t> }</a:t>
            </a:r>
            <a:endParaRPr lang="zh-CN" altLang="en-US" dirty="0">
              <a:latin typeface="华文楷体" panose="02010600040101010101" pitchFamily="2"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4710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2B573770-1B0A-4C65-8484-872247E430E6}"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47109"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74083" name="Rectangle 3"/>
          <p:cNvSpPr>
            <a:spLocks noGrp="1" noChangeArrowheads="1"/>
          </p:cNvSpPr>
          <p:nvPr>
            <p:ph type="body" idx="1"/>
          </p:nvPr>
        </p:nvSpPr>
        <p:spPr/>
        <p:txBody>
          <a:bodyPr/>
          <a:lstStyle/>
          <a:p>
            <a:pPr marL="0" indent="0" eaLnBrk="1" hangingPunct="1">
              <a:lnSpc>
                <a:spcPct val="80000"/>
              </a:lnSpc>
              <a:buNone/>
            </a:pPr>
            <a:r>
              <a:rPr lang="zh-CN" altLang="en-US" sz="2000" dirty="0" smtClean="0">
                <a:ea typeface="华文楷体" panose="02010600040101010101" pitchFamily="2" charset="-122"/>
              </a:rPr>
              <a:t>假设一个单循环链表，其结点含有三个域</a:t>
            </a:r>
            <a:r>
              <a:rPr lang="en-US" altLang="zh-CN" sz="2000" dirty="0" err="1" smtClean="0">
                <a:ea typeface="华文楷体" panose="02010600040101010101" pitchFamily="2" charset="-122"/>
              </a:rPr>
              <a:t>prev</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data</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next</a:t>
            </a:r>
            <a:r>
              <a:rPr lang="zh-CN" altLang="en-US" sz="2000" dirty="0" smtClean="0">
                <a:ea typeface="华文楷体" panose="02010600040101010101" pitchFamily="2" charset="-122"/>
              </a:rPr>
              <a:t>。其中</a:t>
            </a:r>
            <a:r>
              <a:rPr lang="en-US" altLang="zh-CN" sz="2000" dirty="0" smtClean="0">
                <a:ea typeface="华文楷体" panose="02010600040101010101" pitchFamily="2" charset="-122"/>
              </a:rPr>
              <a:t>data</a:t>
            </a:r>
            <a:r>
              <a:rPr lang="zh-CN" altLang="en-US" sz="2000" dirty="0" smtClean="0">
                <a:ea typeface="华文楷体" panose="02010600040101010101" pitchFamily="2" charset="-122"/>
              </a:rPr>
              <a:t>为数据域；</a:t>
            </a:r>
            <a:r>
              <a:rPr lang="en-US" altLang="zh-CN" sz="2000" dirty="0" err="1" smtClean="0">
                <a:ea typeface="华文楷体" panose="02010600040101010101" pitchFamily="2" charset="-122"/>
              </a:rPr>
              <a:t>prev</a:t>
            </a:r>
            <a:r>
              <a:rPr lang="zh-CN" altLang="en-US" sz="2000" dirty="0" smtClean="0">
                <a:ea typeface="华文楷体" panose="02010600040101010101" pitchFamily="2" charset="-122"/>
              </a:rPr>
              <a:t>为指针域，它的值为空指针（</a:t>
            </a:r>
            <a:r>
              <a:rPr lang="en-US" altLang="zh-CN" sz="2000" dirty="0" smtClean="0">
                <a:ea typeface="华文楷体" panose="02010600040101010101" pitchFamily="2" charset="-122"/>
              </a:rPr>
              <a:t>Null</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next</a:t>
            </a:r>
            <a:r>
              <a:rPr lang="zh-CN" altLang="en-US" sz="2000" dirty="0" smtClean="0">
                <a:ea typeface="华文楷体" panose="02010600040101010101" pitchFamily="2" charset="-122"/>
              </a:rPr>
              <a:t>为指针域，它指向后继结点。请设计算法，将此表改成双向循环链表。要求时间复杂度为</a:t>
            </a:r>
            <a:r>
              <a:rPr lang="en-US" altLang="zh-CN" sz="2000" dirty="0" smtClean="0">
                <a:ea typeface="华文楷体" panose="02010600040101010101" pitchFamily="2" charset="-122"/>
              </a:rPr>
              <a:t>O(n)</a:t>
            </a:r>
            <a:endParaRPr lang="en-US" altLang="zh-CN" sz="2000" dirty="0" smtClean="0">
              <a:ea typeface="华文楷体" panose="02010600040101010101" pitchFamily="2" charset="-122"/>
            </a:endParaRPr>
          </a:p>
        </p:txBody>
      </p:sp>
      <p:sp>
        <p:nvSpPr>
          <p:cNvPr id="3" name="文本框 2"/>
          <p:cNvSpPr txBox="1"/>
          <p:nvPr/>
        </p:nvSpPr>
        <p:spPr>
          <a:xfrm>
            <a:off x="1475656" y="2406682"/>
            <a:ext cx="5976664" cy="2363724"/>
          </a:xfrm>
          <a:prstGeom prst="rect">
            <a:avLst/>
          </a:prstGeom>
          <a:noFill/>
          <a:ln>
            <a:solidFill>
              <a:srgbClr val="99FF66"/>
            </a:solidFill>
          </a:ln>
        </p:spPr>
        <p:txBody>
          <a:bodyPr wrap="square" rtlCol="0">
            <a:spAutoFit/>
          </a:bodyPr>
          <a:lstStyle/>
          <a:p>
            <a:pPr marL="0" indent="0" eaLnBrk="1" hangingPunct="1">
              <a:lnSpc>
                <a:spcPct val="80000"/>
              </a:lnSpc>
              <a:buNone/>
            </a:pPr>
            <a:r>
              <a:rPr lang="en-US" altLang="zh-CN" b="1" dirty="0">
                <a:latin typeface="华文楷体" panose="02010600040101010101" pitchFamily="2" charset="-122"/>
                <a:ea typeface="华文楷体" panose="02010600040101010101" pitchFamily="2" charset="-122"/>
              </a:rPr>
              <a:t>void</a:t>
            </a:r>
            <a:r>
              <a:rPr lang="en-US" altLang="zh-CN" dirty="0">
                <a:latin typeface="华文楷体" panose="02010600040101010101" pitchFamily="2" charset="-122"/>
                <a:ea typeface="华文楷体" panose="02010600040101010101" pitchFamily="2" charset="-122"/>
              </a:rPr>
              <a:t>  </a:t>
            </a:r>
            <a:r>
              <a:rPr lang="en-US" altLang="zh-CN" dirty="0" err="1">
                <a:latin typeface="华文楷体" panose="02010600040101010101" pitchFamily="2" charset="-122"/>
                <a:ea typeface="华文楷体" panose="02010600040101010101" pitchFamily="2" charset="-122"/>
              </a:rPr>
              <a:t>StoDouble</a:t>
            </a:r>
            <a:r>
              <a:rPr lang="zh-CN" altLang="en-US" dirty="0">
                <a:latin typeface="华文楷体" panose="02010600040101010101" pitchFamily="2" charset="-122"/>
                <a:ea typeface="华文楷体" panose="02010600040101010101" pitchFamily="2" charset="-122"/>
              </a:rPr>
              <a:t>（</a:t>
            </a:r>
            <a:r>
              <a:rPr lang="en-US" altLang="zh-CN" dirty="0" smtClean="0">
                <a:latin typeface="华文楷体" panose="02010600040101010101" pitchFamily="2" charset="-122"/>
                <a:ea typeface="华文楷体" panose="02010600040101010101" pitchFamily="2" charset="-122"/>
              </a:rPr>
              <a:t>List </a:t>
            </a:r>
            <a:r>
              <a:rPr lang="en-US" altLang="zh-CN" dirty="0">
                <a:latin typeface="华文楷体" panose="02010600040101010101" pitchFamily="2" charset="-122"/>
                <a:ea typeface="华文楷体" panose="02010600040101010101" pitchFamily="2" charset="-122"/>
              </a:rPr>
              <a:t>la</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link p=la;</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b="1" dirty="0">
                <a:latin typeface="华文楷体" panose="02010600040101010101" pitchFamily="2" charset="-122"/>
                <a:ea typeface="华文楷体" panose="02010600040101010101" pitchFamily="2" charset="-122"/>
              </a:rPr>
              <a:t>       while</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p-&gt;next-&gt;</a:t>
            </a:r>
            <a:r>
              <a:rPr lang="en-US" altLang="zh-CN" dirty="0" err="1">
                <a:latin typeface="华文楷体" panose="02010600040101010101" pitchFamily="2" charset="-122"/>
                <a:ea typeface="华文楷体" panose="02010600040101010101" pitchFamily="2" charset="-122"/>
              </a:rPr>
              <a:t>prev</a:t>
            </a:r>
            <a:r>
              <a:rPr lang="en-US" altLang="zh-CN" dirty="0">
                <a:latin typeface="华文楷体" panose="02010600040101010101" pitchFamily="2" charset="-122"/>
                <a:ea typeface="华文楷体" panose="02010600040101010101" pitchFamily="2" charset="-122"/>
              </a:rPr>
              <a:t>==NULL</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a:p>
            <a:pPr marL="0" indent="0" eaLnBrk="1" hangingPunct="1">
              <a:lnSpc>
                <a:spcPct val="80000"/>
              </a:lnSpc>
              <a:buNone/>
            </a:pP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    </a:t>
            </a:r>
            <a:endParaRPr lang="en-US" altLang="zh-CN" dirty="0" smtClean="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p-</a:t>
            </a:r>
            <a:r>
              <a:rPr lang="en-US" altLang="zh-CN" dirty="0">
                <a:latin typeface="华文楷体" panose="02010600040101010101" pitchFamily="2" charset="-122"/>
                <a:ea typeface="华文楷体" panose="02010600040101010101" pitchFamily="2" charset="-122"/>
              </a:rPr>
              <a:t>&gt;next-&gt;pre=la</a:t>
            </a:r>
            <a:r>
              <a:rPr lang="zh-CN" altLang="en-US"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a:t>
            </a:r>
            <a:r>
              <a:rPr lang="zh-CN" altLang="en-US" dirty="0" smtClean="0">
                <a:latin typeface="华文楷体" panose="02010600040101010101" pitchFamily="2" charset="-122"/>
                <a:ea typeface="华文楷体" panose="02010600040101010101" pitchFamily="2" charset="-122"/>
              </a:rPr>
              <a:t>将</a:t>
            </a:r>
            <a:r>
              <a:rPr lang="zh-CN" altLang="en-US" dirty="0">
                <a:latin typeface="华文楷体" panose="02010600040101010101" pitchFamily="2" charset="-122"/>
                <a:ea typeface="华文楷体" panose="02010600040101010101" pitchFamily="2" charset="-122"/>
              </a:rPr>
              <a:t>结点</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后继的</a:t>
            </a:r>
            <a:r>
              <a:rPr lang="en-US" altLang="zh-CN" dirty="0" err="1">
                <a:latin typeface="华文楷体" panose="02010600040101010101" pitchFamily="2" charset="-122"/>
                <a:ea typeface="华文楷体" panose="02010600040101010101" pitchFamily="2" charset="-122"/>
              </a:rPr>
              <a:t>prev</a:t>
            </a:r>
            <a:r>
              <a:rPr lang="zh-CN" altLang="en-US" dirty="0">
                <a:latin typeface="华文楷体" panose="02010600040101010101" pitchFamily="2" charset="-122"/>
                <a:ea typeface="华文楷体" panose="02010600040101010101" pitchFamily="2" charset="-122"/>
              </a:rPr>
              <a:t>指针指向</a:t>
            </a:r>
            <a:r>
              <a:rPr lang="en-US" altLang="zh-CN" dirty="0" smtClean="0">
                <a:latin typeface="华文楷体" panose="02010600040101010101" pitchFamily="2" charset="-122"/>
                <a:ea typeface="华文楷体" panose="02010600040101010101" pitchFamily="2" charset="-122"/>
              </a:rPr>
              <a:t>p;</a:t>
            </a:r>
            <a:endParaRPr lang="zh-CN" altLang="en-US" dirty="0">
              <a:latin typeface="华文楷体" panose="02010600040101010101" pitchFamily="2" charset="-122"/>
              <a:ea typeface="华文楷体" panose="02010600040101010101" pitchFamily="2" charset="-122"/>
            </a:endParaRPr>
          </a:p>
          <a:p>
            <a:pPr marL="0" indent="0" eaLnBrk="1" hangingPunct="1">
              <a:lnSpc>
                <a:spcPct val="80000"/>
              </a:lnSpc>
              <a:buNone/>
            </a:pP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p=p-&gt;next</a:t>
            </a:r>
            <a:r>
              <a:rPr lang="zh-CN" altLang="en-US" dirty="0">
                <a:latin typeface="华文楷体" panose="02010600040101010101" pitchFamily="2" charset="-122"/>
                <a:ea typeface="华文楷体" panose="02010600040101010101" pitchFamily="2" charset="-122"/>
              </a:rPr>
              <a:t>；      </a:t>
            </a:r>
            <a:r>
              <a:rPr lang="zh-CN" altLang="en-US" dirty="0" smtClean="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//la</a:t>
            </a:r>
            <a:r>
              <a:rPr lang="zh-CN" altLang="en-US" dirty="0">
                <a:latin typeface="华文楷体" panose="02010600040101010101" pitchFamily="2" charset="-122"/>
                <a:ea typeface="华文楷体" panose="02010600040101010101" pitchFamily="2" charset="-122"/>
              </a:rPr>
              <a:t>指针后</a:t>
            </a:r>
            <a:r>
              <a:rPr lang="zh-CN" altLang="en-US" dirty="0" smtClean="0">
                <a:latin typeface="华文楷体" panose="02010600040101010101" pitchFamily="2" charset="-122"/>
                <a:ea typeface="华文楷体" panose="02010600040101010101" pitchFamily="2" charset="-122"/>
              </a:rPr>
              <a:t>移</a:t>
            </a:r>
            <a:r>
              <a:rPr lang="en-US" altLang="zh-CN" dirty="0" smtClean="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a:p>
            <a:pPr marL="0" indent="0" eaLnBrk="1" hangingPunct="1">
              <a:lnSpc>
                <a:spcPct val="80000"/>
              </a:lnSpc>
              <a:buNone/>
            </a:pP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0" indent="0" eaLnBrk="1" hangingPunct="1">
              <a:lnSpc>
                <a:spcPct val="80000"/>
              </a:lnSpc>
              <a:buNone/>
            </a:pPr>
            <a:r>
              <a:rPr lang="en-US" altLang="zh-CN" dirty="0">
                <a:latin typeface="华文楷体" panose="02010600040101010101" pitchFamily="2" charset="-122"/>
                <a:ea typeface="华文楷体" panose="02010600040101010101" pitchFamily="2" charset="-122"/>
              </a:rPr>
              <a:t> } </a:t>
            </a:r>
            <a:endParaRPr lang="en-US" altLang="zh-CN" dirty="0">
              <a:latin typeface="华文楷体" panose="02010600040101010101" pitchFamily="2" charset="-122"/>
              <a:ea typeface="华文楷体" panose="02010600040101010101" pitchFamily="2" charset="-122"/>
            </a:endParaRPr>
          </a:p>
          <a:p>
            <a:endParaRPr lang="zh-CN" altLang="en-US" dirty="0">
              <a:latin typeface="华文楷体" panose="02010600040101010101" pitchFamily="2"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4813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2335C978-AD20-406D-A8D6-AC84DC4887EF}"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48133"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75107" name="Rectangle 3"/>
          <p:cNvSpPr>
            <a:spLocks noGrp="1" noChangeArrowheads="1"/>
          </p:cNvSpPr>
          <p:nvPr>
            <p:ph type="body" idx="1"/>
          </p:nvPr>
        </p:nvSpPr>
        <p:spPr/>
        <p:txBody>
          <a:bodyPr/>
          <a:lstStyle/>
          <a:p>
            <a:pPr marL="0" indent="0" eaLnBrk="1" hangingPunct="1">
              <a:lnSpc>
                <a:spcPct val="80000"/>
              </a:lnSpc>
              <a:buNone/>
            </a:pPr>
            <a:r>
              <a:rPr lang="zh-CN" altLang="en-US" sz="1600" dirty="0" smtClean="0">
                <a:ea typeface="华文楷体" panose="02010600040101010101" pitchFamily="2" charset="-122"/>
              </a:rPr>
              <a:t>编写一个算法来交换单链表中指针</a:t>
            </a:r>
            <a:r>
              <a:rPr lang="en-US" altLang="zh-CN" sz="1600" dirty="0" smtClean="0">
                <a:ea typeface="华文楷体" panose="02010600040101010101" pitchFamily="2" charset="-122"/>
              </a:rPr>
              <a:t>P</a:t>
            </a:r>
            <a:r>
              <a:rPr lang="zh-CN" altLang="en-US" sz="1600" dirty="0" smtClean="0">
                <a:ea typeface="华文楷体" panose="02010600040101010101" pitchFamily="2" charset="-122"/>
              </a:rPr>
              <a:t>所指结点与其后继结点，</a:t>
            </a:r>
            <a:r>
              <a:rPr lang="en-US" altLang="zh-CN" sz="1600" dirty="0" smtClean="0">
                <a:ea typeface="华文楷体" panose="02010600040101010101" pitchFamily="2" charset="-122"/>
              </a:rPr>
              <a:t>head</a:t>
            </a:r>
            <a:r>
              <a:rPr lang="zh-CN" altLang="en-US" sz="1600" dirty="0" smtClean="0">
                <a:ea typeface="华文楷体" panose="02010600040101010101" pitchFamily="2" charset="-122"/>
              </a:rPr>
              <a:t>是该链表的头指针，</a:t>
            </a:r>
            <a:r>
              <a:rPr lang="en-US" altLang="zh-CN" sz="1600" dirty="0" smtClean="0">
                <a:ea typeface="华文楷体" panose="02010600040101010101" pitchFamily="2" charset="-122"/>
              </a:rPr>
              <a:t>P</a:t>
            </a:r>
            <a:r>
              <a:rPr lang="zh-CN" altLang="en-US" sz="1600" dirty="0" smtClean="0">
                <a:ea typeface="华文楷体" panose="02010600040101010101" pitchFamily="2" charset="-122"/>
              </a:rPr>
              <a:t>指向该链表中某一结点。</a:t>
            </a:r>
            <a:endParaRPr lang="zh-CN" altLang="en-US" sz="1600" dirty="0" smtClean="0">
              <a:ea typeface="华文楷体" panose="02010600040101010101" pitchFamily="2" charset="-122"/>
            </a:endParaRPr>
          </a:p>
        </p:txBody>
      </p:sp>
      <p:sp>
        <p:nvSpPr>
          <p:cNvPr id="2" name="文本框 1"/>
          <p:cNvSpPr txBox="1"/>
          <p:nvPr/>
        </p:nvSpPr>
        <p:spPr>
          <a:xfrm>
            <a:off x="971600" y="1700808"/>
            <a:ext cx="8064896" cy="4801314"/>
          </a:xfrm>
          <a:prstGeom prst="rect">
            <a:avLst/>
          </a:prstGeom>
          <a:noFill/>
          <a:ln>
            <a:solidFill>
              <a:srgbClr val="99FF66"/>
            </a:solidFill>
          </a:ln>
        </p:spPr>
        <p:txBody>
          <a:bodyPr wrap="square" rtlCol="0">
            <a:spAutoFit/>
          </a:bodyPr>
          <a:lstStyle/>
          <a:p>
            <a:pPr eaLnBrk="1" hangingPunct="1">
              <a:lnSpc>
                <a:spcPct val="80000"/>
              </a:lnSpc>
            </a:pPr>
            <a:r>
              <a:rPr lang="en-US" altLang="zh-CN" dirty="0" err="1">
                <a:latin typeface="华文楷体" panose="02010600040101010101" pitchFamily="2" charset="-122"/>
                <a:ea typeface="华文楷体" panose="02010600040101010101" pitchFamily="2" charset="-122"/>
              </a:rPr>
              <a:t>LinkedList</a:t>
            </a:r>
            <a:r>
              <a:rPr lang="en-US" altLang="zh-CN" dirty="0">
                <a:latin typeface="华文楷体" panose="02010600040101010101" pitchFamily="2" charset="-122"/>
                <a:ea typeface="华文楷体" panose="02010600040101010101" pitchFamily="2" charset="-122"/>
              </a:rPr>
              <a:t> Exchange</a:t>
            </a:r>
            <a:r>
              <a:rPr lang="zh-CN" altLang="en-US" dirty="0">
                <a:latin typeface="华文楷体" panose="02010600040101010101" pitchFamily="2" charset="-122"/>
                <a:ea typeface="华文楷体" panose="02010600040101010101" pitchFamily="2" charset="-122"/>
              </a:rPr>
              <a:t>（</a:t>
            </a:r>
            <a:r>
              <a:rPr lang="en-US" altLang="zh-CN" dirty="0" err="1">
                <a:latin typeface="华文楷体" panose="02010600040101010101" pitchFamily="2" charset="-122"/>
                <a:ea typeface="华文楷体" panose="02010600040101010101" pitchFamily="2" charset="-122"/>
              </a:rPr>
              <a:t>LinkedList</a:t>
            </a:r>
            <a:r>
              <a:rPr lang="en-US" altLang="zh-CN" dirty="0">
                <a:latin typeface="华文楷体" panose="02010600040101010101" pitchFamily="2" charset="-122"/>
                <a:ea typeface="华文楷体" panose="02010600040101010101" pitchFamily="2" charset="-122"/>
              </a:rPr>
              <a:t> head</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a:p>
            <a:pPr eaLnBrk="1" hangingPunct="1">
              <a:lnSpc>
                <a:spcPct val="80000"/>
              </a:lnSpc>
            </a:pP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q=head-&gt;next</a:t>
            </a: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q</a:t>
            </a:r>
            <a:r>
              <a:rPr lang="zh-CN" altLang="en-US" dirty="0">
                <a:latin typeface="华文楷体" panose="02010600040101010101" pitchFamily="2" charset="-122"/>
                <a:ea typeface="华文楷体" panose="02010600040101010101" pitchFamily="2" charset="-122"/>
              </a:rPr>
              <a:t>是工作指针，指向链表中当前待处理结点。</a:t>
            </a:r>
            <a:endParaRPr lang="zh-CN" altLang="en-US" dirty="0">
              <a:latin typeface="华文楷体" panose="02010600040101010101" pitchFamily="2" charset="-122"/>
              <a:ea typeface="华文楷体" panose="02010600040101010101" pitchFamily="2" charset="-122"/>
            </a:endParaRPr>
          </a:p>
          <a:p>
            <a:pPr eaLnBrk="1" hangingPunct="1">
              <a:lnSpc>
                <a:spcPct val="80000"/>
              </a:lnSpc>
            </a:pP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pre=head</a:t>
            </a: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pre</a:t>
            </a:r>
            <a:r>
              <a:rPr lang="zh-CN" altLang="en-US" dirty="0">
                <a:latin typeface="华文楷体" panose="02010600040101010101" pitchFamily="2" charset="-122"/>
                <a:ea typeface="华文楷体" panose="02010600040101010101" pitchFamily="2" charset="-122"/>
              </a:rPr>
              <a:t>是前驱结点指针，指向</a:t>
            </a:r>
            <a:r>
              <a:rPr lang="en-US" altLang="zh-CN" dirty="0">
                <a:latin typeface="华文楷体" panose="02010600040101010101" pitchFamily="2" charset="-122"/>
                <a:ea typeface="华文楷体" panose="02010600040101010101" pitchFamily="2" charset="-122"/>
              </a:rPr>
              <a:t>q</a:t>
            </a:r>
            <a:r>
              <a:rPr lang="zh-CN" altLang="en-US" dirty="0">
                <a:latin typeface="华文楷体" panose="02010600040101010101" pitchFamily="2" charset="-122"/>
                <a:ea typeface="华文楷体" panose="02010600040101010101" pitchFamily="2" charset="-122"/>
              </a:rPr>
              <a:t>的前驱。</a:t>
            </a:r>
            <a:endParaRPr lang="zh-CN" altLang="en-US" dirty="0">
              <a:latin typeface="华文楷体" panose="02010600040101010101" pitchFamily="2" charset="-122"/>
              <a:ea typeface="华文楷体" panose="02010600040101010101" pitchFamily="2" charset="-122"/>
            </a:endParaRPr>
          </a:p>
          <a:p>
            <a:pPr eaLnBrk="1" hangingPunct="1">
              <a:lnSpc>
                <a:spcPct val="80000"/>
              </a:lnSpc>
            </a:pPr>
            <a:r>
              <a:rPr lang="zh-CN" altLang="en-US" dirty="0">
                <a:latin typeface="华文楷体" panose="02010600040101010101" pitchFamily="2" charset="-122"/>
                <a:ea typeface="华文楷体" panose="02010600040101010101" pitchFamily="2" charset="-122"/>
              </a:rPr>
              <a:t>         </a:t>
            </a:r>
            <a:r>
              <a:rPr lang="en-US" altLang="zh-CN" b="1" dirty="0">
                <a:latin typeface="华文楷体" panose="02010600040101010101" pitchFamily="2" charset="-122"/>
                <a:ea typeface="华文楷体" panose="02010600040101010101" pitchFamily="2" charset="-122"/>
              </a:rPr>
              <a:t>while</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q!=null &amp;&amp; q!=p</a:t>
            </a:r>
            <a:r>
              <a:rPr lang="zh-CN" altLang="en-US" dirty="0" smtClean="0">
                <a:latin typeface="华文楷体" panose="02010600040101010101" pitchFamily="2" charset="-122"/>
                <a:ea typeface="华文楷体" panose="02010600040101010101" pitchFamily="2" charset="-122"/>
              </a:rPr>
              <a:t>）</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pre=q</a:t>
            </a:r>
            <a:r>
              <a:rPr lang="zh-CN" altLang="en-US" dirty="0" smtClean="0">
                <a:latin typeface="华文楷体" panose="02010600040101010101" pitchFamily="2" charset="-122"/>
                <a:ea typeface="华文楷体" panose="02010600040101010101" pitchFamily="2" charset="-122"/>
              </a:rPr>
              <a:t>；</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q=q-</a:t>
            </a:r>
            <a:r>
              <a:rPr lang="en-US" altLang="zh-CN" dirty="0">
                <a:latin typeface="华文楷体" panose="02010600040101010101" pitchFamily="2" charset="-122"/>
                <a:ea typeface="华文楷体" panose="02010600040101010101" pitchFamily="2" charset="-122"/>
              </a:rPr>
              <a:t>&gt;next</a:t>
            </a:r>
            <a:r>
              <a:rPr lang="zh-CN" altLang="en-US" dirty="0" smtClean="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a:t>
            </a:r>
            <a:r>
              <a:rPr lang="zh-CN" altLang="en-US" dirty="0" smtClean="0">
                <a:latin typeface="华文楷体" panose="02010600040101010101" pitchFamily="2" charset="-122"/>
                <a:ea typeface="华文楷体" panose="02010600040101010101" pitchFamily="2" charset="-122"/>
              </a:rPr>
              <a:t>未</a:t>
            </a:r>
            <a:r>
              <a:rPr lang="zh-CN" altLang="en-US" dirty="0">
                <a:latin typeface="华文楷体" panose="02010600040101010101" pitchFamily="2" charset="-122"/>
                <a:ea typeface="华文楷体" panose="02010600040101010101" pitchFamily="2" charset="-122"/>
              </a:rPr>
              <a:t>找到</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结点，后移指针</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 </a:t>
            </a:r>
            <a:endParaRPr lang="zh-CN" altLang="en-US" dirty="0">
              <a:latin typeface="华文楷体" panose="02010600040101010101" pitchFamily="2" charset="-122"/>
              <a:ea typeface="华文楷体" panose="02010600040101010101" pitchFamily="2" charset="-122"/>
            </a:endParaRPr>
          </a:p>
          <a:p>
            <a:pPr eaLnBrk="1" hangingPunct="1">
              <a:lnSpc>
                <a:spcPct val="80000"/>
              </a:lnSpc>
            </a:pPr>
            <a:r>
              <a:rPr lang="zh-CN" altLang="en-US" dirty="0">
                <a:latin typeface="华文楷体" panose="02010600040101010101" pitchFamily="2" charset="-122"/>
                <a:ea typeface="华文楷体" panose="02010600040101010101" pitchFamily="2" charset="-122"/>
              </a:rPr>
              <a:t>        </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b="1" dirty="0">
                <a:latin typeface="华文楷体" panose="02010600040101010101" pitchFamily="2" charset="-122"/>
                <a:ea typeface="华文楷体" panose="02010600040101010101" pitchFamily="2" charset="-122"/>
              </a:rPr>
              <a:t> </a:t>
            </a:r>
            <a:r>
              <a:rPr lang="en-US" altLang="zh-CN" b="1" dirty="0" smtClean="0">
                <a:latin typeface="华文楷体" panose="02010600040101010101" pitchFamily="2" charset="-122"/>
                <a:ea typeface="华文楷体" panose="02010600040101010101" pitchFamily="2" charset="-122"/>
              </a:rPr>
              <a:t>       if</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p-&gt;next==null</a:t>
            </a:r>
            <a:r>
              <a:rPr lang="zh-CN" altLang="en-US" dirty="0" smtClean="0">
                <a:latin typeface="华文楷体" panose="02010600040101010101" pitchFamily="2" charset="-122"/>
                <a:ea typeface="华文楷体" panose="02010600040101010101" pitchFamily="2" charset="-122"/>
              </a:rPr>
              <a:t>）</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a:t>
            </a:r>
            <a:r>
              <a:rPr lang="en-US" altLang="zh-CN" dirty="0" err="1" smtClean="0">
                <a:latin typeface="华文楷体" panose="02010600040101010101" pitchFamily="2" charset="-122"/>
                <a:ea typeface="华文楷体" panose="02010600040101010101" pitchFamily="2" charset="-122"/>
              </a:rPr>
              <a:t>printf</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无后继结点</a:t>
            </a:r>
            <a:r>
              <a:rPr lang="en-US" altLang="zh-CN" dirty="0">
                <a:latin typeface="华文楷体" panose="02010600040101010101" pitchFamily="2" charset="-122"/>
                <a:ea typeface="华文楷体" panose="02010600040101010101" pitchFamily="2" charset="-122"/>
              </a:rPr>
              <a:t>\n”</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//p</a:t>
            </a:r>
            <a:r>
              <a:rPr lang="zh-CN" altLang="en-US" dirty="0" smtClean="0">
                <a:latin typeface="华文楷体" panose="02010600040101010101" pitchFamily="2" charset="-122"/>
                <a:ea typeface="华文楷体" panose="02010600040101010101" pitchFamily="2" charset="-122"/>
              </a:rPr>
              <a:t>是最后</a:t>
            </a:r>
            <a:r>
              <a:rPr lang="zh-CN" altLang="en-US" dirty="0">
                <a:latin typeface="华文楷体" panose="02010600040101010101" pitchFamily="2" charset="-122"/>
                <a:ea typeface="华文楷体" panose="02010600040101010101" pitchFamily="2" charset="-122"/>
              </a:rPr>
              <a:t>一个结点，无后继。</a:t>
            </a:r>
            <a:endParaRPr lang="zh-CN" altLang="en-US" dirty="0">
              <a:latin typeface="华文楷体" panose="02010600040101010101" pitchFamily="2" charset="-122"/>
              <a:ea typeface="华文楷体" panose="02010600040101010101" pitchFamily="2" charset="-122"/>
            </a:endParaRPr>
          </a:p>
          <a:p>
            <a:pPr eaLnBrk="1" hangingPunct="1">
              <a:lnSpc>
                <a:spcPct val="80000"/>
              </a:lnSpc>
            </a:pPr>
            <a:r>
              <a:rPr lang="zh-CN" altLang="en-US" dirty="0">
                <a:latin typeface="华文楷体" panose="02010600040101010101" pitchFamily="2" charset="-122"/>
                <a:ea typeface="华文楷体" panose="02010600040101010101" pitchFamily="2" charset="-122"/>
              </a:rPr>
              <a:t>       </a:t>
            </a:r>
            <a:r>
              <a:rPr lang="zh-CN" altLang="en-US" dirty="0" smtClean="0">
                <a:latin typeface="华文楷体" panose="02010600040101010101" pitchFamily="2" charset="-122"/>
                <a:ea typeface="华文楷体" panose="02010600040101010101" pitchFamily="2" charset="-122"/>
              </a:rPr>
              <a:t> </a:t>
            </a:r>
            <a:r>
              <a:rPr lang="en-US" altLang="zh-CN" b="1" dirty="0" smtClean="0">
                <a:latin typeface="华文楷体" panose="02010600040101010101" pitchFamily="2" charset="-122"/>
                <a:ea typeface="华文楷体" panose="02010600040101010101" pitchFamily="2" charset="-122"/>
              </a:rPr>
              <a:t>else</a:t>
            </a:r>
            <a:r>
              <a:rPr lang="zh-CN" altLang="en-US" dirty="0" smtClean="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a:t>
            </a:r>
            <a:r>
              <a:rPr lang="zh-CN" altLang="en-US" dirty="0" smtClean="0">
                <a:latin typeface="华文楷体" panose="02010600040101010101" pitchFamily="2" charset="-122"/>
                <a:ea typeface="华文楷体" panose="02010600040101010101" pitchFamily="2" charset="-122"/>
              </a:rPr>
              <a:t>处理</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和后继结点交换</a:t>
            </a:r>
            <a:endParaRPr lang="zh-CN" altLang="en-US" dirty="0">
              <a:latin typeface="华文楷体" panose="02010600040101010101" pitchFamily="2" charset="-122"/>
              <a:ea typeface="华文楷体" panose="02010600040101010101" pitchFamily="2" charset="-122"/>
            </a:endParaRPr>
          </a:p>
          <a:p>
            <a:pPr eaLnBrk="1" hangingPunct="1">
              <a:lnSpc>
                <a:spcPct val="80000"/>
              </a:lnSpc>
            </a:pPr>
            <a:r>
              <a:rPr lang="zh-CN" altLang="en-US"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a:t>
            </a:r>
            <a:endParaRPr lang="en-US" altLang="zh-CN" dirty="0" smtClean="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           q=p-</a:t>
            </a:r>
            <a:r>
              <a:rPr lang="en-US" altLang="zh-CN" dirty="0">
                <a:latin typeface="华文楷体" panose="02010600040101010101" pitchFamily="2" charset="-122"/>
                <a:ea typeface="华文楷体" panose="02010600040101010101" pitchFamily="2" charset="-122"/>
              </a:rPr>
              <a:t>&gt;next</a:t>
            </a:r>
            <a:r>
              <a:rPr lang="zh-CN" altLang="en-US" dirty="0">
                <a:latin typeface="华文楷体" panose="02010600040101010101" pitchFamily="2" charset="-122"/>
                <a:ea typeface="华文楷体" panose="02010600040101010101" pitchFamily="2" charset="-122"/>
              </a:rPr>
              <a:t>；      ∥暂存</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的后继。</a:t>
            </a:r>
            <a:endParaRPr lang="zh-CN" altLang="en-US" dirty="0">
              <a:latin typeface="华文楷体" panose="02010600040101010101" pitchFamily="2" charset="-122"/>
              <a:ea typeface="华文楷体" panose="02010600040101010101" pitchFamily="2" charset="-122"/>
            </a:endParaRPr>
          </a:p>
          <a:p>
            <a:pPr eaLnBrk="1" hangingPunct="1">
              <a:lnSpc>
                <a:spcPct val="80000"/>
              </a:lnSpc>
            </a:pPr>
            <a:r>
              <a:rPr lang="zh-CN" altLang="en-US" dirty="0">
                <a:latin typeface="华文楷体" panose="02010600040101010101" pitchFamily="2" charset="-122"/>
                <a:ea typeface="华文楷体" panose="02010600040101010101" pitchFamily="2" charset="-122"/>
              </a:rPr>
              <a:t>         </a:t>
            </a:r>
            <a:r>
              <a:rPr lang="zh-CN" altLang="en-US" dirty="0" smtClean="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pre-</a:t>
            </a:r>
            <a:r>
              <a:rPr lang="en-US" altLang="zh-CN" dirty="0">
                <a:latin typeface="华文楷体" panose="02010600040101010101" pitchFamily="2" charset="-122"/>
                <a:ea typeface="华文楷体" panose="02010600040101010101" pitchFamily="2" charset="-122"/>
              </a:rPr>
              <a:t>&gt;next=q</a:t>
            </a: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前驱结点的后继指向</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的后继。</a:t>
            </a:r>
            <a:endParaRPr lang="zh-CN" altLang="en-US" dirty="0">
              <a:latin typeface="华文楷体" panose="02010600040101010101" pitchFamily="2" charset="-122"/>
              <a:ea typeface="华文楷体" panose="02010600040101010101" pitchFamily="2" charset="-122"/>
            </a:endParaRPr>
          </a:p>
          <a:p>
            <a:pPr eaLnBrk="1" hangingPunct="1">
              <a:lnSpc>
                <a:spcPct val="80000"/>
              </a:lnSpc>
            </a:pPr>
            <a:r>
              <a:rPr lang="zh-CN" altLang="en-US" dirty="0">
                <a:latin typeface="华文楷体" panose="02010600040101010101" pitchFamily="2" charset="-122"/>
                <a:ea typeface="华文楷体" panose="02010600040101010101" pitchFamily="2" charset="-122"/>
              </a:rPr>
              <a:t>         </a:t>
            </a:r>
            <a:r>
              <a:rPr lang="zh-CN" altLang="en-US" dirty="0" smtClean="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p-&gt;</a:t>
            </a:r>
            <a:r>
              <a:rPr lang="en-US" altLang="zh-CN" dirty="0">
                <a:latin typeface="华文楷体" panose="02010600040101010101" pitchFamily="2" charset="-122"/>
                <a:ea typeface="华文楷体" panose="02010600040101010101" pitchFamily="2" charset="-122"/>
              </a:rPr>
              <a:t>next=q-&gt;next</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的后继指向原</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后继的后继。</a:t>
            </a:r>
            <a:endParaRPr lang="zh-CN" altLang="en-US" dirty="0">
              <a:latin typeface="华文楷体" panose="02010600040101010101" pitchFamily="2" charset="-122"/>
              <a:ea typeface="华文楷体" panose="02010600040101010101" pitchFamily="2" charset="-122"/>
            </a:endParaRPr>
          </a:p>
          <a:p>
            <a:pPr eaLnBrk="1" hangingPunct="1">
              <a:lnSpc>
                <a:spcPct val="80000"/>
              </a:lnSpc>
            </a:pPr>
            <a:r>
              <a:rPr lang="zh-CN" altLang="en-US" dirty="0">
                <a:latin typeface="华文楷体" panose="02010600040101010101" pitchFamily="2" charset="-122"/>
                <a:ea typeface="华文楷体" panose="02010600040101010101" pitchFamily="2" charset="-122"/>
              </a:rPr>
              <a:t>         </a:t>
            </a:r>
            <a:r>
              <a:rPr lang="zh-CN" altLang="en-US" dirty="0" smtClean="0">
                <a:latin typeface="华文楷体" panose="02010600040101010101" pitchFamily="2" charset="-122"/>
                <a:ea typeface="华文楷体" panose="02010600040101010101" pitchFamily="2" charset="-122"/>
              </a:rPr>
              <a:t>   </a:t>
            </a:r>
            <a:r>
              <a:rPr lang="en-US" altLang="zh-CN" dirty="0" smtClean="0">
                <a:latin typeface="华文楷体" panose="02010600040101010101" pitchFamily="2" charset="-122"/>
                <a:ea typeface="华文楷体" panose="02010600040101010101" pitchFamily="2" charset="-122"/>
              </a:rPr>
              <a:t>q-</a:t>
            </a:r>
            <a:r>
              <a:rPr lang="en-US" altLang="zh-CN" dirty="0">
                <a:latin typeface="华文楷体" panose="02010600040101010101" pitchFamily="2" charset="-122"/>
                <a:ea typeface="华文楷体" panose="02010600040101010101" pitchFamily="2" charset="-122"/>
              </a:rPr>
              <a:t>&gt;next=p      </a:t>
            </a:r>
            <a:r>
              <a:rPr lang="zh-CN" altLang="en-US" dirty="0">
                <a:latin typeface="华文楷体" panose="02010600040101010101" pitchFamily="2" charset="-122"/>
                <a:ea typeface="华文楷体" panose="02010600040101010101" pitchFamily="2" charset="-122"/>
              </a:rPr>
              <a:t>；∥原</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后继的后继指针指向</a:t>
            </a:r>
            <a:r>
              <a:rPr lang="en-US" altLang="zh-CN" dirty="0">
                <a:latin typeface="华文楷体" panose="02010600040101010101" pitchFamily="2" charset="-122"/>
                <a:ea typeface="华文楷体" panose="02010600040101010101" pitchFamily="2" charset="-122"/>
              </a:rPr>
              <a:t>p</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a:p>
            <a:pPr eaLnBrk="1" hangingPunct="1">
              <a:lnSpc>
                <a:spcPct val="80000"/>
              </a:lnSpc>
            </a:pP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eaLnBrk="1" hangingPunct="1">
              <a:lnSpc>
                <a:spcPct val="80000"/>
              </a:lnSpc>
            </a:pPr>
            <a:r>
              <a:rPr lang="en-US" altLang="zh-CN"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endParaRPr lang="zh-CN" altLang="en-US" dirty="0">
              <a:latin typeface="华文楷体" panose="02010600040101010101" pitchFamily="2"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4915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749F52DF-DDD0-4285-8ED5-DC32FD386B67}"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49157" name="Rectangle 2"/>
          <p:cNvSpPr>
            <a:spLocks noGrp="1" noChangeArrowheads="1"/>
          </p:cNvSpPr>
          <p:nvPr>
            <p:ph type="title"/>
          </p:nvPr>
        </p:nvSpPr>
        <p:spPr/>
        <p:txBody>
          <a:bodyPr/>
          <a:lstStyle/>
          <a:p>
            <a:pPr eaLnBrk="1" hangingPunct="1"/>
            <a:r>
              <a:rPr lang="zh-CN" altLang="en-US" sz="2800" dirty="0" smtClean="0">
                <a:ea typeface="华文楷体" panose="02010600040101010101" pitchFamily="2" charset="-122"/>
              </a:rPr>
              <a:t>本章作业</a:t>
            </a:r>
            <a:endParaRPr lang="zh-CN" altLang="en-US" sz="2800" dirty="0" smtClean="0">
              <a:ea typeface="华文楷体" panose="02010600040101010101" pitchFamily="2" charset="-122"/>
            </a:endParaRPr>
          </a:p>
        </p:txBody>
      </p:sp>
      <p:sp>
        <p:nvSpPr>
          <p:cNvPr id="49158" name="Rectangle 3"/>
          <p:cNvSpPr>
            <a:spLocks noGrp="1" noChangeArrowheads="1"/>
          </p:cNvSpPr>
          <p:nvPr>
            <p:ph type="body" idx="1"/>
          </p:nvPr>
        </p:nvSpPr>
        <p:spPr/>
        <p:txBody>
          <a:bodyPr/>
          <a:lstStyle/>
          <a:p>
            <a:pPr eaLnBrk="1" hangingPunct="1">
              <a:lnSpc>
                <a:spcPct val="80000"/>
              </a:lnSpc>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假设有两个按元素值递增次序排列的线性表，均以单链表形式存储。请编写算法将这两个单链表归并为一个按元素值递减次序排列的单链表，并要求利用原来两个单链表的结点存放归并后的单链表。</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节点结构：</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err="1" smtClean="0">
                <a:ea typeface="华文楷体" panose="02010600040101010101" pitchFamily="2" charset="-122"/>
              </a:rPr>
              <a:t>typedef</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struct</a:t>
            </a:r>
            <a:r>
              <a:rPr lang="en-US" altLang="zh-CN" sz="2400" dirty="0" smtClean="0">
                <a:ea typeface="华文楷体" panose="02010600040101010101" pitchFamily="2" charset="-122"/>
              </a:rPr>
              <a:t> node</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int</a:t>
            </a:r>
            <a:r>
              <a:rPr lang="en-US" altLang="zh-CN" sz="2400" dirty="0" smtClean="0">
                <a:ea typeface="华文楷体" panose="02010600040101010101" pitchFamily="2" charset="-122"/>
              </a:rPr>
              <a:t> data;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struct</a:t>
            </a:r>
            <a:r>
              <a:rPr lang="en-US" altLang="zh-CN" sz="2400" dirty="0" smtClean="0">
                <a:ea typeface="华文楷体" panose="02010600040101010101" pitchFamily="2" charset="-122"/>
              </a:rPr>
              <a:t> node *next;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linknode</a:t>
            </a:r>
            <a:r>
              <a:rPr lang="en-US" altLang="zh-CN" sz="2400" dirty="0" smtClean="0">
                <a:ea typeface="华文楷体" panose="02010600040101010101" pitchFamily="2" charset="-122"/>
              </a:rPr>
              <a:t>,*link;</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b="1" dirty="0" smtClean="0">
                <a:ea typeface="华文楷体" panose="02010600040101010101" pitchFamily="2" charset="-122"/>
              </a:rPr>
              <a:t>link Union(link </a:t>
            </a:r>
            <a:r>
              <a:rPr lang="en-US" altLang="zh-CN" sz="2400" b="1" dirty="0" err="1" smtClean="0">
                <a:ea typeface="华文楷体" panose="02010600040101010101" pitchFamily="2" charset="-122"/>
              </a:rPr>
              <a:t>la,lb</a:t>
            </a:r>
            <a:r>
              <a:rPr lang="en-US" altLang="zh-CN" sz="2400" b="1" dirty="0" smtClean="0">
                <a:ea typeface="华文楷体" panose="02010600040101010101" pitchFamily="2" charset="-122"/>
              </a:rPr>
              <a:t>)</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017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5F3CF6BD-5296-49A0-B74E-EA487BFAAD36}"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50181"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0182" name="Rectangle 3"/>
          <p:cNvSpPr>
            <a:spLocks noGrp="1" noChangeArrowheads="1"/>
          </p:cNvSpPr>
          <p:nvPr>
            <p:ph type="body" idx="1"/>
          </p:nvPr>
        </p:nvSpPr>
        <p:spPr/>
        <p:txBody>
          <a:bodyPr/>
          <a:lstStyle/>
          <a:p>
            <a:pPr eaLnBrk="1" hangingPunct="1">
              <a:lnSpc>
                <a:spcPct val="80000"/>
              </a:lnSpc>
            </a:pPr>
            <a:r>
              <a:rPr lang="en-US" altLang="zh-CN" sz="1800" b="1" dirty="0" smtClean="0">
                <a:ea typeface="华文楷体" panose="02010600040101010101" pitchFamily="2" charset="-122"/>
              </a:rPr>
              <a:t>2</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请在下列算法的横线上填入适当的语句。</a:t>
            </a:r>
            <a:endParaRPr lang="zh-CN" altLang="en-US"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err="1" smtClean="0">
                <a:ea typeface="华文楷体" panose="02010600040101010101" pitchFamily="2" charset="-122"/>
              </a:rPr>
              <a:t>typedef</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node</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int</a:t>
            </a:r>
            <a:r>
              <a:rPr lang="en-US" altLang="zh-CN" sz="1800" dirty="0" smtClean="0">
                <a:ea typeface="华文楷体" panose="02010600040101010101" pitchFamily="2" charset="-122"/>
              </a:rPr>
              <a:t> data;  </a:t>
            </a: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node *next;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linknode</a:t>
            </a:r>
            <a:r>
              <a:rPr lang="en-US" altLang="zh-CN" sz="1800" dirty="0" smtClean="0">
                <a:ea typeface="华文楷体" panose="02010600040101010101" pitchFamily="2" charset="-122"/>
              </a:rPr>
              <a:t>,*link;</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bool  inclusion(link </a:t>
            </a:r>
            <a:r>
              <a:rPr lang="en-US" altLang="zh-CN" sz="1800" dirty="0" err="1" smtClean="0">
                <a:ea typeface="华文楷体" panose="02010600040101010101" pitchFamily="2" charset="-122"/>
              </a:rPr>
              <a:t>ha,link</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hb</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boolean</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以</a:t>
            </a:r>
            <a:r>
              <a:rPr lang="en-US" altLang="zh-CN" sz="1800" dirty="0" smtClean="0">
                <a:ea typeface="华文楷体" panose="02010600040101010101" pitchFamily="2" charset="-122"/>
              </a:rPr>
              <a:t>ha</a:t>
            </a:r>
            <a:r>
              <a:rPr lang="zh-CN" altLang="en-US" sz="1800" dirty="0" smtClean="0">
                <a:ea typeface="华文楷体" panose="02010600040101010101" pitchFamily="2" charset="-122"/>
              </a:rPr>
              <a:t>和</a:t>
            </a:r>
            <a:r>
              <a:rPr lang="en-US" altLang="zh-CN" sz="1800" dirty="0" err="1" smtClean="0">
                <a:ea typeface="华文楷体" panose="02010600040101010101" pitchFamily="2" charset="-122"/>
              </a:rPr>
              <a:t>hb</a:t>
            </a:r>
            <a:r>
              <a:rPr lang="zh-CN" altLang="en-US" sz="1800" dirty="0" smtClean="0">
                <a:ea typeface="华文楷体" panose="02010600040101010101" pitchFamily="2" charset="-122"/>
              </a:rPr>
              <a:t>为头指针的带头节点单链表分别表示递增有序表</a:t>
            </a:r>
            <a:r>
              <a:rPr lang="en-US" altLang="zh-CN" sz="1800" dirty="0" smtClean="0">
                <a:ea typeface="华文楷体" panose="02010600040101010101" pitchFamily="2" charset="-122"/>
              </a:rPr>
              <a:t>A</a:t>
            </a:r>
            <a:r>
              <a:rPr lang="zh-CN" altLang="en-US" sz="1800" dirty="0" smtClean="0">
                <a:ea typeface="华文楷体" panose="02010600040101010101" pitchFamily="2" charset="-122"/>
              </a:rPr>
              <a:t>和</a:t>
            </a:r>
            <a:r>
              <a:rPr lang="en-US" altLang="zh-CN" sz="1800" dirty="0" smtClean="0">
                <a:ea typeface="华文楷体" panose="02010600040101010101" pitchFamily="2" charset="-122"/>
              </a:rPr>
              <a:t>B</a:t>
            </a:r>
            <a:r>
              <a:rPr lang="zh-CN" altLang="en-US" sz="1800" dirty="0" smtClean="0">
                <a:ea typeface="华文楷体" panose="02010600040101010101" pitchFamily="2" charset="-122"/>
              </a:rPr>
              <a:t>，本算法判别表</a:t>
            </a:r>
            <a:r>
              <a:rPr lang="en-US" altLang="zh-CN" sz="1800" dirty="0" smtClean="0">
                <a:ea typeface="华文楷体" panose="02010600040101010101" pitchFamily="2" charset="-122"/>
              </a:rPr>
              <a:t>A</a:t>
            </a:r>
            <a:r>
              <a:rPr lang="zh-CN" altLang="en-US" sz="1800" dirty="0" smtClean="0">
                <a:ea typeface="华文楷体" panose="02010600040101010101" pitchFamily="2" charset="-122"/>
              </a:rPr>
              <a:t>是否包含在表</a:t>
            </a:r>
            <a:r>
              <a:rPr lang="en-US" altLang="zh-CN" sz="1800" dirty="0" smtClean="0">
                <a:ea typeface="华文楷体" panose="02010600040101010101" pitchFamily="2" charset="-122"/>
              </a:rPr>
              <a:t>B</a:t>
            </a:r>
            <a:r>
              <a:rPr lang="zh-CN" altLang="en-US" sz="1800" dirty="0" smtClean="0">
                <a:ea typeface="华文楷体" panose="02010600040101010101" pitchFamily="2" charset="-122"/>
              </a:rPr>
              <a:t>内，若是，则返回“</a:t>
            </a:r>
            <a:r>
              <a:rPr lang="en-US" altLang="zh-CN" sz="1800" dirty="0" smtClean="0">
                <a:ea typeface="华文楷体" panose="02010600040101010101" pitchFamily="2" charset="-122"/>
              </a:rPr>
              <a:t>true”</a:t>
            </a:r>
            <a:r>
              <a:rPr lang="zh-CN" altLang="en-US" sz="1800" dirty="0" smtClean="0">
                <a:ea typeface="华文楷体" panose="02010600040101010101" pitchFamily="2" charset="-122"/>
              </a:rPr>
              <a:t>，否则返回“</a:t>
            </a:r>
            <a:r>
              <a:rPr lang="en-US" altLang="zh-CN" sz="1800" dirty="0" smtClean="0">
                <a:ea typeface="华文楷体" panose="02010600040101010101" pitchFamily="2" charset="-122"/>
              </a:rPr>
              <a:t>false”*/</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pa=ha-&gt;next; </a:t>
            </a:r>
            <a:r>
              <a:rPr lang="en-US" altLang="zh-CN" sz="1800" dirty="0" err="1" smtClean="0">
                <a:ea typeface="华文楷体" panose="02010600040101010101" pitchFamily="2" charset="-122"/>
              </a:rPr>
              <a:t>pb</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hb</a:t>
            </a:r>
            <a:r>
              <a:rPr lang="en-US" altLang="zh-CN" sz="1800" dirty="0" smtClean="0">
                <a:ea typeface="华文楷体" panose="02010600040101010101" pitchFamily="2" charset="-122"/>
              </a:rPr>
              <a:t>-&gt;next; </a:t>
            </a:r>
            <a:r>
              <a:rPr lang="zh-CN" altLang="en-US" sz="1800" u="sng" dirty="0" smtClean="0">
                <a:ea typeface="华文楷体" panose="02010600040101010101" pitchFamily="2" charset="-122"/>
              </a:rPr>
              <a:t>（</a:t>
            </a:r>
            <a:r>
              <a:rPr lang="en-US" altLang="zh-CN" sz="1800" u="sng" dirty="0" smtClean="0">
                <a:ea typeface="华文楷体" panose="02010600040101010101" pitchFamily="2" charset="-122"/>
              </a:rPr>
              <a:t>1</a:t>
            </a:r>
            <a:r>
              <a:rPr lang="zh-CN" altLang="en-US" sz="1800" u="sng" dirty="0" smtClean="0">
                <a:ea typeface="华文楷体" panose="02010600040101010101" pitchFamily="2" charset="-122"/>
              </a:rPr>
              <a:t>）    </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while (</a:t>
            </a:r>
            <a:r>
              <a:rPr lang="zh-CN" altLang="en-US" sz="1800" u="sng" dirty="0" smtClean="0">
                <a:ea typeface="华文楷体" panose="02010600040101010101" pitchFamily="2" charset="-122"/>
              </a:rPr>
              <a:t>（</a:t>
            </a:r>
            <a:r>
              <a:rPr lang="en-US" altLang="zh-CN" sz="1800" u="sng" dirty="0" smtClean="0">
                <a:ea typeface="华文楷体" panose="02010600040101010101" pitchFamily="2" charset="-122"/>
              </a:rPr>
              <a:t>2</a:t>
            </a:r>
            <a:r>
              <a:rPr lang="zh-CN" altLang="en-US" sz="1800" u="sng" dirty="0" smtClean="0">
                <a:ea typeface="华文楷体" panose="02010600040101010101" pitchFamily="2" charset="-122"/>
              </a:rPr>
              <a:t>）    </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if (pa-&gt;data==</a:t>
            </a:r>
            <a:r>
              <a:rPr lang="en-US" altLang="zh-CN" sz="1800" dirty="0" err="1" smtClean="0">
                <a:ea typeface="华文楷体" panose="02010600040101010101" pitchFamily="2" charset="-122"/>
              </a:rPr>
              <a:t>pb</a:t>
            </a:r>
            <a:r>
              <a:rPr lang="en-US" altLang="zh-CN" sz="1800" dirty="0" smtClean="0">
                <a:ea typeface="华文楷体" panose="02010600040101010101" pitchFamily="2" charset="-122"/>
              </a:rPr>
              <a:t>-&gt;data )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zh-CN" altLang="en-US" sz="1800" u="sng" dirty="0" smtClean="0">
                <a:ea typeface="华文楷体" panose="02010600040101010101" pitchFamily="2" charset="-122"/>
              </a:rPr>
              <a:t>（</a:t>
            </a:r>
            <a:r>
              <a:rPr lang="en-US" altLang="zh-CN" sz="1800" u="sng" dirty="0" smtClean="0">
                <a:ea typeface="华文楷体" panose="02010600040101010101" pitchFamily="2" charset="-122"/>
              </a:rPr>
              <a:t>3</a:t>
            </a:r>
            <a:r>
              <a:rPr lang="zh-CN" altLang="en-US" sz="1800" u="sng" dirty="0" smtClean="0">
                <a:ea typeface="华文楷体" panose="02010600040101010101" pitchFamily="2" charset="-122"/>
              </a:rPr>
              <a:t>）</a:t>
            </a:r>
            <a:r>
              <a:rPr lang="en-US" altLang="zh-CN" sz="1800" u="sng" dirty="0" smtClean="0">
                <a:ea typeface="华文楷体" panose="02010600040101010101" pitchFamily="2" charset="-122"/>
              </a:rPr>
              <a:t>;    </a:t>
            </a: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else</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zh-CN" altLang="en-US" sz="1800" u="sng" dirty="0" smtClean="0">
                <a:ea typeface="华文楷体" panose="02010600040101010101" pitchFamily="2" charset="-122"/>
              </a:rPr>
              <a:t>（</a:t>
            </a:r>
            <a:r>
              <a:rPr lang="en-US" altLang="zh-CN" sz="1800" u="sng" dirty="0" smtClean="0">
                <a:ea typeface="华文楷体" panose="02010600040101010101" pitchFamily="2" charset="-122"/>
              </a:rPr>
              <a:t>4</a:t>
            </a:r>
            <a:r>
              <a:rPr lang="zh-CN" altLang="en-US" sz="1800" u="sng" dirty="0" smtClean="0">
                <a:ea typeface="华文楷体" panose="02010600040101010101" pitchFamily="2" charset="-122"/>
              </a:rPr>
              <a:t>）     </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a:t>
            </a:r>
            <a:r>
              <a:rPr lang="zh-CN" altLang="en-US" sz="1800" u="sng" dirty="0" smtClean="0">
                <a:ea typeface="华文楷体" panose="02010600040101010101" pitchFamily="2" charset="-122"/>
              </a:rPr>
              <a:t>（</a:t>
            </a:r>
            <a:r>
              <a:rPr lang="en-US" altLang="zh-CN" sz="1800" u="sng" dirty="0" smtClean="0">
                <a:ea typeface="华文楷体" panose="02010600040101010101" pitchFamily="2" charset="-122"/>
              </a:rPr>
              <a:t>5</a:t>
            </a:r>
            <a:r>
              <a:rPr lang="zh-CN" altLang="en-US" sz="1800" u="sng" dirty="0" smtClean="0">
                <a:ea typeface="华文楷体" panose="02010600040101010101" pitchFamily="2" charset="-122"/>
              </a:rPr>
              <a:t>） </a:t>
            </a:r>
            <a:r>
              <a:rPr lang="en-US" altLang="zh-CN" sz="1800" u="sng" dirty="0" smtClean="0">
                <a:ea typeface="华文楷体" panose="02010600040101010101" pitchFamily="2" charset="-122"/>
              </a:rPr>
              <a:t>; </a:t>
            </a:r>
            <a:endParaRPr lang="en-US" altLang="zh-CN" sz="12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200" dirty="0" smtClean="0">
                <a:ea typeface="华文楷体" panose="02010600040101010101" pitchFamily="2" charset="-122"/>
              </a:rPr>
              <a:t>}</a:t>
            </a:r>
            <a:endParaRPr lang="en-US" altLang="zh-CN" sz="12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120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F8035865-81E8-47A7-B348-CD1B19D6930F}"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51205"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1206" name="Rectangle 3"/>
          <p:cNvSpPr>
            <a:spLocks noGrp="1" noChangeArrowheads="1"/>
          </p:cNvSpPr>
          <p:nvPr>
            <p:ph type="body" idx="1"/>
          </p:nvPr>
        </p:nvSpPr>
        <p:spPr/>
        <p:txBody>
          <a:bodyPr/>
          <a:lstStyle/>
          <a:p>
            <a:pPr eaLnBrk="1" hangingPunct="1"/>
            <a:r>
              <a:rPr lang="en-US" altLang="zh-CN" sz="2400" dirty="0" smtClean="0">
                <a:ea typeface="华文楷体" panose="02010600040101010101" pitchFamily="2" charset="-122"/>
              </a:rPr>
              <a:t>3. </a:t>
            </a:r>
            <a:r>
              <a:rPr lang="zh-CN" altLang="en-US" sz="2400" dirty="0" smtClean="0">
                <a:ea typeface="华文楷体" panose="02010600040101010101" pitchFamily="2" charset="-122"/>
              </a:rPr>
              <a:t>请写一算法</a:t>
            </a:r>
            <a:r>
              <a:rPr lang="en-US" altLang="zh-CN" sz="2400" dirty="0" smtClean="0">
                <a:ea typeface="华文楷体" panose="02010600040101010101" pitchFamily="2" charset="-122"/>
              </a:rPr>
              <a:t>link </a:t>
            </a:r>
            <a:r>
              <a:rPr lang="en-US" altLang="zh-CN" sz="2400" dirty="0" err="1" smtClean="0">
                <a:ea typeface="华文楷体" panose="02010600040101010101" pitchFamily="2" charset="-122"/>
              </a:rPr>
              <a:t>LinkListSort</a:t>
            </a:r>
            <a:r>
              <a:rPr lang="en-US" altLang="zh-CN" sz="2400" dirty="0" smtClean="0">
                <a:ea typeface="华文楷体" panose="02010600040101010101" pitchFamily="2" charset="-122"/>
              </a:rPr>
              <a:t>(link la) </a:t>
            </a:r>
            <a:r>
              <a:rPr lang="zh-CN" altLang="en-US" sz="2400" dirty="0" smtClean="0">
                <a:ea typeface="华文楷体" panose="02010600040101010101" pitchFamily="2" charset="-122"/>
              </a:rPr>
              <a:t>，将不带头结点的单链表按结点数据域的值的大小从小到大重新链接。要求链接过程中不得使用除该链表以外的任何链结点空间。</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err="1" smtClean="0">
                <a:ea typeface="华文楷体" panose="02010600040101010101" pitchFamily="2" charset="-122"/>
              </a:rPr>
              <a:t>typedef</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struct</a:t>
            </a:r>
            <a:r>
              <a:rPr lang="en-US" altLang="zh-CN" sz="2400" dirty="0" smtClean="0">
                <a:ea typeface="华文楷体" panose="02010600040101010101" pitchFamily="2" charset="-122"/>
              </a:rPr>
              <a:t> node</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int</a:t>
            </a:r>
            <a:r>
              <a:rPr lang="en-US" altLang="zh-CN" sz="2400" dirty="0" smtClean="0">
                <a:ea typeface="华文楷体" panose="02010600040101010101" pitchFamily="2" charset="-122"/>
              </a:rPr>
              <a:t> data;  </a:t>
            </a:r>
            <a:r>
              <a:rPr lang="en-US" altLang="zh-CN" sz="2400" dirty="0" err="1" smtClean="0">
                <a:ea typeface="华文楷体" panose="02010600040101010101" pitchFamily="2" charset="-122"/>
              </a:rPr>
              <a:t>struct</a:t>
            </a:r>
            <a:r>
              <a:rPr lang="en-US" altLang="zh-CN" sz="2400" dirty="0" smtClean="0">
                <a:ea typeface="华文楷体" panose="02010600040101010101" pitchFamily="2" charset="-122"/>
              </a:rPr>
              <a:t> node *next;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linknode</a:t>
            </a:r>
            <a:r>
              <a:rPr lang="en-US" altLang="zh-CN" sz="2400" dirty="0" smtClean="0">
                <a:ea typeface="华文楷体" panose="02010600040101010101" pitchFamily="2" charset="-122"/>
              </a:rPr>
              <a:t>,*link;</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link </a:t>
            </a:r>
            <a:r>
              <a:rPr lang="en-US" altLang="zh-CN" sz="2400" dirty="0" err="1" smtClean="0">
                <a:ea typeface="华文楷体" panose="02010600040101010101" pitchFamily="2" charset="-122"/>
              </a:rPr>
              <a:t>LinkListSort</a:t>
            </a:r>
            <a:r>
              <a:rPr lang="en-US" altLang="zh-CN" sz="2400" dirty="0" smtClean="0">
                <a:ea typeface="华文楷体" panose="02010600040101010101" pitchFamily="2" charset="-122"/>
              </a:rPr>
              <a:t>(link list)</a:t>
            </a: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5222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3566549C-96D6-4598-B784-27DE5D9624A9}"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52229"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2230" name="Rectangle 3"/>
          <p:cNvSpPr>
            <a:spLocks noGrp="1" noChangeArrowheads="1"/>
          </p:cNvSpPr>
          <p:nvPr>
            <p:ph type="body" idx="1"/>
          </p:nvPr>
        </p:nvSpPr>
        <p:spPr/>
        <p:txBody>
          <a:bodyPr/>
          <a:lstStyle/>
          <a:p>
            <a:pPr eaLnBrk="1" hangingPunct="1"/>
            <a:r>
              <a:rPr lang="en-US" altLang="zh-CN" sz="2400" dirty="0" smtClean="0">
                <a:ea typeface="华文楷体" panose="02010600040101010101" pitchFamily="2" charset="-122"/>
              </a:rPr>
              <a:t>4. </a:t>
            </a:r>
            <a:r>
              <a:rPr lang="zh-CN" altLang="en-US" sz="2400" dirty="0" smtClean="0">
                <a:ea typeface="华文楷体" panose="02010600040101010101" pitchFamily="2" charset="-122"/>
              </a:rPr>
              <a:t>写出下图双链表中对换值为</a:t>
            </a:r>
            <a:r>
              <a:rPr lang="en-US" altLang="zh-CN" sz="2400" dirty="0" smtClean="0">
                <a:ea typeface="华文楷体" panose="02010600040101010101" pitchFamily="2" charset="-122"/>
              </a:rPr>
              <a:t>23</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15</a:t>
            </a:r>
            <a:r>
              <a:rPr lang="zh-CN" altLang="en-US" sz="2400" dirty="0" smtClean="0">
                <a:ea typeface="华文楷体" panose="02010600040101010101" pitchFamily="2" charset="-122"/>
              </a:rPr>
              <a:t>的两个结点相互位置时修改指针的有关语句。</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结点结构为：</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prev,data,next</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p:txBody>
      </p:sp>
      <p:pic>
        <p:nvPicPr>
          <p:cNvPr id="52231"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55650" y="3500438"/>
            <a:ext cx="7272338" cy="132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325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A76321E8-ACE8-4E21-9915-626F6A311746}"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53253" name="Rectangle 2"/>
          <p:cNvSpPr>
            <a:spLocks noGrp="1" noChangeArrowheads="1"/>
          </p:cNvSpPr>
          <p:nvPr>
            <p:ph type="title"/>
          </p:nvPr>
        </p:nvSpPr>
        <p:spPr/>
        <p:txBody>
          <a:bodyPr/>
          <a:lstStyle/>
          <a:p>
            <a:pPr eaLnBrk="1" hangingPunct="1"/>
            <a:r>
              <a:rPr lang="zh-CN" altLang="en-US" sz="2800" dirty="0" smtClean="0">
                <a:ea typeface="华文楷体" panose="02010600040101010101" pitchFamily="2" charset="-122"/>
              </a:rPr>
              <a:t>实验报告（一）</a:t>
            </a:r>
            <a:endParaRPr lang="zh-CN" altLang="en-US" sz="2800" dirty="0" smtClean="0">
              <a:ea typeface="华文楷体" panose="02010600040101010101" pitchFamily="2" charset="-122"/>
            </a:endParaRPr>
          </a:p>
        </p:txBody>
      </p:sp>
      <p:sp>
        <p:nvSpPr>
          <p:cNvPr id="53254" name="Rectangle 3"/>
          <p:cNvSpPr>
            <a:spLocks noGrp="1" noChangeArrowheads="1"/>
          </p:cNvSpPr>
          <p:nvPr>
            <p:ph type="body" idx="1"/>
          </p:nvPr>
        </p:nvSpPr>
        <p:spPr/>
        <p:txBody>
          <a:bodyPr/>
          <a:lstStyle/>
          <a:p>
            <a:pPr eaLnBrk="1" hangingPunct="1">
              <a:lnSpc>
                <a:spcPct val="80000"/>
              </a:lnSpc>
            </a:pPr>
            <a:r>
              <a:rPr lang="zh-CN" altLang="en-US" sz="2800" b="1" dirty="0" smtClean="0">
                <a:ea typeface="华文楷体" panose="02010600040101010101" pitchFamily="2" charset="-122"/>
              </a:rPr>
              <a:t>加里森的任务</a:t>
            </a:r>
            <a:endParaRPr lang="zh-CN" altLang="en-US" sz="2800" b="1" dirty="0" smtClean="0">
              <a:ea typeface="华文楷体" panose="02010600040101010101" pitchFamily="2" charset="-122"/>
            </a:endParaRPr>
          </a:p>
          <a:p>
            <a:pPr lvl="1" eaLnBrk="1" hangingPunct="1">
              <a:lnSpc>
                <a:spcPct val="80000"/>
              </a:lnSpc>
            </a:pPr>
            <a:r>
              <a:rPr lang="zh-CN" altLang="en-US" sz="2400" dirty="0" smtClean="0">
                <a:ea typeface="华文楷体" panose="02010600040101010101" pitchFamily="2" charset="-122"/>
              </a:rPr>
              <a:t>有</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个加里森敢死队的队员要炸掉敌人的一个军火库，谁都不想去，队长加里森决定用轮回数数的办法来决定哪个战士去执行任务。规则如下：如果前一个战士没完成任务，则要再派一个战士上去。现给每个战士编一个号，大家围坐成一圈，随便从某一个编号为</a:t>
            </a:r>
            <a:r>
              <a:rPr lang="en-US" altLang="zh-CN" sz="2400" dirty="0" smtClean="0">
                <a:ea typeface="华文楷体" panose="02010600040101010101" pitchFamily="2" charset="-122"/>
              </a:rPr>
              <a:t>x</a:t>
            </a:r>
            <a:r>
              <a:rPr lang="zh-CN" altLang="en-US" sz="2400" dirty="0" smtClean="0">
                <a:ea typeface="华文楷体" panose="02010600040101010101" pitchFamily="2" charset="-122"/>
              </a:rPr>
              <a:t>的战士开始计数，当数到</a:t>
            </a:r>
            <a:r>
              <a:rPr lang="en-US" altLang="zh-CN" sz="2400" dirty="0" smtClean="0">
                <a:ea typeface="华文楷体" panose="02010600040101010101" pitchFamily="2" charset="-122"/>
              </a:rPr>
              <a:t>y</a:t>
            </a:r>
            <a:r>
              <a:rPr lang="zh-CN" altLang="en-US" sz="2400" dirty="0" smtClean="0">
                <a:ea typeface="华文楷体" panose="02010600040101010101" pitchFamily="2" charset="-122"/>
              </a:rPr>
              <a:t>时，对应的战士就去执行任务，且此战士不再参加下一轮计数。如果此战士没完成任务，再从下一个战士开始数数，被数到第</a:t>
            </a:r>
            <a:r>
              <a:rPr lang="en-US" altLang="zh-CN" sz="2400" dirty="0" smtClean="0">
                <a:ea typeface="华文楷体" panose="02010600040101010101" pitchFamily="2" charset="-122"/>
              </a:rPr>
              <a:t>y</a:t>
            </a:r>
            <a:r>
              <a:rPr lang="zh-CN" altLang="en-US" sz="2400" dirty="0" smtClean="0">
                <a:ea typeface="华文楷体" panose="02010600040101010101" pitchFamily="2" charset="-122"/>
              </a:rPr>
              <a:t>时，此战士接着去执行任务。以此类推，直到任务完成为止。</a:t>
            </a:r>
            <a:endParaRPr lang="zh-CN" altLang="en-US" sz="2400" dirty="0" smtClean="0">
              <a:ea typeface="华文楷体" panose="02010600040101010101" pitchFamily="2" charset="-122"/>
            </a:endParaRPr>
          </a:p>
          <a:p>
            <a:pPr lvl="1" eaLnBrk="1" hangingPunct="1">
              <a:lnSpc>
                <a:spcPct val="80000"/>
              </a:lnSpc>
            </a:pPr>
            <a:r>
              <a:rPr lang="zh-CN" altLang="en-US" sz="2400" dirty="0" smtClean="0">
                <a:ea typeface="华文楷体" panose="02010600040101010101" pitchFamily="2" charset="-122"/>
              </a:rPr>
              <a:t>加里森本人是不愿意去的，假设加里森为</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号，请你设计一程序为加里森支招，求出</a:t>
            </a:r>
            <a:r>
              <a:rPr lang="en-US" altLang="zh-CN" sz="2400" dirty="0" err="1" smtClean="0">
                <a:ea typeface="华文楷体" panose="02010600040101010101" pitchFamily="2" charset="-122"/>
              </a:rPr>
              <a:t>n,x,y</a:t>
            </a:r>
            <a:r>
              <a:rPr lang="zh-CN" altLang="en-US" sz="2400" dirty="0" smtClean="0">
                <a:ea typeface="华文楷体" panose="02010600040101010101" pitchFamily="2" charset="-122"/>
              </a:rPr>
              <a:t>满足何种条件时</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加里森能留到最后而不用去执行任务。</a:t>
            </a:r>
            <a:endParaRPr lang="zh-CN" altLang="en-US" sz="2400" dirty="0" smtClean="0">
              <a:ea typeface="华文楷体" panose="02010600040101010101" pitchFamily="2" charset="-122"/>
            </a:endParaRPr>
          </a:p>
          <a:p>
            <a:pPr lvl="1" eaLnBrk="1" hangingPunct="1">
              <a:lnSpc>
                <a:spcPct val="80000"/>
              </a:lnSpc>
            </a:pPr>
            <a:r>
              <a:rPr lang="zh-CN" altLang="en-US" sz="2400" dirty="0" smtClean="0">
                <a:solidFill>
                  <a:schemeClr val="accent2"/>
                </a:solidFill>
                <a:ea typeface="华文楷体" panose="02010600040101010101" pitchFamily="2" charset="-122"/>
              </a:rPr>
              <a:t>要求：</a:t>
            </a:r>
            <a:endParaRPr lang="zh-CN" altLang="en-US" sz="2400" dirty="0" smtClean="0">
              <a:solidFill>
                <a:schemeClr val="accent2"/>
              </a:solidFill>
              <a:ea typeface="华文楷体" panose="02010600040101010101" pitchFamily="2" charset="-122"/>
            </a:endParaRPr>
          </a:p>
          <a:p>
            <a:pPr lvl="2" eaLnBrk="1" hangingPunct="1">
              <a:lnSpc>
                <a:spcPct val="80000"/>
              </a:lnSpc>
            </a:pPr>
            <a:r>
              <a:rPr lang="zh-CN" altLang="en-US" sz="2000" dirty="0" smtClean="0">
                <a:solidFill>
                  <a:schemeClr val="accent2"/>
                </a:solidFill>
                <a:ea typeface="华文楷体" panose="02010600040101010101" pitchFamily="2" charset="-122"/>
              </a:rPr>
              <a:t>主要数据结构采用链式结构存储。</a:t>
            </a:r>
            <a:endParaRPr lang="zh-CN" altLang="en-US" sz="2000" dirty="0" smtClean="0">
              <a:solidFill>
                <a:schemeClr val="accent2"/>
              </a:solidFill>
              <a:ea typeface="华文楷体" panose="02010600040101010101" pitchFamily="2" charset="-122"/>
            </a:endParaRPr>
          </a:p>
          <a:p>
            <a:pPr lvl="2" eaLnBrk="1" hangingPunct="1">
              <a:lnSpc>
                <a:spcPct val="80000"/>
              </a:lnSpc>
            </a:pPr>
            <a:r>
              <a:rPr lang="zh-CN" altLang="en-US" sz="2000" dirty="0" smtClean="0">
                <a:solidFill>
                  <a:schemeClr val="accent2"/>
                </a:solidFill>
                <a:ea typeface="华文楷体" panose="02010600040101010101" pitchFamily="2" charset="-122"/>
              </a:rPr>
              <a:t>自拟实验实例验证程序正确性，并讨论</a:t>
            </a:r>
            <a:r>
              <a:rPr lang="en-US" altLang="zh-CN" sz="2000" dirty="0" err="1" smtClean="0">
                <a:solidFill>
                  <a:schemeClr val="accent2"/>
                </a:solidFill>
                <a:ea typeface="华文楷体" panose="02010600040101010101" pitchFamily="2" charset="-122"/>
              </a:rPr>
              <a:t>n,x,y</a:t>
            </a:r>
            <a:r>
              <a:rPr lang="zh-CN" altLang="en-US" sz="2000" dirty="0" smtClean="0">
                <a:solidFill>
                  <a:schemeClr val="accent2"/>
                </a:solidFill>
                <a:ea typeface="华文楷体" panose="02010600040101010101" pitchFamily="2" charset="-122"/>
              </a:rPr>
              <a:t>之间的关系。</a:t>
            </a:r>
            <a:endParaRPr lang="zh-CN" altLang="en-US" sz="2000" dirty="0" smtClean="0">
              <a:solidFill>
                <a:schemeClr val="accent2"/>
              </a:solidFill>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endParaRPr lang="zh-CN" altLang="en-US" dirty="0" smtClean="0">
              <a:ea typeface="华文楷体" panose="02010600040101010101" pitchFamily="2" charset="-122"/>
            </a:endParaRPr>
          </a:p>
        </p:txBody>
      </p:sp>
      <p:sp>
        <p:nvSpPr>
          <p:cNvPr id="54275" name="内容占位符 2"/>
          <p:cNvSpPr>
            <a:spLocks noGrp="1"/>
          </p:cNvSpPr>
          <p:nvPr>
            <p:ph idx="1"/>
          </p:nvPr>
        </p:nvSpPr>
        <p:spPr/>
        <p:txBody>
          <a:bodyPr/>
          <a:lstStyle/>
          <a:p>
            <a:pPr lvl="1" eaLnBrk="1" hangingPunct="1">
              <a:lnSpc>
                <a:spcPct val="80000"/>
              </a:lnSpc>
            </a:pPr>
            <a:r>
              <a:rPr lang="zh-CN" altLang="en-US" sz="2400" dirty="0" smtClean="0">
                <a:ea typeface="华文楷体" panose="02010600040101010101" pitchFamily="2" charset="-122"/>
              </a:rPr>
              <a:t>提示：对于</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x</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y</a:t>
            </a:r>
            <a:r>
              <a:rPr lang="zh-CN" altLang="en-US" sz="2400" dirty="0" smtClean="0">
                <a:ea typeface="华文楷体" panose="02010600040101010101" pitchFamily="2" charset="-122"/>
              </a:rPr>
              <a:t>三维度关系讨论可以先固定某个维度值，利用实验数据绘制或讨论其他两维度之间的关系。然后再固定另一维度，重复上述过程。</a:t>
            </a:r>
            <a:endParaRPr lang="zh-CN" altLang="en-US" sz="2400" dirty="0" smtClean="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427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F8BD6415-AFF1-4E00-B647-91115D6D8BC9}"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529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38024223-6E4F-4C69-8978-80C43216460E}"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55301" name="Rectangle 2"/>
          <p:cNvSpPr>
            <a:spLocks noGrp="1" noChangeArrowheads="1"/>
          </p:cNvSpPr>
          <p:nvPr>
            <p:ph type="title"/>
          </p:nvPr>
        </p:nvSpPr>
        <p:spPr/>
        <p:txBody>
          <a:bodyPr/>
          <a:lstStyle/>
          <a:p>
            <a:pPr eaLnBrk="1" hangingPunct="1"/>
            <a:r>
              <a:rPr lang="zh-CN" altLang="en-US" b="0" dirty="0" smtClean="0">
                <a:ea typeface="华文楷体" panose="02010600040101010101" pitchFamily="2" charset="-122"/>
              </a:rPr>
              <a:t>实验报告撰写格式</a:t>
            </a:r>
            <a:r>
              <a:rPr lang="zh-CN" altLang="en-US" dirty="0" smtClean="0">
                <a:ea typeface="华文楷体" panose="02010600040101010101" pitchFamily="2" charset="-122"/>
              </a:rPr>
              <a:t> </a:t>
            </a:r>
            <a:endParaRPr lang="zh-CN" altLang="en-US" dirty="0" smtClean="0">
              <a:ea typeface="华文楷体" panose="02010600040101010101" pitchFamily="2" charset="-122"/>
            </a:endParaRPr>
          </a:p>
        </p:txBody>
      </p:sp>
      <p:sp>
        <p:nvSpPr>
          <p:cNvPr id="55302"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400" b="1" dirty="0" smtClean="0">
                <a:ea typeface="华文楷体" panose="02010600040101010101" pitchFamily="2" charset="-122"/>
              </a:rPr>
              <a:t>**</a:t>
            </a:r>
            <a:r>
              <a:rPr lang="zh-CN" altLang="en-US" sz="2400" b="1" dirty="0" smtClean="0">
                <a:ea typeface="华文楷体" panose="02010600040101010101" pitchFamily="2" charset="-122"/>
              </a:rPr>
              <a:t>正文抬头部分***</a:t>
            </a:r>
            <a:endParaRPr lang="zh-CN" altLang="en-US" sz="2400" b="1" dirty="0" smtClean="0">
              <a:ea typeface="华文楷体" panose="02010600040101010101" pitchFamily="2" charset="-122"/>
            </a:endParaRPr>
          </a:p>
          <a:p>
            <a:pPr eaLnBrk="1" hangingPunct="1">
              <a:lnSpc>
                <a:spcPct val="80000"/>
              </a:lnSpc>
            </a:pPr>
            <a:r>
              <a:rPr lang="zh-CN" altLang="en-US" sz="2400" b="1" dirty="0" smtClean="0">
                <a:ea typeface="华文楷体" panose="02010600040101010101" pitchFamily="2" charset="-122"/>
              </a:rPr>
              <a:t>题目：******</a:t>
            </a:r>
            <a:endParaRPr lang="zh-CN" altLang="en-US" sz="2400" b="1" dirty="0" smtClean="0">
              <a:ea typeface="华文楷体" panose="02010600040101010101" pitchFamily="2" charset="-122"/>
            </a:endParaRPr>
          </a:p>
          <a:p>
            <a:pPr eaLnBrk="1" hangingPunct="1">
              <a:lnSpc>
                <a:spcPct val="80000"/>
              </a:lnSpc>
            </a:pPr>
            <a:r>
              <a:rPr lang="zh-CN" altLang="en-US" sz="2400" b="1" dirty="0" smtClean="0">
                <a:ea typeface="华文楷体" panose="02010600040101010101" pitchFamily="2" charset="-122"/>
              </a:rPr>
              <a:t>班级：</a:t>
            </a:r>
            <a:r>
              <a:rPr lang="zh-CN" altLang="en-US" sz="2400" b="1" u="sng" dirty="0" smtClean="0">
                <a:ea typeface="华文楷体" panose="02010600040101010101" pitchFamily="2" charset="-122"/>
              </a:rPr>
              <a:t>******* </a:t>
            </a:r>
            <a:r>
              <a:rPr lang="zh-CN" altLang="en-US" sz="2400" b="1" dirty="0" smtClean="0">
                <a:ea typeface="华文楷体" panose="02010600040101010101" pitchFamily="2" charset="-122"/>
              </a:rPr>
              <a:t>    姓名：</a:t>
            </a:r>
            <a:r>
              <a:rPr lang="zh-CN" altLang="en-US" sz="2400" b="1" u="sng" dirty="0" smtClean="0">
                <a:ea typeface="华文楷体" panose="02010600040101010101" pitchFamily="2" charset="-122"/>
              </a:rPr>
              <a:t>***</a:t>
            </a:r>
            <a:r>
              <a:rPr lang="zh-CN" altLang="en-US" sz="2400" b="1" dirty="0" smtClean="0">
                <a:ea typeface="华文楷体" panose="02010600040101010101" pitchFamily="2" charset="-122"/>
              </a:rPr>
              <a:t>  学号：</a:t>
            </a:r>
            <a:r>
              <a:rPr lang="en-US" altLang="zh-CN" sz="2400" b="1" u="sng" dirty="0" err="1" smtClean="0">
                <a:ea typeface="华文楷体" panose="02010600040101010101" pitchFamily="2" charset="-122"/>
              </a:rPr>
              <a:t>xxxxx</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marL="0" indent="0" eaLnBrk="1" hangingPunct="1">
              <a:lnSpc>
                <a:spcPct val="80000"/>
              </a:lnSpc>
              <a:buNone/>
            </a:pPr>
            <a:r>
              <a:rPr lang="en-US" altLang="zh-CN" sz="2400" b="1" dirty="0" smtClean="0">
                <a:ea typeface="华文楷体" panose="02010600040101010101" pitchFamily="2" charset="-122"/>
              </a:rPr>
              <a:t>1</a:t>
            </a:r>
            <a:r>
              <a:rPr lang="zh-CN" altLang="en-US" sz="2400" b="1" dirty="0" smtClean="0">
                <a:ea typeface="华文楷体" panose="02010600040101010101" pitchFamily="2" charset="-122"/>
              </a:rPr>
              <a:t>、  需求分析</a:t>
            </a:r>
            <a:endParaRPr lang="zh-CN" altLang="en-US" sz="2400" b="1"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以无歧义的陈述说明所选设计题目的任务，强调的是程序要做什么？明确规定：输入的形式和输出、值的范围；输出的形式；程序所能达到的功能；测试的数据：包括正确的输入和错误的输入及其相应的输出结果；</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b="1" dirty="0" smtClean="0">
                <a:ea typeface="华文楷体" panose="02010600040101010101" pitchFamily="2" charset="-122"/>
              </a:rPr>
              <a:t>2</a:t>
            </a:r>
            <a:r>
              <a:rPr lang="zh-CN" altLang="en-US" sz="2400" b="1" dirty="0" smtClean="0">
                <a:ea typeface="华文楷体" panose="02010600040101010101" pitchFamily="2" charset="-122"/>
              </a:rPr>
              <a:t>、  概要设计</a:t>
            </a:r>
            <a:endParaRPr lang="zh-CN" altLang="en-US" sz="2400" b="1"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问题解决的思路概述；说明程序中用到的所有数据结构类型的定义，主程序的流程以及各程序模块之间的层次（调用）关系。</a:t>
            </a:r>
            <a:endParaRPr lang="zh-CN" altLang="en-US" sz="2400" dirty="0" smtClean="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632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BA0047CE-6AA4-488A-8BE0-38C8D29561B3}"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56325"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6326"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800" b="1" dirty="0" smtClean="0">
                <a:ea typeface="华文楷体" panose="02010600040101010101" pitchFamily="2" charset="-122"/>
              </a:rPr>
              <a:t>3</a:t>
            </a:r>
            <a:r>
              <a:rPr lang="zh-CN" altLang="en-US" sz="2800" b="1" dirty="0" smtClean="0">
                <a:ea typeface="华文楷体" panose="02010600040101010101" pitchFamily="2" charset="-122"/>
              </a:rPr>
              <a:t>、  详细设计</a:t>
            </a:r>
            <a:endParaRPr lang="zh-CN" altLang="en-US" sz="2800" b="1"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dirty="0" smtClean="0">
                <a:ea typeface="华文楷体" panose="02010600040101010101" pitchFamily="2" charset="-122"/>
              </a:rPr>
              <a:t>            实现概要设计中定义所有数据类型，对每个操作只需要写出伪代码算法，画出函数的调用关系图。</a:t>
            </a:r>
            <a:endParaRPr lang="zh-CN" altLang="en-US"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b="1" dirty="0" smtClean="0">
                <a:ea typeface="华文楷体" panose="02010600040101010101" pitchFamily="2" charset="-122"/>
              </a:rPr>
              <a:t>4</a:t>
            </a:r>
            <a:r>
              <a:rPr lang="zh-CN" altLang="en-US" sz="2800" b="1" dirty="0" smtClean="0">
                <a:ea typeface="华文楷体" panose="02010600040101010101" pitchFamily="2" charset="-122"/>
              </a:rPr>
              <a:t>、  调试分析报告</a:t>
            </a:r>
            <a:endParaRPr lang="zh-CN" altLang="en-US" sz="2800" b="1"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dirty="0" smtClean="0">
                <a:ea typeface="华文楷体" panose="02010600040101010101" pitchFamily="2" charset="-122"/>
              </a:rPr>
              <a:t>            调试过程中遇到的问题并且是如何解决的以及对设计实现的回顾讨论和分析算法的时空分析（包括基本操作和主要算法的时空复杂度的分析）和改进设想经验和体会等</a:t>
            </a:r>
            <a:endParaRPr lang="zh-CN" altLang="en-US" sz="2800" dirty="0" smtClean="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734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EBE9E693-9E42-46AA-A7A3-B5FF1A891699}"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57349"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7350" name="Rectangle 3"/>
          <p:cNvSpPr>
            <a:spLocks noGrp="1" noChangeArrowheads="1"/>
          </p:cNvSpPr>
          <p:nvPr>
            <p:ph type="body" idx="1"/>
          </p:nvPr>
        </p:nvSpPr>
        <p:spPr>
          <a:xfrm>
            <a:off x="539750" y="1628775"/>
            <a:ext cx="7772400" cy="4471988"/>
          </a:xfrm>
        </p:spPr>
        <p:txBody>
          <a:bodyPr/>
          <a:lstStyle/>
          <a:p>
            <a:pPr eaLnBrk="1" hangingPunct="1">
              <a:buFont typeface="Wingdings" panose="05000000000000000000" pitchFamily="2" charset="2"/>
              <a:buNone/>
            </a:pPr>
            <a:r>
              <a:rPr lang="en-US" altLang="zh-CN" b="1" dirty="0" smtClean="0">
                <a:ea typeface="华文楷体" panose="02010600040101010101" pitchFamily="2" charset="-122"/>
              </a:rPr>
              <a:t>5</a:t>
            </a:r>
            <a:r>
              <a:rPr lang="zh-CN" altLang="en-US" b="1" dirty="0" smtClean="0">
                <a:ea typeface="华文楷体" panose="02010600040101010101" pitchFamily="2" charset="-122"/>
              </a:rPr>
              <a:t>、  用户使用说明</a:t>
            </a:r>
            <a:endParaRPr lang="zh-CN" altLang="en-US" b="1" dirty="0" smtClean="0">
              <a:ea typeface="华文楷体" panose="02010600040101010101" pitchFamily="2" charset="-122"/>
            </a:endParaRPr>
          </a:p>
          <a:p>
            <a:pPr eaLnBrk="1" hangingPunct="1">
              <a:buFont typeface="Wingdings" panose="05000000000000000000" pitchFamily="2" charset="2"/>
              <a:buNone/>
            </a:pPr>
            <a:r>
              <a:rPr lang="zh-CN" altLang="en-US" dirty="0" smtClean="0">
                <a:ea typeface="华文楷体" panose="02010600040101010101" pitchFamily="2" charset="-122"/>
              </a:rPr>
              <a:t>            向用户说明如何使用你编写的程序，详细列出每一步的操作步骤。</a:t>
            </a:r>
            <a:endParaRPr lang="zh-CN" altLang="en-US" dirty="0" smtClean="0">
              <a:ea typeface="华文楷体" panose="02010600040101010101" pitchFamily="2" charset="-122"/>
            </a:endParaRPr>
          </a:p>
          <a:p>
            <a:pPr eaLnBrk="1" hangingPunct="1">
              <a:buFont typeface="Wingdings" panose="05000000000000000000" pitchFamily="2" charset="2"/>
              <a:buNone/>
            </a:pPr>
            <a:r>
              <a:rPr lang="en-US" altLang="zh-CN" b="1" dirty="0" smtClean="0">
                <a:ea typeface="华文楷体" panose="02010600040101010101" pitchFamily="2" charset="-122"/>
              </a:rPr>
              <a:t>6</a:t>
            </a:r>
            <a:r>
              <a:rPr lang="zh-CN" altLang="en-US" b="1" dirty="0" smtClean="0">
                <a:ea typeface="华文楷体" panose="02010600040101010101" pitchFamily="2" charset="-122"/>
              </a:rPr>
              <a:t>、  测试结果</a:t>
            </a:r>
            <a:endParaRPr lang="zh-CN" altLang="en-US" b="1" dirty="0" smtClean="0">
              <a:ea typeface="华文楷体" panose="02010600040101010101" pitchFamily="2" charset="-122"/>
            </a:endParaRPr>
          </a:p>
          <a:p>
            <a:pPr eaLnBrk="1" hangingPunct="1">
              <a:buFont typeface="Wingdings" panose="05000000000000000000" pitchFamily="2" charset="2"/>
              <a:buNone/>
            </a:pPr>
            <a:r>
              <a:rPr lang="zh-CN" altLang="en-US" dirty="0" smtClean="0">
                <a:ea typeface="华文楷体" panose="02010600040101010101" pitchFamily="2" charset="-122"/>
              </a:rPr>
              <a:t>   详细说明用于测试的实验实例，这里的测试实例应该完整和严格。并列出测试结果，包括输入的数据和相应的输出数据。</a:t>
            </a:r>
            <a:endParaRPr lang="zh-CN" altLang="en-US" dirty="0" smtClean="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5837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fld id="{EF39C8E6-A873-44FC-B7AB-F24CF48343D1}" type="slidenum">
              <a:rPr lang="en-US" altLang="zh-CN" sz="1200" smtClean="0">
                <a:latin typeface="Verdana" panose="020B0604030504040204" pitchFamily="34" charset="0"/>
              </a:rPr>
            </a:fld>
            <a:endParaRPr lang="en-US" altLang="zh-CN" sz="1200" smtClean="0">
              <a:latin typeface="Verdana" panose="020B0604030504040204" pitchFamily="34" charset="0"/>
            </a:endParaRPr>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58373" name="Rectangle 2"/>
          <p:cNvSpPr>
            <a:spLocks noGrp="1" noChangeArrowheads="1"/>
          </p:cNvSpPr>
          <p:nvPr>
            <p:ph type="title"/>
          </p:nvPr>
        </p:nvSpPr>
        <p:spPr/>
        <p:txBody>
          <a:bodyPr/>
          <a:lstStyle/>
          <a:p>
            <a:pPr eaLnBrk="1" hangingPunct="1"/>
            <a:r>
              <a:rPr lang="zh-CN" altLang="en-US" sz="2800" dirty="0" smtClean="0">
                <a:ea typeface="华文楷体" panose="02010600040101010101" pitchFamily="2" charset="-122"/>
              </a:rPr>
              <a:t>实验报告提交方式</a:t>
            </a:r>
            <a:endParaRPr lang="zh-CN" altLang="en-US" sz="2800" dirty="0" smtClean="0">
              <a:ea typeface="华文楷体" panose="02010600040101010101" pitchFamily="2" charset="-122"/>
            </a:endParaRPr>
          </a:p>
        </p:txBody>
      </p:sp>
      <p:sp>
        <p:nvSpPr>
          <p:cNvPr id="58374"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endParaRPr lang="en-US" altLang="zh-CN" sz="2800" dirty="0" smtClean="0">
              <a:ea typeface="华文楷体" panose="02010600040101010101" pitchFamily="2" charset="-122"/>
            </a:endParaRPr>
          </a:p>
          <a:p>
            <a:pPr eaLnBrk="1" hangingPunct="1">
              <a:lnSpc>
                <a:spcPct val="80000"/>
              </a:lnSpc>
            </a:pPr>
            <a:r>
              <a:rPr lang="zh-CN" altLang="en-US" sz="2800" dirty="0" smtClean="0">
                <a:ea typeface="华文楷体" panose="02010600040101010101" pitchFamily="2" charset="-122"/>
              </a:rPr>
              <a:t>提交方式及要求：</a:t>
            </a:r>
            <a:endParaRPr lang="zh-CN" altLang="en-US" sz="2800" dirty="0" smtClean="0">
              <a:ea typeface="华文楷体" panose="02010600040101010101" pitchFamily="2" charset="-122"/>
            </a:endParaRPr>
          </a:p>
          <a:p>
            <a:pPr lvl="1" eaLnBrk="1" hangingPunct="1">
              <a:lnSpc>
                <a:spcPct val="80000"/>
              </a:lnSpc>
            </a:pPr>
            <a:r>
              <a:rPr lang="zh-CN" altLang="en-US" sz="2400" dirty="0" smtClean="0">
                <a:ea typeface="华文楷体" panose="02010600040101010101" pitchFamily="2" charset="-122"/>
              </a:rPr>
              <a:t>提交到云平台，源码与实验报告一起打包上传。</a:t>
            </a:r>
            <a:endParaRPr lang="en-US" altLang="zh-CN" sz="2400" dirty="0">
              <a:ea typeface="华文楷体" panose="02010600040101010101" pitchFamily="2" charset="-122"/>
            </a:endParaRPr>
          </a:p>
          <a:p>
            <a:pPr lvl="1" eaLnBrk="1" hangingPunct="1">
              <a:lnSpc>
                <a:spcPct val="80000"/>
              </a:lnSpc>
            </a:pPr>
            <a:r>
              <a:rPr lang="zh-CN" altLang="en-US" sz="2400" dirty="0" smtClean="0">
                <a:ea typeface="华文楷体" panose="02010600040101010101" pitchFamily="2" charset="-122"/>
              </a:rPr>
              <a:t>提交时间：某一章的实验报告应在</a:t>
            </a:r>
            <a:r>
              <a:rPr lang="zh-CN" altLang="en-US" sz="2400" dirty="0" smtClean="0">
                <a:solidFill>
                  <a:schemeClr val="accent2"/>
                </a:solidFill>
                <a:ea typeface="华文楷体" panose="02010600040101010101" pitchFamily="2" charset="-122"/>
              </a:rPr>
              <a:t>本章内容结束后两个星期之内</a:t>
            </a:r>
            <a:r>
              <a:rPr lang="zh-CN" altLang="en-US" sz="2400" dirty="0" smtClean="0">
                <a:ea typeface="华文楷体" panose="02010600040101010101" pitchFamily="2" charset="-122"/>
              </a:rPr>
              <a:t>提交，</a:t>
            </a:r>
            <a:r>
              <a:rPr lang="zh-CN" altLang="en-US" sz="2400" b="1" dirty="0" smtClean="0">
                <a:solidFill>
                  <a:schemeClr val="accent2"/>
                </a:solidFill>
                <a:ea typeface="华文楷体" panose="02010600040101010101" pitchFamily="2" charset="-122"/>
              </a:rPr>
              <a:t>逾期不交者不予批改和验收</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lvl="1" eaLnBrk="1" hangingPunct="1">
              <a:lnSpc>
                <a:spcPct val="80000"/>
              </a:lnSpc>
            </a:pPr>
            <a:r>
              <a:rPr lang="zh-CN" altLang="en-US" sz="2400" dirty="0" smtClean="0">
                <a:ea typeface="华文楷体" panose="02010600040101010101" pitchFamily="2" charset="-122"/>
              </a:rPr>
              <a:t>实验验收：期末验收，时间地点另行通知，要求自带</a:t>
            </a:r>
            <a:r>
              <a:rPr lang="en-US" altLang="zh-CN" sz="2400" dirty="0" smtClean="0">
                <a:ea typeface="华文楷体" panose="02010600040101010101" pitchFamily="2" charset="-122"/>
              </a:rPr>
              <a:t>PC</a:t>
            </a:r>
            <a:r>
              <a:rPr lang="zh-CN" altLang="en-US" sz="2400" dirty="0" smtClean="0">
                <a:ea typeface="华文楷体" panose="02010600040101010101" pitchFamily="2" charset="-122"/>
              </a:rPr>
              <a:t>和原程序。</a:t>
            </a:r>
            <a:endParaRPr lang="zh-CN" altLang="en-US"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idx="1" hasCustomPrompt="1"/>
          </p:nvPr>
        </p:nvSpPr>
        <p:spPr>
          <a:xfrm>
            <a:off x="539552" y="1095375"/>
            <a:ext cx="8263255" cy="5762625"/>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zh-CN" altLang="en-US" sz="4000" b="0" i="0" u="none" strike="noStrike" kern="1200" cap="none" spc="0" normalizeH="0" baseline="0" noProof="0" dirty="0" smtClean="0">
                <a:ln>
                  <a:noFill/>
                </a:ln>
                <a:solidFill>
                  <a:srgbClr val="990000"/>
                </a:solidFill>
                <a:effectLst/>
                <a:uLnTx/>
                <a:uFillTx/>
                <a:latin typeface="隶书" panose="02010509060101010101" pitchFamily="49" charset="-122"/>
                <a:ea typeface="隶书" panose="02010509060101010101" pitchFamily="49" charset="-122"/>
                <a:cs typeface="+mn-cs"/>
              </a:rPr>
              <a:t>附录：</a:t>
            </a:r>
            <a:r>
              <a:rPr kumimoji="1" lang="en-US" altLang="zh-CN" sz="4000" b="0" i="0" u="none" strike="noStrike" kern="1200" cap="none" spc="0" normalizeH="0" baseline="0" noProof="0" dirty="0" smtClean="0">
                <a:ln>
                  <a:noFill/>
                </a:ln>
                <a:solidFill>
                  <a:srgbClr val="990000"/>
                </a:solidFill>
                <a:effectLst/>
                <a:uLnTx/>
                <a:uFillTx/>
                <a:latin typeface="隶书" panose="02010509060101010101" pitchFamily="49" charset="-122"/>
                <a:ea typeface="隶书" panose="02010509060101010101" pitchFamily="49" charset="-122"/>
                <a:cs typeface="+mn-cs"/>
              </a:rPr>
              <a:t>AI</a:t>
            </a:r>
            <a:r>
              <a:rPr kumimoji="1" lang="zh-CN" altLang="en-US" sz="4000" b="0" i="0" u="none" strike="noStrike" kern="1200" cap="none" spc="0" normalizeH="0" baseline="0" noProof="0" dirty="0" smtClean="0">
                <a:ln>
                  <a:noFill/>
                </a:ln>
                <a:solidFill>
                  <a:srgbClr val="990000"/>
                </a:solidFill>
                <a:effectLst/>
                <a:uLnTx/>
                <a:uFillTx/>
                <a:latin typeface="隶书" panose="02010509060101010101" pitchFamily="49" charset="-122"/>
                <a:ea typeface="隶书" panose="02010509060101010101" pitchFamily="49" charset="-122"/>
                <a:cs typeface="+mn-cs"/>
              </a:rPr>
              <a:t>辅助的软件开发模式</a:t>
            </a:r>
            <a:endParaRPr kumimoji="1" lang="en-US" altLang="zh-CN" sz="4000" b="0" i="0" u="none" strike="noStrike" kern="1200" cap="none" spc="0" normalizeH="0" baseline="0" noProof="0" dirty="0" smtClean="0">
              <a:ln>
                <a:noFill/>
              </a:ln>
              <a:solidFill>
                <a:srgbClr val="990000"/>
              </a:solidFill>
              <a:effectLst/>
              <a:uLnTx/>
              <a:uFillTx/>
              <a:latin typeface="隶书" panose="02010509060101010101" pitchFamily="49" charset="-122"/>
              <a:ea typeface="隶书" panose="02010509060101010101" pitchFamily="49" charset="-122"/>
              <a:cs typeface="+mn-cs"/>
            </a:endParaRPr>
          </a:p>
          <a:p>
            <a:pPr marL="0" marR="0" lvl="0" indent="0" algn="l" defTabSz="914400" rtl="0" eaLnBrk="1" fontAlgn="base" latinLnBrk="0" hangingPunct="1">
              <a:lnSpc>
                <a:spcPct val="150000"/>
              </a:lnSpc>
              <a:spcBef>
                <a:spcPct val="20000"/>
              </a:spcBef>
              <a:spcAft>
                <a:spcPct val="0"/>
              </a:spcAft>
              <a:buClrTx/>
              <a:buSzTx/>
              <a:buFontTx/>
              <a:buNone/>
              <a:defRPr/>
            </a:pPr>
            <a:r>
              <a:rPr kumimoji="1" lang="zh-CN" altLang="en-US" sz="2000" b="0" i="0" u="none" strike="noStrike" kern="1200" cap="none" spc="0" normalizeH="0" baseline="0" noProof="0" dirty="0">
                <a:ln>
                  <a:noFill/>
                </a:ln>
                <a:solidFill>
                  <a:schemeClr val="tx1"/>
                </a:solidFill>
                <a:effectLst/>
                <a:uLnTx/>
                <a:uFillTx/>
                <a:cs typeface="+mn-cs"/>
              </a:rPr>
              <a:t>（</a:t>
            </a:r>
            <a:r>
              <a:rPr kumimoji="1" lang="en-US" altLang="zh-CN" sz="2000" b="0" i="0" u="none" strike="noStrike" kern="1200" cap="none" spc="0" normalizeH="0" baseline="0" noProof="0" dirty="0">
                <a:ln>
                  <a:noFill/>
                </a:ln>
                <a:solidFill>
                  <a:schemeClr val="tx1"/>
                </a:solidFill>
                <a:effectLst/>
                <a:uLnTx/>
                <a:uFillTx/>
                <a:cs typeface="+mn-cs"/>
              </a:rPr>
              <a:t>1</a:t>
            </a:r>
            <a:r>
              <a:rPr kumimoji="1" lang="zh-CN" altLang="en-US" sz="2000" b="0" i="0" u="none" strike="noStrike" kern="1200" cap="none" spc="0" normalizeH="0" baseline="0" noProof="0" dirty="0" smtClean="0">
                <a:ln>
                  <a:noFill/>
                </a:ln>
                <a:solidFill>
                  <a:schemeClr val="tx1"/>
                </a:solidFill>
                <a:effectLst/>
                <a:uLnTx/>
                <a:uFillTx/>
                <a:cs typeface="+mn-cs"/>
              </a:rPr>
              <a:t>）根据</a:t>
            </a:r>
            <a:r>
              <a:rPr kumimoji="1" lang="zh-CN" altLang="en-US" sz="2000" kern="1200" dirty="0"/>
              <a:t>自我</a:t>
            </a:r>
            <a:r>
              <a:rPr kumimoji="1" lang="zh-CN" altLang="en-US" sz="2000" b="0" i="0" u="none" strike="noStrike" kern="1200" cap="none" spc="0" normalizeH="0" baseline="0" noProof="0" dirty="0" smtClean="0">
                <a:ln>
                  <a:noFill/>
                </a:ln>
                <a:solidFill>
                  <a:schemeClr val="tx1"/>
                </a:solidFill>
                <a:effectLst/>
                <a:uLnTx/>
                <a:uFillTx/>
                <a:cs typeface="+mn-cs"/>
              </a:rPr>
              <a:t>能力选择系统架构（</a:t>
            </a:r>
            <a:r>
              <a:rPr kumimoji="1" lang="en-US" altLang="zh-CN" sz="2000" b="0" i="0" u="none" strike="noStrike" kern="1200" cap="none" spc="0" normalizeH="0" baseline="0" noProof="0" dirty="0" smtClean="0">
                <a:ln>
                  <a:noFill/>
                </a:ln>
                <a:solidFill>
                  <a:schemeClr val="tx1"/>
                </a:solidFill>
                <a:effectLst/>
                <a:uLnTx/>
                <a:uFillTx/>
                <a:cs typeface="+mn-cs"/>
              </a:rPr>
              <a:t>PC</a:t>
            </a:r>
            <a:r>
              <a:rPr kumimoji="1" lang="zh-CN" altLang="en-US" sz="2000" b="0" i="0" u="none" strike="noStrike" kern="1200" cap="none" spc="0" normalizeH="0" baseline="0" noProof="0" dirty="0" smtClean="0">
                <a:ln>
                  <a:noFill/>
                </a:ln>
                <a:solidFill>
                  <a:schemeClr val="tx1"/>
                </a:solidFill>
                <a:effectLst/>
                <a:uLnTx/>
                <a:uFillTx/>
                <a:cs typeface="+mn-cs"/>
              </a:rPr>
              <a:t>或者手机）</a:t>
            </a:r>
            <a:endParaRPr kumimoji="1" lang="en-US" altLang="zh-CN" sz="2000" b="0" i="0" u="none" strike="noStrike" kern="1200" cap="none" spc="0" normalizeH="0" baseline="0" noProof="0" dirty="0" smtClean="0">
              <a:ln>
                <a:noFill/>
              </a:ln>
              <a:solidFill>
                <a:schemeClr val="tx1"/>
              </a:solidFill>
              <a:effectLst/>
              <a:uLnTx/>
              <a:uFillTx/>
              <a:cs typeface="+mn-cs"/>
            </a:endParaRPr>
          </a:p>
          <a:p>
            <a:pPr marL="0" marR="0" lvl="0" indent="0" algn="l" defTabSz="914400" rtl="0" eaLnBrk="1" fontAlgn="base" latinLnBrk="0" hangingPunct="1">
              <a:lnSpc>
                <a:spcPct val="15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chemeClr val="tx1"/>
                </a:solidFill>
                <a:effectLst/>
                <a:uLnTx/>
                <a:uFillTx/>
                <a:cs typeface="+mn-cs"/>
              </a:rPr>
              <a:t>（</a:t>
            </a:r>
            <a:r>
              <a:rPr kumimoji="1" lang="en-US" altLang="zh-CN" sz="2000" b="0" i="0" u="none" strike="noStrike" kern="1200" cap="none" spc="0" normalizeH="0" baseline="0" noProof="0" dirty="0" smtClean="0">
                <a:ln>
                  <a:noFill/>
                </a:ln>
                <a:solidFill>
                  <a:schemeClr val="tx1"/>
                </a:solidFill>
                <a:effectLst/>
                <a:uLnTx/>
                <a:uFillTx/>
                <a:cs typeface="+mn-cs"/>
              </a:rPr>
              <a:t>2</a:t>
            </a:r>
            <a:r>
              <a:rPr kumimoji="1" lang="zh-CN" altLang="en-US" sz="2000" b="0" i="0" u="none" strike="noStrike" kern="1200" cap="none" spc="0" normalizeH="0" baseline="0" noProof="0" dirty="0" smtClean="0">
                <a:ln>
                  <a:noFill/>
                </a:ln>
                <a:solidFill>
                  <a:schemeClr val="tx1"/>
                </a:solidFill>
                <a:effectLst/>
                <a:uLnTx/>
                <a:uFillTx/>
                <a:cs typeface="+mn-cs"/>
              </a:rPr>
              <a:t>）选用大模型，可选码上大模型、通义灵码、文心一言、星火等）</a:t>
            </a:r>
            <a:endParaRPr kumimoji="1" lang="en-US" altLang="zh-CN" sz="2000" b="0" i="0" u="none" strike="noStrike" kern="1200" cap="none" spc="0" normalizeH="0" baseline="0" noProof="0" dirty="0" smtClean="0">
              <a:ln>
                <a:noFill/>
              </a:ln>
              <a:solidFill>
                <a:schemeClr val="tx1"/>
              </a:solidFill>
              <a:effectLst/>
              <a:uLnTx/>
              <a:uFillTx/>
              <a:cs typeface="+mn-cs"/>
            </a:endParaRPr>
          </a:p>
          <a:p>
            <a:pPr marL="0" marR="0" lvl="0" indent="0" algn="l" defTabSz="914400" rtl="0" eaLnBrk="1" fontAlgn="base" latinLnBrk="0" hangingPunct="1">
              <a:lnSpc>
                <a:spcPct val="15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chemeClr val="tx1"/>
                </a:solidFill>
                <a:effectLst/>
                <a:uLnTx/>
                <a:uFillTx/>
                <a:cs typeface="+mn-cs"/>
              </a:rPr>
              <a:t>（</a:t>
            </a:r>
            <a:r>
              <a:rPr kumimoji="1" lang="en-US" altLang="zh-CN" sz="2000" b="0" i="0" u="none" strike="noStrike" kern="1200" cap="none" spc="0" normalizeH="0" baseline="0" noProof="0" dirty="0" smtClean="0">
                <a:ln>
                  <a:noFill/>
                </a:ln>
                <a:solidFill>
                  <a:schemeClr val="tx1"/>
                </a:solidFill>
                <a:effectLst/>
                <a:uLnTx/>
                <a:uFillTx/>
                <a:cs typeface="+mn-cs"/>
              </a:rPr>
              <a:t>3</a:t>
            </a:r>
            <a:r>
              <a:rPr kumimoji="1" lang="zh-CN" altLang="en-US" sz="2000" b="0" i="0" u="none" strike="noStrike" kern="1200" cap="none" spc="0" normalizeH="0" baseline="0" noProof="0" dirty="0" smtClean="0">
                <a:ln>
                  <a:noFill/>
                </a:ln>
                <a:solidFill>
                  <a:schemeClr val="tx1"/>
                </a:solidFill>
                <a:effectLst/>
                <a:uLnTx/>
                <a:uFillTx/>
                <a:cs typeface="+mn-cs"/>
              </a:rPr>
              <a:t>）利用大模型进行系统总体设计，并编写需求文档；</a:t>
            </a:r>
            <a:endParaRPr kumimoji="1" lang="en-US" altLang="zh-CN" sz="2000" b="0" i="0" u="none" strike="noStrike" kern="1200" cap="none" spc="0" normalizeH="0" baseline="0" noProof="0" dirty="0" smtClean="0">
              <a:ln>
                <a:noFill/>
              </a:ln>
              <a:solidFill>
                <a:schemeClr val="tx1"/>
              </a:solidFill>
              <a:effectLst/>
              <a:uLnTx/>
              <a:uFillTx/>
              <a:cs typeface="+mn-cs"/>
            </a:endParaRPr>
          </a:p>
          <a:p>
            <a:pPr marL="0" marR="0" lvl="0" indent="0" algn="l" defTabSz="914400" rtl="0" eaLnBrk="1" fontAlgn="base" latinLnBrk="0" hangingPunct="1">
              <a:lnSpc>
                <a:spcPct val="15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chemeClr val="tx1"/>
                </a:solidFill>
                <a:effectLst/>
                <a:uLnTx/>
                <a:uFillTx/>
                <a:cs typeface="+mn-cs"/>
              </a:rPr>
              <a:t>（</a:t>
            </a:r>
            <a:r>
              <a:rPr kumimoji="1" lang="en-US" altLang="zh-CN" sz="2000" b="0" i="0" u="none" strike="noStrike" kern="1200" cap="none" spc="0" normalizeH="0" baseline="0" noProof="0" dirty="0" smtClean="0">
                <a:ln>
                  <a:noFill/>
                </a:ln>
                <a:solidFill>
                  <a:schemeClr val="tx1"/>
                </a:solidFill>
                <a:effectLst/>
                <a:uLnTx/>
                <a:uFillTx/>
                <a:cs typeface="+mn-cs"/>
              </a:rPr>
              <a:t>4</a:t>
            </a:r>
            <a:r>
              <a:rPr kumimoji="1" lang="zh-CN" altLang="en-US" sz="2000" b="0" i="0" u="none" strike="noStrike" kern="1200" cap="none" spc="0" normalizeH="0" baseline="0" noProof="0" dirty="0" smtClean="0">
                <a:ln>
                  <a:noFill/>
                </a:ln>
                <a:solidFill>
                  <a:schemeClr val="tx1"/>
                </a:solidFill>
                <a:effectLst/>
                <a:uLnTx/>
                <a:uFillTx/>
                <a:cs typeface="+mn-cs"/>
              </a:rPr>
              <a:t>）利用大模型进行算法的对比、选型和设计；</a:t>
            </a:r>
            <a:endParaRPr kumimoji="1" lang="en-US" altLang="zh-CN" sz="2000" b="0" i="0" u="none" strike="noStrike" kern="1200" cap="none" spc="0" normalizeH="0" baseline="0" noProof="0" dirty="0" smtClean="0">
              <a:ln>
                <a:noFill/>
              </a:ln>
              <a:solidFill>
                <a:schemeClr val="tx1"/>
              </a:solidFill>
              <a:effectLst/>
              <a:uLnTx/>
              <a:uFillTx/>
              <a:cs typeface="+mn-cs"/>
            </a:endParaRPr>
          </a:p>
          <a:p>
            <a:pPr marL="0" marR="0" lvl="0" indent="0" algn="l" defTabSz="914400" rtl="0" eaLnBrk="1" fontAlgn="base" latinLnBrk="0" hangingPunct="1">
              <a:lnSpc>
                <a:spcPct val="15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chemeClr val="tx1"/>
                </a:solidFill>
                <a:effectLst/>
                <a:uLnTx/>
                <a:uFillTx/>
                <a:cs typeface="+mn-cs"/>
              </a:rPr>
              <a:t>（</a:t>
            </a:r>
            <a:r>
              <a:rPr kumimoji="1" lang="en-US" altLang="zh-CN" sz="2000" b="0" i="0" u="none" strike="noStrike" kern="1200" cap="none" spc="0" normalizeH="0" baseline="0" noProof="0" dirty="0" smtClean="0">
                <a:ln>
                  <a:noFill/>
                </a:ln>
                <a:solidFill>
                  <a:schemeClr val="tx1"/>
                </a:solidFill>
                <a:effectLst/>
                <a:uLnTx/>
                <a:uFillTx/>
                <a:cs typeface="+mn-cs"/>
              </a:rPr>
              <a:t>5</a:t>
            </a:r>
            <a:r>
              <a:rPr kumimoji="1" lang="zh-CN" altLang="en-US" sz="2000" b="0" i="0" u="none" strike="noStrike" kern="1200" cap="none" spc="0" normalizeH="0" baseline="0" noProof="0" dirty="0" smtClean="0">
                <a:ln>
                  <a:noFill/>
                </a:ln>
                <a:solidFill>
                  <a:schemeClr val="tx1"/>
                </a:solidFill>
                <a:effectLst/>
                <a:uLnTx/>
                <a:uFillTx/>
                <a:cs typeface="+mn-cs"/>
              </a:rPr>
              <a:t>）利用大模型编写设计文档；</a:t>
            </a:r>
            <a:endParaRPr kumimoji="1" lang="en-US" altLang="zh-CN" sz="2000" b="0" i="0" u="none" strike="noStrike" kern="1200" cap="none" spc="0" normalizeH="0" baseline="0" noProof="0" dirty="0" smtClean="0">
              <a:ln>
                <a:noFill/>
              </a:ln>
              <a:solidFill>
                <a:schemeClr val="tx1"/>
              </a:solidFill>
              <a:effectLst/>
              <a:uLnTx/>
              <a:uFillTx/>
              <a:cs typeface="+mn-cs"/>
            </a:endParaRPr>
          </a:p>
          <a:p>
            <a:pPr marL="0" marR="0" lvl="0" indent="0" algn="l" defTabSz="914400" rtl="0" eaLnBrk="1" fontAlgn="base" latinLnBrk="0" hangingPunct="1">
              <a:lnSpc>
                <a:spcPct val="15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chemeClr val="tx1"/>
                </a:solidFill>
                <a:effectLst/>
                <a:uLnTx/>
                <a:uFillTx/>
                <a:cs typeface="+mn-cs"/>
              </a:rPr>
              <a:t>（</a:t>
            </a:r>
            <a:r>
              <a:rPr kumimoji="1" lang="en-US" altLang="zh-CN" sz="2000" b="0" i="0" u="none" strike="noStrike" kern="1200" cap="none" spc="0" normalizeH="0" baseline="0" noProof="0" dirty="0" smtClean="0">
                <a:ln>
                  <a:noFill/>
                </a:ln>
                <a:solidFill>
                  <a:schemeClr val="tx1"/>
                </a:solidFill>
                <a:effectLst/>
                <a:uLnTx/>
                <a:uFillTx/>
                <a:cs typeface="+mn-cs"/>
              </a:rPr>
              <a:t>6</a:t>
            </a:r>
            <a:r>
              <a:rPr kumimoji="1" lang="zh-CN" altLang="en-US" sz="2000" b="0" i="0" u="none" strike="noStrike" kern="1200" cap="none" spc="0" normalizeH="0" baseline="0" noProof="0" dirty="0" smtClean="0">
                <a:ln>
                  <a:noFill/>
                </a:ln>
                <a:solidFill>
                  <a:schemeClr val="tx1"/>
                </a:solidFill>
                <a:effectLst/>
                <a:uLnTx/>
                <a:uFillTx/>
                <a:cs typeface="+mn-cs"/>
              </a:rPr>
              <a:t>）利用大模型进行算法的实现；</a:t>
            </a:r>
            <a:endParaRPr kumimoji="1" lang="en-US" altLang="zh-CN" sz="2000" b="0" i="0" u="none" strike="noStrike" kern="1200" cap="none" spc="0" normalizeH="0" baseline="0" noProof="0" dirty="0" smtClean="0">
              <a:ln>
                <a:noFill/>
              </a:ln>
              <a:solidFill>
                <a:schemeClr val="tx1"/>
              </a:solidFill>
              <a:effectLst/>
              <a:uLnTx/>
              <a:uFillTx/>
              <a:cs typeface="+mn-cs"/>
            </a:endParaRPr>
          </a:p>
          <a:p>
            <a:pPr marL="0" marR="0" lvl="0" indent="0" algn="l" defTabSz="914400" rtl="0" eaLnBrk="1" fontAlgn="base" latinLnBrk="0" hangingPunct="1">
              <a:lnSpc>
                <a:spcPct val="15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chemeClr val="tx1"/>
                </a:solidFill>
                <a:effectLst/>
                <a:uLnTx/>
                <a:uFillTx/>
                <a:cs typeface="+mn-cs"/>
              </a:rPr>
              <a:t>（</a:t>
            </a:r>
            <a:r>
              <a:rPr kumimoji="1" lang="en-US" altLang="zh-CN" sz="2000" b="0" i="0" u="none" strike="noStrike" kern="1200" cap="none" spc="0" normalizeH="0" baseline="0" noProof="0" dirty="0" smtClean="0">
                <a:ln>
                  <a:noFill/>
                </a:ln>
                <a:solidFill>
                  <a:schemeClr val="tx1"/>
                </a:solidFill>
                <a:effectLst/>
                <a:uLnTx/>
                <a:uFillTx/>
                <a:cs typeface="+mn-cs"/>
              </a:rPr>
              <a:t>7</a:t>
            </a:r>
            <a:r>
              <a:rPr kumimoji="1" lang="zh-CN" altLang="en-US" sz="2000" b="0" i="0" u="none" strike="noStrike" kern="1200" cap="none" spc="0" normalizeH="0" baseline="0" noProof="0" dirty="0" smtClean="0">
                <a:ln>
                  <a:noFill/>
                </a:ln>
                <a:solidFill>
                  <a:schemeClr val="tx1"/>
                </a:solidFill>
                <a:effectLst/>
                <a:uLnTx/>
                <a:uFillTx/>
                <a:cs typeface="+mn-cs"/>
              </a:rPr>
              <a:t>）利用爬虫构造数据集，进行测试；</a:t>
            </a:r>
            <a:endParaRPr kumimoji="1" lang="en-US" altLang="zh-CN" sz="2000" b="0" i="0" u="none" strike="noStrike" kern="1200" cap="none" spc="0" normalizeH="0" baseline="0" noProof="0" dirty="0" smtClean="0">
              <a:ln>
                <a:noFill/>
              </a:ln>
              <a:solidFill>
                <a:schemeClr val="tx1"/>
              </a:solidFill>
              <a:effectLst/>
              <a:uLnTx/>
              <a:uFillTx/>
              <a:cs typeface="+mn-cs"/>
            </a:endParaRPr>
          </a:p>
          <a:p>
            <a:pPr marL="0" marR="0" lvl="0" indent="0" algn="l" defTabSz="914400" rtl="0" eaLnBrk="1" fontAlgn="base" latinLnBrk="0" hangingPunct="1">
              <a:lnSpc>
                <a:spcPct val="15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chemeClr val="tx1"/>
                </a:solidFill>
                <a:effectLst/>
                <a:uLnTx/>
                <a:uFillTx/>
                <a:cs typeface="+mn-cs"/>
              </a:rPr>
              <a:t>（</a:t>
            </a:r>
            <a:r>
              <a:rPr kumimoji="1" lang="en-US" altLang="zh-CN" sz="2000" b="0" i="0" u="none" strike="noStrike" kern="1200" cap="none" spc="0" normalizeH="0" baseline="0" noProof="0" dirty="0" smtClean="0">
                <a:ln>
                  <a:noFill/>
                </a:ln>
                <a:solidFill>
                  <a:schemeClr val="tx1"/>
                </a:solidFill>
                <a:effectLst/>
                <a:uLnTx/>
                <a:uFillTx/>
                <a:cs typeface="+mn-cs"/>
              </a:rPr>
              <a:t>8</a:t>
            </a:r>
            <a:r>
              <a:rPr kumimoji="1" lang="zh-CN" altLang="en-US" sz="2000" b="0" i="0" u="none" strike="noStrike" kern="1200" cap="none" spc="0" normalizeH="0" baseline="0" noProof="0" dirty="0" smtClean="0">
                <a:ln>
                  <a:noFill/>
                </a:ln>
                <a:solidFill>
                  <a:schemeClr val="tx1"/>
                </a:solidFill>
                <a:effectLst/>
                <a:uLnTx/>
                <a:uFillTx/>
                <a:cs typeface="+mn-cs"/>
              </a:rPr>
              <a:t>）利用大模型编写测试文档和用户使用手册；</a:t>
            </a:r>
            <a:endParaRPr kumimoji="1" lang="en-US" altLang="zh-CN" sz="2000" b="0" i="0" u="none" strike="noStrike" kern="1200" cap="none" spc="0" normalizeH="0" baseline="0" noProof="0" dirty="0" smtClean="0">
              <a:ln>
                <a:noFill/>
              </a:ln>
              <a:solidFill>
                <a:schemeClr val="tx1"/>
              </a:solidFill>
              <a:effectLst/>
              <a:uLnTx/>
              <a:uFillTx/>
              <a:cs typeface="+mn-cs"/>
            </a:endParaRPr>
          </a:p>
          <a:p>
            <a:pPr marL="0" marR="0" lvl="0" indent="0" algn="l" defTabSz="914400" rtl="0" eaLnBrk="1" fontAlgn="base" latinLnBrk="0" hangingPunct="1">
              <a:lnSpc>
                <a:spcPct val="90000"/>
              </a:lnSpc>
              <a:spcBef>
                <a:spcPct val="20000"/>
              </a:spcBef>
              <a:spcAft>
                <a:spcPct val="0"/>
              </a:spcAft>
              <a:buClrTx/>
              <a:buSzTx/>
              <a:buFontTx/>
              <a:buNone/>
              <a:defRPr/>
            </a:pPr>
            <a:endParaRPr kumimoji="1" lang="en-US" altLang="zh-CN" sz="2000" b="0" i="0" u="none" strike="noStrike" kern="1200" cap="none" spc="0" normalizeH="0" baseline="0" noProof="0" dirty="0" smtClean="0">
              <a:ln>
                <a:noFill/>
              </a:ln>
              <a:solidFill>
                <a:schemeClr val="tx1"/>
              </a:solidFill>
              <a:effectLst/>
              <a:uLnTx/>
              <a:uFillTx/>
              <a:cs typeface="+mn-cs"/>
            </a:endParaRPr>
          </a:p>
          <a:p>
            <a:pPr marL="0" marR="0" lvl="0" indent="0" algn="l" defTabSz="914400" rtl="0" eaLnBrk="1" fontAlgn="base" latinLnBrk="0" hangingPunct="1">
              <a:lnSpc>
                <a:spcPct val="90000"/>
              </a:lnSpc>
              <a:spcBef>
                <a:spcPct val="20000"/>
              </a:spcBef>
              <a:spcAft>
                <a:spcPct val="0"/>
              </a:spcAft>
              <a:buClrTx/>
              <a:buSzTx/>
              <a:buFontTx/>
              <a:buNone/>
              <a:defRPr/>
            </a:pPr>
            <a:endParaRPr kumimoji="1" lang="zh-CN" altLang="en-US" sz="2400" b="0" i="0" u="none" strike="noStrike" kern="1200" cap="none" spc="0" normalizeH="0" baseline="0" noProof="0" dirty="0">
              <a:ln>
                <a:noFill/>
              </a:ln>
              <a:solidFill>
                <a:schemeClr val="tx1"/>
              </a:solidFill>
              <a:effectLst/>
              <a:uLnTx/>
              <a:uFillTx/>
              <a:cs typeface="+mn-cs"/>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国外精美的的PPT模板及图标之二">
  <a:themeElements>
    <a:clrScheme name="国外精美的的PPT模板及图标之二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国外精美的的PPT模板及图标之二">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2225" cap="flat" cmpd="sng" algn="ctr">
          <a:solidFill>
            <a:schemeClr val="accent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22225" cap="flat" cmpd="sng" algn="ctr">
          <a:solidFill>
            <a:schemeClr val="accent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国外精美的的PPT模板及图标之二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国外精美的的PPT模板及图标之二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国外精美的的PPT模板及图标之二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0</TotalTime>
  <Words>14254</Words>
  <Application>WPS 演示</Application>
  <PresentationFormat>全屏显示(4:3)</PresentationFormat>
  <Paragraphs>1302</Paragraphs>
  <Slides>56</Slides>
  <Notes>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56</vt:i4>
      </vt:variant>
    </vt:vector>
  </HeadingPairs>
  <TitlesOfParts>
    <vt:vector size="69" baseType="lpstr">
      <vt:lpstr>Arial</vt:lpstr>
      <vt:lpstr>宋体</vt:lpstr>
      <vt:lpstr>Wingdings</vt:lpstr>
      <vt:lpstr>华文楷体</vt:lpstr>
      <vt:lpstr>Verdana</vt:lpstr>
      <vt:lpstr>Symbol</vt:lpstr>
      <vt:lpstr>楷体_GB2312</vt:lpstr>
      <vt:lpstr>新宋体</vt:lpstr>
      <vt:lpstr>微软雅黑</vt:lpstr>
      <vt:lpstr>Arial Unicode MS</vt:lpstr>
      <vt:lpstr>Times New Roman</vt:lpstr>
      <vt:lpstr>隶书</vt:lpstr>
      <vt:lpstr>国外精美的的PPT模板及图标之二</vt:lpstr>
      <vt:lpstr>第二章 线性表</vt:lpstr>
      <vt:lpstr>提纲</vt:lpstr>
      <vt:lpstr>2.1 线性表定义</vt:lpstr>
      <vt:lpstr>2.2 向量（顺序表）</vt:lpstr>
      <vt:lpstr>顺序表的构造函数与析构函数</vt:lpstr>
      <vt:lpstr>*动态内存分配</vt:lpstr>
      <vt:lpstr>顺序表的判空与求长度</vt:lpstr>
      <vt:lpstr>顺序表迭代子</vt:lpstr>
      <vt:lpstr>获取顺序表成员</vt:lpstr>
      <vt:lpstr>顺序表元素的删除</vt:lpstr>
      <vt:lpstr>PowerPoint 演示文稿</vt:lpstr>
      <vt:lpstr>PowerPoint 演示文稿</vt:lpstr>
      <vt:lpstr>顺序表的存储管理</vt:lpstr>
      <vt:lpstr>顺序表元素的添加</vt:lpstr>
      <vt:lpstr>顺序表的其他成员函数</vt:lpstr>
      <vt:lpstr>顺序表的优缺点</vt:lpstr>
      <vt:lpstr>2.3 单链表</vt:lpstr>
      <vt:lpstr>单链表节点类型定义</vt:lpstr>
      <vt:lpstr>单链表查找</vt:lpstr>
      <vt:lpstr>PowerPoint 演示文稿</vt:lpstr>
      <vt:lpstr>单链表节点的插入</vt:lpstr>
      <vt:lpstr>头插法与尾插法</vt:lpstr>
      <vt:lpstr>PowerPoint 演示文稿</vt:lpstr>
      <vt:lpstr>有序表中的插入</vt:lpstr>
      <vt:lpstr>单链表的删除</vt:lpstr>
      <vt:lpstr>PowerPoint 演示文稿</vt:lpstr>
      <vt:lpstr>PowerPoint 演示文稿</vt:lpstr>
      <vt:lpstr>单链表操作的综合应用</vt:lpstr>
      <vt:lpstr>2.4 单循环链表</vt:lpstr>
      <vt:lpstr>PowerPoint 演示文稿</vt:lpstr>
      <vt:lpstr>PowerPoint 演示文稿</vt:lpstr>
      <vt:lpstr>2.5 双向链表</vt:lpstr>
      <vt:lpstr>PowerPoint 演示文稿</vt:lpstr>
      <vt:lpstr>双向循环有序链表的插入算法</vt:lpstr>
      <vt:lpstr>顺序表和链表的比较</vt:lpstr>
      <vt:lpstr>2.6 静态链表</vt:lpstr>
      <vt:lpstr>PowerPoint 演示文稿</vt:lpstr>
      <vt:lpstr>2.7 线性表应用示例</vt:lpstr>
      <vt:lpstr>PowerPoint 演示文稿</vt:lpstr>
      <vt:lpstr>  算法实现         设多项式按指数升序排列</vt:lpstr>
      <vt:lpstr>PowerPoint 演示文稿</vt:lpstr>
      <vt:lpstr>PowerPoint 演示文稿</vt:lpstr>
      <vt:lpstr>PowerPoint 演示文稿</vt:lpstr>
      <vt:lpstr>PowerPoint 演示文稿</vt:lpstr>
      <vt:lpstr>PowerPoint 演示文稿</vt:lpstr>
      <vt:lpstr>本章作业</vt:lpstr>
      <vt:lpstr>PowerPoint 演示文稿</vt:lpstr>
      <vt:lpstr>PowerPoint 演示文稿</vt:lpstr>
      <vt:lpstr>PowerPoint 演示文稿</vt:lpstr>
      <vt:lpstr>实验报告（一）</vt:lpstr>
      <vt:lpstr>PowerPoint 演示文稿</vt:lpstr>
      <vt:lpstr>实验报告撰写格式 </vt:lpstr>
      <vt:lpstr>PowerPoint 演示文稿</vt:lpstr>
      <vt:lpstr>PowerPoint 演示文稿</vt:lpstr>
      <vt:lpstr>实验报告提交方式</vt:lpstr>
      <vt:lpstr>PowerPoint 演示文稿</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本章内容</dc:title>
  <dc:creator>xush</dc:creator>
  <cp:lastModifiedBy>岁月无声</cp:lastModifiedBy>
  <cp:revision>481</cp:revision>
  <cp:lastPrinted>2000-02-21T03:59:00Z</cp:lastPrinted>
  <dcterms:created xsi:type="dcterms:W3CDTF">2000-02-21T01:53:00Z</dcterms:created>
  <dcterms:modified xsi:type="dcterms:W3CDTF">2025-09-22T01:35:45Z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B9CF0D98DFD6465EA421BB4FB3B68776_12</vt:lpwstr>
  </property>
  <property fmtid="{D5CDD505-2E9C-101B-9397-08002B2CF9AE}" pid="3" name="KSOProductBuildVer">
    <vt:lpwstr>2052-12.1.0.22529</vt:lpwstr>
  </property>
</Properties>
</file>