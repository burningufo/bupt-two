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3"/>
    <p:sldId id="257" r:id="rId4"/>
    <p:sldId id="258" r:id="rId5"/>
    <p:sldId id="259" r:id="rId6"/>
    <p:sldId id="260" r:id="rId7"/>
    <p:sldId id="277" r:id="rId8"/>
    <p:sldId id="261" r:id="rId9"/>
    <p:sldId id="262" r:id="rId10"/>
    <p:sldId id="263" r:id="rId11"/>
    <p:sldId id="264" r:id="rId12"/>
    <p:sldId id="265" r:id="rId13"/>
    <p:sldId id="266" r:id="rId14"/>
    <p:sldId id="267" r:id="rId15"/>
    <p:sldId id="365" r:id="rId16"/>
    <p:sldId id="268" r:id="rId17"/>
    <p:sldId id="269" r:id="rId18"/>
    <p:sldId id="270" r:id="rId19"/>
    <p:sldId id="271" r:id="rId20"/>
    <p:sldId id="272" r:id="rId21"/>
    <p:sldId id="366" r:id="rId22"/>
    <p:sldId id="369" r:id="rId23"/>
    <p:sldId id="273" r:id="rId24"/>
    <p:sldId id="274" r:id="rId25"/>
    <p:sldId id="275" r:id="rId26"/>
    <p:sldId id="276" r:id="rId27"/>
    <p:sldId id="279" r:id="rId28"/>
    <p:sldId id="280" r:id="rId29"/>
    <p:sldId id="281" r:id="rId30"/>
    <p:sldId id="382" r:id="rId31"/>
    <p:sldId id="282" r:id="rId32"/>
    <p:sldId id="385" r:id="rId33"/>
    <p:sldId id="383" r:id="rId34"/>
    <p:sldId id="384" r:id="rId35"/>
    <p:sldId id="386" r:id="rId36"/>
    <p:sldId id="387" r:id="rId37"/>
    <p:sldId id="284" r:id="rId38"/>
    <p:sldId id="367" r:id="rId39"/>
    <p:sldId id="371" r:id="rId40"/>
    <p:sldId id="286" r:id="rId41"/>
    <p:sldId id="287" r:id="rId42"/>
    <p:sldId id="288" r:id="rId43"/>
    <p:sldId id="289" r:id="rId44"/>
    <p:sldId id="368" r:id="rId45"/>
    <p:sldId id="372" r:id="rId46"/>
    <p:sldId id="381" r:id="rId47"/>
    <p:sldId id="373" r:id="rId48"/>
    <p:sldId id="374" r:id="rId49"/>
    <p:sldId id="375" r:id="rId50"/>
    <p:sldId id="380" r:id="rId51"/>
    <p:sldId id="291" r:id="rId53"/>
    <p:sldId id="370" r:id="rId54"/>
    <p:sldId id="294" r:id="rId55"/>
    <p:sldId id="295" r:id="rId56"/>
    <p:sldId id="296" r:id="rId57"/>
    <p:sldId id="297" r:id="rId58"/>
    <p:sldId id="298" r:id="rId59"/>
    <p:sldId id="299" r:id="rId60"/>
    <p:sldId id="303" r:id="rId61"/>
    <p:sldId id="304" r:id="rId62"/>
    <p:sldId id="305" r:id="rId63"/>
    <p:sldId id="306" r:id="rId64"/>
    <p:sldId id="307" r:id="rId65"/>
    <p:sldId id="376" r:id="rId66"/>
    <p:sldId id="378" r:id="rId67"/>
    <p:sldId id="308" r:id="rId68"/>
    <p:sldId id="379" r:id="rId69"/>
    <p:sldId id="309" r:id="rId70"/>
    <p:sldId id="310" r:id="rId71"/>
    <p:sldId id="312" r:id="rId72"/>
    <p:sldId id="313" r:id="rId73"/>
    <p:sldId id="314" r:id="rId74"/>
    <p:sldId id="316" r:id="rId75"/>
    <p:sldId id="317" r:id="rId76"/>
    <p:sldId id="321" r:id="rId77"/>
    <p:sldId id="322" r:id="rId78"/>
    <p:sldId id="323" r:id="rId79"/>
    <p:sldId id="324" r:id="rId80"/>
    <p:sldId id="325" r:id="rId81"/>
    <p:sldId id="326" r:id="rId82"/>
    <p:sldId id="327" r:id="rId83"/>
    <p:sldId id="328" r:id="rId84"/>
    <p:sldId id="389" r:id="rId85"/>
    <p:sldId id="329" r:id="rId86"/>
    <p:sldId id="330" r:id="rId87"/>
    <p:sldId id="331" r:id="rId88"/>
    <p:sldId id="332" r:id="rId89"/>
    <p:sldId id="333" r:id="rId90"/>
    <p:sldId id="334" r:id="rId91"/>
    <p:sldId id="335" r:id="rId92"/>
    <p:sldId id="391" r:id="rId93"/>
    <p:sldId id="337" r:id="rId94"/>
    <p:sldId id="338" r:id="rId95"/>
    <p:sldId id="339" r:id="rId96"/>
    <p:sldId id="340" r:id="rId97"/>
    <p:sldId id="341" r:id="rId98"/>
    <p:sldId id="392" r:id="rId99"/>
    <p:sldId id="396" r:id="rId100"/>
    <p:sldId id="393" r:id="rId101"/>
    <p:sldId id="394" r:id="rId102"/>
    <p:sldId id="395" r:id="rId103"/>
    <p:sldId id="397" r:id="rId104"/>
    <p:sldId id="398" r:id="rId105"/>
    <p:sldId id="399" r:id="rId106"/>
    <p:sldId id="400" r:id="rId107"/>
    <p:sldId id="401" r:id="rId108"/>
    <p:sldId id="402" r:id="rId109"/>
    <p:sldId id="403" r:id="rId110"/>
    <p:sldId id="404" r:id="rId111"/>
    <p:sldId id="405" r:id="rId112"/>
    <p:sldId id="406" r:id="rId113"/>
    <p:sldId id="409" r:id="rId114"/>
    <p:sldId id="410" r:id="rId115"/>
    <p:sldId id="412" r:id="rId116"/>
    <p:sldId id="411" r:id="rId117"/>
    <p:sldId id="413" r:id="rId118"/>
    <p:sldId id="355" r:id="rId119"/>
    <p:sldId id="356" r:id="rId120"/>
    <p:sldId id="357" r:id="rId121"/>
    <p:sldId id="358" r:id="rId122"/>
    <p:sldId id="360" r:id="rId12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8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0" d="100"/>
          <a:sy n="50" d="100"/>
        </p:scale>
        <p:origin x="1090" y="29"/>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notesMaster" Target="notesMasters/notesMaster1.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6" Type="http://schemas.openxmlformats.org/officeDocument/2006/relationships/tableStyles" Target="tableStyles.xml"/><Relationship Id="rId125" Type="http://schemas.openxmlformats.org/officeDocument/2006/relationships/viewProps" Target="viewProps.xml"/><Relationship Id="rId124" Type="http://schemas.openxmlformats.org/officeDocument/2006/relationships/presProps" Target="presProps.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C5546A-7852-49EA-8606-67BA3F2FE43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497F7-4E9B-498E-8D10-11AAFFA1C4F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497F7-4E9B-498E-8D10-11AAFFA1C4F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497F7-4E9B-498E-8D10-11AAFFA1C4F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ltGray">
          <a:xfrm>
            <a:off x="0" y="6611938"/>
            <a:ext cx="9144000" cy="2603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smtClean="0">
              <a:latin typeface="Times New Roman" panose="02020603050405020304" pitchFamily="18" charset="0"/>
              <a:ea typeface="华文楷体" panose="02010600040101010101" pitchFamily="2" charset="-122"/>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376238" y="228600"/>
            <a:ext cx="1147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600" b="1" dirty="0" smtClean="0">
                <a:solidFill>
                  <a:schemeClr val="tx2"/>
                </a:solidFill>
                <a:latin typeface="Times New Roman" panose="02020603050405020304" pitchFamily="18" charset="0"/>
                <a:ea typeface="华文楷体" panose="02010600040101010101" pitchFamily="2" charset="-122"/>
              </a:rPr>
              <a:t>BUPT</a:t>
            </a:r>
            <a:endParaRPr lang="en-US" altLang="zh-CN" sz="2400" b="1" dirty="0" smtClean="0">
              <a:latin typeface="Times New Roman" panose="02020603050405020304" pitchFamily="18" charset="0"/>
              <a:ea typeface="华文楷体" panose="02010600040101010101" pitchFamily="2" charset="-122"/>
            </a:endParaRPr>
          </a:p>
        </p:txBody>
      </p:sp>
      <p:sp>
        <p:nvSpPr>
          <p:cNvPr id="7172" name="Rectangle 4"/>
          <p:cNvSpPr>
            <a:spLocks noGrp="1" noChangeArrowheads="1"/>
          </p:cNvSpPr>
          <p:nvPr>
            <p:ph type="subTitle" idx="1"/>
          </p:nvPr>
        </p:nvSpPr>
        <p:spPr bwMode="gray">
          <a:xfrm>
            <a:off x="1371600" y="5867400"/>
            <a:ext cx="6553200" cy="533400"/>
          </a:xfrm>
        </p:spPr>
        <p:txBody>
          <a:bodyPr/>
          <a:lstStyle>
            <a:lvl1pPr marL="0" indent="0" algn="ctr">
              <a:buFont typeface="Wingdings" panose="05000000000000000000" pitchFamily="2" charset="2"/>
              <a:buNone/>
              <a:defRPr sz="1800" b="1">
                <a:solidFill>
                  <a:schemeClr val="tx2"/>
                </a:solidFill>
                <a:latin typeface="Verdana" panose="020B0604030504040204" pitchFamily="34" charset="0"/>
              </a:defRPr>
            </a:lvl1pPr>
          </a:lstStyle>
          <a:p>
            <a:pPr lvl="0"/>
            <a:r>
              <a:rPr lang="en-US" altLang="zh-CN" noProof="0" smtClean="0"/>
              <a:t>Click to edit Master subtitle style</a:t>
            </a:r>
            <a:endParaRPr lang="en-US" altLang="zh-CN" noProof="0" smtClean="0"/>
          </a:p>
        </p:txBody>
      </p:sp>
      <p:sp>
        <p:nvSpPr>
          <p:cNvPr id="7174" name="Rectangle 6"/>
          <p:cNvSpPr>
            <a:spLocks noGrp="1" noChangeArrowheads="1"/>
          </p:cNvSpPr>
          <p:nvPr>
            <p:ph type="ctrTitle" sz="quarter" hasCustomPrompt="1"/>
          </p:nvPr>
        </p:nvSpPr>
        <p:spPr bwMode="gray">
          <a:xfrm>
            <a:off x="0" y="4868863"/>
            <a:ext cx="9144000" cy="720725"/>
          </a:xfrm>
          <a:gradFill rotWithShape="1">
            <a:gsLst>
              <a:gs pos="0">
                <a:schemeClr val="tx1">
                  <a:gamma/>
                  <a:shade val="46275"/>
                  <a:invGamma/>
                </a:schemeClr>
              </a:gs>
              <a:gs pos="50000">
                <a:schemeClr val="tx1"/>
              </a:gs>
              <a:gs pos="100000">
                <a:schemeClr val="tx1">
                  <a:gamma/>
                  <a:shade val="46275"/>
                  <a:invGamma/>
                </a:schemeClr>
              </a:gs>
            </a:gsLst>
            <a:lin ang="0" scaled="1"/>
          </a:gradFill>
          <a:extLst>
            <a:ext uri="{AF507438-7753-43E0-B8FC-AC1667EBCBE1}">
              <a14:hiddenEffects xmlns:a14="http://schemas.microsoft.com/office/drawing/2010/main">
                <a:effectLst>
                  <a:outerShdw dist="81320" dir="3080412" algn="ctr" rotWithShape="0">
                    <a:schemeClr val="tx2">
                      <a:alpha val="50000"/>
                    </a:schemeClr>
                  </a:outerShdw>
                </a:effectLst>
              </a14:hiddenEffects>
            </a:ext>
          </a:extLst>
        </p:spPr>
        <p:txBody>
          <a:bodyPr/>
          <a:lstStyle>
            <a:lvl1pPr>
              <a:defRPr sz="4000"/>
            </a:lvl1pPr>
          </a:lstStyle>
          <a:p>
            <a:pPr lvl="0"/>
            <a:r>
              <a:rPr lang="en-US" altLang="ko-KR" noProof="0" smtClean="0"/>
              <a:t>Click to edit Master title</a:t>
            </a:r>
            <a:br>
              <a:rPr lang="en-US" altLang="ko-KR" noProof="0" smtClean="0"/>
            </a:br>
            <a:r>
              <a:rPr lang="en-US" altLang="ko-KR" noProof="0" smtClean="0"/>
              <a:t> style</a:t>
            </a:r>
            <a:endParaRPr lang="en-US" altLang="ko-KR"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4B01CAEB-436D-4BF9-85B7-CE8A2B69BBC3}"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CCA56066-DD99-4970-9CC5-39F0FD404F3E}"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457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9C862C7C-6F91-4001-BF23-C881C191B6FF}"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8" name="Rectangle 5"/>
          <p:cNvSpPr>
            <a:spLocks noGrp="1" noChangeArrowheads="1"/>
          </p:cNvSpPr>
          <p:nvPr>
            <p:ph type="sldNum" sz="quarter" idx="11"/>
          </p:nvPr>
        </p:nvSpPr>
        <p:spPr/>
        <p:txBody>
          <a:bodyPr/>
          <a:lstStyle>
            <a:lvl1pPr>
              <a:defRPr/>
            </a:lvl1pPr>
          </a:lstStyle>
          <a:p>
            <a:pPr>
              <a:defRPr/>
            </a:pPr>
            <a:fld id="{80BB7584-211F-4857-BBFE-73E11F2E3583}" type="slidenum">
              <a:rPr lang="en-US" altLang="zh-CN"/>
            </a:fld>
            <a:endParaRPr lang="en-US" altLang="zh-CN"/>
          </a:p>
        </p:txBody>
      </p:sp>
      <p:sp>
        <p:nvSpPr>
          <p:cNvPr id="9"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4" name="Rectangle 5"/>
          <p:cNvSpPr>
            <a:spLocks noGrp="1" noChangeArrowheads="1"/>
          </p:cNvSpPr>
          <p:nvPr>
            <p:ph type="sldNum" sz="quarter" idx="11"/>
          </p:nvPr>
        </p:nvSpPr>
        <p:spPr/>
        <p:txBody>
          <a:bodyPr/>
          <a:lstStyle>
            <a:lvl1pPr>
              <a:defRPr/>
            </a:lvl1pPr>
          </a:lstStyle>
          <a:p>
            <a:pPr>
              <a:defRPr/>
            </a:pPr>
            <a:fld id="{4C63CE4C-B4F3-493E-AEA7-3529E0472B88}" type="slidenum">
              <a:rPr lang="en-US" altLang="zh-CN"/>
            </a:fld>
            <a:endParaRPr lang="en-US" altLang="zh-CN"/>
          </a:p>
        </p:txBody>
      </p:sp>
      <p:sp>
        <p:nvSpPr>
          <p:cNvPr id="5"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3" name="Rectangle 5"/>
          <p:cNvSpPr>
            <a:spLocks noGrp="1" noChangeArrowheads="1"/>
          </p:cNvSpPr>
          <p:nvPr>
            <p:ph type="sldNum" sz="quarter" idx="11"/>
          </p:nvPr>
        </p:nvSpPr>
        <p:spPr/>
        <p:txBody>
          <a:bodyPr/>
          <a:lstStyle>
            <a:lvl1pPr>
              <a:defRPr/>
            </a:lvl1pPr>
          </a:lstStyle>
          <a:p>
            <a:pPr>
              <a:defRPr/>
            </a:pPr>
            <a:fld id="{52D4B5BE-A6A0-4AD8-B415-EBE8426B8FA0}" type="slidenum">
              <a:rPr lang="en-US" altLang="zh-CN"/>
            </a:fld>
            <a:endParaRPr lang="en-US" altLang="zh-CN"/>
          </a:p>
        </p:txBody>
      </p:sp>
      <p:sp>
        <p:nvSpPr>
          <p:cNvPr id="4"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B695A3D9-5C2B-49DB-80C4-05BCD4506EEB}"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1396E770-BB1A-4ABA-A20E-2A81E06C72E4}"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5FE2CBC3-6A24-4638-B38E-41E7A31C244C}"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304800" y="152400"/>
            <a:ext cx="6191250" cy="6248400"/>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DEDC23A1-551A-4524-AB21-9E475700DC5A}"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457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E5F67BE4-3364-4C0C-9843-D58256BE86EE}"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0" y="0"/>
            <a:ext cx="9144000" cy="836613"/>
          </a:xfrm>
          <a:prstGeom prst="rect">
            <a:avLst/>
          </a:prstGeom>
          <a:gradFill rotWithShape="1">
            <a:gsLst>
              <a:gs pos="0">
                <a:schemeClr val="tx1">
                  <a:gamma/>
                  <a:shade val="46275"/>
                  <a:invGamma/>
                </a:schemeClr>
              </a:gs>
              <a:gs pos="50000">
                <a:schemeClr val="tx1"/>
              </a:gs>
              <a:gs pos="100000">
                <a:schemeClr val="tx1">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dirty="0">
              <a:latin typeface="Times New Roman" panose="02020603050405020304" pitchFamily="18" charset="0"/>
              <a:ea typeface="华文楷体" panose="02010600040101010101" pitchFamily="2" charset="-122"/>
            </a:endParaRPr>
          </a:p>
        </p:txBody>
      </p:sp>
      <p:sp>
        <p:nvSpPr>
          <p:cNvPr id="1027" name="Rectangle 3"/>
          <p:cNvSpPr>
            <a:spLocks noGrp="1" noChangeArrowheads="1"/>
          </p:cNvSpPr>
          <p:nvPr>
            <p:ph type="body" idx="1"/>
          </p:nvPr>
        </p:nvSpPr>
        <p:spPr bwMode="auto">
          <a:xfrm>
            <a:off x="457200" y="1152525"/>
            <a:ext cx="8229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smtClean="0"/>
              <a:t>Click to edit Master text styles</a:t>
            </a:r>
            <a:endParaRPr lang="en-US" altLang="zh-CN" dirty="0" smtClean="0"/>
          </a:p>
          <a:p>
            <a:pPr lvl="1"/>
            <a:r>
              <a:rPr lang="en-US" altLang="zh-CN" dirty="0" smtClean="0"/>
              <a:t>Second level</a:t>
            </a:r>
            <a:endParaRPr lang="en-US" altLang="zh-CN" dirty="0" smtClean="0"/>
          </a:p>
          <a:p>
            <a:pPr lvl="2"/>
            <a:r>
              <a:rPr lang="en-US" altLang="zh-CN" dirty="0" smtClean="0"/>
              <a:t>Third level</a:t>
            </a:r>
            <a:endParaRPr lang="en-US" altLang="zh-CN" dirty="0" smtClean="0"/>
          </a:p>
          <a:p>
            <a:pPr lvl="3"/>
            <a:r>
              <a:rPr lang="en-US" altLang="zh-CN" dirty="0" smtClean="0"/>
              <a:t>Fourth level</a:t>
            </a:r>
            <a:endParaRPr lang="en-US" altLang="zh-CN" dirty="0" smtClean="0"/>
          </a:p>
          <a:p>
            <a:pPr lvl="4"/>
            <a:r>
              <a:rPr lang="en-US" altLang="zh-CN" dirty="0" smtClean="0"/>
              <a:t>Fifth level</a:t>
            </a:r>
            <a:endParaRPr lang="en-US" altLang="zh-CN" dirty="0" smtClean="0"/>
          </a:p>
        </p:txBody>
      </p:sp>
      <p:sp>
        <p:nvSpPr>
          <p:cNvPr id="6148" name="Rectangle 4"/>
          <p:cNvSpPr>
            <a:spLocks noGrp="1" noChangeArrowheads="1"/>
          </p:cNvSpPr>
          <p:nvPr>
            <p:ph type="ftr" sz="quarter" idx="3"/>
          </p:nvPr>
        </p:nvSpPr>
        <p:spPr bwMode="auto">
          <a:xfrm>
            <a:off x="3851275" y="6461125"/>
            <a:ext cx="4911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b="1">
                <a:latin typeface="+mj-lt"/>
                <a:ea typeface="华文楷体" panose="02010600040101010101" pitchFamily="2" charset="-122"/>
              </a:defRPr>
            </a:lvl1pPr>
          </a:lstStyle>
          <a:p>
            <a:pPr>
              <a:defRPr/>
            </a:pPr>
            <a:r>
              <a:rPr lang="en-US" altLang="zh-CN" dirty="0" smtClean="0"/>
              <a:t>BUPT SCST</a:t>
            </a:r>
            <a:endParaRPr lang="en-US" altLang="zh-CN" dirty="0"/>
          </a:p>
        </p:txBody>
      </p:sp>
      <p:sp>
        <p:nvSpPr>
          <p:cNvPr id="6149" name="Rectangle 5"/>
          <p:cNvSpPr>
            <a:spLocks noGrp="1" noChangeArrowheads="1"/>
          </p:cNvSpPr>
          <p:nvPr>
            <p:ph type="sldNum" sz="quarter" idx="4"/>
          </p:nvPr>
        </p:nvSpPr>
        <p:spPr bwMode="auto">
          <a:xfrm>
            <a:off x="107950" y="6421438"/>
            <a:ext cx="7921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200">
                <a:latin typeface="+mj-lt"/>
                <a:ea typeface="华文楷体" panose="02010600040101010101" pitchFamily="2" charset="-122"/>
              </a:defRPr>
            </a:lvl1pPr>
          </a:lstStyle>
          <a:p>
            <a:pPr>
              <a:defRPr/>
            </a:pPr>
            <a:fld id="{AAA10516-515C-40DC-A04A-B2D65EFD6780}" type="slidenum">
              <a:rPr lang="en-US" altLang="zh-CN" smtClean="0"/>
            </a:fld>
            <a:endParaRPr lang="en-US" altLang="zh-CN" dirty="0"/>
          </a:p>
        </p:txBody>
      </p:sp>
      <p:sp>
        <p:nvSpPr>
          <p:cNvPr id="1030" name="Rectangle 6"/>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31" name="Text Box 7"/>
          <p:cNvSpPr txBox="1">
            <a:spLocks noChangeArrowheads="1"/>
          </p:cNvSpPr>
          <p:nvPr/>
        </p:nvSpPr>
        <p:spPr bwMode="gray">
          <a:xfrm>
            <a:off x="0" y="838200"/>
            <a:ext cx="9144000" cy="24447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zh-CN" sz="1000" b="1" dirty="0" smtClean="0">
              <a:solidFill>
                <a:schemeClr val="bg1"/>
              </a:solidFill>
              <a:latin typeface="Verdana" panose="020B0604030504040204" pitchFamily="34" charset="0"/>
              <a:ea typeface="华文楷体" panose="02010600040101010101" pitchFamily="2" charset="-122"/>
            </a:endParaRPr>
          </a:p>
        </p:txBody>
      </p:sp>
      <p:sp>
        <p:nvSpPr>
          <p:cNvPr id="6152" name="Rectangle 8"/>
          <p:cNvSpPr>
            <a:spLocks noGrp="1" noChangeArrowheads="1"/>
          </p:cNvSpPr>
          <p:nvPr>
            <p:ph type="dt" sz="half" idx="2"/>
          </p:nvPr>
        </p:nvSpPr>
        <p:spPr bwMode="gray">
          <a:xfrm>
            <a:off x="14288" y="838200"/>
            <a:ext cx="8458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b="1">
                <a:solidFill>
                  <a:schemeClr val="bg1"/>
                </a:solidFill>
                <a:latin typeface="+mj-lt"/>
                <a:ea typeface="华文楷体" panose="02010600040101010101" pitchFamily="2" charset="-122"/>
              </a:defRPr>
            </a:lvl1pPr>
          </a:lstStyle>
          <a:p>
            <a:pPr>
              <a:defRPr/>
            </a:pPr>
            <a:r>
              <a:rPr lang="en-US" altLang="zh-CN" dirty="0" smtClean="0"/>
              <a:t>BUPT</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p:txStyles>
    <p:titleStyle>
      <a:lvl1pPr algn="ctr" rtl="0" eaLnBrk="0" fontAlgn="base" hangingPunct="0">
        <a:spcBef>
          <a:spcPct val="0"/>
        </a:spcBef>
        <a:spcAft>
          <a:spcPct val="0"/>
        </a:spcAft>
        <a:defRPr sz="3200" b="1" kern="1200">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audio" Target="../media/audio2.wav"/><Relationship Id="rId2" Type="http://schemas.openxmlformats.org/officeDocument/2006/relationships/image" Target="../media/image5.w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audio" Target="../media/audio2.wav"/><Relationship Id="rId2" Type="http://schemas.openxmlformats.org/officeDocument/2006/relationships/image" Target="../media/image5.wmf"/><Relationship Id="rId1"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audio" Target="../media/audio2.wav"/></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emf"/><Relationship Id="rId7" Type="http://schemas.openxmlformats.org/officeDocument/2006/relationships/image" Target="../media/image14.e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emf"/><Relationship Id="rId7" Type="http://schemas.openxmlformats.org/officeDocument/2006/relationships/image" Target="../media/image22.emf"/><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audio" Target="../media/audio2.wav"/></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image" Target="../media/image36.emf"/><Relationship Id="rId8" Type="http://schemas.openxmlformats.org/officeDocument/2006/relationships/image" Target="../media/image35.emf"/><Relationship Id="rId7" Type="http://schemas.openxmlformats.org/officeDocument/2006/relationships/image" Target="../media/image34.emf"/><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 Id="rId3" Type="http://schemas.openxmlformats.org/officeDocument/2006/relationships/image" Target="../media/image30.emf"/><Relationship Id="rId2" Type="http://schemas.openxmlformats.org/officeDocument/2006/relationships/image" Target="../media/image29.emf"/><Relationship Id="rId10" Type="http://schemas.openxmlformats.org/officeDocument/2006/relationships/slideLayout" Target="../slideLayouts/slideLayout2.xml"/><Relationship Id="rId1" Type="http://schemas.openxmlformats.org/officeDocument/2006/relationships/image" Target="../media/image28.emf"/></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3.wav"/></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0.emf"/><Relationship Id="rId7" Type="http://schemas.openxmlformats.org/officeDocument/2006/relationships/image" Target="../media/image59.emf"/><Relationship Id="rId6" Type="http://schemas.openxmlformats.org/officeDocument/2006/relationships/image" Target="../media/image58.emf"/><Relationship Id="rId5" Type="http://schemas.openxmlformats.org/officeDocument/2006/relationships/image" Target="../media/image57.emf"/><Relationship Id="rId4" Type="http://schemas.openxmlformats.org/officeDocument/2006/relationships/image" Target="../media/image56.emf"/><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image" Target="../media/image53.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4.wav"/></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5.wav"/><Relationship Id="rId1" Type="http://schemas.openxmlformats.org/officeDocument/2006/relationships/audio" Target="../media/audio1.wav"/></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5.wav"/><Relationship Id="rId1" Type="http://schemas.openxmlformats.org/officeDocument/2006/relationships/audio" Target="../media/audio1.wav"/></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emf"/><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emf"/><Relationship Id="rId1" Type="http://schemas.openxmlformats.org/officeDocument/2006/relationships/image" Target="../media/image68.emf"/></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0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6.emf"/><Relationship Id="rId5" Type="http://schemas.openxmlformats.org/officeDocument/2006/relationships/image" Target="../media/image75.emf"/><Relationship Id="rId4" Type="http://schemas.openxmlformats.org/officeDocument/2006/relationships/image" Target="../media/image74.emf"/><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10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5.emf"/><Relationship Id="rId7" Type="http://schemas.openxmlformats.org/officeDocument/2006/relationships/image" Target="../media/image84.emf"/><Relationship Id="rId6" Type="http://schemas.openxmlformats.org/officeDocument/2006/relationships/image" Target="../media/image83.emf"/><Relationship Id="rId5" Type="http://schemas.openxmlformats.org/officeDocument/2006/relationships/image" Target="../media/image82.emf"/><Relationship Id="rId4" Type="http://schemas.openxmlformats.org/officeDocument/2006/relationships/image" Target="../media/image81.emf"/><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image" Target="../media/image78.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emf"/></Relationships>
</file>

<file path=ppt/slides/_rels/slide10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0.emf"/><Relationship Id="rId2" Type="http://schemas.openxmlformats.org/officeDocument/2006/relationships/image" Target="../media/image89.png"/><Relationship Id="rId1" Type="http://schemas.openxmlformats.org/officeDocument/2006/relationships/image" Target="../media/image88.png"/></Relationships>
</file>

<file path=ppt/slides/_rels/slide10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6.emf"/><Relationship Id="rId5" Type="http://schemas.openxmlformats.org/officeDocument/2006/relationships/image" Target="../media/image95.emf"/><Relationship Id="rId4" Type="http://schemas.openxmlformats.org/officeDocument/2006/relationships/image" Target="../media/image94.emf"/><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image" Target="../media/image91.emf"/></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9.emf"/><Relationship Id="rId6" Type="http://schemas.openxmlformats.org/officeDocument/2006/relationships/image" Target="../media/image108.emf"/><Relationship Id="rId5" Type="http://schemas.openxmlformats.org/officeDocument/2006/relationships/image" Target="../media/image107.emf"/><Relationship Id="rId4" Type="http://schemas.openxmlformats.org/officeDocument/2006/relationships/image" Target="../media/image106.emf"/><Relationship Id="rId3" Type="http://schemas.openxmlformats.org/officeDocument/2006/relationships/image" Target="../media/image105.emf"/><Relationship Id="rId2" Type="http://schemas.openxmlformats.org/officeDocument/2006/relationships/image" Target="../media/image104.emf"/><Relationship Id="rId1" Type="http://schemas.openxmlformats.org/officeDocument/2006/relationships/image" Target="../media/image103.emf"/></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wmf"/></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wm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defRPr/>
            </a:pPr>
            <a:r>
              <a:rPr lang="zh-CN" altLang="en-US" dirty="0" smtClean="0">
                <a:ea typeface="华文楷体" panose="02010600040101010101" pitchFamily="2" charset="-122"/>
              </a:rPr>
              <a:t>第七章 图</a:t>
            </a:r>
            <a:endParaRPr lang="zh-CN" altLang="en-US" dirty="0" smtClean="0">
              <a:ea typeface="华文楷体" panose="02010600040101010101" pitchFamily="2" charset="-122"/>
            </a:endParaRPr>
          </a:p>
        </p:txBody>
      </p:sp>
      <p:sp>
        <p:nvSpPr>
          <p:cNvPr id="3075" name="Rectangle 3"/>
          <p:cNvSpPr>
            <a:spLocks noGrp="1" noChangeArrowheads="1"/>
          </p:cNvSpPr>
          <p:nvPr>
            <p:ph type="subTitle" idx="1"/>
          </p:nvPr>
        </p:nvSpPr>
        <p:spPr/>
        <p:txBody>
          <a:bodyPr/>
          <a:lstStyle/>
          <a:p>
            <a:pPr eaLnBrk="1" hangingPunct="1"/>
            <a:r>
              <a:rPr lang="zh-CN" altLang="en-US" dirty="0" smtClean="0">
                <a:ea typeface="华文楷体" panose="02010600040101010101" pitchFamily="2" charset="-122"/>
              </a:rPr>
              <a:t>杨震   计算机学院</a:t>
            </a:r>
            <a:endParaRPr lang="zh-CN" altLang="en-US"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页脚占位符 3"/>
          <p:cNvSpPr>
            <a:spLocks noGrp="1"/>
          </p:cNvSpPr>
          <p:nvPr>
            <p:ph type="ftr" sz="quarter" idx="10"/>
          </p:nvPr>
        </p:nvSpPr>
        <p:spPr/>
        <p:txBody>
          <a:bodyPr/>
          <a:lstStyle/>
          <a:p>
            <a:pPr>
              <a:defRPr/>
            </a:pPr>
            <a:r>
              <a:rPr lang="en-US" altLang="zh-CN"/>
              <a:t>BUPT SCST</a:t>
            </a:r>
            <a:endParaRPr lang="en-US" altLang="zh-CN"/>
          </a:p>
        </p:txBody>
      </p:sp>
      <p:sp>
        <p:nvSpPr>
          <p:cNvPr id="36" name="日期占位符 5"/>
          <p:cNvSpPr>
            <a:spLocks noGrp="1"/>
          </p:cNvSpPr>
          <p:nvPr>
            <p:ph type="dt" sz="quarter" idx="12"/>
          </p:nvPr>
        </p:nvSpPr>
        <p:spPr/>
        <p:txBody>
          <a:bodyPr/>
          <a:lstStyle/>
          <a:p>
            <a:pPr>
              <a:defRPr/>
            </a:pPr>
            <a:r>
              <a:rPr lang="en-US" altLang="zh-CN"/>
              <a:t>BUPT</a:t>
            </a:r>
            <a:endParaRPr lang="en-US" altLang="zh-CN"/>
          </a:p>
        </p:txBody>
      </p:sp>
      <p:sp>
        <p:nvSpPr>
          <p:cNvPr id="410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7.1 </a:t>
            </a:r>
            <a:r>
              <a:rPr lang="zh-CN" altLang="en-US" sz="2800" dirty="0" smtClean="0">
                <a:ea typeface="华文楷体" panose="02010600040101010101" pitchFamily="2" charset="-122"/>
              </a:rPr>
              <a:t>图的基本概念</a:t>
            </a:r>
            <a:endParaRPr lang="zh-CN" altLang="en-US" sz="2800" dirty="0" smtClean="0">
              <a:ea typeface="华文楷体" panose="02010600040101010101" pitchFamily="2" charset="-122"/>
            </a:endParaRPr>
          </a:p>
        </p:txBody>
      </p:sp>
      <p:sp>
        <p:nvSpPr>
          <p:cNvPr id="4101" name="Rectangle 4"/>
          <p:cNvSpPr>
            <a:spLocks noChangeArrowheads="1"/>
          </p:cNvSpPr>
          <p:nvPr/>
        </p:nvSpPr>
        <p:spPr bwMode="auto">
          <a:xfrm>
            <a:off x="685800" y="11430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dirty="0">
                <a:solidFill>
                  <a:srgbClr val="800000"/>
                </a:solidFill>
                <a:latin typeface="Verdana" panose="020B0604030504040204" pitchFamily="34" charset="0"/>
                <a:ea typeface="华文楷体" panose="02010600040101010101" pitchFamily="2" charset="-122"/>
              </a:rPr>
              <a:t>图的基本概念</a:t>
            </a:r>
            <a:endParaRPr lang="zh-CN" altLang="en-US" sz="2400" b="1" dirty="0">
              <a:solidFill>
                <a:srgbClr val="800000"/>
              </a:solidFill>
              <a:latin typeface="Verdana" panose="020B0604030504040204" pitchFamily="34" charset="0"/>
              <a:ea typeface="华文楷体" panose="02010600040101010101" pitchFamily="2" charset="-122"/>
            </a:endParaRPr>
          </a:p>
        </p:txBody>
      </p:sp>
      <p:sp>
        <p:nvSpPr>
          <p:cNvPr id="4102" name="Rectangle 5"/>
          <p:cNvSpPr>
            <a:spLocks noGrp="1" noChangeArrowheads="1"/>
          </p:cNvSpPr>
          <p:nvPr>
            <p:ph type="body" idx="1"/>
          </p:nvPr>
        </p:nvSpPr>
        <p:spPr>
          <a:xfrm>
            <a:off x="685800" y="1905000"/>
            <a:ext cx="7772400" cy="4572000"/>
          </a:xfrm>
          <a:noFill/>
        </p:spPr>
        <p:txBody>
          <a:bodyPr/>
          <a:lstStyle/>
          <a:p>
            <a:pPr eaLnBrk="1" hangingPunct="1">
              <a:buFont typeface="Wingdings" panose="05000000000000000000" pitchFamily="2" charset="2"/>
              <a:buNone/>
            </a:pPr>
            <a:r>
              <a:rPr lang="en-US" altLang="zh-CN" dirty="0" smtClean="0">
                <a:ea typeface="华文楷体" panose="02010600040101010101" pitchFamily="2" charset="-122"/>
                <a:sym typeface="Symbol" panose="05050102010706020507" pitchFamily="18" charset="2"/>
              </a:rPr>
              <a:t>      </a:t>
            </a:r>
            <a:r>
              <a:rPr lang="zh-CN" altLang="en-US" sz="2400" dirty="0" smtClean="0">
                <a:ea typeface="华文楷体" panose="02010600040101010101" pitchFamily="2" charset="-122"/>
                <a:sym typeface="Symbol" panose="05050102010706020507" pitchFamily="18" charset="2"/>
              </a:rPr>
              <a:t>非线性结构，数据元素之间呈多对多的关系。</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zh-CN" sz="2400" b="1" dirty="0" smtClean="0">
                <a:solidFill>
                  <a:schemeClr val="accent2"/>
                </a:solidFill>
                <a:ea typeface="华文楷体" panose="02010600040101010101" pitchFamily="2" charset="-122"/>
                <a:sym typeface="Symbol" panose="05050102010706020507" pitchFamily="18" charset="2"/>
              </a:rPr>
              <a:t>图的定义</a:t>
            </a:r>
            <a:endParaRPr lang="zh-CN" altLang="zh-CN" sz="2400" dirty="0" smtClean="0">
              <a:solidFill>
                <a:schemeClr val="accent2"/>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Graph=(V,E)</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V</a:t>
            </a:r>
            <a:r>
              <a:rPr lang="zh-CN" altLang="en-US" sz="2400" dirty="0" smtClean="0">
                <a:ea typeface="华文楷体" panose="02010600040101010101" pitchFamily="2" charset="-122"/>
                <a:sym typeface="Symbol" panose="05050102010706020507" pitchFamily="18" charset="2"/>
              </a:rPr>
              <a:t>：顶点</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数据元素</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的有穷非空集合。</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E</a:t>
            </a:r>
            <a:r>
              <a:rPr lang="zh-CN" altLang="en-US" sz="2400" dirty="0" smtClean="0">
                <a:ea typeface="华文楷体" panose="02010600040101010101" pitchFamily="2" charset="-122"/>
                <a:sym typeface="Symbol" panose="05050102010706020507" pitchFamily="18" charset="2"/>
              </a:rPr>
              <a:t>：边的有穷集合。</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400" dirty="0" smtClean="0">
              <a:ea typeface="华文楷体" panose="02010600040101010101" pitchFamily="2" charset="-122"/>
              <a:sym typeface="Symbol" panose="05050102010706020507" pitchFamily="18" charset="2"/>
            </a:endParaRPr>
          </a:p>
        </p:txBody>
      </p:sp>
      <p:sp>
        <p:nvSpPr>
          <p:cNvPr id="4103" name="Oval 6"/>
          <p:cNvSpPr>
            <a:spLocks noChangeArrowheads="1"/>
          </p:cNvSpPr>
          <p:nvPr/>
        </p:nvSpPr>
        <p:spPr bwMode="auto">
          <a:xfrm>
            <a:off x="1981200" y="48006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4" name="Oval 7"/>
          <p:cNvSpPr>
            <a:spLocks noChangeArrowheads="1"/>
          </p:cNvSpPr>
          <p:nvPr/>
        </p:nvSpPr>
        <p:spPr bwMode="auto">
          <a:xfrm>
            <a:off x="3352800" y="46482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5" name="Oval 8"/>
          <p:cNvSpPr>
            <a:spLocks noChangeArrowheads="1"/>
          </p:cNvSpPr>
          <p:nvPr/>
        </p:nvSpPr>
        <p:spPr bwMode="auto">
          <a:xfrm>
            <a:off x="3048000" y="54864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6" name="Oval 9"/>
          <p:cNvSpPr>
            <a:spLocks noChangeArrowheads="1"/>
          </p:cNvSpPr>
          <p:nvPr/>
        </p:nvSpPr>
        <p:spPr bwMode="auto">
          <a:xfrm>
            <a:off x="3810000" y="54864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7" name="Oval 10"/>
          <p:cNvSpPr>
            <a:spLocks noChangeArrowheads="1"/>
          </p:cNvSpPr>
          <p:nvPr/>
        </p:nvSpPr>
        <p:spPr bwMode="auto">
          <a:xfrm>
            <a:off x="5334000" y="44196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8" name="Oval 11"/>
          <p:cNvSpPr>
            <a:spLocks noChangeArrowheads="1"/>
          </p:cNvSpPr>
          <p:nvPr/>
        </p:nvSpPr>
        <p:spPr bwMode="auto">
          <a:xfrm>
            <a:off x="4648200" y="51054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9" name="Oval 12"/>
          <p:cNvSpPr>
            <a:spLocks noChangeArrowheads="1"/>
          </p:cNvSpPr>
          <p:nvPr/>
        </p:nvSpPr>
        <p:spPr bwMode="auto">
          <a:xfrm>
            <a:off x="5943600" y="51054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10" name="Oval 13"/>
          <p:cNvSpPr>
            <a:spLocks noChangeArrowheads="1"/>
          </p:cNvSpPr>
          <p:nvPr/>
        </p:nvSpPr>
        <p:spPr bwMode="auto">
          <a:xfrm>
            <a:off x="5334000" y="57912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11" name="Oval 14"/>
          <p:cNvSpPr>
            <a:spLocks noChangeArrowheads="1"/>
          </p:cNvSpPr>
          <p:nvPr/>
        </p:nvSpPr>
        <p:spPr bwMode="auto">
          <a:xfrm>
            <a:off x="7239000" y="44196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12" name="Oval 15"/>
          <p:cNvSpPr>
            <a:spLocks noChangeArrowheads="1"/>
          </p:cNvSpPr>
          <p:nvPr/>
        </p:nvSpPr>
        <p:spPr bwMode="auto">
          <a:xfrm>
            <a:off x="7239000" y="61722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13" name="Oval 16"/>
          <p:cNvSpPr>
            <a:spLocks noChangeArrowheads="1"/>
          </p:cNvSpPr>
          <p:nvPr/>
        </p:nvSpPr>
        <p:spPr bwMode="auto">
          <a:xfrm>
            <a:off x="7239000" y="5410200"/>
            <a:ext cx="3048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14" name="Line 17"/>
          <p:cNvSpPr>
            <a:spLocks noChangeShapeType="1"/>
          </p:cNvSpPr>
          <p:nvPr/>
        </p:nvSpPr>
        <p:spPr bwMode="auto">
          <a:xfrm flipH="1">
            <a:off x="3200400" y="49530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15" name="Line 18"/>
          <p:cNvSpPr>
            <a:spLocks noChangeShapeType="1"/>
          </p:cNvSpPr>
          <p:nvPr/>
        </p:nvSpPr>
        <p:spPr bwMode="auto">
          <a:xfrm>
            <a:off x="3581400" y="4953000"/>
            <a:ext cx="381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16" name="Line 19"/>
          <p:cNvSpPr>
            <a:spLocks noChangeShapeType="1"/>
          </p:cNvSpPr>
          <p:nvPr/>
        </p:nvSpPr>
        <p:spPr bwMode="auto">
          <a:xfrm>
            <a:off x="5486400" y="4800600"/>
            <a:ext cx="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17" name="Line 20"/>
          <p:cNvSpPr>
            <a:spLocks noChangeShapeType="1"/>
          </p:cNvSpPr>
          <p:nvPr/>
        </p:nvSpPr>
        <p:spPr bwMode="auto">
          <a:xfrm>
            <a:off x="4953000" y="52578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18" name="Line 21"/>
          <p:cNvSpPr>
            <a:spLocks noChangeShapeType="1"/>
          </p:cNvSpPr>
          <p:nvPr/>
        </p:nvSpPr>
        <p:spPr bwMode="auto">
          <a:xfrm flipV="1">
            <a:off x="5638800" y="5410200"/>
            <a:ext cx="4572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19" name="Line 22"/>
          <p:cNvSpPr>
            <a:spLocks noChangeShapeType="1"/>
          </p:cNvSpPr>
          <p:nvPr/>
        </p:nvSpPr>
        <p:spPr bwMode="auto">
          <a:xfrm>
            <a:off x="7315200" y="4724400"/>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20" name="Line 23"/>
          <p:cNvSpPr>
            <a:spLocks noChangeShapeType="1"/>
          </p:cNvSpPr>
          <p:nvPr/>
        </p:nvSpPr>
        <p:spPr bwMode="auto">
          <a:xfrm>
            <a:off x="7391400" y="57150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21" name="Line 24"/>
          <p:cNvSpPr>
            <a:spLocks noChangeShapeType="1"/>
          </p:cNvSpPr>
          <p:nvPr/>
        </p:nvSpPr>
        <p:spPr bwMode="auto">
          <a:xfrm flipV="1">
            <a:off x="7467600" y="4724400"/>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22" name="Text Box 25"/>
          <p:cNvSpPr txBox="1">
            <a:spLocks noChangeArrowheads="1"/>
          </p:cNvSpPr>
          <p:nvPr/>
        </p:nvSpPr>
        <p:spPr bwMode="auto">
          <a:xfrm>
            <a:off x="1981200" y="5105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123" name="Text Box 26"/>
          <p:cNvSpPr txBox="1">
            <a:spLocks noChangeArrowheads="1"/>
          </p:cNvSpPr>
          <p:nvPr/>
        </p:nvSpPr>
        <p:spPr bwMode="auto">
          <a:xfrm>
            <a:off x="3657600" y="4572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124" name="Text Box 27"/>
          <p:cNvSpPr txBox="1">
            <a:spLocks noChangeArrowheads="1"/>
          </p:cNvSpPr>
          <p:nvPr/>
        </p:nvSpPr>
        <p:spPr bwMode="auto">
          <a:xfrm>
            <a:off x="2743200" y="541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4125" name="Text Box 28"/>
          <p:cNvSpPr txBox="1">
            <a:spLocks noChangeArrowheads="1"/>
          </p:cNvSpPr>
          <p:nvPr/>
        </p:nvSpPr>
        <p:spPr bwMode="auto">
          <a:xfrm>
            <a:off x="4114800" y="5410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4126" name="Text Box 29"/>
          <p:cNvSpPr txBox="1">
            <a:spLocks noChangeArrowheads="1"/>
          </p:cNvSpPr>
          <p:nvPr/>
        </p:nvSpPr>
        <p:spPr bwMode="auto">
          <a:xfrm>
            <a:off x="55626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127" name="Text Box 30"/>
          <p:cNvSpPr txBox="1">
            <a:spLocks noChangeArrowheads="1"/>
          </p:cNvSpPr>
          <p:nvPr/>
        </p:nvSpPr>
        <p:spPr bwMode="auto">
          <a:xfrm>
            <a:off x="4876800" y="5257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4128" name="Text Box 31"/>
          <p:cNvSpPr txBox="1">
            <a:spLocks noChangeArrowheads="1"/>
          </p:cNvSpPr>
          <p:nvPr/>
        </p:nvSpPr>
        <p:spPr bwMode="auto">
          <a:xfrm>
            <a:off x="6172200" y="5334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4129" name="Text Box 32"/>
          <p:cNvSpPr txBox="1">
            <a:spLocks noChangeArrowheads="1"/>
          </p:cNvSpPr>
          <p:nvPr/>
        </p:nvSpPr>
        <p:spPr bwMode="auto">
          <a:xfrm>
            <a:off x="5486400" y="5943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4130" name="Text Box 33"/>
          <p:cNvSpPr txBox="1">
            <a:spLocks noChangeArrowheads="1"/>
          </p:cNvSpPr>
          <p:nvPr/>
        </p:nvSpPr>
        <p:spPr bwMode="auto">
          <a:xfrm>
            <a:off x="7467600" y="4267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131" name="Text Box 34"/>
          <p:cNvSpPr txBox="1">
            <a:spLocks noChangeArrowheads="1"/>
          </p:cNvSpPr>
          <p:nvPr/>
        </p:nvSpPr>
        <p:spPr bwMode="auto">
          <a:xfrm>
            <a:off x="7467600" y="5257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4132" name="Text Box 35"/>
          <p:cNvSpPr txBox="1">
            <a:spLocks noChangeArrowheads="1"/>
          </p:cNvSpPr>
          <p:nvPr/>
        </p:nvSpPr>
        <p:spPr bwMode="auto">
          <a:xfrm>
            <a:off x="7467600" y="594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51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5"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2400" b="1" dirty="0" smtClean="0">
                <a:solidFill>
                  <a:srgbClr val="800000"/>
                </a:solidFill>
                <a:ea typeface="华文楷体" panose="02010600040101010101" pitchFamily="2" charset="-122"/>
              </a:rPr>
              <a:t>图的相关术语</a:t>
            </a:r>
            <a:endParaRPr lang="zh-CN" altLang="en-US" sz="2400" b="1"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顶点</a:t>
            </a:r>
            <a:r>
              <a:rPr lang="zh-CN" altLang="en-US" sz="2400" dirty="0" smtClean="0">
                <a:ea typeface="华文楷体" panose="02010600040101010101" pitchFamily="2" charset="-122"/>
              </a:rPr>
              <a:t>   数据元素所构成的结点。</a:t>
            </a:r>
            <a:endParaRPr lang="zh-CN" altLang="en-US" sz="24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无向图   </a:t>
            </a:r>
            <a:r>
              <a:rPr lang="zh-CN" altLang="en-US" sz="2400" dirty="0" smtClean="0">
                <a:ea typeface="华文楷体" panose="02010600040101010101" pitchFamily="2" charset="-122"/>
              </a:rPr>
              <a:t>边的顶点偶对是无序的。</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和</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 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代表同一条</a:t>
            </a:r>
            <a:r>
              <a:rPr lang="zh-CN" altLang="en-US" sz="2400" b="1" dirty="0" smtClean="0">
                <a:solidFill>
                  <a:srgbClr val="FF3300"/>
                </a:solidFill>
                <a:ea typeface="华文楷体" panose="02010600040101010101" pitchFamily="2" charset="-122"/>
              </a:rPr>
              <a:t>边</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i</a:t>
            </a:r>
            <a:r>
              <a:rPr lang="en-US" altLang="zh-CN" sz="2400" dirty="0" err="1" smtClean="0">
                <a:ea typeface="华文楷体" panose="02010600040101010101" pitchFamily="2" charset="-122"/>
                <a:sym typeface="Symbol" panose="05050102010706020507" pitchFamily="18" charset="2"/>
              </a:rPr>
              <a:t></a:t>
            </a:r>
            <a:r>
              <a:rPr lang="en-US" altLang="zh-CN" sz="2400" dirty="0" err="1" smtClean="0">
                <a:ea typeface="华文楷体" panose="02010600040101010101" pitchFamily="2" charset="-122"/>
              </a:rPr>
              <a:t>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有向图   </a:t>
            </a:r>
            <a:r>
              <a:rPr lang="zh-CN" altLang="en-US" sz="2400" dirty="0" smtClean="0">
                <a:ea typeface="华文楷体" panose="02010600040101010101" pitchFamily="2" charset="-122"/>
              </a:rPr>
              <a:t>边的顶点偶对是有序的。</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有向边</a:t>
            </a:r>
            <a:r>
              <a:rPr lang="en-US" altLang="zh-CN" sz="2400" dirty="0" smtClean="0">
                <a:ea typeface="华文楷体" panose="02010600040101010101" pitchFamily="2" charset="-122"/>
              </a:rPr>
              <a:t>&lt; 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 &gt;</a:t>
            </a:r>
            <a:r>
              <a:rPr lang="zh-CN" altLang="en-US" sz="2400" dirty="0" smtClean="0">
                <a:ea typeface="华文楷体" panose="02010600040101010101" pitchFamily="2" charset="-122"/>
              </a:rPr>
              <a:t>也称为</a:t>
            </a:r>
            <a:r>
              <a:rPr lang="zh-CN" altLang="en-US" sz="2400" b="1" dirty="0" smtClean="0">
                <a:solidFill>
                  <a:srgbClr val="FF3300"/>
                </a:solidFill>
                <a:ea typeface="华文楷体" panose="02010600040101010101" pitchFamily="2" charset="-122"/>
              </a:rPr>
              <a:t>弧</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是</a:t>
            </a:r>
            <a:r>
              <a:rPr lang="zh-CN" altLang="en-US" sz="2400" b="1" dirty="0" smtClean="0">
                <a:solidFill>
                  <a:srgbClr val="FF3300"/>
                </a:solidFill>
                <a:ea typeface="华文楷体" panose="02010600040101010101" pitchFamily="2" charset="-122"/>
              </a:rPr>
              <a:t>弧尾</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初始点；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是</a:t>
            </a:r>
            <a:r>
              <a:rPr lang="zh-CN" altLang="en-US" sz="2400" b="1" dirty="0" smtClean="0">
                <a:solidFill>
                  <a:srgbClr val="FF3300"/>
                </a:solidFill>
                <a:ea typeface="华文楷体" panose="02010600040101010101" pitchFamily="2" charset="-122"/>
              </a:rPr>
              <a:t>弧头</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终端点。</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无向</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完全图   </a:t>
            </a:r>
            <a:r>
              <a:rPr lang="zh-CN" altLang="en-US" sz="2400" dirty="0" smtClean="0">
                <a:ea typeface="华文楷体" panose="02010600040101010101" pitchFamily="2" charset="-122"/>
              </a:rPr>
              <a:t>每个顶点与其余顶点都有边的无向图。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顶点数为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时，边数</a:t>
            </a:r>
            <a:r>
              <a:rPr lang="en-US" altLang="zh-CN" sz="2400" dirty="0" smtClean="0">
                <a:ea typeface="华文楷体" panose="02010600040101010101" pitchFamily="2" charset="-122"/>
              </a:rPr>
              <a:t>e=n(n-1)/2</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有向完全图   </a:t>
            </a:r>
            <a:r>
              <a:rPr lang="zh-CN" altLang="en-US" sz="2400" dirty="0" smtClean="0">
                <a:ea typeface="华文楷体" panose="02010600040101010101" pitchFamily="2" charset="-122"/>
              </a:rPr>
              <a:t>每个顶点与其余顶点都有弧的有向图。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顶点数为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时，弧数</a:t>
            </a:r>
            <a:r>
              <a:rPr lang="en-US" altLang="zh-CN" sz="2400" dirty="0" smtClean="0">
                <a:ea typeface="华文楷体" panose="02010600040101010101" pitchFamily="2" charset="-122"/>
              </a:rPr>
              <a:t>e=n(n-1)</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b="1" dirty="0" smtClean="0">
              <a:solidFill>
                <a:srgbClr val="800000"/>
              </a:solidFill>
              <a:ea typeface="华文楷体" panose="02010600040101010101" pitchFamily="2" charset="-122"/>
            </a:endParaRPr>
          </a:p>
        </p:txBody>
      </p:sp>
      <p:sp>
        <p:nvSpPr>
          <p:cNvPr id="10244" name="Text Box 4"/>
          <p:cNvSpPr txBox="1">
            <a:spLocks noChangeArrowheads="1"/>
          </p:cNvSpPr>
          <p:nvPr/>
        </p:nvSpPr>
        <p:spPr bwMode="auto">
          <a:xfrm>
            <a:off x="365125" y="5805488"/>
            <a:ext cx="70881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思考：一无向图的顶点个数为</a:t>
            </a: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，则该图最多有（               ）条边。 </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
        <p:nvSpPr>
          <p:cNvPr id="10245" name="Text Box 5"/>
          <p:cNvSpPr txBox="1">
            <a:spLocks noChangeArrowheads="1"/>
          </p:cNvSpPr>
          <p:nvPr/>
        </p:nvSpPr>
        <p:spPr bwMode="auto">
          <a:xfrm>
            <a:off x="5391150" y="5791200"/>
            <a:ext cx="966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n(n-1)/2</a:t>
            </a:r>
            <a:endParaRPr lang="en-US" altLang="zh-CN" sz="18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 calcmode="lin" valueType="num">
                                      <p:cBhvr additive="base">
                                        <p:cTn id="7" dur="500" fill="hold"/>
                                        <p:tgtEl>
                                          <p:spTgt spid="102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245"/>
                                        </p:tgtEl>
                                        <p:attrNameLst>
                                          <p:attrName>style.visibility</p:attrName>
                                        </p:attrNameLst>
                                      </p:cBhvr>
                                      <p:to>
                                        <p:strVal val="visible"/>
                                      </p:to>
                                    </p:set>
                                    <p:animEffect transition="in" filter="box(in)">
                                      <p:cBhvr>
                                        <p:cTn id="13"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1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149" name="Rectangle 3"/>
          <p:cNvSpPr>
            <a:spLocks noGrp="1" noChangeArrowheads="1"/>
          </p:cNvSpPr>
          <p:nvPr>
            <p:ph type="body" idx="1"/>
          </p:nvPr>
        </p:nvSpPr>
        <p:spPr>
          <a:xfrm>
            <a:off x="457200" y="1152525"/>
            <a:ext cx="8229600" cy="6387465"/>
          </a:xfrm>
        </p:spPr>
        <p:txBody>
          <a:bodyPr/>
          <a:lstStyle/>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稀疏图   </a:t>
            </a:r>
            <a:r>
              <a:rPr lang="zh-CN" altLang="en-US" sz="2400" dirty="0" smtClean="0">
                <a:ea typeface="华文楷体" panose="02010600040101010101" pitchFamily="2" charset="-122"/>
              </a:rPr>
              <a:t>有很少边或弧的图。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稠密图   </a:t>
            </a:r>
            <a:r>
              <a:rPr lang="zh-CN" altLang="en-US" sz="2400" dirty="0" smtClean="0">
                <a:ea typeface="华文楷体" panose="02010600040101010101" pitchFamily="2" charset="-122"/>
              </a:rPr>
              <a:t>有较多边或弧的图。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权   </a:t>
            </a:r>
            <a:r>
              <a:rPr lang="zh-CN" altLang="en-US" sz="2400" dirty="0" smtClean="0">
                <a:ea typeface="华文楷体" panose="02010600040101010101" pitchFamily="2" charset="-122"/>
              </a:rPr>
              <a:t>图中的边或弧具有一定的大小的概念。</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网   </a:t>
            </a:r>
            <a:r>
              <a:rPr lang="zh-CN" altLang="en-US" sz="2400" dirty="0" smtClean="0">
                <a:ea typeface="华文楷体" panose="02010600040101010101" pitchFamily="2" charset="-122"/>
              </a:rPr>
              <a:t>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弧带权的图。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邻接   </a:t>
            </a:r>
            <a:r>
              <a:rPr lang="zh-CN" altLang="en-US" sz="2400" dirty="0" smtClean="0">
                <a:ea typeface="华文楷体" panose="02010600040101010101" pitchFamily="2" charset="-122"/>
              </a:rPr>
              <a:t>有边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弧相连的两个顶点之间的关系。</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存在</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，则称</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互为</a:t>
            </a:r>
            <a:r>
              <a:rPr lang="zh-CN" altLang="en-US" sz="2400" b="1" dirty="0" smtClean="0">
                <a:solidFill>
                  <a:srgbClr val="FF3300"/>
                </a:solidFill>
                <a:ea typeface="华文楷体" panose="02010600040101010101" pitchFamily="2" charset="-122"/>
              </a:rPr>
              <a:t>邻接点</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存在</a:t>
            </a:r>
            <a:r>
              <a:rPr lang="en-US" altLang="zh-CN" sz="2400" dirty="0" smtClean="0">
                <a:ea typeface="华文楷体" panose="02010600040101010101" pitchFamily="2" charset="-122"/>
              </a:rPr>
              <a:t>&lt;v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&gt;</a:t>
            </a:r>
            <a:r>
              <a:rPr lang="zh-CN" altLang="en-US" sz="2400" dirty="0" smtClean="0">
                <a:ea typeface="华文楷体" panose="02010600040101010101" pitchFamily="2" charset="-122"/>
              </a:rPr>
              <a:t>，则称</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b="1" dirty="0" smtClean="0">
                <a:solidFill>
                  <a:srgbClr val="FF3300"/>
                </a:solidFill>
                <a:ea typeface="华文楷体" panose="02010600040101010101" pitchFamily="2" charset="-122"/>
              </a:rPr>
              <a:t>邻接到</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b="1" dirty="0" smtClean="0">
                <a:solidFill>
                  <a:srgbClr val="FF3300"/>
                </a:solidFill>
                <a:ea typeface="华文楷体" panose="02010600040101010101" pitchFamily="2" charset="-122"/>
              </a:rPr>
              <a:t>邻接于</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关联</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依附</a:t>
            </a:r>
            <a:r>
              <a:rPr lang="en-US" altLang="zh-CN" sz="2400" b="1" dirty="0" smtClean="0">
                <a:solidFill>
                  <a:srgbClr val="FF3300"/>
                </a:solidFill>
                <a:ea typeface="华文楷体" panose="02010600040101010101" pitchFamily="2" charset="-122"/>
              </a:rPr>
              <a:t>)   </a:t>
            </a:r>
            <a:r>
              <a:rPr lang="zh-CN" altLang="en-US" sz="2400" dirty="0" smtClean="0">
                <a:ea typeface="华文楷体" panose="02010600040101010101" pitchFamily="2" charset="-122"/>
              </a:rPr>
              <a:t>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弧与顶点之间的关系。</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存在</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 &lt;v</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&gt;</a:t>
            </a:r>
            <a:r>
              <a:rPr lang="zh-CN" altLang="en-US" sz="2400" dirty="0" smtClean="0">
                <a:ea typeface="华文楷体" panose="02010600040101010101" pitchFamily="2" charset="-122"/>
              </a:rPr>
              <a:t>， 则称该边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弧关联于</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endParaRPr lang="en-US" altLang="zh-CN" sz="2400" baseline="-250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子图   </a:t>
            </a:r>
            <a:r>
              <a:rPr lang="zh-CN" altLang="en-US" sz="2400" dirty="0" smtClean="0">
                <a:ea typeface="华文楷体" panose="02010600040101010101" pitchFamily="2" charset="-122"/>
              </a:rPr>
              <a:t>对于图</a:t>
            </a:r>
            <a:r>
              <a:rPr lang="en-US" altLang="zh-CN" sz="2400" dirty="0" smtClean="0">
                <a:ea typeface="华文楷体" panose="02010600040101010101" pitchFamily="2" charset="-122"/>
              </a:rPr>
              <a:t>G=(V,E)</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G’=(V’,E’)</a:t>
            </a:r>
            <a:r>
              <a:rPr lang="zh-CN" altLang="en-US" sz="2400" dirty="0" smtClean="0">
                <a:ea typeface="华文楷体" panose="02010600040101010101" pitchFamily="2" charset="-122"/>
              </a:rPr>
              <a:t>，如果</a:t>
            </a:r>
            <a:r>
              <a:rPr lang="en-US" altLang="zh-CN" sz="2400" dirty="0" smtClean="0">
                <a:ea typeface="华文楷体" panose="02010600040101010101" pitchFamily="2" charset="-122"/>
              </a:rPr>
              <a:t>V’</a:t>
            </a:r>
            <a:r>
              <a:rPr lang="en-US" altLang="zh-CN" sz="2400" dirty="0" smtClean="0">
                <a:ea typeface="华文楷体" panose="02010600040101010101" pitchFamily="2" charset="-122"/>
                <a:sym typeface="Symbol" panose="05050102010706020507" pitchFamily="18" charset="2"/>
              </a:rPr>
              <a:t>V</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E’ E</a:t>
            </a:r>
            <a:r>
              <a:rPr lang="zh-CN" altLang="en-US" sz="2400" dirty="0" smtClean="0">
                <a:ea typeface="华文楷体" panose="02010600040101010101" pitchFamily="2" charset="-122"/>
                <a:sym typeface="Symbol" panose="05050102010706020507" pitchFamily="18" charset="2"/>
              </a:rPr>
              <a:t>，且</a:t>
            </a:r>
            <a:r>
              <a:rPr lang="en-US" altLang="zh-CN" sz="2400" dirty="0" smtClean="0">
                <a:ea typeface="华文楷体" panose="02010600040101010101" pitchFamily="2" charset="-122"/>
                <a:sym typeface="Symbol" panose="05050102010706020507" pitchFamily="18" charset="2"/>
              </a:rPr>
              <a:t>E’</a:t>
            </a:r>
            <a:r>
              <a:rPr lang="zh-CN" altLang="en-US" sz="2400" dirty="0" smtClean="0">
                <a:ea typeface="华文楷体" panose="02010600040101010101" pitchFamily="2" charset="-122"/>
                <a:sym typeface="Symbol" panose="05050102010706020507" pitchFamily="18" charset="2"/>
              </a:rPr>
              <a:t>关联的顶点都在</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中，则称</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是</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的子图。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生成子图   </a:t>
            </a:r>
            <a:r>
              <a:rPr lang="zh-CN" altLang="en-US" sz="2400" dirty="0" smtClean="0">
                <a:ea typeface="华文楷体" panose="02010600040101010101" pitchFamily="2" charset="-122"/>
              </a:rPr>
              <a:t>由图的全部顶点和部分边组成的子图称为原图的生成子图。</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sym typeface="+mn-ea"/>
              </a:rPr>
              <a:t>杨龙驹的几把</a:t>
            </a:r>
            <a:r>
              <a:rPr lang="en-US" altLang="zh-CN" sz="2400" b="1" dirty="0" smtClean="0">
                <a:solidFill>
                  <a:srgbClr val="FF3300"/>
                </a:solidFill>
                <a:ea typeface="华文楷体" panose="02010600040101010101" pitchFamily="2" charset="-122"/>
                <a:sym typeface="+mn-ea"/>
              </a:rPr>
              <a:t> </a:t>
            </a:r>
            <a:r>
              <a:rPr lang="zh-CN" altLang="en-US" sz="2400" dirty="0" smtClean="0">
                <a:ea typeface="华文楷体" panose="02010600040101010101" pitchFamily="2" charset="-122"/>
                <a:sym typeface="+mn-ea"/>
              </a:rPr>
              <a:t>需要被田欣睿</a:t>
            </a:r>
            <a:r>
              <a:rPr lang="zh-CN" altLang="en-US" sz="2400" dirty="0" smtClean="0">
                <a:ea typeface="华文楷体" panose="02010600040101010101" pitchFamily="2" charset="-122"/>
                <a:sym typeface="+mn-ea"/>
              </a:rPr>
              <a:t>撸撸</a:t>
            </a:r>
            <a:endParaRPr lang="zh-CN" altLang="en-US" sz="2400" dirty="0" smtClean="0">
              <a:ea typeface="华文楷体" panose="02010600040101010101" pitchFamily="2" charset="-122"/>
              <a:sym typeface="+mn-ea"/>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sym typeface="+mn-ea"/>
              </a:rPr>
              <a:t>田欣睿</a:t>
            </a:r>
            <a:r>
              <a:rPr lang="en-US" altLang="zh-CN" sz="2400" b="1" dirty="0" smtClean="0">
                <a:solidFill>
                  <a:srgbClr val="FF3300"/>
                </a:solidFill>
                <a:ea typeface="华文楷体" panose="02010600040101010101" pitchFamily="2" charset="-122"/>
                <a:sym typeface="+mn-ea"/>
              </a:rPr>
              <a:t> </a:t>
            </a:r>
            <a:r>
              <a:rPr lang="en-US" altLang="zh-CN" sz="2400" dirty="0" smtClean="0">
                <a:ea typeface="华文楷体" panose="02010600040101010101" pitchFamily="2" charset="-122"/>
                <a:sym typeface="+mn-ea"/>
              </a:rPr>
              <a:t>yljcat</a:t>
            </a:r>
            <a:r>
              <a:rPr lang="zh-CN" altLang="en-US" sz="2400" dirty="0" smtClean="0">
                <a:ea typeface="华文楷体" panose="02010600040101010101" pitchFamily="2" charset="-122"/>
                <a:sym typeface="+mn-ea"/>
              </a:rPr>
              <a:t>的主</a:t>
            </a:r>
            <a:r>
              <a:rPr lang="zh-CN" altLang="en-US" sz="2400" dirty="0" smtClean="0">
                <a:ea typeface="华文楷体" panose="02010600040101010101" pitchFamily="2" charset="-122"/>
                <a:sym typeface="+mn-ea"/>
              </a:rPr>
              <a:t>人</a:t>
            </a:r>
            <a:endParaRPr lang="zh-CN" altLang="en-US" sz="2400" dirty="0" smtClean="0">
              <a:ea typeface="华文楷体" panose="02010600040101010101" pitchFamily="2"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页脚占位符 4"/>
          <p:cNvSpPr>
            <a:spLocks noGrp="1"/>
          </p:cNvSpPr>
          <p:nvPr>
            <p:ph type="ftr" sz="quarter" idx="10"/>
          </p:nvPr>
        </p:nvSpPr>
        <p:spPr/>
        <p:txBody>
          <a:bodyPr/>
          <a:lstStyle/>
          <a:p>
            <a:pPr>
              <a:defRPr/>
            </a:pPr>
            <a:r>
              <a:rPr lang="en-US" altLang="zh-CN"/>
              <a:t>BUPT SCST</a:t>
            </a:r>
            <a:endParaRPr lang="en-US" altLang="zh-CN"/>
          </a:p>
        </p:txBody>
      </p:sp>
      <p:sp>
        <p:nvSpPr>
          <p:cNvPr id="10" name="日期占位符 6"/>
          <p:cNvSpPr>
            <a:spLocks noGrp="1"/>
          </p:cNvSpPr>
          <p:nvPr>
            <p:ph type="dt" sz="quarter" idx="12"/>
          </p:nvPr>
        </p:nvSpPr>
        <p:spPr/>
        <p:txBody>
          <a:bodyPr/>
          <a:lstStyle/>
          <a:p>
            <a:pPr>
              <a:defRPr/>
            </a:pPr>
            <a:r>
              <a:rPr lang="en-US" altLang="zh-CN"/>
              <a:t>BUPT</a:t>
            </a:r>
            <a:endParaRPr lang="en-US" altLang="zh-CN"/>
          </a:p>
        </p:txBody>
      </p:sp>
      <p:sp>
        <p:nvSpPr>
          <p:cNvPr id="7172" name="Rectangle 5"/>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173" name="Rectangle 3"/>
          <p:cNvSpPr>
            <a:spLocks noGrp="1" noChangeArrowheads="1"/>
          </p:cNvSpPr>
          <p:nvPr>
            <p:ph type="body" sz="half" idx="1"/>
          </p:nvPr>
        </p:nvSpPr>
        <p:spPr>
          <a:xfrm>
            <a:off x="457200" y="1152525"/>
            <a:ext cx="8305800" cy="5248275"/>
          </a:xfrm>
        </p:spPr>
        <p:txBody>
          <a:bodyPr/>
          <a:lstStyle/>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顶点的度   </a:t>
            </a:r>
            <a:r>
              <a:rPr lang="zh-CN" altLang="en-US" sz="2400" dirty="0" smtClean="0">
                <a:ea typeface="华文楷体" panose="02010600040101010101" pitchFamily="2" charset="-122"/>
              </a:rPr>
              <a:t>与该顶点相关联的边的数目，记为</a:t>
            </a:r>
            <a:r>
              <a:rPr lang="en-US" altLang="zh-CN" sz="2400" dirty="0" smtClean="0">
                <a:ea typeface="华文楷体" panose="02010600040101010101" pitchFamily="2" charset="-122"/>
              </a:rPr>
              <a:t>D(v)</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入度</a:t>
            </a:r>
            <a:r>
              <a:rPr lang="en-US" altLang="zh-CN" sz="2400" dirty="0" smtClean="0">
                <a:ea typeface="华文楷体" panose="02010600040101010101" pitchFamily="2" charset="-122"/>
              </a:rPr>
              <a:t>ID(v)</a:t>
            </a:r>
            <a:r>
              <a:rPr lang="zh-CN" altLang="en-US" sz="2400" dirty="0" smtClean="0">
                <a:ea typeface="华文楷体" panose="02010600040101010101" pitchFamily="2" charset="-122"/>
              </a:rPr>
              <a:t>：有向图中，以该顶点为弧头的弧数目。</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出度</a:t>
            </a:r>
            <a:r>
              <a:rPr lang="en-US" altLang="zh-CN" sz="2400" dirty="0" smtClean="0">
                <a:ea typeface="华文楷体" panose="02010600040101010101" pitchFamily="2" charset="-122"/>
              </a:rPr>
              <a:t>OD(v)</a:t>
            </a:r>
            <a:r>
              <a:rPr lang="zh-CN" altLang="en-US" sz="2400" dirty="0" smtClean="0">
                <a:ea typeface="华文楷体" panose="02010600040101010101" pitchFamily="2" charset="-122"/>
              </a:rPr>
              <a:t>：有向图中，以该顶点为弧尾的弧数目。</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solidFill>
                  <a:srgbClr val="996600"/>
                </a:solidFill>
                <a:latin typeface="楷体_GB2312" pitchFamily="49" charset="-122"/>
                <a:ea typeface="楷体_GB2312" pitchFamily="49" charset="-122"/>
              </a:rPr>
              <a:t>顶点数</a:t>
            </a:r>
            <a:r>
              <a:rPr lang="en-US" altLang="zh-CN" sz="2400" dirty="0" smtClean="0">
                <a:solidFill>
                  <a:srgbClr val="996600"/>
                </a:solidFill>
                <a:latin typeface="楷体_GB2312" pitchFamily="49" charset="-122"/>
                <a:ea typeface="楷体_GB2312" pitchFamily="49" charset="-122"/>
              </a:rPr>
              <a:t>n</a:t>
            </a:r>
            <a:r>
              <a:rPr lang="zh-CN" altLang="en-US" sz="2400" dirty="0" smtClean="0">
                <a:solidFill>
                  <a:srgbClr val="996600"/>
                </a:solidFill>
                <a:latin typeface="楷体_GB2312" pitchFamily="49" charset="-122"/>
                <a:ea typeface="楷体_GB2312" pitchFamily="49" charset="-122"/>
              </a:rPr>
              <a:t>、边数</a:t>
            </a:r>
            <a:r>
              <a:rPr lang="en-US" altLang="zh-CN" sz="2400" dirty="0" smtClean="0">
                <a:solidFill>
                  <a:srgbClr val="996600"/>
                </a:solidFill>
                <a:latin typeface="楷体_GB2312" pitchFamily="49" charset="-122"/>
                <a:ea typeface="楷体_GB2312" pitchFamily="49" charset="-122"/>
              </a:rPr>
              <a:t>e</a:t>
            </a:r>
            <a:r>
              <a:rPr lang="zh-CN" altLang="en-US" sz="2400" dirty="0" smtClean="0">
                <a:solidFill>
                  <a:srgbClr val="996600"/>
                </a:solidFill>
                <a:latin typeface="楷体_GB2312" pitchFamily="49" charset="-122"/>
                <a:ea typeface="楷体_GB2312" pitchFamily="49" charset="-122"/>
              </a:rPr>
              <a:t>和度数之间的关系：</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         </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graphicFrame>
        <p:nvGraphicFramePr>
          <p:cNvPr id="7174" name="Object 4"/>
          <p:cNvGraphicFramePr>
            <a:graphicFrameLocks noGrp="1" noChangeAspect="1"/>
          </p:cNvGraphicFramePr>
          <p:nvPr>
            <p:ph sz="half" idx="2"/>
          </p:nvPr>
        </p:nvGraphicFramePr>
        <p:xfrm>
          <a:off x="5430837" y="2219611"/>
          <a:ext cx="1752600" cy="876300"/>
        </p:xfrm>
        <a:graphic>
          <a:graphicData uri="http://schemas.openxmlformats.org/presentationml/2006/ole">
            <mc:AlternateContent xmlns:mc="http://schemas.openxmlformats.org/markup-compatibility/2006">
              <mc:Choice xmlns:v="urn:schemas-microsoft-com:vml" Requires="v">
                <p:oleObj spid="_x0000_s7823" name="公式" r:id="rId1" imgW="862965" imgH="431800" progId="Equation.3">
                  <p:embed/>
                </p:oleObj>
              </mc:Choice>
              <mc:Fallback>
                <p:oleObj name="公式" r:id="rId1" imgW="862965"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0837" y="2219611"/>
                        <a:ext cx="17526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 name="文本框 2"/>
              <p:cNvSpPr txBox="1"/>
              <p:nvPr/>
            </p:nvSpPr>
            <p:spPr>
              <a:xfrm>
                <a:off x="152400" y="3095911"/>
                <a:ext cx="8461159" cy="3170099"/>
              </a:xfrm>
              <a:prstGeom prst="rect">
                <a:avLst/>
              </a:prstGeom>
              <a:noFill/>
              <a:ln>
                <a:solidFill>
                  <a:schemeClr val="accent1"/>
                </a:solidFill>
              </a:ln>
            </p:spPr>
            <p:txBody>
              <a:bodyPr wrap="square" rtlCol="0">
                <a:spAutoFit/>
              </a:bodyPr>
              <a:lstStyle/>
              <a:p>
                <a:r>
                  <a:rPr lang="zh-CN" altLang="en-US" sz="2000" b="1" dirty="0">
                    <a:solidFill>
                      <a:srgbClr val="C00000"/>
                    </a:solidFill>
                    <a:latin typeface="Times New Roman" panose="02020603050405020304" pitchFamily="18" charset="0"/>
                    <a:ea typeface="华文楷体" panose="02010600040101010101" pitchFamily="2" charset="-122"/>
                  </a:rPr>
                  <a:t>求解方法归纳</a:t>
                </a:r>
                <a:endParaRPr lang="en-US" altLang="zh-CN" sz="2000" b="1" dirty="0">
                  <a:solidFill>
                    <a:srgbClr val="C00000"/>
                  </a:solidFill>
                  <a:latin typeface="Times New Roman" panose="02020603050405020304" pitchFamily="18" charset="0"/>
                  <a:ea typeface="华文楷体" panose="02010600040101010101" pitchFamily="2" charset="-122"/>
                </a:endParaRPr>
              </a:p>
              <a:p>
                <a:r>
                  <a:rPr lang="zh-CN" altLang="en-US" sz="2000" dirty="0">
                    <a:latin typeface="Times New Roman" panose="02020603050405020304" pitchFamily="18" charset="0"/>
                    <a:ea typeface="华文楷体" panose="02010600040101010101" pitchFamily="2" charset="-122"/>
                  </a:rPr>
                  <a:t>利用无向图性质求解图中顶点个数时，经常使用如下</a:t>
                </a:r>
                <a:r>
                  <a:rPr lang="zh-CN" altLang="en-US" sz="2000" dirty="0" smtClean="0">
                    <a:latin typeface="Times New Roman" panose="02020603050405020304" pitchFamily="18" charset="0"/>
                    <a:ea typeface="华文楷体" panose="02010600040101010101" pitchFamily="2" charset="-122"/>
                  </a:rPr>
                  <a:t>特性：</a:t>
                </a:r>
                <a:endParaRPr lang="en-US" altLang="zh-CN" sz="2000" dirty="0" smtClean="0">
                  <a:latin typeface="Times New Roman" panose="02020603050405020304" pitchFamily="18" charset="0"/>
                  <a:ea typeface="华文楷体" panose="02010600040101010101" pitchFamily="2" charset="-122"/>
                </a:endParaRPr>
              </a:p>
              <a:p>
                <a:r>
                  <a:rPr lang="zh-CN" altLang="zh-CN" sz="2000" dirty="0" smtClean="0">
                    <a:latin typeface="Times New Roman" panose="02020603050405020304" pitchFamily="18" charset="0"/>
                    <a:ea typeface="华文楷体" panose="02010600040101010101" pitchFamily="2" charset="-122"/>
                  </a:rPr>
                  <a:t>①</a:t>
                </a:r>
                <a:r>
                  <a:rPr lang="zh-CN" altLang="en-US" sz="2000" dirty="0" smtClean="0">
                    <a:latin typeface="Times New Roman" panose="02020603050405020304" pitchFamily="18" charset="0"/>
                    <a:ea typeface="华文楷体" panose="02010600040101010101" pitchFamily="2" charset="-122"/>
                  </a:rPr>
                  <a:t>设图中度为</a:t>
                </a:r>
                <a:r>
                  <a:rPr lang="en-US" altLang="zh-CN" sz="2000" dirty="0" err="1" smtClean="0">
                    <a:latin typeface="Times New Roman" panose="02020603050405020304" pitchFamily="18" charset="0"/>
                    <a:ea typeface="华文楷体" panose="02010600040101010101" pitchFamily="2" charset="-122"/>
                  </a:rPr>
                  <a:t>i</a:t>
                </a:r>
                <a:r>
                  <a:rPr lang="zh-CN" altLang="en-US" sz="2000" dirty="0" smtClean="0">
                    <a:latin typeface="Times New Roman" panose="02020603050405020304" pitchFamily="18" charset="0"/>
                    <a:ea typeface="华文楷体" panose="02010600040101010101" pitchFamily="2" charset="-122"/>
                  </a:rPr>
                  <a:t>的顶点数为</a:t>
                </a:r>
                <a:r>
                  <a:rPr lang="en-US" altLang="zh-CN" sz="2000" dirty="0" err="1" smtClean="0">
                    <a:latin typeface="Times New Roman" panose="02020603050405020304" pitchFamily="18" charset="0"/>
                    <a:ea typeface="华文楷体" panose="02010600040101010101" pitchFamily="2" charset="-122"/>
                  </a:rPr>
                  <a:t>n</a:t>
                </a:r>
                <a:r>
                  <a:rPr lang="en-US" altLang="zh-CN" sz="2000" baseline="-25000" dirty="0" err="1">
                    <a:latin typeface="Times New Roman" panose="02020603050405020304" pitchFamily="18" charset="0"/>
                    <a:ea typeface="华文楷体" panose="02010600040101010101" pitchFamily="2" charset="-122"/>
                  </a:rPr>
                  <a:t>i</a:t>
                </a:r>
                <a:r>
                  <a:rPr lang="zh-CN" altLang="en-US" sz="2000" dirty="0" smtClean="0">
                    <a:latin typeface="Times New Roman" panose="02020603050405020304" pitchFamily="18" charset="0"/>
                    <a:ea typeface="华文楷体" panose="02010600040101010101" pitchFamily="2" charset="-122"/>
                  </a:rPr>
                  <a:t>，则对于无向</a:t>
                </a:r>
                <a:r>
                  <a:rPr lang="zh-CN" altLang="en-US" sz="2000" b="1" dirty="0">
                    <a:solidFill>
                      <a:srgbClr val="C00000"/>
                    </a:solidFill>
                    <a:latin typeface="Times New Roman" panose="02020603050405020304" pitchFamily="18" charset="0"/>
                    <a:ea typeface="华文楷体" panose="02010600040101010101" pitchFamily="2" charset="-122"/>
                  </a:rPr>
                  <a:t>连通</a:t>
                </a:r>
                <a:r>
                  <a:rPr lang="zh-CN" altLang="en-US" sz="2000" dirty="0" smtClean="0">
                    <a:latin typeface="Times New Roman" panose="02020603050405020304" pitchFamily="18" charset="0"/>
                    <a:ea typeface="华文楷体" panose="02010600040101010101" pitchFamily="2" charset="-122"/>
                  </a:rPr>
                  <a:t>图</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0 </a:t>
                </a:r>
                <a:r>
                  <a:rPr lang="en-US" altLang="zh-CN" sz="2000" dirty="0" smtClean="0">
                    <a:latin typeface="Times New Roman" panose="02020603050405020304" pitchFamily="18" charset="0"/>
                    <a:ea typeface="华文楷体" panose="02010600040101010101" pitchFamily="2" charset="-122"/>
                  </a:rPr>
                  <a:t>=0.</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smtClean="0">
                    <a:latin typeface="宋体" panose="02010600030101010101" pitchFamily="2" charset="-122"/>
                  </a:rPr>
                  <a:t>②</a:t>
                </a:r>
                <a:r>
                  <a:rPr lang="zh-CN" altLang="en-US" sz="2000" dirty="0">
                    <a:latin typeface="Times New Roman" panose="02020603050405020304" pitchFamily="18" charset="0"/>
                    <a:ea typeface="华文楷体" panose="02010600040101010101" pitchFamily="2" charset="-122"/>
                  </a:rPr>
                  <a:t>若一</a:t>
                </a:r>
                <a:r>
                  <a:rPr lang="zh-CN" altLang="en-US" sz="2000" dirty="0" smtClean="0">
                    <a:latin typeface="Times New Roman" panose="02020603050405020304" pitchFamily="18" charset="0"/>
                    <a:ea typeface="华文楷体" panose="02010600040101010101" pitchFamily="2" charset="-122"/>
                  </a:rPr>
                  <a:t>个</a:t>
                </a:r>
                <a:r>
                  <a:rPr lang="en-US" altLang="zh-CN" sz="2000" dirty="0" smtClean="0">
                    <a:latin typeface="Times New Roman" panose="02020603050405020304" pitchFamily="18" charset="0"/>
                    <a:ea typeface="华文楷体" panose="02010600040101010101" pitchFamily="2" charset="-122"/>
                  </a:rPr>
                  <a:t>n</a:t>
                </a:r>
                <a:r>
                  <a:rPr lang="zh-CN" altLang="en-US" sz="2000" dirty="0" smtClean="0">
                    <a:latin typeface="Times New Roman" panose="02020603050405020304" pitchFamily="18" charset="0"/>
                    <a:ea typeface="华文楷体" panose="02010600040101010101" pitchFamily="2" charset="-122"/>
                  </a:rPr>
                  <a:t>顶点</a:t>
                </a:r>
                <a:r>
                  <a:rPr lang="en-US" altLang="zh-CN" sz="2000" dirty="0" smtClean="0">
                    <a:latin typeface="Times New Roman" panose="02020603050405020304" pitchFamily="18" charset="0"/>
                    <a:ea typeface="华文楷体" panose="02010600040101010101" pitchFamily="2" charset="-122"/>
                  </a:rPr>
                  <a:t>e</a:t>
                </a:r>
                <a:r>
                  <a:rPr lang="zh-CN" altLang="en-US" sz="2000" dirty="0" smtClean="0">
                    <a:latin typeface="Times New Roman" panose="02020603050405020304" pitchFamily="18" charset="0"/>
                    <a:ea typeface="华文楷体" panose="02010600040101010101" pitchFamily="2" charset="-122"/>
                  </a:rPr>
                  <a:t>条</a:t>
                </a:r>
                <a:r>
                  <a:rPr lang="zh-CN" altLang="en-US" sz="2000" dirty="0">
                    <a:latin typeface="Times New Roman" panose="02020603050405020304" pitchFamily="18" charset="0"/>
                    <a:ea typeface="华文楷体" panose="02010600040101010101" pitchFamily="2" charset="-122"/>
                  </a:rPr>
                  <a:t>边</a:t>
                </a:r>
                <a:r>
                  <a:rPr lang="zh-CN" altLang="en-US" sz="2000" dirty="0" smtClean="0">
                    <a:latin typeface="Times New Roman" panose="02020603050405020304" pitchFamily="18" charset="0"/>
                    <a:ea typeface="华文楷体" panose="02010600040101010101" pitchFamily="2" charset="-122"/>
                  </a:rPr>
                  <a:t>无向</a:t>
                </a:r>
                <a:r>
                  <a:rPr lang="zh-CN" altLang="en-US" sz="2000" b="1" dirty="0" smtClean="0">
                    <a:solidFill>
                      <a:schemeClr val="accent2"/>
                    </a:solidFill>
                    <a:latin typeface="Times New Roman" panose="02020603050405020304" pitchFamily="18" charset="0"/>
                    <a:ea typeface="华文楷体" panose="02010600040101010101" pitchFamily="2" charset="-122"/>
                  </a:rPr>
                  <a:t>连通</a:t>
                </a:r>
                <a:r>
                  <a:rPr lang="zh-CN" altLang="en-US" sz="2000" dirty="0" smtClean="0">
                    <a:latin typeface="Times New Roman" panose="02020603050405020304" pitchFamily="18" charset="0"/>
                    <a:ea typeface="华文楷体" panose="02010600040101010101" pitchFamily="2" charset="-122"/>
                  </a:rPr>
                  <a:t>图，所有顶点的度均小于</a:t>
                </a:r>
                <a:r>
                  <a:rPr lang="en-US" altLang="zh-CN" sz="2000" dirty="0" smtClean="0">
                    <a:latin typeface="Times New Roman" panose="02020603050405020304" pitchFamily="18" charset="0"/>
                    <a:ea typeface="华文楷体" panose="02010600040101010101" pitchFamily="2" charset="-122"/>
                  </a:rPr>
                  <a:t>m</a:t>
                </a:r>
                <a:r>
                  <a:rPr lang="zh-CN" altLang="en-US" sz="2000" dirty="0" smtClean="0">
                    <a:latin typeface="Times New Roman" panose="02020603050405020304" pitchFamily="18" charset="0"/>
                    <a:ea typeface="华文楷体" panose="02010600040101010101" pitchFamily="2" charset="-122"/>
                  </a:rPr>
                  <a:t>，则有：</a:t>
                </a:r>
                <a:r>
                  <a:rPr lang="en-US" altLang="zh-CN" sz="2000" dirty="0" smtClean="0">
                    <a:latin typeface="Times New Roman" panose="02020603050405020304" pitchFamily="18" charset="0"/>
                    <a:ea typeface="华文楷体" panose="02010600040101010101" pitchFamily="2" charset="-122"/>
                  </a:rPr>
                  <a:t>n=</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0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1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2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m</a:t>
                </a:r>
                <a:r>
                  <a:rPr lang="en-US" altLang="zh-CN" sz="2000" dirty="0" smtClean="0">
                    <a:latin typeface="Times New Roman" panose="02020603050405020304" pitchFamily="18" charset="0"/>
                    <a:ea typeface="华文楷体" panose="02010600040101010101" pitchFamily="2" charset="-122"/>
                  </a:rPr>
                  <a:t> ;</a:t>
                </a:r>
                <a:r>
                  <a:rPr lang="zh-CN" altLang="en-US" sz="2000" dirty="0" smtClean="0">
                    <a:latin typeface="Times New Roman" panose="02020603050405020304" pitchFamily="18" charset="0"/>
                    <a:ea typeface="华文楷体" panose="02010600040101010101" pitchFamily="2" charset="-122"/>
                  </a:rPr>
                  <a:t>所有顶点度之和</a:t>
                </a:r>
                <a:r>
                  <a:rPr lang="en-US" altLang="zh-CN" sz="2000" dirty="0" smtClean="0">
                    <a:latin typeface="Times New Roman" panose="02020603050405020304" pitchFamily="18" charset="0"/>
                    <a:ea typeface="华文楷体" panose="02010600040101010101" pitchFamily="2" charset="-122"/>
                  </a:rPr>
                  <a:t>=2e;</a:t>
                </a:r>
                <a:r>
                  <a:rPr lang="zh-CN" altLang="en-US" sz="2000" dirty="0">
                    <a:latin typeface="Times New Roman" panose="02020603050405020304" pitchFamily="18" charset="0"/>
                    <a:ea typeface="华文楷体" panose="02010600040101010101" pitchFamily="2" charset="-122"/>
                  </a:rPr>
                  <a:t>所有顶点度之</a:t>
                </a:r>
                <a:r>
                  <a:rPr lang="zh-CN" altLang="en-US" sz="2000" dirty="0" smtClean="0">
                    <a:latin typeface="Times New Roman" panose="02020603050405020304" pitchFamily="18" charset="0"/>
                    <a:ea typeface="华文楷体" panose="02010600040101010101" pitchFamily="2" charset="-122"/>
                  </a:rPr>
                  <a:t>和</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m </a:t>
                </a:r>
                <a:r>
                  <a:rPr lang="en-US" altLang="zh-CN" sz="2000" dirty="0" smtClean="0">
                    <a:latin typeface="Times New Roman" panose="02020603050405020304" pitchFamily="18" charset="0"/>
                    <a:ea typeface="华文楷体" panose="02010600040101010101" pitchFamily="2" charset="-122"/>
                  </a:rPr>
                  <a:t>*m+…+</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2 </a:t>
                </a:r>
                <a:r>
                  <a:rPr lang="en-US" altLang="zh-CN" sz="2000" dirty="0" smtClean="0">
                    <a:latin typeface="Times New Roman" panose="02020603050405020304" pitchFamily="18" charset="0"/>
                    <a:ea typeface="华文楷体" panose="02010600040101010101" pitchFamily="2" charset="-122"/>
                  </a:rPr>
                  <a:t>*2+</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1</a:t>
                </a:r>
                <a:r>
                  <a:rPr lang="en-US" altLang="zh-CN" sz="2000" dirty="0" smtClean="0">
                    <a:latin typeface="Times New Roman" panose="02020603050405020304" pitchFamily="18" charset="0"/>
                    <a:ea typeface="华文楷体" panose="02010600040101010101" pitchFamily="2" charset="-122"/>
                  </a:rPr>
                  <a:t>.</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smtClean="0">
                    <a:solidFill>
                      <a:srgbClr val="C00000"/>
                    </a:solidFill>
                    <a:latin typeface="Times New Roman" panose="02020603050405020304" pitchFamily="18" charset="0"/>
                    <a:ea typeface="华文楷体" panose="02010600040101010101" pitchFamily="2" charset="-122"/>
                  </a:rPr>
                  <a:t>实例</a:t>
                </a:r>
                <a:r>
                  <a:rPr lang="zh-CN" altLang="en-US" sz="2000" dirty="0" smtClean="0">
                    <a:latin typeface="Times New Roman" panose="02020603050405020304" pitchFamily="18" charset="0"/>
                    <a:ea typeface="华文楷体" panose="02010600040101010101" pitchFamily="2" charset="-122"/>
                  </a:rPr>
                  <a:t>：一个无向图共</a:t>
                </a:r>
                <a:r>
                  <a:rPr lang="en-US" altLang="zh-CN" sz="2000" dirty="0" smtClean="0">
                    <a:latin typeface="Times New Roman" panose="02020603050405020304" pitchFamily="18" charset="0"/>
                    <a:ea typeface="华文楷体" panose="02010600040101010101" pitchFamily="2" charset="-122"/>
                  </a:rPr>
                  <a:t>16</a:t>
                </a:r>
                <a:r>
                  <a:rPr lang="zh-CN" altLang="en-US" sz="2000" dirty="0" smtClean="0">
                    <a:latin typeface="Times New Roman" panose="02020603050405020304" pitchFamily="18" charset="0"/>
                    <a:ea typeface="华文楷体" panose="02010600040101010101" pitchFamily="2" charset="-122"/>
                  </a:rPr>
                  <a:t>条边，所有顶点度均小于</a:t>
                </a:r>
                <a:r>
                  <a:rPr lang="en-US" altLang="zh-CN" sz="2000" dirty="0" smtClean="0">
                    <a:latin typeface="Times New Roman" panose="02020603050405020304" pitchFamily="18" charset="0"/>
                    <a:ea typeface="华文楷体" panose="02010600040101010101" pitchFamily="2" charset="-122"/>
                  </a:rPr>
                  <a:t>5</a:t>
                </a:r>
                <a:r>
                  <a:rPr lang="zh-CN" altLang="en-US" sz="2000" dirty="0" smtClean="0">
                    <a:latin typeface="Times New Roman" panose="02020603050405020304" pitchFamily="18" charset="0"/>
                    <a:ea typeface="华文楷体" panose="02010600040101010101" pitchFamily="2" charset="-122"/>
                  </a:rPr>
                  <a:t>，度为</a:t>
                </a:r>
                <a:r>
                  <a:rPr lang="en-US" altLang="zh-CN" sz="2000" dirty="0" smtClean="0">
                    <a:latin typeface="Times New Roman" panose="02020603050405020304" pitchFamily="18" charset="0"/>
                    <a:ea typeface="华文楷体" panose="02010600040101010101" pitchFamily="2" charset="-122"/>
                  </a:rPr>
                  <a:t>4</a:t>
                </a:r>
                <a:r>
                  <a:rPr lang="zh-CN" altLang="en-US" sz="2000" dirty="0" smtClean="0">
                    <a:latin typeface="Times New Roman" panose="02020603050405020304" pitchFamily="18" charset="0"/>
                    <a:ea typeface="华文楷体" panose="02010600040101010101" pitchFamily="2" charset="-122"/>
                  </a:rPr>
                  <a:t>的顶点有</a:t>
                </a:r>
                <a:r>
                  <a:rPr lang="en-US" altLang="zh-CN" sz="2000" dirty="0" smtClean="0">
                    <a:latin typeface="Times New Roman" panose="02020603050405020304" pitchFamily="18" charset="0"/>
                    <a:ea typeface="华文楷体" panose="02010600040101010101" pitchFamily="2" charset="-122"/>
                  </a:rPr>
                  <a:t>3</a:t>
                </a:r>
                <a:r>
                  <a:rPr lang="zh-CN" altLang="en-US" sz="2000" dirty="0" smtClean="0">
                    <a:latin typeface="Times New Roman" panose="02020603050405020304" pitchFamily="18" charset="0"/>
                    <a:ea typeface="华文楷体" panose="02010600040101010101" pitchFamily="2" charset="-122"/>
                  </a:rPr>
                  <a:t>个，度为</a:t>
                </a:r>
                <a:r>
                  <a:rPr lang="en-US" altLang="zh-CN" sz="2000" dirty="0" smtClean="0">
                    <a:latin typeface="Times New Roman" panose="02020603050405020304" pitchFamily="18" charset="0"/>
                    <a:ea typeface="华文楷体" panose="02010600040101010101" pitchFamily="2" charset="-122"/>
                  </a:rPr>
                  <a:t>3</a:t>
                </a:r>
                <a:r>
                  <a:rPr lang="zh-CN" altLang="en-US" sz="2000" dirty="0" smtClean="0">
                    <a:latin typeface="Times New Roman" panose="02020603050405020304" pitchFamily="18" charset="0"/>
                    <a:ea typeface="华文楷体" panose="02010600040101010101" pitchFamily="2" charset="-122"/>
                  </a:rPr>
                  <a:t>的顶点有</a:t>
                </a:r>
                <a:r>
                  <a:rPr lang="en-US" altLang="zh-CN" sz="2000" dirty="0" smtClean="0">
                    <a:latin typeface="Times New Roman" panose="02020603050405020304" pitchFamily="18" charset="0"/>
                    <a:ea typeface="华文楷体" panose="02010600040101010101" pitchFamily="2" charset="-122"/>
                  </a:rPr>
                  <a:t>4</a:t>
                </a:r>
                <a:r>
                  <a:rPr lang="zh-CN" altLang="en-US" sz="2000" dirty="0" smtClean="0">
                    <a:latin typeface="Times New Roman" panose="02020603050405020304" pitchFamily="18" charset="0"/>
                    <a:ea typeface="华文楷体" panose="02010600040101010101" pitchFamily="2" charset="-122"/>
                  </a:rPr>
                  <a:t>个，其余顶点均小于</a:t>
                </a:r>
                <a:r>
                  <a:rPr lang="en-US" altLang="zh-CN" sz="2000" dirty="0" smtClean="0">
                    <a:latin typeface="Times New Roman" panose="02020603050405020304" pitchFamily="18" charset="0"/>
                    <a:ea typeface="华文楷体" panose="02010600040101010101" pitchFamily="2" charset="-122"/>
                  </a:rPr>
                  <a:t>3</a:t>
                </a:r>
                <a:r>
                  <a:rPr lang="zh-CN" altLang="en-US" sz="2000" dirty="0" smtClean="0">
                    <a:latin typeface="Times New Roman" panose="02020603050405020304" pitchFamily="18" charset="0"/>
                    <a:ea typeface="华文楷体" panose="02010600040101010101" pitchFamily="2" charset="-122"/>
                  </a:rPr>
                  <a:t>，则图中至少包含</a:t>
                </a:r>
                <a:r>
                  <a:rPr lang="en-US" altLang="zh-CN" sz="2000" b="1" dirty="0" smtClean="0">
                    <a:solidFill>
                      <a:srgbClr val="C00000"/>
                    </a:solidFill>
                    <a:latin typeface="Times New Roman" panose="02020603050405020304" pitchFamily="18" charset="0"/>
                    <a:ea typeface="华文楷体" panose="02010600040101010101" pitchFamily="2" charset="-122"/>
                  </a:rPr>
                  <a:t>11</a:t>
                </a:r>
                <a:r>
                  <a:rPr lang="zh-CN" altLang="en-US" sz="2000" dirty="0" smtClean="0">
                    <a:latin typeface="Times New Roman" panose="02020603050405020304" pitchFamily="18" charset="0"/>
                    <a:ea typeface="华文楷体" panose="02010600040101010101" pitchFamily="2" charset="-122"/>
                  </a:rPr>
                  <a:t>个顶点。</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smtClean="0">
                    <a:latin typeface="Times New Roman" panose="02020603050405020304" pitchFamily="18" charset="0"/>
                    <a:ea typeface="华文楷体" panose="02010600040101010101" pitchFamily="2" charset="-122"/>
                  </a:rPr>
                  <a:t>解答：顶点数最少，则应为</a:t>
                </a:r>
                <a:r>
                  <a:rPr lang="zh-CN" altLang="en-US" sz="2000" dirty="0">
                    <a:latin typeface="Times New Roman" panose="02020603050405020304" pitchFamily="18" charset="0"/>
                    <a:ea typeface="华文楷体" panose="02010600040101010101" pitchFamily="2" charset="-122"/>
                  </a:rPr>
                  <a:t>无向</a:t>
                </a:r>
                <a:r>
                  <a:rPr lang="zh-CN" altLang="en-US" sz="2000" dirty="0" smtClean="0">
                    <a:latin typeface="Times New Roman" panose="02020603050405020304" pitchFamily="18" charset="0"/>
                    <a:ea typeface="华文楷体" panose="02010600040101010101" pitchFamily="2" charset="-122"/>
                  </a:rPr>
                  <a:t>连通图，</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0 </a:t>
                </a:r>
                <a:r>
                  <a:rPr lang="en-US" altLang="zh-CN" sz="2000" dirty="0">
                    <a:latin typeface="Times New Roman" panose="02020603050405020304" pitchFamily="18" charset="0"/>
                    <a:ea typeface="华文楷体" panose="02010600040101010101" pitchFamily="2" charset="-122"/>
                  </a:rPr>
                  <a:t>=</a:t>
                </a:r>
                <a:r>
                  <a:rPr lang="en-US" altLang="zh-CN" sz="2000" dirty="0" smtClean="0">
                    <a:latin typeface="Times New Roman" panose="02020603050405020304" pitchFamily="18" charset="0"/>
                    <a:ea typeface="华文楷体" panose="02010600040101010101" pitchFamily="2" charset="-122"/>
                  </a:rPr>
                  <a:t>0</a:t>
                </a:r>
                <a:r>
                  <a:rPr lang="zh-CN" altLang="en-US"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4 </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3</a:t>
                </a:r>
                <a:r>
                  <a:rPr lang="zh-CN" altLang="en-US"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n</a:t>
                </a:r>
                <a:r>
                  <a:rPr lang="en-US" altLang="zh-CN" sz="2000" baseline="-25000" dirty="0" smtClean="0">
                    <a:latin typeface="Times New Roman" panose="02020603050405020304" pitchFamily="18" charset="0"/>
                    <a:ea typeface="华文楷体" panose="02010600040101010101" pitchFamily="2" charset="-122"/>
                  </a:rPr>
                  <a:t>3 </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4</a:t>
                </a:r>
                <a:r>
                  <a:rPr lang="zh-CN" altLang="en-US" sz="2000" dirty="0" smtClean="0">
                    <a:latin typeface="Times New Roman" panose="02020603050405020304" pitchFamily="18" charset="0"/>
                    <a:ea typeface="华文楷体" panose="02010600040101010101" pitchFamily="2" charset="-122"/>
                  </a:rPr>
                  <a:t>。</a:t>
                </a:r>
                <a:r>
                  <a:rPr lang="en-US" altLang="zh-CN" sz="2000" dirty="0" smtClean="0">
                    <a:latin typeface="Times New Roman" panose="02020603050405020304" pitchFamily="18" charset="0"/>
                    <a:ea typeface="华文楷体" panose="02010600040101010101" pitchFamily="2" charset="-122"/>
                  </a:rPr>
                  <a:t>n= 7+</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2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1 </a:t>
                </a:r>
                <a:r>
                  <a:rPr lang="zh-CN" altLang="en-US" sz="2000" dirty="0" smtClean="0">
                    <a:latin typeface="Times New Roman" panose="02020603050405020304" pitchFamily="18" charset="0"/>
                    <a:ea typeface="华文楷体" panose="02010600040101010101" pitchFamily="2" charset="-122"/>
                  </a:rPr>
                  <a:t>；度之和</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=4*3+3*4+2*</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2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1 </a:t>
                </a:r>
                <a:r>
                  <a:rPr lang="en-US" altLang="zh-CN" sz="2000" dirty="0" smtClean="0">
                    <a:latin typeface="Times New Roman" panose="02020603050405020304" pitchFamily="18" charset="0"/>
                    <a:ea typeface="华文楷体" panose="02010600040101010101" pitchFamily="2" charset="-122"/>
                  </a:rPr>
                  <a:t>=24+</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2n</a:t>
                </a:r>
                <a:r>
                  <a:rPr lang="en-US" altLang="zh-CN" sz="2000" baseline="-25000" dirty="0" smtClean="0">
                    <a:latin typeface="Times New Roman" panose="02020603050405020304" pitchFamily="18" charset="0"/>
                    <a:ea typeface="华文楷体" panose="02010600040101010101" pitchFamily="2" charset="-122"/>
                  </a:rPr>
                  <a:t>2 </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1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latin typeface="Times New Roman" panose="02020603050405020304" pitchFamily="18" charset="0"/>
                    <a:ea typeface="华文楷体" panose="02010600040101010101" pitchFamily="2" charset="-122"/>
                  </a:rPr>
                  <a:t> 24 </a:t>
                </a:r>
                <a:r>
                  <a:rPr lang="en-US" altLang="zh-CN" sz="2000" dirty="0" smtClean="0">
                    <a:latin typeface="Times New Roman" panose="02020603050405020304" pitchFamily="18" charset="0"/>
                    <a:ea typeface="华文楷体" panose="02010600040101010101" pitchFamily="2" charset="-122"/>
                  </a:rPr>
                  <a:t>+2*(n</a:t>
                </a:r>
                <a:r>
                  <a:rPr lang="en-US" altLang="zh-CN" sz="2000" baseline="-25000" dirty="0" smtClean="0">
                    <a:latin typeface="Times New Roman" panose="02020603050405020304" pitchFamily="18" charset="0"/>
                    <a:ea typeface="华文楷体" panose="02010600040101010101" pitchFamily="2" charset="-122"/>
                  </a:rPr>
                  <a:t>2 </a:t>
                </a:r>
                <a:r>
                  <a:rPr lang="en-US" altLang="zh-CN" sz="2000" dirty="0">
                    <a:latin typeface="Times New Roman" panose="02020603050405020304" pitchFamily="18" charset="0"/>
                    <a:ea typeface="华文楷体" panose="02010600040101010101" pitchFamily="2" charset="-122"/>
                  </a:rPr>
                  <a:t>+ n</a:t>
                </a:r>
                <a:r>
                  <a:rPr lang="en-US" altLang="zh-CN" sz="2000" baseline="-25000" dirty="0">
                    <a:latin typeface="Times New Roman" panose="02020603050405020304" pitchFamily="18" charset="0"/>
                    <a:ea typeface="华文楷体" panose="02010600040101010101" pitchFamily="2" charset="-122"/>
                  </a:rPr>
                  <a:t>1 </a:t>
                </a:r>
                <a:r>
                  <a:rPr lang="en-US" altLang="zh-CN" sz="2000" dirty="0" smtClean="0">
                    <a:latin typeface="Times New Roman" panose="02020603050405020304" pitchFamily="18" charset="0"/>
                    <a:ea typeface="华文楷体" panose="02010600040101010101" pitchFamily="2" charset="-122"/>
                  </a:rPr>
                  <a:t>)=</a:t>
                </a:r>
                <a:r>
                  <a:rPr lang="en-US" altLang="zh-CN" sz="2000" dirty="0">
                    <a:latin typeface="Times New Roman" panose="02020603050405020304" pitchFamily="18" charset="0"/>
                    <a:ea typeface="华文楷体" panose="02010600040101010101" pitchFamily="2" charset="-122"/>
                  </a:rPr>
                  <a:t> 24 + 2</a:t>
                </a:r>
                <a:r>
                  <a:rPr lang="en-US" altLang="zh-CN" sz="2000" dirty="0" smtClean="0">
                    <a:latin typeface="Times New Roman" panose="02020603050405020304" pitchFamily="18" charset="0"/>
                    <a:ea typeface="华文楷体" panose="02010600040101010101" pitchFamily="2" charset="-122"/>
                  </a:rPr>
                  <a:t>*(n-7)=10+2n</a:t>
                </a:r>
                <a:r>
                  <a:rPr lang="zh-CN" altLang="en-US" sz="2000" dirty="0" smtClean="0">
                    <a:latin typeface="Times New Roman" panose="02020603050405020304" pitchFamily="18" charset="0"/>
                    <a:ea typeface="华文楷体" panose="02010600040101010101" pitchFamily="2" charset="-122"/>
                  </a:rPr>
                  <a:t>。又有</a:t>
                </a:r>
                <a:r>
                  <a:rPr lang="zh-CN" altLang="en-US" sz="2000" dirty="0">
                    <a:latin typeface="Times New Roman" panose="02020603050405020304" pitchFamily="18" charset="0"/>
                    <a:ea typeface="华文楷体" panose="02010600040101010101" pitchFamily="2" charset="-122"/>
                  </a:rPr>
                  <a:t>度之</a:t>
                </a:r>
                <a:r>
                  <a:rPr lang="zh-CN" altLang="en-US" sz="2000" dirty="0" smtClean="0">
                    <a:latin typeface="Times New Roman" panose="02020603050405020304" pitchFamily="18" charset="0"/>
                    <a:ea typeface="华文楷体" panose="02010600040101010101" pitchFamily="2" charset="-122"/>
                  </a:rPr>
                  <a:t>和</a:t>
                </a:r>
                <a:r>
                  <a:rPr lang="en-US" altLang="zh-CN" sz="2000" dirty="0" smtClean="0">
                    <a:latin typeface="Times New Roman" panose="02020603050405020304" pitchFamily="18" charset="0"/>
                    <a:ea typeface="华文楷体" panose="02010600040101010101" pitchFamily="2" charset="-122"/>
                  </a:rPr>
                  <a:t>=2e=32</a:t>
                </a:r>
                <a:r>
                  <a:rPr lang="zh-CN" altLang="en-US" sz="2000" dirty="0" smtClean="0">
                    <a:latin typeface="Times New Roman" panose="02020603050405020304" pitchFamily="18" charset="0"/>
                    <a:ea typeface="华文楷体" panose="02010600040101010101" pitchFamily="2" charset="-122"/>
                  </a:rPr>
                  <a:t>，因此</a:t>
                </a:r>
                <a:r>
                  <a:rPr lang="en-US" altLang="zh-CN" sz="2000" dirty="0" smtClean="0">
                    <a:latin typeface="Times New Roman" panose="02020603050405020304" pitchFamily="18" charset="0"/>
                    <a:ea typeface="华文楷体" panose="02010600040101010101" pitchFamily="2" charset="-122"/>
                  </a:rPr>
                  <a:t>n</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smtClean="0">
                    <a:latin typeface="Times New Roman" panose="02020603050405020304" pitchFamily="18" charset="0"/>
                    <a:ea typeface="华文楷体" panose="02010600040101010101" pitchFamily="2" charset="-122"/>
                  </a:rPr>
                  <a:t>11</a:t>
                </a:r>
                <a:r>
                  <a:rPr lang="zh-CN" altLang="en-US" sz="2000" dirty="0" smtClean="0">
                    <a:latin typeface="Times New Roman" panose="02020603050405020304" pitchFamily="18" charset="0"/>
                    <a:ea typeface="华文楷体" panose="02010600040101010101" pitchFamily="2" charset="-122"/>
                  </a:rPr>
                  <a:t>。</a:t>
                </a:r>
                <a:endParaRPr lang="zh-CN" altLang="en-US" sz="2000" dirty="0">
                  <a:latin typeface="Times New Roman" panose="02020603050405020304" pitchFamily="18" charset="0"/>
                  <a:ea typeface="华文楷体" panose="0201060004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52400" y="3095911"/>
                <a:ext cx="8461159" cy="3170099"/>
              </a:xfrm>
              <a:prstGeom prst="rect">
                <a:avLst/>
              </a:prstGeom>
              <a:blipFill rotWithShape="1">
                <a:blip r:embed="rId3"/>
                <a:stretch>
                  <a:fillRect l="-60" t="-169" r="-55" b="-146"/>
                </a:stretch>
              </a:blipFill>
              <a:ln>
                <a:solidFill>
                  <a:schemeClr val="accent1"/>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81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197"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路径</a:t>
            </a:r>
            <a:r>
              <a:rPr lang="zh-CN" altLang="en-US" sz="2400" b="1" dirty="0" smtClean="0">
                <a:solidFill>
                  <a:schemeClr val="accent2"/>
                </a:solidFill>
                <a:ea typeface="华文楷体" panose="02010600040101010101" pitchFamily="2" charset="-122"/>
              </a:rPr>
              <a:t>   </a:t>
            </a:r>
            <a:r>
              <a:rPr lang="zh-CN" altLang="en-US" sz="2400" dirty="0" smtClean="0">
                <a:ea typeface="华文楷体" panose="02010600040101010101" pitchFamily="2" charset="-122"/>
              </a:rPr>
              <a:t>接续的边构成的顶点序列。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路径长度   </a:t>
            </a:r>
            <a:r>
              <a:rPr lang="zh-CN" altLang="en-US" sz="2400" dirty="0" smtClean="0">
                <a:ea typeface="华文楷体" panose="02010600040101010101" pitchFamily="2" charset="-122"/>
              </a:rPr>
              <a:t>路径上边或弧的数目</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权值之和。</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回路</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环</a:t>
            </a:r>
            <a:r>
              <a:rPr lang="en-US" altLang="zh-CN" sz="2400" b="1" dirty="0" smtClean="0">
                <a:solidFill>
                  <a:srgbClr val="FF3300"/>
                </a:solidFill>
                <a:ea typeface="华文楷体" panose="02010600040101010101" pitchFamily="2" charset="-122"/>
              </a:rPr>
              <a:t>)   </a:t>
            </a:r>
            <a:r>
              <a:rPr lang="zh-CN" altLang="en-US" sz="2400" dirty="0" smtClean="0">
                <a:ea typeface="华文楷体" panose="02010600040101010101" pitchFamily="2" charset="-122"/>
              </a:rPr>
              <a:t>第一个顶点和最后一个顶点相同的路径。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简单路径   </a:t>
            </a:r>
            <a:r>
              <a:rPr lang="zh-CN" altLang="en-US" sz="2400" dirty="0" smtClean="0">
                <a:ea typeface="华文楷体" panose="02010600040101010101" pitchFamily="2" charset="-122"/>
              </a:rPr>
              <a:t>除路径起点和终点可以相同外，其余顶点均</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不相同的路径。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简单回路</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简单环</a:t>
            </a:r>
            <a:r>
              <a:rPr lang="en-US" altLang="zh-CN" sz="2400" b="1" dirty="0" smtClean="0">
                <a:solidFill>
                  <a:srgbClr val="FF3300"/>
                </a:solidFill>
                <a:ea typeface="华文楷体" panose="02010600040101010101" pitchFamily="2" charset="-122"/>
              </a:rPr>
              <a:t>)   </a:t>
            </a:r>
            <a:r>
              <a:rPr lang="zh-CN" altLang="en-US" sz="2400" dirty="0" smtClean="0">
                <a:ea typeface="华文楷体" panose="02010600040101010101" pitchFamily="2" charset="-122"/>
              </a:rPr>
              <a:t>除路径起点和终点相同外，其余顶</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点均不相同的路径。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chemeClr val="accent2"/>
                </a:solidFill>
                <a:ea typeface="华文楷体" panose="02010600040101010101" pitchFamily="2" charset="-122"/>
              </a:rPr>
              <a:t>思考：</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个顶点的无向完全图中</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两个顶点之间简单路径数目为多少？</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
        <p:nvSpPr>
          <p:cNvPr id="30724" name="Rectangle 4"/>
          <p:cNvSpPr>
            <a:spLocks noChangeArrowheads="1"/>
          </p:cNvSpPr>
          <p:nvPr/>
        </p:nvSpPr>
        <p:spPr bwMode="auto">
          <a:xfrm>
            <a:off x="990600" y="5638800"/>
            <a:ext cx="6019800" cy="6858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 + A(n-2,1) + A(n-2,2) + ... + A(n-2,n-2)</a:t>
            </a:r>
            <a:br>
              <a:rPr lang="en-US" altLang="zh-CN" sz="1800" dirty="0">
                <a:latin typeface="Times New Roman" panose="02020603050405020304" pitchFamily="18" charset="0"/>
                <a:ea typeface="华文楷体" panose="02010600040101010101" pitchFamily="2" charset="-122"/>
              </a:rPr>
            </a:br>
            <a:r>
              <a:rPr lang="zh-CN" altLang="en-US" sz="1800" dirty="0">
                <a:latin typeface="Times New Roman" panose="02020603050405020304" pitchFamily="18" charset="0"/>
                <a:ea typeface="华文楷体" panose="02010600040101010101" pitchFamily="2" charset="-122"/>
              </a:rPr>
              <a:t>其中</a:t>
            </a:r>
            <a:r>
              <a:rPr lang="en-US" altLang="zh-CN" sz="1800" dirty="0">
                <a:latin typeface="Times New Roman" panose="02020603050405020304" pitchFamily="18" charset="0"/>
                <a:ea typeface="华文楷体" panose="02010600040101010101" pitchFamily="2" charset="-122"/>
              </a:rPr>
              <a:t>A(</a:t>
            </a:r>
            <a:r>
              <a:rPr lang="en-US" altLang="zh-CN" sz="1800" dirty="0" err="1">
                <a:latin typeface="Times New Roman" panose="02020603050405020304" pitchFamily="18" charset="0"/>
                <a:ea typeface="华文楷体" panose="02010600040101010101" pitchFamily="2" charset="-122"/>
              </a:rPr>
              <a:t>m,n</a:t>
            </a:r>
            <a:r>
              <a:rPr lang="en-US" altLang="zh-CN" sz="1800" dirty="0">
                <a:latin typeface="Times New Roman" panose="02020603050405020304" pitchFamily="18" charset="0"/>
                <a:ea typeface="华文楷体" panose="02010600040101010101" pitchFamily="2" charset="-122"/>
              </a:rPr>
              <a:t>)</a:t>
            </a:r>
            <a:r>
              <a:rPr lang="zh-CN" altLang="en-US" sz="1800" dirty="0">
                <a:latin typeface="Times New Roman" panose="02020603050405020304" pitchFamily="18" charset="0"/>
                <a:ea typeface="华文楷体" panose="02010600040101010101" pitchFamily="2" charset="-122"/>
              </a:rPr>
              <a:t>是</a:t>
            </a:r>
            <a:r>
              <a:rPr lang="en-US" altLang="zh-CN" sz="1800" dirty="0">
                <a:latin typeface="Times New Roman" panose="02020603050405020304" pitchFamily="18" charset="0"/>
                <a:ea typeface="华文楷体" panose="02010600040101010101" pitchFamily="2" charset="-122"/>
              </a:rPr>
              <a:t>m</a:t>
            </a:r>
            <a:r>
              <a:rPr lang="zh-CN" altLang="en-US" sz="1800" dirty="0">
                <a:latin typeface="Times New Roman" panose="02020603050405020304" pitchFamily="18" charset="0"/>
                <a:ea typeface="华文楷体" panose="02010600040101010101" pitchFamily="2" charset="-122"/>
              </a:rPr>
              <a:t>取</a:t>
            </a:r>
            <a:r>
              <a:rPr lang="en-US" altLang="zh-CN" sz="1800" dirty="0">
                <a:latin typeface="Times New Roman" panose="02020603050405020304" pitchFamily="18" charset="0"/>
                <a:ea typeface="华文楷体" panose="02010600040101010101" pitchFamily="2" charset="-122"/>
              </a:rPr>
              <a:t>n</a:t>
            </a:r>
            <a:r>
              <a:rPr lang="zh-CN" altLang="en-US" sz="1800" dirty="0">
                <a:latin typeface="Times New Roman" panose="02020603050405020304" pitchFamily="18" charset="0"/>
                <a:ea typeface="华文楷体" panose="02010600040101010101" pitchFamily="2" charset="-122"/>
              </a:rPr>
              <a:t>的排列数。 </a:t>
            </a:r>
            <a:endParaRPr lang="zh-CN" altLang="en-US"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ppt_x"/>
                                          </p:val>
                                        </p:tav>
                                        <p:tav tm="100000">
                                          <p:val>
                                            <p:strVal val="#ppt_x"/>
                                          </p:val>
                                        </p:tav>
                                      </p:tavLst>
                                    </p:anim>
                                    <p:anim calcmode="lin" valueType="num">
                                      <p:cBhvr additive="base">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3"/>
          <p:cNvSpPr>
            <a:spLocks noGrp="1"/>
          </p:cNvSpPr>
          <p:nvPr>
            <p:ph type="ftr" sz="quarter" idx="10"/>
          </p:nvPr>
        </p:nvSpPr>
        <p:spPr/>
        <p:txBody>
          <a:bodyPr/>
          <a:lstStyle/>
          <a:p>
            <a:pPr>
              <a:defRPr/>
            </a:pPr>
            <a:r>
              <a:rPr lang="en-US" altLang="zh-CN"/>
              <a:t>BUPT SCST</a:t>
            </a:r>
            <a:endParaRPr lang="en-US" altLang="zh-CN"/>
          </a:p>
        </p:txBody>
      </p:sp>
      <p:sp>
        <p:nvSpPr>
          <p:cNvPr id="66" name="日期占位符 5"/>
          <p:cNvSpPr>
            <a:spLocks noGrp="1"/>
          </p:cNvSpPr>
          <p:nvPr>
            <p:ph type="dt" sz="quarter" idx="12"/>
          </p:nvPr>
        </p:nvSpPr>
        <p:spPr/>
        <p:txBody>
          <a:bodyPr/>
          <a:lstStyle/>
          <a:p>
            <a:pPr>
              <a:defRPr/>
            </a:pPr>
            <a:r>
              <a:rPr lang="en-US" altLang="zh-CN"/>
              <a:t>BUPT</a:t>
            </a:r>
            <a:endParaRPr lang="en-US" altLang="zh-CN"/>
          </a:p>
        </p:txBody>
      </p:sp>
      <p:sp>
        <p:nvSpPr>
          <p:cNvPr id="92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9221"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连通图   </a:t>
            </a:r>
            <a:r>
              <a:rPr lang="zh-CN" altLang="en-US" sz="2400" dirty="0" smtClean="0">
                <a:ea typeface="华文楷体" panose="02010600040101010101" pitchFamily="2" charset="-122"/>
              </a:rPr>
              <a:t>无向图中，任何一对顶点间都存在路径。</a:t>
            </a:r>
            <a:endParaRPr lang="zh-CN" altLang="en-US" sz="2400" dirty="0" smtClean="0">
              <a:ea typeface="华文楷体" panose="02010600040101010101" pitchFamily="2" charset="-122"/>
            </a:endParaRPr>
          </a:p>
          <a:p>
            <a:pPr eaLnBrk="1" hangingPunct="1">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连通分量   </a:t>
            </a:r>
            <a:r>
              <a:rPr lang="zh-CN" altLang="en-US" sz="2400" dirty="0" smtClean="0">
                <a:ea typeface="华文楷体" panose="02010600040101010101" pitchFamily="2" charset="-122"/>
              </a:rPr>
              <a:t>无向图中的极大连通</a:t>
            </a:r>
            <a:r>
              <a:rPr lang="zh-CN" altLang="en-US" sz="2400" dirty="0">
                <a:ea typeface="华文楷体" panose="02010600040101010101" pitchFamily="2" charset="-122"/>
              </a:rPr>
              <a:t>子图，极</a:t>
            </a:r>
            <a:r>
              <a:rPr lang="zh-CN" altLang="en-US" sz="2400" dirty="0" smtClean="0">
                <a:ea typeface="华文楷体" panose="02010600040101010101" pitchFamily="2" charset="-122"/>
              </a:rPr>
              <a:t>大是指顶点数。</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9222" name="Oval 38"/>
          <p:cNvSpPr>
            <a:spLocks noChangeArrowheads="1"/>
          </p:cNvSpPr>
          <p:nvPr/>
        </p:nvSpPr>
        <p:spPr bwMode="auto">
          <a:xfrm>
            <a:off x="685800" y="289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9223" name="Oval 39"/>
          <p:cNvSpPr>
            <a:spLocks noChangeArrowheads="1"/>
          </p:cNvSpPr>
          <p:nvPr/>
        </p:nvSpPr>
        <p:spPr bwMode="auto">
          <a:xfrm>
            <a:off x="2438400" y="289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9224" name="Line 40"/>
          <p:cNvSpPr>
            <a:spLocks noChangeShapeType="1"/>
          </p:cNvSpPr>
          <p:nvPr/>
        </p:nvSpPr>
        <p:spPr bwMode="auto">
          <a:xfrm>
            <a:off x="1143000" y="31242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25" name="Oval 41"/>
          <p:cNvSpPr>
            <a:spLocks noChangeArrowheads="1"/>
          </p:cNvSpPr>
          <p:nvPr/>
        </p:nvSpPr>
        <p:spPr bwMode="auto">
          <a:xfrm>
            <a:off x="685800" y="4953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9226" name="Oval 42"/>
          <p:cNvSpPr>
            <a:spLocks noChangeArrowheads="1"/>
          </p:cNvSpPr>
          <p:nvPr/>
        </p:nvSpPr>
        <p:spPr bwMode="auto">
          <a:xfrm>
            <a:off x="2438400" y="4953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9227" name="Line 43"/>
          <p:cNvSpPr>
            <a:spLocks noChangeShapeType="1"/>
          </p:cNvSpPr>
          <p:nvPr/>
        </p:nvSpPr>
        <p:spPr bwMode="auto">
          <a:xfrm flipH="1">
            <a:off x="838200" y="3276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28" name="Line 44"/>
          <p:cNvSpPr>
            <a:spLocks noChangeShapeType="1"/>
          </p:cNvSpPr>
          <p:nvPr/>
        </p:nvSpPr>
        <p:spPr bwMode="auto">
          <a:xfrm flipH="1">
            <a:off x="2743200" y="3276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29" name="Oval 45"/>
          <p:cNvSpPr>
            <a:spLocks noChangeArrowheads="1"/>
          </p:cNvSpPr>
          <p:nvPr/>
        </p:nvSpPr>
        <p:spPr bwMode="auto">
          <a:xfrm>
            <a:off x="11430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9230" name="Line 46"/>
          <p:cNvSpPr>
            <a:spLocks noChangeShapeType="1"/>
          </p:cNvSpPr>
          <p:nvPr/>
        </p:nvSpPr>
        <p:spPr bwMode="auto">
          <a:xfrm>
            <a:off x="1143000" y="51054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31" name="Oval 47"/>
          <p:cNvSpPr>
            <a:spLocks noChangeArrowheads="1"/>
          </p:cNvSpPr>
          <p:nvPr/>
        </p:nvSpPr>
        <p:spPr bwMode="auto">
          <a:xfrm>
            <a:off x="16764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9232" name="Oval 48"/>
          <p:cNvSpPr>
            <a:spLocks noChangeArrowheads="1"/>
          </p:cNvSpPr>
          <p:nvPr/>
        </p:nvSpPr>
        <p:spPr bwMode="auto">
          <a:xfrm>
            <a:off x="22098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9233" name="Oval 49"/>
          <p:cNvSpPr>
            <a:spLocks noChangeArrowheads="1"/>
          </p:cNvSpPr>
          <p:nvPr/>
        </p:nvSpPr>
        <p:spPr bwMode="auto">
          <a:xfrm>
            <a:off x="1676400" y="3733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9234" name="Oval 50"/>
          <p:cNvSpPr>
            <a:spLocks noChangeArrowheads="1"/>
          </p:cNvSpPr>
          <p:nvPr/>
        </p:nvSpPr>
        <p:spPr bwMode="auto">
          <a:xfrm>
            <a:off x="2209800" y="3733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J</a:t>
            </a:r>
            <a:endParaRPr kumimoji="1" lang="en-US" altLang="zh-CN" sz="1600" b="1" u="sng" dirty="0">
              <a:latin typeface="Times New Roman" panose="02020603050405020304" pitchFamily="18" charset="0"/>
              <a:ea typeface="华文楷体" panose="02010600040101010101" pitchFamily="2" charset="-122"/>
            </a:endParaRPr>
          </a:p>
        </p:txBody>
      </p:sp>
      <p:sp>
        <p:nvSpPr>
          <p:cNvPr id="9235" name="Oval 51"/>
          <p:cNvSpPr>
            <a:spLocks noChangeArrowheads="1"/>
          </p:cNvSpPr>
          <p:nvPr/>
        </p:nvSpPr>
        <p:spPr bwMode="auto">
          <a:xfrm>
            <a:off x="2133600" y="4267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9236" name="Oval 52"/>
          <p:cNvSpPr>
            <a:spLocks noChangeArrowheads="1"/>
          </p:cNvSpPr>
          <p:nvPr/>
        </p:nvSpPr>
        <p:spPr bwMode="auto">
          <a:xfrm>
            <a:off x="990600" y="3733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9237" name="Oval 53"/>
          <p:cNvSpPr>
            <a:spLocks noChangeArrowheads="1"/>
          </p:cNvSpPr>
          <p:nvPr/>
        </p:nvSpPr>
        <p:spPr bwMode="auto">
          <a:xfrm>
            <a:off x="1524000" y="4572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9238" name="Oval 54"/>
          <p:cNvSpPr>
            <a:spLocks noChangeArrowheads="1"/>
          </p:cNvSpPr>
          <p:nvPr/>
        </p:nvSpPr>
        <p:spPr bwMode="auto">
          <a:xfrm>
            <a:off x="1066800" y="4267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K</a:t>
            </a:r>
            <a:endParaRPr kumimoji="1" lang="en-US" altLang="zh-CN" sz="1600" b="1" u="sng" dirty="0">
              <a:latin typeface="Times New Roman" panose="02020603050405020304" pitchFamily="18" charset="0"/>
              <a:ea typeface="华文楷体" panose="02010600040101010101" pitchFamily="2" charset="-122"/>
            </a:endParaRPr>
          </a:p>
        </p:txBody>
      </p:sp>
      <p:sp>
        <p:nvSpPr>
          <p:cNvPr id="9239" name="Line 55"/>
          <p:cNvSpPr>
            <a:spLocks noChangeShapeType="1"/>
          </p:cNvSpPr>
          <p:nvPr/>
        </p:nvSpPr>
        <p:spPr bwMode="auto">
          <a:xfrm flipV="1">
            <a:off x="2362200" y="4114800"/>
            <a:ext cx="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0" name="Line 56"/>
          <p:cNvSpPr>
            <a:spLocks noChangeShapeType="1"/>
          </p:cNvSpPr>
          <p:nvPr/>
        </p:nvSpPr>
        <p:spPr bwMode="auto">
          <a:xfrm>
            <a:off x="1981200" y="4800600"/>
            <a:ext cx="5334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1" name="Line 57"/>
          <p:cNvSpPr>
            <a:spLocks noChangeShapeType="1"/>
          </p:cNvSpPr>
          <p:nvPr/>
        </p:nvSpPr>
        <p:spPr bwMode="auto">
          <a:xfrm flipV="1">
            <a:off x="1066800" y="48006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2" name="Line 58"/>
          <p:cNvSpPr>
            <a:spLocks noChangeShapeType="1"/>
          </p:cNvSpPr>
          <p:nvPr/>
        </p:nvSpPr>
        <p:spPr bwMode="auto">
          <a:xfrm>
            <a:off x="914400" y="32766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3" name="Line 59"/>
          <p:cNvSpPr>
            <a:spLocks noChangeShapeType="1"/>
          </p:cNvSpPr>
          <p:nvPr/>
        </p:nvSpPr>
        <p:spPr bwMode="auto">
          <a:xfrm>
            <a:off x="1066800" y="32004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4" name="Line 60"/>
          <p:cNvSpPr>
            <a:spLocks noChangeShapeType="1"/>
          </p:cNvSpPr>
          <p:nvPr/>
        </p:nvSpPr>
        <p:spPr bwMode="auto">
          <a:xfrm flipV="1">
            <a:off x="1447800" y="4038600"/>
            <a:ext cx="30480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5" name="Line 61"/>
          <p:cNvSpPr>
            <a:spLocks noChangeShapeType="1"/>
          </p:cNvSpPr>
          <p:nvPr/>
        </p:nvSpPr>
        <p:spPr bwMode="auto">
          <a:xfrm flipV="1">
            <a:off x="2133600" y="3429000"/>
            <a:ext cx="76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6" name="Line 62"/>
          <p:cNvSpPr>
            <a:spLocks noChangeShapeType="1"/>
          </p:cNvSpPr>
          <p:nvPr/>
        </p:nvSpPr>
        <p:spPr bwMode="auto">
          <a:xfrm flipV="1">
            <a:off x="2133600" y="3886200"/>
            <a:ext cx="76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7" name="Line 63"/>
          <p:cNvSpPr>
            <a:spLocks noChangeShapeType="1"/>
          </p:cNvSpPr>
          <p:nvPr/>
        </p:nvSpPr>
        <p:spPr bwMode="auto">
          <a:xfrm flipH="1" flipV="1">
            <a:off x="2057400" y="4038600"/>
            <a:ext cx="2286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48" name="Oval 64"/>
          <p:cNvSpPr>
            <a:spLocks noChangeArrowheads="1"/>
          </p:cNvSpPr>
          <p:nvPr/>
        </p:nvSpPr>
        <p:spPr bwMode="auto">
          <a:xfrm>
            <a:off x="34290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9249" name="Oval 65"/>
          <p:cNvSpPr>
            <a:spLocks noChangeArrowheads="1"/>
          </p:cNvSpPr>
          <p:nvPr/>
        </p:nvSpPr>
        <p:spPr bwMode="auto">
          <a:xfrm>
            <a:off x="51816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9250" name="Line 66"/>
          <p:cNvSpPr>
            <a:spLocks noChangeShapeType="1"/>
          </p:cNvSpPr>
          <p:nvPr/>
        </p:nvSpPr>
        <p:spPr bwMode="auto">
          <a:xfrm>
            <a:off x="3886200" y="33528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51" name="Oval 67"/>
          <p:cNvSpPr>
            <a:spLocks noChangeArrowheads="1"/>
          </p:cNvSpPr>
          <p:nvPr/>
        </p:nvSpPr>
        <p:spPr bwMode="auto">
          <a:xfrm>
            <a:off x="3429000" y="518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9252" name="Oval 68"/>
          <p:cNvSpPr>
            <a:spLocks noChangeArrowheads="1"/>
          </p:cNvSpPr>
          <p:nvPr/>
        </p:nvSpPr>
        <p:spPr bwMode="auto">
          <a:xfrm>
            <a:off x="5181600" y="518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9253" name="Line 69"/>
          <p:cNvSpPr>
            <a:spLocks noChangeShapeType="1"/>
          </p:cNvSpPr>
          <p:nvPr/>
        </p:nvSpPr>
        <p:spPr bwMode="auto">
          <a:xfrm flipH="1">
            <a:off x="3581400" y="35052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54" name="Line 70"/>
          <p:cNvSpPr>
            <a:spLocks noChangeShapeType="1"/>
          </p:cNvSpPr>
          <p:nvPr/>
        </p:nvSpPr>
        <p:spPr bwMode="auto">
          <a:xfrm flipH="1">
            <a:off x="5486400" y="35052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55" name="Oval 71"/>
          <p:cNvSpPr>
            <a:spLocks noChangeArrowheads="1"/>
          </p:cNvSpPr>
          <p:nvPr/>
        </p:nvSpPr>
        <p:spPr bwMode="auto">
          <a:xfrm>
            <a:off x="3886200" y="3505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9256" name="Line 72"/>
          <p:cNvSpPr>
            <a:spLocks noChangeShapeType="1"/>
          </p:cNvSpPr>
          <p:nvPr/>
        </p:nvSpPr>
        <p:spPr bwMode="auto">
          <a:xfrm>
            <a:off x="3886200" y="54102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57" name="Oval 73"/>
          <p:cNvSpPr>
            <a:spLocks noChangeArrowheads="1"/>
          </p:cNvSpPr>
          <p:nvPr/>
        </p:nvSpPr>
        <p:spPr bwMode="auto">
          <a:xfrm>
            <a:off x="3733800" y="3962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9258" name="Oval 74"/>
          <p:cNvSpPr>
            <a:spLocks noChangeArrowheads="1"/>
          </p:cNvSpPr>
          <p:nvPr/>
        </p:nvSpPr>
        <p:spPr bwMode="auto">
          <a:xfrm>
            <a:off x="4267200" y="4800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9259" name="Line 75"/>
          <p:cNvSpPr>
            <a:spLocks noChangeShapeType="1"/>
          </p:cNvSpPr>
          <p:nvPr/>
        </p:nvSpPr>
        <p:spPr bwMode="auto">
          <a:xfrm>
            <a:off x="4724400" y="5029200"/>
            <a:ext cx="5334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60" name="Line 76"/>
          <p:cNvSpPr>
            <a:spLocks noChangeShapeType="1"/>
          </p:cNvSpPr>
          <p:nvPr/>
        </p:nvSpPr>
        <p:spPr bwMode="auto">
          <a:xfrm flipV="1">
            <a:off x="3810000" y="50292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61" name="Line 77"/>
          <p:cNvSpPr>
            <a:spLocks noChangeShapeType="1"/>
          </p:cNvSpPr>
          <p:nvPr/>
        </p:nvSpPr>
        <p:spPr bwMode="auto">
          <a:xfrm>
            <a:off x="3657600" y="35052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62" name="Line 78"/>
          <p:cNvSpPr>
            <a:spLocks noChangeShapeType="1"/>
          </p:cNvSpPr>
          <p:nvPr/>
        </p:nvSpPr>
        <p:spPr bwMode="auto">
          <a:xfrm>
            <a:off x="3810000" y="34290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63" name="Oval 79"/>
          <p:cNvSpPr>
            <a:spLocks noChangeArrowheads="1"/>
          </p:cNvSpPr>
          <p:nvPr/>
        </p:nvSpPr>
        <p:spPr bwMode="auto">
          <a:xfrm>
            <a:off x="69342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9264" name="Oval 80"/>
          <p:cNvSpPr>
            <a:spLocks noChangeArrowheads="1"/>
          </p:cNvSpPr>
          <p:nvPr/>
        </p:nvSpPr>
        <p:spPr bwMode="auto">
          <a:xfrm>
            <a:off x="74676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9265" name="Oval 81"/>
          <p:cNvSpPr>
            <a:spLocks noChangeArrowheads="1"/>
          </p:cNvSpPr>
          <p:nvPr/>
        </p:nvSpPr>
        <p:spPr bwMode="auto">
          <a:xfrm>
            <a:off x="69342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9266" name="Oval 82"/>
          <p:cNvSpPr>
            <a:spLocks noChangeArrowheads="1"/>
          </p:cNvSpPr>
          <p:nvPr/>
        </p:nvSpPr>
        <p:spPr bwMode="auto">
          <a:xfrm>
            <a:off x="74676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J</a:t>
            </a:r>
            <a:endParaRPr kumimoji="1" lang="en-US" altLang="zh-CN" sz="1600" b="1" u="sng" dirty="0">
              <a:latin typeface="Times New Roman" panose="02020603050405020304" pitchFamily="18" charset="0"/>
              <a:ea typeface="华文楷体" panose="02010600040101010101" pitchFamily="2" charset="-122"/>
            </a:endParaRPr>
          </a:p>
        </p:txBody>
      </p:sp>
      <p:sp>
        <p:nvSpPr>
          <p:cNvPr id="9267" name="Oval 83"/>
          <p:cNvSpPr>
            <a:spLocks noChangeArrowheads="1"/>
          </p:cNvSpPr>
          <p:nvPr/>
        </p:nvSpPr>
        <p:spPr bwMode="auto">
          <a:xfrm>
            <a:off x="7391400" y="4419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9268" name="Oval 84"/>
          <p:cNvSpPr>
            <a:spLocks noChangeArrowheads="1"/>
          </p:cNvSpPr>
          <p:nvPr/>
        </p:nvSpPr>
        <p:spPr bwMode="auto">
          <a:xfrm>
            <a:off x="6324600" y="4419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K</a:t>
            </a:r>
            <a:endParaRPr kumimoji="1" lang="en-US" altLang="zh-CN" sz="1600" b="1" u="sng" dirty="0">
              <a:latin typeface="Times New Roman" panose="02020603050405020304" pitchFamily="18" charset="0"/>
              <a:ea typeface="华文楷体" panose="02010600040101010101" pitchFamily="2" charset="-122"/>
            </a:endParaRPr>
          </a:p>
        </p:txBody>
      </p:sp>
      <p:sp>
        <p:nvSpPr>
          <p:cNvPr id="9269" name="Line 85"/>
          <p:cNvSpPr>
            <a:spLocks noChangeShapeType="1"/>
          </p:cNvSpPr>
          <p:nvPr/>
        </p:nvSpPr>
        <p:spPr bwMode="auto">
          <a:xfrm flipV="1">
            <a:off x="7620000" y="4267200"/>
            <a:ext cx="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70" name="Line 86"/>
          <p:cNvSpPr>
            <a:spLocks noChangeShapeType="1"/>
          </p:cNvSpPr>
          <p:nvPr/>
        </p:nvSpPr>
        <p:spPr bwMode="auto">
          <a:xfrm flipV="1">
            <a:off x="6705600" y="4191000"/>
            <a:ext cx="30480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71" name="Line 87"/>
          <p:cNvSpPr>
            <a:spLocks noChangeShapeType="1"/>
          </p:cNvSpPr>
          <p:nvPr/>
        </p:nvSpPr>
        <p:spPr bwMode="auto">
          <a:xfrm flipV="1">
            <a:off x="7391400" y="3352800"/>
            <a:ext cx="76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72" name="Line 88"/>
          <p:cNvSpPr>
            <a:spLocks noChangeShapeType="1"/>
          </p:cNvSpPr>
          <p:nvPr/>
        </p:nvSpPr>
        <p:spPr bwMode="auto">
          <a:xfrm flipV="1">
            <a:off x="7391400" y="4038600"/>
            <a:ext cx="76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73" name="Line 89"/>
          <p:cNvSpPr>
            <a:spLocks noChangeShapeType="1"/>
          </p:cNvSpPr>
          <p:nvPr/>
        </p:nvSpPr>
        <p:spPr bwMode="auto">
          <a:xfrm flipH="1" flipV="1">
            <a:off x="7315200" y="4191000"/>
            <a:ext cx="2286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74" name="Text Box 90"/>
          <p:cNvSpPr txBox="1">
            <a:spLocks noChangeArrowheads="1"/>
          </p:cNvSpPr>
          <p:nvPr/>
        </p:nvSpPr>
        <p:spPr bwMode="auto">
          <a:xfrm>
            <a:off x="1143000" y="266700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dirty="0">
              <a:latin typeface="Times New Roman" panose="02020603050405020304" pitchFamily="18" charset="0"/>
              <a:ea typeface="华文楷体" panose="02010600040101010101" pitchFamily="2" charset="-122"/>
            </a:endParaRPr>
          </a:p>
        </p:txBody>
      </p:sp>
      <p:sp>
        <p:nvSpPr>
          <p:cNvPr id="9275" name="Text Box 91"/>
          <p:cNvSpPr txBox="1">
            <a:spLocks noChangeArrowheads="1"/>
          </p:cNvSpPr>
          <p:nvPr/>
        </p:nvSpPr>
        <p:spPr bwMode="auto">
          <a:xfrm>
            <a:off x="4953000" y="2743200"/>
            <a:ext cx="25908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a:t>
            </a:r>
            <a:r>
              <a:rPr kumimoji="1" lang="zh-CN" altLang="zh-CN" sz="1600" b="1" dirty="0">
                <a:latin typeface="Times New Roman" panose="02020603050405020304" pitchFamily="18" charset="0"/>
                <a:ea typeface="华文楷体" panose="02010600040101010101" pitchFamily="2" charset="-122"/>
              </a:rPr>
              <a:t>的三个连通分量</a:t>
            </a:r>
            <a:endParaRPr kumimoji="1" lang="zh-CN" altLang="en-US" sz="1600" b="1" dirty="0">
              <a:latin typeface="Times New Roman" panose="02020603050405020304" pitchFamily="18" charset="0"/>
              <a:ea typeface="华文楷体" panose="02010600040101010101" pitchFamily="2" charset="-122"/>
            </a:endParaRPr>
          </a:p>
        </p:txBody>
      </p:sp>
      <p:sp>
        <p:nvSpPr>
          <p:cNvPr id="9276" name="AutoShape 92"/>
          <p:cNvSpPr>
            <a:spLocks noChangeArrowheads="1"/>
          </p:cNvSpPr>
          <p:nvPr/>
        </p:nvSpPr>
        <p:spPr bwMode="auto">
          <a:xfrm>
            <a:off x="2819400" y="4114800"/>
            <a:ext cx="533400" cy="304800"/>
          </a:xfrm>
          <a:prstGeom prst="rightArrow">
            <a:avLst>
              <a:gd name="adj1" fmla="val 50000"/>
              <a:gd name="adj2" fmla="val 437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4429" name="Text Box 93"/>
          <p:cNvSpPr txBox="1">
            <a:spLocks noChangeArrowheads="1"/>
          </p:cNvSpPr>
          <p:nvPr/>
        </p:nvSpPr>
        <p:spPr bwMode="auto">
          <a:xfrm>
            <a:off x="533400" y="2209800"/>
            <a:ext cx="64123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a:t>
            </a: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个顶点组成的连通无向图，其边的个数至少为</a:t>
            </a:r>
            <a:r>
              <a:rPr lang="en-US" altLang="zh-CN" sz="1800" b="1" dirty="0">
                <a:solidFill>
                  <a:schemeClr val="accent2"/>
                </a:solidFill>
                <a:latin typeface="Times New Roman" panose="02020603050405020304" pitchFamily="18" charset="0"/>
                <a:ea typeface="华文楷体" panose="02010600040101010101" pitchFamily="2" charset="-122"/>
              </a:rPr>
              <a:t>____</a:t>
            </a:r>
            <a:r>
              <a:rPr lang="zh-CN" altLang="en-US" sz="1800" b="1" dirty="0">
                <a:solidFill>
                  <a:schemeClr val="accent2"/>
                </a:solidFill>
                <a:latin typeface="Times New Roman" panose="02020603050405020304" pitchFamily="18" charset="0"/>
                <a:ea typeface="华文楷体" panose="02010600040101010101" pitchFamily="2" charset="-122"/>
              </a:rPr>
              <a:t>。</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
        <p:nvSpPr>
          <p:cNvPr id="14430" name="Text Box 94"/>
          <p:cNvSpPr txBox="1">
            <a:spLocks noChangeArrowheads="1"/>
          </p:cNvSpPr>
          <p:nvPr/>
        </p:nvSpPr>
        <p:spPr bwMode="auto">
          <a:xfrm>
            <a:off x="6080125" y="2170113"/>
            <a:ext cx="5052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n-1</a:t>
            </a:r>
            <a:endParaRPr lang="en-US" altLang="zh-CN" sz="1800" b="1" dirty="0">
              <a:latin typeface="Times New Roman" panose="02020603050405020304" pitchFamily="18" charset="0"/>
              <a:ea typeface="华文楷体" panose="02010600040101010101" pitchFamily="2" charset="-122"/>
            </a:endParaRPr>
          </a:p>
        </p:txBody>
      </p:sp>
      <p:sp>
        <p:nvSpPr>
          <p:cNvPr id="14431" name="Text Box 95"/>
          <p:cNvSpPr txBox="1">
            <a:spLocks noChangeArrowheads="1"/>
          </p:cNvSpPr>
          <p:nvPr/>
        </p:nvSpPr>
        <p:spPr bwMode="auto">
          <a:xfrm>
            <a:off x="911225" y="5683250"/>
            <a:ext cx="75616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思考：一个有</a:t>
            </a: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个结点的无向图，最少有（    ）个连通分量，</a:t>
            </a:r>
            <a:endParaRPr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最多有（    ）个连通分量。</a:t>
            </a:r>
            <a:endParaRPr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若</a:t>
            </a:r>
            <a:r>
              <a:rPr lang="en-US" altLang="zh-CN" sz="1800" b="1" dirty="0">
                <a:solidFill>
                  <a:schemeClr val="accent2"/>
                </a:solidFill>
                <a:latin typeface="Times New Roman" panose="02020603050405020304" pitchFamily="18" charset="0"/>
                <a:ea typeface="华文楷体" panose="02010600040101010101" pitchFamily="2" charset="-122"/>
              </a:rPr>
              <a:t>G</a:t>
            </a:r>
            <a:r>
              <a:rPr lang="zh-CN" altLang="en-US" sz="1800" b="1" dirty="0">
                <a:solidFill>
                  <a:schemeClr val="accent2"/>
                </a:solidFill>
                <a:latin typeface="Times New Roman" panose="02020603050405020304" pitchFamily="18" charset="0"/>
                <a:ea typeface="华文楷体" panose="02010600040101010101" pitchFamily="2" charset="-122"/>
              </a:rPr>
              <a:t>是一个非连通无向图，共有</a:t>
            </a:r>
            <a:r>
              <a:rPr lang="en-US" altLang="zh-CN" sz="1800" b="1" dirty="0">
                <a:solidFill>
                  <a:schemeClr val="accent2"/>
                </a:solidFill>
                <a:latin typeface="Times New Roman" panose="02020603050405020304" pitchFamily="18" charset="0"/>
                <a:ea typeface="华文楷体" panose="02010600040101010101" pitchFamily="2" charset="-122"/>
              </a:rPr>
              <a:t>28</a:t>
            </a:r>
            <a:r>
              <a:rPr lang="zh-CN" altLang="en-US" sz="1800" b="1" dirty="0">
                <a:solidFill>
                  <a:schemeClr val="accent2"/>
                </a:solidFill>
                <a:latin typeface="Times New Roman" panose="02020603050405020304" pitchFamily="18" charset="0"/>
                <a:ea typeface="华文楷体" panose="02010600040101010101" pitchFamily="2" charset="-122"/>
              </a:rPr>
              <a:t>条边，则该图至少有</a:t>
            </a:r>
            <a:r>
              <a:rPr lang="en-US" altLang="zh-CN" sz="1800" b="1" u="sng" dirty="0">
                <a:solidFill>
                  <a:schemeClr val="accent2"/>
                </a:solidFill>
                <a:latin typeface="Times New Roman" panose="02020603050405020304" pitchFamily="18" charset="0"/>
                <a:ea typeface="华文楷体" panose="02010600040101010101" pitchFamily="2" charset="-122"/>
              </a:rPr>
              <a:t>______</a:t>
            </a:r>
            <a:r>
              <a:rPr lang="zh-CN" altLang="en-US" sz="1800" b="1" dirty="0">
                <a:solidFill>
                  <a:schemeClr val="accent2"/>
                </a:solidFill>
                <a:latin typeface="Times New Roman" panose="02020603050405020304" pitchFamily="18" charset="0"/>
                <a:ea typeface="华文楷体" panose="02010600040101010101" pitchFamily="2" charset="-122"/>
              </a:rPr>
              <a:t>个顶点。</a:t>
            </a:r>
            <a:r>
              <a:rPr lang="zh-CN" altLang="en-US" sz="1800" dirty="0">
                <a:solidFill>
                  <a:schemeClr val="accent2"/>
                </a:solidFill>
                <a:latin typeface="Times New Roman" panose="02020603050405020304" pitchFamily="18" charset="0"/>
                <a:ea typeface="华文楷体" panose="02010600040101010101" pitchFamily="2" charset="-122"/>
              </a:rPr>
              <a:t>  </a:t>
            </a:r>
            <a:endParaRPr lang="zh-CN" altLang="en-US" sz="1800" dirty="0">
              <a:solidFill>
                <a:schemeClr val="accent2"/>
              </a:solidFill>
              <a:latin typeface="Times New Roman" panose="02020603050405020304" pitchFamily="18" charset="0"/>
              <a:ea typeface="华文楷体" panose="02010600040101010101" pitchFamily="2" charset="-122"/>
            </a:endParaRPr>
          </a:p>
        </p:txBody>
      </p:sp>
      <p:sp>
        <p:nvSpPr>
          <p:cNvPr id="14432" name="Text Box 96"/>
          <p:cNvSpPr txBox="1">
            <a:spLocks noChangeArrowheads="1"/>
          </p:cNvSpPr>
          <p:nvPr/>
        </p:nvSpPr>
        <p:spPr bwMode="auto">
          <a:xfrm>
            <a:off x="5254625" y="56896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1</a:t>
            </a:r>
            <a:endParaRPr lang="en-US" altLang="zh-CN" sz="1800" b="1" dirty="0">
              <a:latin typeface="Times New Roman" panose="02020603050405020304" pitchFamily="18" charset="0"/>
              <a:ea typeface="华文楷体" panose="02010600040101010101" pitchFamily="2" charset="-122"/>
            </a:endParaRPr>
          </a:p>
        </p:txBody>
      </p:sp>
      <p:sp>
        <p:nvSpPr>
          <p:cNvPr id="14433" name="Text Box 97"/>
          <p:cNvSpPr txBox="1">
            <a:spLocks noChangeArrowheads="1"/>
          </p:cNvSpPr>
          <p:nvPr/>
        </p:nvSpPr>
        <p:spPr bwMode="auto">
          <a:xfrm>
            <a:off x="1841500" y="59578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a:t>
            </a:r>
            <a:endParaRPr lang="en-US" altLang="zh-CN" sz="1800" b="1" dirty="0">
              <a:latin typeface="Times New Roman" panose="02020603050405020304" pitchFamily="18" charset="0"/>
              <a:ea typeface="华文楷体" panose="02010600040101010101" pitchFamily="2" charset="-122"/>
            </a:endParaRPr>
          </a:p>
        </p:txBody>
      </p:sp>
      <p:sp>
        <p:nvSpPr>
          <p:cNvPr id="14434" name="Text Box 98"/>
          <p:cNvSpPr txBox="1">
            <a:spLocks noChangeArrowheads="1"/>
          </p:cNvSpPr>
          <p:nvPr/>
        </p:nvSpPr>
        <p:spPr bwMode="auto">
          <a:xfrm>
            <a:off x="6699250" y="62087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9</a:t>
            </a:r>
            <a:endParaRPr lang="en-US" altLang="zh-CN" sz="18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429"/>
                                        </p:tgtEl>
                                        <p:attrNameLst>
                                          <p:attrName>style.visibility</p:attrName>
                                        </p:attrNameLst>
                                      </p:cBhvr>
                                      <p:to>
                                        <p:strVal val="visible"/>
                                      </p:to>
                                    </p:set>
                                    <p:anim calcmode="lin" valueType="num">
                                      <p:cBhvr additive="base">
                                        <p:cTn id="7" dur="500" fill="hold"/>
                                        <p:tgtEl>
                                          <p:spTgt spid="14429"/>
                                        </p:tgtEl>
                                        <p:attrNameLst>
                                          <p:attrName>ppt_x</p:attrName>
                                        </p:attrNameLst>
                                      </p:cBhvr>
                                      <p:tavLst>
                                        <p:tav tm="0">
                                          <p:val>
                                            <p:strVal val="#ppt_x"/>
                                          </p:val>
                                        </p:tav>
                                        <p:tav tm="100000">
                                          <p:val>
                                            <p:strVal val="#ppt_x"/>
                                          </p:val>
                                        </p:tav>
                                      </p:tavLst>
                                    </p:anim>
                                    <p:anim calcmode="lin" valueType="num">
                                      <p:cBhvr additive="base">
                                        <p:cTn id="8" dur="500" fill="hold"/>
                                        <p:tgtEl>
                                          <p:spTgt spid="144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430"/>
                                        </p:tgtEl>
                                        <p:attrNameLst>
                                          <p:attrName>style.visibility</p:attrName>
                                        </p:attrNameLst>
                                      </p:cBhvr>
                                      <p:to>
                                        <p:strVal val="visible"/>
                                      </p:to>
                                    </p:set>
                                    <p:anim calcmode="lin" valueType="num">
                                      <p:cBhvr additive="base">
                                        <p:cTn id="13" dur="500" fill="hold"/>
                                        <p:tgtEl>
                                          <p:spTgt spid="14430"/>
                                        </p:tgtEl>
                                        <p:attrNameLst>
                                          <p:attrName>ppt_x</p:attrName>
                                        </p:attrNameLst>
                                      </p:cBhvr>
                                      <p:tavLst>
                                        <p:tav tm="0">
                                          <p:val>
                                            <p:strVal val="#ppt_x"/>
                                          </p:val>
                                        </p:tav>
                                        <p:tav tm="100000">
                                          <p:val>
                                            <p:strVal val="#ppt_x"/>
                                          </p:val>
                                        </p:tav>
                                      </p:tavLst>
                                    </p:anim>
                                    <p:anim calcmode="lin" valueType="num">
                                      <p:cBhvr additive="base">
                                        <p:cTn id="14" dur="500" fill="hold"/>
                                        <p:tgtEl>
                                          <p:spTgt spid="144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4431"/>
                                        </p:tgtEl>
                                        <p:attrNameLst>
                                          <p:attrName>style.visibility</p:attrName>
                                        </p:attrNameLst>
                                      </p:cBhvr>
                                      <p:to>
                                        <p:strVal val="visible"/>
                                      </p:to>
                                    </p:set>
                                    <p:animEffect transition="in" filter="blinds(horizontal)">
                                      <p:cBhvr>
                                        <p:cTn id="19" dur="500"/>
                                        <p:tgtEl>
                                          <p:spTgt spid="1443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432"/>
                                        </p:tgtEl>
                                        <p:attrNameLst>
                                          <p:attrName>style.visibility</p:attrName>
                                        </p:attrNameLst>
                                      </p:cBhvr>
                                      <p:to>
                                        <p:strVal val="visible"/>
                                      </p:to>
                                    </p:set>
                                    <p:anim calcmode="lin" valueType="num">
                                      <p:cBhvr additive="base">
                                        <p:cTn id="24" dur="500" fill="hold"/>
                                        <p:tgtEl>
                                          <p:spTgt spid="14432"/>
                                        </p:tgtEl>
                                        <p:attrNameLst>
                                          <p:attrName>ppt_x</p:attrName>
                                        </p:attrNameLst>
                                      </p:cBhvr>
                                      <p:tavLst>
                                        <p:tav tm="0">
                                          <p:val>
                                            <p:strVal val="#ppt_x"/>
                                          </p:val>
                                        </p:tav>
                                        <p:tav tm="100000">
                                          <p:val>
                                            <p:strVal val="#ppt_x"/>
                                          </p:val>
                                        </p:tav>
                                      </p:tavLst>
                                    </p:anim>
                                    <p:anim calcmode="lin" valueType="num">
                                      <p:cBhvr additive="base">
                                        <p:cTn id="25" dur="500" fill="hold"/>
                                        <p:tgtEl>
                                          <p:spTgt spid="1443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433"/>
                                        </p:tgtEl>
                                        <p:attrNameLst>
                                          <p:attrName>style.visibility</p:attrName>
                                        </p:attrNameLst>
                                      </p:cBhvr>
                                      <p:to>
                                        <p:strVal val="visible"/>
                                      </p:to>
                                    </p:set>
                                    <p:anim calcmode="lin" valueType="num">
                                      <p:cBhvr additive="base">
                                        <p:cTn id="30" dur="500" fill="hold"/>
                                        <p:tgtEl>
                                          <p:spTgt spid="14433"/>
                                        </p:tgtEl>
                                        <p:attrNameLst>
                                          <p:attrName>ppt_x</p:attrName>
                                        </p:attrNameLst>
                                      </p:cBhvr>
                                      <p:tavLst>
                                        <p:tav tm="0">
                                          <p:val>
                                            <p:strVal val="#ppt_x"/>
                                          </p:val>
                                        </p:tav>
                                        <p:tav tm="100000">
                                          <p:val>
                                            <p:strVal val="#ppt_x"/>
                                          </p:val>
                                        </p:tav>
                                      </p:tavLst>
                                    </p:anim>
                                    <p:anim calcmode="lin" valueType="num">
                                      <p:cBhvr additive="base">
                                        <p:cTn id="31" dur="500" fill="hold"/>
                                        <p:tgtEl>
                                          <p:spTgt spid="1443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4434"/>
                                        </p:tgtEl>
                                        <p:attrNameLst>
                                          <p:attrName>style.visibility</p:attrName>
                                        </p:attrNameLst>
                                      </p:cBhvr>
                                      <p:to>
                                        <p:strVal val="visible"/>
                                      </p:to>
                                    </p:set>
                                    <p:animEffect transition="in" filter="box(in)">
                                      <p:cBhvr>
                                        <p:cTn id="36" dur="500"/>
                                        <p:tgtEl>
                                          <p:spTgt spid="14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29" grpId="0"/>
      <p:bldP spid="14430" grpId="0"/>
      <p:bldP spid="14431" grpId="0"/>
      <p:bldP spid="14432" grpId="0"/>
      <p:bldP spid="14433" grpId="0"/>
      <p:bldP spid="144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页脚占位符 3"/>
          <p:cNvSpPr>
            <a:spLocks noGrp="1"/>
          </p:cNvSpPr>
          <p:nvPr>
            <p:ph type="ftr" sz="quarter" idx="10"/>
          </p:nvPr>
        </p:nvSpPr>
        <p:spPr/>
        <p:txBody>
          <a:bodyPr/>
          <a:lstStyle/>
          <a:p>
            <a:pPr>
              <a:defRPr/>
            </a:pPr>
            <a:r>
              <a:rPr lang="en-US" altLang="zh-CN"/>
              <a:t>BUPT SCST</a:t>
            </a:r>
            <a:endParaRPr lang="en-US" altLang="zh-CN"/>
          </a:p>
        </p:txBody>
      </p:sp>
      <p:sp>
        <p:nvSpPr>
          <p:cNvPr id="29" name="日期占位符 5"/>
          <p:cNvSpPr>
            <a:spLocks noGrp="1"/>
          </p:cNvSpPr>
          <p:nvPr>
            <p:ph type="dt" sz="quarter" idx="12"/>
          </p:nvPr>
        </p:nvSpPr>
        <p:spPr/>
        <p:txBody>
          <a:bodyPr/>
          <a:lstStyle/>
          <a:p>
            <a:pPr>
              <a:defRPr/>
            </a:pPr>
            <a:r>
              <a:rPr lang="en-US" altLang="zh-CN"/>
              <a:t>BUPT</a:t>
            </a:r>
            <a:endParaRPr lang="en-US" altLang="zh-CN"/>
          </a:p>
        </p:txBody>
      </p:sp>
      <p:sp>
        <p:nvSpPr>
          <p:cNvPr id="102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245" name="Rectangle 3"/>
          <p:cNvSpPr>
            <a:spLocks noGrp="1" noChangeArrowheads="1"/>
          </p:cNvSpPr>
          <p:nvPr>
            <p:ph type="body" idx="1"/>
          </p:nvPr>
        </p:nvSpPr>
        <p:spPr>
          <a:xfrm>
            <a:off x="457200" y="1152525"/>
            <a:ext cx="8382000" cy="5248275"/>
          </a:xfrm>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强连通图   </a:t>
            </a:r>
            <a:r>
              <a:rPr lang="zh-CN" altLang="en-US" sz="2400" dirty="0" smtClean="0">
                <a:ea typeface="华文楷体" panose="02010600040101010101" pitchFamily="2" charset="-122"/>
              </a:rPr>
              <a:t>有向图中，任何一对顶点间都存在路径。</a:t>
            </a:r>
            <a:endParaRPr lang="zh-CN" altLang="en-US" sz="2400" dirty="0" smtClean="0">
              <a:ea typeface="华文楷体" panose="02010600040101010101" pitchFamily="2" charset="-122"/>
            </a:endParaRPr>
          </a:p>
          <a:p>
            <a:pPr eaLnBrk="1" hangingPunct="1">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强连通分量   </a:t>
            </a:r>
            <a:r>
              <a:rPr lang="zh-CN" altLang="en-US" sz="2400" dirty="0" smtClean="0">
                <a:ea typeface="华文楷体" panose="02010600040101010101" pitchFamily="2" charset="-122"/>
              </a:rPr>
              <a:t>有向图中的极大连通</a:t>
            </a:r>
            <a:r>
              <a:rPr lang="zh-CN" altLang="en-US" sz="2400" dirty="0">
                <a:ea typeface="华文楷体" panose="02010600040101010101" pitchFamily="2" charset="-122"/>
              </a:rPr>
              <a:t>子图，极</a:t>
            </a:r>
            <a:r>
              <a:rPr lang="zh-CN" altLang="en-US" sz="2400" dirty="0" smtClean="0">
                <a:ea typeface="华文楷体" panose="02010600040101010101" pitchFamily="2" charset="-122"/>
              </a:rPr>
              <a:t>大是指顶点数。</a:t>
            </a:r>
            <a:endParaRPr lang="zh-CN" altLang="en-US" sz="2400" dirty="0" smtClean="0">
              <a:ea typeface="华文楷体" panose="02010600040101010101" pitchFamily="2" charset="-122"/>
            </a:endParaRPr>
          </a:p>
        </p:txBody>
      </p:sp>
      <p:sp>
        <p:nvSpPr>
          <p:cNvPr id="10246" name="Text Box 4"/>
          <p:cNvSpPr txBox="1">
            <a:spLocks noChangeArrowheads="1"/>
          </p:cNvSpPr>
          <p:nvPr/>
        </p:nvSpPr>
        <p:spPr bwMode="auto">
          <a:xfrm>
            <a:off x="990600" y="294005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dirty="0">
              <a:latin typeface="Times New Roman" panose="02020603050405020304" pitchFamily="18" charset="0"/>
              <a:ea typeface="华文楷体" panose="02010600040101010101" pitchFamily="2" charset="-122"/>
            </a:endParaRPr>
          </a:p>
        </p:txBody>
      </p:sp>
      <p:sp>
        <p:nvSpPr>
          <p:cNvPr id="10247" name="Text Box 5"/>
          <p:cNvSpPr txBox="1">
            <a:spLocks noChangeArrowheads="1"/>
          </p:cNvSpPr>
          <p:nvPr/>
        </p:nvSpPr>
        <p:spPr bwMode="auto">
          <a:xfrm>
            <a:off x="4800600" y="2895600"/>
            <a:ext cx="28956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a:latin typeface="Times New Roman" panose="02020603050405020304" pitchFamily="18" charset="0"/>
                <a:ea typeface="华文楷体" panose="02010600040101010101" pitchFamily="2" charset="-122"/>
              </a:rPr>
              <a:t>G</a:t>
            </a:r>
            <a:r>
              <a:rPr kumimoji="1" lang="zh-CN" altLang="zh-CN" sz="1600" b="1" dirty="0">
                <a:latin typeface="Times New Roman" panose="02020603050405020304" pitchFamily="18" charset="0"/>
                <a:ea typeface="华文楷体" panose="02010600040101010101" pitchFamily="2" charset="-122"/>
              </a:rPr>
              <a:t>的两个强连通分量</a:t>
            </a:r>
            <a:endParaRPr kumimoji="1" lang="zh-CN" altLang="en-US" sz="1600" b="1" dirty="0">
              <a:latin typeface="Times New Roman" panose="02020603050405020304" pitchFamily="18" charset="0"/>
              <a:ea typeface="华文楷体" panose="02010600040101010101" pitchFamily="2" charset="-122"/>
            </a:endParaRPr>
          </a:p>
        </p:txBody>
      </p:sp>
      <p:sp>
        <p:nvSpPr>
          <p:cNvPr id="10248" name="Oval 6"/>
          <p:cNvSpPr>
            <a:spLocks noChangeArrowheads="1"/>
          </p:cNvSpPr>
          <p:nvPr/>
        </p:nvSpPr>
        <p:spPr bwMode="auto">
          <a:xfrm>
            <a:off x="762000" y="3429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0249" name="Oval 7"/>
          <p:cNvSpPr>
            <a:spLocks noChangeArrowheads="1"/>
          </p:cNvSpPr>
          <p:nvPr/>
        </p:nvSpPr>
        <p:spPr bwMode="auto">
          <a:xfrm>
            <a:off x="2286000" y="3429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0" name="Line 8"/>
          <p:cNvSpPr>
            <a:spLocks noChangeShapeType="1"/>
          </p:cNvSpPr>
          <p:nvPr/>
        </p:nvSpPr>
        <p:spPr bwMode="auto">
          <a:xfrm>
            <a:off x="1219200" y="35814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51" name="Oval 9"/>
          <p:cNvSpPr>
            <a:spLocks noChangeArrowheads="1"/>
          </p:cNvSpPr>
          <p:nvPr/>
        </p:nvSpPr>
        <p:spPr bwMode="auto">
          <a:xfrm>
            <a:off x="762000" y="4953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2" name="Oval 10"/>
          <p:cNvSpPr>
            <a:spLocks noChangeArrowheads="1"/>
          </p:cNvSpPr>
          <p:nvPr/>
        </p:nvSpPr>
        <p:spPr bwMode="auto">
          <a:xfrm>
            <a:off x="2286000" y="4953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3" name="Line 11"/>
          <p:cNvSpPr>
            <a:spLocks noChangeShapeType="1"/>
          </p:cNvSpPr>
          <p:nvPr/>
        </p:nvSpPr>
        <p:spPr bwMode="auto">
          <a:xfrm>
            <a:off x="1219200" y="51054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54" name="Line 12"/>
          <p:cNvSpPr>
            <a:spLocks noChangeShapeType="1"/>
          </p:cNvSpPr>
          <p:nvPr/>
        </p:nvSpPr>
        <p:spPr bwMode="auto">
          <a:xfrm flipH="1">
            <a:off x="990600" y="38100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55" name="Line 13"/>
          <p:cNvSpPr>
            <a:spLocks noChangeShapeType="1"/>
          </p:cNvSpPr>
          <p:nvPr/>
        </p:nvSpPr>
        <p:spPr bwMode="auto">
          <a:xfrm flipH="1" flipV="1">
            <a:off x="1143000" y="37338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56" name="Oval 14"/>
          <p:cNvSpPr>
            <a:spLocks noChangeArrowheads="1"/>
          </p:cNvSpPr>
          <p:nvPr/>
        </p:nvSpPr>
        <p:spPr bwMode="auto">
          <a:xfrm>
            <a:off x="5105400" y="3429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7" name="Oval 15"/>
          <p:cNvSpPr>
            <a:spLocks noChangeArrowheads="1"/>
          </p:cNvSpPr>
          <p:nvPr/>
        </p:nvSpPr>
        <p:spPr bwMode="auto">
          <a:xfrm>
            <a:off x="6629400" y="3429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8" name="Oval 16"/>
          <p:cNvSpPr>
            <a:spLocks noChangeArrowheads="1"/>
          </p:cNvSpPr>
          <p:nvPr/>
        </p:nvSpPr>
        <p:spPr bwMode="auto">
          <a:xfrm>
            <a:off x="5105400" y="4953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0259" name="Oval 17"/>
          <p:cNvSpPr>
            <a:spLocks noChangeArrowheads="1"/>
          </p:cNvSpPr>
          <p:nvPr/>
        </p:nvSpPr>
        <p:spPr bwMode="auto">
          <a:xfrm>
            <a:off x="6629400" y="49530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0260" name="Line 18"/>
          <p:cNvSpPr>
            <a:spLocks noChangeShapeType="1"/>
          </p:cNvSpPr>
          <p:nvPr/>
        </p:nvSpPr>
        <p:spPr bwMode="auto">
          <a:xfrm>
            <a:off x="5562600" y="51054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61" name="Line 19"/>
          <p:cNvSpPr>
            <a:spLocks noChangeShapeType="1"/>
          </p:cNvSpPr>
          <p:nvPr/>
        </p:nvSpPr>
        <p:spPr bwMode="auto">
          <a:xfrm flipH="1">
            <a:off x="5334000" y="38100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62" name="Line 20"/>
          <p:cNvSpPr>
            <a:spLocks noChangeShapeType="1"/>
          </p:cNvSpPr>
          <p:nvPr/>
        </p:nvSpPr>
        <p:spPr bwMode="auto">
          <a:xfrm flipH="1" flipV="1">
            <a:off x="5486400" y="37338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63" name="AutoShape 21"/>
          <p:cNvSpPr>
            <a:spLocks noChangeArrowheads="1"/>
          </p:cNvSpPr>
          <p:nvPr/>
        </p:nvSpPr>
        <p:spPr bwMode="auto">
          <a:xfrm>
            <a:off x="3048000" y="4191000"/>
            <a:ext cx="1524000" cy="304800"/>
          </a:xfrm>
          <a:prstGeom prst="rightArrow">
            <a:avLst>
              <a:gd name="adj1" fmla="val 50000"/>
              <a:gd name="adj2" fmla="val 1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82" name="Text Box 22"/>
          <p:cNvSpPr txBox="1">
            <a:spLocks noChangeArrowheads="1"/>
          </p:cNvSpPr>
          <p:nvPr/>
        </p:nvSpPr>
        <p:spPr bwMode="auto">
          <a:xfrm>
            <a:off x="746125" y="2459038"/>
            <a:ext cx="644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思考：要连通具有</a:t>
            </a:r>
            <a:r>
              <a:rPr lang="en-US" altLang="zh-CN" sz="1800" b="1" dirty="0">
                <a:solidFill>
                  <a:schemeClr val="accent2"/>
                </a:solidFill>
                <a:latin typeface="Times New Roman" panose="02020603050405020304" pitchFamily="18" charset="0"/>
                <a:ea typeface="华文楷体" panose="02010600040101010101" pitchFamily="2" charset="-122"/>
              </a:rPr>
              <a:t>n(n&gt;1)</a:t>
            </a:r>
            <a:r>
              <a:rPr lang="zh-CN" altLang="en-US" sz="1800" b="1" dirty="0">
                <a:solidFill>
                  <a:schemeClr val="accent2"/>
                </a:solidFill>
                <a:latin typeface="Times New Roman" panose="02020603050405020304" pitchFamily="18" charset="0"/>
                <a:ea typeface="华文楷体" panose="02010600040101010101" pitchFamily="2" charset="-122"/>
              </a:rPr>
              <a:t>个顶点的有向图，至少需要</a:t>
            </a:r>
            <a:r>
              <a:rPr lang="en-US" altLang="zh-CN" sz="1800" b="1" dirty="0">
                <a:solidFill>
                  <a:schemeClr val="accent2"/>
                </a:solidFill>
                <a:latin typeface="Times New Roman" panose="02020603050405020304" pitchFamily="18" charset="0"/>
                <a:ea typeface="华文楷体" panose="02010600040101010101" pitchFamily="2" charset="-122"/>
              </a:rPr>
              <a:t>____</a:t>
            </a:r>
            <a:r>
              <a:rPr lang="zh-CN" altLang="en-US" sz="1800" b="1" dirty="0">
                <a:solidFill>
                  <a:schemeClr val="accent2"/>
                </a:solidFill>
                <a:latin typeface="Times New Roman" panose="02020603050405020304" pitchFamily="18" charset="0"/>
                <a:ea typeface="华文楷体" panose="02010600040101010101" pitchFamily="2" charset="-122"/>
              </a:rPr>
              <a:t>条边</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
        <p:nvSpPr>
          <p:cNvPr id="10265" name="Text Box 23"/>
          <p:cNvSpPr txBox="1">
            <a:spLocks noChangeArrowheads="1"/>
          </p:cNvSpPr>
          <p:nvPr/>
        </p:nvSpPr>
        <p:spPr bwMode="auto">
          <a:xfrm>
            <a:off x="5638800" y="21701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zh-CN" sz="1800" dirty="0">
              <a:latin typeface="Times New Roman" panose="02020603050405020304" pitchFamily="18" charset="0"/>
              <a:ea typeface="华文楷体" panose="02010600040101010101" pitchFamily="2" charset="-122"/>
            </a:endParaRPr>
          </a:p>
        </p:txBody>
      </p:sp>
      <p:sp>
        <p:nvSpPr>
          <p:cNvPr id="15384" name="Text Box 24"/>
          <p:cNvSpPr txBox="1">
            <a:spLocks noChangeArrowheads="1"/>
          </p:cNvSpPr>
          <p:nvPr/>
        </p:nvSpPr>
        <p:spPr bwMode="auto">
          <a:xfrm>
            <a:off x="6153150" y="2170113"/>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a:t>
            </a:r>
            <a:endParaRPr lang="en-US" altLang="zh-CN" sz="1800" b="1" dirty="0">
              <a:latin typeface="Times New Roman" panose="02020603050405020304" pitchFamily="18" charset="0"/>
              <a:ea typeface="华文楷体" panose="02010600040101010101" pitchFamily="2" charset="-122"/>
            </a:endParaRPr>
          </a:p>
        </p:txBody>
      </p:sp>
      <p:sp>
        <p:nvSpPr>
          <p:cNvPr id="15385" name="Text Box 25"/>
          <p:cNvSpPr txBox="1">
            <a:spLocks noChangeArrowheads="1"/>
          </p:cNvSpPr>
          <p:nvPr/>
        </p:nvSpPr>
        <p:spPr bwMode="auto">
          <a:xfrm>
            <a:off x="746125" y="5722938"/>
            <a:ext cx="65579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思考：一个有</a:t>
            </a: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个结点的有向图，最少有（    ）个强连通分量，</a:t>
            </a:r>
            <a:endParaRPr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最多有（    ）个强连通分量。</a:t>
            </a:r>
            <a:r>
              <a:rPr lang="zh-CN" altLang="en-US" sz="1800" dirty="0">
                <a:latin typeface="Times New Roman" panose="02020603050405020304" pitchFamily="18" charset="0"/>
                <a:ea typeface="华文楷体" panose="02010600040101010101" pitchFamily="2" charset="-122"/>
              </a:rPr>
              <a:t> </a:t>
            </a:r>
            <a:endParaRPr lang="zh-CN" altLang="en-US" sz="1800" dirty="0">
              <a:latin typeface="Times New Roman" panose="02020603050405020304" pitchFamily="18" charset="0"/>
              <a:ea typeface="华文楷体" panose="02010600040101010101" pitchFamily="2" charset="-122"/>
            </a:endParaRPr>
          </a:p>
        </p:txBody>
      </p:sp>
      <p:sp>
        <p:nvSpPr>
          <p:cNvPr id="15386" name="Text Box 26"/>
          <p:cNvSpPr txBox="1">
            <a:spLocks noChangeArrowheads="1"/>
          </p:cNvSpPr>
          <p:nvPr/>
        </p:nvSpPr>
        <p:spPr bwMode="auto">
          <a:xfrm>
            <a:off x="5089525" y="5715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1</a:t>
            </a:r>
            <a:endParaRPr lang="en-US" altLang="zh-CN" sz="1800" b="1" dirty="0">
              <a:latin typeface="Times New Roman" panose="02020603050405020304" pitchFamily="18" charset="0"/>
              <a:ea typeface="华文楷体" panose="02010600040101010101" pitchFamily="2" charset="-122"/>
            </a:endParaRPr>
          </a:p>
        </p:txBody>
      </p:sp>
      <p:sp>
        <p:nvSpPr>
          <p:cNvPr id="15387" name="Text Box 27"/>
          <p:cNvSpPr txBox="1">
            <a:spLocks noChangeArrowheads="1"/>
          </p:cNvSpPr>
          <p:nvPr/>
        </p:nvSpPr>
        <p:spPr bwMode="auto">
          <a:xfrm>
            <a:off x="1676400" y="59832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a:t>
            </a:r>
            <a:endParaRPr lang="en-US" altLang="zh-CN" sz="18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82"/>
                                        </p:tgtEl>
                                        <p:attrNameLst>
                                          <p:attrName>style.visibility</p:attrName>
                                        </p:attrNameLst>
                                      </p:cBhvr>
                                      <p:to>
                                        <p:strVal val="visible"/>
                                      </p:to>
                                    </p:set>
                                    <p:anim calcmode="lin" valueType="num">
                                      <p:cBhvr additive="base">
                                        <p:cTn id="7" dur="500" fill="hold"/>
                                        <p:tgtEl>
                                          <p:spTgt spid="15382"/>
                                        </p:tgtEl>
                                        <p:attrNameLst>
                                          <p:attrName>ppt_x</p:attrName>
                                        </p:attrNameLst>
                                      </p:cBhvr>
                                      <p:tavLst>
                                        <p:tav tm="0">
                                          <p:val>
                                            <p:strVal val="#ppt_x"/>
                                          </p:val>
                                        </p:tav>
                                        <p:tav tm="100000">
                                          <p:val>
                                            <p:strVal val="#ppt_x"/>
                                          </p:val>
                                        </p:tav>
                                      </p:tavLst>
                                    </p:anim>
                                    <p:anim calcmode="lin" valueType="num">
                                      <p:cBhvr additive="base">
                                        <p:cTn id="8" dur="500" fill="hold"/>
                                        <p:tgtEl>
                                          <p:spTgt spid="153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5384"/>
                                        </p:tgtEl>
                                        <p:attrNameLst>
                                          <p:attrName>style.visibility</p:attrName>
                                        </p:attrNameLst>
                                      </p:cBhvr>
                                      <p:to>
                                        <p:strVal val="visible"/>
                                      </p:to>
                                    </p:set>
                                    <p:animEffect transition="in" filter="diamond(in)">
                                      <p:cBhvr>
                                        <p:cTn id="13" dur="2000"/>
                                        <p:tgtEl>
                                          <p:spTgt spid="1538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385"/>
                                        </p:tgtEl>
                                        <p:attrNameLst>
                                          <p:attrName>style.visibility</p:attrName>
                                        </p:attrNameLst>
                                      </p:cBhvr>
                                      <p:to>
                                        <p:strVal val="visible"/>
                                      </p:to>
                                    </p:set>
                                    <p:anim calcmode="lin" valueType="num">
                                      <p:cBhvr additive="base">
                                        <p:cTn id="18" dur="500" fill="hold"/>
                                        <p:tgtEl>
                                          <p:spTgt spid="15385"/>
                                        </p:tgtEl>
                                        <p:attrNameLst>
                                          <p:attrName>ppt_x</p:attrName>
                                        </p:attrNameLst>
                                      </p:cBhvr>
                                      <p:tavLst>
                                        <p:tav tm="0">
                                          <p:val>
                                            <p:strVal val="#ppt_x"/>
                                          </p:val>
                                        </p:tav>
                                        <p:tav tm="100000">
                                          <p:val>
                                            <p:strVal val="#ppt_x"/>
                                          </p:val>
                                        </p:tav>
                                      </p:tavLst>
                                    </p:anim>
                                    <p:anim calcmode="lin" valueType="num">
                                      <p:cBhvr additive="base">
                                        <p:cTn id="19" dur="500" fill="hold"/>
                                        <p:tgtEl>
                                          <p:spTgt spid="1538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386"/>
                                        </p:tgtEl>
                                        <p:attrNameLst>
                                          <p:attrName>style.visibility</p:attrName>
                                        </p:attrNameLst>
                                      </p:cBhvr>
                                      <p:to>
                                        <p:strVal val="visible"/>
                                      </p:to>
                                    </p:set>
                                    <p:anim calcmode="lin" valueType="num">
                                      <p:cBhvr additive="base">
                                        <p:cTn id="24" dur="500" fill="hold"/>
                                        <p:tgtEl>
                                          <p:spTgt spid="15386"/>
                                        </p:tgtEl>
                                        <p:attrNameLst>
                                          <p:attrName>ppt_x</p:attrName>
                                        </p:attrNameLst>
                                      </p:cBhvr>
                                      <p:tavLst>
                                        <p:tav tm="0">
                                          <p:val>
                                            <p:strVal val="#ppt_x"/>
                                          </p:val>
                                        </p:tav>
                                        <p:tav tm="100000">
                                          <p:val>
                                            <p:strVal val="#ppt_x"/>
                                          </p:val>
                                        </p:tav>
                                      </p:tavLst>
                                    </p:anim>
                                    <p:anim calcmode="lin" valueType="num">
                                      <p:cBhvr additive="base">
                                        <p:cTn id="25" dur="500" fill="hold"/>
                                        <p:tgtEl>
                                          <p:spTgt spid="1538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5387"/>
                                        </p:tgtEl>
                                        <p:attrNameLst>
                                          <p:attrName>style.visibility</p:attrName>
                                        </p:attrNameLst>
                                      </p:cBhvr>
                                      <p:to>
                                        <p:strVal val="visible"/>
                                      </p:to>
                                    </p:set>
                                    <p:anim calcmode="lin" valueType="num">
                                      <p:cBhvr additive="base">
                                        <p:cTn id="30" dur="500" fill="hold"/>
                                        <p:tgtEl>
                                          <p:spTgt spid="15387"/>
                                        </p:tgtEl>
                                        <p:attrNameLst>
                                          <p:attrName>ppt_x</p:attrName>
                                        </p:attrNameLst>
                                      </p:cBhvr>
                                      <p:tavLst>
                                        <p:tav tm="0">
                                          <p:val>
                                            <p:strVal val="#ppt_x"/>
                                          </p:val>
                                        </p:tav>
                                        <p:tav tm="100000">
                                          <p:val>
                                            <p:strVal val="#ppt_x"/>
                                          </p:val>
                                        </p:tav>
                                      </p:tavLst>
                                    </p:anim>
                                    <p:anim calcmode="lin" valueType="num">
                                      <p:cBhvr additive="base">
                                        <p:cTn id="31" dur="500" fill="hold"/>
                                        <p:tgtEl>
                                          <p:spTgt spid="153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2" grpId="0"/>
      <p:bldP spid="15384" grpId="0"/>
      <p:bldP spid="15385" grpId="0"/>
      <p:bldP spid="15386" grpId="0"/>
      <p:bldP spid="1538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3"/>
          <p:cNvSpPr>
            <a:spLocks noGrp="1"/>
          </p:cNvSpPr>
          <p:nvPr>
            <p:ph type="ftr" sz="quarter" idx="10"/>
          </p:nvPr>
        </p:nvSpPr>
        <p:spPr/>
        <p:txBody>
          <a:bodyPr/>
          <a:lstStyle/>
          <a:p>
            <a:pPr>
              <a:defRPr/>
            </a:pPr>
            <a:r>
              <a:rPr lang="en-US" altLang="zh-CN"/>
              <a:t>BUPT SCST</a:t>
            </a:r>
            <a:endParaRPr lang="en-US" altLang="zh-CN"/>
          </a:p>
        </p:txBody>
      </p:sp>
      <p:sp>
        <p:nvSpPr>
          <p:cNvPr id="37" name="日期占位符 5"/>
          <p:cNvSpPr>
            <a:spLocks noGrp="1"/>
          </p:cNvSpPr>
          <p:nvPr>
            <p:ph type="dt" sz="quarter" idx="12"/>
          </p:nvPr>
        </p:nvSpPr>
        <p:spPr/>
        <p:txBody>
          <a:bodyPr/>
          <a:lstStyle/>
          <a:p>
            <a:pPr>
              <a:defRPr/>
            </a:pPr>
            <a:r>
              <a:rPr lang="en-US" altLang="zh-CN"/>
              <a:t>BUPT</a:t>
            </a:r>
            <a:endParaRPr lang="en-US" altLang="zh-CN"/>
          </a:p>
        </p:txBody>
      </p:sp>
      <p:sp>
        <p:nvSpPr>
          <p:cNvPr id="11268" name="Rectangle 2"/>
          <p:cNvSpPr>
            <a:spLocks noGrp="1" noChangeArrowheads="1"/>
          </p:cNvSpPr>
          <p:nvPr>
            <p:ph type="title"/>
          </p:nvPr>
        </p:nvSpPr>
        <p:spPr/>
        <p:txBody>
          <a:bodyPr/>
          <a:lstStyle/>
          <a:p>
            <a:pPr eaLnBrk="1" hangingPunct="1"/>
            <a:endParaRPr lang="zh-CN" altLang="zh-CN" sz="2800" dirty="0" smtClean="0">
              <a:ea typeface="华文楷体" panose="02010600040101010101" pitchFamily="2" charset="-122"/>
            </a:endParaRPr>
          </a:p>
        </p:txBody>
      </p:sp>
      <p:sp>
        <p:nvSpPr>
          <p:cNvPr id="11269"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生成树</a:t>
            </a:r>
            <a:r>
              <a:rPr lang="zh-CN" altLang="en-US" sz="2400" dirty="0" smtClean="0">
                <a:ea typeface="华文楷体" panose="02010600040101010101" pitchFamily="2" charset="-122"/>
              </a:rPr>
              <a:t>   包含图中全部顶点的极小连通子图，极小是指边数。</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11270" name="Oval 4"/>
          <p:cNvSpPr>
            <a:spLocks noChangeArrowheads="1"/>
          </p:cNvSpPr>
          <p:nvPr/>
        </p:nvSpPr>
        <p:spPr bwMode="auto">
          <a:xfrm>
            <a:off x="1295400" y="2438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1271" name="Oval 5"/>
          <p:cNvSpPr>
            <a:spLocks noChangeArrowheads="1"/>
          </p:cNvSpPr>
          <p:nvPr/>
        </p:nvSpPr>
        <p:spPr bwMode="auto">
          <a:xfrm>
            <a:off x="3048000" y="2438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1272" name="Line 6"/>
          <p:cNvSpPr>
            <a:spLocks noChangeShapeType="1"/>
          </p:cNvSpPr>
          <p:nvPr/>
        </p:nvSpPr>
        <p:spPr bwMode="auto">
          <a:xfrm>
            <a:off x="1752600" y="26670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73" name="Oval 7"/>
          <p:cNvSpPr>
            <a:spLocks noChangeArrowheads="1"/>
          </p:cNvSpPr>
          <p:nvPr/>
        </p:nvSpPr>
        <p:spPr bwMode="auto">
          <a:xfrm>
            <a:off x="1295400" y="4495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1274" name="Oval 8"/>
          <p:cNvSpPr>
            <a:spLocks noChangeArrowheads="1"/>
          </p:cNvSpPr>
          <p:nvPr/>
        </p:nvSpPr>
        <p:spPr bwMode="auto">
          <a:xfrm>
            <a:off x="3048000" y="4495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1275" name="Line 9"/>
          <p:cNvSpPr>
            <a:spLocks noChangeShapeType="1"/>
          </p:cNvSpPr>
          <p:nvPr/>
        </p:nvSpPr>
        <p:spPr bwMode="auto">
          <a:xfrm flipH="1">
            <a:off x="1447800" y="28194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76" name="Line 10"/>
          <p:cNvSpPr>
            <a:spLocks noChangeShapeType="1"/>
          </p:cNvSpPr>
          <p:nvPr/>
        </p:nvSpPr>
        <p:spPr bwMode="auto">
          <a:xfrm flipH="1">
            <a:off x="3352800" y="28194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77" name="Oval 11"/>
          <p:cNvSpPr>
            <a:spLocks noChangeArrowheads="1"/>
          </p:cNvSpPr>
          <p:nvPr/>
        </p:nvSpPr>
        <p:spPr bwMode="auto">
          <a:xfrm>
            <a:off x="1752600" y="2819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11278" name="Line 12"/>
          <p:cNvSpPr>
            <a:spLocks noChangeShapeType="1"/>
          </p:cNvSpPr>
          <p:nvPr/>
        </p:nvSpPr>
        <p:spPr bwMode="auto">
          <a:xfrm>
            <a:off x="1752600" y="46482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79" name="Oval 13"/>
          <p:cNvSpPr>
            <a:spLocks noChangeArrowheads="1"/>
          </p:cNvSpPr>
          <p:nvPr/>
        </p:nvSpPr>
        <p:spPr bwMode="auto">
          <a:xfrm>
            <a:off x="16002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11280" name="Oval 14"/>
          <p:cNvSpPr>
            <a:spLocks noChangeArrowheads="1"/>
          </p:cNvSpPr>
          <p:nvPr/>
        </p:nvSpPr>
        <p:spPr bwMode="auto">
          <a:xfrm>
            <a:off x="2133600" y="4114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11281" name="Line 15"/>
          <p:cNvSpPr>
            <a:spLocks noChangeShapeType="1"/>
          </p:cNvSpPr>
          <p:nvPr/>
        </p:nvSpPr>
        <p:spPr bwMode="auto">
          <a:xfrm>
            <a:off x="2590800" y="4343400"/>
            <a:ext cx="5334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82" name="Line 16"/>
          <p:cNvSpPr>
            <a:spLocks noChangeShapeType="1"/>
          </p:cNvSpPr>
          <p:nvPr/>
        </p:nvSpPr>
        <p:spPr bwMode="auto">
          <a:xfrm flipV="1">
            <a:off x="1676400" y="43434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83" name="Line 17"/>
          <p:cNvSpPr>
            <a:spLocks noChangeShapeType="1"/>
          </p:cNvSpPr>
          <p:nvPr/>
        </p:nvSpPr>
        <p:spPr bwMode="auto">
          <a:xfrm>
            <a:off x="1524000" y="28194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84" name="Line 18"/>
          <p:cNvSpPr>
            <a:spLocks noChangeShapeType="1"/>
          </p:cNvSpPr>
          <p:nvPr/>
        </p:nvSpPr>
        <p:spPr bwMode="auto">
          <a:xfrm>
            <a:off x="1676400" y="27432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03" name="Oval 19"/>
          <p:cNvSpPr>
            <a:spLocks noChangeArrowheads="1"/>
          </p:cNvSpPr>
          <p:nvPr/>
        </p:nvSpPr>
        <p:spPr bwMode="auto">
          <a:xfrm>
            <a:off x="4495800" y="2438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6404" name="Oval 20"/>
          <p:cNvSpPr>
            <a:spLocks noChangeArrowheads="1"/>
          </p:cNvSpPr>
          <p:nvPr/>
        </p:nvSpPr>
        <p:spPr bwMode="auto">
          <a:xfrm>
            <a:off x="6248400" y="2438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6405" name="Oval 21"/>
          <p:cNvSpPr>
            <a:spLocks noChangeArrowheads="1"/>
          </p:cNvSpPr>
          <p:nvPr/>
        </p:nvSpPr>
        <p:spPr bwMode="auto">
          <a:xfrm>
            <a:off x="4495800" y="4495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6406" name="Oval 22"/>
          <p:cNvSpPr>
            <a:spLocks noChangeArrowheads="1"/>
          </p:cNvSpPr>
          <p:nvPr/>
        </p:nvSpPr>
        <p:spPr bwMode="auto">
          <a:xfrm>
            <a:off x="6248400" y="4495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6407" name="Line 23"/>
          <p:cNvSpPr>
            <a:spLocks noChangeShapeType="1"/>
          </p:cNvSpPr>
          <p:nvPr/>
        </p:nvSpPr>
        <p:spPr bwMode="auto">
          <a:xfrm flipH="1">
            <a:off x="4648200" y="28194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08" name="Line 24"/>
          <p:cNvSpPr>
            <a:spLocks noChangeShapeType="1"/>
          </p:cNvSpPr>
          <p:nvPr/>
        </p:nvSpPr>
        <p:spPr bwMode="auto">
          <a:xfrm flipH="1">
            <a:off x="6553200" y="28194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09" name="Oval 25"/>
          <p:cNvSpPr>
            <a:spLocks noChangeArrowheads="1"/>
          </p:cNvSpPr>
          <p:nvPr/>
        </p:nvSpPr>
        <p:spPr bwMode="auto">
          <a:xfrm>
            <a:off x="4953000" y="2819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16410" name="Line 26"/>
          <p:cNvSpPr>
            <a:spLocks noChangeShapeType="1"/>
          </p:cNvSpPr>
          <p:nvPr/>
        </p:nvSpPr>
        <p:spPr bwMode="auto">
          <a:xfrm>
            <a:off x="4953000" y="46482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11" name="Oval 27"/>
          <p:cNvSpPr>
            <a:spLocks noChangeArrowheads="1"/>
          </p:cNvSpPr>
          <p:nvPr/>
        </p:nvSpPr>
        <p:spPr bwMode="auto">
          <a:xfrm>
            <a:off x="48006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16412" name="Oval 28"/>
          <p:cNvSpPr>
            <a:spLocks noChangeArrowheads="1"/>
          </p:cNvSpPr>
          <p:nvPr/>
        </p:nvSpPr>
        <p:spPr bwMode="auto">
          <a:xfrm>
            <a:off x="5334000" y="4114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16413" name="Line 29"/>
          <p:cNvSpPr>
            <a:spLocks noChangeShapeType="1"/>
          </p:cNvSpPr>
          <p:nvPr/>
        </p:nvSpPr>
        <p:spPr bwMode="auto">
          <a:xfrm flipV="1">
            <a:off x="4876800" y="43434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14" name="Line 30"/>
          <p:cNvSpPr>
            <a:spLocks noChangeShapeType="1"/>
          </p:cNvSpPr>
          <p:nvPr/>
        </p:nvSpPr>
        <p:spPr bwMode="auto">
          <a:xfrm>
            <a:off x="4724400" y="28194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15" name="Line 31"/>
          <p:cNvSpPr>
            <a:spLocks noChangeShapeType="1"/>
          </p:cNvSpPr>
          <p:nvPr/>
        </p:nvSpPr>
        <p:spPr bwMode="auto">
          <a:xfrm>
            <a:off x="4876800" y="27432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98" name="Text Box 32"/>
          <p:cNvSpPr txBox="1">
            <a:spLocks noChangeArrowheads="1"/>
          </p:cNvSpPr>
          <p:nvPr/>
        </p:nvSpPr>
        <p:spPr bwMode="auto">
          <a:xfrm>
            <a:off x="1752600" y="2057400"/>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 </a:t>
            </a:r>
            <a:endParaRPr kumimoji="1" lang="en-US" altLang="zh-CN" sz="1600" b="1" dirty="0">
              <a:latin typeface="Times New Roman" panose="02020603050405020304" pitchFamily="18" charset="0"/>
              <a:ea typeface="华文楷体" panose="02010600040101010101" pitchFamily="2" charset="-122"/>
            </a:endParaRPr>
          </a:p>
        </p:txBody>
      </p:sp>
      <p:sp>
        <p:nvSpPr>
          <p:cNvPr id="11299" name="Text Box 33"/>
          <p:cNvSpPr txBox="1">
            <a:spLocks noChangeArrowheads="1"/>
          </p:cNvSpPr>
          <p:nvPr/>
        </p:nvSpPr>
        <p:spPr bwMode="auto">
          <a:xfrm>
            <a:off x="4648200" y="2057400"/>
            <a:ext cx="1905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a:t>
            </a:r>
            <a:r>
              <a:rPr kumimoji="1" lang="zh-CN" altLang="zh-CN" sz="1600" b="1" dirty="0">
                <a:latin typeface="Times New Roman" panose="02020603050405020304" pitchFamily="18" charset="0"/>
                <a:ea typeface="华文楷体" panose="02010600040101010101" pitchFamily="2" charset="-122"/>
              </a:rPr>
              <a:t>的生成树</a:t>
            </a:r>
            <a:r>
              <a:rPr kumimoji="1" lang="zh-CN" altLang="en-US" sz="1600" b="1" dirty="0">
                <a:latin typeface="Times New Roman" panose="02020603050405020304" pitchFamily="18" charset="0"/>
                <a:ea typeface="华文楷体" panose="02010600040101010101" pitchFamily="2" charset="-122"/>
              </a:rPr>
              <a:t> </a:t>
            </a:r>
            <a:endParaRPr kumimoji="1" lang="zh-CN" altLang="en-US" sz="1600" b="1" dirty="0">
              <a:latin typeface="Times New Roman" panose="02020603050405020304" pitchFamily="18" charset="0"/>
              <a:ea typeface="华文楷体" panose="02010600040101010101" pitchFamily="2" charset="-122"/>
            </a:endParaRPr>
          </a:p>
        </p:txBody>
      </p:sp>
      <p:sp>
        <p:nvSpPr>
          <p:cNvPr id="11300" name="Line 34"/>
          <p:cNvSpPr>
            <a:spLocks noChangeShapeType="1"/>
          </p:cNvSpPr>
          <p:nvPr/>
        </p:nvSpPr>
        <p:spPr bwMode="auto">
          <a:xfrm>
            <a:off x="3962400" y="1752599"/>
            <a:ext cx="0" cy="470852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zh-CN" altLang="en-US" dirty="0">
              <a:latin typeface="Times New Roman" panose="02020603050405020304" pitchFamily="18" charset="0"/>
              <a:ea typeface="华文楷体" panose="02010600040101010101" pitchFamily="2" charset="-122"/>
            </a:endParaRPr>
          </a:p>
        </p:txBody>
      </p:sp>
      <p:sp>
        <p:nvSpPr>
          <p:cNvPr id="11301" name="Text Box 35"/>
          <p:cNvSpPr txBox="1">
            <a:spLocks noChangeArrowheads="1"/>
          </p:cNvSpPr>
          <p:nvPr/>
        </p:nvSpPr>
        <p:spPr bwMode="auto">
          <a:xfrm>
            <a:off x="4595813" y="5181600"/>
            <a:ext cx="3176587"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zh-CN" sz="1800" b="1" dirty="0">
                <a:solidFill>
                  <a:schemeClr val="accent2"/>
                </a:solidFill>
                <a:latin typeface="Times New Roman" panose="02020603050405020304" pitchFamily="18" charset="0"/>
                <a:ea typeface="华文楷体" panose="02010600040101010101" pitchFamily="2" charset="-122"/>
              </a:rPr>
              <a:t>包含图的所有 </a:t>
            </a:r>
            <a:r>
              <a:rPr kumimoji="1" lang="en-US" altLang="zh-CN" sz="1800" b="1" dirty="0">
                <a:solidFill>
                  <a:schemeClr val="accent2"/>
                </a:solidFill>
                <a:latin typeface="Cambria Math" panose="02040503050406030204" pitchFamily="18" charset="0"/>
                <a:ea typeface="华文楷体" panose="02010600040101010101" pitchFamily="2" charset="-122"/>
              </a:rPr>
              <a:t>n</a:t>
            </a:r>
            <a:r>
              <a:rPr kumimoji="1" lang="en-US" altLang="zh-CN" sz="1800" b="1" dirty="0">
                <a:solidFill>
                  <a:schemeClr val="accent2"/>
                </a:solidFill>
                <a:latin typeface="Times New Roman" panose="02020603050405020304" pitchFamily="18" charset="0"/>
                <a:ea typeface="华文楷体" panose="02010600040101010101" pitchFamily="2" charset="-122"/>
              </a:rPr>
              <a:t> </a:t>
            </a:r>
            <a:r>
              <a:rPr kumimoji="1" lang="zh-CN" altLang="zh-CN" sz="1800" b="1" dirty="0">
                <a:solidFill>
                  <a:schemeClr val="accent2"/>
                </a:solidFill>
                <a:latin typeface="Times New Roman" panose="02020603050405020304" pitchFamily="18" charset="0"/>
                <a:ea typeface="华文楷体" panose="02010600040101010101" pitchFamily="2" charset="-122"/>
              </a:rPr>
              <a:t>个结点，</a:t>
            </a:r>
            <a:endParaRPr kumimoji="1"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kumimoji="1" lang="zh-CN" altLang="zh-CN" sz="1800" b="1" dirty="0">
                <a:solidFill>
                  <a:schemeClr val="accent2"/>
                </a:solidFill>
                <a:latin typeface="Times New Roman" panose="02020603050405020304" pitchFamily="18" charset="0"/>
                <a:ea typeface="华文楷体" panose="02010600040101010101" pitchFamily="2" charset="-122"/>
              </a:rPr>
              <a:t>但只含图的 </a:t>
            </a:r>
            <a:r>
              <a:rPr kumimoji="1" lang="en-US" altLang="zh-CN" sz="1800" b="1" dirty="0">
                <a:solidFill>
                  <a:schemeClr val="accent2"/>
                </a:solidFill>
                <a:latin typeface="Cambria Math" panose="02040503050406030204" pitchFamily="18" charset="0"/>
                <a:ea typeface="华文楷体" panose="02010600040101010101" pitchFamily="2" charset="-122"/>
              </a:rPr>
              <a:t>n-1</a:t>
            </a:r>
            <a:r>
              <a:rPr kumimoji="1" lang="en-US" altLang="zh-CN" sz="1800" b="1" dirty="0">
                <a:solidFill>
                  <a:schemeClr val="accent2"/>
                </a:solidFill>
                <a:latin typeface="Times New Roman" panose="02020603050405020304" pitchFamily="18" charset="0"/>
                <a:ea typeface="华文楷体" panose="02010600040101010101" pitchFamily="2" charset="-122"/>
              </a:rPr>
              <a:t> </a:t>
            </a:r>
            <a:r>
              <a:rPr kumimoji="1" lang="zh-CN" altLang="zh-CN" sz="1800" b="1" dirty="0">
                <a:solidFill>
                  <a:schemeClr val="accent2"/>
                </a:solidFill>
                <a:latin typeface="Times New Roman" panose="02020603050405020304" pitchFamily="18" charset="0"/>
                <a:ea typeface="华文楷体" panose="02010600040101010101" pitchFamily="2" charset="-122"/>
              </a:rPr>
              <a:t>条边。</a:t>
            </a:r>
            <a:endParaRPr kumimoji="1"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kumimoji="1" lang="zh-CN" altLang="zh-CN" sz="1800" b="1" dirty="0">
                <a:solidFill>
                  <a:schemeClr val="accent2"/>
                </a:solidFill>
                <a:latin typeface="Times New Roman" panose="02020603050405020304" pitchFamily="18" charset="0"/>
                <a:ea typeface="华文楷体" panose="02010600040101010101" pitchFamily="2" charset="-122"/>
              </a:rPr>
              <a:t>在生成树中添加一条边之后，</a:t>
            </a:r>
            <a:endParaRPr kumimoji="1"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kumimoji="1" lang="zh-CN" altLang="zh-CN" sz="1800" b="1" dirty="0">
                <a:solidFill>
                  <a:schemeClr val="accent2"/>
                </a:solidFill>
                <a:latin typeface="Times New Roman" panose="02020603050405020304" pitchFamily="18" charset="0"/>
                <a:ea typeface="华文楷体" panose="02010600040101010101" pitchFamily="2" charset="-122"/>
              </a:rPr>
              <a:t>必定会形成回路或环。</a:t>
            </a:r>
            <a:endParaRPr kumimoji="1" lang="zh-CN" altLang="en-US" sz="18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403"/>
                                        </p:tgtEl>
                                        <p:attrNameLst>
                                          <p:attrName>style.visibility</p:attrName>
                                        </p:attrNameLst>
                                      </p:cBhvr>
                                      <p:to>
                                        <p:strVal val="visible"/>
                                      </p:to>
                                    </p:set>
                                    <p:animEffect transition="in" filter="box(out)">
                                      <p:cBhvr>
                                        <p:cTn id="7" dur="500"/>
                                        <p:tgtEl>
                                          <p:spTgt spid="16403"/>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404"/>
                                        </p:tgtEl>
                                        <p:attrNameLst>
                                          <p:attrName>style.visibility</p:attrName>
                                        </p:attrNameLst>
                                      </p:cBhvr>
                                      <p:to>
                                        <p:strVal val="visible"/>
                                      </p:to>
                                    </p:set>
                                    <p:animEffect transition="in" filter="box(out)">
                                      <p:cBhvr>
                                        <p:cTn id="12" dur="500"/>
                                        <p:tgtEl>
                                          <p:spTgt spid="16404"/>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405"/>
                                        </p:tgtEl>
                                        <p:attrNameLst>
                                          <p:attrName>style.visibility</p:attrName>
                                        </p:attrNameLst>
                                      </p:cBhvr>
                                      <p:to>
                                        <p:strVal val="visible"/>
                                      </p:to>
                                    </p:set>
                                    <p:animEffect transition="in" filter="box(out)">
                                      <p:cBhvr>
                                        <p:cTn id="17" dur="500"/>
                                        <p:tgtEl>
                                          <p:spTgt spid="16405"/>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406"/>
                                        </p:tgtEl>
                                        <p:attrNameLst>
                                          <p:attrName>style.visibility</p:attrName>
                                        </p:attrNameLst>
                                      </p:cBhvr>
                                      <p:to>
                                        <p:strVal val="visible"/>
                                      </p:to>
                                    </p:set>
                                    <p:animEffect transition="in" filter="box(out)">
                                      <p:cBhvr>
                                        <p:cTn id="22" dur="500"/>
                                        <p:tgtEl>
                                          <p:spTgt spid="16406"/>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6407"/>
                                        </p:tgtEl>
                                        <p:attrNameLst>
                                          <p:attrName>style.visibility</p:attrName>
                                        </p:attrNameLst>
                                      </p:cBhvr>
                                      <p:to>
                                        <p:strVal val="visible"/>
                                      </p:to>
                                    </p:set>
                                    <p:animEffect transition="in" filter="box(out)">
                                      <p:cBhvr>
                                        <p:cTn id="27" dur="500"/>
                                        <p:tgtEl>
                                          <p:spTgt spid="16407"/>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6408"/>
                                        </p:tgtEl>
                                        <p:attrNameLst>
                                          <p:attrName>style.visibility</p:attrName>
                                        </p:attrNameLst>
                                      </p:cBhvr>
                                      <p:to>
                                        <p:strVal val="visible"/>
                                      </p:to>
                                    </p:set>
                                    <p:animEffect transition="in" filter="box(out)">
                                      <p:cBhvr>
                                        <p:cTn id="32" dur="500"/>
                                        <p:tgtEl>
                                          <p:spTgt spid="16408"/>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6409"/>
                                        </p:tgtEl>
                                        <p:attrNameLst>
                                          <p:attrName>style.visibility</p:attrName>
                                        </p:attrNameLst>
                                      </p:cBhvr>
                                      <p:to>
                                        <p:strVal val="visible"/>
                                      </p:to>
                                    </p:set>
                                    <p:animEffect transition="in" filter="box(out)">
                                      <p:cBhvr>
                                        <p:cTn id="37" dur="500"/>
                                        <p:tgtEl>
                                          <p:spTgt spid="16409"/>
                                        </p:tgtEl>
                                      </p:cBhvr>
                                    </p:animEffect>
                                  </p:childTnLst>
                                  <p:subTnLst>
                                    <p:audio>
                                      <p:cMediaNode>
                                        <p:cTn display="0" masterRel="sameClick">
                                          <p:stCondLst>
                                            <p:cond evt="begin" delay="0">
                                              <p:tn val="35"/>
                                            </p:cond>
                                          </p:stCondLst>
                                          <p:endCondLst>
                                            <p:cond evt="onStopAudio" delay="0">
                                              <p:tgtEl>
                                                <p:sldTgt/>
                                              </p:tgtEl>
                                            </p:cond>
                                          </p:endCondLst>
                                        </p:cTn>
                                        <p:tgtEl>
                                          <p:sndTgt r:embed="rId1"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6410"/>
                                        </p:tgtEl>
                                        <p:attrNameLst>
                                          <p:attrName>style.visibility</p:attrName>
                                        </p:attrNameLst>
                                      </p:cBhvr>
                                      <p:to>
                                        <p:strVal val="visible"/>
                                      </p:to>
                                    </p:set>
                                    <p:animEffect transition="in" filter="box(out)">
                                      <p:cBhvr>
                                        <p:cTn id="42" dur="500"/>
                                        <p:tgtEl>
                                          <p:spTgt spid="16410"/>
                                        </p:tgtEl>
                                      </p:cBhvr>
                                    </p:animEffect>
                                  </p:childTnLst>
                                  <p:subTnLst>
                                    <p:audio>
                                      <p:cMediaNode>
                                        <p:cTn display="0" masterRel="sameClick">
                                          <p:stCondLst>
                                            <p:cond evt="begin" delay="0">
                                              <p:tn val="40"/>
                                            </p:cond>
                                          </p:stCondLst>
                                          <p:endCondLst>
                                            <p:cond evt="onStopAudio" delay="0">
                                              <p:tgtEl>
                                                <p:sldTgt/>
                                              </p:tgtEl>
                                            </p:cond>
                                          </p:endCondLst>
                                        </p:cTn>
                                        <p:tgtEl>
                                          <p:sndTgt r:embed="rId1"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6411"/>
                                        </p:tgtEl>
                                        <p:attrNameLst>
                                          <p:attrName>style.visibility</p:attrName>
                                        </p:attrNameLst>
                                      </p:cBhvr>
                                      <p:to>
                                        <p:strVal val="visible"/>
                                      </p:to>
                                    </p:set>
                                    <p:animEffect transition="in" filter="box(out)">
                                      <p:cBhvr>
                                        <p:cTn id="47" dur="500"/>
                                        <p:tgtEl>
                                          <p:spTgt spid="16411"/>
                                        </p:tgtEl>
                                      </p:cBhvr>
                                    </p:animEffect>
                                  </p:childTnLst>
                                  <p:subTnLst>
                                    <p:audio>
                                      <p:cMediaNode>
                                        <p:cTn display="0" masterRel="sameClick">
                                          <p:stCondLst>
                                            <p:cond evt="begin" delay="0">
                                              <p:tn val="45"/>
                                            </p:cond>
                                          </p:stCondLst>
                                          <p:endCondLst>
                                            <p:cond evt="onStopAudio" delay="0">
                                              <p:tgtEl>
                                                <p:sldTgt/>
                                              </p:tgtEl>
                                            </p:cond>
                                          </p:endCondLst>
                                        </p:cTn>
                                        <p:tgtEl>
                                          <p:sndTgt r:embed="rId1"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6412"/>
                                        </p:tgtEl>
                                        <p:attrNameLst>
                                          <p:attrName>style.visibility</p:attrName>
                                        </p:attrNameLst>
                                      </p:cBhvr>
                                      <p:to>
                                        <p:strVal val="visible"/>
                                      </p:to>
                                    </p:set>
                                    <p:animEffect transition="in" filter="box(out)">
                                      <p:cBhvr>
                                        <p:cTn id="52" dur="500"/>
                                        <p:tgtEl>
                                          <p:spTgt spid="16412"/>
                                        </p:tgtEl>
                                      </p:cBhvr>
                                    </p:animEffect>
                                  </p:childTnLst>
                                  <p:subTnLst>
                                    <p:audio>
                                      <p:cMediaNode>
                                        <p:cTn display="0" masterRel="sameClick">
                                          <p:stCondLst>
                                            <p:cond evt="begin" delay="0">
                                              <p:tn val="50"/>
                                            </p:cond>
                                          </p:stCondLst>
                                          <p:endCondLst>
                                            <p:cond evt="onStopAudio" delay="0">
                                              <p:tgtEl>
                                                <p:sldTgt/>
                                              </p:tgtEl>
                                            </p:cond>
                                          </p:endCondLst>
                                        </p:cTn>
                                        <p:tgtEl>
                                          <p:sndTgt r:embed="rId1"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16413"/>
                                        </p:tgtEl>
                                        <p:attrNameLst>
                                          <p:attrName>style.visibility</p:attrName>
                                        </p:attrNameLst>
                                      </p:cBhvr>
                                      <p:to>
                                        <p:strVal val="visible"/>
                                      </p:to>
                                    </p:set>
                                    <p:animEffect transition="in" filter="box(out)">
                                      <p:cBhvr>
                                        <p:cTn id="57" dur="500"/>
                                        <p:tgtEl>
                                          <p:spTgt spid="16413"/>
                                        </p:tgtEl>
                                      </p:cBhvr>
                                    </p:animEffect>
                                  </p:childTnLst>
                                  <p:subTnLst>
                                    <p:audio>
                                      <p:cMediaNode>
                                        <p:cTn display="0" masterRel="sameClick">
                                          <p:stCondLst>
                                            <p:cond evt="begin" delay="0">
                                              <p:tn val="55"/>
                                            </p:cond>
                                          </p:stCondLst>
                                          <p:endCondLst>
                                            <p:cond evt="onStopAudio" delay="0">
                                              <p:tgtEl>
                                                <p:sldTgt/>
                                              </p:tgtEl>
                                            </p:cond>
                                          </p:endCondLst>
                                        </p:cTn>
                                        <p:tgtEl>
                                          <p:sndTgt r:embed="rId1"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16414"/>
                                        </p:tgtEl>
                                        <p:attrNameLst>
                                          <p:attrName>style.visibility</p:attrName>
                                        </p:attrNameLst>
                                      </p:cBhvr>
                                      <p:to>
                                        <p:strVal val="visible"/>
                                      </p:to>
                                    </p:set>
                                    <p:animEffect transition="in" filter="box(out)">
                                      <p:cBhvr>
                                        <p:cTn id="62" dur="500"/>
                                        <p:tgtEl>
                                          <p:spTgt spid="16414"/>
                                        </p:tgtEl>
                                      </p:cBhvr>
                                    </p:animEffect>
                                  </p:childTnLst>
                                  <p:subTnLst>
                                    <p:audio>
                                      <p:cMediaNode>
                                        <p:cTn display="0" masterRel="sameClick">
                                          <p:stCondLst>
                                            <p:cond evt="begin" delay="0">
                                              <p:tn val="60"/>
                                            </p:cond>
                                          </p:stCondLst>
                                          <p:endCondLst>
                                            <p:cond evt="onStopAudio" delay="0">
                                              <p:tgtEl>
                                                <p:sldTgt/>
                                              </p:tgtEl>
                                            </p:cond>
                                          </p:endCondLst>
                                        </p:cTn>
                                        <p:tgtEl>
                                          <p:sndTgt r:embed="rId1"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16415"/>
                                        </p:tgtEl>
                                        <p:attrNameLst>
                                          <p:attrName>style.visibility</p:attrName>
                                        </p:attrNameLst>
                                      </p:cBhvr>
                                      <p:to>
                                        <p:strVal val="visible"/>
                                      </p:to>
                                    </p:set>
                                    <p:animEffect transition="in" filter="box(out)">
                                      <p:cBhvr>
                                        <p:cTn id="67" dur="500"/>
                                        <p:tgtEl>
                                          <p:spTgt spid="16415"/>
                                        </p:tgtEl>
                                      </p:cBhvr>
                                    </p:animEffect>
                                  </p:childTnLst>
                                  <p:subTnLst>
                                    <p:audio>
                                      <p:cMediaNode>
                                        <p:cTn display="0" masterRel="sameClick">
                                          <p:stCondLst>
                                            <p:cond evt="begin" delay="0">
                                              <p:tn val="6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3" grpId="0" animBg="1" autoUpdateAnimBg="0"/>
      <p:bldP spid="16404" grpId="0" animBg="1" autoUpdateAnimBg="0"/>
      <p:bldP spid="16405" grpId="0" animBg="1" autoUpdateAnimBg="0"/>
      <p:bldP spid="16406" grpId="0" animBg="1" autoUpdateAnimBg="0"/>
      <p:bldP spid="16409" grpId="0" animBg="1" autoUpdateAnimBg="0"/>
      <p:bldP spid="16411" grpId="0" animBg="1" autoUpdateAnimBg="0"/>
      <p:bldP spid="16412"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1229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2293"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有向树   </a:t>
            </a:r>
            <a:r>
              <a:rPr lang="zh-CN" altLang="en-US" sz="2400" dirty="0" smtClean="0">
                <a:ea typeface="华文楷体" panose="02010600040101010101" pitchFamily="2" charset="-122"/>
              </a:rPr>
              <a:t>图中恰有一个顶点入度为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，其余顶点入度均为</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生成森林   </a:t>
            </a:r>
            <a:r>
              <a:rPr lang="zh-CN" altLang="en-US" sz="2400" dirty="0" smtClean="0">
                <a:ea typeface="华文楷体" panose="02010600040101010101" pitchFamily="2" charset="-122"/>
              </a:rPr>
              <a:t>有向图中，包含所有顶点的若干棵有向树构成的子图。</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页脚占位符 3"/>
          <p:cNvSpPr>
            <a:spLocks noGrp="1"/>
          </p:cNvSpPr>
          <p:nvPr>
            <p:ph type="ftr" sz="quarter" idx="10"/>
          </p:nvPr>
        </p:nvSpPr>
        <p:spPr/>
        <p:txBody>
          <a:bodyPr/>
          <a:lstStyle/>
          <a:p>
            <a:pPr>
              <a:defRPr/>
            </a:pPr>
            <a:r>
              <a:rPr lang="en-US" altLang="zh-CN"/>
              <a:t>BUPT SCST</a:t>
            </a:r>
            <a:endParaRPr lang="en-US" altLang="zh-CN"/>
          </a:p>
        </p:txBody>
      </p:sp>
      <p:sp>
        <p:nvSpPr>
          <p:cNvPr id="34" name="日期占位符 5"/>
          <p:cNvSpPr>
            <a:spLocks noGrp="1"/>
          </p:cNvSpPr>
          <p:nvPr>
            <p:ph type="dt" sz="quarter" idx="12"/>
          </p:nvPr>
        </p:nvSpPr>
        <p:spPr/>
        <p:txBody>
          <a:bodyPr/>
          <a:lstStyle/>
          <a:p>
            <a:pPr>
              <a:defRPr/>
            </a:pPr>
            <a:r>
              <a:rPr lang="en-US" altLang="zh-CN"/>
              <a:t>BUPT</a:t>
            </a:r>
            <a:endParaRPr lang="en-US" altLang="zh-CN"/>
          </a:p>
        </p:txBody>
      </p:sp>
      <p:sp>
        <p:nvSpPr>
          <p:cNvPr id="13316"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7.2 </a:t>
            </a:r>
            <a:r>
              <a:rPr lang="zh-CN" altLang="en-US" sz="2800" dirty="0" smtClean="0">
                <a:ea typeface="华文楷体" panose="02010600040101010101" pitchFamily="2" charset="-122"/>
              </a:rPr>
              <a:t>图的存储结构</a:t>
            </a:r>
            <a:endParaRPr lang="zh-CN" altLang="en-US" sz="2800" dirty="0" smtClean="0">
              <a:ea typeface="华文楷体" panose="02010600040101010101" pitchFamily="2" charset="-122"/>
            </a:endParaRPr>
          </a:p>
        </p:txBody>
      </p:sp>
      <p:sp>
        <p:nvSpPr>
          <p:cNvPr id="13317" name="Rectangle 3"/>
          <p:cNvSpPr>
            <a:spLocks noGrp="1" noChangeArrowheads="1"/>
          </p:cNvSpPr>
          <p:nvPr>
            <p:ph type="body" idx="1"/>
          </p:nvPr>
        </p:nvSpPr>
        <p:spPr>
          <a:xfrm>
            <a:off x="128588" y="1312523"/>
            <a:ext cx="8229600" cy="5248275"/>
          </a:xfrm>
        </p:spPr>
        <p:txBody>
          <a:bodyPr/>
          <a:lstStyle/>
          <a:p>
            <a:pPr marL="609600" indent="-609600"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1. </a:t>
            </a:r>
            <a:r>
              <a:rPr lang="zh-CN" altLang="en-US" sz="2400" b="1" dirty="0" smtClean="0">
                <a:solidFill>
                  <a:srgbClr val="800000"/>
                </a:solidFill>
                <a:ea typeface="华文楷体" panose="02010600040101010101" pitchFamily="2" charset="-122"/>
              </a:rPr>
              <a:t>数组</a:t>
            </a: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邻接矩阵</a:t>
            </a: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加权邻接矩阵</a:t>
            </a: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顺序存储方式</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marL="609600" indent="-609600" eaLnBrk="1" hangingPunct="1">
              <a:buFont typeface="Wingdings" panose="05000000000000000000" pitchFamily="2" charset="2"/>
              <a:buNone/>
            </a:pPr>
            <a:endParaRPr lang="en-US" altLang="zh-CN" sz="2400" b="1" dirty="0" smtClean="0">
              <a:solidFill>
                <a:srgbClr val="800000"/>
              </a:solidFill>
              <a:ea typeface="华文楷体" panose="02010600040101010101" pitchFamily="2" charset="-122"/>
            </a:endParaRPr>
          </a:p>
          <a:p>
            <a:pPr marL="609600" indent="-609600" eaLnBrk="1" hangingPunct="1">
              <a:buFont typeface="Wingdings" panose="05000000000000000000" pitchFamily="2" charset="2"/>
              <a:buNone/>
            </a:pPr>
            <a:endParaRPr lang="en-US" altLang="zh-CN" sz="2400" dirty="0" smtClean="0">
              <a:solidFill>
                <a:srgbClr val="800000"/>
              </a:solidFill>
              <a:ea typeface="华文楷体" panose="02010600040101010101" pitchFamily="2" charset="-122"/>
            </a:endParaRPr>
          </a:p>
        </p:txBody>
      </p:sp>
      <p:sp>
        <p:nvSpPr>
          <p:cNvPr id="35" name="Text Box 4"/>
          <p:cNvSpPr txBox="1">
            <a:spLocks noChangeArrowheads="1"/>
          </p:cNvSpPr>
          <p:nvPr/>
        </p:nvSpPr>
        <p:spPr bwMode="auto">
          <a:xfrm>
            <a:off x="144710" y="1925142"/>
            <a:ext cx="8846890" cy="4154984"/>
          </a:xfrm>
          <a:prstGeom prst="rect">
            <a:avLst/>
          </a:prstGeom>
          <a:no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Char char="•"/>
            </a:pPr>
            <a:r>
              <a:rPr kumimoji="1" lang="zh-CN" altLang="en-US" sz="2400" dirty="0">
                <a:latin typeface="Times New Roman" panose="02020603050405020304" pitchFamily="18" charset="0"/>
                <a:ea typeface="华文楷体" panose="02010600040101010101" pitchFamily="2" charset="-122"/>
              </a:rPr>
              <a:t>无权值</a:t>
            </a:r>
            <a:r>
              <a:rPr kumimoji="1" lang="zh-CN" altLang="en-US" sz="2400" dirty="0" smtClean="0">
                <a:latin typeface="Times New Roman" panose="02020603050405020304" pitchFamily="18" charset="0"/>
                <a:ea typeface="华文楷体" panose="02010600040101010101" pitchFamily="2" charset="-122"/>
              </a:rPr>
              <a:t>的图</a:t>
            </a:r>
            <a:r>
              <a:rPr kumimoji="1" lang="zh-CN" altLang="en-US" sz="2400" dirty="0">
                <a:latin typeface="Times New Roman" panose="02020603050405020304" pitchFamily="18" charset="0"/>
                <a:ea typeface="华文楷体" panose="02010600040101010101" pitchFamily="2" charset="-122"/>
              </a:rPr>
              <a:t>的邻接矩阵</a:t>
            </a:r>
            <a:endParaRPr kumimoji="1" lang="zh-CN" altLang="en-US" sz="24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2400" dirty="0">
                <a:latin typeface="Times New Roman" panose="02020603050405020304" pitchFamily="18" charset="0"/>
                <a:ea typeface="华文楷体" panose="02010600040101010101" pitchFamily="2" charset="-122"/>
              </a:rPr>
              <a:t>  </a:t>
            </a:r>
            <a:r>
              <a:rPr kumimoji="1" lang="zh-CN" altLang="en-US" sz="2400" dirty="0" smtClean="0">
                <a:latin typeface="Times New Roman" panose="02020603050405020304" pitchFamily="18" charset="0"/>
                <a:ea typeface="华文楷体" panose="02010600040101010101" pitchFamily="2" charset="-122"/>
              </a:rPr>
              <a:t>无权值图有 </a:t>
            </a:r>
            <a:r>
              <a:rPr kumimoji="1" lang="en-US" altLang="zh-CN" sz="2400" dirty="0">
                <a:latin typeface="Times New Roman" panose="02020603050405020304" pitchFamily="18" charset="0"/>
                <a:ea typeface="华文楷体" panose="02010600040101010101" pitchFamily="2" charset="-122"/>
              </a:rPr>
              <a:t>n </a:t>
            </a:r>
            <a:r>
              <a:rPr kumimoji="1" lang="zh-CN" altLang="en-US" sz="2400" dirty="0">
                <a:latin typeface="Times New Roman" panose="02020603050405020304" pitchFamily="18" charset="0"/>
                <a:ea typeface="华文楷体" panose="02010600040101010101" pitchFamily="2" charset="-122"/>
              </a:rPr>
              <a:t>个顶点</a:t>
            </a:r>
            <a:r>
              <a:rPr kumimoji="1" lang="zh-CN" altLang="en-US" sz="2400" dirty="0" smtClean="0">
                <a:latin typeface="Times New Roman" panose="02020603050405020304" pitchFamily="18" charset="0"/>
                <a:ea typeface="华文楷体" panose="02010600040101010101" pitchFamily="2" charset="-122"/>
              </a:rPr>
              <a:t>，可用 </a:t>
            </a:r>
            <a:r>
              <a:rPr kumimoji="1" lang="en-US" altLang="zh-CN" sz="2400" dirty="0">
                <a:latin typeface="Times New Roman" panose="02020603050405020304" pitchFamily="18" charset="0"/>
                <a:ea typeface="华文楷体" panose="02010600040101010101" pitchFamily="2" charset="-122"/>
              </a:rPr>
              <a:t>n </a:t>
            </a:r>
            <a:r>
              <a:rPr kumimoji="1" lang="zh-CN" altLang="en-US" sz="2400" dirty="0" smtClean="0">
                <a:latin typeface="Times New Roman" panose="02020603050405020304" pitchFamily="18" charset="0"/>
                <a:ea typeface="华文楷体" panose="02010600040101010101" pitchFamily="2" charset="-122"/>
              </a:rPr>
              <a:t>*</a:t>
            </a:r>
            <a:r>
              <a:rPr kumimoji="1" lang="zh-CN" altLang="zh-CN" sz="2400" dirty="0" smtClean="0">
                <a:latin typeface="Times New Roman" panose="02020603050405020304" pitchFamily="18" charset="0"/>
                <a:ea typeface="华文楷体" panose="02010600040101010101" pitchFamily="2" charset="-122"/>
              </a:rPr>
              <a:t> </a:t>
            </a:r>
            <a:r>
              <a:rPr kumimoji="1" lang="en-US" altLang="zh-CN" sz="2400" dirty="0">
                <a:latin typeface="Times New Roman" panose="02020603050405020304" pitchFamily="18" charset="0"/>
                <a:ea typeface="华文楷体" panose="02010600040101010101" pitchFamily="2" charset="-122"/>
              </a:rPr>
              <a:t>n </a:t>
            </a:r>
            <a:r>
              <a:rPr kumimoji="1" lang="zh-CN" altLang="zh-CN" sz="2400" dirty="0" smtClean="0">
                <a:latin typeface="Times New Roman" panose="02020603050405020304" pitchFamily="18" charset="0"/>
                <a:ea typeface="华文楷体" panose="02010600040101010101" pitchFamily="2" charset="-122"/>
              </a:rPr>
              <a:t>的</a:t>
            </a:r>
            <a:r>
              <a:rPr kumimoji="1" lang="zh-CN" altLang="zh-CN" sz="2400" dirty="0">
                <a:latin typeface="Times New Roman" panose="02020603050405020304" pitchFamily="18" charset="0"/>
                <a:ea typeface="华文楷体" panose="02010600040101010101" pitchFamily="2" charset="-122"/>
              </a:rPr>
              <a:t>布尔矩阵 </a:t>
            </a:r>
            <a:r>
              <a:rPr kumimoji="1" lang="en-US" altLang="zh-CN" sz="2400" dirty="0">
                <a:latin typeface="Times New Roman" panose="02020603050405020304" pitchFamily="18" charset="0"/>
                <a:ea typeface="华文楷体" panose="02010600040101010101" pitchFamily="2" charset="-122"/>
              </a:rPr>
              <a:t>A </a:t>
            </a:r>
            <a:r>
              <a:rPr kumimoji="1" lang="zh-CN" altLang="zh-CN" sz="2400" dirty="0">
                <a:latin typeface="Times New Roman" panose="02020603050405020304" pitchFamily="18" charset="0"/>
                <a:ea typeface="华文楷体" panose="02010600040101010101" pitchFamily="2" charset="-122"/>
              </a:rPr>
              <a:t>表示</a:t>
            </a:r>
            <a:r>
              <a:rPr kumimoji="1" lang="zh-CN" altLang="zh-CN" sz="2400" dirty="0" smtClean="0">
                <a:latin typeface="Times New Roman" panose="02020603050405020304" pitchFamily="18" charset="0"/>
                <a:ea typeface="华文楷体" panose="02010600040101010101" pitchFamily="2" charset="-122"/>
              </a:rPr>
              <a:t>该图</a:t>
            </a:r>
            <a:r>
              <a:rPr kumimoji="1" lang="zh-CN" altLang="en-US" sz="2400" dirty="0" smtClean="0">
                <a:latin typeface="Times New Roman" panose="02020603050405020304" pitchFamily="18" charset="0"/>
                <a:ea typeface="华文楷体" panose="02010600040101010101" pitchFamily="2" charset="-122"/>
              </a:rPr>
              <a:t>。</a:t>
            </a:r>
            <a:endParaRPr kumimoji="1" lang="en-US" altLang="zh-CN" sz="24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A[</a:t>
            </a:r>
            <a:r>
              <a:rPr kumimoji="1" lang="en-US" altLang="zh-CN" sz="2400" dirty="0" err="1" smtClean="0">
                <a:latin typeface="Times New Roman" panose="02020603050405020304" pitchFamily="18" charset="0"/>
                <a:ea typeface="华文楷体" panose="02010600040101010101" pitchFamily="2" charset="-122"/>
              </a:rPr>
              <a:t>i,j</a:t>
            </a:r>
            <a:r>
              <a:rPr kumimoji="1" lang="en-US" altLang="zh-CN" sz="2400" dirty="0">
                <a:latin typeface="Times New Roman" panose="02020603050405020304" pitchFamily="18" charset="0"/>
                <a:ea typeface="华文楷体" panose="02010600040101010101" pitchFamily="2" charset="-122"/>
              </a:rPr>
              <a:t>]  =  1 , </a:t>
            </a:r>
            <a:r>
              <a:rPr kumimoji="1" lang="zh-CN" altLang="en-US" sz="2400" dirty="0">
                <a:latin typeface="Times New Roman" panose="02020603050405020304" pitchFamily="18" charset="0"/>
                <a:ea typeface="华文楷体" panose="02010600040101010101" pitchFamily="2" charset="-122"/>
              </a:rPr>
              <a:t>表示</a:t>
            </a:r>
            <a:r>
              <a:rPr kumimoji="1" lang="zh-CN" altLang="en-US" sz="2400" dirty="0" smtClean="0">
                <a:latin typeface="Times New Roman" panose="02020603050405020304" pitchFamily="18" charset="0"/>
                <a:ea typeface="华文楷体" panose="02010600040101010101" pitchFamily="2" charset="-122"/>
              </a:rPr>
              <a:t>有</a:t>
            </a:r>
            <a:r>
              <a:rPr kumimoji="1" lang="zh-CN" altLang="zh-CN" sz="2400" dirty="0" smtClean="0">
                <a:latin typeface="Times New Roman" panose="02020603050405020304" pitchFamily="18" charset="0"/>
                <a:ea typeface="华文楷体" panose="02010600040101010101" pitchFamily="2" charset="-122"/>
              </a:rPr>
              <a:t>边</a:t>
            </a:r>
            <a:r>
              <a:rPr kumimoji="1" lang="en-US" altLang="zh-CN" sz="2400" dirty="0" smtClean="0">
                <a:latin typeface="Times New Roman" panose="02020603050405020304" pitchFamily="18" charset="0"/>
                <a:ea typeface="华文楷体" panose="02010600040101010101" pitchFamily="2" charset="-122"/>
              </a:rPr>
              <a:t>(</a:t>
            </a:r>
            <a:r>
              <a:rPr kumimoji="1" lang="en-US" altLang="zh-CN" sz="2400" dirty="0" err="1" smtClean="0">
                <a:latin typeface="Times New Roman" panose="02020603050405020304" pitchFamily="18" charset="0"/>
                <a:ea typeface="华文楷体" panose="02010600040101010101" pitchFamily="2" charset="-122"/>
              </a:rPr>
              <a:t>i</a:t>
            </a:r>
            <a:r>
              <a:rPr kumimoji="1" lang="en-US" altLang="zh-CN" sz="2400" dirty="0" smtClean="0">
                <a:latin typeface="Times New Roman" panose="02020603050405020304" pitchFamily="18" charset="0"/>
                <a:ea typeface="华文楷体" panose="02010600040101010101" pitchFamily="2" charset="-122"/>
              </a:rPr>
              <a:t>, j)</a:t>
            </a:r>
            <a:r>
              <a:rPr kumimoji="1" lang="zh-CN" altLang="en-US" sz="2400" dirty="0" smtClean="0">
                <a:latin typeface="Times New Roman" panose="02020603050405020304" pitchFamily="18" charset="0"/>
                <a:ea typeface="华文楷体" panose="02010600040101010101" pitchFamily="2" charset="-122"/>
              </a:rPr>
              <a:t>或者</a:t>
            </a:r>
            <a:r>
              <a:rPr kumimoji="1" lang="en-US" altLang="zh-CN" sz="2400" dirty="0" smtClean="0">
                <a:latin typeface="Times New Roman" panose="02020603050405020304" pitchFamily="18" charset="0"/>
                <a:ea typeface="华文楷体" panose="02010600040101010101" pitchFamily="2" charset="-122"/>
              </a:rPr>
              <a:t>&lt;</a:t>
            </a:r>
            <a:r>
              <a:rPr kumimoji="1" lang="en-US" altLang="zh-CN" sz="2400" dirty="0" err="1" smtClean="0">
                <a:latin typeface="Times New Roman" panose="02020603050405020304" pitchFamily="18" charset="0"/>
                <a:ea typeface="华文楷体" panose="02010600040101010101" pitchFamily="2" charset="-122"/>
              </a:rPr>
              <a:t>i</a:t>
            </a:r>
            <a:r>
              <a:rPr kumimoji="1" lang="en-US" altLang="zh-CN" sz="2400" dirty="0" smtClean="0">
                <a:latin typeface="Times New Roman" panose="02020603050405020304" pitchFamily="18" charset="0"/>
                <a:ea typeface="华文楷体" panose="02010600040101010101" pitchFamily="2" charset="-122"/>
              </a:rPr>
              <a:t>, j&gt;</a:t>
            </a:r>
            <a:r>
              <a:rPr kumimoji="1" lang="zh-CN" altLang="zh-CN" sz="2400" dirty="0" smtClean="0">
                <a:latin typeface="Times New Roman" panose="02020603050405020304" pitchFamily="18" charset="0"/>
                <a:ea typeface="华文楷体" panose="02010600040101010101" pitchFamily="2" charset="-122"/>
              </a:rPr>
              <a:t>；</a:t>
            </a:r>
            <a:endParaRPr kumimoji="1" lang="en-US" altLang="zh-CN" sz="24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A[</a:t>
            </a:r>
            <a:r>
              <a:rPr kumimoji="1" lang="en-US" altLang="zh-CN" sz="2400" dirty="0" err="1" smtClean="0">
                <a:latin typeface="Times New Roman" panose="02020603050405020304" pitchFamily="18" charset="0"/>
                <a:ea typeface="华文楷体" panose="02010600040101010101" pitchFamily="2" charset="-122"/>
              </a:rPr>
              <a:t>i,j</a:t>
            </a:r>
            <a:r>
              <a:rPr kumimoji="1" lang="en-US" altLang="zh-CN" sz="2400" dirty="0">
                <a:latin typeface="Times New Roman" panose="02020603050405020304" pitchFamily="18" charset="0"/>
                <a:ea typeface="华文楷体" panose="02010600040101010101" pitchFamily="2" charset="-122"/>
              </a:rPr>
              <a:t>] = </a:t>
            </a:r>
            <a:r>
              <a:rPr kumimoji="1" lang="en-US" altLang="zh-CN" sz="2400" dirty="0" smtClean="0">
                <a:latin typeface="Times New Roman" panose="02020603050405020304" pitchFamily="18" charset="0"/>
                <a:ea typeface="华文楷体" panose="02010600040101010101" pitchFamily="2" charset="-122"/>
              </a:rPr>
              <a:t>0</a:t>
            </a:r>
            <a:r>
              <a:rPr kumimoji="1" lang="zh-CN" altLang="en-US" sz="2400" dirty="0" smtClean="0">
                <a:latin typeface="Times New Roman" panose="02020603050405020304" pitchFamily="18" charset="0"/>
                <a:ea typeface="华文楷体" panose="02010600040101010101" pitchFamily="2" charset="-122"/>
              </a:rPr>
              <a:t>，表示没有</a:t>
            </a:r>
            <a:r>
              <a:rPr kumimoji="1" lang="zh-CN" altLang="zh-CN" sz="2400" dirty="0" smtClean="0">
                <a:latin typeface="Times New Roman" panose="02020603050405020304" pitchFamily="18" charset="0"/>
                <a:ea typeface="华文楷体" panose="02010600040101010101" pitchFamily="2" charset="-122"/>
              </a:rPr>
              <a:t>边</a:t>
            </a:r>
            <a:r>
              <a:rPr kumimoji="1" lang="en-US" altLang="zh-CN" sz="2400" dirty="0" smtClean="0">
                <a:latin typeface="Times New Roman" panose="02020603050405020304" pitchFamily="18" charset="0"/>
                <a:ea typeface="华文楷体" panose="02010600040101010101" pitchFamily="2" charset="-122"/>
              </a:rPr>
              <a:t>(</a:t>
            </a:r>
            <a:r>
              <a:rPr kumimoji="1" lang="en-US" altLang="zh-CN" sz="2400" dirty="0" err="1" smtClean="0">
                <a:latin typeface="Times New Roman" panose="02020603050405020304" pitchFamily="18" charset="0"/>
                <a:ea typeface="华文楷体" panose="02010600040101010101" pitchFamily="2" charset="-122"/>
              </a:rPr>
              <a:t>i</a:t>
            </a:r>
            <a:r>
              <a:rPr kumimoji="1" lang="en-US" altLang="zh-CN" sz="2400" dirty="0" smtClean="0">
                <a:latin typeface="Times New Roman" panose="02020603050405020304" pitchFamily="18" charset="0"/>
                <a:ea typeface="华文楷体" panose="02010600040101010101" pitchFamily="2" charset="-122"/>
              </a:rPr>
              <a:t>, j)</a:t>
            </a:r>
            <a:r>
              <a:rPr kumimoji="1" lang="zh-CN" altLang="en-US" sz="2400" dirty="0" smtClean="0">
                <a:latin typeface="Times New Roman" panose="02020603050405020304" pitchFamily="18" charset="0"/>
                <a:ea typeface="华文楷体" panose="02010600040101010101" pitchFamily="2" charset="-122"/>
              </a:rPr>
              <a:t>或者</a:t>
            </a:r>
            <a:r>
              <a:rPr kumimoji="1" lang="en-US" altLang="zh-CN" sz="2400" dirty="0" smtClean="0">
                <a:latin typeface="Times New Roman" panose="02020603050405020304" pitchFamily="18" charset="0"/>
                <a:ea typeface="华文楷体" panose="02010600040101010101" pitchFamily="2" charset="-122"/>
              </a:rPr>
              <a:t>&lt;</a:t>
            </a:r>
            <a:r>
              <a:rPr kumimoji="1" lang="en-US" altLang="zh-CN" sz="2400" dirty="0" err="1" smtClean="0">
                <a:latin typeface="Times New Roman" panose="02020603050405020304" pitchFamily="18" charset="0"/>
                <a:ea typeface="华文楷体" panose="02010600040101010101" pitchFamily="2" charset="-122"/>
              </a:rPr>
              <a:t>i</a:t>
            </a:r>
            <a:r>
              <a:rPr kumimoji="1" lang="en-US" altLang="zh-CN" sz="2400" dirty="0" smtClean="0">
                <a:latin typeface="Times New Roman" panose="02020603050405020304" pitchFamily="18" charset="0"/>
                <a:ea typeface="华文楷体" panose="02010600040101010101" pitchFamily="2" charset="-122"/>
              </a:rPr>
              <a:t>, j&gt; </a:t>
            </a:r>
            <a:r>
              <a:rPr kumimoji="1" lang="zh-CN" altLang="en-US" sz="2400" dirty="0" smtClean="0">
                <a:latin typeface="Times New Roman" panose="02020603050405020304" pitchFamily="18" charset="0"/>
                <a:ea typeface="华文楷体" panose="02010600040101010101" pitchFamily="2" charset="-122"/>
              </a:rPr>
              <a:t>。</a:t>
            </a:r>
            <a:endParaRPr kumimoji="1" lang="en-US" altLang="zh-CN" sz="24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A[</a:t>
            </a:r>
            <a:r>
              <a:rPr kumimoji="1" lang="en-US" altLang="zh-CN" sz="2400" dirty="0" err="1" smtClean="0">
                <a:latin typeface="Times New Roman" panose="02020603050405020304" pitchFamily="18" charset="0"/>
                <a:ea typeface="华文楷体" panose="02010600040101010101" pitchFamily="2" charset="-122"/>
              </a:rPr>
              <a:t>i,i</a:t>
            </a:r>
            <a:r>
              <a:rPr kumimoji="1" lang="en-US" altLang="zh-CN" sz="2400" dirty="0" smtClean="0">
                <a:latin typeface="Times New Roman" panose="02020603050405020304" pitchFamily="18" charset="0"/>
                <a:ea typeface="华文楷体" panose="02010600040101010101" pitchFamily="2" charset="-122"/>
              </a:rPr>
              <a:t>] = 0</a:t>
            </a:r>
            <a:r>
              <a:rPr kumimoji="1" lang="zh-CN" altLang="en-US" sz="2400" dirty="0" smtClean="0">
                <a:latin typeface="Times New Roman" panose="02020603050405020304" pitchFamily="18" charset="0"/>
                <a:ea typeface="华文楷体" panose="02010600040101010101" pitchFamily="2" charset="-122"/>
              </a:rPr>
              <a:t>，表示顶点</a:t>
            </a:r>
            <a:r>
              <a:rPr kumimoji="1" lang="en-US" altLang="zh-CN" sz="2400" dirty="0" err="1" smtClean="0">
                <a:latin typeface="Times New Roman" panose="02020603050405020304" pitchFamily="18" charset="0"/>
                <a:ea typeface="华文楷体" panose="02010600040101010101" pitchFamily="2" charset="-122"/>
              </a:rPr>
              <a:t>i</a:t>
            </a:r>
            <a:r>
              <a:rPr kumimoji="1" lang="zh-CN" altLang="en-US" sz="2400" dirty="0" smtClean="0">
                <a:latin typeface="Times New Roman" panose="02020603050405020304" pitchFamily="18" charset="0"/>
                <a:ea typeface="华文楷体" panose="02010600040101010101" pitchFamily="2" charset="-122"/>
              </a:rPr>
              <a:t>没有自环边。</a:t>
            </a:r>
            <a:endParaRPr kumimoji="1" lang="zh-CN" altLang="zh-CN" sz="2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2400" dirty="0" err="1">
                <a:latin typeface="Times New Roman" panose="02020603050405020304" pitchFamily="18" charset="0"/>
                <a:ea typeface="华文楷体" panose="02010600040101010101" pitchFamily="2" charset="-122"/>
              </a:rPr>
              <a:t>i</a:t>
            </a:r>
            <a:r>
              <a:rPr kumimoji="1" lang="zh-CN" altLang="zh-CN" sz="2400" dirty="0">
                <a:latin typeface="Times New Roman" panose="02020603050405020304" pitchFamily="18" charset="0"/>
                <a:ea typeface="华文楷体" panose="02010600040101010101" pitchFamily="2" charset="-122"/>
              </a:rPr>
              <a:t>结点的度: </a:t>
            </a:r>
            <a:r>
              <a:rPr kumimoji="1" lang="zh-CN" altLang="en-US" sz="2400" dirty="0" smtClean="0">
                <a:latin typeface="Times New Roman" panose="02020603050405020304" pitchFamily="18" charset="0"/>
                <a:ea typeface="华文楷体" panose="02010600040101010101" pitchFamily="2" charset="-122"/>
              </a:rPr>
              <a:t>对无向图而言，为</a:t>
            </a:r>
            <a:r>
              <a:rPr kumimoji="1" lang="en-US" altLang="zh-CN" sz="2400" dirty="0" err="1" smtClean="0">
                <a:latin typeface="Times New Roman" panose="02020603050405020304" pitchFamily="18" charset="0"/>
                <a:ea typeface="华文楷体" panose="02010600040101010101" pitchFamily="2" charset="-122"/>
              </a:rPr>
              <a:t>i</a:t>
            </a:r>
            <a:r>
              <a:rPr kumimoji="1" lang="zh-CN" altLang="zh-CN" sz="2400" dirty="0" smtClean="0">
                <a:latin typeface="Times New Roman" panose="02020603050405020304" pitchFamily="18" charset="0"/>
                <a:ea typeface="华文楷体" panose="02010600040101010101" pitchFamily="2" charset="-122"/>
              </a:rPr>
              <a:t>行或</a:t>
            </a:r>
            <a:r>
              <a:rPr kumimoji="1" lang="en-US" altLang="zh-CN" sz="2400" dirty="0" err="1" smtClean="0">
                <a:latin typeface="Times New Roman" panose="02020603050405020304" pitchFamily="18" charset="0"/>
                <a:ea typeface="华文楷体" panose="02010600040101010101" pitchFamily="2" charset="-122"/>
              </a:rPr>
              <a:t>i</a:t>
            </a:r>
            <a:r>
              <a:rPr kumimoji="1" lang="zh-CN" altLang="zh-CN" sz="2400" dirty="0" smtClean="0">
                <a:latin typeface="Times New Roman" panose="02020603050405020304" pitchFamily="18" charset="0"/>
                <a:ea typeface="华文楷体" panose="02010600040101010101" pitchFamily="2" charset="-122"/>
              </a:rPr>
              <a:t>列之和</a:t>
            </a:r>
            <a:r>
              <a:rPr kumimoji="1" lang="zh-CN" altLang="en-US" sz="2400" dirty="0" smtClean="0">
                <a:latin typeface="Times New Roman" panose="02020603050405020304" pitchFamily="18" charset="0"/>
                <a:ea typeface="华文楷体" panose="02010600040101010101" pitchFamily="2" charset="-122"/>
              </a:rPr>
              <a:t>；对有向图</a:t>
            </a:r>
            <a:r>
              <a:rPr kumimoji="1" lang="en-US" altLang="zh-CN" sz="2400" dirty="0" err="1" smtClean="0">
                <a:latin typeface="Times New Roman" panose="02020603050405020304" pitchFamily="18" charset="0"/>
                <a:ea typeface="华文楷体" panose="02010600040101010101" pitchFamily="2" charset="-122"/>
              </a:rPr>
              <a:t>i</a:t>
            </a:r>
            <a:r>
              <a:rPr kumimoji="1" lang="zh-CN" altLang="zh-CN" sz="2400" dirty="0" smtClean="0">
                <a:latin typeface="Times New Roman" panose="02020603050405020304" pitchFamily="18" charset="0"/>
                <a:ea typeface="华文楷体" panose="02010600040101010101" pitchFamily="2" charset="-122"/>
              </a:rPr>
              <a:t>行</a:t>
            </a:r>
            <a:r>
              <a:rPr kumimoji="1" lang="zh-CN" altLang="en-US" sz="2400" dirty="0" smtClean="0">
                <a:latin typeface="Times New Roman" panose="02020603050405020304" pitchFamily="18" charset="0"/>
                <a:ea typeface="华文楷体" panose="02010600040101010101" pitchFamily="2" charset="-122"/>
              </a:rPr>
              <a:t>之和为出度，</a:t>
            </a:r>
            <a:r>
              <a:rPr kumimoji="1" lang="en-US" altLang="zh-CN" sz="2400" dirty="0" err="1" smtClean="0">
                <a:latin typeface="Times New Roman" panose="02020603050405020304" pitchFamily="18" charset="0"/>
                <a:ea typeface="华文楷体" panose="02010600040101010101" pitchFamily="2" charset="-122"/>
              </a:rPr>
              <a:t>i</a:t>
            </a:r>
            <a:r>
              <a:rPr kumimoji="1" lang="zh-CN" altLang="zh-CN" sz="2400" dirty="0" smtClean="0">
                <a:latin typeface="Times New Roman" panose="02020603050405020304" pitchFamily="18" charset="0"/>
                <a:ea typeface="华文楷体" panose="02010600040101010101" pitchFamily="2" charset="-122"/>
              </a:rPr>
              <a:t>列之和</a:t>
            </a:r>
            <a:r>
              <a:rPr kumimoji="1" lang="zh-CN" altLang="en-US" sz="2400" dirty="0" smtClean="0">
                <a:latin typeface="Times New Roman" panose="02020603050405020304" pitchFamily="18" charset="0"/>
                <a:ea typeface="华文楷体" panose="02010600040101010101" pitchFamily="2" charset="-122"/>
              </a:rPr>
              <a:t>为入度</a:t>
            </a:r>
            <a:r>
              <a:rPr kumimoji="1" lang="zh-CN" altLang="zh-CN" sz="2400" dirty="0" smtClean="0">
                <a:latin typeface="Times New Roman" panose="02020603050405020304" pitchFamily="18" charset="0"/>
                <a:ea typeface="华文楷体" panose="02010600040101010101" pitchFamily="2" charset="-122"/>
              </a:rPr>
              <a:t>。</a:t>
            </a:r>
            <a:endParaRPr kumimoji="1" lang="zh-CN" altLang="en-US" sz="24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2400" b="1" dirty="0" smtClean="0">
                <a:solidFill>
                  <a:schemeClr val="accent2"/>
                </a:solidFill>
                <a:latin typeface="Times New Roman" panose="02020603050405020304" pitchFamily="18" charset="0"/>
                <a:ea typeface="华文楷体" panose="02010600040101010101" pitchFamily="2" charset="-122"/>
              </a:rPr>
              <a:t>对无向图必然</a:t>
            </a:r>
            <a:r>
              <a:rPr kumimoji="1" lang="zh-CN" altLang="en-US" sz="2400" b="1" dirty="0">
                <a:solidFill>
                  <a:schemeClr val="accent2"/>
                </a:solidFill>
                <a:latin typeface="Times New Roman" panose="02020603050405020304" pitchFamily="18" charset="0"/>
                <a:ea typeface="华文楷体" panose="02010600040101010101" pitchFamily="2" charset="-122"/>
              </a:rPr>
              <a:t>为对称矩阵，可压缩为</a:t>
            </a:r>
            <a:r>
              <a:rPr kumimoji="1" lang="zh-CN" altLang="zh-CN" sz="2400" b="1" dirty="0">
                <a:solidFill>
                  <a:schemeClr val="accent2"/>
                </a:solidFill>
                <a:latin typeface="Times New Roman" panose="02020603050405020304" pitchFamily="18" charset="0"/>
                <a:ea typeface="华文楷体" panose="02010600040101010101" pitchFamily="2" charset="-122"/>
              </a:rPr>
              <a:t>上三角矩阵或下三角矩阵。</a:t>
            </a:r>
            <a:endParaRPr kumimoji="1" lang="zh-CN" altLang="en-US" sz="24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3"/>
          <p:cNvSpPr>
            <a:spLocks noGrp="1"/>
          </p:cNvSpPr>
          <p:nvPr>
            <p:ph type="ftr" sz="quarter" idx="10"/>
          </p:nvPr>
        </p:nvSpPr>
        <p:spPr/>
        <p:txBody>
          <a:bodyPr/>
          <a:lstStyle/>
          <a:p>
            <a:pPr>
              <a:defRPr/>
            </a:pPr>
            <a:r>
              <a:rPr lang="en-US" altLang="zh-CN"/>
              <a:t>BUPT SCST</a:t>
            </a:r>
            <a:endParaRPr lang="en-US" altLang="zh-CN"/>
          </a:p>
        </p:txBody>
      </p:sp>
      <p:sp>
        <p:nvSpPr>
          <p:cNvPr id="30" name="日期占位符 5"/>
          <p:cNvSpPr>
            <a:spLocks noGrp="1"/>
          </p:cNvSpPr>
          <p:nvPr>
            <p:ph type="dt" sz="quarter" idx="12"/>
          </p:nvPr>
        </p:nvSpPr>
        <p:spPr/>
        <p:txBody>
          <a:bodyPr/>
          <a:lstStyle/>
          <a:p>
            <a:pPr>
              <a:defRPr/>
            </a:pPr>
            <a:r>
              <a:rPr lang="en-US" altLang="zh-CN"/>
              <a:t>BUPT</a:t>
            </a:r>
            <a:endParaRPr lang="en-US" altLang="zh-CN"/>
          </a:p>
        </p:txBody>
      </p:sp>
      <p:sp>
        <p:nvSpPr>
          <p:cNvPr id="1434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4342" name="AutoShape 5"/>
          <p:cNvSpPr>
            <a:spLocks noChangeArrowheads="1"/>
          </p:cNvSpPr>
          <p:nvPr/>
        </p:nvSpPr>
        <p:spPr bwMode="auto">
          <a:xfrm>
            <a:off x="3124200" y="4521200"/>
            <a:ext cx="1828800" cy="533400"/>
          </a:xfrm>
          <a:prstGeom prst="rightArrow">
            <a:avLst>
              <a:gd name="adj1" fmla="val 50000"/>
              <a:gd name="adj2" fmla="val 85714"/>
            </a:avLst>
          </a:prstGeom>
          <a:solidFill>
            <a:schemeClr val="accent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4343" name="Text Box 6"/>
          <p:cNvSpPr txBox="1">
            <a:spLocks noChangeArrowheads="1"/>
          </p:cNvSpPr>
          <p:nvPr/>
        </p:nvSpPr>
        <p:spPr bwMode="auto">
          <a:xfrm>
            <a:off x="3124200" y="4597400"/>
            <a:ext cx="15240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表示成右图矩阵</a:t>
            </a:r>
            <a:endParaRPr kumimoji="1" lang="zh-CN" altLang="en-US" sz="1600" b="1" dirty="0">
              <a:latin typeface="Times New Roman" panose="02020603050405020304" pitchFamily="18" charset="0"/>
              <a:ea typeface="华文楷体" panose="02010600040101010101" pitchFamily="2" charset="-122"/>
            </a:endParaRPr>
          </a:p>
        </p:txBody>
      </p:sp>
      <p:sp>
        <p:nvSpPr>
          <p:cNvPr id="14344" name="AutoShape 7"/>
          <p:cNvSpPr>
            <a:spLocks noChangeArrowheads="1"/>
          </p:cNvSpPr>
          <p:nvPr/>
        </p:nvSpPr>
        <p:spPr bwMode="auto">
          <a:xfrm>
            <a:off x="5410200" y="3530600"/>
            <a:ext cx="1828800" cy="1676400"/>
          </a:xfrm>
          <a:prstGeom prst="bracketPair">
            <a:avLst>
              <a:gd name="adj" fmla="val 16667"/>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4345" name="AutoShape 8"/>
          <p:cNvSpPr/>
          <p:nvPr/>
        </p:nvSpPr>
        <p:spPr bwMode="auto">
          <a:xfrm>
            <a:off x="5257800" y="4064000"/>
            <a:ext cx="152400" cy="1752600"/>
          </a:xfrm>
          <a:prstGeom prst="leftBracket">
            <a:avLst>
              <a:gd name="adj" fmla="val 958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4346" name="AutoShape 9"/>
          <p:cNvSpPr/>
          <p:nvPr/>
        </p:nvSpPr>
        <p:spPr bwMode="auto">
          <a:xfrm>
            <a:off x="7391400" y="4064000"/>
            <a:ext cx="152400" cy="1752600"/>
          </a:xfrm>
          <a:prstGeom prst="rightBracket">
            <a:avLst>
              <a:gd name="adj" fmla="val 958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4347" name="Text Box 10"/>
          <p:cNvSpPr txBox="1">
            <a:spLocks noChangeArrowheads="1"/>
          </p:cNvSpPr>
          <p:nvPr/>
        </p:nvSpPr>
        <p:spPr bwMode="auto">
          <a:xfrm>
            <a:off x="5562600" y="4064000"/>
            <a:ext cx="1828800" cy="1803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a:t>
            </a:r>
            <a:r>
              <a:rPr kumimoji="1" lang="en-US" altLang="zh-CN" sz="1600" b="1" dirty="0">
                <a:solidFill>
                  <a:schemeClr val="folHlink"/>
                </a:solidFill>
                <a:latin typeface="Times New Roman" panose="02020603050405020304" pitchFamily="18" charset="0"/>
                <a:ea typeface="华文楷体" panose="02010600040101010101" pitchFamily="2" charset="-122"/>
              </a:rPr>
              <a:t>1    1     0    0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1 </a:t>
            </a:r>
            <a:r>
              <a:rPr kumimoji="1" lang="en-US" altLang="zh-CN" sz="1600" b="1" dirty="0">
                <a:latin typeface="Times New Roman" panose="02020603050405020304" pitchFamily="18" charset="0"/>
                <a:ea typeface="华文楷体" panose="02010600040101010101" pitchFamily="2" charset="-122"/>
              </a:rPr>
              <a:t>   0    </a:t>
            </a:r>
            <a:r>
              <a:rPr kumimoji="1" lang="en-US" altLang="zh-CN" sz="1600" b="1" dirty="0">
                <a:solidFill>
                  <a:schemeClr val="folHlink"/>
                </a:solidFill>
                <a:latin typeface="Times New Roman" panose="02020603050405020304" pitchFamily="18" charset="0"/>
                <a:ea typeface="华文楷体" panose="02010600040101010101" pitchFamily="2" charset="-122"/>
              </a:rPr>
              <a:t>0     1    1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1    0</a:t>
            </a:r>
            <a:r>
              <a:rPr kumimoji="1" lang="en-US" altLang="zh-CN" sz="1600" b="1" dirty="0">
                <a:latin typeface="Times New Roman" panose="02020603050405020304" pitchFamily="18" charset="0"/>
                <a:ea typeface="华文楷体" panose="02010600040101010101" pitchFamily="2" charset="-122"/>
              </a:rPr>
              <a:t>    0    </a:t>
            </a:r>
            <a:r>
              <a:rPr kumimoji="1" lang="en-US" altLang="zh-CN" sz="1600" b="1" dirty="0">
                <a:solidFill>
                  <a:schemeClr val="folHlink"/>
                </a:solidFill>
                <a:latin typeface="Times New Roman" panose="02020603050405020304" pitchFamily="18" charset="0"/>
                <a:ea typeface="华文楷体" panose="02010600040101010101" pitchFamily="2" charset="-122"/>
              </a:rPr>
              <a:t>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0    1    0</a:t>
            </a:r>
            <a:r>
              <a:rPr kumimoji="1" lang="en-US" altLang="zh-CN" sz="1600" b="1" dirty="0">
                <a:latin typeface="Times New Roman" panose="02020603050405020304" pitchFamily="18" charset="0"/>
                <a:ea typeface="华文楷体" panose="02010600040101010101" pitchFamily="2" charset="-122"/>
              </a:rPr>
              <a:t>    0    </a:t>
            </a:r>
            <a:r>
              <a:rPr kumimoji="1" lang="en-US" altLang="zh-CN" sz="1600" b="1" dirty="0">
                <a:solidFill>
                  <a:schemeClr val="folHlink"/>
                </a:solidFill>
                <a:latin typeface="Times New Roman" panose="02020603050405020304" pitchFamily="18" charset="0"/>
                <a:ea typeface="华文楷体" panose="02010600040101010101" pitchFamily="2" charset="-122"/>
              </a:rPr>
              <a:t>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0    1    1    1</a:t>
            </a:r>
            <a:r>
              <a:rPr kumimoji="1" lang="en-US" altLang="zh-CN" sz="1600" b="1" dirty="0">
                <a:latin typeface="Times New Roman" panose="02020603050405020304" pitchFamily="18" charset="0"/>
                <a:ea typeface="华文楷体" panose="02010600040101010101" pitchFamily="2" charset="-122"/>
              </a:rPr>
              <a:t>     0</a:t>
            </a:r>
            <a:endParaRPr kumimoji="1" lang="en-US" altLang="zh-CN" sz="1600" b="1" dirty="0">
              <a:latin typeface="Times New Roman" panose="02020603050405020304" pitchFamily="18" charset="0"/>
              <a:ea typeface="华文楷体" panose="02010600040101010101" pitchFamily="2" charset="-122"/>
            </a:endParaRPr>
          </a:p>
        </p:txBody>
      </p:sp>
      <p:sp>
        <p:nvSpPr>
          <p:cNvPr id="14348" name="Oval 11"/>
          <p:cNvSpPr>
            <a:spLocks noChangeArrowheads="1"/>
          </p:cNvSpPr>
          <p:nvPr/>
        </p:nvSpPr>
        <p:spPr bwMode="auto">
          <a:xfrm>
            <a:off x="914400" y="391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4349" name="Oval 12"/>
          <p:cNvSpPr>
            <a:spLocks noChangeArrowheads="1"/>
          </p:cNvSpPr>
          <p:nvPr/>
        </p:nvSpPr>
        <p:spPr bwMode="auto">
          <a:xfrm>
            <a:off x="2438400" y="391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4350" name="Line 13"/>
          <p:cNvSpPr>
            <a:spLocks noChangeShapeType="1"/>
          </p:cNvSpPr>
          <p:nvPr/>
        </p:nvSpPr>
        <p:spPr bwMode="auto">
          <a:xfrm>
            <a:off x="1371600" y="4064000"/>
            <a:ext cx="10668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51" name="Oval 14"/>
          <p:cNvSpPr>
            <a:spLocks noChangeArrowheads="1"/>
          </p:cNvSpPr>
          <p:nvPr/>
        </p:nvSpPr>
        <p:spPr bwMode="auto">
          <a:xfrm>
            <a:off x="914400" y="543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4352" name="Oval 15"/>
          <p:cNvSpPr>
            <a:spLocks noChangeArrowheads="1"/>
          </p:cNvSpPr>
          <p:nvPr/>
        </p:nvSpPr>
        <p:spPr bwMode="auto">
          <a:xfrm>
            <a:off x="2438400" y="543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4353" name="Line 16"/>
          <p:cNvSpPr>
            <a:spLocks noChangeShapeType="1"/>
          </p:cNvSpPr>
          <p:nvPr/>
        </p:nvSpPr>
        <p:spPr bwMode="auto">
          <a:xfrm flipV="1">
            <a:off x="1981200" y="4216400"/>
            <a:ext cx="533400" cy="6096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54" name="Line 17"/>
          <p:cNvSpPr>
            <a:spLocks noChangeShapeType="1"/>
          </p:cNvSpPr>
          <p:nvPr/>
        </p:nvSpPr>
        <p:spPr bwMode="auto">
          <a:xfrm flipH="1">
            <a:off x="1143000" y="42926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55" name="Line 18"/>
          <p:cNvSpPr>
            <a:spLocks noChangeShapeType="1"/>
          </p:cNvSpPr>
          <p:nvPr/>
        </p:nvSpPr>
        <p:spPr bwMode="auto">
          <a:xfrm flipH="1">
            <a:off x="2667000" y="42926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56" name="Oval 19"/>
          <p:cNvSpPr>
            <a:spLocks noChangeArrowheads="1"/>
          </p:cNvSpPr>
          <p:nvPr/>
        </p:nvSpPr>
        <p:spPr bwMode="auto">
          <a:xfrm>
            <a:off x="1676400" y="467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14357" name="Line 20"/>
          <p:cNvSpPr>
            <a:spLocks noChangeShapeType="1"/>
          </p:cNvSpPr>
          <p:nvPr/>
        </p:nvSpPr>
        <p:spPr bwMode="auto">
          <a:xfrm flipV="1">
            <a:off x="1295400" y="4978400"/>
            <a:ext cx="4572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58" name="Line 21"/>
          <p:cNvSpPr>
            <a:spLocks noChangeShapeType="1"/>
          </p:cNvSpPr>
          <p:nvPr/>
        </p:nvSpPr>
        <p:spPr bwMode="auto">
          <a:xfrm flipH="1" flipV="1">
            <a:off x="2057400" y="5054600"/>
            <a:ext cx="45720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8" name="Text Box 22"/>
          <p:cNvSpPr txBox="1">
            <a:spLocks noChangeArrowheads="1"/>
          </p:cNvSpPr>
          <p:nvPr/>
        </p:nvSpPr>
        <p:spPr bwMode="auto">
          <a:xfrm>
            <a:off x="304800" y="6054406"/>
            <a:ext cx="853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a:t>
            </a: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个顶点的连通图用邻接矩阵表示时</a:t>
            </a:r>
            <a:r>
              <a:rPr lang="en-US" altLang="zh-CN" sz="1800" b="1" dirty="0">
                <a:solidFill>
                  <a:schemeClr val="accent2"/>
                </a:solidFill>
                <a:latin typeface="Times New Roman" panose="02020603050405020304" pitchFamily="18" charset="0"/>
                <a:ea typeface="华文楷体" panose="02010600040101010101" pitchFamily="2" charset="-122"/>
              </a:rPr>
              <a:t>,</a:t>
            </a:r>
            <a:r>
              <a:rPr lang="zh-CN" altLang="en-US" sz="1800" b="1" dirty="0">
                <a:solidFill>
                  <a:schemeClr val="accent2"/>
                </a:solidFill>
                <a:latin typeface="Times New Roman" panose="02020603050405020304" pitchFamily="18" charset="0"/>
                <a:ea typeface="华文楷体" panose="02010600040101010101" pitchFamily="2" charset="-122"/>
              </a:rPr>
              <a:t>该矩阵至少有</a:t>
            </a:r>
            <a:r>
              <a:rPr lang="en-US" altLang="zh-CN" sz="1800" b="1" u="sng" dirty="0">
                <a:solidFill>
                  <a:schemeClr val="accent2"/>
                </a:solidFill>
                <a:latin typeface="Times New Roman" panose="02020603050405020304" pitchFamily="18" charset="0"/>
                <a:ea typeface="华文楷体" panose="02010600040101010101" pitchFamily="2" charset="-122"/>
              </a:rPr>
              <a:t>_______</a:t>
            </a:r>
            <a:r>
              <a:rPr lang="zh-CN" altLang="en-US" sz="1800" b="1" dirty="0">
                <a:solidFill>
                  <a:schemeClr val="accent2"/>
                </a:solidFill>
                <a:latin typeface="Times New Roman" panose="02020603050405020304" pitchFamily="18" charset="0"/>
                <a:ea typeface="华文楷体" panose="02010600040101010101" pitchFamily="2" charset="-122"/>
              </a:rPr>
              <a:t>个非零元素。</a:t>
            </a:r>
            <a:endParaRPr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n</a:t>
            </a:r>
            <a:r>
              <a:rPr lang="zh-CN" altLang="en-US" sz="1800" b="1" dirty="0">
                <a:solidFill>
                  <a:schemeClr val="accent2"/>
                </a:solidFill>
                <a:latin typeface="Times New Roman" panose="02020603050405020304" pitchFamily="18" charset="0"/>
                <a:ea typeface="华文楷体" panose="02010600040101010101" pitchFamily="2" charset="-122"/>
              </a:rPr>
              <a:t>个顶点的强连通图用邻接矩阵表示时</a:t>
            </a:r>
            <a:r>
              <a:rPr lang="en-US" altLang="zh-CN" sz="1800" b="1" dirty="0">
                <a:solidFill>
                  <a:schemeClr val="accent2"/>
                </a:solidFill>
                <a:latin typeface="Times New Roman" panose="02020603050405020304" pitchFamily="18" charset="0"/>
                <a:ea typeface="华文楷体" panose="02010600040101010101" pitchFamily="2" charset="-122"/>
              </a:rPr>
              <a:t>,</a:t>
            </a:r>
            <a:r>
              <a:rPr lang="zh-CN" altLang="en-US" sz="1800" b="1" dirty="0">
                <a:solidFill>
                  <a:schemeClr val="accent2"/>
                </a:solidFill>
                <a:latin typeface="Times New Roman" panose="02020603050405020304" pitchFamily="18" charset="0"/>
                <a:ea typeface="华文楷体" panose="02010600040101010101" pitchFamily="2" charset="-122"/>
              </a:rPr>
              <a:t>该矩阵至少有</a:t>
            </a:r>
            <a:r>
              <a:rPr lang="en-US" altLang="zh-CN" sz="1800" b="1" u="sng" dirty="0">
                <a:solidFill>
                  <a:schemeClr val="accent2"/>
                </a:solidFill>
                <a:latin typeface="Times New Roman" panose="02020603050405020304" pitchFamily="18" charset="0"/>
                <a:ea typeface="华文楷体" panose="02010600040101010101" pitchFamily="2" charset="-122"/>
              </a:rPr>
              <a:t>_______</a:t>
            </a:r>
            <a:r>
              <a:rPr lang="zh-CN" altLang="en-US" sz="1800" b="1" dirty="0">
                <a:solidFill>
                  <a:schemeClr val="accent2"/>
                </a:solidFill>
                <a:latin typeface="Times New Roman" panose="02020603050405020304" pitchFamily="18" charset="0"/>
                <a:ea typeface="华文楷体" panose="02010600040101010101" pitchFamily="2" charset="-122"/>
              </a:rPr>
              <a:t>个非零元素。</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
        <p:nvSpPr>
          <p:cNvPr id="19479" name="Text Box 23"/>
          <p:cNvSpPr txBox="1">
            <a:spLocks noChangeArrowheads="1"/>
          </p:cNvSpPr>
          <p:nvPr/>
        </p:nvSpPr>
        <p:spPr bwMode="auto">
          <a:xfrm>
            <a:off x="6248400" y="5980113"/>
            <a:ext cx="7745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2(n-1)</a:t>
            </a:r>
            <a:endParaRPr lang="en-US" altLang="zh-CN" sz="1800" b="1" dirty="0">
              <a:latin typeface="Times New Roman" panose="02020603050405020304" pitchFamily="18" charset="0"/>
              <a:ea typeface="华文楷体" panose="02010600040101010101" pitchFamily="2" charset="-122"/>
            </a:endParaRPr>
          </a:p>
        </p:txBody>
      </p:sp>
      <p:sp>
        <p:nvSpPr>
          <p:cNvPr id="19480" name="Text Box 24"/>
          <p:cNvSpPr txBox="1">
            <a:spLocks noChangeArrowheads="1"/>
          </p:cNvSpPr>
          <p:nvPr/>
        </p:nvSpPr>
        <p:spPr bwMode="auto">
          <a:xfrm>
            <a:off x="6019800" y="6324600"/>
            <a:ext cx="323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n</a:t>
            </a:r>
            <a:endParaRPr lang="en-US" altLang="zh-CN" sz="1800" b="1" dirty="0">
              <a:latin typeface="Times New Roman" panose="02020603050405020304" pitchFamily="18" charset="0"/>
              <a:ea typeface="华文楷体" panose="02010600040101010101" pitchFamily="2" charset="-122"/>
            </a:endParaRPr>
          </a:p>
        </p:txBody>
      </p:sp>
      <p:sp>
        <p:nvSpPr>
          <p:cNvPr id="14362" name="Text Box 25"/>
          <p:cNvSpPr txBox="1">
            <a:spLocks noChangeArrowheads="1"/>
          </p:cNvSpPr>
          <p:nvPr/>
        </p:nvSpPr>
        <p:spPr bwMode="auto">
          <a:xfrm>
            <a:off x="762000" y="42052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endParaRPr lang="en-US" altLang="zh-CN" sz="1800" dirty="0">
              <a:latin typeface="Times New Roman" panose="02020603050405020304" pitchFamily="18" charset="0"/>
              <a:ea typeface="华文楷体" panose="02010600040101010101" pitchFamily="2" charset="-122"/>
            </a:endParaRPr>
          </a:p>
        </p:txBody>
      </p:sp>
      <p:sp>
        <p:nvSpPr>
          <p:cNvPr id="14363" name="Text Box 26"/>
          <p:cNvSpPr txBox="1">
            <a:spLocks noChangeArrowheads="1"/>
          </p:cNvSpPr>
          <p:nvPr/>
        </p:nvSpPr>
        <p:spPr bwMode="auto">
          <a:xfrm>
            <a:off x="746125" y="52943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a:t>
            </a:r>
            <a:endParaRPr lang="en-US" altLang="zh-CN" sz="1800" dirty="0">
              <a:latin typeface="Times New Roman" panose="02020603050405020304" pitchFamily="18" charset="0"/>
              <a:ea typeface="华文楷体" panose="02010600040101010101" pitchFamily="2" charset="-122"/>
            </a:endParaRPr>
          </a:p>
        </p:txBody>
      </p:sp>
      <p:sp>
        <p:nvSpPr>
          <p:cNvPr id="14364" name="Text Box 27"/>
          <p:cNvSpPr txBox="1">
            <a:spLocks noChangeArrowheads="1"/>
          </p:cNvSpPr>
          <p:nvPr/>
        </p:nvSpPr>
        <p:spPr bwMode="auto">
          <a:xfrm>
            <a:off x="2803525" y="39989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a:t>
            </a:r>
            <a:endParaRPr lang="en-US" altLang="zh-CN" sz="1800" dirty="0">
              <a:latin typeface="Times New Roman" panose="02020603050405020304" pitchFamily="18" charset="0"/>
              <a:ea typeface="华文楷体" panose="02010600040101010101" pitchFamily="2" charset="-122"/>
            </a:endParaRPr>
          </a:p>
        </p:txBody>
      </p:sp>
      <p:sp>
        <p:nvSpPr>
          <p:cNvPr id="14365" name="Text Box 28"/>
          <p:cNvSpPr txBox="1">
            <a:spLocks noChangeArrowheads="1"/>
          </p:cNvSpPr>
          <p:nvPr/>
        </p:nvSpPr>
        <p:spPr bwMode="auto">
          <a:xfrm>
            <a:off x="2879725" y="53705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a:t>
            </a:r>
            <a:endParaRPr lang="en-US" altLang="zh-CN" sz="1800" dirty="0">
              <a:latin typeface="Times New Roman" panose="02020603050405020304" pitchFamily="18" charset="0"/>
              <a:ea typeface="华文楷体" panose="02010600040101010101" pitchFamily="2" charset="-122"/>
            </a:endParaRPr>
          </a:p>
        </p:txBody>
      </p:sp>
      <p:sp>
        <p:nvSpPr>
          <p:cNvPr id="14366" name="Text Box 29"/>
          <p:cNvSpPr txBox="1">
            <a:spLocks noChangeArrowheads="1"/>
          </p:cNvSpPr>
          <p:nvPr/>
        </p:nvSpPr>
        <p:spPr bwMode="auto">
          <a:xfrm>
            <a:off x="1660525" y="50657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a:t>
            </a:r>
            <a:endParaRPr lang="en-US" altLang="zh-CN" sz="1800" dirty="0">
              <a:latin typeface="Times New Roman" panose="02020603050405020304" pitchFamily="18" charset="0"/>
              <a:ea typeface="华文楷体" panose="02010600040101010101" pitchFamily="2" charset="-122"/>
            </a:endParaRPr>
          </a:p>
        </p:txBody>
      </p:sp>
      <p:sp>
        <p:nvSpPr>
          <p:cNvPr id="31" name="Oval 5"/>
          <p:cNvSpPr>
            <a:spLocks noChangeArrowheads="1"/>
          </p:cNvSpPr>
          <p:nvPr/>
        </p:nvSpPr>
        <p:spPr bwMode="auto">
          <a:xfrm>
            <a:off x="457200" y="1748177"/>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2" name="Oval 6"/>
          <p:cNvSpPr>
            <a:spLocks noChangeArrowheads="1"/>
          </p:cNvSpPr>
          <p:nvPr/>
        </p:nvSpPr>
        <p:spPr bwMode="auto">
          <a:xfrm>
            <a:off x="1981200" y="1748177"/>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3" name="Line 7"/>
          <p:cNvSpPr>
            <a:spLocks noChangeShapeType="1"/>
          </p:cNvSpPr>
          <p:nvPr/>
        </p:nvSpPr>
        <p:spPr bwMode="auto">
          <a:xfrm>
            <a:off x="914400" y="1900577"/>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 name="Oval 8"/>
          <p:cNvSpPr>
            <a:spLocks noChangeArrowheads="1"/>
          </p:cNvSpPr>
          <p:nvPr/>
        </p:nvSpPr>
        <p:spPr bwMode="auto">
          <a:xfrm>
            <a:off x="457200" y="3272177"/>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5" name="Oval 9"/>
          <p:cNvSpPr>
            <a:spLocks noChangeArrowheads="1"/>
          </p:cNvSpPr>
          <p:nvPr/>
        </p:nvSpPr>
        <p:spPr bwMode="auto">
          <a:xfrm>
            <a:off x="1981200" y="3272177"/>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6" name="Line 10"/>
          <p:cNvSpPr>
            <a:spLocks noChangeShapeType="1"/>
          </p:cNvSpPr>
          <p:nvPr/>
        </p:nvSpPr>
        <p:spPr bwMode="auto">
          <a:xfrm>
            <a:off x="914400" y="3424577"/>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7" name="Line 11"/>
          <p:cNvSpPr>
            <a:spLocks noChangeShapeType="1"/>
          </p:cNvSpPr>
          <p:nvPr/>
        </p:nvSpPr>
        <p:spPr bwMode="auto">
          <a:xfrm flipH="1">
            <a:off x="685800" y="2129177"/>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 name="Line 12"/>
          <p:cNvSpPr>
            <a:spLocks noChangeShapeType="1"/>
          </p:cNvSpPr>
          <p:nvPr/>
        </p:nvSpPr>
        <p:spPr bwMode="auto">
          <a:xfrm flipH="1" flipV="1">
            <a:off x="838200" y="2052977"/>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 name="AutoShape 13"/>
          <p:cNvSpPr>
            <a:spLocks noChangeArrowheads="1"/>
          </p:cNvSpPr>
          <p:nvPr/>
        </p:nvSpPr>
        <p:spPr bwMode="auto">
          <a:xfrm>
            <a:off x="2819400" y="2357777"/>
            <a:ext cx="1828800" cy="533400"/>
          </a:xfrm>
          <a:prstGeom prst="rightArrow">
            <a:avLst>
              <a:gd name="adj1" fmla="val 50000"/>
              <a:gd name="adj2" fmla="val 85714"/>
            </a:avLst>
          </a:prstGeom>
          <a:solidFill>
            <a:schemeClr val="accent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 name="Text Box 14"/>
          <p:cNvSpPr txBox="1">
            <a:spLocks noChangeArrowheads="1"/>
          </p:cNvSpPr>
          <p:nvPr/>
        </p:nvSpPr>
        <p:spPr bwMode="auto">
          <a:xfrm>
            <a:off x="2819400" y="2433977"/>
            <a:ext cx="15240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表示成右图矩阵</a:t>
            </a:r>
            <a:endParaRPr kumimoji="1" lang="zh-CN" altLang="en-US" sz="1600" b="1" dirty="0">
              <a:latin typeface="Times New Roman" panose="02020603050405020304" pitchFamily="18" charset="0"/>
              <a:ea typeface="华文楷体" panose="02010600040101010101" pitchFamily="2" charset="-122"/>
            </a:endParaRPr>
          </a:p>
        </p:txBody>
      </p:sp>
      <p:sp>
        <p:nvSpPr>
          <p:cNvPr id="41" name="AutoShape 15"/>
          <p:cNvSpPr/>
          <p:nvPr/>
        </p:nvSpPr>
        <p:spPr bwMode="auto">
          <a:xfrm>
            <a:off x="5334000" y="1671977"/>
            <a:ext cx="76200" cy="1828800"/>
          </a:xfrm>
          <a:prstGeom prst="leftBracket">
            <a:avLst>
              <a:gd name="adj" fmla="val 200000"/>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42" name="AutoShape 16"/>
          <p:cNvSpPr>
            <a:spLocks noChangeArrowheads="1"/>
          </p:cNvSpPr>
          <p:nvPr/>
        </p:nvSpPr>
        <p:spPr bwMode="auto">
          <a:xfrm>
            <a:off x="4953000" y="1824377"/>
            <a:ext cx="1828800" cy="1676400"/>
          </a:xfrm>
          <a:prstGeom prst="bracketPair">
            <a:avLst>
              <a:gd name="adj" fmla="val 16667"/>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 name="AutoShape 17"/>
          <p:cNvSpPr/>
          <p:nvPr/>
        </p:nvSpPr>
        <p:spPr bwMode="auto">
          <a:xfrm>
            <a:off x="4953000" y="1900577"/>
            <a:ext cx="152400" cy="1524000"/>
          </a:xfrm>
          <a:prstGeom prst="leftBracket">
            <a:avLst>
              <a:gd name="adj" fmla="val 833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 name="AutoShape 18"/>
          <p:cNvSpPr/>
          <p:nvPr/>
        </p:nvSpPr>
        <p:spPr bwMode="auto">
          <a:xfrm>
            <a:off x="6705600" y="1900577"/>
            <a:ext cx="152400" cy="1524000"/>
          </a:xfrm>
          <a:prstGeom prst="rightBracket">
            <a:avLst>
              <a:gd name="adj" fmla="val 833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5" name="Text Box 19"/>
          <p:cNvSpPr txBox="1">
            <a:spLocks noChangeArrowheads="1"/>
          </p:cNvSpPr>
          <p:nvPr/>
        </p:nvSpPr>
        <p:spPr bwMode="auto">
          <a:xfrm>
            <a:off x="5257800" y="1976777"/>
            <a:ext cx="1600200" cy="143668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0    1    1     0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1    0    0     0</a:t>
            </a:r>
            <a:endParaRPr kumimoji="1" lang="en-US" altLang="zh-CN" sz="1600" b="1" dirty="0">
              <a:latin typeface="Times New Roman" panose="02020603050405020304" pitchFamily="18" charset="0"/>
              <a:ea typeface="华文楷体" panose="02010600040101010101" pitchFamily="2" charset="-122"/>
            </a:endParaRPr>
          </a:p>
        </p:txBody>
      </p:sp>
      <p:sp>
        <p:nvSpPr>
          <p:cNvPr id="46" name="Rectangle 28"/>
          <p:cNvSpPr>
            <a:spLocks noChangeArrowheads="1"/>
          </p:cNvSpPr>
          <p:nvPr/>
        </p:nvSpPr>
        <p:spPr bwMode="auto">
          <a:xfrm>
            <a:off x="7543800" y="1443377"/>
            <a:ext cx="609600" cy="21336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 name="Line 29"/>
          <p:cNvSpPr>
            <a:spLocks noChangeShapeType="1"/>
          </p:cNvSpPr>
          <p:nvPr/>
        </p:nvSpPr>
        <p:spPr bwMode="auto">
          <a:xfrm>
            <a:off x="7543800" y="2510177"/>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8" name="Line 30"/>
          <p:cNvSpPr>
            <a:spLocks noChangeShapeType="1"/>
          </p:cNvSpPr>
          <p:nvPr/>
        </p:nvSpPr>
        <p:spPr bwMode="auto">
          <a:xfrm>
            <a:off x="7543800" y="1976777"/>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 name="Line 31"/>
          <p:cNvSpPr>
            <a:spLocks noChangeShapeType="1"/>
          </p:cNvSpPr>
          <p:nvPr/>
        </p:nvSpPr>
        <p:spPr bwMode="auto">
          <a:xfrm>
            <a:off x="7543800" y="3043577"/>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0" name="Text Box 32"/>
          <p:cNvSpPr txBox="1">
            <a:spLocks noChangeArrowheads="1"/>
          </p:cNvSpPr>
          <p:nvPr/>
        </p:nvSpPr>
        <p:spPr bwMode="auto">
          <a:xfrm>
            <a:off x="7680325" y="1479890"/>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A</a:t>
            </a:r>
            <a:endParaRPr lang="en-US" altLang="zh-CN" sz="1800" dirty="0">
              <a:latin typeface="Times New Roman" panose="02020603050405020304" pitchFamily="18" charset="0"/>
              <a:ea typeface="华文楷体" panose="02010600040101010101" pitchFamily="2" charset="-122"/>
            </a:endParaRPr>
          </a:p>
        </p:txBody>
      </p:sp>
      <p:sp>
        <p:nvSpPr>
          <p:cNvPr id="51" name="Text Box 33"/>
          <p:cNvSpPr txBox="1">
            <a:spLocks noChangeArrowheads="1"/>
          </p:cNvSpPr>
          <p:nvPr/>
        </p:nvSpPr>
        <p:spPr bwMode="auto">
          <a:xfrm>
            <a:off x="7664450" y="2013290"/>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B</a:t>
            </a:r>
            <a:endParaRPr lang="en-US" altLang="zh-CN" sz="1800" dirty="0">
              <a:latin typeface="Times New Roman" panose="02020603050405020304" pitchFamily="18" charset="0"/>
              <a:ea typeface="华文楷体" panose="02010600040101010101" pitchFamily="2" charset="-122"/>
            </a:endParaRPr>
          </a:p>
        </p:txBody>
      </p:sp>
      <p:sp>
        <p:nvSpPr>
          <p:cNvPr id="52" name="Text Box 34"/>
          <p:cNvSpPr txBox="1">
            <a:spLocks noChangeArrowheads="1"/>
          </p:cNvSpPr>
          <p:nvPr/>
        </p:nvSpPr>
        <p:spPr bwMode="auto">
          <a:xfrm>
            <a:off x="7680325" y="2622890"/>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C</a:t>
            </a:r>
            <a:endParaRPr lang="en-US" altLang="zh-CN" sz="1800" dirty="0">
              <a:latin typeface="Times New Roman" panose="02020603050405020304" pitchFamily="18" charset="0"/>
              <a:ea typeface="华文楷体" panose="02010600040101010101" pitchFamily="2" charset="-122"/>
            </a:endParaRPr>
          </a:p>
        </p:txBody>
      </p:sp>
      <p:sp>
        <p:nvSpPr>
          <p:cNvPr id="53" name="Text Box 35"/>
          <p:cNvSpPr txBox="1">
            <a:spLocks noChangeArrowheads="1"/>
          </p:cNvSpPr>
          <p:nvPr/>
        </p:nvSpPr>
        <p:spPr bwMode="auto">
          <a:xfrm>
            <a:off x="7680325" y="3156290"/>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D</a:t>
            </a:r>
            <a:endParaRPr lang="en-US" altLang="zh-CN" sz="1800" dirty="0">
              <a:latin typeface="Times New Roman" panose="02020603050405020304" pitchFamily="18" charset="0"/>
              <a:ea typeface="华文楷体" panose="02010600040101010101" pitchFamily="2" charset="-122"/>
            </a:endParaRPr>
          </a:p>
        </p:txBody>
      </p:sp>
      <p:sp>
        <p:nvSpPr>
          <p:cNvPr id="54" name="Text Box 36"/>
          <p:cNvSpPr txBox="1">
            <a:spLocks noChangeArrowheads="1"/>
          </p:cNvSpPr>
          <p:nvPr/>
        </p:nvSpPr>
        <p:spPr bwMode="auto">
          <a:xfrm>
            <a:off x="7239000" y="1076665"/>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latin typeface="Times New Roman" panose="02020603050405020304" pitchFamily="18" charset="0"/>
                <a:ea typeface="华文楷体" panose="02010600040101010101" pitchFamily="2" charset="-122"/>
              </a:rPr>
              <a:t>顶点数组</a:t>
            </a:r>
            <a:endParaRPr lang="zh-CN" altLang="en-US" sz="1800" b="1" dirty="0">
              <a:latin typeface="Times New Roman" panose="02020603050405020304" pitchFamily="18" charset="0"/>
              <a:ea typeface="华文楷体" panose="02010600040101010101" pitchFamily="2" charset="-122"/>
            </a:endParaRPr>
          </a:p>
        </p:txBody>
      </p:sp>
      <p:sp>
        <p:nvSpPr>
          <p:cNvPr id="55" name="Text Box 37"/>
          <p:cNvSpPr txBox="1">
            <a:spLocks noChangeArrowheads="1"/>
          </p:cNvSpPr>
          <p:nvPr/>
        </p:nvSpPr>
        <p:spPr bwMode="auto">
          <a:xfrm>
            <a:off x="7146925" y="1479890"/>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endParaRPr lang="en-US" altLang="zh-CN" sz="1800" dirty="0">
              <a:latin typeface="Times New Roman" panose="02020603050405020304" pitchFamily="18" charset="0"/>
              <a:ea typeface="华文楷体" panose="02010600040101010101" pitchFamily="2" charset="-122"/>
            </a:endParaRPr>
          </a:p>
        </p:txBody>
      </p:sp>
      <p:sp>
        <p:nvSpPr>
          <p:cNvPr id="56" name="Text Box 38"/>
          <p:cNvSpPr txBox="1">
            <a:spLocks noChangeArrowheads="1"/>
          </p:cNvSpPr>
          <p:nvPr/>
        </p:nvSpPr>
        <p:spPr bwMode="auto">
          <a:xfrm>
            <a:off x="7156450" y="1991065"/>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a:t>
            </a:r>
            <a:endParaRPr lang="en-US" altLang="zh-CN" sz="1800" dirty="0">
              <a:latin typeface="Times New Roman" panose="02020603050405020304" pitchFamily="18" charset="0"/>
              <a:ea typeface="华文楷体" panose="02010600040101010101" pitchFamily="2" charset="-122"/>
            </a:endParaRPr>
          </a:p>
        </p:txBody>
      </p:sp>
      <p:sp>
        <p:nvSpPr>
          <p:cNvPr id="57" name="Text Box 39"/>
          <p:cNvSpPr txBox="1">
            <a:spLocks noChangeArrowheads="1"/>
          </p:cNvSpPr>
          <p:nvPr/>
        </p:nvSpPr>
        <p:spPr bwMode="auto">
          <a:xfrm>
            <a:off x="7162800" y="2600665"/>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a:t>
            </a:r>
            <a:endParaRPr lang="en-US" altLang="zh-CN" sz="1800" dirty="0">
              <a:latin typeface="Times New Roman" panose="02020603050405020304" pitchFamily="18" charset="0"/>
              <a:ea typeface="华文楷体" panose="02010600040101010101" pitchFamily="2" charset="-122"/>
            </a:endParaRPr>
          </a:p>
        </p:txBody>
      </p:sp>
      <p:sp>
        <p:nvSpPr>
          <p:cNvPr id="58" name="Text Box 40"/>
          <p:cNvSpPr txBox="1">
            <a:spLocks noChangeArrowheads="1"/>
          </p:cNvSpPr>
          <p:nvPr/>
        </p:nvSpPr>
        <p:spPr bwMode="auto">
          <a:xfrm>
            <a:off x="7162800" y="3134065"/>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a:t>
            </a:r>
            <a:endParaRPr lang="en-US" altLang="zh-CN" sz="1800"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14288" y="3733800"/>
            <a:ext cx="9053512" cy="5748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2" name="Rectangle 28"/>
          <p:cNvSpPr>
            <a:spLocks noChangeArrowheads="1"/>
          </p:cNvSpPr>
          <p:nvPr/>
        </p:nvSpPr>
        <p:spPr bwMode="auto">
          <a:xfrm>
            <a:off x="8205787" y="3857100"/>
            <a:ext cx="609600" cy="251988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3" name="Line 29"/>
          <p:cNvSpPr>
            <a:spLocks noChangeShapeType="1"/>
          </p:cNvSpPr>
          <p:nvPr/>
        </p:nvSpPr>
        <p:spPr bwMode="auto">
          <a:xfrm>
            <a:off x="8205787" y="4923901"/>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 name="Line 30"/>
          <p:cNvSpPr>
            <a:spLocks noChangeShapeType="1"/>
          </p:cNvSpPr>
          <p:nvPr/>
        </p:nvSpPr>
        <p:spPr bwMode="auto">
          <a:xfrm>
            <a:off x="8205787" y="4390501"/>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5" name="Line 31"/>
          <p:cNvSpPr>
            <a:spLocks noChangeShapeType="1"/>
          </p:cNvSpPr>
          <p:nvPr/>
        </p:nvSpPr>
        <p:spPr bwMode="auto">
          <a:xfrm>
            <a:off x="8205787" y="5457301"/>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6" name="Text Box 32"/>
          <p:cNvSpPr txBox="1">
            <a:spLocks noChangeArrowheads="1"/>
          </p:cNvSpPr>
          <p:nvPr/>
        </p:nvSpPr>
        <p:spPr bwMode="auto">
          <a:xfrm>
            <a:off x="8342312" y="3893614"/>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A</a:t>
            </a:r>
            <a:endParaRPr lang="en-US" altLang="zh-CN" sz="1800" dirty="0">
              <a:latin typeface="Times New Roman" panose="02020603050405020304" pitchFamily="18" charset="0"/>
              <a:ea typeface="华文楷体" panose="02010600040101010101" pitchFamily="2" charset="-122"/>
            </a:endParaRPr>
          </a:p>
        </p:txBody>
      </p:sp>
      <p:sp>
        <p:nvSpPr>
          <p:cNvPr id="67" name="Text Box 33"/>
          <p:cNvSpPr txBox="1">
            <a:spLocks noChangeArrowheads="1"/>
          </p:cNvSpPr>
          <p:nvPr/>
        </p:nvSpPr>
        <p:spPr bwMode="auto">
          <a:xfrm>
            <a:off x="8326437" y="4427014"/>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B</a:t>
            </a:r>
            <a:endParaRPr lang="en-US" altLang="zh-CN" sz="1800" dirty="0">
              <a:latin typeface="Times New Roman" panose="02020603050405020304" pitchFamily="18" charset="0"/>
              <a:ea typeface="华文楷体" panose="02010600040101010101" pitchFamily="2" charset="-122"/>
            </a:endParaRPr>
          </a:p>
        </p:txBody>
      </p:sp>
      <p:sp>
        <p:nvSpPr>
          <p:cNvPr id="68" name="Text Box 34"/>
          <p:cNvSpPr txBox="1">
            <a:spLocks noChangeArrowheads="1"/>
          </p:cNvSpPr>
          <p:nvPr/>
        </p:nvSpPr>
        <p:spPr bwMode="auto">
          <a:xfrm>
            <a:off x="8342312" y="5036614"/>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C</a:t>
            </a:r>
            <a:endParaRPr lang="en-US" altLang="zh-CN" sz="1800" dirty="0">
              <a:latin typeface="Times New Roman" panose="02020603050405020304" pitchFamily="18" charset="0"/>
              <a:ea typeface="华文楷体" panose="02010600040101010101" pitchFamily="2" charset="-122"/>
            </a:endParaRPr>
          </a:p>
        </p:txBody>
      </p:sp>
      <p:sp>
        <p:nvSpPr>
          <p:cNvPr id="69" name="Text Box 35"/>
          <p:cNvSpPr txBox="1">
            <a:spLocks noChangeArrowheads="1"/>
          </p:cNvSpPr>
          <p:nvPr/>
        </p:nvSpPr>
        <p:spPr bwMode="auto">
          <a:xfrm>
            <a:off x="8342312" y="5570014"/>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D</a:t>
            </a:r>
            <a:endParaRPr lang="en-US" altLang="zh-CN" sz="1800" dirty="0">
              <a:latin typeface="Times New Roman" panose="02020603050405020304" pitchFamily="18" charset="0"/>
              <a:ea typeface="华文楷体" panose="02010600040101010101" pitchFamily="2" charset="-122"/>
            </a:endParaRPr>
          </a:p>
        </p:txBody>
      </p:sp>
      <p:sp>
        <p:nvSpPr>
          <p:cNvPr id="70" name="Text Box 37"/>
          <p:cNvSpPr txBox="1">
            <a:spLocks noChangeArrowheads="1"/>
          </p:cNvSpPr>
          <p:nvPr/>
        </p:nvSpPr>
        <p:spPr bwMode="auto">
          <a:xfrm>
            <a:off x="7808912" y="3893614"/>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endParaRPr lang="en-US" altLang="zh-CN" sz="1800" dirty="0">
              <a:latin typeface="Times New Roman" panose="02020603050405020304" pitchFamily="18" charset="0"/>
              <a:ea typeface="华文楷体" panose="02010600040101010101" pitchFamily="2" charset="-122"/>
            </a:endParaRPr>
          </a:p>
        </p:txBody>
      </p:sp>
      <p:sp>
        <p:nvSpPr>
          <p:cNvPr id="71" name="Text Box 38"/>
          <p:cNvSpPr txBox="1">
            <a:spLocks noChangeArrowheads="1"/>
          </p:cNvSpPr>
          <p:nvPr/>
        </p:nvSpPr>
        <p:spPr bwMode="auto">
          <a:xfrm>
            <a:off x="7818437" y="440478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a:t>
            </a:r>
            <a:endParaRPr lang="en-US" altLang="zh-CN" sz="1800" dirty="0">
              <a:latin typeface="Times New Roman" panose="02020603050405020304" pitchFamily="18" charset="0"/>
              <a:ea typeface="华文楷体" panose="02010600040101010101" pitchFamily="2" charset="-122"/>
            </a:endParaRPr>
          </a:p>
        </p:txBody>
      </p:sp>
      <p:sp>
        <p:nvSpPr>
          <p:cNvPr id="72" name="Text Box 39"/>
          <p:cNvSpPr txBox="1">
            <a:spLocks noChangeArrowheads="1"/>
          </p:cNvSpPr>
          <p:nvPr/>
        </p:nvSpPr>
        <p:spPr bwMode="auto">
          <a:xfrm>
            <a:off x="7824787" y="501438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a:t>
            </a:r>
            <a:endParaRPr lang="en-US" altLang="zh-CN" sz="1800" dirty="0">
              <a:latin typeface="Times New Roman" panose="02020603050405020304" pitchFamily="18" charset="0"/>
              <a:ea typeface="华文楷体" panose="02010600040101010101" pitchFamily="2" charset="-122"/>
            </a:endParaRPr>
          </a:p>
        </p:txBody>
      </p:sp>
      <p:sp>
        <p:nvSpPr>
          <p:cNvPr id="73" name="Text Box 40"/>
          <p:cNvSpPr txBox="1">
            <a:spLocks noChangeArrowheads="1"/>
          </p:cNvSpPr>
          <p:nvPr/>
        </p:nvSpPr>
        <p:spPr bwMode="auto">
          <a:xfrm>
            <a:off x="7824787" y="5547789"/>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a:t>
            </a:r>
            <a:endParaRPr lang="en-US" altLang="zh-CN" sz="1800" dirty="0">
              <a:latin typeface="Times New Roman" panose="02020603050405020304" pitchFamily="18" charset="0"/>
              <a:ea typeface="华文楷体" panose="02010600040101010101" pitchFamily="2" charset="-122"/>
            </a:endParaRPr>
          </a:p>
        </p:txBody>
      </p:sp>
      <p:sp>
        <p:nvSpPr>
          <p:cNvPr id="74" name="Line 31"/>
          <p:cNvSpPr>
            <a:spLocks noChangeShapeType="1"/>
          </p:cNvSpPr>
          <p:nvPr/>
        </p:nvSpPr>
        <p:spPr bwMode="auto">
          <a:xfrm>
            <a:off x="8205787" y="5958936"/>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 name="Text Box 35"/>
          <p:cNvSpPr txBox="1">
            <a:spLocks noChangeArrowheads="1"/>
          </p:cNvSpPr>
          <p:nvPr/>
        </p:nvSpPr>
        <p:spPr bwMode="auto">
          <a:xfrm>
            <a:off x="8342312" y="5990502"/>
            <a:ext cx="325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smtClean="0">
                <a:latin typeface="Times New Roman" panose="02020603050405020304" pitchFamily="18" charset="0"/>
                <a:ea typeface="华文楷体" panose="02010600040101010101" pitchFamily="2" charset="-122"/>
              </a:rPr>
              <a:t>E</a:t>
            </a:r>
            <a:endParaRPr lang="en-US" altLang="zh-CN" sz="1800" dirty="0">
              <a:latin typeface="Times New Roman" panose="02020603050405020304" pitchFamily="18" charset="0"/>
              <a:ea typeface="华文楷体" panose="02010600040101010101" pitchFamily="2" charset="-122"/>
            </a:endParaRPr>
          </a:p>
        </p:txBody>
      </p:sp>
      <p:sp>
        <p:nvSpPr>
          <p:cNvPr id="76" name="Text Box 40"/>
          <p:cNvSpPr txBox="1">
            <a:spLocks noChangeArrowheads="1"/>
          </p:cNvSpPr>
          <p:nvPr/>
        </p:nvSpPr>
        <p:spPr bwMode="auto">
          <a:xfrm>
            <a:off x="7824787" y="5922324"/>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smtClean="0">
                <a:latin typeface="Times New Roman" panose="02020603050405020304" pitchFamily="18" charset="0"/>
                <a:ea typeface="华文楷体" panose="02010600040101010101" pitchFamily="2" charset="-122"/>
              </a:rPr>
              <a:t>5</a:t>
            </a:r>
            <a:endParaRPr lang="en-US" altLang="zh-CN"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78"/>
                                        </p:tgtEl>
                                        <p:attrNameLst>
                                          <p:attrName>style.visibility</p:attrName>
                                        </p:attrNameLst>
                                      </p:cBhvr>
                                      <p:to>
                                        <p:strVal val="visible"/>
                                      </p:to>
                                    </p:set>
                                    <p:anim calcmode="lin" valueType="num">
                                      <p:cBhvr additive="base">
                                        <p:cTn id="7" dur="500" fill="hold"/>
                                        <p:tgtEl>
                                          <p:spTgt spid="19478"/>
                                        </p:tgtEl>
                                        <p:attrNameLst>
                                          <p:attrName>ppt_x</p:attrName>
                                        </p:attrNameLst>
                                      </p:cBhvr>
                                      <p:tavLst>
                                        <p:tav tm="0">
                                          <p:val>
                                            <p:strVal val="#ppt_x"/>
                                          </p:val>
                                        </p:tav>
                                        <p:tav tm="100000">
                                          <p:val>
                                            <p:strVal val="#ppt_x"/>
                                          </p:val>
                                        </p:tav>
                                      </p:tavLst>
                                    </p:anim>
                                    <p:anim calcmode="lin" valueType="num">
                                      <p:cBhvr additive="base">
                                        <p:cTn id="8" dur="500" fill="hold"/>
                                        <p:tgtEl>
                                          <p:spTgt spid="194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9479"/>
                                        </p:tgtEl>
                                        <p:attrNameLst>
                                          <p:attrName>style.visibility</p:attrName>
                                        </p:attrNameLst>
                                      </p:cBhvr>
                                      <p:to>
                                        <p:strVal val="visible"/>
                                      </p:to>
                                    </p:set>
                                    <p:animEffect transition="in" filter="blinds(horizontal)">
                                      <p:cBhvr>
                                        <p:cTn id="13" dur="500"/>
                                        <p:tgtEl>
                                          <p:spTgt spid="1947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9480"/>
                                        </p:tgtEl>
                                        <p:attrNameLst>
                                          <p:attrName>style.visibility</p:attrName>
                                        </p:attrNameLst>
                                      </p:cBhvr>
                                      <p:to>
                                        <p:strVal val="visible"/>
                                      </p:to>
                                    </p:set>
                                    <p:animEffect transition="in" filter="blinds(horizontal)">
                                      <p:cBhvr>
                                        <p:cTn id="18" dur="500"/>
                                        <p:tgtEl>
                                          <p:spTgt spid="19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8" grpId="0"/>
      <p:bldP spid="19479" grpId="0"/>
      <p:bldP spid="1948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页脚占位符 3"/>
          <p:cNvSpPr>
            <a:spLocks noGrp="1"/>
          </p:cNvSpPr>
          <p:nvPr>
            <p:ph type="ftr" sz="quarter" idx="10"/>
          </p:nvPr>
        </p:nvSpPr>
        <p:spPr/>
        <p:txBody>
          <a:bodyPr/>
          <a:lstStyle/>
          <a:p>
            <a:pPr>
              <a:defRPr/>
            </a:pPr>
            <a:r>
              <a:rPr lang="en-US" altLang="zh-CN"/>
              <a:t>BUPT SCST</a:t>
            </a:r>
            <a:endParaRPr lang="en-US" altLang="zh-CN"/>
          </a:p>
        </p:txBody>
      </p:sp>
      <p:sp>
        <p:nvSpPr>
          <p:cNvPr id="35" name="日期占位符 5"/>
          <p:cNvSpPr>
            <a:spLocks noGrp="1"/>
          </p:cNvSpPr>
          <p:nvPr>
            <p:ph type="dt" sz="quarter" idx="12"/>
          </p:nvPr>
        </p:nvSpPr>
        <p:spPr/>
        <p:txBody>
          <a:bodyPr/>
          <a:lstStyle/>
          <a:p>
            <a:pPr>
              <a:defRPr/>
            </a:pPr>
            <a:r>
              <a:rPr lang="en-US" altLang="zh-CN"/>
              <a:t>BUPT</a:t>
            </a:r>
            <a:endParaRPr lang="en-US" altLang="zh-CN"/>
          </a:p>
        </p:txBody>
      </p:sp>
      <p:sp>
        <p:nvSpPr>
          <p:cNvPr id="1536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mc:AlternateContent xmlns:mc="http://schemas.openxmlformats.org/markup-compatibility/2006">
        <mc:Choice xmlns:a14="http://schemas.microsoft.com/office/drawing/2010/main" Requires="a14">
          <p:sp>
            <p:nvSpPr>
              <p:cNvPr id="15365" name="Text Box 4"/>
              <p:cNvSpPr txBox="1">
                <a:spLocks noChangeArrowheads="1"/>
              </p:cNvSpPr>
              <p:nvPr/>
            </p:nvSpPr>
            <p:spPr bwMode="auto">
              <a:xfrm>
                <a:off x="685800" y="1140811"/>
                <a:ext cx="7848600" cy="1907189"/>
              </a:xfrm>
              <a:prstGeom prst="rect">
                <a:avLst/>
              </a:prstGeom>
              <a:no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spcBef>
                    <a:spcPct val="50000"/>
                  </a:spcBef>
                  <a:buClrTx/>
                  <a:buFontTx/>
                  <a:buNone/>
                  <a:defRPr kumimoji="1" sz="1600" b="1">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lr>
                    <a:schemeClr val="accent1"/>
                  </a:buClr>
                  <a:buFont typeface="Wingdings" panose="05000000000000000000" pitchFamily="2" charset="2"/>
                  <a:buChar char="§"/>
                  <a:defRPr sz="2800"/>
                </a:lvl2pPr>
                <a:lvl3pPr marL="1143000" indent="-228600">
                  <a:spcBef>
                    <a:spcPct val="20000"/>
                  </a:spcBef>
                  <a:buClr>
                    <a:schemeClr val="tx1"/>
                  </a:buClr>
                  <a:buChar char="•"/>
                  <a:defRPr sz="2400"/>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marL="342900" indent="-342900">
                  <a:buFont typeface="Arial" panose="020B0604020202020204" pitchFamily="34" charset="0"/>
                  <a:buChar char="•"/>
                </a:pPr>
                <a:r>
                  <a:rPr lang="zh-CN" altLang="en-US" sz="2000" b="0" dirty="0" smtClean="0">
                    <a:solidFill>
                      <a:schemeClr val="tx1"/>
                    </a:solidFill>
                  </a:rPr>
                  <a:t>带权图的加权邻接矩阵</a:t>
                </a:r>
                <a:endParaRPr lang="zh-CN" altLang="en-US" sz="2000" b="0" dirty="0" smtClean="0">
                  <a:solidFill>
                    <a:schemeClr val="tx1"/>
                  </a:solidFill>
                </a:endParaRPr>
              </a:p>
              <a:p>
                <a:r>
                  <a:rPr lang="en-US" altLang="zh-CN" b="0" dirty="0">
                    <a:solidFill>
                      <a:schemeClr val="tx1"/>
                    </a:solidFill>
                  </a:rPr>
                  <a:t>A[</a:t>
                </a:r>
                <a:r>
                  <a:rPr lang="en-US" altLang="zh-CN" b="0" dirty="0" err="1">
                    <a:solidFill>
                      <a:schemeClr val="tx1"/>
                    </a:solidFill>
                  </a:rPr>
                  <a:t>i,j</a:t>
                </a:r>
                <a:r>
                  <a:rPr lang="en-US" altLang="zh-CN" b="0" dirty="0">
                    <a:solidFill>
                      <a:schemeClr val="tx1"/>
                    </a:solidFill>
                  </a:rPr>
                  <a:t>]  =  </a:t>
                </a:r>
                <a14:m>
                  <m:oMath xmlns:m="http://schemas.openxmlformats.org/officeDocument/2006/math">
                    <m:sSub>
                      <m:sSubPr>
                        <m:ctrlPr>
                          <a:rPr lang="en-US" altLang="zh-CN" b="0" i="1" dirty="0" smtClean="0">
                            <a:solidFill>
                              <a:schemeClr val="tx1"/>
                            </a:solidFill>
                            <a:latin typeface="Cambria Math" panose="02040503050406030204" pitchFamily="18" charset="0"/>
                          </a:rPr>
                        </m:ctrlPr>
                      </m:sSubPr>
                      <m:e>
                        <m:r>
                          <a:rPr lang="en-US" altLang="zh-CN" b="0" i="1" dirty="0">
                            <a:solidFill>
                              <a:schemeClr val="tx1"/>
                            </a:solidFill>
                            <a:latin typeface="Cambria Math" panose="02040503050406030204" pitchFamily="18" charset="0"/>
                          </a:rPr>
                          <m:t>𝑤</m:t>
                        </m:r>
                      </m:e>
                      <m:sub>
                        <m:r>
                          <a:rPr lang="en-US" altLang="zh-CN" b="0" i="1" dirty="0">
                            <a:solidFill>
                              <a:schemeClr val="tx1"/>
                            </a:solidFill>
                            <a:latin typeface="Cambria Math" panose="02040503050406030204" pitchFamily="18" charset="0"/>
                          </a:rPr>
                          <m:t>𝑖𝑗</m:t>
                        </m:r>
                      </m:sub>
                    </m:sSub>
                  </m:oMath>
                </a14:m>
                <a:r>
                  <a:rPr lang="en-US" altLang="zh-CN" b="0" dirty="0" smtClean="0">
                    <a:solidFill>
                      <a:schemeClr val="tx1"/>
                    </a:solidFill>
                  </a:rPr>
                  <a:t> </a:t>
                </a:r>
                <a:r>
                  <a:rPr lang="en-US" altLang="zh-CN" b="0" dirty="0">
                    <a:solidFill>
                      <a:schemeClr val="tx1"/>
                    </a:solidFill>
                  </a:rPr>
                  <a:t>, </a:t>
                </a:r>
                <a:r>
                  <a:rPr lang="zh-CN" altLang="en-US" b="0" dirty="0">
                    <a:solidFill>
                      <a:schemeClr val="tx1"/>
                    </a:solidFill>
                  </a:rPr>
                  <a:t>表示有</a:t>
                </a:r>
                <a:r>
                  <a:rPr lang="zh-CN" altLang="zh-CN" b="0" dirty="0">
                    <a:solidFill>
                      <a:schemeClr val="tx1"/>
                    </a:solidFill>
                  </a:rPr>
                  <a:t>边</a:t>
                </a:r>
                <a:r>
                  <a:rPr lang="en-US" altLang="zh-CN" b="0" dirty="0">
                    <a:solidFill>
                      <a:schemeClr val="tx1"/>
                    </a:solidFill>
                  </a:rPr>
                  <a:t>(</a:t>
                </a:r>
                <a:r>
                  <a:rPr lang="en-US" altLang="zh-CN" b="0" dirty="0" err="1">
                    <a:solidFill>
                      <a:schemeClr val="tx1"/>
                    </a:solidFill>
                  </a:rPr>
                  <a:t>i</a:t>
                </a:r>
                <a:r>
                  <a:rPr lang="en-US" altLang="zh-CN" b="0" dirty="0">
                    <a:solidFill>
                      <a:schemeClr val="tx1"/>
                    </a:solidFill>
                  </a:rPr>
                  <a:t>, j)</a:t>
                </a:r>
                <a:r>
                  <a:rPr lang="zh-CN" altLang="en-US" b="0" dirty="0">
                    <a:solidFill>
                      <a:schemeClr val="tx1"/>
                    </a:solidFill>
                  </a:rPr>
                  <a:t>或者</a:t>
                </a:r>
                <a:r>
                  <a:rPr lang="en-US" altLang="zh-CN" b="0" dirty="0">
                    <a:solidFill>
                      <a:schemeClr val="tx1"/>
                    </a:solidFill>
                  </a:rPr>
                  <a:t>&lt;</a:t>
                </a:r>
                <a:r>
                  <a:rPr lang="en-US" altLang="zh-CN" b="0" dirty="0" err="1">
                    <a:solidFill>
                      <a:schemeClr val="tx1"/>
                    </a:solidFill>
                  </a:rPr>
                  <a:t>i</a:t>
                </a:r>
                <a:r>
                  <a:rPr lang="en-US" altLang="zh-CN" b="0" dirty="0">
                    <a:solidFill>
                      <a:schemeClr val="tx1"/>
                    </a:solidFill>
                  </a:rPr>
                  <a:t>, j</a:t>
                </a:r>
                <a:r>
                  <a:rPr lang="en-US" altLang="zh-CN" b="0" dirty="0" smtClean="0">
                    <a:solidFill>
                      <a:schemeClr val="tx1"/>
                    </a:solidFill>
                  </a:rPr>
                  <a:t>&gt;,</a:t>
                </a:r>
                <a:r>
                  <a:rPr lang="zh-CN" altLang="en-US" b="0" dirty="0" smtClean="0">
                    <a:solidFill>
                      <a:schemeClr val="tx1"/>
                    </a:solidFill>
                  </a:rPr>
                  <a:t>权值为</a:t>
                </a:r>
                <a14:m>
                  <m:oMath xmlns:m="http://schemas.openxmlformats.org/officeDocument/2006/math">
                    <m:sSub>
                      <m:sSubPr>
                        <m:ctrlPr>
                          <a:rPr lang="en-US" altLang="zh-CN" b="0" i="1" dirty="0" smtClean="0">
                            <a:solidFill>
                              <a:schemeClr val="tx1"/>
                            </a:solidFill>
                            <a:latin typeface="Cambria Math" panose="02040503050406030204" pitchFamily="18" charset="0"/>
                          </a:rPr>
                        </m:ctrlPr>
                      </m:sSubPr>
                      <m:e>
                        <m:r>
                          <a:rPr lang="en-US" altLang="zh-CN" b="0" i="1" dirty="0">
                            <a:solidFill>
                              <a:schemeClr val="tx1"/>
                            </a:solidFill>
                            <a:latin typeface="Cambria Math" panose="02040503050406030204" pitchFamily="18" charset="0"/>
                          </a:rPr>
                          <m:t>𝑤</m:t>
                        </m:r>
                      </m:e>
                      <m:sub>
                        <m:r>
                          <a:rPr lang="en-US" altLang="zh-CN" b="0" i="1" dirty="0">
                            <a:solidFill>
                              <a:schemeClr val="tx1"/>
                            </a:solidFill>
                            <a:latin typeface="Cambria Math" panose="02040503050406030204" pitchFamily="18" charset="0"/>
                          </a:rPr>
                          <m:t>𝑖𝑗</m:t>
                        </m:r>
                      </m:sub>
                    </m:sSub>
                  </m:oMath>
                </a14:m>
                <a:r>
                  <a:rPr lang="zh-CN" altLang="zh-CN" b="0" dirty="0" smtClean="0">
                    <a:solidFill>
                      <a:schemeClr val="tx1"/>
                    </a:solidFill>
                  </a:rPr>
                  <a:t>；</a:t>
                </a:r>
                <a:endParaRPr lang="en-US" altLang="zh-CN" b="0" dirty="0">
                  <a:solidFill>
                    <a:schemeClr val="tx1"/>
                  </a:solidFill>
                </a:endParaRPr>
              </a:p>
              <a:p>
                <a:r>
                  <a:rPr lang="en-US" altLang="zh-CN" b="0" dirty="0">
                    <a:solidFill>
                      <a:schemeClr val="tx1"/>
                    </a:solidFill>
                  </a:rPr>
                  <a:t>A[</a:t>
                </a:r>
                <a:r>
                  <a:rPr lang="en-US" altLang="zh-CN" b="0" dirty="0" err="1">
                    <a:solidFill>
                      <a:schemeClr val="tx1"/>
                    </a:solidFill>
                  </a:rPr>
                  <a:t>i,j</a:t>
                </a:r>
                <a:r>
                  <a:rPr lang="en-US" altLang="zh-CN" b="0" dirty="0">
                    <a:solidFill>
                      <a:schemeClr val="tx1"/>
                    </a:solidFill>
                  </a:rPr>
                  <a:t>] = </a:t>
                </a:r>
                <a14:m>
                  <m:oMath xmlns:m="http://schemas.openxmlformats.org/officeDocument/2006/math">
                    <m:r>
                      <a:rPr lang="en-US" altLang="zh-CN" b="0" i="1" dirty="0" smtClean="0">
                        <a:solidFill>
                          <a:schemeClr val="tx1"/>
                        </a:solidFill>
                        <a:latin typeface="Cambria Math" panose="02040503050406030204" pitchFamily="18" charset="0"/>
                        <a:ea typeface="Cambria Math" panose="02040503050406030204" pitchFamily="18" charset="0"/>
                      </a:rPr>
                      <m:t>∞</m:t>
                    </m:r>
                  </m:oMath>
                </a14:m>
                <a:r>
                  <a:rPr lang="zh-CN" altLang="en-US" b="0" dirty="0">
                    <a:solidFill>
                      <a:schemeClr val="tx1"/>
                    </a:solidFill>
                  </a:rPr>
                  <a:t>，表示没有</a:t>
                </a:r>
                <a:r>
                  <a:rPr lang="zh-CN" altLang="zh-CN" b="0" dirty="0">
                    <a:solidFill>
                      <a:schemeClr val="tx1"/>
                    </a:solidFill>
                  </a:rPr>
                  <a:t>边</a:t>
                </a:r>
                <a:r>
                  <a:rPr lang="en-US" altLang="zh-CN" b="0" dirty="0">
                    <a:solidFill>
                      <a:schemeClr val="tx1"/>
                    </a:solidFill>
                  </a:rPr>
                  <a:t>(</a:t>
                </a:r>
                <a:r>
                  <a:rPr lang="en-US" altLang="zh-CN" b="0" dirty="0" err="1">
                    <a:solidFill>
                      <a:schemeClr val="tx1"/>
                    </a:solidFill>
                  </a:rPr>
                  <a:t>i</a:t>
                </a:r>
                <a:r>
                  <a:rPr lang="en-US" altLang="zh-CN" b="0" dirty="0">
                    <a:solidFill>
                      <a:schemeClr val="tx1"/>
                    </a:solidFill>
                  </a:rPr>
                  <a:t>, j)</a:t>
                </a:r>
                <a:r>
                  <a:rPr lang="zh-CN" altLang="en-US" b="0" dirty="0">
                    <a:solidFill>
                      <a:schemeClr val="tx1"/>
                    </a:solidFill>
                  </a:rPr>
                  <a:t>或者</a:t>
                </a:r>
                <a:r>
                  <a:rPr lang="en-US" altLang="zh-CN" b="0" dirty="0">
                    <a:solidFill>
                      <a:schemeClr val="tx1"/>
                    </a:solidFill>
                  </a:rPr>
                  <a:t>&lt;</a:t>
                </a:r>
                <a:r>
                  <a:rPr lang="en-US" altLang="zh-CN" b="0" dirty="0" err="1">
                    <a:solidFill>
                      <a:schemeClr val="tx1"/>
                    </a:solidFill>
                  </a:rPr>
                  <a:t>i</a:t>
                </a:r>
                <a:r>
                  <a:rPr lang="en-US" altLang="zh-CN" b="0" dirty="0">
                    <a:solidFill>
                      <a:schemeClr val="tx1"/>
                    </a:solidFill>
                  </a:rPr>
                  <a:t>, j&gt; </a:t>
                </a:r>
                <a:r>
                  <a:rPr lang="zh-CN" altLang="en-US" b="0" dirty="0">
                    <a:solidFill>
                      <a:schemeClr val="tx1"/>
                    </a:solidFill>
                  </a:rPr>
                  <a:t>。</a:t>
                </a:r>
                <a:endParaRPr lang="en-US" altLang="zh-CN" b="0" dirty="0">
                  <a:solidFill>
                    <a:schemeClr val="tx1"/>
                  </a:solidFill>
                </a:endParaRPr>
              </a:p>
              <a:p>
                <a:r>
                  <a:rPr lang="en-US" altLang="zh-CN" b="0" dirty="0">
                    <a:solidFill>
                      <a:schemeClr val="tx1"/>
                    </a:solidFill>
                  </a:rPr>
                  <a:t>A[</a:t>
                </a:r>
                <a:r>
                  <a:rPr lang="en-US" altLang="zh-CN" b="0" dirty="0" err="1">
                    <a:solidFill>
                      <a:schemeClr val="tx1"/>
                    </a:solidFill>
                  </a:rPr>
                  <a:t>i,i</a:t>
                </a:r>
                <a:r>
                  <a:rPr lang="en-US" altLang="zh-CN" b="0" dirty="0">
                    <a:solidFill>
                      <a:schemeClr val="tx1"/>
                    </a:solidFill>
                  </a:rPr>
                  <a:t>] = 0</a:t>
                </a:r>
                <a:r>
                  <a:rPr lang="zh-CN" altLang="en-US" b="0" dirty="0">
                    <a:solidFill>
                      <a:schemeClr val="tx1"/>
                    </a:solidFill>
                  </a:rPr>
                  <a:t>，表示顶点</a:t>
                </a:r>
                <a:r>
                  <a:rPr lang="en-US" altLang="zh-CN" b="0" dirty="0" err="1">
                    <a:solidFill>
                      <a:schemeClr val="tx1"/>
                    </a:solidFill>
                  </a:rPr>
                  <a:t>i</a:t>
                </a:r>
                <a:r>
                  <a:rPr lang="zh-CN" altLang="en-US" b="0" dirty="0">
                    <a:solidFill>
                      <a:schemeClr val="tx1"/>
                    </a:solidFill>
                  </a:rPr>
                  <a:t>没有自环边</a:t>
                </a:r>
                <a:r>
                  <a:rPr lang="zh-CN" altLang="en-US" b="0" dirty="0" smtClean="0">
                    <a:solidFill>
                      <a:schemeClr val="tx1"/>
                    </a:solidFill>
                  </a:rPr>
                  <a:t>。</a:t>
                </a:r>
                <a:endParaRPr lang="en-US" altLang="zh-CN" b="0" dirty="0" smtClean="0">
                  <a:solidFill>
                    <a:schemeClr val="tx1"/>
                  </a:solidFill>
                </a:endParaRPr>
              </a:p>
              <a:p>
                <a:r>
                  <a:rPr lang="zh-CN" altLang="en-US" b="0" dirty="0" smtClean="0">
                    <a:solidFill>
                      <a:schemeClr val="tx1"/>
                    </a:solidFill>
                  </a:rPr>
                  <a:t>无向图仍然是对称矩阵，可压缩存储。</a:t>
                </a:r>
                <a:endParaRPr lang="zh-CN" altLang="zh-CN" b="0" dirty="0">
                  <a:solidFill>
                    <a:schemeClr val="tx1"/>
                  </a:solidFill>
                </a:endParaRPr>
              </a:p>
            </p:txBody>
          </p:sp>
        </mc:Choice>
        <mc:Fallback>
          <p:sp>
            <p:nvSpPr>
              <p:cNvPr id="15365" name="Text Box 4"/>
              <p:cNvSpPr txBox="1">
                <a:spLocks noRot="1" noChangeAspect="1" noMove="1" noResize="1" noEditPoints="1" noAdjustHandles="1" noChangeArrowheads="1" noChangeShapeType="1" noTextEdit="1"/>
              </p:cNvSpPr>
              <p:nvPr/>
            </p:nvSpPr>
            <p:spPr bwMode="auto">
              <a:xfrm>
                <a:off x="685800" y="1140811"/>
                <a:ext cx="7848600" cy="1907189"/>
              </a:xfrm>
              <a:prstGeom prst="rect">
                <a:avLst/>
              </a:prstGeom>
              <a:blipFill rotWithShape="1">
                <a:blip r:embed="rId1"/>
                <a:stretch>
                  <a:fillRect l="-65" t="-251" r="-57" b="-233"/>
                </a:stretch>
              </a:blip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5366" name="AutoShape 5"/>
          <p:cNvSpPr>
            <a:spLocks noChangeArrowheads="1"/>
          </p:cNvSpPr>
          <p:nvPr/>
        </p:nvSpPr>
        <p:spPr bwMode="auto">
          <a:xfrm>
            <a:off x="5638800" y="3005837"/>
            <a:ext cx="1828800" cy="1676403"/>
          </a:xfrm>
          <a:prstGeom prst="bracketPair">
            <a:avLst>
              <a:gd name="adj" fmla="val 16667"/>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67" name="Oval 6"/>
          <p:cNvSpPr>
            <a:spLocks noChangeArrowheads="1"/>
          </p:cNvSpPr>
          <p:nvPr/>
        </p:nvSpPr>
        <p:spPr bwMode="auto">
          <a:xfrm>
            <a:off x="1143000" y="3234438"/>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5368" name="Oval 7"/>
          <p:cNvSpPr>
            <a:spLocks noChangeArrowheads="1"/>
          </p:cNvSpPr>
          <p:nvPr/>
        </p:nvSpPr>
        <p:spPr bwMode="auto">
          <a:xfrm>
            <a:off x="2667000" y="3234438"/>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5369" name="Line 8"/>
          <p:cNvSpPr>
            <a:spLocks noChangeShapeType="1"/>
          </p:cNvSpPr>
          <p:nvPr/>
        </p:nvSpPr>
        <p:spPr bwMode="auto">
          <a:xfrm>
            <a:off x="1600200" y="3386838"/>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70" name="Oval 9"/>
          <p:cNvSpPr>
            <a:spLocks noChangeArrowheads="1"/>
          </p:cNvSpPr>
          <p:nvPr/>
        </p:nvSpPr>
        <p:spPr bwMode="auto">
          <a:xfrm>
            <a:off x="1143000" y="4758438"/>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5371" name="Oval 10"/>
          <p:cNvSpPr>
            <a:spLocks noChangeArrowheads="1"/>
          </p:cNvSpPr>
          <p:nvPr/>
        </p:nvSpPr>
        <p:spPr bwMode="auto">
          <a:xfrm>
            <a:off x="2667000" y="4758438"/>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5372" name="Line 11"/>
          <p:cNvSpPr>
            <a:spLocks noChangeShapeType="1"/>
          </p:cNvSpPr>
          <p:nvPr/>
        </p:nvSpPr>
        <p:spPr bwMode="auto">
          <a:xfrm>
            <a:off x="1600200" y="4910838"/>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73" name="Line 12"/>
          <p:cNvSpPr>
            <a:spLocks noChangeShapeType="1"/>
          </p:cNvSpPr>
          <p:nvPr/>
        </p:nvSpPr>
        <p:spPr bwMode="auto">
          <a:xfrm flipH="1">
            <a:off x="2895600" y="3615438"/>
            <a:ext cx="0" cy="1143001"/>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74" name="Line 13"/>
          <p:cNvSpPr>
            <a:spLocks noChangeShapeType="1"/>
          </p:cNvSpPr>
          <p:nvPr/>
        </p:nvSpPr>
        <p:spPr bwMode="auto">
          <a:xfrm flipH="1" flipV="1">
            <a:off x="1524000" y="3539238"/>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75" name="AutoShape 14"/>
          <p:cNvSpPr>
            <a:spLocks noChangeArrowheads="1"/>
          </p:cNvSpPr>
          <p:nvPr/>
        </p:nvSpPr>
        <p:spPr bwMode="auto">
          <a:xfrm>
            <a:off x="3505200" y="3844038"/>
            <a:ext cx="1828800" cy="533400"/>
          </a:xfrm>
          <a:prstGeom prst="rightArrow">
            <a:avLst>
              <a:gd name="adj1" fmla="val 50000"/>
              <a:gd name="adj2" fmla="val 85714"/>
            </a:avLst>
          </a:prstGeom>
          <a:solidFill>
            <a:schemeClr val="accent1"/>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76" name="Text Box 15"/>
          <p:cNvSpPr txBox="1">
            <a:spLocks noChangeArrowheads="1"/>
          </p:cNvSpPr>
          <p:nvPr/>
        </p:nvSpPr>
        <p:spPr bwMode="auto">
          <a:xfrm>
            <a:off x="3505200" y="3920238"/>
            <a:ext cx="15240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表示成右图矩阵</a:t>
            </a:r>
            <a:endParaRPr kumimoji="1" lang="zh-CN" altLang="en-US" sz="1600" b="1" dirty="0">
              <a:latin typeface="Times New Roman" panose="02020603050405020304" pitchFamily="18" charset="0"/>
              <a:ea typeface="华文楷体" panose="02010600040101010101" pitchFamily="2" charset="-122"/>
            </a:endParaRPr>
          </a:p>
        </p:txBody>
      </p:sp>
      <p:sp>
        <p:nvSpPr>
          <p:cNvPr id="15377" name="AutoShape 16"/>
          <p:cNvSpPr>
            <a:spLocks noChangeArrowheads="1"/>
          </p:cNvSpPr>
          <p:nvPr/>
        </p:nvSpPr>
        <p:spPr bwMode="auto">
          <a:xfrm>
            <a:off x="5638800" y="3310637"/>
            <a:ext cx="1828800" cy="1676403"/>
          </a:xfrm>
          <a:prstGeom prst="bracketPair">
            <a:avLst>
              <a:gd name="adj" fmla="val 16667"/>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78" name="AutoShape 17"/>
          <p:cNvSpPr/>
          <p:nvPr/>
        </p:nvSpPr>
        <p:spPr bwMode="auto">
          <a:xfrm>
            <a:off x="5638800" y="3386837"/>
            <a:ext cx="152400" cy="1524003"/>
          </a:xfrm>
          <a:prstGeom prst="leftBracket">
            <a:avLst>
              <a:gd name="adj" fmla="val 833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79" name="AutoShape 18"/>
          <p:cNvSpPr/>
          <p:nvPr/>
        </p:nvSpPr>
        <p:spPr bwMode="auto">
          <a:xfrm>
            <a:off x="7391400" y="3386837"/>
            <a:ext cx="152400" cy="1524003"/>
          </a:xfrm>
          <a:prstGeom prst="rightBracket">
            <a:avLst>
              <a:gd name="adj" fmla="val 83333"/>
            </a:avLst>
          </a:pr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5380" name="Text Box 19"/>
          <p:cNvSpPr txBox="1">
            <a:spLocks noChangeArrowheads="1"/>
          </p:cNvSpPr>
          <p:nvPr/>
        </p:nvSpPr>
        <p:spPr bwMode="auto">
          <a:xfrm>
            <a:off x="5943600" y="3463038"/>
            <a:ext cx="1600200" cy="143668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    b      </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b</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b</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          </a:t>
            </a:r>
            <a:r>
              <a:rPr kumimoji="1" lang="en-US" altLang="zh-CN" sz="1600" b="1" dirty="0" err="1">
                <a:latin typeface="Times New Roman" panose="02020603050405020304" pitchFamily="18" charset="0"/>
                <a:ea typeface="华文楷体" panose="02010600040101010101" pitchFamily="2" charset="-122"/>
              </a:rPr>
              <a:t>a</a:t>
            </a:r>
            <a:r>
              <a:rPr kumimoji="1" lang="en-US" altLang="zh-CN" sz="1600" b="1" dirty="0">
                <a:latin typeface="Times New Roman" panose="02020603050405020304" pitchFamily="18" charset="0"/>
                <a:ea typeface="华文楷体" panose="02010600040101010101" pitchFamily="2" charset="-122"/>
              </a:rPr>
              <a:t>     </a:t>
            </a:r>
            <a:endParaRPr kumimoji="1" lang="en-US" altLang="zh-CN" sz="1600" b="1" dirty="0">
              <a:latin typeface="Times New Roman" panose="02020603050405020304" pitchFamily="18" charset="0"/>
              <a:ea typeface="华文楷体" panose="02010600040101010101" pitchFamily="2" charset="-122"/>
            </a:endParaRPr>
          </a:p>
        </p:txBody>
      </p:sp>
      <p:sp>
        <p:nvSpPr>
          <p:cNvPr id="15381" name="Line 20"/>
          <p:cNvSpPr>
            <a:spLocks noChangeShapeType="1"/>
          </p:cNvSpPr>
          <p:nvPr/>
        </p:nvSpPr>
        <p:spPr bwMode="auto">
          <a:xfrm flipH="1">
            <a:off x="1371600" y="3615438"/>
            <a:ext cx="0" cy="1143001"/>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82" name="Line 21"/>
          <p:cNvSpPr>
            <a:spLocks noChangeShapeType="1"/>
          </p:cNvSpPr>
          <p:nvPr/>
        </p:nvSpPr>
        <p:spPr bwMode="auto">
          <a:xfrm flipV="1">
            <a:off x="3352800" y="5943600"/>
            <a:ext cx="1828800" cy="533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83" name="Line 22"/>
          <p:cNvSpPr>
            <a:spLocks noChangeShapeType="1"/>
          </p:cNvSpPr>
          <p:nvPr/>
        </p:nvSpPr>
        <p:spPr bwMode="auto">
          <a:xfrm>
            <a:off x="2895600" y="4953000"/>
            <a:ext cx="152400" cy="990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84" name="Arc 23"/>
          <p:cNvSpPr/>
          <p:nvPr/>
        </p:nvSpPr>
        <p:spPr bwMode="auto">
          <a:xfrm>
            <a:off x="1295400" y="5139438"/>
            <a:ext cx="1676400" cy="381000"/>
          </a:xfrm>
          <a:custGeom>
            <a:avLst/>
            <a:gdLst>
              <a:gd name="T0" fmla="*/ 2147483646 w 43200"/>
              <a:gd name="T1" fmla="*/ 170447900 h 35093"/>
              <a:gd name="T2" fmla="*/ 2147483646 w 43200"/>
              <a:gd name="T3" fmla="*/ 0 h 35093"/>
              <a:gd name="T4" fmla="*/ 2147483646 w 43200"/>
              <a:gd name="T5" fmla="*/ 2035315821 h 35093"/>
              <a:gd name="T6" fmla="*/ 0 60000 65536"/>
              <a:gd name="T7" fmla="*/ 0 60000 65536"/>
              <a:gd name="T8" fmla="*/ 0 60000 65536"/>
            </a:gdLst>
            <a:ahLst/>
            <a:cxnLst>
              <a:cxn ang="T6">
                <a:pos x="T0" y="T1"/>
              </a:cxn>
              <a:cxn ang="T7">
                <a:pos x="T2" y="T3"/>
              </a:cxn>
              <a:cxn ang="T8">
                <a:pos x="T4" y="T5"/>
              </a:cxn>
            </a:cxnLst>
            <a:rect l="0" t="0" r="r" b="b"/>
            <a:pathLst>
              <a:path w="43200" h="35093" fill="none" extrusionOk="0">
                <a:moveTo>
                  <a:pt x="39312" y="1129"/>
                </a:moveTo>
                <a:cubicBezTo>
                  <a:pt x="41842" y="4755"/>
                  <a:pt x="43200" y="9071"/>
                  <a:pt x="43200" y="13493"/>
                </a:cubicBezTo>
                <a:cubicBezTo>
                  <a:pt x="43200" y="25422"/>
                  <a:pt x="33529" y="35093"/>
                  <a:pt x="21600" y="35093"/>
                </a:cubicBezTo>
                <a:cubicBezTo>
                  <a:pt x="9670" y="35093"/>
                  <a:pt x="0" y="25422"/>
                  <a:pt x="0" y="13493"/>
                </a:cubicBezTo>
                <a:cubicBezTo>
                  <a:pt x="0" y="8588"/>
                  <a:pt x="1669" y="3829"/>
                  <a:pt x="4732" y="-1"/>
                </a:cubicBezTo>
              </a:path>
              <a:path w="43200" h="35093" stroke="0" extrusionOk="0">
                <a:moveTo>
                  <a:pt x="39312" y="1129"/>
                </a:moveTo>
                <a:cubicBezTo>
                  <a:pt x="41842" y="4755"/>
                  <a:pt x="43200" y="9071"/>
                  <a:pt x="43200" y="13493"/>
                </a:cubicBezTo>
                <a:cubicBezTo>
                  <a:pt x="43200" y="25422"/>
                  <a:pt x="33529" y="35093"/>
                  <a:pt x="21600" y="35093"/>
                </a:cubicBezTo>
                <a:cubicBezTo>
                  <a:pt x="9670" y="35093"/>
                  <a:pt x="0" y="25422"/>
                  <a:pt x="0" y="13493"/>
                </a:cubicBezTo>
                <a:cubicBezTo>
                  <a:pt x="0" y="8588"/>
                  <a:pt x="1669" y="3829"/>
                  <a:pt x="4732" y="-1"/>
                </a:cubicBezTo>
                <a:lnTo>
                  <a:pt x="21600" y="13493"/>
                </a:lnTo>
                <a:lnTo>
                  <a:pt x="39312" y="1129"/>
                </a:lnTo>
                <a:close/>
              </a:path>
            </a:pathLst>
          </a:custGeom>
          <a:noFill/>
          <a:ln w="28575">
            <a:solidFill>
              <a:schemeClr val="tx1"/>
            </a:solidFill>
            <a:round/>
            <a:headEnd type="none" w="sm" len="sm"/>
            <a:tailEnd type="triangle" w="med" len="me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385" name="Text Box 24"/>
          <p:cNvSpPr txBox="1">
            <a:spLocks noChangeArrowheads="1"/>
          </p:cNvSpPr>
          <p:nvPr/>
        </p:nvSpPr>
        <p:spPr bwMode="auto">
          <a:xfrm>
            <a:off x="1676400" y="3005838"/>
            <a:ext cx="838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15386" name="Text Box 25"/>
          <p:cNvSpPr txBox="1">
            <a:spLocks noChangeArrowheads="1"/>
          </p:cNvSpPr>
          <p:nvPr/>
        </p:nvSpPr>
        <p:spPr bwMode="auto">
          <a:xfrm>
            <a:off x="1676400" y="5215638"/>
            <a:ext cx="838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15387" name="Text Box 26"/>
          <p:cNvSpPr txBox="1">
            <a:spLocks noChangeArrowheads="1"/>
          </p:cNvSpPr>
          <p:nvPr/>
        </p:nvSpPr>
        <p:spPr bwMode="auto">
          <a:xfrm>
            <a:off x="1676400" y="4072638"/>
            <a:ext cx="838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15388" name="Text Box 27"/>
          <p:cNvSpPr txBox="1">
            <a:spLocks noChangeArrowheads="1"/>
          </p:cNvSpPr>
          <p:nvPr/>
        </p:nvSpPr>
        <p:spPr bwMode="auto">
          <a:xfrm>
            <a:off x="990600" y="4072638"/>
            <a:ext cx="457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15389" name="Text Box 28"/>
          <p:cNvSpPr txBox="1">
            <a:spLocks noChangeArrowheads="1"/>
          </p:cNvSpPr>
          <p:nvPr/>
        </p:nvSpPr>
        <p:spPr bwMode="auto">
          <a:xfrm>
            <a:off x="2514600" y="3996438"/>
            <a:ext cx="457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15390" name="Text Box 29"/>
          <p:cNvSpPr txBox="1">
            <a:spLocks noChangeArrowheads="1"/>
          </p:cNvSpPr>
          <p:nvPr/>
        </p:nvSpPr>
        <p:spPr bwMode="auto">
          <a:xfrm>
            <a:off x="1828800" y="4606038"/>
            <a:ext cx="457200" cy="336551"/>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15391" name="Text Box 30"/>
          <p:cNvSpPr txBox="1">
            <a:spLocks noChangeArrowheads="1"/>
          </p:cNvSpPr>
          <p:nvPr/>
        </p:nvSpPr>
        <p:spPr bwMode="auto">
          <a:xfrm>
            <a:off x="685800" y="5562600"/>
            <a:ext cx="7162800" cy="1077218"/>
          </a:xfrm>
          <a:prstGeom prst="rect">
            <a:avLst/>
          </a:prstGeom>
          <a:no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优点</a:t>
            </a:r>
            <a:r>
              <a:rPr kumimoji="1" lang="zh-CN" altLang="en-US" sz="1600" dirty="0">
                <a:latin typeface="Times New Roman" panose="02020603050405020304" pitchFamily="18" charset="0"/>
                <a:ea typeface="华文楷体" panose="02010600040101010101" pitchFamily="2" charset="-122"/>
              </a:rPr>
              <a:t>：判断任意两点之间是否有边方便，仅耗费 </a:t>
            </a:r>
            <a:r>
              <a:rPr kumimoji="1" lang="en-US" altLang="zh-CN" sz="1600" dirty="0">
                <a:latin typeface="Times New Roman" panose="02020603050405020304" pitchFamily="18" charset="0"/>
                <a:ea typeface="华文楷体" panose="02010600040101010101" pitchFamily="2" charset="-122"/>
              </a:rPr>
              <a:t>O(1) </a:t>
            </a:r>
            <a:r>
              <a:rPr kumimoji="1" lang="zh-CN" altLang="en-US" sz="1600" dirty="0">
                <a:latin typeface="Times New Roman" panose="02020603050405020304" pitchFamily="18" charset="0"/>
                <a:ea typeface="华文楷体" panose="02010600040101010101" pitchFamily="2" charset="-122"/>
              </a:rPr>
              <a:t>时间。</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solidFill>
                  <a:srgbClr val="C00000"/>
                </a:solidFill>
                <a:latin typeface="Times New Roman" panose="02020603050405020304" pitchFamily="18" charset="0"/>
                <a:ea typeface="华文楷体" panose="02010600040101010101" pitchFamily="2" charset="-122"/>
              </a:rPr>
              <a:t>缺点</a:t>
            </a:r>
            <a:r>
              <a:rPr kumimoji="1" lang="zh-CN" altLang="en-US" sz="1600" dirty="0">
                <a:latin typeface="Times New Roman" panose="02020603050405020304" pitchFamily="18" charset="0"/>
                <a:ea typeface="华文楷体" panose="02010600040101010101" pitchFamily="2" charset="-122"/>
              </a:rPr>
              <a:t>：即使 </a:t>
            </a:r>
            <a:r>
              <a:rPr kumimoji="1" lang="en-US" altLang="zh-CN" sz="1600" dirty="0">
                <a:latin typeface="Times New Roman" panose="02020603050405020304" pitchFamily="18" charset="0"/>
                <a:ea typeface="华文楷体" panose="02010600040101010101" pitchFamily="2" charset="-122"/>
              </a:rPr>
              <a:t>&lt;&lt; n</a:t>
            </a:r>
            <a:r>
              <a:rPr kumimoji="1" lang="en-US" altLang="zh-CN" sz="1600" baseline="30000" dirty="0">
                <a:latin typeface="Times New Roman" panose="02020603050405020304" pitchFamily="18" charset="0"/>
                <a:ea typeface="华文楷体" panose="02010600040101010101" pitchFamily="2" charset="-122"/>
              </a:rPr>
              <a:t>2 </a:t>
            </a:r>
            <a:r>
              <a:rPr kumimoji="1" lang="zh-CN" altLang="en-US" sz="1600" dirty="0">
                <a:latin typeface="Times New Roman" panose="02020603050405020304" pitchFamily="18" charset="0"/>
                <a:ea typeface="华文楷体" panose="02010600040101010101" pitchFamily="2" charset="-122"/>
              </a:rPr>
              <a:t>条边，也</a:t>
            </a:r>
            <a:r>
              <a:rPr kumimoji="1" lang="zh-CN" altLang="en-US" sz="1600" dirty="0" smtClean="0">
                <a:latin typeface="Times New Roman" panose="02020603050405020304" pitchFamily="18" charset="0"/>
                <a:ea typeface="华文楷体" panose="02010600040101010101" pitchFamily="2" charset="-122"/>
              </a:rPr>
              <a:t>需至少内存 </a:t>
            </a:r>
            <a:r>
              <a:rPr kumimoji="1" lang="en-US" altLang="zh-CN" sz="1600" dirty="0">
                <a:latin typeface="Times New Roman" panose="02020603050405020304" pitchFamily="18" charset="0"/>
                <a:ea typeface="华文楷体" panose="02010600040101010101" pitchFamily="2" charset="-122"/>
              </a:rPr>
              <a:t>n</a:t>
            </a:r>
            <a:r>
              <a:rPr kumimoji="1" lang="en-US" altLang="zh-CN" sz="1600" baseline="30000" dirty="0">
                <a:latin typeface="Times New Roman" panose="02020603050405020304" pitchFamily="18" charset="0"/>
                <a:ea typeface="华文楷体" panose="02010600040101010101" pitchFamily="2" charset="-122"/>
              </a:rPr>
              <a:t>2</a:t>
            </a:r>
            <a:r>
              <a:rPr kumimoji="1" lang="en-US" altLang="zh-CN" sz="1600" dirty="0">
                <a:latin typeface="Times New Roman" panose="02020603050405020304" pitchFamily="18" charset="0"/>
                <a:ea typeface="华文楷体" panose="02010600040101010101" pitchFamily="2" charset="-122"/>
              </a:rPr>
              <a:t> /2 </a:t>
            </a:r>
            <a:r>
              <a:rPr kumimoji="1" lang="zh-CN" altLang="zh-CN" sz="1600" dirty="0">
                <a:latin typeface="Times New Roman" panose="02020603050405020304" pitchFamily="18" charset="0"/>
                <a:ea typeface="华文楷体" panose="02010600040101010101" pitchFamily="2" charset="-122"/>
              </a:rPr>
              <a:t>单元，太多</a:t>
            </a:r>
            <a:r>
              <a:rPr kumimoji="1" lang="en-US" altLang="zh-CN" sz="1600" dirty="0">
                <a:latin typeface="Times New Roman" panose="02020603050405020304" pitchFamily="18" charset="0"/>
                <a:ea typeface="华文楷体" panose="02010600040101010101" pitchFamily="2" charset="-122"/>
              </a:rPr>
              <a:t>; </a:t>
            </a:r>
            <a:r>
              <a:rPr kumimoji="1" lang="zh-CN" altLang="en-US" sz="1600" dirty="0">
                <a:latin typeface="Times New Roman" panose="02020603050405020304" pitchFamily="18" charset="0"/>
                <a:ea typeface="华文楷体" panose="02010600040101010101" pitchFamily="2" charset="-122"/>
              </a:rPr>
              <a:t>仅读入</a:t>
            </a:r>
            <a:r>
              <a:rPr kumimoji="1" lang="zh-CN" altLang="en-US" sz="1600" dirty="0" smtClean="0">
                <a:latin typeface="Times New Roman" panose="02020603050405020304" pitchFamily="18" charset="0"/>
                <a:ea typeface="华文楷体" panose="02010600040101010101" pitchFamily="2" charset="-122"/>
              </a:rPr>
              <a:t>数据需  </a:t>
            </a:r>
            <a:r>
              <a:rPr kumimoji="1" lang="en-US" altLang="zh-CN" sz="1600" dirty="0">
                <a:latin typeface="Times New Roman" panose="02020603050405020304" pitchFamily="18" charset="0"/>
                <a:ea typeface="华文楷体" panose="02010600040101010101" pitchFamily="2" charset="-122"/>
              </a:rPr>
              <a:t>O( n</a:t>
            </a:r>
            <a:r>
              <a:rPr kumimoji="1" lang="en-US" altLang="zh-CN" sz="1600" baseline="30000" dirty="0">
                <a:latin typeface="Times New Roman" panose="02020603050405020304" pitchFamily="18" charset="0"/>
                <a:ea typeface="华文楷体" panose="02010600040101010101" pitchFamily="2" charset="-122"/>
              </a:rPr>
              <a:t>2</a:t>
            </a:r>
            <a:r>
              <a:rPr kumimoji="1" lang="en-US" altLang="zh-CN" sz="1600" dirty="0">
                <a:latin typeface="Times New Roman" panose="02020603050405020304" pitchFamily="18" charset="0"/>
                <a:ea typeface="华文楷体" panose="02010600040101010101" pitchFamily="2" charset="-122"/>
              </a:rPr>
              <a:t> )   </a:t>
            </a:r>
            <a:endParaRPr kumimoji="1" lang="en-US" altLang="zh-CN" sz="16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           </a:t>
            </a:r>
            <a:r>
              <a:rPr kumimoji="1" lang="zh-CN" altLang="zh-CN" sz="1600" dirty="0">
                <a:latin typeface="Times New Roman" panose="02020603050405020304" pitchFamily="18" charset="0"/>
                <a:ea typeface="华文楷体" panose="02010600040101010101" pitchFamily="2" charset="-122"/>
              </a:rPr>
              <a:t>时间，太长。</a:t>
            </a:r>
            <a:endParaRPr kumimoji="1" lang="zh-CN" altLang="en-US" sz="1600" dirty="0">
              <a:latin typeface="Times New Roman" panose="02020603050405020304" pitchFamily="18" charset="0"/>
              <a:ea typeface="华文楷体" panose="02010600040101010101" pitchFamily="2" charset="-122"/>
            </a:endParaRPr>
          </a:p>
        </p:txBody>
      </p:sp>
      <p:sp>
        <p:nvSpPr>
          <p:cNvPr id="15392" name="Text Box 31"/>
          <p:cNvSpPr txBox="1">
            <a:spLocks noChangeArrowheads="1"/>
          </p:cNvSpPr>
          <p:nvPr/>
        </p:nvSpPr>
        <p:spPr bwMode="auto">
          <a:xfrm>
            <a:off x="1127125" y="2986087"/>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endParaRPr lang="en-US" altLang="zh-CN" sz="1800" dirty="0">
              <a:latin typeface="Times New Roman" panose="02020603050405020304" pitchFamily="18" charset="0"/>
              <a:ea typeface="华文楷体" panose="02010600040101010101" pitchFamily="2" charset="-122"/>
            </a:endParaRPr>
          </a:p>
        </p:txBody>
      </p:sp>
      <p:sp>
        <p:nvSpPr>
          <p:cNvPr id="15393" name="Text Box 32"/>
          <p:cNvSpPr txBox="1">
            <a:spLocks noChangeArrowheads="1"/>
          </p:cNvSpPr>
          <p:nvPr/>
        </p:nvSpPr>
        <p:spPr bwMode="auto">
          <a:xfrm>
            <a:off x="2803525" y="2986087"/>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a:t>
            </a:r>
            <a:endParaRPr lang="en-US" altLang="zh-CN" sz="1800" dirty="0">
              <a:latin typeface="Times New Roman" panose="02020603050405020304" pitchFamily="18" charset="0"/>
              <a:ea typeface="华文楷体" panose="02010600040101010101" pitchFamily="2" charset="-122"/>
            </a:endParaRPr>
          </a:p>
        </p:txBody>
      </p:sp>
      <p:sp>
        <p:nvSpPr>
          <p:cNvPr id="15394" name="Text Box 33"/>
          <p:cNvSpPr txBox="1">
            <a:spLocks noChangeArrowheads="1"/>
          </p:cNvSpPr>
          <p:nvPr/>
        </p:nvSpPr>
        <p:spPr bwMode="auto">
          <a:xfrm>
            <a:off x="898525" y="47949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a:t>
            </a:r>
            <a:endParaRPr lang="en-US" altLang="zh-CN" sz="1800" dirty="0">
              <a:latin typeface="Times New Roman" panose="02020603050405020304" pitchFamily="18" charset="0"/>
              <a:ea typeface="华文楷体" panose="02010600040101010101" pitchFamily="2" charset="-122"/>
            </a:endParaRPr>
          </a:p>
        </p:txBody>
      </p:sp>
      <p:sp>
        <p:nvSpPr>
          <p:cNvPr id="15395" name="Text Box 34"/>
          <p:cNvSpPr txBox="1">
            <a:spLocks noChangeArrowheads="1"/>
          </p:cNvSpPr>
          <p:nvPr/>
        </p:nvSpPr>
        <p:spPr bwMode="auto">
          <a:xfrm>
            <a:off x="3108325" y="47949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a:t>
            </a:r>
            <a:endParaRPr lang="en-US" altLang="zh-CN"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990600" y="1371600"/>
            <a:ext cx="6400800" cy="4410075"/>
          </a:xfrm>
          <a:ln>
            <a:solidFill>
              <a:schemeClr val="accent1"/>
            </a:solidFill>
          </a:ln>
        </p:spPr>
        <p:txBody>
          <a:bodyPr/>
          <a:lstStyle/>
          <a:p>
            <a:pPr marL="0" indent="0">
              <a:buNone/>
            </a:pPr>
            <a:r>
              <a:rPr lang="en-US" altLang="zh-CN" sz="1800" b="1" dirty="0" smtClean="0">
                <a:solidFill>
                  <a:srgbClr val="C00000"/>
                </a:solidFill>
                <a:ea typeface="华文楷体" panose="02010600040101010101" pitchFamily="2" charset="-122"/>
              </a:rPr>
              <a:t>[</a:t>
            </a:r>
            <a:r>
              <a:rPr lang="zh-CN" altLang="en-US" sz="1800" b="1" dirty="0" smtClean="0">
                <a:solidFill>
                  <a:srgbClr val="C00000"/>
                </a:solidFill>
                <a:ea typeface="华文楷体" panose="02010600040101010101" pitchFamily="2" charset="-122"/>
              </a:rPr>
              <a:t>邻接矩阵结构</a:t>
            </a:r>
            <a:r>
              <a:rPr lang="en-US" altLang="zh-CN" sz="1800" b="1" dirty="0" smtClean="0">
                <a:solidFill>
                  <a:srgbClr val="C00000"/>
                </a:solidFill>
                <a:ea typeface="华文楷体" panose="02010600040101010101" pitchFamily="2" charset="-122"/>
              </a:rPr>
              <a:t>]</a:t>
            </a:r>
            <a:endParaRPr lang="en-US" altLang="zh-CN" sz="1800" b="1" dirty="0" smtClean="0">
              <a:solidFill>
                <a:srgbClr val="C00000"/>
              </a:solidFill>
              <a:ea typeface="华文楷体" panose="02010600040101010101" pitchFamily="2" charset="-122"/>
            </a:endParaRPr>
          </a:p>
          <a:p>
            <a:pPr marL="0" indent="0">
              <a:buNone/>
            </a:pPr>
            <a:r>
              <a:rPr lang="en-US" altLang="zh-CN" sz="1800" dirty="0" smtClean="0">
                <a:ea typeface="华文楷体" panose="02010600040101010101" pitchFamily="2" charset="-122"/>
              </a:rPr>
              <a:t>#define MAXV &lt;</a:t>
            </a:r>
            <a:r>
              <a:rPr lang="zh-CN" altLang="en-US" sz="1800" dirty="0" smtClean="0">
                <a:ea typeface="华文楷体" panose="02010600040101010101" pitchFamily="2" charset="-122"/>
              </a:rPr>
              <a:t>最大顶点数</a:t>
            </a:r>
            <a:r>
              <a:rPr lang="en-US" altLang="zh-CN" sz="1800" dirty="0" smtClean="0">
                <a:ea typeface="华文楷体" panose="02010600040101010101" pitchFamily="2" charset="-122"/>
              </a:rPr>
              <a:t>&gt;</a:t>
            </a:r>
            <a:endParaRPr lang="en-US" altLang="zh-CN" sz="1800" dirty="0" smtClean="0">
              <a:ea typeface="华文楷体" panose="02010600040101010101" pitchFamily="2" charset="-122"/>
            </a:endParaRPr>
          </a:p>
          <a:p>
            <a:pPr marL="0" indent="0">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no; //</a:t>
            </a:r>
            <a:r>
              <a:rPr lang="zh-CN" altLang="en-US" sz="1800" dirty="0" smtClean="0">
                <a:ea typeface="华文楷体" panose="02010600040101010101" pitchFamily="2" charset="-122"/>
              </a:rPr>
              <a:t>顶点编号</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data; //</a:t>
            </a:r>
            <a:r>
              <a:rPr lang="zh-CN" altLang="en-US" sz="1800" dirty="0" smtClean="0">
                <a:ea typeface="华文楷体" panose="02010600040101010101" pitchFamily="2" charset="-122"/>
              </a:rPr>
              <a:t>顶点值</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VertexType</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edges[MAXV][MAXV];//</a:t>
            </a:r>
            <a:r>
              <a:rPr lang="zh-CN" altLang="en-US" sz="1800" dirty="0" smtClean="0">
                <a:ea typeface="华文楷体" panose="02010600040101010101" pitchFamily="2" charset="-122"/>
              </a:rPr>
              <a:t>邻接矩阵数组</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n,e</a:t>
            </a: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顶点数和边数</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VertexType</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vexs</a:t>
            </a:r>
            <a:r>
              <a:rPr lang="en-US" altLang="zh-CN" sz="1800" dirty="0" smtClean="0">
                <a:ea typeface="华文楷体" panose="02010600040101010101" pitchFamily="2" charset="-122"/>
              </a:rPr>
              <a:t>[MAXV]; //</a:t>
            </a:r>
            <a:r>
              <a:rPr lang="zh-CN" altLang="en-US" sz="1800" dirty="0" smtClean="0">
                <a:ea typeface="华文楷体" panose="02010600040101010101" pitchFamily="2" charset="-122"/>
              </a:rPr>
              <a:t>顶点数组</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Mgraph</a:t>
            </a:r>
            <a:r>
              <a:rPr lang="en-US" altLang="zh-CN" sz="1800" dirty="0" smtClean="0">
                <a:ea typeface="华文楷体" panose="02010600040101010101" pitchFamily="2" charset="-122"/>
              </a:rPr>
              <a:t>;</a:t>
            </a:r>
            <a:endParaRPr lang="zh-CN" altLang="en-US" sz="18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页脚占位符 3"/>
          <p:cNvSpPr>
            <a:spLocks noGrp="1"/>
          </p:cNvSpPr>
          <p:nvPr>
            <p:ph type="ftr" sz="quarter" idx="10"/>
          </p:nvPr>
        </p:nvSpPr>
        <p:spPr/>
        <p:txBody>
          <a:bodyPr/>
          <a:lstStyle/>
          <a:p>
            <a:pPr>
              <a:defRPr/>
            </a:pPr>
            <a:r>
              <a:rPr lang="en-US" altLang="zh-CN"/>
              <a:t>BUPT SCST</a:t>
            </a:r>
            <a:endParaRPr lang="en-US" altLang="zh-CN"/>
          </a:p>
        </p:txBody>
      </p:sp>
      <p:sp>
        <p:nvSpPr>
          <p:cNvPr id="16" name="日期占位符 5"/>
          <p:cNvSpPr>
            <a:spLocks noGrp="1"/>
          </p:cNvSpPr>
          <p:nvPr>
            <p:ph type="dt" sz="quarter" idx="12"/>
          </p:nvPr>
        </p:nvSpPr>
        <p:spPr/>
        <p:txBody>
          <a:bodyPr/>
          <a:lstStyle/>
          <a:p>
            <a:pPr>
              <a:defRPr/>
            </a:pPr>
            <a:r>
              <a:rPr lang="en-US" altLang="zh-CN"/>
              <a:t>BUPT</a:t>
            </a:r>
            <a:endParaRPr lang="en-US" altLang="zh-CN"/>
          </a:p>
        </p:txBody>
      </p:sp>
      <p:sp>
        <p:nvSpPr>
          <p:cNvPr id="1638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638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2. </a:t>
            </a:r>
            <a:r>
              <a:rPr lang="zh-CN" altLang="en-US" sz="2400" b="1" dirty="0" smtClean="0">
                <a:solidFill>
                  <a:srgbClr val="800000"/>
                </a:solidFill>
                <a:ea typeface="华文楷体" panose="02010600040101010101" pitchFamily="2" charset="-122"/>
              </a:rPr>
              <a:t>邻接表     </a:t>
            </a:r>
            <a:r>
              <a:rPr lang="zh-CN" altLang="en-US" sz="2400" dirty="0" smtClean="0">
                <a:solidFill>
                  <a:schemeClr val="accent2"/>
                </a:solidFill>
                <a:ea typeface="华文楷体" panose="02010600040101010101" pitchFamily="2" charset="-122"/>
              </a:rPr>
              <a:t>顺序存储</a:t>
            </a:r>
            <a:r>
              <a:rPr lang="en-US" altLang="zh-CN" sz="2400" dirty="0" smtClean="0">
                <a:solidFill>
                  <a:schemeClr val="accent2"/>
                </a:solidFill>
                <a:ea typeface="华文楷体" panose="02010600040101010101" pitchFamily="2" charset="-122"/>
              </a:rPr>
              <a:t>+</a:t>
            </a:r>
            <a:r>
              <a:rPr lang="zh-CN" altLang="en-US" sz="2400" dirty="0" smtClean="0">
                <a:solidFill>
                  <a:schemeClr val="accent2"/>
                </a:solidFill>
                <a:ea typeface="华文楷体" panose="02010600040101010101" pitchFamily="2" charset="-122"/>
              </a:rPr>
              <a:t>链式存储</a:t>
            </a:r>
            <a:endParaRPr lang="zh-CN" altLang="en-US" sz="2400"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16390" name="Text Box 4"/>
          <p:cNvSpPr txBox="1">
            <a:spLocks noChangeArrowheads="1"/>
          </p:cNvSpPr>
          <p:nvPr/>
        </p:nvSpPr>
        <p:spPr bwMode="auto">
          <a:xfrm>
            <a:off x="609231" y="1597858"/>
            <a:ext cx="7467600" cy="2170113"/>
          </a:xfrm>
          <a:prstGeom prst="rect">
            <a:avLst/>
          </a:prstGeom>
          <a:no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Char char="•"/>
            </a:pPr>
            <a:r>
              <a:rPr kumimoji="1" lang="zh-CN" altLang="en-US" sz="1600" dirty="0" smtClean="0">
                <a:latin typeface="Times New Roman" panose="02020603050405020304" pitchFamily="18" charset="0"/>
                <a:ea typeface="华文楷体" panose="02010600040101010101" pitchFamily="2" charset="-122"/>
              </a:rPr>
              <a:t>用顶点</a:t>
            </a:r>
            <a:r>
              <a:rPr kumimoji="1" lang="zh-CN" altLang="en-US" sz="1600" dirty="0">
                <a:latin typeface="Times New Roman" panose="02020603050405020304" pitchFamily="18" charset="0"/>
                <a:ea typeface="华文楷体" panose="02010600040101010101" pitchFamily="2" charset="-122"/>
              </a:rPr>
              <a:t>表、边表</a:t>
            </a:r>
            <a:r>
              <a:rPr kumimoji="1" lang="zh-CN" altLang="en-US" sz="1600" dirty="0" smtClean="0">
                <a:latin typeface="Times New Roman" panose="02020603050405020304" pitchFamily="18" charset="0"/>
                <a:ea typeface="华文楷体" panose="02010600040101010101" pitchFamily="2" charset="-122"/>
              </a:rPr>
              <a:t>表示有向图</a:t>
            </a:r>
            <a:r>
              <a:rPr kumimoji="1" lang="zh-CN" altLang="en-US" sz="1600" dirty="0">
                <a:latin typeface="Times New Roman" panose="02020603050405020304" pitchFamily="18" charset="0"/>
                <a:ea typeface="华文楷体" panose="02010600040101010101" pitchFamily="2" charset="-122"/>
              </a:rPr>
              <a:t>或无向图。</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Char char="•"/>
            </a:pPr>
            <a:r>
              <a:rPr kumimoji="1" lang="zh-CN" altLang="en-US" sz="1600" dirty="0">
                <a:latin typeface="Times New Roman" panose="02020603050405020304" pitchFamily="18" charset="0"/>
                <a:ea typeface="华文楷体" panose="02010600040101010101" pitchFamily="2" charset="-122"/>
              </a:rPr>
              <a:t>  顶点表：用数组的形式存放所有的顶点。</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Char char="•"/>
            </a:pPr>
            <a:r>
              <a:rPr kumimoji="1" lang="zh-CN" altLang="en-US" sz="1600" dirty="0">
                <a:latin typeface="Times New Roman" panose="02020603050405020304" pitchFamily="18" charset="0"/>
                <a:ea typeface="华文楷体" panose="02010600040101010101" pitchFamily="2" charset="-122"/>
              </a:rPr>
              <a:t>  边表（出边表）：从某个顶点出发的</a:t>
            </a:r>
            <a:r>
              <a:rPr kumimoji="1" lang="zh-CN" altLang="en-US" sz="1600" dirty="0" smtClean="0">
                <a:latin typeface="Times New Roman" panose="02020603050405020304" pitchFamily="18" charset="0"/>
                <a:ea typeface="华文楷体" panose="02010600040101010101" pitchFamily="2" charset="-122"/>
              </a:rPr>
              <a:t>边结点组成</a:t>
            </a:r>
            <a:r>
              <a:rPr kumimoji="1" lang="zh-CN" altLang="en-US" sz="1600" dirty="0">
                <a:latin typeface="Times New Roman" panose="02020603050405020304" pitchFamily="18" charset="0"/>
                <a:ea typeface="华文楷体" panose="02010600040101010101" pitchFamily="2" charset="-122"/>
              </a:rPr>
              <a:t>的单链表。</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Char char="•"/>
            </a:pPr>
            <a:r>
              <a:rPr kumimoji="1" lang="zh-CN" altLang="en-US" sz="1600" dirty="0">
                <a:solidFill>
                  <a:schemeClr val="folHlink"/>
                </a:solidFill>
                <a:latin typeface="Times New Roman" panose="02020603050405020304" pitchFamily="18" charset="0"/>
                <a:ea typeface="华文楷体" panose="02010600040101010101" pitchFamily="2" charset="-122"/>
              </a:rPr>
              <a:t>  </a:t>
            </a:r>
            <a:r>
              <a:rPr kumimoji="1" lang="zh-CN" altLang="en-US" sz="1600" b="1" dirty="0">
                <a:solidFill>
                  <a:schemeClr val="accent2"/>
                </a:solidFill>
                <a:latin typeface="Times New Roman" panose="02020603050405020304" pitchFamily="18" charset="0"/>
                <a:ea typeface="华文楷体" panose="02010600040101010101" pitchFamily="2" charset="-122"/>
              </a:rPr>
              <a:t>优点</a:t>
            </a:r>
            <a:r>
              <a:rPr kumimoji="1" lang="zh-CN" altLang="en-US" sz="1600" dirty="0">
                <a:latin typeface="Times New Roman" panose="02020603050405020304" pitchFamily="18" charset="0"/>
                <a:ea typeface="华文楷体" panose="02010600040101010101" pitchFamily="2" charset="-122"/>
              </a:rPr>
              <a:t>：内存消耗 ＝  顶点数 ＋ 边数</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Char char="•"/>
            </a:pPr>
            <a:r>
              <a:rPr kumimoji="1" lang="zh-CN" altLang="en-US" sz="1600" dirty="0">
                <a:latin typeface="Times New Roman" panose="02020603050405020304" pitchFamily="18" charset="0"/>
                <a:ea typeface="华文楷体" panose="02010600040101010101" pitchFamily="2" charset="-122"/>
              </a:rPr>
              <a:t>  </a:t>
            </a:r>
            <a:r>
              <a:rPr kumimoji="1" lang="zh-CN" altLang="en-US" sz="1600" b="1" dirty="0">
                <a:solidFill>
                  <a:srgbClr val="C00000"/>
                </a:solidFill>
                <a:latin typeface="Times New Roman" panose="02020603050405020304" pitchFamily="18" charset="0"/>
                <a:ea typeface="华文楷体" panose="02010600040101010101" pitchFamily="2" charset="-122"/>
              </a:rPr>
              <a:t>缺点</a:t>
            </a:r>
            <a:r>
              <a:rPr kumimoji="1" lang="zh-CN" altLang="en-US" sz="1600" dirty="0">
                <a:latin typeface="Times New Roman" panose="02020603050405020304" pitchFamily="18" charset="0"/>
                <a:ea typeface="华文楷体" panose="02010600040101010101" pitchFamily="2" charset="-122"/>
              </a:rPr>
              <a:t>：确定 </a:t>
            </a:r>
            <a:r>
              <a:rPr kumimoji="1" lang="en-US" altLang="zh-CN" sz="1600" dirty="0" err="1">
                <a:latin typeface="Times New Roman" panose="02020603050405020304" pitchFamily="18" charset="0"/>
                <a:ea typeface="华文楷体" panose="02010600040101010101" pitchFamily="2" charset="-122"/>
              </a:rPr>
              <a:t>i</a:t>
            </a:r>
            <a:r>
              <a:rPr kumimoji="1" lang="en-US" altLang="zh-CN" sz="1600" dirty="0">
                <a:latin typeface="Times New Roman" panose="02020603050405020304" pitchFamily="18" charset="0"/>
                <a:ea typeface="华文楷体" panose="02010600040101010101" pitchFamily="2" charset="-122"/>
              </a:rPr>
              <a:t> --&gt; j </a:t>
            </a:r>
            <a:r>
              <a:rPr kumimoji="1" lang="zh-CN" altLang="en-US" sz="1600" dirty="0">
                <a:latin typeface="Times New Roman" panose="02020603050405020304" pitchFamily="18" charset="0"/>
                <a:ea typeface="华文楷体" panose="02010600040101010101" pitchFamily="2" charset="-122"/>
              </a:rPr>
              <a:t>是否有边，最坏需耗费 </a:t>
            </a:r>
            <a:r>
              <a:rPr kumimoji="1" lang="en-US" altLang="zh-CN" sz="1600" dirty="0">
                <a:latin typeface="Times New Roman" panose="02020603050405020304" pitchFamily="18" charset="0"/>
                <a:ea typeface="华文楷体" panose="02010600040101010101" pitchFamily="2" charset="-122"/>
              </a:rPr>
              <a:t>O(n) </a:t>
            </a:r>
            <a:r>
              <a:rPr kumimoji="1" lang="zh-CN" altLang="en-US" sz="1600" dirty="0">
                <a:latin typeface="Times New Roman" panose="02020603050405020304" pitchFamily="18" charset="0"/>
                <a:ea typeface="华文楷体" panose="02010600040101010101" pitchFamily="2" charset="-122"/>
              </a:rPr>
              <a:t>时间。无向图同一条边表示两次</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dirty="0">
                <a:latin typeface="Times New Roman" panose="02020603050405020304" pitchFamily="18" charset="0"/>
                <a:ea typeface="华文楷体" panose="02010600040101010101" pitchFamily="2" charset="-122"/>
              </a:rPr>
              <a:t>               边表空间浪费一倍。有向图中寻找进入某结点的边，非常困难。</a:t>
            </a:r>
            <a:endParaRPr kumimoji="1" lang="zh-CN" altLang="en-US" sz="1600" dirty="0">
              <a:latin typeface="Times New Roman" panose="02020603050405020304" pitchFamily="18" charset="0"/>
              <a:ea typeface="华文楷体" panose="02010600040101010101" pitchFamily="2" charset="-122"/>
            </a:endParaRPr>
          </a:p>
        </p:txBody>
      </p:sp>
      <p:sp>
        <p:nvSpPr>
          <p:cNvPr id="16391" name="Line 5"/>
          <p:cNvSpPr>
            <a:spLocks noChangeShapeType="1"/>
          </p:cNvSpPr>
          <p:nvPr/>
        </p:nvSpPr>
        <p:spPr bwMode="auto">
          <a:xfrm>
            <a:off x="2617433" y="4422483"/>
            <a:ext cx="152400" cy="990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2" name="Line 6"/>
          <p:cNvSpPr>
            <a:spLocks noChangeShapeType="1"/>
          </p:cNvSpPr>
          <p:nvPr/>
        </p:nvSpPr>
        <p:spPr bwMode="auto">
          <a:xfrm>
            <a:off x="712433" y="4601221"/>
            <a:ext cx="2743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3" name="Line 7"/>
          <p:cNvSpPr>
            <a:spLocks noChangeShapeType="1"/>
          </p:cNvSpPr>
          <p:nvPr/>
        </p:nvSpPr>
        <p:spPr bwMode="auto">
          <a:xfrm flipV="1">
            <a:off x="712433" y="4601221"/>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4" name="Line 8"/>
          <p:cNvSpPr>
            <a:spLocks noChangeShapeType="1"/>
          </p:cNvSpPr>
          <p:nvPr/>
        </p:nvSpPr>
        <p:spPr bwMode="auto">
          <a:xfrm>
            <a:off x="712433" y="5058421"/>
            <a:ext cx="2743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5" name="Line 9"/>
          <p:cNvSpPr>
            <a:spLocks noChangeShapeType="1"/>
          </p:cNvSpPr>
          <p:nvPr/>
        </p:nvSpPr>
        <p:spPr bwMode="auto">
          <a:xfrm flipV="1">
            <a:off x="2007833" y="4601221"/>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6" name="Line 10"/>
          <p:cNvSpPr>
            <a:spLocks noChangeShapeType="1"/>
          </p:cNvSpPr>
          <p:nvPr/>
        </p:nvSpPr>
        <p:spPr bwMode="auto">
          <a:xfrm flipV="1">
            <a:off x="3455633" y="4601221"/>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97" name="Text Box 11"/>
          <p:cNvSpPr txBox="1">
            <a:spLocks noChangeArrowheads="1"/>
          </p:cNvSpPr>
          <p:nvPr/>
        </p:nvSpPr>
        <p:spPr bwMode="auto">
          <a:xfrm>
            <a:off x="788633" y="4677421"/>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data</a:t>
            </a:r>
            <a:endParaRPr kumimoji="1" lang="en-US" altLang="zh-CN" sz="1600" b="1" dirty="0">
              <a:latin typeface="Times New Roman" panose="02020603050405020304" pitchFamily="18" charset="0"/>
              <a:ea typeface="华文楷体" panose="02010600040101010101" pitchFamily="2" charset="-122"/>
            </a:endParaRPr>
          </a:p>
        </p:txBody>
      </p:sp>
      <p:sp>
        <p:nvSpPr>
          <p:cNvPr id="16398" name="Text Box 12"/>
          <p:cNvSpPr txBox="1">
            <a:spLocks noChangeArrowheads="1"/>
          </p:cNvSpPr>
          <p:nvPr/>
        </p:nvSpPr>
        <p:spPr bwMode="auto">
          <a:xfrm>
            <a:off x="2160233" y="4677421"/>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latin typeface="Times New Roman" panose="02020603050405020304" pitchFamily="18" charset="0"/>
                <a:ea typeface="华文楷体" panose="02010600040101010101" pitchFamily="2" charset="-122"/>
              </a:rPr>
              <a:t>firstarc</a:t>
            </a:r>
            <a:endParaRPr kumimoji="1" lang="en-US" altLang="zh-CN" sz="1600" b="1" dirty="0">
              <a:latin typeface="Times New Roman" panose="02020603050405020304" pitchFamily="18" charset="0"/>
              <a:ea typeface="华文楷体" panose="02010600040101010101" pitchFamily="2" charset="-122"/>
            </a:endParaRPr>
          </a:p>
        </p:txBody>
      </p:sp>
      <p:sp>
        <p:nvSpPr>
          <p:cNvPr id="16399" name="Text Box 13"/>
          <p:cNvSpPr txBox="1">
            <a:spLocks noChangeArrowheads="1"/>
          </p:cNvSpPr>
          <p:nvPr/>
        </p:nvSpPr>
        <p:spPr bwMode="auto">
          <a:xfrm>
            <a:off x="636233" y="3889083"/>
            <a:ext cx="27432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顶点表中</a:t>
            </a:r>
            <a:r>
              <a:rPr kumimoji="1" lang="zh-CN" altLang="en-US" sz="1600" b="1" dirty="0" smtClean="0">
                <a:solidFill>
                  <a:schemeClr val="accent2"/>
                </a:solidFill>
                <a:latin typeface="Times New Roman" panose="02020603050405020304" pitchFamily="18" charset="0"/>
                <a:ea typeface="华文楷体" panose="02010600040101010101" pitchFamily="2" charset="-122"/>
              </a:rPr>
              <a:t>的结点</a:t>
            </a:r>
            <a:r>
              <a:rPr kumimoji="1" lang="zh-CN" altLang="en-US" sz="1600" b="1" dirty="0">
                <a:solidFill>
                  <a:schemeClr val="accent2"/>
                </a:solidFill>
                <a:latin typeface="Times New Roman" panose="02020603050405020304" pitchFamily="18" charset="0"/>
                <a:ea typeface="华文楷体" panose="02010600040101010101" pitchFamily="2" charset="-122"/>
              </a:rPr>
              <a:t>的表示：</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a:p>
            <a:pPr lvl="1">
              <a:spcBef>
                <a:spcPct val="50000"/>
              </a:spcBef>
              <a:buClrTx/>
              <a:buFontTx/>
              <a:buChar char="•"/>
            </a:pPr>
            <a:r>
              <a:rPr kumimoji="1" lang="zh-CN" altLang="en-US" sz="1600" b="1" dirty="0">
                <a:latin typeface="Times New Roman" panose="02020603050405020304" pitchFamily="18" charset="0"/>
                <a:ea typeface="华文楷体" panose="02010600040101010101" pitchFamily="2" charset="-122"/>
              </a:rPr>
              <a:t>  用数组</a:t>
            </a:r>
            <a:endParaRPr kumimoji="1" lang="zh-CN" altLang="en-US" sz="1600" b="1" dirty="0">
              <a:latin typeface="Times New Roman" panose="02020603050405020304" pitchFamily="18" charset="0"/>
              <a:ea typeface="华文楷体" panose="02010600040101010101" pitchFamily="2" charset="-122"/>
            </a:endParaRPr>
          </a:p>
        </p:txBody>
      </p:sp>
      <p:sp>
        <p:nvSpPr>
          <p:cNvPr id="16400" name="Text Box 14"/>
          <p:cNvSpPr txBox="1">
            <a:spLocks noChangeArrowheads="1"/>
          </p:cNvSpPr>
          <p:nvPr/>
        </p:nvSpPr>
        <p:spPr bwMode="auto">
          <a:xfrm>
            <a:off x="3620424" y="4127997"/>
            <a:ext cx="5282585" cy="846386"/>
          </a:xfrm>
          <a:prstGeom prst="rect">
            <a:avLst/>
          </a:prstGeom>
          <a:noFill/>
          <a:ln w="9525">
            <a:solidFill>
              <a:schemeClr val="accent2"/>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dirty="0">
                <a:latin typeface="Times New Roman" panose="02020603050405020304" pitchFamily="18" charset="0"/>
                <a:ea typeface="华文楷体" panose="02010600040101010101" pitchFamily="2" charset="-122"/>
              </a:rPr>
              <a:t>data:</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点的数据</a:t>
            </a:r>
            <a:r>
              <a:rPr kumimoji="1" lang="zh-CN" altLang="en-US" sz="1400" dirty="0">
                <a:latin typeface="Times New Roman" panose="02020603050405020304" pitchFamily="18" charset="0"/>
                <a:ea typeface="华文楷体" panose="02010600040101010101" pitchFamily="2" charset="-122"/>
              </a:rPr>
              <a:t>域</a:t>
            </a:r>
            <a:r>
              <a:rPr kumimoji="1" lang="zh-CN" altLang="zh-CN" sz="1400" dirty="0">
                <a:latin typeface="Times New Roman" panose="02020603050405020304" pitchFamily="18" charset="0"/>
                <a:ea typeface="华文楷体" panose="02010600040101010101" pitchFamily="2" charset="-122"/>
              </a:rPr>
              <a:t>，保存</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点的数据</a:t>
            </a:r>
            <a:r>
              <a:rPr kumimoji="1" lang="zh-CN" altLang="en-US" sz="1400" dirty="0">
                <a:latin typeface="Times New Roman" panose="02020603050405020304" pitchFamily="18" charset="0"/>
                <a:ea typeface="华文楷体" panose="02010600040101010101" pitchFamily="2" charset="-122"/>
              </a:rPr>
              <a:t>元素的值</a:t>
            </a:r>
            <a:r>
              <a:rPr kumimoji="1" lang="zh-CN" altLang="zh-CN" sz="1400" dirty="0">
                <a:latin typeface="Times New Roman" panose="02020603050405020304" pitchFamily="18" charset="0"/>
                <a:ea typeface="华文楷体" panose="02010600040101010101" pitchFamily="2" charset="-122"/>
              </a:rPr>
              <a:t>。</a:t>
            </a:r>
            <a:endParaRPr kumimoji="1" lang="zh-CN" altLang="zh-CN"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err="1">
                <a:latin typeface="Times New Roman" panose="02020603050405020304" pitchFamily="18" charset="0"/>
                <a:ea typeface="华文楷体" panose="02010600040101010101" pitchFamily="2" charset="-122"/>
              </a:rPr>
              <a:t>firstarc</a:t>
            </a:r>
            <a:r>
              <a:rPr kumimoji="1" lang="en-US" altLang="zh-CN" sz="1400" dirty="0">
                <a:latin typeface="Times New Roman" panose="02020603050405020304" pitchFamily="18" charset="0"/>
                <a:ea typeface="华文楷体" panose="02010600040101010101" pitchFamily="2" charset="-122"/>
              </a:rPr>
              <a:t>:</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点的指针</a:t>
            </a:r>
            <a:r>
              <a:rPr kumimoji="1" lang="zh-CN" altLang="en-US" sz="1400" dirty="0">
                <a:latin typeface="Times New Roman" panose="02020603050405020304" pitchFamily="18" charset="0"/>
                <a:ea typeface="华文楷体" panose="02010600040101010101" pitchFamily="2" charset="-122"/>
              </a:rPr>
              <a:t>域</a:t>
            </a:r>
            <a:r>
              <a:rPr kumimoji="1" lang="zh-CN" altLang="zh-CN" sz="1400" dirty="0">
                <a:latin typeface="Times New Roman" panose="02020603050405020304" pitchFamily="18" charset="0"/>
                <a:ea typeface="华文楷体" panose="02010600040101010101" pitchFamily="2" charset="-122"/>
              </a:rPr>
              <a:t>，</a:t>
            </a:r>
            <a:r>
              <a:rPr kumimoji="1" lang="zh-CN" altLang="en-US" sz="1400" dirty="0">
                <a:latin typeface="Times New Roman" panose="02020603050405020304" pitchFamily="18" charset="0"/>
                <a:ea typeface="华文楷体" panose="02010600040101010101" pitchFamily="2" charset="-122"/>
              </a:rPr>
              <a:t>指向</a:t>
            </a:r>
            <a:r>
              <a:rPr kumimoji="1" lang="zh-CN" altLang="zh-CN" sz="1400" dirty="0">
                <a:latin typeface="Times New Roman" panose="02020603050405020304" pitchFamily="18" charset="0"/>
                <a:ea typeface="华文楷体" panose="02010600040101010101" pitchFamily="2" charset="-122"/>
              </a:rPr>
              <a:t>自该</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点出发</a:t>
            </a:r>
            <a:r>
              <a:rPr kumimoji="1" lang="zh-CN" altLang="zh-CN" sz="1400" dirty="0" smtClean="0">
                <a:latin typeface="Times New Roman" panose="02020603050405020304" pitchFamily="18" charset="0"/>
                <a:ea typeface="华文楷体" panose="02010600040101010101" pitchFamily="2" charset="-122"/>
              </a:rPr>
              <a:t>的的</a:t>
            </a:r>
            <a:r>
              <a:rPr kumimoji="1" lang="zh-CN" altLang="zh-CN" sz="1400" dirty="0">
                <a:latin typeface="Times New Roman" panose="02020603050405020304" pitchFamily="18" charset="0"/>
                <a:ea typeface="华文楷体" panose="02010600040101010101" pitchFamily="2" charset="-122"/>
              </a:rPr>
              <a:t>第一条边</a:t>
            </a:r>
            <a:r>
              <a:rPr kumimoji="1" lang="zh-CN" altLang="en-US" sz="1400" dirty="0">
                <a:latin typeface="Times New Roman" panose="02020603050405020304" pitchFamily="18" charset="0"/>
                <a:ea typeface="华文楷体" panose="02010600040101010101" pitchFamily="2" charset="-122"/>
              </a:rPr>
              <a:t>的</a:t>
            </a:r>
            <a:r>
              <a:rPr kumimoji="1" lang="zh-CN" altLang="en-US" sz="1400" dirty="0" smtClean="0">
                <a:latin typeface="Times New Roman" panose="02020603050405020304" pitchFamily="18" charset="0"/>
                <a:ea typeface="华文楷体" panose="02010600040101010101" pitchFamily="2" charset="-122"/>
              </a:rPr>
              <a:t>边结点</a:t>
            </a:r>
            <a:r>
              <a:rPr kumimoji="1" lang="zh-CN" altLang="en-US" sz="1400" dirty="0">
                <a:latin typeface="Times New Roman" panose="02020603050405020304" pitchFamily="18" charset="0"/>
                <a:ea typeface="华文楷体" panose="02010600040101010101" pitchFamily="2" charset="-122"/>
              </a:rPr>
              <a:t>地址</a:t>
            </a:r>
            <a:r>
              <a:rPr kumimoji="1" lang="zh-CN" altLang="zh-CN" sz="1400" dirty="0">
                <a:latin typeface="Times New Roman" panose="02020603050405020304" pitchFamily="18" charset="0"/>
                <a:ea typeface="华文楷体" panose="02010600040101010101" pitchFamily="2" charset="-122"/>
              </a:rPr>
              <a:t>。</a:t>
            </a:r>
            <a:endParaRPr kumimoji="1" lang="zh-CN" altLang="en-US" sz="1400" dirty="0">
              <a:latin typeface="Times New Roman" panose="02020603050405020304" pitchFamily="18" charset="0"/>
              <a:ea typeface="华文楷体" panose="02010600040101010101" pitchFamily="2" charset="-122"/>
            </a:endParaRPr>
          </a:p>
        </p:txBody>
      </p:sp>
      <p:sp>
        <p:nvSpPr>
          <p:cNvPr id="17" name="Line 4"/>
          <p:cNvSpPr>
            <a:spLocks noChangeShapeType="1"/>
          </p:cNvSpPr>
          <p:nvPr/>
        </p:nvSpPr>
        <p:spPr bwMode="auto">
          <a:xfrm>
            <a:off x="4114800" y="5515769"/>
            <a:ext cx="152400" cy="990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 name="Line 5"/>
          <p:cNvSpPr>
            <a:spLocks noChangeShapeType="1"/>
          </p:cNvSpPr>
          <p:nvPr/>
        </p:nvSpPr>
        <p:spPr bwMode="auto">
          <a:xfrm>
            <a:off x="539688" y="5873202"/>
            <a:ext cx="2743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 name="Line 6"/>
          <p:cNvSpPr>
            <a:spLocks noChangeShapeType="1"/>
          </p:cNvSpPr>
          <p:nvPr/>
        </p:nvSpPr>
        <p:spPr bwMode="auto">
          <a:xfrm flipV="1">
            <a:off x="539688" y="5873202"/>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 name="Line 7"/>
          <p:cNvSpPr>
            <a:spLocks noChangeShapeType="1"/>
          </p:cNvSpPr>
          <p:nvPr/>
        </p:nvSpPr>
        <p:spPr bwMode="auto">
          <a:xfrm>
            <a:off x="539688" y="6330402"/>
            <a:ext cx="2743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 name="Line 8"/>
          <p:cNvSpPr>
            <a:spLocks noChangeShapeType="1"/>
          </p:cNvSpPr>
          <p:nvPr/>
        </p:nvSpPr>
        <p:spPr bwMode="auto">
          <a:xfrm flipV="1">
            <a:off x="1835088" y="5873202"/>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 name="Line 9"/>
          <p:cNvSpPr>
            <a:spLocks noChangeShapeType="1"/>
          </p:cNvSpPr>
          <p:nvPr/>
        </p:nvSpPr>
        <p:spPr bwMode="auto">
          <a:xfrm flipV="1">
            <a:off x="3282888" y="5873202"/>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 name="Text Box 10"/>
          <p:cNvSpPr txBox="1">
            <a:spLocks noChangeArrowheads="1"/>
          </p:cNvSpPr>
          <p:nvPr/>
        </p:nvSpPr>
        <p:spPr bwMode="auto">
          <a:xfrm>
            <a:off x="615888" y="5949402"/>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weight</a:t>
            </a:r>
            <a:endParaRPr kumimoji="1" lang="en-US" altLang="zh-CN" sz="1600" b="1" dirty="0">
              <a:latin typeface="Times New Roman" panose="02020603050405020304" pitchFamily="18" charset="0"/>
              <a:ea typeface="华文楷体" panose="02010600040101010101" pitchFamily="2" charset="-122"/>
            </a:endParaRPr>
          </a:p>
        </p:txBody>
      </p:sp>
      <p:sp>
        <p:nvSpPr>
          <p:cNvPr id="24" name="Text Box 11"/>
          <p:cNvSpPr txBox="1">
            <a:spLocks noChangeArrowheads="1"/>
          </p:cNvSpPr>
          <p:nvPr/>
        </p:nvSpPr>
        <p:spPr bwMode="auto">
          <a:xfrm>
            <a:off x="1987488" y="5949402"/>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latin typeface="Times New Roman" panose="02020603050405020304" pitchFamily="18" charset="0"/>
                <a:ea typeface="华文楷体" panose="02010600040101010101" pitchFamily="2" charset="-122"/>
              </a:rPr>
              <a:t>adjvex</a:t>
            </a:r>
            <a:endParaRPr kumimoji="1" lang="en-US" altLang="zh-CN" sz="1600" b="1" dirty="0">
              <a:latin typeface="Times New Roman" panose="02020603050405020304" pitchFamily="18" charset="0"/>
              <a:ea typeface="华文楷体" panose="02010600040101010101" pitchFamily="2" charset="-122"/>
            </a:endParaRPr>
          </a:p>
        </p:txBody>
      </p:sp>
      <p:sp>
        <p:nvSpPr>
          <p:cNvPr id="25" name="Line 12"/>
          <p:cNvSpPr>
            <a:spLocks noChangeShapeType="1"/>
          </p:cNvSpPr>
          <p:nvPr/>
        </p:nvSpPr>
        <p:spPr bwMode="auto">
          <a:xfrm>
            <a:off x="3282888" y="5873202"/>
            <a:ext cx="144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 name="Line 13"/>
          <p:cNvSpPr>
            <a:spLocks noChangeShapeType="1"/>
          </p:cNvSpPr>
          <p:nvPr/>
        </p:nvSpPr>
        <p:spPr bwMode="auto">
          <a:xfrm flipV="1">
            <a:off x="4730688" y="5873202"/>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 name="Line 14"/>
          <p:cNvSpPr>
            <a:spLocks noChangeShapeType="1"/>
          </p:cNvSpPr>
          <p:nvPr/>
        </p:nvSpPr>
        <p:spPr bwMode="auto">
          <a:xfrm>
            <a:off x="3282888" y="6330402"/>
            <a:ext cx="144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 name="Text Box 15"/>
          <p:cNvSpPr txBox="1">
            <a:spLocks noChangeArrowheads="1"/>
          </p:cNvSpPr>
          <p:nvPr/>
        </p:nvSpPr>
        <p:spPr bwMode="auto">
          <a:xfrm>
            <a:off x="3359088" y="5949402"/>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latin typeface="Times New Roman" panose="02020603050405020304" pitchFamily="18" charset="0"/>
                <a:ea typeface="华文楷体" panose="02010600040101010101" pitchFamily="2" charset="-122"/>
              </a:rPr>
              <a:t>nextarc</a:t>
            </a:r>
            <a:endParaRPr kumimoji="1" lang="en-US" altLang="zh-CN" sz="1600" b="1" dirty="0">
              <a:latin typeface="Times New Roman" panose="02020603050405020304" pitchFamily="18" charset="0"/>
              <a:ea typeface="华文楷体" panose="02010600040101010101" pitchFamily="2" charset="-122"/>
            </a:endParaRPr>
          </a:p>
        </p:txBody>
      </p:sp>
      <p:sp>
        <p:nvSpPr>
          <p:cNvPr id="29" name="Text Box 16"/>
          <p:cNvSpPr txBox="1">
            <a:spLocks noChangeArrowheads="1"/>
          </p:cNvSpPr>
          <p:nvPr/>
        </p:nvSpPr>
        <p:spPr bwMode="auto">
          <a:xfrm>
            <a:off x="504547" y="5316372"/>
            <a:ext cx="5105400" cy="33855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（出）边表中</a:t>
            </a:r>
            <a:r>
              <a:rPr kumimoji="1" lang="zh-CN" altLang="en-US" sz="1600" b="1" dirty="0" smtClean="0">
                <a:solidFill>
                  <a:schemeClr val="accent2"/>
                </a:solidFill>
                <a:latin typeface="Times New Roman" panose="02020603050405020304" pitchFamily="18" charset="0"/>
                <a:ea typeface="华文楷体" panose="02010600040101010101" pitchFamily="2" charset="-122"/>
              </a:rPr>
              <a:t>的边结点</a:t>
            </a:r>
            <a:r>
              <a:rPr kumimoji="1" lang="zh-CN" altLang="en-US" sz="1600" b="1" dirty="0">
                <a:solidFill>
                  <a:schemeClr val="accent2"/>
                </a:solidFill>
                <a:latin typeface="Times New Roman" panose="02020603050405020304" pitchFamily="18" charset="0"/>
                <a:ea typeface="华文楷体" panose="02010600040101010101" pitchFamily="2" charset="-122"/>
              </a:rPr>
              <a:t>的表示：</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p:txBody>
      </p:sp>
      <p:sp>
        <p:nvSpPr>
          <p:cNvPr id="30" name="Text Box 17"/>
          <p:cNvSpPr txBox="1">
            <a:spLocks noChangeArrowheads="1"/>
          </p:cNvSpPr>
          <p:nvPr/>
        </p:nvSpPr>
        <p:spPr bwMode="auto">
          <a:xfrm>
            <a:off x="4882720" y="5288169"/>
            <a:ext cx="4032680" cy="1384995"/>
          </a:xfrm>
          <a:prstGeom prst="rect">
            <a:avLst/>
          </a:prstGeom>
          <a:noFill/>
          <a:ln w="9525">
            <a:solidFill>
              <a:schemeClr val="accent2"/>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dirty="0" smtClean="0">
                <a:latin typeface="Times New Roman" panose="02020603050405020304" pitchFamily="18" charset="0"/>
                <a:ea typeface="华文楷体" panose="02010600040101010101" pitchFamily="2" charset="-122"/>
              </a:rPr>
              <a:t>weight :</a:t>
            </a:r>
            <a:r>
              <a:rPr kumimoji="1" lang="zh-CN" altLang="zh-CN" sz="1400" dirty="0">
                <a:latin typeface="Times New Roman" panose="02020603050405020304" pitchFamily="18" charset="0"/>
                <a:ea typeface="华文楷体" panose="02010600040101010101" pitchFamily="2" charset="-122"/>
              </a:rPr>
              <a:t>保存边的权</a:t>
            </a:r>
            <a:r>
              <a:rPr kumimoji="1" lang="zh-CN" altLang="zh-CN" sz="1400" dirty="0" smtClean="0">
                <a:latin typeface="Times New Roman" panose="02020603050405020304" pitchFamily="18" charset="0"/>
                <a:ea typeface="华文楷体" panose="02010600040101010101" pitchFamily="2" charset="-122"/>
              </a:rPr>
              <a:t>值</a:t>
            </a:r>
            <a:r>
              <a:rPr kumimoji="1" lang="zh-CN" altLang="en-US" sz="1400" dirty="0" smtClean="0">
                <a:latin typeface="Times New Roman" panose="02020603050405020304" pitchFamily="18" charset="0"/>
                <a:ea typeface="华文楷体" panose="02010600040101010101" pitchFamily="2" charset="-122"/>
              </a:rPr>
              <a:t>，</a:t>
            </a:r>
            <a:r>
              <a:rPr kumimoji="1" lang="zh-CN" altLang="en-US" sz="1400" b="1" dirty="0" smtClean="0">
                <a:solidFill>
                  <a:srgbClr val="C00000"/>
                </a:solidFill>
                <a:latin typeface="Times New Roman" panose="02020603050405020304" pitchFamily="18" charset="0"/>
                <a:ea typeface="华文楷体" panose="02010600040101010101" pitchFamily="2" charset="-122"/>
              </a:rPr>
              <a:t>可选项</a:t>
            </a:r>
            <a:r>
              <a:rPr kumimoji="1" lang="zh-CN" altLang="zh-CN" sz="1400" dirty="0" smtClean="0">
                <a:latin typeface="Times New Roman" panose="02020603050405020304" pitchFamily="18" charset="0"/>
                <a:ea typeface="华文楷体" panose="02010600040101010101" pitchFamily="2" charset="-122"/>
              </a:rPr>
              <a:t>。</a:t>
            </a:r>
            <a:endParaRPr kumimoji="1" lang="zh-CN" altLang="zh-CN"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err="1">
                <a:latin typeface="Times New Roman" panose="02020603050405020304" pitchFamily="18" charset="0"/>
                <a:ea typeface="华文楷体" panose="02010600040101010101" pitchFamily="2" charset="-122"/>
              </a:rPr>
              <a:t>adjvex</a:t>
            </a:r>
            <a:r>
              <a:rPr kumimoji="1" lang="en-US" altLang="zh-CN" sz="1400" dirty="0">
                <a:latin typeface="Times New Roman" panose="02020603050405020304" pitchFamily="18" charset="0"/>
                <a:ea typeface="华文楷体" panose="02010600040101010101" pitchFamily="2" charset="-122"/>
              </a:rPr>
              <a:t>:</a:t>
            </a:r>
            <a:r>
              <a:rPr kumimoji="1" lang="zh-CN" altLang="en-US" sz="1400" dirty="0">
                <a:latin typeface="Times New Roman" panose="02020603050405020304" pitchFamily="18" charset="0"/>
                <a:ea typeface="华文楷体" panose="02010600040101010101" pitchFamily="2" charset="-122"/>
              </a:rPr>
              <a:t>边</a:t>
            </a:r>
            <a:r>
              <a:rPr kumimoji="1" lang="zh-CN" altLang="zh-CN" sz="1400" dirty="0">
                <a:latin typeface="Times New Roman" panose="02020603050405020304" pitchFamily="18" charset="0"/>
                <a:ea typeface="华文楷体" panose="02010600040101010101" pitchFamily="2" charset="-122"/>
              </a:rPr>
              <a:t>结点的指针，给出本条边依附的另一</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点（非出发</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a:t>
            </a:r>
            <a:r>
              <a:rPr kumimoji="1" lang="zh-CN" altLang="zh-CN" sz="1400" dirty="0" smtClean="0">
                <a:latin typeface="Times New Roman" panose="02020603050405020304" pitchFamily="18" charset="0"/>
                <a:ea typeface="华文楷体" panose="02010600040101010101" pitchFamily="2" charset="-122"/>
              </a:rPr>
              <a:t>的</a:t>
            </a:r>
            <a:r>
              <a:rPr kumimoji="1" lang="zh-CN" altLang="en-US" sz="1400" dirty="0" smtClean="0">
                <a:latin typeface="Times New Roman" panose="02020603050405020304" pitchFamily="18" charset="0"/>
                <a:ea typeface="华文楷体" panose="02010600040101010101" pitchFamily="2" charset="-122"/>
              </a:rPr>
              <a:t>编号</a:t>
            </a:r>
            <a:r>
              <a:rPr kumimoji="1" lang="zh-CN" altLang="zh-CN" sz="1400" dirty="0" smtClean="0">
                <a:latin typeface="Times New Roman" panose="02020603050405020304" pitchFamily="18" charset="0"/>
                <a:ea typeface="华文楷体" panose="02010600040101010101" pitchFamily="2" charset="-122"/>
              </a:rPr>
              <a:t>。</a:t>
            </a:r>
            <a:endParaRPr kumimoji="1" lang="zh-CN" altLang="zh-CN"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err="1">
                <a:latin typeface="Times New Roman" panose="02020603050405020304" pitchFamily="18" charset="0"/>
                <a:ea typeface="华文楷体" panose="02010600040101010101" pitchFamily="2" charset="-122"/>
              </a:rPr>
              <a:t>nextarc</a:t>
            </a:r>
            <a:r>
              <a:rPr kumimoji="1" lang="en-US" altLang="zh-CN" sz="1400" dirty="0">
                <a:latin typeface="Times New Roman" panose="02020603050405020304" pitchFamily="18" charset="0"/>
                <a:ea typeface="华文楷体" panose="02010600040101010101" pitchFamily="2" charset="-122"/>
              </a:rPr>
              <a:t>:</a:t>
            </a:r>
            <a:r>
              <a:rPr kumimoji="1" lang="zh-CN" altLang="en-US" sz="1400" dirty="0">
                <a:latin typeface="Times New Roman" panose="02020603050405020304" pitchFamily="18" charset="0"/>
                <a:ea typeface="华文楷体" panose="02010600040101010101" pitchFamily="2" charset="-122"/>
              </a:rPr>
              <a:t>顶</a:t>
            </a:r>
            <a:r>
              <a:rPr kumimoji="1" lang="zh-CN" altLang="zh-CN" sz="1400" dirty="0">
                <a:latin typeface="Times New Roman" panose="02020603050405020304" pitchFamily="18" charset="0"/>
                <a:ea typeface="华文楷体" panose="02010600040101010101" pitchFamily="2" charset="-122"/>
              </a:rPr>
              <a:t>点的指针，给</a:t>
            </a:r>
            <a:r>
              <a:rPr kumimoji="1" lang="zh-CN" altLang="zh-CN" sz="1400" dirty="0" smtClean="0">
                <a:latin typeface="Times New Roman" panose="02020603050405020304" pitchFamily="18" charset="0"/>
                <a:ea typeface="华文楷体" panose="02010600040101010101" pitchFamily="2" charset="-122"/>
              </a:rPr>
              <a:t>出自</a:t>
            </a:r>
            <a:r>
              <a:rPr kumimoji="1" lang="zh-CN" altLang="en-US" sz="1400" dirty="0" smtClean="0">
                <a:latin typeface="Times New Roman" panose="02020603050405020304" pitchFamily="18" charset="0"/>
                <a:ea typeface="华文楷体" panose="02010600040101010101" pitchFamily="2" charset="-122"/>
              </a:rPr>
              <a:t>同一顶</a:t>
            </a:r>
            <a:r>
              <a:rPr kumimoji="1" lang="zh-CN" altLang="zh-CN" sz="1400" dirty="0" smtClean="0">
                <a:latin typeface="Times New Roman" panose="02020603050405020304" pitchFamily="18" charset="0"/>
                <a:ea typeface="华文楷体" panose="02010600040101010101" pitchFamily="2" charset="-122"/>
              </a:rPr>
              <a:t>点出发的</a:t>
            </a:r>
            <a:r>
              <a:rPr kumimoji="1" lang="zh-CN" altLang="zh-CN" sz="1400" dirty="0">
                <a:latin typeface="Times New Roman" panose="02020603050405020304" pitchFamily="18" charset="0"/>
                <a:ea typeface="华文楷体" panose="02010600040101010101" pitchFamily="2" charset="-122"/>
              </a:rPr>
              <a:t>下一条边</a:t>
            </a:r>
            <a:r>
              <a:rPr kumimoji="1" lang="zh-CN" altLang="zh-CN" sz="1400" dirty="0" smtClean="0">
                <a:latin typeface="Times New Roman" panose="02020603050405020304" pitchFamily="18" charset="0"/>
                <a:ea typeface="华文楷体" panose="02010600040101010101" pitchFamily="2" charset="-122"/>
              </a:rPr>
              <a:t>的边</a:t>
            </a:r>
            <a:r>
              <a:rPr kumimoji="1" lang="zh-CN" altLang="zh-CN" sz="1400" dirty="0">
                <a:latin typeface="Times New Roman" panose="02020603050405020304" pitchFamily="18" charset="0"/>
                <a:ea typeface="华文楷体" panose="02010600040101010101" pitchFamily="2" charset="-122"/>
              </a:rPr>
              <a:t>结点的地址。</a:t>
            </a:r>
            <a:endParaRPr kumimoji="1" lang="zh-CN" altLang="en-US" sz="1400"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0" y="5179533"/>
            <a:ext cx="9144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直接连接符 4"/>
          <p:cNvCxnSpPr/>
          <p:nvPr/>
        </p:nvCxnSpPr>
        <p:spPr>
          <a:xfrm flipV="1">
            <a:off x="0" y="3812884"/>
            <a:ext cx="9144000" cy="3135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0"/>
          </p:nvPr>
        </p:nvSpPr>
        <p:spPr/>
        <p:txBody>
          <a:bodyPr/>
          <a:lstStyle/>
          <a:p>
            <a:pPr>
              <a:defRPr/>
            </a:pPr>
            <a:r>
              <a:rPr lang="en-US" altLang="zh-CN"/>
              <a:t>BUPT SCST</a:t>
            </a:r>
            <a:endParaRPr lang="en-US" altLang="zh-CN"/>
          </a:p>
        </p:txBody>
      </p:sp>
      <p:sp>
        <p:nvSpPr>
          <p:cNvPr id="18" name="日期占位符 5"/>
          <p:cNvSpPr>
            <a:spLocks noGrp="1"/>
          </p:cNvSpPr>
          <p:nvPr>
            <p:ph type="dt" sz="quarter" idx="12"/>
          </p:nvPr>
        </p:nvSpPr>
        <p:spPr/>
        <p:txBody>
          <a:bodyPr/>
          <a:lstStyle/>
          <a:p>
            <a:pPr>
              <a:defRPr/>
            </a:pPr>
            <a:r>
              <a:rPr lang="en-US" altLang="zh-CN"/>
              <a:t>BUPT</a:t>
            </a:r>
            <a:endParaRPr lang="en-US" altLang="zh-CN"/>
          </a:p>
        </p:txBody>
      </p:sp>
      <p:sp>
        <p:nvSpPr>
          <p:cNvPr id="174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 name="文本框 1"/>
          <p:cNvSpPr txBox="1"/>
          <p:nvPr/>
        </p:nvSpPr>
        <p:spPr>
          <a:xfrm>
            <a:off x="917575" y="1189037"/>
            <a:ext cx="5867400" cy="5586145"/>
          </a:xfrm>
          <a:prstGeom prst="rect">
            <a:avLst/>
          </a:prstGeom>
          <a:noFill/>
          <a:ln>
            <a:solidFill>
              <a:schemeClr val="accent1"/>
            </a:solidFill>
          </a:ln>
        </p:spPr>
        <p:txBody>
          <a:bodyPr wrap="square" rtlCol="0">
            <a:spAutoFit/>
          </a:bodyPr>
          <a:lstStyle/>
          <a:p>
            <a:pPr>
              <a:spcBef>
                <a:spcPct val="20000"/>
              </a:spcBef>
              <a:buClr>
                <a:schemeClr val="hlink"/>
              </a:buClr>
            </a:pPr>
            <a:r>
              <a:rPr lang="en-US" altLang="zh-CN" sz="1700" b="1" dirty="0">
                <a:solidFill>
                  <a:srgbClr val="C00000"/>
                </a:solidFill>
                <a:latin typeface="Times New Roman" panose="02020603050405020304" pitchFamily="18" charset="0"/>
                <a:ea typeface="华文楷体" panose="02010600040101010101" pitchFamily="2" charset="-122"/>
              </a:rPr>
              <a:t>[</a:t>
            </a:r>
            <a:r>
              <a:rPr lang="zh-CN" altLang="en-US" sz="1700" b="1" dirty="0">
                <a:solidFill>
                  <a:srgbClr val="C00000"/>
                </a:solidFill>
                <a:latin typeface="Times New Roman" panose="02020603050405020304" pitchFamily="18" charset="0"/>
                <a:ea typeface="华文楷体" panose="02010600040101010101" pitchFamily="2" charset="-122"/>
              </a:rPr>
              <a:t>邻接表的存储结构</a:t>
            </a:r>
            <a:r>
              <a:rPr lang="en-US" altLang="zh-CN" sz="1700" b="1" dirty="0">
                <a:solidFill>
                  <a:srgbClr val="C00000"/>
                </a:solidFill>
                <a:latin typeface="Times New Roman" panose="02020603050405020304" pitchFamily="18" charset="0"/>
                <a:ea typeface="华文楷体" panose="02010600040101010101" pitchFamily="2" charset="-122"/>
              </a:rPr>
              <a:t>]</a:t>
            </a:r>
            <a:endParaRPr lang="en-US" altLang="zh-CN" sz="1700" b="1" dirty="0">
              <a:solidFill>
                <a:srgbClr val="C00000"/>
              </a:solidFill>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err="1">
                <a:latin typeface="Times New Roman" panose="02020603050405020304" pitchFamily="18" charset="0"/>
                <a:ea typeface="华文楷体" panose="02010600040101010101" pitchFamily="2" charset="-122"/>
              </a:rPr>
              <a:t>typedef</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struct</a:t>
            </a:r>
            <a:r>
              <a:rPr lang="en-US" altLang="zh-CN" sz="1700" dirty="0">
                <a:latin typeface="Times New Roman" panose="02020603050405020304" pitchFamily="18" charset="0"/>
                <a:ea typeface="华文楷体" panose="02010600040101010101" pitchFamily="2" charset="-122"/>
              </a:rPr>
              <a:t> </a:t>
            </a:r>
            <a:r>
              <a:rPr lang="en-US" altLang="zh-CN" sz="1700" dirty="0" smtClean="0">
                <a:latin typeface="Times New Roman" panose="02020603050405020304" pitchFamily="18" charset="0"/>
                <a:ea typeface="华文楷体" panose="02010600040101010101" pitchFamily="2" charset="-122"/>
              </a:rPr>
              <a:t>Anode //</a:t>
            </a:r>
            <a:r>
              <a:rPr lang="zh-CN" altLang="en-US" sz="1700" dirty="0" smtClean="0">
                <a:latin typeface="Times New Roman" panose="02020603050405020304" pitchFamily="18" charset="0"/>
                <a:ea typeface="华文楷体" panose="02010600040101010101" pitchFamily="2" charset="-122"/>
              </a:rPr>
              <a:t>边结点的类型</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int</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adjvex</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边的终点</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struct</a:t>
            </a:r>
            <a:r>
              <a:rPr lang="en-US" altLang="zh-CN" sz="1700" dirty="0">
                <a:latin typeface="Times New Roman" panose="02020603050405020304" pitchFamily="18" charset="0"/>
                <a:ea typeface="华文楷体" panose="02010600040101010101" pitchFamily="2" charset="-122"/>
              </a:rPr>
              <a:t> Anode *</a:t>
            </a:r>
            <a:r>
              <a:rPr lang="en-US" altLang="zh-CN" sz="1700" dirty="0" err="1">
                <a:latin typeface="Times New Roman" panose="02020603050405020304" pitchFamily="18" charset="0"/>
                <a:ea typeface="华文楷体" panose="02010600040101010101" pitchFamily="2" charset="-122"/>
              </a:rPr>
              <a:t>nextarc</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同一顶点出发的下一条边</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int</a:t>
            </a:r>
            <a:r>
              <a:rPr lang="en-US" altLang="zh-CN" sz="1700" dirty="0" smtClean="0">
                <a:latin typeface="Times New Roman" panose="02020603050405020304" pitchFamily="18" charset="0"/>
                <a:ea typeface="华文楷体" panose="02010600040101010101" pitchFamily="2" charset="-122"/>
              </a:rPr>
              <a:t> weight; //</a:t>
            </a:r>
            <a:r>
              <a:rPr lang="zh-CN" altLang="en-US" sz="1700" dirty="0" smtClean="0">
                <a:latin typeface="Times New Roman" panose="02020603050405020304" pitchFamily="18" charset="0"/>
                <a:ea typeface="华文楷体" panose="02010600040101010101" pitchFamily="2" charset="-122"/>
              </a:rPr>
              <a:t>边的权值 </a:t>
            </a:r>
            <a:r>
              <a:rPr lang="zh-CN" altLang="en-US" sz="1700" b="1" dirty="0">
                <a:solidFill>
                  <a:srgbClr val="C00000"/>
                </a:solidFill>
                <a:latin typeface="Times New Roman" panose="02020603050405020304" pitchFamily="18" charset="0"/>
                <a:ea typeface="华文楷体" panose="02010600040101010101" pitchFamily="2" charset="-122"/>
              </a:rPr>
              <a:t>可选项</a:t>
            </a:r>
            <a:endParaRPr lang="en-US" altLang="zh-CN" sz="1700" b="1" dirty="0">
              <a:solidFill>
                <a:srgbClr val="C00000"/>
              </a:solidFill>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ArcNode</a:t>
            </a:r>
            <a:r>
              <a:rPr lang="en-US" altLang="zh-CN" sz="1700" dirty="0">
                <a:latin typeface="Times New Roman" panose="02020603050405020304" pitchFamily="18" charset="0"/>
                <a:ea typeface="华文楷体" panose="02010600040101010101" pitchFamily="2" charset="-122"/>
              </a:rPr>
              <a: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err="1">
                <a:latin typeface="Times New Roman" panose="02020603050405020304" pitchFamily="18" charset="0"/>
                <a:ea typeface="华文楷体" panose="02010600040101010101" pitchFamily="2" charset="-122"/>
              </a:rPr>
              <a:t>typedef</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struct</a:t>
            </a:r>
            <a:r>
              <a:rPr lang="en-US" altLang="zh-CN" sz="1700" dirty="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Vnode</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顶点类型</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elemtype</a:t>
            </a:r>
            <a:r>
              <a:rPr lang="en-US" altLang="zh-CN" sz="1700" dirty="0">
                <a:latin typeface="Times New Roman" panose="02020603050405020304" pitchFamily="18" charset="0"/>
                <a:ea typeface="华文楷体" panose="02010600040101010101" pitchFamily="2" charset="-122"/>
              </a:rPr>
              <a:t> data</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顶点的值</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ArcNode</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firstarc</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指向该顶点出发的第一条边</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a:t>
            </a:r>
            <a:r>
              <a:rPr lang="en-US" altLang="zh-CN" sz="1700" dirty="0" err="1">
                <a:latin typeface="Times New Roman" panose="02020603050405020304" pitchFamily="18" charset="0"/>
                <a:ea typeface="华文楷体" panose="02010600040101010101" pitchFamily="2" charset="-122"/>
              </a:rPr>
              <a:t>Vnode</a:t>
            </a:r>
            <a:r>
              <a:rPr lang="en-US" altLang="zh-CN" sz="1700" dirty="0">
                <a:latin typeface="Times New Roman" panose="02020603050405020304" pitchFamily="18" charset="0"/>
                <a:ea typeface="华文楷体" panose="02010600040101010101" pitchFamily="2" charset="-122"/>
              </a:rPr>
              <a: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err="1">
                <a:latin typeface="Times New Roman" panose="02020603050405020304" pitchFamily="18" charset="0"/>
                <a:ea typeface="华文楷体" panose="02010600040101010101" pitchFamily="2" charset="-122"/>
              </a:rPr>
              <a:t>typedef</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Vnode</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AdjList</a:t>
            </a:r>
            <a:r>
              <a:rPr lang="en-US" altLang="zh-CN" sz="1700" dirty="0">
                <a:latin typeface="Times New Roman" panose="02020603050405020304" pitchFamily="18" charset="0"/>
                <a:ea typeface="华文楷体" panose="02010600040101010101" pitchFamily="2" charset="-122"/>
              </a:rPr>
              <a:t>[MAXV</a:t>
            </a:r>
            <a:r>
              <a:rPr lang="en-US" altLang="zh-CN" sz="1700" dirty="0" smtClean="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AdjList</a:t>
            </a:r>
            <a:r>
              <a:rPr lang="zh-CN" altLang="en-US" sz="1700" dirty="0" smtClean="0">
                <a:latin typeface="Times New Roman" panose="02020603050405020304" pitchFamily="18" charset="0"/>
                <a:ea typeface="华文楷体" panose="02010600040101010101" pitchFamily="2" charset="-122"/>
              </a:rPr>
              <a:t>是顶点表类型</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err="1">
                <a:latin typeface="Times New Roman" panose="02020603050405020304" pitchFamily="18" charset="0"/>
                <a:ea typeface="华文楷体" panose="02010600040101010101" pitchFamily="2" charset="-122"/>
              </a:rPr>
              <a:t>typedef</a:t>
            </a:r>
            <a:r>
              <a:rPr lang="en-US" altLang="zh-CN" sz="1700" dirty="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struct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a:latin typeface="Times New Roman" panose="02020603050405020304" pitchFamily="18" charset="0"/>
                <a:ea typeface="华文楷体" panose="02010600040101010101" pitchFamily="2" charset="-122"/>
              </a:rPr>
              <a:t>{</a:t>
            </a:r>
            <a:endParaRPr lang="en-US" altLang="zh-CN" sz="17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700" dirty="0" smtClean="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AdjList</a:t>
            </a:r>
            <a:r>
              <a:rPr lang="en-US" altLang="zh-CN" sz="1700" dirty="0" smtClean="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adjlist</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顶点表</a:t>
            </a:r>
            <a:endParaRPr lang="en-US" altLang="zh-CN" sz="1700" dirty="0" smtClean="0">
              <a:latin typeface="Times New Roman" panose="02020603050405020304" pitchFamily="18" charset="0"/>
              <a:ea typeface="华文楷体" panose="02010600040101010101" pitchFamily="2" charset="-122"/>
            </a:endParaRPr>
          </a:p>
          <a:p>
            <a:r>
              <a:rPr lang="en-US" altLang="zh-CN" sz="1700" dirty="0" smtClean="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int</a:t>
            </a:r>
            <a:r>
              <a:rPr lang="en-US" altLang="zh-CN" sz="1700" dirty="0" smtClean="0">
                <a:latin typeface="Times New Roman" panose="02020603050405020304" pitchFamily="18" charset="0"/>
                <a:ea typeface="华文楷体" panose="02010600040101010101" pitchFamily="2" charset="-122"/>
              </a:rPr>
              <a:t> </a:t>
            </a:r>
            <a:r>
              <a:rPr lang="en-US" altLang="zh-CN" sz="1700" dirty="0" err="1" smtClean="0">
                <a:latin typeface="Times New Roman" panose="02020603050405020304" pitchFamily="18" charset="0"/>
                <a:ea typeface="华文楷体" panose="02010600040101010101" pitchFamily="2" charset="-122"/>
              </a:rPr>
              <a:t>n,e</a:t>
            </a:r>
            <a:r>
              <a:rPr lang="en-US" altLang="zh-CN" sz="1700" dirty="0" smtClean="0">
                <a:latin typeface="Times New Roman" panose="02020603050405020304" pitchFamily="18" charset="0"/>
                <a:ea typeface="华文楷体" panose="02010600040101010101" pitchFamily="2" charset="-122"/>
              </a:rPr>
              <a:t>; </a:t>
            </a:r>
            <a:r>
              <a:rPr lang="zh-CN" altLang="en-US" sz="1700" dirty="0" smtClean="0">
                <a:latin typeface="Times New Roman" panose="02020603050405020304" pitchFamily="18" charset="0"/>
                <a:ea typeface="华文楷体" panose="02010600040101010101" pitchFamily="2" charset="-122"/>
              </a:rPr>
              <a:t> </a:t>
            </a:r>
            <a:r>
              <a:rPr lang="en-US" altLang="zh-CN" sz="1700" dirty="0" smtClean="0">
                <a:latin typeface="Times New Roman" panose="02020603050405020304" pitchFamily="18" charset="0"/>
                <a:ea typeface="华文楷体" panose="02010600040101010101" pitchFamily="2" charset="-122"/>
              </a:rPr>
              <a:t>//</a:t>
            </a:r>
            <a:r>
              <a:rPr lang="zh-CN" altLang="en-US" sz="1700" dirty="0" smtClean="0">
                <a:latin typeface="Times New Roman" panose="02020603050405020304" pitchFamily="18" charset="0"/>
                <a:ea typeface="华文楷体" panose="02010600040101010101" pitchFamily="2" charset="-122"/>
              </a:rPr>
              <a:t>顶点数和边数</a:t>
            </a:r>
            <a:endParaRPr lang="en-US" altLang="zh-CN" sz="1700" dirty="0" smtClean="0">
              <a:latin typeface="Times New Roman" panose="02020603050405020304" pitchFamily="18" charset="0"/>
              <a:ea typeface="华文楷体" panose="02010600040101010101" pitchFamily="2" charset="-122"/>
            </a:endParaRPr>
          </a:p>
          <a:p>
            <a:r>
              <a:rPr lang="en-US" altLang="zh-CN" sz="1700" dirty="0" smtClean="0">
                <a:latin typeface="Times New Roman" panose="02020603050405020304" pitchFamily="18" charset="0"/>
                <a:ea typeface="华文楷体" panose="02010600040101010101" pitchFamily="2" charset="-122"/>
              </a:rPr>
              <a:t>} </a:t>
            </a:r>
            <a:r>
              <a:rPr lang="en-US" altLang="zh-CN" sz="1700" dirty="0" err="1">
                <a:latin typeface="Times New Roman" panose="02020603050405020304" pitchFamily="18" charset="0"/>
                <a:ea typeface="华文楷体" panose="02010600040101010101" pitchFamily="2" charset="-122"/>
              </a:rPr>
              <a:t>Agraph</a:t>
            </a:r>
            <a:r>
              <a:rPr lang="en-US" altLang="zh-CN" sz="1700" dirty="0">
                <a:latin typeface="Times New Roman" panose="02020603050405020304" pitchFamily="18" charset="0"/>
                <a:ea typeface="华文楷体" panose="02010600040101010101" pitchFamily="2" charset="-122"/>
              </a:rPr>
              <a:t>;</a:t>
            </a:r>
            <a:endParaRPr lang="zh-CN" altLang="en-US" sz="17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页脚占位符 3"/>
          <p:cNvSpPr>
            <a:spLocks noGrp="1"/>
          </p:cNvSpPr>
          <p:nvPr>
            <p:ph type="ftr" sz="quarter" idx="10"/>
          </p:nvPr>
        </p:nvSpPr>
        <p:spPr/>
        <p:txBody>
          <a:bodyPr/>
          <a:lstStyle/>
          <a:p>
            <a:pPr>
              <a:defRPr/>
            </a:pPr>
            <a:r>
              <a:rPr lang="en-US" altLang="zh-CN"/>
              <a:t>BUPT SCST</a:t>
            </a:r>
            <a:endParaRPr lang="en-US" altLang="zh-CN"/>
          </a:p>
        </p:txBody>
      </p:sp>
      <p:sp>
        <p:nvSpPr>
          <p:cNvPr id="75" name="日期占位符 5"/>
          <p:cNvSpPr>
            <a:spLocks noGrp="1"/>
          </p:cNvSpPr>
          <p:nvPr>
            <p:ph type="dt" sz="quarter" idx="12"/>
          </p:nvPr>
        </p:nvSpPr>
        <p:spPr/>
        <p:txBody>
          <a:bodyPr/>
          <a:lstStyle/>
          <a:p>
            <a:pPr>
              <a:defRPr/>
            </a:pPr>
            <a:r>
              <a:rPr lang="en-US" altLang="zh-CN"/>
              <a:t>BUPT</a:t>
            </a:r>
            <a:endParaRPr lang="en-US" altLang="zh-CN"/>
          </a:p>
        </p:txBody>
      </p:sp>
      <p:sp>
        <p:nvSpPr>
          <p:cNvPr id="184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8437" name="Oval 4"/>
          <p:cNvSpPr>
            <a:spLocks noChangeArrowheads="1"/>
          </p:cNvSpPr>
          <p:nvPr/>
        </p:nvSpPr>
        <p:spPr bwMode="auto">
          <a:xfrm>
            <a:off x="838200" y="1600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8438" name="Oval 5"/>
          <p:cNvSpPr>
            <a:spLocks noChangeArrowheads="1"/>
          </p:cNvSpPr>
          <p:nvPr/>
        </p:nvSpPr>
        <p:spPr bwMode="auto">
          <a:xfrm>
            <a:off x="2362200" y="1600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8439" name="Line 6"/>
          <p:cNvSpPr>
            <a:spLocks noChangeShapeType="1"/>
          </p:cNvSpPr>
          <p:nvPr/>
        </p:nvSpPr>
        <p:spPr bwMode="auto">
          <a:xfrm>
            <a:off x="1295400" y="18288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0" name="Oval 7"/>
          <p:cNvSpPr>
            <a:spLocks noChangeArrowheads="1"/>
          </p:cNvSpPr>
          <p:nvPr/>
        </p:nvSpPr>
        <p:spPr bwMode="auto">
          <a:xfrm>
            <a:off x="838200" y="3124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8441" name="Oval 8"/>
          <p:cNvSpPr>
            <a:spLocks noChangeArrowheads="1"/>
          </p:cNvSpPr>
          <p:nvPr/>
        </p:nvSpPr>
        <p:spPr bwMode="auto">
          <a:xfrm>
            <a:off x="2362200" y="3124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8442" name="Line 9"/>
          <p:cNvSpPr>
            <a:spLocks noChangeShapeType="1"/>
          </p:cNvSpPr>
          <p:nvPr/>
        </p:nvSpPr>
        <p:spPr bwMode="auto">
          <a:xfrm>
            <a:off x="1295400" y="32766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3" name="Line 10"/>
          <p:cNvSpPr>
            <a:spLocks noChangeShapeType="1"/>
          </p:cNvSpPr>
          <p:nvPr/>
        </p:nvSpPr>
        <p:spPr bwMode="auto">
          <a:xfrm flipH="1">
            <a:off x="1066800" y="19812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4" name="Line 11"/>
          <p:cNvSpPr>
            <a:spLocks noChangeShapeType="1"/>
          </p:cNvSpPr>
          <p:nvPr/>
        </p:nvSpPr>
        <p:spPr bwMode="auto">
          <a:xfrm flipH="1" flipV="1">
            <a:off x="1219200" y="19050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5" name="Text Box 12"/>
          <p:cNvSpPr txBox="1">
            <a:spLocks noChangeArrowheads="1"/>
          </p:cNvSpPr>
          <p:nvPr/>
        </p:nvSpPr>
        <p:spPr bwMode="auto">
          <a:xfrm>
            <a:off x="1219200" y="144780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 </a:t>
            </a:r>
            <a:r>
              <a:rPr kumimoji="1" lang="en-US" altLang="zh-CN" sz="1600" b="1" dirty="0">
                <a:latin typeface="Times New Roman" panose="02020603050405020304" pitchFamily="18" charset="0"/>
                <a:ea typeface="华文楷体" panose="02010600040101010101" pitchFamily="2" charset="-122"/>
              </a:rPr>
              <a:t>G1</a:t>
            </a:r>
            <a:endParaRPr kumimoji="1" lang="en-US" altLang="zh-CN" sz="1600" b="1" dirty="0">
              <a:latin typeface="Times New Roman" panose="02020603050405020304" pitchFamily="18" charset="0"/>
              <a:ea typeface="华文楷体" panose="02010600040101010101" pitchFamily="2" charset="-122"/>
            </a:endParaRPr>
          </a:p>
        </p:txBody>
      </p:sp>
      <p:sp>
        <p:nvSpPr>
          <p:cNvPr id="18446" name="AutoShape 13"/>
          <p:cNvSpPr>
            <a:spLocks noChangeArrowheads="1"/>
          </p:cNvSpPr>
          <p:nvPr/>
        </p:nvSpPr>
        <p:spPr bwMode="auto">
          <a:xfrm>
            <a:off x="3124200" y="2514600"/>
            <a:ext cx="685800" cy="228600"/>
          </a:xfrm>
          <a:prstGeom prst="rightArrow">
            <a:avLst>
              <a:gd name="adj1" fmla="val 50000"/>
              <a:gd name="adj2" fmla="val 7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8447" name="Line 14"/>
          <p:cNvSpPr>
            <a:spLocks noChangeShapeType="1"/>
          </p:cNvSpPr>
          <p:nvPr/>
        </p:nvSpPr>
        <p:spPr bwMode="auto">
          <a:xfrm>
            <a:off x="4343400" y="2438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8" name="Line 15"/>
          <p:cNvSpPr>
            <a:spLocks noChangeShapeType="1"/>
          </p:cNvSpPr>
          <p:nvPr/>
        </p:nvSpPr>
        <p:spPr bwMode="auto">
          <a:xfrm flipV="1">
            <a:off x="43434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49" name="Line 16"/>
          <p:cNvSpPr>
            <a:spLocks noChangeShapeType="1"/>
          </p:cNvSpPr>
          <p:nvPr/>
        </p:nvSpPr>
        <p:spPr bwMode="auto">
          <a:xfrm>
            <a:off x="43434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0" name="Line 17"/>
          <p:cNvSpPr>
            <a:spLocks noChangeShapeType="1"/>
          </p:cNvSpPr>
          <p:nvPr/>
        </p:nvSpPr>
        <p:spPr bwMode="auto">
          <a:xfrm flipV="1">
            <a:off x="48006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1" name="Line 18"/>
          <p:cNvSpPr>
            <a:spLocks noChangeShapeType="1"/>
          </p:cNvSpPr>
          <p:nvPr/>
        </p:nvSpPr>
        <p:spPr bwMode="auto">
          <a:xfrm flipV="1">
            <a:off x="52578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2" name="Text Box 19"/>
          <p:cNvSpPr txBox="1">
            <a:spLocks noChangeArrowheads="1"/>
          </p:cNvSpPr>
          <p:nvPr/>
        </p:nvSpPr>
        <p:spPr bwMode="auto">
          <a:xfrm>
            <a:off x="4343400" y="2362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18453" name="Line 20"/>
          <p:cNvSpPr>
            <a:spLocks noChangeShapeType="1"/>
          </p:cNvSpPr>
          <p:nvPr/>
        </p:nvSpPr>
        <p:spPr bwMode="auto">
          <a:xfrm>
            <a:off x="43434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4" name="Line 21"/>
          <p:cNvSpPr>
            <a:spLocks noChangeShapeType="1"/>
          </p:cNvSpPr>
          <p:nvPr/>
        </p:nvSpPr>
        <p:spPr bwMode="auto">
          <a:xfrm flipV="1">
            <a:off x="4343400" y="266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5" name="Line 22"/>
          <p:cNvSpPr>
            <a:spLocks noChangeShapeType="1"/>
          </p:cNvSpPr>
          <p:nvPr/>
        </p:nvSpPr>
        <p:spPr bwMode="auto">
          <a:xfrm>
            <a:off x="4343400" y="2895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6" name="Line 23"/>
          <p:cNvSpPr>
            <a:spLocks noChangeShapeType="1"/>
          </p:cNvSpPr>
          <p:nvPr/>
        </p:nvSpPr>
        <p:spPr bwMode="auto">
          <a:xfrm flipV="1">
            <a:off x="4800600" y="266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7" name="Line 24"/>
          <p:cNvSpPr>
            <a:spLocks noChangeShapeType="1"/>
          </p:cNvSpPr>
          <p:nvPr/>
        </p:nvSpPr>
        <p:spPr bwMode="auto">
          <a:xfrm flipV="1">
            <a:off x="5257800" y="266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58" name="Text Box 25"/>
          <p:cNvSpPr txBox="1">
            <a:spLocks noChangeArrowheads="1"/>
          </p:cNvSpPr>
          <p:nvPr/>
        </p:nvSpPr>
        <p:spPr bwMode="auto">
          <a:xfrm>
            <a:off x="4343400" y="2590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18459" name="Line 26"/>
          <p:cNvSpPr>
            <a:spLocks noChangeShapeType="1"/>
          </p:cNvSpPr>
          <p:nvPr/>
        </p:nvSpPr>
        <p:spPr bwMode="auto">
          <a:xfrm>
            <a:off x="4343400" y="2895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0" name="Line 27"/>
          <p:cNvSpPr>
            <a:spLocks noChangeShapeType="1"/>
          </p:cNvSpPr>
          <p:nvPr/>
        </p:nvSpPr>
        <p:spPr bwMode="auto">
          <a:xfrm flipV="1">
            <a:off x="4343400" y="2895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1" name="Line 28"/>
          <p:cNvSpPr>
            <a:spLocks noChangeShapeType="1"/>
          </p:cNvSpPr>
          <p:nvPr/>
        </p:nvSpPr>
        <p:spPr bwMode="auto">
          <a:xfrm>
            <a:off x="4343400" y="31242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2" name="Line 29"/>
          <p:cNvSpPr>
            <a:spLocks noChangeShapeType="1"/>
          </p:cNvSpPr>
          <p:nvPr/>
        </p:nvSpPr>
        <p:spPr bwMode="auto">
          <a:xfrm flipV="1">
            <a:off x="4800600" y="2895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3" name="Line 30"/>
          <p:cNvSpPr>
            <a:spLocks noChangeShapeType="1"/>
          </p:cNvSpPr>
          <p:nvPr/>
        </p:nvSpPr>
        <p:spPr bwMode="auto">
          <a:xfrm flipV="1">
            <a:off x="5257800" y="2895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4" name="Text Box 31"/>
          <p:cNvSpPr txBox="1">
            <a:spLocks noChangeArrowheads="1"/>
          </p:cNvSpPr>
          <p:nvPr/>
        </p:nvSpPr>
        <p:spPr bwMode="auto">
          <a:xfrm>
            <a:off x="4343400" y="2819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dirty="0">
              <a:latin typeface="Times New Roman" panose="02020603050405020304" pitchFamily="18" charset="0"/>
              <a:ea typeface="华文楷体" panose="02010600040101010101" pitchFamily="2" charset="-122"/>
            </a:endParaRPr>
          </a:p>
        </p:txBody>
      </p:sp>
      <p:sp>
        <p:nvSpPr>
          <p:cNvPr id="18465" name="Line 32"/>
          <p:cNvSpPr>
            <a:spLocks noChangeShapeType="1"/>
          </p:cNvSpPr>
          <p:nvPr/>
        </p:nvSpPr>
        <p:spPr bwMode="auto">
          <a:xfrm>
            <a:off x="4343400" y="31242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6" name="Line 33"/>
          <p:cNvSpPr>
            <a:spLocks noChangeShapeType="1"/>
          </p:cNvSpPr>
          <p:nvPr/>
        </p:nvSpPr>
        <p:spPr bwMode="auto">
          <a:xfrm flipV="1">
            <a:off x="4343400" y="3124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7" name="Line 34"/>
          <p:cNvSpPr>
            <a:spLocks noChangeShapeType="1"/>
          </p:cNvSpPr>
          <p:nvPr/>
        </p:nvSpPr>
        <p:spPr bwMode="auto">
          <a:xfrm>
            <a:off x="4343400" y="3352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8" name="Line 35"/>
          <p:cNvSpPr>
            <a:spLocks noChangeShapeType="1"/>
          </p:cNvSpPr>
          <p:nvPr/>
        </p:nvSpPr>
        <p:spPr bwMode="auto">
          <a:xfrm flipV="1">
            <a:off x="4800600" y="3124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69" name="Line 36"/>
          <p:cNvSpPr>
            <a:spLocks noChangeShapeType="1"/>
          </p:cNvSpPr>
          <p:nvPr/>
        </p:nvSpPr>
        <p:spPr bwMode="auto">
          <a:xfrm flipV="1">
            <a:off x="5257800" y="3124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0" name="Text Box 37"/>
          <p:cNvSpPr txBox="1">
            <a:spLocks noChangeArrowheads="1"/>
          </p:cNvSpPr>
          <p:nvPr/>
        </p:nvSpPr>
        <p:spPr bwMode="auto">
          <a:xfrm>
            <a:off x="4343400" y="30480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dirty="0">
              <a:latin typeface="Times New Roman" panose="02020603050405020304" pitchFamily="18" charset="0"/>
              <a:ea typeface="华文楷体" panose="02010600040101010101" pitchFamily="2" charset="-122"/>
            </a:endParaRPr>
          </a:p>
        </p:txBody>
      </p:sp>
      <p:sp>
        <p:nvSpPr>
          <p:cNvPr id="18471" name="Line 38"/>
          <p:cNvSpPr>
            <a:spLocks noChangeShapeType="1"/>
          </p:cNvSpPr>
          <p:nvPr/>
        </p:nvSpPr>
        <p:spPr bwMode="auto">
          <a:xfrm>
            <a:off x="5638800" y="2438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2" name="Line 39"/>
          <p:cNvSpPr>
            <a:spLocks noChangeShapeType="1"/>
          </p:cNvSpPr>
          <p:nvPr/>
        </p:nvSpPr>
        <p:spPr bwMode="auto">
          <a:xfrm flipV="1">
            <a:off x="56388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3" name="Line 40"/>
          <p:cNvSpPr>
            <a:spLocks noChangeShapeType="1"/>
          </p:cNvSpPr>
          <p:nvPr/>
        </p:nvSpPr>
        <p:spPr bwMode="auto">
          <a:xfrm>
            <a:off x="56388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4" name="Line 41"/>
          <p:cNvSpPr>
            <a:spLocks noChangeShapeType="1"/>
          </p:cNvSpPr>
          <p:nvPr/>
        </p:nvSpPr>
        <p:spPr bwMode="auto">
          <a:xfrm flipV="1">
            <a:off x="60960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5" name="Line 42"/>
          <p:cNvSpPr>
            <a:spLocks noChangeShapeType="1"/>
          </p:cNvSpPr>
          <p:nvPr/>
        </p:nvSpPr>
        <p:spPr bwMode="auto">
          <a:xfrm flipV="1">
            <a:off x="65532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6" name="Text Box 43"/>
          <p:cNvSpPr txBox="1">
            <a:spLocks noChangeArrowheads="1"/>
          </p:cNvSpPr>
          <p:nvPr/>
        </p:nvSpPr>
        <p:spPr bwMode="auto">
          <a:xfrm>
            <a:off x="5638800" y="2362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18477" name="Line 44"/>
          <p:cNvSpPr>
            <a:spLocks noChangeShapeType="1"/>
          </p:cNvSpPr>
          <p:nvPr/>
        </p:nvSpPr>
        <p:spPr bwMode="auto">
          <a:xfrm>
            <a:off x="7010400" y="2438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8" name="Line 45"/>
          <p:cNvSpPr>
            <a:spLocks noChangeShapeType="1"/>
          </p:cNvSpPr>
          <p:nvPr/>
        </p:nvSpPr>
        <p:spPr bwMode="auto">
          <a:xfrm flipV="1">
            <a:off x="70104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79" name="Line 46"/>
          <p:cNvSpPr>
            <a:spLocks noChangeShapeType="1"/>
          </p:cNvSpPr>
          <p:nvPr/>
        </p:nvSpPr>
        <p:spPr bwMode="auto">
          <a:xfrm>
            <a:off x="70104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0" name="Line 47"/>
          <p:cNvSpPr>
            <a:spLocks noChangeShapeType="1"/>
          </p:cNvSpPr>
          <p:nvPr/>
        </p:nvSpPr>
        <p:spPr bwMode="auto">
          <a:xfrm flipV="1">
            <a:off x="74676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1" name="Line 48"/>
          <p:cNvSpPr>
            <a:spLocks noChangeShapeType="1"/>
          </p:cNvSpPr>
          <p:nvPr/>
        </p:nvSpPr>
        <p:spPr bwMode="auto">
          <a:xfrm flipV="1">
            <a:off x="79248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2" name="Text Box 49"/>
          <p:cNvSpPr txBox="1">
            <a:spLocks noChangeArrowheads="1"/>
          </p:cNvSpPr>
          <p:nvPr/>
        </p:nvSpPr>
        <p:spPr bwMode="auto">
          <a:xfrm>
            <a:off x="7010400" y="2362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18483" name="Line 50"/>
          <p:cNvSpPr>
            <a:spLocks noChangeShapeType="1"/>
          </p:cNvSpPr>
          <p:nvPr/>
        </p:nvSpPr>
        <p:spPr bwMode="auto">
          <a:xfrm>
            <a:off x="5638800" y="31686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4" name="Line 51"/>
          <p:cNvSpPr>
            <a:spLocks noChangeShapeType="1"/>
          </p:cNvSpPr>
          <p:nvPr/>
        </p:nvSpPr>
        <p:spPr bwMode="auto">
          <a:xfrm flipV="1">
            <a:off x="5638800" y="3168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5" name="Line 52"/>
          <p:cNvSpPr>
            <a:spLocks noChangeShapeType="1"/>
          </p:cNvSpPr>
          <p:nvPr/>
        </p:nvSpPr>
        <p:spPr bwMode="auto">
          <a:xfrm>
            <a:off x="5638800" y="33972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6" name="Line 53"/>
          <p:cNvSpPr>
            <a:spLocks noChangeShapeType="1"/>
          </p:cNvSpPr>
          <p:nvPr/>
        </p:nvSpPr>
        <p:spPr bwMode="auto">
          <a:xfrm flipV="1">
            <a:off x="6096000" y="3168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7" name="Line 54"/>
          <p:cNvSpPr>
            <a:spLocks noChangeShapeType="1"/>
          </p:cNvSpPr>
          <p:nvPr/>
        </p:nvSpPr>
        <p:spPr bwMode="auto">
          <a:xfrm flipV="1">
            <a:off x="6553200" y="3168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88" name="Text Box 55"/>
          <p:cNvSpPr txBox="1">
            <a:spLocks noChangeArrowheads="1"/>
          </p:cNvSpPr>
          <p:nvPr/>
        </p:nvSpPr>
        <p:spPr bwMode="auto">
          <a:xfrm>
            <a:off x="5638800" y="30924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8489" name="Line 56"/>
          <p:cNvSpPr>
            <a:spLocks noChangeShapeType="1"/>
          </p:cNvSpPr>
          <p:nvPr/>
        </p:nvSpPr>
        <p:spPr bwMode="auto">
          <a:xfrm>
            <a:off x="5638800" y="28638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0" name="Line 57"/>
          <p:cNvSpPr>
            <a:spLocks noChangeShapeType="1"/>
          </p:cNvSpPr>
          <p:nvPr/>
        </p:nvSpPr>
        <p:spPr bwMode="auto">
          <a:xfrm flipV="1">
            <a:off x="5638800" y="2863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1" name="Line 58"/>
          <p:cNvSpPr>
            <a:spLocks noChangeShapeType="1"/>
          </p:cNvSpPr>
          <p:nvPr/>
        </p:nvSpPr>
        <p:spPr bwMode="auto">
          <a:xfrm>
            <a:off x="5638800" y="30924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2" name="Line 59"/>
          <p:cNvSpPr>
            <a:spLocks noChangeShapeType="1"/>
          </p:cNvSpPr>
          <p:nvPr/>
        </p:nvSpPr>
        <p:spPr bwMode="auto">
          <a:xfrm flipV="1">
            <a:off x="6096000" y="2863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3" name="Line 60"/>
          <p:cNvSpPr>
            <a:spLocks noChangeShapeType="1"/>
          </p:cNvSpPr>
          <p:nvPr/>
        </p:nvSpPr>
        <p:spPr bwMode="auto">
          <a:xfrm flipV="1">
            <a:off x="6553200" y="2863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4" name="Text Box 61"/>
          <p:cNvSpPr txBox="1">
            <a:spLocks noChangeArrowheads="1"/>
          </p:cNvSpPr>
          <p:nvPr/>
        </p:nvSpPr>
        <p:spPr bwMode="auto">
          <a:xfrm>
            <a:off x="5638800" y="27876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18495" name="Text Box 62"/>
          <p:cNvSpPr txBox="1">
            <a:spLocks noChangeArrowheads="1"/>
          </p:cNvSpPr>
          <p:nvPr/>
        </p:nvSpPr>
        <p:spPr bwMode="auto">
          <a:xfrm>
            <a:off x="3962400" y="2359025"/>
            <a:ext cx="2286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1234</a:t>
            </a:r>
            <a:endParaRPr kumimoji="1" lang="en-US" altLang="zh-CN" sz="1600" b="1" dirty="0">
              <a:latin typeface="Times New Roman" panose="02020603050405020304" pitchFamily="18" charset="0"/>
              <a:ea typeface="华文楷体" panose="02010600040101010101" pitchFamily="2" charset="-122"/>
            </a:endParaRPr>
          </a:p>
        </p:txBody>
      </p:sp>
      <p:sp>
        <p:nvSpPr>
          <p:cNvPr id="18496" name="Line 63"/>
          <p:cNvSpPr>
            <a:spLocks noChangeShapeType="1"/>
          </p:cNvSpPr>
          <p:nvPr/>
        </p:nvSpPr>
        <p:spPr bwMode="auto">
          <a:xfrm flipV="1">
            <a:off x="5029200" y="2514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7" name="Line 64"/>
          <p:cNvSpPr>
            <a:spLocks noChangeShapeType="1"/>
          </p:cNvSpPr>
          <p:nvPr/>
        </p:nvSpPr>
        <p:spPr bwMode="auto">
          <a:xfrm flipV="1">
            <a:off x="5029200" y="29718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8" name="Line 65"/>
          <p:cNvSpPr>
            <a:spLocks noChangeShapeType="1"/>
          </p:cNvSpPr>
          <p:nvPr/>
        </p:nvSpPr>
        <p:spPr bwMode="auto">
          <a:xfrm flipV="1">
            <a:off x="5029200" y="3276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99" name="Line 66"/>
          <p:cNvSpPr>
            <a:spLocks noChangeShapeType="1"/>
          </p:cNvSpPr>
          <p:nvPr/>
        </p:nvSpPr>
        <p:spPr bwMode="auto">
          <a:xfrm flipV="1">
            <a:off x="6400800" y="2514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500" name="Text Box 67"/>
          <p:cNvSpPr txBox="1">
            <a:spLocks noChangeArrowheads="1"/>
          </p:cNvSpPr>
          <p:nvPr/>
        </p:nvSpPr>
        <p:spPr bwMode="auto">
          <a:xfrm>
            <a:off x="7543800" y="24384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8501" name="Text Box 68"/>
          <p:cNvSpPr txBox="1">
            <a:spLocks noChangeArrowheads="1"/>
          </p:cNvSpPr>
          <p:nvPr/>
        </p:nvSpPr>
        <p:spPr bwMode="auto">
          <a:xfrm>
            <a:off x="4876800" y="26670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8502" name="Text Box 69"/>
          <p:cNvSpPr txBox="1">
            <a:spLocks noChangeArrowheads="1"/>
          </p:cNvSpPr>
          <p:nvPr/>
        </p:nvSpPr>
        <p:spPr bwMode="auto">
          <a:xfrm>
            <a:off x="6172200" y="28956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8503" name="Text Box 70"/>
          <p:cNvSpPr txBox="1">
            <a:spLocks noChangeArrowheads="1"/>
          </p:cNvSpPr>
          <p:nvPr/>
        </p:nvSpPr>
        <p:spPr bwMode="auto">
          <a:xfrm>
            <a:off x="6172200" y="3138488"/>
            <a:ext cx="685800" cy="21431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8504" name="Text Box 71"/>
          <p:cNvSpPr txBox="1">
            <a:spLocks noChangeArrowheads="1"/>
          </p:cNvSpPr>
          <p:nvPr/>
        </p:nvSpPr>
        <p:spPr bwMode="auto">
          <a:xfrm>
            <a:off x="4114800" y="2133600"/>
            <a:ext cx="1600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data </a:t>
            </a:r>
            <a:r>
              <a:rPr kumimoji="1" lang="en-US" altLang="zh-CN" sz="1600" b="1" dirty="0" err="1">
                <a:latin typeface="Times New Roman" panose="02020603050405020304" pitchFamily="18" charset="0"/>
                <a:ea typeface="华文楷体" panose="02010600040101010101" pitchFamily="2" charset="-122"/>
              </a:rPr>
              <a:t>firstarc</a:t>
            </a:r>
            <a:endParaRPr kumimoji="1" lang="en-US" altLang="zh-CN" sz="1600" b="1" dirty="0">
              <a:latin typeface="Times New Roman" panose="02020603050405020304" pitchFamily="18" charset="0"/>
              <a:ea typeface="华文楷体" panose="02010600040101010101" pitchFamily="2" charset="-122"/>
            </a:endParaRPr>
          </a:p>
        </p:txBody>
      </p:sp>
      <p:sp>
        <p:nvSpPr>
          <p:cNvPr id="18505" name="Text Box 72"/>
          <p:cNvSpPr txBox="1">
            <a:spLocks noChangeArrowheads="1"/>
          </p:cNvSpPr>
          <p:nvPr/>
        </p:nvSpPr>
        <p:spPr bwMode="auto">
          <a:xfrm>
            <a:off x="6629400" y="2133600"/>
            <a:ext cx="25146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en-US" altLang="zh-CN" sz="1600" b="1" dirty="0" err="1">
                <a:latin typeface="Times New Roman" panose="02020603050405020304" pitchFamily="18" charset="0"/>
                <a:ea typeface="华文楷体" panose="02010600040101010101" pitchFamily="2" charset="-122"/>
              </a:rPr>
              <a:t>adjvex</a:t>
            </a:r>
            <a:r>
              <a:rPr kumimoji="1" lang="en-US" altLang="zh-CN" sz="1600" b="1" dirty="0">
                <a:latin typeface="Times New Roman" panose="02020603050405020304" pitchFamily="18" charset="0"/>
                <a:ea typeface="华文楷体" panose="02010600040101010101" pitchFamily="2" charset="-122"/>
              </a:rPr>
              <a:t> </a:t>
            </a:r>
            <a:r>
              <a:rPr kumimoji="1" lang="en-US" altLang="zh-CN" sz="1600" b="1" dirty="0" err="1">
                <a:latin typeface="Times New Roman" panose="02020603050405020304" pitchFamily="18" charset="0"/>
                <a:ea typeface="华文楷体" panose="02010600040101010101" pitchFamily="2" charset="-122"/>
              </a:rPr>
              <a:t>nextvex</a:t>
            </a:r>
            <a:endParaRPr kumimoji="1" lang="en-US" altLang="zh-CN" sz="1600" b="1" dirty="0">
              <a:latin typeface="Times New Roman" panose="02020603050405020304" pitchFamily="18" charset="0"/>
              <a:ea typeface="华文楷体" panose="02010600040101010101" pitchFamily="2" charset="-122"/>
            </a:endParaRPr>
          </a:p>
        </p:txBody>
      </p:sp>
      <p:graphicFrame>
        <p:nvGraphicFramePr>
          <p:cNvPr id="23625" name="Object 73"/>
          <p:cNvGraphicFramePr>
            <a:graphicFrameLocks noChangeAspect="1"/>
          </p:cNvGraphicFramePr>
          <p:nvPr/>
        </p:nvGraphicFramePr>
        <p:xfrm>
          <a:off x="3051175" y="3886200"/>
          <a:ext cx="225425" cy="685800"/>
        </p:xfrm>
        <a:graphic>
          <a:graphicData uri="http://schemas.openxmlformats.org/presentationml/2006/ole">
            <mc:AlternateContent xmlns:mc="http://schemas.openxmlformats.org/markup-compatibility/2006">
              <mc:Choice xmlns:v="urn:schemas-microsoft-com:vml" Requires="v">
                <p:oleObj spid="_x0000_s19152" name="剪辑" r:id="rId1" imgW="1296035" imgH="3934460" progId="MS_ClipArt_Gallery.2">
                  <p:embed/>
                </p:oleObj>
              </mc:Choice>
              <mc:Fallback>
                <p:oleObj name="剪辑" r:id="rId1" imgW="1296035" imgH="3934460" progId="MS_ClipArt_Gallery.2">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175" y="3886200"/>
                        <a:ext cx="22542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07" name="Text Box 74"/>
          <p:cNvSpPr txBox="1">
            <a:spLocks noChangeArrowheads="1"/>
          </p:cNvSpPr>
          <p:nvPr/>
        </p:nvSpPr>
        <p:spPr bwMode="auto">
          <a:xfrm>
            <a:off x="3810000" y="3944938"/>
            <a:ext cx="3124200" cy="70326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寻找某个顶点的入边非常困难</a:t>
            </a:r>
            <a:r>
              <a:rPr kumimoji="1" lang="en-US" altLang="zh-CN" sz="1600" b="1" dirty="0">
                <a:solidFill>
                  <a:schemeClr val="accent2"/>
                </a:solidFill>
                <a:latin typeface="Times New Roman" panose="02020603050405020304" pitchFamily="18" charset="0"/>
                <a:ea typeface="华文楷体" panose="02010600040101010101" pitchFamily="2" charset="-122"/>
              </a:rPr>
              <a:t>!!!</a:t>
            </a:r>
            <a:endParaRPr kumimoji="1" lang="en-US" altLang="zh-CN" sz="1600" b="1" dirty="0">
              <a:solidFill>
                <a:schemeClr val="accent2"/>
              </a:solidFill>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改进：建立逆邻接表或十字链表</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625"/>
                                        </p:tgtEl>
                                        <p:attrNameLst>
                                          <p:attrName>style.visibility</p:attrName>
                                        </p:attrNameLst>
                                      </p:cBhvr>
                                      <p:to>
                                        <p:strVal val="visible"/>
                                      </p:to>
                                    </p:set>
                                    <p:anim calcmode="lin" valueType="num">
                                      <p:cBhvr additive="base">
                                        <p:cTn id="7" dur="500" fill="hold"/>
                                        <p:tgtEl>
                                          <p:spTgt spid="23625"/>
                                        </p:tgtEl>
                                        <p:attrNameLst>
                                          <p:attrName>ppt_x</p:attrName>
                                        </p:attrNameLst>
                                      </p:cBhvr>
                                      <p:tavLst>
                                        <p:tav tm="0">
                                          <p:val>
                                            <p:strVal val="0-#ppt_w/2"/>
                                          </p:val>
                                        </p:tav>
                                        <p:tav tm="100000">
                                          <p:val>
                                            <p:strVal val="#ppt_x"/>
                                          </p:val>
                                        </p:tav>
                                      </p:tavLst>
                                    </p:anim>
                                    <p:anim calcmode="lin" valueType="num">
                                      <p:cBhvr additive="base">
                                        <p:cTn id="8" dur="500" fill="hold"/>
                                        <p:tgtEl>
                                          <p:spTgt spid="236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页脚占位符 3"/>
          <p:cNvSpPr>
            <a:spLocks noGrp="1"/>
          </p:cNvSpPr>
          <p:nvPr>
            <p:ph type="ftr" sz="quarter" idx="10"/>
          </p:nvPr>
        </p:nvSpPr>
        <p:spPr/>
        <p:txBody>
          <a:bodyPr/>
          <a:lstStyle/>
          <a:p>
            <a:pPr>
              <a:defRPr/>
            </a:pPr>
            <a:r>
              <a:rPr lang="en-US" altLang="zh-CN"/>
              <a:t>BUPT SCST</a:t>
            </a:r>
            <a:endParaRPr lang="en-US" altLang="zh-CN"/>
          </a:p>
        </p:txBody>
      </p:sp>
      <p:sp>
        <p:nvSpPr>
          <p:cNvPr id="140" name="日期占位符 5"/>
          <p:cNvSpPr>
            <a:spLocks noGrp="1"/>
          </p:cNvSpPr>
          <p:nvPr>
            <p:ph type="dt" sz="quarter" idx="12"/>
          </p:nvPr>
        </p:nvSpPr>
        <p:spPr/>
        <p:txBody>
          <a:bodyPr/>
          <a:lstStyle/>
          <a:p>
            <a:pPr>
              <a:defRPr/>
            </a:pPr>
            <a:r>
              <a:rPr lang="en-US" altLang="zh-CN"/>
              <a:t>BUPT</a:t>
            </a:r>
            <a:endParaRPr lang="en-US" altLang="zh-CN"/>
          </a:p>
        </p:txBody>
      </p:sp>
      <p:sp>
        <p:nvSpPr>
          <p:cNvPr id="194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9461" name="Text Box 4"/>
          <p:cNvSpPr txBox="1">
            <a:spLocks noChangeArrowheads="1"/>
          </p:cNvSpPr>
          <p:nvPr/>
        </p:nvSpPr>
        <p:spPr bwMode="auto">
          <a:xfrm>
            <a:off x="1219200" y="175260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zh-CN" sz="1600" b="1" dirty="0">
                <a:latin typeface="Times New Roman" panose="02020603050405020304" pitchFamily="18" charset="0"/>
                <a:ea typeface="华文楷体" panose="02010600040101010101" pitchFamily="2" charset="-122"/>
              </a:rPr>
              <a:t>无</a:t>
            </a:r>
            <a:r>
              <a:rPr kumimoji="1" lang="zh-CN" altLang="en-US" sz="1600" b="1" dirty="0">
                <a:latin typeface="Times New Roman" panose="02020603050405020304" pitchFamily="18" charset="0"/>
                <a:ea typeface="华文楷体" panose="02010600040101010101" pitchFamily="2" charset="-122"/>
              </a:rPr>
              <a:t>向图 </a:t>
            </a:r>
            <a:r>
              <a:rPr kumimoji="1" lang="en-US" altLang="zh-CN" sz="1600" b="1" dirty="0">
                <a:latin typeface="Times New Roman" panose="02020603050405020304" pitchFamily="18" charset="0"/>
                <a:ea typeface="华文楷体" panose="02010600040101010101" pitchFamily="2" charset="-122"/>
              </a:rPr>
              <a:t>G2</a:t>
            </a:r>
            <a:endParaRPr kumimoji="1" lang="en-US" altLang="zh-CN" sz="1600" b="1" dirty="0">
              <a:latin typeface="Times New Roman" panose="02020603050405020304" pitchFamily="18" charset="0"/>
              <a:ea typeface="华文楷体" panose="02010600040101010101" pitchFamily="2" charset="-122"/>
            </a:endParaRPr>
          </a:p>
        </p:txBody>
      </p:sp>
      <p:sp>
        <p:nvSpPr>
          <p:cNvPr id="19462" name="Oval 5"/>
          <p:cNvSpPr>
            <a:spLocks noChangeArrowheads="1"/>
          </p:cNvSpPr>
          <p:nvPr/>
        </p:nvSpPr>
        <p:spPr bwMode="auto">
          <a:xfrm>
            <a:off x="762000" y="1981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19463" name="Oval 6"/>
          <p:cNvSpPr>
            <a:spLocks noChangeArrowheads="1"/>
          </p:cNvSpPr>
          <p:nvPr/>
        </p:nvSpPr>
        <p:spPr bwMode="auto">
          <a:xfrm>
            <a:off x="2286000" y="1981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19464" name="Line 7"/>
          <p:cNvSpPr>
            <a:spLocks noChangeShapeType="1"/>
          </p:cNvSpPr>
          <p:nvPr/>
        </p:nvSpPr>
        <p:spPr bwMode="auto">
          <a:xfrm>
            <a:off x="1219200" y="2133600"/>
            <a:ext cx="10668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65" name="Oval 8"/>
          <p:cNvSpPr>
            <a:spLocks noChangeArrowheads="1"/>
          </p:cNvSpPr>
          <p:nvPr/>
        </p:nvSpPr>
        <p:spPr bwMode="auto">
          <a:xfrm>
            <a:off x="762000" y="3505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19466" name="Oval 9"/>
          <p:cNvSpPr>
            <a:spLocks noChangeArrowheads="1"/>
          </p:cNvSpPr>
          <p:nvPr/>
        </p:nvSpPr>
        <p:spPr bwMode="auto">
          <a:xfrm>
            <a:off x="2286000" y="3505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19467" name="Line 10"/>
          <p:cNvSpPr>
            <a:spLocks noChangeShapeType="1"/>
          </p:cNvSpPr>
          <p:nvPr/>
        </p:nvSpPr>
        <p:spPr bwMode="auto">
          <a:xfrm flipV="1">
            <a:off x="1828800" y="2286000"/>
            <a:ext cx="533400" cy="6096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68" name="Line 11"/>
          <p:cNvSpPr>
            <a:spLocks noChangeShapeType="1"/>
          </p:cNvSpPr>
          <p:nvPr/>
        </p:nvSpPr>
        <p:spPr bwMode="auto">
          <a:xfrm flipH="1">
            <a:off x="990600" y="23622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69" name="Line 12"/>
          <p:cNvSpPr>
            <a:spLocks noChangeShapeType="1"/>
          </p:cNvSpPr>
          <p:nvPr/>
        </p:nvSpPr>
        <p:spPr bwMode="auto">
          <a:xfrm flipH="1">
            <a:off x="2514600" y="23622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0" name="Oval 13"/>
          <p:cNvSpPr>
            <a:spLocks noChangeArrowheads="1"/>
          </p:cNvSpPr>
          <p:nvPr/>
        </p:nvSpPr>
        <p:spPr bwMode="auto">
          <a:xfrm>
            <a:off x="1524000" y="2743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19471" name="Line 14"/>
          <p:cNvSpPr>
            <a:spLocks noChangeShapeType="1"/>
          </p:cNvSpPr>
          <p:nvPr/>
        </p:nvSpPr>
        <p:spPr bwMode="auto">
          <a:xfrm flipV="1">
            <a:off x="1143000" y="3048000"/>
            <a:ext cx="4572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2" name="Line 15"/>
          <p:cNvSpPr>
            <a:spLocks noChangeShapeType="1"/>
          </p:cNvSpPr>
          <p:nvPr/>
        </p:nvSpPr>
        <p:spPr bwMode="auto">
          <a:xfrm flipH="1" flipV="1">
            <a:off x="1905000" y="3124200"/>
            <a:ext cx="45720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3" name="Line 16"/>
          <p:cNvSpPr>
            <a:spLocks noChangeShapeType="1"/>
          </p:cNvSpPr>
          <p:nvPr/>
        </p:nvSpPr>
        <p:spPr bwMode="auto">
          <a:xfrm>
            <a:off x="3505200" y="2209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4" name="Line 17"/>
          <p:cNvSpPr>
            <a:spLocks noChangeShapeType="1"/>
          </p:cNvSpPr>
          <p:nvPr/>
        </p:nvSpPr>
        <p:spPr bwMode="auto">
          <a:xfrm flipV="1">
            <a:off x="3505200" y="2209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5" name="Line 18"/>
          <p:cNvSpPr>
            <a:spLocks noChangeShapeType="1"/>
          </p:cNvSpPr>
          <p:nvPr/>
        </p:nvSpPr>
        <p:spPr bwMode="auto">
          <a:xfrm>
            <a:off x="3505200" y="2438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6" name="Line 19"/>
          <p:cNvSpPr>
            <a:spLocks noChangeShapeType="1"/>
          </p:cNvSpPr>
          <p:nvPr/>
        </p:nvSpPr>
        <p:spPr bwMode="auto">
          <a:xfrm flipV="1">
            <a:off x="3962400" y="2209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7" name="Line 20"/>
          <p:cNvSpPr>
            <a:spLocks noChangeShapeType="1"/>
          </p:cNvSpPr>
          <p:nvPr/>
        </p:nvSpPr>
        <p:spPr bwMode="auto">
          <a:xfrm flipV="1">
            <a:off x="4419600" y="2209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78" name="Text Box 21"/>
          <p:cNvSpPr txBox="1">
            <a:spLocks noChangeArrowheads="1"/>
          </p:cNvSpPr>
          <p:nvPr/>
        </p:nvSpPr>
        <p:spPr bwMode="auto">
          <a:xfrm>
            <a:off x="3505200" y="21336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19479" name="Line 22"/>
          <p:cNvSpPr>
            <a:spLocks noChangeShapeType="1"/>
          </p:cNvSpPr>
          <p:nvPr/>
        </p:nvSpPr>
        <p:spPr bwMode="auto">
          <a:xfrm>
            <a:off x="3505200" y="2438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0" name="Line 23"/>
          <p:cNvSpPr>
            <a:spLocks noChangeShapeType="1"/>
          </p:cNvSpPr>
          <p:nvPr/>
        </p:nvSpPr>
        <p:spPr bwMode="auto">
          <a:xfrm flipV="1">
            <a:off x="35052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1" name="Line 24"/>
          <p:cNvSpPr>
            <a:spLocks noChangeShapeType="1"/>
          </p:cNvSpPr>
          <p:nvPr/>
        </p:nvSpPr>
        <p:spPr bwMode="auto">
          <a:xfrm>
            <a:off x="35052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2" name="Line 25"/>
          <p:cNvSpPr>
            <a:spLocks noChangeShapeType="1"/>
          </p:cNvSpPr>
          <p:nvPr/>
        </p:nvSpPr>
        <p:spPr bwMode="auto">
          <a:xfrm flipV="1">
            <a:off x="39624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3" name="Line 26"/>
          <p:cNvSpPr>
            <a:spLocks noChangeShapeType="1"/>
          </p:cNvSpPr>
          <p:nvPr/>
        </p:nvSpPr>
        <p:spPr bwMode="auto">
          <a:xfrm flipV="1">
            <a:off x="4419600" y="2438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4" name="Text Box 27"/>
          <p:cNvSpPr txBox="1">
            <a:spLocks noChangeArrowheads="1"/>
          </p:cNvSpPr>
          <p:nvPr/>
        </p:nvSpPr>
        <p:spPr bwMode="auto">
          <a:xfrm>
            <a:off x="3505200" y="2362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19485" name="Line 28"/>
          <p:cNvSpPr>
            <a:spLocks noChangeShapeType="1"/>
          </p:cNvSpPr>
          <p:nvPr/>
        </p:nvSpPr>
        <p:spPr bwMode="auto">
          <a:xfrm>
            <a:off x="4800600" y="21018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6" name="Line 29"/>
          <p:cNvSpPr>
            <a:spLocks noChangeShapeType="1"/>
          </p:cNvSpPr>
          <p:nvPr/>
        </p:nvSpPr>
        <p:spPr bwMode="auto">
          <a:xfrm flipV="1">
            <a:off x="4800600" y="2101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7" name="Line 30"/>
          <p:cNvSpPr>
            <a:spLocks noChangeShapeType="1"/>
          </p:cNvSpPr>
          <p:nvPr/>
        </p:nvSpPr>
        <p:spPr bwMode="auto">
          <a:xfrm>
            <a:off x="4800600" y="23304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8" name="Line 31"/>
          <p:cNvSpPr>
            <a:spLocks noChangeShapeType="1"/>
          </p:cNvSpPr>
          <p:nvPr/>
        </p:nvSpPr>
        <p:spPr bwMode="auto">
          <a:xfrm flipV="1">
            <a:off x="5257800" y="2101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89" name="Line 32"/>
          <p:cNvSpPr>
            <a:spLocks noChangeShapeType="1"/>
          </p:cNvSpPr>
          <p:nvPr/>
        </p:nvSpPr>
        <p:spPr bwMode="auto">
          <a:xfrm flipV="1">
            <a:off x="5715000" y="2101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0" name="Text Box 33"/>
          <p:cNvSpPr txBox="1">
            <a:spLocks noChangeArrowheads="1"/>
          </p:cNvSpPr>
          <p:nvPr/>
        </p:nvSpPr>
        <p:spPr bwMode="auto">
          <a:xfrm>
            <a:off x="4800600" y="20256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19491" name="Line 34"/>
          <p:cNvSpPr>
            <a:spLocks noChangeShapeType="1"/>
          </p:cNvSpPr>
          <p:nvPr/>
        </p:nvSpPr>
        <p:spPr bwMode="auto">
          <a:xfrm>
            <a:off x="6172200" y="2133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2" name="Line 35"/>
          <p:cNvSpPr>
            <a:spLocks noChangeShapeType="1"/>
          </p:cNvSpPr>
          <p:nvPr/>
        </p:nvSpPr>
        <p:spPr bwMode="auto">
          <a:xfrm flipV="1">
            <a:off x="6172200" y="2133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3" name="Line 36"/>
          <p:cNvSpPr>
            <a:spLocks noChangeShapeType="1"/>
          </p:cNvSpPr>
          <p:nvPr/>
        </p:nvSpPr>
        <p:spPr bwMode="auto">
          <a:xfrm>
            <a:off x="6172200" y="23622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4" name="Line 37"/>
          <p:cNvSpPr>
            <a:spLocks noChangeShapeType="1"/>
          </p:cNvSpPr>
          <p:nvPr/>
        </p:nvSpPr>
        <p:spPr bwMode="auto">
          <a:xfrm flipV="1">
            <a:off x="6629400" y="2133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5" name="Line 38"/>
          <p:cNvSpPr>
            <a:spLocks noChangeShapeType="1"/>
          </p:cNvSpPr>
          <p:nvPr/>
        </p:nvSpPr>
        <p:spPr bwMode="auto">
          <a:xfrm flipV="1">
            <a:off x="7086600" y="21336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6" name="Text Box 39"/>
          <p:cNvSpPr txBox="1">
            <a:spLocks noChangeArrowheads="1"/>
          </p:cNvSpPr>
          <p:nvPr/>
        </p:nvSpPr>
        <p:spPr bwMode="auto">
          <a:xfrm>
            <a:off x="6172200" y="2057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19497" name="Text Box 40"/>
          <p:cNvSpPr txBox="1">
            <a:spLocks noChangeArrowheads="1"/>
          </p:cNvSpPr>
          <p:nvPr/>
        </p:nvSpPr>
        <p:spPr bwMode="auto">
          <a:xfrm>
            <a:off x="3124200" y="2133600"/>
            <a:ext cx="228600" cy="1465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12345</a:t>
            </a:r>
            <a:endParaRPr kumimoji="1" lang="en-US" altLang="zh-CN" sz="1800" b="1" dirty="0">
              <a:latin typeface="Times New Roman" panose="02020603050405020304" pitchFamily="18" charset="0"/>
              <a:ea typeface="华文楷体" panose="02010600040101010101" pitchFamily="2" charset="-122"/>
            </a:endParaRPr>
          </a:p>
        </p:txBody>
      </p:sp>
      <p:sp>
        <p:nvSpPr>
          <p:cNvPr id="19498" name="Line 41"/>
          <p:cNvSpPr>
            <a:spLocks noChangeShapeType="1"/>
          </p:cNvSpPr>
          <p:nvPr/>
        </p:nvSpPr>
        <p:spPr bwMode="auto">
          <a:xfrm flipV="1">
            <a:off x="4191000" y="22860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99" name="Line 42"/>
          <p:cNvSpPr>
            <a:spLocks noChangeShapeType="1"/>
          </p:cNvSpPr>
          <p:nvPr/>
        </p:nvSpPr>
        <p:spPr bwMode="auto">
          <a:xfrm flipV="1">
            <a:off x="5562600" y="22860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0" name="Text Box 43"/>
          <p:cNvSpPr txBox="1">
            <a:spLocks noChangeArrowheads="1"/>
          </p:cNvSpPr>
          <p:nvPr/>
        </p:nvSpPr>
        <p:spPr bwMode="auto">
          <a:xfrm>
            <a:off x="6705600" y="21336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9501" name="Text Box 44"/>
          <p:cNvSpPr txBox="1">
            <a:spLocks noChangeArrowheads="1"/>
          </p:cNvSpPr>
          <p:nvPr/>
        </p:nvSpPr>
        <p:spPr bwMode="auto">
          <a:xfrm>
            <a:off x="3276600" y="1905000"/>
            <a:ext cx="1600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data </a:t>
            </a:r>
            <a:r>
              <a:rPr kumimoji="1" lang="en-US" altLang="zh-CN" sz="1600" b="1" dirty="0" err="1">
                <a:latin typeface="Times New Roman" panose="02020603050405020304" pitchFamily="18" charset="0"/>
                <a:ea typeface="华文楷体" panose="02010600040101010101" pitchFamily="2" charset="-122"/>
              </a:rPr>
              <a:t>firstarc</a:t>
            </a:r>
            <a:endParaRPr kumimoji="1" lang="en-US" altLang="zh-CN" sz="1600" b="1" dirty="0">
              <a:latin typeface="Times New Roman" panose="02020603050405020304" pitchFamily="18" charset="0"/>
              <a:ea typeface="华文楷体" panose="02010600040101010101" pitchFamily="2" charset="-122"/>
            </a:endParaRPr>
          </a:p>
        </p:txBody>
      </p:sp>
      <p:sp>
        <p:nvSpPr>
          <p:cNvPr id="19502" name="Line 45"/>
          <p:cNvSpPr>
            <a:spLocks noChangeShapeType="1"/>
          </p:cNvSpPr>
          <p:nvPr/>
        </p:nvSpPr>
        <p:spPr bwMode="auto">
          <a:xfrm>
            <a:off x="4800600" y="24511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3" name="Line 46"/>
          <p:cNvSpPr>
            <a:spLocks noChangeShapeType="1"/>
          </p:cNvSpPr>
          <p:nvPr/>
        </p:nvSpPr>
        <p:spPr bwMode="auto">
          <a:xfrm flipV="1">
            <a:off x="4800600" y="24511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4" name="Line 47"/>
          <p:cNvSpPr>
            <a:spLocks noChangeShapeType="1"/>
          </p:cNvSpPr>
          <p:nvPr/>
        </p:nvSpPr>
        <p:spPr bwMode="auto">
          <a:xfrm>
            <a:off x="4800600" y="26797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5" name="Line 48"/>
          <p:cNvSpPr>
            <a:spLocks noChangeShapeType="1"/>
          </p:cNvSpPr>
          <p:nvPr/>
        </p:nvSpPr>
        <p:spPr bwMode="auto">
          <a:xfrm flipV="1">
            <a:off x="5257800" y="24511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6" name="Line 49"/>
          <p:cNvSpPr>
            <a:spLocks noChangeShapeType="1"/>
          </p:cNvSpPr>
          <p:nvPr/>
        </p:nvSpPr>
        <p:spPr bwMode="auto">
          <a:xfrm flipV="1">
            <a:off x="5715000" y="24511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7" name="Text Box 50"/>
          <p:cNvSpPr txBox="1">
            <a:spLocks noChangeArrowheads="1"/>
          </p:cNvSpPr>
          <p:nvPr/>
        </p:nvSpPr>
        <p:spPr bwMode="auto">
          <a:xfrm>
            <a:off x="4800600" y="23749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9508" name="Line 51"/>
          <p:cNvSpPr>
            <a:spLocks noChangeShapeType="1"/>
          </p:cNvSpPr>
          <p:nvPr/>
        </p:nvSpPr>
        <p:spPr bwMode="auto">
          <a:xfrm>
            <a:off x="6172200" y="24828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09" name="Line 52"/>
          <p:cNvSpPr>
            <a:spLocks noChangeShapeType="1"/>
          </p:cNvSpPr>
          <p:nvPr/>
        </p:nvSpPr>
        <p:spPr bwMode="auto">
          <a:xfrm flipV="1">
            <a:off x="6172200" y="2482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0" name="Line 53"/>
          <p:cNvSpPr>
            <a:spLocks noChangeShapeType="1"/>
          </p:cNvSpPr>
          <p:nvPr/>
        </p:nvSpPr>
        <p:spPr bwMode="auto">
          <a:xfrm>
            <a:off x="6172200" y="27114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1" name="Line 54"/>
          <p:cNvSpPr>
            <a:spLocks noChangeShapeType="1"/>
          </p:cNvSpPr>
          <p:nvPr/>
        </p:nvSpPr>
        <p:spPr bwMode="auto">
          <a:xfrm flipV="1">
            <a:off x="6629400" y="2482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2" name="Line 55"/>
          <p:cNvSpPr>
            <a:spLocks noChangeShapeType="1"/>
          </p:cNvSpPr>
          <p:nvPr/>
        </p:nvSpPr>
        <p:spPr bwMode="auto">
          <a:xfrm flipV="1">
            <a:off x="7086600" y="24828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3" name="Text Box 56"/>
          <p:cNvSpPr txBox="1">
            <a:spLocks noChangeArrowheads="1"/>
          </p:cNvSpPr>
          <p:nvPr/>
        </p:nvSpPr>
        <p:spPr bwMode="auto">
          <a:xfrm>
            <a:off x="6172200" y="24066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19514" name="Line 57"/>
          <p:cNvSpPr>
            <a:spLocks noChangeShapeType="1"/>
          </p:cNvSpPr>
          <p:nvPr/>
        </p:nvSpPr>
        <p:spPr bwMode="auto">
          <a:xfrm flipV="1">
            <a:off x="5562600" y="26352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5" name="Line 58"/>
          <p:cNvSpPr>
            <a:spLocks noChangeShapeType="1"/>
          </p:cNvSpPr>
          <p:nvPr/>
        </p:nvSpPr>
        <p:spPr bwMode="auto">
          <a:xfrm>
            <a:off x="4800600" y="27559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6" name="Line 59"/>
          <p:cNvSpPr>
            <a:spLocks noChangeShapeType="1"/>
          </p:cNvSpPr>
          <p:nvPr/>
        </p:nvSpPr>
        <p:spPr bwMode="auto">
          <a:xfrm flipV="1">
            <a:off x="4800600" y="27559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7" name="Line 60"/>
          <p:cNvSpPr>
            <a:spLocks noChangeShapeType="1"/>
          </p:cNvSpPr>
          <p:nvPr/>
        </p:nvSpPr>
        <p:spPr bwMode="auto">
          <a:xfrm>
            <a:off x="4800600" y="29845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8" name="Line 61"/>
          <p:cNvSpPr>
            <a:spLocks noChangeShapeType="1"/>
          </p:cNvSpPr>
          <p:nvPr/>
        </p:nvSpPr>
        <p:spPr bwMode="auto">
          <a:xfrm flipV="1">
            <a:off x="5257800" y="27559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19" name="Line 62"/>
          <p:cNvSpPr>
            <a:spLocks noChangeShapeType="1"/>
          </p:cNvSpPr>
          <p:nvPr/>
        </p:nvSpPr>
        <p:spPr bwMode="auto">
          <a:xfrm flipV="1">
            <a:off x="5715000" y="27559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0" name="Text Box 63"/>
          <p:cNvSpPr txBox="1">
            <a:spLocks noChangeArrowheads="1"/>
          </p:cNvSpPr>
          <p:nvPr/>
        </p:nvSpPr>
        <p:spPr bwMode="auto">
          <a:xfrm>
            <a:off x="4800600" y="26797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9521" name="Line 64"/>
          <p:cNvSpPr>
            <a:spLocks noChangeShapeType="1"/>
          </p:cNvSpPr>
          <p:nvPr/>
        </p:nvSpPr>
        <p:spPr bwMode="auto">
          <a:xfrm>
            <a:off x="6172200" y="27876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2" name="Line 65"/>
          <p:cNvSpPr>
            <a:spLocks noChangeShapeType="1"/>
          </p:cNvSpPr>
          <p:nvPr/>
        </p:nvSpPr>
        <p:spPr bwMode="auto">
          <a:xfrm flipV="1">
            <a:off x="6172200" y="2787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3" name="Line 66"/>
          <p:cNvSpPr>
            <a:spLocks noChangeShapeType="1"/>
          </p:cNvSpPr>
          <p:nvPr/>
        </p:nvSpPr>
        <p:spPr bwMode="auto">
          <a:xfrm>
            <a:off x="6172200" y="30162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4" name="Line 67"/>
          <p:cNvSpPr>
            <a:spLocks noChangeShapeType="1"/>
          </p:cNvSpPr>
          <p:nvPr/>
        </p:nvSpPr>
        <p:spPr bwMode="auto">
          <a:xfrm flipV="1">
            <a:off x="6629400" y="2787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5" name="Line 68"/>
          <p:cNvSpPr>
            <a:spLocks noChangeShapeType="1"/>
          </p:cNvSpPr>
          <p:nvPr/>
        </p:nvSpPr>
        <p:spPr bwMode="auto">
          <a:xfrm flipV="1">
            <a:off x="7086600" y="2787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6" name="Text Box 69"/>
          <p:cNvSpPr txBox="1">
            <a:spLocks noChangeArrowheads="1"/>
          </p:cNvSpPr>
          <p:nvPr/>
        </p:nvSpPr>
        <p:spPr bwMode="auto">
          <a:xfrm>
            <a:off x="6172200" y="27114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9527" name="Line 70"/>
          <p:cNvSpPr>
            <a:spLocks noChangeShapeType="1"/>
          </p:cNvSpPr>
          <p:nvPr/>
        </p:nvSpPr>
        <p:spPr bwMode="auto">
          <a:xfrm flipV="1">
            <a:off x="5562600" y="29400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8" name="Line 71"/>
          <p:cNvSpPr>
            <a:spLocks noChangeShapeType="1"/>
          </p:cNvSpPr>
          <p:nvPr/>
        </p:nvSpPr>
        <p:spPr bwMode="auto">
          <a:xfrm>
            <a:off x="4800600" y="30607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29" name="Line 72"/>
          <p:cNvSpPr>
            <a:spLocks noChangeShapeType="1"/>
          </p:cNvSpPr>
          <p:nvPr/>
        </p:nvSpPr>
        <p:spPr bwMode="auto">
          <a:xfrm flipV="1">
            <a:off x="48006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0" name="Line 73"/>
          <p:cNvSpPr>
            <a:spLocks noChangeShapeType="1"/>
          </p:cNvSpPr>
          <p:nvPr/>
        </p:nvSpPr>
        <p:spPr bwMode="auto">
          <a:xfrm>
            <a:off x="4800600" y="32893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1" name="Line 74"/>
          <p:cNvSpPr>
            <a:spLocks noChangeShapeType="1"/>
          </p:cNvSpPr>
          <p:nvPr/>
        </p:nvSpPr>
        <p:spPr bwMode="auto">
          <a:xfrm flipV="1">
            <a:off x="52578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2" name="Line 75"/>
          <p:cNvSpPr>
            <a:spLocks noChangeShapeType="1"/>
          </p:cNvSpPr>
          <p:nvPr/>
        </p:nvSpPr>
        <p:spPr bwMode="auto">
          <a:xfrm flipV="1">
            <a:off x="57150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3" name="Text Box 76"/>
          <p:cNvSpPr txBox="1">
            <a:spLocks noChangeArrowheads="1"/>
          </p:cNvSpPr>
          <p:nvPr/>
        </p:nvSpPr>
        <p:spPr bwMode="auto">
          <a:xfrm>
            <a:off x="4800600" y="29845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19534" name="Line 77"/>
          <p:cNvSpPr>
            <a:spLocks noChangeShapeType="1"/>
          </p:cNvSpPr>
          <p:nvPr/>
        </p:nvSpPr>
        <p:spPr bwMode="auto">
          <a:xfrm>
            <a:off x="6172200" y="30924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5" name="Line 78"/>
          <p:cNvSpPr>
            <a:spLocks noChangeShapeType="1"/>
          </p:cNvSpPr>
          <p:nvPr/>
        </p:nvSpPr>
        <p:spPr bwMode="auto">
          <a:xfrm flipV="1">
            <a:off x="6172200" y="3092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6" name="Line 79"/>
          <p:cNvSpPr>
            <a:spLocks noChangeShapeType="1"/>
          </p:cNvSpPr>
          <p:nvPr/>
        </p:nvSpPr>
        <p:spPr bwMode="auto">
          <a:xfrm>
            <a:off x="6172200" y="33210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7" name="Line 80"/>
          <p:cNvSpPr>
            <a:spLocks noChangeShapeType="1"/>
          </p:cNvSpPr>
          <p:nvPr/>
        </p:nvSpPr>
        <p:spPr bwMode="auto">
          <a:xfrm flipV="1">
            <a:off x="6629400" y="3092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8" name="Line 81"/>
          <p:cNvSpPr>
            <a:spLocks noChangeShapeType="1"/>
          </p:cNvSpPr>
          <p:nvPr/>
        </p:nvSpPr>
        <p:spPr bwMode="auto">
          <a:xfrm flipV="1">
            <a:off x="7086600" y="3092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39" name="Text Box 82"/>
          <p:cNvSpPr txBox="1">
            <a:spLocks noChangeArrowheads="1"/>
          </p:cNvSpPr>
          <p:nvPr/>
        </p:nvSpPr>
        <p:spPr bwMode="auto">
          <a:xfrm>
            <a:off x="6172200" y="30162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9540" name="Line 83"/>
          <p:cNvSpPr>
            <a:spLocks noChangeShapeType="1"/>
          </p:cNvSpPr>
          <p:nvPr/>
        </p:nvSpPr>
        <p:spPr bwMode="auto">
          <a:xfrm flipV="1">
            <a:off x="5562600" y="32448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1" name="Line 84"/>
          <p:cNvSpPr>
            <a:spLocks noChangeShapeType="1"/>
          </p:cNvSpPr>
          <p:nvPr/>
        </p:nvSpPr>
        <p:spPr bwMode="auto">
          <a:xfrm>
            <a:off x="4800600" y="3429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2" name="Line 85"/>
          <p:cNvSpPr>
            <a:spLocks noChangeShapeType="1"/>
          </p:cNvSpPr>
          <p:nvPr/>
        </p:nvSpPr>
        <p:spPr bwMode="auto">
          <a:xfrm flipV="1">
            <a:off x="4800600" y="3429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3" name="Line 86"/>
          <p:cNvSpPr>
            <a:spLocks noChangeShapeType="1"/>
          </p:cNvSpPr>
          <p:nvPr/>
        </p:nvSpPr>
        <p:spPr bwMode="auto">
          <a:xfrm>
            <a:off x="4800600" y="3657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4" name="Line 87"/>
          <p:cNvSpPr>
            <a:spLocks noChangeShapeType="1"/>
          </p:cNvSpPr>
          <p:nvPr/>
        </p:nvSpPr>
        <p:spPr bwMode="auto">
          <a:xfrm flipV="1">
            <a:off x="5257800" y="3429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5" name="Line 88"/>
          <p:cNvSpPr>
            <a:spLocks noChangeShapeType="1"/>
          </p:cNvSpPr>
          <p:nvPr/>
        </p:nvSpPr>
        <p:spPr bwMode="auto">
          <a:xfrm flipV="1">
            <a:off x="5715000" y="3429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6" name="Text Box 89"/>
          <p:cNvSpPr txBox="1">
            <a:spLocks noChangeArrowheads="1"/>
          </p:cNvSpPr>
          <p:nvPr/>
        </p:nvSpPr>
        <p:spPr bwMode="auto">
          <a:xfrm>
            <a:off x="4800600" y="3352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19547" name="Line 90"/>
          <p:cNvSpPr>
            <a:spLocks noChangeShapeType="1"/>
          </p:cNvSpPr>
          <p:nvPr/>
        </p:nvSpPr>
        <p:spPr bwMode="auto">
          <a:xfrm>
            <a:off x="6172200" y="34607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8" name="Line 91"/>
          <p:cNvSpPr>
            <a:spLocks noChangeShapeType="1"/>
          </p:cNvSpPr>
          <p:nvPr/>
        </p:nvSpPr>
        <p:spPr bwMode="auto">
          <a:xfrm flipV="1">
            <a:off x="6172200" y="3460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49" name="Line 92"/>
          <p:cNvSpPr>
            <a:spLocks noChangeShapeType="1"/>
          </p:cNvSpPr>
          <p:nvPr/>
        </p:nvSpPr>
        <p:spPr bwMode="auto">
          <a:xfrm>
            <a:off x="6172200" y="3689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0" name="Line 93"/>
          <p:cNvSpPr>
            <a:spLocks noChangeShapeType="1"/>
          </p:cNvSpPr>
          <p:nvPr/>
        </p:nvSpPr>
        <p:spPr bwMode="auto">
          <a:xfrm flipV="1">
            <a:off x="6629400" y="3460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1" name="Line 94"/>
          <p:cNvSpPr>
            <a:spLocks noChangeShapeType="1"/>
          </p:cNvSpPr>
          <p:nvPr/>
        </p:nvSpPr>
        <p:spPr bwMode="auto">
          <a:xfrm flipV="1">
            <a:off x="7086600" y="3460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2" name="Text Box 95"/>
          <p:cNvSpPr txBox="1">
            <a:spLocks noChangeArrowheads="1"/>
          </p:cNvSpPr>
          <p:nvPr/>
        </p:nvSpPr>
        <p:spPr bwMode="auto">
          <a:xfrm>
            <a:off x="6172200" y="33845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19553" name="Line 96"/>
          <p:cNvSpPr>
            <a:spLocks noChangeShapeType="1"/>
          </p:cNvSpPr>
          <p:nvPr/>
        </p:nvSpPr>
        <p:spPr bwMode="auto">
          <a:xfrm flipV="1">
            <a:off x="5562600" y="36131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4" name="Line 97"/>
          <p:cNvSpPr>
            <a:spLocks noChangeShapeType="1"/>
          </p:cNvSpPr>
          <p:nvPr/>
        </p:nvSpPr>
        <p:spPr bwMode="auto">
          <a:xfrm>
            <a:off x="7620000" y="35036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5" name="Line 98"/>
          <p:cNvSpPr>
            <a:spLocks noChangeShapeType="1"/>
          </p:cNvSpPr>
          <p:nvPr/>
        </p:nvSpPr>
        <p:spPr bwMode="auto">
          <a:xfrm flipV="1">
            <a:off x="7620000" y="3503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6" name="Line 99"/>
          <p:cNvSpPr>
            <a:spLocks noChangeShapeType="1"/>
          </p:cNvSpPr>
          <p:nvPr/>
        </p:nvSpPr>
        <p:spPr bwMode="auto">
          <a:xfrm>
            <a:off x="7620000" y="37322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7" name="Line 100"/>
          <p:cNvSpPr>
            <a:spLocks noChangeShapeType="1"/>
          </p:cNvSpPr>
          <p:nvPr/>
        </p:nvSpPr>
        <p:spPr bwMode="auto">
          <a:xfrm flipV="1">
            <a:off x="8077200" y="3503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8" name="Line 101"/>
          <p:cNvSpPr>
            <a:spLocks noChangeShapeType="1"/>
          </p:cNvSpPr>
          <p:nvPr/>
        </p:nvSpPr>
        <p:spPr bwMode="auto">
          <a:xfrm flipV="1">
            <a:off x="8534400" y="3503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59" name="Line 102"/>
          <p:cNvSpPr>
            <a:spLocks noChangeShapeType="1"/>
          </p:cNvSpPr>
          <p:nvPr/>
        </p:nvSpPr>
        <p:spPr bwMode="auto">
          <a:xfrm>
            <a:off x="7620000" y="25130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0" name="Line 103"/>
          <p:cNvSpPr>
            <a:spLocks noChangeShapeType="1"/>
          </p:cNvSpPr>
          <p:nvPr/>
        </p:nvSpPr>
        <p:spPr bwMode="auto">
          <a:xfrm flipV="1">
            <a:off x="7620000" y="25130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1" name="Line 104"/>
          <p:cNvSpPr>
            <a:spLocks noChangeShapeType="1"/>
          </p:cNvSpPr>
          <p:nvPr/>
        </p:nvSpPr>
        <p:spPr bwMode="auto">
          <a:xfrm>
            <a:off x="7620000" y="27416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2" name="Line 105"/>
          <p:cNvSpPr>
            <a:spLocks noChangeShapeType="1"/>
          </p:cNvSpPr>
          <p:nvPr/>
        </p:nvSpPr>
        <p:spPr bwMode="auto">
          <a:xfrm flipV="1">
            <a:off x="8077200" y="25130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3" name="Line 106"/>
          <p:cNvSpPr>
            <a:spLocks noChangeShapeType="1"/>
          </p:cNvSpPr>
          <p:nvPr/>
        </p:nvSpPr>
        <p:spPr bwMode="auto">
          <a:xfrm flipV="1">
            <a:off x="8534400" y="25130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4" name="Line 107"/>
          <p:cNvSpPr>
            <a:spLocks noChangeShapeType="1"/>
          </p:cNvSpPr>
          <p:nvPr/>
        </p:nvSpPr>
        <p:spPr bwMode="auto">
          <a:xfrm>
            <a:off x="3505200" y="266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5" name="Line 108"/>
          <p:cNvSpPr>
            <a:spLocks noChangeShapeType="1"/>
          </p:cNvSpPr>
          <p:nvPr/>
        </p:nvSpPr>
        <p:spPr bwMode="auto">
          <a:xfrm flipV="1">
            <a:off x="3505200" y="2667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6" name="Line 109"/>
          <p:cNvSpPr>
            <a:spLocks noChangeShapeType="1"/>
          </p:cNvSpPr>
          <p:nvPr/>
        </p:nvSpPr>
        <p:spPr bwMode="auto">
          <a:xfrm>
            <a:off x="3505200" y="2971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7" name="Line 110"/>
          <p:cNvSpPr>
            <a:spLocks noChangeShapeType="1"/>
          </p:cNvSpPr>
          <p:nvPr/>
        </p:nvSpPr>
        <p:spPr bwMode="auto">
          <a:xfrm flipV="1">
            <a:off x="3962400" y="2667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8" name="Line 111"/>
          <p:cNvSpPr>
            <a:spLocks noChangeShapeType="1"/>
          </p:cNvSpPr>
          <p:nvPr/>
        </p:nvSpPr>
        <p:spPr bwMode="auto">
          <a:xfrm flipV="1">
            <a:off x="4419600" y="2667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69" name="Line 112"/>
          <p:cNvSpPr>
            <a:spLocks noChangeShapeType="1"/>
          </p:cNvSpPr>
          <p:nvPr/>
        </p:nvSpPr>
        <p:spPr bwMode="auto">
          <a:xfrm>
            <a:off x="3505200" y="29702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0" name="Line 113"/>
          <p:cNvSpPr>
            <a:spLocks noChangeShapeType="1"/>
          </p:cNvSpPr>
          <p:nvPr/>
        </p:nvSpPr>
        <p:spPr bwMode="auto">
          <a:xfrm flipV="1">
            <a:off x="3505200" y="2970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1" name="Line 114"/>
          <p:cNvSpPr>
            <a:spLocks noChangeShapeType="1"/>
          </p:cNvSpPr>
          <p:nvPr/>
        </p:nvSpPr>
        <p:spPr bwMode="auto">
          <a:xfrm>
            <a:off x="3505200" y="32750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2" name="Line 115"/>
          <p:cNvSpPr>
            <a:spLocks noChangeShapeType="1"/>
          </p:cNvSpPr>
          <p:nvPr/>
        </p:nvSpPr>
        <p:spPr bwMode="auto">
          <a:xfrm flipV="1">
            <a:off x="3962400" y="2970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3" name="Line 116"/>
          <p:cNvSpPr>
            <a:spLocks noChangeShapeType="1"/>
          </p:cNvSpPr>
          <p:nvPr/>
        </p:nvSpPr>
        <p:spPr bwMode="auto">
          <a:xfrm flipV="1">
            <a:off x="4419600" y="2970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4" name="Line 117"/>
          <p:cNvSpPr>
            <a:spLocks noChangeShapeType="1"/>
          </p:cNvSpPr>
          <p:nvPr/>
        </p:nvSpPr>
        <p:spPr bwMode="auto">
          <a:xfrm>
            <a:off x="3505200" y="32750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5" name="Line 118"/>
          <p:cNvSpPr>
            <a:spLocks noChangeShapeType="1"/>
          </p:cNvSpPr>
          <p:nvPr/>
        </p:nvSpPr>
        <p:spPr bwMode="auto">
          <a:xfrm flipV="1">
            <a:off x="3505200" y="3275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6" name="Line 119"/>
          <p:cNvSpPr>
            <a:spLocks noChangeShapeType="1"/>
          </p:cNvSpPr>
          <p:nvPr/>
        </p:nvSpPr>
        <p:spPr bwMode="auto">
          <a:xfrm>
            <a:off x="3505200" y="35798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7" name="Line 120"/>
          <p:cNvSpPr>
            <a:spLocks noChangeShapeType="1"/>
          </p:cNvSpPr>
          <p:nvPr/>
        </p:nvSpPr>
        <p:spPr bwMode="auto">
          <a:xfrm flipV="1">
            <a:off x="3962400" y="3275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8" name="Line 121"/>
          <p:cNvSpPr>
            <a:spLocks noChangeShapeType="1"/>
          </p:cNvSpPr>
          <p:nvPr/>
        </p:nvSpPr>
        <p:spPr bwMode="auto">
          <a:xfrm flipV="1">
            <a:off x="4419600" y="3275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79" name="Text Box 122"/>
          <p:cNvSpPr txBox="1">
            <a:spLocks noChangeArrowheads="1"/>
          </p:cNvSpPr>
          <p:nvPr/>
        </p:nvSpPr>
        <p:spPr bwMode="auto">
          <a:xfrm>
            <a:off x="3429000" y="2667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dirty="0">
              <a:latin typeface="Times New Roman" panose="02020603050405020304" pitchFamily="18" charset="0"/>
              <a:ea typeface="华文楷体" panose="02010600040101010101" pitchFamily="2" charset="-122"/>
            </a:endParaRPr>
          </a:p>
        </p:txBody>
      </p:sp>
      <p:sp>
        <p:nvSpPr>
          <p:cNvPr id="19580" name="Text Box 123"/>
          <p:cNvSpPr txBox="1">
            <a:spLocks noChangeArrowheads="1"/>
          </p:cNvSpPr>
          <p:nvPr/>
        </p:nvSpPr>
        <p:spPr bwMode="auto">
          <a:xfrm>
            <a:off x="3429000" y="2971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dirty="0">
              <a:latin typeface="Times New Roman" panose="02020603050405020304" pitchFamily="18" charset="0"/>
              <a:ea typeface="华文楷体" panose="02010600040101010101" pitchFamily="2" charset="-122"/>
            </a:endParaRPr>
          </a:p>
        </p:txBody>
      </p:sp>
      <p:sp>
        <p:nvSpPr>
          <p:cNvPr id="19581" name="Text Box 124"/>
          <p:cNvSpPr txBox="1">
            <a:spLocks noChangeArrowheads="1"/>
          </p:cNvSpPr>
          <p:nvPr/>
        </p:nvSpPr>
        <p:spPr bwMode="auto">
          <a:xfrm>
            <a:off x="3429000" y="32448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dirty="0">
              <a:latin typeface="Times New Roman" panose="02020603050405020304" pitchFamily="18" charset="0"/>
              <a:ea typeface="华文楷体" panose="02010600040101010101" pitchFamily="2" charset="-122"/>
            </a:endParaRPr>
          </a:p>
        </p:txBody>
      </p:sp>
      <p:sp>
        <p:nvSpPr>
          <p:cNvPr id="19582" name="Line 125"/>
          <p:cNvSpPr>
            <a:spLocks noChangeShapeType="1"/>
          </p:cNvSpPr>
          <p:nvPr/>
        </p:nvSpPr>
        <p:spPr bwMode="auto">
          <a:xfrm flipV="1">
            <a:off x="4191000" y="32004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3" name="Line 126"/>
          <p:cNvSpPr>
            <a:spLocks noChangeShapeType="1"/>
          </p:cNvSpPr>
          <p:nvPr/>
        </p:nvSpPr>
        <p:spPr bwMode="auto">
          <a:xfrm flipV="1">
            <a:off x="4191000" y="35052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4" name="Line 127"/>
          <p:cNvSpPr>
            <a:spLocks noChangeShapeType="1"/>
          </p:cNvSpPr>
          <p:nvPr/>
        </p:nvSpPr>
        <p:spPr bwMode="auto">
          <a:xfrm flipV="1">
            <a:off x="4191000" y="28194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5" name="Line 128"/>
          <p:cNvSpPr>
            <a:spLocks noChangeShapeType="1"/>
          </p:cNvSpPr>
          <p:nvPr/>
        </p:nvSpPr>
        <p:spPr bwMode="auto">
          <a:xfrm flipV="1">
            <a:off x="4191000" y="2514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6" name="Line 129"/>
          <p:cNvSpPr>
            <a:spLocks noChangeShapeType="1"/>
          </p:cNvSpPr>
          <p:nvPr/>
        </p:nvSpPr>
        <p:spPr bwMode="auto">
          <a:xfrm flipV="1">
            <a:off x="7010400" y="35814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7" name="Line 130"/>
          <p:cNvSpPr>
            <a:spLocks noChangeShapeType="1"/>
          </p:cNvSpPr>
          <p:nvPr/>
        </p:nvSpPr>
        <p:spPr bwMode="auto">
          <a:xfrm flipV="1">
            <a:off x="7010400" y="25908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88" name="Text Box 131"/>
          <p:cNvSpPr txBox="1">
            <a:spLocks noChangeArrowheads="1"/>
          </p:cNvSpPr>
          <p:nvPr/>
        </p:nvSpPr>
        <p:spPr bwMode="auto">
          <a:xfrm>
            <a:off x="7620000" y="2438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9589" name="Text Box 132"/>
          <p:cNvSpPr txBox="1">
            <a:spLocks noChangeArrowheads="1"/>
          </p:cNvSpPr>
          <p:nvPr/>
        </p:nvSpPr>
        <p:spPr bwMode="auto">
          <a:xfrm>
            <a:off x="7620000" y="34290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19590" name="Text Box 133"/>
          <p:cNvSpPr txBox="1">
            <a:spLocks noChangeArrowheads="1"/>
          </p:cNvSpPr>
          <p:nvPr/>
        </p:nvSpPr>
        <p:spPr bwMode="auto">
          <a:xfrm>
            <a:off x="8153400" y="25146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9591" name="Text Box 134"/>
          <p:cNvSpPr txBox="1">
            <a:spLocks noChangeArrowheads="1"/>
          </p:cNvSpPr>
          <p:nvPr/>
        </p:nvSpPr>
        <p:spPr bwMode="auto">
          <a:xfrm>
            <a:off x="6705600" y="28194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9592" name="Text Box 135"/>
          <p:cNvSpPr txBox="1">
            <a:spLocks noChangeArrowheads="1"/>
          </p:cNvSpPr>
          <p:nvPr/>
        </p:nvSpPr>
        <p:spPr bwMode="auto">
          <a:xfrm>
            <a:off x="6705600" y="31242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9593" name="Text Box 136"/>
          <p:cNvSpPr txBox="1">
            <a:spLocks noChangeArrowheads="1"/>
          </p:cNvSpPr>
          <p:nvPr/>
        </p:nvSpPr>
        <p:spPr bwMode="auto">
          <a:xfrm>
            <a:off x="8153400" y="35052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9594" name="AutoShape 137"/>
          <p:cNvSpPr>
            <a:spLocks noChangeArrowheads="1"/>
          </p:cNvSpPr>
          <p:nvPr/>
        </p:nvSpPr>
        <p:spPr bwMode="auto">
          <a:xfrm>
            <a:off x="2605088" y="2743200"/>
            <a:ext cx="519112" cy="228600"/>
          </a:xfrm>
          <a:prstGeom prst="rightArrow">
            <a:avLst>
              <a:gd name="adj1" fmla="val 50000"/>
              <a:gd name="adj2" fmla="val 5677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graphicFrame>
        <p:nvGraphicFramePr>
          <p:cNvPr id="24714" name="Object 138"/>
          <p:cNvGraphicFramePr>
            <a:graphicFrameLocks noChangeAspect="1"/>
          </p:cNvGraphicFramePr>
          <p:nvPr/>
        </p:nvGraphicFramePr>
        <p:xfrm>
          <a:off x="2743200" y="4360863"/>
          <a:ext cx="225425" cy="685800"/>
        </p:xfrm>
        <a:graphic>
          <a:graphicData uri="http://schemas.openxmlformats.org/presentationml/2006/ole">
            <mc:AlternateContent xmlns:mc="http://schemas.openxmlformats.org/markup-compatibility/2006">
              <mc:Choice xmlns:v="urn:schemas-microsoft-com:vml" Requires="v">
                <p:oleObj spid="_x0000_s20241" name="剪辑" r:id="rId1" imgW="1296035" imgH="3934460" progId="MS_ClipArt_Gallery.2">
                  <p:embed/>
                </p:oleObj>
              </mc:Choice>
              <mc:Fallback>
                <p:oleObj name="剪辑" r:id="rId1" imgW="1296035" imgH="3934460" progId="MS_ClipArt_Gallery.2">
                  <p:embed/>
                  <p:pic>
                    <p:nvPicPr>
                      <p:cNvPr id="0" name="Object 1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360863"/>
                        <a:ext cx="22542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96" name="Text Box 139"/>
          <p:cNvSpPr txBox="1">
            <a:spLocks noChangeArrowheads="1"/>
          </p:cNvSpPr>
          <p:nvPr/>
        </p:nvSpPr>
        <p:spPr bwMode="auto">
          <a:xfrm>
            <a:off x="3429000" y="4343400"/>
            <a:ext cx="4495800" cy="10156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2400" b="1" dirty="0">
                <a:solidFill>
                  <a:schemeClr val="accent2"/>
                </a:solidFill>
                <a:latin typeface="Times New Roman" panose="02020603050405020304" pitchFamily="18" charset="0"/>
                <a:ea typeface="华文楷体" panose="02010600040101010101" pitchFamily="2" charset="-122"/>
              </a:rPr>
              <a:t>六条边却用了 </a:t>
            </a:r>
            <a:r>
              <a:rPr kumimoji="1" lang="en-US" altLang="zh-CN" sz="2400" b="1" dirty="0">
                <a:solidFill>
                  <a:schemeClr val="accent2"/>
                </a:solidFill>
                <a:latin typeface="Times New Roman" panose="02020603050405020304" pitchFamily="18" charset="0"/>
                <a:ea typeface="华文楷体" panose="02010600040101010101" pitchFamily="2" charset="-122"/>
              </a:rPr>
              <a:t>12 </a:t>
            </a:r>
            <a:r>
              <a:rPr kumimoji="1" lang="zh-CN" altLang="en-US" sz="2400" b="1" dirty="0">
                <a:solidFill>
                  <a:schemeClr val="accent2"/>
                </a:solidFill>
                <a:latin typeface="Times New Roman" panose="02020603050405020304" pitchFamily="18" charset="0"/>
                <a:ea typeface="华文楷体" panose="02010600040101010101" pitchFamily="2" charset="-122"/>
              </a:rPr>
              <a:t>个边结点</a:t>
            </a:r>
            <a:r>
              <a:rPr kumimoji="1" lang="en-US" altLang="zh-CN" sz="2400" b="1" dirty="0">
                <a:solidFill>
                  <a:schemeClr val="accent2"/>
                </a:solidFill>
                <a:latin typeface="Times New Roman" panose="02020603050405020304" pitchFamily="18" charset="0"/>
                <a:ea typeface="华文楷体" panose="02010600040101010101" pitchFamily="2" charset="-122"/>
              </a:rPr>
              <a:t>!!!</a:t>
            </a:r>
            <a:endParaRPr kumimoji="1" lang="en-US" altLang="zh-CN" sz="2400" b="1" dirty="0">
              <a:solidFill>
                <a:schemeClr val="accent2"/>
              </a:solidFill>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2400" b="1" dirty="0">
                <a:solidFill>
                  <a:schemeClr val="accent2"/>
                </a:solidFill>
                <a:latin typeface="Times New Roman" panose="02020603050405020304" pitchFamily="18" charset="0"/>
                <a:ea typeface="华文楷体" panose="02010600040101010101" pitchFamily="2" charset="-122"/>
              </a:rPr>
              <a:t>改进：建立邻接多重表</a:t>
            </a:r>
            <a:endParaRPr kumimoji="1" lang="zh-CN" altLang="en-US" sz="24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714"/>
                                        </p:tgtEl>
                                        <p:attrNameLst>
                                          <p:attrName>style.visibility</p:attrName>
                                        </p:attrNameLst>
                                      </p:cBhvr>
                                      <p:to>
                                        <p:strVal val="visible"/>
                                      </p:to>
                                    </p:set>
                                    <p:anim calcmode="lin" valueType="num">
                                      <p:cBhvr additive="base">
                                        <p:cTn id="7" dur="500" fill="hold"/>
                                        <p:tgtEl>
                                          <p:spTgt spid="24714"/>
                                        </p:tgtEl>
                                        <p:attrNameLst>
                                          <p:attrName>ppt_x</p:attrName>
                                        </p:attrNameLst>
                                      </p:cBhvr>
                                      <p:tavLst>
                                        <p:tav tm="0">
                                          <p:val>
                                            <p:strVal val="0-#ppt_w/2"/>
                                          </p:val>
                                        </p:tav>
                                        <p:tav tm="100000">
                                          <p:val>
                                            <p:strVal val="#ppt_x"/>
                                          </p:val>
                                        </p:tav>
                                      </p:tavLst>
                                    </p:anim>
                                    <p:anim calcmode="lin" valueType="num">
                                      <p:cBhvr additive="base">
                                        <p:cTn id="8" dur="500" fill="hold"/>
                                        <p:tgtEl>
                                          <p:spTgt spid="247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页脚占位符 3"/>
          <p:cNvSpPr>
            <a:spLocks noGrp="1"/>
          </p:cNvSpPr>
          <p:nvPr>
            <p:ph type="ftr" sz="quarter" idx="10"/>
          </p:nvPr>
        </p:nvSpPr>
        <p:spPr/>
        <p:txBody>
          <a:bodyPr/>
          <a:lstStyle/>
          <a:p>
            <a:pPr>
              <a:defRPr/>
            </a:pPr>
            <a:r>
              <a:rPr lang="en-US" altLang="zh-CN"/>
              <a:t>BUPT SCST</a:t>
            </a:r>
            <a:endParaRPr lang="en-US" altLang="zh-CN"/>
          </a:p>
        </p:txBody>
      </p:sp>
      <p:sp>
        <p:nvSpPr>
          <p:cNvPr id="81" name="日期占位符 5"/>
          <p:cNvSpPr>
            <a:spLocks noGrp="1"/>
          </p:cNvSpPr>
          <p:nvPr>
            <p:ph type="dt" sz="quarter" idx="12"/>
          </p:nvPr>
        </p:nvSpPr>
        <p:spPr/>
        <p:txBody>
          <a:bodyPr/>
          <a:lstStyle/>
          <a:p>
            <a:pPr>
              <a:defRPr/>
            </a:pPr>
            <a:r>
              <a:rPr lang="en-US" altLang="zh-CN"/>
              <a:t>BUPT</a:t>
            </a:r>
            <a:endParaRPr lang="en-US" altLang="zh-CN"/>
          </a:p>
        </p:txBody>
      </p:sp>
      <p:sp>
        <p:nvSpPr>
          <p:cNvPr id="2048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0485" name="Text Box 4"/>
          <p:cNvSpPr txBox="1">
            <a:spLocks noChangeArrowheads="1"/>
          </p:cNvSpPr>
          <p:nvPr/>
        </p:nvSpPr>
        <p:spPr bwMode="auto">
          <a:xfrm>
            <a:off x="914400" y="1371600"/>
            <a:ext cx="4876800"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Char char="•"/>
            </a:pPr>
            <a:r>
              <a:rPr kumimoji="1" lang="zh-CN" altLang="en-US" sz="2400" b="1" dirty="0">
                <a:solidFill>
                  <a:schemeClr val="accent2"/>
                </a:solidFill>
                <a:latin typeface="Times New Roman" panose="02020603050405020304" pitchFamily="18" charset="0"/>
                <a:ea typeface="华文楷体" panose="02010600040101010101" pitchFamily="2" charset="-122"/>
              </a:rPr>
              <a:t>逆邻接表：边表采用入边表</a:t>
            </a:r>
            <a:endParaRPr kumimoji="1" lang="zh-CN" altLang="en-US" sz="2400" b="1" dirty="0">
              <a:solidFill>
                <a:schemeClr val="accent2"/>
              </a:solidFill>
              <a:latin typeface="Times New Roman" panose="02020603050405020304" pitchFamily="18" charset="0"/>
              <a:ea typeface="华文楷体" panose="02010600040101010101" pitchFamily="2" charset="-122"/>
            </a:endParaRPr>
          </a:p>
        </p:txBody>
      </p:sp>
      <p:sp>
        <p:nvSpPr>
          <p:cNvPr id="20486" name="Oval 5"/>
          <p:cNvSpPr>
            <a:spLocks noChangeArrowheads="1"/>
          </p:cNvSpPr>
          <p:nvPr/>
        </p:nvSpPr>
        <p:spPr bwMode="auto">
          <a:xfrm>
            <a:off x="1143000" y="2514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20487" name="Oval 6"/>
          <p:cNvSpPr>
            <a:spLocks noChangeArrowheads="1"/>
          </p:cNvSpPr>
          <p:nvPr/>
        </p:nvSpPr>
        <p:spPr bwMode="auto">
          <a:xfrm>
            <a:off x="2667000" y="2514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20488" name="Line 7"/>
          <p:cNvSpPr>
            <a:spLocks noChangeShapeType="1"/>
          </p:cNvSpPr>
          <p:nvPr/>
        </p:nvSpPr>
        <p:spPr bwMode="auto">
          <a:xfrm>
            <a:off x="1600200" y="27432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89" name="Oval 8"/>
          <p:cNvSpPr>
            <a:spLocks noChangeArrowheads="1"/>
          </p:cNvSpPr>
          <p:nvPr/>
        </p:nvSpPr>
        <p:spPr bwMode="auto">
          <a:xfrm>
            <a:off x="1143000" y="4038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20490" name="Oval 9"/>
          <p:cNvSpPr>
            <a:spLocks noChangeArrowheads="1"/>
          </p:cNvSpPr>
          <p:nvPr/>
        </p:nvSpPr>
        <p:spPr bwMode="auto">
          <a:xfrm>
            <a:off x="2667000" y="4038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20491" name="Line 10"/>
          <p:cNvSpPr>
            <a:spLocks noChangeShapeType="1"/>
          </p:cNvSpPr>
          <p:nvPr/>
        </p:nvSpPr>
        <p:spPr bwMode="auto">
          <a:xfrm>
            <a:off x="1600200" y="41910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2" name="Line 11"/>
          <p:cNvSpPr>
            <a:spLocks noChangeShapeType="1"/>
          </p:cNvSpPr>
          <p:nvPr/>
        </p:nvSpPr>
        <p:spPr bwMode="auto">
          <a:xfrm flipH="1">
            <a:off x="1371600" y="28956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3" name="Line 12"/>
          <p:cNvSpPr>
            <a:spLocks noChangeShapeType="1"/>
          </p:cNvSpPr>
          <p:nvPr/>
        </p:nvSpPr>
        <p:spPr bwMode="auto">
          <a:xfrm flipH="1" flipV="1">
            <a:off x="1524000" y="28194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4" name="Text Box 13"/>
          <p:cNvSpPr txBox="1">
            <a:spLocks noChangeArrowheads="1"/>
          </p:cNvSpPr>
          <p:nvPr/>
        </p:nvSpPr>
        <p:spPr bwMode="auto">
          <a:xfrm>
            <a:off x="1524000" y="236220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 </a:t>
            </a:r>
            <a:r>
              <a:rPr kumimoji="1" lang="en-US" altLang="zh-CN" sz="1600" b="1" dirty="0">
                <a:latin typeface="Times New Roman" panose="02020603050405020304" pitchFamily="18" charset="0"/>
                <a:ea typeface="华文楷体" panose="02010600040101010101" pitchFamily="2" charset="-122"/>
              </a:rPr>
              <a:t>G1</a:t>
            </a:r>
            <a:endParaRPr kumimoji="1" lang="en-US" altLang="zh-CN" sz="1600" b="1" dirty="0">
              <a:latin typeface="Times New Roman" panose="02020603050405020304" pitchFamily="18" charset="0"/>
              <a:ea typeface="华文楷体" panose="02010600040101010101" pitchFamily="2" charset="-122"/>
            </a:endParaRPr>
          </a:p>
        </p:txBody>
      </p:sp>
      <p:sp>
        <p:nvSpPr>
          <p:cNvPr id="20495" name="Line 14"/>
          <p:cNvSpPr>
            <a:spLocks noChangeShapeType="1"/>
          </p:cNvSpPr>
          <p:nvPr/>
        </p:nvSpPr>
        <p:spPr bwMode="auto">
          <a:xfrm flipV="1">
            <a:off x="1219200" y="2819400"/>
            <a:ext cx="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6" name="Line 15"/>
          <p:cNvSpPr>
            <a:spLocks noChangeShapeType="1"/>
          </p:cNvSpPr>
          <p:nvPr/>
        </p:nvSpPr>
        <p:spPr bwMode="auto">
          <a:xfrm>
            <a:off x="4648200" y="2819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7" name="Line 16"/>
          <p:cNvSpPr>
            <a:spLocks noChangeShapeType="1"/>
          </p:cNvSpPr>
          <p:nvPr/>
        </p:nvSpPr>
        <p:spPr bwMode="auto">
          <a:xfrm flipV="1">
            <a:off x="4648200" y="2819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8" name="Line 17"/>
          <p:cNvSpPr>
            <a:spLocks noChangeShapeType="1"/>
          </p:cNvSpPr>
          <p:nvPr/>
        </p:nvSpPr>
        <p:spPr bwMode="auto">
          <a:xfrm>
            <a:off x="4648200" y="3048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9" name="Line 18"/>
          <p:cNvSpPr>
            <a:spLocks noChangeShapeType="1"/>
          </p:cNvSpPr>
          <p:nvPr/>
        </p:nvSpPr>
        <p:spPr bwMode="auto">
          <a:xfrm flipV="1">
            <a:off x="5105400" y="2819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0" name="Line 19"/>
          <p:cNvSpPr>
            <a:spLocks noChangeShapeType="1"/>
          </p:cNvSpPr>
          <p:nvPr/>
        </p:nvSpPr>
        <p:spPr bwMode="auto">
          <a:xfrm flipV="1">
            <a:off x="5562600" y="2819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1" name="Text Box 20"/>
          <p:cNvSpPr txBox="1">
            <a:spLocks noChangeArrowheads="1"/>
          </p:cNvSpPr>
          <p:nvPr/>
        </p:nvSpPr>
        <p:spPr bwMode="auto">
          <a:xfrm>
            <a:off x="4648200" y="2743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20502" name="Line 21"/>
          <p:cNvSpPr>
            <a:spLocks noChangeShapeType="1"/>
          </p:cNvSpPr>
          <p:nvPr/>
        </p:nvSpPr>
        <p:spPr bwMode="auto">
          <a:xfrm>
            <a:off x="4648200" y="3048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3" name="Line 22"/>
          <p:cNvSpPr>
            <a:spLocks noChangeShapeType="1"/>
          </p:cNvSpPr>
          <p:nvPr/>
        </p:nvSpPr>
        <p:spPr bwMode="auto">
          <a:xfrm flipV="1">
            <a:off x="4648200" y="3048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4" name="Line 23"/>
          <p:cNvSpPr>
            <a:spLocks noChangeShapeType="1"/>
          </p:cNvSpPr>
          <p:nvPr/>
        </p:nvSpPr>
        <p:spPr bwMode="auto">
          <a:xfrm>
            <a:off x="4648200" y="3276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5" name="Line 24"/>
          <p:cNvSpPr>
            <a:spLocks noChangeShapeType="1"/>
          </p:cNvSpPr>
          <p:nvPr/>
        </p:nvSpPr>
        <p:spPr bwMode="auto">
          <a:xfrm flipV="1">
            <a:off x="5105400" y="3048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6" name="Line 25"/>
          <p:cNvSpPr>
            <a:spLocks noChangeShapeType="1"/>
          </p:cNvSpPr>
          <p:nvPr/>
        </p:nvSpPr>
        <p:spPr bwMode="auto">
          <a:xfrm flipV="1">
            <a:off x="5562600" y="3048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7" name="Text Box 26"/>
          <p:cNvSpPr txBox="1">
            <a:spLocks noChangeArrowheads="1"/>
          </p:cNvSpPr>
          <p:nvPr/>
        </p:nvSpPr>
        <p:spPr bwMode="auto">
          <a:xfrm>
            <a:off x="4648200" y="2971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20508" name="Line 27"/>
          <p:cNvSpPr>
            <a:spLocks noChangeShapeType="1"/>
          </p:cNvSpPr>
          <p:nvPr/>
        </p:nvSpPr>
        <p:spPr bwMode="auto">
          <a:xfrm>
            <a:off x="5943600" y="27114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9" name="Line 28"/>
          <p:cNvSpPr>
            <a:spLocks noChangeShapeType="1"/>
          </p:cNvSpPr>
          <p:nvPr/>
        </p:nvSpPr>
        <p:spPr bwMode="auto">
          <a:xfrm flipV="1">
            <a:off x="5943600" y="2711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0" name="Line 29"/>
          <p:cNvSpPr>
            <a:spLocks noChangeShapeType="1"/>
          </p:cNvSpPr>
          <p:nvPr/>
        </p:nvSpPr>
        <p:spPr bwMode="auto">
          <a:xfrm>
            <a:off x="5943600" y="29400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1" name="Line 30"/>
          <p:cNvSpPr>
            <a:spLocks noChangeShapeType="1"/>
          </p:cNvSpPr>
          <p:nvPr/>
        </p:nvSpPr>
        <p:spPr bwMode="auto">
          <a:xfrm flipV="1">
            <a:off x="6400800" y="2711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2" name="Line 31"/>
          <p:cNvSpPr>
            <a:spLocks noChangeShapeType="1"/>
          </p:cNvSpPr>
          <p:nvPr/>
        </p:nvSpPr>
        <p:spPr bwMode="auto">
          <a:xfrm flipV="1">
            <a:off x="6858000" y="27114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3" name="Text Box 32"/>
          <p:cNvSpPr txBox="1">
            <a:spLocks noChangeArrowheads="1"/>
          </p:cNvSpPr>
          <p:nvPr/>
        </p:nvSpPr>
        <p:spPr bwMode="auto">
          <a:xfrm>
            <a:off x="5943600" y="26352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20514" name="Line 33"/>
          <p:cNvSpPr>
            <a:spLocks noChangeShapeType="1"/>
          </p:cNvSpPr>
          <p:nvPr/>
        </p:nvSpPr>
        <p:spPr bwMode="auto">
          <a:xfrm>
            <a:off x="7315200" y="27432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5" name="Line 34"/>
          <p:cNvSpPr>
            <a:spLocks noChangeShapeType="1"/>
          </p:cNvSpPr>
          <p:nvPr/>
        </p:nvSpPr>
        <p:spPr bwMode="auto">
          <a:xfrm flipV="1">
            <a:off x="7315200" y="2743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6" name="Line 35"/>
          <p:cNvSpPr>
            <a:spLocks noChangeShapeType="1"/>
          </p:cNvSpPr>
          <p:nvPr/>
        </p:nvSpPr>
        <p:spPr bwMode="auto">
          <a:xfrm>
            <a:off x="7315200" y="2971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7" name="Line 36"/>
          <p:cNvSpPr>
            <a:spLocks noChangeShapeType="1"/>
          </p:cNvSpPr>
          <p:nvPr/>
        </p:nvSpPr>
        <p:spPr bwMode="auto">
          <a:xfrm flipV="1">
            <a:off x="7772400" y="2743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8" name="Line 37"/>
          <p:cNvSpPr>
            <a:spLocks noChangeShapeType="1"/>
          </p:cNvSpPr>
          <p:nvPr/>
        </p:nvSpPr>
        <p:spPr bwMode="auto">
          <a:xfrm flipV="1">
            <a:off x="8229600" y="2743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19" name="Text Box 38"/>
          <p:cNvSpPr txBox="1">
            <a:spLocks noChangeArrowheads="1"/>
          </p:cNvSpPr>
          <p:nvPr/>
        </p:nvSpPr>
        <p:spPr bwMode="auto">
          <a:xfrm>
            <a:off x="7315200" y="26670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0520" name="Text Box 39"/>
          <p:cNvSpPr txBox="1">
            <a:spLocks noChangeArrowheads="1"/>
          </p:cNvSpPr>
          <p:nvPr/>
        </p:nvSpPr>
        <p:spPr bwMode="auto">
          <a:xfrm>
            <a:off x="4267200" y="2743200"/>
            <a:ext cx="228600" cy="11906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a:t>
            </a:r>
            <a:endParaRPr kumimoji="1" lang="en-US" altLang="zh-CN" sz="1800" b="1" dirty="0">
              <a:latin typeface="Times New Roman" panose="02020603050405020304" pitchFamily="18" charset="0"/>
              <a:ea typeface="华文楷体" panose="02010600040101010101" pitchFamily="2" charset="-122"/>
            </a:endParaRPr>
          </a:p>
        </p:txBody>
      </p:sp>
      <p:sp>
        <p:nvSpPr>
          <p:cNvPr id="20521" name="Line 40"/>
          <p:cNvSpPr>
            <a:spLocks noChangeShapeType="1"/>
          </p:cNvSpPr>
          <p:nvPr/>
        </p:nvSpPr>
        <p:spPr bwMode="auto">
          <a:xfrm flipV="1">
            <a:off x="5334000" y="2895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2" name="Line 41"/>
          <p:cNvSpPr>
            <a:spLocks noChangeShapeType="1"/>
          </p:cNvSpPr>
          <p:nvPr/>
        </p:nvSpPr>
        <p:spPr bwMode="auto">
          <a:xfrm flipV="1">
            <a:off x="6705600" y="28956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3" name="Text Box 42"/>
          <p:cNvSpPr txBox="1">
            <a:spLocks noChangeArrowheads="1"/>
          </p:cNvSpPr>
          <p:nvPr/>
        </p:nvSpPr>
        <p:spPr bwMode="auto">
          <a:xfrm>
            <a:off x="7848600" y="27432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20524" name="Line 43"/>
          <p:cNvSpPr>
            <a:spLocks noChangeShapeType="1"/>
          </p:cNvSpPr>
          <p:nvPr/>
        </p:nvSpPr>
        <p:spPr bwMode="auto">
          <a:xfrm>
            <a:off x="5943600" y="30607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5" name="Line 44"/>
          <p:cNvSpPr>
            <a:spLocks noChangeShapeType="1"/>
          </p:cNvSpPr>
          <p:nvPr/>
        </p:nvSpPr>
        <p:spPr bwMode="auto">
          <a:xfrm flipV="1">
            <a:off x="59436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6" name="Line 45"/>
          <p:cNvSpPr>
            <a:spLocks noChangeShapeType="1"/>
          </p:cNvSpPr>
          <p:nvPr/>
        </p:nvSpPr>
        <p:spPr bwMode="auto">
          <a:xfrm>
            <a:off x="5943600" y="32893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7" name="Line 46"/>
          <p:cNvSpPr>
            <a:spLocks noChangeShapeType="1"/>
          </p:cNvSpPr>
          <p:nvPr/>
        </p:nvSpPr>
        <p:spPr bwMode="auto">
          <a:xfrm flipV="1">
            <a:off x="64008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8" name="Line 47"/>
          <p:cNvSpPr>
            <a:spLocks noChangeShapeType="1"/>
          </p:cNvSpPr>
          <p:nvPr/>
        </p:nvSpPr>
        <p:spPr bwMode="auto">
          <a:xfrm flipV="1">
            <a:off x="6858000" y="30607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29" name="Text Box 48"/>
          <p:cNvSpPr txBox="1">
            <a:spLocks noChangeArrowheads="1"/>
          </p:cNvSpPr>
          <p:nvPr/>
        </p:nvSpPr>
        <p:spPr bwMode="auto">
          <a:xfrm>
            <a:off x="5943600" y="29845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20530" name="Line 49"/>
          <p:cNvSpPr>
            <a:spLocks noChangeShapeType="1"/>
          </p:cNvSpPr>
          <p:nvPr/>
        </p:nvSpPr>
        <p:spPr bwMode="auto">
          <a:xfrm>
            <a:off x="5943600" y="33655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1" name="Line 50"/>
          <p:cNvSpPr>
            <a:spLocks noChangeShapeType="1"/>
          </p:cNvSpPr>
          <p:nvPr/>
        </p:nvSpPr>
        <p:spPr bwMode="auto">
          <a:xfrm flipV="1">
            <a:off x="5943600" y="33655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2" name="Line 51"/>
          <p:cNvSpPr>
            <a:spLocks noChangeShapeType="1"/>
          </p:cNvSpPr>
          <p:nvPr/>
        </p:nvSpPr>
        <p:spPr bwMode="auto">
          <a:xfrm>
            <a:off x="5943600" y="35941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3" name="Line 52"/>
          <p:cNvSpPr>
            <a:spLocks noChangeShapeType="1"/>
          </p:cNvSpPr>
          <p:nvPr/>
        </p:nvSpPr>
        <p:spPr bwMode="auto">
          <a:xfrm flipV="1">
            <a:off x="6400800" y="33655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4" name="Line 53"/>
          <p:cNvSpPr>
            <a:spLocks noChangeShapeType="1"/>
          </p:cNvSpPr>
          <p:nvPr/>
        </p:nvSpPr>
        <p:spPr bwMode="auto">
          <a:xfrm flipV="1">
            <a:off x="6858000" y="33655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5" name="Text Box 54"/>
          <p:cNvSpPr txBox="1">
            <a:spLocks noChangeArrowheads="1"/>
          </p:cNvSpPr>
          <p:nvPr/>
        </p:nvSpPr>
        <p:spPr bwMode="auto">
          <a:xfrm>
            <a:off x="5943600" y="32893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20536" name="Line 55"/>
          <p:cNvSpPr>
            <a:spLocks noChangeShapeType="1"/>
          </p:cNvSpPr>
          <p:nvPr/>
        </p:nvSpPr>
        <p:spPr bwMode="auto">
          <a:xfrm>
            <a:off x="5943600" y="36703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7" name="Line 56"/>
          <p:cNvSpPr>
            <a:spLocks noChangeShapeType="1"/>
          </p:cNvSpPr>
          <p:nvPr/>
        </p:nvSpPr>
        <p:spPr bwMode="auto">
          <a:xfrm flipV="1">
            <a:off x="5943600" y="36703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8" name="Line 57"/>
          <p:cNvSpPr>
            <a:spLocks noChangeShapeType="1"/>
          </p:cNvSpPr>
          <p:nvPr/>
        </p:nvSpPr>
        <p:spPr bwMode="auto">
          <a:xfrm>
            <a:off x="5943600" y="38989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39" name="Line 58"/>
          <p:cNvSpPr>
            <a:spLocks noChangeShapeType="1"/>
          </p:cNvSpPr>
          <p:nvPr/>
        </p:nvSpPr>
        <p:spPr bwMode="auto">
          <a:xfrm flipV="1">
            <a:off x="6400800" y="36703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0" name="Line 59"/>
          <p:cNvSpPr>
            <a:spLocks noChangeShapeType="1"/>
          </p:cNvSpPr>
          <p:nvPr/>
        </p:nvSpPr>
        <p:spPr bwMode="auto">
          <a:xfrm flipV="1">
            <a:off x="6858000" y="36703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1" name="Text Box 60"/>
          <p:cNvSpPr txBox="1">
            <a:spLocks noChangeArrowheads="1"/>
          </p:cNvSpPr>
          <p:nvPr/>
        </p:nvSpPr>
        <p:spPr bwMode="auto">
          <a:xfrm>
            <a:off x="5943600" y="35941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0542" name="Line 61"/>
          <p:cNvSpPr>
            <a:spLocks noChangeShapeType="1"/>
          </p:cNvSpPr>
          <p:nvPr/>
        </p:nvSpPr>
        <p:spPr bwMode="auto">
          <a:xfrm>
            <a:off x="4648200" y="3276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3" name="Line 62"/>
          <p:cNvSpPr>
            <a:spLocks noChangeShapeType="1"/>
          </p:cNvSpPr>
          <p:nvPr/>
        </p:nvSpPr>
        <p:spPr bwMode="auto">
          <a:xfrm flipV="1">
            <a:off x="4648200" y="3276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4" name="Line 63"/>
          <p:cNvSpPr>
            <a:spLocks noChangeShapeType="1"/>
          </p:cNvSpPr>
          <p:nvPr/>
        </p:nvSpPr>
        <p:spPr bwMode="auto">
          <a:xfrm>
            <a:off x="4648200" y="3581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5" name="Line 64"/>
          <p:cNvSpPr>
            <a:spLocks noChangeShapeType="1"/>
          </p:cNvSpPr>
          <p:nvPr/>
        </p:nvSpPr>
        <p:spPr bwMode="auto">
          <a:xfrm flipV="1">
            <a:off x="5105400" y="3276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6" name="Line 65"/>
          <p:cNvSpPr>
            <a:spLocks noChangeShapeType="1"/>
          </p:cNvSpPr>
          <p:nvPr/>
        </p:nvSpPr>
        <p:spPr bwMode="auto">
          <a:xfrm flipV="1">
            <a:off x="5562600" y="3276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7" name="Line 66"/>
          <p:cNvSpPr>
            <a:spLocks noChangeShapeType="1"/>
          </p:cNvSpPr>
          <p:nvPr/>
        </p:nvSpPr>
        <p:spPr bwMode="auto">
          <a:xfrm>
            <a:off x="4648200" y="35798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8" name="Line 67"/>
          <p:cNvSpPr>
            <a:spLocks noChangeShapeType="1"/>
          </p:cNvSpPr>
          <p:nvPr/>
        </p:nvSpPr>
        <p:spPr bwMode="auto">
          <a:xfrm flipV="1">
            <a:off x="4648200" y="3579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49" name="Line 68"/>
          <p:cNvSpPr>
            <a:spLocks noChangeShapeType="1"/>
          </p:cNvSpPr>
          <p:nvPr/>
        </p:nvSpPr>
        <p:spPr bwMode="auto">
          <a:xfrm>
            <a:off x="4648200" y="38846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0" name="Line 69"/>
          <p:cNvSpPr>
            <a:spLocks noChangeShapeType="1"/>
          </p:cNvSpPr>
          <p:nvPr/>
        </p:nvSpPr>
        <p:spPr bwMode="auto">
          <a:xfrm flipV="1">
            <a:off x="5105400" y="3579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1" name="Line 70"/>
          <p:cNvSpPr>
            <a:spLocks noChangeShapeType="1"/>
          </p:cNvSpPr>
          <p:nvPr/>
        </p:nvSpPr>
        <p:spPr bwMode="auto">
          <a:xfrm flipV="1">
            <a:off x="5562600" y="3579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2" name="Line 71"/>
          <p:cNvSpPr>
            <a:spLocks noChangeShapeType="1"/>
          </p:cNvSpPr>
          <p:nvPr/>
        </p:nvSpPr>
        <p:spPr bwMode="auto">
          <a:xfrm>
            <a:off x="4648200" y="38846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3" name="Text Box 72"/>
          <p:cNvSpPr txBox="1">
            <a:spLocks noChangeArrowheads="1"/>
          </p:cNvSpPr>
          <p:nvPr/>
        </p:nvSpPr>
        <p:spPr bwMode="auto">
          <a:xfrm>
            <a:off x="4572000" y="3276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dirty="0">
              <a:latin typeface="Times New Roman" panose="02020603050405020304" pitchFamily="18" charset="0"/>
              <a:ea typeface="华文楷体" panose="02010600040101010101" pitchFamily="2" charset="-122"/>
            </a:endParaRPr>
          </a:p>
        </p:txBody>
      </p:sp>
      <p:sp>
        <p:nvSpPr>
          <p:cNvPr id="20554" name="Text Box 73"/>
          <p:cNvSpPr txBox="1">
            <a:spLocks noChangeArrowheads="1"/>
          </p:cNvSpPr>
          <p:nvPr/>
        </p:nvSpPr>
        <p:spPr bwMode="auto">
          <a:xfrm>
            <a:off x="4572000" y="35814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dirty="0">
              <a:latin typeface="Times New Roman" panose="02020603050405020304" pitchFamily="18" charset="0"/>
              <a:ea typeface="华文楷体" panose="02010600040101010101" pitchFamily="2" charset="-122"/>
            </a:endParaRPr>
          </a:p>
        </p:txBody>
      </p:sp>
      <p:sp>
        <p:nvSpPr>
          <p:cNvPr id="20555" name="Line 74"/>
          <p:cNvSpPr>
            <a:spLocks noChangeShapeType="1"/>
          </p:cNvSpPr>
          <p:nvPr/>
        </p:nvSpPr>
        <p:spPr bwMode="auto">
          <a:xfrm flipV="1">
            <a:off x="5334000" y="38100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6" name="Line 75"/>
          <p:cNvSpPr>
            <a:spLocks noChangeShapeType="1"/>
          </p:cNvSpPr>
          <p:nvPr/>
        </p:nvSpPr>
        <p:spPr bwMode="auto">
          <a:xfrm flipV="1">
            <a:off x="5334000" y="34290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7" name="Line 76"/>
          <p:cNvSpPr>
            <a:spLocks noChangeShapeType="1"/>
          </p:cNvSpPr>
          <p:nvPr/>
        </p:nvSpPr>
        <p:spPr bwMode="auto">
          <a:xfrm flipV="1">
            <a:off x="5334000" y="31242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58" name="Text Box 77"/>
          <p:cNvSpPr txBox="1">
            <a:spLocks noChangeArrowheads="1"/>
          </p:cNvSpPr>
          <p:nvPr/>
        </p:nvSpPr>
        <p:spPr bwMode="auto">
          <a:xfrm>
            <a:off x="6400800" y="33528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20559" name="Text Box 78"/>
          <p:cNvSpPr txBox="1">
            <a:spLocks noChangeArrowheads="1"/>
          </p:cNvSpPr>
          <p:nvPr/>
        </p:nvSpPr>
        <p:spPr bwMode="auto">
          <a:xfrm>
            <a:off x="6400800" y="30480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20560" name="Text Box 79"/>
          <p:cNvSpPr txBox="1">
            <a:spLocks noChangeArrowheads="1"/>
          </p:cNvSpPr>
          <p:nvPr/>
        </p:nvSpPr>
        <p:spPr bwMode="auto">
          <a:xfrm>
            <a:off x="6400800" y="365760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20561" name="AutoShape 81"/>
          <p:cNvSpPr>
            <a:spLocks noChangeArrowheads="1"/>
          </p:cNvSpPr>
          <p:nvPr/>
        </p:nvSpPr>
        <p:spPr bwMode="auto">
          <a:xfrm>
            <a:off x="3200400" y="3352800"/>
            <a:ext cx="838200" cy="152400"/>
          </a:xfrm>
          <a:prstGeom prst="rightArrow">
            <a:avLst>
              <a:gd name="adj1" fmla="val 50000"/>
              <a:gd name="adj2" fmla="val 137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87170" y="1143000"/>
            <a:ext cx="4227255" cy="463566"/>
          </a:xfrm>
          <a:ln>
            <a:solidFill>
              <a:schemeClr val="accent1"/>
            </a:solidFill>
          </a:ln>
        </p:spPr>
        <p:txBody>
          <a:bodyPr/>
          <a:lstStyle/>
          <a:p>
            <a:pPr marL="0" indent="0">
              <a:buNone/>
            </a:pPr>
            <a:r>
              <a:rPr lang="en-US" altLang="zh-CN" sz="2000" b="1" dirty="0">
                <a:solidFill>
                  <a:srgbClr val="C00000"/>
                </a:solidFill>
                <a:ea typeface="华文楷体" panose="02010600040101010101" pitchFamily="2" charset="-122"/>
              </a:rPr>
              <a:t>[</a:t>
            </a:r>
            <a:r>
              <a:rPr lang="zh-CN" altLang="en-US" sz="2000" b="1" dirty="0">
                <a:solidFill>
                  <a:srgbClr val="C00000"/>
                </a:solidFill>
                <a:ea typeface="华文楷体" panose="02010600040101010101" pitchFamily="2" charset="-122"/>
              </a:rPr>
              <a:t>示例</a:t>
            </a:r>
            <a:r>
              <a:rPr lang="en-US" altLang="zh-CN" sz="2000" b="1" dirty="0">
                <a:solidFill>
                  <a:srgbClr val="C00000"/>
                </a:solidFill>
                <a:ea typeface="华文楷体" panose="02010600040101010101" pitchFamily="2" charset="-122"/>
              </a:rPr>
              <a:t>] </a:t>
            </a:r>
            <a:r>
              <a:rPr lang="zh-CN" altLang="en-US" sz="2000" dirty="0">
                <a:ea typeface="华文楷体" panose="02010600040101010101" pitchFamily="2" charset="-122"/>
              </a:rPr>
              <a:t>邻接矩阵存储的图的生成</a:t>
            </a:r>
            <a:r>
              <a:rPr lang="zh-CN" altLang="en-US" sz="2000" dirty="0" smtClean="0">
                <a:ea typeface="华文楷体" panose="02010600040101010101" pitchFamily="2" charset="-122"/>
              </a:rPr>
              <a:t>算法</a:t>
            </a: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7" name="文本框 6"/>
              <p:cNvSpPr txBox="1"/>
              <p:nvPr/>
            </p:nvSpPr>
            <p:spPr>
              <a:xfrm>
                <a:off x="152400" y="1676400"/>
                <a:ext cx="4262025" cy="4635115"/>
              </a:xfrm>
              <a:prstGeom prst="rect">
                <a:avLst/>
              </a:prstGeom>
              <a:noFill/>
              <a:ln>
                <a:solidFill>
                  <a:schemeClr val="accent1"/>
                </a:solidFill>
              </a:ln>
            </p:spPr>
            <p:txBody>
              <a:bodyPr wrap="square" rtlCol="0">
                <a:spAutoFit/>
              </a:bodyPr>
              <a:lstStyle/>
              <a:p>
                <a:pPr>
                  <a:spcBef>
                    <a:spcPct val="20000"/>
                  </a:spcBef>
                  <a:buClr>
                    <a:schemeClr val="hlink"/>
                  </a:buClr>
                </a:pPr>
                <a:r>
                  <a:rPr lang="zh-CN" altLang="en-US" dirty="0">
                    <a:latin typeface="Times New Roman" panose="02020603050405020304" pitchFamily="18" charset="0"/>
                    <a:ea typeface="华文楷体" panose="02010600040101010101" pitchFamily="2" charset="-122"/>
                  </a:rPr>
                  <a:t>由数组</a:t>
                </a:r>
                <a:r>
                  <a:rPr lang="en-US" altLang="zh-CN" dirty="0">
                    <a:latin typeface="Times New Roman" panose="02020603050405020304" pitchFamily="18" charset="0"/>
                    <a:ea typeface="华文楷体" panose="02010600040101010101" pitchFamily="2" charset="-122"/>
                  </a:rPr>
                  <a:t>A[][]</a:t>
                </a:r>
                <a:r>
                  <a:rPr lang="zh-CN" altLang="en-US" dirty="0">
                    <a:latin typeface="Times New Roman" panose="02020603050405020304" pitchFamily="18" charset="0"/>
                    <a:ea typeface="华文楷体" panose="02010600040101010101" pitchFamily="2" charset="-122"/>
                  </a:rPr>
                  <a:t>生成邻接矩阵</a:t>
                </a:r>
                <a:r>
                  <a:rPr lang="en-US" altLang="zh-CN" dirty="0" smtClean="0">
                    <a:latin typeface="Times New Roman" panose="02020603050405020304" pitchFamily="18" charset="0"/>
                    <a:ea typeface="华文楷体" panose="02010600040101010101" pitchFamily="2" charset="-122"/>
                  </a:rPr>
                  <a:t>g,</a:t>
                </a:r>
                <a:r>
                  <a:rPr lang="en-US" altLang="zh-CN" dirty="0">
                    <a:solidFill>
                      <a:srgbClr val="FF0000"/>
                    </a:solidFill>
                    <a:latin typeface="Times New Roman" panose="02020603050405020304" pitchFamily="18" charset="0"/>
                    <a:ea typeface="华文楷体" panose="02010600040101010101" pitchFamily="2" charset="-122"/>
                  </a:rPr>
                  <a:t> </a:t>
                </a:r>
                <a:r>
                  <a:rPr lang="en-US" altLang="zh-CN" b="1" dirty="0" smtClean="0">
                    <a:solidFill>
                      <a:srgbClr val="FF0000"/>
                    </a:solidFill>
                    <a:latin typeface="Times New Roman" panose="02020603050405020304" pitchFamily="18" charset="0"/>
                    <a:ea typeface="华文楷体" panose="02010600040101010101" pitchFamily="2" charset="-122"/>
                  </a:rPr>
                  <a:t>INF</a:t>
                </a:r>
                <a:r>
                  <a:rPr lang="zh-CN" altLang="en-US" b="1" dirty="0" smtClean="0">
                    <a:solidFill>
                      <a:srgbClr val="FF0000"/>
                    </a:solidFill>
                    <a:latin typeface="Times New Roman" panose="02020603050405020304" pitchFamily="18" charset="0"/>
                    <a:ea typeface="华文楷体" panose="02010600040101010101" pitchFamily="2" charset="-122"/>
                  </a:rPr>
                  <a:t>表示</a:t>
                </a:r>
                <a14:m>
                  <m:oMath xmlns:m="http://schemas.openxmlformats.org/officeDocument/2006/math">
                    <m:r>
                      <a:rPr lang="zh-CN" altLang="en-US" b="1" i="1" smtClean="0">
                        <a:solidFill>
                          <a:srgbClr val="FF0000"/>
                        </a:solidFill>
                        <a:latin typeface="Cambria Math" panose="02040503050406030204" pitchFamily="18" charset="0"/>
                        <a:ea typeface="华文楷体" panose="02010600040101010101" pitchFamily="2" charset="-122"/>
                      </a:rPr>
                      <m:t>∞</m:t>
                    </m:r>
                  </m:oMath>
                </a14:m>
                <a:endParaRPr lang="en-US" altLang="zh-CN" b="1"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smtClean="0">
                    <a:latin typeface="Times New Roman" panose="02020603050405020304" pitchFamily="18" charset="0"/>
                    <a:ea typeface="华文楷体" panose="02010600040101010101" pitchFamily="2" charset="-122"/>
                  </a:rPr>
                  <a:t>void </a:t>
                </a:r>
                <a:r>
                  <a:rPr lang="en-US" altLang="zh-CN" dirty="0" err="1">
                    <a:latin typeface="Times New Roman" panose="02020603050405020304" pitchFamily="18" charset="0"/>
                    <a:ea typeface="华文楷体" panose="02010600040101010101" pitchFamily="2" charset="-122"/>
                  </a:rPr>
                  <a:t>createMat</a:t>
                </a:r>
                <a:r>
                  <a:rPr lang="en-US" altLang="zh-CN" dirty="0">
                    <a:latin typeface="Times New Roman" panose="02020603050405020304" pitchFamily="18" charset="0"/>
                    <a:ea typeface="华文楷体" panose="02010600040101010101" pitchFamily="2" charset="-122"/>
                  </a:rPr>
                  <a:t>(</a:t>
                </a:r>
                <a:r>
                  <a:rPr lang="en-US" altLang="zh-CN" dirty="0" err="1">
                    <a:latin typeface="Times New Roman" panose="02020603050405020304" pitchFamily="18" charset="0"/>
                    <a:ea typeface="华文楷体" panose="02010600040101010101" pitchFamily="2" charset="-122"/>
                  </a:rPr>
                  <a:t>Mgraph</a:t>
                </a:r>
                <a:r>
                  <a:rPr lang="en-US" altLang="zh-CN" dirty="0">
                    <a:latin typeface="Times New Roman" panose="02020603050405020304" pitchFamily="18" charset="0"/>
                    <a:ea typeface="华文楷体" panose="02010600040101010101" pitchFamily="2" charset="-122"/>
                  </a:rPr>
                  <a:t> &amp;g,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A[][MAXV],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n)</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g.n</a:t>
                </a:r>
                <a:r>
                  <a:rPr lang="en-US" altLang="zh-CN" dirty="0">
                    <a:latin typeface="Times New Roman" panose="02020603050405020304" pitchFamily="18" charset="0"/>
                    <a:ea typeface="华文楷体" panose="02010600040101010101" pitchFamily="2" charset="-122"/>
                  </a:rPr>
                  <a:t> = n;</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g.e</a:t>
                </a:r>
                <a:r>
                  <a:rPr lang="en-US" altLang="zh-CN" dirty="0">
                    <a:latin typeface="Times New Roman" panose="02020603050405020304" pitchFamily="18" charset="0"/>
                    <a:ea typeface="华文楷体" panose="02010600040101010101" pitchFamily="2" charset="-122"/>
                  </a:rPr>
                  <a:t> = 0;</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for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 = 0;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&lt;n;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for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j = 0; j&lt;n;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g.edges</a:t>
                </a:r>
                <a:r>
                  <a:rPr lang="en-US" altLang="zh-CN" dirty="0">
                    <a:latin typeface="Times New Roman" panose="02020603050405020304" pitchFamily="18" charset="0"/>
                    <a:ea typeface="华文楷体" panose="02010600040101010101" pitchFamily="2" charset="-122"/>
                  </a:rPr>
                  <a:t>[</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][j] = A[</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][j];</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if(A[</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]A[j] !=0 &amp;&amp; A[</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]A[j] !=</a:t>
                </a:r>
                <a:r>
                  <a:rPr lang="en-US" altLang="zh-CN" dirty="0">
                    <a:solidFill>
                      <a:srgbClr val="FF0000"/>
                    </a:solidFill>
                    <a:latin typeface="Times New Roman" panose="02020603050405020304" pitchFamily="18" charset="0"/>
                    <a:ea typeface="华文楷体" panose="02010600040101010101" pitchFamily="2" charset="-122"/>
                  </a:rPr>
                  <a:t>INF</a:t>
                </a:r>
                <a:r>
                  <a:rPr lang="en-US" altLang="zh-CN" dirty="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r>
                  <a:rPr lang="en-US" altLang="zh-CN" dirty="0" err="1" smtClean="0">
                    <a:latin typeface="Times New Roman" panose="02020603050405020304" pitchFamily="18" charset="0"/>
                    <a:ea typeface="华文楷体" panose="02010600040101010101" pitchFamily="2" charset="-122"/>
                  </a:rPr>
                  <a:t>g.e</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152400" y="1676400"/>
                <a:ext cx="4262025" cy="4635115"/>
              </a:xfrm>
              <a:prstGeom prst="rect">
                <a:avLst/>
              </a:prstGeom>
              <a:blipFill rotWithShape="1">
                <a:blip r:embed="rId1"/>
                <a:stretch>
                  <a:fillRect l="-119" t="-110" r="-107" b="-91"/>
                </a:stretch>
              </a:blipFill>
              <a:ln>
                <a:solidFill>
                  <a:schemeClr val="accent1"/>
                </a:solidFill>
              </a:ln>
            </p:spPr>
            <p:txBody>
              <a:bodyPr/>
              <a:lstStyle/>
              <a:p>
                <a:r>
                  <a:rPr lang="zh-CN" altLang="en-US">
                    <a:noFill/>
                  </a:rPr>
                  <a:t> </a:t>
                </a:r>
              </a:p>
            </p:txBody>
          </p:sp>
        </mc:Fallback>
      </mc:AlternateContent>
      <p:cxnSp>
        <p:nvCxnSpPr>
          <p:cNvPr id="9" name="直接连接符 8"/>
          <p:cNvCxnSpPr/>
          <p:nvPr/>
        </p:nvCxnSpPr>
        <p:spPr>
          <a:xfrm>
            <a:off x="4531312" y="1090370"/>
            <a:ext cx="0" cy="576763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内容占位符 2"/>
          <p:cNvSpPr txBox="1"/>
          <p:nvPr/>
        </p:nvSpPr>
        <p:spPr bwMode="auto">
          <a:xfrm>
            <a:off x="4648200" y="1143000"/>
            <a:ext cx="4343401" cy="463567"/>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b="1" dirty="0" smtClean="0">
                <a:solidFill>
                  <a:srgbClr val="C00000"/>
                </a:solidFill>
                <a:ea typeface="华文楷体" panose="02010600040101010101" pitchFamily="2" charset="-122"/>
              </a:rPr>
              <a:t>[</a:t>
            </a:r>
            <a:r>
              <a:rPr lang="zh-CN" altLang="en-US" sz="2000" b="1" dirty="0" smtClean="0">
                <a:solidFill>
                  <a:srgbClr val="C00000"/>
                </a:solidFill>
                <a:ea typeface="华文楷体" panose="02010600040101010101" pitchFamily="2" charset="-122"/>
              </a:rPr>
              <a:t>示例</a:t>
            </a:r>
            <a:r>
              <a:rPr lang="en-US" altLang="zh-CN" sz="2000" b="1" dirty="0" smtClean="0">
                <a:solidFill>
                  <a:srgbClr val="C00000"/>
                </a:solidFill>
                <a:ea typeface="华文楷体" panose="02010600040101010101" pitchFamily="2" charset="-122"/>
              </a:rPr>
              <a:t>] </a:t>
            </a:r>
            <a:r>
              <a:rPr lang="zh-CN" altLang="en-US" sz="2000" dirty="0" smtClean="0">
                <a:ea typeface="华文楷体" panose="02010600040101010101" pitchFamily="2" charset="-122"/>
              </a:rPr>
              <a:t>邻接表存储的图的生成算法</a:t>
            </a:r>
            <a:endParaRPr lang="zh-CN" altLang="en-US" sz="2000" dirty="0">
              <a:ea typeface="华文楷体" panose="02010600040101010101" pitchFamily="2" charset="-122"/>
            </a:endParaRPr>
          </a:p>
        </p:txBody>
      </p:sp>
      <p:sp>
        <p:nvSpPr>
          <p:cNvPr id="12" name="文本框 11"/>
          <p:cNvSpPr txBox="1"/>
          <p:nvPr/>
        </p:nvSpPr>
        <p:spPr>
          <a:xfrm>
            <a:off x="4643763" y="1676400"/>
            <a:ext cx="4347838" cy="5219891"/>
          </a:xfrm>
          <a:prstGeom prst="rect">
            <a:avLst/>
          </a:prstGeom>
          <a:noFill/>
          <a:ln>
            <a:solidFill>
              <a:schemeClr val="accent1"/>
            </a:solidFill>
          </a:ln>
        </p:spPr>
        <p:txBody>
          <a:bodyPr wrap="square" rtlCol="0">
            <a:spAutoFit/>
          </a:bodyPr>
          <a:lstStyle/>
          <a:p>
            <a:pPr>
              <a:spcBef>
                <a:spcPct val="20000"/>
              </a:spcBef>
              <a:buClr>
                <a:schemeClr val="hlink"/>
              </a:buClr>
            </a:pPr>
            <a:r>
              <a:rPr lang="zh-CN" altLang="en-US" sz="1400" dirty="0">
                <a:latin typeface="Times New Roman" panose="02020603050405020304" pitchFamily="18" charset="0"/>
                <a:ea typeface="华文楷体" panose="02010600040101010101" pitchFamily="2" charset="-122"/>
              </a:rPr>
              <a:t>由数组</a:t>
            </a:r>
            <a:r>
              <a:rPr lang="en-US" altLang="zh-CN" sz="1400" dirty="0">
                <a:latin typeface="Times New Roman" panose="02020603050405020304" pitchFamily="18" charset="0"/>
                <a:ea typeface="华文楷体" panose="02010600040101010101" pitchFamily="2" charset="-122"/>
              </a:rPr>
              <a:t>A[][]</a:t>
            </a:r>
            <a:r>
              <a:rPr lang="zh-CN" altLang="en-US" sz="1400" dirty="0">
                <a:latin typeface="Times New Roman" panose="02020603050405020304" pitchFamily="18" charset="0"/>
                <a:ea typeface="华文楷体" panose="02010600040101010101" pitchFamily="2" charset="-122"/>
              </a:rPr>
              <a:t>生成</a:t>
            </a:r>
            <a:r>
              <a:rPr lang="zh-CN" altLang="en-US" sz="1400" dirty="0" smtClean="0">
                <a:latin typeface="Times New Roman" panose="02020603050405020304" pitchFamily="18" charset="0"/>
                <a:ea typeface="华文楷体" panose="02010600040101010101" pitchFamily="2" charset="-122"/>
              </a:rPr>
              <a:t>邻接</a:t>
            </a:r>
            <a:r>
              <a:rPr lang="zh-CN" altLang="en-US" sz="1400" dirty="0">
                <a:latin typeface="Times New Roman" panose="02020603050405020304" pitchFamily="18" charset="0"/>
                <a:ea typeface="华文楷体" panose="02010600040101010101" pitchFamily="2" charset="-122"/>
              </a:rPr>
              <a:t>表</a:t>
            </a:r>
            <a:r>
              <a:rPr lang="en-US" altLang="zh-CN" sz="1400" dirty="0" smtClean="0">
                <a:latin typeface="Times New Roman" panose="02020603050405020304" pitchFamily="18" charset="0"/>
                <a:ea typeface="华文楷体" panose="02010600040101010101" pitchFamily="2" charset="-122"/>
              </a:rPr>
              <a:t>G</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smtClean="0">
                <a:latin typeface="Times New Roman" panose="02020603050405020304" pitchFamily="18" charset="0"/>
                <a:ea typeface="华文楷体" panose="02010600040101010101" pitchFamily="2" charset="-122"/>
              </a:rPr>
              <a:t>void </a:t>
            </a:r>
            <a:r>
              <a:rPr lang="en-US" altLang="zh-CN" sz="1400" dirty="0" err="1" smtClean="0">
                <a:latin typeface="Times New Roman" panose="02020603050405020304" pitchFamily="18" charset="0"/>
                <a:ea typeface="华文楷体" panose="02010600040101010101" pitchFamily="2" charset="-122"/>
              </a:rPr>
              <a:t>createAdj</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Agraph</a:t>
            </a:r>
            <a:r>
              <a:rPr lang="en-US" altLang="zh-CN" sz="1400" dirty="0" smtClean="0">
                <a:latin typeface="Times New Roman" panose="02020603050405020304" pitchFamily="18" charset="0"/>
                <a:ea typeface="华文楷体" panose="02010600040101010101" pitchFamily="2" charset="-122"/>
              </a:rPr>
              <a:t> &amp;</a:t>
            </a:r>
            <a:r>
              <a:rPr lang="zh-CN" altLang="en-US"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G,int</a:t>
            </a:r>
            <a:r>
              <a:rPr lang="en-US" altLang="zh-CN" sz="1400" dirty="0" smtClean="0">
                <a:latin typeface="Times New Roman" panose="02020603050405020304" pitchFamily="18" charset="0"/>
                <a:ea typeface="华文楷体" panose="02010600040101010101" pitchFamily="2" charset="-122"/>
              </a:rPr>
              <a:t> A[][MAXV],</a:t>
            </a:r>
            <a:r>
              <a:rPr lang="en-US" altLang="zh-CN" sz="1400" dirty="0" err="1" smtClean="0">
                <a:latin typeface="Times New Roman" panose="02020603050405020304" pitchFamily="18" charset="0"/>
                <a:ea typeface="华文楷体" panose="02010600040101010101" pitchFamily="2" charset="-122"/>
              </a:rPr>
              <a:t>int</a:t>
            </a:r>
            <a:r>
              <a:rPr lang="en-US" altLang="zh-CN" sz="1400" dirty="0" smtClean="0">
                <a:latin typeface="Times New Roman" panose="02020603050405020304" pitchFamily="18" charset="0"/>
                <a:ea typeface="华文楷体" panose="02010600040101010101" pitchFamily="2" charset="-122"/>
              </a:rPr>
              <a:t> n)</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r>
              <a:rPr lang="en-US" altLang="zh-CN" sz="1400" dirty="0" err="1" smtClean="0">
                <a:latin typeface="Times New Roman" panose="02020603050405020304" pitchFamily="18" charset="0"/>
                <a:ea typeface="华文楷体" panose="02010600040101010101" pitchFamily="2" charset="-122"/>
              </a:rPr>
              <a:t>ArcNode</a:t>
            </a:r>
            <a:r>
              <a:rPr lang="en-US" altLang="zh-CN" sz="1400" dirty="0" smtClean="0">
                <a:latin typeface="Times New Roman" panose="02020603050405020304" pitchFamily="18" charset="0"/>
                <a:ea typeface="华文楷体" panose="02010600040101010101" pitchFamily="2" charset="-122"/>
              </a:rPr>
              <a:t> *p;</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G = (</a:t>
            </a:r>
            <a:r>
              <a:rPr lang="en-US" altLang="zh-CN" sz="1400" dirty="0" err="1" smtClean="0">
                <a:latin typeface="Times New Roman" panose="02020603050405020304" pitchFamily="18" charset="0"/>
                <a:ea typeface="华文楷体" panose="02010600040101010101" pitchFamily="2" charset="-122"/>
              </a:rPr>
              <a:t>Agraph</a:t>
            </a:r>
            <a:r>
              <a:rPr lang="en-US" altLang="zh-CN" sz="1400" dirty="0" smtClean="0">
                <a:latin typeface="Times New Roman" panose="02020603050405020304" pitchFamily="18" charset="0"/>
                <a:ea typeface="华文楷体" panose="02010600040101010101" pitchFamily="2" charset="-122"/>
              </a:rPr>
              <a:t> </a:t>
            </a:r>
            <a:r>
              <a:rPr lang="zh-CN" altLang="en-US" sz="1400" dirty="0" smtClean="0">
                <a:latin typeface="Times New Roman" panose="02020603050405020304" pitchFamily="18" charset="0"/>
                <a:ea typeface="华文楷体" panose="02010600040101010101" pitchFamily="2" charset="-122"/>
              </a:rPr>
              <a:t>*</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malloc</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sizeof</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Agraph</a:t>
            </a:r>
            <a:r>
              <a:rPr lang="en-US" altLang="zh-CN" sz="1400" dirty="0" smtClean="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G-&gt;n = n; G-&gt;e = 0;</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for (</a:t>
            </a:r>
            <a:r>
              <a:rPr lang="en-US" altLang="zh-CN" sz="1400" dirty="0" err="1" smtClean="0">
                <a:latin typeface="Times New Roman" panose="02020603050405020304" pitchFamily="18" charset="0"/>
                <a:ea typeface="华文楷体" panose="02010600040101010101" pitchFamily="2" charset="-122"/>
              </a:rPr>
              <a:t>int</a:t>
            </a:r>
            <a:r>
              <a:rPr lang="en-US" altLang="zh-CN" sz="1400" dirty="0" smtClean="0">
                <a:latin typeface="Times New Roman" panose="02020603050405020304" pitchFamily="18" charset="0"/>
                <a:ea typeface="华文楷体" panose="02010600040101010101" pitchFamily="2" charset="-122"/>
              </a:rPr>
              <a:t>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 = 0;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&lt;n;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smtClean="0">
                <a:latin typeface="Times New Roman" panose="02020603050405020304" pitchFamily="18" charset="0"/>
                <a:ea typeface="华文楷体" panose="02010600040101010101" pitchFamily="2" charset="-122"/>
              </a:rPr>
              <a:t>       G-&gt;</a:t>
            </a:r>
            <a:r>
              <a:rPr lang="en-US" altLang="zh-CN" sz="1400" dirty="0" err="1" smtClean="0">
                <a:latin typeface="Times New Roman" panose="02020603050405020304" pitchFamily="18" charset="0"/>
                <a:ea typeface="华文楷体" panose="02010600040101010101" pitchFamily="2" charset="-122"/>
              </a:rPr>
              <a:t>adjlist</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firstarc</a:t>
            </a:r>
            <a:r>
              <a:rPr lang="en-US" altLang="zh-CN" sz="1400" dirty="0" smtClean="0">
                <a:latin typeface="Times New Roman" panose="02020603050405020304" pitchFamily="18" charset="0"/>
                <a:ea typeface="华文楷体" panose="02010600040101010101" pitchFamily="2" charset="-122"/>
              </a:rPr>
              <a:t> = NULL;</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for </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 0; </a:t>
            </a:r>
            <a:r>
              <a:rPr lang="en-US" altLang="zh-CN" sz="1400" dirty="0" err="1">
                <a:latin typeface="Times New Roman" panose="02020603050405020304" pitchFamily="18" charset="0"/>
                <a:ea typeface="华文楷体" panose="02010600040101010101" pitchFamily="2" charset="-122"/>
              </a:rPr>
              <a:t>i</a:t>
            </a:r>
            <a:r>
              <a:rPr lang="en-US" altLang="zh-CN" sz="1400" dirty="0">
                <a:latin typeface="Times New Roman" panose="02020603050405020304" pitchFamily="18" charset="0"/>
                <a:ea typeface="华文楷体" panose="02010600040101010101" pitchFamily="2" charset="-122"/>
              </a:rPr>
              <a:t>&lt;n; </a:t>
            </a:r>
            <a:r>
              <a:rPr lang="en-US" altLang="zh-CN" sz="1400" dirty="0" err="1">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for (</a:t>
            </a:r>
            <a:r>
              <a:rPr lang="en-US" altLang="zh-CN" sz="1400" dirty="0" err="1">
                <a:latin typeface="Times New Roman" panose="02020603050405020304" pitchFamily="18" charset="0"/>
                <a:ea typeface="华文楷体" panose="02010600040101010101" pitchFamily="2" charset="-122"/>
              </a:rPr>
              <a:t>int</a:t>
            </a:r>
            <a:r>
              <a:rPr lang="en-US" altLang="zh-CN" sz="1400" dirty="0">
                <a:latin typeface="Times New Roman" panose="02020603050405020304" pitchFamily="18" charset="0"/>
                <a:ea typeface="华文楷体" panose="02010600040101010101" pitchFamily="2" charset="-122"/>
              </a:rPr>
              <a:t> j = 0; j&lt;n; </a:t>
            </a:r>
            <a:r>
              <a:rPr lang="en-US" altLang="zh-CN" sz="1400" dirty="0" err="1">
                <a:latin typeface="Times New Roman" panose="02020603050405020304" pitchFamily="18" charset="0"/>
                <a:ea typeface="华文楷体" panose="02010600040101010101" pitchFamily="2" charset="-122"/>
              </a:rPr>
              <a:t>i</a:t>
            </a:r>
            <a:r>
              <a:rPr lang="en-US" altLang="zh-CN" sz="1400" dirty="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if (A[</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]A[j] !=0 &amp;&amp; A[</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]A[j] !=INF) \\</a:t>
            </a:r>
            <a:r>
              <a:rPr lang="zh-CN" altLang="en-US" sz="1400" dirty="0" smtClean="0">
                <a:latin typeface="Times New Roman" panose="02020603050405020304" pitchFamily="18" charset="0"/>
                <a:ea typeface="华文楷体" panose="02010600040101010101" pitchFamily="2" charset="-122"/>
              </a:rPr>
              <a:t>存在边</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endParaRPr lang="en-US" altLang="zh-CN" sz="14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p</a:t>
            </a:r>
            <a:r>
              <a:rPr lang="en-US" altLang="zh-CN" sz="1400" dirty="0" smtClean="0">
                <a:latin typeface="Times New Roman" panose="02020603050405020304" pitchFamily="18" charset="0"/>
                <a:ea typeface="华文楷体" panose="02010600040101010101" pitchFamily="2" charset="-122"/>
              </a:rPr>
              <a:t> = (</a:t>
            </a:r>
            <a:r>
              <a:rPr lang="en-US" altLang="zh-CN" sz="1400" dirty="0" err="1" smtClean="0">
                <a:latin typeface="Times New Roman" panose="02020603050405020304" pitchFamily="18" charset="0"/>
                <a:ea typeface="华文楷体" panose="02010600040101010101" pitchFamily="2" charset="-122"/>
              </a:rPr>
              <a:t>ArcNode</a:t>
            </a:r>
            <a:r>
              <a:rPr lang="en-US" altLang="zh-CN" sz="1400" dirty="0" smtClean="0">
                <a:latin typeface="Times New Roman" panose="02020603050405020304" pitchFamily="18" charset="0"/>
                <a:ea typeface="华文楷体" panose="02010600040101010101" pitchFamily="2" charset="-122"/>
              </a:rPr>
              <a:t> </a:t>
            </a:r>
            <a:r>
              <a:rPr lang="zh-CN" altLang="en-US" sz="1400" dirty="0" smtClean="0">
                <a:latin typeface="Times New Roman" panose="02020603050405020304" pitchFamily="18" charset="0"/>
                <a:ea typeface="华文楷体" panose="02010600040101010101" pitchFamily="2" charset="-122"/>
              </a:rPr>
              <a:t>*</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malloc</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sizeof</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ArcNode</a:t>
            </a: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p-&gt;</a:t>
            </a:r>
            <a:r>
              <a:rPr lang="en-US" altLang="zh-CN" sz="1400" dirty="0" err="1" smtClean="0">
                <a:latin typeface="Times New Roman" panose="02020603050405020304" pitchFamily="18" charset="0"/>
                <a:ea typeface="华文楷体" panose="02010600040101010101" pitchFamily="2" charset="-122"/>
              </a:rPr>
              <a:t>adjvex</a:t>
            </a:r>
            <a:r>
              <a:rPr lang="en-US" altLang="zh-CN" sz="1400" dirty="0" smtClean="0">
                <a:latin typeface="Times New Roman" panose="02020603050405020304" pitchFamily="18" charset="0"/>
                <a:ea typeface="华文楷体" panose="02010600040101010101" pitchFamily="2" charset="-122"/>
              </a:rPr>
              <a:t> = j;</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p-&gt;weight = A[</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][j];</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p-&gt;</a:t>
            </a:r>
            <a:r>
              <a:rPr lang="en-US" altLang="zh-CN" sz="1400" dirty="0" err="1" smtClean="0">
                <a:latin typeface="Times New Roman" panose="02020603050405020304" pitchFamily="18" charset="0"/>
                <a:ea typeface="华文楷体" panose="02010600040101010101" pitchFamily="2" charset="-122"/>
              </a:rPr>
              <a:t>nextarc</a:t>
            </a:r>
            <a:r>
              <a:rPr lang="en-US" altLang="zh-CN" sz="1400" dirty="0" smtClean="0">
                <a:latin typeface="Times New Roman" panose="02020603050405020304" pitchFamily="18" charset="0"/>
                <a:ea typeface="华文楷体" panose="02010600040101010101" pitchFamily="2" charset="-122"/>
              </a:rPr>
              <a:t> = G-&gt;</a:t>
            </a:r>
            <a:r>
              <a:rPr lang="en-US" altLang="zh-CN" sz="1400" dirty="0" err="1" smtClean="0">
                <a:latin typeface="Times New Roman" panose="02020603050405020304" pitchFamily="18" charset="0"/>
                <a:ea typeface="华文楷体" panose="02010600040101010101" pitchFamily="2" charset="-122"/>
              </a:rPr>
              <a:t>adjlist</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firstarc</a:t>
            </a:r>
            <a:r>
              <a:rPr lang="en-US" altLang="zh-CN" sz="1400" dirty="0" smtClean="0">
                <a:latin typeface="Times New Roman" panose="02020603050405020304" pitchFamily="18" charset="0"/>
                <a:ea typeface="华文楷体" panose="02010600040101010101" pitchFamily="2" charset="-122"/>
              </a:rPr>
              <a:t>; //</a:t>
            </a:r>
            <a:r>
              <a:rPr lang="zh-CN" altLang="en-US" sz="1400" dirty="0" smtClean="0">
                <a:latin typeface="Times New Roman" panose="02020603050405020304" pitchFamily="18" charset="0"/>
                <a:ea typeface="华文楷体" panose="02010600040101010101" pitchFamily="2" charset="-122"/>
              </a:rPr>
              <a:t>头插法；</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G-&gt;</a:t>
            </a:r>
            <a:r>
              <a:rPr lang="en-US" altLang="zh-CN" sz="1400" dirty="0" err="1" smtClean="0">
                <a:latin typeface="Times New Roman" panose="02020603050405020304" pitchFamily="18" charset="0"/>
                <a:ea typeface="华文楷体" panose="02010600040101010101" pitchFamily="2" charset="-122"/>
              </a:rPr>
              <a:t>adjlist</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r>
              <a:rPr lang="en-US" altLang="zh-CN" sz="1400" dirty="0" err="1" smtClean="0">
                <a:latin typeface="Times New Roman" panose="02020603050405020304" pitchFamily="18" charset="0"/>
                <a:ea typeface="华文楷体" panose="02010600040101010101" pitchFamily="2" charset="-122"/>
              </a:rPr>
              <a:t>firstarc</a:t>
            </a:r>
            <a:r>
              <a:rPr lang="en-US" altLang="zh-CN" sz="1400" dirty="0" smtClean="0">
                <a:latin typeface="Times New Roman" panose="02020603050405020304" pitchFamily="18" charset="0"/>
                <a:ea typeface="华文楷体" panose="02010600040101010101" pitchFamily="2" charset="-122"/>
              </a:rPr>
              <a:t> = p;</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smtClean="0">
                <a:latin typeface="Times New Roman" panose="02020603050405020304" pitchFamily="18" charset="0"/>
                <a:ea typeface="华文楷体" panose="02010600040101010101" pitchFamily="2" charset="-122"/>
              </a:rPr>
              <a:t>               G-&gt;e++;</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endParaRPr lang="en-US" altLang="zh-CN" sz="14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1400" dirty="0" smtClean="0">
                <a:latin typeface="Times New Roman" panose="02020603050405020304" pitchFamily="18" charset="0"/>
                <a:ea typeface="华文楷体" panose="02010600040101010101" pitchFamily="2" charset="-122"/>
              </a:rPr>
              <a:t>}</a:t>
            </a:r>
            <a:endParaRPr lang="zh-CN" altLang="en-US" sz="1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ln>
            <a:solidFill>
              <a:schemeClr val="accent1"/>
            </a:solidFill>
          </a:ln>
        </p:spPr>
        <p:txBody>
          <a:bodyPr/>
          <a:lstStyle/>
          <a:p>
            <a:pPr marL="0" indent="0">
              <a:buNone/>
            </a:pPr>
            <a:r>
              <a:rPr lang="en-US" altLang="zh-CN" sz="1600" b="1" dirty="0">
                <a:solidFill>
                  <a:srgbClr val="C00000"/>
                </a:solidFill>
                <a:ea typeface="华文楷体" panose="02010600040101010101" pitchFamily="2" charset="-122"/>
              </a:rPr>
              <a:t>[</a:t>
            </a:r>
            <a:r>
              <a:rPr lang="zh-CN" altLang="en-US" sz="1600" b="1" dirty="0">
                <a:solidFill>
                  <a:srgbClr val="C00000"/>
                </a:solidFill>
                <a:ea typeface="华文楷体" panose="02010600040101010101" pitchFamily="2" charset="-122"/>
              </a:rPr>
              <a:t>示例</a:t>
            </a:r>
            <a:r>
              <a:rPr lang="en-US" altLang="zh-CN" sz="1600" b="1" dirty="0">
                <a:solidFill>
                  <a:srgbClr val="C00000"/>
                </a:solidFill>
                <a:ea typeface="华文楷体" panose="02010600040101010101" pitchFamily="2" charset="-122"/>
              </a:rPr>
              <a:t>] </a:t>
            </a:r>
            <a:r>
              <a:rPr lang="zh-CN" altLang="en-US" sz="1600" dirty="0">
                <a:ea typeface="华文楷体" panose="02010600040101010101" pitchFamily="2" charset="-122"/>
              </a:rPr>
              <a:t>将</a:t>
            </a:r>
            <a:r>
              <a:rPr lang="zh-CN" altLang="en-US" sz="1600" dirty="0" smtClean="0">
                <a:ea typeface="华文楷体" panose="02010600040101010101" pitchFamily="2" charset="-122"/>
              </a:rPr>
              <a:t>邻接表存储的带权图转换成邻接矩阵</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void convert(</a:t>
            </a:r>
            <a:r>
              <a:rPr lang="en-US" altLang="zh-CN" sz="1600" dirty="0" err="1" smtClean="0">
                <a:ea typeface="华文楷体" panose="02010600040101010101" pitchFamily="2" charset="-122"/>
              </a:rPr>
              <a:t>Agraph</a:t>
            </a:r>
            <a:r>
              <a:rPr lang="en-US" altLang="zh-CN" sz="1600" dirty="0" smtClean="0">
                <a:ea typeface="华文楷体" panose="02010600040101010101" pitchFamily="2" charset="-122"/>
              </a:rPr>
              <a:t> </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G, </a:t>
            </a:r>
            <a:r>
              <a:rPr lang="en-US" altLang="zh-CN" sz="1600" dirty="0" err="1" smtClean="0">
                <a:ea typeface="华文楷体" panose="02010600040101010101" pitchFamily="2" charset="-122"/>
              </a:rPr>
              <a:t>Mgraph</a:t>
            </a:r>
            <a:r>
              <a:rPr lang="en-US" altLang="zh-CN" sz="1600" dirty="0" smtClean="0">
                <a:ea typeface="华文楷体" panose="02010600040101010101" pitchFamily="2" charset="-122"/>
              </a:rPr>
              <a:t> &amp;g)</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int</a:t>
            </a: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 j; </a:t>
            </a:r>
            <a:r>
              <a:rPr lang="en-US" altLang="zh-CN" sz="1600" dirty="0" err="1">
                <a:ea typeface="华文楷体" panose="02010600040101010101" pitchFamily="2" charset="-122"/>
              </a:rPr>
              <a:t>ArcNode</a:t>
            </a:r>
            <a:r>
              <a:rPr lang="en-US" altLang="zh-CN" sz="1600" dirty="0">
                <a:ea typeface="华文楷体" panose="02010600040101010101" pitchFamily="2" charset="-122"/>
              </a:rPr>
              <a:t> *p ;</a:t>
            </a:r>
            <a:endParaRPr lang="en-US" altLang="zh-CN" sz="1600" dirty="0">
              <a:ea typeface="华文楷体" panose="02010600040101010101" pitchFamily="2" charset="-122"/>
            </a:endParaRPr>
          </a:p>
          <a:p>
            <a:pPr marL="0" indent="0">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g.n</a:t>
            </a:r>
            <a:r>
              <a:rPr lang="en-US" altLang="zh-CN" sz="1600" dirty="0" smtClean="0">
                <a:ea typeface="华文楷体" panose="02010600040101010101" pitchFamily="2" charset="-122"/>
              </a:rPr>
              <a:t> = G-&gt;n; </a:t>
            </a:r>
            <a:r>
              <a:rPr lang="en-US" altLang="zh-CN" sz="1600" dirty="0" err="1" smtClean="0">
                <a:ea typeface="华文楷体" panose="02010600040101010101" pitchFamily="2" charset="-122"/>
              </a:rPr>
              <a:t>g.e</a:t>
            </a:r>
            <a:r>
              <a:rPr lang="en-US" altLang="zh-CN" sz="1600" dirty="0" smtClean="0">
                <a:ea typeface="华文楷体" panose="02010600040101010101" pitchFamily="2" charset="-122"/>
              </a:rPr>
              <a:t> = </a:t>
            </a:r>
            <a:r>
              <a:rPr lang="en-US" altLang="zh-CN" sz="1600" smtClean="0">
                <a:ea typeface="华文楷体" panose="02010600040101010101" pitchFamily="2" charset="-122"/>
              </a:rPr>
              <a:t>G-&gt;e;</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    for (</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 =0; </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&lt;</a:t>
            </a:r>
            <a:r>
              <a:rPr lang="en-US" altLang="zh-CN" sz="1600" dirty="0" err="1" smtClean="0">
                <a:ea typeface="华文楷体" panose="02010600040101010101" pitchFamily="2" charset="-122"/>
              </a:rPr>
              <a:t>g.n</a:t>
            </a: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        for (j </a:t>
            </a:r>
            <a:r>
              <a:rPr lang="en-US" altLang="zh-CN" sz="1600" dirty="0">
                <a:ea typeface="华文楷体" panose="02010600040101010101" pitchFamily="2" charset="-122"/>
              </a:rPr>
              <a:t>=0; </a:t>
            </a:r>
            <a:r>
              <a:rPr lang="en-US" altLang="zh-CN" sz="1600" dirty="0" smtClean="0">
                <a:ea typeface="华文楷体" panose="02010600040101010101" pitchFamily="2" charset="-122"/>
              </a:rPr>
              <a:t>j&lt;</a:t>
            </a:r>
            <a:r>
              <a:rPr lang="en-US" altLang="zh-CN" sz="1600" dirty="0" err="1" smtClean="0">
                <a:ea typeface="华文楷体" panose="02010600040101010101" pitchFamily="2" charset="-122"/>
              </a:rPr>
              <a:t>g.n</a:t>
            </a:r>
            <a:r>
              <a:rPr lang="en-US" altLang="zh-CN" sz="1600" dirty="0">
                <a:ea typeface="华文楷体" panose="02010600040101010101" pitchFamily="2" charset="-122"/>
              </a:rPr>
              <a:t>, </a:t>
            </a:r>
            <a:r>
              <a:rPr lang="en-US" altLang="zh-CN" sz="1600" dirty="0" err="1" smtClean="0">
                <a:ea typeface="华文楷体" panose="02010600040101010101" pitchFamily="2" charset="-122"/>
              </a:rPr>
              <a:t>j++</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g.edges</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][j] = (</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 ==j)?0 : INF; //</a:t>
            </a:r>
            <a:r>
              <a:rPr lang="zh-CN" altLang="en-US" sz="1600" dirty="0" smtClean="0">
                <a:ea typeface="华文楷体" panose="02010600040101010101" pitchFamily="2" charset="-122"/>
              </a:rPr>
              <a:t>邻接矩阵赋初值</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r>
              <a:rPr lang="en-US" altLang="zh-CN" sz="1600" dirty="0">
                <a:ea typeface="华文楷体" panose="02010600040101010101" pitchFamily="2" charset="-122"/>
              </a:rPr>
              <a:t>for (</a:t>
            </a:r>
            <a:r>
              <a:rPr lang="en-US" altLang="zh-CN" sz="1600" dirty="0" err="1">
                <a:ea typeface="华文楷体" panose="02010600040101010101" pitchFamily="2" charset="-122"/>
              </a:rPr>
              <a:t>i</a:t>
            </a:r>
            <a:r>
              <a:rPr lang="en-US" altLang="zh-CN" sz="1600" dirty="0">
                <a:ea typeface="华文楷体" panose="02010600040101010101" pitchFamily="2" charset="-122"/>
              </a:rPr>
              <a:t> =0; </a:t>
            </a:r>
            <a:r>
              <a:rPr lang="en-US" altLang="zh-CN" sz="1600" dirty="0" err="1">
                <a:ea typeface="华文楷体" panose="02010600040101010101" pitchFamily="2" charset="-122"/>
              </a:rPr>
              <a:t>i</a:t>
            </a:r>
            <a:r>
              <a:rPr lang="en-US" altLang="zh-CN" sz="1600" dirty="0">
                <a:ea typeface="华文楷体" panose="02010600040101010101" pitchFamily="2" charset="-122"/>
              </a:rPr>
              <a:t>&lt;</a:t>
            </a:r>
            <a:r>
              <a:rPr lang="en-US" altLang="zh-CN" sz="1600" dirty="0" err="1">
                <a:ea typeface="华文楷体" panose="02010600040101010101" pitchFamily="2" charset="-122"/>
              </a:rPr>
              <a:t>g.n</a:t>
            </a:r>
            <a:r>
              <a:rPr lang="en-US" altLang="zh-CN" sz="1600" dirty="0">
                <a:ea typeface="华文楷体" panose="02010600040101010101" pitchFamily="2" charset="-122"/>
              </a:rPr>
              <a:t>, </a:t>
            </a:r>
            <a:r>
              <a:rPr lang="en-US" altLang="zh-CN" sz="1600" dirty="0" err="1">
                <a:ea typeface="华文楷体" panose="02010600040101010101" pitchFamily="2" charset="-122"/>
              </a:rPr>
              <a:t>i</a:t>
            </a:r>
            <a:r>
              <a:rPr lang="en-US" altLang="zh-CN" sz="1600" dirty="0" smtClean="0">
                <a:ea typeface="华文楷体" panose="02010600040101010101" pitchFamily="2" charset="-122"/>
              </a:rPr>
              <a:t>++)  //</a:t>
            </a:r>
            <a:r>
              <a:rPr lang="zh-CN" altLang="en-US" sz="1600" dirty="0" smtClean="0">
                <a:ea typeface="华文楷体" panose="02010600040101010101" pitchFamily="2" charset="-122"/>
              </a:rPr>
              <a:t>遍历每个顶点</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p =G-&gt;</a:t>
            </a:r>
            <a:r>
              <a:rPr lang="en-US" altLang="zh-CN" sz="1600" dirty="0" err="1" smtClean="0">
                <a:ea typeface="华文楷体" panose="02010600040101010101" pitchFamily="2" charset="-122"/>
              </a:rPr>
              <a:t>adjlist</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firstarc</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while(p!= NULL) //</a:t>
            </a:r>
            <a:r>
              <a:rPr lang="en-US" altLang="zh-CN" sz="1600" dirty="0">
                <a:ea typeface="华文楷体" panose="02010600040101010101" pitchFamily="2" charset="-122"/>
              </a:rPr>
              <a:t> //</a:t>
            </a:r>
            <a:r>
              <a:rPr lang="zh-CN" altLang="en-US" sz="1600" dirty="0" smtClean="0">
                <a:ea typeface="华文楷体" panose="02010600040101010101" pitchFamily="2" charset="-122"/>
              </a:rPr>
              <a:t>遍历每个邻接顶点</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g.edges</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][p-&gt;</a:t>
            </a:r>
            <a:r>
              <a:rPr lang="en-US" altLang="zh-CN" sz="1600" dirty="0" err="1" smtClean="0">
                <a:ea typeface="华文楷体" panose="02010600040101010101" pitchFamily="2" charset="-122"/>
              </a:rPr>
              <a:t>adjvex</a:t>
            </a:r>
            <a:r>
              <a:rPr lang="en-US" altLang="zh-CN" sz="1600" dirty="0" smtClean="0">
                <a:ea typeface="华文楷体" panose="02010600040101010101" pitchFamily="2" charset="-122"/>
              </a:rPr>
              <a:t>] = p-&gt;weight;</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p = p-&gt;</a:t>
            </a:r>
            <a:r>
              <a:rPr lang="en-US" altLang="zh-CN" sz="1600" dirty="0" err="1" smtClean="0">
                <a:ea typeface="华文楷体" panose="02010600040101010101" pitchFamily="2" charset="-122"/>
              </a:rPr>
              <a:t>nextarc</a:t>
            </a:r>
            <a:r>
              <a:rPr lang="en-US" altLang="zh-CN" sz="1600" dirty="0" smtClean="0">
                <a:ea typeface="华文楷体" panose="02010600040101010101" pitchFamily="2" charset="-122"/>
              </a:rPr>
              <a:t>; //</a:t>
            </a:r>
            <a:r>
              <a:rPr lang="zh-CN" altLang="en-US" sz="1600" dirty="0" smtClean="0">
                <a:ea typeface="华文楷体" panose="02010600040101010101" pitchFamily="2" charset="-122"/>
              </a:rPr>
              <a:t>找下一个邻接顶点</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a:p>
            <a:pPr marL="0" indent="0">
              <a:buNone/>
            </a:pPr>
            <a:r>
              <a:rPr lang="en-US" altLang="zh-CN" sz="1600" dirty="0">
                <a:ea typeface="华文楷体" panose="02010600040101010101" pitchFamily="2" charset="-122"/>
              </a:rPr>
              <a:t> </a:t>
            </a: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a:t>
            </a:r>
            <a:endParaRPr lang="zh-CN" altLang="en-US" sz="16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页脚占位符 3"/>
          <p:cNvSpPr>
            <a:spLocks noGrp="1"/>
          </p:cNvSpPr>
          <p:nvPr>
            <p:ph type="ftr" sz="quarter" idx="10"/>
          </p:nvPr>
        </p:nvSpPr>
        <p:spPr/>
        <p:txBody>
          <a:bodyPr/>
          <a:lstStyle/>
          <a:p>
            <a:pPr>
              <a:defRPr/>
            </a:pPr>
            <a:r>
              <a:rPr lang="en-US" altLang="zh-CN"/>
              <a:t>BUPT SCST</a:t>
            </a:r>
            <a:endParaRPr lang="en-US" altLang="zh-CN"/>
          </a:p>
        </p:txBody>
      </p:sp>
      <p:sp>
        <p:nvSpPr>
          <p:cNvPr id="16" name="日期占位符 5"/>
          <p:cNvSpPr>
            <a:spLocks noGrp="1"/>
          </p:cNvSpPr>
          <p:nvPr>
            <p:ph type="dt" sz="quarter" idx="12"/>
          </p:nvPr>
        </p:nvSpPr>
        <p:spPr/>
        <p:txBody>
          <a:bodyPr/>
          <a:lstStyle/>
          <a:p>
            <a:pPr>
              <a:defRPr/>
            </a:pPr>
            <a:r>
              <a:rPr lang="en-US" altLang="zh-CN"/>
              <a:t>BUPT</a:t>
            </a:r>
            <a:endParaRPr lang="en-US" altLang="zh-CN"/>
          </a:p>
        </p:txBody>
      </p:sp>
      <p:sp>
        <p:nvSpPr>
          <p:cNvPr id="215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150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两种常用存储结构的比较</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p:txBody>
      </p:sp>
      <p:sp>
        <p:nvSpPr>
          <p:cNvPr id="21510" name="Rectangle 4"/>
          <p:cNvSpPr>
            <a:spLocks noChangeArrowheads="1"/>
          </p:cNvSpPr>
          <p:nvPr/>
        </p:nvSpPr>
        <p:spPr bwMode="auto">
          <a:xfrm>
            <a:off x="381000" y="1676400"/>
            <a:ext cx="8763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800" dirty="0">
                <a:latin typeface="Times New Roman" panose="02020603050405020304" pitchFamily="18" charset="0"/>
                <a:ea typeface="华文楷体" panose="02010600040101010101" pitchFamily="2" charset="-122"/>
              </a:rPr>
              <a:t>                         </a:t>
            </a:r>
            <a:r>
              <a:rPr lang="zh-CN" altLang="en-US" sz="2400" b="1" dirty="0">
                <a:solidFill>
                  <a:schemeClr val="accent2"/>
                </a:solidFill>
                <a:latin typeface="Times New Roman" panose="02020603050405020304" pitchFamily="18" charset="0"/>
                <a:ea typeface="华文楷体" panose="02010600040101010101" pitchFamily="2" charset="-122"/>
              </a:rPr>
              <a:t>邻接矩阵                            </a:t>
            </a:r>
            <a:r>
              <a:rPr lang="zh-CN" altLang="en-US" sz="2400" b="1" dirty="0" smtClean="0">
                <a:solidFill>
                  <a:schemeClr val="accent2"/>
                </a:solidFill>
                <a:latin typeface="Times New Roman" panose="02020603050405020304" pitchFamily="18" charset="0"/>
                <a:ea typeface="华文楷体" panose="02010600040101010101" pitchFamily="2" charset="-122"/>
              </a:rPr>
              <a:t>      邻接</a:t>
            </a:r>
            <a:r>
              <a:rPr lang="zh-CN" altLang="en-US" sz="2400" b="1" dirty="0">
                <a:solidFill>
                  <a:schemeClr val="accent2"/>
                </a:solidFill>
                <a:latin typeface="Times New Roman" panose="02020603050405020304" pitchFamily="18" charset="0"/>
                <a:ea typeface="华文楷体" panose="02010600040101010101" pitchFamily="2" charset="-122"/>
              </a:rPr>
              <a:t>表</a:t>
            </a:r>
            <a:endParaRPr lang="zh-CN" altLang="en-US" sz="2400" b="1" dirty="0">
              <a:solidFill>
                <a:schemeClr val="accent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solidFill>
                  <a:srgbClr val="FF6600"/>
                </a:solidFill>
                <a:latin typeface="Times New Roman" panose="02020603050405020304" pitchFamily="18" charset="0"/>
                <a:ea typeface="华文楷体" panose="02010600040101010101" pitchFamily="2" charset="-122"/>
              </a:rPr>
              <a:t>                          </a:t>
            </a:r>
            <a:r>
              <a:rPr lang="zh-CN" altLang="en-US" sz="2400" b="1" dirty="0">
                <a:solidFill>
                  <a:schemeClr val="accent2"/>
                </a:solidFill>
                <a:latin typeface="Times New Roman" panose="02020603050405020304" pitchFamily="18" charset="0"/>
                <a:ea typeface="华文楷体" panose="02010600040101010101" pitchFamily="2" charset="-122"/>
              </a:rPr>
              <a:t>无向图  有向图                    </a:t>
            </a:r>
            <a:r>
              <a:rPr lang="zh-CN" altLang="en-US" sz="2400" b="1" dirty="0" smtClean="0">
                <a:solidFill>
                  <a:schemeClr val="accent2"/>
                </a:solidFill>
                <a:latin typeface="Times New Roman" panose="02020603050405020304" pitchFamily="18" charset="0"/>
                <a:ea typeface="华文楷体" panose="02010600040101010101" pitchFamily="2" charset="-122"/>
              </a:rPr>
              <a:t>无向图   </a:t>
            </a:r>
            <a:r>
              <a:rPr lang="zh-CN" altLang="en-US" sz="2400" b="1" dirty="0">
                <a:solidFill>
                  <a:schemeClr val="accent2"/>
                </a:solidFill>
                <a:latin typeface="Times New Roman" panose="02020603050405020304" pitchFamily="18" charset="0"/>
                <a:ea typeface="华文楷体" panose="02010600040101010101" pitchFamily="2" charset="-122"/>
              </a:rPr>
              <a:t>有向图</a:t>
            </a:r>
            <a:endParaRPr lang="zh-CN" altLang="en-US" sz="2400" b="1" dirty="0">
              <a:solidFill>
                <a:schemeClr val="accent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chemeClr val="accent2"/>
                </a:solidFill>
                <a:latin typeface="Times New Roman" panose="02020603050405020304" pitchFamily="18" charset="0"/>
                <a:ea typeface="华文楷体" panose="02010600040101010101" pitchFamily="2" charset="-122"/>
              </a:rPr>
              <a:t>空</a:t>
            </a:r>
            <a:r>
              <a:rPr lang="zh-CN" altLang="en-US" sz="2400" dirty="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顶点</a:t>
            </a:r>
            <a:r>
              <a:rPr lang="zh-CN" altLang="en-US" sz="2400" dirty="0">
                <a:latin typeface="Times New Roman" panose="02020603050405020304" pitchFamily="18" charset="0"/>
                <a:ea typeface="华文楷体" panose="02010600040101010101" pitchFamily="2" charset="-122"/>
              </a:rPr>
              <a:t>表结点      </a:t>
            </a:r>
            <a:r>
              <a:rPr lang="en-US" altLang="zh-CN" sz="2400" dirty="0">
                <a:latin typeface="Times New Roman" panose="02020603050405020304" pitchFamily="18" charset="0"/>
                <a:ea typeface="华文楷体" panose="02010600040101010101" pitchFamily="2" charset="-122"/>
              </a:rPr>
              <a:t>n          </a:t>
            </a:r>
            <a:r>
              <a:rPr lang="en-US" altLang="zh-CN" sz="2400" dirty="0" err="1">
                <a:latin typeface="Times New Roman" panose="02020603050405020304" pitchFamily="18" charset="0"/>
                <a:ea typeface="华文楷体" panose="02010600040101010101" pitchFamily="2" charset="-122"/>
              </a:rPr>
              <a:t>n</a:t>
            </a: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顶点</a:t>
            </a:r>
            <a:r>
              <a:rPr lang="zh-CN" altLang="en-US" sz="2400" dirty="0">
                <a:latin typeface="Times New Roman" panose="02020603050405020304" pitchFamily="18" charset="0"/>
                <a:ea typeface="华文楷体" panose="02010600040101010101" pitchFamily="2" charset="-122"/>
              </a:rPr>
              <a:t>表结点  </a:t>
            </a:r>
            <a:r>
              <a:rPr lang="en-US" altLang="zh-CN" sz="2400" dirty="0">
                <a:latin typeface="Times New Roman" panose="02020603050405020304" pitchFamily="18" charset="0"/>
                <a:ea typeface="华文楷体" panose="02010600040101010101" pitchFamily="2" charset="-122"/>
              </a:rPr>
              <a:t>n       </a:t>
            </a:r>
            <a:r>
              <a:rPr lang="en-US" altLang="zh-CN" sz="2400" dirty="0" err="1">
                <a:latin typeface="Times New Roman" panose="02020603050405020304" pitchFamily="18" charset="0"/>
                <a:ea typeface="华文楷体" panose="02010600040101010101" pitchFamily="2" charset="-122"/>
              </a:rPr>
              <a:t>n</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chemeClr val="accent2"/>
                </a:solidFill>
                <a:latin typeface="Times New Roman" panose="02020603050405020304" pitchFamily="18" charset="0"/>
                <a:ea typeface="华文楷体" panose="02010600040101010101" pitchFamily="2" charset="-122"/>
              </a:rPr>
              <a:t>间</a:t>
            </a:r>
            <a:r>
              <a:rPr lang="zh-CN" altLang="en-US" sz="2400" dirty="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邻接矩阵        </a:t>
            </a:r>
            <a:r>
              <a:rPr lang="en-US" altLang="zh-CN" sz="2400" dirty="0">
                <a:latin typeface="Times New Roman" panose="02020603050405020304" pitchFamily="18" charset="0"/>
                <a:ea typeface="华文楷体" panose="02010600040101010101" pitchFamily="2" charset="-122"/>
              </a:rPr>
              <a:t>n</a:t>
            </a:r>
            <a:r>
              <a:rPr lang="en-US" altLang="zh-CN" sz="2400" baseline="30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/2    </a:t>
            </a:r>
            <a:r>
              <a:rPr lang="en-US" altLang="zh-CN" sz="2400"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n</a:t>
            </a:r>
            <a:r>
              <a:rPr lang="en-US" altLang="zh-CN" sz="2400" baseline="30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边表</a:t>
            </a:r>
            <a:r>
              <a:rPr lang="zh-CN" altLang="en-US" sz="2400" dirty="0">
                <a:latin typeface="Times New Roman" panose="02020603050405020304" pitchFamily="18" charset="0"/>
                <a:ea typeface="华文楷体" panose="02010600040101010101" pitchFamily="2" charset="-122"/>
              </a:rPr>
              <a:t>结点     </a:t>
            </a:r>
            <a:r>
              <a:rPr lang="en-US" altLang="zh-CN" sz="2400" dirty="0">
                <a:latin typeface="Times New Roman" panose="02020603050405020304" pitchFamily="18" charset="0"/>
                <a:ea typeface="华文楷体" panose="02010600040101010101" pitchFamily="2" charset="-122"/>
              </a:rPr>
              <a:t>2e      e</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适合稠密图                              适合稀疏图</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求顶点的度    </a:t>
            </a:r>
            <a:r>
              <a:rPr lang="zh-CN" altLang="en-US" sz="2400" dirty="0" smtClean="0">
                <a:latin typeface="Times New Roman" panose="02020603050405020304" pitchFamily="18" charset="0"/>
                <a:ea typeface="华文楷体" panose="02010600040101010101" pitchFamily="2" charset="-122"/>
              </a:rPr>
              <a:t>扫描行</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列</a:t>
            </a:r>
            <a:r>
              <a:rPr lang="en-US" altLang="zh-CN" sz="2400" dirty="0">
                <a:latin typeface="Times New Roman" panose="02020603050405020304" pitchFamily="18" charset="0"/>
                <a:ea typeface="华文楷体" panose="02010600040101010101" pitchFamily="2" charset="-122"/>
              </a:rPr>
              <a:t>O(n)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扫描</a:t>
            </a:r>
            <a:r>
              <a:rPr lang="zh-CN" altLang="en-US" sz="2400" dirty="0">
                <a:latin typeface="Times New Roman" panose="02020603050405020304" pitchFamily="18" charset="0"/>
                <a:ea typeface="华文楷体" panose="02010600040101010101" pitchFamily="2" charset="-122"/>
              </a:rPr>
              <a:t>某个边表   </a:t>
            </a:r>
            <a:r>
              <a:rPr lang="zh-CN" altLang="en-US" sz="2400" dirty="0" smtClean="0">
                <a:latin typeface="Times New Roman" panose="02020603050405020304" pitchFamily="18" charset="0"/>
                <a:ea typeface="华文楷体" panose="02010600040101010101" pitchFamily="2" charset="-122"/>
              </a:rPr>
              <a:t>  求</a:t>
            </a:r>
            <a:r>
              <a:rPr lang="zh-CN" altLang="en-US" sz="2400" dirty="0">
                <a:latin typeface="Times New Roman" panose="02020603050405020304" pitchFamily="18" charset="0"/>
                <a:ea typeface="华文楷体" panose="02010600040101010101" pitchFamily="2" charset="-122"/>
              </a:rPr>
              <a:t>出度同</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      最坏</a:t>
            </a:r>
            <a:r>
              <a:rPr lang="en-US" altLang="zh-CN" sz="2400" dirty="0">
                <a:latin typeface="Times New Roman" panose="02020603050405020304" pitchFamily="18" charset="0"/>
                <a:ea typeface="华文楷体" panose="02010600040101010101" pitchFamily="2" charset="-122"/>
              </a:rPr>
              <a:t>O(n)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无向图</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求</a:t>
            </a:r>
            <a:r>
              <a:rPr lang="zh-CN" altLang="en-US" sz="2400" dirty="0">
                <a:latin typeface="Times New Roman" panose="02020603050405020304" pitchFamily="18" charset="0"/>
                <a:ea typeface="华文楷体" panose="02010600040101010101" pitchFamily="2" charset="-122"/>
              </a:rPr>
              <a:t>入度</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n+e</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chemeClr val="accent2"/>
                </a:solidFill>
                <a:latin typeface="Times New Roman" panose="02020603050405020304" pitchFamily="18" charset="0"/>
                <a:ea typeface="华文楷体" panose="02010600040101010101" pitchFamily="2" charset="-122"/>
              </a:rPr>
              <a:t>时</a:t>
            </a:r>
            <a:r>
              <a:rPr lang="zh-CN" altLang="en-US" sz="2400" dirty="0">
                <a:latin typeface="Times New Roman" panose="02020603050405020304" pitchFamily="18" charset="0"/>
                <a:ea typeface="华文楷体" panose="02010600040101010101" pitchFamily="2" charset="-122"/>
              </a:rPr>
              <a:t>  判定边是              </a:t>
            </a:r>
            <a:r>
              <a:rPr lang="en-US" altLang="zh-CN" sz="2400" dirty="0">
                <a:latin typeface="Times New Roman" panose="02020603050405020304" pitchFamily="18" charset="0"/>
                <a:ea typeface="华文楷体" panose="02010600040101010101" pitchFamily="2" charset="-122"/>
              </a:rPr>
              <a:t>O(1)                        </a:t>
            </a:r>
            <a:r>
              <a:rPr lang="en-US" altLang="zh-CN" sz="2400" dirty="0" smtClean="0">
                <a:latin typeface="Times New Roman" panose="02020603050405020304" pitchFamily="18" charset="0"/>
                <a:ea typeface="华文楷体" panose="02010600040101010101" pitchFamily="2" charset="-122"/>
              </a:rPr>
              <a:t>     </a:t>
            </a:r>
            <a:r>
              <a:rPr lang="zh-CN" altLang="en-US" sz="2400" dirty="0" smtClean="0">
                <a:latin typeface="Times New Roman" panose="02020603050405020304" pitchFamily="18" charset="0"/>
                <a:ea typeface="华文楷体" panose="02010600040101010101" pitchFamily="2" charset="-122"/>
              </a:rPr>
              <a:t>扫描</a:t>
            </a:r>
            <a:r>
              <a:rPr lang="zh-CN" altLang="en-US" sz="2400" dirty="0">
                <a:latin typeface="Times New Roman" panose="02020603050405020304" pitchFamily="18" charset="0"/>
                <a:ea typeface="华文楷体" panose="02010600040101010101" pitchFamily="2" charset="-122"/>
              </a:rPr>
              <a:t>某个边表</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chemeClr val="accent2"/>
                </a:solidFill>
                <a:latin typeface="Times New Roman" panose="02020603050405020304" pitchFamily="18" charset="0"/>
                <a:ea typeface="华文楷体" panose="02010600040101010101" pitchFamily="2" charset="-122"/>
              </a:rPr>
              <a:t>间</a:t>
            </a:r>
            <a:r>
              <a:rPr lang="zh-CN" altLang="en-US" sz="2400" dirty="0">
                <a:latin typeface="Times New Roman" panose="02020603050405020304" pitchFamily="18" charset="0"/>
                <a:ea typeface="华文楷体" panose="02010600040101010101" pitchFamily="2" charset="-122"/>
              </a:rPr>
              <a:t>      否存在                                                </a:t>
            </a:r>
            <a:r>
              <a:rPr lang="zh-CN" altLang="en-US" sz="2400" dirty="0" smtClean="0">
                <a:latin typeface="Times New Roman" panose="02020603050405020304" pitchFamily="18" charset="0"/>
                <a:ea typeface="华文楷体" panose="02010600040101010101" pitchFamily="2" charset="-122"/>
              </a:rPr>
              <a:t>      最坏</a:t>
            </a:r>
            <a:r>
              <a:rPr lang="en-US" altLang="zh-CN" sz="2400" dirty="0">
                <a:latin typeface="Times New Roman" panose="02020603050405020304" pitchFamily="18" charset="0"/>
                <a:ea typeface="华文楷体" panose="02010600040101010101" pitchFamily="2" charset="-122"/>
              </a:rPr>
              <a:t>O(n)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求边的数目   检测矩阵</a:t>
            </a:r>
            <a:r>
              <a:rPr lang="en-US" altLang="zh-CN" sz="2400" dirty="0">
                <a:latin typeface="Times New Roman" panose="02020603050405020304" pitchFamily="18" charset="0"/>
                <a:ea typeface="华文楷体" panose="02010600040101010101" pitchFamily="2" charset="-122"/>
              </a:rPr>
              <a:t>O(n</a:t>
            </a:r>
            <a:r>
              <a:rPr lang="en-US" altLang="zh-CN" sz="2400" baseline="30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检测每个边表</a:t>
            </a:r>
            <a:r>
              <a:rPr lang="en-US" altLang="zh-CN" sz="2400" dirty="0">
                <a:latin typeface="Times New Roman" panose="02020603050405020304" pitchFamily="18" charset="0"/>
                <a:ea typeface="华文楷体" panose="02010600040101010101" pitchFamily="2" charset="-122"/>
              </a:rPr>
              <a:t>O(n+</a:t>
            </a:r>
            <a:r>
              <a:rPr lang="en-US" altLang="zh-CN" sz="2400" dirty="0">
                <a:solidFill>
                  <a:srgbClr val="FF3300"/>
                </a:solidFill>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21511" name="Line 5"/>
          <p:cNvSpPr>
            <a:spLocks noChangeShapeType="1"/>
          </p:cNvSpPr>
          <p:nvPr/>
        </p:nvSpPr>
        <p:spPr bwMode="auto">
          <a:xfrm>
            <a:off x="304800" y="2133600"/>
            <a:ext cx="853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2" name="Line 6"/>
          <p:cNvSpPr>
            <a:spLocks noChangeShapeType="1"/>
          </p:cNvSpPr>
          <p:nvPr/>
        </p:nvSpPr>
        <p:spPr bwMode="auto">
          <a:xfrm flipV="1">
            <a:off x="304800" y="2570163"/>
            <a:ext cx="853440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3" name="Line 7"/>
          <p:cNvSpPr>
            <a:spLocks noChangeShapeType="1"/>
          </p:cNvSpPr>
          <p:nvPr/>
        </p:nvSpPr>
        <p:spPr bwMode="auto">
          <a:xfrm>
            <a:off x="304800" y="3886200"/>
            <a:ext cx="853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4" name="Line 8"/>
          <p:cNvSpPr>
            <a:spLocks noChangeShapeType="1"/>
          </p:cNvSpPr>
          <p:nvPr/>
        </p:nvSpPr>
        <p:spPr bwMode="auto">
          <a:xfrm>
            <a:off x="762000" y="2590800"/>
            <a:ext cx="0" cy="403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5" name="Line 9"/>
          <p:cNvSpPr>
            <a:spLocks noChangeShapeType="1"/>
          </p:cNvSpPr>
          <p:nvPr/>
        </p:nvSpPr>
        <p:spPr bwMode="auto">
          <a:xfrm>
            <a:off x="304800" y="6629399"/>
            <a:ext cx="853439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6" name="Line 10"/>
          <p:cNvSpPr>
            <a:spLocks noChangeShapeType="1"/>
          </p:cNvSpPr>
          <p:nvPr/>
        </p:nvSpPr>
        <p:spPr bwMode="auto">
          <a:xfrm>
            <a:off x="4953000" y="1676400"/>
            <a:ext cx="0" cy="495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7" name="Line 11"/>
          <p:cNvSpPr>
            <a:spLocks noChangeShapeType="1"/>
          </p:cNvSpPr>
          <p:nvPr/>
        </p:nvSpPr>
        <p:spPr bwMode="auto">
          <a:xfrm>
            <a:off x="2514600" y="3886200"/>
            <a:ext cx="0" cy="2743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8" name="Line 12"/>
          <p:cNvSpPr>
            <a:spLocks noChangeShapeType="1"/>
          </p:cNvSpPr>
          <p:nvPr/>
        </p:nvSpPr>
        <p:spPr bwMode="auto">
          <a:xfrm>
            <a:off x="761999" y="5257799"/>
            <a:ext cx="8077199" cy="206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19" name="Line 13"/>
          <p:cNvSpPr>
            <a:spLocks noChangeShapeType="1"/>
          </p:cNvSpPr>
          <p:nvPr/>
        </p:nvSpPr>
        <p:spPr bwMode="auto">
          <a:xfrm>
            <a:off x="762000" y="6096000"/>
            <a:ext cx="807719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20" name="Line 14"/>
          <p:cNvSpPr>
            <a:spLocks noChangeShapeType="1"/>
          </p:cNvSpPr>
          <p:nvPr/>
        </p:nvSpPr>
        <p:spPr bwMode="auto">
          <a:xfrm flipV="1">
            <a:off x="304800" y="1666783"/>
            <a:ext cx="8534400" cy="961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 name="Line 11"/>
          <p:cNvSpPr>
            <a:spLocks noChangeShapeType="1"/>
          </p:cNvSpPr>
          <p:nvPr/>
        </p:nvSpPr>
        <p:spPr bwMode="auto">
          <a:xfrm>
            <a:off x="7005962" y="3886200"/>
            <a:ext cx="4438" cy="13922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 name="Line 8"/>
          <p:cNvSpPr>
            <a:spLocks noChangeShapeType="1"/>
          </p:cNvSpPr>
          <p:nvPr/>
        </p:nvSpPr>
        <p:spPr bwMode="auto">
          <a:xfrm>
            <a:off x="304800" y="1676400"/>
            <a:ext cx="0" cy="495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 name="Line 8"/>
          <p:cNvSpPr>
            <a:spLocks noChangeShapeType="1"/>
          </p:cNvSpPr>
          <p:nvPr/>
        </p:nvSpPr>
        <p:spPr bwMode="auto">
          <a:xfrm>
            <a:off x="8839200" y="1666783"/>
            <a:ext cx="0" cy="495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页脚占位符 3"/>
          <p:cNvSpPr>
            <a:spLocks noGrp="1"/>
          </p:cNvSpPr>
          <p:nvPr>
            <p:ph type="ftr" sz="quarter" idx="10"/>
          </p:nvPr>
        </p:nvSpPr>
        <p:spPr/>
        <p:txBody>
          <a:bodyPr/>
          <a:lstStyle/>
          <a:p>
            <a:pPr>
              <a:defRPr/>
            </a:pPr>
            <a:r>
              <a:rPr lang="en-US" altLang="zh-CN"/>
              <a:t>BUPT SCST</a:t>
            </a:r>
            <a:endParaRPr lang="en-US" altLang="zh-CN"/>
          </a:p>
        </p:txBody>
      </p:sp>
      <p:sp>
        <p:nvSpPr>
          <p:cNvPr id="48" name="日期占位符 5"/>
          <p:cNvSpPr>
            <a:spLocks noGrp="1"/>
          </p:cNvSpPr>
          <p:nvPr>
            <p:ph type="dt" sz="quarter" idx="12"/>
          </p:nvPr>
        </p:nvSpPr>
        <p:spPr/>
        <p:txBody>
          <a:bodyPr/>
          <a:lstStyle/>
          <a:p>
            <a:pPr>
              <a:defRPr/>
            </a:pPr>
            <a:r>
              <a:rPr lang="en-US" altLang="zh-CN"/>
              <a:t>BUPT</a:t>
            </a:r>
            <a:endParaRPr lang="en-US" altLang="zh-CN"/>
          </a:p>
        </p:txBody>
      </p:sp>
      <p:sp>
        <p:nvSpPr>
          <p:cNvPr id="2253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253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3. </a:t>
            </a:r>
            <a:r>
              <a:rPr lang="zh-CN" altLang="en-US" sz="2400" b="1" dirty="0" smtClean="0">
                <a:solidFill>
                  <a:srgbClr val="800000"/>
                </a:solidFill>
                <a:ea typeface="华文楷体" panose="02010600040101010101" pitchFamily="2" charset="-122"/>
              </a:rPr>
              <a:t>图的其它存储结构</a:t>
            </a:r>
            <a:endParaRPr lang="zh-CN" altLang="en-US" sz="2400" b="1" dirty="0" smtClean="0">
              <a:solidFill>
                <a:srgbClr val="800000"/>
              </a:solidFill>
              <a:ea typeface="华文楷体" panose="02010600040101010101" pitchFamily="2" charset="-122"/>
            </a:endParaRPr>
          </a:p>
        </p:txBody>
      </p:sp>
      <p:sp>
        <p:nvSpPr>
          <p:cNvPr id="22534" name="Rectangle 4"/>
          <p:cNvSpPr>
            <a:spLocks noChangeArrowheads="1"/>
          </p:cNvSpPr>
          <p:nvPr/>
        </p:nvSpPr>
        <p:spPr bwMode="auto">
          <a:xfrm>
            <a:off x="304800" y="1619250"/>
            <a:ext cx="777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zh-CN" altLang="en-US" sz="2400" b="1" dirty="0">
                <a:solidFill>
                  <a:srgbClr val="996600"/>
                </a:solidFill>
                <a:latin typeface="Times New Roman" panose="02020603050405020304" pitchFamily="18" charset="0"/>
                <a:ea typeface="华文楷体" panose="02010600040101010101" pitchFamily="2" charset="-122"/>
              </a:rPr>
              <a:t>（</a:t>
            </a:r>
            <a:r>
              <a:rPr lang="en-US" altLang="zh-CN" sz="2400" b="1" dirty="0">
                <a:solidFill>
                  <a:srgbClr val="996600"/>
                </a:solidFill>
                <a:latin typeface="Times New Roman" panose="02020603050405020304" pitchFamily="18" charset="0"/>
                <a:ea typeface="华文楷体" panose="02010600040101010101" pitchFamily="2" charset="-122"/>
              </a:rPr>
              <a:t>1</a:t>
            </a:r>
            <a:r>
              <a:rPr lang="zh-CN" altLang="en-US" sz="2400" b="1" dirty="0">
                <a:solidFill>
                  <a:srgbClr val="996600"/>
                </a:solidFill>
                <a:latin typeface="Times New Roman" panose="02020603050405020304" pitchFamily="18" charset="0"/>
                <a:ea typeface="华文楷体" panose="02010600040101010101" pitchFamily="2" charset="-122"/>
              </a:rPr>
              <a:t>）关联矩阵</a:t>
            </a:r>
            <a:r>
              <a:rPr lang="zh-CN" altLang="en-US" sz="2400" b="1" dirty="0">
                <a:solidFill>
                  <a:srgbClr val="FF6600"/>
                </a:solidFill>
                <a:latin typeface="Times New Roman" panose="02020603050405020304" pitchFamily="18" charset="0"/>
                <a:ea typeface="华文楷体" panose="02010600040101010101" pitchFamily="2" charset="-122"/>
              </a:rPr>
              <a:t>   </a:t>
            </a:r>
            <a:r>
              <a:rPr lang="zh-CN" altLang="en-US" sz="2400" dirty="0">
                <a:solidFill>
                  <a:schemeClr val="accent2"/>
                </a:solidFill>
                <a:latin typeface="Times New Roman" panose="02020603050405020304" pitchFamily="18" charset="0"/>
                <a:ea typeface="华文楷体" panose="02010600040101010101" pitchFamily="2" charset="-122"/>
              </a:rPr>
              <a:t>顺序存储</a:t>
            </a:r>
            <a:endParaRPr lang="zh-CN" altLang="en-US" sz="2400" b="1" dirty="0">
              <a:solidFill>
                <a:schemeClr val="accent2"/>
              </a:solidFill>
              <a:latin typeface="Times New Roman" panose="02020603050405020304" pitchFamily="18" charset="0"/>
              <a:ea typeface="华文楷体" panose="02010600040101010101" pitchFamily="2" charset="-122"/>
            </a:endParaRPr>
          </a:p>
        </p:txBody>
      </p:sp>
      <p:sp>
        <p:nvSpPr>
          <p:cNvPr id="22535" name="Oval 5"/>
          <p:cNvSpPr>
            <a:spLocks noChangeArrowheads="1"/>
          </p:cNvSpPr>
          <p:nvPr/>
        </p:nvSpPr>
        <p:spPr bwMode="auto">
          <a:xfrm>
            <a:off x="5486400" y="23050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36" name="Oval 6"/>
          <p:cNvSpPr>
            <a:spLocks noChangeArrowheads="1"/>
          </p:cNvSpPr>
          <p:nvPr/>
        </p:nvSpPr>
        <p:spPr bwMode="auto">
          <a:xfrm>
            <a:off x="6858000" y="23050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37" name="Oval 7"/>
          <p:cNvSpPr>
            <a:spLocks noChangeArrowheads="1"/>
          </p:cNvSpPr>
          <p:nvPr/>
        </p:nvSpPr>
        <p:spPr bwMode="auto">
          <a:xfrm>
            <a:off x="5486400" y="32194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38" name="Oval 8"/>
          <p:cNvSpPr>
            <a:spLocks noChangeArrowheads="1"/>
          </p:cNvSpPr>
          <p:nvPr/>
        </p:nvSpPr>
        <p:spPr bwMode="auto">
          <a:xfrm>
            <a:off x="6858000" y="32194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39" name="Line 9"/>
          <p:cNvSpPr>
            <a:spLocks noChangeShapeType="1"/>
          </p:cNvSpPr>
          <p:nvPr/>
        </p:nvSpPr>
        <p:spPr bwMode="auto">
          <a:xfrm>
            <a:off x="5943600" y="2533650"/>
            <a:ext cx="914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40" name="Line 10"/>
          <p:cNvSpPr>
            <a:spLocks noChangeShapeType="1"/>
          </p:cNvSpPr>
          <p:nvPr/>
        </p:nvSpPr>
        <p:spPr bwMode="auto">
          <a:xfrm>
            <a:off x="5715000" y="276225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41" name="Line 11"/>
          <p:cNvSpPr>
            <a:spLocks noChangeShapeType="1"/>
          </p:cNvSpPr>
          <p:nvPr/>
        </p:nvSpPr>
        <p:spPr bwMode="auto">
          <a:xfrm flipH="1">
            <a:off x="5943600" y="3448050"/>
            <a:ext cx="914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42" name="Line 12"/>
          <p:cNvSpPr>
            <a:spLocks noChangeShapeType="1"/>
          </p:cNvSpPr>
          <p:nvPr/>
        </p:nvSpPr>
        <p:spPr bwMode="auto">
          <a:xfrm>
            <a:off x="7086600" y="276225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43" name="Line 13"/>
          <p:cNvSpPr>
            <a:spLocks noChangeShapeType="1"/>
          </p:cNvSpPr>
          <p:nvPr/>
        </p:nvSpPr>
        <p:spPr bwMode="auto">
          <a:xfrm flipV="1">
            <a:off x="5867400" y="2686050"/>
            <a:ext cx="10668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44" name="Text Box 14"/>
          <p:cNvSpPr txBox="1">
            <a:spLocks noChangeArrowheads="1"/>
          </p:cNvSpPr>
          <p:nvPr/>
        </p:nvSpPr>
        <p:spPr bwMode="auto">
          <a:xfrm>
            <a:off x="6019800" y="215265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1</a:t>
            </a:r>
            <a:r>
              <a:rPr kumimoji="1" lang="en-US" altLang="zh-CN" sz="2000" dirty="0">
                <a:latin typeface="Times New Roman" panose="02020603050405020304" pitchFamily="18" charset="0"/>
                <a:ea typeface="华文楷体" panose="02010600040101010101" pitchFamily="2" charset="-122"/>
              </a:rPr>
              <a:t>=3</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45" name="Text Box 15"/>
          <p:cNvSpPr txBox="1">
            <a:spLocks noChangeArrowheads="1"/>
          </p:cNvSpPr>
          <p:nvPr/>
        </p:nvSpPr>
        <p:spPr bwMode="auto">
          <a:xfrm>
            <a:off x="4724400" y="207645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solidFill>
                  <a:schemeClr val="accent2"/>
                </a:solidFill>
                <a:latin typeface="Times New Roman" panose="02020603050405020304" pitchFamily="18" charset="0"/>
                <a:ea typeface="华文楷体" panose="02010600040101010101" pitchFamily="2" charset="-122"/>
              </a:rPr>
              <a:t>G</a:t>
            </a:r>
            <a:r>
              <a:rPr kumimoji="1" lang="en-US" altLang="zh-CN" sz="28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800" baseline="-25000" dirty="0">
              <a:solidFill>
                <a:schemeClr val="accent2"/>
              </a:solidFill>
              <a:latin typeface="Times New Roman" panose="02020603050405020304" pitchFamily="18" charset="0"/>
              <a:ea typeface="华文楷体" panose="02010600040101010101" pitchFamily="2" charset="-122"/>
            </a:endParaRPr>
          </a:p>
        </p:txBody>
      </p:sp>
      <p:sp>
        <p:nvSpPr>
          <p:cNvPr id="22546" name="Text Box 16"/>
          <p:cNvSpPr txBox="1">
            <a:spLocks noChangeArrowheads="1"/>
          </p:cNvSpPr>
          <p:nvPr/>
        </p:nvSpPr>
        <p:spPr bwMode="auto">
          <a:xfrm>
            <a:off x="5562600" y="23050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endParaRPr kumimoji="1" lang="en-US" altLang="zh-CN" sz="2400" dirty="0">
              <a:latin typeface="Times New Roman" panose="02020603050405020304" pitchFamily="18" charset="0"/>
              <a:ea typeface="华文楷体" panose="02010600040101010101" pitchFamily="2" charset="-122"/>
            </a:endParaRPr>
          </a:p>
        </p:txBody>
      </p:sp>
      <p:sp>
        <p:nvSpPr>
          <p:cNvPr id="22547" name="Text Box 17"/>
          <p:cNvSpPr txBox="1">
            <a:spLocks noChangeArrowheads="1"/>
          </p:cNvSpPr>
          <p:nvPr/>
        </p:nvSpPr>
        <p:spPr bwMode="auto">
          <a:xfrm>
            <a:off x="6934200" y="230505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B</a:t>
            </a:r>
            <a:endParaRPr kumimoji="1" lang="en-US" altLang="zh-CN" sz="2400" dirty="0">
              <a:latin typeface="Times New Roman" panose="02020603050405020304" pitchFamily="18" charset="0"/>
              <a:ea typeface="华文楷体" panose="02010600040101010101" pitchFamily="2" charset="-122"/>
            </a:endParaRPr>
          </a:p>
        </p:txBody>
      </p:sp>
      <p:sp>
        <p:nvSpPr>
          <p:cNvPr id="22548" name="Text Box 18"/>
          <p:cNvSpPr txBox="1">
            <a:spLocks noChangeArrowheads="1"/>
          </p:cNvSpPr>
          <p:nvPr/>
        </p:nvSpPr>
        <p:spPr bwMode="auto">
          <a:xfrm>
            <a:off x="5562600" y="321945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C</a:t>
            </a:r>
            <a:endParaRPr kumimoji="1" lang="en-US" altLang="zh-CN" sz="2400" dirty="0">
              <a:latin typeface="Times New Roman" panose="02020603050405020304" pitchFamily="18" charset="0"/>
              <a:ea typeface="华文楷体" panose="02010600040101010101" pitchFamily="2" charset="-122"/>
            </a:endParaRPr>
          </a:p>
        </p:txBody>
      </p:sp>
      <p:sp>
        <p:nvSpPr>
          <p:cNvPr id="22549" name="Text Box 19"/>
          <p:cNvSpPr txBox="1">
            <a:spLocks noChangeArrowheads="1"/>
          </p:cNvSpPr>
          <p:nvPr/>
        </p:nvSpPr>
        <p:spPr bwMode="auto">
          <a:xfrm>
            <a:off x="6858000" y="32194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D</a:t>
            </a:r>
            <a:endParaRPr kumimoji="1" lang="en-US" altLang="zh-CN" sz="2400" dirty="0">
              <a:latin typeface="Times New Roman" panose="02020603050405020304" pitchFamily="18" charset="0"/>
              <a:ea typeface="华文楷体" panose="02010600040101010101" pitchFamily="2" charset="-122"/>
            </a:endParaRPr>
          </a:p>
        </p:txBody>
      </p:sp>
      <p:sp>
        <p:nvSpPr>
          <p:cNvPr id="22550" name="Text Box 20"/>
          <p:cNvSpPr txBox="1">
            <a:spLocks noChangeArrowheads="1"/>
          </p:cNvSpPr>
          <p:nvPr/>
        </p:nvSpPr>
        <p:spPr bwMode="auto">
          <a:xfrm>
            <a:off x="5105400" y="276225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2</a:t>
            </a:r>
            <a:r>
              <a:rPr kumimoji="1" lang="en-US" altLang="zh-CN" sz="2000" dirty="0">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51" name="Text Box 21"/>
          <p:cNvSpPr txBox="1">
            <a:spLocks noChangeArrowheads="1"/>
          </p:cNvSpPr>
          <p:nvPr/>
        </p:nvSpPr>
        <p:spPr bwMode="auto">
          <a:xfrm>
            <a:off x="6019800" y="260985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3</a:t>
            </a:r>
            <a:r>
              <a:rPr kumimoji="1" lang="en-US" altLang="zh-CN" sz="2000" dirty="0">
                <a:latin typeface="Times New Roman" panose="02020603050405020304" pitchFamily="18" charset="0"/>
                <a:ea typeface="华文楷体" panose="02010600040101010101" pitchFamily="2" charset="-122"/>
              </a:rPr>
              <a:t>=5</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52" name="Text Box 22"/>
          <p:cNvSpPr txBox="1">
            <a:spLocks noChangeArrowheads="1"/>
          </p:cNvSpPr>
          <p:nvPr/>
        </p:nvSpPr>
        <p:spPr bwMode="auto">
          <a:xfrm>
            <a:off x="7086600" y="283845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4</a:t>
            </a:r>
            <a:r>
              <a:rPr kumimoji="1" lang="en-US" altLang="zh-CN" sz="2000" dirty="0">
                <a:latin typeface="Times New Roman" panose="02020603050405020304" pitchFamily="18" charset="0"/>
                <a:ea typeface="华文楷体" panose="02010600040101010101" pitchFamily="2" charset="-122"/>
              </a:rPr>
              <a:t>=4</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53" name="Text Box 23"/>
          <p:cNvSpPr txBox="1">
            <a:spLocks noChangeArrowheads="1"/>
          </p:cNvSpPr>
          <p:nvPr/>
        </p:nvSpPr>
        <p:spPr bwMode="auto">
          <a:xfrm>
            <a:off x="6096000" y="337185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5</a:t>
            </a:r>
            <a:r>
              <a:rPr kumimoji="1" lang="en-US" altLang="zh-CN" sz="2000" dirty="0">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54" name="Text Box 24"/>
          <p:cNvSpPr txBox="1">
            <a:spLocks noChangeArrowheads="1"/>
          </p:cNvSpPr>
          <p:nvPr/>
        </p:nvSpPr>
        <p:spPr bwMode="auto">
          <a:xfrm>
            <a:off x="609600" y="3981450"/>
            <a:ext cx="3810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1 </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2</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3</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4</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5</a:t>
            </a:r>
            <a:r>
              <a:rPr kumimoji="1" lang="en-US" altLang="zh-CN" sz="2400" dirty="0">
                <a:latin typeface="Times New Roman" panose="02020603050405020304" pitchFamily="18" charset="0"/>
                <a:ea typeface="华文楷体" panose="02010600040101010101" pitchFamily="2" charset="-122"/>
              </a:rPr>
              <a:t> </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      1     1     0     0     0</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B      1     0     1     1     0</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C     0      1     1     0     1</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D     0     0     0     1      1</a:t>
            </a:r>
            <a:endParaRPr kumimoji="1" lang="en-US" altLang="zh-CN" sz="2400" dirty="0">
              <a:latin typeface="Times New Roman" panose="02020603050405020304" pitchFamily="18" charset="0"/>
              <a:ea typeface="华文楷体" panose="02010600040101010101" pitchFamily="2" charset="-122"/>
            </a:endParaRPr>
          </a:p>
        </p:txBody>
      </p:sp>
      <p:sp>
        <p:nvSpPr>
          <p:cNvPr id="22555" name="AutoShape 25"/>
          <p:cNvSpPr>
            <a:spLocks noChangeArrowheads="1"/>
          </p:cNvSpPr>
          <p:nvPr/>
        </p:nvSpPr>
        <p:spPr bwMode="auto">
          <a:xfrm>
            <a:off x="1066800" y="4591050"/>
            <a:ext cx="2895600" cy="1981200"/>
          </a:xfrm>
          <a:prstGeom prst="bracketPair">
            <a:avLst>
              <a:gd name="adj" fmla="val 16667"/>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56" name="Oval 26"/>
          <p:cNvSpPr>
            <a:spLocks noChangeArrowheads="1"/>
          </p:cNvSpPr>
          <p:nvPr/>
        </p:nvSpPr>
        <p:spPr bwMode="auto">
          <a:xfrm>
            <a:off x="3048000" y="23050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57" name="Oval 27"/>
          <p:cNvSpPr>
            <a:spLocks noChangeArrowheads="1"/>
          </p:cNvSpPr>
          <p:nvPr/>
        </p:nvSpPr>
        <p:spPr bwMode="auto">
          <a:xfrm>
            <a:off x="1752600" y="23050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58" name="Oval 28"/>
          <p:cNvSpPr>
            <a:spLocks noChangeArrowheads="1"/>
          </p:cNvSpPr>
          <p:nvPr/>
        </p:nvSpPr>
        <p:spPr bwMode="auto">
          <a:xfrm>
            <a:off x="3124200" y="32194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59" name="Oval 29"/>
          <p:cNvSpPr>
            <a:spLocks noChangeArrowheads="1"/>
          </p:cNvSpPr>
          <p:nvPr/>
        </p:nvSpPr>
        <p:spPr bwMode="auto">
          <a:xfrm>
            <a:off x="1828800" y="321945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60" name="Line 30"/>
          <p:cNvSpPr>
            <a:spLocks noChangeShapeType="1"/>
          </p:cNvSpPr>
          <p:nvPr/>
        </p:nvSpPr>
        <p:spPr bwMode="auto">
          <a:xfrm>
            <a:off x="2209800" y="2533650"/>
            <a:ext cx="838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61" name="Line 31"/>
          <p:cNvSpPr>
            <a:spLocks noChangeShapeType="1"/>
          </p:cNvSpPr>
          <p:nvPr/>
        </p:nvSpPr>
        <p:spPr bwMode="auto">
          <a:xfrm>
            <a:off x="1981200" y="276225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62" name="Line 32"/>
          <p:cNvSpPr>
            <a:spLocks noChangeShapeType="1"/>
          </p:cNvSpPr>
          <p:nvPr/>
        </p:nvSpPr>
        <p:spPr bwMode="auto">
          <a:xfrm>
            <a:off x="2286000" y="3448050"/>
            <a:ext cx="914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63" name="Line 33"/>
          <p:cNvSpPr>
            <a:spLocks noChangeShapeType="1"/>
          </p:cNvSpPr>
          <p:nvPr/>
        </p:nvSpPr>
        <p:spPr bwMode="auto">
          <a:xfrm>
            <a:off x="3352800" y="276225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64" name="Line 34"/>
          <p:cNvSpPr>
            <a:spLocks noChangeShapeType="1"/>
          </p:cNvSpPr>
          <p:nvPr/>
        </p:nvSpPr>
        <p:spPr bwMode="auto">
          <a:xfrm flipV="1">
            <a:off x="2209800" y="2762250"/>
            <a:ext cx="914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565" name="Text Box 35"/>
          <p:cNvSpPr txBox="1">
            <a:spLocks noChangeArrowheads="1"/>
          </p:cNvSpPr>
          <p:nvPr/>
        </p:nvSpPr>
        <p:spPr bwMode="auto">
          <a:xfrm>
            <a:off x="838200" y="2152650"/>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solidFill>
                  <a:schemeClr val="accent2"/>
                </a:solidFill>
                <a:latin typeface="Times New Roman" panose="02020603050405020304" pitchFamily="18" charset="0"/>
                <a:ea typeface="华文楷体" panose="02010600040101010101" pitchFamily="2" charset="-122"/>
              </a:rPr>
              <a:t>G</a:t>
            </a:r>
            <a:r>
              <a:rPr kumimoji="1" lang="en-US" altLang="zh-CN" sz="28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800" dirty="0">
              <a:latin typeface="Times New Roman" panose="02020603050405020304" pitchFamily="18" charset="0"/>
              <a:ea typeface="华文楷体" panose="02010600040101010101" pitchFamily="2" charset="-122"/>
            </a:endParaRPr>
          </a:p>
        </p:txBody>
      </p:sp>
      <p:sp>
        <p:nvSpPr>
          <p:cNvPr id="22566" name="Text Box 36"/>
          <p:cNvSpPr txBox="1">
            <a:spLocks noChangeArrowheads="1"/>
          </p:cNvSpPr>
          <p:nvPr/>
        </p:nvSpPr>
        <p:spPr bwMode="auto">
          <a:xfrm>
            <a:off x="1752600" y="23050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endParaRPr kumimoji="1" lang="en-US" altLang="zh-CN" sz="2400" dirty="0">
              <a:latin typeface="Times New Roman" panose="02020603050405020304" pitchFamily="18" charset="0"/>
              <a:ea typeface="华文楷体" panose="02010600040101010101" pitchFamily="2" charset="-122"/>
            </a:endParaRPr>
          </a:p>
        </p:txBody>
      </p:sp>
      <p:sp>
        <p:nvSpPr>
          <p:cNvPr id="22567" name="Text Box 37"/>
          <p:cNvSpPr txBox="1">
            <a:spLocks noChangeArrowheads="1"/>
          </p:cNvSpPr>
          <p:nvPr/>
        </p:nvSpPr>
        <p:spPr bwMode="auto">
          <a:xfrm>
            <a:off x="3048000" y="230505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B</a:t>
            </a:r>
            <a:endParaRPr kumimoji="1" lang="en-US" altLang="zh-CN" sz="2400" dirty="0">
              <a:latin typeface="Times New Roman" panose="02020603050405020304" pitchFamily="18" charset="0"/>
              <a:ea typeface="华文楷体" panose="02010600040101010101" pitchFamily="2" charset="-122"/>
            </a:endParaRPr>
          </a:p>
        </p:txBody>
      </p:sp>
      <p:sp>
        <p:nvSpPr>
          <p:cNvPr id="22568" name="Text Box 38"/>
          <p:cNvSpPr txBox="1">
            <a:spLocks noChangeArrowheads="1"/>
          </p:cNvSpPr>
          <p:nvPr/>
        </p:nvSpPr>
        <p:spPr bwMode="auto">
          <a:xfrm>
            <a:off x="1905000" y="32194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C</a:t>
            </a:r>
            <a:endParaRPr kumimoji="1" lang="en-US" altLang="zh-CN" sz="2400" dirty="0">
              <a:latin typeface="Times New Roman" panose="02020603050405020304" pitchFamily="18" charset="0"/>
              <a:ea typeface="华文楷体" panose="02010600040101010101" pitchFamily="2" charset="-122"/>
            </a:endParaRPr>
          </a:p>
        </p:txBody>
      </p:sp>
      <p:sp>
        <p:nvSpPr>
          <p:cNvPr id="22569" name="Text Box 39"/>
          <p:cNvSpPr txBox="1">
            <a:spLocks noChangeArrowheads="1"/>
          </p:cNvSpPr>
          <p:nvPr/>
        </p:nvSpPr>
        <p:spPr bwMode="auto">
          <a:xfrm>
            <a:off x="3124200" y="32194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D</a:t>
            </a:r>
            <a:endParaRPr kumimoji="1" lang="en-US" altLang="zh-CN" sz="2400" dirty="0">
              <a:latin typeface="Times New Roman" panose="02020603050405020304" pitchFamily="18" charset="0"/>
              <a:ea typeface="华文楷体" panose="02010600040101010101" pitchFamily="2" charset="-122"/>
            </a:endParaRPr>
          </a:p>
        </p:txBody>
      </p:sp>
      <p:sp>
        <p:nvSpPr>
          <p:cNvPr id="22570" name="Text Box 40"/>
          <p:cNvSpPr txBox="1">
            <a:spLocks noChangeArrowheads="1"/>
          </p:cNvSpPr>
          <p:nvPr/>
        </p:nvSpPr>
        <p:spPr bwMode="auto">
          <a:xfrm>
            <a:off x="4495800" y="3905250"/>
            <a:ext cx="3810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1 </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2</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3</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4</a:t>
            </a:r>
            <a:r>
              <a:rPr kumimoji="1" lang="en-US" altLang="zh-CN" sz="2400" dirty="0">
                <a:latin typeface="Times New Roman" panose="02020603050405020304" pitchFamily="18" charset="0"/>
                <a:ea typeface="华文楷体" panose="02010600040101010101" pitchFamily="2" charset="-122"/>
              </a:rPr>
              <a:t>    e</a:t>
            </a:r>
            <a:r>
              <a:rPr kumimoji="1" lang="en-US" altLang="zh-CN" sz="2400" baseline="-25000" dirty="0">
                <a:latin typeface="Times New Roman" panose="02020603050405020304" pitchFamily="18" charset="0"/>
                <a:ea typeface="华文楷体" panose="02010600040101010101" pitchFamily="2" charset="-122"/>
              </a:rPr>
              <a:t>5</a:t>
            </a:r>
            <a:r>
              <a:rPr kumimoji="1" lang="en-US" altLang="zh-CN" sz="2400" dirty="0">
                <a:latin typeface="Times New Roman" panose="02020603050405020304" pitchFamily="18" charset="0"/>
                <a:ea typeface="华文楷体" panose="02010600040101010101" pitchFamily="2" charset="-122"/>
              </a:rPr>
              <a:t> </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    -3    -2     0     0     0</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B     3     0     5    -4     0</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C     0     2     -5    0     2</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D     0     0     0     4    -2</a:t>
            </a:r>
            <a:endParaRPr kumimoji="1" lang="en-US" altLang="zh-CN" sz="2400" dirty="0">
              <a:latin typeface="Times New Roman" panose="02020603050405020304" pitchFamily="18" charset="0"/>
              <a:ea typeface="华文楷体" panose="02010600040101010101" pitchFamily="2" charset="-122"/>
            </a:endParaRPr>
          </a:p>
        </p:txBody>
      </p:sp>
      <p:sp>
        <p:nvSpPr>
          <p:cNvPr id="22571" name="AutoShape 41"/>
          <p:cNvSpPr>
            <a:spLocks noChangeArrowheads="1"/>
          </p:cNvSpPr>
          <p:nvPr/>
        </p:nvSpPr>
        <p:spPr bwMode="auto">
          <a:xfrm>
            <a:off x="4876800" y="4514850"/>
            <a:ext cx="2895600" cy="1981200"/>
          </a:xfrm>
          <a:prstGeom prst="bracketPair">
            <a:avLst>
              <a:gd name="adj" fmla="val 16667"/>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572" name="Text Box 42"/>
          <p:cNvSpPr txBox="1">
            <a:spLocks noChangeArrowheads="1"/>
          </p:cNvSpPr>
          <p:nvPr/>
        </p:nvSpPr>
        <p:spPr bwMode="auto">
          <a:xfrm>
            <a:off x="2362200" y="2228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1</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73" name="Text Box 43"/>
          <p:cNvSpPr txBox="1">
            <a:spLocks noChangeArrowheads="1"/>
          </p:cNvSpPr>
          <p:nvPr/>
        </p:nvSpPr>
        <p:spPr bwMode="auto">
          <a:xfrm>
            <a:off x="1676400" y="27622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74" name="Text Box 44"/>
          <p:cNvSpPr txBox="1">
            <a:spLocks noChangeArrowheads="1"/>
          </p:cNvSpPr>
          <p:nvPr/>
        </p:nvSpPr>
        <p:spPr bwMode="auto">
          <a:xfrm>
            <a:off x="2362200" y="2609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3</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75" name="Text Box 45"/>
          <p:cNvSpPr txBox="1">
            <a:spLocks noChangeArrowheads="1"/>
          </p:cNvSpPr>
          <p:nvPr/>
        </p:nvSpPr>
        <p:spPr bwMode="auto">
          <a:xfrm>
            <a:off x="3429000" y="27622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4</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2576" name="Text Box 46"/>
          <p:cNvSpPr txBox="1">
            <a:spLocks noChangeArrowheads="1"/>
          </p:cNvSpPr>
          <p:nvPr/>
        </p:nvSpPr>
        <p:spPr bwMode="auto">
          <a:xfrm>
            <a:off x="2590800" y="3371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5</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4267200" y="1085850"/>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直接连接符 4"/>
          <p:cNvCxnSpPr/>
          <p:nvPr/>
        </p:nvCxnSpPr>
        <p:spPr>
          <a:xfrm flipV="1">
            <a:off x="14288" y="3821112"/>
            <a:ext cx="9129712" cy="4127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页脚占位符 3"/>
          <p:cNvSpPr>
            <a:spLocks noGrp="1"/>
          </p:cNvSpPr>
          <p:nvPr>
            <p:ph type="ftr" sz="quarter" idx="10"/>
          </p:nvPr>
        </p:nvSpPr>
        <p:spPr/>
        <p:txBody>
          <a:bodyPr/>
          <a:lstStyle/>
          <a:p>
            <a:pPr>
              <a:defRPr/>
            </a:pPr>
            <a:r>
              <a:rPr lang="en-US" altLang="zh-CN"/>
              <a:t>BUPT SCST</a:t>
            </a:r>
            <a:endParaRPr lang="en-US" altLang="zh-CN"/>
          </a:p>
        </p:txBody>
      </p:sp>
      <p:sp>
        <p:nvSpPr>
          <p:cNvPr id="91" name="日期占位符 5"/>
          <p:cNvSpPr>
            <a:spLocks noGrp="1"/>
          </p:cNvSpPr>
          <p:nvPr>
            <p:ph type="dt" sz="quarter" idx="12"/>
          </p:nvPr>
        </p:nvSpPr>
        <p:spPr/>
        <p:txBody>
          <a:bodyPr/>
          <a:lstStyle/>
          <a:p>
            <a:pPr>
              <a:defRPr/>
            </a:pPr>
            <a:r>
              <a:rPr lang="en-US" altLang="zh-CN"/>
              <a:t>BUPT</a:t>
            </a:r>
            <a:endParaRPr lang="en-US" altLang="zh-CN"/>
          </a:p>
        </p:txBody>
      </p:sp>
      <p:sp>
        <p:nvSpPr>
          <p:cNvPr id="23556" name="Rectangle 4"/>
          <p:cNvSpPr>
            <a:spLocks noChangeArrowheads="1"/>
          </p:cNvSpPr>
          <p:nvPr/>
        </p:nvSpPr>
        <p:spPr bwMode="auto">
          <a:xfrm>
            <a:off x="685800" y="11430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dirty="0">
                <a:solidFill>
                  <a:srgbClr val="996600"/>
                </a:solidFill>
                <a:latin typeface="Verdana" panose="020B0604030504040204" pitchFamily="34" charset="0"/>
                <a:ea typeface="华文楷体" panose="02010600040101010101" pitchFamily="2" charset="-122"/>
              </a:rPr>
              <a:t>（</a:t>
            </a:r>
            <a:r>
              <a:rPr lang="en-US" altLang="zh-CN" sz="2400" dirty="0">
                <a:solidFill>
                  <a:srgbClr val="996600"/>
                </a:solidFill>
                <a:latin typeface="Verdana" panose="020B0604030504040204" pitchFamily="34" charset="0"/>
                <a:ea typeface="华文楷体" panose="02010600040101010101" pitchFamily="2" charset="-122"/>
              </a:rPr>
              <a:t>2</a:t>
            </a:r>
            <a:r>
              <a:rPr lang="zh-CN" altLang="en-US" sz="2400" dirty="0">
                <a:solidFill>
                  <a:srgbClr val="996600"/>
                </a:solidFill>
                <a:latin typeface="Verdana" panose="020B0604030504040204" pitchFamily="34" charset="0"/>
                <a:ea typeface="华文楷体" panose="02010600040101010101" pitchFamily="2" charset="-122"/>
              </a:rPr>
              <a:t>） 十字链表</a:t>
            </a:r>
            <a:r>
              <a:rPr lang="zh-CN" altLang="en-US" sz="2400" dirty="0">
                <a:solidFill>
                  <a:srgbClr val="FF6600"/>
                </a:solidFill>
                <a:latin typeface="Verdana" panose="020B0604030504040204" pitchFamily="34" charset="0"/>
                <a:ea typeface="华文楷体" panose="02010600040101010101" pitchFamily="2" charset="-122"/>
              </a:rPr>
              <a:t>    </a:t>
            </a:r>
            <a:r>
              <a:rPr lang="zh-CN" altLang="en-US" sz="2400" b="1" dirty="0">
                <a:solidFill>
                  <a:schemeClr val="accent2"/>
                </a:solidFill>
                <a:latin typeface="Verdana" panose="020B0604030504040204" pitchFamily="34" charset="0"/>
                <a:ea typeface="华文楷体" panose="02010600040101010101" pitchFamily="2" charset="-122"/>
              </a:rPr>
              <a:t>顺序存储</a:t>
            </a:r>
            <a:r>
              <a:rPr lang="en-US" altLang="zh-CN" sz="2400" b="1" dirty="0">
                <a:solidFill>
                  <a:schemeClr val="accent2"/>
                </a:solidFill>
                <a:latin typeface="Verdana" panose="020B0604030504040204" pitchFamily="34" charset="0"/>
                <a:ea typeface="华文楷体" panose="02010600040101010101" pitchFamily="2" charset="-122"/>
              </a:rPr>
              <a:t>+</a:t>
            </a:r>
            <a:r>
              <a:rPr lang="zh-CN" altLang="en-US" sz="2400" b="1" dirty="0">
                <a:solidFill>
                  <a:schemeClr val="accent2"/>
                </a:solidFill>
                <a:latin typeface="Verdana" panose="020B0604030504040204" pitchFamily="34" charset="0"/>
                <a:ea typeface="华文楷体" panose="02010600040101010101" pitchFamily="2" charset="-122"/>
              </a:rPr>
              <a:t>链式存储</a:t>
            </a:r>
            <a:endParaRPr lang="zh-CN" altLang="en-US" sz="2400" dirty="0">
              <a:solidFill>
                <a:schemeClr val="accent2"/>
              </a:solidFill>
              <a:latin typeface="Verdana" panose="020B0604030504040204" pitchFamily="34" charset="0"/>
              <a:ea typeface="华文楷体" panose="02010600040101010101" pitchFamily="2" charset="-122"/>
            </a:endParaRPr>
          </a:p>
        </p:txBody>
      </p:sp>
      <p:sp>
        <p:nvSpPr>
          <p:cNvPr id="23557" name="Rectangle 5"/>
          <p:cNvSpPr>
            <a:spLocks noGrp="1" noChangeArrowheads="1"/>
          </p:cNvSpPr>
          <p:nvPr>
            <p:ph type="body" idx="1"/>
          </p:nvPr>
        </p:nvSpPr>
        <p:spPr>
          <a:xfrm>
            <a:off x="685800" y="1905000"/>
            <a:ext cx="7772400" cy="4953000"/>
          </a:xfrm>
          <a:noFill/>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     </a:t>
            </a:r>
            <a:r>
              <a:rPr lang="zh-CN" altLang="en-US" sz="2400" dirty="0" smtClean="0">
                <a:ea typeface="华文楷体" panose="02010600040101010101" pitchFamily="2" charset="-122"/>
              </a:rPr>
              <a:t>适用对象：有向图。</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例</a:t>
            </a:r>
            <a:r>
              <a:rPr lang="en-US" altLang="zh-CN" sz="2400" b="1"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顶点线性表      弧的十字链表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弧头、弧尾</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1    A   ^               1  2  3              1  3  2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    B                                                           2  4  4  ^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3    C                  3  2  5  ^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4    D                                         4  3  2  ^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dirty="0" smtClean="0">
                <a:ea typeface="华文楷体" panose="02010600040101010101" pitchFamily="2" charset="-122"/>
              </a:rPr>
              <a:t>          </a:t>
            </a:r>
            <a:r>
              <a:rPr lang="en-US" altLang="zh-CN" sz="2400" dirty="0" smtClean="0">
                <a:ea typeface="华文楷体" panose="02010600040101010101" pitchFamily="2" charset="-122"/>
              </a:rPr>
              <a:t>data   </a:t>
            </a:r>
            <a:r>
              <a:rPr lang="en-US" altLang="zh-CN" sz="2400" dirty="0" err="1" smtClean="0">
                <a:ea typeface="华文楷体" panose="02010600040101010101" pitchFamily="2" charset="-122"/>
              </a:rPr>
              <a:t>firstout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firstin</a:t>
            </a:r>
            <a:endParaRPr lang="en-US" altLang="zh-CN" sz="2400" dirty="0" smtClean="0">
              <a:ea typeface="华文楷体" panose="02010600040101010101" pitchFamily="2" charset="-122"/>
            </a:endParaRPr>
          </a:p>
        </p:txBody>
      </p:sp>
      <p:sp>
        <p:nvSpPr>
          <p:cNvPr id="23558" name="Rectangle 6"/>
          <p:cNvSpPr>
            <a:spLocks noChangeArrowheads="1"/>
          </p:cNvSpPr>
          <p:nvPr/>
        </p:nvSpPr>
        <p:spPr bwMode="auto">
          <a:xfrm>
            <a:off x="1905000" y="3276600"/>
            <a:ext cx="1219200" cy="1981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59" name="Line 7"/>
          <p:cNvSpPr>
            <a:spLocks noChangeShapeType="1"/>
          </p:cNvSpPr>
          <p:nvPr/>
        </p:nvSpPr>
        <p:spPr bwMode="auto">
          <a:xfrm>
            <a:off x="1905000" y="4267200"/>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0" name="Line 8"/>
          <p:cNvSpPr>
            <a:spLocks noChangeShapeType="1"/>
          </p:cNvSpPr>
          <p:nvPr/>
        </p:nvSpPr>
        <p:spPr bwMode="auto">
          <a:xfrm>
            <a:off x="1905000" y="3810000"/>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1" name="Line 9"/>
          <p:cNvSpPr>
            <a:spLocks noChangeShapeType="1"/>
          </p:cNvSpPr>
          <p:nvPr/>
        </p:nvSpPr>
        <p:spPr bwMode="auto">
          <a:xfrm>
            <a:off x="1905000" y="4724400"/>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2" name="Line 10"/>
          <p:cNvSpPr>
            <a:spLocks noChangeShapeType="1"/>
          </p:cNvSpPr>
          <p:nvPr/>
        </p:nvSpPr>
        <p:spPr bwMode="auto">
          <a:xfrm>
            <a:off x="2362200" y="3276600"/>
            <a:ext cx="0" cy="1981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3" name="Line 11"/>
          <p:cNvSpPr>
            <a:spLocks noChangeShapeType="1"/>
          </p:cNvSpPr>
          <p:nvPr/>
        </p:nvSpPr>
        <p:spPr bwMode="auto">
          <a:xfrm>
            <a:off x="2743200" y="3276600"/>
            <a:ext cx="0" cy="1981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4" name="Line 12"/>
          <p:cNvSpPr>
            <a:spLocks noChangeShapeType="1"/>
          </p:cNvSpPr>
          <p:nvPr/>
        </p:nvSpPr>
        <p:spPr bwMode="auto">
          <a:xfrm flipV="1">
            <a:off x="2514600" y="5257800"/>
            <a:ext cx="0" cy="7620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5" name="Rectangle 13"/>
          <p:cNvSpPr>
            <a:spLocks noChangeArrowheads="1"/>
          </p:cNvSpPr>
          <p:nvPr/>
        </p:nvSpPr>
        <p:spPr bwMode="auto">
          <a:xfrm>
            <a:off x="3733800" y="3352800"/>
            <a:ext cx="13716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66" name="Rectangle 14"/>
          <p:cNvSpPr>
            <a:spLocks noChangeArrowheads="1"/>
          </p:cNvSpPr>
          <p:nvPr/>
        </p:nvSpPr>
        <p:spPr bwMode="auto">
          <a:xfrm>
            <a:off x="5486400" y="3352800"/>
            <a:ext cx="1524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67" name="Line 15"/>
          <p:cNvSpPr>
            <a:spLocks noChangeShapeType="1"/>
          </p:cNvSpPr>
          <p:nvPr/>
        </p:nvSpPr>
        <p:spPr bwMode="auto">
          <a:xfrm>
            <a:off x="39624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8" name="Line 16"/>
          <p:cNvSpPr>
            <a:spLocks noChangeShapeType="1"/>
          </p:cNvSpPr>
          <p:nvPr/>
        </p:nvSpPr>
        <p:spPr bwMode="auto">
          <a:xfrm>
            <a:off x="42672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69" name="Line 17"/>
          <p:cNvSpPr>
            <a:spLocks noChangeShapeType="1"/>
          </p:cNvSpPr>
          <p:nvPr/>
        </p:nvSpPr>
        <p:spPr bwMode="auto">
          <a:xfrm>
            <a:off x="46482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0" name="Line 18"/>
          <p:cNvSpPr>
            <a:spLocks noChangeShapeType="1"/>
          </p:cNvSpPr>
          <p:nvPr/>
        </p:nvSpPr>
        <p:spPr bwMode="auto">
          <a:xfrm>
            <a:off x="48768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1" name="Line 19"/>
          <p:cNvSpPr>
            <a:spLocks noChangeShapeType="1"/>
          </p:cNvSpPr>
          <p:nvPr/>
        </p:nvSpPr>
        <p:spPr bwMode="auto">
          <a:xfrm>
            <a:off x="57912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2" name="Line 20"/>
          <p:cNvSpPr>
            <a:spLocks noChangeShapeType="1"/>
          </p:cNvSpPr>
          <p:nvPr/>
        </p:nvSpPr>
        <p:spPr bwMode="auto">
          <a:xfrm>
            <a:off x="61722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3" name="Line 21"/>
          <p:cNvSpPr>
            <a:spLocks noChangeShapeType="1"/>
          </p:cNvSpPr>
          <p:nvPr/>
        </p:nvSpPr>
        <p:spPr bwMode="auto">
          <a:xfrm>
            <a:off x="64008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4" name="Line 22"/>
          <p:cNvSpPr>
            <a:spLocks noChangeShapeType="1"/>
          </p:cNvSpPr>
          <p:nvPr/>
        </p:nvSpPr>
        <p:spPr bwMode="auto">
          <a:xfrm>
            <a:off x="6705600" y="33528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5" name="Line 23"/>
          <p:cNvSpPr>
            <a:spLocks noChangeShapeType="1"/>
          </p:cNvSpPr>
          <p:nvPr/>
        </p:nvSpPr>
        <p:spPr bwMode="auto">
          <a:xfrm>
            <a:off x="2971800" y="3429000"/>
            <a:ext cx="762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6" name="Line 24"/>
          <p:cNvSpPr>
            <a:spLocks noChangeShapeType="1"/>
          </p:cNvSpPr>
          <p:nvPr/>
        </p:nvSpPr>
        <p:spPr bwMode="auto">
          <a:xfrm>
            <a:off x="5029200" y="3505200"/>
            <a:ext cx="457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7" name="Rectangle 25"/>
          <p:cNvSpPr>
            <a:spLocks noChangeArrowheads="1"/>
          </p:cNvSpPr>
          <p:nvPr/>
        </p:nvSpPr>
        <p:spPr bwMode="auto">
          <a:xfrm>
            <a:off x="6705600" y="3886200"/>
            <a:ext cx="15240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78" name="Line 26"/>
          <p:cNvSpPr>
            <a:spLocks noChangeShapeType="1"/>
          </p:cNvSpPr>
          <p:nvPr/>
        </p:nvSpPr>
        <p:spPr bwMode="auto">
          <a:xfrm>
            <a:off x="7010400" y="3886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79" name="Line 27"/>
          <p:cNvSpPr>
            <a:spLocks noChangeShapeType="1"/>
          </p:cNvSpPr>
          <p:nvPr/>
        </p:nvSpPr>
        <p:spPr bwMode="auto">
          <a:xfrm>
            <a:off x="7924800" y="3886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0" name="Line 28"/>
          <p:cNvSpPr>
            <a:spLocks noChangeShapeType="1"/>
          </p:cNvSpPr>
          <p:nvPr/>
        </p:nvSpPr>
        <p:spPr bwMode="auto">
          <a:xfrm>
            <a:off x="7315200" y="3886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1" name="Line 29"/>
          <p:cNvSpPr>
            <a:spLocks noChangeShapeType="1"/>
          </p:cNvSpPr>
          <p:nvPr/>
        </p:nvSpPr>
        <p:spPr bwMode="auto">
          <a:xfrm>
            <a:off x="7620000" y="3886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2" name="Rectangle 30"/>
          <p:cNvSpPr>
            <a:spLocks noChangeArrowheads="1"/>
          </p:cNvSpPr>
          <p:nvPr/>
        </p:nvSpPr>
        <p:spPr bwMode="auto">
          <a:xfrm>
            <a:off x="3657600" y="4267200"/>
            <a:ext cx="13716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83" name="Line 31"/>
          <p:cNvSpPr>
            <a:spLocks noChangeShapeType="1"/>
          </p:cNvSpPr>
          <p:nvPr/>
        </p:nvSpPr>
        <p:spPr bwMode="auto">
          <a:xfrm>
            <a:off x="3886200" y="4267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4" name="Line 32"/>
          <p:cNvSpPr>
            <a:spLocks noChangeShapeType="1"/>
          </p:cNvSpPr>
          <p:nvPr/>
        </p:nvSpPr>
        <p:spPr bwMode="auto">
          <a:xfrm>
            <a:off x="4191000" y="4267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5" name="Line 33"/>
          <p:cNvSpPr>
            <a:spLocks noChangeShapeType="1"/>
          </p:cNvSpPr>
          <p:nvPr/>
        </p:nvSpPr>
        <p:spPr bwMode="auto">
          <a:xfrm>
            <a:off x="4572000" y="4267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6" name="Line 34"/>
          <p:cNvSpPr>
            <a:spLocks noChangeShapeType="1"/>
          </p:cNvSpPr>
          <p:nvPr/>
        </p:nvSpPr>
        <p:spPr bwMode="auto">
          <a:xfrm>
            <a:off x="4800600" y="42672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7" name="Line 35"/>
          <p:cNvSpPr>
            <a:spLocks noChangeShapeType="1"/>
          </p:cNvSpPr>
          <p:nvPr/>
        </p:nvSpPr>
        <p:spPr bwMode="auto">
          <a:xfrm>
            <a:off x="2895600" y="4495800"/>
            <a:ext cx="762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88" name="Rectangle 36"/>
          <p:cNvSpPr>
            <a:spLocks noChangeArrowheads="1"/>
          </p:cNvSpPr>
          <p:nvPr/>
        </p:nvSpPr>
        <p:spPr bwMode="auto">
          <a:xfrm>
            <a:off x="5410200" y="4724400"/>
            <a:ext cx="14478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589" name="Line 37"/>
          <p:cNvSpPr>
            <a:spLocks noChangeShapeType="1"/>
          </p:cNvSpPr>
          <p:nvPr/>
        </p:nvSpPr>
        <p:spPr bwMode="auto">
          <a:xfrm>
            <a:off x="6019800" y="4724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0" name="Line 38"/>
          <p:cNvSpPr>
            <a:spLocks noChangeShapeType="1"/>
          </p:cNvSpPr>
          <p:nvPr/>
        </p:nvSpPr>
        <p:spPr bwMode="auto">
          <a:xfrm>
            <a:off x="6324600" y="4724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1" name="Line 39"/>
          <p:cNvSpPr>
            <a:spLocks noChangeShapeType="1"/>
          </p:cNvSpPr>
          <p:nvPr/>
        </p:nvSpPr>
        <p:spPr bwMode="auto">
          <a:xfrm>
            <a:off x="5638800" y="4724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2" name="Line 40"/>
          <p:cNvSpPr>
            <a:spLocks noChangeShapeType="1"/>
          </p:cNvSpPr>
          <p:nvPr/>
        </p:nvSpPr>
        <p:spPr bwMode="auto">
          <a:xfrm>
            <a:off x="6629400" y="4724400"/>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3" name="Line 41"/>
          <p:cNvSpPr>
            <a:spLocks noChangeShapeType="1"/>
          </p:cNvSpPr>
          <p:nvPr/>
        </p:nvSpPr>
        <p:spPr bwMode="auto">
          <a:xfrm>
            <a:off x="2819400" y="4953000"/>
            <a:ext cx="2590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4" name="Line 42"/>
          <p:cNvSpPr>
            <a:spLocks noChangeShapeType="1"/>
          </p:cNvSpPr>
          <p:nvPr/>
        </p:nvSpPr>
        <p:spPr bwMode="auto">
          <a:xfrm>
            <a:off x="3352800" y="3581400"/>
            <a:ext cx="0" cy="53340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5" name="Line 43"/>
          <p:cNvSpPr>
            <a:spLocks noChangeShapeType="1"/>
          </p:cNvSpPr>
          <p:nvPr/>
        </p:nvSpPr>
        <p:spPr bwMode="auto">
          <a:xfrm>
            <a:off x="3352800" y="3581400"/>
            <a:ext cx="3048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6" name="Line 44"/>
          <p:cNvSpPr>
            <a:spLocks noChangeShapeType="1"/>
          </p:cNvSpPr>
          <p:nvPr/>
        </p:nvSpPr>
        <p:spPr bwMode="auto">
          <a:xfrm>
            <a:off x="2514600" y="4114800"/>
            <a:ext cx="838200" cy="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7" name="Line 45"/>
          <p:cNvSpPr>
            <a:spLocks noChangeShapeType="1"/>
          </p:cNvSpPr>
          <p:nvPr/>
        </p:nvSpPr>
        <p:spPr bwMode="auto">
          <a:xfrm>
            <a:off x="2971800" y="3962400"/>
            <a:ext cx="3733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8" name="Line 46"/>
          <p:cNvSpPr>
            <a:spLocks noChangeShapeType="1"/>
          </p:cNvSpPr>
          <p:nvPr/>
        </p:nvSpPr>
        <p:spPr bwMode="auto">
          <a:xfrm>
            <a:off x="4724400" y="3505200"/>
            <a:ext cx="0" cy="8382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99" name="Line 47"/>
          <p:cNvSpPr>
            <a:spLocks noChangeShapeType="1"/>
          </p:cNvSpPr>
          <p:nvPr/>
        </p:nvSpPr>
        <p:spPr bwMode="auto">
          <a:xfrm>
            <a:off x="2514600" y="4572000"/>
            <a:ext cx="990600" cy="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0" name="Line 48"/>
          <p:cNvSpPr>
            <a:spLocks noChangeShapeType="1"/>
          </p:cNvSpPr>
          <p:nvPr/>
        </p:nvSpPr>
        <p:spPr bwMode="auto">
          <a:xfrm flipV="1">
            <a:off x="3429000" y="4191000"/>
            <a:ext cx="0" cy="38100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1" name="Line 49"/>
          <p:cNvSpPr>
            <a:spLocks noChangeShapeType="1"/>
          </p:cNvSpPr>
          <p:nvPr/>
        </p:nvSpPr>
        <p:spPr bwMode="auto">
          <a:xfrm>
            <a:off x="3429000" y="4191000"/>
            <a:ext cx="1828800" cy="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2" name="Line 50"/>
          <p:cNvSpPr>
            <a:spLocks noChangeShapeType="1"/>
          </p:cNvSpPr>
          <p:nvPr/>
        </p:nvSpPr>
        <p:spPr bwMode="auto">
          <a:xfrm flipV="1">
            <a:off x="5257800" y="3657600"/>
            <a:ext cx="0" cy="53340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3" name="Line 51"/>
          <p:cNvSpPr>
            <a:spLocks noChangeShapeType="1"/>
          </p:cNvSpPr>
          <p:nvPr/>
        </p:nvSpPr>
        <p:spPr bwMode="auto">
          <a:xfrm flipV="1">
            <a:off x="5257800" y="3657600"/>
            <a:ext cx="2286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4" name="Line 52"/>
          <p:cNvSpPr>
            <a:spLocks noChangeShapeType="1"/>
          </p:cNvSpPr>
          <p:nvPr/>
        </p:nvSpPr>
        <p:spPr bwMode="auto">
          <a:xfrm>
            <a:off x="6553200" y="3505200"/>
            <a:ext cx="0" cy="13716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5" name="Line 53"/>
          <p:cNvSpPr>
            <a:spLocks noChangeShapeType="1"/>
          </p:cNvSpPr>
          <p:nvPr/>
        </p:nvSpPr>
        <p:spPr bwMode="auto">
          <a:xfrm flipV="1">
            <a:off x="5334000" y="4114800"/>
            <a:ext cx="0" cy="99060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6" name="Line 54"/>
          <p:cNvSpPr>
            <a:spLocks noChangeShapeType="1"/>
          </p:cNvSpPr>
          <p:nvPr/>
        </p:nvSpPr>
        <p:spPr bwMode="auto">
          <a:xfrm>
            <a:off x="2590800" y="5105400"/>
            <a:ext cx="2743200" cy="0"/>
          </a:xfrm>
          <a:prstGeom prst="line">
            <a:avLst/>
          </a:prstGeom>
          <a:noFill/>
          <a:ln w="952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7" name="Line 55"/>
          <p:cNvSpPr>
            <a:spLocks noChangeShapeType="1"/>
          </p:cNvSpPr>
          <p:nvPr/>
        </p:nvSpPr>
        <p:spPr bwMode="auto">
          <a:xfrm>
            <a:off x="5334000" y="4114800"/>
            <a:ext cx="13716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8" name="Line 56"/>
          <p:cNvSpPr>
            <a:spLocks noChangeShapeType="1"/>
          </p:cNvSpPr>
          <p:nvPr/>
        </p:nvSpPr>
        <p:spPr bwMode="auto">
          <a:xfrm flipV="1">
            <a:off x="6781800" y="5105400"/>
            <a:ext cx="0" cy="2286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09" name="Line 57"/>
          <p:cNvSpPr>
            <a:spLocks noChangeShapeType="1"/>
          </p:cNvSpPr>
          <p:nvPr/>
        </p:nvSpPr>
        <p:spPr bwMode="auto">
          <a:xfrm>
            <a:off x="6781800" y="5334000"/>
            <a:ext cx="228600"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0" name="Text Box 58"/>
          <p:cNvSpPr txBox="1">
            <a:spLocks noChangeArrowheads="1"/>
          </p:cNvSpPr>
          <p:nvPr/>
        </p:nvSpPr>
        <p:spPr bwMode="auto">
          <a:xfrm>
            <a:off x="6934200" y="5105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solidFill>
                  <a:schemeClr val="accent2"/>
                </a:solidFill>
                <a:latin typeface="Times New Roman" panose="02020603050405020304" pitchFamily="18" charset="0"/>
                <a:ea typeface="华文楷体" panose="02010600040101010101" pitchFamily="2" charset="-122"/>
              </a:rPr>
              <a:t>tlink</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sp>
        <p:nvSpPr>
          <p:cNvPr id="23611" name="Line 59"/>
          <p:cNvSpPr>
            <a:spLocks noChangeShapeType="1"/>
          </p:cNvSpPr>
          <p:nvPr/>
        </p:nvSpPr>
        <p:spPr bwMode="auto">
          <a:xfrm flipV="1">
            <a:off x="6477000" y="5105400"/>
            <a:ext cx="0" cy="4572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2" name="Line 60"/>
          <p:cNvSpPr>
            <a:spLocks noChangeShapeType="1"/>
          </p:cNvSpPr>
          <p:nvPr/>
        </p:nvSpPr>
        <p:spPr bwMode="auto">
          <a:xfrm>
            <a:off x="6477000" y="5562600"/>
            <a:ext cx="381000" cy="0"/>
          </a:xfrm>
          <a:prstGeom prst="line">
            <a:avLst/>
          </a:prstGeom>
          <a:noFill/>
          <a:ln w="9525" cap="rnd">
            <a:solidFill>
              <a:schemeClr val="accent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3" name="Text Box 61"/>
          <p:cNvSpPr txBox="1">
            <a:spLocks noChangeArrowheads="1"/>
          </p:cNvSpPr>
          <p:nvPr/>
        </p:nvSpPr>
        <p:spPr bwMode="auto">
          <a:xfrm>
            <a:off x="6781800" y="54102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solidFill>
                  <a:schemeClr val="accent2"/>
                </a:solidFill>
                <a:latin typeface="Times New Roman" panose="02020603050405020304" pitchFamily="18" charset="0"/>
                <a:ea typeface="华文楷体" panose="02010600040101010101" pitchFamily="2" charset="-122"/>
              </a:rPr>
              <a:t>hlink</a:t>
            </a:r>
            <a:endParaRPr kumimoji="1" lang="en-US" altLang="zh-CN" sz="2400" dirty="0">
              <a:latin typeface="Times New Roman" panose="02020603050405020304" pitchFamily="18" charset="0"/>
              <a:ea typeface="华文楷体" panose="02010600040101010101" pitchFamily="2" charset="-122"/>
            </a:endParaRPr>
          </a:p>
        </p:txBody>
      </p:sp>
      <p:sp>
        <p:nvSpPr>
          <p:cNvPr id="23614" name="Line 62"/>
          <p:cNvSpPr>
            <a:spLocks noChangeShapeType="1"/>
          </p:cNvSpPr>
          <p:nvPr/>
        </p:nvSpPr>
        <p:spPr bwMode="auto">
          <a:xfrm flipV="1">
            <a:off x="6172200" y="5105400"/>
            <a:ext cx="0" cy="6858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5" name="Text Box 63"/>
          <p:cNvSpPr txBox="1">
            <a:spLocks noChangeArrowheads="1"/>
          </p:cNvSpPr>
          <p:nvPr/>
        </p:nvSpPr>
        <p:spPr bwMode="auto">
          <a:xfrm>
            <a:off x="5715000" y="57912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weight</a:t>
            </a:r>
            <a:endParaRPr kumimoji="1" lang="en-US" altLang="zh-CN" sz="2400" dirty="0">
              <a:latin typeface="Times New Roman" panose="02020603050405020304" pitchFamily="18" charset="0"/>
              <a:ea typeface="华文楷体" panose="02010600040101010101" pitchFamily="2" charset="-122"/>
            </a:endParaRPr>
          </a:p>
        </p:txBody>
      </p:sp>
      <p:sp>
        <p:nvSpPr>
          <p:cNvPr id="23616" name="Line 64"/>
          <p:cNvSpPr>
            <a:spLocks noChangeShapeType="1"/>
          </p:cNvSpPr>
          <p:nvPr/>
        </p:nvSpPr>
        <p:spPr bwMode="auto">
          <a:xfrm flipV="1">
            <a:off x="5486400" y="5105400"/>
            <a:ext cx="0" cy="2286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7" name="Line 65"/>
          <p:cNvSpPr>
            <a:spLocks noChangeShapeType="1"/>
          </p:cNvSpPr>
          <p:nvPr/>
        </p:nvSpPr>
        <p:spPr bwMode="auto">
          <a:xfrm flipH="1">
            <a:off x="5257800" y="5334000"/>
            <a:ext cx="228600" cy="0"/>
          </a:xfrm>
          <a:prstGeom prst="line">
            <a:avLst/>
          </a:prstGeom>
          <a:noFill/>
          <a:ln w="9525" cap="rnd">
            <a:solidFill>
              <a:schemeClr val="accent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18" name="Text Box 66"/>
          <p:cNvSpPr txBox="1">
            <a:spLocks noChangeArrowheads="1"/>
          </p:cNvSpPr>
          <p:nvPr/>
        </p:nvSpPr>
        <p:spPr bwMode="auto">
          <a:xfrm>
            <a:off x="4343400" y="50292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solidFill>
                  <a:schemeClr val="accent2"/>
                </a:solidFill>
                <a:latin typeface="Times New Roman" panose="02020603050405020304" pitchFamily="18" charset="0"/>
                <a:ea typeface="华文楷体" panose="02010600040101010101" pitchFamily="2" charset="-122"/>
              </a:rPr>
              <a:t>tailvex</a:t>
            </a:r>
            <a:endParaRPr kumimoji="1" lang="en-US" altLang="zh-CN" sz="2400" dirty="0">
              <a:latin typeface="Times New Roman" panose="02020603050405020304" pitchFamily="18" charset="0"/>
              <a:ea typeface="华文楷体" panose="02010600040101010101" pitchFamily="2" charset="-122"/>
            </a:endParaRPr>
          </a:p>
        </p:txBody>
      </p:sp>
      <p:sp>
        <p:nvSpPr>
          <p:cNvPr id="23619" name="Line 67"/>
          <p:cNvSpPr>
            <a:spLocks noChangeShapeType="1"/>
          </p:cNvSpPr>
          <p:nvPr/>
        </p:nvSpPr>
        <p:spPr bwMode="auto">
          <a:xfrm flipV="1">
            <a:off x="5791200" y="5105400"/>
            <a:ext cx="0" cy="4572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20" name="Line 68"/>
          <p:cNvSpPr>
            <a:spLocks noChangeShapeType="1"/>
          </p:cNvSpPr>
          <p:nvPr/>
        </p:nvSpPr>
        <p:spPr bwMode="auto">
          <a:xfrm flipH="1">
            <a:off x="5334000" y="5562600"/>
            <a:ext cx="457200" cy="0"/>
          </a:xfrm>
          <a:prstGeom prst="line">
            <a:avLst/>
          </a:prstGeom>
          <a:noFill/>
          <a:ln w="9525" cap="rnd">
            <a:solidFill>
              <a:schemeClr val="accent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21" name="Text Box 69"/>
          <p:cNvSpPr txBox="1">
            <a:spLocks noChangeArrowheads="1"/>
          </p:cNvSpPr>
          <p:nvPr/>
        </p:nvSpPr>
        <p:spPr bwMode="auto">
          <a:xfrm>
            <a:off x="4267200" y="54102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solidFill>
                  <a:schemeClr val="accent2"/>
                </a:solidFill>
                <a:latin typeface="Times New Roman" panose="02020603050405020304" pitchFamily="18" charset="0"/>
                <a:ea typeface="华文楷体" panose="02010600040101010101" pitchFamily="2" charset="-122"/>
              </a:rPr>
              <a:t>headvex</a:t>
            </a:r>
            <a:endParaRPr kumimoji="1" lang="en-US" altLang="zh-CN" sz="2400" dirty="0">
              <a:latin typeface="Times New Roman" panose="02020603050405020304" pitchFamily="18" charset="0"/>
              <a:ea typeface="华文楷体" panose="02010600040101010101" pitchFamily="2" charset="-122"/>
            </a:endParaRPr>
          </a:p>
        </p:txBody>
      </p:sp>
      <p:sp>
        <p:nvSpPr>
          <p:cNvPr id="23622" name="Line 70"/>
          <p:cNvSpPr>
            <a:spLocks noChangeShapeType="1"/>
          </p:cNvSpPr>
          <p:nvPr/>
        </p:nvSpPr>
        <p:spPr bwMode="auto">
          <a:xfrm flipV="1">
            <a:off x="2209800" y="5257800"/>
            <a:ext cx="0" cy="3048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23" name="Line 71"/>
          <p:cNvSpPr>
            <a:spLocks noChangeShapeType="1"/>
          </p:cNvSpPr>
          <p:nvPr/>
        </p:nvSpPr>
        <p:spPr bwMode="auto">
          <a:xfrm flipV="1">
            <a:off x="2971800" y="5257800"/>
            <a:ext cx="0" cy="304800"/>
          </a:xfrm>
          <a:prstGeom prst="line">
            <a:avLst/>
          </a:prstGeom>
          <a:noFill/>
          <a:ln w="9525" cap="rnd">
            <a:solidFill>
              <a:schemeClr val="accent2"/>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24" name="Oval 72"/>
          <p:cNvSpPr>
            <a:spLocks noChangeArrowheads="1"/>
          </p:cNvSpPr>
          <p:nvPr/>
        </p:nvSpPr>
        <p:spPr bwMode="auto">
          <a:xfrm>
            <a:off x="6781800" y="1371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625" name="Oval 73"/>
          <p:cNvSpPr>
            <a:spLocks noChangeArrowheads="1"/>
          </p:cNvSpPr>
          <p:nvPr/>
        </p:nvSpPr>
        <p:spPr bwMode="auto">
          <a:xfrm>
            <a:off x="8153400" y="1371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626" name="Oval 74"/>
          <p:cNvSpPr>
            <a:spLocks noChangeArrowheads="1"/>
          </p:cNvSpPr>
          <p:nvPr/>
        </p:nvSpPr>
        <p:spPr bwMode="auto">
          <a:xfrm>
            <a:off x="6781800" y="2286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627" name="Oval 75"/>
          <p:cNvSpPr>
            <a:spLocks noChangeArrowheads="1"/>
          </p:cNvSpPr>
          <p:nvPr/>
        </p:nvSpPr>
        <p:spPr bwMode="auto">
          <a:xfrm>
            <a:off x="8153400" y="2286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628" name="Line 76"/>
          <p:cNvSpPr>
            <a:spLocks noChangeShapeType="1"/>
          </p:cNvSpPr>
          <p:nvPr/>
        </p:nvSpPr>
        <p:spPr bwMode="auto">
          <a:xfrm>
            <a:off x="7239000" y="1600200"/>
            <a:ext cx="914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29" name="Line 77"/>
          <p:cNvSpPr>
            <a:spLocks noChangeShapeType="1"/>
          </p:cNvSpPr>
          <p:nvPr/>
        </p:nvSpPr>
        <p:spPr bwMode="auto">
          <a:xfrm>
            <a:off x="7010400" y="18288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30" name="Line 78"/>
          <p:cNvSpPr>
            <a:spLocks noChangeShapeType="1"/>
          </p:cNvSpPr>
          <p:nvPr/>
        </p:nvSpPr>
        <p:spPr bwMode="auto">
          <a:xfrm flipH="1">
            <a:off x="7239000" y="2514600"/>
            <a:ext cx="914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31" name="Line 79"/>
          <p:cNvSpPr>
            <a:spLocks noChangeShapeType="1"/>
          </p:cNvSpPr>
          <p:nvPr/>
        </p:nvSpPr>
        <p:spPr bwMode="auto">
          <a:xfrm>
            <a:off x="8382000" y="1828800"/>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32" name="Line 80"/>
          <p:cNvSpPr>
            <a:spLocks noChangeShapeType="1"/>
          </p:cNvSpPr>
          <p:nvPr/>
        </p:nvSpPr>
        <p:spPr bwMode="auto">
          <a:xfrm flipV="1">
            <a:off x="7162800" y="1752600"/>
            <a:ext cx="10668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33" name="Text Box 81"/>
          <p:cNvSpPr txBox="1">
            <a:spLocks noChangeArrowheads="1"/>
          </p:cNvSpPr>
          <p:nvPr/>
        </p:nvSpPr>
        <p:spPr bwMode="auto">
          <a:xfrm>
            <a:off x="7315200" y="121920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1</a:t>
            </a:r>
            <a:r>
              <a:rPr kumimoji="1" lang="en-US" altLang="zh-CN" sz="2000" dirty="0">
                <a:latin typeface="Times New Roman" panose="02020603050405020304" pitchFamily="18" charset="0"/>
                <a:ea typeface="华文楷体" panose="02010600040101010101" pitchFamily="2" charset="-122"/>
              </a:rPr>
              <a:t>=3</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3634" name="Text Box 82"/>
          <p:cNvSpPr txBox="1">
            <a:spLocks noChangeArrowheads="1"/>
          </p:cNvSpPr>
          <p:nvPr/>
        </p:nvSpPr>
        <p:spPr bwMode="auto">
          <a:xfrm>
            <a:off x="6141498" y="1131902"/>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800" dirty="0">
                <a:latin typeface="Times New Roman" panose="02020603050405020304" pitchFamily="18" charset="0"/>
                <a:ea typeface="华文楷体" panose="02010600040101010101" pitchFamily="2" charset="-122"/>
              </a:rPr>
              <a:t>G</a:t>
            </a:r>
            <a:r>
              <a:rPr kumimoji="1" lang="en-US" altLang="zh-CN" sz="2800" baseline="-25000" dirty="0">
                <a:latin typeface="Times New Roman" panose="02020603050405020304" pitchFamily="18" charset="0"/>
                <a:ea typeface="华文楷体" panose="02010600040101010101" pitchFamily="2" charset="-122"/>
              </a:rPr>
              <a:t>2</a:t>
            </a:r>
            <a:endParaRPr kumimoji="1" lang="en-US" altLang="zh-CN" sz="2800" baseline="-25000" dirty="0">
              <a:latin typeface="Times New Roman" panose="02020603050405020304" pitchFamily="18" charset="0"/>
              <a:ea typeface="华文楷体" panose="02010600040101010101" pitchFamily="2" charset="-122"/>
            </a:endParaRPr>
          </a:p>
        </p:txBody>
      </p:sp>
      <p:sp>
        <p:nvSpPr>
          <p:cNvPr id="23635" name="Text Box 83"/>
          <p:cNvSpPr txBox="1">
            <a:spLocks noChangeArrowheads="1"/>
          </p:cNvSpPr>
          <p:nvPr/>
        </p:nvSpPr>
        <p:spPr bwMode="auto">
          <a:xfrm>
            <a:off x="6858000" y="1371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endParaRPr kumimoji="1" lang="en-US" altLang="zh-CN" sz="2400" dirty="0">
              <a:latin typeface="Times New Roman" panose="02020603050405020304" pitchFamily="18" charset="0"/>
              <a:ea typeface="华文楷体" panose="02010600040101010101" pitchFamily="2" charset="-122"/>
            </a:endParaRPr>
          </a:p>
        </p:txBody>
      </p:sp>
      <p:sp>
        <p:nvSpPr>
          <p:cNvPr id="23636" name="Text Box 84"/>
          <p:cNvSpPr txBox="1">
            <a:spLocks noChangeArrowheads="1"/>
          </p:cNvSpPr>
          <p:nvPr/>
        </p:nvSpPr>
        <p:spPr bwMode="auto">
          <a:xfrm>
            <a:off x="8229600" y="1371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B</a:t>
            </a:r>
            <a:endParaRPr kumimoji="1" lang="en-US" altLang="zh-CN" sz="2400" dirty="0">
              <a:latin typeface="Times New Roman" panose="02020603050405020304" pitchFamily="18" charset="0"/>
              <a:ea typeface="华文楷体" panose="02010600040101010101" pitchFamily="2" charset="-122"/>
            </a:endParaRPr>
          </a:p>
        </p:txBody>
      </p:sp>
      <p:sp>
        <p:nvSpPr>
          <p:cNvPr id="23637" name="Text Box 85"/>
          <p:cNvSpPr txBox="1">
            <a:spLocks noChangeArrowheads="1"/>
          </p:cNvSpPr>
          <p:nvPr/>
        </p:nvSpPr>
        <p:spPr bwMode="auto">
          <a:xfrm>
            <a:off x="6858000" y="2286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C</a:t>
            </a:r>
            <a:endParaRPr kumimoji="1" lang="en-US" altLang="zh-CN" sz="2400" dirty="0">
              <a:latin typeface="Times New Roman" panose="02020603050405020304" pitchFamily="18" charset="0"/>
              <a:ea typeface="华文楷体" panose="02010600040101010101" pitchFamily="2" charset="-122"/>
            </a:endParaRPr>
          </a:p>
        </p:txBody>
      </p:sp>
      <p:sp>
        <p:nvSpPr>
          <p:cNvPr id="23638" name="Text Box 86"/>
          <p:cNvSpPr txBox="1">
            <a:spLocks noChangeArrowheads="1"/>
          </p:cNvSpPr>
          <p:nvPr/>
        </p:nvSpPr>
        <p:spPr bwMode="auto">
          <a:xfrm>
            <a:off x="8153400" y="2286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D</a:t>
            </a:r>
            <a:endParaRPr kumimoji="1" lang="en-US" altLang="zh-CN" sz="2400" dirty="0">
              <a:latin typeface="Times New Roman" panose="02020603050405020304" pitchFamily="18" charset="0"/>
              <a:ea typeface="华文楷体" panose="02010600040101010101" pitchFamily="2" charset="-122"/>
            </a:endParaRPr>
          </a:p>
        </p:txBody>
      </p:sp>
      <p:sp>
        <p:nvSpPr>
          <p:cNvPr id="23639" name="Text Box 87"/>
          <p:cNvSpPr txBox="1">
            <a:spLocks noChangeArrowheads="1"/>
          </p:cNvSpPr>
          <p:nvPr/>
        </p:nvSpPr>
        <p:spPr bwMode="auto">
          <a:xfrm>
            <a:off x="6400800" y="182880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2</a:t>
            </a:r>
            <a:r>
              <a:rPr kumimoji="1" lang="en-US" altLang="zh-CN" sz="2000" dirty="0">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3640" name="Text Box 88"/>
          <p:cNvSpPr txBox="1">
            <a:spLocks noChangeArrowheads="1"/>
          </p:cNvSpPr>
          <p:nvPr/>
        </p:nvSpPr>
        <p:spPr bwMode="auto">
          <a:xfrm>
            <a:off x="7315200" y="167640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3</a:t>
            </a:r>
            <a:r>
              <a:rPr kumimoji="1" lang="en-US" altLang="zh-CN" sz="2000" dirty="0">
                <a:latin typeface="Times New Roman" panose="02020603050405020304" pitchFamily="18" charset="0"/>
                <a:ea typeface="华文楷体" panose="02010600040101010101" pitchFamily="2" charset="-122"/>
              </a:rPr>
              <a:t>=5</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3641" name="Text Box 89"/>
          <p:cNvSpPr txBox="1">
            <a:spLocks noChangeArrowheads="1"/>
          </p:cNvSpPr>
          <p:nvPr/>
        </p:nvSpPr>
        <p:spPr bwMode="auto">
          <a:xfrm>
            <a:off x="8382000" y="190500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4</a:t>
            </a:r>
            <a:r>
              <a:rPr kumimoji="1" lang="en-US" altLang="zh-CN" sz="2000" dirty="0">
                <a:latin typeface="Times New Roman" panose="02020603050405020304" pitchFamily="18" charset="0"/>
                <a:ea typeface="华文楷体" panose="02010600040101010101" pitchFamily="2" charset="-122"/>
              </a:rPr>
              <a:t>=4</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3642" name="Text Box 90"/>
          <p:cNvSpPr txBox="1">
            <a:spLocks noChangeArrowheads="1"/>
          </p:cNvSpPr>
          <p:nvPr/>
        </p:nvSpPr>
        <p:spPr bwMode="auto">
          <a:xfrm>
            <a:off x="7391400" y="2438400"/>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e</a:t>
            </a:r>
            <a:r>
              <a:rPr kumimoji="1" lang="en-US" altLang="zh-CN" sz="2000" baseline="-25000" dirty="0">
                <a:latin typeface="Times New Roman" panose="02020603050405020304" pitchFamily="18" charset="0"/>
                <a:ea typeface="华文楷体" panose="02010600040101010101" pitchFamily="2" charset="-122"/>
              </a:rPr>
              <a:t>5</a:t>
            </a:r>
            <a:r>
              <a:rPr kumimoji="1" lang="en-US" altLang="zh-CN" sz="2000" dirty="0">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23643" name="Text Box 91"/>
          <p:cNvSpPr txBox="1">
            <a:spLocks noChangeArrowheads="1"/>
          </p:cNvSpPr>
          <p:nvPr/>
        </p:nvSpPr>
        <p:spPr bwMode="auto">
          <a:xfrm>
            <a:off x="1965325" y="6208713"/>
            <a:ext cx="292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latin typeface="Times New Roman" panose="02020603050405020304" pitchFamily="18" charset="0"/>
                <a:ea typeface="华文楷体" panose="02010600040101010101" pitchFamily="2" charset="-122"/>
              </a:rPr>
              <a:t>查询入边和出边比较容易！</a:t>
            </a:r>
            <a:endParaRPr lang="zh-CN" altLang="en-US" sz="1800" b="1"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6141498" y="1096677"/>
            <a:ext cx="0" cy="187404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直接连接符 4"/>
          <p:cNvCxnSpPr/>
          <p:nvPr/>
        </p:nvCxnSpPr>
        <p:spPr>
          <a:xfrm>
            <a:off x="6141498" y="2971800"/>
            <a:ext cx="3002502"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页脚占位符 3"/>
          <p:cNvSpPr>
            <a:spLocks noGrp="1"/>
          </p:cNvSpPr>
          <p:nvPr>
            <p:ph type="ftr" sz="quarter" idx="10"/>
          </p:nvPr>
        </p:nvSpPr>
        <p:spPr/>
        <p:txBody>
          <a:bodyPr/>
          <a:lstStyle/>
          <a:p>
            <a:pPr>
              <a:defRPr/>
            </a:pPr>
            <a:r>
              <a:rPr lang="en-US" altLang="zh-CN"/>
              <a:t>BUPT SCST</a:t>
            </a:r>
            <a:endParaRPr lang="en-US" altLang="zh-CN"/>
          </a:p>
        </p:txBody>
      </p:sp>
      <p:sp>
        <p:nvSpPr>
          <p:cNvPr id="154" name="日期占位符 5"/>
          <p:cNvSpPr>
            <a:spLocks noGrp="1"/>
          </p:cNvSpPr>
          <p:nvPr>
            <p:ph type="dt" sz="quarter" idx="12"/>
          </p:nvPr>
        </p:nvSpPr>
        <p:spPr/>
        <p:txBody>
          <a:bodyPr/>
          <a:lstStyle/>
          <a:p>
            <a:pPr>
              <a:defRPr/>
            </a:pPr>
            <a:r>
              <a:rPr lang="en-US" altLang="zh-CN"/>
              <a:t>BUPT</a:t>
            </a:r>
            <a:endParaRPr lang="en-US" altLang="zh-CN"/>
          </a:p>
        </p:txBody>
      </p:sp>
      <p:sp>
        <p:nvSpPr>
          <p:cNvPr id="245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4581" name="Rectangle 4"/>
          <p:cNvSpPr>
            <a:spLocks noChangeArrowheads="1"/>
          </p:cNvSpPr>
          <p:nvPr/>
        </p:nvSpPr>
        <p:spPr bwMode="auto">
          <a:xfrm>
            <a:off x="228600" y="10668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dirty="0">
                <a:solidFill>
                  <a:srgbClr val="996600"/>
                </a:solidFill>
                <a:latin typeface="Verdana" panose="020B0604030504040204" pitchFamily="34" charset="0"/>
                <a:ea typeface="华文楷体" panose="02010600040101010101" pitchFamily="2" charset="-122"/>
              </a:rPr>
              <a:t>（</a:t>
            </a:r>
            <a:r>
              <a:rPr lang="en-US" altLang="zh-CN" sz="2400" dirty="0">
                <a:solidFill>
                  <a:srgbClr val="996600"/>
                </a:solidFill>
                <a:latin typeface="Verdana" panose="020B0604030504040204" pitchFamily="34" charset="0"/>
                <a:ea typeface="华文楷体" panose="02010600040101010101" pitchFamily="2" charset="-122"/>
              </a:rPr>
              <a:t>3</a:t>
            </a:r>
            <a:r>
              <a:rPr lang="zh-CN" altLang="en-US" sz="2400" dirty="0">
                <a:solidFill>
                  <a:srgbClr val="996600"/>
                </a:solidFill>
                <a:latin typeface="Verdana" panose="020B0604030504040204" pitchFamily="34" charset="0"/>
                <a:ea typeface="华文楷体" panose="02010600040101010101" pitchFamily="2" charset="-122"/>
              </a:rPr>
              <a:t>）邻接多重表</a:t>
            </a:r>
            <a:r>
              <a:rPr lang="zh-CN" altLang="en-US" sz="2400" dirty="0">
                <a:solidFill>
                  <a:srgbClr val="FF6600"/>
                </a:solidFill>
                <a:latin typeface="Verdana" panose="020B0604030504040204" pitchFamily="34" charset="0"/>
                <a:ea typeface="华文楷体" panose="02010600040101010101" pitchFamily="2" charset="-122"/>
              </a:rPr>
              <a:t>   </a:t>
            </a:r>
            <a:r>
              <a:rPr lang="zh-CN" altLang="en-US" sz="2400" b="1" dirty="0">
                <a:solidFill>
                  <a:schemeClr val="accent2"/>
                </a:solidFill>
                <a:latin typeface="Verdana" panose="020B0604030504040204" pitchFamily="34" charset="0"/>
                <a:ea typeface="华文楷体" panose="02010600040101010101" pitchFamily="2" charset="-122"/>
              </a:rPr>
              <a:t>顺序存储</a:t>
            </a:r>
            <a:r>
              <a:rPr lang="en-US" altLang="zh-CN" sz="2400" b="1" dirty="0">
                <a:solidFill>
                  <a:schemeClr val="accent2"/>
                </a:solidFill>
                <a:latin typeface="Verdana" panose="020B0604030504040204" pitchFamily="34" charset="0"/>
                <a:ea typeface="华文楷体" panose="02010600040101010101" pitchFamily="2" charset="-122"/>
              </a:rPr>
              <a:t>+</a:t>
            </a:r>
            <a:r>
              <a:rPr lang="zh-CN" altLang="en-US" sz="2400" b="1" dirty="0">
                <a:solidFill>
                  <a:schemeClr val="accent2"/>
                </a:solidFill>
                <a:latin typeface="Verdana" panose="020B0604030504040204" pitchFamily="34" charset="0"/>
                <a:ea typeface="华文楷体" panose="02010600040101010101" pitchFamily="2" charset="-122"/>
              </a:rPr>
              <a:t>链式存储</a:t>
            </a:r>
            <a:endParaRPr lang="zh-CN" altLang="en-US" sz="2400" b="1" dirty="0">
              <a:solidFill>
                <a:schemeClr val="accent2"/>
              </a:solidFill>
              <a:latin typeface="Verdana" panose="020B0604030504040204" pitchFamily="34" charset="0"/>
              <a:ea typeface="华文楷体" panose="02010600040101010101" pitchFamily="2" charset="-122"/>
            </a:endParaRPr>
          </a:p>
        </p:txBody>
      </p:sp>
      <p:sp>
        <p:nvSpPr>
          <p:cNvPr id="24582" name="Rectangle 5"/>
          <p:cNvSpPr>
            <a:spLocks noGrp="1" noChangeArrowheads="1"/>
          </p:cNvSpPr>
          <p:nvPr>
            <p:ph type="body" idx="1"/>
          </p:nvPr>
        </p:nvSpPr>
        <p:spPr>
          <a:xfrm>
            <a:off x="685800" y="1600200"/>
            <a:ext cx="7772400" cy="4876800"/>
          </a:xfrm>
          <a:noFill/>
        </p:spPr>
        <p:txBody>
          <a:bodyPr/>
          <a:lstStyle/>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适用对象：无向图。</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特点：方便无向图中对边的操作。</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例</a:t>
            </a:r>
            <a:r>
              <a:rPr lang="en-US" altLang="zh-CN" sz="2400" b="1"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顶点线性表      邻接多重表</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endParaRPr lang="zh-CN" altLang="en-US" sz="2400" dirty="0" smtClean="0">
              <a:ea typeface="华文楷体" panose="02010600040101010101" pitchFamily="2" charset="-122"/>
            </a:endParaRPr>
          </a:p>
        </p:txBody>
      </p:sp>
      <p:sp>
        <p:nvSpPr>
          <p:cNvPr id="24583" name="AutoShape 94">
            <a:hlinkClick r:id="" action="ppaction://hlinkshowjump?jump=firstslide"/>
          </p:cNvPr>
          <p:cNvSpPr>
            <a:spLocks noChangeArrowheads="1"/>
          </p:cNvSpPr>
          <p:nvPr/>
        </p:nvSpPr>
        <p:spPr bwMode="auto">
          <a:xfrm>
            <a:off x="8458200" y="6553200"/>
            <a:ext cx="304800" cy="381000"/>
          </a:xfrm>
          <a:prstGeom prst="star4">
            <a:avLst>
              <a:gd name="adj" fmla="val 12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4" name="Text Box 95"/>
          <p:cNvSpPr txBox="1">
            <a:spLocks noChangeArrowheads="1"/>
          </p:cNvSpPr>
          <p:nvPr/>
        </p:nvSpPr>
        <p:spPr bwMode="auto">
          <a:xfrm>
            <a:off x="6477000" y="121920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 </a:t>
            </a:r>
            <a:r>
              <a:rPr kumimoji="1" lang="en-US" altLang="zh-CN" sz="1600" b="1" dirty="0">
                <a:latin typeface="Times New Roman" panose="02020603050405020304" pitchFamily="18" charset="0"/>
                <a:ea typeface="华文楷体" panose="02010600040101010101" pitchFamily="2" charset="-122"/>
              </a:rPr>
              <a:t>G2</a:t>
            </a:r>
            <a:endParaRPr kumimoji="1" lang="en-US" altLang="zh-CN" sz="1600" b="1" dirty="0">
              <a:latin typeface="Times New Roman" panose="02020603050405020304" pitchFamily="18" charset="0"/>
              <a:ea typeface="华文楷体" panose="02010600040101010101" pitchFamily="2" charset="-122"/>
            </a:endParaRPr>
          </a:p>
        </p:txBody>
      </p:sp>
      <p:sp>
        <p:nvSpPr>
          <p:cNvPr id="24585" name="Oval 96"/>
          <p:cNvSpPr>
            <a:spLocks noChangeArrowheads="1"/>
          </p:cNvSpPr>
          <p:nvPr/>
        </p:nvSpPr>
        <p:spPr bwMode="auto">
          <a:xfrm>
            <a:off x="6096000" y="137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24586" name="Oval 97"/>
          <p:cNvSpPr>
            <a:spLocks noChangeArrowheads="1"/>
          </p:cNvSpPr>
          <p:nvPr/>
        </p:nvSpPr>
        <p:spPr bwMode="auto">
          <a:xfrm>
            <a:off x="7620000" y="137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24587" name="Line 98"/>
          <p:cNvSpPr>
            <a:spLocks noChangeShapeType="1"/>
          </p:cNvSpPr>
          <p:nvPr/>
        </p:nvSpPr>
        <p:spPr bwMode="auto">
          <a:xfrm>
            <a:off x="6553200" y="1524000"/>
            <a:ext cx="10668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88" name="Oval 99"/>
          <p:cNvSpPr>
            <a:spLocks noChangeArrowheads="1"/>
          </p:cNvSpPr>
          <p:nvPr/>
        </p:nvSpPr>
        <p:spPr bwMode="auto">
          <a:xfrm>
            <a:off x="6096000" y="289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24589" name="Oval 100"/>
          <p:cNvSpPr>
            <a:spLocks noChangeArrowheads="1"/>
          </p:cNvSpPr>
          <p:nvPr/>
        </p:nvSpPr>
        <p:spPr bwMode="auto">
          <a:xfrm>
            <a:off x="7620000" y="2895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24590" name="Line 101"/>
          <p:cNvSpPr>
            <a:spLocks noChangeShapeType="1"/>
          </p:cNvSpPr>
          <p:nvPr/>
        </p:nvSpPr>
        <p:spPr bwMode="auto">
          <a:xfrm flipV="1">
            <a:off x="7162800" y="1676400"/>
            <a:ext cx="533400" cy="6096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1" name="Line 102"/>
          <p:cNvSpPr>
            <a:spLocks noChangeShapeType="1"/>
          </p:cNvSpPr>
          <p:nvPr/>
        </p:nvSpPr>
        <p:spPr bwMode="auto">
          <a:xfrm flipH="1">
            <a:off x="6324600" y="17526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2" name="Line 103"/>
          <p:cNvSpPr>
            <a:spLocks noChangeShapeType="1"/>
          </p:cNvSpPr>
          <p:nvPr/>
        </p:nvSpPr>
        <p:spPr bwMode="auto">
          <a:xfrm flipH="1">
            <a:off x="7848600" y="1752600"/>
            <a:ext cx="0" cy="1143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3" name="Oval 104"/>
          <p:cNvSpPr>
            <a:spLocks noChangeArrowheads="1"/>
          </p:cNvSpPr>
          <p:nvPr/>
        </p:nvSpPr>
        <p:spPr bwMode="auto">
          <a:xfrm>
            <a:off x="68580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24594" name="Line 105"/>
          <p:cNvSpPr>
            <a:spLocks noChangeShapeType="1"/>
          </p:cNvSpPr>
          <p:nvPr/>
        </p:nvSpPr>
        <p:spPr bwMode="auto">
          <a:xfrm flipV="1">
            <a:off x="6477000" y="2438400"/>
            <a:ext cx="4572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5" name="Line 106"/>
          <p:cNvSpPr>
            <a:spLocks noChangeShapeType="1"/>
          </p:cNvSpPr>
          <p:nvPr/>
        </p:nvSpPr>
        <p:spPr bwMode="auto">
          <a:xfrm flipH="1" flipV="1">
            <a:off x="7239000" y="2514600"/>
            <a:ext cx="45720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6" name="Line 107"/>
          <p:cNvSpPr>
            <a:spLocks noChangeShapeType="1"/>
          </p:cNvSpPr>
          <p:nvPr/>
        </p:nvSpPr>
        <p:spPr bwMode="auto">
          <a:xfrm>
            <a:off x="1295400" y="4114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7" name="Line 108"/>
          <p:cNvSpPr>
            <a:spLocks noChangeShapeType="1"/>
          </p:cNvSpPr>
          <p:nvPr/>
        </p:nvSpPr>
        <p:spPr bwMode="auto">
          <a:xfrm flipV="1">
            <a:off x="1295400" y="4114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8" name="Line 109"/>
          <p:cNvSpPr>
            <a:spLocks noChangeShapeType="1"/>
          </p:cNvSpPr>
          <p:nvPr/>
        </p:nvSpPr>
        <p:spPr bwMode="auto">
          <a:xfrm>
            <a:off x="1295400" y="4343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9" name="Line 110"/>
          <p:cNvSpPr>
            <a:spLocks noChangeShapeType="1"/>
          </p:cNvSpPr>
          <p:nvPr/>
        </p:nvSpPr>
        <p:spPr bwMode="auto">
          <a:xfrm flipV="1">
            <a:off x="1752600" y="4114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0" name="Line 111"/>
          <p:cNvSpPr>
            <a:spLocks noChangeShapeType="1"/>
          </p:cNvSpPr>
          <p:nvPr/>
        </p:nvSpPr>
        <p:spPr bwMode="auto">
          <a:xfrm flipV="1">
            <a:off x="2209800" y="4114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1" name="Text Box 112"/>
          <p:cNvSpPr txBox="1">
            <a:spLocks noChangeArrowheads="1"/>
          </p:cNvSpPr>
          <p:nvPr/>
        </p:nvSpPr>
        <p:spPr bwMode="auto">
          <a:xfrm>
            <a:off x="1295400" y="40386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dirty="0">
              <a:latin typeface="Times New Roman" panose="02020603050405020304" pitchFamily="18" charset="0"/>
              <a:ea typeface="华文楷体" panose="02010600040101010101" pitchFamily="2" charset="-122"/>
            </a:endParaRPr>
          </a:p>
        </p:txBody>
      </p:sp>
      <p:sp>
        <p:nvSpPr>
          <p:cNvPr id="24602" name="Line 113"/>
          <p:cNvSpPr>
            <a:spLocks noChangeShapeType="1"/>
          </p:cNvSpPr>
          <p:nvPr/>
        </p:nvSpPr>
        <p:spPr bwMode="auto">
          <a:xfrm>
            <a:off x="1295400" y="4343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3" name="Line 114"/>
          <p:cNvSpPr>
            <a:spLocks noChangeShapeType="1"/>
          </p:cNvSpPr>
          <p:nvPr/>
        </p:nvSpPr>
        <p:spPr bwMode="auto">
          <a:xfrm flipV="1">
            <a:off x="1295400" y="4343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4" name="Line 115"/>
          <p:cNvSpPr>
            <a:spLocks noChangeShapeType="1"/>
          </p:cNvSpPr>
          <p:nvPr/>
        </p:nvSpPr>
        <p:spPr bwMode="auto">
          <a:xfrm>
            <a:off x="1295400" y="4572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5" name="Line 116"/>
          <p:cNvSpPr>
            <a:spLocks noChangeShapeType="1"/>
          </p:cNvSpPr>
          <p:nvPr/>
        </p:nvSpPr>
        <p:spPr bwMode="auto">
          <a:xfrm flipV="1">
            <a:off x="1752600" y="4343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6" name="Line 117"/>
          <p:cNvSpPr>
            <a:spLocks noChangeShapeType="1"/>
          </p:cNvSpPr>
          <p:nvPr/>
        </p:nvSpPr>
        <p:spPr bwMode="auto">
          <a:xfrm flipV="1">
            <a:off x="2209800" y="43434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7" name="Text Box 118"/>
          <p:cNvSpPr txBox="1">
            <a:spLocks noChangeArrowheads="1"/>
          </p:cNvSpPr>
          <p:nvPr/>
        </p:nvSpPr>
        <p:spPr bwMode="auto">
          <a:xfrm>
            <a:off x="1295400" y="42672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24608" name="Text Box 119"/>
          <p:cNvSpPr txBox="1">
            <a:spLocks noChangeArrowheads="1"/>
          </p:cNvSpPr>
          <p:nvPr/>
        </p:nvSpPr>
        <p:spPr bwMode="auto">
          <a:xfrm>
            <a:off x="914400" y="4038600"/>
            <a:ext cx="228600" cy="1465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12345</a:t>
            </a:r>
            <a:endParaRPr kumimoji="1" lang="en-US" altLang="zh-CN" sz="1800" b="1" dirty="0">
              <a:latin typeface="Times New Roman" panose="02020603050405020304" pitchFamily="18" charset="0"/>
              <a:ea typeface="华文楷体" panose="02010600040101010101" pitchFamily="2" charset="-122"/>
            </a:endParaRPr>
          </a:p>
        </p:txBody>
      </p:sp>
      <p:sp>
        <p:nvSpPr>
          <p:cNvPr id="24609" name="Line 120"/>
          <p:cNvSpPr>
            <a:spLocks noChangeShapeType="1"/>
          </p:cNvSpPr>
          <p:nvPr/>
        </p:nvSpPr>
        <p:spPr bwMode="auto">
          <a:xfrm flipV="1">
            <a:off x="1981200" y="41910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0" name="Line 121"/>
          <p:cNvSpPr>
            <a:spLocks noChangeShapeType="1"/>
          </p:cNvSpPr>
          <p:nvPr/>
        </p:nvSpPr>
        <p:spPr bwMode="auto">
          <a:xfrm flipV="1">
            <a:off x="4648200" y="51054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1" name="Text Box 122"/>
          <p:cNvSpPr txBox="1">
            <a:spLocks noChangeArrowheads="1"/>
          </p:cNvSpPr>
          <p:nvPr/>
        </p:nvSpPr>
        <p:spPr bwMode="auto">
          <a:xfrm>
            <a:off x="990600" y="3810000"/>
            <a:ext cx="1600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en-US" altLang="zh-CN" sz="1600" b="1" dirty="0">
                <a:solidFill>
                  <a:srgbClr val="C00000"/>
                </a:solidFill>
                <a:latin typeface="Times New Roman" panose="02020603050405020304" pitchFamily="18" charset="0"/>
                <a:ea typeface="华文楷体" panose="02010600040101010101" pitchFamily="2" charset="-122"/>
              </a:rPr>
              <a:t>data</a:t>
            </a:r>
            <a:r>
              <a:rPr kumimoji="1" lang="en-US" altLang="zh-CN" sz="1600" b="1" dirty="0">
                <a:latin typeface="Times New Roman" panose="02020603050405020304" pitchFamily="18" charset="0"/>
                <a:ea typeface="华文楷体" panose="02010600040101010101" pitchFamily="2" charset="-122"/>
              </a:rPr>
              <a:t> </a:t>
            </a:r>
            <a:r>
              <a:rPr kumimoji="1" lang="en-US" altLang="zh-CN" sz="1600" b="1" dirty="0" err="1">
                <a:solidFill>
                  <a:srgbClr val="C00000"/>
                </a:solidFill>
                <a:latin typeface="Times New Roman" panose="02020603050405020304" pitchFamily="18" charset="0"/>
                <a:ea typeface="华文楷体" panose="02010600040101010101" pitchFamily="2" charset="-122"/>
              </a:rPr>
              <a:t>firstedge</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612" name="Line 123"/>
          <p:cNvSpPr>
            <a:spLocks noChangeShapeType="1"/>
          </p:cNvSpPr>
          <p:nvPr/>
        </p:nvSpPr>
        <p:spPr bwMode="auto">
          <a:xfrm flipV="1">
            <a:off x="4038600" y="4191000"/>
            <a:ext cx="0" cy="2286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3" name="Line 124"/>
          <p:cNvSpPr>
            <a:spLocks noChangeShapeType="1"/>
          </p:cNvSpPr>
          <p:nvPr/>
        </p:nvSpPr>
        <p:spPr bwMode="auto">
          <a:xfrm>
            <a:off x="4419600" y="4191000"/>
            <a:ext cx="0" cy="10668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4" name="Line 125"/>
          <p:cNvSpPr>
            <a:spLocks noChangeShapeType="1"/>
          </p:cNvSpPr>
          <p:nvPr/>
        </p:nvSpPr>
        <p:spPr bwMode="auto">
          <a:xfrm>
            <a:off x="1295400" y="4572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5" name="Line 126"/>
          <p:cNvSpPr>
            <a:spLocks noChangeShapeType="1"/>
          </p:cNvSpPr>
          <p:nvPr/>
        </p:nvSpPr>
        <p:spPr bwMode="auto">
          <a:xfrm flipV="1">
            <a:off x="12954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6" name="Line 127"/>
          <p:cNvSpPr>
            <a:spLocks noChangeShapeType="1"/>
          </p:cNvSpPr>
          <p:nvPr/>
        </p:nvSpPr>
        <p:spPr bwMode="auto">
          <a:xfrm>
            <a:off x="1295400" y="4876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7" name="Line 128"/>
          <p:cNvSpPr>
            <a:spLocks noChangeShapeType="1"/>
          </p:cNvSpPr>
          <p:nvPr/>
        </p:nvSpPr>
        <p:spPr bwMode="auto">
          <a:xfrm flipV="1">
            <a:off x="17526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8" name="Line 129"/>
          <p:cNvSpPr>
            <a:spLocks noChangeShapeType="1"/>
          </p:cNvSpPr>
          <p:nvPr/>
        </p:nvSpPr>
        <p:spPr bwMode="auto">
          <a:xfrm flipV="1">
            <a:off x="22098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9" name="Line 130"/>
          <p:cNvSpPr>
            <a:spLocks noChangeShapeType="1"/>
          </p:cNvSpPr>
          <p:nvPr/>
        </p:nvSpPr>
        <p:spPr bwMode="auto">
          <a:xfrm>
            <a:off x="1295400" y="48752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0" name="Line 131"/>
          <p:cNvSpPr>
            <a:spLocks noChangeShapeType="1"/>
          </p:cNvSpPr>
          <p:nvPr/>
        </p:nvSpPr>
        <p:spPr bwMode="auto">
          <a:xfrm flipV="1">
            <a:off x="1295400" y="4875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1" name="Line 132"/>
          <p:cNvSpPr>
            <a:spLocks noChangeShapeType="1"/>
          </p:cNvSpPr>
          <p:nvPr/>
        </p:nvSpPr>
        <p:spPr bwMode="auto">
          <a:xfrm>
            <a:off x="1295400" y="51800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2" name="Line 133"/>
          <p:cNvSpPr>
            <a:spLocks noChangeShapeType="1"/>
          </p:cNvSpPr>
          <p:nvPr/>
        </p:nvSpPr>
        <p:spPr bwMode="auto">
          <a:xfrm flipV="1">
            <a:off x="1752600" y="4875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3" name="Line 134"/>
          <p:cNvSpPr>
            <a:spLocks noChangeShapeType="1"/>
          </p:cNvSpPr>
          <p:nvPr/>
        </p:nvSpPr>
        <p:spPr bwMode="auto">
          <a:xfrm flipV="1">
            <a:off x="2209800" y="48752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4" name="Line 135"/>
          <p:cNvSpPr>
            <a:spLocks noChangeShapeType="1"/>
          </p:cNvSpPr>
          <p:nvPr/>
        </p:nvSpPr>
        <p:spPr bwMode="auto">
          <a:xfrm>
            <a:off x="1295400" y="51800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5" name="Line 136"/>
          <p:cNvSpPr>
            <a:spLocks noChangeShapeType="1"/>
          </p:cNvSpPr>
          <p:nvPr/>
        </p:nvSpPr>
        <p:spPr bwMode="auto">
          <a:xfrm flipV="1">
            <a:off x="1295400" y="5180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6" name="Line 137"/>
          <p:cNvSpPr>
            <a:spLocks noChangeShapeType="1"/>
          </p:cNvSpPr>
          <p:nvPr/>
        </p:nvSpPr>
        <p:spPr bwMode="auto">
          <a:xfrm>
            <a:off x="1295400" y="548481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7" name="Line 138"/>
          <p:cNvSpPr>
            <a:spLocks noChangeShapeType="1"/>
          </p:cNvSpPr>
          <p:nvPr/>
        </p:nvSpPr>
        <p:spPr bwMode="auto">
          <a:xfrm flipV="1">
            <a:off x="1752600" y="5180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8" name="Line 139"/>
          <p:cNvSpPr>
            <a:spLocks noChangeShapeType="1"/>
          </p:cNvSpPr>
          <p:nvPr/>
        </p:nvSpPr>
        <p:spPr bwMode="auto">
          <a:xfrm flipV="1">
            <a:off x="2209800" y="51800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29" name="Text Box 140"/>
          <p:cNvSpPr txBox="1">
            <a:spLocks noChangeArrowheads="1"/>
          </p:cNvSpPr>
          <p:nvPr/>
        </p:nvSpPr>
        <p:spPr bwMode="auto">
          <a:xfrm>
            <a:off x="1219200" y="4572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dirty="0">
              <a:latin typeface="Times New Roman" panose="02020603050405020304" pitchFamily="18" charset="0"/>
              <a:ea typeface="华文楷体" panose="02010600040101010101" pitchFamily="2" charset="-122"/>
            </a:endParaRPr>
          </a:p>
        </p:txBody>
      </p:sp>
      <p:sp>
        <p:nvSpPr>
          <p:cNvPr id="24630" name="Text Box 141"/>
          <p:cNvSpPr txBox="1">
            <a:spLocks noChangeArrowheads="1"/>
          </p:cNvSpPr>
          <p:nvPr/>
        </p:nvSpPr>
        <p:spPr bwMode="auto">
          <a:xfrm>
            <a:off x="1219200" y="4876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dirty="0">
              <a:latin typeface="Times New Roman" panose="02020603050405020304" pitchFamily="18" charset="0"/>
              <a:ea typeface="华文楷体" panose="02010600040101010101" pitchFamily="2" charset="-122"/>
            </a:endParaRPr>
          </a:p>
        </p:txBody>
      </p:sp>
      <p:sp>
        <p:nvSpPr>
          <p:cNvPr id="24631" name="Text Box 142"/>
          <p:cNvSpPr txBox="1">
            <a:spLocks noChangeArrowheads="1"/>
          </p:cNvSpPr>
          <p:nvPr/>
        </p:nvSpPr>
        <p:spPr bwMode="auto">
          <a:xfrm>
            <a:off x="1219200" y="51498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dirty="0">
              <a:latin typeface="Times New Roman" panose="02020603050405020304" pitchFamily="18" charset="0"/>
              <a:ea typeface="华文楷体" panose="02010600040101010101" pitchFamily="2" charset="-122"/>
            </a:endParaRPr>
          </a:p>
        </p:txBody>
      </p:sp>
      <p:sp>
        <p:nvSpPr>
          <p:cNvPr id="24632" name="Line 143"/>
          <p:cNvSpPr>
            <a:spLocks noChangeShapeType="1"/>
          </p:cNvSpPr>
          <p:nvPr/>
        </p:nvSpPr>
        <p:spPr bwMode="auto">
          <a:xfrm>
            <a:off x="1905000" y="5105400"/>
            <a:ext cx="0" cy="8382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3" name="Line 144"/>
          <p:cNvSpPr>
            <a:spLocks noChangeShapeType="1"/>
          </p:cNvSpPr>
          <p:nvPr/>
        </p:nvSpPr>
        <p:spPr bwMode="auto">
          <a:xfrm flipV="1">
            <a:off x="1981200" y="54102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4" name="Line 145"/>
          <p:cNvSpPr>
            <a:spLocks noChangeShapeType="1"/>
          </p:cNvSpPr>
          <p:nvPr/>
        </p:nvSpPr>
        <p:spPr bwMode="auto">
          <a:xfrm flipV="1">
            <a:off x="1981200" y="47244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5" name="Line 146"/>
          <p:cNvSpPr>
            <a:spLocks noChangeShapeType="1"/>
          </p:cNvSpPr>
          <p:nvPr/>
        </p:nvSpPr>
        <p:spPr bwMode="auto">
          <a:xfrm flipV="1">
            <a:off x="1981200" y="4419600"/>
            <a:ext cx="20574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6" name="Line 147"/>
          <p:cNvSpPr>
            <a:spLocks noChangeShapeType="1"/>
          </p:cNvSpPr>
          <p:nvPr/>
        </p:nvSpPr>
        <p:spPr bwMode="auto">
          <a:xfrm>
            <a:off x="2590800" y="40386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7" name="Line 148"/>
          <p:cNvSpPr>
            <a:spLocks noChangeShapeType="1"/>
          </p:cNvSpPr>
          <p:nvPr/>
        </p:nvSpPr>
        <p:spPr bwMode="auto">
          <a:xfrm flipV="1">
            <a:off x="25908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8" name="Line 149"/>
          <p:cNvSpPr>
            <a:spLocks noChangeShapeType="1"/>
          </p:cNvSpPr>
          <p:nvPr/>
        </p:nvSpPr>
        <p:spPr bwMode="auto">
          <a:xfrm>
            <a:off x="2590800" y="43434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39" name="Line 150"/>
          <p:cNvSpPr>
            <a:spLocks noChangeShapeType="1"/>
          </p:cNvSpPr>
          <p:nvPr/>
        </p:nvSpPr>
        <p:spPr bwMode="auto">
          <a:xfrm flipV="1">
            <a:off x="28956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0" name="Line 151"/>
          <p:cNvSpPr>
            <a:spLocks noChangeShapeType="1"/>
          </p:cNvSpPr>
          <p:nvPr/>
        </p:nvSpPr>
        <p:spPr bwMode="auto">
          <a:xfrm flipV="1">
            <a:off x="38100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1" name="Line 152"/>
          <p:cNvSpPr>
            <a:spLocks noChangeShapeType="1"/>
          </p:cNvSpPr>
          <p:nvPr/>
        </p:nvSpPr>
        <p:spPr bwMode="auto">
          <a:xfrm flipV="1">
            <a:off x="42672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2" name="Line 153"/>
          <p:cNvSpPr>
            <a:spLocks noChangeShapeType="1"/>
          </p:cNvSpPr>
          <p:nvPr/>
        </p:nvSpPr>
        <p:spPr bwMode="auto">
          <a:xfrm flipV="1">
            <a:off x="47244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3" name="Line 154"/>
          <p:cNvSpPr>
            <a:spLocks noChangeShapeType="1"/>
          </p:cNvSpPr>
          <p:nvPr/>
        </p:nvSpPr>
        <p:spPr bwMode="auto">
          <a:xfrm flipV="1">
            <a:off x="33528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4" name="Line 155"/>
          <p:cNvSpPr>
            <a:spLocks noChangeShapeType="1"/>
          </p:cNvSpPr>
          <p:nvPr/>
        </p:nvSpPr>
        <p:spPr bwMode="auto">
          <a:xfrm>
            <a:off x="5257800" y="40386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5" name="Line 156"/>
          <p:cNvSpPr>
            <a:spLocks noChangeShapeType="1"/>
          </p:cNvSpPr>
          <p:nvPr/>
        </p:nvSpPr>
        <p:spPr bwMode="auto">
          <a:xfrm flipV="1">
            <a:off x="52578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6" name="Line 157"/>
          <p:cNvSpPr>
            <a:spLocks noChangeShapeType="1"/>
          </p:cNvSpPr>
          <p:nvPr/>
        </p:nvSpPr>
        <p:spPr bwMode="auto">
          <a:xfrm>
            <a:off x="5257800" y="43434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7" name="Line 158"/>
          <p:cNvSpPr>
            <a:spLocks noChangeShapeType="1"/>
          </p:cNvSpPr>
          <p:nvPr/>
        </p:nvSpPr>
        <p:spPr bwMode="auto">
          <a:xfrm flipV="1">
            <a:off x="55626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8" name="Line 159"/>
          <p:cNvSpPr>
            <a:spLocks noChangeShapeType="1"/>
          </p:cNvSpPr>
          <p:nvPr/>
        </p:nvSpPr>
        <p:spPr bwMode="auto">
          <a:xfrm flipV="1">
            <a:off x="64770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49" name="Line 160"/>
          <p:cNvSpPr>
            <a:spLocks noChangeShapeType="1"/>
          </p:cNvSpPr>
          <p:nvPr/>
        </p:nvSpPr>
        <p:spPr bwMode="auto">
          <a:xfrm flipV="1">
            <a:off x="69342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0" name="Line 161"/>
          <p:cNvSpPr>
            <a:spLocks noChangeShapeType="1"/>
          </p:cNvSpPr>
          <p:nvPr/>
        </p:nvSpPr>
        <p:spPr bwMode="auto">
          <a:xfrm flipV="1">
            <a:off x="73914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1" name="Line 162"/>
          <p:cNvSpPr>
            <a:spLocks noChangeShapeType="1"/>
          </p:cNvSpPr>
          <p:nvPr/>
        </p:nvSpPr>
        <p:spPr bwMode="auto">
          <a:xfrm flipV="1">
            <a:off x="6019800" y="40386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2" name="Line 163"/>
          <p:cNvSpPr>
            <a:spLocks noChangeShapeType="1"/>
          </p:cNvSpPr>
          <p:nvPr/>
        </p:nvSpPr>
        <p:spPr bwMode="auto">
          <a:xfrm>
            <a:off x="2590800" y="45720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3" name="Line 164"/>
          <p:cNvSpPr>
            <a:spLocks noChangeShapeType="1"/>
          </p:cNvSpPr>
          <p:nvPr/>
        </p:nvSpPr>
        <p:spPr bwMode="auto">
          <a:xfrm flipV="1">
            <a:off x="25908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4" name="Line 165"/>
          <p:cNvSpPr>
            <a:spLocks noChangeShapeType="1"/>
          </p:cNvSpPr>
          <p:nvPr/>
        </p:nvSpPr>
        <p:spPr bwMode="auto">
          <a:xfrm>
            <a:off x="2590800" y="48768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5" name="Line 166"/>
          <p:cNvSpPr>
            <a:spLocks noChangeShapeType="1"/>
          </p:cNvSpPr>
          <p:nvPr/>
        </p:nvSpPr>
        <p:spPr bwMode="auto">
          <a:xfrm flipV="1">
            <a:off x="28956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6" name="Line 167"/>
          <p:cNvSpPr>
            <a:spLocks noChangeShapeType="1"/>
          </p:cNvSpPr>
          <p:nvPr/>
        </p:nvSpPr>
        <p:spPr bwMode="auto">
          <a:xfrm flipV="1">
            <a:off x="38100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7" name="Line 168"/>
          <p:cNvSpPr>
            <a:spLocks noChangeShapeType="1"/>
          </p:cNvSpPr>
          <p:nvPr/>
        </p:nvSpPr>
        <p:spPr bwMode="auto">
          <a:xfrm flipV="1">
            <a:off x="42672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8" name="Line 169"/>
          <p:cNvSpPr>
            <a:spLocks noChangeShapeType="1"/>
          </p:cNvSpPr>
          <p:nvPr/>
        </p:nvSpPr>
        <p:spPr bwMode="auto">
          <a:xfrm flipV="1">
            <a:off x="47244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59" name="Line 170"/>
          <p:cNvSpPr>
            <a:spLocks noChangeShapeType="1"/>
          </p:cNvSpPr>
          <p:nvPr/>
        </p:nvSpPr>
        <p:spPr bwMode="auto">
          <a:xfrm flipV="1">
            <a:off x="33528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0" name="Line 171"/>
          <p:cNvSpPr>
            <a:spLocks noChangeShapeType="1"/>
          </p:cNvSpPr>
          <p:nvPr/>
        </p:nvSpPr>
        <p:spPr bwMode="auto">
          <a:xfrm>
            <a:off x="5257800" y="45720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1" name="Line 172"/>
          <p:cNvSpPr>
            <a:spLocks noChangeShapeType="1"/>
          </p:cNvSpPr>
          <p:nvPr/>
        </p:nvSpPr>
        <p:spPr bwMode="auto">
          <a:xfrm flipV="1">
            <a:off x="52578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2" name="Line 173"/>
          <p:cNvSpPr>
            <a:spLocks noChangeShapeType="1"/>
          </p:cNvSpPr>
          <p:nvPr/>
        </p:nvSpPr>
        <p:spPr bwMode="auto">
          <a:xfrm>
            <a:off x="5257800" y="48768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3" name="Line 174"/>
          <p:cNvSpPr>
            <a:spLocks noChangeShapeType="1"/>
          </p:cNvSpPr>
          <p:nvPr/>
        </p:nvSpPr>
        <p:spPr bwMode="auto">
          <a:xfrm flipV="1">
            <a:off x="55626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4" name="Line 175"/>
          <p:cNvSpPr>
            <a:spLocks noChangeShapeType="1"/>
          </p:cNvSpPr>
          <p:nvPr/>
        </p:nvSpPr>
        <p:spPr bwMode="auto">
          <a:xfrm flipV="1">
            <a:off x="64770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5" name="Line 176"/>
          <p:cNvSpPr>
            <a:spLocks noChangeShapeType="1"/>
          </p:cNvSpPr>
          <p:nvPr/>
        </p:nvSpPr>
        <p:spPr bwMode="auto">
          <a:xfrm flipV="1">
            <a:off x="69342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6" name="Line 177"/>
          <p:cNvSpPr>
            <a:spLocks noChangeShapeType="1"/>
          </p:cNvSpPr>
          <p:nvPr/>
        </p:nvSpPr>
        <p:spPr bwMode="auto">
          <a:xfrm flipV="1">
            <a:off x="73914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7" name="Line 178"/>
          <p:cNvSpPr>
            <a:spLocks noChangeShapeType="1"/>
          </p:cNvSpPr>
          <p:nvPr/>
        </p:nvSpPr>
        <p:spPr bwMode="auto">
          <a:xfrm flipV="1">
            <a:off x="6019800" y="4572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8" name="Line 179"/>
          <p:cNvSpPr>
            <a:spLocks noChangeShapeType="1"/>
          </p:cNvSpPr>
          <p:nvPr/>
        </p:nvSpPr>
        <p:spPr bwMode="auto">
          <a:xfrm>
            <a:off x="2590800" y="52578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69" name="Line 180"/>
          <p:cNvSpPr>
            <a:spLocks noChangeShapeType="1"/>
          </p:cNvSpPr>
          <p:nvPr/>
        </p:nvSpPr>
        <p:spPr bwMode="auto">
          <a:xfrm flipV="1">
            <a:off x="25908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0" name="Line 181"/>
          <p:cNvSpPr>
            <a:spLocks noChangeShapeType="1"/>
          </p:cNvSpPr>
          <p:nvPr/>
        </p:nvSpPr>
        <p:spPr bwMode="auto">
          <a:xfrm>
            <a:off x="2590800" y="55626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1" name="Line 182"/>
          <p:cNvSpPr>
            <a:spLocks noChangeShapeType="1"/>
          </p:cNvSpPr>
          <p:nvPr/>
        </p:nvSpPr>
        <p:spPr bwMode="auto">
          <a:xfrm flipV="1">
            <a:off x="28956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2" name="Line 183"/>
          <p:cNvSpPr>
            <a:spLocks noChangeShapeType="1"/>
          </p:cNvSpPr>
          <p:nvPr/>
        </p:nvSpPr>
        <p:spPr bwMode="auto">
          <a:xfrm flipV="1">
            <a:off x="38100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3" name="Line 184"/>
          <p:cNvSpPr>
            <a:spLocks noChangeShapeType="1"/>
          </p:cNvSpPr>
          <p:nvPr/>
        </p:nvSpPr>
        <p:spPr bwMode="auto">
          <a:xfrm flipV="1">
            <a:off x="42672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4" name="Line 185"/>
          <p:cNvSpPr>
            <a:spLocks noChangeShapeType="1"/>
          </p:cNvSpPr>
          <p:nvPr/>
        </p:nvSpPr>
        <p:spPr bwMode="auto">
          <a:xfrm flipV="1">
            <a:off x="47244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5" name="Line 186"/>
          <p:cNvSpPr>
            <a:spLocks noChangeShapeType="1"/>
          </p:cNvSpPr>
          <p:nvPr/>
        </p:nvSpPr>
        <p:spPr bwMode="auto">
          <a:xfrm flipV="1">
            <a:off x="33528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6" name="Line 187"/>
          <p:cNvSpPr>
            <a:spLocks noChangeShapeType="1"/>
          </p:cNvSpPr>
          <p:nvPr/>
        </p:nvSpPr>
        <p:spPr bwMode="auto">
          <a:xfrm>
            <a:off x="5257800" y="52578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7" name="Line 188"/>
          <p:cNvSpPr>
            <a:spLocks noChangeShapeType="1"/>
          </p:cNvSpPr>
          <p:nvPr/>
        </p:nvSpPr>
        <p:spPr bwMode="auto">
          <a:xfrm flipV="1">
            <a:off x="52578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8" name="Line 189"/>
          <p:cNvSpPr>
            <a:spLocks noChangeShapeType="1"/>
          </p:cNvSpPr>
          <p:nvPr/>
        </p:nvSpPr>
        <p:spPr bwMode="auto">
          <a:xfrm>
            <a:off x="5257800" y="5562600"/>
            <a:ext cx="2133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79" name="Line 190"/>
          <p:cNvSpPr>
            <a:spLocks noChangeShapeType="1"/>
          </p:cNvSpPr>
          <p:nvPr/>
        </p:nvSpPr>
        <p:spPr bwMode="auto">
          <a:xfrm flipV="1">
            <a:off x="55626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80" name="Line 191"/>
          <p:cNvSpPr>
            <a:spLocks noChangeShapeType="1"/>
          </p:cNvSpPr>
          <p:nvPr/>
        </p:nvSpPr>
        <p:spPr bwMode="auto">
          <a:xfrm flipV="1">
            <a:off x="64770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81" name="Line 192"/>
          <p:cNvSpPr>
            <a:spLocks noChangeShapeType="1"/>
          </p:cNvSpPr>
          <p:nvPr/>
        </p:nvSpPr>
        <p:spPr bwMode="auto">
          <a:xfrm flipV="1">
            <a:off x="69342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82" name="Line 193"/>
          <p:cNvSpPr>
            <a:spLocks noChangeShapeType="1"/>
          </p:cNvSpPr>
          <p:nvPr/>
        </p:nvSpPr>
        <p:spPr bwMode="auto">
          <a:xfrm flipV="1">
            <a:off x="73914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83" name="Line 194"/>
          <p:cNvSpPr>
            <a:spLocks noChangeShapeType="1"/>
          </p:cNvSpPr>
          <p:nvPr/>
        </p:nvSpPr>
        <p:spPr bwMode="auto">
          <a:xfrm flipV="1">
            <a:off x="6019800" y="52578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84" name="Text Box 195"/>
          <p:cNvSpPr txBox="1">
            <a:spLocks noChangeArrowheads="1"/>
          </p:cNvSpPr>
          <p:nvPr/>
        </p:nvSpPr>
        <p:spPr bwMode="auto">
          <a:xfrm>
            <a:off x="2895600" y="40386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24685" name="Text Box 196"/>
          <p:cNvSpPr txBox="1">
            <a:spLocks noChangeArrowheads="1"/>
          </p:cNvSpPr>
          <p:nvPr/>
        </p:nvSpPr>
        <p:spPr bwMode="auto">
          <a:xfrm>
            <a:off x="3810000" y="39624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4686" name="Text Box 197"/>
          <p:cNvSpPr txBox="1">
            <a:spLocks noChangeArrowheads="1"/>
          </p:cNvSpPr>
          <p:nvPr/>
        </p:nvSpPr>
        <p:spPr bwMode="auto">
          <a:xfrm>
            <a:off x="28956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4687" name="Text Box 198"/>
          <p:cNvSpPr txBox="1">
            <a:spLocks noChangeArrowheads="1"/>
          </p:cNvSpPr>
          <p:nvPr/>
        </p:nvSpPr>
        <p:spPr bwMode="auto">
          <a:xfrm>
            <a:off x="2895600" y="52578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24688" name="Text Box 199"/>
          <p:cNvSpPr txBox="1">
            <a:spLocks noChangeArrowheads="1"/>
          </p:cNvSpPr>
          <p:nvPr/>
        </p:nvSpPr>
        <p:spPr bwMode="auto">
          <a:xfrm>
            <a:off x="38100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24689" name="Text Box 200"/>
          <p:cNvSpPr txBox="1">
            <a:spLocks noChangeArrowheads="1"/>
          </p:cNvSpPr>
          <p:nvPr/>
        </p:nvSpPr>
        <p:spPr bwMode="auto">
          <a:xfrm>
            <a:off x="3810000" y="52578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4690" name="Text Box 201"/>
          <p:cNvSpPr txBox="1">
            <a:spLocks noChangeArrowheads="1"/>
          </p:cNvSpPr>
          <p:nvPr/>
        </p:nvSpPr>
        <p:spPr bwMode="auto">
          <a:xfrm>
            <a:off x="5562600" y="522605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24691" name="Text Box 202"/>
          <p:cNvSpPr txBox="1">
            <a:spLocks noChangeArrowheads="1"/>
          </p:cNvSpPr>
          <p:nvPr/>
        </p:nvSpPr>
        <p:spPr bwMode="auto">
          <a:xfrm>
            <a:off x="55626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4692" name="Text Box 203"/>
          <p:cNvSpPr txBox="1">
            <a:spLocks noChangeArrowheads="1"/>
          </p:cNvSpPr>
          <p:nvPr/>
        </p:nvSpPr>
        <p:spPr bwMode="auto">
          <a:xfrm>
            <a:off x="5562600" y="40386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24693" name="Text Box 204"/>
          <p:cNvSpPr txBox="1">
            <a:spLocks noChangeArrowheads="1"/>
          </p:cNvSpPr>
          <p:nvPr/>
        </p:nvSpPr>
        <p:spPr bwMode="auto">
          <a:xfrm>
            <a:off x="6477000" y="40386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4694" name="Text Box 205"/>
          <p:cNvSpPr txBox="1">
            <a:spLocks noChangeArrowheads="1"/>
          </p:cNvSpPr>
          <p:nvPr/>
        </p:nvSpPr>
        <p:spPr bwMode="auto">
          <a:xfrm>
            <a:off x="64770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24695" name="Text Box 206"/>
          <p:cNvSpPr txBox="1">
            <a:spLocks noChangeArrowheads="1"/>
          </p:cNvSpPr>
          <p:nvPr/>
        </p:nvSpPr>
        <p:spPr bwMode="auto">
          <a:xfrm>
            <a:off x="6477000" y="52578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24696" name="Line 207"/>
          <p:cNvSpPr>
            <a:spLocks noChangeShapeType="1"/>
          </p:cNvSpPr>
          <p:nvPr/>
        </p:nvSpPr>
        <p:spPr bwMode="auto">
          <a:xfrm flipV="1">
            <a:off x="6248400" y="4876800"/>
            <a:ext cx="0" cy="2286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97" name="Line 208"/>
          <p:cNvSpPr>
            <a:spLocks noChangeShapeType="1"/>
          </p:cNvSpPr>
          <p:nvPr/>
        </p:nvSpPr>
        <p:spPr bwMode="auto">
          <a:xfrm flipV="1">
            <a:off x="4648200" y="51054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98" name="Line 209"/>
          <p:cNvSpPr>
            <a:spLocks noChangeShapeType="1"/>
          </p:cNvSpPr>
          <p:nvPr/>
        </p:nvSpPr>
        <p:spPr bwMode="auto">
          <a:xfrm flipV="1">
            <a:off x="3505200" y="3657600"/>
            <a:ext cx="2743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99" name="Line 210"/>
          <p:cNvSpPr>
            <a:spLocks noChangeShapeType="1"/>
          </p:cNvSpPr>
          <p:nvPr/>
        </p:nvSpPr>
        <p:spPr bwMode="auto">
          <a:xfrm>
            <a:off x="6248400" y="3657600"/>
            <a:ext cx="0" cy="3810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0" name="Line 211"/>
          <p:cNvSpPr>
            <a:spLocks noChangeShapeType="1"/>
          </p:cNvSpPr>
          <p:nvPr/>
        </p:nvSpPr>
        <p:spPr bwMode="auto">
          <a:xfrm flipV="1">
            <a:off x="3505200" y="3657600"/>
            <a:ext cx="0" cy="533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1" name="Line 212"/>
          <p:cNvSpPr>
            <a:spLocks noChangeShapeType="1"/>
          </p:cNvSpPr>
          <p:nvPr/>
        </p:nvSpPr>
        <p:spPr bwMode="auto">
          <a:xfrm flipV="1">
            <a:off x="2133600" y="4572000"/>
            <a:ext cx="20574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2" name="Line 213"/>
          <p:cNvSpPr>
            <a:spLocks noChangeShapeType="1"/>
          </p:cNvSpPr>
          <p:nvPr/>
        </p:nvSpPr>
        <p:spPr bwMode="auto">
          <a:xfrm flipV="1">
            <a:off x="3581400" y="4495800"/>
            <a:ext cx="32004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3" name="Line 214"/>
          <p:cNvSpPr>
            <a:spLocks noChangeShapeType="1"/>
          </p:cNvSpPr>
          <p:nvPr/>
        </p:nvSpPr>
        <p:spPr bwMode="auto">
          <a:xfrm flipV="1">
            <a:off x="6781800" y="4267200"/>
            <a:ext cx="0" cy="2286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4" name="Line 215"/>
          <p:cNvSpPr>
            <a:spLocks noChangeShapeType="1"/>
          </p:cNvSpPr>
          <p:nvPr/>
        </p:nvSpPr>
        <p:spPr bwMode="auto">
          <a:xfrm flipH="1" flipV="1">
            <a:off x="3581400" y="4495800"/>
            <a:ext cx="0" cy="3048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5" name="Line 216"/>
          <p:cNvSpPr>
            <a:spLocks noChangeShapeType="1"/>
          </p:cNvSpPr>
          <p:nvPr/>
        </p:nvSpPr>
        <p:spPr bwMode="auto">
          <a:xfrm flipV="1">
            <a:off x="3581400" y="4876800"/>
            <a:ext cx="0" cy="4572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6" name="Line 217"/>
          <p:cNvSpPr>
            <a:spLocks noChangeShapeType="1"/>
          </p:cNvSpPr>
          <p:nvPr/>
        </p:nvSpPr>
        <p:spPr bwMode="auto">
          <a:xfrm flipV="1">
            <a:off x="4572000" y="4724400"/>
            <a:ext cx="3810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7" name="Line 218"/>
          <p:cNvSpPr>
            <a:spLocks noChangeShapeType="1"/>
          </p:cNvSpPr>
          <p:nvPr/>
        </p:nvSpPr>
        <p:spPr bwMode="auto">
          <a:xfrm>
            <a:off x="4953000" y="4724400"/>
            <a:ext cx="0" cy="1066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8" name="Line 219"/>
          <p:cNvSpPr>
            <a:spLocks noChangeShapeType="1"/>
          </p:cNvSpPr>
          <p:nvPr/>
        </p:nvSpPr>
        <p:spPr bwMode="auto">
          <a:xfrm flipV="1">
            <a:off x="4953000" y="5791200"/>
            <a:ext cx="1752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09" name="Line 220"/>
          <p:cNvSpPr>
            <a:spLocks noChangeShapeType="1"/>
          </p:cNvSpPr>
          <p:nvPr/>
        </p:nvSpPr>
        <p:spPr bwMode="auto">
          <a:xfrm flipV="1">
            <a:off x="6705600" y="5562600"/>
            <a:ext cx="0" cy="2286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0" name="Line 221"/>
          <p:cNvSpPr>
            <a:spLocks noChangeShapeType="1"/>
          </p:cNvSpPr>
          <p:nvPr/>
        </p:nvSpPr>
        <p:spPr bwMode="auto">
          <a:xfrm flipV="1">
            <a:off x="1905000" y="5943600"/>
            <a:ext cx="4419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1" name="Line 222"/>
          <p:cNvSpPr>
            <a:spLocks noChangeShapeType="1"/>
          </p:cNvSpPr>
          <p:nvPr/>
        </p:nvSpPr>
        <p:spPr bwMode="auto">
          <a:xfrm flipV="1">
            <a:off x="6324600" y="5486400"/>
            <a:ext cx="0" cy="4572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2" name="Line 223"/>
          <p:cNvSpPr>
            <a:spLocks noChangeShapeType="1"/>
          </p:cNvSpPr>
          <p:nvPr/>
        </p:nvSpPr>
        <p:spPr bwMode="auto">
          <a:xfrm flipV="1">
            <a:off x="6400800" y="51054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3" name="Line 224"/>
          <p:cNvSpPr>
            <a:spLocks noChangeShapeType="1"/>
          </p:cNvSpPr>
          <p:nvPr/>
        </p:nvSpPr>
        <p:spPr bwMode="auto">
          <a:xfrm flipV="1">
            <a:off x="6400800" y="5105400"/>
            <a:ext cx="762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4" name="Line 225"/>
          <p:cNvSpPr>
            <a:spLocks noChangeShapeType="1"/>
          </p:cNvSpPr>
          <p:nvPr/>
        </p:nvSpPr>
        <p:spPr bwMode="auto">
          <a:xfrm flipV="1">
            <a:off x="7162800" y="4876800"/>
            <a:ext cx="0" cy="2286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715" name="Text Box 226"/>
          <p:cNvSpPr txBox="1">
            <a:spLocks noChangeArrowheads="1"/>
          </p:cNvSpPr>
          <p:nvPr/>
        </p:nvSpPr>
        <p:spPr bwMode="auto">
          <a:xfrm>
            <a:off x="69342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4716" name="Text Box 227"/>
          <p:cNvSpPr txBox="1">
            <a:spLocks noChangeArrowheads="1"/>
          </p:cNvSpPr>
          <p:nvPr/>
        </p:nvSpPr>
        <p:spPr bwMode="auto">
          <a:xfrm>
            <a:off x="6934200" y="52578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4717" name="Text Box 228"/>
          <p:cNvSpPr txBox="1">
            <a:spLocks noChangeArrowheads="1"/>
          </p:cNvSpPr>
          <p:nvPr/>
        </p:nvSpPr>
        <p:spPr bwMode="auto">
          <a:xfrm>
            <a:off x="6019800" y="40386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4718" name="Text Box 229"/>
          <p:cNvSpPr txBox="1">
            <a:spLocks noChangeArrowheads="1"/>
          </p:cNvSpPr>
          <p:nvPr/>
        </p:nvSpPr>
        <p:spPr bwMode="auto">
          <a:xfrm>
            <a:off x="6934200" y="40386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4719" name="Text Box 230"/>
          <p:cNvSpPr txBox="1">
            <a:spLocks noChangeArrowheads="1"/>
          </p:cNvSpPr>
          <p:nvPr/>
        </p:nvSpPr>
        <p:spPr bwMode="auto">
          <a:xfrm>
            <a:off x="2438400" y="327660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mark</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720" name="Text Box 231"/>
          <p:cNvSpPr txBox="1">
            <a:spLocks noChangeArrowheads="1"/>
          </p:cNvSpPr>
          <p:nvPr/>
        </p:nvSpPr>
        <p:spPr bwMode="auto">
          <a:xfrm>
            <a:off x="2667000" y="312420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solidFill>
                  <a:srgbClr val="C00000"/>
                </a:solidFill>
                <a:latin typeface="Times New Roman" panose="02020603050405020304" pitchFamily="18" charset="0"/>
                <a:ea typeface="华文楷体" panose="02010600040101010101" pitchFamily="2" charset="-122"/>
              </a:rPr>
              <a:t>ivex</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721" name="Text Box 232"/>
          <p:cNvSpPr txBox="1">
            <a:spLocks noChangeArrowheads="1"/>
          </p:cNvSpPr>
          <p:nvPr/>
        </p:nvSpPr>
        <p:spPr bwMode="auto">
          <a:xfrm>
            <a:off x="3124200" y="320040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solidFill>
                  <a:srgbClr val="C00000"/>
                </a:solidFill>
                <a:latin typeface="Times New Roman" panose="02020603050405020304" pitchFamily="18" charset="0"/>
                <a:ea typeface="华文楷体" panose="02010600040101010101" pitchFamily="2" charset="-122"/>
              </a:rPr>
              <a:t>ilink</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722" name="Text Box 233"/>
          <p:cNvSpPr txBox="1">
            <a:spLocks noChangeArrowheads="1"/>
          </p:cNvSpPr>
          <p:nvPr/>
        </p:nvSpPr>
        <p:spPr bwMode="auto">
          <a:xfrm>
            <a:off x="3581400" y="304800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solidFill>
                  <a:srgbClr val="C00000"/>
                </a:solidFill>
                <a:latin typeface="Times New Roman" panose="02020603050405020304" pitchFamily="18" charset="0"/>
                <a:ea typeface="华文楷体" panose="02010600040101010101" pitchFamily="2" charset="-122"/>
              </a:rPr>
              <a:t>jvex</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723" name="Text Box 234"/>
          <p:cNvSpPr txBox="1">
            <a:spLocks noChangeArrowheads="1"/>
          </p:cNvSpPr>
          <p:nvPr/>
        </p:nvSpPr>
        <p:spPr bwMode="auto">
          <a:xfrm>
            <a:off x="3962400" y="327660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solidFill>
                  <a:srgbClr val="C00000"/>
                </a:solidFill>
                <a:latin typeface="Times New Roman" panose="02020603050405020304" pitchFamily="18" charset="0"/>
                <a:ea typeface="华文楷体" panose="02010600040101010101" pitchFamily="2" charset="-122"/>
              </a:rPr>
              <a:t>jlink</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4724" name="Text Box 235"/>
          <p:cNvSpPr txBox="1">
            <a:spLocks noChangeArrowheads="1"/>
          </p:cNvSpPr>
          <p:nvPr/>
        </p:nvSpPr>
        <p:spPr bwMode="auto">
          <a:xfrm>
            <a:off x="6019800" y="457200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4725" name="Line 236"/>
          <p:cNvSpPr>
            <a:spLocks noChangeShapeType="1"/>
          </p:cNvSpPr>
          <p:nvPr/>
        </p:nvSpPr>
        <p:spPr bwMode="auto">
          <a:xfrm>
            <a:off x="2743200" y="3505200"/>
            <a:ext cx="0" cy="533400"/>
          </a:xfrm>
          <a:prstGeom prst="line">
            <a:avLst/>
          </a:prstGeom>
          <a:noFill/>
          <a:ln w="9525">
            <a:solidFill>
              <a:schemeClr val="accent2"/>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4726" name="Line 237"/>
          <p:cNvSpPr>
            <a:spLocks noChangeShapeType="1"/>
          </p:cNvSpPr>
          <p:nvPr/>
        </p:nvSpPr>
        <p:spPr bwMode="auto">
          <a:xfrm>
            <a:off x="3124200" y="3352800"/>
            <a:ext cx="0" cy="685800"/>
          </a:xfrm>
          <a:prstGeom prst="line">
            <a:avLst/>
          </a:prstGeom>
          <a:noFill/>
          <a:ln w="9525">
            <a:solidFill>
              <a:schemeClr val="accent2"/>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4727" name="Line 238"/>
          <p:cNvSpPr>
            <a:spLocks noChangeShapeType="1"/>
          </p:cNvSpPr>
          <p:nvPr/>
        </p:nvSpPr>
        <p:spPr bwMode="auto">
          <a:xfrm>
            <a:off x="3657600" y="3505200"/>
            <a:ext cx="0" cy="533400"/>
          </a:xfrm>
          <a:prstGeom prst="line">
            <a:avLst/>
          </a:prstGeom>
          <a:noFill/>
          <a:ln w="9525">
            <a:solidFill>
              <a:schemeClr val="accent2"/>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4728" name="Line 239"/>
          <p:cNvSpPr>
            <a:spLocks noChangeShapeType="1"/>
          </p:cNvSpPr>
          <p:nvPr/>
        </p:nvSpPr>
        <p:spPr bwMode="auto">
          <a:xfrm>
            <a:off x="4038600" y="3352800"/>
            <a:ext cx="0" cy="685800"/>
          </a:xfrm>
          <a:prstGeom prst="line">
            <a:avLst/>
          </a:prstGeom>
          <a:noFill/>
          <a:ln w="9525">
            <a:solidFill>
              <a:schemeClr val="accent2"/>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4729" name="Line 240"/>
          <p:cNvSpPr>
            <a:spLocks noChangeShapeType="1"/>
          </p:cNvSpPr>
          <p:nvPr/>
        </p:nvSpPr>
        <p:spPr bwMode="auto">
          <a:xfrm>
            <a:off x="4419600" y="3505200"/>
            <a:ext cx="0" cy="533400"/>
          </a:xfrm>
          <a:prstGeom prst="line">
            <a:avLst/>
          </a:prstGeom>
          <a:noFill/>
          <a:ln w="9525">
            <a:solidFill>
              <a:schemeClr val="accent2"/>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4730" name="Text Box 241"/>
          <p:cNvSpPr txBox="1">
            <a:spLocks noChangeArrowheads="1"/>
          </p:cNvSpPr>
          <p:nvPr/>
        </p:nvSpPr>
        <p:spPr bwMode="auto">
          <a:xfrm>
            <a:off x="2346325" y="6118225"/>
            <a:ext cx="4557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en-US" sz="1800" b="1" dirty="0">
                <a:latin typeface="Times New Roman" panose="02020603050405020304" pitchFamily="18" charset="0"/>
                <a:ea typeface="华文楷体" panose="02010600040101010101" pitchFamily="2" charset="-122"/>
              </a:rPr>
              <a:t>边表中的边结点只需存放一次，节约内存。</a:t>
            </a:r>
            <a:endParaRPr kumimoji="1" lang="zh-CN" altLang="en-US" sz="1800" b="1"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5867400" y="1066800"/>
            <a:ext cx="0" cy="231775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直接连接符 4"/>
          <p:cNvCxnSpPr/>
          <p:nvPr/>
        </p:nvCxnSpPr>
        <p:spPr>
          <a:xfrm flipV="1">
            <a:off x="5867400" y="3352800"/>
            <a:ext cx="3276600" cy="3175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2560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 7.3 </a:t>
            </a:r>
            <a:r>
              <a:rPr lang="zh-CN" altLang="en-US" sz="2800" dirty="0" smtClean="0">
                <a:ea typeface="华文楷体" panose="02010600040101010101" pitchFamily="2" charset="-122"/>
              </a:rPr>
              <a:t>图的遍历</a:t>
            </a:r>
            <a:endParaRPr lang="zh-CN" altLang="en-US" sz="2800" dirty="0" smtClean="0">
              <a:ea typeface="华文楷体" panose="02010600040101010101" pitchFamily="2" charset="-122"/>
            </a:endParaRPr>
          </a:p>
        </p:txBody>
      </p:sp>
      <p:sp>
        <p:nvSpPr>
          <p:cNvPr id="25605"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en-US" sz="2000" b="1" dirty="0" smtClean="0">
                <a:solidFill>
                  <a:schemeClr val="accent2"/>
                </a:solidFill>
                <a:ea typeface="华文楷体" panose="02010600040101010101" pitchFamily="2" charset="-122"/>
              </a:rPr>
              <a:t>两种遍历方式</a:t>
            </a:r>
            <a:endParaRPr lang="zh-CN" altLang="en-US" sz="2000" b="1" dirty="0" smtClean="0">
              <a:solidFill>
                <a:schemeClr val="accent2"/>
              </a:solidFill>
              <a:ea typeface="华文楷体" panose="02010600040101010101" pitchFamily="2" charset="-122"/>
            </a:endParaRPr>
          </a:p>
          <a:p>
            <a:pPr eaLnBrk="1" hangingPunct="1">
              <a:lnSpc>
                <a:spcPct val="80000"/>
              </a:lnSpc>
            </a:pPr>
            <a:r>
              <a:rPr lang="zh-CN" altLang="en-US" sz="2000" dirty="0" smtClean="0">
                <a:ea typeface="华文楷体" panose="02010600040101010101" pitchFamily="2" charset="-122"/>
              </a:rPr>
              <a:t>深度优先遍历 </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树的先根遍历的推广</a:t>
            </a:r>
            <a:r>
              <a:rPr lang="en-US" altLang="zh-CN" sz="2000" dirty="0" smtClean="0">
                <a:ea typeface="华文楷体" panose="02010600040101010101" pitchFamily="2" charset="-122"/>
              </a:rPr>
              <a:t>)  Depth-First Search</a:t>
            </a:r>
            <a:endParaRPr lang="en-US" altLang="zh-CN" sz="2000" dirty="0" smtClean="0">
              <a:ea typeface="华文楷体" panose="02010600040101010101" pitchFamily="2" charset="-122"/>
            </a:endParaRPr>
          </a:p>
          <a:p>
            <a:pPr eaLnBrk="1" hangingPunct="1">
              <a:lnSpc>
                <a:spcPct val="80000"/>
              </a:lnSpc>
            </a:pPr>
            <a:r>
              <a:rPr lang="zh-CN" altLang="en-US" sz="2000" dirty="0" smtClean="0">
                <a:ea typeface="华文楷体" panose="02010600040101010101" pitchFamily="2" charset="-122"/>
              </a:rPr>
              <a:t>广度优先遍历 </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树的按层次遍历的推广</a:t>
            </a:r>
            <a:r>
              <a:rPr lang="en-US" altLang="zh-CN" sz="2000" dirty="0" smtClean="0">
                <a:ea typeface="华文楷体" panose="02010600040101010101" pitchFamily="2" charset="-122"/>
              </a:rPr>
              <a:t>) Breadth-</a:t>
            </a:r>
            <a:r>
              <a:rPr lang="en-US" altLang="zh-CN" sz="2000" dirty="0" err="1" smtClean="0">
                <a:ea typeface="华文楷体" panose="02010600040101010101" pitchFamily="2" charset="-122"/>
              </a:rPr>
              <a:t>Fisrt</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Searh</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b="1" dirty="0" smtClean="0">
                <a:solidFill>
                  <a:schemeClr val="accent2"/>
                </a:solidFill>
                <a:ea typeface="华文楷体" panose="02010600040101010101" pitchFamily="2" charset="-122"/>
              </a:rPr>
              <a:t>1. </a:t>
            </a:r>
            <a:r>
              <a:rPr lang="zh-CN" altLang="en-US" sz="2000" b="1" dirty="0" smtClean="0">
                <a:solidFill>
                  <a:schemeClr val="accent2"/>
                </a:solidFill>
                <a:ea typeface="华文楷体" panose="02010600040101010101" pitchFamily="2" charset="-122"/>
              </a:rPr>
              <a:t>深度优先遍历</a:t>
            </a:r>
            <a:endParaRPr lang="zh-CN" altLang="en-US" sz="2000" b="1" dirty="0" smtClean="0">
              <a:solidFill>
                <a:schemeClr val="accent2"/>
              </a:solidFill>
              <a:ea typeface="华文楷体" panose="02010600040101010101" pitchFamily="2" charset="-122"/>
            </a:endParaRPr>
          </a:p>
          <a:p>
            <a:pPr eaLnBrk="1" hangingPunct="1">
              <a:lnSpc>
                <a:spcPct val="80000"/>
              </a:lnSpc>
              <a:buFont typeface="Wingdings" panose="05000000000000000000" pitchFamily="2" charset="2"/>
              <a:buNone/>
            </a:pPr>
            <a:r>
              <a:rPr lang="zh-CN" altLang="en-US" sz="2000" b="1" dirty="0" smtClean="0">
                <a:ea typeface="华文楷体" panose="02010600040101010101" pitchFamily="2" charset="-122"/>
              </a:rPr>
              <a:t>注意</a:t>
            </a:r>
            <a:r>
              <a:rPr lang="zh-CN" altLang="en-US" sz="2000" dirty="0" smtClean="0">
                <a:ea typeface="华文楷体" panose="02010600040101010101" pitchFamily="2" charset="-122"/>
              </a:rPr>
              <a:t>：每个顶点只能被访问一次，因为一个顶点可以和其它的任何顶点相邻接，为了避免对一个顶点的重复访问，必须对访问过的顶点加以标记。顶点</a:t>
            </a:r>
            <a:r>
              <a:rPr lang="zh-CN" altLang="en-US" sz="2000" b="1" dirty="0" smtClean="0">
                <a:ea typeface="华文楷体" panose="02010600040101010101" pitchFamily="2" charset="-122"/>
              </a:rPr>
              <a:t>的邻接</a:t>
            </a:r>
            <a:r>
              <a:rPr lang="zh-CN" altLang="en-US" sz="2000" dirty="0" smtClean="0">
                <a:ea typeface="华文楷体" panose="02010600040101010101" pitchFamily="2" charset="-122"/>
              </a:rPr>
              <a:t>顶点的次序是任意的，因此深度优先搜索的序列可能有多种。</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b="1" dirty="0" smtClean="0">
                <a:solidFill>
                  <a:schemeClr val="accent2"/>
                </a:solidFill>
                <a:ea typeface="华文楷体" panose="02010600040101010101" pitchFamily="2" charset="-122"/>
              </a:rPr>
              <a:t>[</a:t>
            </a:r>
            <a:r>
              <a:rPr lang="zh-CN" altLang="en-US" sz="2000" b="1" dirty="0" smtClean="0">
                <a:solidFill>
                  <a:schemeClr val="accent2"/>
                </a:solidFill>
                <a:ea typeface="华文楷体" panose="02010600040101010101" pitchFamily="2" charset="-122"/>
              </a:rPr>
              <a:t>遍历过程</a:t>
            </a:r>
            <a:r>
              <a:rPr lang="en-US" altLang="zh-CN" sz="2000" b="1" dirty="0" smtClean="0">
                <a:solidFill>
                  <a:schemeClr val="accent2"/>
                </a:solidFill>
                <a:ea typeface="华文楷体" panose="02010600040101010101" pitchFamily="2" charset="-122"/>
              </a:rPr>
              <a:t>]</a:t>
            </a:r>
            <a:endParaRPr lang="en-US" altLang="zh-CN" sz="2000" b="1" dirty="0" smtClean="0">
              <a:solidFill>
                <a:schemeClr val="accent2"/>
              </a:solidFill>
              <a:ea typeface="华文楷体" panose="02010600040101010101" pitchFamily="2" charset="-122"/>
            </a:endParaRPr>
          </a:p>
          <a:p>
            <a:pPr eaLnBrk="1" hangingPunct="1">
              <a:lnSpc>
                <a:spcPct val="80000"/>
              </a:lnSpc>
            </a:pP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、选中第一个被访问的顶点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lnSpc>
                <a:spcPct val="80000"/>
              </a:lnSpc>
            </a:pP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、对顶点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作已访问过的标志。</a:t>
            </a:r>
            <a:endParaRPr lang="zh-CN" altLang="en-US" sz="2000" dirty="0" smtClean="0">
              <a:ea typeface="华文楷体" panose="02010600040101010101" pitchFamily="2" charset="-122"/>
            </a:endParaRPr>
          </a:p>
          <a:p>
            <a:pPr eaLnBrk="1" hangingPunct="1">
              <a:lnSpc>
                <a:spcPct val="80000"/>
              </a:lnSpc>
            </a:pPr>
            <a:r>
              <a:rPr lang="en-US" altLang="zh-CN" sz="2000" dirty="0" smtClean="0">
                <a:ea typeface="华文楷体" panose="02010600040101010101" pitchFamily="2" charset="-122"/>
              </a:rPr>
              <a:t>3</a:t>
            </a:r>
            <a:r>
              <a:rPr lang="zh-CN" altLang="en-US" sz="2000" dirty="0" smtClean="0">
                <a:ea typeface="华文楷体" panose="02010600040101010101" pitchFamily="2" charset="-122"/>
              </a:rPr>
              <a:t>、依次从顶点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的未被访问过、 邻接顶点出发，进行深度优先遍历。转向</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lnSpc>
                <a:spcPct val="80000"/>
              </a:lnSpc>
            </a:pPr>
            <a:r>
              <a:rPr lang="en-US" altLang="zh-CN" sz="2000" dirty="0" smtClean="0">
                <a:ea typeface="华文楷体" panose="02010600040101010101" pitchFamily="2" charset="-122"/>
              </a:rPr>
              <a:t>4</a:t>
            </a:r>
            <a:r>
              <a:rPr lang="zh-CN" altLang="en-US" sz="2000" dirty="0" smtClean="0">
                <a:ea typeface="华文楷体" panose="02010600040101010101" pitchFamily="2" charset="-122"/>
              </a:rPr>
              <a:t>、如果还有顶点未被访问，则选中一个起始顶点，转向</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lnSpc>
                <a:spcPct val="80000"/>
              </a:lnSpc>
            </a:pPr>
            <a:r>
              <a:rPr lang="en-US" altLang="zh-CN" sz="2000" dirty="0" smtClean="0">
                <a:ea typeface="华文楷体" panose="02010600040101010101" pitchFamily="2" charset="-122"/>
              </a:rPr>
              <a:t>5</a:t>
            </a:r>
            <a:r>
              <a:rPr lang="zh-CN" altLang="en-US" sz="2000" dirty="0" smtClean="0">
                <a:ea typeface="华文楷体" panose="02010600040101010101" pitchFamily="2" charset="-122"/>
              </a:rPr>
              <a:t>、所有的顶点都被访问到，则结束。</a:t>
            </a:r>
            <a:endParaRPr lang="zh-CN" altLang="en-US" sz="2000" dirty="0" smtClean="0">
              <a:ea typeface="华文楷体" panose="02010600040101010101" pitchFamily="2" charset="-122"/>
            </a:endParaRPr>
          </a:p>
        </p:txBody>
      </p:sp>
      <p:sp>
        <p:nvSpPr>
          <p:cNvPr id="2" name="文本框 1"/>
          <p:cNvSpPr txBox="1"/>
          <p:nvPr/>
        </p:nvSpPr>
        <p:spPr>
          <a:xfrm>
            <a:off x="685800" y="5559102"/>
            <a:ext cx="7543800" cy="830997"/>
          </a:xfrm>
          <a:prstGeom prst="rect">
            <a:avLst/>
          </a:prstGeom>
          <a:noFill/>
          <a:ln>
            <a:solidFill>
              <a:schemeClr val="accent1"/>
            </a:solidFill>
          </a:ln>
        </p:spPr>
        <p:txBody>
          <a:bodyPr wrap="square" rtlCol="0">
            <a:spAutoFit/>
          </a:bodyPr>
          <a:lstStyle/>
          <a:p>
            <a:r>
              <a:rPr lang="zh-CN" altLang="en-US" sz="1600" dirty="0">
                <a:solidFill>
                  <a:srgbClr val="C00000"/>
                </a:solidFill>
                <a:latin typeface="Times New Roman" panose="02020603050405020304" pitchFamily="18" charset="0"/>
                <a:ea typeface="华文楷体" panose="02010600040101010101" pitchFamily="2" charset="-122"/>
              </a:rPr>
              <a:t>深度优先的含义</a:t>
            </a:r>
            <a:r>
              <a:rPr lang="zh-CN" altLang="en-US" sz="1600" dirty="0">
                <a:latin typeface="Times New Roman" panose="02020603050405020304" pitchFamily="18" charset="0"/>
                <a:ea typeface="华文楷体" panose="02010600040101010101" pitchFamily="2" charset="-122"/>
              </a:rPr>
              <a:t>：只要可能就尽量</a:t>
            </a:r>
            <a:r>
              <a:rPr lang="zh-CN" altLang="en-US" sz="1600" dirty="0" smtClean="0">
                <a:latin typeface="Times New Roman" panose="02020603050405020304" pitchFamily="18" charset="0"/>
                <a:ea typeface="华文楷体" panose="02010600040101010101" pitchFamily="2" charset="-122"/>
              </a:rPr>
              <a:t>深入，深度优先搜索总是对最近才发现的结点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的出边进行搜索，直到所有出边都被搜索为止。一旦</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所有出边都被发现，搜索则回溯到</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的前驱结点，来搜索该前驱结点的出边。</a:t>
            </a:r>
            <a:endParaRPr lang="zh-CN" altLang="en-US" sz="16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页脚占位符 3"/>
          <p:cNvSpPr>
            <a:spLocks noGrp="1"/>
          </p:cNvSpPr>
          <p:nvPr>
            <p:ph type="ftr" sz="quarter" idx="10"/>
          </p:nvPr>
        </p:nvSpPr>
        <p:spPr/>
        <p:txBody>
          <a:bodyPr/>
          <a:lstStyle/>
          <a:p>
            <a:pPr>
              <a:defRPr/>
            </a:pPr>
            <a:r>
              <a:rPr lang="en-US" altLang="zh-CN"/>
              <a:t>BUPT SCST</a:t>
            </a:r>
            <a:endParaRPr lang="en-US" altLang="zh-CN"/>
          </a:p>
        </p:txBody>
      </p:sp>
      <p:sp>
        <p:nvSpPr>
          <p:cNvPr id="48" name="日期占位符 5"/>
          <p:cNvSpPr>
            <a:spLocks noGrp="1"/>
          </p:cNvSpPr>
          <p:nvPr>
            <p:ph type="dt" sz="quarter" idx="12"/>
          </p:nvPr>
        </p:nvSpPr>
        <p:spPr/>
        <p:txBody>
          <a:bodyPr/>
          <a:lstStyle/>
          <a:p>
            <a:pPr>
              <a:defRPr/>
            </a:pPr>
            <a:r>
              <a:rPr lang="en-US" altLang="zh-CN"/>
              <a:t>BUPT</a:t>
            </a:r>
            <a:endParaRPr lang="en-US" altLang="zh-CN"/>
          </a:p>
        </p:txBody>
      </p:sp>
      <p:sp>
        <p:nvSpPr>
          <p:cNvPr id="266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6629"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数据结构：主</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图的存储结构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辅</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数组 </a:t>
            </a:r>
            <a:r>
              <a:rPr lang="en-US" altLang="zh-CN" sz="2400" dirty="0" smtClean="0">
                <a:ea typeface="华文楷体" panose="02010600040101010101" pitchFamily="2" charset="-122"/>
              </a:rPr>
              <a:t>visited[1..n] //</a:t>
            </a:r>
            <a:r>
              <a:rPr lang="zh-CN" altLang="en-US" sz="2400" dirty="0" smtClean="0">
                <a:ea typeface="华文楷体" panose="02010600040101010101" pitchFamily="2" charset="-122"/>
              </a:rPr>
              <a:t>用于标识结点是否已被访问过</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例</a:t>
            </a: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无向图的深度优先遍历</a:t>
            </a:r>
            <a:endParaRPr lang="zh-CN" altLang="en-US"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26630" name="Oval 4"/>
          <p:cNvSpPr>
            <a:spLocks noChangeArrowheads="1"/>
          </p:cNvSpPr>
          <p:nvPr/>
        </p:nvSpPr>
        <p:spPr bwMode="auto">
          <a:xfrm>
            <a:off x="1295400" y="3429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1" name="Oval 5"/>
          <p:cNvSpPr>
            <a:spLocks noChangeArrowheads="1"/>
          </p:cNvSpPr>
          <p:nvPr/>
        </p:nvSpPr>
        <p:spPr bwMode="auto">
          <a:xfrm>
            <a:off x="2514600" y="2895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2" name="Oval 6"/>
          <p:cNvSpPr>
            <a:spLocks noChangeArrowheads="1"/>
          </p:cNvSpPr>
          <p:nvPr/>
        </p:nvSpPr>
        <p:spPr bwMode="auto">
          <a:xfrm>
            <a:off x="3657600" y="3429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3" name="Oval 7"/>
          <p:cNvSpPr>
            <a:spLocks noChangeArrowheads="1"/>
          </p:cNvSpPr>
          <p:nvPr/>
        </p:nvSpPr>
        <p:spPr bwMode="auto">
          <a:xfrm>
            <a:off x="6858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4" name="Oval 8"/>
          <p:cNvSpPr>
            <a:spLocks noChangeArrowheads="1"/>
          </p:cNvSpPr>
          <p:nvPr/>
        </p:nvSpPr>
        <p:spPr bwMode="auto">
          <a:xfrm>
            <a:off x="19812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5" name="Oval 9"/>
          <p:cNvSpPr>
            <a:spLocks noChangeArrowheads="1"/>
          </p:cNvSpPr>
          <p:nvPr/>
        </p:nvSpPr>
        <p:spPr bwMode="auto">
          <a:xfrm>
            <a:off x="28956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6" name="Oval 10"/>
          <p:cNvSpPr>
            <a:spLocks noChangeArrowheads="1"/>
          </p:cNvSpPr>
          <p:nvPr/>
        </p:nvSpPr>
        <p:spPr bwMode="auto">
          <a:xfrm>
            <a:off x="44958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7" name="Oval 11"/>
          <p:cNvSpPr>
            <a:spLocks noChangeArrowheads="1"/>
          </p:cNvSpPr>
          <p:nvPr/>
        </p:nvSpPr>
        <p:spPr bwMode="auto">
          <a:xfrm>
            <a:off x="2362200" y="5181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6638" name="Line 12"/>
          <p:cNvSpPr>
            <a:spLocks noChangeShapeType="1"/>
          </p:cNvSpPr>
          <p:nvPr/>
        </p:nvSpPr>
        <p:spPr bwMode="auto">
          <a:xfrm flipH="1">
            <a:off x="1524000" y="3048000"/>
            <a:ext cx="990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39" name="Line 13"/>
          <p:cNvSpPr>
            <a:spLocks noChangeShapeType="1"/>
          </p:cNvSpPr>
          <p:nvPr/>
        </p:nvSpPr>
        <p:spPr bwMode="auto">
          <a:xfrm flipH="1">
            <a:off x="838200" y="3810000"/>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0" name="Line 14"/>
          <p:cNvSpPr>
            <a:spLocks noChangeShapeType="1"/>
          </p:cNvSpPr>
          <p:nvPr/>
        </p:nvSpPr>
        <p:spPr bwMode="auto">
          <a:xfrm>
            <a:off x="1524000" y="3810000"/>
            <a:ext cx="6858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1" name="Line 15"/>
          <p:cNvSpPr>
            <a:spLocks noChangeShapeType="1"/>
          </p:cNvSpPr>
          <p:nvPr/>
        </p:nvSpPr>
        <p:spPr bwMode="auto">
          <a:xfrm>
            <a:off x="2895600" y="3124200"/>
            <a:ext cx="9144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2" name="Line 16"/>
          <p:cNvSpPr>
            <a:spLocks noChangeShapeType="1"/>
          </p:cNvSpPr>
          <p:nvPr/>
        </p:nvSpPr>
        <p:spPr bwMode="auto">
          <a:xfrm flipH="1">
            <a:off x="3124200" y="3810000"/>
            <a:ext cx="6096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3" name="Line 17"/>
          <p:cNvSpPr>
            <a:spLocks noChangeShapeType="1"/>
          </p:cNvSpPr>
          <p:nvPr/>
        </p:nvSpPr>
        <p:spPr bwMode="auto">
          <a:xfrm>
            <a:off x="3886200" y="3810000"/>
            <a:ext cx="7620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4" name="Line 18"/>
          <p:cNvSpPr>
            <a:spLocks noChangeShapeType="1"/>
          </p:cNvSpPr>
          <p:nvPr/>
        </p:nvSpPr>
        <p:spPr bwMode="auto">
          <a:xfrm>
            <a:off x="2209800" y="46482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5" name="Line 19"/>
          <p:cNvSpPr>
            <a:spLocks noChangeShapeType="1"/>
          </p:cNvSpPr>
          <p:nvPr/>
        </p:nvSpPr>
        <p:spPr bwMode="auto">
          <a:xfrm flipH="1">
            <a:off x="2590800" y="4648200"/>
            <a:ext cx="4572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6" name="Line 20"/>
          <p:cNvSpPr>
            <a:spLocks noChangeShapeType="1"/>
          </p:cNvSpPr>
          <p:nvPr/>
        </p:nvSpPr>
        <p:spPr bwMode="auto">
          <a:xfrm>
            <a:off x="838200" y="4648200"/>
            <a:ext cx="15240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7" name="Line 21"/>
          <p:cNvSpPr>
            <a:spLocks noChangeShapeType="1"/>
          </p:cNvSpPr>
          <p:nvPr/>
        </p:nvSpPr>
        <p:spPr bwMode="auto">
          <a:xfrm flipH="1">
            <a:off x="2743200" y="4648200"/>
            <a:ext cx="19812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48" name="Text Box 22"/>
          <p:cNvSpPr txBox="1">
            <a:spLocks noChangeArrowheads="1"/>
          </p:cNvSpPr>
          <p:nvPr/>
        </p:nvSpPr>
        <p:spPr bwMode="auto">
          <a:xfrm>
            <a:off x="2514600" y="2819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26649" name="Text Box 23"/>
          <p:cNvSpPr txBox="1">
            <a:spLocks noChangeArrowheads="1"/>
          </p:cNvSpPr>
          <p:nvPr/>
        </p:nvSpPr>
        <p:spPr bwMode="auto">
          <a:xfrm>
            <a:off x="1219200" y="3352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0" name="Text Box 24"/>
          <p:cNvSpPr txBox="1">
            <a:spLocks noChangeArrowheads="1"/>
          </p:cNvSpPr>
          <p:nvPr/>
        </p:nvSpPr>
        <p:spPr bwMode="auto">
          <a:xfrm>
            <a:off x="3581400" y="3352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1" name="Text Box 25"/>
          <p:cNvSpPr txBox="1">
            <a:spLocks noChangeArrowheads="1"/>
          </p:cNvSpPr>
          <p:nvPr/>
        </p:nvSpPr>
        <p:spPr bwMode="auto">
          <a:xfrm>
            <a:off x="685800" y="4191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2" name="Text Box 26"/>
          <p:cNvSpPr txBox="1">
            <a:spLocks noChangeArrowheads="1"/>
          </p:cNvSpPr>
          <p:nvPr/>
        </p:nvSpPr>
        <p:spPr bwMode="auto">
          <a:xfrm>
            <a:off x="1905000" y="4191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5</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3" name="Text Box 27"/>
          <p:cNvSpPr txBox="1">
            <a:spLocks noChangeArrowheads="1"/>
          </p:cNvSpPr>
          <p:nvPr/>
        </p:nvSpPr>
        <p:spPr bwMode="auto">
          <a:xfrm>
            <a:off x="2895600" y="4191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6</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4" name="Text Box 28"/>
          <p:cNvSpPr txBox="1">
            <a:spLocks noChangeArrowheads="1"/>
          </p:cNvSpPr>
          <p:nvPr/>
        </p:nvSpPr>
        <p:spPr bwMode="auto">
          <a:xfrm>
            <a:off x="4419600" y="4191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7</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5" name="Text Box 29"/>
          <p:cNvSpPr txBox="1">
            <a:spLocks noChangeArrowheads="1"/>
          </p:cNvSpPr>
          <p:nvPr/>
        </p:nvSpPr>
        <p:spPr bwMode="auto">
          <a:xfrm>
            <a:off x="2362200" y="5105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8</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26656" name="Text Box 30"/>
          <p:cNvSpPr txBox="1">
            <a:spLocks noChangeArrowheads="1"/>
          </p:cNvSpPr>
          <p:nvPr/>
        </p:nvSpPr>
        <p:spPr bwMode="auto">
          <a:xfrm>
            <a:off x="4720559" y="2457435"/>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Times New Roman" panose="02020603050405020304" pitchFamily="18" charset="0"/>
                <a:ea typeface="华文楷体" panose="02010600040101010101" pitchFamily="2" charset="-122"/>
              </a:rPr>
              <a:t>深度：</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1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2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4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8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5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6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3 </a:t>
            </a:r>
            <a:r>
              <a:rPr kumimoji="1" lang="en-US" altLang="zh-CN" sz="2400" b="1" dirty="0">
                <a:solidFill>
                  <a:srgbClr val="FF3300"/>
                </a:solidFill>
                <a:latin typeface="Times New Roman" panose="02020603050405020304" pitchFamily="18" charset="0"/>
                <a:ea typeface="华文楷体" panose="02010600040101010101" pitchFamily="2" charset="-122"/>
              </a:rPr>
              <a:t>v</a:t>
            </a:r>
            <a:r>
              <a:rPr kumimoji="1" lang="en-US" altLang="zh-CN" sz="2400" b="1" baseline="-25000" dirty="0">
                <a:solidFill>
                  <a:srgbClr val="FF3300"/>
                </a:solidFill>
                <a:latin typeface="Times New Roman" panose="02020603050405020304" pitchFamily="18" charset="0"/>
                <a:ea typeface="华文楷体" panose="02010600040101010101" pitchFamily="2" charset="-122"/>
              </a:rPr>
              <a:t>7</a:t>
            </a:r>
            <a:endParaRPr kumimoji="1" lang="en-US" altLang="zh-CN" sz="2400" b="1" baseline="-25000" dirty="0">
              <a:latin typeface="Times New Roman" panose="02020603050405020304" pitchFamily="18" charset="0"/>
              <a:ea typeface="华文楷体" panose="02010600040101010101" pitchFamily="2" charset="-122"/>
            </a:endParaRPr>
          </a:p>
        </p:txBody>
      </p:sp>
      <p:sp>
        <p:nvSpPr>
          <p:cNvPr id="26657" name="Text Box 31"/>
          <p:cNvSpPr txBox="1">
            <a:spLocks noChangeArrowheads="1"/>
          </p:cNvSpPr>
          <p:nvPr/>
        </p:nvSpPr>
        <p:spPr bwMode="auto">
          <a:xfrm>
            <a:off x="4720559" y="2990835"/>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Times New Roman" panose="02020603050405020304" pitchFamily="18" charset="0"/>
                <a:ea typeface="华文楷体" panose="02010600040101010101" pitchFamily="2" charset="-122"/>
              </a:rPr>
              <a:t>广度：</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1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2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3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4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5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6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7 </a:t>
            </a:r>
            <a:r>
              <a:rPr kumimoji="1" lang="en-US" altLang="zh-CN" sz="2400" b="1" dirty="0">
                <a:solidFill>
                  <a:schemeClr val="accent2"/>
                </a:solidFill>
                <a:latin typeface="Times New Roman" panose="02020603050405020304" pitchFamily="18" charset="0"/>
                <a:ea typeface="华文楷体" panose="02010600040101010101" pitchFamily="2" charset="-122"/>
              </a:rPr>
              <a:t>v</a:t>
            </a:r>
            <a:r>
              <a:rPr kumimoji="1" lang="en-US" altLang="zh-CN" sz="2400" b="1" baseline="-25000" dirty="0">
                <a:solidFill>
                  <a:schemeClr val="accent2"/>
                </a:solidFill>
                <a:latin typeface="Times New Roman" panose="02020603050405020304" pitchFamily="18" charset="0"/>
                <a:ea typeface="华文楷体" panose="02010600040101010101" pitchFamily="2" charset="-122"/>
              </a:rPr>
              <a:t>8</a:t>
            </a:r>
            <a:endParaRPr kumimoji="1" lang="en-US" altLang="zh-CN" sz="2400" b="1" baseline="-25000" dirty="0">
              <a:latin typeface="Times New Roman" panose="02020603050405020304" pitchFamily="18" charset="0"/>
              <a:ea typeface="华文楷体" panose="02010600040101010101" pitchFamily="2" charset="-122"/>
            </a:endParaRPr>
          </a:p>
        </p:txBody>
      </p:sp>
      <p:sp>
        <p:nvSpPr>
          <p:cNvPr id="26658" name="Line 32"/>
          <p:cNvSpPr>
            <a:spLocks noChangeShapeType="1"/>
          </p:cNvSpPr>
          <p:nvPr/>
        </p:nvSpPr>
        <p:spPr bwMode="auto">
          <a:xfrm flipV="1">
            <a:off x="1600200" y="2971800"/>
            <a:ext cx="838200" cy="304800"/>
          </a:xfrm>
          <a:prstGeom prst="line">
            <a:avLst/>
          </a:prstGeom>
          <a:noFill/>
          <a:ln w="9525">
            <a:solidFill>
              <a:srgbClr val="FF33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59" name="Line 33"/>
          <p:cNvSpPr>
            <a:spLocks noChangeShapeType="1"/>
          </p:cNvSpPr>
          <p:nvPr/>
        </p:nvSpPr>
        <p:spPr bwMode="auto">
          <a:xfrm flipH="1">
            <a:off x="685800" y="3810000"/>
            <a:ext cx="533400" cy="4572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0" name="Line 34"/>
          <p:cNvSpPr>
            <a:spLocks noChangeShapeType="1"/>
          </p:cNvSpPr>
          <p:nvPr/>
        </p:nvSpPr>
        <p:spPr bwMode="auto">
          <a:xfrm>
            <a:off x="914400" y="4800600"/>
            <a:ext cx="1066800" cy="5334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1" name="Line 35"/>
          <p:cNvSpPr>
            <a:spLocks noChangeShapeType="1"/>
          </p:cNvSpPr>
          <p:nvPr/>
        </p:nvSpPr>
        <p:spPr bwMode="auto">
          <a:xfrm>
            <a:off x="2133600" y="4724400"/>
            <a:ext cx="228600" cy="381000"/>
          </a:xfrm>
          <a:prstGeom prst="line">
            <a:avLst/>
          </a:prstGeom>
          <a:noFill/>
          <a:ln w="9525">
            <a:solidFill>
              <a:srgbClr val="FF33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2" name="Line 36"/>
          <p:cNvSpPr>
            <a:spLocks noChangeShapeType="1"/>
          </p:cNvSpPr>
          <p:nvPr/>
        </p:nvSpPr>
        <p:spPr bwMode="auto">
          <a:xfrm flipV="1">
            <a:off x="2590800" y="4572000"/>
            <a:ext cx="381000" cy="4572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3" name="Line 37"/>
          <p:cNvSpPr>
            <a:spLocks noChangeShapeType="1"/>
          </p:cNvSpPr>
          <p:nvPr/>
        </p:nvSpPr>
        <p:spPr bwMode="auto">
          <a:xfrm flipV="1">
            <a:off x="3124200" y="3733800"/>
            <a:ext cx="533400" cy="3810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4" name="Line 38"/>
          <p:cNvSpPr>
            <a:spLocks noChangeShapeType="1"/>
          </p:cNvSpPr>
          <p:nvPr/>
        </p:nvSpPr>
        <p:spPr bwMode="auto">
          <a:xfrm>
            <a:off x="3886200" y="3886200"/>
            <a:ext cx="609600" cy="3810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5" name="Line 39"/>
          <p:cNvSpPr>
            <a:spLocks noChangeShapeType="1"/>
          </p:cNvSpPr>
          <p:nvPr/>
        </p:nvSpPr>
        <p:spPr bwMode="auto">
          <a:xfrm flipH="1">
            <a:off x="1752600" y="3200400"/>
            <a:ext cx="685800" cy="2286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6" name="Line 40"/>
          <p:cNvSpPr>
            <a:spLocks noChangeShapeType="1"/>
          </p:cNvSpPr>
          <p:nvPr/>
        </p:nvSpPr>
        <p:spPr bwMode="auto">
          <a:xfrm>
            <a:off x="2971800" y="3276600"/>
            <a:ext cx="685800" cy="2286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7" name="Line 41"/>
          <p:cNvSpPr>
            <a:spLocks noChangeShapeType="1"/>
          </p:cNvSpPr>
          <p:nvPr/>
        </p:nvSpPr>
        <p:spPr bwMode="auto">
          <a:xfrm flipH="1">
            <a:off x="1066800" y="3886200"/>
            <a:ext cx="381000" cy="3048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8" name="Line 42"/>
          <p:cNvSpPr>
            <a:spLocks noChangeShapeType="1"/>
          </p:cNvSpPr>
          <p:nvPr/>
        </p:nvSpPr>
        <p:spPr bwMode="auto">
          <a:xfrm>
            <a:off x="1752600" y="3810000"/>
            <a:ext cx="457200" cy="3048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69" name="Line 43"/>
          <p:cNvSpPr>
            <a:spLocks noChangeShapeType="1"/>
          </p:cNvSpPr>
          <p:nvPr/>
        </p:nvSpPr>
        <p:spPr bwMode="auto">
          <a:xfrm flipH="1">
            <a:off x="3276600" y="3886200"/>
            <a:ext cx="533400" cy="3810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70" name="Line 44"/>
          <p:cNvSpPr>
            <a:spLocks noChangeShapeType="1"/>
          </p:cNvSpPr>
          <p:nvPr/>
        </p:nvSpPr>
        <p:spPr bwMode="auto">
          <a:xfrm>
            <a:off x="4038600" y="3733800"/>
            <a:ext cx="609600" cy="3810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71" name="Line 45"/>
          <p:cNvSpPr>
            <a:spLocks noChangeShapeType="1"/>
          </p:cNvSpPr>
          <p:nvPr/>
        </p:nvSpPr>
        <p:spPr bwMode="auto">
          <a:xfrm>
            <a:off x="1066800" y="4648200"/>
            <a:ext cx="990600" cy="457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72" name="Text Box 46"/>
          <p:cNvSpPr txBox="1">
            <a:spLocks noChangeArrowheads="1"/>
          </p:cNvSpPr>
          <p:nvPr/>
        </p:nvSpPr>
        <p:spPr bwMode="auto">
          <a:xfrm>
            <a:off x="5558759" y="2000235"/>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Times New Roman" panose="02020603050405020304" pitchFamily="18" charset="0"/>
                <a:ea typeface="华文楷体" panose="02010600040101010101" pitchFamily="2" charset="-122"/>
              </a:rPr>
              <a:t>设从</a:t>
            </a: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r>
              <a:rPr kumimoji="1" lang="zh-CN" altLang="en-US" sz="2400" dirty="0">
                <a:latin typeface="Times New Roman" panose="02020603050405020304" pitchFamily="18" charset="0"/>
                <a:ea typeface="华文楷体" panose="02010600040101010101" pitchFamily="2" charset="-122"/>
              </a:rPr>
              <a:t>出发遍历</a:t>
            </a:r>
            <a:endParaRPr kumimoji="1"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页脚占位符 3"/>
          <p:cNvSpPr>
            <a:spLocks noGrp="1"/>
          </p:cNvSpPr>
          <p:nvPr>
            <p:ph type="ftr" sz="quarter" idx="10"/>
          </p:nvPr>
        </p:nvSpPr>
        <p:spPr/>
        <p:txBody>
          <a:bodyPr/>
          <a:lstStyle/>
          <a:p>
            <a:pPr>
              <a:defRPr/>
            </a:pPr>
            <a:r>
              <a:rPr lang="en-US" altLang="zh-CN"/>
              <a:t>BUPT SCST</a:t>
            </a:r>
            <a:endParaRPr lang="en-US" altLang="zh-CN"/>
          </a:p>
        </p:txBody>
      </p:sp>
      <p:sp>
        <p:nvSpPr>
          <p:cNvPr id="58" name="日期占位符 5"/>
          <p:cNvSpPr>
            <a:spLocks noGrp="1"/>
          </p:cNvSpPr>
          <p:nvPr>
            <p:ph type="dt" sz="quarter" idx="12"/>
          </p:nvPr>
        </p:nvSpPr>
        <p:spPr/>
        <p:txBody>
          <a:bodyPr/>
          <a:lstStyle/>
          <a:p>
            <a:pPr>
              <a:defRPr/>
            </a:pPr>
            <a:r>
              <a:rPr lang="en-US" altLang="zh-CN"/>
              <a:t>BUPT</a:t>
            </a:r>
            <a:endParaRPr lang="en-US" altLang="zh-CN"/>
          </a:p>
        </p:txBody>
      </p:sp>
      <p:sp>
        <p:nvSpPr>
          <p:cNvPr id="276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7653" name="Oval 3"/>
          <p:cNvSpPr>
            <a:spLocks noChangeArrowheads="1"/>
          </p:cNvSpPr>
          <p:nvPr/>
        </p:nvSpPr>
        <p:spPr bwMode="auto">
          <a:xfrm>
            <a:off x="609600" y="2438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27654" name="Oval 4"/>
          <p:cNvSpPr>
            <a:spLocks noChangeArrowheads="1"/>
          </p:cNvSpPr>
          <p:nvPr/>
        </p:nvSpPr>
        <p:spPr bwMode="auto">
          <a:xfrm>
            <a:off x="1600200" y="1828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27655" name="Line 5"/>
          <p:cNvSpPr>
            <a:spLocks noChangeShapeType="1"/>
          </p:cNvSpPr>
          <p:nvPr/>
        </p:nvSpPr>
        <p:spPr bwMode="auto">
          <a:xfrm>
            <a:off x="2895600" y="2133600"/>
            <a:ext cx="685800" cy="838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56" name="Oval 6"/>
          <p:cNvSpPr>
            <a:spLocks noChangeArrowheads="1"/>
          </p:cNvSpPr>
          <p:nvPr/>
        </p:nvSpPr>
        <p:spPr bwMode="auto">
          <a:xfrm>
            <a:off x="1600200" y="2971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27657" name="Line 7"/>
          <p:cNvSpPr>
            <a:spLocks noChangeShapeType="1"/>
          </p:cNvSpPr>
          <p:nvPr/>
        </p:nvSpPr>
        <p:spPr bwMode="auto">
          <a:xfrm flipV="1">
            <a:off x="2895600" y="2133600"/>
            <a:ext cx="685800" cy="838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58" name="Line 8"/>
          <p:cNvSpPr>
            <a:spLocks noChangeShapeType="1"/>
          </p:cNvSpPr>
          <p:nvPr/>
        </p:nvSpPr>
        <p:spPr bwMode="auto">
          <a:xfrm flipH="1" flipV="1">
            <a:off x="1828800" y="2209800"/>
            <a:ext cx="0" cy="762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59" name="Line 9"/>
          <p:cNvSpPr>
            <a:spLocks noChangeShapeType="1"/>
          </p:cNvSpPr>
          <p:nvPr/>
        </p:nvSpPr>
        <p:spPr bwMode="auto">
          <a:xfrm flipV="1">
            <a:off x="2057400" y="2057400"/>
            <a:ext cx="4572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0" name="Oval 10"/>
          <p:cNvSpPr>
            <a:spLocks noChangeArrowheads="1"/>
          </p:cNvSpPr>
          <p:nvPr/>
        </p:nvSpPr>
        <p:spPr bwMode="auto">
          <a:xfrm>
            <a:off x="2514600" y="1828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27661" name="Oval 11"/>
          <p:cNvSpPr>
            <a:spLocks noChangeArrowheads="1"/>
          </p:cNvSpPr>
          <p:nvPr/>
        </p:nvSpPr>
        <p:spPr bwMode="auto">
          <a:xfrm>
            <a:off x="2514600" y="2971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27662" name="Oval 12"/>
          <p:cNvSpPr>
            <a:spLocks noChangeArrowheads="1"/>
          </p:cNvSpPr>
          <p:nvPr/>
        </p:nvSpPr>
        <p:spPr bwMode="auto">
          <a:xfrm>
            <a:off x="3505200" y="1828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27663" name="Oval 13"/>
          <p:cNvSpPr>
            <a:spLocks noChangeArrowheads="1"/>
          </p:cNvSpPr>
          <p:nvPr/>
        </p:nvSpPr>
        <p:spPr bwMode="auto">
          <a:xfrm>
            <a:off x="3505200" y="2971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27664" name="Line 14"/>
          <p:cNvSpPr>
            <a:spLocks noChangeShapeType="1"/>
          </p:cNvSpPr>
          <p:nvPr/>
        </p:nvSpPr>
        <p:spPr bwMode="auto">
          <a:xfrm flipH="1">
            <a:off x="2743200" y="2209800"/>
            <a:ext cx="0" cy="762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5" name="Line 15"/>
          <p:cNvSpPr>
            <a:spLocks noChangeShapeType="1"/>
          </p:cNvSpPr>
          <p:nvPr/>
        </p:nvSpPr>
        <p:spPr bwMode="auto">
          <a:xfrm flipH="1" flipV="1">
            <a:off x="3733800" y="2209800"/>
            <a:ext cx="0" cy="762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6" name="Line 16"/>
          <p:cNvSpPr>
            <a:spLocks noChangeShapeType="1"/>
          </p:cNvSpPr>
          <p:nvPr/>
        </p:nvSpPr>
        <p:spPr bwMode="auto">
          <a:xfrm flipV="1">
            <a:off x="2057400" y="3200400"/>
            <a:ext cx="4572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7" name="Line 17"/>
          <p:cNvSpPr>
            <a:spLocks noChangeShapeType="1"/>
          </p:cNvSpPr>
          <p:nvPr/>
        </p:nvSpPr>
        <p:spPr bwMode="auto">
          <a:xfrm flipV="1">
            <a:off x="2971800" y="3200400"/>
            <a:ext cx="5334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8" name="Line 18"/>
          <p:cNvSpPr>
            <a:spLocks noChangeShapeType="1"/>
          </p:cNvSpPr>
          <p:nvPr/>
        </p:nvSpPr>
        <p:spPr bwMode="auto">
          <a:xfrm flipH="1" flipV="1">
            <a:off x="2971800" y="2057400"/>
            <a:ext cx="5334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69" name="Line 19"/>
          <p:cNvSpPr>
            <a:spLocks noChangeShapeType="1"/>
          </p:cNvSpPr>
          <p:nvPr/>
        </p:nvSpPr>
        <p:spPr bwMode="auto">
          <a:xfrm flipV="1">
            <a:off x="1066800" y="2133600"/>
            <a:ext cx="6096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70" name="Line 20"/>
          <p:cNvSpPr>
            <a:spLocks noChangeShapeType="1"/>
          </p:cNvSpPr>
          <p:nvPr/>
        </p:nvSpPr>
        <p:spPr bwMode="auto">
          <a:xfrm>
            <a:off x="1066800" y="2743200"/>
            <a:ext cx="5334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61" name="Oval 21"/>
          <p:cNvSpPr>
            <a:spLocks noChangeArrowheads="1"/>
          </p:cNvSpPr>
          <p:nvPr/>
        </p:nvSpPr>
        <p:spPr bwMode="auto">
          <a:xfrm>
            <a:off x="6324600" y="2057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2" name="Oval 22"/>
          <p:cNvSpPr>
            <a:spLocks noChangeArrowheads="1"/>
          </p:cNvSpPr>
          <p:nvPr/>
        </p:nvSpPr>
        <p:spPr bwMode="auto">
          <a:xfrm>
            <a:off x="5867400" y="2819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3" name="Oval 23"/>
          <p:cNvSpPr>
            <a:spLocks noChangeArrowheads="1"/>
          </p:cNvSpPr>
          <p:nvPr/>
        </p:nvSpPr>
        <p:spPr bwMode="auto">
          <a:xfrm>
            <a:off x="7010400" y="2819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4" name="Oval 24"/>
          <p:cNvSpPr>
            <a:spLocks noChangeArrowheads="1"/>
          </p:cNvSpPr>
          <p:nvPr/>
        </p:nvSpPr>
        <p:spPr bwMode="auto">
          <a:xfrm>
            <a:off x="54102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5" name="Oval 25"/>
          <p:cNvSpPr>
            <a:spLocks noChangeArrowheads="1"/>
          </p:cNvSpPr>
          <p:nvPr/>
        </p:nvSpPr>
        <p:spPr bwMode="auto">
          <a:xfrm>
            <a:off x="4953000" y="4495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6" name="Oval 26"/>
          <p:cNvSpPr>
            <a:spLocks noChangeArrowheads="1"/>
          </p:cNvSpPr>
          <p:nvPr/>
        </p:nvSpPr>
        <p:spPr bwMode="auto">
          <a:xfrm>
            <a:off x="4572000" y="5486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35867" name="Oval 27"/>
          <p:cNvSpPr>
            <a:spLocks noChangeArrowheads="1"/>
          </p:cNvSpPr>
          <p:nvPr/>
        </p:nvSpPr>
        <p:spPr bwMode="auto">
          <a:xfrm>
            <a:off x="6019800" y="4495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35868" name="Line 28"/>
          <p:cNvSpPr>
            <a:spLocks noChangeShapeType="1"/>
          </p:cNvSpPr>
          <p:nvPr/>
        </p:nvSpPr>
        <p:spPr bwMode="auto">
          <a:xfrm flipH="1">
            <a:off x="6172200" y="2362200"/>
            <a:ext cx="304800" cy="5318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69" name="Line 29"/>
          <p:cNvSpPr>
            <a:spLocks noChangeShapeType="1"/>
          </p:cNvSpPr>
          <p:nvPr/>
        </p:nvSpPr>
        <p:spPr bwMode="auto">
          <a:xfrm>
            <a:off x="6705600" y="2438400"/>
            <a:ext cx="4572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70" name="Line 30"/>
          <p:cNvSpPr>
            <a:spLocks noChangeShapeType="1"/>
          </p:cNvSpPr>
          <p:nvPr/>
        </p:nvSpPr>
        <p:spPr bwMode="auto">
          <a:xfrm flipH="1">
            <a:off x="5715000" y="3200400"/>
            <a:ext cx="304800" cy="5318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71" name="Line 31"/>
          <p:cNvSpPr>
            <a:spLocks noChangeShapeType="1"/>
          </p:cNvSpPr>
          <p:nvPr/>
        </p:nvSpPr>
        <p:spPr bwMode="auto">
          <a:xfrm flipH="1">
            <a:off x="5257800" y="4038600"/>
            <a:ext cx="304800" cy="5318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72" name="Line 32"/>
          <p:cNvSpPr>
            <a:spLocks noChangeShapeType="1"/>
          </p:cNvSpPr>
          <p:nvPr/>
        </p:nvSpPr>
        <p:spPr bwMode="auto">
          <a:xfrm flipH="1">
            <a:off x="4800600" y="4876800"/>
            <a:ext cx="304800" cy="6096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73" name="Line 33"/>
          <p:cNvSpPr>
            <a:spLocks noChangeShapeType="1"/>
          </p:cNvSpPr>
          <p:nvPr/>
        </p:nvSpPr>
        <p:spPr bwMode="auto">
          <a:xfrm>
            <a:off x="5715000" y="4038600"/>
            <a:ext cx="4572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74" name="Text Box 34"/>
          <p:cNvSpPr txBox="1">
            <a:spLocks noChangeArrowheads="1"/>
          </p:cNvSpPr>
          <p:nvPr/>
        </p:nvSpPr>
        <p:spPr bwMode="auto">
          <a:xfrm>
            <a:off x="6248400" y="2057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75" name="Text Box 35"/>
          <p:cNvSpPr txBox="1">
            <a:spLocks noChangeArrowheads="1"/>
          </p:cNvSpPr>
          <p:nvPr/>
        </p:nvSpPr>
        <p:spPr bwMode="auto">
          <a:xfrm>
            <a:off x="5791200" y="2819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76" name="Text Box 36"/>
          <p:cNvSpPr txBox="1">
            <a:spLocks noChangeArrowheads="1"/>
          </p:cNvSpPr>
          <p:nvPr/>
        </p:nvSpPr>
        <p:spPr bwMode="auto">
          <a:xfrm>
            <a:off x="5334000" y="36576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77" name="Text Box 37"/>
          <p:cNvSpPr txBox="1">
            <a:spLocks noChangeArrowheads="1"/>
          </p:cNvSpPr>
          <p:nvPr/>
        </p:nvSpPr>
        <p:spPr bwMode="auto">
          <a:xfrm>
            <a:off x="4876800" y="4495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78" name="Text Box 38"/>
          <p:cNvSpPr txBox="1">
            <a:spLocks noChangeArrowheads="1"/>
          </p:cNvSpPr>
          <p:nvPr/>
        </p:nvSpPr>
        <p:spPr bwMode="auto">
          <a:xfrm>
            <a:off x="5943600" y="4495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79" name="Text Box 39"/>
          <p:cNvSpPr txBox="1">
            <a:spLocks noChangeArrowheads="1"/>
          </p:cNvSpPr>
          <p:nvPr/>
        </p:nvSpPr>
        <p:spPr bwMode="auto">
          <a:xfrm>
            <a:off x="4495800" y="5486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80" name="Text Box 40"/>
          <p:cNvSpPr txBox="1">
            <a:spLocks noChangeArrowheads="1"/>
          </p:cNvSpPr>
          <p:nvPr/>
        </p:nvSpPr>
        <p:spPr bwMode="auto">
          <a:xfrm>
            <a:off x="6934200" y="2819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7691" name="Text Box 41"/>
          <p:cNvSpPr txBox="1">
            <a:spLocks noChangeArrowheads="1"/>
          </p:cNvSpPr>
          <p:nvPr/>
        </p:nvSpPr>
        <p:spPr bwMode="auto">
          <a:xfrm>
            <a:off x="5410200" y="5029200"/>
            <a:ext cx="35052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从顶点        出发的搜索序列：</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a:t>
            </a:r>
            <a:r>
              <a:rPr kumimoji="1" lang="en-US" altLang="zh-CN" sz="1600" b="1" dirty="0">
                <a:latin typeface="Times New Roman" panose="02020603050405020304" pitchFamily="18" charset="0"/>
                <a:ea typeface="华文楷体" panose="02010600040101010101" pitchFamily="2" charset="-122"/>
              </a:rPr>
              <a:t>5</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6</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2</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3</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1</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4</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适用的数据结构：栈</a:t>
            </a:r>
            <a:endParaRPr kumimoji="1" lang="zh-CN" altLang="en-US" sz="1600" b="1" dirty="0">
              <a:latin typeface="Times New Roman" panose="02020603050405020304" pitchFamily="18" charset="0"/>
              <a:ea typeface="华文楷体" panose="02010600040101010101" pitchFamily="2" charset="-122"/>
            </a:endParaRPr>
          </a:p>
        </p:txBody>
      </p:sp>
      <p:sp>
        <p:nvSpPr>
          <p:cNvPr id="27692" name="Oval 42"/>
          <p:cNvSpPr>
            <a:spLocks noChangeArrowheads="1"/>
          </p:cNvSpPr>
          <p:nvPr/>
        </p:nvSpPr>
        <p:spPr bwMode="auto">
          <a:xfrm>
            <a:off x="6172200" y="5029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35883" name="Oval 43"/>
          <p:cNvSpPr>
            <a:spLocks noChangeArrowheads="1"/>
          </p:cNvSpPr>
          <p:nvPr/>
        </p:nvSpPr>
        <p:spPr bwMode="auto">
          <a:xfrm>
            <a:off x="2667000" y="3962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35884" name="Oval 44"/>
          <p:cNvSpPr>
            <a:spLocks noChangeArrowheads="1"/>
          </p:cNvSpPr>
          <p:nvPr/>
        </p:nvSpPr>
        <p:spPr bwMode="auto">
          <a:xfrm>
            <a:off x="2209800" y="4724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35885" name="Oval 45"/>
          <p:cNvSpPr>
            <a:spLocks noChangeArrowheads="1"/>
          </p:cNvSpPr>
          <p:nvPr/>
        </p:nvSpPr>
        <p:spPr bwMode="auto">
          <a:xfrm>
            <a:off x="2895600" y="5486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35886" name="Oval 46"/>
          <p:cNvSpPr>
            <a:spLocks noChangeArrowheads="1"/>
          </p:cNvSpPr>
          <p:nvPr/>
        </p:nvSpPr>
        <p:spPr bwMode="auto">
          <a:xfrm>
            <a:off x="1752600" y="5562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35887" name="Line 47"/>
          <p:cNvSpPr>
            <a:spLocks noChangeShapeType="1"/>
          </p:cNvSpPr>
          <p:nvPr/>
        </p:nvSpPr>
        <p:spPr bwMode="auto">
          <a:xfrm flipH="1">
            <a:off x="2514600" y="4267200"/>
            <a:ext cx="304800" cy="5318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88" name="Line 48"/>
          <p:cNvSpPr>
            <a:spLocks noChangeShapeType="1"/>
          </p:cNvSpPr>
          <p:nvPr/>
        </p:nvSpPr>
        <p:spPr bwMode="auto">
          <a:xfrm>
            <a:off x="2590800" y="5105400"/>
            <a:ext cx="4572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89" name="Line 49"/>
          <p:cNvSpPr>
            <a:spLocks noChangeShapeType="1"/>
          </p:cNvSpPr>
          <p:nvPr/>
        </p:nvSpPr>
        <p:spPr bwMode="auto">
          <a:xfrm flipH="1">
            <a:off x="2057400" y="5105400"/>
            <a:ext cx="304800" cy="531813"/>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90" name="Text Box 50"/>
          <p:cNvSpPr txBox="1">
            <a:spLocks noChangeArrowheads="1"/>
          </p:cNvSpPr>
          <p:nvPr/>
        </p:nvSpPr>
        <p:spPr bwMode="auto">
          <a:xfrm>
            <a:off x="2590800" y="3962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91" name="Text Box 51"/>
          <p:cNvSpPr txBox="1">
            <a:spLocks noChangeArrowheads="1"/>
          </p:cNvSpPr>
          <p:nvPr/>
        </p:nvSpPr>
        <p:spPr bwMode="auto">
          <a:xfrm>
            <a:off x="2133600" y="4724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92" name="Text Box 52"/>
          <p:cNvSpPr txBox="1">
            <a:spLocks noChangeArrowheads="1"/>
          </p:cNvSpPr>
          <p:nvPr/>
        </p:nvSpPr>
        <p:spPr bwMode="auto">
          <a:xfrm>
            <a:off x="1676400" y="55626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35893" name="Text Box 53"/>
          <p:cNvSpPr txBox="1">
            <a:spLocks noChangeArrowheads="1"/>
          </p:cNvSpPr>
          <p:nvPr/>
        </p:nvSpPr>
        <p:spPr bwMode="auto">
          <a:xfrm>
            <a:off x="2819400" y="54864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27704" name="Text Box 54"/>
          <p:cNvSpPr txBox="1">
            <a:spLocks noChangeArrowheads="1"/>
          </p:cNvSpPr>
          <p:nvPr/>
        </p:nvSpPr>
        <p:spPr bwMode="auto">
          <a:xfrm>
            <a:off x="76200" y="3581400"/>
            <a:ext cx="4114800" cy="25368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从顶点        出发的搜索序列：</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a:t>
            </a:r>
            <a:r>
              <a:rPr kumimoji="1" lang="en-US" altLang="zh-CN" sz="1600" b="1" dirty="0">
                <a:latin typeface="Times New Roman" panose="02020603050405020304" pitchFamily="18" charset="0"/>
                <a:ea typeface="华文楷体" panose="02010600040101010101" pitchFamily="2" charset="-122"/>
              </a:rPr>
              <a:t>1</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2</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3</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4</a:t>
            </a:r>
            <a:r>
              <a:rPr kumimoji="1" lang="zh-CN" altLang="en-US" sz="1600" b="1" dirty="0">
                <a:latin typeface="Times New Roman" panose="02020603050405020304" pitchFamily="18" charset="0"/>
                <a:ea typeface="华文楷体" panose="02010600040101010101" pitchFamily="2" charset="-122"/>
              </a:rPr>
              <a:t>；没有搜索</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到所有的顶点，必</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须另选图中未访</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问过的结点，</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继续进行</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搜索。</a:t>
            </a:r>
            <a:endParaRPr kumimoji="1" lang="zh-CN" altLang="en-US" sz="1600" b="1" dirty="0">
              <a:latin typeface="Times New Roman" panose="02020603050405020304" pitchFamily="18" charset="0"/>
              <a:ea typeface="华文楷体" panose="02010600040101010101" pitchFamily="2" charset="-122"/>
            </a:endParaRPr>
          </a:p>
        </p:txBody>
      </p:sp>
      <p:sp>
        <p:nvSpPr>
          <p:cNvPr id="27705" name="Oval 55"/>
          <p:cNvSpPr>
            <a:spLocks noChangeArrowheads="1"/>
          </p:cNvSpPr>
          <p:nvPr/>
        </p:nvSpPr>
        <p:spPr bwMode="auto">
          <a:xfrm>
            <a:off x="762000" y="3505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27706" name="Text Box 56"/>
          <p:cNvSpPr txBox="1">
            <a:spLocks noChangeArrowheads="1"/>
          </p:cNvSpPr>
          <p:nvPr/>
        </p:nvSpPr>
        <p:spPr bwMode="auto">
          <a:xfrm>
            <a:off x="228600" y="1219200"/>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Times New Roman" panose="02020603050405020304" pitchFamily="18" charset="0"/>
                <a:ea typeface="华文楷体" panose="02010600040101010101" pitchFamily="2" charset="-122"/>
              </a:rPr>
              <a:t>[</a:t>
            </a:r>
            <a:r>
              <a:rPr lang="zh-CN" altLang="en-US" sz="2400" b="1" dirty="0">
                <a:solidFill>
                  <a:srgbClr val="996600"/>
                </a:solidFill>
                <a:latin typeface="Times New Roman" panose="02020603050405020304" pitchFamily="18" charset="0"/>
                <a:ea typeface="华文楷体" panose="02010600040101010101" pitchFamily="2" charset="-122"/>
              </a:rPr>
              <a:t>例</a:t>
            </a:r>
            <a:r>
              <a:rPr lang="en-US" altLang="zh-CN" sz="2400" b="1" dirty="0">
                <a:solidFill>
                  <a:srgbClr val="996600"/>
                </a:solidFill>
                <a:latin typeface="Times New Roman" panose="02020603050405020304" pitchFamily="18" charset="0"/>
                <a:ea typeface="华文楷体" panose="02010600040101010101" pitchFamily="2" charset="-122"/>
              </a:rPr>
              <a:t>] </a:t>
            </a:r>
            <a:r>
              <a:rPr lang="zh-CN" altLang="en-US" sz="2400" b="1" dirty="0">
                <a:solidFill>
                  <a:srgbClr val="996600"/>
                </a:solidFill>
                <a:latin typeface="Times New Roman" panose="02020603050405020304" pitchFamily="18" charset="0"/>
                <a:ea typeface="华文楷体" panose="02010600040101010101" pitchFamily="2" charset="-122"/>
              </a:rPr>
              <a:t>有向图的深度优先遍历</a:t>
            </a:r>
            <a:endParaRPr lang="zh-CN" altLang="en-US" sz="2400" b="1" dirty="0">
              <a:solidFill>
                <a:srgbClr val="996600"/>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83"/>
                                        </p:tgtEl>
                                        <p:attrNameLst>
                                          <p:attrName>style.visibility</p:attrName>
                                        </p:attrNameLst>
                                      </p:cBhvr>
                                      <p:to>
                                        <p:strVal val="visible"/>
                                      </p:to>
                                    </p:set>
                                    <p:anim calcmode="lin" valueType="num">
                                      <p:cBhvr additive="base">
                                        <p:cTn id="7" dur="500" fill="hold"/>
                                        <p:tgtEl>
                                          <p:spTgt spid="35883"/>
                                        </p:tgtEl>
                                        <p:attrNameLst>
                                          <p:attrName>ppt_x</p:attrName>
                                        </p:attrNameLst>
                                      </p:cBhvr>
                                      <p:tavLst>
                                        <p:tav tm="0">
                                          <p:val>
                                            <p:strVal val="0-#ppt_w/2"/>
                                          </p:val>
                                        </p:tav>
                                        <p:tav tm="100000">
                                          <p:val>
                                            <p:strVal val="#ppt_x"/>
                                          </p:val>
                                        </p:tav>
                                      </p:tavLst>
                                    </p:anim>
                                    <p:anim calcmode="lin" valueType="num">
                                      <p:cBhvr additive="base">
                                        <p:cTn id="8" dur="500" fill="hold"/>
                                        <p:tgtEl>
                                          <p:spTgt spid="3588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90">
                                            <p:txEl>
                                              <p:pRg st="0" end="0"/>
                                            </p:txEl>
                                          </p:spTgt>
                                        </p:tgtEl>
                                        <p:attrNameLst>
                                          <p:attrName>style.visibility</p:attrName>
                                        </p:attrNameLst>
                                      </p:cBhvr>
                                      <p:to>
                                        <p:strVal val="visible"/>
                                      </p:to>
                                    </p:set>
                                    <p:anim calcmode="lin" valueType="num">
                                      <p:cBhvr additive="base">
                                        <p:cTn id="13" dur="500" fill="hold"/>
                                        <p:tgtEl>
                                          <p:spTgt spid="3589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89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35887"/>
                                        </p:tgtEl>
                                        <p:attrNameLst>
                                          <p:attrName>style.visibility</p:attrName>
                                        </p:attrNameLst>
                                      </p:cBhvr>
                                      <p:to>
                                        <p:strVal val="visible"/>
                                      </p:to>
                                    </p:set>
                                    <p:animEffect transition="in" filter="box(out)">
                                      <p:cBhvr>
                                        <p:cTn id="19" dur="500"/>
                                        <p:tgtEl>
                                          <p:spTgt spid="35887"/>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5884"/>
                                        </p:tgtEl>
                                        <p:attrNameLst>
                                          <p:attrName>style.visibility</p:attrName>
                                        </p:attrNameLst>
                                      </p:cBhvr>
                                      <p:to>
                                        <p:strVal val="visible"/>
                                      </p:to>
                                    </p:set>
                                    <p:anim calcmode="lin" valueType="num">
                                      <p:cBhvr additive="base">
                                        <p:cTn id="24" dur="500" fill="hold"/>
                                        <p:tgtEl>
                                          <p:spTgt spid="35884"/>
                                        </p:tgtEl>
                                        <p:attrNameLst>
                                          <p:attrName>ppt_x</p:attrName>
                                        </p:attrNameLst>
                                      </p:cBhvr>
                                      <p:tavLst>
                                        <p:tav tm="0">
                                          <p:val>
                                            <p:strVal val="0-#ppt_w/2"/>
                                          </p:val>
                                        </p:tav>
                                        <p:tav tm="100000">
                                          <p:val>
                                            <p:strVal val="#ppt_x"/>
                                          </p:val>
                                        </p:tav>
                                      </p:tavLst>
                                    </p:anim>
                                    <p:anim calcmode="lin" valueType="num">
                                      <p:cBhvr additive="base">
                                        <p:cTn id="25" dur="500" fill="hold"/>
                                        <p:tgtEl>
                                          <p:spTgt spid="358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1"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5891">
                                            <p:txEl>
                                              <p:pRg st="0" end="0"/>
                                            </p:txEl>
                                          </p:spTgt>
                                        </p:tgtEl>
                                        <p:attrNameLst>
                                          <p:attrName>style.visibility</p:attrName>
                                        </p:attrNameLst>
                                      </p:cBhvr>
                                      <p:to>
                                        <p:strVal val="visible"/>
                                      </p:to>
                                    </p:set>
                                    <p:anim calcmode="lin" valueType="num">
                                      <p:cBhvr additive="base">
                                        <p:cTn id="30" dur="500" fill="hold"/>
                                        <p:tgtEl>
                                          <p:spTgt spid="35891">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589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1" name="WHOOSH.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35889"/>
                                        </p:tgtEl>
                                        <p:attrNameLst>
                                          <p:attrName>style.visibility</p:attrName>
                                        </p:attrNameLst>
                                      </p:cBhvr>
                                      <p:to>
                                        <p:strVal val="visible"/>
                                      </p:to>
                                    </p:set>
                                    <p:animEffect transition="in" filter="box(out)">
                                      <p:cBhvr>
                                        <p:cTn id="36" dur="500"/>
                                        <p:tgtEl>
                                          <p:spTgt spid="35889"/>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5886"/>
                                        </p:tgtEl>
                                        <p:attrNameLst>
                                          <p:attrName>style.visibility</p:attrName>
                                        </p:attrNameLst>
                                      </p:cBhvr>
                                      <p:to>
                                        <p:strVal val="visible"/>
                                      </p:to>
                                    </p:set>
                                    <p:anim calcmode="lin" valueType="num">
                                      <p:cBhvr additive="base">
                                        <p:cTn id="41" dur="500" fill="hold"/>
                                        <p:tgtEl>
                                          <p:spTgt spid="35886"/>
                                        </p:tgtEl>
                                        <p:attrNameLst>
                                          <p:attrName>ppt_x</p:attrName>
                                        </p:attrNameLst>
                                      </p:cBhvr>
                                      <p:tavLst>
                                        <p:tav tm="0">
                                          <p:val>
                                            <p:strVal val="0-#ppt_w/2"/>
                                          </p:val>
                                        </p:tav>
                                        <p:tav tm="100000">
                                          <p:val>
                                            <p:strVal val="#ppt_x"/>
                                          </p:val>
                                        </p:tav>
                                      </p:tavLst>
                                    </p:anim>
                                    <p:anim calcmode="lin" valueType="num">
                                      <p:cBhvr additive="base">
                                        <p:cTn id="42" dur="500" fill="hold"/>
                                        <p:tgtEl>
                                          <p:spTgt spid="358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1"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35892">
                                            <p:txEl>
                                              <p:pRg st="0" end="0"/>
                                            </p:txEl>
                                          </p:spTgt>
                                        </p:tgtEl>
                                        <p:attrNameLst>
                                          <p:attrName>style.visibility</p:attrName>
                                        </p:attrNameLst>
                                      </p:cBhvr>
                                      <p:to>
                                        <p:strVal val="visible"/>
                                      </p:to>
                                    </p:set>
                                    <p:anim calcmode="lin" valueType="num">
                                      <p:cBhvr additive="base">
                                        <p:cTn id="47" dur="500" fill="hold"/>
                                        <p:tgtEl>
                                          <p:spTgt spid="35892">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589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1" name="WHOOSH.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35888"/>
                                        </p:tgtEl>
                                        <p:attrNameLst>
                                          <p:attrName>style.visibility</p:attrName>
                                        </p:attrNameLst>
                                      </p:cBhvr>
                                      <p:to>
                                        <p:strVal val="visible"/>
                                      </p:to>
                                    </p:set>
                                    <p:animEffect transition="in" filter="box(out)">
                                      <p:cBhvr>
                                        <p:cTn id="53" dur="500"/>
                                        <p:tgtEl>
                                          <p:spTgt spid="35888"/>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35885"/>
                                        </p:tgtEl>
                                        <p:attrNameLst>
                                          <p:attrName>style.visibility</p:attrName>
                                        </p:attrNameLst>
                                      </p:cBhvr>
                                      <p:to>
                                        <p:strVal val="visible"/>
                                      </p:to>
                                    </p:set>
                                    <p:anim calcmode="lin" valueType="num">
                                      <p:cBhvr additive="base">
                                        <p:cTn id="58" dur="500" fill="hold"/>
                                        <p:tgtEl>
                                          <p:spTgt spid="35885"/>
                                        </p:tgtEl>
                                        <p:attrNameLst>
                                          <p:attrName>ppt_x</p:attrName>
                                        </p:attrNameLst>
                                      </p:cBhvr>
                                      <p:tavLst>
                                        <p:tav tm="0">
                                          <p:val>
                                            <p:strVal val="0-#ppt_w/2"/>
                                          </p:val>
                                        </p:tav>
                                        <p:tav tm="100000">
                                          <p:val>
                                            <p:strVal val="#ppt_x"/>
                                          </p:val>
                                        </p:tav>
                                      </p:tavLst>
                                    </p:anim>
                                    <p:anim calcmode="lin" valueType="num">
                                      <p:cBhvr additive="base">
                                        <p:cTn id="59" dur="500" fill="hold"/>
                                        <p:tgtEl>
                                          <p:spTgt spid="3588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1" name="WHOOSH.WAV"/>
                                        </p:tgtEl>
                                      </p:cMediaNode>
                                    </p:audio>
                                  </p:sub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35893">
                                            <p:txEl>
                                              <p:pRg st="0" end="0"/>
                                            </p:txEl>
                                          </p:spTgt>
                                        </p:tgtEl>
                                        <p:attrNameLst>
                                          <p:attrName>style.visibility</p:attrName>
                                        </p:attrNameLst>
                                      </p:cBhvr>
                                      <p:to>
                                        <p:strVal val="visible"/>
                                      </p:to>
                                    </p:set>
                                    <p:anim calcmode="lin" valueType="num">
                                      <p:cBhvr additive="base">
                                        <p:cTn id="64" dur="500" fill="hold"/>
                                        <p:tgtEl>
                                          <p:spTgt spid="35893">
                                            <p:txEl>
                                              <p:pRg st="0" end="0"/>
                                            </p:tx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3589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2"/>
                                            </p:cond>
                                          </p:stCondLst>
                                          <p:endCondLst>
                                            <p:cond evt="onStopAudio" delay="0">
                                              <p:tgtEl>
                                                <p:sldTgt/>
                                              </p:tgtEl>
                                            </p:cond>
                                          </p:endCondLst>
                                        </p:cTn>
                                        <p:tgtEl>
                                          <p:sndTgt r:embed="rId1" name="WHOOSH.WAV"/>
                                        </p:tgtEl>
                                      </p:cMediaNode>
                                    </p:audio>
                                  </p:subTnLst>
                                </p:cTn>
                              </p:par>
                            </p:childTnLst>
                          </p:cTn>
                        </p:par>
                      </p:childTnLst>
                    </p:cTn>
                  </p:par>
                  <p:par>
                    <p:cTn id="66" fill="hold">
                      <p:stCondLst>
                        <p:cond delay="indefinite"/>
                      </p:stCondLst>
                      <p:childTnLst>
                        <p:par>
                          <p:cTn id="67" fill="hold">
                            <p:stCondLst>
                              <p:cond delay="0"/>
                            </p:stCondLst>
                            <p:childTnLst>
                              <p:par>
                                <p:cTn id="68" presetID="2" presetClass="entr" presetSubtype="8" fill="hold" grpId="0" nodeType="clickEffect">
                                  <p:stCondLst>
                                    <p:cond delay="0"/>
                                  </p:stCondLst>
                                  <p:childTnLst>
                                    <p:set>
                                      <p:cBhvr>
                                        <p:cTn id="69" dur="1" fill="hold">
                                          <p:stCondLst>
                                            <p:cond delay="0"/>
                                          </p:stCondLst>
                                        </p:cTn>
                                        <p:tgtEl>
                                          <p:spTgt spid="35861"/>
                                        </p:tgtEl>
                                        <p:attrNameLst>
                                          <p:attrName>style.visibility</p:attrName>
                                        </p:attrNameLst>
                                      </p:cBhvr>
                                      <p:to>
                                        <p:strVal val="visible"/>
                                      </p:to>
                                    </p:set>
                                    <p:anim calcmode="lin" valueType="num">
                                      <p:cBhvr additive="base">
                                        <p:cTn id="70" dur="500" fill="hold"/>
                                        <p:tgtEl>
                                          <p:spTgt spid="35861"/>
                                        </p:tgtEl>
                                        <p:attrNameLst>
                                          <p:attrName>ppt_x</p:attrName>
                                        </p:attrNameLst>
                                      </p:cBhvr>
                                      <p:tavLst>
                                        <p:tav tm="0">
                                          <p:val>
                                            <p:strVal val="0-#ppt_w/2"/>
                                          </p:val>
                                        </p:tav>
                                        <p:tav tm="100000">
                                          <p:val>
                                            <p:strVal val="#ppt_x"/>
                                          </p:val>
                                        </p:tav>
                                      </p:tavLst>
                                    </p:anim>
                                    <p:anim calcmode="lin" valueType="num">
                                      <p:cBhvr additive="base">
                                        <p:cTn id="71" dur="500" fill="hold"/>
                                        <p:tgtEl>
                                          <p:spTgt spid="358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1" name="WHOOSH.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35874">
                                            <p:txEl>
                                              <p:pRg st="0" end="0"/>
                                            </p:txEl>
                                          </p:spTgt>
                                        </p:tgtEl>
                                        <p:attrNameLst>
                                          <p:attrName>style.visibility</p:attrName>
                                        </p:attrNameLst>
                                      </p:cBhvr>
                                      <p:to>
                                        <p:strVal val="visible"/>
                                      </p:to>
                                    </p:set>
                                    <p:anim calcmode="lin" valueType="num">
                                      <p:cBhvr additive="base">
                                        <p:cTn id="76" dur="500" fill="hold"/>
                                        <p:tgtEl>
                                          <p:spTgt spid="35874">
                                            <p:txEl>
                                              <p:pRg st="0" end="0"/>
                                            </p:txEl>
                                          </p:spTgt>
                                        </p:tgtEl>
                                        <p:attrNameLst>
                                          <p:attrName>ppt_x</p:attrName>
                                        </p:attrNameLst>
                                      </p:cBhvr>
                                      <p:tavLst>
                                        <p:tav tm="0">
                                          <p:val>
                                            <p:strVal val="0-#ppt_w/2"/>
                                          </p:val>
                                        </p:tav>
                                        <p:tav tm="100000">
                                          <p:val>
                                            <p:strVal val="#ppt_x"/>
                                          </p:val>
                                        </p:tav>
                                      </p:tavLst>
                                    </p:anim>
                                    <p:anim calcmode="lin" valueType="num">
                                      <p:cBhvr additive="base">
                                        <p:cTn id="77" dur="500" fill="hold"/>
                                        <p:tgtEl>
                                          <p:spTgt spid="358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1" name="WHOOSH.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35868"/>
                                        </p:tgtEl>
                                        <p:attrNameLst>
                                          <p:attrName>style.visibility</p:attrName>
                                        </p:attrNameLst>
                                      </p:cBhvr>
                                      <p:to>
                                        <p:strVal val="visible"/>
                                      </p:to>
                                    </p:set>
                                    <p:animEffect transition="in" filter="box(out)">
                                      <p:cBhvr>
                                        <p:cTn id="82" dur="500"/>
                                        <p:tgtEl>
                                          <p:spTgt spid="35868"/>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35862"/>
                                        </p:tgtEl>
                                        <p:attrNameLst>
                                          <p:attrName>style.visibility</p:attrName>
                                        </p:attrNameLst>
                                      </p:cBhvr>
                                      <p:to>
                                        <p:strVal val="visible"/>
                                      </p:to>
                                    </p:set>
                                    <p:anim calcmode="lin" valueType="num">
                                      <p:cBhvr additive="base">
                                        <p:cTn id="87" dur="500" fill="hold"/>
                                        <p:tgtEl>
                                          <p:spTgt spid="35862"/>
                                        </p:tgtEl>
                                        <p:attrNameLst>
                                          <p:attrName>ppt_x</p:attrName>
                                        </p:attrNameLst>
                                      </p:cBhvr>
                                      <p:tavLst>
                                        <p:tav tm="0">
                                          <p:val>
                                            <p:strVal val="0-#ppt_w/2"/>
                                          </p:val>
                                        </p:tav>
                                        <p:tav tm="100000">
                                          <p:val>
                                            <p:strVal val="#ppt_x"/>
                                          </p:val>
                                        </p:tav>
                                      </p:tavLst>
                                    </p:anim>
                                    <p:anim calcmode="lin" valueType="num">
                                      <p:cBhvr additive="base">
                                        <p:cTn id="88" dur="500" fill="hold"/>
                                        <p:tgtEl>
                                          <p:spTgt spid="358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5"/>
                                            </p:cond>
                                          </p:stCondLst>
                                          <p:endCondLst>
                                            <p:cond evt="onStopAudio" delay="0">
                                              <p:tgtEl>
                                                <p:sldTgt/>
                                              </p:tgtEl>
                                            </p:cond>
                                          </p:endCondLst>
                                        </p:cTn>
                                        <p:tgtEl>
                                          <p:sndTgt r:embed="rId1" name="WHOOSH.WAV"/>
                                        </p:tgtEl>
                                      </p:cMediaNode>
                                    </p:audio>
                                  </p:subTnLst>
                                </p:cTn>
                              </p:par>
                            </p:childTnLst>
                          </p:cTn>
                        </p:par>
                      </p:childTnLst>
                    </p:cTn>
                  </p:par>
                  <p:par>
                    <p:cTn id="89" fill="hold">
                      <p:stCondLst>
                        <p:cond delay="indefinite"/>
                      </p:stCondLst>
                      <p:childTnLst>
                        <p:par>
                          <p:cTn id="90" fill="hold">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35875">
                                            <p:txEl>
                                              <p:pRg st="0" end="0"/>
                                            </p:txEl>
                                          </p:spTgt>
                                        </p:tgtEl>
                                        <p:attrNameLst>
                                          <p:attrName>style.visibility</p:attrName>
                                        </p:attrNameLst>
                                      </p:cBhvr>
                                      <p:to>
                                        <p:strVal val="visible"/>
                                      </p:to>
                                    </p:set>
                                    <p:anim calcmode="lin" valueType="num">
                                      <p:cBhvr additive="base">
                                        <p:cTn id="93" dur="500" fill="hold"/>
                                        <p:tgtEl>
                                          <p:spTgt spid="35875">
                                            <p:txEl>
                                              <p:pRg st="0" end="0"/>
                                            </p:txEl>
                                          </p:spTgt>
                                        </p:tgtEl>
                                        <p:attrNameLst>
                                          <p:attrName>ppt_x</p:attrName>
                                        </p:attrNameLst>
                                      </p:cBhvr>
                                      <p:tavLst>
                                        <p:tav tm="0">
                                          <p:val>
                                            <p:strVal val="0-#ppt_w/2"/>
                                          </p:val>
                                        </p:tav>
                                        <p:tav tm="100000">
                                          <p:val>
                                            <p:strVal val="#ppt_x"/>
                                          </p:val>
                                        </p:tav>
                                      </p:tavLst>
                                    </p:anim>
                                    <p:anim calcmode="lin" valueType="num">
                                      <p:cBhvr additive="base">
                                        <p:cTn id="94" dur="500" fill="hold"/>
                                        <p:tgtEl>
                                          <p:spTgt spid="358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1" name="WHOOSH.WAV"/>
                                        </p:tgtEl>
                                      </p:cMediaNode>
                                    </p:audio>
                                  </p:subTnLst>
                                </p:cTn>
                              </p:par>
                            </p:childTnLst>
                          </p:cTn>
                        </p:par>
                      </p:childTnLst>
                    </p:cTn>
                  </p:par>
                  <p:par>
                    <p:cTn id="95" fill="hold">
                      <p:stCondLst>
                        <p:cond delay="indefinite"/>
                      </p:stCondLst>
                      <p:childTnLst>
                        <p:par>
                          <p:cTn id="96" fill="hold">
                            <p:stCondLst>
                              <p:cond delay="0"/>
                            </p:stCondLst>
                            <p:childTnLst>
                              <p:par>
                                <p:cTn id="97" presetID="4" presetClass="entr" presetSubtype="32" fill="hold" nodeType="clickEffect">
                                  <p:stCondLst>
                                    <p:cond delay="0"/>
                                  </p:stCondLst>
                                  <p:childTnLst>
                                    <p:set>
                                      <p:cBhvr>
                                        <p:cTn id="98" dur="1" fill="hold">
                                          <p:stCondLst>
                                            <p:cond delay="0"/>
                                          </p:stCondLst>
                                        </p:cTn>
                                        <p:tgtEl>
                                          <p:spTgt spid="35870"/>
                                        </p:tgtEl>
                                        <p:attrNameLst>
                                          <p:attrName>style.visibility</p:attrName>
                                        </p:attrNameLst>
                                      </p:cBhvr>
                                      <p:to>
                                        <p:strVal val="visible"/>
                                      </p:to>
                                    </p:set>
                                    <p:animEffect transition="in" filter="box(out)">
                                      <p:cBhvr>
                                        <p:cTn id="99" dur="500"/>
                                        <p:tgtEl>
                                          <p:spTgt spid="35870"/>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2" presetClass="entr" presetSubtype="8" fill="hold" grpId="0" nodeType="clickEffect">
                                  <p:stCondLst>
                                    <p:cond delay="0"/>
                                  </p:stCondLst>
                                  <p:childTnLst>
                                    <p:set>
                                      <p:cBhvr>
                                        <p:cTn id="103" dur="1" fill="hold">
                                          <p:stCondLst>
                                            <p:cond delay="0"/>
                                          </p:stCondLst>
                                        </p:cTn>
                                        <p:tgtEl>
                                          <p:spTgt spid="35864"/>
                                        </p:tgtEl>
                                        <p:attrNameLst>
                                          <p:attrName>style.visibility</p:attrName>
                                        </p:attrNameLst>
                                      </p:cBhvr>
                                      <p:to>
                                        <p:strVal val="visible"/>
                                      </p:to>
                                    </p:set>
                                    <p:anim calcmode="lin" valueType="num">
                                      <p:cBhvr additive="base">
                                        <p:cTn id="104" dur="500" fill="hold"/>
                                        <p:tgtEl>
                                          <p:spTgt spid="35864"/>
                                        </p:tgtEl>
                                        <p:attrNameLst>
                                          <p:attrName>ppt_x</p:attrName>
                                        </p:attrNameLst>
                                      </p:cBhvr>
                                      <p:tavLst>
                                        <p:tav tm="0">
                                          <p:val>
                                            <p:strVal val="0-#ppt_w/2"/>
                                          </p:val>
                                        </p:tav>
                                        <p:tav tm="100000">
                                          <p:val>
                                            <p:strVal val="#ppt_x"/>
                                          </p:val>
                                        </p:tav>
                                      </p:tavLst>
                                    </p:anim>
                                    <p:anim calcmode="lin" valueType="num">
                                      <p:cBhvr additive="base">
                                        <p:cTn id="105" dur="500" fill="hold"/>
                                        <p:tgtEl>
                                          <p:spTgt spid="358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2"/>
                                            </p:cond>
                                          </p:stCondLst>
                                          <p:endCondLst>
                                            <p:cond evt="onStopAudio" delay="0">
                                              <p:tgtEl>
                                                <p:sldTgt/>
                                              </p:tgtEl>
                                            </p:cond>
                                          </p:endCondLst>
                                        </p:cTn>
                                        <p:tgtEl>
                                          <p:sndTgt r:embed="rId1" name="WHOOSH.WAV"/>
                                        </p:tgtEl>
                                      </p:cMediaNode>
                                    </p:audio>
                                  </p:subTnLst>
                                </p:cTn>
                              </p:par>
                            </p:childTnLst>
                          </p:cTn>
                        </p:par>
                      </p:childTnLst>
                    </p:cTn>
                  </p:par>
                  <p:par>
                    <p:cTn id="106" fill="hold">
                      <p:stCondLst>
                        <p:cond delay="indefinite"/>
                      </p:stCondLst>
                      <p:childTnLst>
                        <p:par>
                          <p:cTn id="107" fill="hold">
                            <p:stCondLst>
                              <p:cond delay="0"/>
                            </p:stCondLst>
                            <p:childTnLst>
                              <p:par>
                                <p:cTn id="108" presetID="2" presetClass="entr" presetSubtype="8" fill="hold" grpId="0" nodeType="clickEffect">
                                  <p:stCondLst>
                                    <p:cond delay="0"/>
                                  </p:stCondLst>
                                  <p:childTnLst>
                                    <p:set>
                                      <p:cBhvr>
                                        <p:cTn id="109" dur="1" fill="hold">
                                          <p:stCondLst>
                                            <p:cond delay="0"/>
                                          </p:stCondLst>
                                        </p:cTn>
                                        <p:tgtEl>
                                          <p:spTgt spid="35876">
                                            <p:txEl>
                                              <p:pRg st="0" end="0"/>
                                            </p:txEl>
                                          </p:spTgt>
                                        </p:tgtEl>
                                        <p:attrNameLst>
                                          <p:attrName>style.visibility</p:attrName>
                                        </p:attrNameLst>
                                      </p:cBhvr>
                                      <p:to>
                                        <p:strVal val="visible"/>
                                      </p:to>
                                    </p:set>
                                    <p:anim calcmode="lin" valueType="num">
                                      <p:cBhvr additive="base">
                                        <p:cTn id="110" dur="500" fill="hold"/>
                                        <p:tgtEl>
                                          <p:spTgt spid="35876">
                                            <p:txEl>
                                              <p:pRg st="0" end="0"/>
                                            </p:txEl>
                                          </p:spTgt>
                                        </p:tgtEl>
                                        <p:attrNameLst>
                                          <p:attrName>ppt_x</p:attrName>
                                        </p:attrNameLst>
                                      </p:cBhvr>
                                      <p:tavLst>
                                        <p:tav tm="0">
                                          <p:val>
                                            <p:strVal val="0-#ppt_w/2"/>
                                          </p:val>
                                        </p:tav>
                                        <p:tav tm="100000">
                                          <p:val>
                                            <p:strVal val="#ppt_x"/>
                                          </p:val>
                                        </p:tav>
                                      </p:tavLst>
                                    </p:anim>
                                    <p:anim calcmode="lin" valueType="num">
                                      <p:cBhvr additive="base">
                                        <p:cTn id="111" dur="500" fill="hold"/>
                                        <p:tgtEl>
                                          <p:spTgt spid="3587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8"/>
                                            </p:cond>
                                          </p:stCondLst>
                                          <p:endCondLst>
                                            <p:cond evt="onStopAudio" delay="0">
                                              <p:tgtEl>
                                                <p:sldTgt/>
                                              </p:tgtEl>
                                            </p:cond>
                                          </p:endCondLst>
                                        </p:cTn>
                                        <p:tgtEl>
                                          <p:sndTgt r:embed="rId1" name="WHOOSH.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32" fill="hold" nodeType="clickEffect">
                                  <p:stCondLst>
                                    <p:cond delay="0"/>
                                  </p:stCondLst>
                                  <p:childTnLst>
                                    <p:set>
                                      <p:cBhvr>
                                        <p:cTn id="115" dur="1" fill="hold">
                                          <p:stCondLst>
                                            <p:cond delay="0"/>
                                          </p:stCondLst>
                                        </p:cTn>
                                        <p:tgtEl>
                                          <p:spTgt spid="35871"/>
                                        </p:tgtEl>
                                        <p:attrNameLst>
                                          <p:attrName>style.visibility</p:attrName>
                                        </p:attrNameLst>
                                      </p:cBhvr>
                                      <p:to>
                                        <p:strVal val="visible"/>
                                      </p:to>
                                    </p:set>
                                    <p:animEffect transition="in" filter="box(out)">
                                      <p:cBhvr>
                                        <p:cTn id="116" dur="500"/>
                                        <p:tgtEl>
                                          <p:spTgt spid="35871"/>
                                        </p:tgtEl>
                                      </p:cBhvr>
                                    </p:animEffect>
                                  </p:childTnLst>
                                  <p:subTnLst>
                                    <p:audio>
                                      <p:cMediaNode>
                                        <p:cTn display="0" masterRel="sameClick">
                                          <p:stCondLst>
                                            <p:cond evt="begin" delay="0">
                                              <p:tn val="114"/>
                                            </p:cond>
                                          </p:stCondLst>
                                          <p:endCondLst>
                                            <p:cond evt="onStopAudio" delay="0">
                                              <p:tgtEl>
                                                <p:sldTgt/>
                                              </p:tgtEl>
                                            </p:cond>
                                          </p:endCondLst>
                                        </p:cTn>
                                        <p:tgtEl>
                                          <p:sndTgt r:embed="rId2" name="CAMERA.WAV"/>
                                        </p:tgtEl>
                                      </p:cMediaNode>
                                    </p:audio>
                                  </p:subTnLst>
                                </p:cTn>
                              </p:par>
                            </p:childTnLst>
                          </p:cTn>
                        </p:par>
                      </p:childTnLst>
                    </p:cTn>
                  </p:par>
                  <p:par>
                    <p:cTn id="117" fill="hold">
                      <p:stCondLst>
                        <p:cond delay="indefinite"/>
                      </p:stCondLst>
                      <p:childTnLst>
                        <p:par>
                          <p:cTn id="118" fill="hold">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35865"/>
                                        </p:tgtEl>
                                        <p:attrNameLst>
                                          <p:attrName>style.visibility</p:attrName>
                                        </p:attrNameLst>
                                      </p:cBhvr>
                                      <p:to>
                                        <p:strVal val="visible"/>
                                      </p:to>
                                    </p:set>
                                    <p:anim calcmode="lin" valueType="num">
                                      <p:cBhvr additive="base">
                                        <p:cTn id="121" dur="500" fill="hold"/>
                                        <p:tgtEl>
                                          <p:spTgt spid="35865"/>
                                        </p:tgtEl>
                                        <p:attrNameLst>
                                          <p:attrName>ppt_x</p:attrName>
                                        </p:attrNameLst>
                                      </p:cBhvr>
                                      <p:tavLst>
                                        <p:tav tm="0">
                                          <p:val>
                                            <p:strVal val="0-#ppt_w/2"/>
                                          </p:val>
                                        </p:tav>
                                        <p:tav tm="100000">
                                          <p:val>
                                            <p:strVal val="#ppt_x"/>
                                          </p:val>
                                        </p:tav>
                                      </p:tavLst>
                                    </p:anim>
                                    <p:anim calcmode="lin" valueType="num">
                                      <p:cBhvr additive="base">
                                        <p:cTn id="122" dur="500" fill="hold"/>
                                        <p:tgtEl>
                                          <p:spTgt spid="3586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9"/>
                                            </p:cond>
                                          </p:stCondLst>
                                          <p:endCondLst>
                                            <p:cond evt="onStopAudio" delay="0">
                                              <p:tgtEl>
                                                <p:sldTgt/>
                                              </p:tgtEl>
                                            </p:cond>
                                          </p:endCondLst>
                                        </p:cTn>
                                        <p:tgtEl>
                                          <p:sndTgt r:embed="rId1" name="WHOOSH.WAV"/>
                                        </p:tgtEl>
                                      </p:cMediaNode>
                                    </p:audio>
                                  </p:subTnLst>
                                </p:cTn>
                              </p:par>
                            </p:childTnLst>
                          </p:cTn>
                        </p:par>
                      </p:childTnLst>
                    </p:cTn>
                  </p:par>
                  <p:par>
                    <p:cTn id="123" fill="hold">
                      <p:stCondLst>
                        <p:cond delay="indefinite"/>
                      </p:stCondLst>
                      <p:childTnLst>
                        <p:par>
                          <p:cTn id="124" fill="hold">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35877">
                                            <p:txEl>
                                              <p:pRg st="0" end="0"/>
                                            </p:txEl>
                                          </p:spTgt>
                                        </p:tgtEl>
                                        <p:attrNameLst>
                                          <p:attrName>style.visibility</p:attrName>
                                        </p:attrNameLst>
                                      </p:cBhvr>
                                      <p:to>
                                        <p:strVal val="visible"/>
                                      </p:to>
                                    </p:set>
                                    <p:anim calcmode="lin" valueType="num">
                                      <p:cBhvr additive="base">
                                        <p:cTn id="127" dur="500" fill="hold"/>
                                        <p:tgtEl>
                                          <p:spTgt spid="35877">
                                            <p:txEl>
                                              <p:pRg st="0" end="0"/>
                                            </p:txEl>
                                          </p:spTgt>
                                        </p:tgtEl>
                                        <p:attrNameLst>
                                          <p:attrName>ppt_x</p:attrName>
                                        </p:attrNameLst>
                                      </p:cBhvr>
                                      <p:tavLst>
                                        <p:tav tm="0">
                                          <p:val>
                                            <p:strVal val="0-#ppt_w/2"/>
                                          </p:val>
                                        </p:tav>
                                        <p:tav tm="100000">
                                          <p:val>
                                            <p:strVal val="#ppt_x"/>
                                          </p:val>
                                        </p:tav>
                                      </p:tavLst>
                                    </p:anim>
                                    <p:anim calcmode="lin" valueType="num">
                                      <p:cBhvr additive="base">
                                        <p:cTn id="128" dur="500" fill="hold"/>
                                        <p:tgtEl>
                                          <p:spTgt spid="358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5"/>
                                            </p:cond>
                                          </p:stCondLst>
                                          <p:endCondLst>
                                            <p:cond evt="onStopAudio" delay="0">
                                              <p:tgtEl>
                                                <p:sldTgt/>
                                              </p:tgtEl>
                                            </p:cond>
                                          </p:endCondLst>
                                        </p:cTn>
                                        <p:tgtEl>
                                          <p:sndTgt r:embed="rId1" name="WHOOSH.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nodeType="clickEffect">
                                  <p:stCondLst>
                                    <p:cond delay="0"/>
                                  </p:stCondLst>
                                  <p:childTnLst>
                                    <p:set>
                                      <p:cBhvr>
                                        <p:cTn id="132" dur="1" fill="hold">
                                          <p:stCondLst>
                                            <p:cond delay="0"/>
                                          </p:stCondLst>
                                        </p:cTn>
                                        <p:tgtEl>
                                          <p:spTgt spid="35872"/>
                                        </p:tgtEl>
                                        <p:attrNameLst>
                                          <p:attrName>style.visibility</p:attrName>
                                        </p:attrNameLst>
                                      </p:cBhvr>
                                      <p:to>
                                        <p:strVal val="visible"/>
                                      </p:to>
                                    </p:set>
                                    <p:animEffect transition="in" filter="box(out)">
                                      <p:cBhvr>
                                        <p:cTn id="133" dur="500"/>
                                        <p:tgtEl>
                                          <p:spTgt spid="35872"/>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2" presetClass="entr" presetSubtype="8" fill="hold" grpId="0" nodeType="clickEffect">
                                  <p:stCondLst>
                                    <p:cond delay="0"/>
                                  </p:stCondLst>
                                  <p:childTnLst>
                                    <p:set>
                                      <p:cBhvr>
                                        <p:cTn id="137" dur="1" fill="hold">
                                          <p:stCondLst>
                                            <p:cond delay="0"/>
                                          </p:stCondLst>
                                        </p:cTn>
                                        <p:tgtEl>
                                          <p:spTgt spid="35866"/>
                                        </p:tgtEl>
                                        <p:attrNameLst>
                                          <p:attrName>style.visibility</p:attrName>
                                        </p:attrNameLst>
                                      </p:cBhvr>
                                      <p:to>
                                        <p:strVal val="visible"/>
                                      </p:to>
                                    </p:set>
                                    <p:anim calcmode="lin" valueType="num">
                                      <p:cBhvr additive="base">
                                        <p:cTn id="138" dur="500" fill="hold"/>
                                        <p:tgtEl>
                                          <p:spTgt spid="35866"/>
                                        </p:tgtEl>
                                        <p:attrNameLst>
                                          <p:attrName>ppt_x</p:attrName>
                                        </p:attrNameLst>
                                      </p:cBhvr>
                                      <p:tavLst>
                                        <p:tav tm="0">
                                          <p:val>
                                            <p:strVal val="0-#ppt_w/2"/>
                                          </p:val>
                                        </p:tav>
                                        <p:tav tm="100000">
                                          <p:val>
                                            <p:strVal val="#ppt_x"/>
                                          </p:val>
                                        </p:tav>
                                      </p:tavLst>
                                    </p:anim>
                                    <p:anim calcmode="lin" valueType="num">
                                      <p:cBhvr additive="base">
                                        <p:cTn id="139" dur="500" fill="hold"/>
                                        <p:tgtEl>
                                          <p:spTgt spid="358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6"/>
                                            </p:cond>
                                          </p:stCondLst>
                                          <p:endCondLst>
                                            <p:cond evt="onStopAudio" delay="0">
                                              <p:tgtEl>
                                                <p:sldTgt/>
                                              </p:tgtEl>
                                            </p:cond>
                                          </p:endCondLst>
                                        </p:cTn>
                                        <p:tgtEl>
                                          <p:sndTgt r:embed="rId1" name="WHOOSH.WAV"/>
                                        </p:tgtEl>
                                      </p:cMediaNode>
                                    </p:audio>
                                  </p:subTnLst>
                                </p:cTn>
                              </p:par>
                            </p:childTnLst>
                          </p:cTn>
                        </p:par>
                      </p:childTnLst>
                    </p:cTn>
                  </p:par>
                  <p:par>
                    <p:cTn id="140" fill="hold">
                      <p:stCondLst>
                        <p:cond delay="indefinite"/>
                      </p:stCondLst>
                      <p:childTnLst>
                        <p:par>
                          <p:cTn id="141" fill="hold">
                            <p:stCondLst>
                              <p:cond delay="0"/>
                            </p:stCondLst>
                            <p:childTnLst>
                              <p:par>
                                <p:cTn id="142" presetID="2" presetClass="entr" presetSubtype="8" fill="hold" grpId="0" nodeType="clickEffect">
                                  <p:stCondLst>
                                    <p:cond delay="0"/>
                                  </p:stCondLst>
                                  <p:childTnLst>
                                    <p:set>
                                      <p:cBhvr>
                                        <p:cTn id="143" dur="1" fill="hold">
                                          <p:stCondLst>
                                            <p:cond delay="0"/>
                                          </p:stCondLst>
                                        </p:cTn>
                                        <p:tgtEl>
                                          <p:spTgt spid="35879">
                                            <p:txEl>
                                              <p:pRg st="0" end="0"/>
                                            </p:txEl>
                                          </p:spTgt>
                                        </p:tgtEl>
                                        <p:attrNameLst>
                                          <p:attrName>style.visibility</p:attrName>
                                        </p:attrNameLst>
                                      </p:cBhvr>
                                      <p:to>
                                        <p:strVal val="visible"/>
                                      </p:to>
                                    </p:set>
                                    <p:anim calcmode="lin" valueType="num">
                                      <p:cBhvr additive="base">
                                        <p:cTn id="144" dur="500" fill="hold"/>
                                        <p:tgtEl>
                                          <p:spTgt spid="35879">
                                            <p:txEl>
                                              <p:pRg st="0" end="0"/>
                                            </p:txEl>
                                          </p:spTgt>
                                        </p:tgtEl>
                                        <p:attrNameLst>
                                          <p:attrName>ppt_x</p:attrName>
                                        </p:attrNameLst>
                                      </p:cBhvr>
                                      <p:tavLst>
                                        <p:tav tm="0">
                                          <p:val>
                                            <p:strVal val="0-#ppt_w/2"/>
                                          </p:val>
                                        </p:tav>
                                        <p:tav tm="100000">
                                          <p:val>
                                            <p:strVal val="#ppt_x"/>
                                          </p:val>
                                        </p:tav>
                                      </p:tavLst>
                                    </p:anim>
                                    <p:anim calcmode="lin" valueType="num">
                                      <p:cBhvr additive="base">
                                        <p:cTn id="145" dur="500" fill="hold"/>
                                        <p:tgtEl>
                                          <p:spTgt spid="358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2"/>
                                            </p:cond>
                                          </p:stCondLst>
                                          <p:endCondLst>
                                            <p:cond evt="onStopAudio" delay="0">
                                              <p:tgtEl>
                                                <p:sldTgt/>
                                              </p:tgtEl>
                                            </p:cond>
                                          </p:endCondLst>
                                        </p:cTn>
                                        <p:tgtEl>
                                          <p:sndTgt r:embed="rId1" name="WHOOSH.WAV"/>
                                        </p:tgtEl>
                                      </p:cMediaNode>
                                    </p:audio>
                                  </p:subTnLst>
                                </p:cTn>
                              </p:par>
                            </p:childTnLst>
                          </p:cTn>
                        </p:par>
                      </p:childTnLst>
                    </p:cTn>
                  </p:par>
                  <p:par>
                    <p:cTn id="146" fill="hold">
                      <p:stCondLst>
                        <p:cond delay="indefinite"/>
                      </p:stCondLst>
                      <p:childTnLst>
                        <p:par>
                          <p:cTn id="147" fill="hold">
                            <p:stCondLst>
                              <p:cond delay="0"/>
                            </p:stCondLst>
                            <p:childTnLst>
                              <p:par>
                                <p:cTn id="148" presetID="4" presetClass="entr" presetSubtype="32" fill="hold" nodeType="clickEffect">
                                  <p:stCondLst>
                                    <p:cond delay="0"/>
                                  </p:stCondLst>
                                  <p:childTnLst>
                                    <p:set>
                                      <p:cBhvr>
                                        <p:cTn id="149" dur="1" fill="hold">
                                          <p:stCondLst>
                                            <p:cond delay="0"/>
                                          </p:stCondLst>
                                        </p:cTn>
                                        <p:tgtEl>
                                          <p:spTgt spid="35873"/>
                                        </p:tgtEl>
                                        <p:attrNameLst>
                                          <p:attrName>style.visibility</p:attrName>
                                        </p:attrNameLst>
                                      </p:cBhvr>
                                      <p:to>
                                        <p:strVal val="visible"/>
                                      </p:to>
                                    </p:set>
                                    <p:animEffect transition="in" filter="box(out)">
                                      <p:cBhvr>
                                        <p:cTn id="150" dur="500"/>
                                        <p:tgtEl>
                                          <p:spTgt spid="35873"/>
                                        </p:tgtEl>
                                      </p:cBhvr>
                                    </p:animEffect>
                                  </p:childTnLst>
                                  <p:subTnLst>
                                    <p:audio>
                                      <p:cMediaNode>
                                        <p:cTn display="0" masterRel="sameClick">
                                          <p:stCondLst>
                                            <p:cond evt="begin" delay="0">
                                              <p:tn val="148"/>
                                            </p:cond>
                                          </p:stCondLst>
                                          <p:endCondLst>
                                            <p:cond evt="onStopAudio" delay="0">
                                              <p:tgtEl>
                                                <p:sldTgt/>
                                              </p:tgtEl>
                                            </p:cond>
                                          </p:endCondLst>
                                        </p:cTn>
                                        <p:tgtEl>
                                          <p:sndTgt r:embed="rId2" name="CAMERA.WAV"/>
                                        </p:tgtEl>
                                      </p:cMediaNode>
                                    </p:audio>
                                  </p:subTnLst>
                                </p:cTn>
                              </p:par>
                            </p:childTnLst>
                          </p:cTn>
                        </p:par>
                      </p:childTnLst>
                    </p:cTn>
                  </p:par>
                  <p:par>
                    <p:cTn id="151" fill="hold">
                      <p:stCondLst>
                        <p:cond delay="indefinite"/>
                      </p:stCondLst>
                      <p:childTnLst>
                        <p:par>
                          <p:cTn id="152" fill="hold">
                            <p:stCondLst>
                              <p:cond delay="0"/>
                            </p:stCondLst>
                            <p:childTnLst>
                              <p:par>
                                <p:cTn id="153" presetID="2" presetClass="entr" presetSubtype="8" fill="hold" grpId="0" nodeType="clickEffect">
                                  <p:stCondLst>
                                    <p:cond delay="0"/>
                                  </p:stCondLst>
                                  <p:childTnLst>
                                    <p:set>
                                      <p:cBhvr>
                                        <p:cTn id="154" dur="1" fill="hold">
                                          <p:stCondLst>
                                            <p:cond delay="0"/>
                                          </p:stCondLst>
                                        </p:cTn>
                                        <p:tgtEl>
                                          <p:spTgt spid="35867"/>
                                        </p:tgtEl>
                                        <p:attrNameLst>
                                          <p:attrName>style.visibility</p:attrName>
                                        </p:attrNameLst>
                                      </p:cBhvr>
                                      <p:to>
                                        <p:strVal val="visible"/>
                                      </p:to>
                                    </p:set>
                                    <p:anim calcmode="lin" valueType="num">
                                      <p:cBhvr additive="base">
                                        <p:cTn id="155" dur="500" fill="hold"/>
                                        <p:tgtEl>
                                          <p:spTgt spid="35867"/>
                                        </p:tgtEl>
                                        <p:attrNameLst>
                                          <p:attrName>ppt_x</p:attrName>
                                        </p:attrNameLst>
                                      </p:cBhvr>
                                      <p:tavLst>
                                        <p:tav tm="0">
                                          <p:val>
                                            <p:strVal val="0-#ppt_w/2"/>
                                          </p:val>
                                        </p:tav>
                                        <p:tav tm="100000">
                                          <p:val>
                                            <p:strVal val="#ppt_x"/>
                                          </p:val>
                                        </p:tav>
                                      </p:tavLst>
                                    </p:anim>
                                    <p:anim calcmode="lin" valueType="num">
                                      <p:cBhvr additive="base">
                                        <p:cTn id="156" dur="500" fill="hold"/>
                                        <p:tgtEl>
                                          <p:spTgt spid="358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3"/>
                                            </p:cond>
                                          </p:stCondLst>
                                          <p:endCondLst>
                                            <p:cond evt="onStopAudio" delay="0">
                                              <p:tgtEl>
                                                <p:sldTgt/>
                                              </p:tgtEl>
                                            </p:cond>
                                          </p:endCondLst>
                                        </p:cTn>
                                        <p:tgtEl>
                                          <p:sndTgt r:embed="rId1" name="WHOOSH.WAV"/>
                                        </p:tgtEl>
                                      </p:cMediaNode>
                                    </p:audio>
                                  </p:subTnLst>
                                </p:cTn>
                              </p:par>
                            </p:childTnLst>
                          </p:cTn>
                        </p:par>
                      </p:childTnLst>
                    </p:cTn>
                  </p:par>
                  <p:par>
                    <p:cTn id="157" fill="hold">
                      <p:stCondLst>
                        <p:cond delay="indefinite"/>
                      </p:stCondLst>
                      <p:childTnLst>
                        <p:par>
                          <p:cTn id="158" fill="hold">
                            <p:stCondLst>
                              <p:cond delay="0"/>
                            </p:stCondLst>
                            <p:childTnLst>
                              <p:par>
                                <p:cTn id="159" presetID="2" presetClass="entr" presetSubtype="8" fill="hold" grpId="0" nodeType="clickEffect">
                                  <p:stCondLst>
                                    <p:cond delay="0"/>
                                  </p:stCondLst>
                                  <p:childTnLst>
                                    <p:set>
                                      <p:cBhvr>
                                        <p:cTn id="160" dur="1" fill="hold">
                                          <p:stCondLst>
                                            <p:cond delay="0"/>
                                          </p:stCondLst>
                                        </p:cTn>
                                        <p:tgtEl>
                                          <p:spTgt spid="35878">
                                            <p:txEl>
                                              <p:pRg st="0" end="0"/>
                                            </p:txEl>
                                          </p:spTgt>
                                        </p:tgtEl>
                                        <p:attrNameLst>
                                          <p:attrName>style.visibility</p:attrName>
                                        </p:attrNameLst>
                                      </p:cBhvr>
                                      <p:to>
                                        <p:strVal val="visible"/>
                                      </p:to>
                                    </p:set>
                                    <p:anim calcmode="lin" valueType="num">
                                      <p:cBhvr additive="base">
                                        <p:cTn id="161" dur="500" fill="hold"/>
                                        <p:tgtEl>
                                          <p:spTgt spid="35878">
                                            <p:txEl>
                                              <p:pRg st="0" end="0"/>
                                            </p:txEl>
                                          </p:spTgt>
                                        </p:tgtEl>
                                        <p:attrNameLst>
                                          <p:attrName>ppt_x</p:attrName>
                                        </p:attrNameLst>
                                      </p:cBhvr>
                                      <p:tavLst>
                                        <p:tav tm="0">
                                          <p:val>
                                            <p:strVal val="0-#ppt_w/2"/>
                                          </p:val>
                                        </p:tav>
                                        <p:tav tm="100000">
                                          <p:val>
                                            <p:strVal val="#ppt_x"/>
                                          </p:val>
                                        </p:tav>
                                      </p:tavLst>
                                    </p:anim>
                                    <p:anim calcmode="lin" valueType="num">
                                      <p:cBhvr additive="base">
                                        <p:cTn id="162" dur="500" fill="hold"/>
                                        <p:tgtEl>
                                          <p:spTgt spid="3587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9"/>
                                            </p:cond>
                                          </p:stCondLst>
                                          <p:endCondLst>
                                            <p:cond evt="onStopAudio" delay="0">
                                              <p:tgtEl>
                                                <p:sldTgt/>
                                              </p:tgtEl>
                                            </p:cond>
                                          </p:endCondLst>
                                        </p:cTn>
                                        <p:tgtEl>
                                          <p:sndTgt r:embed="rId1" name="WHOOSH.WAV"/>
                                        </p:tgtEl>
                                      </p:cMediaNode>
                                    </p:audio>
                                  </p:subTnLst>
                                </p:cTn>
                              </p:par>
                            </p:childTnLst>
                          </p:cTn>
                        </p:par>
                      </p:childTnLst>
                    </p:cTn>
                  </p:par>
                  <p:par>
                    <p:cTn id="163" fill="hold">
                      <p:stCondLst>
                        <p:cond delay="indefinite"/>
                      </p:stCondLst>
                      <p:childTnLst>
                        <p:par>
                          <p:cTn id="164" fill="hold">
                            <p:stCondLst>
                              <p:cond delay="0"/>
                            </p:stCondLst>
                            <p:childTnLst>
                              <p:par>
                                <p:cTn id="165" presetID="4" presetClass="entr" presetSubtype="32" fill="hold" nodeType="clickEffect">
                                  <p:stCondLst>
                                    <p:cond delay="0"/>
                                  </p:stCondLst>
                                  <p:childTnLst>
                                    <p:set>
                                      <p:cBhvr>
                                        <p:cTn id="166" dur="1" fill="hold">
                                          <p:stCondLst>
                                            <p:cond delay="0"/>
                                          </p:stCondLst>
                                        </p:cTn>
                                        <p:tgtEl>
                                          <p:spTgt spid="35869"/>
                                        </p:tgtEl>
                                        <p:attrNameLst>
                                          <p:attrName>style.visibility</p:attrName>
                                        </p:attrNameLst>
                                      </p:cBhvr>
                                      <p:to>
                                        <p:strVal val="visible"/>
                                      </p:to>
                                    </p:set>
                                    <p:animEffect transition="in" filter="box(out)">
                                      <p:cBhvr>
                                        <p:cTn id="167" dur="500"/>
                                        <p:tgtEl>
                                          <p:spTgt spid="35869"/>
                                        </p:tgtEl>
                                      </p:cBhvr>
                                    </p:animEffect>
                                  </p:childTnLst>
                                  <p:subTnLs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childTnLst>
                    </p:cTn>
                  </p:par>
                  <p:par>
                    <p:cTn id="168" fill="hold">
                      <p:stCondLst>
                        <p:cond delay="indefinite"/>
                      </p:stCondLst>
                      <p:childTnLst>
                        <p:par>
                          <p:cTn id="169" fill="hold">
                            <p:stCondLst>
                              <p:cond delay="0"/>
                            </p:stCondLst>
                            <p:childTnLst>
                              <p:par>
                                <p:cTn id="170" presetID="2" presetClass="entr" presetSubtype="8" fill="hold" grpId="0" nodeType="clickEffect">
                                  <p:stCondLst>
                                    <p:cond delay="0"/>
                                  </p:stCondLst>
                                  <p:childTnLst>
                                    <p:set>
                                      <p:cBhvr>
                                        <p:cTn id="171" dur="1" fill="hold">
                                          <p:stCondLst>
                                            <p:cond delay="0"/>
                                          </p:stCondLst>
                                        </p:cTn>
                                        <p:tgtEl>
                                          <p:spTgt spid="35863"/>
                                        </p:tgtEl>
                                        <p:attrNameLst>
                                          <p:attrName>style.visibility</p:attrName>
                                        </p:attrNameLst>
                                      </p:cBhvr>
                                      <p:to>
                                        <p:strVal val="visible"/>
                                      </p:to>
                                    </p:set>
                                    <p:anim calcmode="lin" valueType="num">
                                      <p:cBhvr additive="base">
                                        <p:cTn id="172" dur="500" fill="hold"/>
                                        <p:tgtEl>
                                          <p:spTgt spid="35863"/>
                                        </p:tgtEl>
                                        <p:attrNameLst>
                                          <p:attrName>ppt_x</p:attrName>
                                        </p:attrNameLst>
                                      </p:cBhvr>
                                      <p:tavLst>
                                        <p:tav tm="0">
                                          <p:val>
                                            <p:strVal val="0-#ppt_w/2"/>
                                          </p:val>
                                        </p:tav>
                                        <p:tav tm="100000">
                                          <p:val>
                                            <p:strVal val="#ppt_x"/>
                                          </p:val>
                                        </p:tav>
                                      </p:tavLst>
                                    </p:anim>
                                    <p:anim calcmode="lin" valueType="num">
                                      <p:cBhvr additive="base">
                                        <p:cTn id="173" dur="500" fill="hold"/>
                                        <p:tgtEl>
                                          <p:spTgt spid="358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0"/>
                                            </p:cond>
                                          </p:stCondLst>
                                          <p:endCondLst>
                                            <p:cond evt="onStopAudio" delay="0">
                                              <p:tgtEl>
                                                <p:sldTgt/>
                                              </p:tgtEl>
                                            </p:cond>
                                          </p:endCondLst>
                                        </p:cTn>
                                        <p:tgtEl>
                                          <p:sndTgt r:embed="rId1" name="WHOOSH.WAV"/>
                                        </p:tgtEl>
                                      </p:cMediaNode>
                                    </p:audio>
                                  </p:subTnLst>
                                </p:cTn>
                              </p:par>
                            </p:childTnLst>
                          </p:cTn>
                        </p:par>
                      </p:childTnLst>
                    </p:cTn>
                  </p:par>
                  <p:par>
                    <p:cTn id="174" fill="hold">
                      <p:stCondLst>
                        <p:cond delay="indefinite"/>
                      </p:stCondLst>
                      <p:childTnLst>
                        <p:par>
                          <p:cTn id="175" fill="hold">
                            <p:stCondLst>
                              <p:cond delay="0"/>
                            </p:stCondLst>
                            <p:childTnLst>
                              <p:par>
                                <p:cTn id="176" presetID="2" presetClass="entr" presetSubtype="8" fill="hold" grpId="0" nodeType="clickEffect">
                                  <p:stCondLst>
                                    <p:cond delay="0"/>
                                  </p:stCondLst>
                                  <p:childTnLst>
                                    <p:set>
                                      <p:cBhvr>
                                        <p:cTn id="177" dur="1" fill="hold">
                                          <p:stCondLst>
                                            <p:cond delay="0"/>
                                          </p:stCondLst>
                                        </p:cTn>
                                        <p:tgtEl>
                                          <p:spTgt spid="35880">
                                            <p:txEl>
                                              <p:pRg st="0" end="0"/>
                                            </p:txEl>
                                          </p:spTgt>
                                        </p:tgtEl>
                                        <p:attrNameLst>
                                          <p:attrName>style.visibility</p:attrName>
                                        </p:attrNameLst>
                                      </p:cBhvr>
                                      <p:to>
                                        <p:strVal val="visible"/>
                                      </p:to>
                                    </p:set>
                                    <p:anim calcmode="lin" valueType="num">
                                      <p:cBhvr additive="base">
                                        <p:cTn id="178" dur="500" fill="hold"/>
                                        <p:tgtEl>
                                          <p:spTgt spid="35880">
                                            <p:txEl>
                                              <p:pRg st="0" end="0"/>
                                            </p:txEl>
                                          </p:spTgt>
                                        </p:tgtEl>
                                        <p:attrNameLst>
                                          <p:attrName>ppt_x</p:attrName>
                                        </p:attrNameLst>
                                      </p:cBhvr>
                                      <p:tavLst>
                                        <p:tav tm="0">
                                          <p:val>
                                            <p:strVal val="0-#ppt_w/2"/>
                                          </p:val>
                                        </p:tav>
                                        <p:tav tm="100000">
                                          <p:val>
                                            <p:strVal val="#ppt_x"/>
                                          </p:val>
                                        </p:tav>
                                      </p:tavLst>
                                    </p:anim>
                                    <p:anim calcmode="lin" valueType="num">
                                      <p:cBhvr additive="base">
                                        <p:cTn id="179" dur="500" fill="hold"/>
                                        <p:tgtEl>
                                          <p:spTgt spid="3588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6"/>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1" grpId="0" animBg="1" autoUpdateAnimBg="0"/>
      <p:bldP spid="35862" grpId="0" animBg="1" autoUpdateAnimBg="0"/>
      <p:bldP spid="35863" grpId="0" animBg="1" autoUpdateAnimBg="0"/>
      <p:bldP spid="35864" grpId="0" animBg="1" autoUpdateAnimBg="0"/>
      <p:bldP spid="35865" grpId="0" animBg="1" autoUpdateAnimBg="0"/>
      <p:bldP spid="35866" grpId="0" animBg="1" autoUpdateAnimBg="0"/>
      <p:bldP spid="35867" grpId="0" animBg="1" autoUpdateAnimBg="0"/>
      <p:bldP spid="35874" grpId="0" autoUpdateAnimBg="0" build="p"/>
      <p:bldP spid="35875" grpId="0" autoUpdateAnimBg="0" build="p"/>
      <p:bldP spid="35876" grpId="0" autoUpdateAnimBg="0" build="p"/>
      <p:bldP spid="35877" grpId="0" autoUpdateAnimBg="0" build="p"/>
      <p:bldP spid="35878" grpId="0" autoUpdateAnimBg="0" build="p"/>
      <p:bldP spid="35879" grpId="0" autoUpdateAnimBg="0" build="p"/>
      <p:bldP spid="35880" grpId="0" autoUpdateAnimBg="0" build="p"/>
      <p:bldP spid="35883" grpId="0" animBg="1" autoUpdateAnimBg="0"/>
      <p:bldP spid="35884" grpId="0" animBg="1" autoUpdateAnimBg="0"/>
      <p:bldP spid="35885" grpId="0" animBg="1" autoUpdateAnimBg="0"/>
      <p:bldP spid="35886" grpId="0" animBg="1" autoUpdateAnimBg="0"/>
      <p:bldP spid="35890" grpId="0" autoUpdateAnimBg="0" build="p"/>
      <p:bldP spid="35891" grpId="0" autoUpdateAnimBg="0" build="p"/>
      <p:bldP spid="35892" grpId="0" autoUpdateAnimBg="0" build="p"/>
      <p:bldP spid="35893"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28600" y="1066800"/>
            <a:ext cx="8229600" cy="5248275"/>
          </a:xfrm>
        </p:spPr>
        <p:txBody>
          <a:bodyPr/>
          <a:lstStyle/>
          <a:p>
            <a:pPr marL="0" indent="0">
              <a:buNone/>
            </a:pPr>
            <a:r>
              <a:rPr lang="en-US" altLang="zh-CN" sz="2000" b="1" dirty="0">
                <a:solidFill>
                  <a:srgbClr val="C00000"/>
                </a:solidFill>
                <a:ea typeface="华文楷体" panose="02010600040101010101" pitchFamily="2" charset="-122"/>
              </a:rPr>
              <a:t>DFS</a:t>
            </a:r>
            <a:r>
              <a:rPr lang="zh-CN" altLang="en-US" sz="2000" b="1" dirty="0">
                <a:solidFill>
                  <a:srgbClr val="C00000"/>
                </a:solidFill>
                <a:ea typeface="华文楷体" panose="02010600040101010101" pitchFamily="2" charset="-122"/>
              </a:rPr>
              <a:t>算法说明</a:t>
            </a:r>
            <a:endParaRPr lang="zh-CN" altLang="en-US" sz="2000" b="1" dirty="0">
              <a:solidFill>
                <a:srgbClr val="C00000"/>
              </a:solidFill>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228600" y="1447800"/>
            <a:ext cx="8763000" cy="2062103"/>
          </a:xfrm>
          <a:prstGeom prst="rect">
            <a:avLst/>
          </a:prstGeom>
          <a:noFill/>
          <a:ln>
            <a:solidFill>
              <a:schemeClr val="accent1"/>
            </a:solidFill>
          </a:ln>
        </p:spPr>
        <p:txBody>
          <a:bodyPr wrap="square" rtlCol="0">
            <a:spAutoFit/>
          </a:bodyPr>
          <a:lstStyle/>
          <a:p>
            <a:r>
              <a:rPr lang="en-US" altLang="zh-CN" sz="1600" b="1" dirty="0" smtClean="0">
                <a:solidFill>
                  <a:srgbClr val="C00000"/>
                </a:solidFill>
                <a:latin typeface="Times New Roman" panose="02020603050405020304" pitchFamily="18" charset="0"/>
                <a:ea typeface="华文楷体" panose="02010600040101010101" pitchFamily="2" charset="-122"/>
              </a:rPr>
              <a:t>[</a:t>
            </a:r>
            <a:r>
              <a:rPr lang="zh-CN" altLang="en-US" sz="1600" b="1" dirty="0" smtClean="0">
                <a:solidFill>
                  <a:srgbClr val="C00000"/>
                </a:solidFill>
                <a:latin typeface="Times New Roman" panose="02020603050405020304" pitchFamily="18" charset="0"/>
                <a:ea typeface="华文楷体" panose="02010600040101010101" pitchFamily="2" charset="-122"/>
              </a:rPr>
              <a:t>染色</a:t>
            </a:r>
            <a:r>
              <a:rPr lang="en-US" altLang="zh-CN" sz="1600" b="1" dirty="0" smtClean="0">
                <a:solidFill>
                  <a:srgbClr val="C00000"/>
                </a:solidFill>
                <a:latin typeface="Times New Roman" panose="02020603050405020304" pitchFamily="18" charset="0"/>
                <a:ea typeface="华文楷体" panose="02010600040101010101" pitchFamily="2" charset="-122"/>
              </a:rPr>
              <a:t>]</a:t>
            </a:r>
            <a:endParaRPr lang="en-US" altLang="zh-CN" sz="1600" b="1" dirty="0" smtClean="0">
              <a:solidFill>
                <a:srgbClr val="C00000"/>
              </a:solidFill>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为跟踪</a:t>
            </a:r>
            <a:r>
              <a:rPr lang="en-US" altLang="zh-CN" sz="1600" dirty="0" smtClean="0">
                <a:latin typeface="Times New Roman" panose="02020603050405020304" pitchFamily="18" charset="0"/>
                <a:ea typeface="华文楷体" panose="02010600040101010101" pitchFamily="2" charset="-122"/>
              </a:rPr>
              <a:t>DFS</a:t>
            </a:r>
            <a:r>
              <a:rPr lang="zh-CN" altLang="en-US" sz="1600" dirty="0">
                <a:latin typeface="Times New Roman" panose="02020603050405020304" pitchFamily="18" charset="0"/>
                <a:ea typeface="华文楷体" panose="02010600040101010101" pitchFamily="2" charset="-122"/>
              </a:rPr>
              <a:t>算法进展</a:t>
            </a:r>
            <a:r>
              <a:rPr lang="zh-CN" altLang="en-US" sz="1600" dirty="0" smtClean="0">
                <a:latin typeface="Times New Roman" panose="02020603050405020304" pitchFamily="18" charset="0"/>
                <a:ea typeface="华文楷体" panose="02010600040101010101" pitchFamily="2" charset="-122"/>
              </a:rPr>
              <a:t>，利用全局数组</a:t>
            </a:r>
            <a:r>
              <a:rPr lang="en-US" altLang="zh-CN" sz="1600" dirty="0" smtClean="0">
                <a:latin typeface="Times New Roman" panose="02020603050405020304" pitchFamily="18" charset="0"/>
                <a:ea typeface="华文楷体" panose="02010600040101010101" pitchFamily="2" charset="-122"/>
              </a:rPr>
              <a:t>Color</a:t>
            </a:r>
            <a:r>
              <a:rPr lang="zh-CN" altLang="en-US" sz="1600" dirty="0">
                <a:latin typeface="Times New Roman" panose="02020603050405020304" pitchFamily="18" charset="0"/>
                <a:ea typeface="华文楷体" panose="02010600040101010101" pitchFamily="2" charset="-122"/>
              </a:rPr>
              <a:t>为顶点染色。</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err="1" smtClean="0">
                <a:latin typeface="Times New Roman" panose="02020603050405020304" pitchFamily="18" charset="0"/>
                <a:ea typeface="华文楷体" panose="02010600040101010101" pitchFamily="2" charset="-122"/>
              </a:rPr>
              <a:t>typedef</a:t>
            </a:r>
            <a:r>
              <a:rPr lang="en-US" altLang="zh-CN" sz="1600" dirty="0" smtClean="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enum</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Vclolor</a:t>
            </a:r>
            <a:r>
              <a:rPr lang="en-US" altLang="zh-CN" sz="1600" dirty="0">
                <a:latin typeface="Times New Roman" panose="02020603050405020304" pitchFamily="18" charset="0"/>
                <a:ea typeface="华文楷体" panose="02010600040101010101" pitchFamily="2" charset="-122"/>
              </a:rPr>
              <a:t>{white, </a:t>
            </a:r>
            <a:r>
              <a:rPr lang="en-US" altLang="zh-CN" sz="1600" dirty="0" err="1">
                <a:latin typeface="Times New Roman" panose="02020603050405020304" pitchFamily="18" charset="0"/>
                <a:ea typeface="华文楷体" panose="02010600040101010101" pitchFamily="2" charset="-122"/>
              </a:rPr>
              <a:t>gray,black</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vextexColor</a:t>
            </a:r>
            <a:r>
              <a:rPr lang="en-US" altLang="zh-CN" sz="1600" dirty="0">
                <a:latin typeface="Times New Roman" panose="02020603050405020304" pitchFamily="18" charset="0"/>
                <a:ea typeface="华文楷体" panose="02010600040101010101" pitchFamily="2" charset="-122"/>
              </a:rPr>
              <a:t>; </a:t>
            </a:r>
            <a:r>
              <a:rPr lang="en-US" altLang="zh-CN" sz="1600" dirty="0" err="1">
                <a:solidFill>
                  <a:srgbClr val="FF0000"/>
                </a:solidFill>
                <a:latin typeface="Times New Roman" panose="02020603050405020304" pitchFamily="18" charset="0"/>
                <a:ea typeface="华文楷体" panose="02010600040101010101" pitchFamily="2" charset="-122"/>
              </a:rPr>
              <a:t>vextexColor</a:t>
            </a:r>
            <a:r>
              <a:rPr lang="en-US" altLang="zh-CN" sz="1600" dirty="0">
                <a:solidFill>
                  <a:srgbClr val="FF0000"/>
                </a:solidFill>
                <a:latin typeface="Times New Roman" panose="02020603050405020304" pitchFamily="18" charset="0"/>
                <a:ea typeface="华文楷体" panose="02010600040101010101" pitchFamily="2" charset="-122"/>
              </a:rPr>
              <a:t>  color[MAXV]</a:t>
            </a:r>
            <a:r>
              <a:rPr lang="en-US" altLang="zh-CN" sz="1600" dirty="0">
                <a:latin typeface="Times New Roman" panose="02020603050405020304" pitchFamily="18" charset="0"/>
                <a:ea typeface="华文楷体" panose="02010600040101010101" pitchFamily="2" charset="-122"/>
              </a:rPr>
              <a:t>; color[v]=white</a:t>
            </a:r>
            <a:r>
              <a:rPr lang="zh-CN" altLang="en-US" sz="1600" dirty="0">
                <a:latin typeface="Times New Roman" panose="02020603050405020304" pitchFamily="18" charset="0"/>
                <a:ea typeface="华文楷体" panose="02010600040101010101" pitchFamily="2" charset="-122"/>
              </a:rPr>
              <a:t>，表示顶点</a:t>
            </a:r>
            <a:r>
              <a:rPr lang="en-US" altLang="zh-CN" sz="1600" dirty="0" smtClean="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染</a:t>
            </a:r>
            <a:r>
              <a:rPr lang="zh-CN" altLang="en-US" sz="1600" dirty="0" smtClean="0">
                <a:latin typeface="Times New Roman" panose="02020603050405020304" pitchFamily="18" charset="0"/>
                <a:ea typeface="华文楷体" panose="02010600040101010101" pitchFamily="2" charset="-122"/>
              </a:rPr>
              <a:t>白色</a:t>
            </a:r>
            <a:r>
              <a:rPr lang="zh-CN" altLang="en-US" sz="1600" dirty="0">
                <a:latin typeface="Times New Roman" panose="02020603050405020304" pitchFamily="18" charset="0"/>
                <a:ea typeface="华文楷体" panose="02010600040101010101" pitchFamily="2" charset="-122"/>
              </a:rPr>
              <a:t>；</a:t>
            </a:r>
            <a:r>
              <a:rPr lang="en-US" altLang="zh-CN" sz="1600" dirty="0">
                <a:latin typeface="Times New Roman" panose="02020603050405020304" pitchFamily="18" charset="0"/>
                <a:ea typeface="华文楷体" panose="02010600040101010101" pitchFamily="2" charset="-122"/>
              </a:rPr>
              <a:t> Color[v]=gray</a:t>
            </a:r>
            <a:r>
              <a:rPr lang="zh-CN" altLang="en-US" sz="1600" dirty="0">
                <a:latin typeface="Times New Roman" panose="02020603050405020304" pitchFamily="18" charset="0"/>
                <a:ea typeface="华文楷体" panose="02010600040101010101" pitchFamily="2" charset="-122"/>
              </a:rPr>
              <a:t>，表示顶点</a:t>
            </a:r>
            <a:r>
              <a:rPr lang="en-US" altLang="zh-CN" sz="1600" dirty="0" smtClean="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染</a:t>
            </a:r>
            <a:r>
              <a:rPr lang="zh-CN" altLang="en-US" sz="1600" dirty="0" smtClean="0">
                <a:latin typeface="Times New Roman" panose="02020603050405020304" pitchFamily="18" charset="0"/>
                <a:ea typeface="华文楷体" panose="02010600040101010101" pitchFamily="2" charset="-122"/>
              </a:rPr>
              <a:t>灰色</a:t>
            </a:r>
            <a:r>
              <a:rPr lang="zh-CN" altLang="en-US" sz="1600" dirty="0">
                <a:latin typeface="Times New Roman" panose="02020603050405020304" pitchFamily="18" charset="0"/>
                <a:ea typeface="华文楷体" panose="02010600040101010101" pitchFamily="2" charset="-122"/>
              </a:rPr>
              <a:t>；</a:t>
            </a:r>
            <a:r>
              <a:rPr lang="en-US" altLang="zh-CN" sz="1600" dirty="0">
                <a:latin typeface="Times New Roman" panose="02020603050405020304" pitchFamily="18" charset="0"/>
                <a:ea typeface="华文楷体" panose="02010600040101010101" pitchFamily="2" charset="-122"/>
              </a:rPr>
              <a:t> Color[v]=black</a:t>
            </a:r>
            <a:r>
              <a:rPr lang="zh-CN" altLang="en-US" sz="1600" dirty="0">
                <a:latin typeface="Times New Roman" panose="02020603050405020304" pitchFamily="18" charset="0"/>
                <a:ea typeface="华文楷体" panose="02010600040101010101" pitchFamily="2" charset="-122"/>
              </a:rPr>
              <a:t>，表示顶点</a:t>
            </a:r>
            <a:r>
              <a:rPr lang="en-US" altLang="zh-CN" sz="1600" dirty="0" smtClean="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染</a:t>
            </a:r>
            <a:r>
              <a:rPr lang="zh-CN" altLang="en-US" sz="1600" dirty="0" smtClean="0">
                <a:latin typeface="Times New Roman" panose="02020603050405020304" pitchFamily="18" charset="0"/>
                <a:ea typeface="华文楷体" panose="02010600040101010101" pitchFamily="2" charset="-122"/>
              </a:rPr>
              <a:t>黑色</a:t>
            </a:r>
            <a:r>
              <a:rPr lang="zh-CN" altLang="en-US" sz="1600" dirty="0">
                <a:latin typeface="Times New Roman" panose="02020603050405020304" pitchFamily="18" charset="0"/>
                <a:ea typeface="华文楷体" panose="02010600040101010101" pitchFamily="2" charset="-122"/>
              </a:rPr>
              <a:t>；</a:t>
            </a:r>
            <a:endParaRPr lang="en-US" altLang="zh-CN" sz="1600" dirty="0">
              <a:latin typeface="Times New Roman" panose="02020603050405020304" pitchFamily="18" charset="0"/>
              <a:ea typeface="华文楷体" panose="02010600040101010101" pitchFamily="2" charset="-122"/>
            </a:endParaRPr>
          </a:p>
          <a:p>
            <a:r>
              <a:rPr lang="en-US" altLang="zh-CN" sz="1600" dirty="0" smtClean="0">
                <a:latin typeface="宋体" panose="02010600030101010101" pitchFamily="2" charset="-122"/>
              </a:rPr>
              <a:t>①</a:t>
            </a:r>
            <a:r>
              <a:rPr lang="en-US" altLang="zh-CN" sz="1600" dirty="0">
                <a:latin typeface="Times New Roman" panose="02020603050405020304" pitchFamily="18" charset="0"/>
                <a:ea typeface="华文楷体" panose="02010600040101010101" pitchFamily="2" charset="-122"/>
              </a:rPr>
              <a:t>DFS</a:t>
            </a:r>
            <a:r>
              <a:rPr lang="zh-CN" altLang="en-US" sz="1600" dirty="0">
                <a:latin typeface="Times New Roman" panose="02020603050405020304" pitchFamily="18" charset="0"/>
                <a:ea typeface="华文楷体" panose="02010600040101010101" pitchFamily="2" charset="-122"/>
              </a:rPr>
              <a:t>初始化时所用顶点都染白色。</a:t>
            </a:r>
            <a:endParaRPr lang="en-US" altLang="zh-CN" sz="1600" dirty="0">
              <a:latin typeface="Times New Roman" panose="02020603050405020304" pitchFamily="18" charset="0"/>
              <a:ea typeface="华文楷体" panose="02010600040101010101" pitchFamily="2" charset="-122"/>
            </a:endParaRPr>
          </a:p>
          <a:p>
            <a:r>
              <a:rPr lang="zh-CN" altLang="en-US" sz="1600" dirty="0">
                <a:latin typeface="宋体" panose="02010600030101010101" pitchFamily="2" charset="-122"/>
              </a:rPr>
              <a:t>②</a:t>
            </a:r>
            <a:r>
              <a:rPr lang="zh-CN" altLang="en-US" sz="1600" dirty="0">
                <a:latin typeface="Times New Roman" panose="02020603050405020304" pitchFamily="18" charset="0"/>
                <a:ea typeface="华文楷体" panose="02010600040101010101" pitchFamily="2" charset="-122"/>
              </a:rPr>
              <a:t>灰色或黑色表示顶点已被发现</a:t>
            </a:r>
            <a:r>
              <a:rPr lang="zh-CN" altLang="en-US" sz="1600" dirty="0" smtClean="0">
                <a:latin typeface="Times New Roman" panose="02020603050405020304" pitchFamily="18" charset="0"/>
                <a:ea typeface="华文楷体" panose="02010600040101010101" pitchFamily="2" charset="-122"/>
              </a:rPr>
              <a:t>。算法</a:t>
            </a:r>
            <a:r>
              <a:rPr lang="zh-CN" altLang="en-US" sz="1600" dirty="0">
                <a:latin typeface="Times New Roman" panose="02020603050405020304" pitchFamily="18" charset="0"/>
                <a:ea typeface="华文楷体" panose="02010600040101010101" pitchFamily="2" charset="-122"/>
              </a:rPr>
              <a:t>过程中第一次遇到一个顶点，就称之为被</a:t>
            </a:r>
            <a:r>
              <a:rPr lang="zh-CN" altLang="en-US" sz="1600" dirty="0" smtClean="0">
                <a:latin typeface="Times New Roman" panose="02020603050405020304" pitchFamily="18" charset="0"/>
                <a:ea typeface="华文楷体" panose="02010600040101010101" pitchFamily="2" charset="-122"/>
              </a:rPr>
              <a:t>发现（ 被访问），</a:t>
            </a:r>
            <a:r>
              <a:rPr lang="zh-CN" altLang="en-US" sz="1600" dirty="0">
                <a:latin typeface="Times New Roman" panose="02020603050405020304" pitchFamily="18" charset="0"/>
                <a:ea typeface="华文楷体" panose="02010600040101010101" pitchFamily="2" charset="-122"/>
              </a:rPr>
              <a:t>该顶点颜色从白色变为</a:t>
            </a:r>
            <a:r>
              <a:rPr lang="zh-CN" altLang="en-US" sz="1600" dirty="0" smtClean="0">
                <a:latin typeface="Times New Roman" panose="02020603050405020304" pitchFamily="18" charset="0"/>
                <a:ea typeface="华文楷体" panose="02010600040101010101" pitchFamily="2" charset="-122"/>
              </a:rPr>
              <a:t>灰色。</a:t>
            </a:r>
            <a:endParaRPr lang="en-US" altLang="zh-CN" sz="1600" dirty="0" smtClean="0">
              <a:latin typeface="Times New Roman" panose="02020603050405020304" pitchFamily="18" charset="0"/>
              <a:ea typeface="华文楷体" panose="02010600040101010101" pitchFamily="2" charset="-122"/>
            </a:endParaRPr>
          </a:p>
          <a:p>
            <a:r>
              <a:rPr lang="zh-CN" altLang="en-US" sz="1600" dirty="0" smtClean="0">
                <a:latin typeface="宋体" panose="02010600030101010101" pitchFamily="2" charset="-122"/>
              </a:rPr>
              <a:t>③</a:t>
            </a:r>
            <a:r>
              <a:rPr lang="zh-CN" altLang="en-US" sz="1600" dirty="0" smtClean="0">
                <a:latin typeface="Times New Roman" panose="02020603050405020304" pitchFamily="18" charset="0"/>
                <a:ea typeface="华文楷体" panose="02010600040101010101" pitchFamily="2" charset="-122"/>
              </a:rPr>
              <a:t>若一个顶点被发现后，其邻接表</a:t>
            </a:r>
            <a:r>
              <a:rPr lang="en-US" altLang="zh-CN" sz="1600" dirty="0" smtClean="0">
                <a:latin typeface="Times New Roman" panose="02020603050405020304" pitchFamily="18" charset="0"/>
                <a:ea typeface="华文楷体" panose="02010600040101010101" pitchFamily="2" charset="-122"/>
              </a:rPr>
              <a:t>/</a:t>
            </a:r>
            <a:r>
              <a:rPr lang="zh-CN" altLang="en-US" sz="1600" dirty="0" smtClean="0">
                <a:latin typeface="Times New Roman" panose="02020603050405020304" pitchFamily="18" charset="0"/>
                <a:ea typeface="华文楷体" panose="02010600040101010101" pitchFamily="2" charset="-122"/>
              </a:rPr>
              <a:t>邻接矩阵所在行被扫描完，则顶点颜色由灰色变为黑色。</a:t>
            </a:r>
            <a:endParaRPr lang="en-US" altLang="zh-CN" sz="1600" dirty="0" smtClean="0">
              <a:latin typeface="Times New Roman" panose="02020603050405020304" pitchFamily="18" charset="0"/>
              <a:ea typeface="华文楷体" panose="02010600040101010101" pitchFamily="2" charset="-122"/>
            </a:endParaRPr>
          </a:p>
        </p:txBody>
      </p:sp>
      <p:sp>
        <p:nvSpPr>
          <p:cNvPr id="8" name="文本框 7"/>
          <p:cNvSpPr txBox="1"/>
          <p:nvPr/>
        </p:nvSpPr>
        <p:spPr>
          <a:xfrm>
            <a:off x="228600" y="3594318"/>
            <a:ext cx="8763000" cy="1568450"/>
          </a:xfrm>
          <a:prstGeom prst="rect">
            <a:avLst/>
          </a:prstGeom>
          <a:noFill/>
          <a:ln>
            <a:solidFill>
              <a:schemeClr val="accent1"/>
            </a:solidFill>
          </a:ln>
        </p:spPr>
        <p:txBody>
          <a:bodyPr wrap="square" rtlCol="0">
            <a:spAutoFit/>
          </a:bodyPr>
          <a:lstStyle/>
          <a:p>
            <a:r>
              <a:rPr lang="en-US" altLang="zh-CN" sz="1600" b="1" dirty="0">
                <a:solidFill>
                  <a:srgbClr val="C00000"/>
                </a:solidFill>
                <a:latin typeface="Times New Roman" panose="02020603050405020304" pitchFamily="18" charset="0"/>
                <a:ea typeface="华文楷体" panose="02010600040101010101" pitchFamily="2" charset="-122"/>
              </a:rPr>
              <a:t>[</a:t>
            </a:r>
            <a:r>
              <a:rPr lang="zh-CN" altLang="en-US" sz="1600" b="1" dirty="0">
                <a:solidFill>
                  <a:srgbClr val="C00000"/>
                </a:solidFill>
                <a:latin typeface="Times New Roman" panose="02020603050405020304" pitchFamily="18" charset="0"/>
                <a:ea typeface="华文楷体" panose="02010600040101010101" pitchFamily="2" charset="-122"/>
              </a:rPr>
              <a:t>打时间戳</a:t>
            </a:r>
            <a:r>
              <a:rPr lang="en-US" altLang="zh-CN" sz="1600" b="1" dirty="0">
                <a:solidFill>
                  <a:srgbClr val="C00000"/>
                </a:solidFill>
                <a:latin typeface="Times New Roman" panose="02020603050405020304" pitchFamily="18" charset="0"/>
                <a:ea typeface="华文楷体" panose="02010600040101010101" pitchFamily="2" charset="-122"/>
              </a:rPr>
              <a:t>]</a:t>
            </a:r>
            <a:endParaRPr lang="en-US" altLang="zh-CN" sz="1600" b="1" dirty="0">
              <a:solidFill>
                <a:srgbClr val="C00000"/>
              </a:solidFill>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在</a:t>
            </a:r>
            <a:r>
              <a:rPr lang="en-US" altLang="zh-CN" sz="1600" dirty="0">
                <a:latin typeface="Times New Roman" panose="02020603050405020304" pitchFamily="18" charset="0"/>
                <a:ea typeface="华文楷体" panose="02010600040101010101" pitchFamily="2" charset="-122"/>
              </a:rPr>
              <a:t>DFS</a:t>
            </a:r>
            <a:r>
              <a:rPr lang="zh-CN" altLang="en-US" sz="1600" dirty="0">
                <a:latin typeface="Times New Roman" panose="02020603050405020304" pitchFamily="18" charset="0"/>
                <a:ea typeface="华文楷体" panose="02010600040101010101" pitchFamily="2" charset="-122"/>
              </a:rPr>
              <a:t>运行过程</a:t>
            </a:r>
            <a:r>
              <a:rPr lang="zh-CN" altLang="en-US" sz="1600" dirty="0" smtClean="0">
                <a:latin typeface="Times New Roman" panose="02020603050405020304" pitchFamily="18" charset="0"/>
                <a:ea typeface="华文楷体" panose="02010600040101010101" pitchFamily="2" charset="-122"/>
              </a:rPr>
              <a:t>中利用全局数组</a:t>
            </a:r>
            <a:r>
              <a:rPr lang="en-US" altLang="zh-CN" sz="1600" dirty="0">
                <a:latin typeface="Times New Roman" panose="02020603050405020304" pitchFamily="18" charset="0"/>
                <a:ea typeface="华文楷体" panose="02010600040101010101" pitchFamily="2" charset="-122"/>
              </a:rPr>
              <a:t>b</a:t>
            </a:r>
            <a:r>
              <a:rPr lang="en-US" altLang="zh-CN" sz="1600" dirty="0" smtClean="0">
                <a:latin typeface="Times New Roman" panose="02020603050405020304" pitchFamily="18" charset="0"/>
                <a:ea typeface="华文楷体" panose="02010600040101010101" pitchFamily="2" charset="-122"/>
              </a:rPr>
              <a:t>[]</a:t>
            </a:r>
            <a:r>
              <a:rPr lang="zh-CN" altLang="en-US" sz="1600" dirty="0" smtClean="0">
                <a:latin typeface="Times New Roman" panose="02020603050405020304" pitchFamily="18" charset="0"/>
                <a:ea typeface="华文楷体" panose="02010600040101010101" pitchFamily="2" charset="-122"/>
              </a:rPr>
              <a:t>和</a:t>
            </a:r>
            <a:r>
              <a:rPr lang="en-US" altLang="zh-CN" sz="1600" dirty="0" smtClean="0">
                <a:latin typeface="Times New Roman" panose="02020603050405020304" pitchFamily="18" charset="0"/>
                <a:ea typeface="华文楷体" panose="02010600040101010101" pitchFamily="2" charset="-122"/>
              </a:rPr>
              <a:t>f[]</a:t>
            </a:r>
            <a:r>
              <a:rPr lang="zh-CN" altLang="en-US" sz="1600" dirty="0" smtClean="0">
                <a:latin typeface="Times New Roman" panose="02020603050405020304" pitchFamily="18" charset="0"/>
                <a:ea typeface="华文楷体" panose="02010600040101010101" pitchFamily="2" charset="-122"/>
              </a:rPr>
              <a:t>为每个顶点</a:t>
            </a:r>
            <a:r>
              <a:rPr lang="zh-CN" altLang="en-US" sz="1600" dirty="0">
                <a:latin typeface="Times New Roman" panose="02020603050405020304" pitchFamily="18" charset="0"/>
                <a:ea typeface="华文楷体" panose="02010600040101010101" pitchFamily="2" charset="-122"/>
              </a:rPr>
              <a:t>打上两个时间</a:t>
            </a:r>
            <a:r>
              <a:rPr lang="zh-CN" altLang="en-US" sz="1600" dirty="0" smtClean="0">
                <a:latin typeface="Times New Roman" panose="02020603050405020304" pitchFamily="18" charset="0"/>
                <a:ea typeface="华文楷体" panose="02010600040101010101" pitchFamily="2" charset="-122"/>
              </a:rPr>
              <a:t>戳</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err="1">
                <a:solidFill>
                  <a:srgbClr val="FF0000"/>
                </a:solidFill>
                <a:latin typeface="Times New Roman" panose="02020603050405020304" pitchFamily="18" charset="0"/>
                <a:ea typeface="华文楷体" panose="02010600040101010101" pitchFamily="2" charset="-122"/>
              </a:rPr>
              <a:t>i</a:t>
            </a:r>
            <a:r>
              <a:rPr lang="en-US" altLang="zh-CN" sz="1600" dirty="0" err="1" smtClean="0">
                <a:solidFill>
                  <a:srgbClr val="FF0000"/>
                </a:solidFill>
                <a:latin typeface="Times New Roman" panose="02020603050405020304" pitchFamily="18" charset="0"/>
                <a:ea typeface="华文楷体" panose="02010600040101010101" pitchFamily="2" charset="-122"/>
              </a:rPr>
              <a:t>nt</a:t>
            </a:r>
            <a:r>
              <a:rPr lang="en-US" altLang="zh-CN" sz="1600" dirty="0" smtClean="0">
                <a:solidFill>
                  <a:srgbClr val="FF0000"/>
                </a:solidFill>
                <a:latin typeface="Times New Roman" panose="02020603050405020304" pitchFamily="18" charset="0"/>
                <a:ea typeface="华文楷体" panose="02010600040101010101" pitchFamily="2" charset="-122"/>
              </a:rPr>
              <a:t> b[MAXV]; </a:t>
            </a:r>
            <a:r>
              <a:rPr lang="en-US" altLang="zh-CN" sz="1600" dirty="0" err="1" smtClean="0">
                <a:solidFill>
                  <a:srgbClr val="FF0000"/>
                </a:solidFill>
                <a:latin typeface="Times New Roman" panose="02020603050405020304" pitchFamily="18" charset="0"/>
                <a:ea typeface="华文楷体" panose="02010600040101010101" pitchFamily="2" charset="-122"/>
              </a:rPr>
              <a:t>int</a:t>
            </a:r>
            <a:r>
              <a:rPr lang="en-US" altLang="zh-CN" sz="1600" dirty="0" smtClean="0">
                <a:solidFill>
                  <a:srgbClr val="FF0000"/>
                </a:solidFill>
                <a:latin typeface="Times New Roman" panose="02020603050405020304" pitchFamily="18" charset="0"/>
                <a:ea typeface="华文楷体" panose="02010600040101010101" pitchFamily="2" charset="-122"/>
              </a:rPr>
              <a:t> f[MAXV];</a:t>
            </a:r>
            <a:endParaRPr lang="en-US" altLang="zh-CN" sz="1600" dirty="0">
              <a:solidFill>
                <a:srgbClr val="FF0000"/>
              </a:solidFill>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①</a:t>
            </a:r>
            <a:r>
              <a:rPr lang="zh-CN" altLang="en-US" sz="1600" dirty="0" smtClean="0">
                <a:latin typeface="Times New Roman" panose="02020603050405020304" pitchFamily="18" charset="0"/>
                <a:ea typeface="华文楷体" panose="02010600040101010101" pitchFamily="2" charset="-122"/>
              </a:rPr>
              <a:t>第</a:t>
            </a:r>
            <a:r>
              <a:rPr lang="en-US" altLang="zh-CN" sz="1600" dirty="0" smtClean="0">
                <a:latin typeface="Times New Roman" panose="02020603050405020304" pitchFamily="18" charset="0"/>
                <a:ea typeface="华文楷体" panose="02010600040101010101" pitchFamily="2" charset="-122"/>
              </a:rPr>
              <a:t>1</a:t>
            </a:r>
            <a:r>
              <a:rPr lang="zh-CN" altLang="en-US" sz="1600" dirty="0" smtClean="0">
                <a:latin typeface="Times New Roman" panose="02020603050405020304" pitchFamily="18" charset="0"/>
                <a:ea typeface="华文楷体" panose="02010600040101010101" pitchFamily="2" charset="-122"/>
              </a:rPr>
              <a:t>个</a:t>
            </a:r>
            <a:r>
              <a:rPr lang="zh-CN" altLang="en-US" sz="1600" dirty="0">
                <a:latin typeface="Times New Roman" panose="02020603050405020304" pitchFamily="18" charset="0"/>
                <a:ea typeface="华文楷体" panose="02010600040101010101" pitchFamily="2" charset="-122"/>
              </a:rPr>
              <a:t>时间戳</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b[v]</a:t>
            </a:r>
            <a:r>
              <a:rPr lang="zh-CN" altLang="en-US" sz="1600" dirty="0" smtClean="0">
                <a:latin typeface="Times New Roman" panose="02020603050405020304" pitchFamily="18" charset="0"/>
                <a:ea typeface="华文楷体" panose="02010600040101010101" pitchFamily="2" charset="-122"/>
              </a:rPr>
              <a:t>记录</a:t>
            </a:r>
            <a:r>
              <a:rPr lang="zh-CN" altLang="en-US" sz="1600" dirty="0">
                <a:latin typeface="Times New Roman" panose="02020603050405020304" pitchFamily="18" charset="0"/>
                <a:ea typeface="华文楷体" panose="02010600040101010101" pitchFamily="2" charset="-122"/>
              </a:rPr>
              <a:t>顶点</a:t>
            </a:r>
            <a:r>
              <a:rPr lang="en-US" altLang="zh-CN" sz="1600" dirty="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第一次被发现（被访问）的时间，即染成灰色的时间。</a:t>
            </a:r>
            <a:endParaRPr lang="en-US" altLang="zh-CN" sz="1600" dirty="0">
              <a:latin typeface="Times New Roman" panose="02020603050405020304" pitchFamily="18" charset="0"/>
              <a:ea typeface="华文楷体" panose="02010600040101010101" pitchFamily="2" charset="-122"/>
            </a:endParaRPr>
          </a:p>
          <a:p>
            <a:r>
              <a:rPr lang="zh-CN" altLang="en-US" sz="1600" dirty="0">
                <a:latin typeface="Times New Roman" panose="02020603050405020304" pitchFamily="18" charset="0"/>
                <a:ea typeface="华文楷体" panose="02010600040101010101" pitchFamily="2" charset="-122"/>
              </a:rPr>
              <a:t>②</a:t>
            </a:r>
            <a:r>
              <a:rPr lang="zh-CN" altLang="en-US" sz="1600" dirty="0" smtClean="0">
                <a:latin typeface="Times New Roman" panose="02020603050405020304" pitchFamily="18" charset="0"/>
                <a:ea typeface="华文楷体" panose="02010600040101010101" pitchFamily="2" charset="-122"/>
              </a:rPr>
              <a:t>第</a:t>
            </a:r>
            <a:r>
              <a:rPr lang="en-US" altLang="zh-CN" sz="1600" dirty="0" smtClean="0">
                <a:latin typeface="Times New Roman" panose="02020603050405020304" pitchFamily="18" charset="0"/>
                <a:ea typeface="华文楷体" panose="02010600040101010101" pitchFamily="2" charset="-122"/>
              </a:rPr>
              <a:t>2</a:t>
            </a:r>
            <a:r>
              <a:rPr lang="zh-CN" altLang="en-US" sz="1600" dirty="0" smtClean="0">
                <a:latin typeface="Times New Roman" panose="02020603050405020304" pitchFamily="18" charset="0"/>
                <a:ea typeface="华文楷体" panose="02010600040101010101" pitchFamily="2" charset="-122"/>
              </a:rPr>
              <a:t>个</a:t>
            </a:r>
            <a:r>
              <a:rPr lang="zh-CN" altLang="en-US" sz="1600" dirty="0">
                <a:latin typeface="Times New Roman" panose="02020603050405020304" pitchFamily="18" charset="0"/>
                <a:ea typeface="华文楷体" panose="02010600040101010101" pitchFamily="2" charset="-122"/>
              </a:rPr>
              <a:t>时间戳</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f[v]</a:t>
            </a:r>
            <a:r>
              <a:rPr lang="zh-CN" altLang="en-US" sz="1600" dirty="0" smtClean="0">
                <a:latin typeface="Times New Roman" panose="02020603050405020304" pitchFamily="18" charset="0"/>
                <a:ea typeface="华文楷体" panose="02010600040101010101" pitchFamily="2" charset="-122"/>
              </a:rPr>
              <a:t>记录</a:t>
            </a:r>
            <a:r>
              <a:rPr lang="zh-CN" altLang="en-US" sz="1600" dirty="0">
                <a:latin typeface="Times New Roman" panose="02020603050405020304" pitchFamily="18" charset="0"/>
                <a:ea typeface="华文楷体" panose="02010600040101010101" pitchFamily="2" charset="-122"/>
              </a:rPr>
              <a:t>顶点</a:t>
            </a:r>
            <a:r>
              <a:rPr lang="en-US" altLang="zh-CN" sz="1600" dirty="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的邻接表</a:t>
            </a:r>
            <a:r>
              <a:rPr lang="en-US" altLang="zh-CN" sz="1600" dirty="0">
                <a:latin typeface="Times New Roman" panose="02020603050405020304" pitchFamily="18" charset="0"/>
                <a:ea typeface="华文楷体" panose="02010600040101010101" pitchFamily="2" charset="-122"/>
              </a:rPr>
              <a:t>/</a:t>
            </a:r>
            <a:r>
              <a:rPr lang="zh-CN" altLang="en-US" sz="1600" dirty="0">
                <a:latin typeface="Times New Roman" panose="02020603050405020304" pitchFamily="18" charset="0"/>
                <a:ea typeface="华文楷体" panose="02010600040101010101" pitchFamily="2" charset="-122"/>
              </a:rPr>
              <a:t>邻接矩阵所在行被扫描完的时间，即被</a:t>
            </a:r>
            <a:r>
              <a:rPr lang="zh-CN" altLang="en-US" sz="1600" dirty="0" smtClean="0">
                <a:latin typeface="Times New Roman" panose="02020603050405020304" pitchFamily="18" charset="0"/>
                <a:ea typeface="华文楷体" panose="02010600040101010101" pitchFamily="2" charset="-122"/>
              </a:rPr>
              <a:t>染黑色</a:t>
            </a:r>
            <a:r>
              <a:rPr lang="zh-CN" altLang="en-US" sz="1600" dirty="0">
                <a:latin typeface="Times New Roman" panose="02020603050405020304" pitchFamily="18" charset="0"/>
                <a:ea typeface="华文楷体" panose="02010600040101010101" pitchFamily="2" charset="-122"/>
              </a:rPr>
              <a:t>的时间。</a:t>
            </a:r>
            <a:endParaRPr lang="en-US" altLang="zh-CN" sz="1600" dirty="0">
              <a:latin typeface="Times New Roman" panose="02020603050405020304" pitchFamily="18" charset="0"/>
              <a:ea typeface="华文楷体" panose="02010600040101010101" pitchFamily="2" charset="-122"/>
            </a:endParaRPr>
          </a:p>
          <a:p>
            <a:r>
              <a:rPr lang="zh-CN" altLang="en-US" sz="1600" dirty="0">
                <a:latin typeface="Times New Roman" panose="02020603050405020304" pitchFamily="18" charset="0"/>
                <a:ea typeface="华文楷体" panose="02010600040101010101" pitchFamily="2" charset="-122"/>
              </a:rPr>
              <a:t>③对于任何一个结点</a:t>
            </a:r>
            <a:r>
              <a:rPr lang="en-US" altLang="zh-CN" sz="1600" dirty="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而言，只能有一个发现</a:t>
            </a:r>
            <a:r>
              <a:rPr lang="zh-CN" altLang="en-US" sz="1600" dirty="0" smtClean="0">
                <a:latin typeface="Times New Roman" panose="02020603050405020304" pitchFamily="18" charset="0"/>
                <a:ea typeface="华文楷体" panose="02010600040101010101" pitchFamily="2" charset="-122"/>
              </a:rPr>
              <a:t>时间</a:t>
            </a:r>
            <a:r>
              <a:rPr lang="en-US" altLang="zh-CN" sz="1600" dirty="0" smtClean="0">
                <a:latin typeface="Times New Roman" panose="02020603050405020304" pitchFamily="18" charset="0"/>
                <a:ea typeface="华文楷体" panose="02010600040101010101" pitchFamily="2" charset="-122"/>
              </a:rPr>
              <a:t>b[v]</a:t>
            </a:r>
            <a:r>
              <a:rPr lang="zh-CN" altLang="en-US" sz="1600" dirty="0" smtClean="0">
                <a:latin typeface="Times New Roman" panose="02020603050405020304" pitchFamily="18" charset="0"/>
                <a:ea typeface="华文楷体" panose="02010600040101010101" pitchFamily="2" charset="-122"/>
              </a:rPr>
              <a:t>和</a:t>
            </a:r>
            <a:r>
              <a:rPr lang="zh-CN" altLang="en-US" sz="1600" dirty="0">
                <a:latin typeface="Times New Roman" panose="02020603050405020304" pitchFamily="18" charset="0"/>
                <a:ea typeface="华文楷体" panose="02010600040101010101" pitchFamily="2" charset="-122"/>
              </a:rPr>
              <a:t>一个完成</a:t>
            </a:r>
            <a:r>
              <a:rPr lang="zh-CN" altLang="en-US" sz="1600" dirty="0" smtClean="0">
                <a:latin typeface="Times New Roman" panose="02020603050405020304" pitchFamily="18" charset="0"/>
                <a:ea typeface="华文楷体" panose="02010600040101010101" pitchFamily="2" charset="-122"/>
              </a:rPr>
              <a:t>时间</a:t>
            </a:r>
            <a:r>
              <a:rPr lang="en-US" altLang="zh-CN" sz="1600" dirty="0" smtClean="0">
                <a:latin typeface="Times New Roman" panose="02020603050405020304" pitchFamily="18" charset="0"/>
                <a:ea typeface="华文楷体" panose="02010600040101010101" pitchFamily="2" charset="-122"/>
              </a:rPr>
              <a:t>f[v] </a:t>
            </a:r>
            <a:r>
              <a:rPr lang="zh-CN" altLang="en-US" sz="1600" dirty="0">
                <a:latin typeface="Times New Roman" panose="02020603050405020304" pitchFamily="18" charset="0"/>
                <a:ea typeface="华文楷体" panose="02010600040101010101" pitchFamily="2" charset="-122"/>
              </a:rPr>
              <a:t>，且</a:t>
            </a:r>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b[v]&lt; f[v]</a:t>
            </a:r>
            <a:r>
              <a:rPr lang="zh-CN" altLang="en-US" sz="1600" dirty="0" smtClean="0">
                <a:latin typeface="Times New Roman" panose="02020603050405020304" pitchFamily="18" charset="0"/>
                <a:ea typeface="华文楷体" panose="02010600040101010101" pitchFamily="2" charset="-122"/>
              </a:rPr>
              <a:t>。</a:t>
            </a:r>
            <a:endParaRPr lang="zh-CN" altLang="en-US" sz="1600" dirty="0">
              <a:latin typeface="Times New Roman" panose="02020603050405020304" pitchFamily="18" charset="0"/>
              <a:ea typeface="华文楷体" panose="02010600040101010101" pitchFamily="2" charset="-122"/>
            </a:endParaRPr>
          </a:p>
        </p:txBody>
      </p:sp>
      <p:sp>
        <p:nvSpPr>
          <p:cNvPr id="7" name="文本框 6"/>
          <p:cNvSpPr txBox="1"/>
          <p:nvPr/>
        </p:nvSpPr>
        <p:spPr>
          <a:xfrm>
            <a:off x="228600" y="5502027"/>
            <a:ext cx="8763000" cy="1077218"/>
          </a:xfrm>
          <a:prstGeom prst="rect">
            <a:avLst/>
          </a:prstGeom>
          <a:noFill/>
          <a:ln>
            <a:solidFill>
              <a:schemeClr val="accent1"/>
            </a:solidFill>
          </a:ln>
        </p:spPr>
        <p:txBody>
          <a:bodyPr wrap="square" rtlCol="0">
            <a:spAutoFit/>
          </a:bodyPr>
          <a:lstStyle/>
          <a:p>
            <a:r>
              <a:rPr lang="en-US" altLang="zh-CN" sz="1600" b="1" dirty="0" smtClean="0">
                <a:solidFill>
                  <a:srgbClr val="C00000"/>
                </a:solidFill>
                <a:latin typeface="Times New Roman" panose="02020603050405020304" pitchFamily="18" charset="0"/>
                <a:ea typeface="华文楷体" panose="02010600040101010101" pitchFamily="2" charset="-122"/>
              </a:rPr>
              <a:t>[</a:t>
            </a:r>
            <a:r>
              <a:rPr lang="zh-CN" altLang="en-US" sz="1600" b="1" dirty="0" smtClean="0">
                <a:solidFill>
                  <a:srgbClr val="C00000"/>
                </a:solidFill>
                <a:latin typeface="Times New Roman" panose="02020603050405020304" pitchFamily="18" charset="0"/>
                <a:ea typeface="华文楷体" panose="02010600040101010101" pitchFamily="2" charset="-122"/>
              </a:rPr>
              <a:t>前驱顶点</a:t>
            </a:r>
            <a:r>
              <a:rPr lang="en-US" altLang="zh-CN" sz="1600" b="1" dirty="0" smtClean="0">
                <a:solidFill>
                  <a:srgbClr val="C00000"/>
                </a:solidFill>
                <a:latin typeface="Times New Roman" panose="02020603050405020304" pitchFamily="18" charset="0"/>
                <a:ea typeface="华文楷体" panose="02010600040101010101" pitchFamily="2" charset="-122"/>
              </a:rPr>
              <a:t>]</a:t>
            </a:r>
            <a:endParaRPr lang="en-US" altLang="zh-CN" sz="1600" b="1" dirty="0">
              <a:solidFill>
                <a:srgbClr val="C00000"/>
              </a:solidFill>
              <a:latin typeface="Times New Roman" panose="02020603050405020304" pitchFamily="18" charset="0"/>
              <a:ea typeface="华文楷体" panose="02010600040101010101" pitchFamily="2" charset="-122"/>
            </a:endParaRPr>
          </a:p>
          <a:p>
            <a:r>
              <a:rPr lang="zh-CN" altLang="en-US" sz="1600" dirty="0">
                <a:latin typeface="Times New Roman" panose="02020603050405020304" pitchFamily="18" charset="0"/>
                <a:ea typeface="华文楷体" panose="02010600040101010101" pitchFamily="2" charset="-122"/>
              </a:rPr>
              <a:t>在</a:t>
            </a:r>
            <a:r>
              <a:rPr lang="en-US" altLang="zh-CN" sz="1600" dirty="0">
                <a:latin typeface="Times New Roman" panose="02020603050405020304" pitchFamily="18" charset="0"/>
                <a:ea typeface="华文楷体" panose="02010600040101010101" pitchFamily="2" charset="-122"/>
              </a:rPr>
              <a:t>DFS</a:t>
            </a:r>
            <a:r>
              <a:rPr lang="zh-CN" altLang="en-US" sz="1600" dirty="0">
                <a:latin typeface="Times New Roman" panose="02020603050405020304" pitchFamily="18" charset="0"/>
                <a:ea typeface="华文楷体" panose="02010600040101010101" pitchFamily="2" charset="-122"/>
              </a:rPr>
              <a:t>运行过程中利用全局</a:t>
            </a:r>
            <a:r>
              <a:rPr lang="zh-CN" altLang="en-US" sz="1600" dirty="0" smtClean="0">
                <a:latin typeface="Times New Roman" panose="02020603050405020304" pitchFamily="18" charset="0"/>
                <a:ea typeface="华文楷体" panose="02010600040101010101" pitchFamily="2" charset="-122"/>
              </a:rPr>
              <a:t>数组</a:t>
            </a:r>
            <a:r>
              <a:rPr lang="en-US" altLang="zh-CN" sz="1600" dirty="0">
                <a:latin typeface="Times New Roman" panose="02020603050405020304" pitchFamily="18" charset="0"/>
                <a:ea typeface="华文楷体" panose="02010600040101010101" pitchFamily="2" charset="-122"/>
              </a:rPr>
              <a:t>p []</a:t>
            </a:r>
            <a:r>
              <a:rPr lang="zh-CN" altLang="en-US" sz="1600" dirty="0">
                <a:latin typeface="Times New Roman" panose="02020603050405020304" pitchFamily="18" charset="0"/>
                <a:ea typeface="华文楷体" panose="02010600040101010101" pitchFamily="2" charset="-122"/>
              </a:rPr>
              <a:t>为</a:t>
            </a:r>
            <a:r>
              <a:rPr lang="zh-CN" altLang="en-US" sz="1600" dirty="0" smtClean="0">
                <a:latin typeface="Times New Roman" panose="02020603050405020304" pitchFamily="18" charset="0"/>
                <a:ea typeface="华文楷体" panose="02010600040101010101" pitchFamily="2" charset="-122"/>
              </a:rPr>
              <a:t>每个顶点记录其在深度优先搜索中的前驱顶点</a:t>
            </a:r>
            <a:r>
              <a:rPr lang="zh-CN" altLang="en-US" sz="1600" dirty="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err="1" smtClean="0">
                <a:solidFill>
                  <a:srgbClr val="FF0000"/>
                </a:solidFill>
                <a:latin typeface="Times New Roman" panose="02020603050405020304" pitchFamily="18" charset="0"/>
                <a:ea typeface="华文楷体" panose="02010600040101010101" pitchFamily="2" charset="-122"/>
              </a:rPr>
              <a:t>int</a:t>
            </a:r>
            <a:r>
              <a:rPr lang="en-US" altLang="zh-CN" sz="1600" dirty="0" smtClean="0">
                <a:solidFill>
                  <a:srgbClr val="FF0000"/>
                </a:solidFill>
                <a:latin typeface="Times New Roman" panose="02020603050405020304" pitchFamily="18" charset="0"/>
                <a:ea typeface="华文楷体" panose="02010600040101010101" pitchFamily="2" charset="-122"/>
              </a:rPr>
              <a:t> </a:t>
            </a:r>
            <a:r>
              <a:rPr lang="en-US" altLang="zh-CN" sz="1600" dirty="0">
                <a:solidFill>
                  <a:srgbClr val="FF0000"/>
                </a:solidFill>
                <a:latin typeface="Times New Roman" panose="02020603050405020304" pitchFamily="18" charset="0"/>
                <a:ea typeface="华文楷体" panose="02010600040101010101" pitchFamily="2" charset="-122"/>
              </a:rPr>
              <a:t>p[MAXV]; </a:t>
            </a:r>
            <a:r>
              <a:rPr lang="zh-CN" altLang="en-US" sz="1600" dirty="0">
                <a:latin typeface="Times New Roman" panose="02020603050405020304" pitchFamily="18" charset="0"/>
                <a:ea typeface="华文楷体" panose="02010600040101010101" pitchFamily="2" charset="-122"/>
              </a:rPr>
              <a:t>在扫描已发现顶点</a:t>
            </a:r>
            <a:r>
              <a:rPr lang="en-US" altLang="zh-CN" sz="1600" dirty="0">
                <a:latin typeface="Times New Roman" panose="02020603050405020304" pitchFamily="18" charset="0"/>
                <a:ea typeface="华文楷体" panose="02010600040101010101" pitchFamily="2" charset="-122"/>
              </a:rPr>
              <a:t>u</a:t>
            </a:r>
            <a:r>
              <a:rPr lang="zh-CN" altLang="en-US" sz="1600" dirty="0">
                <a:latin typeface="Times New Roman" panose="02020603050405020304" pitchFamily="18" charset="0"/>
                <a:ea typeface="华文楷体" panose="02010600040101010101" pitchFamily="2" charset="-122"/>
              </a:rPr>
              <a:t>（灰色顶点）的邻接顶点时，每发现一个白色顶点</a:t>
            </a:r>
            <a:r>
              <a:rPr lang="en-US" altLang="zh-CN" sz="1600" dirty="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，就置</a:t>
            </a:r>
            <a:r>
              <a:rPr lang="en-US" altLang="zh-CN" sz="1600" dirty="0">
                <a:latin typeface="Times New Roman" panose="02020603050405020304" pitchFamily="18" charset="0"/>
                <a:ea typeface="华文楷体" panose="02010600040101010101" pitchFamily="2" charset="-122"/>
              </a:rPr>
              <a:t>p[v]=u</a:t>
            </a:r>
            <a:r>
              <a:rPr lang="zh-CN" altLang="en-US" sz="1600" dirty="0" smtClean="0">
                <a:latin typeface="Times New Roman" panose="02020603050405020304" pitchFamily="18" charset="0"/>
                <a:ea typeface="华文楷体" panose="02010600040101010101" pitchFamily="2" charset="-122"/>
              </a:rPr>
              <a:t>；这</a:t>
            </a:r>
            <a:r>
              <a:rPr lang="zh-CN" altLang="en-US" sz="1600" dirty="0">
                <a:latin typeface="Times New Roman" panose="02020603050405020304" pitchFamily="18" charset="0"/>
                <a:ea typeface="华文楷体" panose="02010600040101010101" pitchFamily="2" charset="-122"/>
              </a:rPr>
              <a:t>表示顶点</a:t>
            </a:r>
            <a:r>
              <a:rPr lang="en-US" altLang="zh-CN" sz="1600" dirty="0">
                <a:latin typeface="Times New Roman" panose="02020603050405020304" pitchFamily="18" charset="0"/>
                <a:ea typeface="华文楷体" panose="02010600040101010101" pitchFamily="2" charset="-122"/>
              </a:rPr>
              <a:t>u</a:t>
            </a:r>
            <a:r>
              <a:rPr lang="zh-CN" altLang="en-US" sz="1600" dirty="0">
                <a:latin typeface="Times New Roman" panose="02020603050405020304" pitchFamily="18" charset="0"/>
                <a:ea typeface="华文楷体" panose="02010600040101010101" pitchFamily="2" charset="-122"/>
              </a:rPr>
              <a:t>是顶点</a:t>
            </a:r>
            <a:r>
              <a:rPr lang="en-US" altLang="zh-CN" sz="1600" dirty="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在深度优先搜索</a:t>
            </a:r>
            <a:r>
              <a:rPr lang="zh-CN" altLang="en-US" sz="1600" dirty="0">
                <a:latin typeface="Times New Roman" panose="02020603050405020304" pitchFamily="18" charset="0"/>
                <a:ea typeface="华文楷体" panose="02010600040101010101" pitchFamily="2" charset="-122"/>
              </a:rPr>
              <a:t>中的前驱</a:t>
            </a:r>
            <a:r>
              <a:rPr lang="zh-CN" altLang="en-US" sz="1600" dirty="0" smtClean="0">
                <a:latin typeface="Times New Roman" panose="02020603050405020304" pitchFamily="18" charset="0"/>
                <a:ea typeface="华文楷体" panose="02010600040101010101" pitchFamily="2" charset="-122"/>
              </a:rPr>
              <a:t>顶点</a:t>
            </a:r>
            <a:r>
              <a:rPr lang="zh-CN" altLang="en-US" sz="1600" dirty="0">
                <a:latin typeface="Times New Roman" panose="02020603050405020304" pitchFamily="18" charset="0"/>
                <a:ea typeface="华文楷体" panose="02010600040101010101" pitchFamily="2" charset="-122"/>
              </a:rPr>
              <a:t>。</a:t>
            </a:r>
            <a:endParaRPr lang="zh-CN" altLang="en-US" sz="16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dirty="0"/>
              <a:t>BUPT</a:t>
            </a:r>
            <a:endParaRPr lang="en-US" altLang="zh-CN" dirty="0"/>
          </a:p>
        </p:txBody>
      </p:sp>
      <p:sp>
        <p:nvSpPr>
          <p:cNvPr id="286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8677" name="Rectangle 3"/>
          <p:cNvSpPr>
            <a:spLocks noGrp="1" noChangeArrowheads="1"/>
          </p:cNvSpPr>
          <p:nvPr>
            <p:ph type="body" idx="1"/>
          </p:nvPr>
        </p:nvSpPr>
        <p:spPr>
          <a:xfrm>
            <a:off x="228832" y="1066800"/>
            <a:ext cx="8229600" cy="5248275"/>
          </a:xfrm>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算法实现</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dirty="0" smtClean="0">
                <a:ea typeface="华文楷体" panose="02010600040101010101" pitchFamily="2" charset="-122"/>
              </a:rPr>
              <a:t>     </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访问顶点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，并记录</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已被访问</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依次从</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的未访问的邻接点出发，深度优先搜索图</a:t>
            </a:r>
            <a:r>
              <a:rPr lang="en-US" altLang="zh-CN" sz="2000" dirty="0" smtClean="0">
                <a:ea typeface="华文楷体" panose="02010600040101010101" pitchFamily="2" charset="-122"/>
              </a:rPr>
              <a:t>G</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p:txBody>
      </p:sp>
      <p:sp>
        <p:nvSpPr>
          <p:cNvPr id="9" name="文本框 8"/>
          <p:cNvSpPr txBox="1"/>
          <p:nvPr/>
        </p:nvSpPr>
        <p:spPr>
          <a:xfrm>
            <a:off x="34144" y="2536775"/>
            <a:ext cx="4905379" cy="3785652"/>
          </a:xfrm>
          <a:prstGeom prst="rect">
            <a:avLst/>
          </a:prstGeom>
          <a:noFill/>
          <a:ln>
            <a:solidFill>
              <a:schemeClr val="accent1"/>
            </a:solidFill>
          </a:ln>
        </p:spPr>
        <p:txBody>
          <a:bodyPr wrap="square" rtlCol="0">
            <a:spAutoFit/>
          </a:bodyPr>
          <a:lstStyle/>
          <a:p>
            <a:r>
              <a:rPr kumimoji="1" lang="en-US" altLang="zh-CN" sz="1600" dirty="0">
                <a:latin typeface="Times New Roman" panose="02020603050405020304" pitchFamily="18" charset="0"/>
                <a:ea typeface="华文楷体" panose="02010600040101010101" pitchFamily="2" charset="-122"/>
              </a:rPr>
              <a:t>bool visited[MAXV]; </a:t>
            </a:r>
            <a:r>
              <a:rPr kumimoji="1" lang="en-US" altLang="zh-CN" sz="1600" dirty="0" smtClean="0">
                <a:latin typeface="Times New Roman" panose="02020603050405020304" pitchFamily="18" charset="0"/>
                <a:ea typeface="华文楷体" panose="02010600040101010101" pitchFamily="2" charset="-122"/>
              </a:rPr>
              <a:t>//</a:t>
            </a:r>
            <a:r>
              <a:rPr kumimoji="1" lang="zh-CN" altLang="en-US" sz="1600" dirty="0" smtClean="0">
                <a:latin typeface="Times New Roman" panose="02020603050405020304" pitchFamily="18" charset="0"/>
                <a:ea typeface="华文楷体" panose="02010600040101010101" pitchFamily="2" charset="-122"/>
              </a:rPr>
              <a:t>访问标识</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err="1" smtClean="0">
                <a:latin typeface="Times New Roman" panose="02020603050405020304" pitchFamily="18" charset="0"/>
                <a:ea typeface="华文楷体" panose="02010600040101010101" pitchFamily="2" charset="-122"/>
              </a:rPr>
              <a:t>int</a:t>
            </a:r>
            <a:r>
              <a:rPr kumimoji="1" lang="en-US" altLang="zh-CN" sz="1600" dirty="0" smtClean="0">
                <a:latin typeface="Times New Roman" panose="02020603050405020304" pitchFamily="18" charset="0"/>
                <a:ea typeface="华文楷体" panose="02010600040101010101" pitchFamily="2" charset="-122"/>
              </a:rPr>
              <a:t> </a:t>
            </a:r>
            <a:r>
              <a:rPr kumimoji="1" lang="en-US" altLang="zh-CN" sz="1600" dirty="0">
                <a:latin typeface="Times New Roman" panose="02020603050405020304" pitchFamily="18" charset="0"/>
                <a:ea typeface="华文楷体" panose="02010600040101010101" pitchFamily="2" charset="-122"/>
              </a:rPr>
              <a:t>time</a:t>
            </a:r>
            <a:r>
              <a:rPr kumimoji="1" lang="en-US" altLang="zh-CN" sz="1600" dirty="0" smtClean="0">
                <a:latin typeface="Times New Roman" panose="02020603050405020304" pitchFamily="18" charset="0"/>
                <a:ea typeface="华文楷体" panose="02010600040101010101" pitchFamily="2" charset="-122"/>
              </a:rPr>
              <a:t>; //</a:t>
            </a:r>
            <a:r>
              <a:rPr kumimoji="1" lang="zh-CN" altLang="en-US" sz="1600" dirty="0" smtClean="0">
                <a:latin typeface="Times New Roman" panose="02020603050405020304" pitchFamily="18" charset="0"/>
                <a:ea typeface="华文楷体" panose="02010600040101010101" pitchFamily="2" charset="-122"/>
              </a:rPr>
              <a:t>全局变量，用于打时间戳</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smtClean="0">
                <a:latin typeface="Times New Roman" panose="02020603050405020304" pitchFamily="18" charset="0"/>
                <a:ea typeface="华文楷体" panose="02010600040101010101" pitchFamily="2" charset="-122"/>
              </a:rPr>
              <a:t>void </a:t>
            </a:r>
            <a:r>
              <a:rPr kumimoji="1" lang="en-US" altLang="zh-CN" sz="1600" dirty="0" err="1">
                <a:latin typeface="Times New Roman" panose="02020603050405020304" pitchFamily="18" charset="0"/>
                <a:ea typeface="华文楷体" panose="02010600040101010101" pitchFamily="2" charset="-122"/>
              </a:rPr>
              <a:t>DFSTraverse</a:t>
            </a:r>
            <a:r>
              <a:rPr kumimoji="1" lang="en-US" altLang="zh-CN" sz="1600" dirty="0">
                <a:latin typeface="Times New Roman" panose="02020603050405020304" pitchFamily="18" charset="0"/>
                <a:ea typeface="华文楷体" panose="02010600040101010101" pitchFamily="2" charset="-122"/>
              </a:rPr>
              <a:t>( Graph G, Status ( * </a:t>
            </a:r>
            <a:r>
              <a:rPr kumimoji="1" lang="en-US" altLang="zh-CN" sz="1600" dirty="0" err="1">
                <a:latin typeface="Times New Roman" panose="02020603050405020304" pitchFamily="18" charset="0"/>
                <a:ea typeface="华文楷体" panose="02010600040101010101" pitchFamily="2" charset="-122"/>
              </a:rPr>
              <a:t>VisitFunc</a:t>
            </a:r>
            <a:r>
              <a:rPr kumimoji="1" lang="en-US" altLang="zh-CN" sz="1600" dirty="0">
                <a:latin typeface="Times New Roman" panose="02020603050405020304" pitchFamily="18" charset="0"/>
                <a:ea typeface="华文楷体" panose="02010600040101010101" pitchFamily="2" charset="-122"/>
              </a:rPr>
              <a:t>) (</a:t>
            </a:r>
            <a:r>
              <a:rPr kumimoji="1" lang="en-US" altLang="zh-CN" sz="1600" dirty="0" err="1">
                <a:latin typeface="Times New Roman" panose="02020603050405020304" pitchFamily="18" charset="0"/>
                <a:ea typeface="华文楷体" panose="02010600040101010101" pitchFamily="2" charset="-122"/>
              </a:rPr>
              <a:t>int</a:t>
            </a:r>
            <a:r>
              <a:rPr kumimoji="1" lang="en-US" altLang="zh-CN" sz="1600" dirty="0">
                <a:latin typeface="Times New Roman" panose="02020603050405020304" pitchFamily="18" charset="0"/>
                <a:ea typeface="华文楷体" panose="02010600040101010101" pitchFamily="2" charset="-122"/>
              </a:rPr>
              <a:t> v)) </a:t>
            </a:r>
            <a:endParaRPr kumimoji="1" lang="en-US" altLang="zh-CN" sz="1600" dirty="0">
              <a:latin typeface="Times New Roman" panose="02020603050405020304" pitchFamily="18" charset="0"/>
              <a:ea typeface="华文楷体" panose="02010600040101010101" pitchFamily="2" charset="-122"/>
            </a:endParaRPr>
          </a:p>
          <a:p>
            <a:r>
              <a:rPr lang="en-US" altLang="zh-CN" sz="1600" dirty="0" smtClean="0"/>
              <a:t>{</a:t>
            </a:r>
            <a:endParaRPr lang="en-US" altLang="zh-CN" sz="1600" dirty="0" smtClean="0"/>
          </a:p>
          <a:p>
            <a:r>
              <a:rPr lang="en-US" altLang="zh-CN" sz="1600" dirty="0"/>
              <a:t> </a:t>
            </a:r>
            <a:r>
              <a:rPr lang="en-US" altLang="zh-CN" sz="1600" dirty="0" smtClean="0"/>
              <a:t>   </a:t>
            </a:r>
            <a:r>
              <a:rPr kumimoji="1" lang="en-US" altLang="zh-CN" sz="1600" dirty="0">
                <a:latin typeface="Times New Roman" panose="02020603050405020304" pitchFamily="18" charset="0"/>
                <a:ea typeface="华文楷体" panose="02010600040101010101" pitchFamily="2" charset="-122"/>
              </a:rPr>
              <a:t>for ( v=0; v &lt;</a:t>
            </a:r>
            <a:r>
              <a:rPr kumimoji="1" lang="en-US" altLang="zh-CN" sz="1600" dirty="0" err="1">
                <a:latin typeface="Times New Roman" panose="02020603050405020304" pitchFamily="18" charset="0"/>
                <a:ea typeface="华文楷体" panose="02010600040101010101" pitchFamily="2" charset="-122"/>
              </a:rPr>
              <a:t>G.vexnum</a:t>
            </a:r>
            <a:r>
              <a:rPr kumimoji="1" lang="en-US" altLang="zh-CN" sz="1600" dirty="0">
                <a:latin typeface="Times New Roman" panose="02020603050405020304" pitchFamily="18" charset="0"/>
                <a:ea typeface="华文楷体" panose="02010600040101010101" pitchFamily="2" charset="-122"/>
              </a:rPr>
              <a:t>; ++v )  </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 </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visited[v</a:t>
            </a:r>
            <a:r>
              <a:rPr kumimoji="1" lang="en-US" altLang="zh-CN" sz="1600" dirty="0">
                <a:latin typeface="Times New Roman" panose="02020603050405020304" pitchFamily="18" charset="0"/>
                <a:ea typeface="华文楷体" panose="02010600040101010101" pitchFamily="2" charset="-122"/>
              </a:rPr>
              <a:t>] = FALSE; </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color[v]=white</a:t>
            </a:r>
            <a:r>
              <a:rPr kumimoji="1" lang="en-US" altLang="zh-CN" sz="1600" dirty="0" smtClean="0">
                <a:solidFill>
                  <a:srgbClr val="C00000"/>
                </a:solidFill>
                <a:latin typeface="Times New Roman" panose="02020603050405020304" pitchFamily="18" charset="0"/>
                <a:ea typeface="华文楷体" panose="02010600040101010101" pitchFamily="2" charset="-122"/>
              </a:rPr>
              <a:t>; //</a:t>
            </a:r>
            <a:r>
              <a:rPr kumimoji="1" lang="zh-CN" altLang="en-US" sz="1600" dirty="0" smtClean="0">
                <a:solidFill>
                  <a:srgbClr val="C00000"/>
                </a:solidFill>
                <a:latin typeface="Times New Roman" panose="02020603050405020304" pitchFamily="18" charset="0"/>
                <a:ea typeface="华文楷体" panose="02010600040101010101" pitchFamily="2" charset="-122"/>
              </a:rPr>
              <a:t>初始染白色</a:t>
            </a:r>
            <a:endParaRPr kumimoji="1" lang="en-US" altLang="zh-CN" sz="1600" dirty="0" smtClean="0">
              <a:solidFill>
                <a:srgbClr val="C00000"/>
              </a:solidFill>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a:t>
            </a:r>
            <a:r>
              <a:rPr lang="en-US" altLang="zh-CN" sz="1600" b="1" dirty="0" smtClean="0">
                <a:solidFill>
                  <a:srgbClr val="C00000"/>
                </a:solidFill>
              </a:rPr>
              <a:t>p[v</a:t>
            </a:r>
            <a:r>
              <a:rPr lang="en-US" altLang="zh-CN" sz="1600" b="1" dirty="0">
                <a:solidFill>
                  <a:srgbClr val="C00000"/>
                </a:solidFill>
              </a:rPr>
              <a:t>]=-1</a:t>
            </a:r>
            <a:r>
              <a:rPr lang="en-US" altLang="zh-CN" sz="1600" dirty="0" smtClean="0"/>
              <a:t>; </a:t>
            </a:r>
            <a:endParaRPr lang="en-US" altLang="zh-CN" sz="1600" dirty="0" smtClean="0"/>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time =0; //time</a:t>
            </a:r>
            <a:r>
              <a:rPr kumimoji="1" lang="zh-CN" altLang="en-US" sz="1600" dirty="0" smtClean="0">
                <a:latin typeface="Times New Roman" panose="02020603050405020304" pitchFamily="18" charset="0"/>
                <a:ea typeface="华文楷体" panose="02010600040101010101" pitchFamily="2" charset="-122"/>
              </a:rPr>
              <a:t>初值置为</a:t>
            </a:r>
            <a:r>
              <a:rPr kumimoji="1" lang="en-US" altLang="zh-CN" sz="1600" dirty="0" smtClean="0">
                <a:latin typeface="Times New Roman" panose="02020603050405020304" pitchFamily="18" charset="0"/>
                <a:ea typeface="华文楷体" panose="02010600040101010101" pitchFamily="2" charset="-122"/>
              </a:rPr>
              <a:t>0</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a:t>
            </a:r>
            <a:r>
              <a:rPr kumimoji="1" lang="en-US" altLang="zh-CN" sz="1600" dirty="0">
                <a:latin typeface="Times New Roman" panose="02020603050405020304" pitchFamily="18" charset="0"/>
                <a:ea typeface="华文楷体" panose="02010600040101010101" pitchFamily="2" charset="-122"/>
              </a:rPr>
              <a:t>for ( v=0; v &lt;</a:t>
            </a:r>
            <a:r>
              <a:rPr kumimoji="1" lang="en-US" altLang="zh-CN" sz="1600" dirty="0" err="1">
                <a:latin typeface="Times New Roman" panose="02020603050405020304" pitchFamily="18" charset="0"/>
                <a:ea typeface="华文楷体" panose="02010600040101010101" pitchFamily="2" charset="-122"/>
              </a:rPr>
              <a:t>G.vexnum</a:t>
            </a:r>
            <a:r>
              <a:rPr kumimoji="1" lang="en-US" altLang="zh-CN" sz="1600" dirty="0">
                <a:latin typeface="Times New Roman" panose="02020603050405020304" pitchFamily="18" charset="0"/>
                <a:ea typeface="华文楷体" panose="02010600040101010101" pitchFamily="2" charset="-122"/>
              </a:rPr>
              <a:t>; ++v )</a:t>
            </a:r>
            <a:endParaRPr kumimoji="1" lang="en-US" altLang="zh-CN" sz="1600" dirty="0">
              <a:latin typeface="Times New Roman" panose="02020603050405020304" pitchFamily="18" charset="0"/>
              <a:ea typeface="华文楷体" panose="02010600040101010101" pitchFamily="2" charset="-122"/>
            </a:endParaRPr>
          </a:p>
          <a:p>
            <a:r>
              <a:rPr kumimoji="1" lang="en-US" altLang="zh-CN" sz="1600" dirty="0" smtClean="0">
                <a:latin typeface="Times New Roman" panose="02020603050405020304" pitchFamily="18" charset="0"/>
                <a:ea typeface="华文楷体" panose="02010600040101010101" pitchFamily="2" charset="-122"/>
              </a:rPr>
              <a:t>        if (!visit[v] )</a:t>
            </a:r>
            <a:endParaRPr kumimoji="1" lang="en-US" altLang="zh-CN" sz="1600" dirty="0" smtClean="0">
              <a:latin typeface="Times New Roman" panose="02020603050405020304" pitchFamily="18" charset="0"/>
              <a:ea typeface="华文楷体" panose="02010600040101010101" pitchFamily="2" charset="-122"/>
            </a:endParaRPr>
          </a:p>
          <a:p>
            <a:r>
              <a:rPr kumimoji="1" lang="en-US" altLang="zh-CN" sz="1600" dirty="0">
                <a:latin typeface="Times New Roman" panose="02020603050405020304" pitchFamily="18" charset="0"/>
                <a:ea typeface="华文楷体" panose="02010600040101010101" pitchFamily="2" charset="-122"/>
              </a:rPr>
              <a:t> </a:t>
            </a:r>
            <a:r>
              <a:rPr kumimoji="1" lang="en-US" altLang="zh-CN" sz="1600" dirty="0" smtClean="0">
                <a:latin typeface="Times New Roman" panose="02020603050405020304" pitchFamily="18" charset="0"/>
                <a:ea typeface="华文楷体" panose="02010600040101010101" pitchFamily="2" charset="-122"/>
              </a:rPr>
              <a:t>           DFS(G,V)</a:t>
            </a:r>
            <a:r>
              <a:rPr kumimoji="1" lang="en-US" altLang="zh-CN" sz="1600" dirty="0">
                <a:latin typeface="Times New Roman" panose="02020603050405020304" pitchFamily="18" charset="0"/>
                <a:ea typeface="华文楷体" panose="02010600040101010101" pitchFamily="2" charset="-122"/>
              </a:rPr>
              <a:t>;</a:t>
            </a:r>
            <a:endParaRPr kumimoji="1" lang="en-US" altLang="zh-CN" sz="1600" dirty="0" smtClean="0">
              <a:latin typeface="Times New Roman" panose="02020603050405020304" pitchFamily="18" charset="0"/>
              <a:ea typeface="华文楷体" panose="02010600040101010101" pitchFamily="2" charset="-122"/>
            </a:endParaRPr>
          </a:p>
          <a:p>
            <a:r>
              <a:rPr lang="en-US" altLang="zh-CN" sz="1600" dirty="0" smtClean="0"/>
              <a:t>}</a:t>
            </a:r>
            <a:endParaRPr lang="zh-CN" altLang="en-US" sz="1600" dirty="0"/>
          </a:p>
        </p:txBody>
      </p:sp>
      <p:sp>
        <p:nvSpPr>
          <p:cNvPr id="12" name="文本框 11"/>
          <p:cNvSpPr txBox="1"/>
          <p:nvPr/>
        </p:nvSpPr>
        <p:spPr>
          <a:xfrm>
            <a:off x="5060995" y="2534536"/>
            <a:ext cx="4006805" cy="4001095"/>
          </a:xfrm>
          <a:prstGeom prst="rect">
            <a:avLst/>
          </a:prstGeom>
          <a:solidFill>
            <a:srgbClr val="FFFF00"/>
          </a:solidFill>
          <a:ln>
            <a:solidFill>
              <a:srgbClr val="C00000"/>
            </a:solidFill>
          </a:ln>
        </p:spPr>
        <p:txBody>
          <a:bodyPr wrap="square" rtlCol="0">
            <a:spAutoFit/>
          </a:bodyPr>
          <a:lstStyle/>
          <a:p>
            <a:r>
              <a:rPr kumimoji="1" lang="en-US" altLang="zh-CN" sz="1400" dirty="0" smtClean="0">
                <a:latin typeface="Times New Roman" panose="02020603050405020304" pitchFamily="18" charset="0"/>
                <a:ea typeface="华文楷体" panose="02010600040101010101" pitchFamily="2" charset="-122"/>
              </a:rPr>
              <a:t>void DFS</a:t>
            </a:r>
            <a:r>
              <a:rPr kumimoji="1" lang="en-US" altLang="zh-CN" sz="1400" dirty="0">
                <a:latin typeface="Times New Roman" panose="02020603050405020304" pitchFamily="18" charset="0"/>
                <a:ea typeface="华文楷体" panose="02010600040101010101" pitchFamily="2" charset="-122"/>
              </a:rPr>
              <a:t>( Graph G,  </a:t>
            </a:r>
            <a:r>
              <a:rPr kumimoji="1" lang="en-US" altLang="zh-CN" sz="1400" dirty="0" err="1">
                <a:latin typeface="Times New Roman" panose="02020603050405020304" pitchFamily="18" charset="0"/>
                <a:ea typeface="华文楷体" panose="02010600040101010101" pitchFamily="2" charset="-122"/>
              </a:rPr>
              <a:t>int</a:t>
            </a:r>
            <a:r>
              <a:rPr kumimoji="1" lang="en-US" altLang="zh-CN" sz="1400" dirty="0">
                <a:latin typeface="Times New Roman" panose="02020603050405020304" pitchFamily="18" charset="0"/>
                <a:ea typeface="华文楷体" panose="02010600040101010101" pitchFamily="2" charset="-122"/>
              </a:rPr>
              <a:t> v </a:t>
            </a:r>
            <a:r>
              <a:rPr kumimoji="1" lang="en-US" altLang="zh-CN" sz="1400" dirty="0" smtClean="0">
                <a:latin typeface="Times New Roman" panose="02020603050405020304" pitchFamily="18" charset="0"/>
                <a:ea typeface="华文楷体" panose="02010600040101010101" pitchFamily="2" charset="-122"/>
              </a:rPr>
              <a:t>)</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smtClean="0">
                <a:latin typeface="Times New Roman" panose="02020603050405020304" pitchFamily="18" charset="0"/>
                <a:ea typeface="华文楷体" panose="02010600040101010101" pitchFamily="2" charset="-122"/>
              </a:rPr>
              <a:t>{</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visited[v</a:t>
            </a:r>
            <a:r>
              <a:rPr kumimoji="1" lang="en-US" altLang="zh-CN" sz="1400" dirty="0">
                <a:latin typeface="Times New Roman" panose="02020603050405020304" pitchFamily="18" charset="0"/>
                <a:ea typeface="华文楷体" panose="02010600040101010101" pitchFamily="2" charset="-122"/>
              </a:rPr>
              <a:t>] = TRUE;  </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r>
              <a:rPr kumimoji="1" lang="en-US" altLang="zh-CN" sz="1400" dirty="0" err="1" smtClean="0">
                <a:latin typeface="Times New Roman" panose="02020603050405020304" pitchFamily="18" charset="0"/>
                <a:ea typeface="华文楷体" panose="02010600040101010101" pitchFamily="2" charset="-122"/>
              </a:rPr>
              <a:t>PrintData</a:t>
            </a:r>
            <a:r>
              <a:rPr kumimoji="1" lang="en-US" altLang="zh-CN" sz="1400" dirty="0" smtClean="0">
                <a:latin typeface="Times New Roman" panose="02020603050405020304" pitchFamily="18" charset="0"/>
                <a:ea typeface="华文楷体" panose="02010600040101010101" pitchFamily="2" charset="-122"/>
              </a:rPr>
              <a:t>(v); </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solidFill>
                  <a:srgbClr val="C00000"/>
                </a:solidFill>
                <a:latin typeface="Times New Roman" panose="02020603050405020304" pitchFamily="18" charset="0"/>
                <a:ea typeface="华文楷体" panose="02010600040101010101" pitchFamily="2" charset="-122"/>
              </a:rPr>
              <a:t> </a:t>
            </a:r>
            <a:r>
              <a:rPr kumimoji="1" lang="en-US" altLang="zh-CN" sz="1400" dirty="0" smtClean="0">
                <a:solidFill>
                  <a:srgbClr val="C00000"/>
                </a:solidFill>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color[v]=gray</a:t>
            </a:r>
            <a:r>
              <a:rPr lang="en-US" altLang="zh-CN" sz="1400" dirty="0">
                <a:latin typeface="Times New Roman" panose="02020603050405020304" pitchFamily="18" charset="0"/>
                <a:ea typeface="华文楷体" panose="02010600040101010101" pitchFamily="2" charset="-122"/>
              </a:rPr>
              <a:t>;</a:t>
            </a:r>
            <a:r>
              <a:rPr kumimoji="1" lang="en-US" altLang="zh-CN" sz="1400" dirty="0" smtClean="0">
                <a:solidFill>
                  <a:srgbClr val="C00000"/>
                </a:solidFill>
                <a:latin typeface="Times New Roman" panose="02020603050405020304" pitchFamily="18" charset="0"/>
                <a:ea typeface="华文楷体" panose="02010600040101010101" pitchFamily="2" charset="-122"/>
              </a:rPr>
              <a:t>//</a:t>
            </a:r>
            <a:r>
              <a:rPr kumimoji="1" lang="zh-CN" altLang="en-US" sz="1400" dirty="0" smtClean="0">
                <a:solidFill>
                  <a:srgbClr val="C00000"/>
                </a:solidFill>
                <a:latin typeface="Times New Roman" panose="02020603050405020304" pitchFamily="18" charset="0"/>
                <a:ea typeface="华文楷体" panose="02010600040101010101" pitchFamily="2" charset="-122"/>
              </a:rPr>
              <a:t>访问时染灰色</a:t>
            </a:r>
            <a:endParaRPr kumimoji="1" lang="en-US" altLang="zh-CN" sz="1400" dirty="0" smtClean="0">
              <a:solidFill>
                <a:srgbClr val="C00000"/>
              </a:solidFill>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time++;</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b[v] = time; </a:t>
            </a:r>
            <a:r>
              <a:rPr kumimoji="1" lang="en-US" altLang="zh-CN" sz="1400" dirty="0" smtClean="0">
                <a:solidFill>
                  <a:srgbClr val="FF0000"/>
                </a:solidFill>
                <a:latin typeface="Times New Roman" panose="02020603050405020304" pitchFamily="18" charset="0"/>
                <a:ea typeface="华文楷体" panose="02010600040101010101" pitchFamily="2" charset="-122"/>
              </a:rPr>
              <a:t>//</a:t>
            </a:r>
            <a:r>
              <a:rPr kumimoji="1" lang="zh-CN" altLang="en-US" sz="1400" dirty="0" smtClean="0">
                <a:solidFill>
                  <a:srgbClr val="FF0000"/>
                </a:solidFill>
                <a:latin typeface="Times New Roman" panose="02020603050405020304" pitchFamily="18" charset="0"/>
                <a:ea typeface="华文楷体" panose="02010600040101010101" pitchFamily="2" charset="-122"/>
              </a:rPr>
              <a:t>开始时间</a:t>
            </a:r>
            <a:endParaRPr kumimoji="1" lang="en-US" altLang="zh-CN" sz="1400" dirty="0" smtClean="0">
              <a:solidFill>
                <a:srgbClr val="FF0000"/>
              </a:solidFill>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r>
              <a:rPr kumimoji="1" lang="en-US" altLang="zh-CN" sz="1400" dirty="0" smtClean="0">
                <a:solidFill>
                  <a:srgbClr val="C00000"/>
                </a:solidFill>
                <a:latin typeface="Times New Roman" panose="02020603050405020304" pitchFamily="18" charset="0"/>
                <a:ea typeface="华文楷体" panose="02010600040101010101" pitchFamily="2" charset="-122"/>
              </a:rPr>
              <a:t>for </a:t>
            </a:r>
            <a:r>
              <a:rPr kumimoji="1" lang="en-US" altLang="zh-CN" sz="1400" dirty="0">
                <a:solidFill>
                  <a:srgbClr val="C00000"/>
                </a:solidFill>
                <a:latin typeface="Times New Roman" panose="02020603050405020304" pitchFamily="18" charset="0"/>
                <a:ea typeface="华文楷体" panose="02010600040101010101" pitchFamily="2" charset="-122"/>
              </a:rPr>
              <a:t>( w = </a:t>
            </a:r>
            <a:r>
              <a:rPr kumimoji="1" lang="en-US" altLang="zh-CN" sz="1400" dirty="0" err="1">
                <a:solidFill>
                  <a:srgbClr val="C00000"/>
                </a:solidFill>
                <a:latin typeface="Times New Roman" panose="02020603050405020304" pitchFamily="18" charset="0"/>
                <a:ea typeface="华文楷体" panose="02010600040101010101" pitchFamily="2" charset="-122"/>
              </a:rPr>
              <a:t>FirstAdjVex</a:t>
            </a:r>
            <a:r>
              <a:rPr kumimoji="1" lang="en-US" altLang="zh-CN" sz="1400" dirty="0">
                <a:solidFill>
                  <a:srgbClr val="C00000"/>
                </a:solidFill>
                <a:latin typeface="Times New Roman" panose="02020603050405020304" pitchFamily="18" charset="0"/>
                <a:ea typeface="华文楷体" panose="02010600040101010101" pitchFamily="2" charset="-122"/>
              </a:rPr>
              <a:t>(G, v) ; w ; </a:t>
            </a:r>
            <a:endParaRPr kumimoji="1" lang="en-US" altLang="zh-CN" sz="1400" dirty="0" smtClean="0">
              <a:solidFill>
                <a:srgbClr val="C00000"/>
              </a:solidFill>
              <a:latin typeface="Times New Roman" panose="02020603050405020304" pitchFamily="18" charset="0"/>
              <a:ea typeface="华文楷体" panose="02010600040101010101" pitchFamily="2" charset="-122"/>
            </a:endParaRPr>
          </a:p>
          <a:p>
            <a:r>
              <a:rPr kumimoji="1" lang="en-US" altLang="zh-CN" sz="1400" dirty="0" smtClean="0">
                <a:solidFill>
                  <a:srgbClr val="C00000"/>
                </a:solidFill>
                <a:latin typeface="Times New Roman" panose="02020603050405020304" pitchFamily="18" charset="0"/>
                <a:ea typeface="华文楷体" panose="02010600040101010101" pitchFamily="2" charset="-122"/>
              </a:rPr>
              <a:t>      w  = </a:t>
            </a:r>
            <a:r>
              <a:rPr kumimoji="1" lang="en-US" altLang="zh-CN" sz="1400" dirty="0" err="1" smtClean="0">
                <a:solidFill>
                  <a:srgbClr val="C00000"/>
                </a:solidFill>
                <a:latin typeface="Times New Roman" panose="02020603050405020304" pitchFamily="18" charset="0"/>
                <a:ea typeface="华文楷体" panose="02010600040101010101" pitchFamily="2" charset="-122"/>
              </a:rPr>
              <a:t>NextAdjVex</a:t>
            </a:r>
            <a:r>
              <a:rPr kumimoji="1" lang="en-US" altLang="zh-CN" sz="1400" dirty="0" smtClean="0">
                <a:solidFill>
                  <a:srgbClr val="C00000"/>
                </a:solidFill>
                <a:latin typeface="Times New Roman" panose="02020603050405020304" pitchFamily="18" charset="0"/>
                <a:ea typeface="华文楷体" panose="02010600040101010101" pitchFamily="2" charset="-122"/>
              </a:rPr>
              <a:t> (G,  </a:t>
            </a:r>
            <a:r>
              <a:rPr kumimoji="1" lang="en-US" altLang="zh-CN" sz="1400" dirty="0">
                <a:solidFill>
                  <a:srgbClr val="C00000"/>
                </a:solidFill>
                <a:latin typeface="Times New Roman" panose="02020603050405020304" pitchFamily="18" charset="0"/>
                <a:ea typeface="华文楷体" panose="02010600040101010101" pitchFamily="2" charset="-122"/>
              </a:rPr>
              <a:t>v, w</a:t>
            </a:r>
            <a:r>
              <a:rPr kumimoji="1" lang="en-US" altLang="zh-CN" sz="1400" dirty="0" smtClean="0">
                <a:solidFill>
                  <a:srgbClr val="C00000"/>
                </a:solidFill>
                <a:latin typeface="Times New Roman" panose="02020603050405020304" pitchFamily="18" charset="0"/>
                <a:ea typeface="华文楷体" panose="02010600040101010101" pitchFamily="2" charset="-122"/>
              </a:rPr>
              <a:t>)</a:t>
            </a:r>
            <a:r>
              <a:rPr kumimoji="1" lang="en-US" altLang="zh-CN" sz="1400" dirty="0">
                <a:solidFill>
                  <a:srgbClr val="C00000"/>
                </a:solidFill>
                <a:latin typeface="Times New Roman" panose="02020603050405020304" pitchFamily="18" charset="0"/>
                <a:ea typeface="华文楷体" panose="02010600040101010101" pitchFamily="2" charset="-122"/>
              </a:rPr>
              <a:t> //</a:t>
            </a:r>
            <a:r>
              <a:rPr kumimoji="1" lang="zh-CN" altLang="en-US" sz="1400" dirty="0">
                <a:solidFill>
                  <a:srgbClr val="C00000"/>
                </a:solidFill>
                <a:latin typeface="Times New Roman" panose="02020603050405020304" pitchFamily="18" charset="0"/>
                <a:ea typeface="华文楷体" panose="02010600040101010101" pitchFamily="2" charset="-122"/>
              </a:rPr>
              <a:t>有</a:t>
            </a:r>
            <a:r>
              <a:rPr kumimoji="1" lang="en-US" altLang="zh-CN" sz="1400" dirty="0">
                <a:solidFill>
                  <a:srgbClr val="C00000"/>
                </a:solidFill>
                <a:latin typeface="Times New Roman" panose="02020603050405020304" pitchFamily="18" charset="0"/>
                <a:ea typeface="华文楷体" panose="02010600040101010101" pitchFamily="2" charset="-122"/>
              </a:rPr>
              <a:t>(</a:t>
            </a:r>
            <a:r>
              <a:rPr kumimoji="1" lang="en-US" altLang="zh-CN" sz="1400" dirty="0" err="1">
                <a:solidFill>
                  <a:srgbClr val="C00000"/>
                </a:solidFill>
                <a:latin typeface="Times New Roman" panose="02020603050405020304" pitchFamily="18" charset="0"/>
                <a:ea typeface="华文楷体" panose="02010600040101010101" pitchFamily="2" charset="-122"/>
              </a:rPr>
              <a:t>v,w</a:t>
            </a:r>
            <a:r>
              <a:rPr kumimoji="1" lang="en-US" altLang="zh-CN" sz="1400" dirty="0">
                <a:solidFill>
                  <a:srgbClr val="C00000"/>
                </a:solidFill>
                <a:latin typeface="Times New Roman" panose="02020603050405020304" pitchFamily="18" charset="0"/>
                <a:ea typeface="华文楷体" panose="02010600040101010101" pitchFamily="2" charset="-122"/>
              </a:rPr>
              <a:t>)/&lt;</a:t>
            </a:r>
            <a:r>
              <a:rPr kumimoji="1" lang="en-US" altLang="zh-CN" sz="1400" dirty="0" err="1">
                <a:solidFill>
                  <a:srgbClr val="C00000"/>
                </a:solidFill>
                <a:latin typeface="Times New Roman" panose="02020603050405020304" pitchFamily="18" charset="0"/>
                <a:ea typeface="华文楷体" panose="02010600040101010101" pitchFamily="2" charset="-122"/>
              </a:rPr>
              <a:t>v,w</a:t>
            </a:r>
            <a:r>
              <a:rPr kumimoji="1" lang="en-US" altLang="zh-CN" sz="1400" dirty="0">
                <a:solidFill>
                  <a:srgbClr val="C00000"/>
                </a:solidFill>
                <a:latin typeface="Times New Roman" panose="02020603050405020304" pitchFamily="18" charset="0"/>
                <a:ea typeface="华文楷体" panose="02010600040101010101" pitchFamily="2" charset="-122"/>
              </a:rPr>
              <a:t>&gt;</a:t>
            </a:r>
            <a:endParaRPr kumimoji="1" lang="en-US" altLang="zh-CN" sz="1400" dirty="0">
              <a:solidFill>
                <a:srgbClr val="C00000"/>
              </a:solidFill>
              <a:latin typeface="Times New Roman" panose="02020603050405020304" pitchFamily="18" charset="0"/>
              <a:ea typeface="华文楷体" panose="02010600040101010101" pitchFamily="2" charset="-122"/>
            </a:endParaRPr>
          </a:p>
          <a:p>
            <a:r>
              <a:rPr kumimoji="1" lang="en-US" altLang="zh-CN" sz="1400" dirty="0" smtClean="0">
                <a:latin typeface="Times New Roman" panose="02020603050405020304" pitchFamily="18" charset="0"/>
                <a:ea typeface="华文楷体" panose="02010600040101010101" pitchFamily="2" charset="-122"/>
              </a:rPr>
              <a:t>          if (!visit[w]) //</a:t>
            </a:r>
            <a:r>
              <a:rPr kumimoji="1" lang="zh-CN" altLang="en-US" sz="1400" dirty="0" smtClean="0">
                <a:latin typeface="Times New Roman" panose="02020603050405020304" pitchFamily="18" charset="0"/>
                <a:ea typeface="华文楷体" panose="02010600040101010101" pitchFamily="2" charset="-122"/>
              </a:rPr>
              <a:t>或颜色为白色时</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r>
              <a:rPr kumimoji="1" lang="en-US" altLang="zh-CN" sz="1400" b="1" dirty="0" smtClean="0">
                <a:solidFill>
                  <a:srgbClr val="FF0000"/>
                </a:solidFill>
                <a:latin typeface="Times New Roman" panose="02020603050405020304" pitchFamily="18" charset="0"/>
                <a:ea typeface="华文楷体" panose="02010600040101010101" pitchFamily="2" charset="-122"/>
              </a:rPr>
              <a:t>p[w]= v</a:t>
            </a:r>
            <a:r>
              <a:rPr kumimoji="1" lang="en-US" altLang="zh-CN" sz="1400" dirty="0" smtClean="0">
                <a:latin typeface="Times New Roman" panose="02020603050405020304" pitchFamily="18" charset="0"/>
                <a:ea typeface="华文楷体" panose="02010600040101010101" pitchFamily="2" charset="-122"/>
              </a:rPr>
              <a:t>; DFS(G,W);            </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color[v</a:t>
            </a:r>
            <a:r>
              <a:rPr lang="en-US" altLang="zh-CN" sz="1400" dirty="0" smtClean="0">
                <a:latin typeface="Times New Roman" panose="02020603050405020304" pitchFamily="18" charset="0"/>
                <a:ea typeface="华文楷体" panose="02010600040101010101" pitchFamily="2" charset="-122"/>
              </a:rPr>
              <a:t>]=black</a:t>
            </a:r>
            <a:r>
              <a:rPr lang="en-US" altLang="zh-CN" sz="1400" dirty="0">
                <a:latin typeface="Times New Roman" panose="02020603050405020304" pitchFamily="18" charset="0"/>
                <a:ea typeface="华文楷体" panose="02010600040101010101" pitchFamily="2" charset="-122"/>
              </a:rPr>
              <a:t>;</a:t>
            </a:r>
            <a:r>
              <a:rPr kumimoji="1" lang="en-US" altLang="zh-CN" sz="1400" dirty="0" smtClean="0">
                <a:solidFill>
                  <a:srgbClr val="C00000"/>
                </a:solidFill>
                <a:latin typeface="Times New Roman" panose="02020603050405020304" pitchFamily="18" charset="0"/>
                <a:ea typeface="华文楷体" panose="02010600040101010101" pitchFamily="2" charset="-122"/>
              </a:rPr>
              <a:t>//for</a:t>
            </a:r>
            <a:r>
              <a:rPr kumimoji="1" lang="zh-CN" altLang="en-US" sz="1400" dirty="0" smtClean="0">
                <a:solidFill>
                  <a:srgbClr val="C00000"/>
                </a:solidFill>
                <a:latin typeface="Times New Roman" panose="02020603050405020304" pitchFamily="18" charset="0"/>
                <a:ea typeface="华文楷体" panose="02010600040101010101" pitchFamily="2" charset="-122"/>
              </a:rPr>
              <a:t>循环退出后染黑色</a:t>
            </a:r>
            <a:endParaRPr kumimoji="1" lang="en-US" altLang="zh-CN" sz="1400" dirty="0" smtClean="0">
              <a:solidFill>
                <a:srgbClr val="C00000"/>
              </a:solidFill>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time++;</a:t>
            </a:r>
            <a:endParaRPr kumimoji="1" lang="en-US" altLang="zh-CN" sz="1400" dirty="0" smtClean="0">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 </a:t>
            </a:r>
            <a:r>
              <a:rPr kumimoji="1" lang="en-US" altLang="zh-CN" sz="1400" dirty="0" smtClean="0">
                <a:latin typeface="Times New Roman" panose="02020603050405020304" pitchFamily="18" charset="0"/>
                <a:ea typeface="华文楷体" panose="02010600040101010101" pitchFamily="2" charset="-122"/>
              </a:rPr>
              <a:t>    f[v] = time; </a:t>
            </a:r>
            <a:r>
              <a:rPr kumimoji="1" lang="en-US" altLang="zh-CN" sz="1400" dirty="0" smtClean="0">
                <a:solidFill>
                  <a:srgbClr val="FF0000"/>
                </a:solidFill>
                <a:latin typeface="Times New Roman" panose="02020603050405020304" pitchFamily="18" charset="0"/>
                <a:ea typeface="华文楷体" panose="02010600040101010101" pitchFamily="2" charset="-122"/>
              </a:rPr>
              <a:t>//</a:t>
            </a:r>
            <a:r>
              <a:rPr kumimoji="1" lang="zh-CN" altLang="en-US" sz="1400" dirty="0" smtClean="0">
                <a:solidFill>
                  <a:srgbClr val="FF0000"/>
                </a:solidFill>
                <a:latin typeface="Times New Roman" panose="02020603050405020304" pitchFamily="18" charset="0"/>
                <a:ea typeface="华文楷体" panose="02010600040101010101" pitchFamily="2" charset="-122"/>
              </a:rPr>
              <a:t>结束时间</a:t>
            </a:r>
            <a:endParaRPr kumimoji="1" lang="en-US" altLang="zh-CN" sz="1400" dirty="0" smtClean="0">
              <a:solidFill>
                <a:srgbClr val="FF0000"/>
              </a:solidFill>
              <a:latin typeface="Times New Roman" panose="02020603050405020304" pitchFamily="18" charset="0"/>
              <a:ea typeface="华文楷体" panose="02010600040101010101" pitchFamily="2" charset="-122"/>
            </a:endParaRPr>
          </a:p>
          <a:p>
            <a:r>
              <a:rPr kumimoji="1" lang="en-US" altLang="zh-CN" sz="1400" dirty="0">
                <a:latin typeface="Times New Roman" panose="02020603050405020304" pitchFamily="18" charset="0"/>
                <a:ea typeface="华文楷体" panose="02010600040101010101" pitchFamily="2" charset="-122"/>
              </a:rPr>
              <a:t>}</a:t>
            </a:r>
            <a:endParaRPr kumimoji="1" lang="en-US" altLang="zh-CN" sz="1400" dirty="0">
              <a:latin typeface="Times New Roman" panose="02020603050405020304" pitchFamily="18" charset="0"/>
              <a:ea typeface="华文楷体" panose="02010600040101010101" pitchFamily="2" charset="-122"/>
            </a:endParaRPr>
          </a:p>
          <a:p>
            <a:endParaRPr lang="zh-CN" altLang="en-US" sz="16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2400" b="1" dirty="0" smtClean="0">
                <a:solidFill>
                  <a:srgbClr val="C00000"/>
                </a:solidFill>
                <a:ea typeface="华文楷体" panose="02010600040101010101" pitchFamily="2" charset="-122"/>
              </a:rPr>
              <a:t>[</a:t>
            </a:r>
            <a:r>
              <a:rPr lang="zh-CN" altLang="en-US" sz="2400" b="1" dirty="0" smtClean="0">
                <a:solidFill>
                  <a:srgbClr val="C00000"/>
                </a:solidFill>
                <a:ea typeface="华文楷体" panose="02010600040101010101" pitchFamily="2" charset="-122"/>
              </a:rPr>
              <a:t>边的分类</a:t>
            </a:r>
            <a:r>
              <a:rPr lang="en-US" altLang="zh-CN" sz="2400" b="1" dirty="0" smtClean="0">
                <a:solidFill>
                  <a:srgbClr val="C00000"/>
                </a:solidFill>
                <a:ea typeface="华文楷体" panose="02010600040101010101" pitchFamily="2" charset="-122"/>
              </a:rPr>
              <a:t>]</a:t>
            </a:r>
            <a:endParaRPr lang="en-US" altLang="zh-CN" sz="2400" b="1" dirty="0" smtClean="0">
              <a:solidFill>
                <a:srgbClr val="C00000"/>
              </a:solidFill>
              <a:ea typeface="华文楷体" panose="02010600040101010101" pitchFamily="2" charset="-122"/>
            </a:endParaRPr>
          </a:p>
          <a:p>
            <a:pPr marL="0" indent="0">
              <a:buNone/>
            </a:pPr>
            <a:r>
              <a:rPr lang="zh-CN" altLang="en-US" sz="2400" dirty="0" smtClean="0">
                <a:ea typeface="华文楷体" panose="02010600040101010101" pitchFamily="2" charset="-122"/>
              </a:rPr>
              <a:t>深度优先搜索边的性质：通过深度优先搜索可以对输入图</a:t>
            </a:r>
            <a:r>
              <a:rPr lang="en-US" altLang="zh-CN" sz="2400" dirty="0" smtClean="0">
                <a:ea typeface="华文楷体" panose="02010600040101010101" pitchFamily="2" charset="-122"/>
              </a:rPr>
              <a:t>G=(V,E)</a:t>
            </a:r>
            <a:r>
              <a:rPr lang="zh-CN" altLang="en-US" sz="2400" dirty="0" smtClean="0">
                <a:ea typeface="华文楷体" panose="02010600040101010101" pitchFamily="2" charset="-122"/>
              </a:rPr>
              <a:t>的边进行分类。利用对图得到的深度优先森林，可以定义四种边。</a:t>
            </a:r>
            <a:endParaRPr lang="zh-CN" altLang="en-US" sz="24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457200" y="2814356"/>
                <a:ext cx="8229600" cy="3477875"/>
              </a:xfrm>
              <a:prstGeom prst="rect">
                <a:avLst/>
              </a:prstGeom>
              <a:noFill/>
              <a:ln>
                <a:solidFill>
                  <a:schemeClr val="accent1"/>
                </a:solidFill>
              </a:ln>
            </p:spPr>
            <p:txBody>
              <a:bodyPr wrap="square" rtlCol="0">
                <a:spAutoFit/>
              </a:bodyPr>
              <a:lstStyle/>
              <a:p>
                <a:r>
                  <a:rPr lang="en-US" altLang="zh-CN" sz="2000" b="1" dirty="0" smtClean="0">
                    <a:solidFill>
                      <a:srgbClr val="C00000"/>
                    </a:solidFill>
                    <a:latin typeface="Times New Roman" panose="02020603050405020304" pitchFamily="18" charset="0"/>
                    <a:ea typeface="华文楷体" panose="02010600040101010101" pitchFamily="2" charset="-122"/>
                  </a:rPr>
                  <a:t>[</a:t>
                </a:r>
                <a:r>
                  <a:rPr lang="zh-CN" altLang="en-US" sz="2000" b="1" dirty="0" smtClean="0">
                    <a:solidFill>
                      <a:srgbClr val="C00000"/>
                    </a:solidFill>
                    <a:latin typeface="Times New Roman" panose="02020603050405020304" pitchFamily="18" charset="0"/>
                    <a:ea typeface="华文楷体" panose="02010600040101010101" pitchFamily="2" charset="-122"/>
                  </a:rPr>
                  <a:t>深度优先遍历中的四种边</a:t>
                </a:r>
                <a:r>
                  <a:rPr lang="en-US" altLang="zh-CN" sz="2000" b="1" dirty="0" smtClean="0">
                    <a:solidFill>
                      <a:srgbClr val="C00000"/>
                    </a:solidFill>
                    <a:latin typeface="Times New Roman" panose="02020603050405020304" pitchFamily="18" charset="0"/>
                    <a:ea typeface="华文楷体" panose="02010600040101010101" pitchFamily="2" charset="-122"/>
                  </a:rPr>
                  <a:t>]</a:t>
                </a:r>
                <a:endParaRPr lang="en-US" altLang="zh-CN" sz="2000" b="1" dirty="0" smtClean="0">
                  <a:solidFill>
                    <a:srgbClr val="C00000"/>
                  </a:solidFill>
                  <a:latin typeface="Times New Roman" panose="02020603050405020304" pitchFamily="18" charset="0"/>
                  <a:ea typeface="华文楷体" panose="02010600040101010101" pitchFamily="2" charset="-122"/>
                </a:endParaRPr>
              </a:p>
              <a:p>
                <a:r>
                  <a:rPr lang="zh-CN" altLang="en-US" sz="2000" dirty="0" smtClean="0">
                    <a:latin typeface="宋体" panose="02010600030101010101" pitchFamily="2" charset="-122"/>
                  </a:rPr>
                  <a:t>①</a:t>
                </a:r>
                <a:r>
                  <a:rPr lang="zh-CN" altLang="en-US" sz="2000" dirty="0" smtClean="0">
                    <a:solidFill>
                      <a:srgbClr val="FF0000"/>
                    </a:solidFill>
                    <a:latin typeface="Times New Roman" panose="02020603050405020304" pitchFamily="18" charset="0"/>
                    <a:ea typeface="华文楷体" panose="02010600040101010101" pitchFamily="2" charset="-122"/>
                  </a:rPr>
                  <a:t>树边</a:t>
                </a:r>
                <a:r>
                  <a:rPr lang="zh-CN" altLang="en-US" sz="2000" dirty="0" smtClean="0">
                    <a:latin typeface="Times New Roman" panose="02020603050405020304" pitchFamily="18" charset="0"/>
                    <a:ea typeface="华文楷体" panose="02010600040101010101" pitchFamily="2" charset="-122"/>
                  </a:rPr>
                  <a:t>：为</a:t>
                </a:r>
                <a:r>
                  <a:rPr lang="en-US" altLang="zh-CN" sz="2000" dirty="0" smtClean="0">
                    <a:latin typeface="Times New Roman" panose="02020603050405020304" pitchFamily="18" charset="0"/>
                    <a:ea typeface="华文楷体" panose="02010600040101010101" pitchFamily="2" charset="-122"/>
                  </a:rPr>
                  <a:t>G</a:t>
                </a:r>
                <a14:m>
                  <m:oMath xmlns:m="http://schemas.openxmlformats.org/officeDocument/2006/math">
                    <m:r>
                      <m:rPr>
                        <m:sty m:val="p"/>
                      </m:rPr>
                      <a:rPr lang="en-US" altLang="zh-CN" sz="2000" i="1" baseline="-25000" dirty="0">
                        <a:latin typeface="Cambria Math" panose="02040503050406030204" pitchFamily="18" charset="0"/>
                      </a:rPr>
                      <m:t>p</m:t>
                    </m:r>
                  </m:oMath>
                </a14:m>
                <a:r>
                  <a:rPr lang="zh-CN" altLang="en-US" sz="2000" dirty="0" smtClean="0">
                    <a:latin typeface="Times New Roman" panose="02020603050405020304" pitchFamily="18" charset="0"/>
                    <a:ea typeface="华文楷体" panose="02010600040101010101" pitchFamily="2" charset="-122"/>
                  </a:rPr>
                  <a:t>的边。如果结点</a:t>
                </a:r>
                <a:r>
                  <a:rPr lang="en-US" altLang="zh-CN" sz="2000" dirty="0" smtClean="0">
                    <a:latin typeface="Times New Roman" panose="02020603050405020304" pitchFamily="18" charset="0"/>
                    <a:ea typeface="华文楷体" panose="02010600040101010101" pitchFamily="2" charset="-122"/>
                  </a:rPr>
                  <a:t>v</a:t>
                </a:r>
                <a:r>
                  <a:rPr lang="zh-CN" altLang="en-US" sz="2000" dirty="0">
                    <a:latin typeface="Times New Roman" panose="02020603050405020304" pitchFamily="18" charset="0"/>
                    <a:ea typeface="华文楷体" panose="02010600040101010101" pitchFamily="2" charset="-122"/>
                  </a:rPr>
                  <a:t>是</a:t>
                </a:r>
                <a:r>
                  <a:rPr lang="zh-CN" altLang="en-US" sz="2000" dirty="0" smtClean="0">
                    <a:latin typeface="Times New Roman" panose="02020603050405020304" pitchFamily="18" charset="0"/>
                    <a:ea typeface="华文楷体" panose="02010600040101010101" pitchFamily="2" charset="-122"/>
                  </a:rPr>
                  <a:t>因为算法对</a:t>
                </a:r>
                <a:r>
                  <a:rPr lang="en-US" altLang="zh-CN" sz="2000" dirty="0" smtClean="0">
                    <a:latin typeface="Times New Roman" panose="02020603050405020304" pitchFamily="18" charset="0"/>
                    <a:ea typeface="华文楷体" panose="02010600040101010101" pitchFamily="2" charset="-122"/>
                  </a:rPr>
                  <a:t>(</a:t>
                </a:r>
                <a:r>
                  <a:rPr lang="en-US" altLang="zh-CN" sz="2000" dirty="0" err="1" smtClean="0">
                    <a:latin typeface="Times New Roman" panose="02020603050405020304" pitchFamily="18" charset="0"/>
                    <a:ea typeface="华文楷体" panose="02010600040101010101" pitchFamily="2" charset="-122"/>
                  </a:rPr>
                  <a:t>u,v</a:t>
                </a:r>
                <a:r>
                  <a:rPr lang="en-US" altLang="zh-CN" sz="2000" dirty="0" smtClean="0">
                    <a:latin typeface="Times New Roman" panose="02020603050405020304" pitchFamily="18" charset="0"/>
                    <a:ea typeface="华文楷体" panose="02010600040101010101" pitchFamily="2" charset="-122"/>
                  </a:rPr>
                  <a:t>)/&lt;</a:t>
                </a:r>
                <a:r>
                  <a:rPr lang="en-US" altLang="zh-CN" sz="2000" dirty="0" err="1" smtClean="0">
                    <a:latin typeface="Times New Roman" panose="02020603050405020304" pitchFamily="18" charset="0"/>
                    <a:ea typeface="华文楷体" panose="02010600040101010101" pitchFamily="2" charset="-122"/>
                  </a:rPr>
                  <a:t>u,v</a:t>
                </a:r>
                <a:r>
                  <a:rPr lang="en-US" altLang="zh-CN" sz="2000" dirty="0" smtClean="0">
                    <a:latin typeface="Times New Roman" panose="02020603050405020304" pitchFamily="18" charset="0"/>
                    <a:ea typeface="华文楷体" panose="02010600040101010101" pitchFamily="2" charset="-122"/>
                  </a:rPr>
                  <a:t>&gt;</a:t>
                </a:r>
                <a:r>
                  <a:rPr lang="zh-CN" altLang="en-US" sz="2000" dirty="0" smtClean="0">
                    <a:latin typeface="Times New Roman" panose="02020603050405020304" pitchFamily="18" charset="0"/>
                    <a:ea typeface="华文楷体" panose="02010600040101010101" pitchFamily="2" charset="-122"/>
                  </a:rPr>
                  <a:t>的探索而首次被发现的，即执行语句</a:t>
                </a:r>
                <a:r>
                  <a:rPr lang="en-US" altLang="zh-CN" sz="2000" dirty="0" smtClean="0">
                    <a:latin typeface="Times New Roman" panose="02020603050405020304" pitchFamily="18" charset="0"/>
                    <a:ea typeface="华文楷体" panose="02010600040101010101" pitchFamily="2" charset="-122"/>
                  </a:rPr>
                  <a:t>p[v]=u</a:t>
                </a:r>
                <a:r>
                  <a:rPr lang="zh-CN" altLang="en-US" sz="2000" dirty="0">
                    <a:latin typeface="Times New Roman" panose="02020603050405020304" pitchFamily="18" charset="0"/>
                    <a:ea typeface="华文楷体" panose="02010600040101010101" pitchFamily="2" charset="-122"/>
                  </a:rPr>
                  <a:t>，</a:t>
                </a:r>
                <a:r>
                  <a:rPr lang="zh-CN" altLang="en-US" sz="2000" dirty="0" smtClean="0">
                    <a:latin typeface="Times New Roman" panose="02020603050405020304" pitchFamily="18" charset="0"/>
                    <a:ea typeface="华文楷体" panose="02010600040101010101" pitchFamily="2" charset="-122"/>
                  </a:rPr>
                  <a:t>则</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u,v</a:t>
                </a:r>
                <a:r>
                  <a:rPr lang="en-US" altLang="zh-CN" sz="2000" dirty="0">
                    <a:latin typeface="Times New Roman" panose="02020603050405020304" pitchFamily="18" charset="0"/>
                    <a:ea typeface="华文楷体" panose="02010600040101010101" pitchFamily="2" charset="-122"/>
                  </a:rPr>
                  <a:t>)/&lt;</a:t>
                </a:r>
                <a:r>
                  <a:rPr lang="en-US" altLang="zh-CN" sz="2000" dirty="0" err="1">
                    <a:latin typeface="Times New Roman" panose="02020603050405020304" pitchFamily="18" charset="0"/>
                    <a:ea typeface="华文楷体" panose="02010600040101010101" pitchFamily="2" charset="-122"/>
                  </a:rPr>
                  <a:t>u,v</a:t>
                </a:r>
                <a:r>
                  <a:rPr lang="en-US" altLang="zh-CN" sz="2000" dirty="0" smtClean="0">
                    <a:latin typeface="Times New Roman" panose="02020603050405020304" pitchFamily="18" charset="0"/>
                    <a:ea typeface="华文楷体" panose="02010600040101010101" pitchFamily="2" charset="-122"/>
                  </a:rPr>
                  <a:t>&gt;</a:t>
                </a:r>
                <a:r>
                  <a:rPr lang="zh-CN" altLang="en-US" sz="2000" dirty="0" smtClean="0">
                    <a:latin typeface="Times New Roman" panose="02020603050405020304" pitchFamily="18" charset="0"/>
                    <a:ea typeface="华文楷体" panose="02010600040101010101" pitchFamily="2" charset="-122"/>
                  </a:rPr>
                  <a:t>是一条树边（连接父子）。</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smtClean="0">
                    <a:latin typeface="宋体" panose="02010600030101010101" pitchFamily="2" charset="-122"/>
                  </a:rPr>
                  <a:t>②</a:t>
                </a:r>
                <a:r>
                  <a:rPr lang="zh-CN" altLang="en-US" sz="2000" dirty="0" smtClean="0">
                    <a:solidFill>
                      <a:srgbClr val="FF0000"/>
                    </a:solidFill>
                    <a:latin typeface="Times New Roman" panose="02020603050405020304" pitchFamily="18" charset="0"/>
                    <a:ea typeface="华文楷体" panose="02010600040101010101" pitchFamily="2" charset="-122"/>
                  </a:rPr>
                  <a:t>后</a:t>
                </a:r>
                <a:r>
                  <a:rPr lang="zh-CN" altLang="en-US" sz="2000" dirty="0">
                    <a:solidFill>
                      <a:srgbClr val="FF0000"/>
                    </a:solidFill>
                    <a:latin typeface="Times New Roman" panose="02020603050405020304" pitchFamily="18" charset="0"/>
                    <a:ea typeface="华文楷体" panose="02010600040101010101" pitchFamily="2" charset="-122"/>
                  </a:rPr>
                  <a:t>向边</a:t>
                </a:r>
                <a:r>
                  <a:rPr lang="zh-CN" altLang="en-US" sz="2000" dirty="0" smtClean="0">
                    <a:latin typeface="Times New Roman" panose="02020603050405020304" pitchFamily="18" charset="0"/>
                    <a:ea typeface="华文楷体" panose="02010600040101010101" pitchFamily="2" charset="-122"/>
                  </a:rPr>
                  <a:t>：</a:t>
                </a:r>
                <a:r>
                  <a:rPr lang="zh-CN" altLang="en-US" sz="2000" dirty="0">
                    <a:latin typeface="Times New Roman" panose="02020603050405020304" pitchFamily="18" charset="0"/>
                    <a:ea typeface="华文楷体" panose="02010600040101010101" pitchFamily="2" charset="-122"/>
                  </a:rPr>
                  <a:t>后向</a:t>
                </a:r>
                <a:r>
                  <a:rPr lang="zh-CN" altLang="en-US" sz="2000" dirty="0" smtClean="0">
                    <a:latin typeface="Times New Roman" panose="02020603050405020304" pitchFamily="18" charset="0"/>
                    <a:ea typeface="华文楷体" panose="02010600040101010101" pitchFamily="2" charset="-122"/>
                  </a:rPr>
                  <a:t>边</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u,v</a:t>
                </a:r>
                <a:r>
                  <a:rPr lang="en-US" altLang="zh-CN" sz="2000" dirty="0">
                    <a:latin typeface="Times New Roman" panose="02020603050405020304" pitchFamily="18" charset="0"/>
                    <a:ea typeface="华文楷体" panose="02010600040101010101" pitchFamily="2" charset="-122"/>
                  </a:rPr>
                  <a:t>)/&lt;</a:t>
                </a:r>
                <a:r>
                  <a:rPr lang="en-US" altLang="zh-CN" sz="2000" dirty="0" err="1">
                    <a:latin typeface="Times New Roman" panose="02020603050405020304" pitchFamily="18" charset="0"/>
                    <a:ea typeface="华文楷体" panose="02010600040101010101" pitchFamily="2" charset="-122"/>
                  </a:rPr>
                  <a:t>u,v</a:t>
                </a:r>
                <a:r>
                  <a:rPr lang="en-US" altLang="zh-CN" sz="2000" dirty="0" smtClean="0">
                    <a:latin typeface="Times New Roman" panose="02020603050405020304" pitchFamily="18" charset="0"/>
                    <a:ea typeface="华文楷体" panose="02010600040101010101" pitchFamily="2" charset="-122"/>
                  </a:rPr>
                  <a:t>&gt;</a:t>
                </a:r>
                <a:r>
                  <a:rPr lang="zh-CN" altLang="en-US" sz="2000" dirty="0" smtClean="0">
                    <a:latin typeface="Times New Roman" panose="02020603050405020304" pitchFamily="18" charset="0"/>
                    <a:ea typeface="华文楷体" panose="02010600040101010101" pitchFamily="2" charset="-122"/>
                  </a:rPr>
                  <a:t>是将</a:t>
                </a:r>
                <a:r>
                  <a:rPr lang="en-US" altLang="zh-CN" sz="2000" dirty="0" smtClean="0">
                    <a:latin typeface="Times New Roman" panose="02020603050405020304" pitchFamily="18" charset="0"/>
                    <a:ea typeface="华文楷体" panose="02010600040101010101" pitchFamily="2" charset="-122"/>
                  </a:rPr>
                  <a:t>u</a:t>
                </a:r>
                <a:r>
                  <a:rPr lang="zh-CN" altLang="en-US" sz="2000" dirty="0" smtClean="0">
                    <a:latin typeface="Times New Roman" panose="02020603050405020304" pitchFamily="18" charset="0"/>
                    <a:ea typeface="华文楷体" panose="02010600040101010101" pitchFamily="2" charset="-122"/>
                  </a:rPr>
                  <a:t>连接到其在深度优先树</a:t>
                </a:r>
                <a:r>
                  <a:rPr lang="en-US" altLang="zh-CN" sz="2000" dirty="0">
                    <a:latin typeface="Times New Roman" panose="02020603050405020304" pitchFamily="18" charset="0"/>
                    <a:ea typeface="华文楷体" panose="02010600040101010101" pitchFamily="2" charset="-122"/>
                  </a:rPr>
                  <a:t>G</a:t>
                </a:r>
                <a14:m>
                  <m:oMath xmlns:m="http://schemas.openxmlformats.org/officeDocument/2006/math">
                    <m:r>
                      <m:rPr>
                        <m:sty m:val="p"/>
                      </m:rPr>
                      <a:rPr lang="en-US" altLang="zh-CN" sz="2000" i="1" baseline="-25000" dirty="0">
                        <a:latin typeface="Cambria Math" panose="02040503050406030204" pitchFamily="18" charset="0"/>
                      </a:rPr>
                      <m:t>p</m:t>
                    </m:r>
                  </m:oMath>
                </a14:m>
                <a:r>
                  <a:rPr lang="zh-CN" altLang="en-US" sz="2000" dirty="0" smtClean="0">
                    <a:latin typeface="Times New Roman" panose="02020603050405020304" pitchFamily="18" charset="0"/>
                    <a:ea typeface="华文楷体" panose="02010600040101010101" pitchFamily="2" charset="-122"/>
                  </a:rPr>
                  <a:t>中祖先顶点</a:t>
                </a:r>
                <a:r>
                  <a:rPr lang="en-US" altLang="zh-CN" sz="2000" dirty="0" smtClean="0">
                    <a:latin typeface="Times New Roman" panose="02020603050405020304" pitchFamily="18" charset="0"/>
                    <a:ea typeface="华文楷体" panose="02010600040101010101" pitchFamily="2" charset="-122"/>
                  </a:rPr>
                  <a:t>v</a:t>
                </a:r>
                <a:r>
                  <a:rPr lang="zh-CN" altLang="en-US" sz="2000" dirty="0" smtClean="0">
                    <a:latin typeface="Times New Roman" panose="02020603050405020304" pitchFamily="18" charset="0"/>
                    <a:ea typeface="华文楷体" panose="02010600040101010101" pitchFamily="2" charset="-122"/>
                  </a:rPr>
                  <a:t>的边（连接子父或孙祖）。</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a:latin typeface="宋体" panose="02010600030101010101" pitchFamily="2" charset="-122"/>
                  </a:rPr>
                  <a:t>③</a:t>
                </a:r>
                <a:r>
                  <a:rPr lang="zh-CN" altLang="en-US" sz="2000" dirty="0" smtClean="0">
                    <a:solidFill>
                      <a:srgbClr val="FF0000"/>
                    </a:solidFill>
                    <a:latin typeface="Times New Roman" panose="02020603050405020304" pitchFamily="18" charset="0"/>
                    <a:ea typeface="华文楷体" panose="02010600040101010101" pitchFamily="2" charset="-122"/>
                  </a:rPr>
                  <a:t>前</a:t>
                </a:r>
                <a:r>
                  <a:rPr lang="zh-CN" altLang="en-US" sz="2000" dirty="0">
                    <a:solidFill>
                      <a:srgbClr val="FF0000"/>
                    </a:solidFill>
                    <a:latin typeface="Times New Roman" panose="02020603050405020304" pitchFamily="18" charset="0"/>
                    <a:ea typeface="华文楷体" panose="02010600040101010101" pitchFamily="2" charset="-122"/>
                  </a:rPr>
                  <a:t>向</a:t>
                </a:r>
                <a:r>
                  <a:rPr lang="zh-CN" altLang="en-US" sz="2000" dirty="0" smtClean="0">
                    <a:solidFill>
                      <a:srgbClr val="FF0000"/>
                    </a:solidFill>
                    <a:latin typeface="Times New Roman" panose="02020603050405020304" pitchFamily="18" charset="0"/>
                    <a:ea typeface="华文楷体" panose="02010600040101010101" pitchFamily="2" charset="-122"/>
                  </a:rPr>
                  <a:t>边</a:t>
                </a:r>
                <a:r>
                  <a:rPr lang="zh-CN" altLang="en-US" sz="2000" dirty="0" smtClean="0">
                    <a:latin typeface="Times New Roman" panose="02020603050405020304" pitchFamily="18" charset="0"/>
                    <a:ea typeface="华文楷体" panose="02010600040101010101" pitchFamily="2" charset="-122"/>
                  </a:rPr>
                  <a:t>：是将</a:t>
                </a:r>
                <a:r>
                  <a:rPr lang="en-US" altLang="zh-CN" sz="2000" dirty="0" smtClean="0">
                    <a:latin typeface="Times New Roman" panose="02020603050405020304" pitchFamily="18" charset="0"/>
                    <a:ea typeface="华文楷体" panose="02010600040101010101" pitchFamily="2" charset="-122"/>
                  </a:rPr>
                  <a:t>u</a:t>
                </a:r>
                <a:r>
                  <a:rPr lang="zh-CN" altLang="en-US" sz="2000" dirty="0" smtClean="0">
                    <a:latin typeface="Times New Roman" panose="02020603050405020304" pitchFamily="18" charset="0"/>
                    <a:ea typeface="华文楷体" panose="02010600040101010101" pitchFamily="2" charset="-122"/>
                  </a:rPr>
                  <a:t>连接到</a:t>
                </a:r>
                <a:r>
                  <a:rPr lang="en-US" altLang="zh-CN" sz="2000" dirty="0">
                    <a:latin typeface="Times New Roman" panose="02020603050405020304" pitchFamily="18" charset="0"/>
                    <a:ea typeface="华文楷体" panose="02010600040101010101" pitchFamily="2" charset="-122"/>
                  </a:rPr>
                  <a:t>G</a:t>
                </a:r>
                <a14:m>
                  <m:oMath xmlns:m="http://schemas.openxmlformats.org/officeDocument/2006/math">
                    <m:r>
                      <m:rPr>
                        <m:sty m:val="p"/>
                      </m:rPr>
                      <a:rPr lang="en-US" altLang="zh-CN" sz="2000" i="1" baseline="-25000" dirty="0">
                        <a:latin typeface="Cambria Math" panose="02040503050406030204" pitchFamily="18" charset="0"/>
                      </a:rPr>
                      <m:t>p</m:t>
                    </m:r>
                  </m:oMath>
                </a14:m>
                <a:r>
                  <a:rPr lang="zh-CN" altLang="en-US" sz="2000" dirty="0" smtClean="0">
                    <a:latin typeface="Times New Roman" panose="02020603050405020304" pitchFamily="18" charset="0"/>
                    <a:ea typeface="华文楷体" panose="02010600040101010101" pitchFamily="2" charset="-122"/>
                  </a:rPr>
                  <a:t>中一个后代</a:t>
                </a:r>
                <a:r>
                  <a:rPr lang="en-US" altLang="zh-CN" sz="2000" dirty="0" smtClean="0">
                    <a:latin typeface="Times New Roman" panose="02020603050405020304" pitchFamily="18" charset="0"/>
                    <a:ea typeface="华文楷体" panose="02010600040101010101" pitchFamily="2" charset="-122"/>
                  </a:rPr>
                  <a:t>v</a:t>
                </a:r>
                <a:r>
                  <a:rPr lang="zh-CN" altLang="en-US" sz="2000" dirty="0" smtClean="0">
                    <a:latin typeface="Times New Roman" panose="02020603050405020304" pitchFamily="18" charset="0"/>
                    <a:ea typeface="华文楷体" panose="02010600040101010101" pitchFamily="2" charset="-122"/>
                  </a:rPr>
                  <a:t>的边</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u,v</a:t>
                </a:r>
                <a:r>
                  <a:rPr lang="en-US" altLang="zh-CN" sz="2000" dirty="0">
                    <a:latin typeface="Times New Roman" panose="02020603050405020304" pitchFamily="18" charset="0"/>
                    <a:ea typeface="华文楷体" panose="02010600040101010101" pitchFamily="2" charset="-122"/>
                  </a:rPr>
                  <a:t>)/&lt;</a:t>
                </a:r>
                <a:r>
                  <a:rPr lang="en-US" altLang="zh-CN" sz="2000" dirty="0" err="1">
                    <a:latin typeface="Times New Roman" panose="02020603050405020304" pitchFamily="18" charset="0"/>
                    <a:ea typeface="华文楷体" panose="02010600040101010101" pitchFamily="2" charset="-122"/>
                  </a:rPr>
                  <a:t>u,v</a:t>
                </a:r>
                <a:r>
                  <a:rPr lang="en-US" altLang="zh-CN" sz="2000" dirty="0" smtClean="0">
                    <a:latin typeface="Times New Roman" panose="02020603050405020304" pitchFamily="18" charset="0"/>
                    <a:ea typeface="华文楷体" panose="02010600040101010101" pitchFamily="2" charset="-122"/>
                  </a:rPr>
                  <a:t>&gt;</a:t>
                </a:r>
                <a:r>
                  <a:rPr lang="zh-CN" altLang="en-US" sz="2000" dirty="0" smtClean="0">
                    <a:latin typeface="Times New Roman" panose="02020603050405020304" pitchFamily="18" charset="0"/>
                    <a:ea typeface="华文楷体" panose="02010600040101010101" pitchFamily="2" charset="-122"/>
                  </a:rPr>
                  <a:t>（连接祖孙）。</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smtClean="0">
                    <a:latin typeface="宋体" panose="02010600030101010101" pitchFamily="2" charset="-122"/>
                  </a:rPr>
                  <a:t>④</a:t>
                </a:r>
                <a:r>
                  <a:rPr lang="zh-CN" altLang="en-US" sz="2000" dirty="0" smtClean="0">
                    <a:solidFill>
                      <a:srgbClr val="FF0000"/>
                    </a:solidFill>
                    <a:latin typeface="Times New Roman" panose="02020603050405020304" pitchFamily="18" charset="0"/>
                    <a:ea typeface="华文楷体" panose="02010600040101010101" pitchFamily="2" charset="-122"/>
                  </a:rPr>
                  <a:t>横向边</a:t>
                </a:r>
                <a:r>
                  <a:rPr lang="zh-CN" altLang="en-US" sz="2000" dirty="0" smtClean="0">
                    <a:latin typeface="Times New Roman" panose="02020603050405020304" pitchFamily="18" charset="0"/>
                    <a:ea typeface="华文楷体" panose="02010600040101010101" pitchFamily="2" charset="-122"/>
                  </a:rPr>
                  <a:t>：其他边。可以是连接同一棵</a:t>
                </a:r>
                <a:r>
                  <a:rPr lang="zh-CN" altLang="en-US" sz="2000" dirty="0">
                    <a:latin typeface="Times New Roman" panose="02020603050405020304" pitchFamily="18" charset="0"/>
                    <a:ea typeface="华文楷体" panose="02010600040101010101" pitchFamily="2" charset="-122"/>
                  </a:rPr>
                  <a:t>深度优先</a:t>
                </a:r>
                <a:r>
                  <a:rPr lang="zh-CN" altLang="en-US" sz="2000" dirty="0" smtClean="0">
                    <a:latin typeface="Times New Roman" panose="02020603050405020304" pitchFamily="18" charset="0"/>
                    <a:ea typeface="华文楷体" panose="02010600040101010101" pitchFamily="2" charset="-122"/>
                  </a:rPr>
                  <a:t>树</a:t>
                </a:r>
                <a:r>
                  <a:rPr lang="en-US" altLang="zh-CN" sz="2000" dirty="0">
                    <a:latin typeface="Times New Roman" panose="02020603050405020304" pitchFamily="18" charset="0"/>
                    <a:ea typeface="华文楷体" panose="02010600040101010101" pitchFamily="2" charset="-122"/>
                  </a:rPr>
                  <a:t>G</a:t>
                </a:r>
                <a14:m>
                  <m:oMath xmlns:m="http://schemas.openxmlformats.org/officeDocument/2006/math">
                    <m:r>
                      <m:rPr>
                        <m:sty m:val="p"/>
                      </m:rPr>
                      <a:rPr lang="en-US" altLang="zh-CN" sz="2000" i="1" baseline="-25000" dirty="0">
                        <a:latin typeface="Cambria Math" panose="02040503050406030204" pitchFamily="18" charset="0"/>
                      </a:rPr>
                      <m:t>p</m:t>
                    </m:r>
                  </m:oMath>
                </a14:m>
                <a:r>
                  <a:rPr lang="zh-CN" altLang="en-US" sz="2000" dirty="0" smtClean="0">
                    <a:latin typeface="Times New Roman" panose="02020603050405020304" pitchFamily="18" charset="0"/>
                    <a:ea typeface="华文楷体" panose="02010600040101010101" pitchFamily="2" charset="-122"/>
                  </a:rPr>
                  <a:t>中的结点，只要一个结点不是另一个结点的祖先（即连接兄弟结点），或者也可以</a:t>
                </a:r>
                <a:r>
                  <a:rPr lang="zh-CN" altLang="en-US" sz="2000" dirty="0">
                    <a:latin typeface="Times New Roman" panose="02020603050405020304" pitchFamily="18" charset="0"/>
                    <a:ea typeface="华文楷体" panose="02010600040101010101" pitchFamily="2" charset="-122"/>
                  </a:rPr>
                  <a:t>是</a:t>
                </a:r>
                <a:r>
                  <a:rPr lang="zh-CN" altLang="en-US" sz="2000" dirty="0" smtClean="0">
                    <a:latin typeface="Times New Roman" panose="02020603050405020304" pitchFamily="18" charset="0"/>
                    <a:ea typeface="华文楷体" panose="02010600040101010101" pitchFamily="2" charset="-122"/>
                  </a:rPr>
                  <a:t>连接不同深度</a:t>
                </a:r>
                <a:r>
                  <a:rPr lang="zh-CN" altLang="en-US" sz="2000" dirty="0">
                    <a:latin typeface="Times New Roman" panose="02020603050405020304" pitchFamily="18" charset="0"/>
                    <a:ea typeface="华文楷体" panose="02010600040101010101" pitchFamily="2" charset="-122"/>
                  </a:rPr>
                  <a:t>优先树</a:t>
                </a:r>
                <a:r>
                  <a:rPr lang="en-US" altLang="zh-CN" sz="2000" dirty="0">
                    <a:latin typeface="Times New Roman" panose="02020603050405020304" pitchFamily="18" charset="0"/>
                    <a:ea typeface="华文楷体" panose="02010600040101010101" pitchFamily="2" charset="-122"/>
                  </a:rPr>
                  <a:t>G</a:t>
                </a:r>
                <a14:m>
                  <m:oMath xmlns:m="http://schemas.openxmlformats.org/officeDocument/2006/math">
                    <m:r>
                      <m:rPr>
                        <m:sty m:val="p"/>
                      </m:rPr>
                      <a:rPr lang="en-US" altLang="zh-CN" sz="2000" i="1" baseline="-25000" dirty="0">
                        <a:latin typeface="Cambria Math" panose="02040503050406030204" pitchFamily="18" charset="0"/>
                      </a:rPr>
                      <m:t>p</m:t>
                    </m:r>
                  </m:oMath>
                </a14:m>
                <a:r>
                  <a:rPr lang="zh-CN" altLang="en-US" sz="2000" dirty="0">
                    <a:latin typeface="Times New Roman" panose="02020603050405020304" pitchFamily="18" charset="0"/>
                    <a:ea typeface="华文楷体" panose="02010600040101010101" pitchFamily="2" charset="-122"/>
                  </a:rPr>
                  <a:t>中</a:t>
                </a:r>
                <a:r>
                  <a:rPr lang="zh-CN" altLang="en-US" sz="2000" dirty="0" smtClean="0">
                    <a:latin typeface="Times New Roman" panose="02020603050405020304" pitchFamily="18" charset="0"/>
                    <a:ea typeface="华文楷体" panose="02010600040101010101" pitchFamily="2" charset="-122"/>
                  </a:rPr>
                  <a:t>的两个结点。</a:t>
                </a:r>
                <a:r>
                  <a:rPr lang="zh-CN" altLang="en-US" sz="2000" dirty="0" smtClean="0">
                    <a:solidFill>
                      <a:srgbClr val="FF0000"/>
                    </a:solidFill>
                    <a:latin typeface="Times New Roman" panose="02020603050405020304" pitchFamily="18" charset="0"/>
                    <a:ea typeface="华文楷体" panose="02010600040101010101" pitchFamily="2" charset="-122"/>
                  </a:rPr>
                  <a:t>只针对于有向图</a:t>
                </a:r>
                <a:endParaRPr lang="en-US" altLang="zh-CN" sz="2000" dirty="0" smtClean="0">
                  <a:solidFill>
                    <a:srgbClr val="FF0000"/>
                  </a:solidFill>
                  <a:latin typeface="Times New Roman" panose="02020603050405020304" pitchFamily="18" charset="0"/>
                  <a:ea typeface="华文楷体" panose="02010600040101010101" pitchFamily="2" charset="-122"/>
                </a:endParaRPr>
              </a:p>
              <a:p>
                <a:r>
                  <a:rPr lang="zh-CN" altLang="en-US" sz="2000" b="1" dirty="0" smtClean="0">
                    <a:solidFill>
                      <a:srgbClr val="C00000"/>
                    </a:solidFill>
                    <a:latin typeface="Times New Roman" panose="02020603050405020304" pitchFamily="18" charset="0"/>
                    <a:ea typeface="华文楷体" panose="02010600040101010101" pitchFamily="2" charset="-122"/>
                  </a:rPr>
                  <a:t>定理</a:t>
                </a:r>
                <a:r>
                  <a:rPr lang="zh-CN" altLang="en-US" sz="2000" dirty="0" smtClean="0">
                    <a:latin typeface="Times New Roman" panose="02020603050405020304" pitchFamily="18" charset="0"/>
                    <a:ea typeface="华文楷体" panose="02010600040101010101" pitchFamily="2" charset="-122"/>
                  </a:rPr>
                  <a:t>：对无向图</a:t>
                </a:r>
                <a:r>
                  <a:rPr lang="en-US" altLang="zh-CN" sz="2000" dirty="0" smtClean="0">
                    <a:latin typeface="Times New Roman" panose="02020603050405020304" pitchFamily="18" charset="0"/>
                    <a:ea typeface="华文楷体" panose="02010600040101010101" pitchFamily="2" charset="-122"/>
                  </a:rPr>
                  <a:t>G</a:t>
                </a:r>
                <a:r>
                  <a:rPr lang="zh-CN" altLang="en-US" sz="2000" dirty="0" smtClean="0">
                    <a:latin typeface="Times New Roman" panose="02020603050405020304" pitchFamily="18" charset="0"/>
                    <a:ea typeface="华文楷体" panose="02010600040101010101" pitchFamily="2" charset="-122"/>
                  </a:rPr>
                  <a:t>进行深度优先搜索，每条边要么是树边，要么是后向边。</a:t>
                </a:r>
                <a:endParaRPr lang="zh-CN" altLang="en-US" sz="2000" dirty="0">
                  <a:latin typeface="Times New Roman" panose="02020603050405020304" pitchFamily="18" charset="0"/>
                  <a:ea typeface="华文楷体" panose="0201060004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457200" y="2814356"/>
                <a:ext cx="8229600" cy="3477875"/>
              </a:xfrm>
              <a:prstGeom prst="rect">
                <a:avLst/>
              </a:prstGeom>
              <a:blipFill rotWithShape="1">
                <a:blip r:embed="rId1"/>
                <a:stretch>
                  <a:fillRect l="-62" t="-147" r="-54" b="-127"/>
                </a:stretch>
              </a:blipFill>
              <a:ln>
                <a:solidFill>
                  <a:schemeClr val="accent1"/>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185971" y="1096979"/>
            <a:ext cx="8763001" cy="1015663"/>
          </a:xfrm>
          <a:prstGeom prst="rect">
            <a:avLst/>
          </a:prstGeom>
          <a:noFill/>
          <a:ln>
            <a:solidFill>
              <a:srgbClr val="C00000"/>
            </a:solidFill>
          </a:ln>
        </p:spPr>
        <p:txBody>
          <a:bodyPr wrap="square" rtlCol="0">
            <a:spAutoFit/>
          </a:bodyPr>
          <a:lstStyle/>
          <a:p>
            <a:r>
              <a:rPr lang="en-US" altLang="zh-CN" sz="1500" b="1" dirty="0">
                <a:solidFill>
                  <a:srgbClr val="C00000"/>
                </a:solidFill>
                <a:latin typeface="Times New Roman" panose="02020603050405020304" pitchFamily="18" charset="0"/>
                <a:ea typeface="华文楷体" panose="02010600040101010101" pitchFamily="2" charset="-122"/>
              </a:rPr>
              <a:t>DFS</a:t>
            </a:r>
            <a:r>
              <a:rPr lang="zh-CN" altLang="en-US" sz="1500" b="1" dirty="0">
                <a:solidFill>
                  <a:srgbClr val="C00000"/>
                </a:solidFill>
                <a:latin typeface="Times New Roman" panose="02020603050405020304" pitchFamily="18" charset="0"/>
                <a:ea typeface="华文楷体" panose="02010600040101010101" pitchFamily="2" charset="-122"/>
              </a:rPr>
              <a:t>算法实例   </a:t>
            </a:r>
            <a:endParaRPr lang="en-US" altLang="zh-CN" sz="1500" b="1" dirty="0">
              <a:solidFill>
                <a:srgbClr val="C00000"/>
              </a:solidFill>
              <a:latin typeface="Times New Roman" panose="02020603050405020304" pitchFamily="18" charset="0"/>
              <a:ea typeface="华文楷体" panose="02010600040101010101" pitchFamily="2" charset="-122"/>
            </a:endParaRPr>
          </a:p>
          <a:p>
            <a:r>
              <a:rPr lang="zh-CN" altLang="en-US" sz="1500" dirty="0">
                <a:latin typeface="Times New Roman" panose="02020603050405020304" pitchFamily="18" charset="0"/>
                <a:ea typeface="华文楷体" panose="02010600040101010101" pitchFamily="2" charset="-122"/>
              </a:rPr>
              <a:t>说明</a:t>
            </a:r>
            <a:r>
              <a:rPr lang="en-US" altLang="zh-CN" sz="1500" dirty="0">
                <a:latin typeface="Times New Roman" panose="02020603050405020304" pitchFamily="18" charset="0"/>
                <a:ea typeface="华文楷体" panose="02010600040101010101" pitchFamily="2" charset="-122"/>
              </a:rPr>
              <a:t>1</a:t>
            </a:r>
            <a:r>
              <a:rPr lang="zh-CN" altLang="en-US" sz="1500" dirty="0" smtClean="0">
                <a:latin typeface="Times New Roman" panose="02020603050405020304" pitchFamily="18" charset="0"/>
                <a:ea typeface="华文楷体" panose="02010600040101010101" pitchFamily="2" charset="-122"/>
              </a:rPr>
              <a:t>：</a:t>
            </a:r>
            <a:r>
              <a:rPr lang="zh-CN" altLang="en-US" sz="1500" dirty="0" smtClean="0">
                <a:solidFill>
                  <a:srgbClr val="FF0000"/>
                </a:solidFill>
                <a:latin typeface="Times New Roman" panose="02020603050405020304" pitchFamily="18" charset="0"/>
                <a:ea typeface="华文楷体" panose="02010600040101010101" pitchFamily="2" charset="-122"/>
              </a:rPr>
              <a:t>红色</a:t>
            </a:r>
            <a:r>
              <a:rPr lang="zh-CN" altLang="en-US" sz="1500" dirty="0">
                <a:solidFill>
                  <a:srgbClr val="FF0000"/>
                </a:solidFill>
                <a:latin typeface="Times New Roman" panose="02020603050405020304" pitchFamily="18" charset="0"/>
                <a:ea typeface="华文楷体" panose="02010600040101010101" pitchFamily="2" charset="-122"/>
              </a:rPr>
              <a:t>边</a:t>
            </a:r>
            <a:r>
              <a:rPr lang="zh-CN" altLang="en-US" sz="1500" dirty="0" smtClean="0">
                <a:latin typeface="Times New Roman" panose="02020603050405020304" pitchFamily="18" charset="0"/>
                <a:ea typeface="华文楷体" panose="02010600040101010101" pitchFamily="2" charset="-122"/>
              </a:rPr>
              <a:t>表示</a:t>
            </a:r>
            <a:r>
              <a:rPr lang="zh-CN" altLang="en-US" sz="1500" dirty="0">
                <a:latin typeface="Times New Roman" panose="02020603050405020304" pitchFamily="18" charset="0"/>
                <a:ea typeface="华文楷体" panose="02010600040101010101" pitchFamily="2" charset="-122"/>
              </a:rPr>
              <a:t>该边为树边；边变为虚线，表示边为非树</a:t>
            </a:r>
            <a:r>
              <a:rPr lang="zh-CN" altLang="en-US" sz="1500" dirty="0" smtClean="0">
                <a:latin typeface="Times New Roman" panose="02020603050405020304" pitchFamily="18" charset="0"/>
                <a:ea typeface="华文楷体" panose="02010600040101010101" pitchFamily="2" charset="-122"/>
              </a:rPr>
              <a:t>边，其中：</a:t>
            </a:r>
            <a:r>
              <a:rPr lang="en-US" altLang="zh-CN" sz="1500" dirty="0" smtClean="0">
                <a:solidFill>
                  <a:srgbClr val="FF0000"/>
                </a:solidFill>
                <a:latin typeface="Times New Roman" panose="02020603050405020304" pitchFamily="18" charset="0"/>
                <a:ea typeface="华文楷体" panose="02010600040101010101" pitchFamily="2" charset="-122"/>
              </a:rPr>
              <a:t>B</a:t>
            </a:r>
            <a:r>
              <a:rPr lang="zh-CN" altLang="en-US" sz="1500" dirty="0">
                <a:latin typeface="Times New Roman" panose="02020603050405020304" pitchFamily="18" charset="0"/>
                <a:ea typeface="华文楷体" panose="02010600040101010101" pitchFamily="2" charset="-122"/>
              </a:rPr>
              <a:t>表示后向边，</a:t>
            </a:r>
            <a:r>
              <a:rPr lang="en-US" altLang="zh-CN" sz="1500" dirty="0">
                <a:solidFill>
                  <a:srgbClr val="FF0000"/>
                </a:solidFill>
                <a:latin typeface="Times New Roman" panose="02020603050405020304" pitchFamily="18" charset="0"/>
                <a:ea typeface="华文楷体" panose="02010600040101010101" pitchFamily="2" charset="-122"/>
              </a:rPr>
              <a:t>F</a:t>
            </a:r>
            <a:r>
              <a:rPr lang="zh-CN" altLang="en-US" sz="1500" dirty="0">
                <a:latin typeface="Times New Roman" panose="02020603050405020304" pitchFamily="18" charset="0"/>
                <a:ea typeface="华文楷体" panose="02010600040101010101" pitchFamily="2" charset="-122"/>
              </a:rPr>
              <a:t>表示前向边，</a:t>
            </a:r>
            <a:r>
              <a:rPr lang="en-US" altLang="zh-CN" sz="1500" dirty="0">
                <a:solidFill>
                  <a:srgbClr val="FF0000"/>
                </a:solidFill>
                <a:latin typeface="Times New Roman" panose="02020603050405020304" pitchFamily="18" charset="0"/>
                <a:ea typeface="华文楷体" panose="02010600040101010101" pitchFamily="2" charset="-122"/>
              </a:rPr>
              <a:t>C</a:t>
            </a:r>
            <a:r>
              <a:rPr lang="zh-CN" altLang="en-US" sz="1500" dirty="0">
                <a:latin typeface="Times New Roman" panose="02020603050405020304" pitchFamily="18" charset="0"/>
                <a:ea typeface="华文楷体" panose="02010600040101010101" pitchFamily="2" charset="-122"/>
              </a:rPr>
              <a:t>表示横向边。</a:t>
            </a:r>
            <a:endParaRPr lang="en-US" altLang="zh-CN" sz="1500" dirty="0">
              <a:latin typeface="Times New Roman" panose="02020603050405020304" pitchFamily="18" charset="0"/>
              <a:ea typeface="华文楷体" panose="02010600040101010101" pitchFamily="2" charset="-122"/>
            </a:endParaRPr>
          </a:p>
          <a:p>
            <a:r>
              <a:rPr lang="zh-CN" altLang="en-US" sz="1500" dirty="0">
                <a:latin typeface="Times New Roman" panose="02020603050405020304" pitchFamily="18" charset="0"/>
                <a:ea typeface="华文楷体" panose="02010600040101010101" pitchFamily="2" charset="-122"/>
              </a:rPr>
              <a:t>说明</a:t>
            </a:r>
            <a:r>
              <a:rPr lang="en-US" altLang="zh-CN" sz="1500" dirty="0">
                <a:latin typeface="Times New Roman" panose="02020603050405020304" pitchFamily="18" charset="0"/>
                <a:ea typeface="华文楷体" panose="02010600040101010101" pitchFamily="2" charset="-122"/>
              </a:rPr>
              <a:t>2</a:t>
            </a:r>
            <a:r>
              <a:rPr lang="zh-CN" altLang="en-US" sz="1500" dirty="0">
                <a:latin typeface="Times New Roman" panose="02020603050405020304" pitchFamily="18" charset="0"/>
                <a:ea typeface="华文楷体" panose="02010600040101010101" pitchFamily="2" charset="-122"/>
              </a:rPr>
              <a:t>：随着</a:t>
            </a:r>
            <a:r>
              <a:rPr lang="en-US" altLang="zh-CN" sz="1500" dirty="0">
                <a:latin typeface="Times New Roman" panose="02020603050405020304" pitchFamily="18" charset="0"/>
                <a:ea typeface="华文楷体" panose="02010600040101010101" pitchFamily="2" charset="-122"/>
              </a:rPr>
              <a:t>DFS</a:t>
            </a:r>
            <a:r>
              <a:rPr lang="zh-CN" altLang="en-US" sz="1500" dirty="0">
                <a:latin typeface="Times New Roman" panose="02020603050405020304" pitchFamily="18" charset="0"/>
                <a:ea typeface="华文楷体" panose="02010600040101010101" pitchFamily="2" charset="-122"/>
              </a:rPr>
              <a:t>的运行，动态地为顶点染色，并标注了时间戳，</a:t>
            </a:r>
            <a:r>
              <a:rPr lang="zh-CN" altLang="en-US" sz="1500" dirty="0" smtClean="0">
                <a:latin typeface="Times New Roman" panose="02020603050405020304" pitchFamily="18" charset="0"/>
                <a:ea typeface="华文楷体" panose="02010600040101010101" pitchFamily="2" charset="-122"/>
              </a:rPr>
              <a:t>格式：</a:t>
            </a:r>
            <a:r>
              <a:rPr lang="en-US" altLang="zh-CN" sz="1500" dirty="0" smtClean="0">
                <a:solidFill>
                  <a:srgbClr val="FF0000"/>
                </a:solidFill>
                <a:latin typeface="Times New Roman" panose="02020603050405020304" pitchFamily="18" charset="0"/>
                <a:ea typeface="华文楷体" panose="02010600040101010101" pitchFamily="2" charset="-122"/>
              </a:rPr>
              <a:t>b[v]/f[v]</a:t>
            </a:r>
            <a:r>
              <a:rPr lang="en-US" altLang="zh-CN" sz="1500" dirty="0" smtClean="0">
                <a:latin typeface="Times New Roman" panose="02020603050405020304" pitchFamily="18" charset="0"/>
                <a:ea typeface="华文楷体" panose="02010600040101010101" pitchFamily="2" charset="-122"/>
              </a:rPr>
              <a:t>-</a:t>
            </a:r>
            <a:r>
              <a:rPr lang="zh-CN" altLang="en-US" sz="1500" dirty="0" smtClean="0">
                <a:latin typeface="Times New Roman" panose="02020603050405020304" pitchFamily="18" charset="0"/>
                <a:ea typeface="华文楷体" panose="02010600040101010101" pitchFamily="2" charset="-122"/>
              </a:rPr>
              <a:t>开始时间</a:t>
            </a:r>
            <a:r>
              <a:rPr lang="en-US" altLang="zh-CN" sz="1500" dirty="0" smtClean="0">
                <a:latin typeface="Times New Roman" panose="02020603050405020304" pitchFamily="18" charset="0"/>
                <a:ea typeface="华文楷体" panose="02010600040101010101" pitchFamily="2" charset="-122"/>
              </a:rPr>
              <a:t>/</a:t>
            </a:r>
            <a:r>
              <a:rPr lang="zh-CN" altLang="en-US" sz="1500" dirty="0" smtClean="0">
                <a:latin typeface="Times New Roman" panose="02020603050405020304" pitchFamily="18" charset="0"/>
                <a:ea typeface="华文楷体" panose="02010600040101010101" pitchFamily="2" charset="-122"/>
              </a:rPr>
              <a:t>结束时间。</a:t>
            </a:r>
            <a:endParaRPr lang="zh-CN" altLang="en-US" sz="1500" dirty="0">
              <a:latin typeface="Times New Roman" panose="02020603050405020304" pitchFamily="18" charset="0"/>
              <a:ea typeface="华文楷体" panose="02010600040101010101" pitchFamily="2" charset="-122"/>
            </a:endParaRPr>
          </a:p>
        </p:txBody>
      </p:sp>
      <p:pic>
        <p:nvPicPr>
          <p:cNvPr id="9" name="图片 8"/>
          <p:cNvPicPr>
            <a:picLocks noChangeAspect="1"/>
          </p:cNvPicPr>
          <p:nvPr/>
        </p:nvPicPr>
        <p:blipFill>
          <a:blip r:embed="rId1"/>
          <a:stretch>
            <a:fillRect/>
          </a:stretch>
        </p:blipFill>
        <p:spPr>
          <a:xfrm>
            <a:off x="228600" y="2133600"/>
            <a:ext cx="1989403" cy="1828800"/>
          </a:xfrm>
          <a:prstGeom prst="rect">
            <a:avLst/>
          </a:prstGeom>
        </p:spPr>
      </p:pic>
      <p:pic>
        <p:nvPicPr>
          <p:cNvPr id="10" name="图片 9"/>
          <p:cNvPicPr>
            <a:picLocks noChangeAspect="1"/>
          </p:cNvPicPr>
          <p:nvPr/>
        </p:nvPicPr>
        <p:blipFill>
          <a:blip r:embed="rId2"/>
          <a:stretch>
            <a:fillRect/>
          </a:stretch>
        </p:blipFill>
        <p:spPr>
          <a:xfrm>
            <a:off x="2464966" y="2193509"/>
            <a:ext cx="1994584" cy="1833563"/>
          </a:xfrm>
          <a:prstGeom prst="rect">
            <a:avLst/>
          </a:prstGeom>
        </p:spPr>
      </p:pic>
      <p:pic>
        <p:nvPicPr>
          <p:cNvPr id="11" name="图片 10"/>
          <p:cNvPicPr>
            <a:picLocks noChangeAspect="1"/>
          </p:cNvPicPr>
          <p:nvPr/>
        </p:nvPicPr>
        <p:blipFill>
          <a:blip r:embed="rId3"/>
          <a:stretch>
            <a:fillRect/>
          </a:stretch>
        </p:blipFill>
        <p:spPr>
          <a:xfrm>
            <a:off x="4724400" y="2069913"/>
            <a:ext cx="2133600" cy="1961356"/>
          </a:xfrm>
          <a:prstGeom prst="rect">
            <a:avLst/>
          </a:prstGeom>
        </p:spPr>
      </p:pic>
      <p:pic>
        <p:nvPicPr>
          <p:cNvPr id="12" name="图片 11"/>
          <p:cNvPicPr>
            <a:picLocks noChangeAspect="1"/>
          </p:cNvPicPr>
          <p:nvPr/>
        </p:nvPicPr>
        <p:blipFill>
          <a:blip r:embed="rId4"/>
          <a:stretch>
            <a:fillRect/>
          </a:stretch>
        </p:blipFill>
        <p:spPr>
          <a:xfrm>
            <a:off x="7010400" y="2097088"/>
            <a:ext cx="2029121" cy="1865312"/>
          </a:xfrm>
          <a:prstGeom prst="rect">
            <a:avLst/>
          </a:prstGeom>
        </p:spPr>
      </p:pic>
      <p:cxnSp>
        <p:nvCxnSpPr>
          <p:cNvPr id="14" name="直接连接符 13"/>
          <p:cNvCxnSpPr/>
          <p:nvPr/>
        </p:nvCxnSpPr>
        <p:spPr>
          <a:xfrm>
            <a:off x="0" y="4114800"/>
            <a:ext cx="9144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362200" y="2143144"/>
            <a:ext cx="0" cy="47148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连接符 16"/>
          <p:cNvCxnSpPr/>
          <p:nvPr/>
        </p:nvCxnSpPr>
        <p:spPr>
          <a:xfrm>
            <a:off x="4648200" y="2143144"/>
            <a:ext cx="0" cy="47148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直接连接符 17"/>
          <p:cNvCxnSpPr/>
          <p:nvPr/>
        </p:nvCxnSpPr>
        <p:spPr>
          <a:xfrm>
            <a:off x="6934200" y="2143144"/>
            <a:ext cx="0" cy="47148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9" name="图片 18"/>
          <p:cNvPicPr>
            <a:picLocks noChangeAspect="1"/>
          </p:cNvPicPr>
          <p:nvPr/>
        </p:nvPicPr>
        <p:blipFill>
          <a:blip r:embed="rId5"/>
          <a:stretch>
            <a:fillRect/>
          </a:stretch>
        </p:blipFill>
        <p:spPr>
          <a:xfrm>
            <a:off x="137776" y="4327931"/>
            <a:ext cx="2105949" cy="1935938"/>
          </a:xfrm>
          <a:prstGeom prst="rect">
            <a:avLst/>
          </a:prstGeom>
        </p:spPr>
      </p:pic>
      <p:pic>
        <p:nvPicPr>
          <p:cNvPr id="21" name="图片 20"/>
          <p:cNvPicPr>
            <a:picLocks noChangeAspect="1"/>
          </p:cNvPicPr>
          <p:nvPr/>
        </p:nvPicPr>
        <p:blipFill>
          <a:blip r:embed="rId6"/>
          <a:stretch>
            <a:fillRect/>
          </a:stretch>
        </p:blipFill>
        <p:spPr>
          <a:xfrm>
            <a:off x="2469254" y="4413269"/>
            <a:ext cx="2098218" cy="1913878"/>
          </a:xfrm>
          <a:prstGeom prst="rect">
            <a:avLst/>
          </a:prstGeom>
        </p:spPr>
      </p:pic>
      <p:pic>
        <p:nvPicPr>
          <p:cNvPr id="22" name="图片 21"/>
          <p:cNvPicPr>
            <a:picLocks noChangeAspect="1"/>
          </p:cNvPicPr>
          <p:nvPr/>
        </p:nvPicPr>
        <p:blipFill>
          <a:blip r:embed="rId7"/>
          <a:stretch>
            <a:fillRect/>
          </a:stretch>
        </p:blipFill>
        <p:spPr>
          <a:xfrm>
            <a:off x="4726619" y="4460017"/>
            <a:ext cx="2084356" cy="1901234"/>
          </a:xfrm>
          <a:prstGeom prst="rect">
            <a:avLst/>
          </a:prstGeom>
        </p:spPr>
      </p:pic>
      <p:pic>
        <p:nvPicPr>
          <p:cNvPr id="23" name="图片 22"/>
          <p:cNvPicPr>
            <a:picLocks noChangeAspect="1"/>
          </p:cNvPicPr>
          <p:nvPr/>
        </p:nvPicPr>
        <p:blipFill>
          <a:blip r:embed="rId8"/>
          <a:stretch>
            <a:fillRect/>
          </a:stretch>
        </p:blipFill>
        <p:spPr>
          <a:xfrm>
            <a:off x="7045171" y="4409775"/>
            <a:ext cx="2032675" cy="185409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cxnSp>
        <p:nvCxnSpPr>
          <p:cNvPr id="7" name="直接连接符 6"/>
          <p:cNvCxnSpPr/>
          <p:nvPr/>
        </p:nvCxnSpPr>
        <p:spPr>
          <a:xfrm>
            <a:off x="14288" y="3810000"/>
            <a:ext cx="91297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72000" y="1066800"/>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1" name="图片 10"/>
          <p:cNvPicPr>
            <a:picLocks noChangeAspect="1"/>
          </p:cNvPicPr>
          <p:nvPr/>
        </p:nvPicPr>
        <p:blipFill>
          <a:blip r:embed="rId1"/>
          <a:stretch>
            <a:fillRect/>
          </a:stretch>
        </p:blipFill>
        <p:spPr>
          <a:xfrm>
            <a:off x="13317" y="1361280"/>
            <a:ext cx="2196483" cy="1948137"/>
          </a:xfrm>
          <a:prstGeom prst="rect">
            <a:avLst/>
          </a:prstGeom>
        </p:spPr>
      </p:pic>
      <p:cxnSp>
        <p:nvCxnSpPr>
          <p:cNvPr id="12" name="直接连接符 11"/>
          <p:cNvCxnSpPr/>
          <p:nvPr/>
        </p:nvCxnSpPr>
        <p:spPr>
          <a:xfrm>
            <a:off x="2286000" y="1066800"/>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4" name="图片 13"/>
          <p:cNvPicPr>
            <a:picLocks noChangeAspect="1"/>
          </p:cNvPicPr>
          <p:nvPr/>
        </p:nvPicPr>
        <p:blipFill>
          <a:blip r:embed="rId2"/>
          <a:stretch>
            <a:fillRect/>
          </a:stretch>
        </p:blipFill>
        <p:spPr>
          <a:xfrm>
            <a:off x="2362201" y="1396051"/>
            <a:ext cx="2124075" cy="1883916"/>
          </a:xfrm>
          <a:prstGeom prst="rect">
            <a:avLst/>
          </a:prstGeom>
        </p:spPr>
      </p:pic>
      <p:pic>
        <p:nvPicPr>
          <p:cNvPr id="15" name="图片 14"/>
          <p:cNvPicPr>
            <a:picLocks noChangeAspect="1"/>
          </p:cNvPicPr>
          <p:nvPr/>
        </p:nvPicPr>
        <p:blipFill>
          <a:blip r:embed="rId3"/>
          <a:stretch>
            <a:fillRect/>
          </a:stretch>
        </p:blipFill>
        <p:spPr>
          <a:xfrm>
            <a:off x="4691602" y="1463996"/>
            <a:ext cx="2080673" cy="1845421"/>
          </a:xfrm>
          <a:prstGeom prst="rect">
            <a:avLst/>
          </a:prstGeom>
        </p:spPr>
      </p:pic>
      <p:cxnSp>
        <p:nvCxnSpPr>
          <p:cNvPr id="16" name="直接连接符 15"/>
          <p:cNvCxnSpPr/>
          <p:nvPr/>
        </p:nvCxnSpPr>
        <p:spPr>
          <a:xfrm>
            <a:off x="6934200" y="1066800"/>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9" name="图片 18"/>
          <p:cNvPicPr>
            <a:picLocks noChangeAspect="1"/>
          </p:cNvPicPr>
          <p:nvPr/>
        </p:nvPicPr>
        <p:blipFill>
          <a:blip r:embed="rId4"/>
          <a:stretch>
            <a:fillRect/>
          </a:stretch>
        </p:blipFill>
        <p:spPr>
          <a:xfrm>
            <a:off x="7001610" y="1533193"/>
            <a:ext cx="2047876" cy="1816332"/>
          </a:xfrm>
          <a:prstGeom prst="rect">
            <a:avLst/>
          </a:prstGeom>
        </p:spPr>
      </p:pic>
      <p:pic>
        <p:nvPicPr>
          <p:cNvPr id="20" name="图片 19"/>
          <p:cNvPicPr>
            <a:picLocks noChangeAspect="1"/>
          </p:cNvPicPr>
          <p:nvPr/>
        </p:nvPicPr>
        <p:blipFill>
          <a:blip r:embed="rId5"/>
          <a:stretch>
            <a:fillRect/>
          </a:stretch>
        </p:blipFill>
        <p:spPr>
          <a:xfrm>
            <a:off x="0" y="4038600"/>
            <a:ext cx="2153082" cy="1909643"/>
          </a:xfrm>
          <a:prstGeom prst="rect">
            <a:avLst/>
          </a:prstGeom>
        </p:spPr>
      </p:pic>
      <p:pic>
        <p:nvPicPr>
          <p:cNvPr id="21" name="图片 20"/>
          <p:cNvPicPr>
            <a:picLocks noChangeAspect="1"/>
          </p:cNvPicPr>
          <p:nvPr/>
        </p:nvPicPr>
        <p:blipFill>
          <a:blip r:embed="rId6"/>
          <a:stretch>
            <a:fillRect/>
          </a:stretch>
        </p:blipFill>
        <p:spPr>
          <a:xfrm>
            <a:off x="2286000" y="4141637"/>
            <a:ext cx="2295066" cy="1828800"/>
          </a:xfrm>
          <a:prstGeom prst="rect">
            <a:avLst/>
          </a:prstGeom>
        </p:spPr>
      </p:pic>
      <p:pic>
        <p:nvPicPr>
          <p:cNvPr id="23" name="图片 22"/>
          <p:cNvPicPr>
            <a:picLocks noChangeAspect="1"/>
          </p:cNvPicPr>
          <p:nvPr/>
        </p:nvPicPr>
        <p:blipFill>
          <a:blip r:embed="rId7"/>
          <a:stretch>
            <a:fillRect/>
          </a:stretch>
        </p:blipFill>
        <p:spPr>
          <a:xfrm>
            <a:off x="4590494" y="4157913"/>
            <a:ext cx="2295066" cy="1828800"/>
          </a:xfrm>
          <a:prstGeom prst="rect">
            <a:avLst/>
          </a:prstGeom>
        </p:spPr>
      </p:pic>
      <p:pic>
        <p:nvPicPr>
          <p:cNvPr id="24" name="图片 23"/>
          <p:cNvPicPr>
            <a:picLocks noChangeAspect="1"/>
          </p:cNvPicPr>
          <p:nvPr/>
        </p:nvPicPr>
        <p:blipFill>
          <a:blip r:embed="rId8"/>
          <a:stretch>
            <a:fillRect/>
          </a:stretch>
        </p:blipFill>
        <p:spPr>
          <a:xfrm>
            <a:off x="7018861" y="4235875"/>
            <a:ext cx="2030625" cy="1618083"/>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152525"/>
                <a:ext cx="8229600" cy="2428875"/>
              </a:xfrm>
              <a:ln>
                <a:solidFill>
                  <a:schemeClr val="accent1"/>
                </a:solidFill>
              </a:ln>
            </p:spPr>
            <p:txBody>
              <a:bodyPr/>
              <a:lstStyle/>
              <a:p>
                <a:pPr marL="0" indent="0">
                  <a:buNone/>
                </a:pPr>
                <a:r>
                  <a:rPr lang="en-US" altLang="zh-CN" sz="1600" b="1" dirty="0">
                    <a:solidFill>
                      <a:srgbClr val="FF0000"/>
                    </a:solidFill>
                    <a:ea typeface="华文楷体" panose="02010600040101010101" pitchFamily="2" charset="-122"/>
                  </a:rPr>
                  <a:t>[</a:t>
                </a:r>
                <a:r>
                  <a:rPr lang="zh-CN" altLang="en-US" sz="1600" b="1" dirty="0">
                    <a:solidFill>
                      <a:srgbClr val="FF0000"/>
                    </a:solidFill>
                    <a:ea typeface="华文楷体" panose="02010600040101010101" pitchFamily="2" charset="-122"/>
                  </a:rPr>
                  <a:t>深度优先搜索的性质</a:t>
                </a:r>
                <a:r>
                  <a:rPr lang="en-US" altLang="zh-CN" sz="1600" b="1" dirty="0">
                    <a:solidFill>
                      <a:srgbClr val="FF0000"/>
                    </a:solidFill>
                    <a:ea typeface="华文楷体" panose="02010600040101010101" pitchFamily="2" charset="-122"/>
                  </a:rPr>
                  <a:t>]</a:t>
                </a:r>
                <a:endParaRPr lang="en-US" altLang="zh-CN" sz="1600" b="1" dirty="0">
                  <a:solidFill>
                    <a:srgbClr val="FF0000"/>
                  </a:solidFill>
                  <a:ea typeface="华文楷体" panose="02010600040101010101" pitchFamily="2" charset="-122"/>
                </a:endParaRPr>
              </a:p>
              <a:p>
                <a:pPr marL="0" indent="0">
                  <a:buNone/>
                </a:pPr>
                <a:r>
                  <a:rPr lang="zh-CN" altLang="en-US" sz="1600" b="1" dirty="0">
                    <a:solidFill>
                      <a:srgbClr val="C00000"/>
                    </a:solidFill>
                    <a:ea typeface="华文楷体" panose="02010600040101010101" pitchFamily="2" charset="-122"/>
                  </a:rPr>
                  <a:t>定义</a:t>
                </a:r>
                <a:r>
                  <a:rPr lang="en-US" altLang="zh-CN" sz="1600" b="1" dirty="0">
                    <a:solidFill>
                      <a:srgbClr val="C00000"/>
                    </a:solidFill>
                    <a:ea typeface="华文楷体" panose="02010600040101010101" pitchFamily="2" charset="-122"/>
                  </a:rPr>
                  <a:t>1</a:t>
                </a:r>
                <a:r>
                  <a:rPr lang="zh-CN" altLang="en-US" sz="1600" dirty="0">
                    <a:ea typeface="华文楷体" panose="02010600040101010101" pitchFamily="2" charset="-122"/>
                  </a:rPr>
                  <a:t>：对于图</a:t>
                </a:r>
                <a:r>
                  <a:rPr lang="en-US" altLang="zh-CN" sz="1600" dirty="0">
                    <a:ea typeface="华文楷体" panose="02010600040101010101" pitchFamily="2" charset="-122"/>
                  </a:rPr>
                  <a:t>G</a:t>
                </a:r>
                <a:r>
                  <a:rPr lang="zh-CN" altLang="en-US" sz="1600" dirty="0">
                    <a:ea typeface="华文楷体" panose="02010600040101010101" pitchFamily="2" charset="-122"/>
                  </a:rPr>
                  <a:t>和源顶点</a:t>
                </a:r>
                <a:r>
                  <a:rPr lang="en-US" altLang="zh-CN" sz="1600" dirty="0">
                    <a:ea typeface="华文楷体" panose="02010600040101010101" pitchFamily="2" charset="-122"/>
                  </a:rPr>
                  <a:t>s</a:t>
                </a:r>
                <a:r>
                  <a:rPr lang="zh-CN" altLang="en-US" sz="1600" dirty="0" smtClean="0">
                    <a:ea typeface="华文楷体" panose="02010600040101010101" pitchFamily="2" charset="-122"/>
                  </a:rPr>
                  <a:t>，</a:t>
                </a:r>
                <a:r>
                  <a:rPr lang="zh-CN" altLang="en-US" sz="1600" b="1" dirty="0" smtClean="0">
                    <a:solidFill>
                      <a:srgbClr val="C00000"/>
                    </a:solidFill>
                    <a:ea typeface="华文楷体" panose="02010600040101010101" pitchFamily="2" charset="-122"/>
                  </a:rPr>
                  <a:t>深度优先搜索</a:t>
                </a:r>
                <a:r>
                  <a:rPr lang="zh-CN" altLang="en-US" sz="1600" b="1" dirty="0">
                    <a:solidFill>
                      <a:srgbClr val="C00000"/>
                    </a:solidFill>
                    <a:ea typeface="华文楷体" panose="02010600040101010101" pitchFamily="2" charset="-122"/>
                  </a:rPr>
                  <a:t>的前驱子图</a:t>
                </a:r>
                <a:r>
                  <a:rPr lang="zh-CN" altLang="en-US" sz="1600" dirty="0">
                    <a:ea typeface="华文楷体" panose="02010600040101010101" pitchFamily="2" charset="-122"/>
                  </a:rPr>
                  <a:t>是</a:t>
                </a:r>
                <a:r>
                  <a:rPr lang="en-US" altLang="zh-CN" sz="1600" dirty="0" err="1">
                    <a:ea typeface="华文楷体" panose="02010600040101010101" pitchFamily="2" charset="-122"/>
                  </a:rPr>
                  <a:t>G</a:t>
                </a:r>
                <a:r>
                  <a:rPr lang="en-US" altLang="zh-CN" sz="1600" baseline="-25000" dirty="0" err="1">
                    <a:ea typeface="华文楷体" panose="02010600040101010101" pitchFamily="2" charset="-122"/>
                  </a:rPr>
                  <a:t>p</a:t>
                </a:r>
                <a:r>
                  <a:rPr lang="en-US" altLang="zh-CN" sz="1600" dirty="0">
                    <a:ea typeface="华文楷体" panose="02010600040101010101" pitchFamily="2" charset="-122"/>
                  </a:rPr>
                  <a:t>=(</a:t>
                </a:r>
                <a:r>
                  <a:rPr lang="en-US" altLang="zh-CN" sz="1600" dirty="0" err="1">
                    <a:ea typeface="华文楷体" panose="02010600040101010101" pitchFamily="2" charset="-122"/>
                  </a:rPr>
                  <a:t>V</a:t>
                </a:r>
                <a:r>
                  <a:rPr lang="en-US" altLang="zh-CN" sz="1600" baseline="-25000" dirty="0" err="1">
                    <a:ea typeface="华文楷体" panose="02010600040101010101" pitchFamily="2" charset="-122"/>
                  </a:rPr>
                  <a:t>p</a:t>
                </a:r>
                <a:r>
                  <a:rPr lang="en-US" altLang="zh-CN" sz="1600" dirty="0" err="1">
                    <a:ea typeface="华文楷体" panose="02010600040101010101" pitchFamily="2" charset="-122"/>
                  </a:rPr>
                  <a:t>,E</a:t>
                </a:r>
                <a:r>
                  <a:rPr lang="en-US" altLang="zh-CN" sz="1600" baseline="-25000" dirty="0" err="1">
                    <a:ea typeface="华文楷体" panose="02010600040101010101" pitchFamily="2" charset="-122"/>
                  </a:rPr>
                  <a:t>p</a:t>
                </a:r>
                <a:r>
                  <a:rPr lang="en-US" altLang="zh-CN" sz="1600" dirty="0">
                    <a:ea typeface="华文楷体" panose="02010600040101010101" pitchFamily="2" charset="-122"/>
                  </a:rPr>
                  <a:t>)</a:t>
                </a:r>
                <a:r>
                  <a:rPr lang="zh-CN" altLang="en-US" sz="1600" dirty="0">
                    <a:ea typeface="华文楷体" panose="02010600040101010101" pitchFamily="2" charset="-122"/>
                  </a:rPr>
                  <a:t>，其中</a:t>
                </a:r>
                <a:r>
                  <a:rPr lang="en-US" altLang="zh-CN" sz="1600" dirty="0" err="1">
                    <a:ea typeface="华文楷体" panose="02010600040101010101" pitchFamily="2" charset="-122"/>
                  </a:rPr>
                  <a:t>V</a:t>
                </a:r>
                <a:r>
                  <a:rPr lang="en-US" altLang="zh-CN" sz="1600" baseline="-25000" dirty="0" err="1">
                    <a:ea typeface="华文楷体" panose="02010600040101010101" pitchFamily="2" charset="-122"/>
                  </a:rPr>
                  <a:t>p</a:t>
                </a:r>
                <a:r>
                  <a:rPr lang="en-US" altLang="zh-CN" sz="1600" dirty="0">
                    <a:ea typeface="华文楷体" panose="02010600040101010101" pitchFamily="2" charset="-122"/>
                  </a:rPr>
                  <a:t>=</a:t>
                </a:r>
                <a14:m>
                  <m:oMath xmlns:m="http://schemas.openxmlformats.org/officeDocument/2006/math">
                    <m:d>
                      <m:dPr>
                        <m:begChr m:val="{"/>
                        <m:endChr m:val="}"/>
                        <m:ctrlPr>
                          <a:rPr lang="en-US" altLang="zh-CN" sz="1600" i="1">
                            <a:latin typeface="Cambria Math" panose="02040503050406030204" pitchFamily="18" charset="0"/>
                            <a:ea typeface="华文楷体" panose="02010600040101010101" pitchFamily="2" charset="-122"/>
                          </a:rPr>
                        </m:ctrlPr>
                      </m:dPr>
                      <m:e>
                        <m:r>
                          <a:rPr lang="en-US" altLang="zh-CN" sz="1600" i="1">
                            <a:latin typeface="Cambria Math" panose="02040503050406030204" pitchFamily="18" charset="0"/>
                            <a:ea typeface="华文楷体" panose="02010600040101010101" pitchFamily="2" charset="-122"/>
                          </a:rPr>
                          <m:t>𝑣</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𝑉</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𝑝</m:t>
                        </m:r>
                        <m:d>
                          <m:dPr>
                            <m:begChr m:val="["/>
                            <m:endChr m:val="]"/>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𝑣</m:t>
                            </m:r>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1</m:t>
                        </m:r>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𝑠</m:t>
                    </m:r>
                    <m:r>
                      <a:rPr lang="en-US" altLang="zh-CN" sz="1600" i="1">
                        <a:latin typeface="Cambria Math" panose="02040503050406030204" pitchFamily="18" charset="0"/>
                        <a:ea typeface="Cambria Math" panose="02040503050406030204" pitchFamily="18" charset="0"/>
                      </a:rPr>
                      <m:t>}，</m:t>
                    </m:r>
                    <m:r>
                      <m:rPr>
                        <m:nor/>
                      </m:rPr>
                      <a:rPr lang="en-US" altLang="zh-CN" sz="1600" dirty="0">
                        <a:latin typeface="Cambria Math" panose="02040503050406030204" pitchFamily="18" charset="0"/>
                        <a:ea typeface="华文楷体" panose="02010600040101010101" pitchFamily="2" charset="-122"/>
                      </a:rPr>
                      <m:t>E</m:t>
                    </m:r>
                    <m:r>
                      <m:rPr>
                        <m:nor/>
                      </m:rPr>
                      <a:rPr lang="en-US" altLang="zh-CN" sz="1600" baseline="-25000" dirty="0">
                        <a:latin typeface="Cambria Math" panose="02040503050406030204" pitchFamily="18" charset="0"/>
                        <a:ea typeface="华文楷体" panose="02010600040101010101" pitchFamily="2" charset="-122"/>
                      </a:rPr>
                      <m:t>p</m:t>
                    </m:r>
                  </m:oMath>
                </a14:m>
                <a:r>
                  <a:rPr lang="en-US" altLang="zh-CN" sz="1600" dirty="0">
                    <a:ea typeface="华文楷体" panose="02010600040101010101" pitchFamily="2" charset="-122"/>
                  </a:rPr>
                  <a:t>=</a:t>
                </a:r>
                <a14:m>
                  <m:oMath xmlns:m="http://schemas.openxmlformats.org/officeDocument/2006/math">
                    <m:r>
                      <a:rPr lang="en-US" altLang="zh-CN" sz="1600" i="1" dirty="0">
                        <a:latin typeface="Cambria Math" panose="02040503050406030204" pitchFamily="18" charset="0"/>
                        <a:ea typeface="华文楷体" panose="02010600040101010101" pitchFamily="2" charset="-122"/>
                      </a:rPr>
                      <m:t>{(</m:t>
                    </m:r>
                    <m:r>
                      <a:rPr lang="en-US" altLang="zh-CN" sz="1600" i="1">
                        <a:latin typeface="Cambria Math" panose="02040503050406030204" pitchFamily="18" charset="0"/>
                        <a:ea typeface="Cambria Math" panose="02040503050406030204" pitchFamily="18" charset="0"/>
                      </a:rPr>
                      <m:t>𝑝</m:t>
                    </m:r>
                    <m:d>
                      <m:dPr>
                        <m:begChr m:val="["/>
                        <m:endChr m:val="]"/>
                        <m:ctrlPr>
                          <a:rPr lang="en-US" altLang="zh-CN" sz="1600" i="1">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Cambria Math" panose="02040503050406030204" pitchFamily="18" charset="0"/>
                          </a:rPr>
                          <m:t>𝑣</m:t>
                        </m:r>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𝑣</m:t>
                    </m:r>
                    <m:r>
                      <a:rPr lang="en-US" altLang="zh-CN" sz="1600" i="1" dirty="0">
                        <a:latin typeface="Cambria Math" panose="02040503050406030204" pitchFamily="18" charset="0"/>
                        <a:ea typeface="华文楷体" panose="02010600040101010101" pitchFamily="2" charset="-122"/>
                      </a:rPr>
                      <m:t>):</m:t>
                    </m:r>
                    <m:r>
                      <a:rPr lang="en-US" altLang="zh-CN" sz="1600" i="1" dirty="0">
                        <a:latin typeface="Cambria Math" panose="02040503050406030204" pitchFamily="18" charset="0"/>
                        <a:ea typeface="华文楷体" panose="02010600040101010101" pitchFamily="2" charset="-122"/>
                      </a:rPr>
                      <m:t>𝑣</m:t>
                    </m:r>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𝑉</m:t>
                        </m:r>
                      </m:e>
                      <m:sub>
                        <m:r>
                          <a:rPr lang="en-US" altLang="zh-CN" sz="1600" i="1" dirty="0">
                            <a:latin typeface="Cambria Math" panose="02040503050406030204" pitchFamily="18" charset="0"/>
                            <a:ea typeface="Cambria Math" panose="02040503050406030204" pitchFamily="18" charset="0"/>
                          </a:rPr>
                          <m:t>𝑝</m:t>
                        </m:r>
                      </m:sub>
                    </m:sSub>
                  </m:oMath>
                </a14:m>
                <a:r>
                  <a:rPr lang="en-US" altLang="zh-CN" sz="1600" dirty="0">
                    <a:ea typeface="华文楷体" panose="02010600040101010101" pitchFamily="2" charset="-122"/>
                  </a:rPr>
                  <a:t>-{s</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zh-CN" altLang="en-US" sz="1600" b="1" dirty="0" smtClean="0">
                    <a:solidFill>
                      <a:srgbClr val="C00000"/>
                    </a:solidFill>
                    <a:ea typeface="华文楷体" panose="02010600040101010101" pitchFamily="2" charset="-122"/>
                  </a:rPr>
                  <a:t>性质</a:t>
                </a:r>
                <a:r>
                  <a:rPr lang="en-US" altLang="zh-CN" sz="1600" b="1" dirty="0" smtClean="0">
                    <a:solidFill>
                      <a:srgbClr val="C00000"/>
                    </a:solidFill>
                    <a:ea typeface="华文楷体" panose="02010600040101010101" pitchFamily="2" charset="-122"/>
                  </a:rPr>
                  <a:t>1</a:t>
                </a:r>
                <a:r>
                  <a:rPr lang="zh-CN" altLang="en-US" sz="1600" dirty="0" smtClean="0">
                    <a:ea typeface="华文楷体" panose="02010600040101010101" pitchFamily="2" charset="-122"/>
                  </a:rPr>
                  <a:t>：</a:t>
                </a:r>
                <a:r>
                  <a:rPr lang="zh-CN" altLang="en-US" sz="1600" dirty="0">
                    <a:ea typeface="华文楷体" panose="02010600040101010101" pitchFamily="2" charset="-122"/>
                  </a:rPr>
                  <a:t>图</a:t>
                </a:r>
                <a:r>
                  <a:rPr lang="en-US" altLang="zh-CN" sz="1600" dirty="0" smtClean="0">
                    <a:ea typeface="华文楷体" panose="02010600040101010101" pitchFamily="2" charset="-122"/>
                  </a:rPr>
                  <a:t>G</a:t>
                </a:r>
                <a:r>
                  <a:rPr lang="zh-CN" altLang="en-US" sz="1600" dirty="0" smtClean="0">
                    <a:ea typeface="华文楷体" panose="02010600040101010101" pitchFamily="2" charset="-122"/>
                  </a:rPr>
                  <a:t>的深度优先前驱子图，形成了一个由</a:t>
                </a:r>
                <a:r>
                  <a:rPr lang="en-US" altLang="zh-CN" sz="1600" dirty="0" smtClean="0">
                    <a:ea typeface="华文楷体" panose="02010600040101010101" pitchFamily="2" charset="-122"/>
                  </a:rPr>
                  <a:t>1</a:t>
                </a:r>
                <a:r>
                  <a:rPr lang="zh-CN" altLang="en-US" sz="1600" dirty="0" smtClean="0">
                    <a:ea typeface="华文楷体" panose="02010600040101010101" pitchFamily="2" charset="-122"/>
                  </a:rPr>
                  <a:t>棵或多颗树组成的森林。当且仅当</a:t>
                </a:r>
                <a:r>
                  <a:rPr lang="en-US" altLang="zh-CN" sz="1600" dirty="0" smtClean="0">
                    <a:ea typeface="华文楷体" panose="02010600040101010101" pitchFamily="2" charset="-122"/>
                  </a:rPr>
                  <a:t>DFS(</a:t>
                </a:r>
                <a:r>
                  <a:rPr lang="en-US" altLang="zh-CN" sz="1600" dirty="0" err="1" smtClean="0">
                    <a:ea typeface="华文楷体" panose="02010600040101010101" pitchFamily="2" charset="-122"/>
                  </a:rPr>
                  <a:t>G,v</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在算法对顶点</a:t>
                </a:r>
                <a:r>
                  <a:rPr lang="en-US" altLang="zh-CN" sz="1600" dirty="0" smtClean="0">
                    <a:ea typeface="华文楷体" panose="02010600040101010101" pitchFamily="2" charset="-122"/>
                  </a:rPr>
                  <a:t>u</a:t>
                </a:r>
                <a:r>
                  <a:rPr lang="zh-CN" altLang="en-US" sz="1600" dirty="0" smtClean="0">
                    <a:ea typeface="华文楷体" panose="02010600040101010101" pitchFamily="2" charset="-122"/>
                  </a:rPr>
                  <a:t>的邻接表</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矩阵搜索时被调用，</a:t>
                </a:r>
                <a:r>
                  <a:rPr lang="en-US" altLang="zh-CN" sz="1600" dirty="0">
                    <a:ea typeface="华文楷体" panose="02010600040101010101" pitchFamily="2" charset="-122"/>
                  </a:rPr>
                  <a:t> </a:t>
                </a:r>
                <a:r>
                  <a:rPr lang="en-US" altLang="zh-CN" sz="1600" dirty="0" smtClean="0">
                    <a:ea typeface="华文楷体" panose="02010600040101010101" pitchFamily="2" charset="-122"/>
                  </a:rPr>
                  <a:t>u=p (v) </a:t>
                </a:r>
                <a:r>
                  <a:rPr lang="zh-CN" altLang="en-US" sz="1600" dirty="0" smtClean="0">
                    <a:ea typeface="华文楷体" panose="02010600040101010101" pitchFamily="2" charset="-122"/>
                  </a:rPr>
                  <a:t>。此外，当且仅当顶点</a:t>
                </a:r>
                <a:r>
                  <a:rPr lang="en-US" altLang="zh-CN" sz="1600" dirty="0" smtClean="0">
                    <a:ea typeface="华文楷体" panose="02010600040101010101" pitchFamily="2" charset="-122"/>
                  </a:rPr>
                  <a:t>v</a:t>
                </a:r>
                <a:r>
                  <a:rPr lang="zh-CN" altLang="en-US" sz="1600" dirty="0" smtClean="0">
                    <a:ea typeface="华文楷体" panose="02010600040101010101" pitchFamily="2" charset="-122"/>
                  </a:rPr>
                  <a:t>在顶点</a:t>
                </a:r>
                <a:r>
                  <a:rPr lang="en-US" altLang="zh-CN" sz="1600" dirty="0" smtClean="0">
                    <a:ea typeface="华文楷体" panose="02010600040101010101" pitchFamily="2" charset="-122"/>
                  </a:rPr>
                  <a:t>u</a:t>
                </a:r>
                <a:r>
                  <a:rPr lang="zh-CN" altLang="en-US" sz="1600" dirty="0" smtClean="0">
                    <a:ea typeface="华文楷体" panose="02010600040101010101" pitchFamily="2" charset="-122"/>
                  </a:rPr>
                  <a:t>是灰色时段被发现，顶点</a:t>
                </a:r>
                <a:r>
                  <a:rPr lang="en-US" altLang="zh-CN" sz="1600" dirty="0" smtClean="0">
                    <a:ea typeface="华文楷体" panose="02010600040101010101" pitchFamily="2" charset="-122"/>
                  </a:rPr>
                  <a:t>v</a:t>
                </a:r>
                <a:r>
                  <a:rPr lang="zh-CN" altLang="en-US" sz="1600" dirty="0" smtClean="0">
                    <a:ea typeface="华文楷体" panose="02010600040101010101" pitchFamily="2" charset="-122"/>
                  </a:rPr>
                  <a:t>是深度优先森林中顶点</a:t>
                </a:r>
                <a:r>
                  <a:rPr lang="en-US" altLang="zh-CN" sz="1600" dirty="0" smtClean="0">
                    <a:ea typeface="华文楷体" panose="02010600040101010101" pitchFamily="2" charset="-122"/>
                  </a:rPr>
                  <a:t>u</a:t>
                </a:r>
                <a:r>
                  <a:rPr lang="zh-CN" altLang="en-US" sz="1600" dirty="0" smtClean="0">
                    <a:ea typeface="华文楷体" panose="02010600040101010101" pitchFamily="2" charset="-122"/>
                  </a:rPr>
                  <a:t>的后代，</a:t>
                </a:r>
                <a:endParaRPr lang="en-US" altLang="zh-CN" sz="1600" dirty="0">
                  <a:ea typeface="华文楷体" panose="02010600040101010101" pitchFamily="2" charset="-122"/>
                </a:endParaRPr>
              </a:p>
              <a:p>
                <a:pPr marL="0" indent="0">
                  <a:buNone/>
                </a:pPr>
                <a:r>
                  <a:rPr lang="zh-CN" altLang="en-US" sz="1600" b="1" dirty="0">
                    <a:solidFill>
                      <a:srgbClr val="C00000"/>
                    </a:solidFill>
                    <a:ea typeface="华文楷体" panose="02010600040101010101" pitchFamily="2" charset="-122"/>
                  </a:rPr>
                  <a:t>括号化结构</a:t>
                </a:r>
                <a:r>
                  <a:rPr lang="zh-CN" altLang="en-US" sz="1600" dirty="0">
                    <a:ea typeface="华文楷体" panose="02010600040101010101" pitchFamily="2" charset="-122"/>
                  </a:rPr>
                  <a:t>：如果以左括号“</a:t>
                </a:r>
                <a:r>
                  <a:rPr lang="en-US" altLang="zh-CN" sz="1600" dirty="0">
                    <a:ea typeface="华文楷体" panose="02010600040101010101" pitchFamily="2" charset="-122"/>
                  </a:rPr>
                  <a:t>(u</a:t>
                </a:r>
                <a:r>
                  <a:rPr lang="zh-CN" altLang="en-US" sz="1600" dirty="0" smtClean="0">
                    <a:ea typeface="华文楷体" panose="02010600040101010101" pitchFamily="2" charset="-122"/>
                  </a:rPr>
                  <a:t>”表示顶点</a:t>
                </a:r>
                <a:r>
                  <a:rPr lang="en-US" altLang="zh-CN" sz="1600" dirty="0" smtClean="0">
                    <a:ea typeface="华文楷体" panose="02010600040101010101" pitchFamily="2" charset="-122"/>
                  </a:rPr>
                  <a:t>u</a:t>
                </a:r>
                <a:r>
                  <a:rPr lang="zh-CN" altLang="en-US" sz="1600" dirty="0" smtClean="0">
                    <a:ea typeface="华文楷体" panose="02010600040101010101" pitchFamily="2" charset="-122"/>
                  </a:rPr>
                  <a:t>被发现的时间，右</a:t>
                </a:r>
                <a:r>
                  <a:rPr lang="zh-CN" altLang="en-US" sz="1600" dirty="0">
                    <a:ea typeface="华文楷体" panose="02010600040101010101" pitchFamily="2" charset="-122"/>
                  </a:rPr>
                  <a:t>括号“</a:t>
                </a:r>
                <a:r>
                  <a:rPr lang="en-US" altLang="zh-CN" sz="1600" dirty="0">
                    <a:ea typeface="华文楷体" panose="02010600040101010101" pitchFamily="2" charset="-122"/>
                  </a:rPr>
                  <a:t>u)</a:t>
                </a:r>
                <a:r>
                  <a:rPr lang="zh-CN" altLang="en-US" sz="1600" dirty="0" smtClean="0">
                    <a:ea typeface="华文楷体" panose="02010600040101010101" pitchFamily="2" charset="-122"/>
                  </a:rPr>
                  <a:t>”表示顶点</a:t>
                </a:r>
                <a:r>
                  <a:rPr lang="en-US" altLang="zh-CN" sz="1600" dirty="0" smtClean="0">
                    <a:ea typeface="华文楷体" panose="02010600040101010101" pitchFamily="2" charset="-122"/>
                  </a:rPr>
                  <a:t>u</a:t>
                </a:r>
                <a:r>
                  <a:rPr lang="zh-CN" altLang="en-US" sz="1600" dirty="0" smtClean="0">
                    <a:ea typeface="华文楷体" panose="02010600040101010101" pitchFamily="2" charset="-122"/>
                  </a:rPr>
                  <a:t>完成时间。则发现和完成的历史记载形成一个规整的表达式。所谓规整是指：所有括号都适当的嵌套在一起（即括号是匹配的）。</a:t>
                </a:r>
                <a:endParaRPr lang="zh-CN" altLang="en-US" sz="16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152525"/>
                <a:ext cx="8229600" cy="2428875"/>
              </a:xfrm>
              <a:blipFill rotWithShape="1">
                <a:blip r:embed="rId1"/>
                <a:stretch>
                  <a:fillRect l="-62" t="-209" r="-54" b="-183"/>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450542" y="3617893"/>
            <a:ext cx="8236258" cy="1169551"/>
          </a:xfrm>
          <a:prstGeom prst="rect">
            <a:avLst/>
          </a:prstGeom>
          <a:noFill/>
          <a:ln>
            <a:solidFill>
              <a:schemeClr val="accent2"/>
            </a:solidFill>
          </a:ln>
        </p:spPr>
        <p:txBody>
          <a:bodyPr wrap="square" rtlCol="0">
            <a:spAutoFit/>
          </a:bodyPr>
          <a:lstStyle/>
          <a:p>
            <a:r>
              <a:rPr lang="zh-CN" altLang="en-US" sz="1400" b="1" dirty="0" smtClean="0">
                <a:solidFill>
                  <a:srgbClr val="C00000"/>
                </a:solidFill>
                <a:latin typeface="Times New Roman" panose="02020603050405020304" pitchFamily="18" charset="0"/>
                <a:ea typeface="华文楷体" panose="02010600040101010101" pitchFamily="2" charset="-122"/>
              </a:rPr>
              <a:t>示例</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：图 </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(1) </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有向图深度优先搜索的结果，顶点标注了时间戳，边标注了类型：红色树边，前向边</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F</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，后向边</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B</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，横向边</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C</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a:t>
            </a:r>
            <a:endPar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endParaRPr>
          </a:p>
          <a:p>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图</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(2)</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每个顶点发现时间和完成时间对应的括号化结构，每个矩形横跨相应结点的发现和完成时间。</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(2)</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只显示树边，非树边省略。</a:t>
            </a:r>
            <a:endPar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endParaRPr>
          </a:p>
          <a:p>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图</a:t>
            </a:r>
            <a:r>
              <a:rPr lang="en-US" altLang="zh-CN" sz="1400" dirty="0" smtClean="0">
                <a:latin typeface="Times New Roman" panose="02020603050405020304" pitchFamily="18" charset="0"/>
                <a:ea typeface="华文楷体" panose="02010600040101010101" pitchFamily="2" charset="-122"/>
                <a:sym typeface="Wingdings" panose="05000000000000000000" pitchFamily="2" charset="2"/>
              </a:rPr>
              <a:t>(</a:t>
            </a:r>
            <a:r>
              <a:rPr lang="en-US" altLang="zh-CN" sz="1400" dirty="0">
                <a:latin typeface="Times New Roman" panose="02020603050405020304" pitchFamily="18" charset="0"/>
                <a:ea typeface="华文楷体" panose="02010600040101010101" pitchFamily="2" charset="-122"/>
                <a:sym typeface="Wingdings" panose="05000000000000000000" pitchFamily="2" charset="2"/>
              </a:rPr>
              <a:t>3)</a:t>
            </a:r>
            <a:r>
              <a:rPr lang="zh-CN" altLang="en-US" sz="1400" dirty="0">
                <a:latin typeface="Times New Roman" panose="02020603050405020304" pitchFamily="18" charset="0"/>
                <a:ea typeface="华文楷体" panose="02010600040101010101" pitchFamily="2" charset="-122"/>
                <a:sym typeface="Wingdings" panose="05000000000000000000" pitchFamily="2" charset="2"/>
              </a:rPr>
              <a:t>对图</a:t>
            </a:r>
            <a:r>
              <a:rPr lang="en-US" altLang="zh-CN" sz="1400" dirty="0">
                <a:latin typeface="Times New Roman" panose="02020603050405020304" pitchFamily="18" charset="0"/>
                <a:ea typeface="华文楷体" panose="02010600040101010101" pitchFamily="2" charset="-122"/>
                <a:sym typeface="Wingdings" panose="05000000000000000000" pitchFamily="2" charset="2"/>
              </a:rPr>
              <a:t>(1)</a:t>
            </a:r>
            <a:r>
              <a:rPr lang="zh-CN" altLang="en-US" sz="1400" dirty="0">
                <a:latin typeface="Times New Roman" panose="02020603050405020304" pitchFamily="18" charset="0"/>
                <a:ea typeface="华文楷体" panose="02010600040101010101" pitchFamily="2" charset="-122"/>
                <a:sym typeface="Wingdings" panose="05000000000000000000" pitchFamily="2" charset="2"/>
              </a:rPr>
              <a:t>进行重</a:t>
            </a:r>
            <a:r>
              <a:rPr lang="zh-CN" altLang="en-US" sz="1400" dirty="0" smtClean="0">
                <a:latin typeface="Times New Roman" panose="02020603050405020304" pitchFamily="18" charset="0"/>
                <a:ea typeface="华文楷体" panose="02010600040101010101" pitchFamily="2" charset="-122"/>
                <a:sym typeface="Wingdings" panose="05000000000000000000" pitchFamily="2" charset="2"/>
              </a:rPr>
              <a:t>画，红色树边和所有顶点构成了深度优先森林中的两棵树。</a:t>
            </a:r>
            <a:endParaRPr lang="zh-CN" altLang="en-US" sz="1400" dirty="0">
              <a:latin typeface="Times New Roman" panose="02020603050405020304" pitchFamily="18" charset="0"/>
              <a:ea typeface="华文楷体" panose="02010600040101010101" pitchFamily="2" charset="-122"/>
            </a:endParaRPr>
          </a:p>
        </p:txBody>
      </p:sp>
      <p:cxnSp>
        <p:nvCxnSpPr>
          <p:cNvPr id="9" name="直接连接符 8"/>
          <p:cNvCxnSpPr/>
          <p:nvPr/>
        </p:nvCxnSpPr>
        <p:spPr>
          <a:xfrm>
            <a:off x="2819400" y="4787444"/>
            <a:ext cx="0" cy="20705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 name="图片 9"/>
          <p:cNvPicPr>
            <a:picLocks noChangeAspect="1"/>
          </p:cNvPicPr>
          <p:nvPr/>
        </p:nvPicPr>
        <p:blipFill>
          <a:blip r:embed="rId2"/>
          <a:stretch>
            <a:fillRect/>
          </a:stretch>
        </p:blipFill>
        <p:spPr>
          <a:xfrm>
            <a:off x="3165019" y="4776459"/>
            <a:ext cx="2296682" cy="2003122"/>
          </a:xfrm>
          <a:prstGeom prst="rect">
            <a:avLst/>
          </a:prstGeom>
        </p:spPr>
      </p:pic>
      <p:cxnSp>
        <p:nvCxnSpPr>
          <p:cNvPr id="11" name="直接连接符 10"/>
          <p:cNvCxnSpPr/>
          <p:nvPr/>
        </p:nvCxnSpPr>
        <p:spPr>
          <a:xfrm>
            <a:off x="5867400" y="4787444"/>
            <a:ext cx="0" cy="20705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 name="图片 11"/>
          <p:cNvPicPr>
            <a:picLocks noChangeAspect="1"/>
          </p:cNvPicPr>
          <p:nvPr/>
        </p:nvPicPr>
        <p:blipFill>
          <a:blip r:embed="rId3"/>
          <a:stretch>
            <a:fillRect/>
          </a:stretch>
        </p:blipFill>
        <p:spPr>
          <a:xfrm>
            <a:off x="6341547" y="4800600"/>
            <a:ext cx="1947307" cy="2050383"/>
          </a:xfrm>
          <a:prstGeom prst="rect">
            <a:avLst/>
          </a:prstGeom>
        </p:spPr>
      </p:pic>
      <p:grpSp>
        <p:nvGrpSpPr>
          <p:cNvPr id="8" name="Group 4"/>
          <p:cNvGrpSpPr>
            <a:grpSpLocks noChangeAspect="1"/>
          </p:cNvGrpSpPr>
          <p:nvPr/>
        </p:nvGrpSpPr>
        <p:grpSpPr bwMode="auto">
          <a:xfrm>
            <a:off x="198438" y="4800600"/>
            <a:ext cx="2263775" cy="1219200"/>
            <a:chOff x="125" y="3024"/>
            <a:chExt cx="1426" cy="768"/>
          </a:xfrm>
        </p:grpSpPr>
        <p:sp>
          <p:nvSpPr>
            <p:cNvPr id="13" name="AutoShape 3"/>
            <p:cNvSpPr>
              <a:spLocks noChangeAspect="1" noChangeArrowheads="1" noTextEdit="1"/>
            </p:cNvSpPr>
            <p:nvPr/>
          </p:nvSpPr>
          <p:spPr bwMode="auto">
            <a:xfrm>
              <a:off x="125" y="3024"/>
              <a:ext cx="142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 name="Oval 5"/>
            <p:cNvSpPr>
              <a:spLocks noChangeArrowheads="1"/>
            </p:cNvSpPr>
            <p:nvPr/>
          </p:nvSpPr>
          <p:spPr bwMode="auto">
            <a:xfrm>
              <a:off x="129" y="3181"/>
              <a:ext cx="216" cy="158"/>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15" name="Oval 6"/>
            <p:cNvSpPr>
              <a:spLocks noChangeArrowheads="1"/>
            </p:cNvSpPr>
            <p:nvPr/>
          </p:nvSpPr>
          <p:spPr bwMode="auto">
            <a:xfrm>
              <a:off x="129" y="3181"/>
              <a:ext cx="216" cy="158"/>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 name="Rectangle 7"/>
            <p:cNvSpPr>
              <a:spLocks noChangeArrowheads="1"/>
            </p:cNvSpPr>
            <p:nvPr/>
          </p:nvSpPr>
          <p:spPr bwMode="auto">
            <a:xfrm>
              <a:off x="202" y="3226"/>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3</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7" name="Rectangle 8"/>
            <p:cNvSpPr>
              <a:spLocks noChangeArrowheads="1"/>
            </p:cNvSpPr>
            <p:nvPr/>
          </p:nvSpPr>
          <p:spPr bwMode="auto">
            <a:xfrm>
              <a:off x="231" y="3226"/>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8" name="Rectangle 9"/>
            <p:cNvSpPr>
              <a:spLocks noChangeArrowheads="1"/>
            </p:cNvSpPr>
            <p:nvPr/>
          </p:nvSpPr>
          <p:spPr bwMode="auto">
            <a:xfrm>
              <a:off x="245" y="3226"/>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6</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9" name="Oval 10"/>
            <p:cNvSpPr>
              <a:spLocks noChangeArrowheads="1"/>
            </p:cNvSpPr>
            <p:nvPr/>
          </p:nvSpPr>
          <p:spPr bwMode="auto">
            <a:xfrm>
              <a:off x="129" y="3537"/>
              <a:ext cx="216" cy="157"/>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20" name="Oval 11"/>
            <p:cNvSpPr>
              <a:spLocks noChangeArrowheads="1"/>
            </p:cNvSpPr>
            <p:nvPr/>
          </p:nvSpPr>
          <p:spPr bwMode="auto">
            <a:xfrm>
              <a:off x="129" y="3537"/>
              <a:ext cx="216" cy="157"/>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Rectangle 12"/>
            <p:cNvSpPr>
              <a:spLocks noChangeArrowheads="1"/>
            </p:cNvSpPr>
            <p:nvPr/>
          </p:nvSpPr>
          <p:spPr bwMode="auto">
            <a:xfrm>
              <a:off x="202" y="3581"/>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4</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2" name="Rectangle 13"/>
            <p:cNvSpPr>
              <a:spLocks noChangeArrowheads="1"/>
            </p:cNvSpPr>
            <p:nvPr/>
          </p:nvSpPr>
          <p:spPr bwMode="auto">
            <a:xfrm>
              <a:off x="231" y="3581"/>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3" name="Rectangle 14"/>
            <p:cNvSpPr>
              <a:spLocks noChangeArrowheads="1"/>
            </p:cNvSpPr>
            <p:nvPr/>
          </p:nvSpPr>
          <p:spPr bwMode="auto">
            <a:xfrm>
              <a:off x="245" y="3581"/>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5</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4" name="Oval 15"/>
            <p:cNvSpPr>
              <a:spLocks noChangeArrowheads="1"/>
            </p:cNvSpPr>
            <p:nvPr/>
          </p:nvSpPr>
          <p:spPr bwMode="auto">
            <a:xfrm>
              <a:off x="515" y="3181"/>
              <a:ext cx="216" cy="158"/>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25" name="Oval 16"/>
            <p:cNvSpPr>
              <a:spLocks noChangeArrowheads="1"/>
            </p:cNvSpPr>
            <p:nvPr/>
          </p:nvSpPr>
          <p:spPr bwMode="auto">
            <a:xfrm>
              <a:off x="515" y="3181"/>
              <a:ext cx="216" cy="158"/>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6" name="Rectangle 17"/>
            <p:cNvSpPr>
              <a:spLocks noChangeArrowheads="1"/>
            </p:cNvSpPr>
            <p:nvPr/>
          </p:nvSpPr>
          <p:spPr bwMode="auto">
            <a:xfrm>
              <a:off x="589" y="3226"/>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2</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7" name="Rectangle 18"/>
            <p:cNvSpPr>
              <a:spLocks noChangeArrowheads="1"/>
            </p:cNvSpPr>
            <p:nvPr/>
          </p:nvSpPr>
          <p:spPr bwMode="auto">
            <a:xfrm>
              <a:off x="617" y="3226"/>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8" name="Rectangle 19"/>
            <p:cNvSpPr>
              <a:spLocks noChangeArrowheads="1"/>
            </p:cNvSpPr>
            <p:nvPr/>
          </p:nvSpPr>
          <p:spPr bwMode="auto">
            <a:xfrm>
              <a:off x="631" y="3226"/>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9</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9" name="Oval 20"/>
            <p:cNvSpPr>
              <a:spLocks noChangeArrowheads="1"/>
            </p:cNvSpPr>
            <p:nvPr/>
          </p:nvSpPr>
          <p:spPr bwMode="auto">
            <a:xfrm>
              <a:off x="515" y="3537"/>
              <a:ext cx="216" cy="157"/>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30" name="Oval 21"/>
            <p:cNvSpPr>
              <a:spLocks noChangeArrowheads="1"/>
            </p:cNvSpPr>
            <p:nvPr/>
          </p:nvSpPr>
          <p:spPr bwMode="auto">
            <a:xfrm>
              <a:off x="515" y="3537"/>
              <a:ext cx="216" cy="157"/>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Rectangle 22"/>
            <p:cNvSpPr>
              <a:spLocks noChangeArrowheads="1"/>
            </p:cNvSpPr>
            <p:nvPr/>
          </p:nvSpPr>
          <p:spPr bwMode="auto">
            <a:xfrm>
              <a:off x="589" y="3581"/>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7</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2" name="Rectangle 23"/>
            <p:cNvSpPr>
              <a:spLocks noChangeArrowheads="1"/>
            </p:cNvSpPr>
            <p:nvPr/>
          </p:nvSpPr>
          <p:spPr bwMode="auto">
            <a:xfrm>
              <a:off x="617" y="3581"/>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3" name="Rectangle 24"/>
            <p:cNvSpPr>
              <a:spLocks noChangeArrowheads="1"/>
            </p:cNvSpPr>
            <p:nvPr/>
          </p:nvSpPr>
          <p:spPr bwMode="auto">
            <a:xfrm>
              <a:off x="631" y="3581"/>
              <a:ext cx="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8</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4" name="Oval 25"/>
            <p:cNvSpPr>
              <a:spLocks noChangeArrowheads="1"/>
            </p:cNvSpPr>
            <p:nvPr/>
          </p:nvSpPr>
          <p:spPr bwMode="auto">
            <a:xfrm>
              <a:off x="901" y="3181"/>
              <a:ext cx="216" cy="158"/>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35" name="Oval 26"/>
            <p:cNvSpPr>
              <a:spLocks noChangeArrowheads="1"/>
            </p:cNvSpPr>
            <p:nvPr/>
          </p:nvSpPr>
          <p:spPr bwMode="auto">
            <a:xfrm>
              <a:off x="901" y="3181"/>
              <a:ext cx="216" cy="158"/>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6" name="Rectangle 27"/>
            <p:cNvSpPr>
              <a:spLocks noChangeArrowheads="1"/>
            </p:cNvSpPr>
            <p:nvPr/>
          </p:nvSpPr>
          <p:spPr bwMode="auto">
            <a:xfrm>
              <a:off x="960" y="3226"/>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7" name="Rectangle 28"/>
            <p:cNvSpPr>
              <a:spLocks noChangeArrowheads="1"/>
            </p:cNvSpPr>
            <p:nvPr/>
          </p:nvSpPr>
          <p:spPr bwMode="auto">
            <a:xfrm>
              <a:off x="989" y="3226"/>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8" name="Rectangle 29"/>
            <p:cNvSpPr>
              <a:spLocks noChangeArrowheads="1"/>
            </p:cNvSpPr>
            <p:nvPr/>
          </p:nvSpPr>
          <p:spPr bwMode="auto">
            <a:xfrm>
              <a:off x="1003" y="3226"/>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10</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9" name="Oval 30"/>
            <p:cNvSpPr>
              <a:spLocks noChangeArrowheads="1"/>
            </p:cNvSpPr>
            <p:nvPr/>
          </p:nvSpPr>
          <p:spPr bwMode="auto">
            <a:xfrm>
              <a:off x="901" y="3537"/>
              <a:ext cx="216" cy="157"/>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0" name="Oval 31"/>
            <p:cNvSpPr>
              <a:spLocks noChangeArrowheads="1"/>
            </p:cNvSpPr>
            <p:nvPr/>
          </p:nvSpPr>
          <p:spPr bwMode="auto">
            <a:xfrm>
              <a:off x="901" y="3537"/>
              <a:ext cx="216" cy="157"/>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1" name="Rectangle 32"/>
            <p:cNvSpPr>
              <a:spLocks noChangeArrowheads="1"/>
            </p:cNvSpPr>
            <p:nvPr/>
          </p:nvSpPr>
          <p:spPr bwMode="auto">
            <a:xfrm>
              <a:off x="946" y="3581"/>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12</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2" name="Rectangle 33"/>
            <p:cNvSpPr>
              <a:spLocks noChangeArrowheads="1"/>
            </p:cNvSpPr>
            <p:nvPr/>
          </p:nvSpPr>
          <p:spPr bwMode="auto">
            <a:xfrm>
              <a:off x="1003" y="3581"/>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3" name="Rectangle 34"/>
            <p:cNvSpPr>
              <a:spLocks noChangeArrowheads="1"/>
            </p:cNvSpPr>
            <p:nvPr/>
          </p:nvSpPr>
          <p:spPr bwMode="auto">
            <a:xfrm>
              <a:off x="1017" y="3581"/>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13</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4" name="Oval 35"/>
            <p:cNvSpPr>
              <a:spLocks noChangeArrowheads="1"/>
            </p:cNvSpPr>
            <p:nvPr/>
          </p:nvSpPr>
          <p:spPr bwMode="auto">
            <a:xfrm>
              <a:off x="1333" y="3181"/>
              <a:ext cx="216" cy="158"/>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5" name="Oval 36"/>
            <p:cNvSpPr>
              <a:spLocks noChangeArrowheads="1"/>
            </p:cNvSpPr>
            <p:nvPr/>
          </p:nvSpPr>
          <p:spPr bwMode="auto">
            <a:xfrm>
              <a:off x="1333" y="3181"/>
              <a:ext cx="216" cy="158"/>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6" name="Rectangle 37"/>
            <p:cNvSpPr>
              <a:spLocks noChangeArrowheads="1"/>
            </p:cNvSpPr>
            <p:nvPr/>
          </p:nvSpPr>
          <p:spPr bwMode="auto">
            <a:xfrm>
              <a:off x="1378" y="3226"/>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11</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7" name="Rectangle 38"/>
            <p:cNvSpPr>
              <a:spLocks noChangeArrowheads="1"/>
            </p:cNvSpPr>
            <p:nvPr/>
          </p:nvSpPr>
          <p:spPr bwMode="auto">
            <a:xfrm>
              <a:off x="1435" y="3226"/>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8" name="Rectangle 39"/>
            <p:cNvSpPr>
              <a:spLocks noChangeArrowheads="1"/>
            </p:cNvSpPr>
            <p:nvPr/>
          </p:nvSpPr>
          <p:spPr bwMode="auto">
            <a:xfrm>
              <a:off x="1449" y="3226"/>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16</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9" name="Oval 40"/>
            <p:cNvSpPr>
              <a:spLocks noChangeArrowheads="1"/>
            </p:cNvSpPr>
            <p:nvPr/>
          </p:nvSpPr>
          <p:spPr bwMode="auto">
            <a:xfrm>
              <a:off x="1333" y="3537"/>
              <a:ext cx="216" cy="157"/>
            </a:xfrm>
            <a:prstGeom prst="ellipse">
              <a:avLst/>
            </a:prstGeom>
            <a:solidFill>
              <a:srgbClr val="000000"/>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50" name="Oval 41"/>
            <p:cNvSpPr>
              <a:spLocks noChangeArrowheads="1"/>
            </p:cNvSpPr>
            <p:nvPr/>
          </p:nvSpPr>
          <p:spPr bwMode="auto">
            <a:xfrm>
              <a:off x="1333" y="3537"/>
              <a:ext cx="216" cy="157"/>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 name="Rectangle 42"/>
            <p:cNvSpPr>
              <a:spLocks noChangeArrowheads="1"/>
            </p:cNvSpPr>
            <p:nvPr/>
          </p:nvSpPr>
          <p:spPr bwMode="auto">
            <a:xfrm>
              <a:off x="1378" y="3581"/>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14</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2" name="Rectangle 43"/>
            <p:cNvSpPr>
              <a:spLocks noChangeArrowheads="1"/>
            </p:cNvSpPr>
            <p:nvPr/>
          </p:nvSpPr>
          <p:spPr bwMode="auto">
            <a:xfrm>
              <a:off x="1435" y="3581"/>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3" name="Rectangle 44"/>
            <p:cNvSpPr>
              <a:spLocks noChangeArrowheads="1"/>
            </p:cNvSpPr>
            <p:nvPr/>
          </p:nvSpPr>
          <p:spPr bwMode="auto">
            <a:xfrm>
              <a:off x="1449" y="3581"/>
              <a:ext cx="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C00000"/>
                  </a:solidFill>
                  <a:effectLst/>
                  <a:latin typeface="Arial" panose="020B0604020202020204" pitchFamily="34" charset="0"/>
                </a:rPr>
                <a:t>15</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4" name="Line 45"/>
            <p:cNvSpPr>
              <a:spLocks noChangeShapeType="1"/>
            </p:cNvSpPr>
            <p:nvPr/>
          </p:nvSpPr>
          <p:spPr bwMode="auto">
            <a:xfrm flipH="1">
              <a:off x="383" y="3259"/>
              <a:ext cx="132" cy="0"/>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5" name="Freeform 46"/>
            <p:cNvSpPr/>
            <p:nvPr/>
          </p:nvSpPr>
          <p:spPr bwMode="auto">
            <a:xfrm>
              <a:off x="345" y="3244"/>
              <a:ext cx="42" cy="30"/>
            </a:xfrm>
            <a:custGeom>
              <a:avLst/>
              <a:gdLst>
                <a:gd name="T0" fmla="*/ 42 w 42"/>
                <a:gd name="T1" fmla="*/ 30 h 30"/>
                <a:gd name="T2" fmla="*/ 0 w 42"/>
                <a:gd name="T3" fmla="*/ 15 h 30"/>
                <a:gd name="T4" fmla="*/ 42 w 42"/>
                <a:gd name="T5" fmla="*/ 0 h 30"/>
                <a:gd name="T6" fmla="*/ 42 w 42"/>
                <a:gd name="T7" fmla="*/ 30 h 30"/>
              </a:gdLst>
              <a:ahLst/>
              <a:cxnLst>
                <a:cxn ang="0">
                  <a:pos x="T0" y="T1"/>
                </a:cxn>
                <a:cxn ang="0">
                  <a:pos x="T2" y="T3"/>
                </a:cxn>
                <a:cxn ang="0">
                  <a:pos x="T4" y="T5"/>
                </a:cxn>
                <a:cxn ang="0">
                  <a:pos x="T6" y="T7"/>
                </a:cxn>
              </a:cxnLst>
              <a:rect l="0" t="0" r="r" b="b"/>
              <a:pathLst>
                <a:path w="42" h="30">
                  <a:moveTo>
                    <a:pt x="42" y="30"/>
                  </a:moveTo>
                  <a:lnTo>
                    <a:pt x="0" y="15"/>
                  </a:lnTo>
                  <a:lnTo>
                    <a:pt x="42" y="0"/>
                  </a:lnTo>
                  <a:lnTo>
                    <a:pt x="42" y="30"/>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Line 47"/>
            <p:cNvSpPr>
              <a:spLocks noChangeShapeType="1"/>
            </p:cNvSpPr>
            <p:nvPr/>
          </p:nvSpPr>
          <p:spPr bwMode="auto">
            <a:xfrm>
              <a:off x="220" y="3338"/>
              <a:ext cx="0" cy="157"/>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7" name="Freeform 48"/>
            <p:cNvSpPr/>
            <p:nvPr/>
          </p:nvSpPr>
          <p:spPr bwMode="auto">
            <a:xfrm>
              <a:off x="206" y="3491"/>
              <a:ext cx="28" cy="46"/>
            </a:xfrm>
            <a:custGeom>
              <a:avLst/>
              <a:gdLst>
                <a:gd name="T0" fmla="*/ 28 w 28"/>
                <a:gd name="T1" fmla="*/ 0 h 46"/>
                <a:gd name="T2" fmla="*/ 14 w 28"/>
                <a:gd name="T3" fmla="*/ 46 h 46"/>
                <a:gd name="T4" fmla="*/ 0 w 28"/>
                <a:gd name="T5" fmla="*/ 0 h 46"/>
                <a:gd name="T6" fmla="*/ 28 w 28"/>
                <a:gd name="T7" fmla="*/ 0 h 46"/>
              </a:gdLst>
              <a:ahLst/>
              <a:cxnLst>
                <a:cxn ang="0">
                  <a:pos x="T0" y="T1"/>
                </a:cxn>
                <a:cxn ang="0">
                  <a:pos x="T2" y="T3"/>
                </a:cxn>
                <a:cxn ang="0">
                  <a:pos x="T4" y="T5"/>
                </a:cxn>
                <a:cxn ang="0">
                  <a:pos x="T6" y="T7"/>
                </a:cxn>
              </a:cxnLst>
              <a:rect l="0" t="0" r="r" b="b"/>
              <a:pathLst>
                <a:path w="28" h="46">
                  <a:moveTo>
                    <a:pt x="28" y="0"/>
                  </a:moveTo>
                  <a:lnTo>
                    <a:pt x="14" y="46"/>
                  </a:lnTo>
                  <a:lnTo>
                    <a:pt x="0" y="0"/>
                  </a:lnTo>
                  <a:lnTo>
                    <a:pt x="28" y="0"/>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Line 49"/>
            <p:cNvSpPr>
              <a:spLocks noChangeShapeType="1"/>
            </p:cNvSpPr>
            <p:nvPr/>
          </p:nvSpPr>
          <p:spPr bwMode="auto">
            <a:xfrm flipH="1">
              <a:off x="769" y="3262"/>
              <a:ext cx="132" cy="0"/>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9" name="Freeform 50"/>
            <p:cNvSpPr/>
            <p:nvPr/>
          </p:nvSpPr>
          <p:spPr bwMode="auto">
            <a:xfrm>
              <a:off x="731" y="3247"/>
              <a:ext cx="42" cy="30"/>
            </a:xfrm>
            <a:custGeom>
              <a:avLst/>
              <a:gdLst>
                <a:gd name="T0" fmla="*/ 42 w 42"/>
                <a:gd name="T1" fmla="*/ 30 h 30"/>
                <a:gd name="T2" fmla="*/ 0 w 42"/>
                <a:gd name="T3" fmla="*/ 15 h 30"/>
                <a:gd name="T4" fmla="*/ 42 w 42"/>
                <a:gd name="T5" fmla="*/ 0 h 30"/>
                <a:gd name="T6" fmla="*/ 42 w 42"/>
                <a:gd name="T7" fmla="*/ 30 h 30"/>
              </a:gdLst>
              <a:ahLst/>
              <a:cxnLst>
                <a:cxn ang="0">
                  <a:pos x="T0" y="T1"/>
                </a:cxn>
                <a:cxn ang="0">
                  <a:pos x="T2" y="T3"/>
                </a:cxn>
                <a:cxn ang="0">
                  <a:pos x="T4" y="T5"/>
                </a:cxn>
                <a:cxn ang="0">
                  <a:pos x="T6" y="T7"/>
                </a:cxn>
              </a:cxnLst>
              <a:rect l="0" t="0" r="r" b="b"/>
              <a:pathLst>
                <a:path w="42" h="30">
                  <a:moveTo>
                    <a:pt x="42" y="30"/>
                  </a:moveTo>
                  <a:lnTo>
                    <a:pt x="0" y="15"/>
                  </a:lnTo>
                  <a:lnTo>
                    <a:pt x="42" y="0"/>
                  </a:lnTo>
                  <a:lnTo>
                    <a:pt x="42" y="30"/>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Line 51"/>
            <p:cNvSpPr>
              <a:spLocks noChangeShapeType="1"/>
            </p:cNvSpPr>
            <p:nvPr/>
          </p:nvSpPr>
          <p:spPr bwMode="auto">
            <a:xfrm flipH="1">
              <a:off x="1108" y="3319"/>
              <a:ext cx="260" cy="210"/>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1" name="Freeform 52"/>
            <p:cNvSpPr/>
            <p:nvPr/>
          </p:nvSpPr>
          <p:spPr bwMode="auto">
            <a:xfrm>
              <a:off x="1077" y="3514"/>
              <a:ext cx="42" cy="40"/>
            </a:xfrm>
            <a:custGeom>
              <a:avLst/>
              <a:gdLst>
                <a:gd name="T0" fmla="*/ 42 w 42"/>
                <a:gd name="T1" fmla="*/ 25 h 40"/>
                <a:gd name="T2" fmla="*/ 0 w 42"/>
                <a:gd name="T3" fmla="*/ 40 h 40"/>
                <a:gd name="T4" fmla="*/ 25 w 42"/>
                <a:gd name="T5" fmla="*/ 0 h 40"/>
                <a:gd name="T6" fmla="*/ 42 w 42"/>
                <a:gd name="T7" fmla="*/ 25 h 40"/>
              </a:gdLst>
              <a:ahLst/>
              <a:cxnLst>
                <a:cxn ang="0">
                  <a:pos x="T0" y="T1"/>
                </a:cxn>
                <a:cxn ang="0">
                  <a:pos x="T2" y="T3"/>
                </a:cxn>
                <a:cxn ang="0">
                  <a:pos x="T4" y="T5"/>
                </a:cxn>
                <a:cxn ang="0">
                  <a:pos x="T6" y="T7"/>
                </a:cxn>
              </a:cxnLst>
              <a:rect l="0" t="0" r="r" b="b"/>
              <a:pathLst>
                <a:path w="42" h="40">
                  <a:moveTo>
                    <a:pt x="42" y="25"/>
                  </a:moveTo>
                  <a:lnTo>
                    <a:pt x="0" y="40"/>
                  </a:lnTo>
                  <a:lnTo>
                    <a:pt x="25" y="0"/>
                  </a:lnTo>
                  <a:lnTo>
                    <a:pt x="42" y="25"/>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Line 53"/>
            <p:cNvSpPr>
              <a:spLocks noChangeShapeType="1"/>
            </p:cNvSpPr>
            <p:nvPr/>
          </p:nvSpPr>
          <p:spPr bwMode="auto">
            <a:xfrm>
              <a:off x="1425" y="3338"/>
              <a:ext cx="0" cy="157"/>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3" name="Freeform 54"/>
            <p:cNvSpPr/>
            <p:nvPr/>
          </p:nvSpPr>
          <p:spPr bwMode="auto">
            <a:xfrm>
              <a:off x="1411" y="3491"/>
              <a:ext cx="28" cy="46"/>
            </a:xfrm>
            <a:custGeom>
              <a:avLst/>
              <a:gdLst>
                <a:gd name="T0" fmla="*/ 28 w 28"/>
                <a:gd name="T1" fmla="*/ 0 h 46"/>
                <a:gd name="T2" fmla="*/ 14 w 28"/>
                <a:gd name="T3" fmla="*/ 46 h 46"/>
                <a:gd name="T4" fmla="*/ 0 w 28"/>
                <a:gd name="T5" fmla="*/ 0 h 46"/>
                <a:gd name="T6" fmla="*/ 28 w 28"/>
                <a:gd name="T7" fmla="*/ 0 h 46"/>
              </a:gdLst>
              <a:ahLst/>
              <a:cxnLst>
                <a:cxn ang="0">
                  <a:pos x="T0" y="T1"/>
                </a:cxn>
                <a:cxn ang="0">
                  <a:pos x="T2" y="T3"/>
                </a:cxn>
                <a:cxn ang="0">
                  <a:pos x="T4" y="T5"/>
                </a:cxn>
                <a:cxn ang="0">
                  <a:pos x="T6" y="T7"/>
                </a:cxn>
              </a:cxnLst>
              <a:rect l="0" t="0" r="r" b="b"/>
              <a:pathLst>
                <a:path w="28" h="46">
                  <a:moveTo>
                    <a:pt x="28" y="0"/>
                  </a:moveTo>
                  <a:lnTo>
                    <a:pt x="14" y="46"/>
                  </a:lnTo>
                  <a:lnTo>
                    <a:pt x="0" y="0"/>
                  </a:lnTo>
                  <a:lnTo>
                    <a:pt x="28" y="0"/>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5"/>
            <p:cNvSpPr>
              <a:spLocks noEditPoints="1"/>
            </p:cNvSpPr>
            <p:nvPr/>
          </p:nvSpPr>
          <p:spPr bwMode="auto">
            <a:xfrm>
              <a:off x="1497" y="3366"/>
              <a:ext cx="2" cy="183"/>
            </a:xfrm>
            <a:custGeom>
              <a:avLst/>
              <a:gdLst>
                <a:gd name="T0" fmla="*/ 0 w 16"/>
                <a:gd name="T1" fmla="*/ 1400 h 1408"/>
                <a:gd name="T2" fmla="*/ 0 w 16"/>
                <a:gd name="T3" fmla="*/ 1160 h 1408"/>
                <a:gd name="T4" fmla="*/ 8 w 16"/>
                <a:gd name="T5" fmla="*/ 1152 h 1408"/>
                <a:gd name="T6" fmla="*/ 16 w 16"/>
                <a:gd name="T7" fmla="*/ 1160 h 1408"/>
                <a:gd name="T8" fmla="*/ 16 w 16"/>
                <a:gd name="T9" fmla="*/ 1400 h 1408"/>
                <a:gd name="T10" fmla="*/ 8 w 16"/>
                <a:gd name="T11" fmla="*/ 1408 h 1408"/>
                <a:gd name="T12" fmla="*/ 0 w 16"/>
                <a:gd name="T13" fmla="*/ 1400 h 1408"/>
                <a:gd name="T14" fmla="*/ 0 w 16"/>
                <a:gd name="T15" fmla="*/ 1016 h 1408"/>
                <a:gd name="T16" fmla="*/ 0 w 16"/>
                <a:gd name="T17" fmla="*/ 776 h 1408"/>
                <a:gd name="T18" fmla="*/ 8 w 16"/>
                <a:gd name="T19" fmla="*/ 768 h 1408"/>
                <a:gd name="T20" fmla="*/ 16 w 16"/>
                <a:gd name="T21" fmla="*/ 776 h 1408"/>
                <a:gd name="T22" fmla="*/ 16 w 16"/>
                <a:gd name="T23" fmla="*/ 1016 h 1408"/>
                <a:gd name="T24" fmla="*/ 8 w 16"/>
                <a:gd name="T25" fmla="*/ 1024 h 1408"/>
                <a:gd name="T26" fmla="*/ 0 w 16"/>
                <a:gd name="T27" fmla="*/ 1016 h 1408"/>
                <a:gd name="T28" fmla="*/ 0 w 16"/>
                <a:gd name="T29" fmla="*/ 632 h 1408"/>
                <a:gd name="T30" fmla="*/ 0 w 16"/>
                <a:gd name="T31" fmla="*/ 392 h 1408"/>
                <a:gd name="T32" fmla="*/ 8 w 16"/>
                <a:gd name="T33" fmla="*/ 384 h 1408"/>
                <a:gd name="T34" fmla="*/ 16 w 16"/>
                <a:gd name="T35" fmla="*/ 392 h 1408"/>
                <a:gd name="T36" fmla="*/ 16 w 16"/>
                <a:gd name="T37" fmla="*/ 632 h 1408"/>
                <a:gd name="T38" fmla="*/ 8 w 16"/>
                <a:gd name="T39" fmla="*/ 640 h 1408"/>
                <a:gd name="T40" fmla="*/ 0 w 16"/>
                <a:gd name="T41" fmla="*/ 632 h 1408"/>
                <a:gd name="T42" fmla="*/ 0 w 16"/>
                <a:gd name="T43" fmla="*/ 248 h 1408"/>
                <a:gd name="T44" fmla="*/ 0 w 16"/>
                <a:gd name="T45" fmla="*/ 8 h 1408"/>
                <a:gd name="T46" fmla="*/ 8 w 16"/>
                <a:gd name="T47" fmla="*/ 0 h 1408"/>
                <a:gd name="T48" fmla="*/ 16 w 16"/>
                <a:gd name="T49" fmla="*/ 8 h 1408"/>
                <a:gd name="T50" fmla="*/ 16 w 16"/>
                <a:gd name="T51" fmla="*/ 248 h 1408"/>
                <a:gd name="T52" fmla="*/ 8 w 16"/>
                <a:gd name="T53" fmla="*/ 256 h 1408"/>
                <a:gd name="T54" fmla="*/ 0 w 16"/>
                <a:gd name="T55" fmla="*/ 248 h 1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 h="1408">
                  <a:moveTo>
                    <a:pt x="0" y="1400"/>
                  </a:moveTo>
                  <a:lnTo>
                    <a:pt x="0" y="1160"/>
                  </a:lnTo>
                  <a:cubicBezTo>
                    <a:pt x="0" y="1156"/>
                    <a:pt x="3" y="1152"/>
                    <a:pt x="8" y="1152"/>
                  </a:cubicBezTo>
                  <a:cubicBezTo>
                    <a:pt x="12" y="1152"/>
                    <a:pt x="16" y="1156"/>
                    <a:pt x="16" y="1160"/>
                  </a:cubicBezTo>
                  <a:lnTo>
                    <a:pt x="16" y="1400"/>
                  </a:lnTo>
                  <a:cubicBezTo>
                    <a:pt x="16" y="1405"/>
                    <a:pt x="12" y="1408"/>
                    <a:pt x="8" y="1408"/>
                  </a:cubicBezTo>
                  <a:cubicBezTo>
                    <a:pt x="3" y="1408"/>
                    <a:pt x="0" y="1405"/>
                    <a:pt x="0" y="1400"/>
                  </a:cubicBezTo>
                  <a:close/>
                  <a:moveTo>
                    <a:pt x="0" y="1016"/>
                  </a:moveTo>
                  <a:lnTo>
                    <a:pt x="0" y="776"/>
                  </a:lnTo>
                  <a:cubicBezTo>
                    <a:pt x="0" y="772"/>
                    <a:pt x="3" y="768"/>
                    <a:pt x="8" y="768"/>
                  </a:cubicBezTo>
                  <a:cubicBezTo>
                    <a:pt x="12" y="768"/>
                    <a:pt x="16" y="772"/>
                    <a:pt x="16" y="776"/>
                  </a:cubicBezTo>
                  <a:lnTo>
                    <a:pt x="16" y="1016"/>
                  </a:lnTo>
                  <a:cubicBezTo>
                    <a:pt x="16" y="1021"/>
                    <a:pt x="12" y="1024"/>
                    <a:pt x="8" y="1024"/>
                  </a:cubicBezTo>
                  <a:cubicBezTo>
                    <a:pt x="3" y="1024"/>
                    <a:pt x="0" y="1021"/>
                    <a:pt x="0" y="1016"/>
                  </a:cubicBezTo>
                  <a:close/>
                  <a:moveTo>
                    <a:pt x="0" y="632"/>
                  </a:moveTo>
                  <a:lnTo>
                    <a:pt x="0" y="392"/>
                  </a:lnTo>
                  <a:cubicBezTo>
                    <a:pt x="0" y="388"/>
                    <a:pt x="3" y="384"/>
                    <a:pt x="8" y="384"/>
                  </a:cubicBezTo>
                  <a:cubicBezTo>
                    <a:pt x="12" y="384"/>
                    <a:pt x="16" y="388"/>
                    <a:pt x="16" y="392"/>
                  </a:cubicBezTo>
                  <a:lnTo>
                    <a:pt x="16" y="632"/>
                  </a:lnTo>
                  <a:cubicBezTo>
                    <a:pt x="16" y="637"/>
                    <a:pt x="12" y="640"/>
                    <a:pt x="8" y="640"/>
                  </a:cubicBezTo>
                  <a:cubicBezTo>
                    <a:pt x="3" y="640"/>
                    <a:pt x="0" y="637"/>
                    <a:pt x="0" y="632"/>
                  </a:cubicBezTo>
                  <a:close/>
                  <a:moveTo>
                    <a:pt x="0" y="248"/>
                  </a:moveTo>
                  <a:lnTo>
                    <a:pt x="0" y="8"/>
                  </a:lnTo>
                  <a:cubicBezTo>
                    <a:pt x="0" y="4"/>
                    <a:pt x="3" y="0"/>
                    <a:pt x="8" y="0"/>
                  </a:cubicBezTo>
                  <a:cubicBezTo>
                    <a:pt x="12" y="0"/>
                    <a:pt x="16" y="4"/>
                    <a:pt x="16" y="8"/>
                  </a:cubicBezTo>
                  <a:lnTo>
                    <a:pt x="16" y="248"/>
                  </a:lnTo>
                  <a:cubicBezTo>
                    <a:pt x="16" y="253"/>
                    <a:pt x="12" y="256"/>
                    <a:pt x="8" y="256"/>
                  </a:cubicBezTo>
                  <a:cubicBezTo>
                    <a:pt x="3" y="256"/>
                    <a:pt x="0" y="253"/>
                    <a:pt x="0" y="248"/>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65" name="Freeform 56"/>
            <p:cNvSpPr/>
            <p:nvPr/>
          </p:nvSpPr>
          <p:spPr bwMode="auto">
            <a:xfrm>
              <a:off x="1490" y="3327"/>
              <a:ext cx="16" cy="28"/>
            </a:xfrm>
            <a:custGeom>
              <a:avLst/>
              <a:gdLst>
                <a:gd name="T0" fmla="*/ 0 w 16"/>
                <a:gd name="T1" fmla="*/ 28 h 28"/>
                <a:gd name="T2" fmla="*/ 8 w 16"/>
                <a:gd name="T3" fmla="*/ 0 h 28"/>
                <a:gd name="T4" fmla="*/ 16 w 16"/>
                <a:gd name="T5" fmla="*/ 28 h 28"/>
                <a:gd name="T6" fmla="*/ 0 w 16"/>
                <a:gd name="T7" fmla="*/ 28 h 28"/>
              </a:gdLst>
              <a:ahLst/>
              <a:cxnLst>
                <a:cxn ang="0">
                  <a:pos x="T0" y="T1"/>
                </a:cxn>
                <a:cxn ang="0">
                  <a:pos x="T2" y="T3"/>
                </a:cxn>
                <a:cxn ang="0">
                  <a:pos x="T4" y="T5"/>
                </a:cxn>
                <a:cxn ang="0">
                  <a:pos x="T6" y="T7"/>
                </a:cxn>
              </a:cxnLst>
              <a:rect l="0" t="0" r="r" b="b"/>
              <a:pathLst>
                <a:path w="16" h="28">
                  <a:moveTo>
                    <a:pt x="0" y="28"/>
                  </a:moveTo>
                  <a:lnTo>
                    <a:pt x="8" y="0"/>
                  </a:lnTo>
                  <a:lnTo>
                    <a:pt x="16" y="28"/>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7"/>
            <p:cNvSpPr>
              <a:spLocks noEditPoints="1"/>
            </p:cNvSpPr>
            <p:nvPr/>
          </p:nvSpPr>
          <p:spPr bwMode="auto">
            <a:xfrm>
              <a:off x="314" y="3342"/>
              <a:ext cx="230" cy="220"/>
            </a:xfrm>
            <a:custGeom>
              <a:avLst/>
              <a:gdLst>
                <a:gd name="T0" fmla="*/ 3 w 1937"/>
                <a:gd name="T1" fmla="*/ 1672 h 1687"/>
                <a:gd name="T2" fmla="*/ 184 w 1937"/>
                <a:gd name="T3" fmla="*/ 1515 h 1687"/>
                <a:gd name="T4" fmla="*/ 196 w 1937"/>
                <a:gd name="T5" fmla="*/ 1516 h 1687"/>
                <a:gd name="T6" fmla="*/ 195 w 1937"/>
                <a:gd name="T7" fmla="*/ 1527 h 1687"/>
                <a:gd name="T8" fmla="*/ 14 w 1937"/>
                <a:gd name="T9" fmla="*/ 1684 h 1687"/>
                <a:gd name="T10" fmla="*/ 3 w 1937"/>
                <a:gd name="T11" fmla="*/ 1684 h 1687"/>
                <a:gd name="T12" fmla="*/ 3 w 1937"/>
                <a:gd name="T13" fmla="*/ 1672 h 1687"/>
                <a:gd name="T14" fmla="*/ 293 w 1937"/>
                <a:gd name="T15" fmla="*/ 1420 h 1687"/>
                <a:gd name="T16" fmla="*/ 474 w 1937"/>
                <a:gd name="T17" fmla="*/ 1263 h 1687"/>
                <a:gd name="T18" fmla="*/ 485 w 1937"/>
                <a:gd name="T19" fmla="*/ 1264 h 1687"/>
                <a:gd name="T20" fmla="*/ 485 w 1937"/>
                <a:gd name="T21" fmla="*/ 1275 h 1687"/>
                <a:gd name="T22" fmla="*/ 304 w 1937"/>
                <a:gd name="T23" fmla="*/ 1432 h 1687"/>
                <a:gd name="T24" fmla="*/ 292 w 1937"/>
                <a:gd name="T25" fmla="*/ 1432 h 1687"/>
                <a:gd name="T26" fmla="*/ 293 w 1937"/>
                <a:gd name="T27" fmla="*/ 1420 h 1687"/>
                <a:gd name="T28" fmla="*/ 583 w 1937"/>
                <a:gd name="T29" fmla="*/ 1168 h 1687"/>
                <a:gd name="T30" fmla="*/ 764 w 1937"/>
                <a:gd name="T31" fmla="*/ 1011 h 1687"/>
                <a:gd name="T32" fmla="*/ 775 w 1937"/>
                <a:gd name="T33" fmla="*/ 1011 h 1687"/>
                <a:gd name="T34" fmla="*/ 774 w 1937"/>
                <a:gd name="T35" fmla="*/ 1023 h 1687"/>
                <a:gd name="T36" fmla="*/ 593 w 1937"/>
                <a:gd name="T37" fmla="*/ 1180 h 1687"/>
                <a:gd name="T38" fmla="*/ 582 w 1937"/>
                <a:gd name="T39" fmla="*/ 1180 h 1687"/>
                <a:gd name="T40" fmla="*/ 583 w 1937"/>
                <a:gd name="T41" fmla="*/ 1168 h 1687"/>
                <a:gd name="T42" fmla="*/ 872 w 1937"/>
                <a:gd name="T43" fmla="*/ 916 h 1687"/>
                <a:gd name="T44" fmla="*/ 1053 w 1937"/>
                <a:gd name="T45" fmla="*/ 759 h 1687"/>
                <a:gd name="T46" fmla="*/ 1065 w 1937"/>
                <a:gd name="T47" fmla="*/ 759 h 1687"/>
                <a:gd name="T48" fmla="*/ 1064 w 1937"/>
                <a:gd name="T49" fmla="*/ 771 h 1687"/>
                <a:gd name="T50" fmla="*/ 883 w 1937"/>
                <a:gd name="T51" fmla="*/ 928 h 1687"/>
                <a:gd name="T52" fmla="*/ 872 w 1937"/>
                <a:gd name="T53" fmla="*/ 927 h 1687"/>
                <a:gd name="T54" fmla="*/ 872 w 1937"/>
                <a:gd name="T55" fmla="*/ 916 h 1687"/>
                <a:gd name="T56" fmla="*/ 1162 w 1937"/>
                <a:gd name="T57" fmla="*/ 664 h 1687"/>
                <a:gd name="T58" fmla="*/ 1343 w 1937"/>
                <a:gd name="T59" fmla="*/ 507 h 1687"/>
                <a:gd name="T60" fmla="*/ 1354 w 1937"/>
                <a:gd name="T61" fmla="*/ 507 h 1687"/>
                <a:gd name="T62" fmla="*/ 1354 w 1937"/>
                <a:gd name="T63" fmla="*/ 519 h 1687"/>
                <a:gd name="T64" fmla="*/ 1173 w 1937"/>
                <a:gd name="T65" fmla="*/ 676 h 1687"/>
                <a:gd name="T66" fmla="*/ 1161 w 1937"/>
                <a:gd name="T67" fmla="*/ 675 h 1687"/>
                <a:gd name="T68" fmla="*/ 1162 w 1937"/>
                <a:gd name="T69" fmla="*/ 664 h 1687"/>
                <a:gd name="T70" fmla="*/ 1452 w 1937"/>
                <a:gd name="T71" fmla="*/ 412 h 1687"/>
                <a:gd name="T72" fmla="*/ 1633 w 1937"/>
                <a:gd name="T73" fmla="*/ 254 h 1687"/>
                <a:gd name="T74" fmla="*/ 1644 w 1937"/>
                <a:gd name="T75" fmla="*/ 255 h 1687"/>
                <a:gd name="T76" fmla="*/ 1643 w 1937"/>
                <a:gd name="T77" fmla="*/ 267 h 1687"/>
                <a:gd name="T78" fmla="*/ 1462 w 1937"/>
                <a:gd name="T79" fmla="*/ 424 h 1687"/>
                <a:gd name="T80" fmla="*/ 1451 w 1937"/>
                <a:gd name="T81" fmla="*/ 423 h 1687"/>
                <a:gd name="T82" fmla="*/ 1452 w 1937"/>
                <a:gd name="T83" fmla="*/ 412 h 1687"/>
                <a:gd name="T84" fmla="*/ 1741 w 1937"/>
                <a:gd name="T85" fmla="*/ 160 h 1687"/>
                <a:gd name="T86" fmla="*/ 1923 w 1937"/>
                <a:gd name="T87" fmla="*/ 2 h 1687"/>
                <a:gd name="T88" fmla="*/ 1934 w 1937"/>
                <a:gd name="T89" fmla="*/ 3 h 1687"/>
                <a:gd name="T90" fmla="*/ 1933 w 1937"/>
                <a:gd name="T91" fmla="*/ 14 h 1687"/>
                <a:gd name="T92" fmla="*/ 1752 w 1937"/>
                <a:gd name="T93" fmla="*/ 172 h 1687"/>
                <a:gd name="T94" fmla="*/ 1741 w 1937"/>
                <a:gd name="T95" fmla="*/ 171 h 1687"/>
                <a:gd name="T96" fmla="*/ 1741 w 1937"/>
                <a:gd name="T97" fmla="*/ 160 h 1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7" h="1687">
                  <a:moveTo>
                    <a:pt x="3" y="1672"/>
                  </a:moveTo>
                  <a:lnTo>
                    <a:pt x="184" y="1515"/>
                  </a:lnTo>
                  <a:cubicBezTo>
                    <a:pt x="188" y="1512"/>
                    <a:pt x="193" y="1512"/>
                    <a:pt x="196" y="1516"/>
                  </a:cubicBezTo>
                  <a:cubicBezTo>
                    <a:pt x="199" y="1519"/>
                    <a:pt x="198" y="1524"/>
                    <a:pt x="195" y="1527"/>
                  </a:cubicBezTo>
                  <a:lnTo>
                    <a:pt x="14" y="1684"/>
                  </a:lnTo>
                  <a:cubicBezTo>
                    <a:pt x="11" y="1687"/>
                    <a:pt x="5" y="1687"/>
                    <a:pt x="3" y="1684"/>
                  </a:cubicBezTo>
                  <a:cubicBezTo>
                    <a:pt x="0" y="1680"/>
                    <a:pt x="0" y="1675"/>
                    <a:pt x="3" y="1672"/>
                  </a:cubicBezTo>
                  <a:close/>
                  <a:moveTo>
                    <a:pt x="293" y="1420"/>
                  </a:moveTo>
                  <a:lnTo>
                    <a:pt x="474" y="1263"/>
                  </a:lnTo>
                  <a:cubicBezTo>
                    <a:pt x="477" y="1260"/>
                    <a:pt x="482" y="1260"/>
                    <a:pt x="485" y="1264"/>
                  </a:cubicBezTo>
                  <a:cubicBezTo>
                    <a:pt x="488" y="1267"/>
                    <a:pt x="488" y="1272"/>
                    <a:pt x="485" y="1275"/>
                  </a:cubicBezTo>
                  <a:lnTo>
                    <a:pt x="304" y="1432"/>
                  </a:lnTo>
                  <a:cubicBezTo>
                    <a:pt x="300" y="1435"/>
                    <a:pt x="295" y="1435"/>
                    <a:pt x="292" y="1432"/>
                  </a:cubicBezTo>
                  <a:cubicBezTo>
                    <a:pt x="289" y="1428"/>
                    <a:pt x="290" y="1423"/>
                    <a:pt x="293" y="1420"/>
                  </a:cubicBezTo>
                  <a:close/>
                  <a:moveTo>
                    <a:pt x="583" y="1168"/>
                  </a:moveTo>
                  <a:lnTo>
                    <a:pt x="764" y="1011"/>
                  </a:lnTo>
                  <a:cubicBezTo>
                    <a:pt x="767" y="1008"/>
                    <a:pt x="772" y="1008"/>
                    <a:pt x="775" y="1011"/>
                  </a:cubicBezTo>
                  <a:cubicBezTo>
                    <a:pt x="778" y="1015"/>
                    <a:pt x="778" y="1020"/>
                    <a:pt x="774" y="1023"/>
                  </a:cubicBezTo>
                  <a:lnTo>
                    <a:pt x="593" y="1180"/>
                  </a:lnTo>
                  <a:cubicBezTo>
                    <a:pt x="590" y="1183"/>
                    <a:pt x="585" y="1183"/>
                    <a:pt x="582" y="1180"/>
                  </a:cubicBezTo>
                  <a:cubicBezTo>
                    <a:pt x="579" y="1176"/>
                    <a:pt x="579" y="1171"/>
                    <a:pt x="583" y="1168"/>
                  </a:cubicBezTo>
                  <a:close/>
                  <a:moveTo>
                    <a:pt x="872" y="916"/>
                  </a:moveTo>
                  <a:lnTo>
                    <a:pt x="1053" y="759"/>
                  </a:lnTo>
                  <a:cubicBezTo>
                    <a:pt x="1057" y="756"/>
                    <a:pt x="1062" y="756"/>
                    <a:pt x="1065" y="759"/>
                  </a:cubicBezTo>
                  <a:cubicBezTo>
                    <a:pt x="1068" y="763"/>
                    <a:pt x="1067" y="768"/>
                    <a:pt x="1064" y="771"/>
                  </a:cubicBezTo>
                  <a:lnTo>
                    <a:pt x="883" y="928"/>
                  </a:lnTo>
                  <a:cubicBezTo>
                    <a:pt x="880" y="931"/>
                    <a:pt x="875" y="931"/>
                    <a:pt x="872" y="927"/>
                  </a:cubicBezTo>
                  <a:cubicBezTo>
                    <a:pt x="869" y="924"/>
                    <a:pt x="869" y="919"/>
                    <a:pt x="872" y="916"/>
                  </a:cubicBezTo>
                  <a:close/>
                  <a:moveTo>
                    <a:pt x="1162" y="664"/>
                  </a:moveTo>
                  <a:lnTo>
                    <a:pt x="1343" y="507"/>
                  </a:lnTo>
                  <a:cubicBezTo>
                    <a:pt x="1346" y="504"/>
                    <a:pt x="1352" y="504"/>
                    <a:pt x="1354" y="507"/>
                  </a:cubicBezTo>
                  <a:cubicBezTo>
                    <a:pt x="1357" y="511"/>
                    <a:pt x="1357" y="516"/>
                    <a:pt x="1354" y="519"/>
                  </a:cubicBezTo>
                  <a:lnTo>
                    <a:pt x="1173" y="676"/>
                  </a:lnTo>
                  <a:cubicBezTo>
                    <a:pt x="1169" y="679"/>
                    <a:pt x="1164" y="679"/>
                    <a:pt x="1161" y="675"/>
                  </a:cubicBezTo>
                  <a:cubicBezTo>
                    <a:pt x="1158" y="672"/>
                    <a:pt x="1159" y="667"/>
                    <a:pt x="1162" y="664"/>
                  </a:cubicBezTo>
                  <a:close/>
                  <a:moveTo>
                    <a:pt x="1452" y="412"/>
                  </a:moveTo>
                  <a:lnTo>
                    <a:pt x="1633" y="254"/>
                  </a:lnTo>
                  <a:cubicBezTo>
                    <a:pt x="1636" y="252"/>
                    <a:pt x="1641" y="252"/>
                    <a:pt x="1644" y="255"/>
                  </a:cubicBezTo>
                  <a:cubicBezTo>
                    <a:pt x="1647" y="259"/>
                    <a:pt x="1647" y="264"/>
                    <a:pt x="1643" y="267"/>
                  </a:cubicBezTo>
                  <a:lnTo>
                    <a:pt x="1462" y="424"/>
                  </a:lnTo>
                  <a:cubicBezTo>
                    <a:pt x="1459" y="427"/>
                    <a:pt x="1454" y="427"/>
                    <a:pt x="1451" y="423"/>
                  </a:cubicBezTo>
                  <a:cubicBezTo>
                    <a:pt x="1448" y="420"/>
                    <a:pt x="1448" y="415"/>
                    <a:pt x="1452" y="412"/>
                  </a:cubicBezTo>
                  <a:close/>
                  <a:moveTo>
                    <a:pt x="1741" y="160"/>
                  </a:moveTo>
                  <a:lnTo>
                    <a:pt x="1923" y="2"/>
                  </a:lnTo>
                  <a:cubicBezTo>
                    <a:pt x="1926" y="0"/>
                    <a:pt x="1931" y="0"/>
                    <a:pt x="1934" y="3"/>
                  </a:cubicBezTo>
                  <a:cubicBezTo>
                    <a:pt x="1937" y="7"/>
                    <a:pt x="1936" y="12"/>
                    <a:pt x="1933" y="14"/>
                  </a:cubicBezTo>
                  <a:lnTo>
                    <a:pt x="1752" y="172"/>
                  </a:lnTo>
                  <a:cubicBezTo>
                    <a:pt x="1749" y="175"/>
                    <a:pt x="1744" y="175"/>
                    <a:pt x="1741" y="171"/>
                  </a:cubicBezTo>
                  <a:cubicBezTo>
                    <a:pt x="1738" y="168"/>
                    <a:pt x="1738" y="163"/>
                    <a:pt x="1741" y="160"/>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67" name="Freeform 58"/>
            <p:cNvSpPr/>
            <p:nvPr/>
          </p:nvSpPr>
          <p:spPr bwMode="auto">
            <a:xfrm>
              <a:off x="537" y="3325"/>
              <a:ext cx="25" cy="25"/>
            </a:xfrm>
            <a:custGeom>
              <a:avLst/>
              <a:gdLst>
                <a:gd name="T0" fmla="*/ 0 w 25"/>
                <a:gd name="T1" fmla="*/ 11 h 25"/>
                <a:gd name="T2" fmla="*/ 25 w 25"/>
                <a:gd name="T3" fmla="*/ 0 h 25"/>
                <a:gd name="T4" fmla="*/ 11 w 25"/>
                <a:gd name="T5" fmla="*/ 25 h 25"/>
                <a:gd name="T6" fmla="*/ 0 w 25"/>
                <a:gd name="T7" fmla="*/ 11 h 25"/>
              </a:gdLst>
              <a:ahLst/>
              <a:cxnLst>
                <a:cxn ang="0">
                  <a:pos x="T0" y="T1"/>
                </a:cxn>
                <a:cxn ang="0">
                  <a:pos x="T2" y="T3"/>
                </a:cxn>
                <a:cxn ang="0">
                  <a:pos x="T4" y="T5"/>
                </a:cxn>
                <a:cxn ang="0">
                  <a:pos x="T6" y="T7"/>
                </a:cxn>
              </a:cxnLst>
              <a:rect l="0" t="0" r="r" b="b"/>
              <a:pathLst>
                <a:path w="25" h="25">
                  <a:moveTo>
                    <a:pt x="0" y="11"/>
                  </a:moveTo>
                  <a:lnTo>
                    <a:pt x="25" y="0"/>
                  </a:lnTo>
                  <a:lnTo>
                    <a:pt x="11"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Line 59"/>
            <p:cNvSpPr>
              <a:spLocks noChangeShapeType="1"/>
            </p:cNvSpPr>
            <p:nvPr/>
          </p:nvSpPr>
          <p:spPr bwMode="auto">
            <a:xfrm>
              <a:off x="621" y="3339"/>
              <a:ext cx="0" cy="155"/>
            </a:xfrm>
            <a:prstGeom prst="line">
              <a:avLst/>
            </a:prstGeom>
            <a:noFill/>
            <a:ln w="12700" cap="rnd">
              <a:solidFill>
                <a:srgbClr val="C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9" name="Freeform 60"/>
            <p:cNvSpPr/>
            <p:nvPr/>
          </p:nvSpPr>
          <p:spPr bwMode="auto">
            <a:xfrm>
              <a:off x="607" y="3490"/>
              <a:ext cx="28" cy="47"/>
            </a:xfrm>
            <a:custGeom>
              <a:avLst/>
              <a:gdLst>
                <a:gd name="T0" fmla="*/ 28 w 28"/>
                <a:gd name="T1" fmla="*/ 0 h 47"/>
                <a:gd name="T2" fmla="*/ 14 w 28"/>
                <a:gd name="T3" fmla="*/ 47 h 47"/>
                <a:gd name="T4" fmla="*/ 0 w 28"/>
                <a:gd name="T5" fmla="*/ 0 h 47"/>
                <a:gd name="T6" fmla="*/ 28 w 28"/>
                <a:gd name="T7" fmla="*/ 0 h 47"/>
              </a:gdLst>
              <a:ahLst/>
              <a:cxnLst>
                <a:cxn ang="0">
                  <a:pos x="T0" y="T1"/>
                </a:cxn>
                <a:cxn ang="0">
                  <a:pos x="T2" y="T3"/>
                </a:cxn>
                <a:cxn ang="0">
                  <a:pos x="T4" y="T5"/>
                </a:cxn>
                <a:cxn ang="0">
                  <a:pos x="T6" y="T7"/>
                </a:cxn>
              </a:cxnLst>
              <a:rect l="0" t="0" r="r" b="b"/>
              <a:pathLst>
                <a:path w="28" h="47">
                  <a:moveTo>
                    <a:pt x="28" y="0"/>
                  </a:moveTo>
                  <a:lnTo>
                    <a:pt x="14" y="47"/>
                  </a:lnTo>
                  <a:lnTo>
                    <a:pt x="0" y="0"/>
                  </a:lnTo>
                  <a:lnTo>
                    <a:pt x="28" y="0"/>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61"/>
            <p:cNvSpPr>
              <a:spLocks noEditPoints="1"/>
            </p:cNvSpPr>
            <p:nvPr/>
          </p:nvSpPr>
          <p:spPr bwMode="auto">
            <a:xfrm>
              <a:off x="687" y="3338"/>
              <a:ext cx="272" cy="194"/>
            </a:xfrm>
            <a:custGeom>
              <a:avLst/>
              <a:gdLst>
                <a:gd name="T0" fmla="*/ 2275 w 2280"/>
                <a:gd name="T1" fmla="*/ 16 h 1484"/>
                <a:gd name="T2" fmla="*/ 2074 w 2280"/>
                <a:gd name="T3" fmla="*/ 146 h 1484"/>
                <a:gd name="T4" fmla="*/ 2063 w 2280"/>
                <a:gd name="T5" fmla="*/ 144 h 1484"/>
                <a:gd name="T6" fmla="*/ 2065 w 2280"/>
                <a:gd name="T7" fmla="*/ 133 h 1484"/>
                <a:gd name="T8" fmla="*/ 2267 w 2280"/>
                <a:gd name="T9" fmla="*/ 2 h 1484"/>
                <a:gd name="T10" fmla="*/ 2278 w 2280"/>
                <a:gd name="T11" fmla="*/ 5 h 1484"/>
                <a:gd name="T12" fmla="*/ 2275 w 2280"/>
                <a:gd name="T13" fmla="*/ 16 h 1484"/>
                <a:gd name="T14" fmla="*/ 1953 w 2280"/>
                <a:gd name="T15" fmla="*/ 224 h 1484"/>
                <a:gd name="T16" fmla="*/ 1752 w 2280"/>
                <a:gd name="T17" fmla="*/ 355 h 1484"/>
                <a:gd name="T18" fmla="*/ 1741 w 2280"/>
                <a:gd name="T19" fmla="*/ 353 h 1484"/>
                <a:gd name="T20" fmla="*/ 1743 w 2280"/>
                <a:gd name="T21" fmla="*/ 342 h 1484"/>
                <a:gd name="T22" fmla="*/ 1944 w 2280"/>
                <a:gd name="T23" fmla="*/ 211 h 1484"/>
                <a:gd name="T24" fmla="*/ 1955 w 2280"/>
                <a:gd name="T25" fmla="*/ 213 h 1484"/>
                <a:gd name="T26" fmla="*/ 1953 w 2280"/>
                <a:gd name="T27" fmla="*/ 224 h 1484"/>
                <a:gd name="T28" fmla="*/ 1631 w 2280"/>
                <a:gd name="T29" fmla="*/ 433 h 1484"/>
                <a:gd name="T30" fmla="*/ 1429 w 2280"/>
                <a:gd name="T31" fmla="*/ 564 h 1484"/>
                <a:gd name="T32" fmla="*/ 1418 w 2280"/>
                <a:gd name="T33" fmla="*/ 562 h 1484"/>
                <a:gd name="T34" fmla="*/ 1421 w 2280"/>
                <a:gd name="T35" fmla="*/ 550 h 1484"/>
                <a:gd name="T36" fmla="*/ 1622 w 2280"/>
                <a:gd name="T37" fmla="*/ 420 h 1484"/>
                <a:gd name="T38" fmla="*/ 1633 w 2280"/>
                <a:gd name="T39" fmla="*/ 422 h 1484"/>
                <a:gd name="T40" fmla="*/ 1631 w 2280"/>
                <a:gd name="T41" fmla="*/ 433 h 1484"/>
                <a:gd name="T42" fmla="*/ 1309 w 2280"/>
                <a:gd name="T43" fmla="*/ 642 h 1484"/>
                <a:gd name="T44" fmla="*/ 1107 w 2280"/>
                <a:gd name="T45" fmla="*/ 773 h 1484"/>
                <a:gd name="T46" fmla="*/ 1096 w 2280"/>
                <a:gd name="T47" fmla="*/ 770 h 1484"/>
                <a:gd name="T48" fmla="*/ 1098 w 2280"/>
                <a:gd name="T49" fmla="*/ 759 h 1484"/>
                <a:gd name="T50" fmla="*/ 1300 w 2280"/>
                <a:gd name="T51" fmla="*/ 629 h 1484"/>
                <a:gd name="T52" fmla="*/ 1311 w 2280"/>
                <a:gd name="T53" fmla="*/ 631 h 1484"/>
                <a:gd name="T54" fmla="*/ 1309 w 2280"/>
                <a:gd name="T55" fmla="*/ 642 h 1484"/>
                <a:gd name="T56" fmla="*/ 986 w 2280"/>
                <a:gd name="T57" fmla="*/ 851 h 1484"/>
                <a:gd name="T58" fmla="*/ 785 w 2280"/>
                <a:gd name="T59" fmla="*/ 982 h 1484"/>
                <a:gd name="T60" fmla="*/ 774 w 2280"/>
                <a:gd name="T61" fmla="*/ 979 h 1484"/>
                <a:gd name="T62" fmla="*/ 776 w 2280"/>
                <a:gd name="T63" fmla="*/ 968 h 1484"/>
                <a:gd name="T64" fmla="*/ 978 w 2280"/>
                <a:gd name="T65" fmla="*/ 838 h 1484"/>
                <a:gd name="T66" fmla="*/ 989 w 2280"/>
                <a:gd name="T67" fmla="*/ 840 h 1484"/>
                <a:gd name="T68" fmla="*/ 986 w 2280"/>
                <a:gd name="T69" fmla="*/ 851 h 1484"/>
                <a:gd name="T70" fmla="*/ 664 w 2280"/>
                <a:gd name="T71" fmla="*/ 1060 h 1484"/>
                <a:gd name="T72" fmla="*/ 463 w 2280"/>
                <a:gd name="T73" fmla="*/ 1191 h 1484"/>
                <a:gd name="T74" fmla="*/ 452 w 2280"/>
                <a:gd name="T75" fmla="*/ 1188 h 1484"/>
                <a:gd name="T76" fmla="*/ 454 w 2280"/>
                <a:gd name="T77" fmla="*/ 1177 h 1484"/>
                <a:gd name="T78" fmla="*/ 655 w 2280"/>
                <a:gd name="T79" fmla="*/ 1047 h 1484"/>
                <a:gd name="T80" fmla="*/ 666 w 2280"/>
                <a:gd name="T81" fmla="*/ 1049 h 1484"/>
                <a:gd name="T82" fmla="*/ 664 w 2280"/>
                <a:gd name="T83" fmla="*/ 1060 h 1484"/>
                <a:gd name="T84" fmla="*/ 342 w 2280"/>
                <a:gd name="T85" fmla="*/ 1269 h 1484"/>
                <a:gd name="T86" fmla="*/ 140 w 2280"/>
                <a:gd name="T87" fmla="*/ 1399 h 1484"/>
                <a:gd name="T88" fmla="*/ 129 w 2280"/>
                <a:gd name="T89" fmla="*/ 1397 h 1484"/>
                <a:gd name="T90" fmla="*/ 132 w 2280"/>
                <a:gd name="T91" fmla="*/ 1386 h 1484"/>
                <a:gd name="T92" fmla="*/ 333 w 2280"/>
                <a:gd name="T93" fmla="*/ 1255 h 1484"/>
                <a:gd name="T94" fmla="*/ 344 w 2280"/>
                <a:gd name="T95" fmla="*/ 1258 h 1484"/>
                <a:gd name="T96" fmla="*/ 342 w 2280"/>
                <a:gd name="T97" fmla="*/ 1269 h 1484"/>
                <a:gd name="T98" fmla="*/ 20 w 2280"/>
                <a:gd name="T99" fmla="*/ 1478 h 1484"/>
                <a:gd name="T100" fmla="*/ 14 w 2280"/>
                <a:gd name="T101" fmla="*/ 1482 h 1484"/>
                <a:gd name="T102" fmla="*/ 3 w 2280"/>
                <a:gd name="T103" fmla="*/ 1479 h 1484"/>
                <a:gd name="T104" fmla="*/ 5 w 2280"/>
                <a:gd name="T105" fmla="*/ 1468 h 1484"/>
                <a:gd name="T106" fmla="*/ 11 w 2280"/>
                <a:gd name="T107" fmla="*/ 1464 h 1484"/>
                <a:gd name="T108" fmla="*/ 22 w 2280"/>
                <a:gd name="T109" fmla="*/ 1467 h 1484"/>
                <a:gd name="T110" fmla="*/ 20 w 2280"/>
                <a:gd name="T111" fmla="*/ 1478 h 1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80" h="1484">
                  <a:moveTo>
                    <a:pt x="2275" y="16"/>
                  </a:moveTo>
                  <a:lnTo>
                    <a:pt x="2074" y="146"/>
                  </a:lnTo>
                  <a:cubicBezTo>
                    <a:pt x="2070" y="149"/>
                    <a:pt x="2065" y="147"/>
                    <a:pt x="2063" y="144"/>
                  </a:cubicBezTo>
                  <a:cubicBezTo>
                    <a:pt x="2060" y="140"/>
                    <a:pt x="2061" y="135"/>
                    <a:pt x="2065" y="133"/>
                  </a:cubicBezTo>
                  <a:lnTo>
                    <a:pt x="2267" y="2"/>
                  </a:lnTo>
                  <a:cubicBezTo>
                    <a:pt x="2270" y="0"/>
                    <a:pt x="2275" y="1"/>
                    <a:pt x="2278" y="5"/>
                  </a:cubicBezTo>
                  <a:cubicBezTo>
                    <a:pt x="2280" y="8"/>
                    <a:pt x="2279" y="13"/>
                    <a:pt x="2275" y="16"/>
                  </a:cubicBezTo>
                  <a:close/>
                  <a:moveTo>
                    <a:pt x="1953" y="224"/>
                  </a:moveTo>
                  <a:lnTo>
                    <a:pt x="1752" y="355"/>
                  </a:lnTo>
                  <a:cubicBezTo>
                    <a:pt x="1748" y="357"/>
                    <a:pt x="1743" y="356"/>
                    <a:pt x="1741" y="353"/>
                  </a:cubicBezTo>
                  <a:cubicBezTo>
                    <a:pt x="1738" y="349"/>
                    <a:pt x="1739" y="344"/>
                    <a:pt x="1743" y="342"/>
                  </a:cubicBezTo>
                  <a:lnTo>
                    <a:pt x="1944" y="211"/>
                  </a:lnTo>
                  <a:cubicBezTo>
                    <a:pt x="1948" y="209"/>
                    <a:pt x="1953" y="210"/>
                    <a:pt x="1955" y="213"/>
                  </a:cubicBezTo>
                  <a:cubicBezTo>
                    <a:pt x="1958" y="217"/>
                    <a:pt x="1957" y="222"/>
                    <a:pt x="1953" y="224"/>
                  </a:cubicBezTo>
                  <a:close/>
                  <a:moveTo>
                    <a:pt x="1631" y="433"/>
                  </a:moveTo>
                  <a:lnTo>
                    <a:pt x="1429" y="564"/>
                  </a:lnTo>
                  <a:cubicBezTo>
                    <a:pt x="1426" y="566"/>
                    <a:pt x="1421" y="565"/>
                    <a:pt x="1418" y="562"/>
                  </a:cubicBezTo>
                  <a:cubicBezTo>
                    <a:pt x="1416" y="558"/>
                    <a:pt x="1417" y="553"/>
                    <a:pt x="1421" y="550"/>
                  </a:cubicBezTo>
                  <a:lnTo>
                    <a:pt x="1622" y="420"/>
                  </a:lnTo>
                  <a:cubicBezTo>
                    <a:pt x="1626" y="418"/>
                    <a:pt x="1631" y="419"/>
                    <a:pt x="1633" y="422"/>
                  </a:cubicBezTo>
                  <a:cubicBezTo>
                    <a:pt x="1636" y="426"/>
                    <a:pt x="1634" y="431"/>
                    <a:pt x="1631" y="433"/>
                  </a:cubicBezTo>
                  <a:close/>
                  <a:moveTo>
                    <a:pt x="1309" y="642"/>
                  </a:moveTo>
                  <a:lnTo>
                    <a:pt x="1107" y="773"/>
                  </a:lnTo>
                  <a:cubicBezTo>
                    <a:pt x="1103" y="775"/>
                    <a:pt x="1098" y="774"/>
                    <a:pt x="1096" y="770"/>
                  </a:cubicBezTo>
                  <a:cubicBezTo>
                    <a:pt x="1094" y="767"/>
                    <a:pt x="1095" y="762"/>
                    <a:pt x="1098" y="759"/>
                  </a:cubicBezTo>
                  <a:lnTo>
                    <a:pt x="1300" y="629"/>
                  </a:lnTo>
                  <a:cubicBezTo>
                    <a:pt x="1304" y="626"/>
                    <a:pt x="1309" y="627"/>
                    <a:pt x="1311" y="631"/>
                  </a:cubicBezTo>
                  <a:cubicBezTo>
                    <a:pt x="1313" y="635"/>
                    <a:pt x="1312" y="640"/>
                    <a:pt x="1309" y="642"/>
                  </a:cubicBezTo>
                  <a:close/>
                  <a:moveTo>
                    <a:pt x="986" y="851"/>
                  </a:moveTo>
                  <a:lnTo>
                    <a:pt x="785" y="982"/>
                  </a:lnTo>
                  <a:cubicBezTo>
                    <a:pt x="781" y="984"/>
                    <a:pt x="776" y="983"/>
                    <a:pt x="774" y="979"/>
                  </a:cubicBezTo>
                  <a:cubicBezTo>
                    <a:pt x="771" y="976"/>
                    <a:pt x="773" y="971"/>
                    <a:pt x="776" y="968"/>
                  </a:cubicBezTo>
                  <a:lnTo>
                    <a:pt x="978" y="838"/>
                  </a:lnTo>
                  <a:cubicBezTo>
                    <a:pt x="981" y="835"/>
                    <a:pt x="986" y="836"/>
                    <a:pt x="989" y="840"/>
                  </a:cubicBezTo>
                  <a:cubicBezTo>
                    <a:pt x="991" y="844"/>
                    <a:pt x="990" y="849"/>
                    <a:pt x="986" y="851"/>
                  </a:cubicBezTo>
                  <a:close/>
                  <a:moveTo>
                    <a:pt x="664" y="1060"/>
                  </a:moveTo>
                  <a:lnTo>
                    <a:pt x="463" y="1191"/>
                  </a:lnTo>
                  <a:cubicBezTo>
                    <a:pt x="459" y="1193"/>
                    <a:pt x="454" y="1192"/>
                    <a:pt x="452" y="1188"/>
                  </a:cubicBezTo>
                  <a:cubicBezTo>
                    <a:pt x="449" y="1184"/>
                    <a:pt x="450" y="1179"/>
                    <a:pt x="454" y="1177"/>
                  </a:cubicBezTo>
                  <a:lnTo>
                    <a:pt x="655" y="1047"/>
                  </a:lnTo>
                  <a:cubicBezTo>
                    <a:pt x="659" y="1044"/>
                    <a:pt x="664" y="1045"/>
                    <a:pt x="666" y="1049"/>
                  </a:cubicBezTo>
                  <a:cubicBezTo>
                    <a:pt x="669" y="1053"/>
                    <a:pt x="668" y="1058"/>
                    <a:pt x="664" y="1060"/>
                  </a:cubicBezTo>
                  <a:close/>
                  <a:moveTo>
                    <a:pt x="342" y="1269"/>
                  </a:moveTo>
                  <a:lnTo>
                    <a:pt x="140" y="1399"/>
                  </a:lnTo>
                  <a:cubicBezTo>
                    <a:pt x="137" y="1402"/>
                    <a:pt x="132" y="1401"/>
                    <a:pt x="129" y="1397"/>
                  </a:cubicBezTo>
                  <a:cubicBezTo>
                    <a:pt x="127" y="1393"/>
                    <a:pt x="128" y="1388"/>
                    <a:pt x="132" y="1386"/>
                  </a:cubicBezTo>
                  <a:lnTo>
                    <a:pt x="333" y="1255"/>
                  </a:lnTo>
                  <a:cubicBezTo>
                    <a:pt x="337" y="1253"/>
                    <a:pt x="342" y="1254"/>
                    <a:pt x="344" y="1258"/>
                  </a:cubicBezTo>
                  <a:cubicBezTo>
                    <a:pt x="347" y="1261"/>
                    <a:pt x="346" y="1266"/>
                    <a:pt x="342" y="1269"/>
                  </a:cubicBezTo>
                  <a:close/>
                  <a:moveTo>
                    <a:pt x="20" y="1478"/>
                  </a:moveTo>
                  <a:lnTo>
                    <a:pt x="14" y="1482"/>
                  </a:lnTo>
                  <a:cubicBezTo>
                    <a:pt x="10" y="1484"/>
                    <a:pt x="5" y="1483"/>
                    <a:pt x="3" y="1479"/>
                  </a:cubicBezTo>
                  <a:cubicBezTo>
                    <a:pt x="0" y="1476"/>
                    <a:pt x="1" y="1471"/>
                    <a:pt x="5" y="1468"/>
                  </a:cubicBezTo>
                  <a:lnTo>
                    <a:pt x="11" y="1464"/>
                  </a:lnTo>
                  <a:cubicBezTo>
                    <a:pt x="15" y="1462"/>
                    <a:pt x="20" y="1463"/>
                    <a:pt x="22" y="1467"/>
                  </a:cubicBezTo>
                  <a:cubicBezTo>
                    <a:pt x="24" y="1470"/>
                    <a:pt x="23" y="1475"/>
                    <a:pt x="20" y="1478"/>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71" name="Freeform 62"/>
            <p:cNvSpPr/>
            <p:nvPr/>
          </p:nvSpPr>
          <p:spPr bwMode="auto">
            <a:xfrm>
              <a:off x="669" y="3522"/>
              <a:ext cx="26" cy="22"/>
            </a:xfrm>
            <a:custGeom>
              <a:avLst/>
              <a:gdLst>
                <a:gd name="T0" fmla="*/ 26 w 26"/>
                <a:gd name="T1" fmla="*/ 15 h 22"/>
                <a:gd name="T2" fmla="*/ 0 w 26"/>
                <a:gd name="T3" fmla="*/ 22 h 22"/>
                <a:gd name="T4" fmla="*/ 17 w 26"/>
                <a:gd name="T5" fmla="*/ 0 h 22"/>
                <a:gd name="T6" fmla="*/ 26 w 26"/>
                <a:gd name="T7" fmla="*/ 15 h 22"/>
              </a:gdLst>
              <a:ahLst/>
              <a:cxnLst>
                <a:cxn ang="0">
                  <a:pos x="T0" y="T1"/>
                </a:cxn>
                <a:cxn ang="0">
                  <a:pos x="T2" y="T3"/>
                </a:cxn>
                <a:cxn ang="0">
                  <a:pos x="T4" y="T5"/>
                </a:cxn>
                <a:cxn ang="0">
                  <a:pos x="T6" y="T7"/>
                </a:cxn>
              </a:cxnLst>
              <a:rect l="0" t="0" r="r" b="b"/>
              <a:pathLst>
                <a:path w="26" h="22">
                  <a:moveTo>
                    <a:pt x="26" y="15"/>
                  </a:moveTo>
                  <a:lnTo>
                    <a:pt x="0" y="22"/>
                  </a:lnTo>
                  <a:lnTo>
                    <a:pt x="17" y="0"/>
                  </a:lnTo>
                  <a:lnTo>
                    <a:pt x="26" y="1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63"/>
            <p:cNvSpPr>
              <a:spLocks noEditPoints="1"/>
            </p:cNvSpPr>
            <p:nvPr/>
          </p:nvSpPr>
          <p:spPr bwMode="auto">
            <a:xfrm>
              <a:off x="363" y="3633"/>
              <a:ext cx="156" cy="3"/>
            </a:xfrm>
            <a:custGeom>
              <a:avLst/>
              <a:gdLst>
                <a:gd name="T0" fmla="*/ 1301 w 1309"/>
                <a:gd name="T1" fmla="*/ 16 h 16"/>
                <a:gd name="T2" fmla="*/ 1061 w 1309"/>
                <a:gd name="T3" fmla="*/ 16 h 16"/>
                <a:gd name="T4" fmla="*/ 1053 w 1309"/>
                <a:gd name="T5" fmla="*/ 8 h 16"/>
                <a:gd name="T6" fmla="*/ 1061 w 1309"/>
                <a:gd name="T7" fmla="*/ 0 h 16"/>
                <a:gd name="T8" fmla="*/ 1301 w 1309"/>
                <a:gd name="T9" fmla="*/ 0 h 16"/>
                <a:gd name="T10" fmla="*/ 1309 w 1309"/>
                <a:gd name="T11" fmla="*/ 8 h 16"/>
                <a:gd name="T12" fmla="*/ 1301 w 1309"/>
                <a:gd name="T13" fmla="*/ 16 h 16"/>
                <a:gd name="T14" fmla="*/ 917 w 1309"/>
                <a:gd name="T15" fmla="*/ 16 h 16"/>
                <a:gd name="T16" fmla="*/ 677 w 1309"/>
                <a:gd name="T17" fmla="*/ 16 h 16"/>
                <a:gd name="T18" fmla="*/ 669 w 1309"/>
                <a:gd name="T19" fmla="*/ 8 h 16"/>
                <a:gd name="T20" fmla="*/ 677 w 1309"/>
                <a:gd name="T21" fmla="*/ 0 h 16"/>
                <a:gd name="T22" fmla="*/ 917 w 1309"/>
                <a:gd name="T23" fmla="*/ 0 h 16"/>
                <a:gd name="T24" fmla="*/ 925 w 1309"/>
                <a:gd name="T25" fmla="*/ 8 h 16"/>
                <a:gd name="T26" fmla="*/ 917 w 1309"/>
                <a:gd name="T27" fmla="*/ 16 h 16"/>
                <a:gd name="T28" fmla="*/ 533 w 1309"/>
                <a:gd name="T29" fmla="*/ 16 h 16"/>
                <a:gd name="T30" fmla="*/ 293 w 1309"/>
                <a:gd name="T31" fmla="*/ 16 h 16"/>
                <a:gd name="T32" fmla="*/ 285 w 1309"/>
                <a:gd name="T33" fmla="*/ 8 h 16"/>
                <a:gd name="T34" fmla="*/ 293 w 1309"/>
                <a:gd name="T35" fmla="*/ 0 h 16"/>
                <a:gd name="T36" fmla="*/ 533 w 1309"/>
                <a:gd name="T37" fmla="*/ 0 h 16"/>
                <a:gd name="T38" fmla="*/ 541 w 1309"/>
                <a:gd name="T39" fmla="*/ 8 h 16"/>
                <a:gd name="T40" fmla="*/ 533 w 1309"/>
                <a:gd name="T41" fmla="*/ 16 h 16"/>
                <a:gd name="T42" fmla="*/ 149 w 1309"/>
                <a:gd name="T43" fmla="*/ 16 h 16"/>
                <a:gd name="T44" fmla="*/ 8 w 1309"/>
                <a:gd name="T45" fmla="*/ 16 h 16"/>
                <a:gd name="T46" fmla="*/ 0 w 1309"/>
                <a:gd name="T47" fmla="*/ 8 h 16"/>
                <a:gd name="T48" fmla="*/ 8 w 1309"/>
                <a:gd name="T49" fmla="*/ 0 h 16"/>
                <a:gd name="T50" fmla="*/ 149 w 1309"/>
                <a:gd name="T51" fmla="*/ 0 h 16"/>
                <a:gd name="T52" fmla="*/ 157 w 1309"/>
                <a:gd name="T53" fmla="*/ 8 h 16"/>
                <a:gd name="T54" fmla="*/ 149 w 1309"/>
                <a:gd name="T5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09" h="16">
                  <a:moveTo>
                    <a:pt x="1301" y="16"/>
                  </a:moveTo>
                  <a:lnTo>
                    <a:pt x="1061" y="16"/>
                  </a:lnTo>
                  <a:cubicBezTo>
                    <a:pt x="1057" y="16"/>
                    <a:pt x="1053" y="13"/>
                    <a:pt x="1053" y="8"/>
                  </a:cubicBezTo>
                  <a:cubicBezTo>
                    <a:pt x="1053" y="4"/>
                    <a:pt x="1057" y="0"/>
                    <a:pt x="1061" y="0"/>
                  </a:cubicBezTo>
                  <a:lnTo>
                    <a:pt x="1301" y="0"/>
                  </a:lnTo>
                  <a:cubicBezTo>
                    <a:pt x="1305" y="0"/>
                    <a:pt x="1309" y="4"/>
                    <a:pt x="1309" y="8"/>
                  </a:cubicBezTo>
                  <a:cubicBezTo>
                    <a:pt x="1309" y="13"/>
                    <a:pt x="1305" y="16"/>
                    <a:pt x="1301" y="16"/>
                  </a:cubicBezTo>
                  <a:close/>
                  <a:moveTo>
                    <a:pt x="917" y="16"/>
                  </a:moveTo>
                  <a:lnTo>
                    <a:pt x="677" y="16"/>
                  </a:lnTo>
                  <a:cubicBezTo>
                    <a:pt x="673" y="16"/>
                    <a:pt x="669" y="13"/>
                    <a:pt x="669" y="8"/>
                  </a:cubicBezTo>
                  <a:cubicBezTo>
                    <a:pt x="669" y="4"/>
                    <a:pt x="673" y="0"/>
                    <a:pt x="677" y="0"/>
                  </a:cubicBezTo>
                  <a:lnTo>
                    <a:pt x="917" y="0"/>
                  </a:lnTo>
                  <a:cubicBezTo>
                    <a:pt x="921" y="0"/>
                    <a:pt x="925" y="4"/>
                    <a:pt x="925" y="8"/>
                  </a:cubicBezTo>
                  <a:cubicBezTo>
                    <a:pt x="925" y="13"/>
                    <a:pt x="921" y="16"/>
                    <a:pt x="917" y="16"/>
                  </a:cubicBezTo>
                  <a:close/>
                  <a:moveTo>
                    <a:pt x="533" y="16"/>
                  </a:moveTo>
                  <a:lnTo>
                    <a:pt x="293" y="16"/>
                  </a:lnTo>
                  <a:cubicBezTo>
                    <a:pt x="289" y="16"/>
                    <a:pt x="285" y="13"/>
                    <a:pt x="285" y="8"/>
                  </a:cubicBezTo>
                  <a:cubicBezTo>
                    <a:pt x="285" y="4"/>
                    <a:pt x="289" y="0"/>
                    <a:pt x="293" y="0"/>
                  </a:cubicBezTo>
                  <a:lnTo>
                    <a:pt x="533" y="0"/>
                  </a:lnTo>
                  <a:cubicBezTo>
                    <a:pt x="537" y="0"/>
                    <a:pt x="541" y="4"/>
                    <a:pt x="541" y="8"/>
                  </a:cubicBezTo>
                  <a:cubicBezTo>
                    <a:pt x="541" y="13"/>
                    <a:pt x="537" y="16"/>
                    <a:pt x="533" y="16"/>
                  </a:cubicBezTo>
                  <a:close/>
                  <a:moveTo>
                    <a:pt x="149" y="16"/>
                  </a:moveTo>
                  <a:lnTo>
                    <a:pt x="8" y="16"/>
                  </a:lnTo>
                  <a:cubicBezTo>
                    <a:pt x="4" y="16"/>
                    <a:pt x="0" y="13"/>
                    <a:pt x="0" y="8"/>
                  </a:cubicBezTo>
                  <a:cubicBezTo>
                    <a:pt x="0" y="4"/>
                    <a:pt x="4" y="0"/>
                    <a:pt x="8" y="0"/>
                  </a:cubicBezTo>
                  <a:lnTo>
                    <a:pt x="149" y="0"/>
                  </a:lnTo>
                  <a:cubicBezTo>
                    <a:pt x="153" y="0"/>
                    <a:pt x="157" y="4"/>
                    <a:pt x="157" y="8"/>
                  </a:cubicBezTo>
                  <a:cubicBezTo>
                    <a:pt x="157" y="13"/>
                    <a:pt x="153" y="16"/>
                    <a:pt x="149" y="16"/>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73" name="Freeform 64"/>
            <p:cNvSpPr/>
            <p:nvPr/>
          </p:nvSpPr>
          <p:spPr bwMode="auto">
            <a:xfrm>
              <a:off x="342" y="3625"/>
              <a:ext cx="25" cy="19"/>
            </a:xfrm>
            <a:custGeom>
              <a:avLst/>
              <a:gdLst>
                <a:gd name="T0" fmla="*/ 25 w 25"/>
                <a:gd name="T1" fmla="*/ 19 h 19"/>
                <a:gd name="T2" fmla="*/ 0 w 25"/>
                <a:gd name="T3" fmla="*/ 9 h 19"/>
                <a:gd name="T4" fmla="*/ 25 w 25"/>
                <a:gd name="T5" fmla="*/ 0 h 19"/>
                <a:gd name="T6" fmla="*/ 25 w 25"/>
                <a:gd name="T7" fmla="*/ 19 h 19"/>
              </a:gdLst>
              <a:ahLst/>
              <a:cxnLst>
                <a:cxn ang="0">
                  <a:pos x="T0" y="T1"/>
                </a:cxn>
                <a:cxn ang="0">
                  <a:pos x="T2" y="T3"/>
                </a:cxn>
                <a:cxn ang="0">
                  <a:pos x="T4" y="T5"/>
                </a:cxn>
                <a:cxn ang="0">
                  <a:pos x="T6" y="T7"/>
                </a:cxn>
              </a:cxnLst>
              <a:rect l="0" t="0" r="r" b="b"/>
              <a:pathLst>
                <a:path w="25" h="19">
                  <a:moveTo>
                    <a:pt x="25" y="19"/>
                  </a:moveTo>
                  <a:lnTo>
                    <a:pt x="0" y="9"/>
                  </a:lnTo>
                  <a:lnTo>
                    <a:pt x="25" y="0"/>
                  </a:lnTo>
                  <a:lnTo>
                    <a:pt x="25" y="1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65"/>
            <p:cNvSpPr>
              <a:spLocks noEditPoints="1"/>
            </p:cNvSpPr>
            <p:nvPr/>
          </p:nvSpPr>
          <p:spPr bwMode="auto">
            <a:xfrm>
              <a:off x="752" y="3622"/>
              <a:ext cx="150" cy="2"/>
            </a:xfrm>
            <a:custGeom>
              <a:avLst/>
              <a:gdLst>
                <a:gd name="T0" fmla="*/ 1254 w 1262"/>
                <a:gd name="T1" fmla="*/ 16 h 16"/>
                <a:gd name="T2" fmla="*/ 1014 w 1262"/>
                <a:gd name="T3" fmla="*/ 16 h 16"/>
                <a:gd name="T4" fmla="*/ 1006 w 1262"/>
                <a:gd name="T5" fmla="*/ 8 h 16"/>
                <a:gd name="T6" fmla="*/ 1014 w 1262"/>
                <a:gd name="T7" fmla="*/ 0 h 16"/>
                <a:gd name="T8" fmla="*/ 1254 w 1262"/>
                <a:gd name="T9" fmla="*/ 0 h 16"/>
                <a:gd name="T10" fmla="*/ 1262 w 1262"/>
                <a:gd name="T11" fmla="*/ 8 h 16"/>
                <a:gd name="T12" fmla="*/ 1254 w 1262"/>
                <a:gd name="T13" fmla="*/ 16 h 16"/>
                <a:gd name="T14" fmla="*/ 870 w 1262"/>
                <a:gd name="T15" fmla="*/ 16 h 16"/>
                <a:gd name="T16" fmla="*/ 630 w 1262"/>
                <a:gd name="T17" fmla="*/ 16 h 16"/>
                <a:gd name="T18" fmla="*/ 622 w 1262"/>
                <a:gd name="T19" fmla="*/ 8 h 16"/>
                <a:gd name="T20" fmla="*/ 630 w 1262"/>
                <a:gd name="T21" fmla="*/ 0 h 16"/>
                <a:gd name="T22" fmla="*/ 870 w 1262"/>
                <a:gd name="T23" fmla="*/ 0 h 16"/>
                <a:gd name="T24" fmla="*/ 878 w 1262"/>
                <a:gd name="T25" fmla="*/ 8 h 16"/>
                <a:gd name="T26" fmla="*/ 870 w 1262"/>
                <a:gd name="T27" fmla="*/ 16 h 16"/>
                <a:gd name="T28" fmla="*/ 486 w 1262"/>
                <a:gd name="T29" fmla="*/ 16 h 16"/>
                <a:gd name="T30" fmla="*/ 246 w 1262"/>
                <a:gd name="T31" fmla="*/ 16 h 16"/>
                <a:gd name="T32" fmla="*/ 238 w 1262"/>
                <a:gd name="T33" fmla="*/ 8 h 16"/>
                <a:gd name="T34" fmla="*/ 246 w 1262"/>
                <a:gd name="T35" fmla="*/ 0 h 16"/>
                <a:gd name="T36" fmla="*/ 486 w 1262"/>
                <a:gd name="T37" fmla="*/ 0 h 16"/>
                <a:gd name="T38" fmla="*/ 494 w 1262"/>
                <a:gd name="T39" fmla="*/ 8 h 16"/>
                <a:gd name="T40" fmla="*/ 486 w 1262"/>
                <a:gd name="T41" fmla="*/ 16 h 16"/>
                <a:gd name="T42" fmla="*/ 102 w 1262"/>
                <a:gd name="T43" fmla="*/ 16 h 16"/>
                <a:gd name="T44" fmla="*/ 8 w 1262"/>
                <a:gd name="T45" fmla="*/ 16 h 16"/>
                <a:gd name="T46" fmla="*/ 0 w 1262"/>
                <a:gd name="T47" fmla="*/ 8 h 16"/>
                <a:gd name="T48" fmla="*/ 8 w 1262"/>
                <a:gd name="T49" fmla="*/ 0 h 16"/>
                <a:gd name="T50" fmla="*/ 102 w 1262"/>
                <a:gd name="T51" fmla="*/ 0 h 16"/>
                <a:gd name="T52" fmla="*/ 110 w 1262"/>
                <a:gd name="T53" fmla="*/ 8 h 16"/>
                <a:gd name="T54" fmla="*/ 102 w 1262"/>
                <a:gd name="T5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2" h="16">
                  <a:moveTo>
                    <a:pt x="1254" y="16"/>
                  </a:moveTo>
                  <a:lnTo>
                    <a:pt x="1014" y="16"/>
                  </a:lnTo>
                  <a:cubicBezTo>
                    <a:pt x="1010" y="16"/>
                    <a:pt x="1006" y="12"/>
                    <a:pt x="1006" y="8"/>
                  </a:cubicBezTo>
                  <a:cubicBezTo>
                    <a:pt x="1006" y="4"/>
                    <a:pt x="1010" y="0"/>
                    <a:pt x="1014" y="0"/>
                  </a:cubicBezTo>
                  <a:lnTo>
                    <a:pt x="1254" y="0"/>
                  </a:lnTo>
                  <a:cubicBezTo>
                    <a:pt x="1259" y="0"/>
                    <a:pt x="1262" y="4"/>
                    <a:pt x="1262" y="8"/>
                  </a:cubicBezTo>
                  <a:cubicBezTo>
                    <a:pt x="1262" y="12"/>
                    <a:pt x="1259" y="16"/>
                    <a:pt x="1254" y="16"/>
                  </a:cubicBezTo>
                  <a:close/>
                  <a:moveTo>
                    <a:pt x="870" y="16"/>
                  </a:moveTo>
                  <a:lnTo>
                    <a:pt x="630" y="16"/>
                  </a:lnTo>
                  <a:cubicBezTo>
                    <a:pt x="626" y="16"/>
                    <a:pt x="622" y="12"/>
                    <a:pt x="622" y="8"/>
                  </a:cubicBezTo>
                  <a:cubicBezTo>
                    <a:pt x="622" y="4"/>
                    <a:pt x="626" y="0"/>
                    <a:pt x="630" y="0"/>
                  </a:cubicBezTo>
                  <a:lnTo>
                    <a:pt x="870" y="0"/>
                  </a:lnTo>
                  <a:cubicBezTo>
                    <a:pt x="875" y="0"/>
                    <a:pt x="878" y="4"/>
                    <a:pt x="878" y="8"/>
                  </a:cubicBezTo>
                  <a:cubicBezTo>
                    <a:pt x="878" y="12"/>
                    <a:pt x="875" y="16"/>
                    <a:pt x="870" y="16"/>
                  </a:cubicBezTo>
                  <a:close/>
                  <a:moveTo>
                    <a:pt x="486" y="16"/>
                  </a:moveTo>
                  <a:lnTo>
                    <a:pt x="246" y="16"/>
                  </a:lnTo>
                  <a:cubicBezTo>
                    <a:pt x="242" y="16"/>
                    <a:pt x="238" y="12"/>
                    <a:pt x="238" y="8"/>
                  </a:cubicBezTo>
                  <a:cubicBezTo>
                    <a:pt x="238" y="4"/>
                    <a:pt x="242" y="0"/>
                    <a:pt x="246" y="0"/>
                  </a:cubicBezTo>
                  <a:lnTo>
                    <a:pt x="486" y="0"/>
                  </a:lnTo>
                  <a:cubicBezTo>
                    <a:pt x="491" y="0"/>
                    <a:pt x="494" y="4"/>
                    <a:pt x="494" y="8"/>
                  </a:cubicBezTo>
                  <a:cubicBezTo>
                    <a:pt x="494" y="12"/>
                    <a:pt x="491" y="16"/>
                    <a:pt x="486" y="16"/>
                  </a:cubicBezTo>
                  <a:close/>
                  <a:moveTo>
                    <a:pt x="102" y="16"/>
                  </a:moveTo>
                  <a:lnTo>
                    <a:pt x="8" y="16"/>
                  </a:lnTo>
                  <a:cubicBezTo>
                    <a:pt x="3" y="16"/>
                    <a:pt x="0" y="12"/>
                    <a:pt x="0" y="8"/>
                  </a:cubicBezTo>
                  <a:cubicBezTo>
                    <a:pt x="0" y="4"/>
                    <a:pt x="3" y="0"/>
                    <a:pt x="8" y="0"/>
                  </a:cubicBezTo>
                  <a:lnTo>
                    <a:pt x="102" y="0"/>
                  </a:lnTo>
                  <a:cubicBezTo>
                    <a:pt x="107" y="0"/>
                    <a:pt x="110" y="4"/>
                    <a:pt x="110" y="8"/>
                  </a:cubicBezTo>
                  <a:cubicBezTo>
                    <a:pt x="110" y="12"/>
                    <a:pt x="107" y="16"/>
                    <a:pt x="102" y="16"/>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75" name="Freeform 66"/>
            <p:cNvSpPr/>
            <p:nvPr/>
          </p:nvSpPr>
          <p:spPr bwMode="auto">
            <a:xfrm>
              <a:off x="730" y="3614"/>
              <a:ext cx="25" cy="18"/>
            </a:xfrm>
            <a:custGeom>
              <a:avLst/>
              <a:gdLst>
                <a:gd name="T0" fmla="*/ 25 w 25"/>
                <a:gd name="T1" fmla="*/ 18 h 18"/>
                <a:gd name="T2" fmla="*/ 0 w 25"/>
                <a:gd name="T3" fmla="*/ 9 h 18"/>
                <a:gd name="T4" fmla="*/ 25 w 25"/>
                <a:gd name="T5" fmla="*/ 0 h 18"/>
                <a:gd name="T6" fmla="*/ 25 w 25"/>
                <a:gd name="T7" fmla="*/ 18 h 18"/>
              </a:gdLst>
              <a:ahLst/>
              <a:cxnLst>
                <a:cxn ang="0">
                  <a:pos x="T0" y="T1"/>
                </a:cxn>
                <a:cxn ang="0">
                  <a:pos x="T2" y="T3"/>
                </a:cxn>
                <a:cxn ang="0">
                  <a:pos x="T4" y="T5"/>
                </a:cxn>
                <a:cxn ang="0">
                  <a:pos x="T6" y="T7"/>
                </a:cxn>
              </a:cxnLst>
              <a:rect l="0" t="0" r="r" b="b"/>
              <a:pathLst>
                <a:path w="25" h="18">
                  <a:moveTo>
                    <a:pt x="25" y="18"/>
                  </a:moveTo>
                  <a:lnTo>
                    <a:pt x="0" y="9"/>
                  </a:lnTo>
                  <a:lnTo>
                    <a:pt x="25" y="0"/>
                  </a:lnTo>
                  <a:lnTo>
                    <a:pt x="25"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67"/>
            <p:cNvSpPr>
              <a:spLocks noEditPoints="1"/>
            </p:cNvSpPr>
            <p:nvPr/>
          </p:nvSpPr>
          <p:spPr bwMode="auto">
            <a:xfrm>
              <a:off x="1138" y="3623"/>
              <a:ext cx="196" cy="2"/>
            </a:xfrm>
            <a:custGeom>
              <a:avLst/>
              <a:gdLst>
                <a:gd name="T0" fmla="*/ 1641 w 1649"/>
                <a:gd name="T1" fmla="*/ 16 h 16"/>
                <a:gd name="T2" fmla="*/ 1401 w 1649"/>
                <a:gd name="T3" fmla="*/ 16 h 16"/>
                <a:gd name="T4" fmla="*/ 1393 w 1649"/>
                <a:gd name="T5" fmla="*/ 8 h 16"/>
                <a:gd name="T6" fmla="*/ 1401 w 1649"/>
                <a:gd name="T7" fmla="*/ 0 h 16"/>
                <a:gd name="T8" fmla="*/ 1641 w 1649"/>
                <a:gd name="T9" fmla="*/ 0 h 16"/>
                <a:gd name="T10" fmla="*/ 1649 w 1649"/>
                <a:gd name="T11" fmla="*/ 8 h 16"/>
                <a:gd name="T12" fmla="*/ 1641 w 1649"/>
                <a:gd name="T13" fmla="*/ 16 h 16"/>
                <a:gd name="T14" fmla="*/ 1257 w 1649"/>
                <a:gd name="T15" fmla="*/ 16 h 16"/>
                <a:gd name="T16" fmla="*/ 1017 w 1649"/>
                <a:gd name="T17" fmla="*/ 16 h 16"/>
                <a:gd name="T18" fmla="*/ 1009 w 1649"/>
                <a:gd name="T19" fmla="*/ 8 h 16"/>
                <a:gd name="T20" fmla="*/ 1017 w 1649"/>
                <a:gd name="T21" fmla="*/ 0 h 16"/>
                <a:gd name="T22" fmla="*/ 1257 w 1649"/>
                <a:gd name="T23" fmla="*/ 0 h 16"/>
                <a:gd name="T24" fmla="*/ 1265 w 1649"/>
                <a:gd name="T25" fmla="*/ 8 h 16"/>
                <a:gd name="T26" fmla="*/ 1257 w 1649"/>
                <a:gd name="T27" fmla="*/ 16 h 16"/>
                <a:gd name="T28" fmla="*/ 873 w 1649"/>
                <a:gd name="T29" fmla="*/ 16 h 16"/>
                <a:gd name="T30" fmla="*/ 633 w 1649"/>
                <a:gd name="T31" fmla="*/ 16 h 16"/>
                <a:gd name="T32" fmla="*/ 625 w 1649"/>
                <a:gd name="T33" fmla="*/ 8 h 16"/>
                <a:gd name="T34" fmla="*/ 633 w 1649"/>
                <a:gd name="T35" fmla="*/ 0 h 16"/>
                <a:gd name="T36" fmla="*/ 873 w 1649"/>
                <a:gd name="T37" fmla="*/ 0 h 16"/>
                <a:gd name="T38" fmla="*/ 881 w 1649"/>
                <a:gd name="T39" fmla="*/ 8 h 16"/>
                <a:gd name="T40" fmla="*/ 873 w 1649"/>
                <a:gd name="T41" fmla="*/ 16 h 16"/>
                <a:gd name="T42" fmla="*/ 489 w 1649"/>
                <a:gd name="T43" fmla="*/ 16 h 16"/>
                <a:gd name="T44" fmla="*/ 249 w 1649"/>
                <a:gd name="T45" fmla="*/ 16 h 16"/>
                <a:gd name="T46" fmla="*/ 241 w 1649"/>
                <a:gd name="T47" fmla="*/ 8 h 16"/>
                <a:gd name="T48" fmla="*/ 249 w 1649"/>
                <a:gd name="T49" fmla="*/ 0 h 16"/>
                <a:gd name="T50" fmla="*/ 489 w 1649"/>
                <a:gd name="T51" fmla="*/ 0 h 16"/>
                <a:gd name="T52" fmla="*/ 497 w 1649"/>
                <a:gd name="T53" fmla="*/ 8 h 16"/>
                <a:gd name="T54" fmla="*/ 489 w 1649"/>
                <a:gd name="T55" fmla="*/ 16 h 16"/>
                <a:gd name="T56" fmla="*/ 105 w 1649"/>
                <a:gd name="T57" fmla="*/ 16 h 16"/>
                <a:gd name="T58" fmla="*/ 8 w 1649"/>
                <a:gd name="T59" fmla="*/ 16 h 16"/>
                <a:gd name="T60" fmla="*/ 0 w 1649"/>
                <a:gd name="T61" fmla="*/ 8 h 16"/>
                <a:gd name="T62" fmla="*/ 8 w 1649"/>
                <a:gd name="T63" fmla="*/ 0 h 16"/>
                <a:gd name="T64" fmla="*/ 105 w 1649"/>
                <a:gd name="T65" fmla="*/ 0 h 16"/>
                <a:gd name="T66" fmla="*/ 113 w 1649"/>
                <a:gd name="T67" fmla="*/ 8 h 16"/>
                <a:gd name="T68" fmla="*/ 105 w 1649"/>
                <a:gd name="T6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9" h="16">
                  <a:moveTo>
                    <a:pt x="1641" y="16"/>
                  </a:moveTo>
                  <a:lnTo>
                    <a:pt x="1401" y="16"/>
                  </a:lnTo>
                  <a:cubicBezTo>
                    <a:pt x="1396" y="16"/>
                    <a:pt x="1393" y="13"/>
                    <a:pt x="1393" y="8"/>
                  </a:cubicBezTo>
                  <a:cubicBezTo>
                    <a:pt x="1393" y="4"/>
                    <a:pt x="1396" y="0"/>
                    <a:pt x="1401" y="0"/>
                  </a:cubicBezTo>
                  <a:lnTo>
                    <a:pt x="1641" y="0"/>
                  </a:lnTo>
                  <a:cubicBezTo>
                    <a:pt x="1645" y="0"/>
                    <a:pt x="1649" y="4"/>
                    <a:pt x="1649" y="8"/>
                  </a:cubicBezTo>
                  <a:cubicBezTo>
                    <a:pt x="1649" y="13"/>
                    <a:pt x="1645" y="16"/>
                    <a:pt x="1641" y="16"/>
                  </a:cubicBezTo>
                  <a:close/>
                  <a:moveTo>
                    <a:pt x="1257" y="16"/>
                  </a:moveTo>
                  <a:lnTo>
                    <a:pt x="1017" y="16"/>
                  </a:lnTo>
                  <a:cubicBezTo>
                    <a:pt x="1012" y="16"/>
                    <a:pt x="1009" y="13"/>
                    <a:pt x="1009" y="8"/>
                  </a:cubicBezTo>
                  <a:cubicBezTo>
                    <a:pt x="1009" y="4"/>
                    <a:pt x="1012" y="0"/>
                    <a:pt x="1017" y="0"/>
                  </a:cubicBezTo>
                  <a:lnTo>
                    <a:pt x="1257" y="0"/>
                  </a:lnTo>
                  <a:cubicBezTo>
                    <a:pt x="1261" y="0"/>
                    <a:pt x="1265" y="4"/>
                    <a:pt x="1265" y="8"/>
                  </a:cubicBezTo>
                  <a:cubicBezTo>
                    <a:pt x="1265" y="13"/>
                    <a:pt x="1261" y="16"/>
                    <a:pt x="1257" y="16"/>
                  </a:cubicBezTo>
                  <a:close/>
                  <a:moveTo>
                    <a:pt x="873" y="16"/>
                  </a:moveTo>
                  <a:lnTo>
                    <a:pt x="633" y="16"/>
                  </a:lnTo>
                  <a:cubicBezTo>
                    <a:pt x="628" y="16"/>
                    <a:pt x="625" y="13"/>
                    <a:pt x="625" y="8"/>
                  </a:cubicBezTo>
                  <a:cubicBezTo>
                    <a:pt x="625" y="4"/>
                    <a:pt x="628" y="0"/>
                    <a:pt x="633" y="0"/>
                  </a:cubicBezTo>
                  <a:lnTo>
                    <a:pt x="873" y="0"/>
                  </a:lnTo>
                  <a:cubicBezTo>
                    <a:pt x="877" y="0"/>
                    <a:pt x="881" y="4"/>
                    <a:pt x="881" y="8"/>
                  </a:cubicBezTo>
                  <a:cubicBezTo>
                    <a:pt x="881" y="13"/>
                    <a:pt x="877" y="16"/>
                    <a:pt x="873" y="16"/>
                  </a:cubicBezTo>
                  <a:close/>
                  <a:moveTo>
                    <a:pt x="489" y="16"/>
                  </a:moveTo>
                  <a:lnTo>
                    <a:pt x="249" y="16"/>
                  </a:lnTo>
                  <a:cubicBezTo>
                    <a:pt x="244" y="16"/>
                    <a:pt x="241" y="13"/>
                    <a:pt x="241" y="8"/>
                  </a:cubicBezTo>
                  <a:cubicBezTo>
                    <a:pt x="241" y="4"/>
                    <a:pt x="244" y="0"/>
                    <a:pt x="249" y="0"/>
                  </a:cubicBezTo>
                  <a:lnTo>
                    <a:pt x="489" y="0"/>
                  </a:lnTo>
                  <a:cubicBezTo>
                    <a:pt x="493" y="0"/>
                    <a:pt x="497" y="4"/>
                    <a:pt x="497" y="8"/>
                  </a:cubicBezTo>
                  <a:cubicBezTo>
                    <a:pt x="497" y="13"/>
                    <a:pt x="493" y="16"/>
                    <a:pt x="489" y="16"/>
                  </a:cubicBezTo>
                  <a:close/>
                  <a:moveTo>
                    <a:pt x="105" y="16"/>
                  </a:moveTo>
                  <a:lnTo>
                    <a:pt x="8" y="16"/>
                  </a:lnTo>
                  <a:cubicBezTo>
                    <a:pt x="4" y="16"/>
                    <a:pt x="0" y="13"/>
                    <a:pt x="0" y="8"/>
                  </a:cubicBezTo>
                  <a:cubicBezTo>
                    <a:pt x="0" y="4"/>
                    <a:pt x="4" y="0"/>
                    <a:pt x="8" y="0"/>
                  </a:cubicBezTo>
                  <a:lnTo>
                    <a:pt x="105" y="0"/>
                  </a:lnTo>
                  <a:cubicBezTo>
                    <a:pt x="109" y="0"/>
                    <a:pt x="113" y="4"/>
                    <a:pt x="113" y="8"/>
                  </a:cubicBezTo>
                  <a:cubicBezTo>
                    <a:pt x="113" y="13"/>
                    <a:pt x="109" y="16"/>
                    <a:pt x="105" y="16"/>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77" name="Freeform 68"/>
            <p:cNvSpPr/>
            <p:nvPr/>
          </p:nvSpPr>
          <p:spPr bwMode="auto">
            <a:xfrm>
              <a:off x="1116" y="3615"/>
              <a:ext cx="25" cy="18"/>
            </a:xfrm>
            <a:custGeom>
              <a:avLst/>
              <a:gdLst>
                <a:gd name="T0" fmla="*/ 25 w 25"/>
                <a:gd name="T1" fmla="*/ 18 h 18"/>
                <a:gd name="T2" fmla="*/ 0 w 25"/>
                <a:gd name="T3" fmla="*/ 9 h 18"/>
                <a:gd name="T4" fmla="*/ 25 w 25"/>
                <a:gd name="T5" fmla="*/ 0 h 18"/>
                <a:gd name="T6" fmla="*/ 25 w 25"/>
                <a:gd name="T7" fmla="*/ 18 h 18"/>
              </a:gdLst>
              <a:ahLst/>
              <a:cxnLst>
                <a:cxn ang="0">
                  <a:pos x="T0" y="T1"/>
                </a:cxn>
                <a:cxn ang="0">
                  <a:pos x="T2" y="T3"/>
                </a:cxn>
                <a:cxn ang="0">
                  <a:pos x="T4" y="T5"/>
                </a:cxn>
                <a:cxn ang="0">
                  <a:pos x="T6" y="T7"/>
                </a:cxn>
              </a:cxnLst>
              <a:rect l="0" t="0" r="r" b="b"/>
              <a:pathLst>
                <a:path w="25" h="18">
                  <a:moveTo>
                    <a:pt x="25" y="18"/>
                  </a:moveTo>
                  <a:lnTo>
                    <a:pt x="0" y="9"/>
                  </a:lnTo>
                  <a:lnTo>
                    <a:pt x="25" y="0"/>
                  </a:lnTo>
                  <a:lnTo>
                    <a:pt x="25" y="1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Rectangle 69"/>
            <p:cNvSpPr>
              <a:spLocks noChangeArrowheads="1"/>
            </p:cNvSpPr>
            <p:nvPr/>
          </p:nvSpPr>
          <p:spPr bwMode="auto">
            <a:xfrm>
              <a:off x="225" y="3108"/>
              <a:ext cx="5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y</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79" name="Rectangle 70"/>
            <p:cNvSpPr>
              <a:spLocks noChangeArrowheads="1"/>
            </p:cNvSpPr>
            <p:nvPr/>
          </p:nvSpPr>
          <p:spPr bwMode="auto">
            <a:xfrm>
              <a:off x="611" y="3108"/>
              <a:ext cx="5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z</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0" name="Rectangle 71"/>
            <p:cNvSpPr>
              <a:spLocks noChangeArrowheads="1"/>
            </p:cNvSpPr>
            <p:nvPr/>
          </p:nvSpPr>
          <p:spPr bwMode="auto">
            <a:xfrm>
              <a:off x="997" y="3108"/>
              <a:ext cx="5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s</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1" name="Rectangle 72"/>
            <p:cNvSpPr>
              <a:spLocks noChangeArrowheads="1"/>
            </p:cNvSpPr>
            <p:nvPr/>
          </p:nvSpPr>
          <p:spPr bwMode="auto">
            <a:xfrm>
              <a:off x="1435" y="3108"/>
              <a:ext cx="3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2" name="Rectangle 73"/>
            <p:cNvSpPr>
              <a:spLocks noChangeArrowheads="1"/>
            </p:cNvSpPr>
            <p:nvPr/>
          </p:nvSpPr>
          <p:spPr bwMode="auto">
            <a:xfrm>
              <a:off x="225" y="3698"/>
              <a:ext cx="6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700" dirty="0">
                  <a:solidFill>
                    <a:srgbClr val="000000"/>
                  </a:solidFill>
                </a:rPr>
                <a:t>x</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83" name="Rectangle 74"/>
            <p:cNvSpPr>
              <a:spLocks noChangeArrowheads="1"/>
            </p:cNvSpPr>
            <p:nvPr/>
          </p:nvSpPr>
          <p:spPr bwMode="auto">
            <a:xfrm>
              <a:off x="605" y="3698"/>
              <a:ext cx="7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w</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4" name="Rectangle 75"/>
            <p:cNvSpPr>
              <a:spLocks noChangeArrowheads="1"/>
            </p:cNvSpPr>
            <p:nvPr/>
          </p:nvSpPr>
          <p:spPr bwMode="auto">
            <a:xfrm>
              <a:off x="997" y="3698"/>
              <a:ext cx="5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v</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5" name="Rectangle 76"/>
            <p:cNvSpPr>
              <a:spLocks noChangeArrowheads="1"/>
            </p:cNvSpPr>
            <p:nvPr/>
          </p:nvSpPr>
          <p:spPr bwMode="auto">
            <a:xfrm>
              <a:off x="1427" y="3698"/>
              <a:ext cx="5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u</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6" name="Freeform 77"/>
            <p:cNvSpPr>
              <a:spLocks noEditPoints="1"/>
            </p:cNvSpPr>
            <p:nvPr/>
          </p:nvSpPr>
          <p:spPr bwMode="auto">
            <a:xfrm>
              <a:off x="1010" y="3363"/>
              <a:ext cx="2" cy="175"/>
            </a:xfrm>
            <a:custGeom>
              <a:avLst/>
              <a:gdLst>
                <a:gd name="T0" fmla="*/ 0 w 16"/>
                <a:gd name="T1" fmla="*/ 1328 h 1336"/>
                <a:gd name="T2" fmla="*/ 0 w 16"/>
                <a:gd name="T3" fmla="*/ 1088 h 1336"/>
                <a:gd name="T4" fmla="*/ 8 w 16"/>
                <a:gd name="T5" fmla="*/ 1080 h 1336"/>
                <a:gd name="T6" fmla="*/ 16 w 16"/>
                <a:gd name="T7" fmla="*/ 1088 h 1336"/>
                <a:gd name="T8" fmla="*/ 16 w 16"/>
                <a:gd name="T9" fmla="*/ 1328 h 1336"/>
                <a:gd name="T10" fmla="*/ 8 w 16"/>
                <a:gd name="T11" fmla="*/ 1336 h 1336"/>
                <a:gd name="T12" fmla="*/ 0 w 16"/>
                <a:gd name="T13" fmla="*/ 1328 h 1336"/>
                <a:gd name="T14" fmla="*/ 0 w 16"/>
                <a:gd name="T15" fmla="*/ 944 h 1336"/>
                <a:gd name="T16" fmla="*/ 0 w 16"/>
                <a:gd name="T17" fmla="*/ 704 h 1336"/>
                <a:gd name="T18" fmla="*/ 8 w 16"/>
                <a:gd name="T19" fmla="*/ 696 h 1336"/>
                <a:gd name="T20" fmla="*/ 16 w 16"/>
                <a:gd name="T21" fmla="*/ 704 h 1336"/>
                <a:gd name="T22" fmla="*/ 16 w 16"/>
                <a:gd name="T23" fmla="*/ 944 h 1336"/>
                <a:gd name="T24" fmla="*/ 8 w 16"/>
                <a:gd name="T25" fmla="*/ 952 h 1336"/>
                <a:gd name="T26" fmla="*/ 0 w 16"/>
                <a:gd name="T27" fmla="*/ 944 h 1336"/>
                <a:gd name="T28" fmla="*/ 0 w 16"/>
                <a:gd name="T29" fmla="*/ 560 h 1336"/>
                <a:gd name="T30" fmla="*/ 0 w 16"/>
                <a:gd name="T31" fmla="*/ 320 h 1336"/>
                <a:gd name="T32" fmla="*/ 8 w 16"/>
                <a:gd name="T33" fmla="*/ 312 h 1336"/>
                <a:gd name="T34" fmla="*/ 16 w 16"/>
                <a:gd name="T35" fmla="*/ 320 h 1336"/>
                <a:gd name="T36" fmla="*/ 16 w 16"/>
                <a:gd name="T37" fmla="*/ 560 h 1336"/>
                <a:gd name="T38" fmla="*/ 8 w 16"/>
                <a:gd name="T39" fmla="*/ 568 h 1336"/>
                <a:gd name="T40" fmla="*/ 0 w 16"/>
                <a:gd name="T41" fmla="*/ 560 h 1336"/>
                <a:gd name="T42" fmla="*/ 0 w 16"/>
                <a:gd name="T43" fmla="*/ 176 h 1336"/>
                <a:gd name="T44" fmla="*/ 0 w 16"/>
                <a:gd name="T45" fmla="*/ 8 h 1336"/>
                <a:gd name="T46" fmla="*/ 8 w 16"/>
                <a:gd name="T47" fmla="*/ 0 h 1336"/>
                <a:gd name="T48" fmla="*/ 16 w 16"/>
                <a:gd name="T49" fmla="*/ 8 h 1336"/>
                <a:gd name="T50" fmla="*/ 16 w 16"/>
                <a:gd name="T51" fmla="*/ 176 h 1336"/>
                <a:gd name="T52" fmla="*/ 8 w 16"/>
                <a:gd name="T53" fmla="*/ 184 h 1336"/>
                <a:gd name="T54" fmla="*/ 0 w 16"/>
                <a:gd name="T55" fmla="*/ 17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 h="1336">
                  <a:moveTo>
                    <a:pt x="0" y="1328"/>
                  </a:moveTo>
                  <a:lnTo>
                    <a:pt x="0" y="1088"/>
                  </a:lnTo>
                  <a:cubicBezTo>
                    <a:pt x="0" y="1083"/>
                    <a:pt x="3" y="1080"/>
                    <a:pt x="8" y="1080"/>
                  </a:cubicBezTo>
                  <a:cubicBezTo>
                    <a:pt x="12" y="1080"/>
                    <a:pt x="16" y="1083"/>
                    <a:pt x="16" y="1088"/>
                  </a:cubicBezTo>
                  <a:lnTo>
                    <a:pt x="16" y="1328"/>
                  </a:lnTo>
                  <a:cubicBezTo>
                    <a:pt x="16" y="1332"/>
                    <a:pt x="12" y="1336"/>
                    <a:pt x="8" y="1336"/>
                  </a:cubicBezTo>
                  <a:cubicBezTo>
                    <a:pt x="3" y="1336"/>
                    <a:pt x="0" y="1332"/>
                    <a:pt x="0" y="1328"/>
                  </a:cubicBezTo>
                  <a:close/>
                  <a:moveTo>
                    <a:pt x="0" y="944"/>
                  </a:moveTo>
                  <a:lnTo>
                    <a:pt x="0" y="704"/>
                  </a:lnTo>
                  <a:cubicBezTo>
                    <a:pt x="0" y="699"/>
                    <a:pt x="3" y="696"/>
                    <a:pt x="8" y="696"/>
                  </a:cubicBezTo>
                  <a:cubicBezTo>
                    <a:pt x="12" y="696"/>
                    <a:pt x="16" y="699"/>
                    <a:pt x="16" y="704"/>
                  </a:cubicBezTo>
                  <a:lnTo>
                    <a:pt x="16" y="944"/>
                  </a:lnTo>
                  <a:cubicBezTo>
                    <a:pt x="16" y="948"/>
                    <a:pt x="12" y="952"/>
                    <a:pt x="8" y="952"/>
                  </a:cubicBezTo>
                  <a:cubicBezTo>
                    <a:pt x="3" y="952"/>
                    <a:pt x="0" y="948"/>
                    <a:pt x="0" y="944"/>
                  </a:cubicBezTo>
                  <a:close/>
                  <a:moveTo>
                    <a:pt x="0" y="560"/>
                  </a:moveTo>
                  <a:lnTo>
                    <a:pt x="0" y="320"/>
                  </a:lnTo>
                  <a:cubicBezTo>
                    <a:pt x="0" y="315"/>
                    <a:pt x="3" y="312"/>
                    <a:pt x="8" y="312"/>
                  </a:cubicBezTo>
                  <a:cubicBezTo>
                    <a:pt x="12" y="312"/>
                    <a:pt x="16" y="315"/>
                    <a:pt x="16" y="320"/>
                  </a:cubicBezTo>
                  <a:lnTo>
                    <a:pt x="16" y="560"/>
                  </a:lnTo>
                  <a:cubicBezTo>
                    <a:pt x="16" y="564"/>
                    <a:pt x="12" y="568"/>
                    <a:pt x="8" y="568"/>
                  </a:cubicBezTo>
                  <a:cubicBezTo>
                    <a:pt x="3" y="568"/>
                    <a:pt x="0" y="564"/>
                    <a:pt x="0" y="560"/>
                  </a:cubicBezTo>
                  <a:close/>
                  <a:moveTo>
                    <a:pt x="0" y="176"/>
                  </a:moveTo>
                  <a:lnTo>
                    <a:pt x="0" y="8"/>
                  </a:lnTo>
                  <a:cubicBezTo>
                    <a:pt x="0" y="3"/>
                    <a:pt x="3" y="0"/>
                    <a:pt x="8" y="0"/>
                  </a:cubicBezTo>
                  <a:cubicBezTo>
                    <a:pt x="12" y="0"/>
                    <a:pt x="16" y="3"/>
                    <a:pt x="16" y="8"/>
                  </a:cubicBezTo>
                  <a:lnTo>
                    <a:pt x="16" y="176"/>
                  </a:lnTo>
                  <a:cubicBezTo>
                    <a:pt x="16" y="180"/>
                    <a:pt x="12" y="184"/>
                    <a:pt x="8" y="184"/>
                  </a:cubicBezTo>
                  <a:cubicBezTo>
                    <a:pt x="3" y="184"/>
                    <a:pt x="0" y="180"/>
                    <a:pt x="0" y="176"/>
                  </a:cubicBezTo>
                  <a:close/>
                </a:path>
              </a:pathLst>
            </a:custGeom>
            <a:solidFill>
              <a:srgbClr val="000000"/>
            </a:solidFill>
            <a:ln w="0" cap="flat">
              <a:solidFill>
                <a:srgbClr val="000000"/>
              </a:solidFill>
              <a:prstDash val="solid"/>
              <a:round/>
            </a:ln>
          </p:spPr>
          <p:txBody>
            <a:bodyPr vert="horz" wrap="square" lIns="91440" tIns="45720" rIns="91440" bIns="45720" numCol="1" anchor="t" anchorCtr="0" compatLnSpc="1"/>
            <a:lstStyle/>
            <a:p>
              <a:endParaRPr lang="zh-CN" altLang="en-US"/>
            </a:p>
          </p:txBody>
        </p:sp>
        <p:sp>
          <p:nvSpPr>
            <p:cNvPr id="87" name="Freeform 78"/>
            <p:cNvSpPr/>
            <p:nvPr/>
          </p:nvSpPr>
          <p:spPr bwMode="auto">
            <a:xfrm>
              <a:off x="1003" y="3339"/>
              <a:ext cx="16" cy="28"/>
            </a:xfrm>
            <a:custGeom>
              <a:avLst/>
              <a:gdLst>
                <a:gd name="T0" fmla="*/ 0 w 16"/>
                <a:gd name="T1" fmla="*/ 28 h 28"/>
                <a:gd name="T2" fmla="*/ 8 w 16"/>
                <a:gd name="T3" fmla="*/ 0 h 28"/>
                <a:gd name="T4" fmla="*/ 16 w 16"/>
                <a:gd name="T5" fmla="*/ 28 h 28"/>
                <a:gd name="T6" fmla="*/ 0 w 16"/>
                <a:gd name="T7" fmla="*/ 28 h 28"/>
              </a:gdLst>
              <a:ahLst/>
              <a:cxnLst>
                <a:cxn ang="0">
                  <a:pos x="T0" y="T1"/>
                </a:cxn>
                <a:cxn ang="0">
                  <a:pos x="T2" y="T3"/>
                </a:cxn>
                <a:cxn ang="0">
                  <a:pos x="T4" y="T5"/>
                </a:cxn>
                <a:cxn ang="0">
                  <a:pos x="T6" y="T7"/>
                </a:cxn>
              </a:cxnLst>
              <a:rect l="0" t="0" r="r" b="b"/>
              <a:pathLst>
                <a:path w="16" h="28">
                  <a:moveTo>
                    <a:pt x="0" y="28"/>
                  </a:moveTo>
                  <a:lnTo>
                    <a:pt x="8" y="0"/>
                  </a:lnTo>
                  <a:lnTo>
                    <a:pt x="16" y="28"/>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Rectangle 79"/>
            <p:cNvSpPr>
              <a:spLocks noChangeArrowheads="1"/>
            </p:cNvSpPr>
            <p:nvPr/>
          </p:nvSpPr>
          <p:spPr bwMode="auto">
            <a:xfrm>
              <a:off x="410" y="3356"/>
              <a:ext cx="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B</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9" name="Rectangle 80"/>
            <p:cNvSpPr>
              <a:spLocks noChangeArrowheads="1"/>
            </p:cNvSpPr>
            <p:nvPr/>
          </p:nvSpPr>
          <p:spPr bwMode="auto">
            <a:xfrm>
              <a:off x="779" y="3370"/>
              <a:ext cx="63"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F</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0" name="Rectangle 81"/>
            <p:cNvSpPr>
              <a:spLocks noChangeArrowheads="1"/>
            </p:cNvSpPr>
            <p:nvPr/>
          </p:nvSpPr>
          <p:spPr bwMode="auto">
            <a:xfrm>
              <a:off x="1031" y="3394"/>
              <a:ext cx="7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1" name="Rectangle 82"/>
            <p:cNvSpPr>
              <a:spLocks noChangeArrowheads="1"/>
            </p:cNvSpPr>
            <p:nvPr/>
          </p:nvSpPr>
          <p:spPr bwMode="auto">
            <a:xfrm>
              <a:off x="1453" y="3392"/>
              <a:ext cx="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B</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2" name="Rectangle 83"/>
            <p:cNvSpPr>
              <a:spLocks noChangeArrowheads="1"/>
            </p:cNvSpPr>
            <p:nvPr/>
          </p:nvSpPr>
          <p:spPr bwMode="auto">
            <a:xfrm>
              <a:off x="417" y="3647"/>
              <a:ext cx="7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3" name="Rectangle 84"/>
            <p:cNvSpPr>
              <a:spLocks noChangeArrowheads="1"/>
            </p:cNvSpPr>
            <p:nvPr/>
          </p:nvSpPr>
          <p:spPr bwMode="auto">
            <a:xfrm>
              <a:off x="803" y="3632"/>
              <a:ext cx="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4" name="Rectangle 85"/>
            <p:cNvSpPr>
              <a:spLocks noChangeArrowheads="1"/>
            </p:cNvSpPr>
            <p:nvPr/>
          </p:nvSpPr>
          <p:spPr bwMode="auto">
            <a:xfrm>
              <a:off x="1226" y="3632"/>
              <a:ext cx="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0" i="0" u="none" strike="noStrike" cap="none" normalizeH="0" baseline="0" smtClean="0">
                  <a:ln>
                    <a:noFill/>
                  </a:ln>
                  <a:solidFill>
                    <a:srgbClr val="000000"/>
                  </a:solidFill>
                  <a:effectLst/>
                  <a:latin typeface="Arial" panose="020B0604020202020204" pitchFamily="34" charset="0"/>
                </a:rPr>
                <a:t>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5" name="Rectangle 86"/>
            <p:cNvSpPr>
              <a:spLocks noChangeArrowheads="1"/>
            </p:cNvSpPr>
            <p:nvPr/>
          </p:nvSpPr>
          <p:spPr bwMode="auto">
            <a:xfrm>
              <a:off x="773" y="3041"/>
              <a:ext cx="4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1"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6" name="Rectangle 87"/>
            <p:cNvSpPr>
              <a:spLocks noChangeArrowheads="1"/>
            </p:cNvSpPr>
            <p:nvPr/>
          </p:nvSpPr>
          <p:spPr bwMode="auto">
            <a:xfrm>
              <a:off x="790" y="3041"/>
              <a:ext cx="5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1" i="0" u="none" strike="noStrike" cap="none" normalizeH="0" baseline="0" smtClean="0">
                  <a:ln>
                    <a:noFill/>
                  </a:ln>
                  <a:solidFill>
                    <a:srgbClr val="C00000"/>
                  </a:solidFill>
                  <a:effectLst/>
                  <a:latin typeface="Arial" panose="020B0604020202020204" pitchFamily="34" charset="0"/>
                </a:rPr>
                <a:t>1</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7" name="Rectangle 88"/>
            <p:cNvSpPr>
              <a:spLocks noChangeArrowheads="1"/>
            </p:cNvSpPr>
            <p:nvPr/>
          </p:nvSpPr>
          <p:spPr bwMode="auto">
            <a:xfrm>
              <a:off x="819" y="3041"/>
              <a:ext cx="4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700" b="1" i="0" u="none" strike="noStrike" cap="none" normalizeH="0" baseline="0" smtClean="0">
                  <a:ln>
                    <a:noFill/>
                  </a:ln>
                  <a:solidFill>
                    <a:srgbClr val="C00000"/>
                  </a:solidFill>
                  <a:effectLst/>
                  <a:latin typeface="Arial" panose="020B060402020202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内容占位符 2"/>
          <p:cNvSpPr>
            <a:spLocks noGrp="1"/>
          </p:cNvSpPr>
          <p:nvPr>
            <p:ph idx="1"/>
          </p:nvPr>
        </p:nvSpPr>
        <p:spPr>
          <a:xfrm>
            <a:off x="401715" y="1232855"/>
            <a:ext cx="8382000" cy="3796345"/>
          </a:xfrm>
          <a:ln>
            <a:solidFill>
              <a:schemeClr val="accent1"/>
            </a:solidFill>
          </a:ln>
        </p:spPr>
        <p:txBody>
          <a:bodyPr/>
          <a:lstStyle/>
          <a:p>
            <a:pPr marL="0" indent="0">
              <a:buNone/>
            </a:pPr>
            <a:r>
              <a:rPr lang="zh-CN" altLang="en-US" sz="2000" b="1" dirty="0" smtClean="0">
                <a:solidFill>
                  <a:srgbClr val="C00000"/>
                </a:solidFill>
                <a:ea typeface="华文楷体" panose="02010600040101010101" pitchFamily="2" charset="-122"/>
              </a:rPr>
              <a:t>括号化定理</a:t>
            </a:r>
            <a:r>
              <a:rPr lang="zh-CN" altLang="en-US" sz="2000" dirty="0" smtClean="0">
                <a:ea typeface="华文楷体" panose="02010600040101010101" pitchFamily="2" charset="-122"/>
              </a:rPr>
              <a:t>：在对有向图和无向图</a:t>
            </a:r>
            <a:r>
              <a:rPr lang="en-US" altLang="zh-CN" sz="2000" dirty="0" smtClean="0">
                <a:ea typeface="华文楷体" panose="02010600040101010101" pitchFamily="2" charset="-122"/>
              </a:rPr>
              <a:t>G=(V,E)</a:t>
            </a:r>
            <a:r>
              <a:rPr lang="zh-CN" altLang="en-US" sz="2000" dirty="0" smtClean="0">
                <a:ea typeface="华文楷体" panose="02010600040101010101" pitchFamily="2" charset="-122"/>
              </a:rPr>
              <a:t>进行的任意深度优先搜索中，对于任意两个顶点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和</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而言，下面三种情况之一成立：</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(1) </a:t>
            </a:r>
            <a:r>
              <a:rPr lang="zh-CN" altLang="en-US" sz="2000" dirty="0">
                <a:ea typeface="华文楷体" panose="02010600040101010101" pitchFamily="2" charset="-122"/>
              </a:rPr>
              <a:t>时间</a:t>
            </a:r>
            <a:r>
              <a:rPr lang="zh-CN" altLang="en-US" sz="2000" dirty="0" smtClean="0">
                <a:ea typeface="华文楷体" panose="02010600040101010101" pitchFamily="2" charset="-122"/>
              </a:rPr>
              <a:t>区间</a:t>
            </a:r>
            <a:r>
              <a:rPr lang="en-US" altLang="zh-CN" sz="2000" dirty="0" smtClean="0">
                <a:ea typeface="华文楷体" panose="02010600040101010101" pitchFamily="2" charset="-122"/>
              </a:rPr>
              <a:t>(b[u], f[u])</a:t>
            </a:r>
            <a:r>
              <a:rPr lang="zh-CN" altLang="en-US" sz="2000" dirty="0">
                <a:ea typeface="华文楷体" panose="02010600040101010101" pitchFamily="2" charset="-122"/>
              </a:rPr>
              <a:t>与时间区间</a:t>
            </a:r>
            <a:r>
              <a:rPr lang="en-US" altLang="zh-CN" sz="2000" dirty="0">
                <a:ea typeface="华文楷体" panose="02010600040101010101" pitchFamily="2" charset="-122"/>
              </a:rPr>
              <a:t>(</a:t>
            </a:r>
            <a:r>
              <a:rPr lang="en-US" altLang="zh-CN" sz="2000" dirty="0" smtClean="0">
                <a:ea typeface="华文楷体" panose="02010600040101010101" pitchFamily="2" charset="-122"/>
              </a:rPr>
              <a:t>b[v], f[v])</a:t>
            </a:r>
            <a:r>
              <a:rPr lang="zh-CN" altLang="en-US" sz="2000" dirty="0" smtClean="0">
                <a:ea typeface="华文楷体" panose="02010600040101010101" pitchFamily="2" charset="-122"/>
              </a:rPr>
              <a:t>完全分离，在深度优先森林中，顶点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不是顶点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的后代，顶点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也不是顶点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的后代。</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(2)</a:t>
            </a:r>
            <a:r>
              <a:rPr lang="zh-CN" altLang="en-US" sz="2000" dirty="0">
                <a:ea typeface="华文楷体" panose="02010600040101010101" pitchFamily="2" charset="-122"/>
              </a:rPr>
              <a:t>时间</a:t>
            </a:r>
            <a:r>
              <a:rPr lang="zh-CN" altLang="en-US" sz="2000" dirty="0" smtClean="0">
                <a:ea typeface="华文楷体" panose="02010600040101010101" pitchFamily="2" charset="-122"/>
              </a:rPr>
              <a:t>区间</a:t>
            </a:r>
            <a:r>
              <a:rPr lang="en-US" altLang="zh-CN" sz="2000" dirty="0">
                <a:ea typeface="华文楷体" panose="02010600040101010101" pitchFamily="2" charset="-122"/>
              </a:rPr>
              <a:t>(b[u], f[u])</a:t>
            </a:r>
            <a:r>
              <a:rPr lang="zh-CN" altLang="en-US" sz="2000" dirty="0" smtClean="0">
                <a:ea typeface="华文楷体" panose="02010600040101010101" pitchFamily="2" charset="-122"/>
              </a:rPr>
              <a:t>完全包含</a:t>
            </a:r>
            <a:r>
              <a:rPr lang="zh-CN" altLang="en-US" sz="2000" dirty="0">
                <a:ea typeface="华文楷体" panose="02010600040101010101" pitchFamily="2" charset="-122"/>
              </a:rPr>
              <a:t>在时间</a:t>
            </a:r>
            <a:r>
              <a:rPr lang="zh-CN" altLang="en-US" sz="2000" dirty="0" smtClean="0">
                <a:ea typeface="华文楷体" panose="02010600040101010101" pitchFamily="2" charset="-122"/>
              </a:rPr>
              <a:t>区间</a:t>
            </a:r>
            <a:r>
              <a:rPr lang="en-US" altLang="zh-CN" sz="2000" dirty="0">
                <a:ea typeface="华文楷体" panose="02010600040101010101" pitchFamily="2" charset="-122"/>
              </a:rPr>
              <a:t>(b[v], f[v])</a:t>
            </a:r>
            <a:r>
              <a:rPr lang="zh-CN" altLang="en-US" sz="2000" dirty="0" smtClean="0">
                <a:ea typeface="华文楷体" panose="02010600040101010101" pitchFamily="2" charset="-122"/>
              </a:rPr>
              <a:t>之内，</a:t>
            </a:r>
            <a:r>
              <a:rPr lang="zh-CN" altLang="en-US" sz="2000" dirty="0">
                <a:ea typeface="华文楷体" panose="02010600040101010101" pitchFamily="2" charset="-122"/>
              </a:rPr>
              <a:t>在深度优先森林中，顶点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是</a:t>
            </a:r>
            <a:r>
              <a:rPr lang="zh-CN" altLang="en-US" sz="2000" dirty="0">
                <a:ea typeface="华文楷体" panose="02010600040101010101" pitchFamily="2" charset="-122"/>
              </a:rPr>
              <a:t>顶点</a:t>
            </a:r>
            <a:r>
              <a:rPr lang="en-US" altLang="zh-CN" sz="2000" dirty="0">
                <a:ea typeface="华文楷体" panose="02010600040101010101" pitchFamily="2" charset="-122"/>
              </a:rPr>
              <a:t>v</a:t>
            </a:r>
            <a:r>
              <a:rPr lang="zh-CN" altLang="en-US" sz="2000" dirty="0">
                <a:ea typeface="华文楷体" panose="02010600040101010101" pitchFamily="2" charset="-122"/>
              </a:rPr>
              <a:t>的</a:t>
            </a:r>
            <a:r>
              <a:rPr lang="zh-CN" altLang="en-US" sz="2000" dirty="0" smtClean="0">
                <a:ea typeface="华文楷体" panose="02010600040101010101" pitchFamily="2" charset="-122"/>
              </a:rPr>
              <a:t>后代。</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(3)</a:t>
            </a:r>
            <a:r>
              <a:rPr lang="zh-CN" altLang="en-US" sz="2000" dirty="0">
                <a:ea typeface="华文楷体" panose="02010600040101010101" pitchFamily="2" charset="-122"/>
              </a:rPr>
              <a:t>时间</a:t>
            </a:r>
            <a:r>
              <a:rPr lang="zh-CN" altLang="en-US" sz="2000" dirty="0" smtClean="0">
                <a:ea typeface="华文楷体" panose="02010600040101010101" pitchFamily="2" charset="-122"/>
              </a:rPr>
              <a:t>区间</a:t>
            </a:r>
            <a:r>
              <a:rPr lang="en-US" altLang="zh-CN" sz="2000" dirty="0">
                <a:ea typeface="华文楷体" panose="02010600040101010101" pitchFamily="2" charset="-122"/>
              </a:rPr>
              <a:t>(b[v], f[v])</a:t>
            </a:r>
            <a:r>
              <a:rPr lang="zh-CN" altLang="en-US" sz="2000" dirty="0" smtClean="0">
                <a:ea typeface="华文楷体" panose="02010600040101010101" pitchFamily="2" charset="-122"/>
              </a:rPr>
              <a:t>完全</a:t>
            </a:r>
            <a:r>
              <a:rPr lang="zh-CN" altLang="en-US" sz="2000" dirty="0">
                <a:ea typeface="华文楷体" panose="02010600040101010101" pitchFamily="2" charset="-122"/>
              </a:rPr>
              <a:t>包含在时间</a:t>
            </a:r>
            <a:r>
              <a:rPr lang="zh-CN" altLang="en-US" sz="2000" dirty="0" smtClean="0">
                <a:ea typeface="华文楷体" panose="02010600040101010101" pitchFamily="2" charset="-122"/>
              </a:rPr>
              <a:t>区间</a:t>
            </a:r>
            <a:r>
              <a:rPr lang="en-US" altLang="zh-CN" sz="2000" dirty="0">
                <a:ea typeface="华文楷体" panose="02010600040101010101" pitchFamily="2" charset="-122"/>
              </a:rPr>
              <a:t>(b[u], f[u])</a:t>
            </a:r>
            <a:r>
              <a:rPr lang="zh-CN" altLang="en-US" sz="2000" dirty="0" smtClean="0">
                <a:ea typeface="华文楷体" panose="02010600040101010101" pitchFamily="2" charset="-122"/>
              </a:rPr>
              <a:t>之内，</a:t>
            </a:r>
            <a:r>
              <a:rPr lang="zh-CN" altLang="en-US" sz="2000" dirty="0">
                <a:ea typeface="华文楷体" panose="02010600040101010101" pitchFamily="2" charset="-122"/>
              </a:rPr>
              <a:t>在深度优先森林中，</a:t>
            </a:r>
            <a:r>
              <a:rPr lang="zh-CN" altLang="en-US" sz="2000" dirty="0" smtClean="0">
                <a:ea typeface="华文楷体" panose="02010600040101010101" pitchFamily="2" charset="-122"/>
              </a:rPr>
              <a:t>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是顶点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的</a:t>
            </a:r>
            <a:r>
              <a:rPr lang="zh-CN" altLang="en-US" sz="2000" dirty="0">
                <a:ea typeface="华文楷体" panose="02010600040101010101" pitchFamily="2" charset="-122"/>
              </a:rPr>
              <a:t>后代。</a:t>
            </a:r>
            <a:endParaRPr lang="en-US" altLang="zh-CN" sz="2000" dirty="0">
              <a:ea typeface="华文楷体" panose="02010600040101010101" pitchFamily="2" charset="-122"/>
            </a:endParaRPr>
          </a:p>
          <a:p>
            <a:pPr marL="0" indent="0">
              <a:buNone/>
            </a:pPr>
            <a:r>
              <a:rPr lang="zh-CN" altLang="en-US" sz="2000" b="1" dirty="0" smtClean="0">
                <a:solidFill>
                  <a:srgbClr val="C00000"/>
                </a:solidFill>
                <a:ea typeface="华文楷体" panose="02010600040101010101" pitchFamily="2" charset="-122"/>
              </a:rPr>
              <a:t>白色路径定理</a:t>
            </a:r>
            <a:r>
              <a:rPr lang="zh-CN" altLang="en-US" sz="2000" dirty="0" smtClean="0">
                <a:ea typeface="华文楷体" panose="02010600040101010101" pitchFamily="2" charset="-122"/>
              </a:rPr>
              <a:t>：在有向图</a:t>
            </a:r>
            <a:r>
              <a:rPr lang="zh-CN" altLang="en-US" sz="2000" dirty="0">
                <a:ea typeface="华文楷体" panose="02010600040101010101" pitchFamily="2" charset="-122"/>
              </a:rPr>
              <a:t>和无向图</a:t>
            </a:r>
            <a:r>
              <a:rPr lang="en-US" altLang="zh-CN" sz="2000" dirty="0">
                <a:ea typeface="华文楷体" panose="02010600040101010101" pitchFamily="2" charset="-122"/>
              </a:rPr>
              <a:t>G=(V,E</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 的深度优先森林中，</a:t>
            </a:r>
            <a:r>
              <a:rPr lang="zh-CN" altLang="en-US" sz="2000" dirty="0">
                <a:ea typeface="华文楷体" panose="02010600040101010101" pitchFamily="2" charset="-122"/>
              </a:rPr>
              <a:t>顶点</a:t>
            </a:r>
            <a:r>
              <a:rPr lang="en-US" altLang="zh-CN" sz="2000" dirty="0">
                <a:ea typeface="华文楷体" panose="02010600040101010101" pitchFamily="2" charset="-122"/>
              </a:rPr>
              <a:t>v</a:t>
            </a:r>
            <a:r>
              <a:rPr lang="zh-CN" altLang="en-US" sz="2000" dirty="0">
                <a:ea typeface="华文楷体" panose="02010600040101010101" pitchFamily="2" charset="-122"/>
              </a:rPr>
              <a:t>是顶点</a:t>
            </a:r>
            <a:r>
              <a:rPr lang="en-US" altLang="zh-CN" sz="2000" dirty="0">
                <a:ea typeface="华文楷体" panose="02010600040101010101" pitchFamily="2" charset="-122"/>
              </a:rPr>
              <a:t>u</a:t>
            </a:r>
            <a:r>
              <a:rPr lang="zh-CN" altLang="en-US" sz="2000" dirty="0">
                <a:ea typeface="华文楷体" panose="02010600040101010101" pitchFamily="2" charset="-122"/>
              </a:rPr>
              <a:t>的</a:t>
            </a:r>
            <a:r>
              <a:rPr lang="zh-CN" altLang="en-US" sz="2000" dirty="0" smtClean="0">
                <a:ea typeface="华文楷体" panose="02010600040101010101" pitchFamily="2" charset="-122"/>
              </a:rPr>
              <a:t>后代，当且仅当在发现顶点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的时间</a:t>
            </a:r>
            <a:r>
              <a:rPr lang="en-US" altLang="zh-CN" sz="2000" dirty="0" smtClean="0">
                <a:ea typeface="华文楷体" panose="02010600040101010101" pitchFamily="2" charset="-122"/>
              </a:rPr>
              <a:t>b[u</a:t>
            </a:r>
            <a:r>
              <a:rPr lang="en-US" altLang="zh-CN" sz="2000" dirty="0">
                <a:ea typeface="华文楷体" panose="02010600040101010101" pitchFamily="2" charset="-122"/>
              </a:rPr>
              <a:t>]</a:t>
            </a:r>
            <a:r>
              <a:rPr lang="zh-CN" altLang="en-US" sz="2000" dirty="0" smtClean="0">
                <a:ea typeface="华文楷体" panose="02010600040101010101" pitchFamily="2" charset="-122"/>
              </a:rPr>
              <a:t>，存在一条从顶点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到顶点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的全部由白色顶点所构成的路径。</a:t>
            </a:r>
            <a:endParaRPr lang="en-US" altLang="zh-CN" sz="2000" dirty="0">
              <a:ea typeface="华文楷体" panose="02010600040101010101" pitchFamily="2" charset="-122"/>
            </a:endParaRPr>
          </a:p>
          <a:p>
            <a:pPr marL="0" indent="0">
              <a:buNone/>
            </a:pPr>
            <a:endParaRPr lang="en-US" altLang="zh-CN" sz="1600" dirty="0">
              <a:ea typeface="华文楷体" panose="02010600040101010101" pitchFamily="2" charset="-122"/>
            </a:endParaRPr>
          </a:p>
        </p:txBody>
      </p:sp>
      <p:cxnSp>
        <p:nvCxnSpPr>
          <p:cNvPr id="7" name="直接连接符 6"/>
          <p:cNvCxnSpPr/>
          <p:nvPr/>
        </p:nvCxnSpPr>
        <p:spPr>
          <a:xfrm flipV="1">
            <a:off x="401715" y="3886200"/>
            <a:ext cx="8345750" cy="8803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文本框 2"/>
          <p:cNvSpPr txBox="1"/>
          <p:nvPr/>
        </p:nvSpPr>
        <p:spPr>
          <a:xfrm>
            <a:off x="401715" y="5334000"/>
            <a:ext cx="8070773" cy="707886"/>
          </a:xfrm>
          <a:prstGeom prst="rect">
            <a:avLst/>
          </a:prstGeom>
          <a:noFill/>
          <a:ln>
            <a:solidFill>
              <a:schemeClr val="accent1"/>
            </a:solidFill>
          </a:ln>
        </p:spPr>
        <p:txBody>
          <a:bodyPr wrap="square" rtlCol="0">
            <a:spAutoFit/>
          </a:bodyPr>
          <a:lstStyle/>
          <a:p>
            <a:r>
              <a:rPr lang="zh-CN" altLang="en-US" sz="2000" dirty="0">
                <a:latin typeface="Times New Roman" panose="02020603050405020304" pitchFamily="18" charset="0"/>
                <a:ea typeface="华文楷体" panose="02010600040101010101" pitchFamily="2" charset="-122"/>
              </a:rPr>
              <a:t>顶点变灰色</a:t>
            </a:r>
            <a:r>
              <a:rPr lang="en-US" altLang="zh-CN" sz="2000" dirty="0">
                <a:latin typeface="Times New Roman" panose="02020603050405020304" pitchFamily="18" charset="0"/>
                <a:ea typeface="华文楷体" panose="02010600040101010101" pitchFamily="2" charset="-122"/>
              </a:rPr>
              <a:t>\b[v]</a:t>
            </a:r>
            <a:r>
              <a:rPr lang="zh-CN" altLang="en-US" sz="2000" dirty="0">
                <a:latin typeface="Times New Roman" panose="02020603050405020304" pitchFamily="18" charset="0"/>
                <a:ea typeface="华文楷体" panose="02010600040101010101" pitchFamily="2" charset="-122"/>
              </a:rPr>
              <a:t>赋值</a:t>
            </a:r>
            <a:r>
              <a:rPr lang="en-US" altLang="zh-CN" sz="2000" dirty="0">
                <a:latin typeface="Times New Roman" panose="02020603050405020304" pitchFamily="18" charset="0"/>
                <a:ea typeface="华文楷体" panose="02010600040101010101" pitchFamily="2" charset="-122"/>
              </a:rPr>
              <a:t>\</a:t>
            </a:r>
            <a:r>
              <a:rPr lang="zh-CN" altLang="en-US" sz="2000" dirty="0">
                <a:latin typeface="Times New Roman" panose="02020603050405020304" pitchFamily="18" charset="0"/>
                <a:ea typeface="华文楷体" panose="02010600040101010101" pitchFamily="2" charset="-122"/>
              </a:rPr>
              <a:t> “</a:t>
            </a:r>
            <a:r>
              <a:rPr lang="en-US" altLang="zh-CN" sz="2000" dirty="0">
                <a:latin typeface="Times New Roman" panose="02020603050405020304" pitchFamily="18" charset="0"/>
                <a:ea typeface="华文楷体" panose="02010600040101010101" pitchFamily="2" charset="-122"/>
              </a:rPr>
              <a:t>(v</a:t>
            </a:r>
            <a:r>
              <a:rPr lang="zh-CN" altLang="en-US" sz="2000" dirty="0" smtClean="0">
                <a:latin typeface="Times New Roman" panose="02020603050405020304" pitchFamily="18" charset="0"/>
                <a:ea typeface="华文楷体" panose="02010600040101010101" pitchFamily="2" charset="-122"/>
              </a:rPr>
              <a:t>”           </a:t>
            </a:r>
            <a:r>
              <a:rPr lang="en-US" altLang="zh-CN" sz="2000" dirty="0">
                <a:latin typeface="Times New Roman" panose="02020603050405020304" pitchFamily="18" charset="0"/>
                <a:ea typeface="华文楷体" panose="02010600040101010101" pitchFamily="2" charset="-122"/>
              </a:rPr>
              <a:t> </a:t>
            </a:r>
            <a:r>
              <a:rPr lang="zh-CN" altLang="en-US" sz="2000" dirty="0">
                <a:solidFill>
                  <a:srgbClr val="FF0000"/>
                </a:solidFill>
                <a:latin typeface="Times New Roman" panose="02020603050405020304" pitchFamily="18" charset="0"/>
                <a:ea typeface="华文楷体" panose="02010600040101010101" pitchFamily="2" charset="-122"/>
              </a:rPr>
              <a:t>入</a:t>
            </a:r>
            <a:r>
              <a:rPr lang="zh-CN" altLang="en-US" sz="2000" dirty="0" smtClean="0">
                <a:solidFill>
                  <a:srgbClr val="FF0000"/>
                </a:solidFill>
                <a:latin typeface="Times New Roman" panose="02020603050405020304" pitchFamily="18" charset="0"/>
                <a:ea typeface="华文楷体" panose="02010600040101010101" pitchFamily="2" charset="-122"/>
              </a:rPr>
              <a:t>栈</a:t>
            </a:r>
            <a:endParaRPr lang="en-US" altLang="zh-CN" sz="2000" dirty="0" smtClean="0">
              <a:solidFill>
                <a:srgbClr val="FF0000"/>
              </a:solidFill>
              <a:latin typeface="Times New Roman" panose="02020603050405020304" pitchFamily="18" charset="0"/>
              <a:ea typeface="华文楷体" panose="02010600040101010101" pitchFamily="2" charset="-122"/>
            </a:endParaRPr>
          </a:p>
          <a:p>
            <a:r>
              <a:rPr lang="zh-CN" altLang="en-US" sz="2000" dirty="0">
                <a:latin typeface="Times New Roman" panose="02020603050405020304" pitchFamily="18" charset="0"/>
                <a:ea typeface="华文楷体" panose="02010600040101010101" pitchFamily="2" charset="-122"/>
              </a:rPr>
              <a:t>顶点</a:t>
            </a:r>
            <a:r>
              <a:rPr lang="zh-CN" altLang="en-US" sz="2000" dirty="0" smtClean="0">
                <a:latin typeface="Times New Roman" panose="02020603050405020304" pitchFamily="18" charset="0"/>
                <a:ea typeface="华文楷体" panose="02010600040101010101" pitchFamily="2" charset="-122"/>
              </a:rPr>
              <a:t>变黑色</a:t>
            </a:r>
            <a:r>
              <a:rPr lang="en-US" altLang="zh-CN" sz="2000" dirty="0" smtClean="0">
                <a:latin typeface="Times New Roman" panose="02020603050405020304" pitchFamily="18" charset="0"/>
                <a:ea typeface="华文楷体" panose="02010600040101010101" pitchFamily="2" charset="-122"/>
              </a:rPr>
              <a:t>\f[v</a:t>
            </a:r>
            <a:r>
              <a:rPr lang="en-US" altLang="zh-CN" sz="2000" dirty="0">
                <a:latin typeface="Times New Roman" panose="02020603050405020304" pitchFamily="18" charset="0"/>
                <a:ea typeface="华文楷体" panose="02010600040101010101" pitchFamily="2" charset="-122"/>
              </a:rPr>
              <a:t>]</a:t>
            </a:r>
            <a:r>
              <a:rPr lang="zh-CN" altLang="en-US" sz="2000" dirty="0">
                <a:latin typeface="Times New Roman" panose="02020603050405020304" pitchFamily="18" charset="0"/>
                <a:ea typeface="华文楷体" panose="02010600040101010101" pitchFamily="2" charset="-122"/>
              </a:rPr>
              <a:t>赋值</a:t>
            </a:r>
            <a:r>
              <a:rPr lang="en-US" altLang="zh-CN" sz="2000" dirty="0">
                <a:latin typeface="Times New Roman" panose="02020603050405020304" pitchFamily="18" charset="0"/>
                <a:ea typeface="华文楷体" panose="02010600040101010101" pitchFamily="2" charset="-122"/>
              </a:rPr>
              <a:t>\</a:t>
            </a:r>
            <a:r>
              <a:rPr lang="zh-CN" altLang="en-US" sz="2000" dirty="0">
                <a:latin typeface="Times New Roman" panose="02020603050405020304" pitchFamily="18" charset="0"/>
                <a:ea typeface="华文楷体" panose="02010600040101010101" pitchFamily="2" charset="-122"/>
              </a:rPr>
              <a:t> </a:t>
            </a:r>
            <a:r>
              <a:rPr lang="zh-CN" altLang="en-US" sz="2000" dirty="0" smtClean="0">
                <a:latin typeface="Times New Roman" panose="02020603050405020304" pitchFamily="18" charset="0"/>
                <a:ea typeface="华文楷体" panose="02010600040101010101" pitchFamily="2" charset="-122"/>
              </a:rPr>
              <a:t>“</a:t>
            </a:r>
            <a:r>
              <a:rPr lang="en-US" altLang="zh-CN" sz="2000" dirty="0" smtClean="0">
                <a:latin typeface="Times New Roman" panose="02020603050405020304" pitchFamily="18" charset="0"/>
                <a:ea typeface="华文楷体" panose="02010600040101010101" pitchFamily="2" charset="-122"/>
              </a:rPr>
              <a:t>v)</a:t>
            </a:r>
            <a:r>
              <a:rPr lang="zh-CN" altLang="en-US" sz="2000" dirty="0" smtClean="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 </a:t>
            </a:r>
            <a:r>
              <a:rPr lang="zh-CN" altLang="en-US" sz="2000" dirty="0" smtClean="0">
                <a:solidFill>
                  <a:srgbClr val="FF0000"/>
                </a:solidFill>
                <a:latin typeface="Times New Roman" panose="02020603050405020304" pitchFamily="18" charset="0"/>
                <a:ea typeface="华文楷体" panose="02010600040101010101" pitchFamily="2" charset="-122"/>
              </a:rPr>
              <a:t>出栈</a:t>
            </a:r>
            <a:endParaRPr lang="zh-CN" altLang="en-US" sz="2000" dirty="0">
              <a:solidFill>
                <a:srgbClr val="FF0000"/>
              </a:solidFill>
              <a:latin typeface="Times New Roman" panose="02020603050405020304" pitchFamily="18" charset="0"/>
              <a:ea typeface="华文楷体" panose="02010600040101010101" pitchFamily="2" charset="-122"/>
            </a:endParaRPr>
          </a:p>
        </p:txBody>
      </p:sp>
      <p:cxnSp>
        <p:nvCxnSpPr>
          <p:cNvPr id="9" name="直接箭头连接符 8"/>
          <p:cNvCxnSpPr/>
          <p:nvPr/>
        </p:nvCxnSpPr>
        <p:spPr>
          <a:xfrm>
            <a:off x="3525837" y="5486400"/>
            <a:ext cx="650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3525837" y="5791200"/>
            <a:ext cx="650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07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072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[DFS</a:t>
            </a:r>
            <a:r>
              <a:rPr lang="zh-CN" altLang="en-US" sz="2400" b="1" dirty="0" smtClean="0">
                <a:solidFill>
                  <a:srgbClr val="996600"/>
                </a:solidFill>
                <a:ea typeface="华文楷体" panose="02010600040101010101" pitchFamily="2" charset="-122"/>
              </a:rPr>
              <a:t>的非递归实现</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(1)</a:t>
            </a:r>
            <a:r>
              <a:rPr lang="zh-CN" altLang="en-US" sz="2400" dirty="0" smtClean="0">
                <a:ea typeface="华文楷体" panose="02010600040101010101" pitchFamily="2" charset="-122"/>
              </a:rPr>
              <a:t>访问一个顶点</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，并记录它已被访问；</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将它的所有未访问的邻接顶点入栈；</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如果栈空，则退出；</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否则，栈中一顶点出栈；</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如果该顶点已被访问过，则转</a:t>
            </a:r>
            <a:r>
              <a:rPr lang="en-US" altLang="zh-CN" sz="2400" dirty="0" smtClean="0">
                <a:ea typeface="华文楷体" panose="02010600040101010101" pitchFamily="2" charset="-122"/>
              </a:rPr>
              <a:t>(2)</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否则，转</a:t>
            </a:r>
            <a:r>
              <a:rPr lang="en-US" altLang="zh-CN" sz="2400" dirty="0" smtClean="0">
                <a:ea typeface="华文楷体" panose="02010600040101010101" pitchFamily="2" charset="-122"/>
              </a:rPr>
              <a:t>(1)</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28588" y="1177940"/>
            <a:ext cx="8229600" cy="5248275"/>
          </a:xfrm>
        </p:spPr>
        <p:txBody>
          <a:bodyPr/>
          <a:lstStyle/>
          <a:p>
            <a:pPr eaLnBrk="1" hangingPunct="1">
              <a:buNone/>
            </a:pPr>
            <a:r>
              <a:rPr lang="zh-CN" altLang="en-US" sz="2000" dirty="0" smtClean="0">
                <a:ea typeface="华文楷体" panose="02010600040101010101" pitchFamily="2" charset="-122"/>
              </a:rPr>
              <a:t>采用</a:t>
            </a:r>
            <a:r>
              <a:rPr lang="zh-CN" altLang="en-US" sz="2000" dirty="0">
                <a:ea typeface="华文楷体" panose="02010600040101010101" pitchFamily="2" charset="-122"/>
              </a:rPr>
              <a:t>邻接表存储，</a:t>
            </a:r>
            <a:r>
              <a:rPr lang="en-US" altLang="zh-CN" sz="2000" dirty="0">
                <a:ea typeface="华文楷体" panose="02010600040101010101" pitchFamily="2" charset="-122"/>
              </a:rPr>
              <a:t>DFS</a:t>
            </a:r>
            <a:r>
              <a:rPr lang="zh-CN" altLang="en-US" sz="2000" dirty="0" smtClean="0">
                <a:ea typeface="华文楷体" panose="02010600040101010101" pitchFamily="2" charset="-122"/>
              </a:rPr>
              <a:t>算法的实现</a:t>
            </a:r>
            <a:endParaRPr lang="zh-CN" altLang="en-US" sz="2000"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205046" y="1653003"/>
            <a:ext cx="3493777" cy="4524315"/>
          </a:xfrm>
          <a:prstGeom prst="rect">
            <a:avLst/>
          </a:prstGeom>
          <a:noFill/>
          <a:ln>
            <a:solidFill>
              <a:schemeClr val="accent1"/>
            </a:solidFill>
          </a:ln>
        </p:spPr>
        <p:txBody>
          <a:bodyPr wrap="none" rtlCol="0">
            <a:spAutoFit/>
          </a:bodyPr>
          <a:lstStyle/>
          <a:p>
            <a:r>
              <a:rPr lang="en-US" altLang="zh-CN" b="1" dirty="0" smtClean="0">
                <a:solidFill>
                  <a:srgbClr val="FF0000"/>
                </a:solidFill>
                <a:latin typeface="Times New Roman" panose="02020603050405020304" pitchFamily="18" charset="0"/>
                <a:ea typeface="华文楷体" panose="02010600040101010101" pitchFamily="2" charset="-122"/>
              </a:rPr>
              <a:t>[</a:t>
            </a:r>
            <a:r>
              <a:rPr lang="zh-CN" altLang="en-US" b="1" dirty="0" smtClean="0">
                <a:solidFill>
                  <a:srgbClr val="FF0000"/>
                </a:solidFill>
                <a:latin typeface="Times New Roman" panose="02020603050405020304" pitchFamily="18" charset="0"/>
                <a:ea typeface="华文楷体" panose="02010600040101010101" pitchFamily="2" charset="-122"/>
              </a:rPr>
              <a:t>递归算法实现</a:t>
            </a:r>
            <a:r>
              <a:rPr lang="en-US" altLang="zh-CN" b="1" dirty="0" smtClean="0">
                <a:solidFill>
                  <a:srgbClr val="FF0000"/>
                </a:solidFill>
                <a:latin typeface="Times New Roman" panose="02020603050405020304" pitchFamily="18" charset="0"/>
                <a:ea typeface="华文楷体" panose="02010600040101010101" pitchFamily="2" charset="-122"/>
              </a:rPr>
              <a:t>]</a:t>
            </a:r>
            <a:endParaRPr lang="en-US" altLang="zh-CN" b="1" dirty="0" smtClean="0">
              <a:solidFill>
                <a:srgbClr val="FF0000"/>
              </a:solidFill>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Void DFS(</a:t>
            </a:r>
            <a:r>
              <a:rPr lang="en-US" altLang="zh-CN" dirty="0" err="1">
                <a:latin typeface="Times New Roman" panose="02020603050405020304" pitchFamily="18" charset="0"/>
                <a:ea typeface="华文楷体" panose="02010600040101010101" pitchFamily="2" charset="-122"/>
              </a:rPr>
              <a:t>Agraph</a:t>
            </a:r>
            <a:r>
              <a:rPr lang="en-US" altLang="zh-CN" dirty="0">
                <a:latin typeface="Times New Roman" panose="02020603050405020304" pitchFamily="18" charset="0"/>
                <a:ea typeface="华文楷体" panose="02010600040101010101" pitchFamily="2" charset="-122"/>
              </a:rPr>
              <a:t> </a:t>
            </a:r>
            <a:r>
              <a:rPr lang="zh-CN" altLang="en-US" dirty="0" smtClean="0">
                <a:latin typeface="Times New Roman" panose="02020603050405020304" pitchFamily="18" charset="0"/>
                <a:ea typeface="华文楷体" panose="02010600040101010101" pitchFamily="2" charset="-122"/>
              </a:rPr>
              <a:t>*</a:t>
            </a:r>
            <a:r>
              <a:rPr lang="en-US" altLang="zh-CN" dirty="0" smtClean="0">
                <a:latin typeface="Times New Roman" panose="02020603050405020304" pitchFamily="18" charset="0"/>
                <a:ea typeface="华文楷体" panose="02010600040101010101" pitchFamily="2" charset="-122"/>
              </a:rPr>
              <a:t>G</a:t>
            </a: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v)</a:t>
            </a:r>
            <a:endParaRPr lang="zh-CN"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zh-CN"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ArcNode</a:t>
            </a:r>
            <a:r>
              <a:rPr lang="en-US" altLang="zh-CN" dirty="0">
                <a:latin typeface="Times New Roman" panose="02020603050405020304" pitchFamily="18" charset="0"/>
                <a:ea typeface="华文楷体" panose="02010600040101010101" pitchFamily="2" charset="-122"/>
              </a:rPr>
              <a:t> p;</a:t>
            </a:r>
            <a:endParaRPr lang="zh-CN"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visit[v] </a:t>
            </a:r>
            <a:r>
              <a:rPr lang="en-US" altLang="zh-CN" dirty="0">
                <a:latin typeface="Times New Roman" panose="02020603050405020304" pitchFamily="18" charset="0"/>
                <a:ea typeface="华文楷体" panose="02010600040101010101" pitchFamily="2" charset="-122"/>
              </a:rPr>
              <a:t>= TRUE</a:t>
            </a:r>
            <a:r>
              <a:rPr lang="en-US" altLang="zh-CN" dirty="0" smtClean="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zh-CN"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printf</a:t>
            </a:r>
            <a:r>
              <a:rPr lang="en-US" altLang="zh-CN" dirty="0">
                <a:latin typeface="Times New Roman" panose="02020603050405020304" pitchFamily="18" charset="0"/>
                <a:ea typeface="华文楷体" panose="02010600040101010101" pitchFamily="2" charset="-122"/>
              </a:rPr>
              <a:t>(“%3d”, </a:t>
            </a:r>
            <a:r>
              <a:rPr lang="en-US" altLang="zh-CN" dirty="0" smtClean="0">
                <a:latin typeface="Times New Roman" panose="02020603050405020304" pitchFamily="18" charset="0"/>
                <a:ea typeface="华文楷体" panose="02010600040101010101" pitchFamily="2" charset="-122"/>
              </a:rPr>
              <a:t>v);</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p = G-&gt;</a:t>
            </a:r>
            <a:r>
              <a:rPr lang="en-US" altLang="zh-CN" dirty="0" err="1" smtClean="0">
                <a:latin typeface="Times New Roman" panose="02020603050405020304" pitchFamily="18" charset="0"/>
                <a:ea typeface="华文楷体" panose="02010600040101010101" pitchFamily="2" charset="-122"/>
              </a:rPr>
              <a:t>adjlist</a:t>
            </a:r>
            <a:r>
              <a:rPr lang="en-US" altLang="zh-CN" dirty="0" smtClean="0">
                <a:latin typeface="Times New Roman" panose="02020603050405020304" pitchFamily="18" charset="0"/>
                <a:ea typeface="华文楷体" panose="02010600040101010101" pitchFamily="2" charset="-122"/>
              </a:rPr>
              <a:t>[v].</a:t>
            </a:r>
            <a:r>
              <a:rPr lang="en-US" altLang="zh-CN" dirty="0" err="1" smtClean="0">
                <a:latin typeface="Times New Roman" panose="02020603050405020304" pitchFamily="18" charset="0"/>
                <a:ea typeface="华文楷体" panose="02010600040101010101" pitchFamily="2" charset="-122"/>
              </a:rPr>
              <a:t>firtstarc</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while(p!=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(visit[p-&gt;</a:t>
            </a:r>
            <a:r>
              <a:rPr lang="en-US" altLang="zh-CN" dirty="0" err="1" smtClean="0">
                <a:latin typeface="Times New Roman" panose="02020603050405020304" pitchFamily="18" charset="0"/>
                <a:ea typeface="华文楷体" panose="02010600040101010101" pitchFamily="2" charset="-122"/>
              </a:rPr>
              <a:t>adjvex</a:t>
            </a:r>
            <a:r>
              <a:rPr lang="en-US" altLang="zh-CN" dirty="0" smtClean="0">
                <a:latin typeface="Times New Roman" panose="02020603050405020304" pitchFamily="18" charset="0"/>
                <a:ea typeface="华文楷体" panose="02010600040101010101" pitchFamily="2" charset="-122"/>
              </a:rPr>
              <a:t>] ==FALSE)</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DFS(</a:t>
            </a:r>
            <a:r>
              <a:rPr lang="en-US" altLang="zh-CN" dirty="0" err="1" smtClean="0">
                <a:latin typeface="Times New Roman" panose="02020603050405020304" pitchFamily="18" charset="0"/>
                <a:ea typeface="华文楷体" panose="02010600040101010101" pitchFamily="2" charset="-122"/>
              </a:rPr>
              <a:t>G,p</a:t>
            </a:r>
            <a:r>
              <a:rPr lang="en-US" altLang="zh-CN" dirty="0" smtClean="0">
                <a:latin typeface="Times New Roman" panose="02020603050405020304" pitchFamily="18" charset="0"/>
                <a:ea typeface="华文楷体" panose="02010600040101010101" pitchFamily="2" charset="-122"/>
              </a:rPr>
              <a:t>-&gt;</a:t>
            </a:r>
            <a:r>
              <a:rPr lang="en-US" altLang="zh-CN" dirty="0" err="1" smtClean="0">
                <a:latin typeface="Times New Roman" panose="02020603050405020304" pitchFamily="18" charset="0"/>
                <a:ea typeface="华文楷体" panose="02010600040101010101" pitchFamily="2" charset="-122"/>
              </a:rPr>
              <a:t>adjvex</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p = p-&gt;</a:t>
            </a:r>
            <a:r>
              <a:rPr lang="en-US" altLang="zh-CN" dirty="0" err="1" smtClean="0">
                <a:latin typeface="Times New Roman" panose="02020603050405020304" pitchFamily="18" charset="0"/>
                <a:ea typeface="华文楷体" panose="02010600040101010101" pitchFamily="2" charset="-122"/>
              </a:rPr>
              <a:t>nextarc</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zh-CN"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zh-CN" altLang="zh-CN" dirty="0">
              <a:latin typeface="Times New Roman" panose="02020603050405020304" pitchFamily="18" charset="0"/>
              <a:ea typeface="华文楷体" panose="02010600040101010101" pitchFamily="2" charset="-122"/>
            </a:endParaRPr>
          </a:p>
          <a:p>
            <a:endParaRPr lang="zh-CN" altLang="en-US" dirty="0"/>
          </a:p>
        </p:txBody>
      </p:sp>
      <p:sp>
        <p:nvSpPr>
          <p:cNvPr id="7" name="文本框 6"/>
          <p:cNvSpPr txBox="1"/>
          <p:nvPr/>
        </p:nvSpPr>
        <p:spPr>
          <a:xfrm>
            <a:off x="4243388" y="1101710"/>
            <a:ext cx="4824412" cy="5370701"/>
          </a:xfrm>
          <a:prstGeom prst="rect">
            <a:avLst/>
          </a:prstGeom>
          <a:noFill/>
          <a:ln>
            <a:solidFill>
              <a:schemeClr val="accent1"/>
            </a:solidFill>
          </a:ln>
        </p:spPr>
        <p:txBody>
          <a:bodyPr wrap="square" rtlCol="0">
            <a:spAutoFit/>
          </a:bodyPr>
          <a:lstStyle/>
          <a:p>
            <a:r>
              <a:rPr lang="en-US" altLang="zh-CN" b="1" dirty="0" smtClean="0">
                <a:solidFill>
                  <a:srgbClr val="FF0000"/>
                </a:solidFill>
                <a:latin typeface="Times New Roman" panose="02020603050405020304" pitchFamily="18" charset="0"/>
                <a:ea typeface="华文楷体" panose="02010600040101010101" pitchFamily="2" charset="-122"/>
              </a:rPr>
              <a:t>[</a:t>
            </a:r>
            <a:r>
              <a:rPr lang="zh-CN" altLang="en-US" b="1" dirty="0" smtClean="0">
                <a:solidFill>
                  <a:srgbClr val="FF0000"/>
                </a:solidFill>
                <a:latin typeface="Times New Roman" panose="02020603050405020304" pitchFamily="18" charset="0"/>
                <a:ea typeface="华文楷体" panose="02010600040101010101" pitchFamily="2" charset="-122"/>
              </a:rPr>
              <a:t>非递归算法实现</a:t>
            </a:r>
            <a:r>
              <a:rPr lang="en-US" altLang="zh-CN" b="1" dirty="0" smtClean="0">
                <a:solidFill>
                  <a:srgbClr val="FF0000"/>
                </a:solidFill>
                <a:latin typeface="Times New Roman" panose="02020603050405020304" pitchFamily="18" charset="0"/>
                <a:ea typeface="华文楷体" panose="02010600040101010101" pitchFamily="2" charset="-122"/>
              </a:rPr>
              <a:t>]</a:t>
            </a:r>
            <a:endParaRPr lang="en-US" altLang="zh-CN" b="1" dirty="0" smtClean="0">
              <a:solidFill>
                <a:srgbClr val="FF0000"/>
              </a:solidFill>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void </a:t>
            </a:r>
            <a:r>
              <a:rPr lang="en-US" altLang="zh-CN" sz="1300" dirty="0">
                <a:latin typeface="Times New Roman" panose="02020603050405020304" pitchFamily="18" charset="0"/>
                <a:ea typeface="华文楷体" panose="02010600040101010101" pitchFamily="2" charset="-122"/>
              </a:rPr>
              <a:t>DFS(</a:t>
            </a:r>
            <a:r>
              <a:rPr lang="en-US" altLang="zh-CN" sz="1300" dirty="0" err="1">
                <a:latin typeface="Times New Roman" panose="02020603050405020304" pitchFamily="18" charset="0"/>
                <a:ea typeface="华文楷体" panose="02010600040101010101" pitchFamily="2" charset="-122"/>
              </a:rPr>
              <a:t>Agraph</a:t>
            </a:r>
            <a:r>
              <a:rPr lang="en-US" altLang="zh-CN" sz="1300" dirty="0">
                <a:latin typeface="Times New Roman" panose="02020603050405020304" pitchFamily="18" charset="0"/>
                <a:ea typeface="华文楷体" panose="02010600040101010101" pitchFamily="2" charset="-122"/>
              </a:rPr>
              <a:t> </a:t>
            </a:r>
            <a:r>
              <a:rPr lang="zh-CN" altLang="en-US" sz="1300" dirty="0" smtClean="0">
                <a:latin typeface="Times New Roman" panose="02020603050405020304" pitchFamily="18" charset="0"/>
                <a:ea typeface="华文楷体" panose="02010600040101010101" pitchFamily="2" charset="-122"/>
              </a:rPr>
              <a:t>*</a:t>
            </a:r>
            <a:r>
              <a:rPr lang="en-US" altLang="zh-CN" sz="1300" dirty="0" smtClean="0">
                <a:latin typeface="Times New Roman" panose="02020603050405020304" pitchFamily="18" charset="0"/>
                <a:ea typeface="华文楷体" panose="02010600040101010101" pitchFamily="2" charset="-122"/>
              </a:rPr>
              <a:t>G</a:t>
            </a:r>
            <a:r>
              <a:rPr lang="en-US" altLang="zh-CN" sz="1300" dirty="0">
                <a:latin typeface="Times New Roman" panose="02020603050405020304" pitchFamily="18" charset="0"/>
                <a:ea typeface="华文楷体" panose="02010600040101010101" pitchFamily="2" charset="-122"/>
              </a:rPr>
              <a:t>, </a:t>
            </a:r>
            <a:r>
              <a:rPr lang="en-US" altLang="zh-CN" sz="1300" dirty="0" err="1">
                <a:latin typeface="Times New Roman" panose="02020603050405020304" pitchFamily="18" charset="0"/>
                <a:ea typeface="华文楷体" panose="02010600040101010101" pitchFamily="2" charset="-122"/>
              </a:rPr>
              <a:t>int</a:t>
            </a:r>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v)</a:t>
            </a:r>
            <a:endParaRPr lang="zh-CN"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r>
              <a:rPr lang="en-US" altLang="zh-CN" sz="1300" dirty="0" err="1" smtClean="0">
                <a:latin typeface="Times New Roman" panose="02020603050405020304" pitchFamily="18" charset="0"/>
                <a:ea typeface="华文楷体" panose="02010600040101010101" pitchFamily="2" charset="-122"/>
              </a:rPr>
              <a:t>int</a:t>
            </a:r>
            <a:r>
              <a:rPr lang="en-US" altLang="zh-CN" sz="1300" dirty="0" smtClean="0">
                <a:latin typeface="Times New Roman" panose="02020603050405020304" pitchFamily="18" charset="0"/>
                <a:ea typeface="华文楷体" panose="02010600040101010101" pitchFamily="2" charset="-122"/>
              </a:rPr>
              <a:t> St[MAXV]; </a:t>
            </a:r>
            <a:r>
              <a:rPr lang="en-US" altLang="zh-CN" sz="1300" dirty="0" err="1">
                <a:latin typeface="Times New Roman" panose="02020603050405020304" pitchFamily="18" charset="0"/>
                <a:ea typeface="华文楷体" panose="02010600040101010101" pitchFamily="2" charset="-122"/>
              </a:rPr>
              <a:t>int</a:t>
            </a:r>
            <a:r>
              <a:rPr lang="en-US" altLang="zh-CN" sz="1300" dirty="0">
                <a:latin typeface="Times New Roman" panose="02020603050405020304" pitchFamily="18" charset="0"/>
                <a:ea typeface="华文楷体" panose="02010600040101010101" pitchFamily="2" charset="-122"/>
              </a:rPr>
              <a:t> top</a:t>
            </a:r>
            <a:r>
              <a:rPr lang="en-US" altLang="zh-CN" sz="1300" dirty="0" smtClean="0">
                <a:latin typeface="Times New Roman" panose="02020603050405020304" pitchFamily="18" charset="0"/>
                <a:ea typeface="华文楷体" panose="02010600040101010101" pitchFamily="2" charset="-122"/>
              </a:rPr>
              <a:t>= -</a:t>
            </a:r>
            <a:r>
              <a:rPr lang="en-US" altLang="zh-CN" sz="1300" dirty="0">
                <a:latin typeface="Times New Roman" panose="02020603050405020304" pitchFamily="18" charset="0"/>
                <a:ea typeface="华文楷体" panose="02010600040101010101" pitchFamily="2" charset="-122"/>
              </a:rPr>
              <a:t>1, w, x;</a:t>
            </a:r>
            <a:endParaRPr lang="zh-CN"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a:t>
            </a:r>
            <a:r>
              <a:rPr lang="en-US" altLang="zh-CN" sz="1300" dirty="0" err="1" smtClean="0">
                <a:latin typeface="Times New Roman" panose="02020603050405020304" pitchFamily="18" charset="0"/>
                <a:ea typeface="华文楷体" panose="02010600040101010101" pitchFamily="2" charset="-122"/>
              </a:rPr>
              <a:t>ArcNode</a:t>
            </a:r>
            <a:r>
              <a:rPr lang="en-US" altLang="zh-CN" sz="1300" dirty="0" smtClean="0">
                <a:latin typeface="Times New Roman" panose="02020603050405020304" pitchFamily="18" charset="0"/>
                <a:ea typeface="华文楷体" panose="02010600040101010101" pitchFamily="2" charset="-122"/>
              </a:rPr>
              <a:t> </a:t>
            </a:r>
            <a:r>
              <a:rPr lang="en-US" altLang="zh-CN" sz="1300" dirty="0">
                <a:latin typeface="Times New Roman" panose="02020603050405020304" pitchFamily="18" charset="0"/>
                <a:ea typeface="华文楷体" panose="02010600040101010101" pitchFamily="2" charset="-122"/>
              </a:rPr>
              <a:t>p;</a:t>
            </a:r>
            <a:endParaRPr lang="zh-CN" altLang="zh-CN" sz="1300" dirty="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visit[v] = TRUE</a:t>
            </a:r>
            <a:r>
              <a:rPr lang="en-US" altLang="zh-CN" sz="1300" dirty="0" smtClean="0">
                <a:latin typeface="Times New Roman" panose="02020603050405020304" pitchFamily="18" charset="0"/>
                <a:ea typeface="华文楷体" panose="02010600040101010101" pitchFamily="2" charset="-122"/>
              </a:rPr>
              <a:t>; </a:t>
            </a:r>
            <a:r>
              <a:rPr lang="en-US" altLang="zh-CN" sz="1300" dirty="0" err="1">
                <a:latin typeface="Times New Roman" panose="02020603050405020304" pitchFamily="18" charset="0"/>
                <a:ea typeface="华文楷体" panose="02010600040101010101" pitchFamily="2" charset="-122"/>
              </a:rPr>
              <a:t>printf</a:t>
            </a:r>
            <a:r>
              <a:rPr lang="en-US" altLang="zh-CN" sz="1300" dirty="0">
                <a:latin typeface="Times New Roman" panose="02020603050405020304" pitchFamily="18" charset="0"/>
                <a:ea typeface="华文楷体" panose="02010600040101010101" pitchFamily="2" charset="-122"/>
              </a:rPr>
              <a:t>(“%3d”, </a:t>
            </a:r>
            <a:r>
              <a:rPr lang="en-US" altLang="zh-CN" sz="1300" dirty="0" smtClean="0">
                <a:latin typeface="Times New Roman" panose="02020603050405020304" pitchFamily="18" charset="0"/>
                <a:ea typeface="华文楷体" panose="02010600040101010101" pitchFamily="2" charset="-122"/>
              </a:rPr>
              <a:t>v);</a:t>
            </a:r>
            <a:endParaRPr lang="zh-CN"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top ++; St[top] = v;</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while (top &gt; -1)</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x = St[top];  //</a:t>
            </a:r>
            <a:r>
              <a:rPr lang="zh-CN" altLang="en-US" sz="1300" dirty="0" smtClean="0">
                <a:latin typeface="Times New Roman" panose="02020603050405020304" pitchFamily="18" charset="0"/>
                <a:ea typeface="华文楷体" panose="02010600040101010101" pitchFamily="2" charset="-122"/>
              </a:rPr>
              <a:t>取栈顶顶点</a:t>
            </a:r>
            <a:r>
              <a:rPr lang="en-US" altLang="zh-CN" sz="1300" dirty="0" smtClean="0">
                <a:latin typeface="Times New Roman" panose="02020603050405020304" pitchFamily="18" charset="0"/>
                <a:ea typeface="华文楷体" panose="02010600040101010101" pitchFamily="2" charset="-122"/>
              </a:rPr>
              <a:t>x</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p </a:t>
            </a:r>
            <a:r>
              <a:rPr lang="en-US" altLang="zh-CN" sz="1300" dirty="0">
                <a:latin typeface="Times New Roman" panose="02020603050405020304" pitchFamily="18" charset="0"/>
                <a:ea typeface="华文楷体" panose="02010600040101010101" pitchFamily="2" charset="-122"/>
              </a:rPr>
              <a:t>= G-&gt;</a:t>
            </a:r>
            <a:r>
              <a:rPr lang="en-US" altLang="zh-CN" sz="1300" dirty="0" err="1">
                <a:latin typeface="Times New Roman" panose="02020603050405020304" pitchFamily="18" charset="0"/>
                <a:ea typeface="华文楷体" panose="02010600040101010101" pitchFamily="2" charset="-122"/>
              </a:rPr>
              <a:t>adjlist</a:t>
            </a:r>
            <a:r>
              <a:rPr lang="en-US" altLang="zh-CN" sz="1300" dirty="0">
                <a:latin typeface="Times New Roman" panose="02020603050405020304" pitchFamily="18" charset="0"/>
                <a:ea typeface="华文楷体" panose="02010600040101010101" pitchFamily="2" charset="-122"/>
              </a:rPr>
              <a:t>[x].</a:t>
            </a:r>
            <a:r>
              <a:rPr lang="en-US" altLang="zh-CN" sz="1300" dirty="0" err="1">
                <a:latin typeface="Times New Roman" panose="02020603050405020304" pitchFamily="18" charset="0"/>
                <a:ea typeface="华文楷体" panose="02010600040101010101" pitchFamily="2" charset="-122"/>
              </a:rPr>
              <a:t>firtstarc</a:t>
            </a:r>
            <a:r>
              <a:rPr lang="en-US" altLang="zh-CN" sz="1300" dirty="0" smtClean="0">
                <a:latin typeface="Times New Roman" panose="02020603050405020304" pitchFamily="18" charset="0"/>
                <a:ea typeface="华文楷体" panose="02010600040101010101" pitchFamily="2" charset="-122"/>
              </a:rPr>
              <a:t>;</a:t>
            </a:r>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a:t>
            </a:r>
            <a:r>
              <a:rPr lang="zh-CN" altLang="en-US" sz="1300" dirty="0" smtClean="0">
                <a:latin typeface="Times New Roman" panose="02020603050405020304" pitchFamily="18" charset="0"/>
                <a:ea typeface="华文楷体" panose="02010600040101010101" pitchFamily="2" charset="-122"/>
              </a:rPr>
              <a:t>找顶</a:t>
            </a:r>
            <a:r>
              <a:rPr lang="zh-CN" altLang="en-US" sz="1300" dirty="0">
                <a:latin typeface="Times New Roman" panose="02020603050405020304" pitchFamily="18" charset="0"/>
                <a:ea typeface="华文楷体" panose="02010600040101010101" pitchFamily="2" charset="-122"/>
              </a:rPr>
              <a:t>点</a:t>
            </a:r>
            <a:r>
              <a:rPr lang="en-US" altLang="zh-CN" sz="1300" dirty="0" smtClean="0">
                <a:latin typeface="Times New Roman" panose="02020603050405020304" pitchFamily="18" charset="0"/>
                <a:ea typeface="华文楷体" panose="02010600040101010101" pitchFamily="2" charset="-122"/>
              </a:rPr>
              <a:t>x</a:t>
            </a:r>
            <a:r>
              <a:rPr lang="zh-CN" altLang="en-US" sz="1300" dirty="0" smtClean="0">
                <a:latin typeface="Times New Roman" panose="02020603050405020304" pitchFamily="18" charset="0"/>
                <a:ea typeface="华文楷体" panose="02010600040101010101" pitchFamily="2" charset="-122"/>
              </a:rPr>
              <a:t>的一个邻接顶点</a:t>
            </a:r>
            <a:endParaRPr lang="en-US"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while (p!= NULL)</a:t>
            </a:r>
            <a:endParaRPr lang="en-US"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w = p-&gt;</a:t>
            </a:r>
            <a:r>
              <a:rPr lang="en-US" altLang="zh-CN" sz="1300" dirty="0" err="1" smtClean="0">
                <a:latin typeface="Times New Roman" panose="02020603050405020304" pitchFamily="18" charset="0"/>
                <a:ea typeface="华文楷体" panose="02010600040101010101" pitchFamily="2" charset="-122"/>
              </a:rPr>
              <a:t>adjvex</a:t>
            </a:r>
            <a:r>
              <a:rPr lang="en-US" altLang="zh-CN" sz="1300" dirty="0" smtClean="0">
                <a:latin typeface="Times New Roman" panose="02020603050405020304" pitchFamily="18" charset="0"/>
                <a:ea typeface="华文楷体" panose="02010600040101010101" pitchFamily="2" charset="-122"/>
              </a:rPr>
              <a:t>; //</a:t>
            </a:r>
            <a:r>
              <a:rPr lang="en-US" altLang="zh-CN" sz="1300" dirty="0">
                <a:latin typeface="Times New Roman" panose="02020603050405020304" pitchFamily="18" charset="0"/>
                <a:ea typeface="华文楷体" panose="02010600040101010101" pitchFamily="2" charset="-122"/>
              </a:rPr>
              <a:t> x</a:t>
            </a:r>
            <a:r>
              <a:rPr lang="zh-CN" altLang="en-US" sz="1300" dirty="0" smtClean="0">
                <a:latin typeface="Times New Roman" panose="02020603050405020304" pitchFamily="18" charset="0"/>
                <a:ea typeface="华文楷体" panose="02010600040101010101" pitchFamily="2" charset="-122"/>
              </a:rPr>
              <a:t>的邻接顶点记为</a:t>
            </a:r>
            <a:r>
              <a:rPr lang="en-US" altLang="zh-CN" sz="1300" dirty="0" smtClean="0">
                <a:latin typeface="Times New Roman" panose="02020603050405020304" pitchFamily="18" charset="0"/>
                <a:ea typeface="华文楷体" panose="02010600040101010101" pitchFamily="2" charset="-122"/>
              </a:rPr>
              <a:t>w</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if (visit[w] == FALSE) //</a:t>
            </a:r>
            <a:r>
              <a:rPr lang="zh-CN" altLang="en-US" sz="1300" dirty="0" smtClean="0">
                <a:latin typeface="Times New Roman" panose="02020603050405020304" pitchFamily="18" charset="0"/>
                <a:ea typeface="华文楷体" panose="02010600040101010101" pitchFamily="2" charset="-122"/>
              </a:rPr>
              <a:t>若</a:t>
            </a:r>
            <a:r>
              <a:rPr lang="en-US" altLang="zh-CN" sz="1300" dirty="0" smtClean="0">
                <a:latin typeface="Times New Roman" panose="02020603050405020304" pitchFamily="18" charset="0"/>
                <a:ea typeface="华文楷体" panose="02010600040101010101" pitchFamily="2" charset="-122"/>
              </a:rPr>
              <a:t>w</a:t>
            </a:r>
            <a:r>
              <a:rPr lang="zh-CN" altLang="en-US" sz="1300" dirty="0" smtClean="0">
                <a:latin typeface="Times New Roman" panose="02020603050405020304" pitchFamily="18" charset="0"/>
                <a:ea typeface="华文楷体" panose="02010600040101010101" pitchFamily="2" charset="-122"/>
              </a:rPr>
              <a:t>未被访问</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r>
              <a:rPr lang="en-US" altLang="zh-CN" sz="1300" dirty="0" err="1" smtClean="0">
                <a:latin typeface="Times New Roman" panose="02020603050405020304" pitchFamily="18" charset="0"/>
                <a:ea typeface="华文楷体" panose="02010600040101010101" pitchFamily="2" charset="-122"/>
              </a:rPr>
              <a:t>printf</a:t>
            </a:r>
            <a:r>
              <a:rPr lang="en-US" altLang="zh-CN" sz="1300" dirty="0">
                <a:latin typeface="Times New Roman" panose="02020603050405020304" pitchFamily="18" charset="0"/>
                <a:ea typeface="华文楷体" panose="02010600040101010101" pitchFamily="2" charset="-122"/>
              </a:rPr>
              <a:t>(“%3d”, </a:t>
            </a:r>
            <a:r>
              <a:rPr lang="en-US" altLang="zh-CN" sz="1300" dirty="0" smtClean="0">
                <a:latin typeface="Times New Roman" panose="02020603050405020304" pitchFamily="18" charset="0"/>
                <a:ea typeface="华文楷体" panose="02010600040101010101" pitchFamily="2" charset="-122"/>
              </a:rPr>
              <a:t>w);  //</a:t>
            </a:r>
            <a:r>
              <a:rPr lang="zh-CN" altLang="en-US" sz="1300" dirty="0" smtClean="0">
                <a:latin typeface="Times New Roman" panose="02020603050405020304" pitchFamily="18" charset="0"/>
                <a:ea typeface="华文楷体" panose="02010600040101010101" pitchFamily="2" charset="-122"/>
              </a:rPr>
              <a:t>访问</a:t>
            </a:r>
            <a:r>
              <a:rPr lang="en-US" altLang="zh-CN" sz="1300" dirty="0" smtClean="0">
                <a:latin typeface="Times New Roman" panose="02020603050405020304" pitchFamily="18" charset="0"/>
                <a:ea typeface="华文楷体" panose="02010600040101010101" pitchFamily="2" charset="-122"/>
              </a:rPr>
              <a:t>w</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visit[w] </a:t>
            </a:r>
            <a:r>
              <a:rPr lang="en-US" altLang="zh-CN" sz="1300" dirty="0">
                <a:latin typeface="Times New Roman" panose="02020603050405020304" pitchFamily="18" charset="0"/>
                <a:ea typeface="华文楷体" panose="02010600040101010101" pitchFamily="2" charset="-122"/>
              </a:rPr>
              <a:t>= TRUE</a:t>
            </a:r>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r>
              <a:rPr lang="en-US" altLang="zh-CN" sz="1300" dirty="0">
                <a:latin typeface="Times New Roman" panose="02020603050405020304" pitchFamily="18" charset="0"/>
                <a:ea typeface="华文楷体" panose="02010600040101010101" pitchFamily="2" charset="-122"/>
              </a:rPr>
              <a:t>top</a:t>
            </a:r>
            <a:r>
              <a:rPr lang="en-US" altLang="zh-CN" sz="1300" dirty="0" smtClean="0">
                <a:latin typeface="Times New Roman" panose="02020603050405020304" pitchFamily="18" charset="0"/>
                <a:ea typeface="华文楷体" panose="02010600040101010101" pitchFamily="2" charset="-122"/>
              </a:rPr>
              <a:t>++; St[top] = w; //w</a:t>
            </a:r>
            <a:r>
              <a:rPr lang="zh-CN" altLang="en-US" sz="1300" dirty="0" smtClean="0">
                <a:latin typeface="Times New Roman" panose="02020603050405020304" pitchFamily="18" charset="0"/>
                <a:ea typeface="华文楷体" panose="02010600040101010101" pitchFamily="2" charset="-122"/>
              </a:rPr>
              <a:t>入栈</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r>
              <a:rPr lang="en-US" altLang="zh-CN" sz="1300" b="1" dirty="0" smtClean="0">
                <a:solidFill>
                  <a:srgbClr val="FF0000"/>
                </a:solidFill>
                <a:latin typeface="Times New Roman" panose="02020603050405020304" pitchFamily="18" charset="0"/>
                <a:ea typeface="华文楷体" panose="02010600040101010101" pitchFamily="2" charset="-122"/>
              </a:rPr>
              <a:t>break;</a:t>
            </a:r>
            <a:r>
              <a:rPr lang="en-US" altLang="zh-CN" sz="1300" dirty="0" smtClean="0">
                <a:latin typeface="Times New Roman" panose="02020603050405020304" pitchFamily="18" charset="0"/>
                <a:ea typeface="华文楷体" panose="02010600040101010101" pitchFamily="2" charset="-122"/>
              </a:rPr>
              <a:t>//</a:t>
            </a:r>
            <a:r>
              <a:rPr lang="zh-CN" altLang="en-US" sz="1300" dirty="0" smtClean="0">
                <a:latin typeface="Times New Roman" panose="02020603050405020304" pitchFamily="18" charset="0"/>
                <a:ea typeface="华文楷体" panose="02010600040101010101" pitchFamily="2" charset="-122"/>
              </a:rPr>
              <a:t>跳出循环，处理栈顶的顶点（先进先出）</a:t>
            </a:r>
            <a:endParaRPr lang="zh-CN" altLang="zh-CN" sz="1300" dirty="0">
              <a:latin typeface="Times New Roman" panose="02020603050405020304" pitchFamily="18" charset="0"/>
              <a:ea typeface="华文楷体" panose="02010600040101010101" pitchFamily="2" charset="-122"/>
            </a:endParaRPr>
          </a:p>
          <a:p>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p = p-&gt;</a:t>
            </a:r>
            <a:r>
              <a:rPr lang="en-US" altLang="zh-CN" sz="1300" dirty="0" err="1" smtClean="0">
                <a:latin typeface="Times New Roman" panose="02020603050405020304" pitchFamily="18" charset="0"/>
                <a:ea typeface="华文楷体" panose="02010600040101010101" pitchFamily="2" charset="-122"/>
              </a:rPr>
              <a:t>nextarc</a:t>
            </a:r>
            <a:r>
              <a:rPr lang="en-US" altLang="zh-CN" sz="1300" dirty="0" smtClean="0">
                <a:latin typeface="Times New Roman" panose="02020603050405020304" pitchFamily="18" charset="0"/>
                <a:ea typeface="华文楷体" panose="02010600040101010101" pitchFamily="2" charset="-122"/>
              </a:rPr>
              <a:t>; //</a:t>
            </a:r>
            <a:r>
              <a:rPr lang="zh-CN" altLang="en-US" sz="1300" dirty="0" smtClean="0">
                <a:latin typeface="Times New Roman" panose="02020603050405020304" pitchFamily="18" charset="0"/>
                <a:ea typeface="华文楷体" panose="02010600040101010101" pitchFamily="2" charset="-122"/>
              </a:rPr>
              <a:t>取顶点</a:t>
            </a:r>
            <a:r>
              <a:rPr lang="en-US" altLang="zh-CN" sz="1300" dirty="0" smtClean="0">
                <a:latin typeface="Times New Roman" panose="02020603050405020304" pitchFamily="18" charset="0"/>
                <a:ea typeface="华文楷体" panose="02010600040101010101" pitchFamily="2" charset="-122"/>
              </a:rPr>
              <a:t>x</a:t>
            </a:r>
            <a:r>
              <a:rPr lang="zh-CN" altLang="en-US" sz="1300" dirty="0" smtClean="0">
                <a:latin typeface="Times New Roman" panose="02020603050405020304" pitchFamily="18" charset="0"/>
                <a:ea typeface="华文楷体" panose="02010600040101010101" pitchFamily="2" charset="-122"/>
              </a:rPr>
              <a:t>的下一个邻接顶点</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if (p== NULL) top--; //x</a:t>
            </a:r>
            <a:r>
              <a:rPr lang="zh-CN" altLang="en-US" sz="1300" dirty="0" smtClean="0">
                <a:latin typeface="Times New Roman" panose="02020603050405020304" pitchFamily="18" charset="0"/>
                <a:ea typeface="华文楷体" panose="02010600040101010101" pitchFamily="2" charset="-122"/>
              </a:rPr>
              <a:t>无未被访问的邻接顶点，退栈</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 </a:t>
            </a:r>
            <a:r>
              <a:rPr lang="en-US" altLang="zh-CN" sz="1300" dirty="0" smtClean="0">
                <a:latin typeface="Times New Roman" panose="02020603050405020304" pitchFamily="18" charset="0"/>
                <a:ea typeface="华文楷体" panose="02010600040101010101" pitchFamily="2" charset="-122"/>
              </a:rPr>
              <a:t>   }</a:t>
            </a:r>
            <a:endParaRPr lang="en-US" altLang="zh-CN" sz="1300" dirty="0" smtClean="0">
              <a:latin typeface="Times New Roman" panose="02020603050405020304" pitchFamily="18" charset="0"/>
              <a:ea typeface="华文楷体" panose="02010600040101010101" pitchFamily="2" charset="-122"/>
            </a:endParaRPr>
          </a:p>
          <a:p>
            <a:r>
              <a:rPr lang="en-US" altLang="zh-CN" sz="1300" dirty="0">
                <a:latin typeface="Times New Roman" panose="02020603050405020304" pitchFamily="18" charset="0"/>
                <a:ea typeface="华文楷体" panose="02010600040101010101" pitchFamily="2" charset="-122"/>
              </a:rPr>
              <a:t>}</a:t>
            </a:r>
            <a:endParaRPr lang="en-US" altLang="zh-CN" sz="1300" dirty="0" smtClean="0">
              <a:latin typeface="Times New Roman" panose="02020603050405020304" pitchFamily="18" charset="0"/>
              <a:ea typeface="华文楷体" panose="02010600040101010101" pitchFamily="2" charset="-122"/>
            </a:endParaRPr>
          </a:p>
        </p:txBody>
      </p:sp>
      <p:sp>
        <p:nvSpPr>
          <p:cNvPr id="8" name="文本框 7"/>
          <p:cNvSpPr txBox="1"/>
          <p:nvPr/>
        </p:nvSpPr>
        <p:spPr>
          <a:xfrm>
            <a:off x="205046" y="6498492"/>
            <a:ext cx="7366119" cy="307777"/>
          </a:xfrm>
          <a:prstGeom prst="rect">
            <a:avLst/>
          </a:prstGeom>
          <a:noFill/>
          <a:ln>
            <a:solidFill>
              <a:srgbClr val="C00000"/>
            </a:solidFill>
          </a:ln>
        </p:spPr>
        <p:txBody>
          <a:bodyPr wrap="none" rtlCol="0">
            <a:spAutoFit/>
          </a:bodyPr>
          <a:lstStyle/>
          <a:p>
            <a:r>
              <a:rPr lang="zh-CN" altLang="en-US" sz="1400" dirty="0" smtClean="0">
                <a:latin typeface="华文楷体" panose="02010600040101010101" pitchFamily="2" charset="-122"/>
                <a:ea typeface="华文楷体" panose="02010600040101010101" pitchFamily="2" charset="-122"/>
              </a:rPr>
              <a:t>篇幅原因，算法中不包括染色、打时间戳和记录前驱等功能，这些功能可依据需要自行添加</a:t>
            </a:r>
            <a:endParaRPr lang="zh-CN" altLang="en-US" sz="14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sz="2000" dirty="0">
                <a:ea typeface="华文楷体" panose="02010600040101010101" pitchFamily="2" charset="-122"/>
              </a:rPr>
              <a:t>采用</a:t>
            </a:r>
            <a:r>
              <a:rPr lang="zh-CN" altLang="en-US" sz="2000" dirty="0" smtClean="0">
                <a:ea typeface="华文楷体" panose="02010600040101010101" pitchFamily="2" charset="-122"/>
              </a:rPr>
              <a:t>邻接</a:t>
            </a:r>
            <a:r>
              <a:rPr lang="zh-CN" altLang="en-US" sz="2000" dirty="0">
                <a:ea typeface="华文楷体" panose="02010600040101010101" pitchFamily="2" charset="-122"/>
              </a:rPr>
              <a:t>矩阵</a:t>
            </a:r>
            <a:r>
              <a:rPr lang="zh-CN" altLang="en-US" sz="2000" dirty="0" smtClean="0">
                <a:ea typeface="华文楷体" panose="02010600040101010101" pitchFamily="2" charset="-122"/>
              </a:rPr>
              <a:t>存储</a:t>
            </a:r>
            <a:r>
              <a:rPr lang="zh-CN" altLang="en-US" sz="2000" dirty="0">
                <a:ea typeface="华文楷体" panose="02010600040101010101" pitchFamily="2" charset="-122"/>
              </a:rPr>
              <a:t>，</a:t>
            </a:r>
            <a:r>
              <a:rPr lang="en-US" altLang="zh-CN" sz="2000" dirty="0">
                <a:ea typeface="华文楷体" panose="02010600040101010101" pitchFamily="2" charset="-122"/>
              </a:rPr>
              <a:t>DFS</a:t>
            </a:r>
            <a:r>
              <a:rPr lang="zh-CN" altLang="en-US" sz="2000" dirty="0">
                <a:ea typeface="华文楷体" panose="02010600040101010101" pitchFamily="2" charset="-122"/>
              </a:rPr>
              <a:t>算法的实现</a:t>
            </a:r>
            <a:endParaRPr lang="zh-CN" altLang="en-US" sz="2000" dirty="0"/>
          </a:p>
          <a:p>
            <a:pPr marL="0" indent="0">
              <a:buNone/>
            </a:pPr>
            <a:endParaRPr lang="zh-CN" altLang="en-US"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457200" y="1594644"/>
            <a:ext cx="8554265" cy="2862322"/>
          </a:xfrm>
          <a:prstGeom prst="rect">
            <a:avLst/>
          </a:prstGeom>
          <a:noFill/>
          <a:ln>
            <a:solidFill>
              <a:schemeClr val="accent1"/>
            </a:solidFill>
          </a:ln>
        </p:spPr>
        <p:txBody>
          <a:bodyPr wrap="non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邻接矩阵实现</a:t>
            </a:r>
            <a:r>
              <a:rPr lang="en-US" altLang="zh-CN" sz="2000" b="1" dirty="0">
                <a:solidFill>
                  <a:srgbClr val="FF0000"/>
                </a:solidFill>
                <a:latin typeface="Times New Roman" panose="02020603050405020304" pitchFamily="18" charset="0"/>
                <a:cs typeface="Times New Roman" panose="02020603050405020304" pitchFamily="18" charset="0"/>
              </a:rPr>
              <a:t>DFS</a:t>
            </a:r>
            <a:endParaRPr lang="en-US" altLang="zh-CN" sz="2000" b="1" dirty="0">
              <a:solidFill>
                <a:srgbClr val="FF0000"/>
              </a:solidFill>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Void DFS(</a:t>
            </a:r>
            <a:r>
              <a:rPr lang="en-US" altLang="zh-CN" sz="2000" dirty="0" err="1" smtClean="0">
                <a:latin typeface="Times New Roman" panose="02020603050405020304" pitchFamily="18" charset="0"/>
                <a:cs typeface="Times New Roman" panose="02020603050405020304" pitchFamily="18" charset="0"/>
              </a:rPr>
              <a:t>Mgraph</a:t>
            </a:r>
            <a:r>
              <a:rPr lang="en-US" altLang="zh-CN" sz="2000" dirty="0" smtClean="0">
                <a:latin typeface="Times New Roman" panose="02020603050405020304" pitchFamily="18" charset="0"/>
                <a:cs typeface="Times New Roman" panose="02020603050405020304" pitchFamily="18" charset="0"/>
              </a:rPr>
              <a:t> g, </a:t>
            </a:r>
            <a:r>
              <a:rPr lang="en-US" altLang="zh-CN" sz="2000" dirty="0" err="1" smtClean="0">
                <a:latin typeface="Times New Roman" panose="02020603050405020304" pitchFamily="18" charset="0"/>
                <a:cs typeface="Times New Roman" panose="02020603050405020304" pitchFamily="18" charset="0"/>
              </a:rPr>
              <a:t>int</a:t>
            </a:r>
            <a:r>
              <a:rPr lang="en-US" altLang="zh-CN" sz="2000" dirty="0" smtClean="0">
                <a:latin typeface="Times New Roman" panose="02020603050405020304" pitchFamily="18" charset="0"/>
                <a:cs typeface="Times New Roman" panose="02020603050405020304" pitchFamily="18" charset="0"/>
              </a:rPr>
              <a:t> v)</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visit[v] = TRUE;</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ea typeface="华文楷体" panose="02010600040101010101" pitchFamily="2" charset="-122"/>
                <a:cs typeface="Times New Roman" panose="02020603050405020304" pitchFamily="18" charset="0"/>
              </a:rPr>
              <a:t>printf</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(“%3d”, </a:t>
            </a:r>
            <a:r>
              <a:rPr lang="en-US" altLang="zh-CN" sz="2000" dirty="0" smtClean="0">
                <a:latin typeface="Times New Roman" panose="02020603050405020304" pitchFamily="18" charset="0"/>
                <a:ea typeface="华文楷体" panose="02010600040101010101" pitchFamily="2" charset="-122"/>
                <a:cs typeface="Times New Roman" panose="02020603050405020304" pitchFamily="18" charset="0"/>
              </a:rPr>
              <a:t>v);</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a:t>
            </a:r>
            <a:r>
              <a:rPr lang="en-US" altLang="zh-CN" sz="2000" b="1" dirty="0" smtClean="0">
                <a:solidFill>
                  <a:srgbClr val="C00000"/>
                </a:solidFill>
                <a:latin typeface="Times New Roman" panose="02020603050405020304" pitchFamily="18" charset="0"/>
                <a:cs typeface="Times New Roman" panose="02020603050405020304" pitchFamily="18" charset="0"/>
              </a:rPr>
              <a:t>for (</a:t>
            </a:r>
            <a:r>
              <a:rPr lang="en-US" altLang="zh-CN" sz="2000" b="1" dirty="0" err="1" smtClean="0">
                <a:solidFill>
                  <a:srgbClr val="C00000"/>
                </a:solidFill>
                <a:latin typeface="Times New Roman" panose="02020603050405020304" pitchFamily="18" charset="0"/>
                <a:cs typeface="Times New Roman" panose="02020603050405020304" pitchFamily="18" charset="0"/>
              </a:rPr>
              <a:t>int</a:t>
            </a:r>
            <a:r>
              <a:rPr lang="en-US" altLang="zh-CN" sz="2000" b="1" dirty="0" smtClean="0">
                <a:solidFill>
                  <a:srgbClr val="C00000"/>
                </a:solidFill>
                <a:latin typeface="Times New Roman" panose="02020603050405020304" pitchFamily="18" charset="0"/>
                <a:cs typeface="Times New Roman" panose="02020603050405020304" pitchFamily="18" charset="0"/>
              </a:rPr>
              <a:t> </a:t>
            </a:r>
            <a:r>
              <a:rPr lang="en-US" altLang="zh-CN" sz="2000" b="1" dirty="0" err="1" smtClean="0">
                <a:solidFill>
                  <a:srgbClr val="C00000"/>
                </a:solidFill>
                <a:latin typeface="Times New Roman" panose="02020603050405020304" pitchFamily="18" charset="0"/>
                <a:cs typeface="Times New Roman" panose="02020603050405020304" pitchFamily="18" charset="0"/>
              </a:rPr>
              <a:t>i</a:t>
            </a:r>
            <a:r>
              <a:rPr lang="en-US" altLang="zh-CN" sz="2000" b="1" dirty="0" smtClean="0">
                <a:solidFill>
                  <a:srgbClr val="C00000"/>
                </a:solidFill>
                <a:latin typeface="Times New Roman" panose="02020603050405020304" pitchFamily="18" charset="0"/>
                <a:cs typeface="Times New Roman" panose="02020603050405020304" pitchFamily="18" charset="0"/>
              </a:rPr>
              <a:t>=0; </a:t>
            </a:r>
            <a:r>
              <a:rPr lang="en-US" altLang="zh-CN" sz="2000" b="1" dirty="0" err="1" smtClean="0">
                <a:solidFill>
                  <a:srgbClr val="C00000"/>
                </a:solidFill>
                <a:latin typeface="Times New Roman" panose="02020603050405020304" pitchFamily="18" charset="0"/>
                <a:cs typeface="Times New Roman" panose="02020603050405020304" pitchFamily="18" charset="0"/>
              </a:rPr>
              <a:t>i</a:t>
            </a:r>
            <a:r>
              <a:rPr lang="en-US" altLang="zh-CN" sz="2000" b="1" dirty="0" smtClean="0">
                <a:solidFill>
                  <a:srgbClr val="C00000"/>
                </a:solidFill>
                <a:latin typeface="Times New Roman" panose="02020603050405020304" pitchFamily="18" charset="0"/>
                <a:cs typeface="Times New Roman" panose="02020603050405020304" pitchFamily="18" charset="0"/>
              </a:rPr>
              <a:t>&lt;MAXV; </a:t>
            </a:r>
            <a:r>
              <a:rPr lang="en-US" altLang="zh-CN" sz="2000" b="1" dirty="0" err="1" smtClean="0">
                <a:solidFill>
                  <a:srgbClr val="C00000"/>
                </a:solidFill>
                <a:latin typeface="Times New Roman" panose="02020603050405020304" pitchFamily="18" charset="0"/>
                <a:cs typeface="Times New Roman" panose="02020603050405020304" pitchFamily="18" charset="0"/>
              </a:rPr>
              <a:t>i</a:t>
            </a:r>
            <a:r>
              <a:rPr lang="en-US" altLang="zh-CN" sz="2000" b="1" dirty="0" smtClean="0">
                <a:solidFill>
                  <a:srgbClr val="C00000"/>
                </a:solidFill>
                <a:latin typeface="Times New Roman" panose="02020603050405020304" pitchFamily="18" charset="0"/>
                <a:cs typeface="Times New Roman" panose="02020603050405020304" pitchFamily="18" charset="0"/>
              </a:rPr>
              <a:t>++)</a:t>
            </a:r>
            <a:endParaRPr lang="en-US" altLang="zh-CN" sz="2000" b="1" dirty="0" smtClean="0">
              <a:solidFill>
                <a:srgbClr val="C00000"/>
              </a:solidFill>
              <a:latin typeface="Times New Roman" panose="02020603050405020304" pitchFamily="18" charset="0"/>
              <a:cs typeface="Times New Roman" panose="02020603050405020304" pitchFamily="18" charset="0"/>
            </a:endParaRPr>
          </a:p>
          <a:p>
            <a:r>
              <a:rPr lang="en-US" altLang="zh-CN" sz="2000" b="1" dirty="0" smtClean="0">
                <a:solidFill>
                  <a:srgbClr val="C00000"/>
                </a:solidFill>
                <a:latin typeface="Times New Roman" panose="02020603050405020304" pitchFamily="18" charset="0"/>
                <a:cs typeface="Times New Roman" panose="02020603050405020304" pitchFamily="18" charset="0"/>
              </a:rPr>
              <a:t>        if(</a:t>
            </a:r>
            <a:r>
              <a:rPr lang="en-US" altLang="zh-CN" sz="2000" b="1" dirty="0" err="1" smtClean="0">
                <a:solidFill>
                  <a:srgbClr val="C00000"/>
                </a:solidFill>
                <a:latin typeface="Times New Roman" panose="02020603050405020304" pitchFamily="18" charset="0"/>
                <a:cs typeface="Times New Roman" panose="02020603050405020304" pitchFamily="18" charset="0"/>
              </a:rPr>
              <a:t>g.edges</a:t>
            </a:r>
            <a:r>
              <a:rPr lang="en-US" altLang="zh-CN" sz="2000" b="1" dirty="0" smtClean="0">
                <a:solidFill>
                  <a:srgbClr val="C00000"/>
                </a:solidFill>
                <a:latin typeface="Times New Roman" panose="02020603050405020304" pitchFamily="18" charset="0"/>
                <a:cs typeface="Times New Roman" panose="02020603050405020304" pitchFamily="18" charset="0"/>
              </a:rPr>
              <a:t>[v][</a:t>
            </a:r>
            <a:r>
              <a:rPr lang="en-US" altLang="zh-CN" sz="2000" b="1" dirty="0" err="1" smtClean="0">
                <a:solidFill>
                  <a:srgbClr val="C00000"/>
                </a:solidFill>
                <a:latin typeface="Times New Roman" panose="02020603050405020304" pitchFamily="18" charset="0"/>
                <a:cs typeface="Times New Roman" panose="02020603050405020304" pitchFamily="18" charset="0"/>
              </a:rPr>
              <a:t>i</a:t>
            </a:r>
            <a:r>
              <a:rPr lang="en-US" altLang="zh-CN" sz="2000" b="1" dirty="0" smtClean="0">
                <a:solidFill>
                  <a:srgbClr val="C00000"/>
                </a:solidFill>
                <a:latin typeface="Times New Roman" panose="02020603050405020304" pitchFamily="18" charset="0"/>
                <a:cs typeface="Times New Roman" panose="02020603050405020304" pitchFamily="18" charset="0"/>
              </a:rPr>
              <a:t>] != 0 &amp;&amp; if(</a:t>
            </a:r>
            <a:r>
              <a:rPr lang="en-US" altLang="zh-CN" sz="2000" b="1" dirty="0" err="1" smtClean="0">
                <a:solidFill>
                  <a:srgbClr val="C00000"/>
                </a:solidFill>
                <a:latin typeface="Times New Roman" panose="02020603050405020304" pitchFamily="18" charset="0"/>
                <a:cs typeface="Times New Roman" panose="02020603050405020304" pitchFamily="18" charset="0"/>
              </a:rPr>
              <a:t>g.edges</a:t>
            </a:r>
            <a:r>
              <a:rPr lang="en-US" altLang="zh-CN" sz="2000" b="1" dirty="0" smtClean="0">
                <a:solidFill>
                  <a:srgbClr val="C00000"/>
                </a:solidFill>
                <a:latin typeface="Times New Roman" panose="02020603050405020304" pitchFamily="18" charset="0"/>
                <a:cs typeface="Times New Roman" panose="02020603050405020304" pitchFamily="18" charset="0"/>
              </a:rPr>
              <a:t>[v][</a:t>
            </a:r>
            <a:r>
              <a:rPr lang="en-US" altLang="zh-CN" sz="2000" b="1" dirty="0" err="1">
                <a:solidFill>
                  <a:srgbClr val="C00000"/>
                </a:solidFill>
                <a:latin typeface="Times New Roman" panose="02020603050405020304" pitchFamily="18" charset="0"/>
                <a:cs typeface="Times New Roman" panose="02020603050405020304" pitchFamily="18" charset="0"/>
              </a:rPr>
              <a:t>i</a:t>
            </a:r>
            <a:r>
              <a:rPr lang="en-US" altLang="zh-CN" sz="2000" b="1" dirty="0">
                <a:solidFill>
                  <a:srgbClr val="C00000"/>
                </a:solidFill>
                <a:latin typeface="Times New Roman" panose="02020603050405020304" pitchFamily="18" charset="0"/>
                <a:cs typeface="Times New Roman" panose="02020603050405020304" pitchFamily="18" charset="0"/>
              </a:rPr>
              <a:t>] != </a:t>
            </a:r>
            <a:r>
              <a:rPr lang="en-US" altLang="zh-CN" sz="2000" b="1" dirty="0" smtClean="0">
                <a:solidFill>
                  <a:srgbClr val="C00000"/>
                </a:solidFill>
                <a:latin typeface="Times New Roman" panose="02020603050405020304" pitchFamily="18" charset="0"/>
                <a:cs typeface="Times New Roman" panose="02020603050405020304" pitchFamily="18" charset="0"/>
              </a:rPr>
              <a:t>INF &amp;&amp; visited[</a:t>
            </a:r>
            <a:r>
              <a:rPr lang="en-US" altLang="zh-CN" sz="2000" b="1" dirty="0" err="1" smtClean="0">
                <a:solidFill>
                  <a:srgbClr val="C00000"/>
                </a:solidFill>
                <a:latin typeface="Times New Roman" panose="02020603050405020304" pitchFamily="18" charset="0"/>
                <a:cs typeface="Times New Roman" panose="02020603050405020304" pitchFamily="18" charset="0"/>
              </a:rPr>
              <a:t>i</a:t>
            </a:r>
            <a:r>
              <a:rPr lang="en-US" altLang="zh-CN" sz="2000" b="1" dirty="0" smtClean="0">
                <a:solidFill>
                  <a:srgbClr val="C00000"/>
                </a:solidFill>
                <a:latin typeface="Times New Roman" panose="02020603050405020304" pitchFamily="18" charset="0"/>
                <a:cs typeface="Times New Roman" panose="02020603050405020304" pitchFamily="18" charset="0"/>
              </a:rPr>
              <a:t>] == FALSE )</a:t>
            </a:r>
            <a:endParaRPr lang="en-US" altLang="zh-CN" sz="2000" b="1" dirty="0" smtClean="0">
              <a:solidFill>
                <a:srgbClr val="C00000"/>
              </a:solidFill>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DFS(</a:t>
            </a:r>
            <a:r>
              <a:rPr lang="en-US" altLang="zh-CN" sz="2000" dirty="0" err="1" smtClean="0">
                <a:latin typeface="Times New Roman" panose="02020603050405020304" pitchFamily="18" charset="0"/>
                <a:cs typeface="Times New Roman" panose="02020603050405020304" pitchFamily="18" charset="0"/>
              </a:rPr>
              <a:t>g,i</a:t>
            </a:r>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7" name="Rectangle 3"/>
          <p:cNvSpPr txBox="1">
            <a:spLocks noChangeArrowheads="1"/>
          </p:cNvSpPr>
          <p:nvPr/>
        </p:nvSpPr>
        <p:spPr bwMode="auto">
          <a:xfrm>
            <a:off x="465939" y="4655161"/>
            <a:ext cx="7381468" cy="1938278"/>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panose="05000000000000000000" pitchFamily="2" charset="2"/>
              <a:buNone/>
            </a:pPr>
            <a:r>
              <a:rPr lang="en-US" altLang="zh-CN" sz="2000" b="1" dirty="0" smtClean="0">
                <a:solidFill>
                  <a:srgbClr val="996600"/>
                </a:solidFill>
                <a:ea typeface="华文楷体" panose="02010600040101010101" pitchFamily="2" charset="-122"/>
              </a:rPr>
              <a:t>[</a:t>
            </a:r>
            <a:r>
              <a:rPr lang="zh-CN" altLang="en-US" sz="2000" b="1" dirty="0" smtClean="0">
                <a:solidFill>
                  <a:srgbClr val="996600"/>
                </a:solidFill>
                <a:ea typeface="华文楷体" panose="02010600040101010101" pitchFamily="2" charset="-122"/>
              </a:rPr>
              <a:t>算法时间复杂度分析</a:t>
            </a:r>
            <a:r>
              <a:rPr lang="en-US" altLang="zh-CN" sz="2000" b="1" dirty="0" smtClean="0">
                <a:solidFill>
                  <a:srgbClr val="996600"/>
                </a:solidFill>
                <a:ea typeface="华文楷体" panose="02010600040101010101" pitchFamily="2" charset="-122"/>
              </a:rPr>
              <a:t>]</a:t>
            </a:r>
            <a:endParaRPr lang="en-US" altLang="zh-CN" sz="2000" b="1"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主要操作：查找每个顶点的所有邻接点</a:t>
            </a:r>
            <a:endParaRPr lang="zh-CN" altLang="en-US" sz="2000" dirty="0" smtClean="0">
              <a:ea typeface="华文楷体" panose="02010600040101010101" pitchFamily="2" charset="-122"/>
            </a:endParaRPr>
          </a:p>
          <a:p>
            <a:pPr eaLnBrk="1" hangingPunct="1"/>
            <a:r>
              <a:rPr lang="zh-CN" altLang="en-US" sz="2000" dirty="0" smtClean="0">
                <a:ea typeface="华文楷体" panose="02010600040101010101" pitchFamily="2" charset="-122"/>
              </a:rPr>
              <a:t>邻接矩阵   </a:t>
            </a:r>
            <a:r>
              <a:rPr lang="en-US" altLang="zh-CN" sz="2000" dirty="0" smtClean="0">
                <a:ea typeface="华文楷体" panose="02010600040101010101" pitchFamily="2" charset="-122"/>
              </a:rPr>
              <a:t>O(n</a:t>
            </a:r>
            <a:r>
              <a:rPr lang="en-US" altLang="zh-CN" sz="2000" baseline="30000" dirty="0" smtClean="0">
                <a:ea typeface="华文楷体" panose="02010600040101010101" pitchFamily="2" charset="-122"/>
              </a:rPr>
              <a:t>2</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邻接表   无向图  </a:t>
            </a:r>
            <a:r>
              <a:rPr lang="en-US" altLang="zh-CN" sz="2000" dirty="0" smtClean="0">
                <a:ea typeface="华文楷体" panose="02010600040101010101" pitchFamily="2" charset="-122"/>
              </a:rPr>
              <a:t>O(n+2e)</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有向图  </a:t>
            </a:r>
            <a:r>
              <a:rPr lang="en-US" altLang="zh-CN" sz="2000" dirty="0" smtClean="0">
                <a:ea typeface="华文楷体" panose="02010600040101010101" pitchFamily="2" charset="-122"/>
              </a:rPr>
              <a:t>O(</a:t>
            </a:r>
            <a:r>
              <a:rPr lang="en-US" altLang="zh-CN" sz="2000" dirty="0" err="1" smtClean="0">
                <a:ea typeface="华文楷体" panose="02010600040101010101" pitchFamily="2" charset="-122"/>
              </a:rPr>
              <a:t>n+e</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buFont typeface="Wingdings" panose="05000000000000000000" pitchFamily="2" charset="2"/>
              <a:buNone/>
            </a:pPr>
            <a:endParaRPr lang="en-US" altLang="zh-CN" sz="2000" dirty="0" smtClean="0">
              <a:ea typeface="华文楷体" panose="02010600040101010101" pitchFamily="2" charset="-122"/>
            </a:endParaRPr>
          </a:p>
        </p:txBody>
      </p:sp>
      <p:sp>
        <p:nvSpPr>
          <p:cNvPr id="8" name="文本框 7"/>
          <p:cNvSpPr txBox="1"/>
          <p:nvPr/>
        </p:nvSpPr>
        <p:spPr>
          <a:xfrm>
            <a:off x="2739767" y="2412345"/>
            <a:ext cx="6109365" cy="307777"/>
          </a:xfrm>
          <a:prstGeom prst="rect">
            <a:avLst/>
          </a:prstGeom>
          <a:noFill/>
          <a:ln>
            <a:solidFill>
              <a:srgbClr val="C00000"/>
            </a:solidFill>
          </a:ln>
        </p:spPr>
        <p:txBody>
          <a:bodyPr wrap="square" rtlCol="0">
            <a:spAutoFit/>
          </a:bodyPr>
          <a:lstStyle/>
          <a:p>
            <a:r>
              <a:rPr lang="zh-CN" altLang="en-US" sz="1400" dirty="0" smtClean="0">
                <a:latin typeface="华文楷体" panose="02010600040101010101" pitchFamily="2" charset="-122"/>
                <a:ea typeface="华文楷体" panose="02010600040101010101" pitchFamily="2" charset="-122"/>
              </a:rPr>
              <a:t>不包括染色、打时间戳和记录前驱等功能，这些功能可依据需要自行实现</a:t>
            </a:r>
            <a:endParaRPr lang="zh-CN" altLang="en-US" sz="14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27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2773" name="Rectangle 3"/>
          <p:cNvSpPr>
            <a:spLocks noGrp="1" noChangeArrowheads="1"/>
          </p:cNvSpPr>
          <p:nvPr>
            <p:ph type="body" idx="1"/>
          </p:nvPr>
        </p:nvSpPr>
        <p:spPr/>
        <p:txBody>
          <a:bodyPr/>
          <a:lstStyle/>
          <a:p>
            <a:pPr marL="609600" indent="-609600" eaLnBrk="1" hangingPunct="1">
              <a:lnSpc>
                <a:spcPct val="9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2. </a:t>
            </a:r>
            <a:r>
              <a:rPr lang="zh-CN" altLang="en-US" sz="2400" b="1" dirty="0" smtClean="0">
                <a:solidFill>
                  <a:schemeClr val="accent2"/>
                </a:solidFill>
                <a:ea typeface="华文楷体" panose="02010600040101010101" pitchFamily="2" charset="-122"/>
              </a:rPr>
              <a:t>广度优先遍历</a:t>
            </a:r>
            <a:r>
              <a:rPr lang="en-US" altLang="zh-CN" sz="2400" b="1" dirty="0" smtClean="0">
                <a:solidFill>
                  <a:schemeClr val="accent2"/>
                </a:solidFill>
                <a:ea typeface="华文楷体" panose="02010600040101010101" pitchFamily="2" charset="-122"/>
              </a:rPr>
              <a:t>(BFS)</a:t>
            </a:r>
            <a:endParaRPr lang="zh-CN" altLang="en-US" sz="2400" b="1" dirty="0" smtClean="0">
              <a:solidFill>
                <a:schemeClr val="accent2"/>
              </a:solidFill>
              <a:ea typeface="华文楷体" panose="02010600040101010101" pitchFamily="2" charset="-122"/>
            </a:endParaRPr>
          </a:p>
          <a:p>
            <a:pPr marL="609600" indent="-609600" eaLnBrk="1" hangingPunct="1">
              <a:lnSpc>
                <a:spcPct val="90000"/>
              </a:lnSpc>
              <a:buFont typeface="Wingdings" panose="05000000000000000000" pitchFamily="2" charset="2"/>
              <a:buNone/>
            </a:pPr>
            <a:r>
              <a:rPr lang="en-US" altLang="zh-CN" sz="2000" b="1" dirty="0" smtClean="0">
                <a:ea typeface="华文楷体" panose="02010600040101010101" pitchFamily="2" charset="-122"/>
              </a:rPr>
              <a:t>[</a:t>
            </a:r>
            <a:r>
              <a:rPr lang="zh-CN" altLang="en-US" sz="2000" b="1" dirty="0" smtClean="0">
                <a:ea typeface="华文楷体" panose="02010600040101010101" pitchFamily="2" charset="-122"/>
              </a:rPr>
              <a:t>遍历过程</a:t>
            </a:r>
            <a:r>
              <a:rPr lang="en-US" altLang="zh-CN" sz="2000" b="1" dirty="0" smtClean="0">
                <a:ea typeface="华文楷体" panose="02010600040101010101" pitchFamily="2" charset="-122"/>
              </a:rPr>
              <a:t>]</a:t>
            </a:r>
            <a:endParaRPr lang="en-US" altLang="zh-CN" sz="2000" b="1"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、选中第一个被访问的源</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 </a:t>
            </a:r>
            <a:r>
              <a:rPr lang="en-US" altLang="zh-CN" sz="2000" dirty="0" smtClean="0">
                <a:ea typeface="华文楷体" panose="02010600040101010101" pitchFamily="2" charset="-122"/>
              </a:rPr>
              <a:t>s</a:t>
            </a:r>
            <a:endParaRPr lang="en-US" altLang="zh-CN" sz="2000"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、对源</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 </a:t>
            </a:r>
            <a:r>
              <a:rPr lang="en-US" altLang="zh-CN" sz="2000" dirty="0" smtClean="0">
                <a:ea typeface="华文楷体" panose="02010600040101010101" pitchFamily="2" charset="-122"/>
              </a:rPr>
              <a:t>s </a:t>
            </a:r>
            <a:r>
              <a:rPr lang="zh-CN" altLang="en-US" sz="2000" dirty="0" smtClean="0">
                <a:ea typeface="华文楷体" panose="02010600040101010101" pitchFamily="2" charset="-122"/>
              </a:rPr>
              <a:t>作已访问过的标志。</a:t>
            </a:r>
            <a:endParaRPr lang="zh-CN" altLang="en-US" sz="2000"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3</a:t>
            </a:r>
            <a:r>
              <a:rPr lang="zh-CN" altLang="en-US" sz="2000" dirty="0" smtClean="0">
                <a:ea typeface="华文楷体" panose="02010600040101010101" pitchFamily="2" charset="-122"/>
              </a:rPr>
              <a:t>、依次从源</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 </a:t>
            </a:r>
            <a:r>
              <a:rPr lang="en-US" altLang="zh-CN" sz="2000" dirty="0" smtClean="0">
                <a:ea typeface="华文楷体" panose="02010600040101010101" pitchFamily="2" charset="-122"/>
              </a:rPr>
              <a:t>s </a:t>
            </a:r>
            <a:r>
              <a:rPr lang="zh-CN" altLang="en-US" sz="2000" dirty="0" smtClean="0">
                <a:ea typeface="华文楷体" panose="02010600040101010101" pitchFamily="2" charset="-122"/>
              </a:rPr>
              <a:t>的未被访问过的第一个、第二个、第三个</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第 </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个邻接</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 </a:t>
            </a:r>
            <a:r>
              <a:rPr lang="en-US" altLang="zh-CN" sz="2000" dirty="0" smtClean="0">
                <a:ea typeface="华文楷体" panose="02010600040101010101" pitchFamily="2" charset="-122"/>
              </a:rPr>
              <a:t>w</a:t>
            </a:r>
            <a:r>
              <a:rPr lang="en-US" altLang="zh-CN" sz="2000" baseline="-25000" dirty="0" smtClean="0">
                <a:ea typeface="华文楷体" panose="02010600040101010101" pitchFamily="2" charset="-122"/>
              </a:rPr>
              <a:t>1</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a:t>
            </a:r>
            <a:r>
              <a:rPr lang="en-US" altLang="zh-CN" sz="2000" dirty="0">
                <a:ea typeface="华文楷体" panose="02010600040101010101" pitchFamily="2" charset="-122"/>
              </a:rPr>
              <a:t>w</a:t>
            </a:r>
            <a:r>
              <a:rPr lang="en-US" altLang="zh-CN" sz="2000" baseline="-25000" dirty="0">
                <a:ea typeface="华文楷体" panose="02010600040101010101" pitchFamily="2" charset="-122"/>
              </a:rPr>
              <a:t>2</a:t>
            </a:r>
            <a:r>
              <a:rPr lang="zh-CN" altLang="en-US" sz="2000" dirty="0" smtClean="0">
                <a:ea typeface="华文楷体" panose="02010600040101010101" pitchFamily="2" charset="-122"/>
              </a:rPr>
              <a:t>、</a:t>
            </a:r>
            <a:r>
              <a:rPr lang="en-US" altLang="zh-CN" sz="2000" dirty="0">
                <a:ea typeface="华文楷体" panose="02010600040101010101" pitchFamily="2" charset="-122"/>
              </a:rPr>
              <a:t>w</a:t>
            </a:r>
            <a:r>
              <a:rPr lang="en-US" altLang="zh-CN" sz="2000" baseline="-25000" dirty="0">
                <a:ea typeface="华文楷体" panose="02010600040101010101" pitchFamily="2" charset="-122"/>
              </a:rPr>
              <a:t>3</a:t>
            </a:r>
            <a:r>
              <a:rPr lang="en-US" altLang="zh-CN" sz="2000" dirty="0" smtClean="0">
                <a:ea typeface="华文楷体" panose="02010600040101010101" pitchFamily="2" charset="-122"/>
              </a:rPr>
              <a:t>…… </a:t>
            </a:r>
            <a:r>
              <a:rPr lang="en-US" altLang="zh-CN" sz="2000" dirty="0" err="1">
                <a:ea typeface="华文楷体" panose="02010600040101010101" pitchFamily="2" charset="-122"/>
              </a:rPr>
              <a:t>w</a:t>
            </a:r>
            <a:r>
              <a:rPr lang="en-US" altLang="zh-CN" sz="2000" baseline="-25000" dirty="0" err="1">
                <a:ea typeface="华文楷体" panose="02010600040101010101" pitchFamily="2" charset="-122"/>
              </a:rPr>
              <a:t>m</a:t>
            </a:r>
            <a:r>
              <a:rPr lang="en-US" altLang="zh-CN" sz="2000" dirty="0">
                <a:ea typeface="华文楷体" panose="02010600040101010101" pitchFamily="2" charset="-122"/>
              </a:rPr>
              <a:t> </a:t>
            </a:r>
            <a:r>
              <a:rPr lang="zh-CN" altLang="en-US" sz="2000" dirty="0" smtClean="0">
                <a:ea typeface="华文楷体" panose="02010600040101010101" pitchFamily="2" charset="-122"/>
              </a:rPr>
              <a:t>，且进行标记。</a:t>
            </a:r>
            <a:endParaRPr lang="zh-CN" altLang="en-US" sz="2000"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4</a:t>
            </a:r>
            <a:r>
              <a:rPr lang="zh-CN" altLang="en-US" sz="2000" dirty="0" smtClean="0">
                <a:ea typeface="华文楷体" panose="02010600040101010101" pitchFamily="2" charset="-122"/>
              </a:rPr>
              <a:t>、依次访问</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 </a:t>
            </a:r>
            <a:r>
              <a:rPr lang="en-US" altLang="zh-CN" sz="2000" dirty="0">
                <a:ea typeface="华文楷体" panose="02010600040101010101" pitchFamily="2" charset="-122"/>
              </a:rPr>
              <a:t>w</a:t>
            </a:r>
            <a:r>
              <a:rPr lang="en-US" altLang="zh-CN" sz="2000" baseline="-25000" dirty="0">
                <a:ea typeface="华文楷体" panose="02010600040101010101" pitchFamily="2" charset="-122"/>
              </a:rPr>
              <a:t>1</a:t>
            </a:r>
            <a:r>
              <a:rPr lang="en-US" altLang="zh-CN" sz="2000" dirty="0">
                <a:ea typeface="华文楷体" panose="02010600040101010101" pitchFamily="2" charset="-122"/>
              </a:rPr>
              <a:t> </a:t>
            </a:r>
            <a:r>
              <a:rPr lang="zh-CN" altLang="en-US" sz="2000" dirty="0" smtClean="0">
                <a:ea typeface="华文楷体" panose="02010600040101010101" pitchFamily="2" charset="-122"/>
              </a:rPr>
              <a:t>、</a:t>
            </a:r>
            <a:r>
              <a:rPr lang="en-US" altLang="zh-CN" sz="2000" dirty="0">
                <a:ea typeface="华文楷体" panose="02010600040101010101" pitchFamily="2" charset="-122"/>
              </a:rPr>
              <a:t>w</a:t>
            </a:r>
            <a:r>
              <a:rPr lang="en-US" altLang="zh-CN" sz="2000" baseline="-25000" dirty="0">
                <a:ea typeface="华文楷体" panose="02010600040101010101" pitchFamily="2" charset="-122"/>
              </a:rPr>
              <a:t>2</a:t>
            </a:r>
            <a:r>
              <a:rPr lang="zh-CN" altLang="en-US" sz="2000" dirty="0" smtClean="0">
                <a:ea typeface="华文楷体" panose="02010600040101010101" pitchFamily="2" charset="-122"/>
              </a:rPr>
              <a:t>、</a:t>
            </a:r>
            <a:r>
              <a:rPr lang="en-US" altLang="zh-CN" sz="2000" dirty="0">
                <a:ea typeface="华文楷体" panose="02010600040101010101" pitchFamily="2" charset="-122"/>
              </a:rPr>
              <a:t>w</a:t>
            </a:r>
            <a:r>
              <a:rPr lang="en-US" altLang="zh-CN" sz="2000" baseline="-25000" dirty="0">
                <a:ea typeface="华文楷体" panose="02010600040101010101" pitchFamily="2" charset="-122"/>
              </a:rPr>
              <a:t>3</a:t>
            </a:r>
            <a:r>
              <a:rPr lang="en-US" altLang="zh-CN" sz="2000" dirty="0" smtClean="0">
                <a:ea typeface="华文楷体" panose="02010600040101010101" pitchFamily="2" charset="-122"/>
              </a:rPr>
              <a:t>…… </a:t>
            </a:r>
            <a:r>
              <a:rPr lang="en-US" altLang="zh-CN" sz="2000" dirty="0" err="1">
                <a:ea typeface="华文楷体" panose="02010600040101010101" pitchFamily="2" charset="-122"/>
              </a:rPr>
              <a:t>w</a:t>
            </a:r>
            <a:r>
              <a:rPr lang="en-US" altLang="zh-CN" sz="2000" baseline="-25000" dirty="0" err="1">
                <a:ea typeface="华文楷体" panose="02010600040101010101" pitchFamily="2" charset="-122"/>
              </a:rPr>
              <a:t>m</a:t>
            </a:r>
            <a:r>
              <a:rPr lang="zh-CN" altLang="en-US" sz="2000" dirty="0" smtClean="0">
                <a:ea typeface="华文楷体" panose="02010600040101010101" pitchFamily="2" charset="-122"/>
              </a:rPr>
              <a:t>的邻接</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点，且进行标记。</a:t>
            </a:r>
            <a:endParaRPr lang="zh-CN" altLang="en-US" sz="2000"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5</a:t>
            </a:r>
            <a:r>
              <a:rPr lang="zh-CN" altLang="en-US" sz="2000" dirty="0" smtClean="0">
                <a:ea typeface="华文楷体" panose="02010600040101010101" pitchFamily="2" charset="-122"/>
              </a:rPr>
              <a:t>、如果还有</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点未被访问，则选中一个起始</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点，也标记为</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，转向</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marL="609600" indent="-609600" eaLnBrk="1" hangingPunct="1">
              <a:lnSpc>
                <a:spcPct val="90000"/>
              </a:lnSpc>
              <a:buNone/>
            </a:pPr>
            <a:r>
              <a:rPr lang="en-US" altLang="zh-CN" sz="2000" dirty="0" smtClean="0">
                <a:ea typeface="华文楷体" panose="02010600040101010101" pitchFamily="2" charset="-122"/>
              </a:rPr>
              <a:t>6</a:t>
            </a:r>
            <a:r>
              <a:rPr lang="zh-CN" altLang="en-US" sz="2000" dirty="0" smtClean="0">
                <a:ea typeface="华文楷体" panose="02010600040101010101" pitchFamily="2" charset="-122"/>
              </a:rPr>
              <a:t>、所有的</a:t>
            </a:r>
            <a:r>
              <a:rPr lang="zh-CN" altLang="en-US" sz="2000" dirty="0">
                <a:ea typeface="华文楷体" panose="02010600040101010101" pitchFamily="2" charset="-122"/>
              </a:rPr>
              <a:t>顶</a:t>
            </a:r>
            <a:r>
              <a:rPr lang="zh-CN" altLang="en-US" sz="2000" dirty="0" smtClean="0">
                <a:ea typeface="华文楷体" panose="02010600040101010101" pitchFamily="2" charset="-122"/>
              </a:rPr>
              <a:t>点都被访问到，则结束。</a:t>
            </a:r>
            <a:endParaRPr lang="zh-CN" altLang="en-US" sz="2000" dirty="0" smtClean="0">
              <a:ea typeface="华文楷体" panose="02010600040101010101" pitchFamily="2" charset="-122"/>
            </a:endParaRPr>
          </a:p>
        </p:txBody>
      </p:sp>
      <p:sp>
        <p:nvSpPr>
          <p:cNvPr id="2" name="文本框 1"/>
          <p:cNvSpPr txBox="1"/>
          <p:nvPr/>
        </p:nvSpPr>
        <p:spPr>
          <a:xfrm>
            <a:off x="533400" y="4191000"/>
            <a:ext cx="7772400" cy="1938992"/>
          </a:xfrm>
          <a:prstGeom prst="rect">
            <a:avLst/>
          </a:prstGeom>
          <a:noFill/>
          <a:ln>
            <a:solidFill>
              <a:schemeClr val="accent1"/>
            </a:solidFill>
          </a:ln>
        </p:spPr>
        <p:txBody>
          <a:bodyPr wrap="square" rtlCol="0">
            <a:spAutoFit/>
          </a:bodyPr>
          <a:lstStyle/>
          <a:p>
            <a:r>
              <a:rPr lang="zh-CN" altLang="en-US" sz="2000" b="1" dirty="0" smtClean="0">
                <a:solidFill>
                  <a:srgbClr val="C00000"/>
                </a:solidFill>
                <a:latin typeface="Times New Roman" panose="02020603050405020304" pitchFamily="18" charset="0"/>
                <a:ea typeface="华文楷体" panose="02010600040101010101" pitchFamily="2" charset="-122"/>
              </a:rPr>
              <a:t>广度优先的含义</a:t>
            </a:r>
            <a:r>
              <a:rPr lang="zh-CN" altLang="en-US" sz="2000" dirty="0" smtClean="0">
                <a:latin typeface="Times New Roman" panose="02020603050405020304" pitchFamily="18" charset="0"/>
                <a:ea typeface="华文楷体" panose="02010600040101010101" pitchFamily="2" charset="-122"/>
              </a:rPr>
              <a:t>：</a:t>
            </a:r>
            <a:r>
              <a:rPr lang="en-US" altLang="zh-CN" sz="2000" dirty="0" smtClean="0">
                <a:latin typeface="Times New Roman" panose="02020603050405020304" pitchFamily="18" charset="0"/>
                <a:ea typeface="华文楷体" panose="02010600040101010101" pitchFamily="2" charset="-122"/>
              </a:rPr>
              <a:t>BFS</a:t>
            </a:r>
            <a:r>
              <a:rPr lang="zh-CN" altLang="en-US" sz="2000" dirty="0" smtClean="0">
                <a:latin typeface="Times New Roman" panose="02020603050405020304" pitchFamily="18" charset="0"/>
                <a:ea typeface="华文楷体" panose="02010600040101010101" pitchFamily="2" charset="-122"/>
              </a:rPr>
              <a:t>算法</a:t>
            </a:r>
            <a:r>
              <a:rPr lang="zh-CN" altLang="en-US" sz="2000" dirty="0">
                <a:latin typeface="Times New Roman" panose="02020603050405020304" pitchFamily="18" charset="0"/>
                <a:ea typeface="华文楷体" panose="02010600040101010101" pitchFamily="2" charset="-122"/>
              </a:rPr>
              <a:t>始终将已发现</a:t>
            </a:r>
            <a:r>
              <a:rPr lang="zh-CN" altLang="en-US" sz="2000" dirty="0" smtClean="0">
                <a:latin typeface="Times New Roman" panose="02020603050405020304" pitchFamily="18" charset="0"/>
                <a:ea typeface="华文楷体" panose="02010600040101010101" pitchFamily="2" charset="-122"/>
              </a:rPr>
              <a:t>的顶点</a:t>
            </a:r>
            <a:r>
              <a:rPr lang="zh-CN" altLang="en-US" sz="2000" dirty="0">
                <a:latin typeface="Times New Roman" panose="02020603050405020304" pitchFamily="18" charset="0"/>
                <a:ea typeface="华文楷体" panose="02010600040101010101" pitchFamily="2" charset="-122"/>
              </a:rPr>
              <a:t>和未发现的顶点之间的边界，沿其广度方向向外扩展。即算法需要先访问到距离</a:t>
            </a:r>
            <a:r>
              <a:rPr lang="zh-CN" altLang="en-US" sz="2000" dirty="0" smtClean="0">
                <a:latin typeface="Times New Roman" panose="02020603050405020304" pitchFamily="18" charset="0"/>
                <a:ea typeface="华文楷体" panose="02010600040101010101" pitchFamily="2" charset="-122"/>
              </a:rPr>
              <a:t>源顶点</a:t>
            </a:r>
            <a:r>
              <a:rPr lang="en-US" altLang="zh-CN" sz="2000" dirty="0" smtClean="0">
                <a:latin typeface="Times New Roman" panose="02020603050405020304" pitchFamily="18" charset="0"/>
                <a:ea typeface="华文楷体" panose="02010600040101010101" pitchFamily="2" charset="-122"/>
              </a:rPr>
              <a:t>s</a:t>
            </a:r>
            <a:r>
              <a:rPr lang="zh-CN" altLang="en-US" sz="2000" dirty="0" smtClean="0">
                <a:latin typeface="Times New Roman" panose="02020603050405020304" pitchFamily="18" charset="0"/>
                <a:ea typeface="华文楷体" panose="02010600040101010101" pitchFamily="2" charset="-122"/>
              </a:rPr>
              <a:t>为</a:t>
            </a:r>
            <a:r>
              <a:rPr lang="en-US" altLang="zh-CN" sz="2000" dirty="0">
                <a:latin typeface="Times New Roman" panose="02020603050405020304" pitchFamily="18" charset="0"/>
                <a:ea typeface="华文楷体" panose="02010600040101010101" pitchFamily="2" charset="-122"/>
              </a:rPr>
              <a:t>k</a:t>
            </a:r>
            <a:r>
              <a:rPr lang="zh-CN" altLang="en-US" sz="2000" dirty="0">
                <a:latin typeface="Times New Roman" panose="02020603050405020304" pitchFamily="18" charset="0"/>
                <a:ea typeface="华文楷体" panose="02010600040101010101" pitchFamily="2" charset="-122"/>
              </a:rPr>
              <a:t>的所有顶点之后，才会访问到距离源顶点</a:t>
            </a:r>
            <a:r>
              <a:rPr lang="en-US" altLang="zh-CN" sz="2000" dirty="0" smtClean="0">
                <a:latin typeface="Times New Roman" panose="02020603050405020304" pitchFamily="18" charset="0"/>
                <a:ea typeface="华文楷体" panose="02010600040101010101" pitchFamily="2" charset="-122"/>
              </a:rPr>
              <a:t>s</a:t>
            </a:r>
            <a:r>
              <a:rPr lang="zh-CN" altLang="en-US" sz="2000" dirty="0" smtClean="0">
                <a:latin typeface="Times New Roman" panose="02020603050405020304" pitchFamily="18" charset="0"/>
                <a:ea typeface="华文楷体" panose="02010600040101010101" pitchFamily="2" charset="-122"/>
              </a:rPr>
              <a:t>为</a:t>
            </a:r>
            <a:r>
              <a:rPr lang="en-US" altLang="zh-CN" sz="2000" dirty="0">
                <a:latin typeface="Times New Roman" panose="02020603050405020304" pitchFamily="18" charset="0"/>
                <a:ea typeface="华文楷体" panose="02010600040101010101" pitchFamily="2" charset="-122"/>
              </a:rPr>
              <a:t>k+1</a:t>
            </a:r>
            <a:r>
              <a:rPr lang="zh-CN" altLang="en-US" sz="2000" dirty="0">
                <a:latin typeface="Times New Roman" panose="02020603050405020304" pitchFamily="18" charset="0"/>
                <a:ea typeface="华文楷体" panose="02010600040101010101" pitchFamily="2" charset="-122"/>
              </a:rPr>
              <a:t>的顶点</a:t>
            </a:r>
            <a:r>
              <a:rPr lang="zh-CN" altLang="en-US" sz="2000" dirty="0" smtClean="0">
                <a:latin typeface="Times New Roman" panose="02020603050405020304" pitchFamily="18" charset="0"/>
                <a:ea typeface="华文楷体" panose="02010600040101010101" pitchFamily="2" charset="-122"/>
              </a:rPr>
              <a:t>。</a:t>
            </a:r>
            <a:endParaRPr lang="en-US" altLang="zh-CN" sz="2000" dirty="0" smtClean="0">
              <a:latin typeface="Times New Roman" panose="02020603050405020304" pitchFamily="18" charset="0"/>
              <a:ea typeface="华文楷体" panose="02010600040101010101" pitchFamily="2" charset="-122"/>
            </a:endParaRPr>
          </a:p>
          <a:p>
            <a:r>
              <a:rPr lang="zh-CN" altLang="en-US" sz="2000" dirty="0">
                <a:latin typeface="Times New Roman" panose="02020603050405020304" pitchFamily="18" charset="0"/>
                <a:ea typeface="华文楷体" panose="02010600040101010101" pitchFamily="2" charset="-122"/>
              </a:rPr>
              <a:t>广度优先算法是很多算法的原型，</a:t>
            </a:r>
            <a:r>
              <a:rPr lang="en-US" altLang="zh-CN" sz="2000" dirty="0">
                <a:latin typeface="Times New Roman" panose="02020603050405020304" pitchFamily="18" charset="0"/>
                <a:ea typeface="华文楷体" panose="02010600040101010101" pitchFamily="2" charset="-122"/>
              </a:rPr>
              <a:t>Prim</a:t>
            </a:r>
            <a:r>
              <a:rPr lang="zh-CN" altLang="en-US" sz="2000" dirty="0">
                <a:latin typeface="Times New Roman" panose="02020603050405020304" pitchFamily="18" charset="0"/>
                <a:ea typeface="华文楷体" panose="02010600040101010101" pitchFamily="2" charset="-122"/>
              </a:rPr>
              <a:t>和</a:t>
            </a:r>
            <a:r>
              <a:rPr lang="en-US" altLang="zh-CN" sz="2000" dirty="0" err="1">
                <a:latin typeface="Times New Roman" panose="02020603050405020304" pitchFamily="18" charset="0"/>
                <a:ea typeface="华文楷体" panose="02010600040101010101" pitchFamily="2" charset="-122"/>
              </a:rPr>
              <a:t>Dijkstra</a:t>
            </a:r>
            <a:r>
              <a:rPr lang="zh-CN" altLang="en-US" sz="2000" dirty="0">
                <a:latin typeface="Times New Roman" panose="02020603050405020304" pitchFamily="18" charset="0"/>
                <a:ea typeface="华文楷体" panose="02010600040101010101" pitchFamily="2" charset="-122"/>
              </a:rPr>
              <a:t>算法都采用了类似广度优先的思想。</a:t>
            </a:r>
            <a:endParaRPr lang="zh-CN" altLang="en-US" sz="2000" dirty="0">
              <a:latin typeface="Times New Roman" panose="02020603050405020304" pitchFamily="18" charset="0"/>
              <a:ea typeface="华文楷体" panose="02010600040101010101" pitchFamily="2" charset="-122"/>
            </a:endParaRPr>
          </a:p>
          <a:p>
            <a:endParaRPr lang="en-US" altLang="zh-CN" sz="2000" dirty="0" smtClean="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页脚占位符 3"/>
          <p:cNvSpPr>
            <a:spLocks noGrp="1"/>
          </p:cNvSpPr>
          <p:nvPr>
            <p:ph type="ftr" sz="quarter" idx="10"/>
          </p:nvPr>
        </p:nvSpPr>
        <p:spPr/>
        <p:txBody>
          <a:bodyPr/>
          <a:lstStyle/>
          <a:p>
            <a:pPr>
              <a:defRPr/>
            </a:pPr>
            <a:r>
              <a:rPr lang="en-US" altLang="zh-CN"/>
              <a:t>BUPT SCST</a:t>
            </a:r>
            <a:endParaRPr lang="en-US" altLang="zh-CN"/>
          </a:p>
        </p:txBody>
      </p:sp>
      <p:sp>
        <p:nvSpPr>
          <p:cNvPr id="72" name="日期占位符 5"/>
          <p:cNvSpPr>
            <a:spLocks noGrp="1"/>
          </p:cNvSpPr>
          <p:nvPr>
            <p:ph type="dt" sz="quarter" idx="12"/>
          </p:nvPr>
        </p:nvSpPr>
        <p:spPr/>
        <p:txBody>
          <a:bodyPr/>
          <a:lstStyle/>
          <a:p>
            <a:pPr>
              <a:defRPr/>
            </a:pPr>
            <a:r>
              <a:rPr lang="en-US" altLang="zh-CN"/>
              <a:t>BUPT</a:t>
            </a:r>
            <a:endParaRPr lang="en-US" altLang="zh-CN"/>
          </a:p>
        </p:txBody>
      </p:sp>
      <p:sp>
        <p:nvSpPr>
          <p:cNvPr id="337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3797" name="Rectangle 3"/>
          <p:cNvSpPr>
            <a:spLocks noGrp="1" noChangeArrowheads="1"/>
          </p:cNvSpPr>
          <p:nvPr>
            <p:ph type="body" idx="1"/>
          </p:nvPr>
        </p:nvSpPr>
        <p:spPr/>
        <p:txBody>
          <a:bodyPr/>
          <a:lstStyle/>
          <a:p>
            <a:pPr eaLnBrk="1" hangingPunct="1"/>
            <a:endParaRPr lang="zh-CN" altLang="zh-CN" dirty="0" smtClean="0">
              <a:ea typeface="华文楷体" panose="02010600040101010101" pitchFamily="2" charset="-122"/>
            </a:endParaRPr>
          </a:p>
        </p:txBody>
      </p:sp>
      <p:sp>
        <p:nvSpPr>
          <p:cNvPr id="33798" name="Rectangle 4"/>
          <p:cNvSpPr>
            <a:spLocks noChangeArrowheads="1"/>
          </p:cNvSpPr>
          <p:nvPr/>
        </p:nvSpPr>
        <p:spPr bwMode="auto">
          <a:xfrm>
            <a:off x="0" y="4052888"/>
            <a:ext cx="25146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2">
              <a:spcBef>
                <a:spcPct val="50000"/>
              </a:spcBef>
              <a:buClrTx/>
            </a:pPr>
            <a:r>
              <a:rPr kumimoji="1" lang="en-US" altLang="zh-CN" sz="1600" b="1" dirty="0">
                <a:solidFill>
                  <a:schemeClr val="folHlink"/>
                </a:solidFill>
                <a:latin typeface="Times New Roman" panose="02020603050405020304" pitchFamily="18" charset="0"/>
                <a:ea typeface="华文楷体" panose="02010600040101010101" pitchFamily="2" charset="-122"/>
              </a:rPr>
              <a:t> </a:t>
            </a:r>
            <a:r>
              <a:rPr kumimoji="1" lang="zh-CN" altLang="en-US" sz="1600" b="1" dirty="0">
                <a:solidFill>
                  <a:schemeClr val="accent2"/>
                </a:solidFill>
                <a:latin typeface="Times New Roman" panose="02020603050405020304" pitchFamily="18" charset="0"/>
                <a:ea typeface="华文楷体" panose="02010600040101010101" pitchFamily="2" charset="-122"/>
              </a:rPr>
              <a:t>队列的变化：</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p:txBody>
      </p:sp>
      <p:sp>
        <p:nvSpPr>
          <p:cNvPr id="33799" name="Oval 5"/>
          <p:cNvSpPr>
            <a:spLocks noChangeArrowheads="1"/>
          </p:cNvSpPr>
          <p:nvPr/>
        </p:nvSpPr>
        <p:spPr bwMode="auto">
          <a:xfrm>
            <a:off x="2362200" y="1233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3800" name="Oval 6"/>
          <p:cNvSpPr>
            <a:spLocks noChangeArrowheads="1"/>
          </p:cNvSpPr>
          <p:nvPr/>
        </p:nvSpPr>
        <p:spPr bwMode="auto">
          <a:xfrm>
            <a:off x="1066800" y="1995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3801" name="Line 7"/>
          <p:cNvSpPr>
            <a:spLocks noChangeShapeType="1"/>
          </p:cNvSpPr>
          <p:nvPr/>
        </p:nvSpPr>
        <p:spPr bwMode="auto">
          <a:xfrm flipH="1">
            <a:off x="838200" y="2300288"/>
            <a:ext cx="304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02" name="Oval 8"/>
          <p:cNvSpPr>
            <a:spLocks noChangeArrowheads="1"/>
          </p:cNvSpPr>
          <p:nvPr/>
        </p:nvSpPr>
        <p:spPr bwMode="auto">
          <a:xfrm>
            <a:off x="2362200" y="1919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3803" name="Oval 9"/>
          <p:cNvSpPr>
            <a:spLocks noChangeArrowheads="1"/>
          </p:cNvSpPr>
          <p:nvPr/>
        </p:nvSpPr>
        <p:spPr bwMode="auto">
          <a:xfrm>
            <a:off x="3810000" y="1919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04" name="Line 10"/>
          <p:cNvSpPr>
            <a:spLocks noChangeShapeType="1"/>
          </p:cNvSpPr>
          <p:nvPr/>
        </p:nvSpPr>
        <p:spPr bwMode="auto">
          <a:xfrm flipV="1">
            <a:off x="2590800" y="1614488"/>
            <a:ext cx="0" cy="3048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05" name="Line 11"/>
          <p:cNvSpPr>
            <a:spLocks noChangeShapeType="1"/>
          </p:cNvSpPr>
          <p:nvPr/>
        </p:nvSpPr>
        <p:spPr bwMode="auto">
          <a:xfrm>
            <a:off x="2819400" y="1538288"/>
            <a:ext cx="10668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06" name="Line 12"/>
          <p:cNvSpPr>
            <a:spLocks noChangeShapeType="1"/>
          </p:cNvSpPr>
          <p:nvPr/>
        </p:nvSpPr>
        <p:spPr bwMode="auto">
          <a:xfrm flipH="1">
            <a:off x="1447800" y="1538288"/>
            <a:ext cx="9144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07" name="Oval 13"/>
          <p:cNvSpPr>
            <a:spLocks noChangeArrowheads="1"/>
          </p:cNvSpPr>
          <p:nvPr/>
        </p:nvSpPr>
        <p:spPr bwMode="auto">
          <a:xfrm>
            <a:off x="5334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33808" name="Line 14"/>
          <p:cNvSpPr>
            <a:spLocks noChangeShapeType="1"/>
          </p:cNvSpPr>
          <p:nvPr/>
        </p:nvSpPr>
        <p:spPr bwMode="auto">
          <a:xfrm flipV="1">
            <a:off x="381000" y="3138488"/>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09" name="Line 15"/>
          <p:cNvSpPr>
            <a:spLocks noChangeShapeType="1"/>
          </p:cNvSpPr>
          <p:nvPr/>
        </p:nvSpPr>
        <p:spPr bwMode="auto">
          <a:xfrm flipH="1" flipV="1">
            <a:off x="1295400" y="2376488"/>
            <a:ext cx="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10" name="Oval 16"/>
          <p:cNvSpPr>
            <a:spLocks noChangeArrowheads="1"/>
          </p:cNvSpPr>
          <p:nvPr/>
        </p:nvSpPr>
        <p:spPr bwMode="auto">
          <a:xfrm>
            <a:off x="10668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1" name="Oval 17"/>
          <p:cNvSpPr>
            <a:spLocks noChangeArrowheads="1"/>
          </p:cNvSpPr>
          <p:nvPr/>
        </p:nvSpPr>
        <p:spPr bwMode="auto">
          <a:xfrm>
            <a:off x="16002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2" name="Oval 18"/>
          <p:cNvSpPr>
            <a:spLocks noChangeArrowheads="1"/>
          </p:cNvSpPr>
          <p:nvPr/>
        </p:nvSpPr>
        <p:spPr bwMode="auto">
          <a:xfrm>
            <a:off x="22098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dirty="0">
                <a:latin typeface="Times New Roman" panose="02020603050405020304" pitchFamily="18" charset="0"/>
                <a:ea typeface="华文楷体" panose="02010600040101010101" pitchFamily="2" charset="-122"/>
              </a:rPr>
              <a:t>H</a:t>
            </a:r>
            <a:endParaRPr kumimoji="1" lang="en-US" altLang="zh-CN" sz="1600" u="sng" dirty="0">
              <a:latin typeface="Times New Roman" panose="02020603050405020304" pitchFamily="18" charset="0"/>
              <a:ea typeface="华文楷体" panose="02010600040101010101" pitchFamily="2" charset="-122"/>
            </a:endParaRPr>
          </a:p>
        </p:txBody>
      </p:sp>
      <p:sp>
        <p:nvSpPr>
          <p:cNvPr id="33813" name="Oval 19"/>
          <p:cNvSpPr>
            <a:spLocks noChangeArrowheads="1"/>
          </p:cNvSpPr>
          <p:nvPr/>
        </p:nvSpPr>
        <p:spPr bwMode="auto">
          <a:xfrm>
            <a:off x="33528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4" name="Oval 20"/>
          <p:cNvSpPr>
            <a:spLocks noChangeArrowheads="1"/>
          </p:cNvSpPr>
          <p:nvPr/>
        </p:nvSpPr>
        <p:spPr bwMode="auto">
          <a:xfrm>
            <a:off x="38862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J</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5" name="Oval 21"/>
          <p:cNvSpPr>
            <a:spLocks noChangeArrowheads="1"/>
          </p:cNvSpPr>
          <p:nvPr/>
        </p:nvSpPr>
        <p:spPr bwMode="auto">
          <a:xfrm>
            <a:off x="4419600" y="2757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K</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6" name="Oval 22"/>
          <p:cNvSpPr>
            <a:spLocks noChangeArrowheads="1"/>
          </p:cNvSpPr>
          <p:nvPr/>
        </p:nvSpPr>
        <p:spPr bwMode="auto">
          <a:xfrm>
            <a:off x="152400" y="35956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33817" name="Line 23"/>
          <p:cNvSpPr>
            <a:spLocks noChangeShapeType="1"/>
          </p:cNvSpPr>
          <p:nvPr/>
        </p:nvSpPr>
        <p:spPr bwMode="auto">
          <a:xfrm>
            <a:off x="4191000" y="2224088"/>
            <a:ext cx="3810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18" name="Line 24"/>
          <p:cNvSpPr>
            <a:spLocks noChangeShapeType="1"/>
          </p:cNvSpPr>
          <p:nvPr/>
        </p:nvSpPr>
        <p:spPr bwMode="auto">
          <a:xfrm flipH="1" flipV="1">
            <a:off x="4114800" y="2300288"/>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19" name="Line 25"/>
          <p:cNvSpPr>
            <a:spLocks noChangeShapeType="1"/>
          </p:cNvSpPr>
          <p:nvPr/>
        </p:nvSpPr>
        <p:spPr bwMode="auto">
          <a:xfrm flipH="1">
            <a:off x="2438400" y="2300288"/>
            <a:ext cx="1524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20" name="Line 26"/>
          <p:cNvSpPr>
            <a:spLocks noChangeShapeType="1"/>
          </p:cNvSpPr>
          <p:nvPr/>
        </p:nvSpPr>
        <p:spPr bwMode="auto">
          <a:xfrm>
            <a:off x="1447800" y="2300288"/>
            <a:ext cx="3048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21" name="Line 27"/>
          <p:cNvSpPr>
            <a:spLocks noChangeShapeType="1"/>
          </p:cNvSpPr>
          <p:nvPr/>
        </p:nvSpPr>
        <p:spPr bwMode="auto">
          <a:xfrm flipH="1">
            <a:off x="3657600" y="2224088"/>
            <a:ext cx="2286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22" name="Text Box 28"/>
          <p:cNvSpPr txBox="1">
            <a:spLocks noChangeArrowheads="1"/>
          </p:cNvSpPr>
          <p:nvPr/>
        </p:nvSpPr>
        <p:spPr bwMode="auto">
          <a:xfrm>
            <a:off x="5334000" y="1462088"/>
            <a:ext cx="3581400" cy="143668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树的按层次进行访问的次序：</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a:t>
            </a:r>
            <a:r>
              <a:rPr kumimoji="1" lang="en-US" altLang="zh-CN" sz="1600" b="1" dirty="0">
                <a:latin typeface="Times New Roman" panose="02020603050405020304" pitchFamily="18" charset="0"/>
                <a:ea typeface="华文楷体" panose="02010600040101010101" pitchFamily="2" charset="-122"/>
              </a:rPr>
              <a:t>A</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B</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C</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D</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E</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F</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G</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H</a:t>
            </a:r>
            <a:r>
              <a:rPr kumimoji="1" lang="zh-CN" altLang="en-US" sz="1600" b="1" dirty="0">
                <a:latin typeface="Times New Roman" panose="02020603050405020304" pitchFamily="18" charset="0"/>
                <a:ea typeface="华文楷体" panose="02010600040101010101" pitchFamily="2" charset="-122"/>
              </a:rPr>
              <a:t>、</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a:t>
            </a:r>
            <a:r>
              <a:rPr kumimoji="1" lang="en-US" altLang="zh-CN" sz="1600" b="1" dirty="0">
                <a:latin typeface="Times New Roman" panose="02020603050405020304" pitchFamily="18" charset="0"/>
                <a:ea typeface="华文楷体" panose="02010600040101010101" pitchFamily="2" charset="-122"/>
              </a:rPr>
              <a:t>I</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J</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K</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适用的数据结构：队列</a:t>
            </a:r>
            <a:endParaRPr kumimoji="1" lang="zh-CN" altLang="en-US" sz="1600" b="1" dirty="0">
              <a:latin typeface="Times New Roman" panose="02020603050405020304" pitchFamily="18" charset="0"/>
              <a:ea typeface="华文楷体" panose="02010600040101010101" pitchFamily="2" charset="-122"/>
            </a:endParaRPr>
          </a:p>
        </p:txBody>
      </p:sp>
      <p:sp>
        <p:nvSpPr>
          <p:cNvPr id="33823" name="Rectangle 29"/>
          <p:cNvSpPr>
            <a:spLocks noChangeArrowheads="1"/>
          </p:cNvSpPr>
          <p:nvPr/>
        </p:nvSpPr>
        <p:spPr bwMode="auto">
          <a:xfrm>
            <a:off x="0" y="1233488"/>
            <a:ext cx="1636713"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2">
              <a:spcBef>
                <a:spcPct val="50000"/>
              </a:spcBef>
              <a:buClrTx/>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solidFill>
                  <a:schemeClr val="accent2"/>
                </a:solidFill>
                <a:latin typeface="Times New Roman" panose="02020603050405020304" pitchFamily="18" charset="0"/>
                <a:ea typeface="华文楷体" panose="02010600040101010101" pitchFamily="2" charset="-122"/>
              </a:rPr>
              <a:t>树：</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p:txBody>
      </p:sp>
      <p:sp>
        <p:nvSpPr>
          <p:cNvPr id="33824" name="Oval 30"/>
          <p:cNvSpPr>
            <a:spLocks noChangeArrowheads="1"/>
          </p:cNvSpPr>
          <p:nvPr/>
        </p:nvSpPr>
        <p:spPr bwMode="auto">
          <a:xfrm>
            <a:off x="5181600" y="37480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3825" name="Oval 31"/>
          <p:cNvSpPr>
            <a:spLocks noChangeArrowheads="1"/>
          </p:cNvSpPr>
          <p:nvPr/>
        </p:nvSpPr>
        <p:spPr bwMode="auto">
          <a:xfrm>
            <a:off x="5181600" y="4281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3826" name="Oval 32"/>
          <p:cNvSpPr>
            <a:spLocks noChangeArrowheads="1"/>
          </p:cNvSpPr>
          <p:nvPr/>
        </p:nvSpPr>
        <p:spPr bwMode="auto">
          <a:xfrm>
            <a:off x="5867400" y="4281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3827" name="Oval 33"/>
          <p:cNvSpPr>
            <a:spLocks noChangeArrowheads="1"/>
          </p:cNvSpPr>
          <p:nvPr/>
        </p:nvSpPr>
        <p:spPr bwMode="auto">
          <a:xfrm>
            <a:off x="6553200" y="42814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28" name="Text Box 34"/>
          <p:cNvSpPr txBox="1">
            <a:spLocks noChangeArrowheads="1"/>
          </p:cNvSpPr>
          <p:nvPr/>
        </p:nvSpPr>
        <p:spPr bwMode="auto">
          <a:xfrm>
            <a:off x="2486025" y="4052888"/>
            <a:ext cx="1057275"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A</a:t>
            </a:r>
            <a:r>
              <a:rPr kumimoji="1" lang="zh-CN" altLang="zh-CN" sz="1600" b="1" dirty="0">
                <a:latin typeface="Times New Roman" panose="02020603050405020304" pitchFamily="18" charset="0"/>
                <a:ea typeface="华文楷体" panose="02010600040101010101" pitchFamily="2" charset="-122"/>
              </a:rPr>
              <a:t>进队</a:t>
            </a:r>
            <a:endParaRPr kumimoji="1" lang="zh-CN" altLang="en-US" sz="1600" b="1" dirty="0">
              <a:latin typeface="Times New Roman" panose="02020603050405020304" pitchFamily="18" charset="0"/>
              <a:ea typeface="华文楷体" panose="02010600040101010101" pitchFamily="2" charset="-122"/>
            </a:endParaRPr>
          </a:p>
        </p:txBody>
      </p:sp>
      <p:sp>
        <p:nvSpPr>
          <p:cNvPr id="33829" name="Text Box 35"/>
          <p:cNvSpPr txBox="1">
            <a:spLocks noChangeArrowheads="1"/>
          </p:cNvSpPr>
          <p:nvPr/>
        </p:nvSpPr>
        <p:spPr bwMode="auto">
          <a:xfrm>
            <a:off x="2286000" y="4357688"/>
            <a:ext cx="2286000" cy="1803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A</a:t>
            </a:r>
            <a:r>
              <a:rPr kumimoji="1" lang="zh-CN" altLang="zh-CN" sz="1600" b="1" dirty="0">
                <a:latin typeface="Times New Roman" panose="02020603050405020304" pitchFamily="18" charset="0"/>
                <a:ea typeface="华文楷体" panose="02010600040101010101" pitchFamily="2" charset="-122"/>
              </a:rPr>
              <a:t>出队、访问，队空</a:t>
            </a:r>
            <a:endParaRPr kumimoji="1" lang="zh-CN" altLang="zh-CN"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A</a:t>
            </a:r>
            <a:r>
              <a:rPr kumimoji="1" lang="zh-CN" altLang="zh-CN" sz="1600" b="1" dirty="0">
                <a:latin typeface="Times New Roman" panose="02020603050405020304" pitchFamily="18" charset="0"/>
                <a:ea typeface="华文楷体" panose="02010600040101010101" pitchFamily="2" charset="-122"/>
              </a:rPr>
              <a:t>的儿子结点进队</a:t>
            </a:r>
            <a:endParaRPr kumimoji="1" lang="zh-CN" altLang="zh-CN"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zh-CN" altLang="zh-CN" sz="1600" b="1" dirty="0">
                <a:latin typeface="Times New Roman" panose="02020603050405020304" pitchFamily="18" charset="0"/>
                <a:ea typeface="华文楷体" panose="02010600040101010101" pitchFamily="2" charset="-122"/>
              </a:rPr>
              <a:t>4、</a:t>
            </a:r>
            <a:r>
              <a:rPr kumimoji="1" lang="en-US" altLang="zh-CN" sz="1600" b="1" dirty="0">
                <a:latin typeface="Times New Roman" panose="02020603050405020304" pitchFamily="18" charset="0"/>
                <a:ea typeface="华文楷体" panose="02010600040101010101" pitchFamily="2" charset="-122"/>
              </a:rPr>
              <a:t>B</a:t>
            </a:r>
            <a:r>
              <a:rPr kumimoji="1" lang="zh-CN" altLang="zh-CN" sz="1600" b="1" dirty="0">
                <a:latin typeface="Times New Roman" panose="02020603050405020304" pitchFamily="18" charset="0"/>
                <a:ea typeface="华文楷体" panose="02010600040101010101" pitchFamily="2" charset="-122"/>
              </a:rPr>
              <a:t>出队、访问</a:t>
            </a:r>
            <a:endParaRPr kumimoji="1" lang="zh-CN" altLang="zh-CN"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zh-CN" altLang="zh-CN" sz="1600" b="1" dirty="0">
                <a:latin typeface="Times New Roman" panose="02020603050405020304" pitchFamily="18" charset="0"/>
                <a:ea typeface="华文楷体" panose="02010600040101010101" pitchFamily="2" charset="-122"/>
              </a:rPr>
              <a:t>5、</a:t>
            </a:r>
            <a:r>
              <a:rPr kumimoji="1" lang="en-US" altLang="zh-CN" sz="1600" b="1" dirty="0">
                <a:latin typeface="Times New Roman" panose="02020603050405020304" pitchFamily="18" charset="0"/>
                <a:ea typeface="华文楷体" panose="02010600040101010101" pitchFamily="2" charset="-122"/>
              </a:rPr>
              <a:t>B</a:t>
            </a:r>
            <a:r>
              <a:rPr kumimoji="1" lang="zh-CN" altLang="zh-CN" sz="1600" b="1" dirty="0">
                <a:latin typeface="Times New Roman" panose="02020603050405020304" pitchFamily="18" charset="0"/>
                <a:ea typeface="华文楷体" panose="02010600040101010101" pitchFamily="2" charset="-122"/>
              </a:rPr>
              <a:t>的儿子结点进队</a:t>
            </a:r>
            <a:endParaRPr kumimoji="1" lang="zh-CN" altLang="zh-CN"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C</a:t>
            </a:r>
            <a:r>
              <a:rPr kumimoji="1" lang="zh-CN" altLang="zh-CN" sz="1600" b="1" dirty="0">
                <a:latin typeface="Times New Roman" panose="02020603050405020304" pitchFamily="18" charset="0"/>
                <a:ea typeface="华文楷体" panose="02010600040101010101" pitchFamily="2" charset="-122"/>
              </a:rPr>
              <a:t>出队、访问</a:t>
            </a:r>
            <a:endParaRPr kumimoji="1" lang="zh-CN" altLang="zh-CN"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zh-CN" altLang="zh-CN" sz="1600" b="1" dirty="0">
                <a:latin typeface="Times New Roman" panose="02020603050405020304" pitchFamily="18" charset="0"/>
                <a:ea typeface="华文楷体" panose="02010600040101010101" pitchFamily="2" charset="-122"/>
              </a:rPr>
              <a:t>7、</a:t>
            </a:r>
            <a:r>
              <a:rPr kumimoji="1" lang="en-US" altLang="zh-CN" sz="1600" b="1" dirty="0">
                <a:latin typeface="Times New Roman" panose="02020603050405020304" pitchFamily="18" charset="0"/>
                <a:ea typeface="华文楷体" panose="02010600040101010101" pitchFamily="2" charset="-122"/>
              </a:rPr>
              <a:t>C</a:t>
            </a:r>
            <a:r>
              <a:rPr kumimoji="1" lang="zh-CN" altLang="zh-CN" sz="1600" b="1" dirty="0">
                <a:latin typeface="Times New Roman" panose="02020603050405020304" pitchFamily="18" charset="0"/>
                <a:ea typeface="华文楷体" panose="02010600040101010101" pitchFamily="2" charset="-122"/>
              </a:rPr>
              <a:t>的儿子结点进队</a:t>
            </a:r>
            <a:endParaRPr kumimoji="1" lang="zh-CN" altLang="en-US" sz="1600" b="1" dirty="0">
              <a:latin typeface="Times New Roman" panose="02020603050405020304" pitchFamily="18" charset="0"/>
              <a:ea typeface="华文楷体" panose="02010600040101010101" pitchFamily="2" charset="-122"/>
            </a:endParaRPr>
          </a:p>
          <a:p>
            <a:pPr>
              <a:spcBef>
                <a:spcPct val="0"/>
              </a:spcBef>
              <a:buClrTx/>
              <a:buFontTx/>
              <a:buNone/>
            </a:pPr>
            <a:r>
              <a:rPr kumimoji="1" lang="zh-CN" altLang="en-US" sz="1600" b="1" dirty="0">
                <a:latin typeface="Times New Roman" panose="02020603050405020304" pitchFamily="18" charset="0"/>
                <a:ea typeface="华文楷体" panose="02010600040101010101" pitchFamily="2" charset="-122"/>
              </a:rPr>
              <a:t>。。。。。。。</a:t>
            </a:r>
            <a:endParaRPr kumimoji="1" lang="zh-CN" altLang="en-US" sz="1600" b="1" dirty="0">
              <a:latin typeface="Times New Roman" panose="02020603050405020304" pitchFamily="18" charset="0"/>
              <a:ea typeface="华文楷体" panose="02010600040101010101" pitchFamily="2" charset="-122"/>
            </a:endParaRPr>
          </a:p>
        </p:txBody>
      </p:sp>
      <p:sp>
        <p:nvSpPr>
          <p:cNvPr id="33831" name="Oval 37"/>
          <p:cNvSpPr>
            <a:spLocks noChangeArrowheads="1"/>
          </p:cNvSpPr>
          <p:nvPr/>
        </p:nvSpPr>
        <p:spPr bwMode="auto">
          <a:xfrm>
            <a:off x="5181600" y="47386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2" name="Oval 38"/>
          <p:cNvSpPr>
            <a:spLocks noChangeArrowheads="1"/>
          </p:cNvSpPr>
          <p:nvPr/>
        </p:nvSpPr>
        <p:spPr bwMode="auto">
          <a:xfrm>
            <a:off x="5867400" y="47386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3" name="Oval 39"/>
          <p:cNvSpPr>
            <a:spLocks noChangeArrowheads="1"/>
          </p:cNvSpPr>
          <p:nvPr/>
        </p:nvSpPr>
        <p:spPr bwMode="auto">
          <a:xfrm>
            <a:off x="6553200" y="51958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4" name="Oval 40"/>
          <p:cNvSpPr>
            <a:spLocks noChangeArrowheads="1"/>
          </p:cNvSpPr>
          <p:nvPr/>
        </p:nvSpPr>
        <p:spPr bwMode="auto">
          <a:xfrm>
            <a:off x="7239000" y="51958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5" name="Oval 41"/>
          <p:cNvSpPr>
            <a:spLocks noChangeArrowheads="1"/>
          </p:cNvSpPr>
          <p:nvPr/>
        </p:nvSpPr>
        <p:spPr bwMode="auto">
          <a:xfrm>
            <a:off x="7924800" y="51958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6" name="Oval 42"/>
          <p:cNvSpPr>
            <a:spLocks noChangeArrowheads="1"/>
          </p:cNvSpPr>
          <p:nvPr/>
        </p:nvSpPr>
        <p:spPr bwMode="auto">
          <a:xfrm>
            <a:off x="5181600" y="51958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7" name="Oval 43"/>
          <p:cNvSpPr>
            <a:spLocks noChangeArrowheads="1"/>
          </p:cNvSpPr>
          <p:nvPr/>
        </p:nvSpPr>
        <p:spPr bwMode="auto">
          <a:xfrm>
            <a:off x="5867400" y="51958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8" name="Oval 44"/>
          <p:cNvSpPr>
            <a:spLocks noChangeArrowheads="1"/>
          </p:cNvSpPr>
          <p:nvPr/>
        </p:nvSpPr>
        <p:spPr bwMode="auto">
          <a:xfrm>
            <a:off x="5867400" y="56530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33839" name="Oval 45"/>
          <p:cNvSpPr>
            <a:spLocks noChangeArrowheads="1"/>
          </p:cNvSpPr>
          <p:nvPr/>
        </p:nvSpPr>
        <p:spPr bwMode="auto">
          <a:xfrm>
            <a:off x="6553200" y="56530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0" name="Oval 46"/>
          <p:cNvSpPr>
            <a:spLocks noChangeArrowheads="1"/>
          </p:cNvSpPr>
          <p:nvPr/>
        </p:nvSpPr>
        <p:spPr bwMode="auto">
          <a:xfrm>
            <a:off x="7239000" y="56530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1" name="Oval 47"/>
          <p:cNvSpPr>
            <a:spLocks noChangeArrowheads="1"/>
          </p:cNvSpPr>
          <p:nvPr/>
        </p:nvSpPr>
        <p:spPr bwMode="auto">
          <a:xfrm>
            <a:off x="5181600" y="56530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2" name="Oval 48"/>
          <p:cNvSpPr>
            <a:spLocks noChangeArrowheads="1"/>
          </p:cNvSpPr>
          <p:nvPr/>
        </p:nvSpPr>
        <p:spPr bwMode="auto">
          <a:xfrm>
            <a:off x="5867400" y="6110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3" name="Oval 49"/>
          <p:cNvSpPr>
            <a:spLocks noChangeArrowheads="1"/>
          </p:cNvSpPr>
          <p:nvPr/>
        </p:nvSpPr>
        <p:spPr bwMode="auto">
          <a:xfrm>
            <a:off x="6553200" y="6110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4" name="Oval 50"/>
          <p:cNvSpPr>
            <a:spLocks noChangeArrowheads="1"/>
          </p:cNvSpPr>
          <p:nvPr/>
        </p:nvSpPr>
        <p:spPr bwMode="auto">
          <a:xfrm>
            <a:off x="7239000" y="6110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5" name="Oval 51"/>
          <p:cNvSpPr>
            <a:spLocks noChangeArrowheads="1"/>
          </p:cNvSpPr>
          <p:nvPr/>
        </p:nvSpPr>
        <p:spPr bwMode="auto">
          <a:xfrm>
            <a:off x="5181600" y="6110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6" name="Oval 52"/>
          <p:cNvSpPr>
            <a:spLocks noChangeArrowheads="1"/>
          </p:cNvSpPr>
          <p:nvPr/>
        </p:nvSpPr>
        <p:spPr bwMode="auto">
          <a:xfrm>
            <a:off x="8001000" y="6110288"/>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33847" name="Line 53"/>
          <p:cNvSpPr>
            <a:spLocks noChangeShapeType="1"/>
          </p:cNvSpPr>
          <p:nvPr/>
        </p:nvSpPr>
        <p:spPr bwMode="auto">
          <a:xfrm flipV="1">
            <a:off x="5638800" y="4433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48" name="Line 54"/>
          <p:cNvSpPr>
            <a:spLocks noChangeShapeType="1"/>
          </p:cNvSpPr>
          <p:nvPr/>
        </p:nvSpPr>
        <p:spPr bwMode="auto">
          <a:xfrm flipV="1">
            <a:off x="5638800" y="49672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49" name="Line 55"/>
          <p:cNvSpPr>
            <a:spLocks noChangeShapeType="1"/>
          </p:cNvSpPr>
          <p:nvPr/>
        </p:nvSpPr>
        <p:spPr bwMode="auto">
          <a:xfrm flipV="1">
            <a:off x="5638800" y="54244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0" name="Line 56"/>
          <p:cNvSpPr>
            <a:spLocks noChangeShapeType="1"/>
          </p:cNvSpPr>
          <p:nvPr/>
        </p:nvSpPr>
        <p:spPr bwMode="auto">
          <a:xfrm flipV="1">
            <a:off x="5638800" y="58816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1" name="Line 57"/>
          <p:cNvSpPr>
            <a:spLocks noChangeShapeType="1"/>
          </p:cNvSpPr>
          <p:nvPr/>
        </p:nvSpPr>
        <p:spPr bwMode="auto">
          <a:xfrm flipV="1">
            <a:off x="5638800" y="6338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2" name="Line 58"/>
          <p:cNvSpPr>
            <a:spLocks noChangeShapeType="1"/>
          </p:cNvSpPr>
          <p:nvPr/>
        </p:nvSpPr>
        <p:spPr bwMode="auto">
          <a:xfrm flipV="1">
            <a:off x="6324600" y="6338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3" name="Line 59"/>
          <p:cNvSpPr>
            <a:spLocks noChangeShapeType="1"/>
          </p:cNvSpPr>
          <p:nvPr/>
        </p:nvSpPr>
        <p:spPr bwMode="auto">
          <a:xfrm flipV="1">
            <a:off x="7010400" y="6338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4" name="Line 60"/>
          <p:cNvSpPr>
            <a:spLocks noChangeShapeType="1"/>
          </p:cNvSpPr>
          <p:nvPr/>
        </p:nvSpPr>
        <p:spPr bwMode="auto">
          <a:xfrm flipV="1">
            <a:off x="7772400" y="6338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5" name="Line 61"/>
          <p:cNvSpPr>
            <a:spLocks noChangeShapeType="1"/>
          </p:cNvSpPr>
          <p:nvPr/>
        </p:nvSpPr>
        <p:spPr bwMode="auto">
          <a:xfrm flipV="1">
            <a:off x="7696200" y="54244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6" name="Line 62"/>
          <p:cNvSpPr>
            <a:spLocks noChangeShapeType="1"/>
          </p:cNvSpPr>
          <p:nvPr/>
        </p:nvSpPr>
        <p:spPr bwMode="auto">
          <a:xfrm flipV="1">
            <a:off x="7010400" y="58816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7" name="Line 63"/>
          <p:cNvSpPr>
            <a:spLocks noChangeShapeType="1"/>
          </p:cNvSpPr>
          <p:nvPr/>
        </p:nvSpPr>
        <p:spPr bwMode="auto">
          <a:xfrm flipV="1">
            <a:off x="7010400" y="54244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8" name="Line 64"/>
          <p:cNvSpPr>
            <a:spLocks noChangeShapeType="1"/>
          </p:cNvSpPr>
          <p:nvPr/>
        </p:nvSpPr>
        <p:spPr bwMode="auto">
          <a:xfrm flipV="1">
            <a:off x="6324600" y="58816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59" name="Line 65"/>
          <p:cNvSpPr>
            <a:spLocks noChangeShapeType="1"/>
          </p:cNvSpPr>
          <p:nvPr/>
        </p:nvSpPr>
        <p:spPr bwMode="auto">
          <a:xfrm flipV="1">
            <a:off x="6324600" y="54244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60" name="Line 66"/>
          <p:cNvSpPr>
            <a:spLocks noChangeShapeType="1"/>
          </p:cNvSpPr>
          <p:nvPr/>
        </p:nvSpPr>
        <p:spPr bwMode="auto">
          <a:xfrm flipV="1">
            <a:off x="6324600" y="4433888"/>
            <a:ext cx="228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61" name="Freeform 67"/>
          <p:cNvSpPr/>
          <p:nvPr/>
        </p:nvSpPr>
        <p:spPr bwMode="auto">
          <a:xfrm>
            <a:off x="1500188" y="1143000"/>
            <a:ext cx="2955925" cy="1016000"/>
          </a:xfrm>
          <a:custGeom>
            <a:avLst/>
            <a:gdLst>
              <a:gd name="T0" fmla="*/ 2147483646 w 1862"/>
              <a:gd name="T1" fmla="*/ 0 h 640"/>
              <a:gd name="T2" fmla="*/ 2147483646 w 1862"/>
              <a:gd name="T3" fmla="*/ 2147483646 h 640"/>
              <a:gd name="T4" fmla="*/ 2147483646 w 1862"/>
              <a:gd name="T5" fmla="*/ 2147483646 h 640"/>
              <a:gd name="T6" fmla="*/ 2147483646 w 1862"/>
              <a:gd name="T7" fmla="*/ 2147483646 h 640"/>
              <a:gd name="T8" fmla="*/ 2147483646 w 1862"/>
              <a:gd name="T9" fmla="*/ 2147483646 h 640"/>
              <a:gd name="T10" fmla="*/ 2147483646 w 1862"/>
              <a:gd name="T11" fmla="*/ 2147483646 h 640"/>
              <a:gd name="T12" fmla="*/ 2147483646 w 1862"/>
              <a:gd name="T13" fmla="*/ 2147483646 h 640"/>
              <a:gd name="T14" fmla="*/ 2147483646 w 1862"/>
              <a:gd name="T15" fmla="*/ 2147483646 h 640"/>
              <a:gd name="T16" fmla="*/ 2147483646 w 1862"/>
              <a:gd name="T17" fmla="*/ 2147483646 h 640"/>
              <a:gd name="T18" fmla="*/ 2147483646 w 1862"/>
              <a:gd name="T19" fmla="*/ 2147483646 h 640"/>
              <a:gd name="T20" fmla="*/ 2147483646 w 1862"/>
              <a:gd name="T21" fmla="*/ 2147483646 h 640"/>
              <a:gd name="T22" fmla="*/ 2147483646 w 1862"/>
              <a:gd name="T23" fmla="*/ 2147483646 h 640"/>
              <a:gd name="T24" fmla="*/ 2147483646 w 1862"/>
              <a:gd name="T25" fmla="*/ 2147483646 h 640"/>
              <a:gd name="T26" fmla="*/ 2147483646 w 1862"/>
              <a:gd name="T27" fmla="*/ 2147483646 h 640"/>
              <a:gd name="T28" fmla="*/ 2147483646 w 1862"/>
              <a:gd name="T29" fmla="*/ 2147483646 h 640"/>
              <a:gd name="T30" fmla="*/ 2147483646 w 1862"/>
              <a:gd name="T31" fmla="*/ 2147483646 h 640"/>
              <a:gd name="T32" fmla="*/ 2147483646 w 1862"/>
              <a:gd name="T33" fmla="*/ 2147483646 h 640"/>
              <a:gd name="T34" fmla="*/ 2147483646 w 1862"/>
              <a:gd name="T35" fmla="*/ 2147483646 h 640"/>
              <a:gd name="T36" fmla="*/ 2147483646 w 1862"/>
              <a:gd name="T37" fmla="*/ 2147483646 h 640"/>
              <a:gd name="T38" fmla="*/ 2147483646 w 1862"/>
              <a:gd name="T39" fmla="*/ 2147483646 h 640"/>
              <a:gd name="T40" fmla="*/ 2147483646 w 1862"/>
              <a:gd name="T41" fmla="*/ 2147483646 h 640"/>
              <a:gd name="T42" fmla="*/ 2147483646 w 1862"/>
              <a:gd name="T43" fmla="*/ 2147483646 h 640"/>
              <a:gd name="T44" fmla="*/ 2147483646 w 1862"/>
              <a:gd name="T45" fmla="*/ 2147483646 h 640"/>
              <a:gd name="T46" fmla="*/ 2147483646 w 1862"/>
              <a:gd name="T47" fmla="*/ 2147483646 h 640"/>
              <a:gd name="T48" fmla="*/ 2147483646 w 1862"/>
              <a:gd name="T49" fmla="*/ 2147483646 h 640"/>
              <a:gd name="T50" fmla="*/ 0 w 1862"/>
              <a:gd name="T51" fmla="*/ 2147483646 h 6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862" h="640">
                <a:moveTo>
                  <a:pt x="219" y="0"/>
                </a:moveTo>
                <a:cubicBezTo>
                  <a:pt x="214" y="7"/>
                  <a:pt x="202" y="13"/>
                  <a:pt x="204" y="22"/>
                </a:cubicBezTo>
                <a:cubicBezTo>
                  <a:pt x="206" y="29"/>
                  <a:pt x="219" y="27"/>
                  <a:pt x="226" y="29"/>
                </a:cubicBezTo>
                <a:cubicBezTo>
                  <a:pt x="240" y="32"/>
                  <a:pt x="255" y="34"/>
                  <a:pt x="269" y="37"/>
                </a:cubicBezTo>
                <a:cubicBezTo>
                  <a:pt x="368" y="100"/>
                  <a:pt x="554" y="94"/>
                  <a:pt x="669" y="102"/>
                </a:cubicBezTo>
                <a:cubicBezTo>
                  <a:pt x="725" y="111"/>
                  <a:pt x="781" y="132"/>
                  <a:pt x="837" y="139"/>
                </a:cubicBezTo>
                <a:cubicBezTo>
                  <a:pt x="897" y="147"/>
                  <a:pt x="958" y="147"/>
                  <a:pt x="1018" y="153"/>
                </a:cubicBezTo>
                <a:cubicBezTo>
                  <a:pt x="1051" y="161"/>
                  <a:pt x="1081" y="172"/>
                  <a:pt x="1113" y="182"/>
                </a:cubicBezTo>
                <a:cubicBezTo>
                  <a:pt x="1123" y="185"/>
                  <a:pt x="1131" y="195"/>
                  <a:pt x="1142" y="197"/>
                </a:cubicBezTo>
                <a:cubicBezTo>
                  <a:pt x="1171" y="202"/>
                  <a:pt x="1200" y="202"/>
                  <a:pt x="1229" y="204"/>
                </a:cubicBezTo>
                <a:cubicBezTo>
                  <a:pt x="1248" y="210"/>
                  <a:pt x="1268" y="212"/>
                  <a:pt x="1287" y="219"/>
                </a:cubicBezTo>
                <a:cubicBezTo>
                  <a:pt x="1295" y="222"/>
                  <a:pt x="1301" y="229"/>
                  <a:pt x="1309" y="233"/>
                </a:cubicBezTo>
                <a:cubicBezTo>
                  <a:pt x="1316" y="236"/>
                  <a:pt x="1324" y="238"/>
                  <a:pt x="1331" y="240"/>
                </a:cubicBezTo>
                <a:cubicBezTo>
                  <a:pt x="1383" y="275"/>
                  <a:pt x="1414" y="284"/>
                  <a:pt x="1477" y="291"/>
                </a:cubicBezTo>
                <a:cubicBezTo>
                  <a:pt x="1562" y="314"/>
                  <a:pt x="1616" y="315"/>
                  <a:pt x="1680" y="379"/>
                </a:cubicBezTo>
                <a:cubicBezTo>
                  <a:pt x="1687" y="423"/>
                  <a:pt x="1688" y="435"/>
                  <a:pt x="1724" y="459"/>
                </a:cubicBezTo>
                <a:cubicBezTo>
                  <a:pt x="1750" y="498"/>
                  <a:pt x="1723" y="468"/>
                  <a:pt x="1782" y="488"/>
                </a:cubicBezTo>
                <a:cubicBezTo>
                  <a:pt x="1801" y="494"/>
                  <a:pt x="1816" y="508"/>
                  <a:pt x="1833" y="517"/>
                </a:cubicBezTo>
                <a:cubicBezTo>
                  <a:pt x="1862" y="562"/>
                  <a:pt x="1862" y="567"/>
                  <a:pt x="1855" y="626"/>
                </a:cubicBezTo>
                <a:cubicBezTo>
                  <a:pt x="1758" y="621"/>
                  <a:pt x="1688" y="611"/>
                  <a:pt x="1593" y="604"/>
                </a:cubicBezTo>
                <a:cubicBezTo>
                  <a:pt x="1557" y="593"/>
                  <a:pt x="1521" y="589"/>
                  <a:pt x="1484" y="582"/>
                </a:cubicBezTo>
                <a:cubicBezTo>
                  <a:pt x="1444" y="574"/>
                  <a:pt x="1408" y="559"/>
                  <a:pt x="1367" y="553"/>
                </a:cubicBezTo>
                <a:cubicBezTo>
                  <a:pt x="1133" y="557"/>
                  <a:pt x="1010" y="554"/>
                  <a:pt x="815" y="575"/>
                </a:cubicBezTo>
                <a:cubicBezTo>
                  <a:pt x="610" y="624"/>
                  <a:pt x="827" y="574"/>
                  <a:pt x="248" y="589"/>
                </a:cubicBezTo>
                <a:cubicBezTo>
                  <a:pt x="185" y="591"/>
                  <a:pt x="59" y="611"/>
                  <a:pt x="59" y="611"/>
                </a:cubicBezTo>
                <a:cubicBezTo>
                  <a:pt x="36" y="619"/>
                  <a:pt x="18" y="623"/>
                  <a:pt x="0" y="640"/>
                </a:cubicBezTo>
              </a:path>
            </a:pathLst>
          </a:cu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62" name="Freeform 68"/>
          <p:cNvSpPr/>
          <p:nvPr/>
        </p:nvSpPr>
        <p:spPr bwMode="auto">
          <a:xfrm>
            <a:off x="1835150" y="1201738"/>
            <a:ext cx="2320925" cy="392112"/>
          </a:xfrm>
          <a:custGeom>
            <a:avLst/>
            <a:gdLst>
              <a:gd name="T0" fmla="*/ 0 w 1462"/>
              <a:gd name="T1" fmla="*/ 0 h 247"/>
              <a:gd name="T2" fmla="*/ 2147483646 w 1462"/>
              <a:gd name="T3" fmla="*/ 2147483646 h 247"/>
              <a:gd name="T4" fmla="*/ 2147483646 w 1462"/>
              <a:gd name="T5" fmla="*/ 2147483646 h 247"/>
              <a:gd name="T6" fmla="*/ 2147483646 w 1462"/>
              <a:gd name="T7" fmla="*/ 2147483646 h 247"/>
              <a:gd name="T8" fmla="*/ 2147483646 w 1462"/>
              <a:gd name="T9" fmla="*/ 2147483646 h 247"/>
              <a:gd name="T10" fmla="*/ 2147483646 w 1462"/>
              <a:gd name="T11" fmla="*/ 2147483646 h 247"/>
              <a:gd name="T12" fmla="*/ 2147483646 w 1462"/>
              <a:gd name="T13" fmla="*/ 2147483646 h 247"/>
              <a:gd name="T14" fmla="*/ 2147483646 w 1462"/>
              <a:gd name="T15" fmla="*/ 2147483646 h 2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62" h="247">
                <a:moveTo>
                  <a:pt x="0" y="0"/>
                </a:moveTo>
                <a:cubicBezTo>
                  <a:pt x="175" y="84"/>
                  <a:pt x="375" y="87"/>
                  <a:pt x="567" y="94"/>
                </a:cubicBezTo>
                <a:cubicBezTo>
                  <a:pt x="628" y="105"/>
                  <a:pt x="689" y="117"/>
                  <a:pt x="749" y="131"/>
                </a:cubicBezTo>
                <a:cubicBezTo>
                  <a:pt x="788" y="140"/>
                  <a:pt x="826" y="158"/>
                  <a:pt x="866" y="160"/>
                </a:cubicBezTo>
                <a:cubicBezTo>
                  <a:pt x="963" y="164"/>
                  <a:pt x="1059" y="165"/>
                  <a:pt x="1156" y="167"/>
                </a:cubicBezTo>
                <a:cubicBezTo>
                  <a:pt x="1209" y="184"/>
                  <a:pt x="1171" y="171"/>
                  <a:pt x="1266" y="218"/>
                </a:cubicBezTo>
                <a:cubicBezTo>
                  <a:pt x="1312" y="241"/>
                  <a:pt x="1367" y="227"/>
                  <a:pt x="1418" y="232"/>
                </a:cubicBezTo>
                <a:cubicBezTo>
                  <a:pt x="1452" y="241"/>
                  <a:pt x="1438" y="236"/>
                  <a:pt x="1462" y="247"/>
                </a:cubicBezTo>
              </a:path>
            </a:pathLst>
          </a:cu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863" name="Freeform 69"/>
          <p:cNvSpPr/>
          <p:nvPr/>
        </p:nvSpPr>
        <p:spPr bwMode="auto">
          <a:xfrm>
            <a:off x="1685925" y="1177925"/>
            <a:ext cx="2722563" cy="947738"/>
          </a:xfrm>
          <a:custGeom>
            <a:avLst/>
            <a:gdLst>
              <a:gd name="T0" fmla="*/ 0 w 1715"/>
              <a:gd name="T1" fmla="*/ 0 h 597"/>
              <a:gd name="T2" fmla="*/ 2147483646 w 1715"/>
              <a:gd name="T3" fmla="*/ 2147483646 h 597"/>
              <a:gd name="T4" fmla="*/ 2147483646 w 1715"/>
              <a:gd name="T5" fmla="*/ 2147483646 h 597"/>
              <a:gd name="T6" fmla="*/ 2147483646 w 1715"/>
              <a:gd name="T7" fmla="*/ 2147483646 h 597"/>
              <a:gd name="T8" fmla="*/ 2147483646 w 1715"/>
              <a:gd name="T9" fmla="*/ 2147483646 h 597"/>
              <a:gd name="T10" fmla="*/ 2147483646 w 1715"/>
              <a:gd name="T11" fmla="*/ 2147483646 h 597"/>
              <a:gd name="T12" fmla="*/ 2147483646 w 1715"/>
              <a:gd name="T13" fmla="*/ 2147483646 h 597"/>
              <a:gd name="T14" fmla="*/ 2147483646 w 1715"/>
              <a:gd name="T15" fmla="*/ 2147483646 h 597"/>
              <a:gd name="T16" fmla="*/ 2147483646 w 1715"/>
              <a:gd name="T17" fmla="*/ 2147483646 h 597"/>
              <a:gd name="T18" fmla="*/ 2147483646 w 1715"/>
              <a:gd name="T19" fmla="*/ 2147483646 h 597"/>
              <a:gd name="T20" fmla="*/ 2147483646 w 1715"/>
              <a:gd name="T21" fmla="*/ 2147483646 h 597"/>
              <a:gd name="T22" fmla="*/ 2147483646 w 1715"/>
              <a:gd name="T23" fmla="*/ 2147483646 h 597"/>
              <a:gd name="T24" fmla="*/ 2147483646 w 1715"/>
              <a:gd name="T25" fmla="*/ 2147483646 h 597"/>
              <a:gd name="T26" fmla="*/ 2147483646 w 1715"/>
              <a:gd name="T27" fmla="*/ 2147483646 h 597"/>
              <a:gd name="T28" fmla="*/ 2147483646 w 1715"/>
              <a:gd name="T29" fmla="*/ 2147483646 h 597"/>
              <a:gd name="T30" fmla="*/ 2147483646 w 1715"/>
              <a:gd name="T31" fmla="*/ 2147483646 h 597"/>
              <a:gd name="T32" fmla="*/ 2147483646 w 1715"/>
              <a:gd name="T33" fmla="*/ 2147483646 h 597"/>
              <a:gd name="T34" fmla="*/ 2147483646 w 1715"/>
              <a:gd name="T35" fmla="*/ 2147483646 h 597"/>
              <a:gd name="T36" fmla="*/ 2147483646 w 1715"/>
              <a:gd name="T37" fmla="*/ 2147483646 h 597"/>
              <a:gd name="T38" fmla="*/ 2147483646 w 1715"/>
              <a:gd name="T39" fmla="*/ 2147483646 h 59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5" h="597">
                <a:moveTo>
                  <a:pt x="0" y="0"/>
                </a:moveTo>
                <a:cubicBezTo>
                  <a:pt x="117" y="80"/>
                  <a:pt x="425" y="70"/>
                  <a:pt x="531" y="73"/>
                </a:cubicBezTo>
                <a:cubicBezTo>
                  <a:pt x="625" y="104"/>
                  <a:pt x="526" y="74"/>
                  <a:pt x="778" y="87"/>
                </a:cubicBezTo>
                <a:cubicBezTo>
                  <a:pt x="843" y="90"/>
                  <a:pt x="910" y="105"/>
                  <a:pt x="974" y="117"/>
                </a:cubicBezTo>
                <a:cubicBezTo>
                  <a:pt x="1032" y="145"/>
                  <a:pt x="1049" y="140"/>
                  <a:pt x="1127" y="146"/>
                </a:cubicBezTo>
                <a:cubicBezTo>
                  <a:pt x="1141" y="151"/>
                  <a:pt x="1156" y="155"/>
                  <a:pt x="1170" y="160"/>
                </a:cubicBezTo>
                <a:cubicBezTo>
                  <a:pt x="1177" y="162"/>
                  <a:pt x="1192" y="167"/>
                  <a:pt x="1192" y="167"/>
                </a:cubicBezTo>
                <a:cubicBezTo>
                  <a:pt x="1199" y="172"/>
                  <a:pt x="1207" y="176"/>
                  <a:pt x="1214" y="182"/>
                </a:cubicBezTo>
                <a:cubicBezTo>
                  <a:pt x="1224" y="191"/>
                  <a:pt x="1232" y="203"/>
                  <a:pt x="1243" y="211"/>
                </a:cubicBezTo>
                <a:cubicBezTo>
                  <a:pt x="1276" y="234"/>
                  <a:pt x="1328" y="241"/>
                  <a:pt x="1367" y="255"/>
                </a:cubicBezTo>
                <a:cubicBezTo>
                  <a:pt x="1414" y="290"/>
                  <a:pt x="1448" y="303"/>
                  <a:pt x="1498" y="327"/>
                </a:cubicBezTo>
                <a:cubicBezTo>
                  <a:pt x="1508" y="342"/>
                  <a:pt x="1515" y="359"/>
                  <a:pt x="1527" y="371"/>
                </a:cubicBezTo>
                <a:cubicBezTo>
                  <a:pt x="1534" y="378"/>
                  <a:pt x="1542" y="385"/>
                  <a:pt x="1549" y="393"/>
                </a:cubicBezTo>
                <a:cubicBezTo>
                  <a:pt x="1555" y="400"/>
                  <a:pt x="1556" y="410"/>
                  <a:pt x="1563" y="415"/>
                </a:cubicBezTo>
                <a:cubicBezTo>
                  <a:pt x="1576" y="423"/>
                  <a:pt x="1607" y="429"/>
                  <a:pt x="1607" y="429"/>
                </a:cubicBezTo>
                <a:cubicBezTo>
                  <a:pt x="1634" y="448"/>
                  <a:pt x="1663" y="455"/>
                  <a:pt x="1694" y="466"/>
                </a:cubicBezTo>
                <a:cubicBezTo>
                  <a:pt x="1715" y="530"/>
                  <a:pt x="1687" y="575"/>
                  <a:pt x="1629" y="597"/>
                </a:cubicBezTo>
                <a:cubicBezTo>
                  <a:pt x="1485" y="590"/>
                  <a:pt x="1343" y="560"/>
                  <a:pt x="1200" y="553"/>
                </a:cubicBezTo>
                <a:cubicBezTo>
                  <a:pt x="1067" y="546"/>
                  <a:pt x="933" y="544"/>
                  <a:pt x="800" y="538"/>
                </a:cubicBezTo>
                <a:cubicBezTo>
                  <a:pt x="713" y="510"/>
                  <a:pt x="623" y="524"/>
                  <a:pt x="531" y="524"/>
                </a:cubicBezTo>
              </a:path>
            </a:pathLst>
          </a:cu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 name="任意多边形 1"/>
          <p:cNvSpPr/>
          <p:nvPr/>
        </p:nvSpPr>
        <p:spPr>
          <a:xfrm>
            <a:off x="573977" y="1429305"/>
            <a:ext cx="4355300" cy="2370338"/>
          </a:xfrm>
          <a:custGeom>
            <a:avLst/>
            <a:gdLst>
              <a:gd name="connsiteX0" fmla="*/ 2009425 w 4355300"/>
              <a:gd name="connsiteY0" fmla="*/ 0 h 2370338"/>
              <a:gd name="connsiteX1" fmla="*/ 1086147 w 4355300"/>
              <a:gd name="connsiteY1" fmla="*/ 399495 h 2370338"/>
              <a:gd name="connsiteX2" fmla="*/ 3358831 w 4355300"/>
              <a:gd name="connsiteY2" fmla="*/ 452761 h 2370338"/>
              <a:gd name="connsiteX3" fmla="*/ 29705 w 4355300"/>
              <a:gd name="connsiteY3" fmla="*/ 1340528 h 2370338"/>
              <a:gd name="connsiteX4" fmla="*/ 4353130 w 4355300"/>
              <a:gd name="connsiteY4" fmla="*/ 1429305 h 2370338"/>
              <a:gd name="connsiteX5" fmla="*/ 606753 w 4355300"/>
              <a:gd name="connsiteY5" fmla="*/ 2281561 h 2370338"/>
              <a:gd name="connsiteX6" fmla="*/ 65215 w 4355300"/>
              <a:gd name="connsiteY6" fmla="*/ 2343705 h 2370338"/>
              <a:gd name="connsiteX7" fmla="*/ 29705 w 4355300"/>
              <a:gd name="connsiteY7" fmla="*/ 2370338 h 237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5300" h="2370338">
                <a:moveTo>
                  <a:pt x="2009425" y="0"/>
                </a:moveTo>
                <a:cubicBezTo>
                  <a:pt x="1435335" y="162017"/>
                  <a:pt x="861246" y="324035"/>
                  <a:pt x="1086147" y="399495"/>
                </a:cubicBezTo>
                <a:cubicBezTo>
                  <a:pt x="1311048" y="474955"/>
                  <a:pt x="3534905" y="295922"/>
                  <a:pt x="3358831" y="452761"/>
                </a:cubicBezTo>
                <a:cubicBezTo>
                  <a:pt x="3182757" y="609600"/>
                  <a:pt x="-136011" y="1177771"/>
                  <a:pt x="29705" y="1340528"/>
                </a:cubicBezTo>
                <a:cubicBezTo>
                  <a:pt x="195421" y="1503285"/>
                  <a:pt x="4256955" y="1272466"/>
                  <a:pt x="4353130" y="1429305"/>
                </a:cubicBezTo>
                <a:cubicBezTo>
                  <a:pt x="4449305" y="1586144"/>
                  <a:pt x="1321405" y="2129161"/>
                  <a:pt x="606753" y="2281561"/>
                </a:cubicBezTo>
                <a:cubicBezTo>
                  <a:pt x="-107900" y="2433961"/>
                  <a:pt x="161390" y="2328909"/>
                  <a:pt x="65215" y="2343705"/>
                </a:cubicBezTo>
                <a:cubicBezTo>
                  <a:pt x="-30960" y="2358501"/>
                  <a:pt x="-628" y="2364419"/>
                  <a:pt x="29705" y="2370338"/>
                </a:cubicBez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页脚占位符 3"/>
          <p:cNvSpPr>
            <a:spLocks noGrp="1"/>
          </p:cNvSpPr>
          <p:nvPr>
            <p:ph type="ftr" sz="quarter" idx="10"/>
          </p:nvPr>
        </p:nvSpPr>
        <p:spPr/>
        <p:txBody>
          <a:bodyPr/>
          <a:lstStyle/>
          <a:p>
            <a:pPr>
              <a:defRPr/>
            </a:pPr>
            <a:r>
              <a:rPr lang="en-US" altLang="zh-CN"/>
              <a:t>BUPT SCST</a:t>
            </a:r>
            <a:endParaRPr lang="en-US" altLang="zh-CN"/>
          </a:p>
        </p:txBody>
      </p:sp>
      <p:sp>
        <p:nvSpPr>
          <p:cNvPr id="73" name="日期占位符 5"/>
          <p:cNvSpPr>
            <a:spLocks noGrp="1"/>
          </p:cNvSpPr>
          <p:nvPr>
            <p:ph type="dt" sz="quarter" idx="12"/>
          </p:nvPr>
        </p:nvSpPr>
        <p:spPr/>
        <p:txBody>
          <a:bodyPr/>
          <a:lstStyle/>
          <a:p>
            <a:pPr>
              <a:defRPr/>
            </a:pPr>
            <a:r>
              <a:rPr lang="en-US" altLang="zh-CN"/>
              <a:t>BUPT</a:t>
            </a:r>
            <a:endParaRPr lang="en-US" altLang="zh-CN"/>
          </a:p>
        </p:txBody>
      </p:sp>
      <p:sp>
        <p:nvSpPr>
          <p:cNvPr id="348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4821" name="Rectangle 3"/>
          <p:cNvSpPr>
            <a:spLocks noChangeArrowheads="1"/>
          </p:cNvSpPr>
          <p:nvPr/>
        </p:nvSpPr>
        <p:spPr bwMode="auto">
          <a:xfrm>
            <a:off x="0" y="1295400"/>
            <a:ext cx="921385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2">
              <a:spcBef>
                <a:spcPct val="50000"/>
              </a:spcBef>
              <a:buClrTx/>
            </a:pPr>
            <a:r>
              <a:rPr kumimoji="1" lang="en-US" altLang="zh-CN" sz="1600" b="1" dirty="0">
                <a:solidFill>
                  <a:schemeClr val="folHlink"/>
                </a:solidFill>
                <a:latin typeface="Times New Roman" panose="02020603050405020304" pitchFamily="18" charset="0"/>
                <a:ea typeface="华文楷体" panose="02010600040101010101" pitchFamily="2" charset="-122"/>
              </a:rPr>
              <a:t> </a:t>
            </a:r>
            <a:r>
              <a:rPr kumimoji="1" lang="zh-CN" altLang="en-US" sz="1600" b="1" dirty="0">
                <a:solidFill>
                  <a:schemeClr val="accent2"/>
                </a:solidFill>
                <a:latin typeface="Times New Roman" panose="02020603050405020304" pitchFamily="18" charset="0"/>
                <a:ea typeface="华文楷体" panose="02010600040101010101" pitchFamily="2" charset="-122"/>
              </a:rPr>
              <a:t>无向图的实例：为了说明问题，邻接顶点的访问次序以序号为准。序号小的先访问。如：</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a:p>
            <a:pPr lvl="2">
              <a:spcBef>
                <a:spcPct val="50000"/>
              </a:spcBef>
              <a:buClrTx/>
              <a:buFontTx/>
              <a:buNone/>
            </a:pPr>
            <a:r>
              <a:rPr kumimoji="1" lang="zh-CN" altLang="en-US" sz="1600" b="1" dirty="0">
                <a:solidFill>
                  <a:schemeClr val="accent2"/>
                </a:solidFill>
                <a:latin typeface="Times New Roman" panose="02020603050405020304" pitchFamily="18" charset="0"/>
                <a:ea typeface="华文楷体" panose="02010600040101010101" pitchFamily="2" charset="-122"/>
              </a:rPr>
              <a:t>      顶点 </a:t>
            </a:r>
            <a:r>
              <a:rPr kumimoji="1" lang="en-US" altLang="zh-CN" sz="1600" b="1" dirty="0">
                <a:solidFill>
                  <a:schemeClr val="accent2"/>
                </a:solidFill>
                <a:latin typeface="Times New Roman" panose="02020603050405020304" pitchFamily="18" charset="0"/>
                <a:ea typeface="华文楷体" panose="02010600040101010101" pitchFamily="2" charset="-122"/>
              </a:rPr>
              <a:t>1 </a:t>
            </a:r>
            <a:r>
              <a:rPr kumimoji="1" lang="zh-CN" altLang="en-US" sz="1600" b="1" dirty="0">
                <a:solidFill>
                  <a:schemeClr val="accent2"/>
                </a:solidFill>
                <a:latin typeface="Times New Roman" panose="02020603050405020304" pitchFamily="18" charset="0"/>
                <a:ea typeface="华文楷体" panose="02010600040101010101" pitchFamily="2" charset="-122"/>
              </a:rPr>
              <a:t>的邻接顶点有三个 </a:t>
            </a:r>
            <a:r>
              <a:rPr kumimoji="1" lang="en-US" altLang="zh-CN" sz="1600" b="1" dirty="0">
                <a:solidFill>
                  <a:schemeClr val="accent2"/>
                </a:solidFill>
                <a:latin typeface="Times New Roman" panose="02020603050405020304" pitchFamily="18" charset="0"/>
                <a:ea typeface="华文楷体" panose="02010600040101010101" pitchFamily="2" charset="-122"/>
              </a:rPr>
              <a:t>2</a:t>
            </a:r>
            <a:r>
              <a:rPr kumimoji="1" lang="zh-CN" altLang="en-US" sz="1600" b="1" dirty="0">
                <a:solidFill>
                  <a:schemeClr val="accent2"/>
                </a:solidFill>
                <a:latin typeface="Times New Roman" panose="02020603050405020304" pitchFamily="18" charset="0"/>
                <a:ea typeface="华文楷体" panose="02010600040101010101" pitchFamily="2" charset="-122"/>
              </a:rPr>
              <a:t>、</a:t>
            </a:r>
            <a:r>
              <a:rPr kumimoji="1" lang="en-US" altLang="zh-CN" sz="1600" b="1" dirty="0">
                <a:solidFill>
                  <a:schemeClr val="accent2"/>
                </a:solidFill>
                <a:latin typeface="Times New Roman" panose="02020603050405020304" pitchFamily="18" charset="0"/>
                <a:ea typeface="华文楷体" panose="02010600040101010101" pitchFamily="2" charset="-122"/>
              </a:rPr>
              <a:t>12</a:t>
            </a:r>
            <a:r>
              <a:rPr kumimoji="1" lang="zh-CN" altLang="en-US" sz="1600" b="1" dirty="0">
                <a:solidFill>
                  <a:schemeClr val="accent2"/>
                </a:solidFill>
                <a:latin typeface="Times New Roman" panose="02020603050405020304" pitchFamily="18" charset="0"/>
                <a:ea typeface="华文楷体" panose="02010600040101010101" pitchFamily="2" charset="-122"/>
              </a:rPr>
              <a:t>、</a:t>
            </a:r>
            <a:r>
              <a:rPr kumimoji="1" lang="en-US" altLang="zh-CN" sz="1600" b="1" dirty="0">
                <a:solidFill>
                  <a:schemeClr val="accent2"/>
                </a:solidFill>
                <a:latin typeface="Times New Roman" panose="02020603050405020304" pitchFamily="18" charset="0"/>
                <a:ea typeface="华文楷体" panose="02010600040101010101" pitchFamily="2" charset="-122"/>
              </a:rPr>
              <a:t>11</a:t>
            </a:r>
            <a:r>
              <a:rPr kumimoji="1" lang="zh-CN" altLang="en-US" sz="1600" b="1" dirty="0">
                <a:solidFill>
                  <a:schemeClr val="accent2"/>
                </a:solidFill>
                <a:latin typeface="Times New Roman" panose="02020603050405020304" pitchFamily="18" charset="0"/>
                <a:ea typeface="华文楷体" panose="02010600040101010101" pitchFamily="2" charset="-122"/>
              </a:rPr>
              <a:t>，则先访问结点 </a:t>
            </a:r>
            <a:r>
              <a:rPr kumimoji="1" lang="en-US" altLang="zh-CN" sz="1600" b="1" dirty="0">
                <a:solidFill>
                  <a:schemeClr val="accent2"/>
                </a:solidFill>
                <a:latin typeface="Times New Roman" panose="02020603050405020304" pitchFamily="18" charset="0"/>
                <a:ea typeface="华文楷体" panose="02010600040101010101" pitchFamily="2" charset="-122"/>
              </a:rPr>
              <a:t>2</a:t>
            </a:r>
            <a:r>
              <a:rPr kumimoji="1" lang="zh-CN" altLang="en-US" sz="1600" b="1" dirty="0">
                <a:solidFill>
                  <a:schemeClr val="accent2"/>
                </a:solidFill>
                <a:latin typeface="Times New Roman" panose="02020603050405020304" pitchFamily="18" charset="0"/>
                <a:ea typeface="华文楷体" panose="02010600040101010101" pitchFamily="2" charset="-122"/>
              </a:rPr>
              <a:t>、</a:t>
            </a:r>
            <a:r>
              <a:rPr kumimoji="1" lang="en-US" altLang="zh-CN" sz="1600" b="1" dirty="0">
                <a:solidFill>
                  <a:schemeClr val="accent2"/>
                </a:solidFill>
                <a:latin typeface="Times New Roman" panose="02020603050405020304" pitchFamily="18" charset="0"/>
                <a:ea typeface="华文楷体" panose="02010600040101010101" pitchFamily="2" charset="-122"/>
              </a:rPr>
              <a:t>11</a:t>
            </a:r>
            <a:r>
              <a:rPr kumimoji="1" lang="zh-CN" altLang="en-US" sz="1600" b="1" dirty="0">
                <a:solidFill>
                  <a:schemeClr val="accent2"/>
                </a:solidFill>
                <a:latin typeface="Times New Roman" panose="02020603050405020304" pitchFamily="18" charset="0"/>
                <a:ea typeface="华文楷体" panose="02010600040101010101" pitchFamily="2" charset="-122"/>
              </a:rPr>
              <a:t>，再访问结点 </a:t>
            </a:r>
            <a:r>
              <a:rPr kumimoji="1" lang="en-US" altLang="zh-CN" sz="1600" b="1" dirty="0">
                <a:solidFill>
                  <a:schemeClr val="accent2"/>
                </a:solidFill>
                <a:latin typeface="Times New Roman" panose="02020603050405020304" pitchFamily="18" charset="0"/>
                <a:ea typeface="华文楷体" panose="02010600040101010101" pitchFamily="2" charset="-122"/>
              </a:rPr>
              <a:t>12</a:t>
            </a:r>
            <a:r>
              <a:rPr kumimoji="1" lang="zh-CN" altLang="en-US" sz="1600" b="1" dirty="0">
                <a:solidFill>
                  <a:schemeClr val="accent2"/>
                </a:solidFill>
                <a:latin typeface="Times New Roman" panose="02020603050405020304" pitchFamily="18" charset="0"/>
                <a:ea typeface="华文楷体" panose="02010600040101010101" pitchFamily="2" charset="-122"/>
              </a:rPr>
              <a:t>。</a:t>
            </a:r>
            <a:endParaRPr kumimoji="1" lang="zh-CN" altLang="en-US" sz="1600" b="1" dirty="0">
              <a:solidFill>
                <a:schemeClr val="accent2"/>
              </a:solidFill>
              <a:latin typeface="Times New Roman" panose="02020603050405020304" pitchFamily="18" charset="0"/>
              <a:ea typeface="华文楷体" panose="02010600040101010101" pitchFamily="2" charset="-122"/>
            </a:endParaRPr>
          </a:p>
        </p:txBody>
      </p:sp>
      <p:sp>
        <p:nvSpPr>
          <p:cNvPr id="34822" name="Text Box 4"/>
          <p:cNvSpPr txBox="1">
            <a:spLocks noChangeArrowheads="1"/>
          </p:cNvSpPr>
          <p:nvPr/>
        </p:nvSpPr>
        <p:spPr bwMode="auto">
          <a:xfrm>
            <a:off x="4343400" y="5105400"/>
            <a:ext cx="48006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图的广度优先的访问次序：</a:t>
            </a:r>
            <a:endParaRPr kumimoji="1" lang="zh-CN" altLang="en-US"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    </a:t>
            </a:r>
            <a:r>
              <a:rPr kumimoji="1" lang="en-US" altLang="zh-CN" sz="1600" b="1" dirty="0">
                <a:latin typeface="Times New Roman" panose="02020603050405020304" pitchFamily="18" charset="0"/>
                <a:ea typeface="华文楷体" panose="02010600040101010101" pitchFamily="2" charset="-122"/>
              </a:rPr>
              <a:t>1</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2</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11</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12</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3</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6</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7</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10</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4</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5</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8</a:t>
            </a:r>
            <a:r>
              <a:rPr kumimoji="1" lang="zh-CN" altLang="en-US" sz="1600" b="1" dirty="0">
                <a:latin typeface="Times New Roman" panose="02020603050405020304" pitchFamily="18" charset="0"/>
                <a:ea typeface="华文楷体" panose="02010600040101010101" pitchFamily="2" charset="-122"/>
              </a:rPr>
              <a:t>、</a:t>
            </a:r>
            <a:r>
              <a:rPr kumimoji="1" lang="en-US" altLang="zh-CN" sz="1600" b="1" dirty="0">
                <a:latin typeface="Times New Roman" panose="02020603050405020304" pitchFamily="18" charset="0"/>
                <a:ea typeface="华文楷体" panose="02010600040101010101" pitchFamily="2" charset="-122"/>
              </a:rPr>
              <a:t>9</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适用的数据结构：队列</a:t>
            </a:r>
            <a:endParaRPr kumimoji="1" lang="zh-CN" altLang="en-US" sz="1600" b="1" dirty="0">
              <a:latin typeface="Times New Roman" panose="02020603050405020304" pitchFamily="18" charset="0"/>
              <a:ea typeface="华文楷体" panose="02010600040101010101" pitchFamily="2" charset="-122"/>
            </a:endParaRPr>
          </a:p>
        </p:txBody>
      </p:sp>
      <p:sp>
        <p:nvSpPr>
          <p:cNvPr id="34823" name="Oval 5"/>
          <p:cNvSpPr>
            <a:spLocks noChangeArrowheads="1"/>
          </p:cNvSpPr>
          <p:nvPr/>
        </p:nvSpPr>
        <p:spPr bwMode="auto">
          <a:xfrm>
            <a:off x="1371600" y="236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34824" name="Oval 6"/>
          <p:cNvSpPr>
            <a:spLocks noChangeArrowheads="1"/>
          </p:cNvSpPr>
          <p:nvPr/>
        </p:nvSpPr>
        <p:spPr bwMode="auto">
          <a:xfrm>
            <a:off x="762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34825" name="Oval 7"/>
          <p:cNvSpPr>
            <a:spLocks noChangeArrowheads="1"/>
          </p:cNvSpPr>
          <p:nvPr/>
        </p:nvSpPr>
        <p:spPr bwMode="auto">
          <a:xfrm>
            <a:off x="1371600" y="3048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a:t>
            </a:r>
            <a:endParaRPr kumimoji="1" lang="en-US" altLang="zh-CN" sz="1600" b="1" u="sng" dirty="0">
              <a:latin typeface="Times New Roman" panose="02020603050405020304" pitchFamily="18" charset="0"/>
              <a:ea typeface="华文楷体" panose="02010600040101010101" pitchFamily="2" charset="-122"/>
            </a:endParaRPr>
          </a:p>
        </p:txBody>
      </p:sp>
      <p:sp>
        <p:nvSpPr>
          <p:cNvPr id="34826" name="Oval 8"/>
          <p:cNvSpPr>
            <a:spLocks noChangeArrowheads="1"/>
          </p:cNvSpPr>
          <p:nvPr/>
        </p:nvSpPr>
        <p:spPr bwMode="auto">
          <a:xfrm>
            <a:off x="2819400" y="3048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11</a:t>
            </a:r>
            <a:endParaRPr kumimoji="1" lang="en-US" altLang="zh-CN" sz="1600" b="1" u="sng" dirty="0">
              <a:latin typeface="Times New Roman" panose="02020603050405020304" pitchFamily="18" charset="0"/>
              <a:ea typeface="华文楷体" panose="02010600040101010101" pitchFamily="2" charset="-122"/>
            </a:endParaRPr>
          </a:p>
        </p:txBody>
      </p:sp>
      <p:sp>
        <p:nvSpPr>
          <p:cNvPr id="34827" name="Line 9"/>
          <p:cNvSpPr>
            <a:spLocks noChangeShapeType="1"/>
          </p:cNvSpPr>
          <p:nvPr/>
        </p:nvSpPr>
        <p:spPr bwMode="auto">
          <a:xfrm flipV="1">
            <a:off x="1600200" y="2743200"/>
            <a:ext cx="0" cy="3048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28" name="Line 10"/>
          <p:cNvSpPr>
            <a:spLocks noChangeShapeType="1"/>
          </p:cNvSpPr>
          <p:nvPr/>
        </p:nvSpPr>
        <p:spPr bwMode="auto">
          <a:xfrm>
            <a:off x="1828800" y="2667000"/>
            <a:ext cx="10668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29" name="Line 11"/>
          <p:cNvSpPr>
            <a:spLocks noChangeShapeType="1"/>
          </p:cNvSpPr>
          <p:nvPr/>
        </p:nvSpPr>
        <p:spPr bwMode="auto">
          <a:xfrm flipH="1">
            <a:off x="457200" y="2667000"/>
            <a:ext cx="9144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0" name="Oval 12"/>
          <p:cNvSpPr>
            <a:spLocks noChangeArrowheads="1"/>
          </p:cNvSpPr>
          <p:nvPr/>
        </p:nvSpPr>
        <p:spPr bwMode="auto">
          <a:xfrm>
            <a:off x="762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34831" name="Line 13"/>
          <p:cNvSpPr>
            <a:spLocks noChangeShapeType="1"/>
          </p:cNvSpPr>
          <p:nvPr/>
        </p:nvSpPr>
        <p:spPr bwMode="auto">
          <a:xfrm flipH="1" flipV="1">
            <a:off x="304800" y="3505200"/>
            <a:ext cx="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2" name="Oval 14"/>
          <p:cNvSpPr>
            <a:spLocks noChangeArrowheads="1"/>
          </p:cNvSpPr>
          <p:nvPr/>
        </p:nvSpPr>
        <p:spPr bwMode="auto">
          <a:xfrm>
            <a:off x="9906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34833" name="Oval 15"/>
          <p:cNvSpPr>
            <a:spLocks noChangeArrowheads="1"/>
          </p:cNvSpPr>
          <p:nvPr/>
        </p:nvSpPr>
        <p:spPr bwMode="auto">
          <a:xfrm>
            <a:off x="20574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34834" name="Oval 16"/>
          <p:cNvSpPr>
            <a:spLocks noChangeArrowheads="1"/>
          </p:cNvSpPr>
          <p:nvPr/>
        </p:nvSpPr>
        <p:spPr bwMode="auto">
          <a:xfrm>
            <a:off x="28956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10</a:t>
            </a:r>
            <a:endParaRPr kumimoji="1" lang="en-US" altLang="zh-CN" sz="1600" b="1" u="sng" dirty="0">
              <a:latin typeface="Times New Roman" panose="02020603050405020304" pitchFamily="18" charset="0"/>
              <a:ea typeface="华文楷体" panose="02010600040101010101" pitchFamily="2" charset="-122"/>
            </a:endParaRPr>
          </a:p>
        </p:txBody>
      </p:sp>
      <p:sp>
        <p:nvSpPr>
          <p:cNvPr id="34835" name="Line 17"/>
          <p:cNvSpPr>
            <a:spLocks noChangeShapeType="1"/>
          </p:cNvSpPr>
          <p:nvPr/>
        </p:nvSpPr>
        <p:spPr bwMode="auto">
          <a:xfrm flipH="1" flipV="1">
            <a:off x="3124200" y="3429000"/>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6" name="Line 18"/>
          <p:cNvSpPr>
            <a:spLocks noChangeShapeType="1"/>
          </p:cNvSpPr>
          <p:nvPr/>
        </p:nvSpPr>
        <p:spPr bwMode="auto">
          <a:xfrm>
            <a:off x="457200" y="3429000"/>
            <a:ext cx="6096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7" name="Oval 19"/>
          <p:cNvSpPr>
            <a:spLocks noChangeArrowheads="1"/>
          </p:cNvSpPr>
          <p:nvPr/>
        </p:nvSpPr>
        <p:spPr bwMode="auto">
          <a:xfrm>
            <a:off x="762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34838" name="Line 20"/>
          <p:cNvSpPr>
            <a:spLocks noChangeShapeType="1"/>
          </p:cNvSpPr>
          <p:nvPr/>
        </p:nvSpPr>
        <p:spPr bwMode="auto">
          <a:xfrm flipH="1" flipV="1">
            <a:off x="304800" y="4267200"/>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9" name="Oval 21"/>
          <p:cNvSpPr>
            <a:spLocks noChangeArrowheads="1"/>
          </p:cNvSpPr>
          <p:nvPr/>
        </p:nvSpPr>
        <p:spPr bwMode="auto">
          <a:xfrm>
            <a:off x="9906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34840" name="Oval 22"/>
          <p:cNvSpPr>
            <a:spLocks noChangeArrowheads="1"/>
          </p:cNvSpPr>
          <p:nvPr/>
        </p:nvSpPr>
        <p:spPr bwMode="auto">
          <a:xfrm>
            <a:off x="19812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8</a:t>
            </a:r>
            <a:endParaRPr kumimoji="1" lang="en-US" altLang="zh-CN" sz="1600" b="1" u="sng" dirty="0">
              <a:latin typeface="Times New Roman" panose="02020603050405020304" pitchFamily="18" charset="0"/>
              <a:ea typeface="华文楷体" panose="02010600040101010101" pitchFamily="2" charset="-122"/>
            </a:endParaRPr>
          </a:p>
        </p:txBody>
      </p:sp>
      <p:sp>
        <p:nvSpPr>
          <p:cNvPr id="34841" name="Oval 23"/>
          <p:cNvSpPr>
            <a:spLocks noChangeArrowheads="1"/>
          </p:cNvSpPr>
          <p:nvPr/>
        </p:nvSpPr>
        <p:spPr bwMode="auto">
          <a:xfrm>
            <a:off x="28956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a:t>
            </a:r>
            <a:endParaRPr kumimoji="1" lang="en-US" altLang="zh-CN" sz="1600" b="1" u="sng" dirty="0">
              <a:latin typeface="Times New Roman" panose="02020603050405020304" pitchFamily="18" charset="0"/>
              <a:ea typeface="华文楷体" panose="02010600040101010101" pitchFamily="2" charset="-122"/>
            </a:endParaRPr>
          </a:p>
        </p:txBody>
      </p:sp>
      <p:sp>
        <p:nvSpPr>
          <p:cNvPr id="34842" name="Line 24"/>
          <p:cNvSpPr>
            <a:spLocks noChangeShapeType="1"/>
          </p:cNvSpPr>
          <p:nvPr/>
        </p:nvSpPr>
        <p:spPr bwMode="auto">
          <a:xfrm flipH="1" flipV="1">
            <a:off x="1219200" y="4267200"/>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3" name="Line 25"/>
          <p:cNvSpPr>
            <a:spLocks noChangeShapeType="1"/>
          </p:cNvSpPr>
          <p:nvPr/>
        </p:nvSpPr>
        <p:spPr bwMode="auto">
          <a:xfrm>
            <a:off x="533400" y="3276600"/>
            <a:ext cx="8382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4" name="Line 26"/>
          <p:cNvSpPr>
            <a:spLocks noChangeShapeType="1"/>
          </p:cNvSpPr>
          <p:nvPr/>
        </p:nvSpPr>
        <p:spPr bwMode="auto">
          <a:xfrm>
            <a:off x="1828800" y="3276600"/>
            <a:ext cx="9906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5" name="Line 27"/>
          <p:cNvSpPr>
            <a:spLocks noChangeShapeType="1"/>
          </p:cNvSpPr>
          <p:nvPr/>
        </p:nvSpPr>
        <p:spPr bwMode="auto">
          <a:xfrm flipH="1">
            <a:off x="2362200" y="3352800"/>
            <a:ext cx="5334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6" name="Line 28"/>
          <p:cNvSpPr>
            <a:spLocks noChangeShapeType="1"/>
          </p:cNvSpPr>
          <p:nvPr/>
        </p:nvSpPr>
        <p:spPr bwMode="auto">
          <a:xfrm flipH="1" flipV="1">
            <a:off x="533400" y="4114800"/>
            <a:ext cx="4572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7" name="Line 29"/>
          <p:cNvSpPr>
            <a:spLocks noChangeShapeType="1"/>
          </p:cNvSpPr>
          <p:nvPr/>
        </p:nvSpPr>
        <p:spPr bwMode="auto">
          <a:xfrm flipH="1" flipV="1">
            <a:off x="533400" y="4876800"/>
            <a:ext cx="4572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8" name="Line 30"/>
          <p:cNvSpPr>
            <a:spLocks noChangeShapeType="1"/>
          </p:cNvSpPr>
          <p:nvPr/>
        </p:nvSpPr>
        <p:spPr bwMode="auto">
          <a:xfrm flipH="1" flipV="1">
            <a:off x="2438400" y="4876800"/>
            <a:ext cx="4572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9" name="Line 31"/>
          <p:cNvSpPr>
            <a:spLocks noChangeShapeType="1"/>
          </p:cNvSpPr>
          <p:nvPr/>
        </p:nvSpPr>
        <p:spPr bwMode="auto">
          <a:xfrm flipH="1" flipV="1">
            <a:off x="2514600" y="4114800"/>
            <a:ext cx="3810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50" name="Line 32"/>
          <p:cNvSpPr>
            <a:spLocks noChangeShapeType="1"/>
          </p:cNvSpPr>
          <p:nvPr/>
        </p:nvSpPr>
        <p:spPr bwMode="auto">
          <a:xfrm flipH="1" flipV="1">
            <a:off x="1447800" y="4876800"/>
            <a:ext cx="533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51" name="Line 33"/>
          <p:cNvSpPr>
            <a:spLocks noChangeShapeType="1"/>
          </p:cNvSpPr>
          <p:nvPr/>
        </p:nvSpPr>
        <p:spPr bwMode="auto">
          <a:xfrm flipH="1" flipV="1">
            <a:off x="1447800" y="4114800"/>
            <a:ext cx="6096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52" name="Line 34"/>
          <p:cNvSpPr>
            <a:spLocks noChangeShapeType="1"/>
          </p:cNvSpPr>
          <p:nvPr/>
        </p:nvSpPr>
        <p:spPr bwMode="auto">
          <a:xfrm flipH="1" flipV="1">
            <a:off x="2209800" y="4267200"/>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53" name="Line 35"/>
          <p:cNvSpPr>
            <a:spLocks noChangeShapeType="1"/>
          </p:cNvSpPr>
          <p:nvPr/>
        </p:nvSpPr>
        <p:spPr bwMode="auto">
          <a:xfrm flipH="1" flipV="1">
            <a:off x="3124200" y="4267200"/>
            <a:ext cx="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44" name="Oval 36"/>
          <p:cNvSpPr>
            <a:spLocks noChangeArrowheads="1"/>
          </p:cNvSpPr>
          <p:nvPr/>
        </p:nvSpPr>
        <p:spPr bwMode="auto">
          <a:xfrm>
            <a:off x="6096000" y="236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5" name="Oval 37"/>
          <p:cNvSpPr>
            <a:spLocks noChangeArrowheads="1"/>
          </p:cNvSpPr>
          <p:nvPr/>
        </p:nvSpPr>
        <p:spPr bwMode="auto">
          <a:xfrm>
            <a:off x="48006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6" name="Oval 38"/>
          <p:cNvSpPr>
            <a:spLocks noChangeArrowheads="1"/>
          </p:cNvSpPr>
          <p:nvPr/>
        </p:nvSpPr>
        <p:spPr bwMode="auto">
          <a:xfrm>
            <a:off x="74676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7" name="Oval 39"/>
          <p:cNvSpPr>
            <a:spLocks noChangeArrowheads="1"/>
          </p:cNvSpPr>
          <p:nvPr/>
        </p:nvSpPr>
        <p:spPr bwMode="auto">
          <a:xfrm>
            <a:off x="6172200" y="3048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11</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8" name="Line 40"/>
          <p:cNvSpPr>
            <a:spLocks noChangeShapeType="1"/>
          </p:cNvSpPr>
          <p:nvPr/>
        </p:nvSpPr>
        <p:spPr bwMode="auto">
          <a:xfrm flipV="1">
            <a:off x="6400800" y="2743200"/>
            <a:ext cx="0" cy="3048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49" name="Line 41"/>
          <p:cNvSpPr>
            <a:spLocks noChangeShapeType="1"/>
          </p:cNvSpPr>
          <p:nvPr/>
        </p:nvSpPr>
        <p:spPr bwMode="auto">
          <a:xfrm>
            <a:off x="6553200" y="2667000"/>
            <a:ext cx="10668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50" name="Line 42"/>
          <p:cNvSpPr>
            <a:spLocks noChangeShapeType="1"/>
          </p:cNvSpPr>
          <p:nvPr/>
        </p:nvSpPr>
        <p:spPr bwMode="auto">
          <a:xfrm flipH="1">
            <a:off x="5181600" y="2667000"/>
            <a:ext cx="914400" cy="533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51" name="Oval 43"/>
          <p:cNvSpPr>
            <a:spLocks noChangeArrowheads="1"/>
          </p:cNvSpPr>
          <p:nvPr/>
        </p:nvSpPr>
        <p:spPr bwMode="auto">
          <a:xfrm>
            <a:off x="44958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43052" name="Line 44"/>
          <p:cNvSpPr>
            <a:spLocks noChangeShapeType="1"/>
          </p:cNvSpPr>
          <p:nvPr/>
        </p:nvSpPr>
        <p:spPr bwMode="auto">
          <a:xfrm flipV="1">
            <a:off x="4800600" y="3505200"/>
            <a:ext cx="15240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53" name="Oval 45"/>
          <p:cNvSpPr>
            <a:spLocks noChangeArrowheads="1"/>
          </p:cNvSpPr>
          <p:nvPr/>
        </p:nvSpPr>
        <p:spPr bwMode="auto">
          <a:xfrm>
            <a:off x="51054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43054" name="Oval 46"/>
          <p:cNvSpPr>
            <a:spLocks noChangeArrowheads="1"/>
          </p:cNvSpPr>
          <p:nvPr/>
        </p:nvSpPr>
        <p:spPr bwMode="auto">
          <a:xfrm>
            <a:off x="57912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43055" name="Oval 47"/>
          <p:cNvSpPr>
            <a:spLocks noChangeArrowheads="1"/>
          </p:cNvSpPr>
          <p:nvPr/>
        </p:nvSpPr>
        <p:spPr bwMode="auto">
          <a:xfrm>
            <a:off x="6629400" y="3886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10</a:t>
            </a:r>
            <a:endParaRPr kumimoji="1" lang="en-US" altLang="zh-CN" sz="1600" b="1" u="sng" dirty="0">
              <a:latin typeface="Times New Roman" panose="02020603050405020304" pitchFamily="18" charset="0"/>
              <a:ea typeface="华文楷体" panose="02010600040101010101" pitchFamily="2" charset="-122"/>
            </a:endParaRPr>
          </a:p>
        </p:txBody>
      </p:sp>
      <p:sp>
        <p:nvSpPr>
          <p:cNvPr id="43056" name="Line 48"/>
          <p:cNvSpPr>
            <a:spLocks noChangeShapeType="1"/>
          </p:cNvSpPr>
          <p:nvPr/>
        </p:nvSpPr>
        <p:spPr bwMode="auto">
          <a:xfrm flipH="1" flipV="1">
            <a:off x="6477000" y="3429000"/>
            <a:ext cx="3048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57" name="Line 49"/>
          <p:cNvSpPr>
            <a:spLocks noChangeShapeType="1"/>
          </p:cNvSpPr>
          <p:nvPr/>
        </p:nvSpPr>
        <p:spPr bwMode="auto">
          <a:xfrm>
            <a:off x="5105400" y="3505200"/>
            <a:ext cx="228600" cy="3810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58" name="Oval 50"/>
          <p:cNvSpPr>
            <a:spLocks noChangeArrowheads="1"/>
          </p:cNvSpPr>
          <p:nvPr/>
        </p:nvSpPr>
        <p:spPr bwMode="auto">
          <a:xfrm>
            <a:off x="42672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43059" name="Oval 51"/>
          <p:cNvSpPr>
            <a:spLocks noChangeArrowheads="1"/>
          </p:cNvSpPr>
          <p:nvPr/>
        </p:nvSpPr>
        <p:spPr bwMode="auto">
          <a:xfrm>
            <a:off x="48768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43060" name="Oval 52"/>
          <p:cNvSpPr>
            <a:spLocks noChangeArrowheads="1"/>
          </p:cNvSpPr>
          <p:nvPr/>
        </p:nvSpPr>
        <p:spPr bwMode="auto">
          <a:xfrm>
            <a:off x="54102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8</a:t>
            </a:r>
            <a:endParaRPr kumimoji="1" lang="en-US" altLang="zh-CN" sz="1600" b="1" u="sng" dirty="0">
              <a:latin typeface="Times New Roman" panose="02020603050405020304" pitchFamily="18" charset="0"/>
              <a:ea typeface="华文楷体" panose="02010600040101010101" pitchFamily="2" charset="-122"/>
            </a:endParaRPr>
          </a:p>
        </p:txBody>
      </p:sp>
      <p:sp>
        <p:nvSpPr>
          <p:cNvPr id="43061" name="Oval 53"/>
          <p:cNvSpPr>
            <a:spLocks noChangeArrowheads="1"/>
          </p:cNvSpPr>
          <p:nvPr/>
        </p:nvSpPr>
        <p:spPr bwMode="auto">
          <a:xfrm>
            <a:off x="6248400" y="4724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a:t>
            </a:r>
            <a:endParaRPr kumimoji="1" lang="en-US" altLang="zh-CN" sz="1600" b="1" u="sng" dirty="0">
              <a:latin typeface="Times New Roman" panose="02020603050405020304" pitchFamily="18" charset="0"/>
              <a:ea typeface="华文楷体" panose="02010600040101010101" pitchFamily="2" charset="-122"/>
            </a:endParaRPr>
          </a:p>
        </p:txBody>
      </p:sp>
      <p:sp>
        <p:nvSpPr>
          <p:cNvPr id="43062" name="Line 54"/>
          <p:cNvSpPr>
            <a:spLocks noChangeShapeType="1"/>
          </p:cNvSpPr>
          <p:nvPr/>
        </p:nvSpPr>
        <p:spPr bwMode="auto">
          <a:xfrm flipV="1">
            <a:off x="5105400" y="4267200"/>
            <a:ext cx="1524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63" name="Line 55"/>
          <p:cNvSpPr>
            <a:spLocks noChangeShapeType="1"/>
          </p:cNvSpPr>
          <p:nvPr/>
        </p:nvSpPr>
        <p:spPr bwMode="auto">
          <a:xfrm flipH="1">
            <a:off x="6096000" y="3429000"/>
            <a:ext cx="2286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64" name="Line 56"/>
          <p:cNvSpPr>
            <a:spLocks noChangeShapeType="1"/>
          </p:cNvSpPr>
          <p:nvPr/>
        </p:nvSpPr>
        <p:spPr bwMode="auto">
          <a:xfrm flipV="1">
            <a:off x="5715000" y="4267200"/>
            <a:ext cx="2286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65" name="Line 57"/>
          <p:cNvSpPr>
            <a:spLocks noChangeShapeType="1"/>
          </p:cNvSpPr>
          <p:nvPr/>
        </p:nvSpPr>
        <p:spPr bwMode="auto">
          <a:xfrm flipV="1">
            <a:off x="6553200" y="4267200"/>
            <a:ext cx="2286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66" name="Line 58"/>
          <p:cNvSpPr>
            <a:spLocks noChangeShapeType="1"/>
          </p:cNvSpPr>
          <p:nvPr/>
        </p:nvSpPr>
        <p:spPr bwMode="auto">
          <a:xfrm flipV="1">
            <a:off x="4495800" y="4267200"/>
            <a:ext cx="152400" cy="4572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67" name="Text Box 59"/>
          <p:cNvSpPr txBox="1">
            <a:spLocks noChangeArrowheads="1"/>
          </p:cNvSpPr>
          <p:nvPr/>
        </p:nvSpPr>
        <p:spPr bwMode="auto">
          <a:xfrm>
            <a:off x="6019800" y="2286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68" name="Text Box 60"/>
          <p:cNvSpPr txBox="1">
            <a:spLocks noChangeArrowheads="1"/>
          </p:cNvSpPr>
          <p:nvPr/>
        </p:nvSpPr>
        <p:spPr bwMode="auto">
          <a:xfrm>
            <a:off x="4724400" y="3048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69" name="Text Box 61"/>
          <p:cNvSpPr txBox="1">
            <a:spLocks noChangeArrowheads="1"/>
          </p:cNvSpPr>
          <p:nvPr/>
        </p:nvSpPr>
        <p:spPr bwMode="auto">
          <a:xfrm>
            <a:off x="4419600" y="38862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0" name="Text Box 62"/>
          <p:cNvSpPr txBox="1">
            <a:spLocks noChangeArrowheads="1"/>
          </p:cNvSpPr>
          <p:nvPr/>
        </p:nvSpPr>
        <p:spPr bwMode="auto">
          <a:xfrm>
            <a:off x="4191000" y="47244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1" name="Text Box 63"/>
          <p:cNvSpPr txBox="1">
            <a:spLocks noChangeArrowheads="1"/>
          </p:cNvSpPr>
          <p:nvPr/>
        </p:nvSpPr>
        <p:spPr bwMode="auto">
          <a:xfrm>
            <a:off x="5029200" y="3810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2" name="Text Box 64"/>
          <p:cNvSpPr txBox="1">
            <a:spLocks noChangeArrowheads="1"/>
          </p:cNvSpPr>
          <p:nvPr/>
        </p:nvSpPr>
        <p:spPr bwMode="auto">
          <a:xfrm>
            <a:off x="4800600" y="47244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3" name="Text Box 65"/>
          <p:cNvSpPr txBox="1">
            <a:spLocks noChangeArrowheads="1"/>
          </p:cNvSpPr>
          <p:nvPr/>
        </p:nvSpPr>
        <p:spPr bwMode="auto">
          <a:xfrm>
            <a:off x="6096000" y="3048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4" name="Text Box 66"/>
          <p:cNvSpPr txBox="1">
            <a:spLocks noChangeArrowheads="1"/>
          </p:cNvSpPr>
          <p:nvPr/>
        </p:nvSpPr>
        <p:spPr bwMode="auto">
          <a:xfrm>
            <a:off x="7391400" y="31242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5" name="Text Box 67"/>
          <p:cNvSpPr txBox="1">
            <a:spLocks noChangeArrowheads="1"/>
          </p:cNvSpPr>
          <p:nvPr/>
        </p:nvSpPr>
        <p:spPr bwMode="auto">
          <a:xfrm>
            <a:off x="5715000" y="3810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6" name="Text Box 68"/>
          <p:cNvSpPr txBox="1">
            <a:spLocks noChangeArrowheads="1"/>
          </p:cNvSpPr>
          <p:nvPr/>
        </p:nvSpPr>
        <p:spPr bwMode="auto">
          <a:xfrm>
            <a:off x="6553200" y="38100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7" name="Text Box 69"/>
          <p:cNvSpPr txBox="1">
            <a:spLocks noChangeArrowheads="1"/>
          </p:cNvSpPr>
          <p:nvPr/>
        </p:nvSpPr>
        <p:spPr bwMode="auto">
          <a:xfrm>
            <a:off x="5334000" y="47244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sp>
        <p:nvSpPr>
          <p:cNvPr id="43078" name="Text Box 70"/>
          <p:cNvSpPr txBox="1">
            <a:spLocks noChangeArrowheads="1"/>
          </p:cNvSpPr>
          <p:nvPr/>
        </p:nvSpPr>
        <p:spPr bwMode="auto">
          <a:xfrm>
            <a:off x="6172200" y="4648200"/>
            <a:ext cx="381000"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2000" b="1" dirty="0">
                <a:solidFill>
                  <a:schemeClr val="accent1"/>
                </a:solidFill>
                <a:latin typeface="Times New Roman" panose="02020603050405020304" pitchFamily="18" charset="0"/>
                <a:ea typeface="华文楷体" panose="02010600040101010101" pitchFamily="2" charset="-122"/>
              </a:rPr>
              <a:t>·</a:t>
            </a:r>
            <a:endParaRPr kumimoji="1" lang="en-US" altLang="zh-CN" sz="800" b="1"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a:off x="3733800" y="2026036"/>
            <a:ext cx="0" cy="4783137"/>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00207" y="2291072"/>
            <a:ext cx="1800493" cy="369332"/>
          </a:xfrm>
          <a:prstGeom prst="rect">
            <a:avLst/>
          </a:prstGeom>
          <a:noFill/>
          <a:ln>
            <a:solidFill>
              <a:schemeClr val="accent1"/>
            </a:solidFill>
          </a:ln>
        </p:spPr>
        <p:txBody>
          <a:bodyPr wrap="none" rtlCol="0">
            <a:spAutoFit/>
          </a:bodyPr>
          <a:lstStyle/>
          <a:p>
            <a:r>
              <a:rPr lang="zh-CN" altLang="en-US" b="1" dirty="0" smtClean="0">
                <a:solidFill>
                  <a:srgbClr val="C00000"/>
                </a:solidFill>
                <a:latin typeface="华文楷体" panose="02010600040101010101" pitchFamily="2" charset="-122"/>
                <a:ea typeface="华文楷体" panose="02010600040101010101" pitchFamily="2" charset="-122"/>
              </a:rPr>
              <a:t>广度优先生成树</a:t>
            </a:r>
            <a:endParaRPr lang="zh-CN" altLang="en-US" b="1"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44"/>
                                        </p:tgtEl>
                                        <p:attrNameLst>
                                          <p:attrName>style.visibility</p:attrName>
                                        </p:attrNameLst>
                                      </p:cBhvr>
                                      <p:to>
                                        <p:strVal val="visible"/>
                                      </p:to>
                                    </p:set>
                                    <p:anim calcmode="lin" valueType="num">
                                      <p:cBhvr additive="base">
                                        <p:cTn id="7" dur="500" fill="hold"/>
                                        <p:tgtEl>
                                          <p:spTgt spid="43044"/>
                                        </p:tgtEl>
                                        <p:attrNameLst>
                                          <p:attrName>ppt_x</p:attrName>
                                        </p:attrNameLst>
                                      </p:cBhvr>
                                      <p:tavLst>
                                        <p:tav tm="0">
                                          <p:val>
                                            <p:strVal val="0-#ppt_w/2"/>
                                          </p:val>
                                        </p:tav>
                                        <p:tav tm="100000">
                                          <p:val>
                                            <p:strVal val="#ppt_x"/>
                                          </p:val>
                                        </p:tav>
                                      </p:tavLst>
                                    </p:anim>
                                    <p:anim calcmode="lin" valueType="num">
                                      <p:cBhvr additive="base">
                                        <p:cTn id="8" dur="500" fill="hold"/>
                                        <p:tgtEl>
                                          <p:spTgt spid="430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67">
                                            <p:txEl>
                                              <p:pRg st="0" end="0"/>
                                            </p:txEl>
                                          </p:spTgt>
                                        </p:tgtEl>
                                        <p:attrNameLst>
                                          <p:attrName>style.visibility</p:attrName>
                                        </p:attrNameLst>
                                      </p:cBhvr>
                                      <p:to>
                                        <p:strVal val="visible"/>
                                      </p:to>
                                    </p:set>
                                    <p:anim calcmode="lin" valueType="num">
                                      <p:cBhvr additive="base">
                                        <p:cTn id="13" dur="500" fill="hold"/>
                                        <p:tgtEl>
                                          <p:spTgt spid="4306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0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43050"/>
                                        </p:tgtEl>
                                        <p:attrNameLst>
                                          <p:attrName>style.visibility</p:attrName>
                                        </p:attrNameLst>
                                      </p:cBhvr>
                                      <p:to>
                                        <p:strVal val="visible"/>
                                      </p:to>
                                    </p:set>
                                    <p:animEffect transition="in" filter="box(out)">
                                      <p:cBhvr>
                                        <p:cTn id="19" dur="500"/>
                                        <p:tgtEl>
                                          <p:spTgt spid="43050"/>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3045"/>
                                        </p:tgtEl>
                                        <p:attrNameLst>
                                          <p:attrName>style.visibility</p:attrName>
                                        </p:attrNameLst>
                                      </p:cBhvr>
                                      <p:to>
                                        <p:strVal val="visible"/>
                                      </p:to>
                                    </p:set>
                                    <p:anim calcmode="lin" valueType="num">
                                      <p:cBhvr additive="base">
                                        <p:cTn id="24" dur="500" fill="hold"/>
                                        <p:tgtEl>
                                          <p:spTgt spid="43045"/>
                                        </p:tgtEl>
                                        <p:attrNameLst>
                                          <p:attrName>ppt_x</p:attrName>
                                        </p:attrNameLst>
                                      </p:cBhvr>
                                      <p:tavLst>
                                        <p:tav tm="0">
                                          <p:val>
                                            <p:strVal val="0-#ppt_w/2"/>
                                          </p:val>
                                        </p:tav>
                                        <p:tav tm="100000">
                                          <p:val>
                                            <p:strVal val="#ppt_x"/>
                                          </p:val>
                                        </p:tav>
                                      </p:tavLst>
                                    </p:anim>
                                    <p:anim calcmode="lin" valueType="num">
                                      <p:cBhvr additive="base">
                                        <p:cTn id="25" dur="500" fill="hold"/>
                                        <p:tgtEl>
                                          <p:spTgt spid="430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1"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3068">
                                            <p:txEl>
                                              <p:pRg st="0" end="0"/>
                                            </p:txEl>
                                          </p:spTgt>
                                        </p:tgtEl>
                                        <p:attrNameLst>
                                          <p:attrName>style.visibility</p:attrName>
                                        </p:attrNameLst>
                                      </p:cBhvr>
                                      <p:to>
                                        <p:strVal val="visible"/>
                                      </p:to>
                                    </p:set>
                                    <p:anim calcmode="lin" valueType="num">
                                      <p:cBhvr additive="base">
                                        <p:cTn id="30" dur="500" fill="hold"/>
                                        <p:tgtEl>
                                          <p:spTgt spid="43068">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306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1" name="WHOOSH.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43048"/>
                                        </p:tgtEl>
                                        <p:attrNameLst>
                                          <p:attrName>style.visibility</p:attrName>
                                        </p:attrNameLst>
                                      </p:cBhvr>
                                      <p:to>
                                        <p:strVal val="visible"/>
                                      </p:to>
                                    </p:set>
                                    <p:animEffect transition="in" filter="box(out)">
                                      <p:cBhvr>
                                        <p:cTn id="36" dur="500"/>
                                        <p:tgtEl>
                                          <p:spTgt spid="43048"/>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3047"/>
                                        </p:tgtEl>
                                        <p:attrNameLst>
                                          <p:attrName>style.visibility</p:attrName>
                                        </p:attrNameLst>
                                      </p:cBhvr>
                                      <p:to>
                                        <p:strVal val="visible"/>
                                      </p:to>
                                    </p:set>
                                    <p:anim calcmode="lin" valueType="num">
                                      <p:cBhvr additive="base">
                                        <p:cTn id="41" dur="500" fill="hold"/>
                                        <p:tgtEl>
                                          <p:spTgt spid="43047"/>
                                        </p:tgtEl>
                                        <p:attrNameLst>
                                          <p:attrName>ppt_x</p:attrName>
                                        </p:attrNameLst>
                                      </p:cBhvr>
                                      <p:tavLst>
                                        <p:tav tm="0">
                                          <p:val>
                                            <p:strVal val="0-#ppt_w/2"/>
                                          </p:val>
                                        </p:tav>
                                        <p:tav tm="100000">
                                          <p:val>
                                            <p:strVal val="#ppt_x"/>
                                          </p:val>
                                        </p:tav>
                                      </p:tavLst>
                                    </p:anim>
                                    <p:anim calcmode="lin" valueType="num">
                                      <p:cBhvr additive="base">
                                        <p:cTn id="42" dur="500" fill="hold"/>
                                        <p:tgtEl>
                                          <p:spTgt spid="430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1"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43073">
                                            <p:txEl>
                                              <p:pRg st="0" end="0"/>
                                            </p:txEl>
                                          </p:spTgt>
                                        </p:tgtEl>
                                        <p:attrNameLst>
                                          <p:attrName>style.visibility</p:attrName>
                                        </p:attrNameLst>
                                      </p:cBhvr>
                                      <p:to>
                                        <p:strVal val="visible"/>
                                      </p:to>
                                    </p:set>
                                    <p:anim calcmode="lin" valueType="num">
                                      <p:cBhvr additive="base">
                                        <p:cTn id="47" dur="500" fill="hold"/>
                                        <p:tgtEl>
                                          <p:spTgt spid="43073">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30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1" name="WHOOSH.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43049"/>
                                        </p:tgtEl>
                                        <p:attrNameLst>
                                          <p:attrName>style.visibility</p:attrName>
                                        </p:attrNameLst>
                                      </p:cBhvr>
                                      <p:to>
                                        <p:strVal val="visible"/>
                                      </p:to>
                                    </p:set>
                                    <p:animEffect transition="in" filter="box(out)">
                                      <p:cBhvr>
                                        <p:cTn id="53" dur="500"/>
                                        <p:tgtEl>
                                          <p:spTgt spid="43049"/>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43046"/>
                                        </p:tgtEl>
                                        <p:attrNameLst>
                                          <p:attrName>style.visibility</p:attrName>
                                        </p:attrNameLst>
                                      </p:cBhvr>
                                      <p:to>
                                        <p:strVal val="visible"/>
                                      </p:to>
                                    </p:set>
                                    <p:anim calcmode="lin" valueType="num">
                                      <p:cBhvr additive="base">
                                        <p:cTn id="58" dur="500" fill="hold"/>
                                        <p:tgtEl>
                                          <p:spTgt spid="43046"/>
                                        </p:tgtEl>
                                        <p:attrNameLst>
                                          <p:attrName>ppt_x</p:attrName>
                                        </p:attrNameLst>
                                      </p:cBhvr>
                                      <p:tavLst>
                                        <p:tav tm="0">
                                          <p:val>
                                            <p:strVal val="0-#ppt_w/2"/>
                                          </p:val>
                                        </p:tav>
                                        <p:tav tm="100000">
                                          <p:val>
                                            <p:strVal val="#ppt_x"/>
                                          </p:val>
                                        </p:tav>
                                      </p:tavLst>
                                    </p:anim>
                                    <p:anim calcmode="lin" valueType="num">
                                      <p:cBhvr additive="base">
                                        <p:cTn id="59" dur="500" fill="hold"/>
                                        <p:tgtEl>
                                          <p:spTgt spid="430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1" name="WHOOSH.WAV"/>
                                        </p:tgtEl>
                                      </p:cMediaNode>
                                    </p:audio>
                                  </p:sub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43074">
                                            <p:txEl>
                                              <p:pRg st="0" end="0"/>
                                            </p:txEl>
                                          </p:spTgt>
                                        </p:tgtEl>
                                        <p:attrNameLst>
                                          <p:attrName>style.visibility</p:attrName>
                                        </p:attrNameLst>
                                      </p:cBhvr>
                                      <p:to>
                                        <p:strVal val="visible"/>
                                      </p:to>
                                    </p:set>
                                    <p:anim calcmode="lin" valueType="num">
                                      <p:cBhvr additive="base">
                                        <p:cTn id="64" dur="500" fill="hold"/>
                                        <p:tgtEl>
                                          <p:spTgt spid="43074">
                                            <p:txEl>
                                              <p:pRg st="0" end="0"/>
                                            </p:tx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430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2"/>
                                            </p:cond>
                                          </p:stCondLst>
                                          <p:endCondLst>
                                            <p:cond evt="onStopAudio" delay="0">
                                              <p:tgtEl>
                                                <p:sldTgt/>
                                              </p:tgtEl>
                                            </p:cond>
                                          </p:endCondLst>
                                        </p:cTn>
                                        <p:tgtEl>
                                          <p:sndTgt r:embed="rId1" name="WHOOSH.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43052"/>
                                        </p:tgtEl>
                                        <p:attrNameLst>
                                          <p:attrName>style.visibility</p:attrName>
                                        </p:attrNameLst>
                                      </p:cBhvr>
                                      <p:to>
                                        <p:strVal val="visible"/>
                                      </p:to>
                                    </p:set>
                                    <p:animEffect transition="in" filter="box(out)">
                                      <p:cBhvr>
                                        <p:cTn id="70" dur="500"/>
                                        <p:tgtEl>
                                          <p:spTgt spid="43052"/>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43051"/>
                                        </p:tgtEl>
                                        <p:attrNameLst>
                                          <p:attrName>style.visibility</p:attrName>
                                        </p:attrNameLst>
                                      </p:cBhvr>
                                      <p:to>
                                        <p:strVal val="visible"/>
                                      </p:to>
                                    </p:set>
                                    <p:anim calcmode="lin" valueType="num">
                                      <p:cBhvr additive="base">
                                        <p:cTn id="75" dur="500" fill="hold"/>
                                        <p:tgtEl>
                                          <p:spTgt spid="43051"/>
                                        </p:tgtEl>
                                        <p:attrNameLst>
                                          <p:attrName>ppt_x</p:attrName>
                                        </p:attrNameLst>
                                      </p:cBhvr>
                                      <p:tavLst>
                                        <p:tav tm="0">
                                          <p:val>
                                            <p:strVal val="0-#ppt_w/2"/>
                                          </p:val>
                                        </p:tav>
                                        <p:tav tm="100000">
                                          <p:val>
                                            <p:strVal val="#ppt_x"/>
                                          </p:val>
                                        </p:tav>
                                      </p:tavLst>
                                    </p:anim>
                                    <p:anim calcmode="lin" valueType="num">
                                      <p:cBhvr additive="base">
                                        <p:cTn id="76" dur="500" fill="hold"/>
                                        <p:tgtEl>
                                          <p:spTgt spid="430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1" name="WHOOSH.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43069">
                                            <p:txEl>
                                              <p:pRg st="0" end="0"/>
                                            </p:txEl>
                                          </p:spTgt>
                                        </p:tgtEl>
                                        <p:attrNameLst>
                                          <p:attrName>style.visibility</p:attrName>
                                        </p:attrNameLst>
                                      </p:cBhvr>
                                      <p:to>
                                        <p:strVal val="visible"/>
                                      </p:to>
                                    </p:set>
                                    <p:anim calcmode="lin" valueType="num">
                                      <p:cBhvr additive="base">
                                        <p:cTn id="81" dur="500" fill="hold"/>
                                        <p:tgtEl>
                                          <p:spTgt spid="43069">
                                            <p:txEl>
                                              <p:pRg st="0" end="0"/>
                                            </p:tx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4306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1" name="WHOOSH.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nodeType="clickEffect">
                                  <p:stCondLst>
                                    <p:cond delay="0"/>
                                  </p:stCondLst>
                                  <p:childTnLst>
                                    <p:set>
                                      <p:cBhvr>
                                        <p:cTn id="86" dur="1" fill="hold">
                                          <p:stCondLst>
                                            <p:cond delay="0"/>
                                          </p:stCondLst>
                                        </p:cTn>
                                        <p:tgtEl>
                                          <p:spTgt spid="43057"/>
                                        </p:tgtEl>
                                        <p:attrNameLst>
                                          <p:attrName>style.visibility</p:attrName>
                                        </p:attrNameLst>
                                      </p:cBhvr>
                                      <p:to>
                                        <p:strVal val="visible"/>
                                      </p:to>
                                    </p:set>
                                    <p:animEffect transition="in" filter="box(out)">
                                      <p:cBhvr>
                                        <p:cTn id="87" dur="500"/>
                                        <p:tgtEl>
                                          <p:spTgt spid="43057"/>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2" presetClass="entr" presetSubtype="8" fill="hold" grpId="0" nodeType="clickEffect">
                                  <p:stCondLst>
                                    <p:cond delay="0"/>
                                  </p:stCondLst>
                                  <p:childTnLst>
                                    <p:set>
                                      <p:cBhvr>
                                        <p:cTn id="91" dur="1" fill="hold">
                                          <p:stCondLst>
                                            <p:cond delay="0"/>
                                          </p:stCondLst>
                                        </p:cTn>
                                        <p:tgtEl>
                                          <p:spTgt spid="43053"/>
                                        </p:tgtEl>
                                        <p:attrNameLst>
                                          <p:attrName>style.visibility</p:attrName>
                                        </p:attrNameLst>
                                      </p:cBhvr>
                                      <p:to>
                                        <p:strVal val="visible"/>
                                      </p:to>
                                    </p:set>
                                    <p:anim calcmode="lin" valueType="num">
                                      <p:cBhvr additive="base">
                                        <p:cTn id="92" dur="500" fill="hold"/>
                                        <p:tgtEl>
                                          <p:spTgt spid="43053"/>
                                        </p:tgtEl>
                                        <p:attrNameLst>
                                          <p:attrName>ppt_x</p:attrName>
                                        </p:attrNameLst>
                                      </p:cBhvr>
                                      <p:tavLst>
                                        <p:tav tm="0">
                                          <p:val>
                                            <p:strVal val="0-#ppt_w/2"/>
                                          </p:val>
                                        </p:tav>
                                        <p:tav tm="100000">
                                          <p:val>
                                            <p:strVal val="#ppt_x"/>
                                          </p:val>
                                        </p:tav>
                                      </p:tavLst>
                                    </p:anim>
                                    <p:anim calcmode="lin" valueType="num">
                                      <p:cBhvr additive="base">
                                        <p:cTn id="93" dur="500" fill="hold"/>
                                        <p:tgtEl>
                                          <p:spTgt spid="430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0"/>
                                            </p:cond>
                                          </p:stCondLst>
                                          <p:endCondLst>
                                            <p:cond evt="onStopAudio" delay="0">
                                              <p:tgtEl>
                                                <p:sldTgt/>
                                              </p:tgtEl>
                                            </p:cond>
                                          </p:endCondLst>
                                        </p:cTn>
                                        <p:tgtEl>
                                          <p:sndTgt r:embed="rId1" name="WHOOSH.WAV"/>
                                        </p:tgtEl>
                                      </p:cMediaNode>
                                    </p:audio>
                                  </p:subTnLst>
                                </p:cTn>
                              </p:par>
                            </p:childTnLst>
                          </p:cTn>
                        </p:par>
                      </p:childTnLst>
                    </p:cTn>
                  </p:par>
                  <p:par>
                    <p:cTn id="94" fill="hold">
                      <p:stCondLst>
                        <p:cond delay="indefinite"/>
                      </p:stCondLst>
                      <p:childTnLst>
                        <p:par>
                          <p:cTn id="95" fill="hold">
                            <p:stCondLst>
                              <p:cond delay="0"/>
                            </p:stCondLst>
                            <p:childTnLst>
                              <p:par>
                                <p:cTn id="96" presetID="2" presetClass="entr" presetSubtype="8" fill="hold" grpId="0" nodeType="clickEffect">
                                  <p:stCondLst>
                                    <p:cond delay="0"/>
                                  </p:stCondLst>
                                  <p:childTnLst>
                                    <p:set>
                                      <p:cBhvr>
                                        <p:cTn id="97" dur="1" fill="hold">
                                          <p:stCondLst>
                                            <p:cond delay="0"/>
                                          </p:stCondLst>
                                        </p:cTn>
                                        <p:tgtEl>
                                          <p:spTgt spid="43071">
                                            <p:txEl>
                                              <p:pRg st="0" end="0"/>
                                            </p:txEl>
                                          </p:spTgt>
                                        </p:tgtEl>
                                        <p:attrNameLst>
                                          <p:attrName>style.visibility</p:attrName>
                                        </p:attrNameLst>
                                      </p:cBhvr>
                                      <p:to>
                                        <p:strVal val="visible"/>
                                      </p:to>
                                    </p:set>
                                    <p:anim calcmode="lin" valueType="num">
                                      <p:cBhvr additive="base">
                                        <p:cTn id="98" dur="500" fill="hold"/>
                                        <p:tgtEl>
                                          <p:spTgt spid="43071">
                                            <p:txEl>
                                              <p:pRg st="0" end="0"/>
                                            </p:txEl>
                                          </p:spTgt>
                                        </p:tgtEl>
                                        <p:attrNameLst>
                                          <p:attrName>ppt_x</p:attrName>
                                        </p:attrNameLst>
                                      </p:cBhvr>
                                      <p:tavLst>
                                        <p:tav tm="0">
                                          <p:val>
                                            <p:strVal val="0-#ppt_w/2"/>
                                          </p:val>
                                        </p:tav>
                                        <p:tav tm="100000">
                                          <p:val>
                                            <p:strVal val="#ppt_x"/>
                                          </p:val>
                                        </p:tav>
                                      </p:tavLst>
                                    </p:anim>
                                    <p:anim calcmode="lin" valueType="num">
                                      <p:cBhvr additive="base">
                                        <p:cTn id="99" dur="500" fill="hold"/>
                                        <p:tgtEl>
                                          <p:spTgt spid="430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6"/>
                                            </p:cond>
                                          </p:stCondLst>
                                          <p:endCondLst>
                                            <p:cond evt="onStopAudio" delay="0">
                                              <p:tgtEl>
                                                <p:sldTgt/>
                                              </p:tgtEl>
                                            </p:cond>
                                          </p:endCondLst>
                                        </p:cTn>
                                        <p:tgtEl>
                                          <p:sndTgt r:embed="rId1" name="WHOOSH.WAV"/>
                                        </p:tgtEl>
                                      </p:cMediaNode>
                                    </p:audio>
                                  </p:sub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nodeType="clickEffect">
                                  <p:stCondLst>
                                    <p:cond delay="0"/>
                                  </p:stCondLst>
                                  <p:childTnLst>
                                    <p:set>
                                      <p:cBhvr>
                                        <p:cTn id="103" dur="1" fill="hold">
                                          <p:stCondLst>
                                            <p:cond delay="0"/>
                                          </p:stCondLst>
                                        </p:cTn>
                                        <p:tgtEl>
                                          <p:spTgt spid="43063"/>
                                        </p:tgtEl>
                                        <p:attrNameLst>
                                          <p:attrName>style.visibility</p:attrName>
                                        </p:attrNameLst>
                                      </p:cBhvr>
                                      <p:to>
                                        <p:strVal val="visible"/>
                                      </p:to>
                                    </p:set>
                                    <p:animEffect transition="in" filter="box(out)">
                                      <p:cBhvr>
                                        <p:cTn id="104" dur="500"/>
                                        <p:tgtEl>
                                          <p:spTgt spid="43063"/>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43054"/>
                                        </p:tgtEl>
                                        <p:attrNameLst>
                                          <p:attrName>style.visibility</p:attrName>
                                        </p:attrNameLst>
                                      </p:cBhvr>
                                      <p:to>
                                        <p:strVal val="visible"/>
                                      </p:to>
                                    </p:set>
                                    <p:anim calcmode="lin" valueType="num">
                                      <p:cBhvr additive="base">
                                        <p:cTn id="109" dur="500" fill="hold"/>
                                        <p:tgtEl>
                                          <p:spTgt spid="43054"/>
                                        </p:tgtEl>
                                        <p:attrNameLst>
                                          <p:attrName>ppt_x</p:attrName>
                                        </p:attrNameLst>
                                      </p:cBhvr>
                                      <p:tavLst>
                                        <p:tav tm="0">
                                          <p:val>
                                            <p:strVal val="0-#ppt_w/2"/>
                                          </p:val>
                                        </p:tav>
                                        <p:tav tm="100000">
                                          <p:val>
                                            <p:strVal val="#ppt_x"/>
                                          </p:val>
                                        </p:tav>
                                      </p:tavLst>
                                    </p:anim>
                                    <p:anim calcmode="lin" valueType="num">
                                      <p:cBhvr additive="base">
                                        <p:cTn id="110" dur="500" fill="hold"/>
                                        <p:tgtEl>
                                          <p:spTgt spid="430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7"/>
                                            </p:cond>
                                          </p:stCondLst>
                                          <p:endCondLst>
                                            <p:cond evt="onStopAudio" delay="0">
                                              <p:tgtEl>
                                                <p:sldTgt/>
                                              </p:tgtEl>
                                            </p:cond>
                                          </p:endCondLst>
                                        </p:cTn>
                                        <p:tgtEl>
                                          <p:sndTgt r:embed="rId1" name="WHOOSH.WAV"/>
                                        </p:tgtEl>
                                      </p:cMediaNode>
                                    </p:audio>
                                  </p:subTnLst>
                                </p:cTn>
                              </p:par>
                            </p:childTnLst>
                          </p:cTn>
                        </p:par>
                      </p:childTnLst>
                    </p:cTn>
                  </p:par>
                  <p:par>
                    <p:cTn id="111" fill="hold">
                      <p:stCondLst>
                        <p:cond delay="indefinite"/>
                      </p:stCondLst>
                      <p:childTnLst>
                        <p:par>
                          <p:cTn id="112" fill="hold">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43075">
                                            <p:txEl>
                                              <p:pRg st="0" end="0"/>
                                            </p:txEl>
                                          </p:spTgt>
                                        </p:tgtEl>
                                        <p:attrNameLst>
                                          <p:attrName>style.visibility</p:attrName>
                                        </p:attrNameLst>
                                      </p:cBhvr>
                                      <p:to>
                                        <p:strVal val="visible"/>
                                      </p:to>
                                    </p:set>
                                    <p:anim calcmode="lin" valueType="num">
                                      <p:cBhvr additive="base">
                                        <p:cTn id="115" dur="500" fill="hold"/>
                                        <p:tgtEl>
                                          <p:spTgt spid="43075">
                                            <p:txEl>
                                              <p:pRg st="0" end="0"/>
                                            </p:txEl>
                                          </p:spTgt>
                                        </p:tgtEl>
                                        <p:attrNameLst>
                                          <p:attrName>ppt_x</p:attrName>
                                        </p:attrNameLst>
                                      </p:cBhvr>
                                      <p:tavLst>
                                        <p:tav tm="0">
                                          <p:val>
                                            <p:strVal val="0-#ppt_w/2"/>
                                          </p:val>
                                        </p:tav>
                                        <p:tav tm="100000">
                                          <p:val>
                                            <p:strVal val="#ppt_x"/>
                                          </p:val>
                                        </p:tav>
                                      </p:tavLst>
                                    </p:anim>
                                    <p:anim calcmode="lin" valueType="num">
                                      <p:cBhvr additive="base">
                                        <p:cTn id="116" dur="500" fill="hold"/>
                                        <p:tgtEl>
                                          <p:spTgt spid="430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1" name="WHOOSH.WAV"/>
                                        </p:tgtEl>
                                      </p:cMediaNode>
                                    </p:audio>
                                  </p:subTnLst>
                                </p:cTn>
                              </p:par>
                            </p:childTnLst>
                          </p:cTn>
                        </p:par>
                      </p:childTnLst>
                    </p:cTn>
                  </p:par>
                  <p:par>
                    <p:cTn id="117" fill="hold">
                      <p:stCondLst>
                        <p:cond delay="indefinite"/>
                      </p:stCondLst>
                      <p:childTnLst>
                        <p:par>
                          <p:cTn id="118" fill="hold">
                            <p:stCondLst>
                              <p:cond delay="0"/>
                            </p:stCondLst>
                            <p:childTnLst>
                              <p:par>
                                <p:cTn id="119" presetID="4" presetClass="entr" presetSubtype="32" fill="hold" nodeType="clickEffect">
                                  <p:stCondLst>
                                    <p:cond delay="0"/>
                                  </p:stCondLst>
                                  <p:childTnLst>
                                    <p:set>
                                      <p:cBhvr>
                                        <p:cTn id="120" dur="1" fill="hold">
                                          <p:stCondLst>
                                            <p:cond delay="0"/>
                                          </p:stCondLst>
                                        </p:cTn>
                                        <p:tgtEl>
                                          <p:spTgt spid="43056"/>
                                        </p:tgtEl>
                                        <p:attrNameLst>
                                          <p:attrName>style.visibility</p:attrName>
                                        </p:attrNameLst>
                                      </p:cBhvr>
                                      <p:to>
                                        <p:strVal val="visible"/>
                                      </p:to>
                                    </p:set>
                                    <p:animEffect transition="in" filter="box(out)">
                                      <p:cBhvr>
                                        <p:cTn id="121" dur="500"/>
                                        <p:tgtEl>
                                          <p:spTgt spid="43056"/>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childTnLst>
                          </p:cTn>
                        </p:par>
                      </p:childTnLst>
                    </p:cTn>
                  </p:par>
                  <p:par>
                    <p:cTn id="122" fill="hold">
                      <p:stCondLst>
                        <p:cond delay="indefinite"/>
                      </p:stCondLst>
                      <p:childTnLst>
                        <p:par>
                          <p:cTn id="123" fill="hold">
                            <p:stCondLst>
                              <p:cond delay="0"/>
                            </p:stCondLst>
                            <p:childTnLst>
                              <p:par>
                                <p:cTn id="124" presetID="2" presetClass="entr" presetSubtype="8" fill="hold" grpId="0" nodeType="clickEffect">
                                  <p:stCondLst>
                                    <p:cond delay="0"/>
                                  </p:stCondLst>
                                  <p:childTnLst>
                                    <p:set>
                                      <p:cBhvr>
                                        <p:cTn id="125" dur="1" fill="hold">
                                          <p:stCondLst>
                                            <p:cond delay="0"/>
                                          </p:stCondLst>
                                        </p:cTn>
                                        <p:tgtEl>
                                          <p:spTgt spid="43055"/>
                                        </p:tgtEl>
                                        <p:attrNameLst>
                                          <p:attrName>style.visibility</p:attrName>
                                        </p:attrNameLst>
                                      </p:cBhvr>
                                      <p:to>
                                        <p:strVal val="visible"/>
                                      </p:to>
                                    </p:set>
                                    <p:anim calcmode="lin" valueType="num">
                                      <p:cBhvr additive="base">
                                        <p:cTn id="126" dur="500" fill="hold"/>
                                        <p:tgtEl>
                                          <p:spTgt spid="43055"/>
                                        </p:tgtEl>
                                        <p:attrNameLst>
                                          <p:attrName>ppt_x</p:attrName>
                                        </p:attrNameLst>
                                      </p:cBhvr>
                                      <p:tavLst>
                                        <p:tav tm="0">
                                          <p:val>
                                            <p:strVal val="0-#ppt_w/2"/>
                                          </p:val>
                                        </p:tav>
                                        <p:tav tm="100000">
                                          <p:val>
                                            <p:strVal val="#ppt_x"/>
                                          </p:val>
                                        </p:tav>
                                      </p:tavLst>
                                    </p:anim>
                                    <p:anim calcmode="lin" valueType="num">
                                      <p:cBhvr additive="base">
                                        <p:cTn id="127" dur="500" fill="hold"/>
                                        <p:tgtEl>
                                          <p:spTgt spid="430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24"/>
                                            </p:cond>
                                          </p:stCondLst>
                                          <p:endCondLst>
                                            <p:cond evt="onStopAudio" delay="0">
                                              <p:tgtEl>
                                                <p:sldTgt/>
                                              </p:tgtEl>
                                            </p:cond>
                                          </p:endCondLst>
                                        </p:cTn>
                                        <p:tgtEl>
                                          <p:sndTgt r:embed="rId1" name="WHOOSH.WAV"/>
                                        </p:tgtEl>
                                      </p:cMediaNode>
                                    </p:audio>
                                  </p:subTnLst>
                                </p:cTn>
                              </p:par>
                            </p:childTnLst>
                          </p:cTn>
                        </p:par>
                      </p:childTnLst>
                    </p:cTn>
                  </p:par>
                  <p:par>
                    <p:cTn id="128" fill="hold">
                      <p:stCondLst>
                        <p:cond delay="indefinite"/>
                      </p:stCondLst>
                      <p:childTnLst>
                        <p:par>
                          <p:cTn id="129" fill="hold">
                            <p:stCondLst>
                              <p:cond delay="0"/>
                            </p:stCondLst>
                            <p:childTnLst>
                              <p:par>
                                <p:cTn id="130" presetID="2" presetClass="entr" presetSubtype="8" fill="hold" grpId="0" nodeType="clickEffect">
                                  <p:stCondLst>
                                    <p:cond delay="0"/>
                                  </p:stCondLst>
                                  <p:childTnLst>
                                    <p:set>
                                      <p:cBhvr>
                                        <p:cTn id="131" dur="1" fill="hold">
                                          <p:stCondLst>
                                            <p:cond delay="0"/>
                                          </p:stCondLst>
                                        </p:cTn>
                                        <p:tgtEl>
                                          <p:spTgt spid="43076">
                                            <p:txEl>
                                              <p:pRg st="0" end="0"/>
                                            </p:txEl>
                                          </p:spTgt>
                                        </p:tgtEl>
                                        <p:attrNameLst>
                                          <p:attrName>style.visibility</p:attrName>
                                        </p:attrNameLst>
                                      </p:cBhvr>
                                      <p:to>
                                        <p:strVal val="visible"/>
                                      </p:to>
                                    </p:set>
                                    <p:anim calcmode="lin" valueType="num">
                                      <p:cBhvr additive="base">
                                        <p:cTn id="132" dur="500" fill="hold"/>
                                        <p:tgtEl>
                                          <p:spTgt spid="43076">
                                            <p:txEl>
                                              <p:pRg st="0" end="0"/>
                                            </p:txEl>
                                          </p:spTgt>
                                        </p:tgtEl>
                                        <p:attrNameLst>
                                          <p:attrName>ppt_x</p:attrName>
                                        </p:attrNameLst>
                                      </p:cBhvr>
                                      <p:tavLst>
                                        <p:tav tm="0">
                                          <p:val>
                                            <p:strVal val="0-#ppt_w/2"/>
                                          </p:val>
                                        </p:tav>
                                        <p:tav tm="100000">
                                          <p:val>
                                            <p:strVal val="#ppt_x"/>
                                          </p:val>
                                        </p:tav>
                                      </p:tavLst>
                                    </p:anim>
                                    <p:anim calcmode="lin" valueType="num">
                                      <p:cBhvr additive="base">
                                        <p:cTn id="133" dur="500" fill="hold"/>
                                        <p:tgtEl>
                                          <p:spTgt spid="4307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0"/>
                                            </p:cond>
                                          </p:stCondLst>
                                          <p:endCondLst>
                                            <p:cond evt="onStopAudio" delay="0">
                                              <p:tgtEl>
                                                <p:sldTgt/>
                                              </p:tgtEl>
                                            </p:cond>
                                          </p:endCondLst>
                                        </p:cTn>
                                        <p:tgtEl>
                                          <p:sndTgt r:embed="rId1" name="WHOOSH.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nodeType="clickEffect">
                                  <p:stCondLst>
                                    <p:cond delay="0"/>
                                  </p:stCondLst>
                                  <p:childTnLst>
                                    <p:set>
                                      <p:cBhvr>
                                        <p:cTn id="137" dur="1" fill="hold">
                                          <p:stCondLst>
                                            <p:cond delay="0"/>
                                          </p:stCondLst>
                                        </p:cTn>
                                        <p:tgtEl>
                                          <p:spTgt spid="43066"/>
                                        </p:tgtEl>
                                        <p:attrNameLst>
                                          <p:attrName>style.visibility</p:attrName>
                                        </p:attrNameLst>
                                      </p:cBhvr>
                                      <p:to>
                                        <p:strVal val="visible"/>
                                      </p:to>
                                    </p:set>
                                    <p:animEffect transition="in" filter="box(out)">
                                      <p:cBhvr>
                                        <p:cTn id="138" dur="500"/>
                                        <p:tgtEl>
                                          <p:spTgt spid="43066"/>
                                        </p:tgtEl>
                                      </p:cBhvr>
                                    </p:animEffect>
                                  </p:childTnLst>
                                  <p:subTnLst>
                                    <p:audio>
                                      <p:cMediaNode>
                                        <p:cTn display="0" masterRel="sameClick">
                                          <p:stCondLst>
                                            <p:cond evt="begin" delay="0">
                                              <p:tn val="136"/>
                                            </p:cond>
                                          </p:stCondLst>
                                          <p:endCondLst>
                                            <p:cond evt="onStopAudio" delay="0">
                                              <p:tgtEl>
                                                <p:sldTgt/>
                                              </p:tgtEl>
                                            </p:cond>
                                          </p:endCondLst>
                                        </p:cTn>
                                        <p:tgtEl>
                                          <p:sndTgt r:embed="rId2"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2" presetClass="entr" presetSubtype="8" fill="hold" grpId="0" nodeType="clickEffect">
                                  <p:stCondLst>
                                    <p:cond delay="0"/>
                                  </p:stCondLst>
                                  <p:childTnLst>
                                    <p:set>
                                      <p:cBhvr>
                                        <p:cTn id="142" dur="1" fill="hold">
                                          <p:stCondLst>
                                            <p:cond delay="0"/>
                                          </p:stCondLst>
                                        </p:cTn>
                                        <p:tgtEl>
                                          <p:spTgt spid="43058"/>
                                        </p:tgtEl>
                                        <p:attrNameLst>
                                          <p:attrName>style.visibility</p:attrName>
                                        </p:attrNameLst>
                                      </p:cBhvr>
                                      <p:to>
                                        <p:strVal val="visible"/>
                                      </p:to>
                                    </p:set>
                                    <p:anim calcmode="lin" valueType="num">
                                      <p:cBhvr additive="base">
                                        <p:cTn id="143" dur="500" fill="hold"/>
                                        <p:tgtEl>
                                          <p:spTgt spid="43058"/>
                                        </p:tgtEl>
                                        <p:attrNameLst>
                                          <p:attrName>ppt_x</p:attrName>
                                        </p:attrNameLst>
                                      </p:cBhvr>
                                      <p:tavLst>
                                        <p:tav tm="0">
                                          <p:val>
                                            <p:strVal val="0-#ppt_w/2"/>
                                          </p:val>
                                        </p:tav>
                                        <p:tav tm="100000">
                                          <p:val>
                                            <p:strVal val="#ppt_x"/>
                                          </p:val>
                                        </p:tav>
                                      </p:tavLst>
                                    </p:anim>
                                    <p:anim calcmode="lin" valueType="num">
                                      <p:cBhvr additive="base">
                                        <p:cTn id="144" dur="500" fill="hold"/>
                                        <p:tgtEl>
                                          <p:spTgt spid="430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1"/>
                                            </p:cond>
                                          </p:stCondLst>
                                          <p:endCondLst>
                                            <p:cond evt="onStopAudio" delay="0">
                                              <p:tgtEl>
                                                <p:sldTgt/>
                                              </p:tgtEl>
                                            </p:cond>
                                          </p:endCondLst>
                                        </p:cTn>
                                        <p:tgtEl>
                                          <p:sndTgt r:embed="rId1" name="WHOOSH.WAV"/>
                                        </p:tgtEl>
                                      </p:cMediaNode>
                                    </p:audio>
                                  </p:subTnLst>
                                </p:cTn>
                              </p:par>
                            </p:childTnLst>
                          </p:cTn>
                        </p:par>
                      </p:childTnLst>
                    </p:cTn>
                  </p:par>
                  <p:par>
                    <p:cTn id="145" fill="hold">
                      <p:stCondLst>
                        <p:cond delay="indefinite"/>
                      </p:stCondLst>
                      <p:childTnLst>
                        <p:par>
                          <p:cTn id="146" fill="hold">
                            <p:stCondLst>
                              <p:cond delay="0"/>
                            </p:stCondLst>
                            <p:childTnLst>
                              <p:par>
                                <p:cTn id="147" presetID="2" presetClass="entr" presetSubtype="8" fill="hold" grpId="0" nodeType="clickEffect">
                                  <p:stCondLst>
                                    <p:cond delay="0"/>
                                  </p:stCondLst>
                                  <p:childTnLst>
                                    <p:set>
                                      <p:cBhvr>
                                        <p:cTn id="148" dur="1" fill="hold">
                                          <p:stCondLst>
                                            <p:cond delay="0"/>
                                          </p:stCondLst>
                                        </p:cTn>
                                        <p:tgtEl>
                                          <p:spTgt spid="43070">
                                            <p:txEl>
                                              <p:pRg st="0" end="0"/>
                                            </p:txEl>
                                          </p:spTgt>
                                        </p:tgtEl>
                                        <p:attrNameLst>
                                          <p:attrName>style.visibility</p:attrName>
                                        </p:attrNameLst>
                                      </p:cBhvr>
                                      <p:to>
                                        <p:strVal val="visible"/>
                                      </p:to>
                                    </p:set>
                                    <p:anim calcmode="lin" valueType="num">
                                      <p:cBhvr additive="base">
                                        <p:cTn id="149" dur="500" fill="hold"/>
                                        <p:tgtEl>
                                          <p:spTgt spid="43070">
                                            <p:txEl>
                                              <p:pRg st="0" end="0"/>
                                            </p:txEl>
                                          </p:spTgt>
                                        </p:tgtEl>
                                        <p:attrNameLst>
                                          <p:attrName>ppt_x</p:attrName>
                                        </p:attrNameLst>
                                      </p:cBhvr>
                                      <p:tavLst>
                                        <p:tav tm="0">
                                          <p:val>
                                            <p:strVal val="0-#ppt_w/2"/>
                                          </p:val>
                                        </p:tav>
                                        <p:tav tm="100000">
                                          <p:val>
                                            <p:strVal val="#ppt_x"/>
                                          </p:val>
                                        </p:tav>
                                      </p:tavLst>
                                    </p:anim>
                                    <p:anim calcmode="lin" valueType="num">
                                      <p:cBhvr additive="base">
                                        <p:cTn id="150" dur="500" fill="hold"/>
                                        <p:tgtEl>
                                          <p:spTgt spid="4307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7"/>
                                            </p:cond>
                                          </p:stCondLst>
                                          <p:endCondLst>
                                            <p:cond evt="onStopAudio" delay="0">
                                              <p:tgtEl>
                                                <p:sldTgt/>
                                              </p:tgtEl>
                                            </p:cond>
                                          </p:endCondLst>
                                        </p:cTn>
                                        <p:tgtEl>
                                          <p:sndTgt r:embed="rId1" name="WHOOSH.WAV"/>
                                        </p:tgtEl>
                                      </p:cMediaNode>
                                    </p:audio>
                                  </p:subTnLst>
                                </p:cTn>
                              </p:par>
                            </p:childTnLst>
                          </p:cTn>
                        </p:par>
                      </p:childTnLst>
                    </p:cTn>
                  </p:par>
                  <p:par>
                    <p:cTn id="151" fill="hold">
                      <p:stCondLst>
                        <p:cond delay="indefinite"/>
                      </p:stCondLst>
                      <p:childTnLst>
                        <p:par>
                          <p:cTn id="152" fill="hold">
                            <p:stCondLst>
                              <p:cond delay="0"/>
                            </p:stCondLst>
                            <p:childTnLst>
                              <p:par>
                                <p:cTn id="153" presetID="4" presetClass="entr" presetSubtype="32" fill="hold" nodeType="clickEffect">
                                  <p:stCondLst>
                                    <p:cond delay="0"/>
                                  </p:stCondLst>
                                  <p:childTnLst>
                                    <p:set>
                                      <p:cBhvr>
                                        <p:cTn id="154" dur="1" fill="hold">
                                          <p:stCondLst>
                                            <p:cond delay="0"/>
                                          </p:stCondLst>
                                        </p:cTn>
                                        <p:tgtEl>
                                          <p:spTgt spid="43062"/>
                                        </p:tgtEl>
                                        <p:attrNameLst>
                                          <p:attrName>style.visibility</p:attrName>
                                        </p:attrNameLst>
                                      </p:cBhvr>
                                      <p:to>
                                        <p:strVal val="visible"/>
                                      </p:to>
                                    </p:set>
                                    <p:animEffect transition="in" filter="box(out)">
                                      <p:cBhvr>
                                        <p:cTn id="155" dur="500"/>
                                        <p:tgtEl>
                                          <p:spTgt spid="43062"/>
                                        </p:tgtEl>
                                      </p:cBhvr>
                                    </p:animEffect>
                                  </p:childTnLst>
                                  <p:subTnLst>
                                    <p:audio>
                                      <p:cMediaNode>
                                        <p:cTn display="0" masterRel="sameClick">
                                          <p:stCondLst>
                                            <p:cond evt="begin" delay="0">
                                              <p:tn val="153"/>
                                            </p:cond>
                                          </p:stCondLst>
                                          <p:endCondLst>
                                            <p:cond evt="onStopAudio" delay="0">
                                              <p:tgtEl>
                                                <p:sldTgt/>
                                              </p:tgtEl>
                                            </p:cond>
                                          </p:endCondLst>
                                        </p:cTn>
                                        <p:tgtEl>
                                          <p:sndTgt r:embed="rId2" name="CAMERA.WAV"/>
                                        </p:tgtEl>
                                      </p:cMediaNode>
                                    </p:audio>
                                  </p:subTnLst>
                                </p:cTn>
                              </p:par>
                            </p:childTnLst>
                          </p:cTn>
                        </p:par>
                      </p:childTnLst>
                    </p:cTn>
                  </p:par>
                  <p:par>
                    <p:cTn id="156" fill="hold">
                      <p:stCondLst>
                        <p:cond delay="indefinite"/>
                      </p:stCondLst>
                      <p:childTnLst>
                        <p:par>
                          <p:cTn id="157" fill="hold">
                            <p:stCondLst>
                              <p:cond delay="0"/>
                            </p:stCondLst>
                            <p:childTnLst>
                              <p:par>
                                <p:cTn id="158" presetID="2" presetClass="entr" presetSubtype="8" fill="hold" grpId="0" nodeType="clickEffect">
                                  <p:stCondLst>
                                    <p:cond delay="0"/>
                                  </p:stCondLst>
                                  <p:childTnLst>
                                    <p:set>
                                      <p:cBhvr>
                                        <p:cTn id="159" dur="1" fill="hold">
                                          <p:stCondLst>
                                            <p:cond delay="0"/>
                                          </p:stCondLst>
                                        </p:cTn>
                                        <p:tgtEl>
                                          <p:spTgt spid="43059"/>
                                        </p:tgtEl>
                                        <p:attrNameLst>
                                          <p:attrName>style.visibility</p:attrName>
                                        </p:attrNameLst>
                                      </p:cBhvr>
                                      <p:to>
                                        <p:strVal val="visible"/>
                                      </p:to>
                                    </p:set>
                                    <p:anim calcmode="lin" valueType="num">
                                      <p:cBhvr additive="base">
                                        <p:cTn id="160" dur="500" fill="hold"/>
                                        <p:tgtEl>
                                          <p:spTgt spid="43059"/>
                                        </p:tgtEl>
                                        <p:attrNameLst>
                                          <p:attrName>ppt_x</p:attrName>
                                        </p:attrNameLst>
                                      </p:cBhvr>
                                      <p:tavLst>
                                        <p:tav tm="0">
                                          <p:val>
                                            <p:strVal val="0-#ppt_w/2"/>
                                          </p:val>
                                        </p:tav>
                                        <p:tav tm="100000">
                                          <p:val>
                                            <p:strVal val="#ppt_x"/>
                                          </p:val>
                                        </p:tav>
                                      </p:tavLst>
                                    </p:anim>
                                    <p:anim calcmode="lin" valueType="num">
                                      <p:cBhvr additive="base">
                                        <p:cTn id="161" dur="500" fill="hold"/>
                                        <p:tgtEl>
                                          <p:spTgt spid="430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8"/>
                                            </p:cond>
                                          </p:stCondLst>
                                          <p:endCondLst>
                                            <p:cond evt="onStopAudio" delay="0">
                                              <p:tgtEl>
                                                <p:sldTgt/>
                                              </p:tgtEl>
                                            </p:cond>
                                          </p:endCondLst>
                                        </p:cTn>
                                        <p:tgtEl>
                                          <p:sndTgt r:embed="rId1" name="WHOOSH.WAV"/>
                                        </p:tgtEl>
                                      </p:cMediaNode>
                                    </p:audio>
                                  </p:subTnLst>
                                </p:cTn>
                              </p:par>
                            </p:childTnLst>
                          </p:cTn>
                        </p:par>
                      </p:childTnLst>
                    </p:cTn>
                  </p:par>
                  <p:par>
                    <p:cTn id="162" fill="hold">
                      <p:stCondLst>
                        <p:cond delay="indefinite"/>
                      </p:stCondLst>
                      <p:childTnLst>
                        <p:par>
                          <p:cTn id="163" fill="hold">
                            <p:stCondLst>
                              <p:cond delay="0"/>
                            </p:stCondLst>
                            <p:childTnLst>
                              <p:par>
                                <p:cTn id="164" presetID="2" presetClass="entr" presetSubtype="8" fill="hold" grpId="0" nodeType="clickEffect">
                                  <p:stCondLst>
                                    <p:cond delay="0"/>
                                  </p:stCondLst>
                                  <p:childTnLst>
                                    <p:set>
                                      <p:cBhvr>
                                        <p:cTn id="165" dur="1" fill="hold">
                                          <p:stCondLst>
                                            <p:cond delay="0"/>
                                          </p:stCondLst>
                                        </p:cTn>
                                        <p:tgtEl>
                                          <p:spTgt spid="43072">
                                            <p:txEl>
                                              <p:pRg st="0" end="0"/>
                                            </p:txEl>
                                          </p:spTgt>
                                        </p:tgtEl>
                                        <p:attrNameLst>
                                          <p:attrName>style.visibility</p:attrName>
                                        </p:attrNameLst>
                                      </p:cBhvr>
                                      <p:to>
                                        <p:strVal val="visible"/>
                                      </p:to>
                                    </p:set>
                                    <p:anim calcmode="lin" valueType="num">
                                      <p:cBhvr additive="base">
                                        <p:cTn id="166" dur="500" fill="hold"/>
                                        <p:tgtEl>
                                          <p:spTgt spid="43072">
                                            <p:txEl>
                                              <p:pRg st="0" end="0"/>
                                            </p:txEl>
                                          </p:spTgt>
                                        </p:tgtEl>
                                        <p:attrNameLst>
                                          <p:attrName>ppt_x</p:attrName>
                                        </p:attrNameLst>
                                      </p:cBhvr>
                                      <p:tavLst>
                                        <p:tav tm="0">
                                          <p:val>
                                            <p:strVal val="0-#ppt_w/2"/>
                                          </p:val>
                                        </p:tav>
                                        <p:tav tm="100000">
                                          <p:val>
                                            <p:strVal val="#ppt_x"/>
                                          </p:val>
                                        </p:tav>
                                      </p:tavLst>
                                    </p:anim>
                                    <p:anim calcmode="lin" valueType="num">
                                      <p:cBhvr additive="base">
                                        <p:cTn id="167" dur="500" fill="hold"/>
                                        <p:tgtEl>
                                          <p:spTgt spid="4307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4"/>
                                            </p:cond>
                                          </p:stCondLst>
                                          <p:endCondLst>
                                            <p:cond evt="onStopAudio" delay="0">
                                              <p:tgtEl>
                                                <p:sldTgt/>
                                              </p:tgtEl>
                                            </p:cond>
                                          </p:endCondLst>
                                        </p:cTn>
                                        <p:tgtEl>
                                          <p:sndTgt r:embed="rId1" name="WHOOSH.WAV"/>
                                        </p:tgtEl>
                                      </p:cMediaNode>
                                    </p:audio>
                                  </p:subTnLst>
                                </p:cTn>
                              </p:par>
                            </p:childTnLst>
                          </p:cTn>
                        </p:par>
                      </p:childTnLst>
                    </p:cTn>
                  </p:par>
                  <p:par>
                    <p:cTn id="168" fill="hold">
                      <p:stCondLst>
                        <p:cond delay="indefinite"/>
                      </p:stCondLst>
                      <p:childTnLst>
                        <p:par>
                          <p:cTn id="169" fill="hold">
                            <p:stCondLst>
                              <p:cond delay="0"/>
                            </p:stCondLst>
                            <p:childTnLst>
                              <p:par>
                                <p:cTn id="170" presetID="4" presetClass="entr" presetSubtype="32" fill="hold" nodeType="clickEffect">
                                  <p:stCondLst>
                                    <p:cond delay="0"/>
                                  </p:stCondLst>
                                  <p:childTnLst>
                                    <p:set>
                                      <p:cBhvr>
                                        <p:cTn id="171" dur="1" fill="hold">
                                          <p:stCondLst>
                                            <p:cond delay="0"/>
                                          </p:stCondLst>
                                        </p:cTn>
                                        <p:tgtEl>
                                          <p:spTgt spid="43064"/>
                                        </p:tgtEl>
                                        <p:attrNameLst>
                                          <p:attrName>style.visibility</p:attrName>
                                        </p:attrNameLst>
                                      </p:cBhvr>
                                      <p:to>
                                        <p:strVal val="visible"/>
                                      </p:to>
                                    </p:set>
                                    <p:animEffect transition="in" filter="box(out)">
                                      <p:cBhvr>
                                        <p:cTn id="172" dur="500"/>
                                        <p:tgtEl>
                                          <p:spTgt spid="43064"/>
                                        </p:tgtEl>
                                      </p:cBhvr>
                                    </p:animEffect>
                                  </p:childTnLst>
                                  <p:subTnLst>
                                    <p:audio>
                                      <p:cMediaNode>
                                        <p:cTn display="0" masterRel="sameClick">
                                          <p:stCondLst>
                                            <p:cond evt="begin" delay="0">
                                              <p:tn val="170"/>
                                            </p:cond>
                                          </p:stCondLst>
                                          <p:endCondLst>
                                            <p:cond evt="onStopAudio" delay="0">
                                              <p:tgtEl>
                                                <p:sldTgt/>
                                              </p:tgtEl>
                                            </p:cond>
                                          </p:endCondLst>
                                        </p:cTn>
                                        <p:tgtEl>
                                          <p:sndTgt r:embed="rId2" name="CAMERA.WAV"/>
                                        </p:tgtEl>
                                      </p:cMediaNode>
                                    </p:audio>
                                  </p:subTnLst>
                                </p:cTn>
                              </p:par>
                            </p:childTnLst>
                          </p:cTn>
                        </p:par>
                      </p:childTnLst>
                    </p:cTn>
                  </p:par>
                  <p:par>
                    <p:cTn id="173" fill="hold">
                      <p:stCondLst>
                        <p:cond delay="indefinite"/>
                      </p:stCondLst>
                      <p:childTnLst>
                        <p:par>
                          <p:cTn id="174" fill="hold">
                            <p:stCondLst>
                              <p:cond delay="0"/>
                            </p:stCondLst>
                            <p:childTnLst>
                              <p:par>
                                <p:cTn id="175" presetID="2" presetClass="entr" presetSubtype="8" fill="hold" grpId="0" nodeType="clickEffect">
                                  <p:stCondLst>
                                    <p:cond delay="0"/>
                                  </p:stCondLst>
                                  <p:childTnLst>
                                    <p:set>
                                      <p:cBhvr>
                                        <p:cTn id="176" dur="1" fill="hold">
                                          <p:stCondLst>
                                            <p:cond delay="0"/>
                                          </p:stCondLst>
                                        </p:cTn>
                                        <p:tgtEl>
                                          <p:spTgt spid="43060"/>
                                        </p:tgtEl>
                                        <p:attrNameLst>
                                          <p:attrName>style.visibility</p:attrName>
                                        </p:attrNameLst>
                                      </p:cBhvr>
                                      <p:to>
                                        <p:strVal val="visible"/>
                                      </p:to>
                                    </p:set>
                                    <p:anim calcmode="lin" valueType="num">
                                      <p:cBhvr additive="base">
                                        <p:cTn id="177" dur="500" fill="hold"/>
                                        <p:tgtEl>
                                          <p:spTgt spid="43060"/>
                                        </p:tgtEl>
                                        <p:attrNameLst>
                                          <p:attrName>ppt_x</p:attrName>
                                        </p:attrNameLst>
                                      </p:cBhvr>
                                      <p:tavLst>
                                        <p:tav tm="0">
                                          <p:val>
                                            <p:strVal val="0-#ppt_w/2"/>
                                          </p:val>
                                        </p:tav>
                                        <p:tav tm="100000">
                                          <p:val>
                                            <p:strVal val="#ppt_x"/>
                                          </p:val>
                                        </p:tav>
                                      </p:tavLst>
                                    </p:anim>
                                    <p:anim calcmode="lin" valueType="num">
                                      <p:cBhvr additive="base">
                                        <p:cTn id="178" dur="500" fill="hold"/>
                                        <p:tgtEl>
                                          <p:spTgt spid="430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5"/>
                                            </p:cond>
                                          </p:stCondLst>
                                          <p:endCondLst>
                                            <p:cond evt="onStopAudio" delay="0">
                                              <p:tgtEl>
                                                <p:sldTgt/>
                                              </p:tgtEl>
                                            </p:cond>
                                          </p:endCondLst>
                                        </p:cTn>
                                        <p:tgtEl>
                                          <p:sndTgt r:embed="rId1" name="WHOOSH.WAV"/>
                                        </p:tgtEl>
                                      </p:cMediaNode>
                                    </p:audio>
                                  </p:subTnLst>
                                </p:cTn>
                              </p:par>
                            </p:childTnLst>
                          </p:cTn>
                        </p:par>
                      </p:childTnLst>
                    </p:cTn>
                  </p:par>
                  <p:par>
                    <p:cTn id="179" fill="hold">
                      <p:stCondLst>
                        <p:cond delay="indefinite"/>
                      </p:stCondLst>
                      <p:childTnLst>
                        <p:par>
                          <p:cTn id="180" fill="hold">
                            <p:stCondLst>
                              <p:cond delay="0"/>
                            </p:stCondLst>
                            <p:childTnLst>
                              <p:par>
                                <p:cTn id="181" presetID="2" presetClass="entr" presetSubtype="8" fill="hold" grpId="0" nodeType="clickEffect">
                                  <p:stCondLst>
                                    <p:cond delay="0"/>
                                  </p:stCondLst>
                                  <p:childTnLst>
                                    <p:set>
                                      <p:cBhvr>
                                        <p:cTn id="182" dur="1" fill="hold">
                                          <p:stCondLst>
                                            <p:cond delay="0"/>
                                          </p:stCondLst>
                                        </p:cTn>
                                        <p:tgtEl>
                                          <p:spTgt spid="43077">
                                            <p:txEl>
                                              <p:pRg st="0" end="0"/>
                                            </p:txEl>
                                          </p:spTgt>
                                        </p:tgtEl>
                                        <p:attrNameLst>
                                          <p:attrName>style.visibility</p:attrName>
                                        </p:attrNameLst>
                                      </p:cBhvr>
                                      <p:to>
                                        <p:strVal val="visible"/>
                                      </p:to>
                                    </p:set>
                                    <p:anim calcmode="lin" valueType="num">
                                      <p:cBhvr additive="base">
                                        <p:cTn id="183" dur="500" fill="hold"/>
                                        <p:tgtEl>
                                          <p:spTgt spid="43077">
                                            <p:txEl>
                                              <p:pRg st="0" end="0"/>
                                            </p:txEl>
                                          </p:spTgt>
                                        </p:tgtEl>
                                        <p:attrNameLst>
                                          <p:attrName>ppt_x</p:attrName>
                                        </p:attrNameLst>
                                      </p:cBhvr>
                                      <p:tavLst>
                                        <p:tav tm="0">
                                          <p:val>
                                            <p:strVal val="0-#ppt_w/2"/>
                                          </p:val>
                                        </p:tav>
                                        <p:tav tm="100000">
                                          <p:val>
                                            <p:strVal val="#ppt_x"/>
                                          </p:val>
                                        </p:tav>
                                      </p:tavLst>
                                    </p:anim>
                                    <p:anim calcmode="lin" valueType="num">
                                      <p:cBhvr additive="base">
                                        <p:cTn id="184" dur="500" fill="hold"/>
                                        <p:tgtEl>
                                          <p:spTgt spid="4307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81"/>
                                            </p:cond>
                                          </p:stCondLst>
                                          <p:endCondLst>
                                            <p:cond evt="onStopAudio" delay="0">
                                              <p:tgtEl>
                                                <p:sldTgt/>
                                              </p:tgtEl>
                                            </p:cond>
                                          </p:endCondLst>
                                        </p:cTn>
                                        <p:tgtEl>
                                          <p:sndTgt r:embed="rId1" name="WHOOSH.WAV"/>
                                        </p:tgtEl>
                                      </p:cMediaNode>
                                    </p:audio>
                                  </p:subTnLst>
                                </p:cTn>
                              </p:par>
                            </p:childTnLst>
                          </p:cTn>
                        </p:par>
                      </p:childTnLst>
                    </p:cTn>
                  </p:par>
                  <p:par>
                    <p:cTn id="185" fill="hold">
                      <p:stCondLst>
                        <p:cond delay="indefinite"/>
                      </p:stCondLst>
                      <p:childTnLst>
                        <p:par>
                          <p:cTn id="186" fill="hold">
                            <p:stCondLst>
                              <p:cond delay="0"/>
                            </p:stCondLst>
                            <p:childTnLst>
                              <p:par>
                                <p:cTn id="187" presetID="4" presetClass="entr" presetSubtype="32" fill="hold" nodeType="clickEffect">
                                  <p:stCondLst>
                                    <p:cond delay="0"/>
                                  </p:stCondLst>
                                  <p:childTnLst>
                                    <p:set>
                                      <p:cBhvr>
                                        <p:cTn id="188" dur="1" fill="hold">
                                          <p:stCondLst>
                                            <p:cond delay="0"/>
                                          </p:stCondLst>
                                        </p:cTn>
                                        <p:tgtEl>
                                          <p:spTgt spid="43065"/>
                                        </p:tgtEl>
                                        <p:attrNameLst>
                                          <p:attrName>style.visibility</p:attrName>
                                        </p:attrNameLst>
                                      </p:cBhvr>
                                      <p:to>
                                        <p:strVal val="visible"/>
                                      </p:to>
                                    </p:set>
                                    <p:animEffect transition="in" filter="box(out)">
                                      <p:cBhvr>
                                        <p:cTn id="189" dur="500"/>
                                        <p:tgtEl>
                                          <p:spTgt spid="43065"/>
                                        </p:tgtEl>
                                      </p:cBhvr>
                                    </p:animEffect>
                                  </p:childTnLst>
                                  <p:subTnLst>
                                    <p:audio>
                                      <p:cMediaNode>
                                        <p:cTn display="0" masterRel="sameClick">
                                          <p:stCondLst>
                                            <p:cond evt="begin" delay="0">
                                              <p:tn val="187"/>
                                            </p:cond>
                                          </p:stCondLst>
                                          <p:endCondLst>
                                            <p:cond evt="onStopAudio" delay="0">
                                              <p:tgtEl>
                                                <p:sldTgt/>
                                              </p:tgtEl>
                                            </p:cond>
                                          </p:endCondLst>
                                        </p:cTn>
                                        <p:tgtEl>
                                          <p:sndTgt r:embed="rId2" name="CAMERA.WAV"/>
                                        </p:tgtEl>
                                      </p:cMediaNode>
                                    </p:audio>
                                  </p:subTnLst>
                                </p:cTn>
                              </p:par>
                            </p:childTnLst>
                          </p:cTn>
                        </p:par>
                      </p:childTnLst>
                    </p:cTn>
                  </p:par>
                  <p:par>
                    <p:cTn id="190" fill="hold">
                      <p:stCondLst>
                        <p:cond delay="indefinite"/>
                      </p:stCondLst>
                      <p:childTnLst>
                        <p:par>
                          <p:cTn id="191" fill="hold">
                            <p:stCondLst>
                              <p:cond delay="0"/>
                            </p:stCondLst>
                            <p:childTnLst>
                              <p:par>
                                <p:cTn id="192" presetID="2" presetClass="entr" presetSubtype="8" fill="hold" grpId="0" nodeType="clickEffect">
                                  <p:stCondLst>
                                    <p:cond delay="0"/>
                                  </p:stCondLst>
                                  <p:childTnLst>
                                    <p:set>
                                      <p:cBhvr>
                                        <p:cTn id="193" dur="1" fill="hold">
                                          <p:stCondLst>
                                            <p:cond delay="0"/>
                                          </p:stCondLst>
                                        </p:cTn>
                                        <p:tgtEl>
                                          <p:spTgt spid="43061"/>
                                        </p:tgtEl>
                                        <p:attrNameLst>
                                          <p:attrName>style.visibility</p:attrName>
                                        </p:attrNameLst>
                                      </p:cBhvr>
                                      <p:to>
                                        <p:strVal val="visible"/>
                                      </p:to>
                                    </p:set>
                                    <p:anim calcmode="lin" valueType="num">
                                      <p:cBhvr additive="base">
                                        <p:cTn id="194" dur="500" fill="hold"/>
                                        <p:tgtEl>
                                          <p:spTgt spid="43061"/>
                                        </p:tgtEl>
                                        <p:attrNameLst>
                                          <p:attrName>ppt_x</p:attrName>
                                        </p:attrNameLst>
                                      </p:cBhvr>
                                      <p:tavLst>
                                        <p:tav tm="0">
                                          <p:val>
                                            <p:strVal val="0-#ppt_w/2"/>
                                          </p:val>
                                        </p:tav>
                                        <p:tav tm="100000">
                                          <p:val>
                                            <p:strVal val="#ppt_x"/>
                                          </p:val>
                                        </p:tav>
                                      </p:tavLst>
                                    </p:anim>
                                    <p:anim calcmode="lin" valueType="num">
                                      <p:cBhvr additive="base">
                                        <p:cTn id="195" dur="500" fill="hold"/>
                                        <p:tgtEl>
                                          <p:spTgt spid="430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2"/>
                                            </p:cond>
                                          </p:stCondLst>
                                          <p:endCondLst>
                                            <p:cond evt="onStopAudio" delay="0">
                                              <p:tgtEl>
                                                <p:sldTgt/>
                                              </p:tgtEl>
                                            </p:cond>
                                          </p:endCondLst>
                                        </p:cTn>
                                        <p:tgtEl>
                                          <p:sndTgt r:embed="rId1" name="WHOOSH.WAV"/>
                                        </p:tgtEl>
                                      </p:cMediaNode>
                                    </p:audio>
                                  </p:subTnLst>
                                </p:cTn>
                              </p:par>
                            </p:childTnLst>
                          </p:cTn>
                        </p:par>
                      </p:childTnLst>
                    </p:cTn>
                  </p:par>
                  <p:par>
                    <p:cTn id="196" fill="hold">
                      <p:stCondLst>
                        <p:cond delay="indefinite"/>
                      </p:stCondLst>
                      <p:childTnLst>
                        <p:par>
                          <p:cTn id="197" fill="hold">
                            <p:stCondLst>
                              <p:cond delay="0"/>
                            </p:stCondLst>
                            <p:childTnLst>
                              <p:par>
                                <p:cTn id="198" presetID="2" presetClass="entr" presetSubtype="8" fill="hold" grpId="0" nodeType="clickEffect">
                                  <p:stCondLst>
                                    <p:cond delay="0"/>
                                  </p:stCondLst>
                                  <p:childTnLst>
                                    <p:set>
                                      <p:cBhvr>
                                        <p:cTn id="199" dur="1" fill="hold">
                                          <p:stCondLst>
                                            <p:cond delay="0"/>
                                          </p:stCondLst>
                                        </p:cTn>
                                        <p:tgtEl>
                                          <p:spTgt spid="43078">
                                            <p:txEl>
                                              <p:pRg st="0" end="0"/>
                                            </p:txEl>
                                          </p:spTgt>
                                        </p:tgtEl>
                                        <p:attrNameLst>
                                          <p:attrName>style.visibility</p:attrName>
                                        </p:attrNameLst>
                                      </p:cBhvr>
                                      <p:to>
                                        <p:strVal val="visible"/>
                                      </p:to>
                                    </p:set>
                                    <p:anim calcmode="lin" valueType="num">
                                      <p:cBhvr additive="base">
                                        <p:cTn id="200" dur="500" fill="hold"/>
                                        <p:tgtEl>
                                          <p:spTgt spid="43078">
                                            <p:txEl>
                                              <p:pRg st="0" end="0"/>
                                            </p:txEl>
                                          </p:spTgt>
                                        </p:tgtEl>
                                        <p:attrNameLst>
                                          <p:attrName>ppt_x</p:attrName>
                                        </p:attrNameLst>
                                      </p:cBhvr>
                                      <p:tavLst>
                                        <p:tav tm="0">
                                          <p:val>
                                            <p:strVal val="0-#ppt_w/2"/>
                                          </p:val>
                                        </p:tav>
                                        <p:tav tm="100000">
                                          <p:val>
                                            <p:strVal val="#ppt_x"/>
                                          </p:val>
                                        </p:tav>
                                      </p:tavLst>
                                    </p:anim>
                                    <p:anim calcmode="lin" valueType="num">
                                      <p:cBhvr additive="base">
                                        <p:cTn id="201" dur="500" fill="hold"/>
                                        <p:tgtEl>
                                          <p:spTgt spid="4307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8"/>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4" grpId="0" animBg="1" autoUpdateAnimBg="0"/>
      <p:bldP spid="43045" grpId="0" animBg="1" autoUpdateAnimBg="0"/>
      <p:bldP spid="43046" grpId="0" animBg="1" autoUpdateAnimBg="0"/>
      <p:bldP spid="43047" grpId="0" animBg="1" autoUpdateAnimBg="0"/>
      <p:bldP spid="43051" grpId="0" animBg="1" autoUpdateAnimBg="0"/>
      <p:bldP spid="43053" grpId="0" animBg="1" autoUpdateAnimBg="0"/>
      <p:bldP spid="43054" grpId="0" animBg="1" autoUpdateAnimBg="0"/>
      <p:bldP spid="43055" grpId="0" animBg="1" autoUpdateAnimBg="0"/>
      <p:bldP spid="43058" grpId="0" animBg="1" autoUpdateAnimBg="0"/>
      <p:bldP spid="43059" grpId="0" animBg="1" autoUpdateAnimBg="0"/>
      <p:bldP spid="43060" grpId="0" animBg="1" autoUpdateAnimBg="0"/>
      <p:bldP spid="43061" grpId="0" animBg="1" autoUpdateAnimBg="0"/>
      <p:bldP spid="43067" grpId="0" autoUpdateAnimBg="0" build="p"/>
      <p:bldP spid="43068" grpId="0" autoUpdateAnimBg="0" build="p"/>
      <p:bldP spid="43069" grpId="0" autoUpdateAnimBg="0" build="p"/>
      <p:bldP spid="43070" grpId="0" autoUpdateAnimBg="0" build="p"/>
      <p:bldP spid="43071" grpId="0" autoUpdateAnimBg="0" build="p"/>
      <p:bldP spid="43072" grpId="0" autoUpdateAnimBg="0" build="p"/>
      <p:bldP spid="43073" grpId="0" autoUpdateAnimBg="0" build="p"/>
      <p:bldP spid="43074" grpId="0" autoUpdateAnimBg="0" build="p"/>
      <p:bldP spid="43075" grpId="0" autoUpdateAnimBg="0" build="p"/>
      <p:bldP spid="43076" grpId="0" autoUpdateAnimBg="0" build="p"/>
      <p:bldP spid="43077" grpId="0" autoUpdateAnimBg="0" build="p"/>
      <p:bldP spid="43078" grpId="0"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58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5845" name="Rectangle 3"/>
          <p:cNvSpPr>
            <a:spLocks noGrp="1" noChangeArrowheads="1"/>
          </p:cNvSpPr>
          <p:nvPr>
            <p:ph type="body" idx="1"/>
          </p:nvPr>
        </p:nvSpPr>
        <p:spPr>
          <a:xfrm>
            <a:off x="14287" y="1152525"/>
            <a:ext cx="5395913" cy="3343275"/>
          </a:xfrm>
          <a:ln>
            <a:solidFill>
              <a:schemeClr val="accent1"/>
            </a:solidFill>
          </a:ln>
        </p:spPr>
        <p:txBody>
          <a:bodyPr/>
          <a:lstStyle/>
          <a:p>
            <a:pPr eaLnBrk="1" hangingPunct="1">
              <a:buFont typeface="Wingdings" panose="05000000000000000000" pitchFamily="2" charset="2"/>
              <a:buNone/>
            </a:pPr>
            <a:r>
              <a:rPr lang="en-US" altLang="zh-CN" sz="1800" b="1" dirty="0" smtClean="0">
                <a:solidFill>
                  <a:srgbClr val="996600"/>
                </a:solidFill>
                <a:ea typeface="华文楷体" panose="02010600040101010101" pitchFamily="2" charset="-122"/>
              </a:rPr>
              <a:t>[BFS</a:t>
            </a:r>
            <a:r>
              <a:rPr lang="zh-CN" altLang="en-US" sz="1800" b="1" dirty="0" smtClean="0">
                <a:solidFill>
                  <a:srgbClr val="996600"/>
                </a:solidFill>
                <a:ea typeface="华文楷体" panose="02010600040101010101" pitchFamily="2" charset="-122"/>
              </a:rPr>
              <a:t>算法思想</a:t>
            </a:r>
            <a:r>
              <a:rPr lang="en-US" altLang="zh-CN" sz="1800" b="1" dirty="0" smtClean="0">
                <a:solidFill>
                  <a:srgbClr val="996600"/>
                </a:solidFill>
                <a:ea typeface="华文楷体" panose="02010600040101010101" pitchFamily="2" charset="-122"/>
              </a:rPr>
              <a:t>]</a:t>
            </a:r>
            <a:endParaRPr lang="en-US" altLang="zh-CN" sz="1800"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1800" dirty="0" smtClean="0">
                <a:ea typeface="华文楷体" panose="02010600040101010101" pitchFamily="2" charset="-122"/>
              </a:rPr>
              <a:t>     (1)</a:t>
            </a:r>
            <a:r>
              <a:rPr lang="zh-CN" altLang="en-US" sz="1800" dirty="0" smtClean="0">
                <a:ea typeface="华文楷体" panose="02010600040101010101" pitchFamily="2" charset="-122"/>
              </a:rPr>
              <a:t>访问源顶点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，并记录它已被访问；</a:t>
            </a:r>
            <a:endParaRPr lang="zh-CN" altLang="en-US" sz="1800" dirty="0" smtClean="0">
              <a:ea typeface="华文楷体" panose="02010600040101010101" pitchFamily="2" charset="-122"/>
            </a:endParaRPr>
          </a:p>
          <a:p>
            <a:pPr eaLnBrk="1" hangingPunct="1">
              <a:buNone/>
            </a:pPr>
            <a:r>
              <a:rPr lang="zh-CN" altLang="en-US" sz="1800" dirty="0" smtClean="0">
                <a:ea typeface="华文楷体" panose="02010600040101010101" pitchFamily="2" charset="-122"/>
              </a:rPr>
              <a:t>          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入队列</a:t>
            </a:r>
            <a:r>
              <a:rPr lang="en-US" altLang="zh-CN" sz="1800" dirty="0">
                <a:ea typeface="华文楷体" panose="02010600040101010101" pitchFamily="2" charset="-122"/>
              </a:rPr>
              <a:t>Qu </a:t>
            </a:r>
            <a:r>
              <a:rPr lang="zh-CN" altLang="en-US" sz="1800" dirty="0" smtClean="0">
                <a:ea typeface="华文楷体" panose="02010600040101010101" pitchFamily="2" charset="-122"/>
              </a:rPr>
              <a:t>；</a:t>
            </a:r>
            <a:endParaRPr lang="zh-CN" altLang="en-US" sz="1800" dirty="0" smtClean="0">
              <a:ea typeface="华文楷体" panose="02010600040101010101" pitchFamily="2" charset="-122"/>
            </a:endParaRPr>
          </a:p>
          <a:p>
            <a:pPr eaLnBrk="1" hangingPunct="1">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(2)</a:t>
            </a:r>
            <a:r>
              <a:rPr lang="zh-CN" altLang="en-US" sz="1800" dirty="0" smtClean="0">
                <a:ea typeface="华文楷体" panose="02010600040101010101" pitchFamily="2" charset="-122"/>
              </a:rPr>
              <a:t>如果队列</a:t>
            </a:r>
            <a:r>
              <a:rPr lang="en-US" altLang="zh-CN" sz="1800" dirty="0">
                <a:ea typeface="华文楷体" panose="02010600040101010101" pitchFamily="2" charset="-122"/>
              </a:rPr>
              <a:t>Qu</a:t>
            </a:r>
            <a:r>
              <a:rPr lang="zh-CN" altLang="en-US" sz="1800" dirty="0" smtClean="0">
                <a:ea typeface="华文楷体" panose="02010600040101010101" pitchFamily="2" charset="-122"/>
              </a:rPr>
              <a:t>空，则退出；</a:t>
            </a:r>
            <a:endParaRPr lang="zh-CN" altLang="en-US" sz="1800" dirty="0" smtClean="0">
              <a:ea typeface="华文楷体" panose="02010600040101010101" pitchFamily="2" charset="-122"/>
            </a:endParaRPr>
          </a:p>
          <a:p>
            <a:pPr eaLnBrk="1" hangingPunct="1">
              <a:buFont typeface="Wingdings" panose="05000000000000000000" pitchFamily="2" charset="2"/>
              <a:buNone/>
            </a:pPr>
            <a:r>
              <a:rPr lang="zh-CN" altLang="en-US" sz="1800" dirty="0" smtClean="0">
                <a:ea typeface="华文楷体" panose="02010600040101010101" pitchFamily="2" charset="-122"/>
              </a:rPr>
              <a:t>         否则，从队中取出一顶点；</a:t>
            </a:r>
            <a:endParaRPr lang="zh-CN" altLang="en-US" sz="1800" dirty="0" smtClean="0">
              <a:ea typeface="华文楷体" panose="02010600040101010101" pitchFamily="2" charset="-122"/>
            </a:endParaRPr>
          </a:p>
          <a:p>
            <a:pPr eaLnBrk="1" hangingPunct="1">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(3)</a:t>
            </a:r>
            <a:r>
              <a:rPr lang="zh-CN" altLang="en-US" sz="1800" dirty="0" smtClean="0">
                <a:ea typeface="华文楷体" panose="02010600040101010101" pitchFamily="2" charset="-122"/>
              </a:rPr>
              <a:t>求该顶点的一个邻接点；</a:t>
            </a:r>
            <a:endParaRPr lang="zh-CN" altLang="en-US" sz="1800" dirty="0" smtClean="0">
              <a:ea typeface="华文楷体" panose="02010600040101010101" pitchFamily="2" charset="-122"/>
            </a:endParaRPr>
          </a:p>
          <a:p>
            <a:pPr eaLnBrk="1" hangingPunct="1">
              <a:buFont typeface="Wingdings" panose="05000000000000000000" pitchFamily="2" charset="2"/>
              <a:buNone/>
            </a:pPr>
            <a:r>
              <a:rPr lang="zh-CN" altLang="en-US" sz="1800" dirty="0" smtClean="0">
                <a:ea typeface="华文楷体" panose="02010600040101010101" pitchFamily="2" charset="-122"/>
              </a:rPr>
              <a:t>         如果此邻接点未被访问， 则访问它，并记录它已被访问，将其入队列</a:t>
            </a:r>
            <a:r>
              <a:rPr lang="en-US" altLang="zh-CN" sz="1800" dirty="0" smtClean="0">
                <a:ea typeface="华文楷体" panose="02010600040101010101" pitchFamily="2" charset="-122"/>
              </a:rPr>
              <a:t>Qu</a:t>
            </a:r>
            <a:r>
              <a:rPr lang="zh-CN" altLang="en-US" sz="1800" dirty="0" smtClean="0">
                <a:ea typeface="华文楷体" panose="02010600040101010101" pitchFamily="2" charset="-122"/>
              </a:rPr>
              <a:t>；</a:t>
            </a:r>
            <a:endParaRPr lang="zh-CN" altLang="en-US" sz="1800" dirty="0" smtClean="0">
              <a:ea typeface="华文楷体" panose="02010600040101010101" pitchFamily="2" charset="-122"/>
            </a:endParaRPr>
          </a:p>
          <a:p>
            <a:pPr eaLnBrk="1" hangingPunct="1">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(4)</a:t>
            </a:r>
            <a:r>
              <a:rPr lang="zh-CN" altLang="en-US" sz="1800" dirty="0" smtClean="0">
                <a:ea typeface="华文楷体" panose="02010600040101010101" pitchFamily="2" charset="-122"/>
              </a:rPr>
              <a:t>如果该顶点还有下一个邻接点，则转</a:t>
            </a:r>
            <a:r>
              <a:rPr lang="en-US" altLang="zh-CN" sz="1800" dirty="0" smtClean="0">
                <a:ea typeface="华文楷体" panose="02010600040101010101" pitchFamily="2" charset="-122"/>
              </a:rPr>
              <a:t>(3)</a:t>
            </a:r>
            <a:r>
              <a:rPr lang="zh-CN" altLang="en-US" sz="1800" dirty="0" smtClean="0">
                <a:ea typeface="华文楷体" panose="02010600040101010101" pitchFamily="2" charset="-122"/>
              </a:rPr>
              <a:t>；</a:t>
            </a:r>
            <a:endParaRPr lang="zh-CN" altLang="en-US" sz="1800" dirty="0" smtClean="0">
              <a:ea typeface="华文楷体" panose="02010600040101010101" pitchFamily="2" charset="-122"/>
            </a:endParaRPr>
          </a:p>
          <a:p>
            <a:pPr eaLnBrk="1" hangingPunct="1">
              <a:buFont typeface="Wingdings" panose="05000000000000000000" pitchFamily="2" charset="2"/>
              <a:buNone/>
            </a:pPr>
            <a:r>
              <a:rPr lang="zh-CN" altLang="en-US" sz="1800" dirty="0" smtClean="0">
                <a:ea typeface="华文楷体" panose="02010600040101010101" pitchFamily="2" charset="-122"/>
              </a:rPr>
              <a:t>          否则，转</a:t>
            </a:r>
            <a:r>
              <a:rPr lang="en-US" altLang="zh-CN" sz="1800" dirty="0" smtClean="0">
                <a:ea typeface="华文楷体" panose="02010600040101010101" pitchFamily="2" charset="-122"/>
              </a:rPr>
              <a:t>(2)</a:t>
            </a:r>
            <a:endParaRPr lang="en-US" altLang="zh-CN" sz="1800" dirty="0" smtClean="0">
              <a:ea typeface="华文楷体" panose="02010600040101010101" pitchFamily="2" charset="-122"/>
            </a:endParaRPr>
          </a:p>
        </p:txBody>
      </p:sp>
      <p:sp>
        <p:nvSpPr>
          <p:cNvPr id="2" name="文本框 1"/>
          <p:cNvSpPr txBox="1"/>
          <p:nvPr/>
        </p:nvSpPr>
        <p:spPr>
          <a:xfrm>
            <a:off x="111807" y="4581525"/>
            <a:ext cx="8879793" cy="1698927"/>
          </a:xfrm>
          <a:prstGeom prst="rect">
            <a:avLst/>
          </a:prstGeom>
          <a:noFill/>
          <a:ln>
            <a:solidFill>
              <a:schemeClr val="accent4">
                <a:lumMod val="60000"/>
                <a:lumOff val="40000"/>
              </a:schemeClr>
            </a:solidFill>
          </a:ln>
        </p:spPr>
        <p:txBody>
          <a:bodyPr wrap="square" rtlCol="0">
            <a:spAutoFit/>
          </a:bodyPr>
          <a:lstStyle/>
          <a:p>
            <a:pPr marL="342900" indent="-342900" eaLnBrk="1" hangingPunct="1">
              <a:spcBef>
                <a:spcPct val="20000"/>
              </a:spcBef>
              <a:buClr>
                <a:schemeClr val="hlink"/>
              </a:buClr>
            </a:pPr>
            <a:r>
              <a:rPr lang="zh-CN" altLang="en-US" sz="1600" dirty="0">
                <a:latin typeface="Times New Roman" panose="02020603050405020304" pitchFamily="18" charset="0"/>
                <a:ea typeface="华文楷体" panose="02010600040101010101" pitchFamily="2" charset="-122"/>
              </a:rPr>
              <a:t>假设在</a:t>
            </a:r>
            <a:r>
              <a:rPr lang="en-US" altLang="zh-CN" sz="1600" dirty="0">
                <a:latin typeface="Times New Roman" panose="02020603050405020304" pitchFamily="18" charset="0"/>
                <a:ea typeface="华文楷体" panose="02010600040101010101" pitchFamily="2" charset="-122"/>
              </a:rPr>
              <a:t>BFS</a:t>
            </a:r>
            <a:r>
              <a:rPr lang="zh-CN" altLang="en-US" sz="1600" dirty="0">
                <a:latin typeface="Times New Roman" panose="02020603050405020304" pitchFamily="18" charset="0"/>
                <a:ea typeface="华文楷体" panose="02010600040101010101" pitchFamily="2" charset="-122"/>
              </a:rPr>
              <a:t>算法运行过程通过三</a:t>
            </a:r>
            <a:r>
              <a:rPr lang="zh-CN" altLang="en-US" sz="1600" dirty="0" smtClean="0">
                <a:latin typeface="Times New Roman" panose="02020603050405020304" pitchFamily="18" charset="0"/>
                <a:ea typeface="华文楷体" panose="02010600040101010101" pitchFamily="2" charset="-122"/>
              </a:rPr>
              <a:t>个</a:t>
            </a:r>
            <a:r>
              <a:rPr lang="zh-CN" altLang="en-US" sz="1600" dirty="0">
                <a:latin typeface="Times New Roman" panose="02020603050405020304" pitchFamily="18" charset="0"/>
                <a:ea typeface="华文楷体" panose="02010600040101010101" pitchFamily="2" charset="-122"/>
              </a:rPr>
              <a:t>全局</a:t>
            </a:r>
            <a:r>
              <a:rPr lang="zh-CN" altLang="en-US" sz="1600" dirty="0" smtClean="0">
                <a:latin typeface="Times New Roman" panose="02020603050405020304" pitchFamily="18" charset="0"/>
                <a:ea typeface="华文楷体" panose="02010600040101010101" pitchFamily="2" charset="-122"/>
              </a:rPr>
              <a:t>数组</a:t>
            </a:r>
            <a:r>
              <a:rPr lang="zh-CN" altLang="en-US" sz="1600" dirty="0">
                <a:latin typeface="Times New Roman" panose="02020603050405020304" pitchFamily="18" charset="0"/>
                <a:ea typeface="华文楷体" panose="02010600040101010101" pitchFamily="2" charset="-122"/>
              </a:rPr>
              <a:t>中每个结点维护三个</a:t>
            </a:r>
            <a:r>
              <a:rPr lang="zh-CN" altLang="en-US" sz="1600" dirty="0" smtClean="0">
                <a:latin typeface="Times New Roman" panose="02020603050405020304" pitchFamily="18" charset="0"/>
                <a:ea typeface="华文楷体" panose="02010600040101010101" pitchFamily="2" charset="-122"/>
              </a:rPr>
              <a:t>属性</a:t>
            </a:r>
            <a:r>
              <a:rPr lang="en-US" altLang="zh-CN" sz="1600" dirty="0" smtClean="0">
                <a:latin typeface="Times New Roman" panose="02020603050405020304" pitchFamily="18" charset="0"/>
                <a:ea typeface="华文楷体" panose="02010600040101010101" pitchFamily="2" charset="-122"/>
              </a:rPr>
              <a:t>:</a:t>
            </a:r>
            <a:endParaRPr lang="en-US" altLang="zh-CN" sz="1600" dirty="0">
              <a:latin typeface="Times New Roman" panose="02020603050405020304" pitchFamily="18" charset="0"/>
              <a:ea typeface="华文楷体" panose="02010600040101010101" pitchFamily="2" charset="-122"/>
            </a:endParaRPr>
          </a:p>
          <a:p>
            <a:pPr marL="342900" indent="-342900" eaLnBrk="1" hangingPunct="1">
              <a:spcBef>
                <a:spcPct val="20000"/>
              </a:spcBef>
              <a:buClr>
                <a:schemeClr val="hlink"/>
              </a:buClr>
            </a:pPr>
            <a:r>
              <a:rPr lang="en-US" altLang="zh-CN" sz="1600" dirty="0">
                <a:latin typeface="Times New Roman" panose="02020603050405020304" pitchFamily="18" charset="0"/>
                <a:ea typeface="华文楷体" panose="02010600040101010101" pitchFamily="2" charset="-122"/>
              </a:rPr>
              <a:t>①</a:t>
            </a:r>
            <a:r>
              <a:rPr lang="en-US" altLang="zh-CN" sz="1600" dirty="0" err="1">
                <a:latin typeface="Times New Roman" panose="02020603050405020304" pitchFamily="18" charset="0"/>
                <a:ea typeface="华文楷体" panose="02010600040101010101" pitchFamily="2" charset="-122"/>
              </a:rPr>
              <a:t>typedef</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enum</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Vclolor</a:t>
            </a:r>
            <a:r>
              <a:rPr lang="en-US" altLang="zh-CN" sz="1600" dirty="0">
                <a:latin typeface="Times New Roman" panose="02020603050405020304" pitchFamily="18" charset="0"/>
                <a:ea typeface="华文楷体" panose="02010600040101010101" pitchFamily="2" charset="-122"/>
              </a:rPr>
              <a:t>{white, </a:t>
            </a:r>
            <a:r>
              <a:rPr lang="en-US" altLang="zh-CN" sz="1600" dirty="0" err="1">
                <a:latin typeface="Times New Roman" panose="02020603050405020304" pitchFamily="18" charset="0"/>
                <a:ea typeface="华文楷体" panose="02010600040101010101" pitchFamily="2" charset="-122"/>
              </a:rPr>
              <a:t>gray,black</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vextexColor</a:t>
            </a:r>
            <a:r>
              <a:rPr lang="en-US" altLang="zh-CN" sz="1600" dirty="0">
                <a:latin typeface="Times New Roman" panose="02020603050405020304" pitchFamily="18" charset="0"/>
                <a:ea typeface="华文楷体" panose="02010600040101010101" pitchFamily="2" charset="-122"/>
              </a:rPr>
              <a:t>; </a:t>
            </a:r>
            <a:r>
              <a:rPr lang="en-US" altLang="zh-CN" sz="1600" dirty="0" err="1">
                <a:solidFill>
                  <a:srgbClr val="FF0000"/>
                </a:solidFill>
                <a:latin typeface="Times New Roman" panose="02020603050405020304" pitchFamily="18" charset="0"/>
                <a:ea typeface="华文楷体" panose="02010600040101010101" pitchFamily="2" charset="-122"/>
              </a:rPr>
              <a:t>vextexColor</a:t>
            </a:r>
            <a:r>
              <a:rPr lang="en-US" altLang="zh-CN" sz="1600" dirty="0">
                <a:solidFill>
                  <a:srgbClr val="FF0000"/>
                </a:solidFill>
                <a:latin typeface="Times New Roman" panose="02020603050405020304" pitchFamily="18" charset="0"/>
                <a:ea typeface="华文楷体" panose="02010600040101010101" pitchFamily="2" charset="-122"/>
              </a:rPr>
              <a:t>  </a:t>
            </a:r>
            <a:r>
              <a:rPr lang="en-US" altLang="zh-CN" sz="1600" dirty="0" smtClean="0">
                <a:solidFill>
                  <a:srgbClr val="FF0000"/>
                </a:solidFill>
                <a:latin typeface="Times New Roman" panose="02020603050405020304" pitchFamily="18" charset="0"/>
                <a:ea typeface="华文楷体" panose="02010600040101010101" pitchFamily="2" charset="-122"/>
              </a:rPr>
              <a:t>color[MAXV]; </a:t>
            </a:r>
            <a:r>
              <a:rPr lang="en-US" altLang="zh-CN" sz="1600" dirty="0" smtClean="0">
                <a:latin typeface="Times New Roman" panose="02020603050405020304" pitchFamily="18" charset="0"/>
                <a:ea typeface="华文楷体" panose="02010600040101010101" pitchFamily="2" charset="-122"/>
              </a:rPr>
              <a:t>color[v]=white</a:t>
            </a:r>
            <a:r>
              <a:rPr lang="zh-CN" altLang="en-US" sz="1600" dirty="0" smtClean="0">
                <a:latin typeface="Times New Roman" panose="02020603050405020304" pitchFamily="18" charset="0"/>
                <a:ea typeface="华文楷体" panose="02010600040101010101" pitchFamily="2" charset="-122"/>
              </a:rPr>
              <a:t>，表示顶点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涂白色；</a:t>
            </a:r>
            <a:r>
              <a:rPr lang="en-US" altLang="zh-CN" sz="1600" dirty="0">
                <a:latin typeface="Times New Roman" panose="02020603050405020304" pitchFamily="18" charset="0"/>
                <a:ea typeface="华文楷体" panose="02010600040101010101" pitchFamily="2" charset="-122"/>
              </a:rPr>
              <a:t> Color[v</a:t>
            </a:r>
            <a:r>
              <a:rPr lang="en-US" altLang="zh-CN" sz="1600" dirty="0" smtClean="0">
                <a:latin typeface="Times New Roman" panose="02020603050405020304" pitchFamily="18" charset="0"/>
                <a:ea typeface="华文楷体" panose="02010600040101010101" pitchFamily="2" charset="-122"/>
              </a:rPr>
              <a:t>]=gray</a:t>
            </a:r>
            <a:r>
              <a:rPr lang="zh-CN" altLang="en-US" sz="1600" dirty="0" smtClean="0">
                <a:latin typeface="Times New Roman" panose="02020603050405020304" pitchFamily="18" charset="0"/>
                <a:ea typeface="华文楷体" panose="02010600040101010101" pitchFamily="2" charset="-122"/>
              </a:rPr>
              <a:t>，表示顶点</a:t>
            </a:r>
            <a:r>
              <a:rPr lang="en-US" altLang="zh-CN" sz="1600" dirty="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涂灰色；</a:t>
            </a:r>
            <a:r>
              <a:rPr lang="en-US" altLang="zh-CN" sz="1600" dirty="0">
                <a:latin typeface="Times New Roman" panose="02020603050405020304" pitchFamily="18" charset="0"/>
                <a:ea typeface="华文楷体" panose="02010600040101010101" pitchFamily="2" charset="-122"/>
              </a:rPr>
              <a:t> Color[v</a:t>
            </a:r>
            <a:r>
              <a:rPr lang="en-US" altLang="zh-CN" sz="1600" dirty="0" smtClean="0">
                <a:latin typeface="Times New Roman" panose="02020603050405020304" pitchFamily="18" charset="0"/>
                <a:ea typeface="华文楷体" panose="02010600040101010101" pitchFamily="2" charset="-122"/>
              </a:rPr>
              <a:t>]=black</a:t>
            </a:r>
            <a:r>
              <a:rPr lang="zh-CN" altLang="en-US" sz="1600" dirty="0" smtClean="0">
                <a:latin typeface="Times New Roman" panose="02020603050405020304" pitchFamily="18" charset="0"/>
                <a:ea typeface="华文楷体" panose="02010600040101010101" pitchFamily="2" charset="-122"/>
              </a:rPr>
              <a:t>，表示顶点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涂黑色；</a:t>
            </a:r>
            <a:endParaRPr lang="en-US" altLang="zh-CN" sz="1600" dirty="0" smtClean="0">
              <a:latin typeface="Times New Roman" panose="02020603050405020304" pitchFamily="18" charset="0"/>
              <a:ea typeface="华文楷体" panose="02010600040101010101" pitchFamily="2" charset="-122"/>
            </a:endParaRPr>
          </a:p>
          <a:p>
            <a:pPr marL="342900" indent="-342900" eaLnBrk="1" hangingPunct="1">
              <a:spcBef>
                <a:spcPct val="20000"/>
              </a:spcBef>
              <a:buClr>
                <a:schemeClr val="hlink"/>
              </a:buClr>
            </a:pPr>
            <a:r>
              <a:rPr lang="en-US" altLang="zh-CN" sz="1600" dirty="0" smtClean="0">
                <a:latin typeface="Times New Roman" panose="02020603050405020304" pitchFamily="18" charset="0"/>
                <a:ea typeface="华文楷体" panose="02010600040101010101" pitchFamily="2" charset="-122"/>
              </a:rPr>
              <a:t>②</a:t>
            </a:r>
            <a:r>
              <a:rPr lang="en-US" altLang="zh-CN" sz="1600" dirty="0" err="1">
                <a:solidFill>
                  <a:srgbClr val="FF0000"/>
                </a:solidFill>
                <a:latin typeface="Times New Roman" panose="02020603050405020304" pitchFamily="18" charset="0"/>
                <a:ea typeface="华文楷体" panose="02010600040101010101" pitchFamily="2" charset="-122"/>
              </a:rPr>
              <a:t>int</a:t>
            </a:r>
            <a:r>
              <a:rPr lang="en-US" altLang="zh-CN" sz="1600" dirty="0">
                <a:solidFill>
                  <a:srgbClr val="FF0000"/>
                </a:solidFill>
                <a:latin typeface="Times New Roman" panose="02020603050405020304" pitchFamily="18" charset="0"/>
                <a:ea typeface="华文楷体" panose="02010600040101010101" pitchFamily="2" charset="-122"/>
              </a:rPr>
              <a:t> </a:t>
            </a:r>
            <a:r>
              <a:rPr lang="en-US" altLang="zh-CN" sz="1600" dirty="0" smtClean="0">
                <a:solidFill>
                  <a:srgbClr val="FF0000"/>
                </a:solidFill>
                <a:latin typeface="Times New Roman" panose="02020603050405020304" pitchFamily="18" charset="0"/>
                <a:ea typeface="华文楷体" panose="02010600040101010101" pitchFamily="2" charset="-122"/>
              </a:rPr>
              <a:t>p[MAXV]; </a:t>
            </a:r>
            <a:r>
              <a:rPr lang="zh-CN" altLang="en-US" sz="1600" dirty="0" smtClean="0">
                <a:latin typeface="Times New Roman" panose="02020603050405020304" pitchFamily="18" charset="0"/>
                <a:ea typeface="华文楷体" panose="02010600040101010101" pitchFamily="2" charset="-122"/>
              </a:rPr>
              <a:t>在扫描已发现顶点</a:t>
            </a:r>
            <a:r>
              <a:rPr lang="en-US" altLang="zh-CN" sz="1600" dirty="0" smtClean="0">
                <a:latin typeface="Times New Roman" panose="02020603050405020304" pitchFamily="18" charset="0"/>
                <a:ea typeface="华文楷体" panose="02010600040101010101" pitchFamily="2" charset="-122"/>
              </a:rPr>
              <a:t>u</a:t>
            </a:r>
            <a:r>
              <a:rPr lang="zh-CN" altLang="en-US" sz="1600" dirty="0" smtClean="0">
                <a:latin typeface="Times New Roman" panose="02020603050405020304" pitchFamily="18" charset="0"/>
                <a:ea typeface="华文楷体" panose="02010600040101010101" pitchFamily="2" charset="-122"/>
              </a:rPr>
              <a:t>（灰色顶点）的邻接顶点时，每发现一个白色顶点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，就置</a:t>
            </a:r>
            <a:r>
              <a:rPr lang="en-US" altLang="zh-CN" sz="1600" dirty="0" smtClean="0">
                <a:latin typeface="Times New Roman" panose="02020603050405020304" pitchFamily="18" charset="0"/>
                <a:ea typeface="华文楷体" panose="02010600040101010101" pitchFamily="2" charset="-122"/>
              </a:rPr>
              <a:t>p[v]=u</a:t>
            </a:r>
            <a:r>
              <a:rPr lang="zh-CN" altLang="en-US" sz="1600" dirty="0" smtClean="0">
                <a:latin typeface="Times New Roman" panose="02020603050405020304" pitchFamily="18" charset="0"/>
                <a:ea typeface="华文楷体" panose="02010600040101010101" pitchFamily="2" charset="-122"/>
              </a:rPr>
              <a:t>；这表示顶点</a:t>
            </a:r>
            <a:r>
              <a:rPr lang="en-US" altLang="zh-CN" sz="1600" dirty="0" smtClean="0">
                <a:latin typeface="Times New Roman" panose="02020603050405020304" pitchFamily="18" charset="0"/>
                <a:ea typeface="华文楷体" panose="02010600040101010101" pitchFamily="2" charset="-122"/>
              </a:rPr>
              <a:t>u</a:t>
            </a:r>
            <a:r>
              <a:rPr lang="zh-CN" altLang="en-US" sz="1600" dirty="0" smtClean="0">
                <a:latin typeface="Times New Roman" panose="02020603050405020304" pitchFamily="18" charset="0"/>
                <a:ea typeface="华文楷体" panose="02010600040101010101" pitchFamily="2" charset="-122"/>
              </a:rPr>
              <a:t>是顶点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在广度优先搜索中的前驱顶点；</a:t>
            </a:r>
            <a:endParaRPr lang="en-US" altLang="zh-CN" dirty="0" smtClean="0"/>
          </a:p>
          <a:p>
            <a:r>
              <a:rPr lang="en-US" altLang="zh-CN" dirty="0" smtClean="0">
                <a:latin typeface="宋体" panose="02010600030101010101" pitchFamily="2" charset="-122"/>
              </a:rPr>
              <a:t>③</a:t>
            </a:r>
            <a:r>
              <a:rPr lang="en-US" altLang="zh-CN" dirty="0">
                <a:latin typeface="Times New Roman" panose="02020603050405020304" pitchFamily="18" charset="0"/>
                <a:ea typeface="华文楷体" panose="02010600040101010101" pitchFamily="2" charset="-122"/>
              </a:rPr>
              <a:t> </a:t>
            </a:r>
            <a:r>
              <a:rPr lang="en-US" altLang="zh-CN" sz="1600" dirty="0" err="1">
                <a:solidFill>
                  <a:srgbClr val="FF0000"/>
                </a:solidFill>
                <a:latin typeface="Times New Roman" panose="02020603050405020304" pitchFamily="18" charset="0"/>
                <a:ea typeface="华文楷体" panose="02010600040101010101" pitchFamily="2" charset="-122"/>
              </a:rPr>
              <a:t>int</a:t>
            </a:r>
            <a:r>
              <a:rPr lang="en-US" altLang="zh-CN" sz="1600" dirty="0">
                <a:solidFill>
                  <a:srgbClr val="FF0000"/>
                </a:solidFill>
                <a:latin typeface="Times New Roman" panose="02020603050405020304" pitchFamily="18" charset="0"/>
                <a:ea typeface="华文楷体" panose="02010600040101010101" pitchFamily="2" charset="-122"/>
              </a:rPr>
              <a:t> d[MAXV]; </a:t>
            </a:r>
            <a:r>
              <a:rPr lang="en-US" altLang="zh-CN" sz="1600" dirty="0">
                <a:latin typeface="Times New Roman" panose="02020603050405020304" pitchFamily="18" charset="0"/>
                <a:ea typeface="华文楷体" panose="02010600040101010101" pitchFamily="2" charset="-122"/>
              </a:rPr>
              <a:t>d[v]</a:t>
            </a:r>
            <a:r>
              <a:rPr lang="zh-CN" altLang="en-US" sz="1600" dirty="0">
                <a:latin typeface="Times New Roman" panose="02020603050405020304" pitchFamily="18" charset="0"/>
                <a:ea typeface="华文楷体" panose="02010600040101010101" pitchFamily="2" charset="-122"/>
              </a:rPr>
              <a:t>记录通过</a:t>
            </a:r>
            <a:r>
              <a:rPr lang="en-US" altLang="zh-CN" sz="1600" dirty="0">
                <a:latin typeface="Times New Roman" panose="02020603050405020304" pitchFamily="18" charset="0"/>
                <a:ea typeface="华文楷体" panose="02010600040101010101" pitchFamily="2" charset="-122"/>
              </a:rPr>
              <a:t>BFS</a:t>
            </a:r>
            <a:r>
              <a:rPr lang="zh-CN" altLang="en-US" sz="1600" dirty="0" smtClean="0">
                <a:latin typeface="Times New Roman" panose="02020603050405020304" pitchFamily="18" charset="0"/>
                <a:ea typeface="华文楷体" panose="02010600040101010101" pitchFamily="2" charset="-122"/>
              </a:rPr>
              <a:t>算法计算出的从源顶点</a:t>
            </a:r>
            <a:r>
              <a:rPr lang="en-US" altLang="zh-CN" sz="1600" dirty="0" smtClean="0">
                <a:latin typeface="Times New Roman" panose="02020603050405020304" pitchFamily="18" charset="0"/>
                <a:ea typeface="华文楷体" panose="02010600040101010101" pitchFamily="2" charset="-122"/>
              </a:rPr>
              <a:t>s</a:t>
            </a:r>
            <a:r>
              <a:rPr lang="zh-CN" altLang="en-US" sz="1600" dirty="0" smtClean="0">
                <a:latin typeface="Times New Roman" panose="02020603050405020304" pitchFamily="18" charset="0"/>
                <a:ea typeface="华文楷体" panose="02010600040101010101" pitchFamily="2" charset="-122"/>
              </a:rPr>
              <a:t>出发到顶点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的距离。</a:t>
            </a:r>
            <a:endParaRPr lang="zh-CN" altLang="en-US" dirty="0"/>
          </a:p>
        </p:txBody>
      </p:sp>
      <mc:AlternateContent xmlns:mc="http://schemas.openxmlformats.org/markup-compatibility/2006">
        <mc:Choice xmlns:a14="http://schemas.microsoft.com/office/drawing/2010/main" Requires="a14">
          <p:sp>
            <p:nvSpPr>
              <p:cNvPr id="7" name="文本框 6"/>
              <p:cNvSpPr txBox="1"/>
              <p:nvPr/>
            </p:nvSpPr>
            <p:spPr>
              <a:xfrm>
                <a:off x="5493058" y="1189037"/>
                <a:ext cx="3657600" cy="2462213"/>
              </a:xfrm>
              <a:prstGeom prst="rect">
                <a:avLst/>
              </a:prstGeom>
              <a:noFill/>
              <a:ln>
                <a:solidFill>
                  <a:srgbClr val="FF0000"/>
                </a:solidFill>
              </a:ln>
            </p:spPr>
            <p:txBody>
              <a:bodyPr wrap="square" rtlCol="0">
                <a:spAutoFit/>
              </a:bodyPr>
              <a:lstStyle/>
              <a:p>
                <a:r>
                  <a:rPr lang="zh-CN" altLang="en-US" sz="1400" dirty="0" smtClean="0">
                    <a:latin typeface="Times New Roman" panose="02020603050405020304" pitchFamily="18" charset="0"/>
                    <a:ea typeface="华文楷体" panose="02010600040101010101" pitchFamily="2" charset="-122"/>
                  </a:rPr>
                  <a:t>为跟踪</a:t>
                </a:r>
                <a:r>
                  <a:rPr lang="en-US" altLang="zh-CN" sz="1400" dirty="0">
                    <a:latin typeface="Times New Roman" panose="02020603050405020304" pitchFamily="18" charset="0"/>
                    <a:ea typeface="华文楷体" panose="02010600040101010101" pitchFamily="2" charset="-122"/>
                  </a:rPr>
                  <a:t>BFS</a:t>
                </a:r>
                <a:r>
                  <a:rPr lang="zh-CN" altLang="en-US" sz="1400" dirty="0">
                    <a:latin typeface="Times New Roman" panose="02020603050405020304" pitchFamily="18" charset="0"/>
                    <a:ea typeface="华文楷体" panose="02010600040101010101" pitchFamily="2" charset="-122"/>
                  </a:rPr>
                  <a:t>算法进展，假设在</a:t>
                </a:r>
                <a:r>
                  <a:rPr lang="en-US" altLang="zh-CN" sz="1400" dirty="0">
                    <a:latin typeface="Times New Roman" panose="02020603050405020304" pitchFamily="18" charset="0"/>
                    <a:ea typeface="华文楷体" panose="02010600040101010101" pitchFamily="2" charset="-122"/>
                  </a:rPr>
                  <a:t>BFS</a:t>
                </a:r>
                <a:r>
                  <a:rPr lang="zh-CN" altLang="en-US" sz="1400" dirty="0">
                    <a:latin typeface="Times New Roman" panose="02020603050405020304" pitchFamily="18" charset="0"/>
                    <a:ea typeface="华文楷体" panose="02010600040101010101" pitchFamily="2" charset="-122"/>
                  </a:rPr>
                  <a:t>运行过程中为顶点</a:t>
                </a:r>
                <a:r>
                  <a:rPr lang="zh-CN" altLang="en-US" sz="1400" dirty="0" smtClean="0">
                    <a:latin typeface="Times New Roman" panose="02020603050405020304" pitchFamily="18" charset="0"/>
                    <a:ea typeface="华文楷体" panose="02010600040101010101" pitchFamily="2" charset="-122"/>
                  </a:rPr>
                  <a:t>染色。</a:t>
                </a:r>
                <a:endParaRPr lang="en-US" altLang="zh-CN" sz="1400" dirty="0">
                  <a:latin typeface="Times New Roman" panose="02020603050405020304" pitchFamily="18" charset="0"/>
                  <a:ea typeface="华文楷体" panose="02010600040101010101" pitchFamily="2" charset="-122"/>
                </a:endParaRPr>
              </a:p>
              <a:p>
                <a:r>
                  <a:rPr lang="en-US" altLang="zh-CN" sz="1400" dirty="0" smtClean="0">
                    <a:latin typeface="宋体" panose="02010600030101010101" pitchFamily="2" charset="-122"/>
                  </a:rPr>
                  <a:t>①</a:t>
                </a:r>
                <a:r>
                  <a:rPr lang="en-US" altLang="zh-CN" sz="1400" dirty="0" smtClean="0">
                    <a:latin typeface="Times New Roman" panose="02020603050405020304" pitchFamily="18" charset="0"/>
                    <a:ea typeface="华文楷体" panose="02010600040101010101" pitchFamily="2" charset="-122"/>
                  </a:rPr>
                  <a:t>BFS</a:t>
                </a:r>
                <a:r>
                  <a:rPr lang="zh-CN" altLang="en-US" sz="1400" dirty="0">
                    <a:latin typeface="Times New Roman" panose="02020603050405020304" pitchFamily="18" charset="0"/>
                    <a:ea typeface="华文楷体" panose="02010600040101010101" pitchFamily="2" charset="-122"/>
                  </a:rPr>
                  <a:t>初始化时所用顶点都染成</a:t>
                </a:r>
                <a:r>
                  <a:rPr lang="zh-CN" altLang="en-US" sz="1400" dirty="0" smtClean="0">
                    <a:latin typeface="Times New Roman" panose="02020603050405020304" pitchFamily="18" charset="0"/>
                    <a:ea typeface="华文楷体" panose="02010600040101010101" pitchFamily="2" charset="-122"/>
                  </a:rPr>
                  <a:t>白色。</a:t>
                </a:r>
                <a:endParaRPr lang="en-US" altLang="zh-CN" sz="1400" dirty="0">
                  <a:latin typeface="Times New Roman" panose="02020603050405020304" pitchFamily="18" charset="0"/>
                  <a:ea typeface="华文楷体" panose="02010600040101010101" pitchFamily="2" charset="-122"/>
                </a:endParaRPr>
              </a:p>
              <a:p>
                <a:r>
                  <a:rPr lang="zh-CN" altLang="en-US" sz="1400" dirty="0" smtClean="0">
                    <a:latin typeface="宋体" panose="02010600030101010101" pitchFamily="2" charset="-122"/>
                  </a:rPr>
                  <a:t>②</a:t>
                </a:r>
                <a:r>
                  <a:rPr lang="zh-CN" altLang="en-US" sz="1400" dirty="0" smtClean="0">
                    <a:latin typeface="Times New Roman" panose="02020603050405020304" pitchFamily="18" charset="0"/>
                    <a:ea typeface="华文楷体" panose="02010600040101010101" pitchFamily="2" charset="-122"/>
                  </a:rPr>
                  <a:t>灰色或黑色表示顶点已被发现。算法</a:t>
                </a:r>
                <a:r>
                  <a:rPr lang="zh-CN" altLang="en-US" sz="1400" dirty="0">
                    <a:latin typeface="Times New Roman" panose="02020603050405020304" pitchFamily="18" charset="0"/>
                    <a:ea typeface="华文楷体" panose="02010600040101010101" pitchFamily="2" charset="-122"/>
                  </a:rPr>
                  <a:t>过程中第一次遇到一个</a:t>
                </a:r>
                <a:r>
                  <a:rPr lang="zh-CN" altLang="en-US" sz="1400" dirty="0" smtClean="0">
                    <a:latin typeface="Times New Roman" panose="02020603050405020304" pitchFamily="18" charset="0"/>
                    <a:ea typeface="华文楷体" panose="02010600040101010101" pitchFamily="2" charset="-122"/>
                  </a:rPr>
                  <a:t>顶点（入队前），</a:t>
                </a:r>
                <a:r>
                  <a:rPr lang="zh-CN" altLang="en-US" sz="1400" dirty="0">
                    <a:latin typeface="Times New Roman" panose="02020603050405020304" pitchFamily="18" charset="0"/>
                    <a:ea typeface="华文楷体" panose="02010600040101010101" pitchFamily="2" charset="-122"/>
                  </a:rPr>
                  <a:t>就称之为被发现，该顶点颜色从白色变为</a:t>
                </a:r>
                <a:r>
                  <a:rPr lang="zh-CN" altLang="en-US" sz="1400" dirty="0" smtClean="0">
                    <a:latin typeface="Times New Roman" panose="02020603050405020304" pitchFamily="18" charset="0"/>
                    <a:ea typeface="华文楷体" panose="02010600040101010101" pitchFamily="2" charset="-122"/>
                  </a:rPr>
                  <a:t>灰色。</a:t>
                </a:r>
                <a:endParaRPr lang="en-US" altLang="zh-CN" sz="1400" dirty="0" smtClean="0">
                  <a:latin typeface="Times New Roman" panose="02020603050405020304" pitchFamily="18" charset="0"/>
                  <a:ea typeface="华文楷体" panose="02010600040101010101" pitchFamily="2" charset="-122"/>
                </a:endParaRPr>
              </a:p>
              <a:p>
                <a:r>
                  <a:rPr lang="zh-CN" altLang="en-US" sz="1400" dirty="0" smtClean="0">
                    <a:latin typeface="宋体" panose="02010600030101010101" pitchFamily="2" charset="-122"/>
                  </a:rPr>
                  <a:t>③</a:t>
                </a:r>
                <a:r>
                  <a:rPr lang="zh-CN" altLang="en-US" sz="1400" dirty="0" smtClean="0">
                    <a:latin typeface="Times New Roman" panose="02020603050405020304" pitchFamily="18" charset="0"/>
                    <a:ea typeface="华文楷体" panose="02010600040101010101" pitchFamily="2" charset="-122"/>
                  </a:rPr>
                  <a:t>若</a:t>
                </a:r>
                <a:r>
                  <a:rPr lang="zh-CN" altLang="en-US" sz="1400" dirty="0">
                    <a:latin typeface="Times New Roman" panose="02020603050405020304" pitchFamily="18" charset="0"/>
                    <a:ea typeface="华文楷体" panose="02010600040101010101" pitchFamily="2" charset="-122"/>
                  </a:rPr>
                  <a:t>边</a:t>
                </a:r>
                <a:r>
                  <a:rPr lang="en-US" altLang="zh-CN" sz="1400" dirty="0">
                    <a:latin typeface="Times New Roman" panose="02020603050405020304" pitchFamily="18" charset="0"/>
                    <a:ea typeface="华文楷体" panose="02010600040101010101" pitchFamily="2" charset="-122"/>
                  </a:rPr>
                  <a:t>(</a:t>
                </a:r>
                <a:r>
                  <a:rPr lang="en-US" altLang="zh-CN" sz="1400" dirty="0" err="1">
                    <a:latin typeface="Times New Roman" panose="02020603050405020304" pitchFamily="18" charset="0"/>
                    <a:ea typeface="华文楷体" panose="02010600040101010101" pitchFamily="2" charset="-122"/>
                  </a:rPr>
                  <a:t>u,v</a:t>
                </a:r>
                <a:r>
                  <a:rPr lang="en-US" altLang="zh-CN" sz="1400" dirty="0">
                    <a:latin typeface="Times New Roman" panose="02020603050405020304" pitchFamily="18" charset="0"/>
                    <a:ea typeface="华文楷体" panose="02010600040101010101" pitchFamily="2" charset="-122"/>
                  </a:rPr>
                  <a:t>)</a:t>
                </a:r>
                <a14:m>
                  <m:oMath xmlns:m="http://schemas.openxmlformats.org/officeDocument/2006/math">
                    <m:r>
                      <a:rPr lang="en-US" altLang="zh-CN" sz="1400">
                        <a:latin typeface="Cambria Math" panose="02040503050406030204" pitchFamily="18" charset="0"/>
                        <a:ea typeface="华文楷体" panose="02010600040101010101" pitchFamily="2" charset="-122"/>
                      </a:rPr>
                      <m:t>∈</m:t>
                    </m:r>
                  </m:oMath>
                </a14:m>
                <a:r>
                  <a:rPr lang="en-US" altLang="zh-CN" sz="1400" dirty="0">
                    <a:latin typeface="Times New Roman" panose="02020603050405020304" pitchFamily="18" charset="0"/>
                    <a:ea typeface="华文楷体" panose="02010600040101010101" pitchFamily="2" charset="-122"/>
                  </a:rPr>
                  <a:t>E</a:t>
                </a:r>
                <a:r>
                  <a:rPr lang="zh-CN" altLang="en-US" sz="1400" dirty="0">
                    <a:latin typeface="Times New Roman" panose="02020603050405020304" pitchFamily="18" charset="0"/>
                    <a:ea typeface="华文楷体" panose="02010600040101010101" pitchFamily="2" charset="-122"/>
                  </a:rPr>
                  <a:t>，且</a:t>
                </a:r>
                <a:r>
                  <a:rPr lang="en-US" altLang="zh-CN" sz="1400" dirty="0">
                    <a:latin typeface="Times New Roman" panose="02020603050405020304" pitchFamily="18" charset="0"/>
                    <a:ea typeface="华文楷体" panose="02010600040101010101" pitchFamily="2" charset="-122"/>
                  </a:rPr>
                  <a:t>u</a:t>
                </a:r>
                <a:r>
                  <a:rPr lang="zh-CN" altLang="en-US" sz="1400" dirty="0">
                    <a:latin typeface="Times New Roman" panose="02020603050405020304" pitchFamily="18" charset="0"/>
                    <a:ea typeface="华文楷体" panose="02010600040101010101" pitchFamily="2" charset="-122"/>
                  </a:rPr>
                  <a:t>是黑色，则</a:t>
                </a:r>
                <a:r>
                  <a:rPr lang="en-US" altLang="zh-CN" sz="1400" dirty="0">
                    <a:latin typeface="Times New Roman" panose="02020603050405020304" pitchFamily="18" charset="0"/>
                    <a:ea typeface="华文楷体" panose="02010600040101010101" pitchFamily="2" charset="-122"/>
                  </a:rPr>
                  <a:t>v</a:t>
                </a:r>
                <a:r>
                  <a:rPr lang="zh-CN" altLang="en-US" sz="1400" dirty="0">
                    <a:latin typeface="Times New Roman" panose="02020603050405020304" pitchFamily="18" charset="0"/>
                    <a:ea typeface="华文楷体" panose="02010600040101010101" pitchFamily="2" charset="-122"/>
                  </a:rPr>
                  <a:t>可能是灰色或黑色</a:t>
                </a:r>
                <a:r>
                  <a:rPr lang="zh-CN" altLang="en-US" sz="1400" dirty="0" smtClean="0">
                    <a:latin typeface="Times New Roman" panose="02020603050405020304" pitchFamily="18" charset="0"/>
                    <a:ea typeface="华文楷体" panose="02010600040101010101" pitchFamily="2" charset="-122"/>
                  </a:rPr>
                  <a:t>；即顶点</a:t>
                </a:r>
                <a:r>
                  <a:rPr lang="en-US" altLang="zh-CN" sz="1400" dirty="0" smtClean="0">
                    <a:latin typeface="Times New Roman" panose="02020603050405020304" pitchFamily="18" charset="0"/>
                    <a:ea typeface="华文楷体" panose="02010600040101010101" pitchFamily="2" charset="-122"/>
                  </a:rPr>
                  <a:t>u</a:t>
                </a:r>
                <a:r>
                  <a:rPr lang="zh-CN" altLang="en-US" sz="1400" dirty="0" smtClean="0">
                    <a:latin typeface="Times New Roman" panose="02020603050405020304" pitchFamily="18" charset="0"/>
                    <a:ea typeface="华文楷体" panose="02010600040101010101" pitchFamily="2" charset="-122"/>
                  </a:rPr>
                  <a:t>为黑色，表示</a:t>
                </a:r>
                <a:r>
                  <a:rPr lang="en-US" altLang="zh-CN" sz="1400" dirty="0" smtClean="0">
                    <a:latin typeface="Times New Roman" panose="02020603050405020304" pitchFamily="18" charset="0"/>
                    <a:ea typeface="华文楷体" panose="02010600040101010101" pitchFamily="2" charset="-122"/>
                  </a:rPr>
                  <a:t>u</a:t>
                </a:r>
                <a:r>
                  <a:rPr lang="zh-CN" altLang="en-US" sz="1400" dirty="0" smtClean="0">
                    <a:latin typeface="Times New Roman" panose="02020603050405020304" pitchFamily="18" charset="0"/>
                    <a:ea typeface="华文楷体" panose="02010600040101010101" pitchFamily="2" charset="-122"/>
                  </a:rPr>
                  <a:t>所有</a:t>
                </a:r>
                <a:r>
                  <a:rPr lang="zh-CN" altLang="en-US" sz="1400" dirty="0">
                    <a:latin typeface="Times New Roman" panose="02020603050405020304" pitchFamily="18" charset="0"/>
                    <a:ea typeface="华文楷体" panose="02010600040101010101" pitchFamily="2" charset="-122"/>
                  </a:rPr>
                  <a:t>邻接顶点都已被</a:t>
                </a:r>
                <a:r>
                  <a:rPr lang="zh-CN" altLang="en-US" sz="1400" dirty="0" smtClean="0">
                    <a:latin typeface="Times New Roman" panose="02020603050405020304" pitchFamily="18" charset="0"/>
                    <a:ea typeface="华文楷体" panose="02010600040101010101" pitchFamily="2" charset="-122"/>
                  </a:rPr>
                  <a:t>发现（出队后）。</a:t>
                </a:r>
                <a:endParaRPr lang="en-US" altLang="zh-CN" sz="1400" dirty="0">
                  <a:latin typeface="Times New Roman" panose="02020603050405020304" pitchFamily="18" charset="0"/>
                  <a:ea typeface="华文楷体" panose="02010600040101010101" pitchFamily="2" charset="-122"/>
                </a:endParaRPr>
              </a:p>
              <a:p>
                <a:r>
                  <a:rPr lang="zh-CN" altLang="en-US" sz="1400" dirty="0" smtClean="0">
                    <a:latin typeface="宋体" panose="02010600030101010101" pitchFamily="2" charset="-122"/>
                  </a:rPr>
                  <a:t>④</a:t>
                </a:r>
                <a:r>
                  <a:rPr lang="zh-CN" altLang="en-US" sz="1400" dirty="0" smtClean="0">
                    <a:latin typeface="Times New Roman" panose="02020603050405020304" pitchFamily="18" charset="0"/>
                    <a:ea typeface="华文楷体" panose="02010600040101010101" pitchFamily="2" charset="-122"/>
                  </a:rPr>
                  <a:t>所有</a:t>
                </a:r>
                <a:r>
                  <a:rPr lang="zh-CN" altLang="en-US" sz="1400" dirty="0">
                    <a:latin typeface="Times New Roman" panose="02020603050405020304" pitchFamily="18" charset="0"/>
                    <a:ea typeface="华文楷体" panose="02010600040101010101" pitchFamily="2" charset="-122"/>
                  </a:rPr>
                  <a:t>灰色顶点表示已知和未知的边界</a:t>
                </a:r>
                <a:r>
                  <a:rPr lang="zh-CN" altLang="en-US" sz="1400" dirty="0" smtClean="0">
                    <a:latin typeface="Times New Roman" panose="02020603050405020304" pitchFamily="18" charset="0"/>
                    <a:ea typeface="华文楷体" panose="02010600040101010101" pitchFamily="2" charset="-122"/>
                  </a:rPr>
                  <a:t>，灰色顶点</a:t>
                </a:r>
                <a:r>
                  <a:rPr lang="zh-CN" altLang="en-US" sz="1400" dirty="0">
                    <a:latin typeface="Times New Roman" panose="02020603050405020304" pitchFamily="18" charset="0"/>
                    <a:ea typeface="华文楷体" panose="02010600040101010101" pitchFamily="2" charset="-122"/>
                  </a:rPr>
                  <a:t>必</a:t>
                </a:r>
                <a:r>
                  <a:rPr lang="zh-CN" altLang="en-US" sz="1400" dirty="0" smtClean="0">
                    <a:latin typeface="Times New Roman" panose="02020603050405020304" pitchFamily="18" charset="0"/>
                    <a:ea typeface="华文楷体" panose="02010600040101010101" pitchFamily="2" charset="-122"/>
                  </a:rPr>
                  <a:t>在队列</a:t>
                </a:r>
                <a:r>
                  <a:rPr lang="en-US" altLang="zh-CN" sz="1400" dirty="0" smtClean="0">
                    <a:latin typeface="Times New Roman" panose="02020603050405020304" pitchFamily="18" charset="0"/>
                    <a:ea typeface="华文楷体" panose="02010600040101010101" pitchFamily="2" charset="-122"/>
                  </a:rPr>
                  <a:t>Qu</a:t>
                </a:r>
                <a:r>
                  <a:rPr lang="zh-CN" altLang="en-US" sz="1400" dirty="0" smtClean="0">
                    <a:latin typeface="Times New Roman" panose="02020603050405020304" pitchFamily="18" charset="0"/>
                    <a:ea typeface="华文楷体" panose="02010600040101010101" pitchFamily="2" charset="-122"/>
                  </a:rPr>
                  <a:t>中。</a:t>
                </a:r>
                <a:endParaRPr lang="zh-CN" altLang="en-US" sz="1400" dirty="0">
                  <a:latin typeface="Times New Roman" panose="02020603050405020304" pitchFamily="18" charset="0"/>
                  <a:ea typeface="华文楷体" panose="0201060004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5493058" y="1189037"/>
                <a:ext cx="3657600" cy="2462213"/>
              </a:xfrm>
              <a:prstGeom prst="rect">
                <a:avLst/>
              </a:prstGeom>
              <a:blipFill rotWithShape="1">
                <a:blip r:embed="rId1"/>
                <a:stretch>
                  <a:fillRect l="-147" t="-219" r="-113" b="-181"/>
                </a:stretch>
              </a:blipFill>
              <a:ln>
                <a:solidFill>
                  <a:srgbClr val="FF0000"/>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15595" y="1126588"/>
            <a:ext cx="8229600" cy="5715000"/>
          </a:xfrm>
          <a:ln>
            <a:solidFill>
              <a:schemeClr val="accent1"/>
            </a:solidFill>
          </a:ln>
        </p:spPr>
        <p:txBody>
          <a:bodyPr/>
          <a:lstStyle/>
          <a:p>
            <a:pPr marL="0" indent="0">
              <a:buNone/>
            </a:pPr>
            <a:r>
              <a:rPr lang="en-US" altLang="zh-CN" sz="1300" b="1" dirty="0" smtClean="0">
                <a:solidFill>
                  <a:srgbClr val="FF0000"/>
                </a:solidFill>
                <a:ea typeface="华文楷体" panose="02010600040101010101" pitchFamily="2" charset="-122"/>
              </a:rPr>
              <a:t>[</a:t>
            </a:r>
            <a:r>
              <a:rPr lang="zh-CN" altLang="en-US" sz="1300" b="1" dirty="0" smtClean="0">
                <a:solidFill>
                  <a:srgbClr val="FF0000"/>
                </a:solidFill>
                <a:ea typeface="华文楷体" panose="02010600040101010101" pitchFamily="2" charset="-122"/>
              </a:rPr>
              <a:t>算法</a:t>
            </a:r>
            <a:r>
              <a:rPr lang="en-US" altLang="zh-CN" sz="1300" b="1" dirty="0" smtClean="0">
                <a:solidFill>
                  <a:srgbClr val="FF0000"/>
                </a:solidFill>
                <a:ea typeface="华文楷体" panose="02010600040101010101" pitchFamily="2" charset="-122"/>
              </a:rPr>
              <a:t>] </a:t>
            </a:r>
            <a:r>
              <a:rPr lang="zh-CN" altLang="en-US" sz="1300" dirty="0" smtClean="0">
                <a:ea typeface="华文楷体" panose="02010600040101010101" pitchFamily="2" charset="-122"/>
              </a:rPr>
              <a:t>邻接表存储的图的广度优先遍历</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Void BFS(</a:t>
            </a:r>
            <a:r>
              <a:rPr lang="en-US" altLang="zh-CN" sz="1300" dirty="0" err="1" smtClean="0">
                <a:ea typeface="华文楷体" panose="02010600040101010101" pitchFamily="2" charset="-122"/>
              </a:rPr>
              <a:t>Agraph</a:t>
            </a:r>
            <a:r>
              <a:rPr lang="en-US" altLang="zh-CN" sz="1300" dirty="0" smtClean="0">
                <a:ea typeface="华文楷体" panose="02010600040101010101" pitchFamily="2" charset="-122"/>
              </a:rPr>
              <a:t> *G, </a:t>
            </a:r>
            <a:r>
              <a:rPr lang="en-US" altLang="zh-CN" sz="1300" dirty="0" err="1" smtClean="0">
                <a:ea typeface="华文楷体" panose="02010600040101010101" pitchFamily="2" charset="-122"/>
              </a:rPr>
              <a:t>int</a:t>
            </a:r>
            <a:r>
              <a:rPr lang="en-US" altLang="zh-CN" sz="1300" dirty="0" smtClean="0">
                <a:ea typeface="华文楷体" panose="02010600040101010101" pitchFamily="2" charset="-122"/>
              </a:rPr>
              <a:t> s</a:t>
            </a:r>
            <a:r>
              <a:rPr lang="en-US" altLang="zh-CN" sz="1300" dirty="0">
                <a:ea typeface="华文楷体" panose="02010600040101010101" pitchFamily="2" charset="-122"/>
              </a:rPr>
              <a:t>) </a:t>
            </a:r>
            <a:r>
              <a:rPr lang="en-US" altLang="zh-CN" sz="1300" dirty="0" smtClean="0">
                <a:ea typeface="华文楷体" panose="02010600040101010101" pitchFamily="2" charset="-122"/>
              </a:rPr>
              <a:t>{</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ArcNode</a:t>
            </a:r>
            <a:r>
              <a:rPr lang="en-US" altLang="zh-CN" sz="1300" dirty="0" smtClean="0">
                <a:ea typeface="华文楷体" panose="02010600040101010101" pitchFamily="2" charset="-122"/>
              </a:rPr>
              <a:t> *q;</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int</a:t>
            </a:r>
            <a:r>
              <a:rPr lang="en-US" altLang="zh-CN" sz="1300" dirty="0" smtClean="0">
                <a:ea typeface="华文楷体" panose="02010600040101010101" pitchFamily="2" charset="-122"/>
              </a:rPr>
              <a:t> Qu[MAXV], front=0, rear=0;</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int</a:t>
            </a:r>
            <a:r>
              <a:rPr lang="en-US" altLang="zh-CN" sz="1300" dirty="0" smtClean="0">
                <a:ea typeface="华文楷体" panose="02010600040101010101" pitchFamily="2" charset="-122"/>
              </a:rPr>
              <a:t> w; </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for(</a:t>
            </a:r>
            <a:r>
              <a:rPr lang="en-US" altLang="zh-CN" sz="1300" dirty="0" err="1" smtClean="0">
                <a:ea typeface="华文楷体" panose="02010600040101010101" pitchFamily="2" charset="-122"/>
              </a:rPr>
              <a:t>int</a:t>
            </a: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i</a:t>
            </a:r>
            <a:r>
              <a:rPr lang="en-US" altLang="zh-CN" sz="1300" dirty="0" smtClean="0">
                <a:ea typeface="华文楷体" panose="02010600040101010101" pitchFamily="2" charset="-122"/>
              </a:rPr>
              <a:t>=0; </a:t>
            </a:r>
            <a:r>
              <a:rPr lang="en-US" altLang="zh-CN" sz="1300" dirty="0" err="1" smtClean="0">
                <a:ea typeface="华文楷体" panose="02010600040101010101" pitchFamily="2" charset="-122"/>
              </a:rPr>
              <a:t>i</a:t>
            </a:r>
            <a:r>
              <a:rPr lang="en-US" altLang="zh-CN" sz="1300" dirty="0" smtClean="0">
                <a:ea typeface="华文楷体" panose="02010600040101010101" pitchFamily="2" charset="-122"/>
              </a:rPr>
              <a:t>&lt;MAXV; </a:t>
            </a:r>
            <a:r>
              <a:rPr lang="en-US" altLang="zh-CN" sz="1300" dirty="0" err="1" smtClean="0">
                <a:ea typeface="华文楷体" panose="02010600040101010101" pitchFamily="2" charset="-122"/>
              </a:rPr>
              <a:t>i</a:t>
            </a:r>
            <a:r>
              <a:rPr lang="en-US" altLang="zh-CN" sz="1300" dirty="0">
                <a:ea typeface="华文楷体" panose="02010600040101010101" pitchFamily="2" charset="-122"/>
              </a:rPr>
              <a:t>++) { //d[</a:t>
            </a:r>
            <a:r>
              <a:rPr lang="en-US" altLang="zh-CN" sz="1300" dirty="0" err="1">
                <a:ea typeface="华文楷体" panose="02010600040101010101" pitchFamily="2" charset="-122"/>
              </a:rPr>
              <a:t>i</a:t>
            </a:r>
            <a:r>
              <a:rPr lang="en-US" altLang="zh-CN" sz="1300" dirty="0">
                <a:ea typeface="华文楷体" panose="02010600040101010101" pitchFamily="2" charset="-122"/>
              </a:rPr>
              <a:t>]</a:t>
            </a:r>
            <a:r>
              <a:rPr lang="zh-CN" altLang="en-US" sz="1300" dirty="0">
                <a:ea typeface="华文楷体" panose="02010600040101010101" pitchFamily="2" charset="-122"/>
              </a:rPr>
              <a:t>初值为无穷，表示目前未</a:t>
            </a:r>
            <a:r>
              <a:rPr lang="zh-CN" altLang="en-US" sz="1300" dirty="0" smtClean="0">
                <a:ea typeface="华文楷体" panose="02010600040101010101" pitchFamily="2" charset="-122"/>
              </a:rPr>
              <a:t>确定</a:t>
            </a:r>
            <a:r>
              <a:rPr lang="en-US" altLang="zh-CN" sz="1300" dirty="0" smtClean="0">
                <a:ea typeface="华文楷体" panose="02010600040101010101" pitchFamily="2" charset="-122"/>
              </a:rPr>
              <a:t>s</a:t>
            </a:r>
            <a:r>
              <a:rPr lang="zh-CN" altLang="en-US" sz="1300" dirty="0" smtClean="0">
                <a:ea typeface="华文楷体" panose="02010600040101010101" pitchFamily="2" charset="-122"/>
              </a:rPr>
              <a:t>到顶点</a:t>
            </a:r>
            <a:r>
              <a:rPr lang="en-US" altLang="zh-CN" sz="1300" dirty="0" err="1" smtClean="0">
                <a:ea typeface="华文楷体" panose="02010600040101010101" pitchFamily="2" charset="-122"/>
              </a:rPr>
              <a:t>i</a:t>
            </a:r>
            <a:r>
              <a:rPr lang="zh-CN" altLang="en-US" sz="1300" dirty="0" smtClean="0">
                <a:ea typeface="华文楷体" panose="02010600040101010101" pitchFamily="2" charset="-122"/>
              </a:rPr>
              <a:t>的路径</a:t>
            </a:r>
            <a:r>
              <a:rPr lang="en-US" altLang="zh-CN" sz="1300" dirty="0" smtClean="0">
                <a:ea typeface="华文楷体" panose="02010600040101010101" pitchFamily="2" charset="-122"/>
              </a:rPr>
              <a:t>,p[</a:t>
            </a:r>
            <a:r>
              <a:rPr lang="en-US" altLang="zh-CN" sz="1300" dirty="0" err="1" smtClean="0">
                <a:ea typeface="华文楷体" panose="02010600040101010101" pitchFamily="2" charset="-122"/>
              </a:rPr>
              <a:t>i</a:t>
            </a:r>
            <a:r>
              <a:rPr lang="en-US" altLang="zh-CN" sz="1300" dirty="0">
                <a:ea typeface="华文楷体" panose="02010600040101010101" pitchFamily="2" charset="-122"/>
              </a:rPr>
              <a:t>]</a:t>
            </a:r>
            <a:r>
              <a:rPr lang="zh-CN" altLang="en-US" sz="1300" dirty="0">
                <a:ea typeface="华文楷体" panose="02010600040101010101" pitchFamily="2" charset="-122"/>
              </a:rPr>
              <a:t>初值为</a:t>
            </a:r>
            <a:r>
              <a:rPr lang="en-US" altLang="zh-CN" sz="1300" dirty="0">
                <a:ea typeface="华文楷体" panose="02010600040101010101" pitchFamily="2" charset="-122"/>
              </a:rPr>
              <a:t>-1</a:t>
            </a:r>
            <a:r>
              <a:rPr lang="zh-CN" altLang="en-US" sz="1300" dirty="0" smtClean="0">
                <a:ea typeface="华文楷体" panose="02010600040101010101" pitchFamily="2" charset="-122"/>
              </a:rPr>
              <a:t>表示顶点</a:t>
            </a:r>
            <a:r>
              <a:rPr lang="en-US" altLang="zh-CN" sz="1300" dirty="0" err="1" smtClean="0">
                <a:ea typeface="华文楷体" panose="02010600040101010101" pitchFamily="2" charset="-122"/>
              </a:rPr>
              <a:t>i</a:t>
            </a:r>
            <a:r>
              <a:rPr lang="zh-CN" altLang="en-US" sz="1300" dirty="0" smtClean="0">
                <a:ea typeface="华文楷体" panose="02010600040101010101" pitchFamily="2" charset="-122"/>
              </a:rPr>
              <a:t>无</a:t>
            </a:r>
            <a:r>
              <a:rPr lang="zh-CN" altLang="en-US" sz="1300" dirty="0">
                <a:ea typeface="华文楷体" panose="02010600040101010101" pitchFamily="2" charset="-122"/>
              </a:rPr>
              <a:t>前驱</a:t>
            </a:r>
            <a:r>
              <a:rPr lang="zh-CN" altLang="en-US" sz="1300" dirty="0" smtClean="0">
                <a:ea typeface="华文楷体" panose="02010600040101010101" pitchFamily="2" charset="-122"/>
              </a:rPr>
              <a:t>，</a:t>
            </a:r>
            <a:r>
              <a:rPr lang="en-US" altLang="zh-CN" sz="1300" dirty="0" smtClean="0">
                <a:ea typeface="华文楷体" panose="02010600040101010101" pitchFamily="2" charset="-122"/>
              </a:rPr>
              <a:t>  </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visit[</a:t>
            </a:r>
            <a:r>
              <a:rPr lang="en-US" altLang="zh-CN" sz="1300" dirty="0" err="1" smtClean="0">
                <a:ea typeface="华文楷体" panose="02010600040101010101" pitchFamily="2" charset="-122"/>
              </a:rPr>
              <a:t>i</a:t>
            </a:r>
            <a:r>
              <a:rPr lang="en-US" altLang="zh-CN" sz="1300" dirty="0" smtClean="0">
                <a:ea typeface="华文楷体" panose="02010600040101010101" pitchFamily="2" charset="-122"/>
              </a:rPr>
              <a:t>] = FALSE;   </a:t>
            </a:r>
            <a:r>
              <a:rPr lang="en-US" altLang="zh-CN" sz="1300" b="1" dirty="0" smtClean="0">
                <a:solidFill>
                  <a:srgbClr val="FF0000"/>
                </a:solidFill>
                <a:ea typeface="华文楷体" panose="02010600040101010101" pitchFamily="2" charset="-122"/>
              </a:rPr>
              <a:t>d[</a:t>
            </a:r>
            <a:r>
              <a:rPr lang="en-US" altLang="zh-CN" sz="1300" b="1" dirty="0" err="1" smtClean="0">
                <a:solidFill>
                  <a:srgbClr val="FF0000"/>
                </a:solidFill>
                <a:ea typeface="华文楷体" panose="02010600040101010101" pitchFamily="2" charset="-122"/>
              </a:rPr>
              <a:t>i</a:t>
            </a:r>
            <a:r>
              <a:rPr lang="en-US" altLang="zh-CN" sz="1300" b="1" dirty="0" smtClean="0">
                <a:solidFill>
                  <a:srgbClr val="FF0000"/>
                </a:solidFill>
                <a:ea typeface="华文楷体" panose="02010600040101010101" pitchFamily="2" charset="-122"/>
              </a:rPr>
              <a:t>]=INF;   p[</a:t>
            </a:r>
            <a:r>
              <a:rPr lang="en-US" altLang="zh-CN" sz="1300" b="1" dirty="0" err="1" smtClean="0">
                <a:solidFill>
                  <a:srgbClr val="FF0000"/>
                </a:solidFill>
                <a:ea typeface="华文楷体" panose="02010600040101010101" pitchFamily="2" charset="-122"/>
              </a:rPr>
              <a:t>i</a:t>
            </a:r>
            <a:r>
              <a:rPr lang="en-US" altLang="zh-CN" sz="1300" b="1" dirty="0" smtClean="0">
                <a:solidFill>
                  <a:srgbClr val="FF0000"/>
                </a:solidFill>
                <a:ea typeface="华文楷体" panose="02010600040101010101" pitchFamily="2" charset="-122"/>
              </a:rPr>
              <a:t>]= -1; color[</a:t>
            </a:r>
            <a:r>
              <a:rPr lang="en-US" altLang="zh-CN" sz="1300" b="1" dirty="0" err="1" smtClean="0">
                <a:solidFill>
                  <a:srgbClr val="FF0000"/>
                </a:solidFill>
                <a:ea typeface="华文楷体" panose="02010600040101010101" pitchFamily="2" charset="-122"/>
              </a:rPr>
              <a:t>i</a:t>
            </a:r>
            <a:r>
              <a:rPr lang="en-US" altLang="zh-CN" sz="1300" b="1" dirty="0" smtClean="0">
                <a:solidFill>
                  <a:srgbClr val="FF0000"/>
                </a:solidFill>
                <a:ea typeface="华文楷体" panose="02010600040101010101" pitchFamily="2" charset="-122"/>
              </a:rPr>
              <a:t>] = white</a:t>
            </a:r>
            <a:r>
              <a:rPr lang="en-US" altLang="zh-CN" sz="1300" dirty="0" smtClean="0">
                <a:ea typeface="华文楷体" panose="02010600040101010101" pitchFamily="2" charset="-122"/>
              </a:rPr>
              <a:t>;</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printf</a:t>
            </a:r>
            <a:r>
              <a:rPr lang="en-US" altLang="zh-CN" sz="1300" dirty="0" smtClean="0">
                <a:ea typeface="华文楷体" panose="02010600040101010101" pitchFamily="2" charset="-122"/>
              </a:rPr>
              <a:t>(“3d%”,s); visit[s]=TRUE</a:t>
            </a:r>
            <a:r>
              <a:rPr lang="en-US" altLang="zh-CN" sz="1300" dirty="0">
                <a:ea typeface="华文楷体" panose="02010600040101010101" pitchFamily="2" charset="-122"/>
              </a:rPr>
              <a:t>; </a:t>
            </a:r>
            <a:r>
              <a:rPr lang="en-US" altLang="zh-CN" sz="1300" b="1" dirty="0" smtClean="0">
                <a:solidFill>
                  <a:srgbClr val="C00000"/>
                </a:solidFill>
                <a:ea typeface="华文楷体" panose="02010600040101010101" pitchFamily="2" charset="-122"/>
              </a:rPr>
              <a:t>d[s]=0</a:t>
            </a:r>
            <a:r>
              <a:rPr lang="en-US" altLang="zh-CN" sz="1300" b="1" dirty="0">
                <a:solidFill>
                  <a:srgbClr val="C00000"/>
                </a:solidFill>
                <a:ea typeface="华文楷体" panose="02010600040101010101" pitchFamily="2" charset="-122"/>
              </a:rPr>
              <a:t>; color[w</a:t>
            </a:r>
            <a:r>
              <a:rPr lang="en-US" altLang="zh-CN" sz="1300" b="1" dirty="0" smtClean="0">
                <a:solidFill>
                  <a:srgbClr val="C00000"/>
                </a:solidFill>
                <a:ea typeface="华文楷体" panose="02010600040101010101" pitchFamily="2" charset="-122"/>
              </a:rPr>
              <a:t>]=gray;</a:t>
            </a:r>
            <a:endParaRPr lang="en-US" altLang="zh-CN" sz="1300" b="1" dirty="0" smtClean="0">
              <a:solidFill>
                <a:srgbClr val="C00000"/>
              </a:solidFill>
              <a:ea typeface="华文楷体" panose="02010600040101010101" pitchFamily="2" charset="-122"/>
            </a:endParaRPr>
          </a:p>
          <a:p>
            <a:pPr marL="0" indent="0">
              <a:buNone/>
            </a:pPr>
            <a:r>
              <a:rPr lang="en-US" altLang="zh-CN" sz="1300" b="1" dirty="0">
                <a:solidFill>
                  <a:srgbClr val="C00000"/>
                </a:solidFill>
                <a:ea typeface="华文楷体" panose="02010600040101010101" pitchFamily="2" charset="-122"/>
              </a:rPr>
              <a:t> </a:t>
            </a:r>
            <a:r>
              <a:rPr lang="en-US" altLang="zh-CN" sz="1300" b="1" dirty="0" smtClean="0">
                <a:solidFill>
                  <a:srgbClr val="C00000"/>
                </a:solidFill>
                <a:ea typeface="华文楷体" panose="02010600040101010101" pitchFamily="2" charset="-122"/>
              </a:rPr>
              <a:t>   </a:t>
            </a:r>
            <a:r>
              <a:rPr lang="en-US" altLang="zh-CN" sz="1300" dirty="0" smtClean="0">
                <a:ea typeface="华文楷体" panose="02010600040101010101" pitchFamily="2" charset="-122"/>
              </a:rPr>
              <a:t>rear = (rear+1)%MAXV; QU[rear] =s;//</a:t>
            </a:r>
            <a:r>
              <a:rPr lang="zh-CN" altLang="en-US" sz="1300" dirty="0" smtClean="0">
                <a:ea typeface="华文楷体" panose="02010600040101010101" pitchFamily="2" charset="-122"/>
              </a:rPr>
              <a:t>源顶点</a:t>
            </a:r>
            <a:r>
              <a:rPr lang="en-US" altLang="zh-CN" sz="1300" dirty="0" smtClean="0">
                <a:ea typeface="华文楷体" panose="02010600040101010101" pitchFamily="2" charset="-122"/>
              </a:rPr>
              <a:t>s</a:t>
            </a:r>
            <a:r>
              <a:rPr lang="zh-CN" altLang="en-US" sz="1300" dirty="0" smtClean="0">
                <a:ea typeface="华文楷体" panose="02010600040101010101" pitchFamily="2" charset="-122"/>
              </a:rPr>
              <a:t>入队</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while(front != rear</a:t>
            </a:r>
            <a:r>
              <a:rPr lang="en-US" altLang="zh-CN" sz="1300" dirty="0">
                <a:ea typeface="华文楷体" panose="02010600040101010101" pitchFamily="2" charset="-122"/>
              </a:rPr>
              <a:t>) { </a:t>
            </a:r>
            <a:r>
              <a:rPr lang="en-US" altLang="zh-CN" sz="1300" dirty="0" smtClean="0">
                <a:ea typeface="华文楷体" panose="02010600040101010101" pitchFamily="2" charset="-122"/>
              </a:rPr>
              <a:t>//</a:t>
            </a:r>
            <a:r>
              <a:rPr lang="zh-CN" altLang="en-US" sz="1300" dirty="0" smtClean="0">
                <a:ea typeface="华文楷体" panose="02010600040101010101" pitchFamily="2" charset="-122"/>
              </a:rPr>
              <a:t>队列不为空</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front =(front +1)%MAXV; w=QU[front]; //</a:t>
            </a:r>
            <a:r>
              <a:rPr lang="zh-CN" altLang="en-US" sz="1300" dirty="0" smtClean="0">
                <a:ea typeface="华文楷体" panose="02010600040101010101" pitchFamily="2" charset="-122"/>
              </a:rPr>
              <a:t>队头顶点</a:t>
            </a:r>
            <a:r>
              <a:rPr lang="en-US" altLang="zh-CN" sz="1300" dirty="0" smtClean="0">
                <a:ea typeface="华文楷体" panose="02010600040101010101" pitchFamily="2" charset="-122"/>
              </a:rPr>
              <a:t>w</a:t>
            </a:r>
            <a:r>
              <a:rPr lang="zh-CN" altLang="en-US" sz="1300" dirty="0" smtClean="0">
                <a:ea typeface="华文楷体" panose="02010600040101010101" pitchFamily="2" charset="-122"/>
              </a:rPr>
              <a:t>出队</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q = G-&gt;</a:t>
            </a:r>
            <a:r>
              <a:rPr lang="en-US" altLang="zh-CN" sz="1300" dirty="0" err="1" smtClean="0">
                <a:ea typeface="华文楷体" panose="02010600040101010101" pitchFamily="2" charset="-122"/>
              </a:rPr>
              <a:t>adjlist</a:t>
            </a:r>
            <a:r>
              <a:rPr lang="en-US" altLang="zh-CN" sz="1300" dirty="0" smtClean="0">
                <a:ea typeface="华文楷体" panose="02010600040101010101" pitchFamily="2" charset="-122"/>
              </a:rPr>
              <a:t>[w].</a:t>
            </a:r>
            <a:r>
              <a:rPr lang="en-US" altLang="zh-CN" sz="1300" dirty="0" err="1" smtClean="0">
                <a:ea typeface="华文楷体" panose="02010600040101010101" pitchFamily="2" charset="-122"/>
              </a:rPr>
              <a:t>firstarc</a:t>
            </a:r>
            <a:r>
              <a:rPr lang="en-US" altLang="zh-CN" sz="1300" dirty="0" smtClean="0">
                <a:ea typeface="华文楷体" panose="02010600040101010101" pitchFamily="2" charset="-122"/>
              </a:rPr>
              <a:t>; //</a:t>
            </a:r>
            <a:r>
              <a:rPr lang="zh-CN" altLang="en-US" sz="1300" dirty="0" smtClean="0">
                <a:ea typeface="华文楷体" panose="02010600040101010101" pitchFamily="2" charset="-122"/>
              </a:rPr>
              <a:t>找到</a:t>
            </a:r>
            <a:r>
              <a:rPr lang="en-US" altLang="zh-CN" sz="1300" dirty="0" smtClean="0">
                <a:ea typeface="华文楷体" panose="02010600040101010101" pitchFamily="2" charset="-122"/>
              </a:rPr>
              <a:t>w</a:t>
            </a:r>
            <a:r>
              <a:rPr lang="zh-CN" altLang="en-US" sz="1300" dirty="0" smtClean="0">
                <a:ea typeface="华文楷体" panose="02010600040101010101" pitchFamily="2" charset="-122"/>
              </a:rPr>
              <a:t>的第一条出边（第一个邻接顶点）；</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while(q!=NULL)    {</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if(visit[q-&gt;</a:t>
            </a:r>
            <a:r>
              <a:rPr lang="en-US" altLang="zh-CN" sz="1300" dirty="0" err="1" smtClean="0">
                <a:ea typeface="华文楷体" panose="02010600040101010101" pitchFamily="2" charset="-122"/>
              </a:rPr>
              <a:t>firstarc</a:t>
            </a:r>
            <a:r>
              <a:rPr lang="en-US" altLang="zh-CN" sz="1300" dirty="0" smtClean="0">
                <a:ea typeface="华文楷体" panose="02010600040101010101" pitchFamily="2" charset="-122"/>
              </a:rPr>
              <a:t>] == FALSE)    { //</a:t>
            </a:r>
            <a:r>
              <a:rPr lang="zh-CN" altLang="en-US" sz="1300" dirty="0" smtClean="0">
                <a:ea typeface="华文楷体" panose="02010600040101010101" pitchFamily="2" charset="-122"/>
              </a:rPr>
              <a:t>未被访问</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rPr>
              <a:t>printf</a:t>
            </a:r>
            <a:r>
              <a:rPr lang="en-US" altLang="zh-CN" sz="1300" dirty="0">
                <a:ea typeface="华文楷体" panose="02010600040101010101" pitchFamily="2" charset="-122"/>
              </a:rPr>
              <a:t>(“2d</a:t>
            </a:r>
            <a:r>
              <a:rPr lang="en-US" altLang="zh-CN" sz="1300" dirty="0" smtClean="0">
                <a:ea typeface="华文楷体" panose="02010600040101010101" pitchFamily="2" charset="-122"/>
              </a:rPr>
              <a:t>%”,q-&gt;</a:t>
            </a:r>
            <a:r>
              <a:rPr lang="en-US" altLang="zh-CN" sz="1300" dirty="0" err="1" smtClean="0">
                <a:ea typeface="华文楷体" panose="02010600040101010101" pitchFamily="2" charset="-122"/>
              </a:rPr>
              <a:t>adjvex</a:t>
            </a:r>
            <a:r>
              <a:rPr lang="en-US" altLang="zh-CN" sz="1300" dirty="0" smtClean="0">
                <a:ea typeface="华文楷体" panose="02010600040101010101" pitchFamily="2" charset="-122"/>
              </a:rPr>
              <a:t>);  visit[q-&gt;</a:t>
            </a:r>
            <a:r>
              <a:rPr lang="en-US" altLang="zh-CN" sz="1300" dirty="0" err="1" smtClean="0">
                <a:ea typeface="华文楷体" panose="02010600040101010101" pitchFamily="2" charset="-122"/>
              </a:rPr>
              <a:t>adjvex</a:t>
            </a:r>
            <a:r>
              <a:rPr lang="en-US" altLang="zh-CN" sz="1300" dirty="0" smtClean="0">
                <a:ea typeface="华文楷体" panose="02010600040101010101" pitchFamily="2" charset="-122"/>
              </a:rPr>
              <a:t>] = TRUE; //</a:t>
            </a:r>
            <a:r>
              <a:rPr lang="zh-CN" altLang="en-US" sz="1300" dirty="0" smtClean="0">
                <a:ea typeface="华文楷体" panose="02010600040101010101" pitchFamily="2" charset="-122"/>
              </a:rPr>
              <a:t>访问</a:t>
            </a:r>
            <a:r>
              <a:rPr lang="en-US" altLang="zh-CN" sz="1300" dirty="0" smtClean="0">
                <a:ea typeface="华文楷体" panose="02010600040101010101" pitchFamily="2" charset="-122"/>
              </a:rPr>
              <a:t>w</a:t>
            </a:r>
            <a:r>
              <a:rPr lang="zh-CN" altLang="en-US" sz="1300" dirty="0" smtClean="0">
                <a:ea typeface="华文楷体" panose="02010600040101010101" pitchFamily="2" charset="-122"/>
              </a:rPr>
              <a:t>的邻接顶点</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r>
              <a:rPr lang="en-US" altLang="zh-CN" sz="1300" b="1" dirty="0" smtClean="0">
                <a:solidFill>
                  <a:srgbClr val="C00000"/>
                </a:solidFill>
                <a:ea typeface="华文楷体" panose="02010600040101010101" pitchFamily="2" charset="-122"/>
              </a:rPr>
              <a:t>d[q-</a:t>
            </a:r>
            <a:r>
              <a:rPr lang="en-US" altLang="zh-CN" sz="1300" b="1" dirty="0">
                <a:solidFill>
                  <a:srgbClr val="C00000"/>
                </a:solidFill>
                <a:ea typeface="华文楷体" panose="02010600040101010101" pitchFamily="2" charset="-122"/>
              </a:rPr>
              <a:t>&gt;</a:t>
            </a:r>
            <a:r>
              <a:rPr lang="en-US" altLang="zh-CN" sz="1300" b="1" dirty="0" err="1">
                <a:solidFill>
                  <a:srgbClr val="C00000"/>
                </a:solidFill>
                <a:ea typeface="华文楷体" panose="02010600040101010101" pitchFamily="2" charset="-122"/>
              </a:rPr>
              <a:t>adjvex</a:t>
            </a:r>
            <a:r>
              <a:rPr lang="en-US" altLang="zh-CN" sz="1300" b="1" dirty="0" smtClean="0">
                <a:solidFill>
                  <a:srgbClr val="C00000"/>
                </a:solidFill>
                <a:ea typeface="华文楷体" panose="02010600040101010101" pitchFamily="2" charset="-122"/>
              </a:rPr>
              <a:t>] = d[w]+1</a:t>
            </a:r>
            <a:r>
              <a:rPr lang="en-US" altLang="zh-CN" sz="1300" b="1" dirty="0">
                <a:solidFill>
                  <a:srgbClr val="C00000"/>
                </a:solidFill>
                <a:ea typeface="华文楷体" panose="02010600040101010101" pitchFamily="2" charset="-122"/>
              </a:rPr>
              <a:t>; </a:t>
            </a:r>
            <a:r>
              <a:rPr lang="en-US" altLang="zh-CN" sz="1300" b="1" dirty="0" smtClean="0">
                <a:solidFill>
                  <a:srgbClr val="C00000"/>
                </a:solidFill>
                <a:ea typeface="华文楷体" panose="02010600040101010101" pitchFamily="2" charset="-122"/>
              </a:rPr>
              <a:t>p[q-</a:t>
            </a:r>
            <a:r>
              <a:rPr lang="en-US" altLang="zh-CN" sz="1300" b="1" dirty="0">
                <a:solidFill>
                  <a:srgbClr val="C00000"/>
                </a:solidFill>
                <a:ea typeface="华文楷体" panose="02010600040101010101" pitchFamily="2" charset="-122"/>
              </a:rPr>
              <a:t>&gt;</a:t>
            </a:r>
            <a:r>
              <a:rPr lang="en-US" altLang="zh-CN" sz="1300" b="1" dirty="0" err="1">
                <a:solidFill>
                  <a:srgbClr val="C00000"/>
                </a:solidFill>
                <a:ea typeface="华文楷体" panose="02010600040101010101" pitchFamily="2" charset="-122"/>
              </a:rPr>
              <a:t>adjvex</a:t>
            </a:r>
            <a:r>
              <a:rPr lang="en-US" altLang="zh-CN" sz="1300" b="1" dirty="0" smtClean="0">
                <a:solidFill>
                  <a:srgbClr val="C00000"/>
                </a:solidFill>
                <a:ea typeface="华文楷体" panose="02010600040101010101" pitchFamily="2" charset="-122"/>
              </a:rPr>
              <a:t>] = w</a:t>
            </a:r>
            <a:r>
              <a:rPr lang="en-US" altLang="zh-CN" sz="1300" b="1" dirty="0">
                <a:solidFill>
                  <a:srgbClr val="C00000"/>
                </a:solidFill>
                <a:ea typeface="华文楷体" panose="02010600040101010101" pitchFamily="2" charset="-122"/>
              </a:rPr>
              <a:t>; </a:t>
            </a:r>
            <a:r>
              <a:rPr lang="en-US" altLang="zh-CN" sz="1300" b="1" dirty="0" smtClean="0">
                <a:solidFill>
                  <a:srgbClr val="C00000"/>
                </a:solidFill>
                <a:ea typeface="华文楷体" panose="02010600040101010101" pitchFamily="2" charset="-122"/>
              </a:rPr>
              <a:t>color[</a:t>
            </a:r>
            <a:r>
              <a:rPr lang="en-US" altLang="zh-CN" sz="1300" b="1" dirty="0">
                <a:solidFill>
                  <a:srgbClr val="C00000"/>
                </a:solidFill>
                <a:ea typeface="华文楷体" panose="02010600040101010101" pitchFamily="2" charset="-122"/>
              </a:rPr>
              <a:t>q-&gt;</a:t>
            </a:r>
            <a:r>
              <a:rPr lang="en-US" altLang="zh-CN" sz="1300" b="1" dirty="0" err="1">
                <a:solidFill>
                  <a:srgbClr val="C00000"/>
                </a:solidFill>
                <a:ea typeface="华文楷体" panose="02010600040101010101" pitchFamily="2" charset="-122"/>
              </a:rPr>
              <a:t>adjvex</a:t>
            </a:r>
            <a:r>
              <a:rPr lang="en-US" altLang="zh-CN" sz="1300" b="1" dirty="0" smtClean="0">
                <a:solidFill>
                  <a:srgbClr val="C00000"/>
                </a:solidFill>
                <a:ea typeface="华文楷体" panose="02010600040101010101" pitchFamily="2" charset="-122"/>
              </a:rPr>
              <a:t>] = gray;</a:t>
            </a:r>
            <a:endParaRPr lang="en-US" altLang="zh-CN" sz="1300" b="1" dirty="0" smtClean="0">
              <a:solidFill>
                <a:srgbClr val="C00000"/>
              </a:solidFill>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rear = (rear+1)%MAXV;  Qu[rear] = q-</a:t>
            </a:r>
            <a:r>
              <a:rPr lang="en-US" altLang="zh-CN" sz="1300" dirty="0">
                <a:ea typeface="华文楷体" panose="02010600040101010101" pitchFamily="2" charset="-122"/>
              </a:rPr>
              <a:t>&gt;</a:t>
            </a:r>
            <a:r>
              <a:rPr lang="en-US" altLang="zh-CN" sz="1300" dirty="0" err="1" smtClean="0">
                <a:ea typeface="华文楷体" panose="02010600040101010101" pitchFamily="2" charset="-122"/>
              </a:rPr>
              <a:t>adjvex</a:t>
            </a:r>
            <a:r>
              <a:rPr lang="en-US" altLang="zh-CN" sz="1300" dirty="0" smtClean="0">
                <a:ea typeface="华文楷体" panose="02010600040101010101" pitchFamily="2" charset="-122"/>
              </a:rPr>
              <a:t>; //</a:t>
            </a:r>
            <a:r>
              <a:rPr lang="zh-CN" altLang="en-US" sz="1300" dirty="0" smtClean="0">
                <a:ea typeface="华文楷体" panose="02010600040101010101" pitchFamily="2" charset="-122"/>
              </a:rPr>
              <a:t>入队</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q = q-&gt;</a:t>
            </a:r>
            <a:r>
              <a:rPr lang="en-US" altLang="zh-CN" sz="1300" dirty="0" err="1" smtClean="0">
                <a:ea typeface="华文楷体" panose="02010600040101010101" pitchFamily="2" charset="-122"/>
              </a:rPr>
              <a:t>nextarc</a:t>
            </a:r>
            <a:r>
              <a:rPr lang="en-US" altLang="zh-CN" sz="1300" dirty="0" smtClean="0">
                <a:ea typeface="华文楷体" panose="02010600040101010101" pitchFamily="2" charset="-122"/>
              </a:rPr>
              <a:t>;</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 // </a:t>
            </a:r>
            <a:r>
              <a:rPr lang="en-US" altLang="zh-CN" sz="1300" dirty="0">
                <a:ea typeface="华文楷体" panose="02010600040101010101" pitchFamily="2" charset="-122"/>
              </a:rPr>
              <a:t>end while(q!=NULL) </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r>
              <a:rPr lang="en-US" altLang="zh-CN" sz="1300" b="1" dirty="0">
                <a:solidFill>
                  <a:srgbClr val="C00000"/>
                </a:solidFill>
                <a:ea typeface="华文楷体" panose="02010600040101010101" pitchFamily="2" charset="-122"/>
              </a:rPr>
              <a:t>color[w</a:t>
            </a:r>
            <a:r>
              <a:rPr lang="en-US" altLang="zh-CN" sz="1300" b="1" dirty="0" smtClean="0">
                <a:solidFill>
                  <a:srgbClr val="C00000"/>
                </a:solidFill>
                <a:ea typeface="华文楷体" panose="02010600040101010101" pitchFamily="2" charset="-122"/>
              </a:rPr>
              <a:t>]=black;</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 </a:t>
            </a:r>
            <a:r>
              <a:rPr lang="en-US" altLang="zh-CN" sz="1300" dirty="0" smtClean="0">
                <a:ea typeface="华文楷体" panose="02010600040101010101" pitchFamily="2" charset="-122"/>
              </a:rPr>
              <a:t>//end while(front </a:t>
            </a:r>
            <a:r>
              <a:rPr lang="en-US" altLang="zh-CN" sz="1300" dirty="0">
                <a:ea typeface="华文楷体" panose="02010600040101010101" pitchFamily="2" charset="-122"/>
              </a:rPr>
              <a:t>!= rear) </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a:t>
            </a:r>
            <a:endParaRPr lang="zh-CN" altLang="en-US" sz="13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19100" y="1066800"/>
            <a:ext cx="8229600" cy="5248275"/>
          </a:xfrm>
        </p:spPr>
        <p:txBody>
          <a:bodyPr/>
          <a:lstStyle/>
          <a:p>
            <a:pPr marL="0" indent="0">
              <a:buNone/>
            </a:pPr>
            <a:r>
              <a:rPr lang="en-US" altLang="zh-CN" sz="2000" b="1" dirty="0">
                <a:solidFill>
                  <a:srgbClr val="FF0000"/>
                </a:solidFill>
                <a:ea typeface="华文楷体" panose="02010600040101010101" pitchFamily="2" charset="-122"/>
              </a:rPr>
              <a:t>[</a:t>
            </a:r>
            <a:r>
              <a:rPr lang="zh-CN" altLang="en-US" sz="2000" b="1" dirty="0">
                <a:solidFill>
                  <a:srgbClr val="FF0000"/>
                </a:solidFill>
                <a:ea typeface="华文楷体" panose="02010600040101010101" pitchFamily="2" charset="-122"/>
              </a:rPr>
              <a:t>算法</a:t>
            </a:r>
            <a:r>
              <a:rPr lang="en-US" altLang="zh-CN" sz="2000" b="1" dirty="0">
                <a:solidFill>
                  <a:srgbClr val="FF0000"/>
                </a:solidFill>
                <a:ea typeface="华文楷体" panose="02010600040101010101" pitchFamily="2" charset="-122"/>
              </a:rPr>
              <a:t>] </a:t>
            </a:r>
            <a:r>
              <a:rPr lang="zh-CN" altLang="en-US" sz="2000" dirty="0" smtClean="0">
                <a:ea typeface="华文楷体" panose="02010600040101010101" pitchFamily="2" charset="-122"/>
              </a:rPr>
              <a:t>邻接</a:t>
            </a:r>
            <a:r>
              <a:rPr lang="zh-CN" altLang="en-US" sz="2000" dirty="0">
                <a:ea typeface="华文楷体" panose="02010600040101010101" pitchFamily="2" charset="-122"/>
              </a:rPr>
              <a:t>矩阵</a:t>
            </a:r>
            <a:r>
              <a:rPr lang="zh-CN" altLang="en-US" sz="2000" dirty="0" smtClean="0">
                <a:ea typeface="华文楷体" panose="02010600040101010101" pitchFamily="2" charset="-122"/>
              </a:rPr>
              <a:t>存储</a:t>
            </a:r>
            <a:r>
              <a:rPr lang="zh-CN" altLang="en-US" sz="2000" dirty="0">
                <a:ea typeface="华文楷体" panose="02010600040101010101" pitchFamily="2" charset="-122"/>
              </a:rPr>
              <a:t>的图的广度优先遍历</a:t>
            </a:r>
            <a:endParaRPr lang="en-US" altLang="zh-CN" sz="2000" dirty="0">
              <a:ea typeface="华文楷体" panose="02010600040101010101" pitchFamily="2" charset="-122"/>
            </a:endParaRPr>
          </a:p>
          <a:p>
            <a:pPr marL="0" indent="0">
              <a:buNone/>
            </a:pPr>
            <a:endParaRPr lang="zh-CN" altLang="en-US"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533400" y="1417637"/>
            <a:ext cx="6305765" cy="5047536"/>
          </a:xfrm>
          <a:prstGeom prst="rect">
            <a:avLst/>
          </a:prstGeom>
          <a:noFill/>
          <a:ln>
            <a:solidFill>
              <a:schemeClr val="accent1"/>
            </a:solidFill>
          </a:ln>
        </p:spPr>
        <p:txBody>
          <a:bodyPr wrap="none" rtlCol="0">
            <a:spAutoFit/>
          </a:bodyPr>
          <a:lstStyle/>
          <a:p>
            <a:pPr marL="0" indent="0">
              <a:buNone/>
            </a:pPr>
            <a:r>
              <a:rPr lang="en-US" altLang="zh-CN" sz="1400" dirty="0" smtClean="0">
                <a:latin typeface="Times New Roman" panose="02020603050405020304" pitchFamily="18" charset="0"/>
                <a:ea typeface="华文楷体" panose="02010600040101010101" pitchFamily="2" charset="-122"/>
              </a:rPr>
              <a:t>void BFS(</a:t>
            </a:r>
            <a:r>
              <a:rPr lang="en-US" altLang="zh-CN" sz="1400" dirty="0" err="1" smtClean="0">
                <a:latin typeface="Times New Roman" panose="02020603050405020304" pitchFamily="18" charset="0"/>
                <a:ea typeface="华文楷体" panose="02010600040101010101" pitchFamily="2" charset="-122"/>
              </a:rPr>
              <a:t>Mraph</a:t>
            </a:r>
            <a:r>
              <a:rPr lang="en-US" altLang="zh-CN" sz="1400" dirty="0" smtClean="0">
                <a:latin typeface="Times New Roman" panose="02020603050405020304" pitchFamily="18" charset="0"/>
                <a:ea typeface="华文楷体" panose="02010600040101010101" pitchFamily="2" charset="-122"/>
              </a:rPr>
              <a:t> g, </a:t>
            </a:r>
            <a:r>
              <a:rPr lang="en-US" altLang="zh-CN" sz="1400" dirty="0" err="1">
                <a:latin typeface="Times New Roman" panose="02020603050405020304" pitchFamily="18" charset="0"/>
                <a:ea typeface="华文楷体" panose="02010600040101010101" pitchFamily="2" charset="-122"/>
              </a:rPr>
              <a:t>int</a:t>
            </a: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s)</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r>
              <a:rPr lang="en-US" altLang="zh-CN" sz="1400" dirty="0" err="1" smtClean="0">
                <a:latin typeface="Times New Roman" panose="02020603050405020304" pitchFamily="18" charset="0"/>
                <a:ea typeface="华文楷体" panose="02010600040101010101" pitchFamily="2" charset="-122"/>
              </a:rPr>
              <a:t>int</a:t>
            </a:r>
            <a:r>
              <a:rPr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Qu[MAXV], front=0, rear=0;</a:t>
            </a:r>
            <a:endParaRPr lang="en-US" altLang="zh-CN" sz="1400" dirty="0">
              <a:latin typeface="Times New Roman" panose="02020603050405020304" pitchFamily="18" charset="0"/>
              <a:ea typeface="华文楷体" panose="02010600040101010101" pitchFamily="2" charset="-122"/>
            </a:endParaRPr>
          </a:p>
          <a:p>
            <a:r>
              <a:rPr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bool visit[MAXV</a:t>
            </a:r>
            <a:r>
              <a:rPr lang="en-US" altLang="zh-CN" sz="1400" dirty="0" smtClean="0">
                <a:latin typeface="Times New Roman" panose="02020603050405020304" pitchFamily="18" charset="0"/>
                <a:ea typeface="华文楷体" panose="02010600040101010101" pitchFamily="2" charset="-122"/>
              </a:rPr>
              <a:t>]; </a:t>
            </a:r>
            <a:r>
              <a:rPr lang="en-US" altLang="zh-CN" sz="1400" b="1" dirty="0" err="1">
                <a:solidFill>
                  <a:srgbClr val="C00000"/>
                </a:solidFill>
                <a:ea typeface="华文楷体" panose="02010600040101010101" pitchFamily="2" charset="-122"/>
              </a:rPr>
              <a:t>int</a:t>
            </a:r>
            <a:r>
              <a:rPr lang="en-US" altLang="zh-CN" sz="1400" b="1" dirty="0">
                <a:solidFill>
                  <a:srgbClr val="C00000"/>
                </a:solidFill>
                <a:ea typeface="华文楷体" panose="02010600040101010101" pitchFamily="2" charset="-122"/>
              </a:rPr>
              <a:t> </a:t>
            </a:r>
            <a:r>
              <a:rPr lang="en-US" altLang="zh-CN" sz="1400" b="1" dirty="0" smtClean="0">
                <a:solidFill>
                  <a:srgbClr val="C00000"/>
                </a:solidFill>
                <a:ea typeface="华文楷体" panose="02010600040101010101" pitchFamily="2" charset="-122"/>
              </a:rPr>
              <a:t>p[MAXV</a:t>
            </a:r>
            <a:r>
              <a:rPr lang="en-US" altLang="zh-CN" sz="1400" b="1" dirty="0">
                <a:solidFill>
                  <a:srgbClr val="C00000"/>
                </a:solidFill>
                <a:ea typeface="华文楷体" panose="02010600040101010101" pitchFamily="2" charset="-122"/>
              </a:rPr>
              <a:t>]; </a:t>
            </a:r>
            <a:endParaRPr lang="en-US" altLang="zh-CN" sz="1400" dirty="0" smtClean="0">
              <a:latin typeface="Times New Roman" panose="02020603050405020304" pitchFamily="18" charset="0"/>
              <a:ea typeface="华文楷体" panose="02010600040101010101" pitchFamily="2" charset="-122"/>
            </a:endParaRPr>
          </a:p>
          <a:p>
            <a:r>
              <a:rPr lang="en-US" altLang="zh-CN" sz="1400" dirty="0" smtClean="0">
                <a:latin typeface="Times New Roman" panose="02020603050405020304" pitchFamily="18" charset="0"/>
                <a:ea typeface="华文楷体" panose="02010600040101010101" pitchFamily="2" charset="-122"/>
              </a:rPr>
              <a:t>    </a:t>
            </a:r>
            <a:r>
              <a:rPr lang="en-US" altLang="zh-CN" sz="1400" b="1" dirty="0" err="1" smtClean="0">
                <a:solidFill>
                  <a:srgbClr val="C00000"/>
                </a:solidFill>
                <a:latin typeface="Times New Roman" panose="02020603050405020304" pitchFamily="18" charset="0"/>
                <a:ea typeface="华文楷体" panose="02010600040101010101" pitchFamily="2" charset="-122"/>
              </a:rPr>
              <a:t>int</a:t>
            </a:r>
            <a:r>
              <a:rPr lang="en-US" altLang="zh-CN" sz="1400" b="1" dirty="0" smtClean="0">
                <a:solidFill>
                  <a:srgbClr val="C00000"/>
                </a:solidFill>
                <a:latin typeface="Times New Roman" panose="02020603050405020304" pitchFamily="18" charset="0"/>
                <a:ea typeface="华文楷体" panose="02010600040101010101" pitchFamily="2" charset="-122"/>
              </a:rPr>
              <a:t> d[MAXV]; </a:t>
            </a:r>
            <a:r>
              <a:rPr lang="en-US" altLang="zh-CN" sz="1400" dirty="0" smtClean="0">
                <a:latin typeface="Times New Roman" panose="02020603050405020304" pitchFamily="18" charset="0"/>
                <a:ea typeface="华文楷体" panose="02010600040101010101" pitchFamily="2" charset="-122"/>
              </a:rPr>
              <a:t>// </a:t>
            </a:r>
            <a:r>
              <a:rPr lang="zh-CN" altLang="en-US" sz="1400" dirty="0" smtClean="0">
                <a:latin typeface="Times New Roman" panose="02020603050405020304" pitchFamily="18" charset="0"/>
                <a:ea typeface="华文楷体" panose="02010600040101010101" pitchFamily="2" charset="-122"/>
              </a:rPr>
              <a:t>用于记录利用</a:t>
            </a:r>
            <a:r>
              <a:rPr lang="en-US" altLang="zh-CN" sz="1400" dirty="0" smtClean="0">
                <a:latin typeface="Times New Roman" panose="02020603050405020304" pitchFamily="18" charset="0"/>
                <a:ea typeface="华文楷体" panose="02010600040101010101" pitchFamily="2" charset="-122"/>
              </a:rPr>
              <a:t>BFS</a:t>
            </a:r>
            <a:r>
              <a:rPr lang="zh-CN" altLang="en-US" sz="1400" dirty="0" smtClean="0">
                <a:latin typeface="Times New Roman" panose="02020603050405020304" pitchFamily="18" charset="0"/>
                <a:ea typeface="华文楷体" panose="02010600040101010101" pitchFamily="2" charset="-122"/>
              </a:rPr>
              <a:t>算法得到的从</a:t>
            </a:r>
            <a:r>
              <a:rPr lang="en-US" altLang="zh-CN" sz="1400" dirty="0" smtClean="0">
                <a:latin typeface="Times New Roman" panose="02020603050405020304" pitchFamily="18" charset="0"/>
                <a:ea typeface="华文楷体" panose="02010600040101010101" pitchFamily="2" charset="-122"/>
              </a:rPr>
              <a:t>s</a:t>
            </a:r>
            <a:r>
              <a:rPr lang="zh-CN" altLang="en-US" sz="1400" dirty="0" smtClean="0">
                <a:latin typeface="Times New Roman" panose="02020603050405020304" pitchFamily="18" charset="0"/>
                <a:ea typeface="华文楷体" panose="02010600040101010101" pitchFamily="2" charset="-122"/>
              </a:rPr>
              <a:t>到其他顶点的距离</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smtClean="0">
                <a:latin typeface="Times New Roman" panose="02020603050405020304" pitchFamily="18" charset="0"/>
                <a:ea typeface="华文楷体" panose="02010600040101010101" pitchFamily="2" charset="-122"/>
              </a:rPr>
              <a:t>    </a:t>
            </a:r>
            <a:r>
              <a:rPr lang="en-US" altLang="zh-CN" sz="1400" dirty="0" err="1" smtClean="0">
                <a:latin typeface="Times New Roman" panose="02020603050405020304" pitchFamily="18" charset="0"/>
                <a:ea typeface="华文楷体" panose="02010600040101010101" pitchFamily="2" charset="-122"/>
              </a:rPr>
              <a:t>int</a:t>
            </a:r>
            <a:r>
              <a:rPr lang="en-US" altLang="zh-CN" sz="1400" dirty="0" smtClean="0">
                <a:latin typeface="Times New Roman" panose="02020603050405020304" pitchFamily="18" charset="0"/>
                <a:ea typeface="华文楷体" panose="02010600040101010101" pitchFamily="2" charset="-122"/>
              </a:rPr>
              <a:t> w; </a:t>
            </a:r>
            <a:r>
              <a:rPr lang="en-US" altLang="zh-CN" sz="1400" dirty="0" err="1" smtClean="0">
                <a:latin typeface="Times New Roman" panose="02020603050405020304" pitchFamily="18" charset="0"/>
                <a:ea typeface="华文楷体" panose="02010600040101010101" pitchFamily="2" charset="-122"/>
              </a:rPr>
              <a:t>int</a:t>
            </a:r>
            <a:r>
              <a:rPr lang="en-US" altLang="zh-CN" sz="1400" dirty="0" smtClean="0">
                <a:latin typeface="Times New Roman" panose="02020603050405020304" pitchFamily="18" charset="0"/>
                <a:ea typeface="华文楷体" panose="02010600040101010101" pitchFamily="2" charset="-122"/>
              </a:rPr>
              <a:t>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smtClean="0">
                <a:latin typeface="Times New Roman" panose="02020603050405020304" pitchFamily="18" charset="0"/>
                <a:ea typeface="华文楷体" panose="02010600040101010101" pitchFamily="2" charset="-122"/>
              </a:rPr>
              <a:t>    for(</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=0;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&lt;MAXV; </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  {visit[</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 = FALSE</a:t>
            </a: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d[</a:t>
            </a:r>
            <a:r>
              <a:rPr lang="en-US" altLang="zh-CN" sz="1400" dirty="0" err="1" smtClean="0">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r>
              <a:rPr lang="en-US" altLang="zh-CN" sz="1400" dirty="0">
                <a:latin typeface="Times New Roman" panose="02020603050405020304" pitchFamily="18" charset="0"/>
                <a:ea typeface="华文楷体" panose="02010600040101010101" pitchFamily="2" charset="-122"/>
              </a:rPr>
              <a:t>INF; p[</a:t>
            </a:r>
            <a:r>
              <a:rPr lang="en-US" altLang="zh-CN" sz="1400" dirty="0" err="1">
                <a:latin typeface="Times New Roman" panose="02020603050405020304" pitchFamily="18" charset="0"/>
                <a:ea typeface="华文楷体" panose="02010600040101010101" pitchFamily="2" charset="-122"/>
              </a:rPr>
              <a:t>i</a:t>
            </a:r>
            <a:r>
              <a:rPr lang="en-US" altLang="zh-CN" sz="1400" dirty="0">
                <a:latin typeface="Times New Roman" panose="02020603050405020304" pitchFamily="18" charset="0"/>
                <a:ea typeface="华文楷体" panose="02010600040101010101" pitchFamily="2" charset="-122"/>
              </a:rPr>
              <a:t>]=-1; color[</a:t>
            </a:r>
            <a:r>
              <a:rPr lang="en-US" altLang="zh-CN" sz="1400" dirty="0" err="1">
                <a:latin typeface="Times New Roman" panose="02020603050405020304" pitchFamily="18" charset="0"/>
                <a:ea typeface="华文楷体" panose="02010600040101010101" pitchFamily="2" charset="-122"/>
              </a:rPr>
              <a:t>i</a:t>
            </a:r>
            <a:r>
              <a:rPr lang="en-US" altLang="zh-CN" sz="1400" dirty="0">
                <a:latin typeface="Times New Roman" panose="02020603050405020304" pitchFamily="18" charset="0"/>
                <a:ea typeface="华文楷体" panose="02010600040101010101" pitchFamily="2" charset="-122"/>
              </a:rPr>
              <a:t>] = white;}</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r>
              <a:rPr lang="en-US" altLang="zh-CN" sz="1400" dirty="0" err="1">
                <a:latin typeface="Times New Roman" panose="02020603050405020304" pitchFamily="18" charset="0"/>
                <a:ea typeface="华文楷体" panose="02010600040101010101" pitchFamily="2" charset="-122"/>
              </a:rPr>
              <a:t>printf</a:t>
            </a:r>
            <a:r>
              <a:rPr lang="en-US" altLang="zh-CN" sz="1400" dirty="0">
                <a:latin typeface="Times New Roman" panose="02020603050405020304" pitchFamily="18" charset="0"/>
                <a:ea typeface="华文楷体" panose="02010600040101010101" pitchFamily="2" charset="-122"/>
              </a:rPr>
              <a:t>(“3d</a:t>
            </a:r>
            <a:r>
              <a:rPr lang="en-US" altLang="zh-CN" sz="1400" dirty="0" smtClean="0">
                <a:latin typeface="Times New Roman" panose="02020603050405020304" pitchFamily="18" charset="0"/>
                <a:ea typeface="华文楷体" panose="02010600040101010101" pitchFamily="2" charset="-122"/>
              </a:rPr>
              <a:t>%”,s); visit[s]=</a:t>
            </a:r>
            <a:r>
              <a:rPr lang="en-US" altLang="zh-CN" sz="1400" dirty="0">
                <a:latin typeface="Times New Roman" panose="02020603050405020304" pitchFamily="18" charset="0"/>
                <a:ea typeface="华文楷体" panose="02010600040101010101" pitchFamily="2" charset="-122"/>
              </a:rPr>
              <a:t>TRUE; </a:t>
            </a:r>
            <a:r>
              <a:rPr lang="en-US" altLang="zh-CN" sz="1400" dirty="0" smtClean="0">
                <a:latin typeface="Times New Roman" panose="02020603050405020304" pitchFamily="18" charset="0"/>
                <a:ea typeface="华文楷体" panose="02010600040101010101" pitchFamily="2" charset="-122"/>
              </a:rPr>
              <a:t>d[s] = </a:t>
            </a:r>
            <a:r>
              <a:rPr lang="en-US" altLang="zh-CN" sz="1400" dirty="0">
                <a:latin typeface="Times New Roman" panose="02020603050405020304" pitchFamily="18" charset="0"/>
                <a:ea typeface="华文楷体" panose="02010600040101010101" pitchFamily="2" charset="-122"/>
              </a:rPr>
              <a:t>0; </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color[</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 gray;</a:t>
            </a:r>
            <a:endPar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smtClean="0">
                <a:latin typeface="Times New Roman" panose="02020603050405020304" pitchFamily="18" charset="0"/>
                <a:ea typeface="华文楷体" panose="02010600040101010101" pitchFamily="2" charset="-122"/>
              </a:rPr>
              <a:t>    rear </a:t>
            </a:r>
            <a:r>
              <a:rPr lang="en-US" altLang="zh-CN" sz="1400" dirty="0">
                <a:latin typeface="Times New Roman" panose="02020603050405020304" pitchFamily="18" charset="0"/>
                <a:ea typeface="华文楷体" panose="02010600040101010101" pitchFamily="2" charset="-122"/>
              </a:rPr>
              <a:t>= (rear+1)%MAXV; QU[rear] </a:t>
            </a:r>
            <a:r>
              <a:rPr lang="en-US" altLang="zh-CN" sz="1400" dirty="0" smtClean="0">
                <a:latin typeface="Times New Roman" panose="02020603050405020304" pitchFamily="18" charset="0"/>
                <a:ea typeface="华文楷体" panose="02010600040101010101" pitchFamily="2" charset="-122"/>
              </a:rPr>
              <a:t>=s;//</a:t>
            </a:r>
            <a:r>
              <a:rPr lang="zh-CN" altLang="en-US" sz="1400" dirty="0" smtClean="0">
                <a:latin typeface="Times New Roman" panose="02020603050405020304" pitchFamily="18" charset="0"/>
                <a:ea typeface="华文楷体" panose="02010600040101010101" pitchFamily="2" charset="-122"/>
              </a:rPr>
              <a:t>源顶点</a:t>
            </a:r>
            <a:r>
              <a:rPr lang="en-US" altLang="zh-CN" sz="1400" dirty="0" smtClean="0">
                <a:latin typeface="Times New Roman" panose="02020603050405020304" pitchFamily="18" charset="0"/>
                <a:ea typeface="华文楷体" panose="02010600040101010101" pitchFamily="2" charset="-122"/>
              </a:rPr>
              <a:t>s</a:t>
            </a:r>
            <a:r>
              <a:rPr lang="zh-CN" altLang="en-US" sz="1400" dirty="0" smtClean="0">
                <a:latin typeface="Times New Roman" panose="02020603050405020304" pitchFamily="18" charset="0"/>
                <a:ea typeface="华文楷体" panose="02010600040101010101" pitchFamily="2" charset="-122"/>
              </a:rPr>
              <a:t>入队</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while (front != rear) </a:t>
            </a:r>
            <a:r>
              <a:rPr lang="en-US" altLang="zh-CN" sz="1400" dirty="0">
                <a:latin typeface="Times New Roman" panose="02020603050405020304" pitchFamily="18" charset="0"/>
                <a:ea typeface="华文楷体" panose="02010600040101010101" pitchFamily="2" charset="-122"/>
              </a:rPr>
              <a:t>//</a:t>
            </a:r>
            <a:r>
              <a:rPr lang="zh-CN" altLang="en-US" sz="1400" dirty="0">
                <a:latin typeface="Times New Roman" panose="02020603050405020304" pitchFamily="18" charset="0"/>
                <a:ea typeface="华文楷体" panose="02010600040101010101" pitchFamily="2" charset="-122"/>
              </a:rPr>
              <a:t>队列不为</a:t>
            </a:r>
            <a:r>
              <a:rPr lang="zh-CN" altLang="en-US" sz="1400" dirty="0" smtClean="0">
                <a:latin typeface="Times New Roman" panose="02020603050405020304" pitchFamily="18" charset="0"/>
                <a:ea typeface="华文楷体" panose="02010600040101010101" pitchFamily="2" charset="-122"/>
              </a:rPr>
              <a:t>空</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endParaRPr lang="en-US" altLang="zh-CN" sz="1400" dirty="0" smtClean="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front =(front +1)%MAXV; w=QU[front]; //</a:t>
            </a:r>
            <a:r>
              <a:rPr lang="zh-CN" altLang="en-US" sz="1400" dirty="0">
                <a:latin typeface="Times New Roman" panose="02020603050405020304" pitchFamily="18" charset="0"/>
                <a:ea typeface="华文楷体" panose="02010600040101010101" pitchFamily="2" charset="-122"/>
              </a:rPr>
              <a:t>队头顶点</a:t>
            </a:r>
            <a:r>
              <a:rPr lang="en-US" altLang="zh-CN" sz="1400" dirty="0">
                <a:latin typeface="Times New Roman" panose="02020603050405020304" pitchFamily="18" charset="0"/>
                <a:ea typeface="华文楷体" panose="02010600040101010101" pitchFamily="2" charset="-122"/>
              </a:rPr>
              <a:t>w</a:t>
            </a:r>
            <a:r>
              <a:rPr lang="zh-CN" altLang="en-US" sz="1400" dirty="0">
                <a:latin typeface="Times New Roman" panose="02020603050405020304" pitchFamily="18" charset="0"/>
                <a:ea typeface="华文楷体" panose="02010600040101010101" pitchFamily="2" charset="-122"/>
              </a:rPr>
              <a:t>出队</a:t>
            </a:r>
            <a:endParaRPr lang="en-US" altLang="zh-CN" sz="1400" dirty="0">
              <a:latin typeface="Times New Roman" panose="02020603050405020304" pitchFamily="18" charset="0"/>
              <a:ea typeface="华文楷体" panose="02010600040101010101" pitchFamily="2" charset="-122"/>
            </a:endParaRPr>
          </a:p>
          <a:p>
            <a:pPr marL="0" indent="0">
              <a:buNone/>
            </a:pPr>
            <a:r>
              <a:rPr lang="en-US" altLang="zh-CN" sz="1400" dirty="0" smtClean="0">
                <a:latin typeface="Times New Roman" panose="02020603050405020304" pitchFamily="18" charset="0"/>
                <a:ea typeface="华文楷体" panose="02010600040101010101" pitchFamily="2" charset="-122"/>
              </a:rPr>
              <a:t>        </a:t>
            </a:r>
            <a:r>
              <a:rPr lang="en-US" altLang="zh-CN" sz="1400" b="1" dirty="0" smtClean="0">
                <a:solidFill>
                  <a:srgbClr val="C00000"/>
                </a:solidFill>
                <a:latin typeface="Times New Roman" panose="02020603050405020304" pitchFamily="18" charset="0"/>
                <a:ea typeface="华文楷体" panose="02010600040101010101" pitchFamily="2" charset="-122"/>
              </a:rPr>
              <a:t>for (</a:t>
            </a:r>
            <a:r>
              <a:rPr lang="en-US" altLang="zh-CN" sz="1400" b="1" dirty="0" err="1" smtClean="0">
                <a:solidFill>
                  <a:srgbClr val="C00000"/>
                </a:solidFill>
                <a:latin typeface="Times New Roman" panose="02020603050405020304" pitchFamily="18" charset="0"/>
                <a:ea typeface="华文楷体" panose="02010600040101010101" pitchFamily="2" charset="-122"/>
              </a:rPr>
              <a:t>i</a:t>
            </a:r>
            <a:r>
              <a:rPr lang="en-US" altLang="zh-CN" sz="1400" b="1" dirty="0" smtClean="0">
                <a:solidFill>
                  <a:srgbClr val="C00000"/>
                </a:solidFill>
                <a:latin typeface="Times New Roman" panose="02020603050405020304" pitchFamily="18" charset="0"/>
                <a:ea typeface="华文楷体" panose="02010600040101010101" pitchFamily="2" charset="-122"/>
              </a:rPr>
              <a:t>=0; </a:t>
            </a:r>
            <a:r>
              <a:rPr lang="en-US" altLang="zh-CN" sz="1400" b="1" dirty="0" err="1" smtClean="0">
                <a:solidFill>
                  <a:srgbClr val="C00000"/>
                </a:solidFill>
                <a:latin typeface="Times New Roman" panose="02020603050405020304" pitchFamily="18" charset="0"/>
                <a:ea typeface="华文楷体" panose="02010600040101010101" pitchFamily="2" charset="-122"/>
              </a:rPr>
              <a:t>i</a:t>
            </a:r>
            <a:r>
              <a:rPr lang="en-US" altLang="zh-CN" sz="1400" b="1" dirty="0" smtClean="0">
                <a:solidFill>
                  <a:srgbClr val="C00000"/>
                </a:solidFill>
                <a:latin typeface="Times New Roman" panose="02020603050405020304" pitchFamily="18" charset="0"/>
                <a:ea typeface="华文楷体" panose="02010600040101010101" pitchFamily="2" charset="-122"/>
              </a:rPr>
              <a:t>&lt;MAXV; </a:t>
            </a:r>
            <a:r>
              <a:rPr lang="en-US" altLang="zh-CN" sz="1400" b="1" dirty="0" err="1" smtClean="0">
                <a:solidFill>
                  <a:srgbClr val="C00000"/>
                </a:solidFill>
                <a:latin typeface="Times New Roman" panose="02020603050405020304" pitchFamily="18" charset="0"/>
                <a:ea typeface="华文楷体" panose="02010600040101010101" pitchFamily="2" charset="-122"/>
              </a:rPr>
              <a:t>i</a:t>
            </a:r>
            <a:r>
              <a:rPr lang="en-US" altLang="zh-CN" sz="1400" b="1" dirty="0" smtClean="0">
                <a:solidFill>
                  <a:srgbClr val="C00000"/>
                </a:solidFill>
                <a:latin typeface="Times New Roman" panose="02020603050405020304" pitchFamily="18" charset="0"/>
                <a:ea typeface="华文楷体" panose="02010600040101010101" pitchFamily="2" charset="-122"/>
              </a:rPr>
              <a:t>++)</a:t>
            </a:r>
            <a:endParaRPr lang="en-US" altLang="zh-CN" sz="1400" b="1" dirty="0" smtClean="0">
              <a:solidFill>
                <a:srgbClr val="C00000"/>
              </a:solidFill>
              <a:latin typeface="Times New Roman" panose="02020603050405020304" pitchFamily="18" charset="0"/>
              <a:ea typeface="华文楷体" panose="02010600040101010101" pitchFamily="2" charset="-122"/>
            </a:endParaRPr>
          </a:p>
          <a:p>
            <a:pPr marL="0" indent="0">
              <a:buNone/>
            </a:pPr>
            <a:r>
              <a:rPr lang="en-US" altLang="zh-CN" sz="1400" dirty="0">
                <a:solidFill>
                  <a:srgbClr val="C00000"/>
                </a:solidFill>
                <a:latin typeface="Times New Roman" panose="02020603050405020304" pitchFamily="18" charset="0"/>
                <a:ea typeface="华文楷体" panose="02010600040101010101" pitchFamily="2" charset="-122"/>
              </a:rPr>
              <a:t> </a:t>
            </a:r>
            <a:r>
              <a:rPr lang="en-US" altLang="zh-CN" sz="1400" dirty="0" smtClean="0">
                <a:solidFill>
                  <a:srgbClr val="C00000"/>
                </a:solidFill>
                <a:latin typeface="Times New Roman" panose="02020603050405020304" pitchFamily="18" charset="0"/>
                <a:ea typeface="华文楷体" panose="02010600040101010101" pitchFamily="2" charset="-122"/>
              </a:rPr>
              <a:t>       </a:t>
            </a:r>
            <a:r>
              <a:rPr lang="en-US" altLang="zh-CN" sz="1400"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if(</a:t>
            </a:r>
            <a:r>
              <a:rPr lang="en-US" altLang="zh-CN" sz="1400" b="1" dirty="0" err="1"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g.edges</a:t>
            </a:r>
            <a:r>
              <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 0 &amp;&amp; </a:t>
            </a:r>
            <a:r>
              <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if(</a:t>
            </a:r>
            <a:r>
              <a:rPr lang="en-US" altLang="zh-CN" sz="1400" b="1" dirty="0" err="1"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g.edges</a:t>
            </a:r>
            <a:r>
              <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 INF &amp;&amp; visited[</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 FALSE </a:t>
            </a:r>
            <a:r>
              <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400" b="1"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err="1" smtClean="0">
                <a:latin typeface="Times New Roman" panose="02020603050405020304" pitchFamily="18" charset="0"/>
                <a:ea typeface="华文楷体" panose="02010600040101010101" pitchFamily="2" charset="-122"/>
              </a:rPr>
              <a:t>printf</a:t>
            </a:r>
            <a:r>
              <a:rPr lang="en-US" altLang="zh-CN" sz="1400" dirty="0">
                <a:latin typeface="Times New Roman" panose="02020603050405020304" pitchFamily="18" charset="0"/>
                <a:ea typeface="华文楷体" panose="02010600040101010101" pitchFamily="2" charset="-122"/>
              </a:rPr>
              <a:t>(“3d</a:t>
            </a:r>
            <a:r>
              <a:rPr lang="en-US" altLang="zh-CN" sz="1400" dirty="0" smtClean="0">
                <a:latin typeface="Times New Roman" panose="02020603050405020304" pitchFamily="18" charset="0"/>
                <a:ea typeface="华文楷体" panose="02010600040101010101" pitchFamily="2" charset="-122"/>
              </a:rPr>
              <a:t>%”,</a:t>
            </a:r>
            <a:r>
              <a:rPr lang="en-US" altLang="zh-CN" sz="1400" b="1" dirty="0" smtClean="0">
                <a:solidFill>
                  <a:srgbClr val="C00000"/>
                </a:solidFill>
                <a:latin typeface="Times New Roman" panose="02020603050405020304" pitchFamily="18" charset="0"/>
                <a:ea typeface="华文楷体" panose="02010600040101010101" pitchFamily="2" charset="-122"/>
              </a:rPr>
              <a:t>i</a:t>
            </a:r>
            <a:r>
              <a:rPr lang="en-US" altLang="zh-CN" sz="1400" dirty="0" smtClean="0">
                <a:latin typeface="Times New Roman" panose="02020603050405020304" pitchFamily="18" charset="0"/>
                <a:ea typeface="华文楷体" panose="02010600040101010101" pitchFamily="2" charset="-122"/>
              </a:rPr>
              <a:t>);</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visit[</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 TRUE;</a:t>
            </a:r>
            <a:endPar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b="1" dirty="0" smtClean="0">
                <a:solidFill>
                  <a:srgbClr val="C00000"/>
                </a:solidFill>
                <a:ea typeface="华文楷体" panose="02010600040101010101" pitchFamily="2" charset="-122"/>
              </a:rPr>
              <a:t>d[</a:t>
            </a:r>
            <a:r>
              <a:rPr lang="en-US" altLang="zh-CN" sz="1400" b="1" dirty="0" err="1" smtClean="0">
                <a:solidFill>
                  <a:srgbClr val="C00000"/>
                </a:solidFill>
                <a:ea typeface="华文楷体" panose="02010600040101010101" pitchFamily="2" charset="-122"/>
              </a:rPr>
              <a:t>i</a:t>
            </a:r>
            <a:r>
              <a:rPr lang="en-US" altLang="zh-CN" sz="1400" b="1" dirty="0" smtClean="0">
                <a:solidFill>
                  <a:srgbClr val="C00000"/>
                </a:solidFill>
                <a:ea typeface="华文楷体" panose="02010600040101010101" pitchFamily="2" charset="-122"/>
              </a:rPr>
              <a:t>]=d[w</a:t>
            </a:r>
            <a:r>
              <a:rPr lang="en-US" altLang="zh-CN" sz="1400" b="1" dirty="0">
                <a:solidFill>
                  <a:srgbClr val="C00000"/>
                </a:solidFill>
                <a:ea typeface="华文楷体" panose="02010600040101010101" pitchFamily="2" charset="-122"/>
              </a:rPr>
              <a:t>]+1; </a:t>
            </a:r>
            <a:r>
              <a:rPr lang="en-US" altLang="zh-CN" sz="1400" b="1" dirty="0" smtClean="0">
                <a:solidFill>
                  <a:srgbClr val="C00000"/>
                </a:solidFill>
                <a:ea typeface="华文楷体" panose="02010600040101010101" pitchFamily="2" charset="-122"/>
              </a:rPr>
              <a:t>p[</a:t>
            </a:r>
            <a:r>
              <a:rPr lang="en-US" altLang="zh-CN" sz="1400" b="1" dirty="0" err="1" smtClean="0">
                <a:solidFill>
                  <a:srgbClr val="C00000"/>
                </a:solidFill>
                <a:ea typeface="华文楷体" panose="02010600040101010101" pitchFamily="2" charset="-122"/>
              </a:rPr>
              <a:t>i</a:t>
            </a:r>
            <a:r>
              <a:rPr lang="en-US" altLang="zh-CN" sz="1400" b="1" dirty="0" smtClean="0">
                <a:solidFill>
                  <a:srgbClr val="C00000"/>
                </a:solidFill>
                <a:ea typeface="华文楷体" panose="02010600040101010101" pitchFamily="2" charset="-122"/>
              </a:rPr>
              <a:t>] </a:t>
            </a:r>
            <a:r>
              <a:rPr lang="en-US" altLang="zh-CN" sz="1400" b="1" dirty="0">
                <a:solidFill>
                  <a:srgbClr val="C00000"/>
                </a:solidFill>
                <a:ea typeface="华文楷体" panose="02010600040101010101" pitchFamily="2" charset="-122"/>
              </a:rPr>
              <a:t>= w</a:t>
            </a:r>
            <a:r>
              <a:rPr lang="en-US" altLang="zh-CN" sz="1400" b="1" dirty="0" smtClean="0">
                <a:solidFill>
                  <a:srgbClr val="C00000"/>
                </a:solidFill>
                <a:ea typeface="华文楷体" panose="02010600040101010101" pitchFamily="2" charset="-122"/>
              </a:rPr>
              <a:t>; color[</a:t>
            </a:r>
            <a:r>
              <a:rPr lang="en-US" altLang="zh-CN" sz="1400" b="1" dirty="0" err="1" smtClean="0">
                <a:solidFill>
                  <a:srgbClr val="C00000"/>
                </a:solidFill>
                <a:ea typeface="华文楷体" panose="02010600040101010101" pitchFamily="2" charset="-122"/>
              </a:rPr>
              <a:t>i</a:t>
            </a:r>
            <a:r>
              <a:rPr lang="en-US" altLang="zh-CN" sz="1400" b="1" dirty="0" smtClean="0">
                <a:solidFill>
                  <a:srgbClr val="C00000"/>
                </a:solidFill>
                <a:ea typeface="华文楷体" panose="02010600040101010101" pitchFamily="2" charset="-122"/>
              </a:rPr>
              <a:t>]=gray;</a:t>
            </a:r>
            <a:endParaRPr lang="en-US" altLang="zh-CN" sz="1400" b="1" dirty="0">
              <a:solidFill>
                <a:srgbClr val="C00000"/>
              </a:solidFill>
              <a:ea typeface="华文楷体" panose="02010600040101010101" pitchFamily="2" charset="-122"/>
            </a:endParaRPr>
          </a:p>
          <a:p>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a:latin typeface="Times New Roman" panose="02020603050405020304" pitchFamily="18" charset="0"/>
                <a:ea typeface="华文楷体" panose="02010600040101010101" pitchFamily="2" charset="-122"/>
              </a:rPr>
              <a:t>rear = (rear+1)%MAXV;  </a:t>
            </a:r>
            <a:r>
              <a:rPr lang="en-US" altLang="zh-CN" sz="1400" b="1" dirty="0">
                <a:solidFill>
                  <a:srgbClr val="C00000"/>
                </a:solidFill>
                <a:latin typeface="Times New Roman" panose="02020603050405020304" pitchFamily="18" charset="0"/>
                <a:ea typeface="华文楷体" panose="02010600040101010101" pitchFamily="2" charset="-122"/>
              </a:rPr>
              <a:t>Qu[rear] = </a:t>
            </a:r>
            <a:r>
              <a:rPr lang="en-US" altLang="zh-CN" sz="1400" b="1" dirty="0" err="1">
                <a:solidFill>
                  <a:srgbClr val="C00000"/>
                </a:solidFill>
                <a:latin typeface="Times New Roman" panose="02020603050405020304" pitchFamily="18" charset="0"/>
                <a:ea typeface="华文楷体" panose="02010600040101010101" pitchFamily="2" charset="-122"/>
              </a:rPr>
              <a:t>i</a:t>
            </a:r>
            <a:r>
              <a:rPr lang="en-US" altLang="zh-CN" sz="1400" b="1" dirty="0" smtClean="0">
                <a:solidFill>
                  <a:srgbClr val="C00000"/>
                </a:solidFill>
                <a:latin typeface="Times New Roman" panose="02020603050405020304" pitchFamily="18" charset="0"/>
                <a:ea typeface="华文楷体" panose="02010600040101010101" pitchFamily="2" charset="-122"/>
              </a:rPr>
              <a:t>; </a:t>
            </a:r>
            <a:r>
              <a:rPr lang="en-US" altLang="zh-CN" sz="1400" dirty="0">
                <a:latin typeface="Times New Roman" panose="02020603050405020304" pitchFamily="18" charset="0"/>
                <a:ea typeface="华文楷体" panose="02010600040101010101" pitchFamily="2" charset="-122"/>
              </a:rPr>
              <a:t>//</a:t>
            </a:r>
            <a:r>
              <a:rPr lang="zh-CN" altLang="en-US" sz="1400" dirty="0" smtClean="0">
                <a:latin typeface="Times New Roman" panose="02020603050405020304" pitchFamily="18" charset="0"/>
                <a:ea typeface="华文楷体" panose="02010600040101010101" pitchFamily="2" charset="-122"/>
              </a:rPr>
              <a:t>入队</a:t>
            </a:r>
            <a:endPar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 </a:t>
            </a:r>
            <a:endPar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color[</a:t>
            </a:r>
            <a:r>
              <a:rPr lang="en-US" altLang="zh-CN" sz="1400" b="1" dirty="0" err="1">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 = black;</a:t>
            </a:r>
            <a:endParaRPr lang="en-US" altLang="zh-CN" sz="1400"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buNone/>
            </a:pPr>
            <a:r>
              <a:rPr lang="en-US" altLang="zh-CN" sz="1400" dirty="0">
                <a:latin typeface="Times New Roman" panose="02020603050405020304" pitchFamily="18" charset="0"/>
                <a:ea typeface="华文楷体" panose="02010600040101010101" pitchFamily="2" charset="-122"/>
              </a:rPr>
              <a:t> </a:t>
            </a:r>
            <a:r>
              <a:rPr lang="en-US" altLang="zh-CN" sz="1400" dirty="0" smtClean="0">
                <a:latin typeface="Times New Roman" panose="02020603050405020304" pitchFamily="18" charset="0"/>
                <a:ea typeface="华文楷体" panose="02010600040101010101" pitchFamily="2" charset="-122"/>
              </a:rPr>
              <a:t>   }</a:t>
            </a:r>
            <a:endParaRPr lang="en-US" altLang="zh-CN" sz="1400" dirty="0" smtClean="0">
              <a:latin typeface="Times New Roman" panose="02020603050405020304" pitchFamily="18" charset="0"/>
              <a:ea typeface="华文楷体" panose="02010600040101010101" pitchFamily="2" charset="-122"/>
            </a:endParaRPr>
          </a:p>
          <a:p>
            <a:pPr marL="0" indent="0">
              <a:buNone/>
            </a:pPr>
            <a:r>
              <a:rPr lang="en-US" altLang="zh-CN" sz="1400" dirty="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p:txBody>
      </p:sp>
      <p:sp>
        <p:nvSpPr>
          <p:cNvPr id="7" name="矩形 6"/>
          <p:cNvSpPr/>
          <p:nvPr/>
        </p:nvSpPr>
        <p:spPr>
          <a:xfrm>
            <a:off x="5619751" y="4974015"/>
            <a:ext cx="3433761" cy="1569660"/>
          </a:xfrm>
          <a:prstGeom prst="rect">
            <a:avLst/>
          </a:prstGeom>
          <a:ln>
            <a:solidFill>
              <a:schemeClr val="accent6">
                <a:lumMod val="75000"/>
              </a:schemeClr>
            </a:solidFill>
          </a:ln>
        </p:spPr>
        <p:txBody>
          <a:bodyPr wrap="square">
            <a:spAutoFit/>
          </a:bodyPr>
          <a:lstStyle/>
          <a:p>
            <a:pPr eaLnBrk="1" hangingPunct="1">
              <a:buFont typeface="Wingdings" panose="05000000000000000000" pitchFamily="2" charset="2"/>
              <a:buNone/>
            </a:pPr>
            <a:r>
              <a:rPr lang="en-US" altLang="zh-CN" sz="1600" b="1" dirty="0" smtClean="0">
                <a:solidFill>
                  <a:srgbClr val="996600"/>
                </a:solidFill>
                <a:ea typeface="华文楷体" panose="02010600040101010101" pitchFamily="2" charset="-122"/>
              </a:rPr>
              <a:t>[</a:t>
            </a:r>
            <a:r>
              <a:rPr lang="zh-CN" altLang="en-US" sz="1600" b="1" dirty="0" smtClean="0">
                <a:solidFill>
                  <a:srgbClr val="996600"/>
                </a:solidFill>
                <a:ea typeface="华文楷体" panose="02010600040101010101" pitchFamily="2" charset="-122"/>
              </a:rPr>
              <a:t>时间</a:t>
            </a:r>
            <a:r>
              <a:rPr lang="zh-CN" altLang="en-US" sz="1600" b="1" dirty="0">
                <a:solidFill>
                  <a:srgbClr val="996600"/>
                </a:solidFill>
                <a:ea typeface="华文楷体" panose="02010600040101010101" pitchFamily="2" charset="-122"/>
              </a:rPr>
              <a:t>复杂度分析</a:t>
            </a:r>
            <a:r>
              <a:rPr lang="en-US" altLang="zh-CN" sz="1600" b="1" dirty="0">
                <a:solidFill>
                  <a:srgbClr val="996600"/>
                </a:solidFill>
                <a:ea typeface="华文楷体" panose="02010600040101010101" pitchFamily="2" charset="-122"/>
              </a:rPr>
              <a:t>]</a:t>
            </a:r>
            <a:endParaRPr lang="en-US" altLang="zh-CN" sz="1600" b="1" dirty="0">
              <a:solidFill>
                <a:srgbClr val="996600"/>
              </a:solidFill>
              <a:ea typeface="华文楷体" panose="02010600040101010101" pitchFamily="2" charset="-122"/>
            </a:endParaRPr>
          </a:p>
          <a:p>
            <a:pPr eaLnBrk="1" hangingPunct="1">
              <a:buFont typeface="Wingdings" panose="05000000000000000000" pitchFamily="2" charset="2"/>
              <a:buNone/>
            </a:pPr>
            <a:r>
              <a:rPr lang="zh-CN" altLang="en-US" sz="1600" dirty="0">
                <a:ea typeface="华文楷体" panose="02010600040101010101" pitchFamily="2" charset="-122"/>
              </a:rPr>
              <a:t>主要操作：查找</a:t>
            </a:r>
            <a:r>
              <a:rPr lang="zh-CN" altLang="en-US" sz="1600" dirty="0" smtClean="0">
                <a:ea typeface="华文楷体" panose="02010600040101010101" pitchFamily="2" charset="-122"/>
              </a:rPr>
              <a:t>每个顶点</a:t>
            </a:r>
            <a:r>
              <a:rPr lang="zh-CN" altLang="en-US" sz="1600" dirty="0">
                <a:ea typeface="华文楷体" panose="02010600040101010101" pitchFamily="2" charset="-122"/>
              </a:rPr>
              <a:t>的所有邻接点</a:t>
            </a:r>
            <a:endParaRPr lang="zh-CN" altLang="en-US" sz="1600" dirty="0">
              <a:ea typeface="华文楷体" panose="02010600040101010101" pitchFamily="2" charset="-122"/>
            </a:endParaRPr>
          </a:p>
          <a:p>
            <a:pPr eaLnBrk="1" hangingPunct="1"/>
            <a:r>
              <a:rPr lang="zh-CN" altLang="en-US" sz="1600" dirty="0">
                <a:ea typeface="华文楷体" panose="02010600040101010101" pitchFamily="2" charset="-122"/>
              </a:rPr>
              <a:t>邻接矩阵   </a:t>
            </a:r>
            <a:r>
              <a:rPr lang="en-US" altLang="zh-CN" sz="1600" dirty="0">
                <a:ea typeface="华文楷体" panose="02010600040101010101" pitchFamily="2" charset="-122"/>
              </a:rPr>
              <a:t>O(n</a:t>
            </a:r>
            <a:r>
              <a:rPr lang="en-US" altLang="zh-CN" sz="1600" baseline="30000" dirty="0">
                <a:ea typeface="华文楷体" panose="02010600040101010101" pitchFamily="2" charset="-122"/>
              </a:rPr>
              <a:t>2</a:t>
            </a:r>
            <a:r>
              <a:rPr lang="en-US" altLang="zh-CN" sz="1600" dirty="0">
                <a:ea typeface="华文楷体" panose="02010600040101010101" pitchFamily="2" charset="-122"/>
              </a:rPr>
              <a:t>)</a:t>
            </a:r>
            <a:endParaRPr lang="en-US" altLang="zh-CN" sz="1600" dirty="0">
              <a:ea typeface="华文楷体" panose="02010600040101010101" pitchFamily="2" charset="-122"/>
            </a:endParaRPr>
          </a:p>
          <a:p>
            <a:pPr eaLnBrk="1" hangingPunct="1"/>
            <a:r>
              <a:rPr lang="zh-CN" altLang="en-US" sz="1600" dirty="0" smtClean="0">
                <a:ea typeface="华文楷体" panose="02010600040101010101" pitchFamily="2" charset="-122"/>
              </a:rPr>
              <a:t>邻接</a:t>
            </a:r>
            <a:r>
              <a:rPr lang="zh-CN" altLang="en-US" sz="1600" dirty="0">
                <a:ea typeface="华文楷体" panose="02010600040101010101" pitchFamily="2" charset="-122"/>
              </a:rPr>
              <a:t>表   无向图  </a:t>
            </a:r>
            <a:r>
              <a:rPr lang="en-US" altLang="zh-CN" sz="1600" dirty="0">
                <a:ea typeface="华文楷体" panose="02010600040101010101" pitchFamily="2" charset="-122"/>
              </a:rPr>
              <a:t>O(n+2e)</a:t>
            </a:r>
            <a:endParaRPr lang="en-US" altLang="zh-CN" sz="1600" dirty="0">
              <a:ea typeface="华文楷体" panose="02010600040101010101" pitchFamily="2" charset="-122"/>
            </a:endParaRPr>
          </a:p>
          <a:p>
            <a:pPr eaLnBrk="1" hangingPunct="1">
              <a:buFont typeface="Wingdings" panose="05000000000000000000" pitchFamily="2" charset="2"/>
              <a:buNone/>
            </a:pPr>
            <a:r>
              <a:rPr lang="en-US" altLang="zh-CN" sz="1600" dirty="0">
                <a:ea typeface="华文楷体" panose="02010600040101010101" pitchFamily="2" charset="-122"/>
              </a:rPr>
              <a:t>                </a:t>
            </a:r>
            <a:r>
              <a:rPr lang="zh-CN" altLang="en-US" sz="1600" dirty="0" smtClean="0">
                <a:ea typeface="华文楷体" panose="02010600040101010101" pitchFamily="2" charset="-122"/>
              </a:rPr>
              <a:t>有向图  </a:t>
            </a:r>
            <a:r>
              <a:rPr lang="en-US" altLang="zh-CN" sz="1600" dirty="0">
                <a:ea typeface="华文楷体" panose="02010600040101010101" pitchFamily="2" charset="-122"/>
              </a:rPr>
              <a:t>O(</a:t>
            </a:r>
            <a:r>
              <a:rPr lang="en-US" altLang="zh-CN" sz="1600" dirty="0" err="1">
                <a:ea typeface="华文楷体" panose="02010600040101010101" pitchFamily="2" charset="-122"/>
              </a:rPr>
              <a:t>n+e</a:t>
            </a:r>
            <a:r>
              <a:rPr lang="en-US" altLang="zh-CN" sz="1600" dirty="0">
                <a:ea typeface="华文楷体" panose="02010600040101010101" pitchFamily="2" charset="-122"/>
              </a:rPr>
              <a:t>)</a:t>
            </a:r>
            <a:endParaRPr lang="en-US" altLang="zh-CN" sz="1600" dirty="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9" name="图片 8"/>
          <p:cNvPicPr>
            <a:picLocks noChangeAspect="1"/>
          </p:cNvPicPr>
          <p:nvPr/>
        </p:nvPicPr>
        <p:blipFill>
          <a:blip r:embed="rId1"/>
          <a:stretch>
            <a:fillRect/>
          </a:stretch>
        </p:blipFill>
        <p:spPr>
          <a:xfrm>
            <a:off x="2362200" y="1166178"/>
            <a:ext cx="2158279" cy="2072112"/>
          </a:xfrm>
          <a:prstGeom prst="rect">
            <a:avLst/>
          </a:prstGeom>
        </p:spPr>
      </p:pic>
      <p:pic>
        <p:nvPicPr>
          <p:cNvPr id="73" name="图片 72"/>
          <p:cNvPicPr>
            <a:picLocks noChangeAspect="1"/>
          </p:cNvPicPr>
          <p:nvPr/>
        </p:nvPicPr>
        <p:blipFill>
          <a:blip r:embed="rId2"/>
          <a:stretch>
            <a:fillRect/>
          </a:stretch>
        </p:blipFill>
        <p:spPr>
          <a:xfrm>
            <a:off x="4572000" y="1080134"/>
            <a:ext cx="2208435" cy="2120265"/>
          </a:xfrm>
          <a:prstGeom prst="rect">
            <a:avLst/>
          </a:prstGeom>
        </p:spPr>
      </p:pic>
      <p:cxnSp>
        <p:nvCxnSpPr>
          <p:cNvPr id="76" name="直接连接符 75"/>
          <p:cNvCxnSpPr/>
          <p:nvPr/>
        </p:nvCxnSpPr>
        <p:spPr>
          <a:xfrm>
            <a:off x="2286871" y="1080134"/>
            <a:ext cx="0" cy="2158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7" name="直接连接符 76"/>
          <p:cNvCxnSpPr/>
          <p:nvPr/>
        </p:nvCxnSpPr>
        <p:spPr>
          <a:xfrm>
            <a:off x="4520479" y="1066800"/>
            <a:ext cx="0" cy="2158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直接连接符 77"/>
          <p:cNvCxnSpPr/>
          <p:nvPr/>
        </p:nvCxnSpPr>
        <p:spPr>
          <a:xfrm>
            <a:off x="6796102" y="1066800"/>
            <a:ext cx="0" cy="2158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直接连接符 79"/>
          <p:cNvCxnSpPr/>
          <p:nvPr/>
        </p:nvCxnSpPr>
        <p:spPr>
          <a:xfrm>
            <a:off x="0" y="323829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42" name="图片 141"/>
          <p:cNvPicPr>
            <a:picLocks noChangeAspect="1"/>
          </p:cNvPicPr>
          <p:nvPr/>
        </p:nvPicPr>
        <p:blipFill>
          <a:blip r:embed="rId3"/>
          <a:stretch>
            <a:fillRect/>
          </a:stretch>
        </p:blipFill>
        <p:spPr>
          <a:xfrm>
            <a:off x="6858000" y="1111603"/>
            <a:ext cx="2276475" cy="2181261"/>
          </a:xfrm>
          <a:prstGeom prst="rect">
            <a:avLst/>
          </a:prstGeom>
        </p:spPr>
      </p:pic>
      <p:pic>
        <p:nvPicPr>
          <p:cNvPr id="143" name="图片 142"/>
          <p:cNvPicPr>
            <a:picLocks noChangeAspect="1"/>
          </p:cNvPicPr>
          <p:nvPr/>
        </p:nvPicPr>
        <p:blipFill>
          <a:blip r:embed="rId4"/>
          <a:stretch>
            <a:fillRect/>
          </a:stretch>
        </p:blipFill>
        <p:spPr>
          <a:xfrm>
            <a:off x="14289" y="3292866"/>
            <a:ext cx="1967277" cy="1888736"/>
          </a:xfrm>
          <a:prstGeom prst="rect">
            <a:avLst/>
          </a:prstGeom>
        </p:spPr>
      </p:pic>
      <p:cxnSp>
        <p:nvCxnSpPr>
          <p:cNvPr id="144" name="直接连接符 143"/>
          <p:cNvCxnSpPr/>
          <p:nvPr/>
        </p:nvCxnSpPr>
        <p:spPr>
          <a:xfrm>
            <a:off x="2286871" y="3292864"/>
            <a:ext cx="0" cy="188873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46" name="图片 145"/>
          <p:cNvPicPr>
            <a:picLocks noChangeAspect="1"/>
          </p:cNvPicPr>
          <p:nvPr/>
        </p:nvPicPr>
        <p:blipFill>
          <a:blip r:embed="rId5"/>
          <a:stretch>
            <a:fillRect/>
          </a:stretch>
        </p:blipFill>
        <p:spPr>
          <a:xfrm>
            <a:off x="2438400" y="3292865"/>
            <a:ext cx="1963686" cy="1888736"/>
          </a:xfrm>
          <a:prstGeom prst="rect">
            <a:avLst/>
          </a:prstGeom>
        </p:spPr>
      </p:pic>
      <p:cxnSp>
        <p:nvCxnSpPr>
          <p:cNvPr id="147" name="直接连接符 146"/>
          <p:cNvCxnSpPr/>
          <p:nvPr/>
        </p:nvCxnSpPr>
        <p:spPr>
          <a:xfrm>
            <a:off x="4520479" y="3242567"/>
            <a:ext cx="0" cy="193903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48" name="图片 147"/>
          <p:cNvPicPr>
            <a:picLocks noChangeAspect="1"/>
          </p:cNvPicPr>
          <p:nvPr/>
        </p:nvPicPr>
        <p:blipFill>
          <a:blip r:embed="rId6"/>
          <a:stretch>
            <a:fillRect/>
          </a:stretch>
        </p:blipFill>
        <p:spPr>
          <a:xfrm>
            <a:off x="4702535" y="3337667"/>
            <a:ext cx="1933158" cy="1863062"/>
          </a:xfrm>
          <a:prstGeom prst="rect">
            <a:avLst/>
          </a:prstGeom>
        </p:spPr>
      </p:pic>
      <p:cxnSp>
        <p:nvCxnSpPr>
          <p:cNvPr id="149" name="直接连接符 148"/>
          <p:cNvCxnSpPr/>
          <p:nvPr/>
        </p:nvCxnSpPr>
        <p:spPr>
          <a:xfrm flipH="1">
            <a:off x="6780435" y="3242567"/>
            <a:ext cx="20980" cy="193903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53" name="图片 152"/>
          <p:cNvPicPr>
            <a:picLocks noChangeAspect="1"/>
          </p:cNvPicPr>
          <p:nvPr/>
        </p:nvPicPr>
        <p:blipFill>
          <a:blip r:embed="rId7"/>
          <a:stretch>
            <a:fillRect/>
          </a:stretch>
        </p:blipFill>
        <p:spPr>
          <a:xfrm>
            <a:off x="6955797" y="3295416"/>
            <a:ext cx="1883769" cy="1815465"/>
          </a:xfrm>
          <a:prstGeom prst="rect">
            <a:avLst/>
          </a:prstGeom>
        </p:spPr>
      </p:pic>
      <p:cxnSp>
        <p:nvCxnSpPr>
          <p:cNvPr id="154" name="直接连接符 153"/>
          <p:cNvCxnSpPr/>
          <p:nvPr/>
        </p:nvCxnSpPr>
        <p:spPr>
          <a:xfrm>
            <a:off x="14288" y="5200729"/>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55" name="图片 154"/>
          <p:cNvPicPr>
            <a:picLocks noChangeAspect="1"/>
          </p:cNvPicPr>
          <p:nvPr/>
        </p:nvPicPr>
        <p:blipFill>
          <a:blip r:embed="rId8"/>
          <a:stretch>
            <a:fillRect/>
          </a:stretch>
        </p:blipFill>
        <p:spPr>
          <a:xfrm>
            <a:off x="143522" y="5271450"/>
            <a:ext cx="1806768" cy="1544718"/>
          </a:xfrm>
          <a:prstGeom prst="rect">
            <a:avLst/>
          </a:prstGeom>
        </p:spPr>
      </p:pic>
      <p:cxnSp>
        <p:nvCxnSpPr>
          <p:cNvPr id="156" name="直接连接符 155"/>
          <p:cNvCxnSpPr/>
          <p:nvPr/>
        </p:nvCxnSpPr>
        <p:spPr>
          <a:xfrm>
            <a:off x="2286871" y="5200729"/>
            <a:ext cx="6789" cy="165727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17" name="图片 216"/>
          <p:cNvPicPr>
            <a:picLocks noChangeAspect="1"/>
          </p:cNvPicPr>
          <p:nvPr/>
        </p:nvPicPr>
        <p:blipFill>
          <a:blip r:embed="rId9"/>
          <a:stretch>
            <a:fillRect/>
          </a:stretch>
        </p:blipFill>
        <p:spPr>
          <a:xfrm>
            <a:off x="84218" y="1187193"/>
            <a:ext cx="2171700" cy="2085975"/>
          </a:xfrm>
          <a:prstGeom prst="rect">
            <a:avLst/>
          </a:prstGeom>
        </p:spPr>
      </p:pic>
      <p:sp>
        <p:nvSpPr>
          <p:cNvPr id="218" name="文本框 217"/>
          <p:cNvSpPr txBox="1"/>
          <p:nvPr/>
        </p:nvSpPr>
        <p:spPr>
          <a:xfrm>
            <a:off x="64636" y="1130361"/>
            <a:ext cx="747320" cy="276999"/>
          </a:xfrm>
          <a:prstGeom prst="rect">
            <a:avLst/>
          </a:prstGeom>
          <a:noFill/>
        </p:spPr>
        <p:txBody>
          <a:bodyPr wrap="none" rtlCol="0">
            <a:spAutoFit/>
          </a:bodyPr>
          <a:lstStyle/>
          <a:p>
            <a:r>
              <a:rPr lang="en-US" altLang="zh-CN" sz="1200" b="1" dirty="0" smtClean="0">
                <a:solidFill>
                  <a:srgbClr val="C00000"/>
                </a:solidFill>
                <a:latin typeface="华文楷体" panose="02010600040101010101" pitchFamily="2" charset="-122"/>
                <a:ea typeface="华文楷体" panose="02010600040101010101" pitchFamily="2" charset="-122"/>
              </a:rPr>
              <a:t>BFS</a:t>
            </a:r>
            <a:r>
              <a:rPr lang="zh-CN" altLang="en-US" sz="1200" b="1" dirty="0" smtClean="0">
                <a:solidFill>
                  <a:srgbClr val="C00000"/>
                </a:solidFill>
                <a:latin typeface="华文楷体" panose="02010600040101010101" pitchFamily="2" charset="-122"/>
                <a:ea typeface="华文楷体" panose="02010600040101010101" pitchFamily="2" charset="-122"/>
              </a:rPr>
              <a:t>实例</a:t>
            </a:r>
            <a:endParaRPr lang="zh-CN" altLang="en-US" sz="1200" b="1"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344" y="1139825"/>
                <a:ext cx="8901112" cy="1222375"/>
              </a:xfrm>
              <a:ln>
                <a:solidFill>
                  <a:schemeClr val="accent1"/>
                </a:solidFill>
              </a:ln>
            </p:spPr>
            <p:txBody>
              <a:bodyPr/>
              <a:lstStyle/>
              <a:p>
                <a:pPr marL="0" indent="0">
                  <a:buNone/>
                </a:pPr>
                <a:r>
                  <a:rPr lang="en-US" altLang="zh-CN" sz="2000" b="1" dirty="0" smtClean="0">
                    <a:solidFill>
                      <a:srgbClr val="C00000"/>
                    </a:solidFill>
                    <a:ea typeface="华文楷体" panose="02010600040101010101" pitchFamily="2" charset="-122"/>
                  </a:rPr>
                  <a:t>[</a:t>
                </a:r>
                <a:r>
                  <a:rPr lang="zh-CN" altLang="en-US" sz="2000" b="1" dirty="0" smtClean="0">
                    <a:solidFill>
                      <a:srgbClr val="C00000"/>
                    </a:solidFill>
                    <a:ea typeface="华文楷体" panose="02010600040101010101" pitchFamily="2" charset="-122"/>
                  </a:rPr>
                  <a:t>广度优先的性质</a:t>
                </a:r>
                <a:r>
                  <a:rPr lang="en-US" altLang="zh-CN" sz="2000" b="1" dirty="0" smtClean="0">
                    <a:solidFill>
                      <a:srgbClr val="C00000"/>
                    </a:solidFill>
                    <a:ea typeface="华文楷体" panose="02010600040101010101" pitchFamily="2" charset="-122"/>
                  </a:rPr>
                  <a:t>]</a:t>
                </a:r>
                <a:endParaRPr lang="en-US" altLang="zh-CN" sz="2000" b="1" dirty="0" smtClean="0">
                  <a:solidFill>
                    <a:srgbClr val="C00000"/>
                  </a:solidFill>
                  <a:ea typeface="华文楷体" panose="02010600040101010101" pitchFamily="2" charset="-122"/>
                </a:endParaRPr>
              </a:p>
              <a:p>
                <a:pPr marL="0" indent="0">
                  <a:buNone/>
                </a:pPr>
                <a:r>
                  <a:rPr lang="zh-CN" altLang="en-US" sz="1800" b="1" dirty="0" smtClean="0">
                    <a:solidFill>
                      <a:srgbClr val="C00000"/>
                    </a:solidFill>
                    <a:ea typeface="华文楷体" panose="02010600040101010101" pitchFamily="2" charset="-122"/>
                  </a:rPr>
                  <a:t>最短路径的定义</a:t>
                </a:r>
                <a:r>
                  <a:rPr lang="zh-CN" altLang="en-US" sz="1800" dirty="0" smtClean="0">
                    <a:ea typeface="华文楷体" panose="02010600040101010101" pitchFamily="2" charset="-122"/>
                  </a:rPr>
                  <a:t>：对于无权图而言，若从</a:t>
                </a:r>
                <a:r>
                  <a:rPr lang="zh-CN" altLang="en-US" sz="1800" dirty="0">
                    <a:ea typeface="华文楷体" panose="02010600040101010101" pitchFamily="2" charset="-122"/>
                  </a:rPr>
                  <a:t>源顶点</a:t>
                </a:r>
                <a:r>
                  <a:rPr lang="en-US" altLang="zh-CN" sz="1800" dirty="0">
                    <a:ea typeface="华文楷体" panose="02010600040101010101" pitchFamily="2" charset="-122"/>
                  </a:rPr>
                  <a:t>s</a:t>
                </a:r>
                <a:r>
                  <a:rPr lang="zh-CN" altLang="en-US" sz="1800" dirty="0">
                    <a:ea typeface="华文楷体" panose="02010600040101010101" pitchFamily="2" charset="-122"/>
                  </a:rPr>
                  <a:t>到某个顶点</a:t>
                </a:r>
                <a:r>
                  <a:rPr lang="en-US" altLang="zh-CN" sz="1800" dirty="0">
                    <a:ea typeface="华文楷体" panose="02010600040101010101" pitchFamily="2" charset="-122"/>
                  </a:rPr>
                  <a:t>v</a:t>
                </a:r>
                <a:r>
                  <a:rPr lang="zh-CN" altLang="en-US" sz="1800" dirty="0">
                    <a:ea typeface="华文楷体" panose="02010600040101010101" pitchFamily="2" charset="-122"/>
                  </a:rPr>
                  <a:t>存在路径，则二者之间的最短路径</a:t>
                </a:r>
                <a14:m>
                  <m:oMath xmlns:m="http://schemas.openxmlformats.org/officeDocument/2006/math">
                    <m:r>
                      <a:rPr lang="zh-CN" altLang="en-US" sz="1800" i="1" dirty="0" smtClean="0">
                        <a:latin typeface="Cambria Math" panose="02040503050406030204" pitchFamily="18" charset="0"/>
                        <a:ea typeface="华文楷体" panose="02010600040101010101" pitchFamily="2" charset="-122"/>
                      </a:rPr>
                      <m:t>长度</m:t>
                    </m:r>
                    <m:r>
                      <a:rPr lang="zh-CN" altLang="en-US" sz="1800" i="1">
                        <a:latin typeface="Cambria Math" panose="02040503050406030204" pitchFamily="18" charset="0"/>
                        <a:ea typeface="华文楷体" panose="02010600040101010101" pitchFamily="2" charset="-122"/>
                      </a:rPr>
                      <m:t>𝛿</m:t>
                    </m:r>
                    <m:r>
                      <a:rPr lang="en-US" altLang="zh-CN" sz="1800" i="1">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华文楷体" panose="02010600040101010101" pitchFamily="2" charset="-122"/>
                      </a:rPr>
                      <m:t>𝑠</m:t>
                    </m:r>
                    <m:r>
                      <a:rPr lang="en-US" altLang="zh-CN" sz="1800" i="1">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华文楷体" panose="02010600040101010101" pitchFamily="2" charset="-122"/>
                      </a:rPr>
                      <m:t>𝑣</m:t>
                    </m:r>
                    <m:r>
                      <a:rPr lang="en-US" altLang="zh-CN" sz="1800" i="1">
                        <a:latin typeface="Cambria Math" panose="02040503050406030204" pitchFamily="18" charset="0"/>
                        <a:ea typeface="华文楷体" panose="02010600040101010101" pitchFamily="2" charset="-122"/>
                      </a:rPr>
                      <m:t>)</m:t>
                    </m:r>
                    <m:r>
                      <a:rPr lang="zh-CN" altLang="en-US" sz="1800" i="1">
                        <a:latin typeface="Cambria Math" panose="02040503050406030204" pitchFamily="18" charset="0"/>
                        <a:ea typeface="华文楷体" panose="02010600040101010101" pitchFamily="2" charset="-122"/>
                      </a:rPr>
                      <m:t>为</m:t>
                    </m:r>
                  </m:oMath>
                </a14:m>
                <a:r>
                  <a:rPr lang="en-US" altLang="zh-CN" sz="1800" dirty="0">
                    <a:ea typeface="华文楷体" panose="02010600040101010101" pitchFamily="2" charset="-122"/>
                  </a:rPr>
                  <a:t>s</a:t>
                </a:r>
                <a:r>
                  <a:rPr lang="zh-CN" altLang="en-US" sz="1800" dirty="0">
                    <a:ea typeface="华文楷体" panose="02010600040101010101" pitchFamily="2" charset="-122"/>
                  </a:rPr>
                  <a:t>到</a:t>
                </a:r>
                <a:r>
                  <a:rPr lang="en-US" altLang="zh-CN" sz="1800" dirty="0">
                    <a:ea typeface="华文楷体" panose="02010600040101010101" pitchFamily="2" charset="-122"/>
                  </a:rPr>
                  <a:t>v</a:t>
                </a:r>
                <a:r>
                  <a:rPr lang="zh-CN" altLang="en-US" sz="1800" dirty="0">
                    <a:ea typeface="华文楷体" panose="02010600040101010101" pitchFamily="2" charset="-122"/>
                  </a:rPr>
                  <a:t>路径中边</a:t>
                </a:r>
                <a:r>
                  <a:rPr lang="en-US" altLang="zh-CN" sz="1800" dirty="0">
                    <a:ea typeface="华文楷体" panose="02010600040101010101" pitchFamily="2" charset="-122"/>
                  </a:rPr>
                  <a:t>/</a:t>
                </a:r>
                <a:r>
                  <a:rPr lang="zh-CN" altLang="en-US" sz="1800" dirty="0">
                    <a:ea typeface="华文楷体" panose="02010600040101010101" pitchFamily="2" charset="-122"/>
                  </a:rPr>
                  <a:t>弧数最少的路径，若源顶点</a:t>
                </a:r>
                <a:r>
                  <a:rPr lang="en-US" altLang="zh-CN" sz="1800" dirty="0">
                    <a:ea typeface="华文楷体" panose="02010600040101010101" pitchFamily="2" charset="-122"/>
                  </a:rPr>
                  <a:t>s</a:t>
                </a:r>
                <a:r>
                  <a:rPr lang="zh-CN" altLang="en-US" sz="1800" dirty="0">
                    <a:ea typeface="华文楷体" panose="02010600040101010101" pitchFamily="2" charset="-122"/>
                  </a:rPr>
                  <a:t>到顶点</a:t>
                </a:r>
                <a:r>
                  <a:rPr lang="en-US" altLang="zh-CN" sz="1800" dirty="0">
                    <a:ea typeface="华文楷体" panose="02010600040101010101" pitchFamily="2" charset="-122"/>
                  </a:rPr>
                  <a:t>v</a:t>
                </a:r>
                <a:r>
                  <a:rPr lang="zh-CN" altLang="en-US" sz="1800" dirty="0">
                    <a:ea typeface="华文楷体" panose="02010600040101010101" pitchFamily="2" charset="-122"/>
                  </a:rPr>
                  <a:t>不存在路径，则最短路径</a:t>
                </a:r>
                <a14:m>
                  <m:oMath xmlns:m="http://schemas.openxmlformats.org/officeDocument/2006/math">
                    <m:r>
                      <a:rPr lang="zh-CN" altLang="en-US" sz="1800" i="1">
                        <a:latin typeface="Cambria Math" panose="02040503050406030204" pitchFamily="18" charset="0"/>
                        <a:ea typeface="华文楷体" panose="02010600040101010101" pitchFamily="2" charset="-122"/>
                      </a:rPr>
                      <m:t>𝛿</m:t>
                    </m:r>
                    <m:r>
                      <a:rPr lang="en-US" altLang="zh-CN" sz="1800" i="1">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华文楷体" panose="02010600040101010101" pitchFamily="2" charset="-122"/>
                      </a:rPr>
                      <m:t>𝑠</m:t>
                    </m:r>
                    <m:r>
                      <a:rPr lang="en-US" altLang="zh-CN" sz="1800" i="1">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华文楷体" panose="02010600040101010101" pitchFamily="2" charset="-122"/>
                      </a:rPr>
                      <m:t>𝑣</m:t>
                    </m:r>
                    <m:r>
                      <a:rPr lang="en-US" altLang="zh-CN" sz="1800" i="1">
                        <a:latin typeface="Cambria Math" panose="02040503050406030204" pitchFamily="18" charset="0"/>
                        <a:ea typeface="华文楷体" panose="02010600040101010101" pitchFamily="2" charset="-122"/>
                      </a:rPr>
                      <m:t>)=∞</m:t>
                    </m:r>
                  </m:oMath>
                </a14:m>
                <a:r>
                  <a:rPr lang="zh-CN" altLang="en-US" sz="1800" dirty="0" smtClean="0">
                    <a:ea typeface="华文楷体" panose="02010600040101010101" pitchFamily="2" charset="-122"/>
                  </a:rPr>
                  <a:t>。</a:t>
                </a:r>
                <a:endParaRPr lang="en-US" altLang="zh-CN" sz="1800" dirty="0" smtClean="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344" y="1139825"/>
                <a:ext cx="8901112" cy="1222375"/>
              </a:xfrm>
              <a:blipFill rotWithShape="1">
                <a:blip r:embed="rId1"/>
                <a:stretch>
                  <a:fillRect l="-59" t="-416" r="-52" b="-4104"/>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mc:AlternateContent xmlns:mc="http://schemas.openxmlformats.org/markup-compatibility/2006">
        <mc:Choice xmlns:a14="http://schemas.microsoft.com/office/drawing/2010/main" Requires="a14">
          <p:sp>
            <p:nvSpPr>
              <p:cNvPr id="6" name="文本框 5"/>
              <p:cNvSpPr txBox="1"/>
              <p:nvPr/>
            </p:nvSpPr>
            <p:spPr>
              <a:xfrm>
                <a:off x="123586" y="2507377"/>
                <a:ext cx="4202351" cy="2862322"/>
              </a:xfrm>
              <a:prstGeom prst="rect">
                <a:avLst/>
              </a:prstGeom>
              <a:noFill/>
              <a:ln>
                <a:solidFill>
                  <a:schemeClr val="bg1"/>
                </a:solidFill>
              </a:ln>
            </p:spPr>
            <p:txBody>
              <a:bodyPr wrap="square" rtlCol="0">
                <a:spAutoFit/>
              </a:bodyPr>
              <a:lstStyle/>
              <a:p>
                <a:pPr marL="0" indent="0">
                  <a:buNone/>
                </a:pPr>
                <a:r>
                  <a:rPr lang="zh-CN" altLang="en-US" b="1" dirty="0">
                    <a:solidFill>
                      <a:srgbClr val="C00000"/>
                    </a:solidFill>
                    <a:ea typeface="华文楷体" panose="02010600040101010101" pitchFamily="2" charset="-122"/>
                  </a:rPr>
                  <a:t>引理</a:t>
                </a:r>
                <a:r>
                  <a:rPr lang="en-US" altLang="zh-CN" b="1" dirty="0">
                    <a:solidFill>
                      <a:srgbClr val="C00000"/>
                    </a:solidFill>
                    <a:ea typeface="华文楷体" panose="02010600040101010101" pitchFamily="2" charset="-122"/>
                  </a:rPr>
                  <a:t>1</a:t>
                </a:r>
                <a:r>
                  <a:rPr lang="zh-CN" altLang="en-US" dirty="0">
                    <a:ea typeface="华文楷体" panose="02010600040101010101" pitchFamily="2" charset="-122"/>
                  </a:rPr>
                  <a:t>：对于给定的</a:t>
                </a:r>
                <a:r>
                  <a:rPr lang="zh-CN" altLang="en-US" dirty="0" smtClean="0">
                    <a:ea typeface="华文楷体" panose="02010600040101010101" pitchFamily="2" charset="-122"/>
                  </a:rPr>
                  <a:t>无权</a:t>
                </a:r>
                <a:r>
                  <a:rPr lang="zh-CN" altLang="en-US" dirty="0">
                    <a:ea typeface="华文楷体" panose="02010600040101010101" pitchFamily="2" charset="-122"/>
                  </a:rPr>
                  <a:t>图</a:t>
                </a:r>
                <a:r>
                  <a:rPr lang="en-US" altLang="zh-CN" dirty="0" smtClean="0">
                    <a:ea typeface="华文楷体" panose="02010600040101010101" pitchFamily="2" charset="-122"/>
                  </a:rPr>
                  <a:t>G</a:t>
                </a:r>
                <a:r>
                  <a:rPr lang="en-US" altLang="zh-CN" dirty="0">
                    <a:ea typeface="华文楷体" panose="02010600040101010101" pitchFamily="2" charset="-122"/>
                  </a:rPr>
                  <a:t>=(V,E)</a:t>
                </a:r>
                <a:r>
                  <a:rPr lang="zh-CN" altLang="en-US" dirty="0">
                    <a:ea typeface="华文楷体" panose="02010600040101010101" pitchFamily="2" charset="-122"/>
                  </a:rPr>
                  <a:t>，</a:t>
                </a:r>
                <a14:m>
                  <m:oMath xmlns:m="http://schemas.openxmlformats.org/officeDocument/2006/math">
                    <m:r>
                      <a:rPr lang="zh-CN" altLang="en-US">
                        <a:latin typeface="Cambria Math" panose="02040503050406030204" pitchFamily="18" charset="0"/>
                        <a:ea typeface="华文楷体" panose="02010600040101010101" pitchFamily="2" charset="-122"/>
                      </a:rPr>
                      <m:t>∀</m:t>
                    </m:r>
                    <m:r>
                      <m:rPr>
                        <m:sty m:val="p"/>
                      </m:rPr>
                      <a:rPr lang="en-US" altLang="zh-CN">
                        <a:latin typeface="Cambria Math" panose="02040503050406030204" pitchFamily="18" charset="0"/>
                        <a:ea typeface="华文楷体" panose="02010600040101010101" pitchFamily="2" charset="-122"/>
                      </a:rPr>
                      <m:t>s</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𝑉</m:t>
                    </m:r>
                  </m:oMath>
                </a14:m>
                <a:r>
                  <a:rPr lang="zh-CN" altLang="en-US" dirty="0">
                    <a:ea typeface="华文楷体" panose="02010600040101010101" pitchFamily="2" charset="-122"/>
                  </a:rPr>
                  <a:t>，</a:t>
                </a:r>
                <a14:m>
                  <m:oMath xmlns:m="http://schemas.openxmlformats.org/officeDocument/2006/math">
                    <m:r>
                      <a:rPr lang="zh-CN" altLang="en-US" dirty="0">
                        <a:latin typeface="Cambria Math" panose="02040503050406030204" pitchFamily="18" charset="0"/>
                        <a:ea typeface="华文楷体" panose="02010600040101010101" pitchFamily="2" charset="-122"/>
                      </a:rPr>
                      <m:t>∀</m:t>
                    </m:r>
                    <m:d>
                      <m:dPr>
                        <m:ctrlPr>
                          <a:rPr lang="zh-CN" altLang="en-US" i="1" dirty="0">
                            <a:latin typeface="Cambria Math" panose="02040503050406030204" pitchFamily="18" charset="0"/>
                            <a:ea typeface="华文楷体" panose="02010600040101010101" pitchFamily="2" charset="-122"/>
                          </a:rPr>
                        </m:ctrlPr>
                      </m:dPr>
                      <m:e>
                        <m:r>
                          <a:rPr lang="zh-CN" altLang="en-US" dirty="0">
                            <a:latin typeface="Cambria Math" panose="02040503050406030204" pitchFamily="18" charset="0"/>
                            <a:ea typeface="华文楷体" panose="02010600040101010101" pitchFamily="2" charset="-122"/>
                          </a:rPr>
                          <m:t>𝑢</m:t>
                        </m:r>
                        <m:r>
                          <a:rPr lang="zh-CN" altLang="en-US"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𝑣</m:t>
                        </m:r>
                      </m:e>
                    </m:d>
                    <m:r>
                      <a:rPr lang="zh-CN" altLang="en-US"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𝐸</m:t>
                    </m:r>
                    <m:r>
                      <a:rPr lang="zh-CN" altLang="en-US" dirty="0">
                        <a:latin typeface="Cambria Math" panose="02040503050406030204" pitchFamily="18" charset="0"/>
                        <a:ea typeface="华文楷体" panose="02010600040101010101" pitchFamily="2" charset="-122"/>
                      </a:rPr>
                      <m:t>或</m:t>
                    </m:r>
                    <m:r>
                      <a:rPr lang="zh-CN" altLang="en-US" dirty="0">
                        <a:latin typeface="Cambria Math" panose="02040503050406030204" pitchFamily="18" charset="0"/>
                        <a:ea typeface="华文楷体" panose="02010600040101010101" pitchFamily="2" charset="-122"/>
                      </a:rPr>
                      <m:t>∀&lt;</m:t>
                    </m:r>
                    <m:r>
                      <a:rPr lang="en-US" altLang="zh-CN" dirty="0">
                        <a:latin typeface="Cambria Math" panose="02040503050406030204" pitchFamily="18" charset="0"/>
                        <a:ea typeface="华文楷体" panose="02010600040101010101" pitchFamily="2" charset="-122"/>
                      </a:rPr>
                      <m:t>𝑢</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r>
                      <a:rPr lang="en-US" altLang="zh-CN" dirty="0">
                        <a:latin typeface="Cambria Math" panose="02040503050406030204" pitchFamily="18" charset="0"/>
                        <a:ea typeface="华文楷体" panose="02010600040101010101" pitchFamily="2" charset="-122"/>
                      </a:rPr>
                      <m:t>&gt;∈</m:t>
                    </m:r>
                    <m:r>
                      <a:rPr lang="zh-CN" altLang="en-US" dirty="0">
                        <a:latin typeface="Cambria Math" panose="02040503050406030204" pitchFamily="18" charset="0"/>
                        <a:ea typeface="华文楷体" panose="02010600040101010101" pitchFamily="2" charset="-122"/>
                      </a:rPr>
                      <m:t>𝐸</m:t>
                    </m:r>
                  </m:oMath>
                </a14:m>
                <a:r>
                  <a:rPr lang="zh-CN" altLang="en-US" dirty="0">
                    <a:ea typeface="华文楷体" panose="02010600040101010101" pitchFamily="2" charset="-122"/>
                  </a:rPr>
                  <a:t>，则</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r>
                      <a:rPr lang="en-US" altLang="zh-CN"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𝑢</m:t>
                        </m:r>
                      </m:e>
                    </m:d>
                  </m:oMath>
                </a14:m>
                <a:r>
                  <a:rPr lang="en-US" altLang="zh-CN" dirty="0">
                    <a:ea typeface="华文楷体" panose="02010600040101010101" pitchFamily="2" charset="-122"/>
                  </a:rPr>
                  <a:t>+1</a:t>
                </a:r>
                <a:r>
                  <a:rPr lang="zh-CN" altLang="en-US" dirty="0" smtClean="0">
                    <a:ea typeface="华文楷体" panose="02010600040101010101" pitchFamily="2" charset="-122"/>
                  </a:rPr>
                  <a:t>。</a:t>
                </a:r>
                <a:endParaRPr lang="en-US" altLang="zh-CN" dirty="0" smtClean="0">
                  <a:ea typeface="华文楷体" panose="02010600040101010101" pitchFamily="2" charset="-122"/>
                </a:endParaRPr>
              </a:p>
              <a:p>
                <a:pPr marL="0" indent="0">
                  <a:buNone/>
                </a:pPr>
                <a:endParaRPr lang="en-US" altLang="zh-CN" dirty="0">
                  <a:ea typeface="华文楷体" panose="02010600040101010101" pitchFamily="2" charset="-122"/>
                </a:endParaRPr>
              </a:p>
              <a:p>
                <a:pPr marL="0" indent="0">
                  <a:buNone/>
                </a:pPr>
                <a:r>
                  <a:rPr lang="zh-CN" altLang="en-US" dirty="0">
                    <a:solidFill>
                      <a:srgbClr val="C00000"/>
                    </a:solidFill>
                    <a:ea typeface="华文楷体" panose="02010600040101010101" pitchFamily="2" charset="-122"/>
                  </a:rPr>
                  <a:t>证明</a:t>
                </a:r>
                <a:r>
                  <a:rPr lang="zh-CN" altLang="en-US" dirty="0">
                    <a:ea typeface="华文楷体" panose="02010600040101010101" pitchFamily="2" charset="-122"/>
                  </a:rPr>
                  <a:t>：情况</a:t>
                </a:r>
                <a:r>
                  <a:rPr lang="en-US" altLang="zh-CN" dirty="0">
                    <a:ea typeface="华文楷体" panose="02010600040101010101" pitchFamily="2" charset="-122"/>
                  </a:rPr>
                  <a:t>1</a:t>
                </a:r>
                <a:r>
                  <a:rPr lang="zh-CN" altLang="en-US" dirty="0">
                    <a:ea typeface="华文楷体" panose="02010600040101010101" pitchFamily="2" charset="-122"/>
                  </a:rPr>
                  <a:t>：源顶点</a:t>
                </a:r>
                <a:r>
                  <a:rPr lang="en-US" altLang="zh-CN" dirty="0">
                    <a:ea typeface="华文楷体" panose="02010600040101010101" pitchFamily="2" charset="-122"/>
                  </a:rPr>
                  <a:t>s</a:t>
                </a:r>
                <a:r>
                  <a:rPr lang="zh-CN" altLang="en-US" dirty="0">
                    <a:ea typeface="华文楷体" panose="02010600040101010101" pitchFamily="2" charset="-122"/>
                  </a:rPr>
                  <a:t>如可达顶点</a:t>
                </a:r>
                <a:r>
                  <a:rPr lang="en-US" altLang="zh-CN" dirty="0">
                    <a:ea typeface="华文楷体" panose="02010600040101010101" pitchFamily="2" charset="-122"/>
                  </a:rPr>
                  <a:t>u</a:t>
                </a:r>
                <a:r>
                  <a:rPr lang="zh-CN" altLang="en-US" dirty="0">
                    <a:ea typeface="华文楷体" panose="02010600040101010101" pitchFamily="2" charset="-122"/>
                  </a:rPr>
                  <a:t>，则源顶点</a:t>
                </a:r>
                <a:r>
                  <a:rPr lang="en-US" altLang="zh-CN" dirty="0">
                    <a:ea typeface="华文楷体" panose="02010600040101010101" pitchFamily="2" charset="-122"/>
                  </a:rPr>
                  <a:t>s</a:t>
                </a:r>
                <a:r>
                  <a:rPr lang="zh-CN" altLang="en-US" dirty="0">
                    <a:ea typeface="华文楷体" panose="02010600040101010101" pitchFamily="2" charset="-122"/>
                  </a:rPr>
                  <a:t>也可达顶点</a:t>
                </a:r>
                <a:r>
                  <a:rPr lang="en-US" altLang="zh-CN" dirty="0">
                    <a:ea typeface="华文楷体" panose="02010600040101010101" pitchFamily="2" charset="-122"/>
                  </a:rPr>
                  <a:t>v</a:t>
                </a:r>
                <a:r>
                  <a:rPr lang="zh-CN" altLang="en-US" dirty="0">
                    <a:ea typeface="华文楷体" panose="02010600040101010101" pitchFamily="2" charset="-122"/>
                  </a:rPr>
                  <a:t>。此种情况下，</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不可能比</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𝑢</m:t>
                        </m:r>
                      </m:e>
                    </m:d>
                  </m:oMath>
                </a14:m>
                <a:r>
                  <a:rPr lang="zh-CN" altLang="en-US" dirty="0">
                    <a:ea typeface="华文楷体" panose="02010600040101010101" pitchFamily="2" charset="-122"/>
                  </a:rPr>
                  <a:t>加上</a:t>
                </a:r>
                <a:r>
                  <a:rPr lang="en-US" altLang="zh-CN" dirty="0">
                    <a:ea typeface="华文楷体" panose="02010600040101010101" pitchFamily="2" charset="-122"/>
                  </a:rPr>
                  <a:t>u</a:t>
                </a:r>
                <a:r>
                  <a:rPr lang="zh-CN" altLang="en-US" dirty="0">
                    <a:ea typeface="华文楷体" panose="02010600040101010101" pitchFamily="2" charset="-122"/>
                  </a:rPr>
                  <a:t>到</a:t>
                </a:r>
                <a:r>
                  <a:rPr lang="en-US" altLang="zh-CN" dirty="0">
                    <a:ea typeface="华文楷体" panose="02010600040101010101" pitchFamily="2" charset="-122"/>
                  </a:rPr>
                  <a:t>v</a:t>
                </a:r>
                <a:r>
                  <a:rPr lang="zh-CN" altLang="en-US" dirty="0">
                    <a:ea typeface="华文楷体" panose="02010600040101010101" pitchFamily="2" charset="-122"/>
                  </a:rPr>
                  <a:t>的边更长。情况</a:t>
                </a:r>
                <a:r>
                  <a:rPr lang="en-US" altLang="zh-CN" dirty="0">
                    <a:ea typeface="华文楷体" panose="02010600040101010101" pitchFamily="2" charset="-122"/>
                  </a:rPr>
                  <a:t>2</a:t>
                </a:r>
                <a:r>
                  <a:rPr lang="zh-CN" altLang="en-US" dirty="0">
                    <a:ea typeface="华文楷体" panose="02010600040101010101" pitchFamily="2" charset="-122"/>
                  </a:rPr>
                  <a:t>：源顶点</a:t>
                </a:r>
                <a:r>
                  <a:rPr lang="en-US" altLang="zh-CN" dirty="0">
                    <a:ea typeface="华文楷体" panose="02010600040101010101" pitchFamily="2" charset="-122"/>
                  </a:rPr>
                  <a:t>s</a:t>
                </a:r>
                <a:r>
                  <a:rPr lang="zh-CN" altLang="en-US" dirty="0">
                    <a:ea typeface="华文楷体" panose="02010600040101010101" pitchFamily="2" charset="-122"/>
                  </a:rPr>
                  <a:t>如不可达顶点</a:t>
                </a:r>
                <a:r>
                  <a:rPr lang="en-US" altLang="zh-CN" dirty="0">
                    <a:ea typeface="华文楷体" panose="02010600040101010101" pitchFamily="2" charset="-122"/>
                  </a:rPr>
                  <a:t>u</a:t>
                </a:r>
                <a:r>
                  <a:rPr lang="zh-CN" altLang="en-US" dirty="0">
                    <a:ea typeface="华文楷体" panose="02010600040101010101" pitchFamily="2" charset="-122"/>
                  </a:rPr>
                  <a:t>，则</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𝑢</m:t>
                        </m:r>
                      </m:e>
                    </m:d>
                  </m:oMath>
                </a14:m>
                <a:r>
                  <a:rPr lang="en-US" altLang="zh-CN" dirty="0">
                    <a:ea typeface="华文楷体" panose="02010600040101010101" pitchFamily="2" charset="-122"/>
                  </a:rPr>
                  <a:t>=</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m:t>
                    </m:r>
                  </m:oMath>
                </a14:m>
                <a:r>
                  <a:rPr lang="zh-CN" altLang="en-US" dirty="0">
                    <a:ea typeface="华文楷体" panose="02010600040101010101" pitchFamily="2" charset="-122"/>
                  </a:rPr>
                  <a:t>不等式显然成立。</a:t>
                </a:r>
                <a:endParaRPr lang="en-US" altLang="zh-CN" dirty="0">
                  <a:ea typeface="华文楷体" panose="02010600040101010101" pitchFamily="2" charset="-122"/>
                </a:endParaRPr>
              </a:p>
              <a:p>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23586" y="2507377"/>
                <a:ext cx="4202351" cy="2862322"/>
              </a:xfrm>
              <a:prstGeom prst="rect">
                <a:avLst/>
              </a:prstGeom>
              <a:blipFill rotWithShape="1">
                <a:blip r:embed="rId2"/>
                <a:stretch>
                  <a:fillRect l="-115" t="-169" r="-98" b="-150"/>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800600" y="2435225"/>
                <a:ext cx="4183856" cy="4247317"/>
              </a:xfrm>
              <a:prstGeom prst="rect">
                <a:avLst/>
              </a:prstGeom>
              <a:noFill/>
            </p:spPr>
            <p:txBody>
              <a:bodyPr wrap="square" rtlCol="0">
                <a:spAutoFit/>
              </a:bodyPr>
              <a:lstStyle/>
              <a:p>
                <a:pPr marL="0" indent="0">
                  <a:buNone/>
                </a:pPr>
                <a:r>
                  <a:rPr lang="zh-CN" altLang="en-US" b="1" dirty="0">
                    <a:solidFill>
                      <a:srgbClr val="C00000"/>
                    </a:solidFill>
                    <a:ea typeface="华文楷体" panose="02010600040101010101" pitchFamily="2" charset="-122"/>
                  </a:rPr>
                  <a:t>引理</a:t>
                </a:r>
                <a:r>
                  <a:rPr lang="en-US" altLang="zh-CN" b="1" dirty="0">
                    <a:solidFill>
                      <a:srgbClr val="C00000"/>
                    </a:solidFill>
                    <a:ea typeface="华文楷体" panose="02010600040101010101" pitchFamily="2" charset="-122"/>
                  </a:rPr>
                  <a:t>2</a:t>
                </a:r>
                <a:r>
                  <a:rPr lang="zh-CN" altLang="en-US" dirty="0">
                    <a:ea typeface="华文楷体" panose="02010600040101010101" pitchFamily="2" charset="-122"/>
                  </a:rPr>
                  <a:t>：对于给定的</a:t>
                </a:r>
                <a:r>
                  <a:rPr lang="zh-CN" altLang="en-US" dirty="0" smtClean="0">
                    <a:ea typeface="华文楷体" panose="02010600040101010101" pitchFamily="2" charset="-122"/>
                  </a:rPr>
                  <a:t>无权图</a:t>
                </a:r>
                <a:r>
                  <a:rPr lang="en-US" altLang="zh-CN" dirty="0" smtClean="0">
                    <a:ea typeface="华文楷体" panose="02010600040101010101" pitchFamily="2" charset="-122"/>
                  </a:rPr>
                  <a:t>G</a:t>
                </a:r>
                <a:r>
                  <a:rPr lang="en-US" altLang="zh-CN" dirty="0">
                    <a:ea typeface="华文楷体" panose="02010600040101010101" pitchFamily="2" charset="-122"/>
                  </a:rPr>
                  <a:t>=(V,E)</a:t>
                </a:r>
                <a:r>
                  <a:rPr lang="zh-CN" altLang="en-US" dirty="0" smtClean="0">
                    <a:ea typeface="华文楷体" panose="02010600040101010101" pitchFamily="2" charset="-122"/>
                  </a:rPr>
                  <a:t>，</a:t>
                </a:r>
                <a:r>
                  <a:rPr lang="zh-CN" altLang="en-US" dirty="0">
                    <a:ea typeface="华文楷体" panose="02010600040101010101" pitchFamily="2" charset="-122"/>
                  </a:rPr>
                  <a:t>若</a:t>
                </a:r>
                <a:r>
                  <a:rPr lang="en-US" altLang="zh-CN" dirty="0" smtClean="0">
                    <a:ea typeface="华文楷体" panose="02010600040101010101" pitchFamily="2" charset="-122"/>
                  </a:rPr>
                  <a:t>BFS</a:t>
                </a:r>
                <a:r>
                  <a:rPr lang="zh-CN" altLang="en-US" dirty="0">
                    <a:ea typeface="华文楷体" panose="02010600040101010101" pitchFamily="2" charset="-122"/>
                  </a:rPr>
                  <a:t>以给定源顶点</a:t>
                </a:r>
                <a14:m>
                  <m:oMath xmlns:m="http://schemas.openxmlformats.org/officeDocument/2006/math">
                    <m:r>
                      <m:rPr>
                        <m:sty m:val="p"/>
                      </m:rPr>
                      <a:rPr lang="en-US" altLang="zh-CN">
                        <a:latin typeface="Cambria Math" panose="02040503050406030204" pitchFamily="18" charset="0"/>
                        <a:ea typeface="华文楷体" panose="02010600040101010101" pitchFamily="2" charset="-122"/>
                      </a:rPr>
                      <m:t>s</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𝑉</m:t>
                    </m:r>
                  </m:oMath>
                </a14:m>
                <a:r>
                  <a:rPr lang="zh-CN" altLang="en-US" dirty="0">
                    <a:ea typeface="华文楷体" panose="02010600040101010101" pitchFamily="2" charset="-122"/>
                  </a:rPr>
                  <a:t>作为初始出发顶点， 对于 </a:t>
                </a:r>
                <a14:m>
                  <m:oMath xmlns:m="http://schemas.openxmlformats.org/officeDocument/2006/math">
                    <m:r>
                      <a:rPr lang="zh-CN" altLang="en-US">
                        <a:latin typeface="Cambria Math" panose="02040503050406030204" pitchFamily="18" charset="0"/>
                        <a:ea typeface="华文楷体" panose="02010600040101010101" pitchFamily="2" charset="-122"/>
                      </a:rPr>
                      <m:t>∀</m:t>
                    </m:r>
                    <m:r>
                      <m:rPr>
                        <m:sty m:val="p"/>
                      </m:rPr>
                      <a:rPr lang="en-US" altLang="zh-CN" i="1">
                        <a:latin typeface="Cambria Math" panose="02040503050406030204" pitchFamily="18" charset="0"/>
                        <a:ea typeface="华文楷体" panose="02010600040101010101" pitchFamily="2" charset="-122"/>
                      </a:rPr>
                      <m:t>v</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𝑉</m:t>
                    </m:r>
                  </m:oMath>
                </a14:m>
                <a:r>
                  <a:rPr lang="zh-CN" altLang="en-US" dirty="0">
                    <a:ea typeface="华文楷体" panose="02010600040101010101" pitchFamily="2" charset="-122"/>
                  </a:rPr>
                  <a:t>，</a:t>
                </a:r>
                <a:r>
                  <a:rPr lang="en-US" altLang="zh-CN" dirty="0">
                    <a:ea typeface="华文楷体" panose="02010600040101010101" pitchFamily="2" charset="-122"/>
                  </a:rPr>
                  <a:t>BFS</a:t>
                </a:r>
                <a:r>
                  <a:rPr lang="zh-CN" altLang="en-US" dirty="0">
                    <a:ea typeface="华文楷体" panose="02010600040101010101" pitchFamily="2" charset="-122"/>
                  </a:rPr>
                  <a:t>计算出来的</a:t>
                </a:r>
                <a:r>
                  <a:rPr lang="en-US" altLang="zh-CN" dirty="0">
                    <a:ea typeface="华文楷体" panose="02010600040101010101" pitchFamily="2" charset="-122"/>
                  </a:rPr>
                  <a:t>d[v]</a:t>
                </a:r>
                <a:r>
                  <a:rPr lang="zh-CN" altLang="en-US" dirty="0">
                    <a:ea typeface="华文楷体" panose="02010600040101010101" pitchFamily="2" charset="-122"/>
                  </a:rPr>
                  <a:t>满足</a:t>
                </a:r>
                <a:r>
                  <a:rPr lang="en-US" altLang="zh-CN" dirty="0">
                    <a:ea typeface="华文楷体" panose="02010600040101010101" pitchFamily="2" charset="-122"/>
                  </a:rPr>
                  <a:t>d[v]</a:t>
                </a:r>
                <a14:m>
                  <m:oMath xmlns:m="http://schemas.openxmlformats.org/officeDocument/2006/math">
                    <m:r>
                      <a:rPr lang="zh-CN" altLang="en-US" i="1"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a:t>
                </a:r>
                <a:endParaRPr lang="en-US" altLang="zh-CN" dirty="0">
                  <a:ea typeface="华文楷体" panose="02010600040101010101" pitchFamily="2" charset="-122"/>
                </a:endParaRPr>
              </a:p>
              <a:p>
                <a:pPr marL="0" indent="0">
                  <a:buNone/>
                </a:pPr>
                <a:r>
                  <a:rPr lang="zh-CN" altLang="en-US" dirty="0">
                    <a:solidFill>
                      <a:srgbClr val="C00000"/>
                    </a:solidFill>
                    <a:ea typeface="华文楷体" panose="02010600040101010101" pitchFamily="2" charset="-122"/>
                  </a:rPr>
                  <a:t>证明</a:t>
                </a:r>
                <a:r>
                  <a:rPr lang="zh-CN" altLang="en-US" dirty="0">
                    <a:ea typeface="华文楷体" panose="02010600040101010101" pitchFamily="2" charset="-122"/>
                  </a:rPr>
                  <a:t>：通过对</a:t>
                </a:r>
                <a:r>
                  <a:rPr lang="en-US" altLang="zh-CN" dirty="0">
                    <a:ea typeface="华文楷体" panose="02010600040101010101" pitchFamily="2" charset="-122"/>
                  </a:rPr>
                  <a:t>BFS</a:t>
                </a:r>
                <a:r>
                  <a:rPr lang="zh-CN" altLang="en-US" dirty="0">
                    <a:ea typeface="华文楷体" panose="02010600040101010101" pitchFamily="2" charset="-122"/>
                  </a:rPr>
                  <a:t>入队操作次数进行归纳来证明。考虑将源顶点</a:t>
                </a:r>
                <a14:m>
                  <m:oMath xmlns:m="http://schemas.openxmlformats.org/officeDocument/2006/math">
                    <m:r>
                      <m:rPr>
                        <m:sty m:val="p"/>
                      </m:rPr>
                      <a:rPr lang="en-US" altLang="zh-CN">
                        <a:latin typeface="Cambria Math" panose="02040503050406030204" pitchFamily="18" charset="0"/>
                        <a:ea typeface="华文楷体" panose="02010600040101010101" pitchFamily="2" charset="-122"/>
                      </a:rPr>
                      <m:t>s</m:t>
                    </m:r>
                  </m:oMath>
                </a14:m>
                <a:r>
                  <a:rPr lang="zh-CN" altLang="en-US" dirty="0">
                    <a:ea typeface="华文楷体" panose="02010600040101010101" pitchFamily="2" charset="-122"/>
                  </a:rPr>
                  <a:t>加入到队列</a:t>
                </a:r>
                <a:r>
                  <a:rPr lang="en-US" altLang="zh-CN" dirty="0">
                    <a:ea typeface="华文楷体" panose="02010600040101010101" pitchFamily="2" charset="-122"/>
                  </a:rPr>
                  <a:t>Qu</a:t>
                </a:r>
                <a:r>
                  <a:rPr lang="zh-CN" altLang="en-US" dirty="0">
                    <a:ea typeface="华文楷体" panose="02010600040101010101" pitchFamily="2" charset="-122"/>
                  </a:rPr>
                  <a:t>之后的场景，此时</a:t>
                </a:r>
                <a:r>
                  <a:rPr lang="en-US" altLang="zh-CN" dirty="0">
                    <a:ea typeface="华文楷体" panose="02010600040101010101" pitchFamily="2" charset="-122"/>
                  </a:rPr>
                  <a:t>d[s]=0=</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s</m:t>
                        </m:r>
                      </m:e>
                    </m:d>
                    <m:r>
                      <a:rPr lang="zh-CN" altLang="en-US" i="1"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s</m:t>
                        </m:r>
                      </m:e>
                    </m:d>
                  </m:oMath>
                </a14:m>
                <a:r>
                  <a:rPr lang="zh-CN" altLang="en-US" dirty="0">
                    <a:ea typeface="华文楷体" panose="02010600040101010101" pitchFamily="2" charset="-122"/>
                  </a:rPr>
                  <a:t>，所以归纳假设成立。</a:t>
                </a:r>
                <a:endParaRPr lang="en-US" altLang="zh-CN" dirty="0">
                  <a:ea typeface="华文楷体" panose="02010600040101010101" pitchFamily="2" charset="-122"/>
                </a:endParaRPr>
              </a:p>
              <a:p>
                <a:pPr marL="0" indent="0">
                  <a:buNone/>
                </a:pPr>
                <a:r>
                  <a:rPr lang="zh-CN" altLang="en-US" dirty="0">
                    <a:ea typeface="华文楷体" panose="02010600040101010101" pitchFamily="2" charset="-122"/>
                  </a:rPr>
                  <a:t>对于归纳步，假设从结点</a:t>
                </a:r>
                <a:r>
                  <a:rPr lang="en-US" altLang="zh-CN" dirty="0">
                    <a:ea typeface="华文楷体" panose="02010600040101010101" pitchFamily="2" charset="-122"/>
                  </a:rPr>
                  <a:t>u</a:t>
                </a:r>
                <a:r>
                  <a:rPr lang="zh-CN" altLang="en-US" dirty="0">
                    <a:ea typeface="华文楷体" panose="02010600040101010101" pitchFamily="2" charset="-122"/>
                  </a:rPr>
                  <a:t>出发沿邻接表或邻接矩阵能搜索到结点</a:t>
                </a:r>
                <a:r>
                  <a:rPr lang="en-US" altLang="zh-CN" dirty="0">
                    <a:ea typeface="华文楷体" panose="02010600040101010101" pitchFamily="2" charset="-122"/>
                  </a:rPr>
                  <a:t>v</a:t>
                </a:r>
                <a:r>
                  <a:rPr lang="zh-CN" altLang="en-US" dirty="0">
                    <a:ea typeface="华文楷体" panose="02010600040101010101" pitchFamily="2" charset="-122"/>
                  </a:rPr>
                  <a:t>，从算法的赋值操作和引理</a:t>
                </a:r>
                <a:r>
                  <a:rPr lang="en-US" altLang="zh-CN" dirty="0">
                    <a:ea typeface="华文楷体" panose="02010600040101010101" pitchFamily="2" charset="-122"/>
                  </a:rPr>
                  <a:t>1</a:t>
                </a:r>
                <a:r>
                  <a:rPr lang="zh-CN" altLang="en-US" dirty="0">
                    <a:ea typeface="华文楷体" panose="02010600040101010101" pitchFamily="2" charset="-122"/>
                  </a:rPr>
                  <a:t>可知，</a:t>
                </a:r>
                <a:r>
                  <a:rPr lang="en-US" altLang="zh-CN" dirty="0">
                    <a:ea typeface="华文楷体" panose="02010600040101010101" pitchFamily="2" charset="-122"/>
                  </a:rPr>
                  <a:t>d[v]=d[u]+1</a:t>
                </a:r>
                <a:r>
                  <a:rPr lang="zh-CN" altLang="en-US" dirty="0">
                    <a:ea typeface="华文楷体" panose="02010600040101010101" pitchFamily="2" charset="-122"/>
                  </a:rPr>
                  <a:t> </a:t>
                </a:r>
                <a14:m>
                  <m:oMath xmlns:m="http://schemas.openxmlformats.org/officeDocument/2006/math">
                    <m:r>
                      <a:rPr lang="zh-CN" altLang="en-US" i="1"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𝑢</m:t>
                        </m:r>
                      </m:e>
                    </m:d>
                  </m:oMath>
                </a14:m>
                <a:r>
                  <a:rPr lang="en-US" altLang="zh-CN" dirty="0">
                    <a:ea typeface="华文楷体" panose="02010600040101010101" pitchFamily="2" charset="-122"/>
                  </a:rPr>
                  <a:t>+1</a:t>
                </a:r>
                <a:r>
                  <a:rPr lang="zh-CN" altLang="en-US" dirty="0">
                    <a:ea typeface="华文楷体" panose="02010600040101010101" pitchFamily="2" charset="-122"/>
                  </a:rPr>
                  <a:t> </a:t>
                </a:r>
                <a14:m>
                  <m:oMath xmlns:m="http://schemas.openxmlformats.org/officeDocument/2006/math">
                    <m:r>
                      <a:rPr lang="zh-CN" altLang="en-US" i="1"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。此外由算法可知，</a:t>
                </a:r>
                <a:r>
                  <a:rPr lang="en-US" altLang="zh-CN" dirty="0">
                    <a:ea typeface="华文楷体" panose="02010600040101010101" pitchFamily="2" charset="-122"/>
                  </a:rPr>
                  <a:t>d[v]</a:t>
                </a:r>
                <a:r>
                  <a:rPr lang="zh-CN" altLang="en-US" dirty="0">
                    <a:ea typeface="华文楷体" panose="02010600040101010101" pitchFamily="2" charset="-122"/>
                  </a:rPr>
                  <a:t>执行赋值语句时</a:t>
                </a:r>
                <a:r>
                  <a:rPr lang="en-US" altLang="zh-CN" dirty="0">
                    <a:ea typeface="华文楷体" panose="02010600040101010101" pitchFamily="2" charset="-122"/>
                  </a:rPr>
                  <a:t>v</a:t>
                </a:r>
                <a:r>
                  <a:rPr lang="zh-CN" altLang="en-US" dirty="0">
                    <a:ea typeface="华文楷体" panose="02010600040101010101" pitchFamily="2" charset="-122"/>
                  </a:rPr>
                  <a:t>已经被访问且</a:t>
                </a:r>
                <a:r>
                  <a:rPr lang="en-US" altLang="zh-CN" dirty="0">
                    <a:ea typeface="华文楷体" panose="02010600040101010101" pitchFamily="2" charset="-122"/>
                  </a:rPr>
                  <a:t>v</a:t>
                </a:r>
                <a:r>
                  <a:rPr lang="zh-CN" altLang="en-US" dirty="0">
                    <a:ea typeface="华文楷体" panose="02010600040101010101" pitchFamily="2" charset="-122"/>
                  </a:rPr>
                  <a:t>入队，那么，</a:t>
                </a:r>
                <a:r>
                  <a:rPr lang="en-US" altLang="zh-CN" dirty="0">
                    <a:ea typeface="华文楷体" panose="02010600040101010101" pitchFamily="2" charset="-122"/>
                  </a:rPr>
                  <a:t>v</a:t>
                </a:r>
                <a:r>
                  <a:rPr lang="zh-CN" altLang="en-US" dirty="0">
                    <a:ea typeface="华文楷体" panose="02010600040101010101" pitchFamily="2" charset="-122"/>
                  </a:rPr>
                  <a:t>不会再次被访问，因此</a:t>
                </a:r>
                <a:r>
                  <a:rPr lang="en-US" altLang="zh-CN" dirty="0">
                    <a:ea typeface="华文楷体" panose="02010600040101010101" pitchFamily="2" charset="-122"/>
                  </a:rPr>
                  <a:t>d[v]</a:t>
                </a:r>
                <a:r>
                  <a:rPr lang="zh-CN" altLang="en-US" dirty="0">
                    <a:ea typeface="华文楷体" panose="02010600040101010101" pitchFamily="2" charset="-122"/>
                  </a:rPr>
                  <a:t>不会再更新。由此可知归纳假设成立</a:t>
                </a:r>
                <a:r>
                  <a:rPr lang="zh-CN" altLang="en-US" dirty="0" smtClean="0">
                    <a:ea typeface="华文楷体" panose="02010600040101010101" pitchFamily="2" charset="-122"/>
                  </a:rPr>
                  <a:t>。</a:t>
                </a:r>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4800600" y="2435225"/>
                <a:ext cx="4183856" cy="4247317"/>
              </a:xfrm>
              <a:prstGeom prst="rect">
                <a:avLst/>
              </a:prstGeom>
              <a:blipFill rotWithShape="1">
                <a:blip r:embed="rId3"/>
                <a:stretch>
                  <a:fillRect r="11" b="10"/>
                </a:stretch>
              </a:blipFill>
            </p:spPr>
            <p:txBody>
              <a:bodyPr/>
              <a:lstStyle/>
              <a:p>
                <a:r>
                  <a:rPr lang="zh-CN" altLang="en-US">
                    <a:noFill/>
                  </a:rPr>
                  <a:t> </a:t>
                </a:r>
              </a:p>
            </p:txBody>
          </p:sp>
        </mc:Fallback>
      </mc:AlternateContent>
      <p:cxnSp>
        <p:nvCxnSpPr>
          <p:cNvPr id="9" name="直接连接符 8"/>
          <p:cNvCxnSpPr>
            <a:stCxn id="3" idx="2"/>
          </p:cNvCxnSpPr>
          <p:nvPr/>
        </p:nvCxnSpPr>
        <p:spPr>
          <a:xfrm>
            <a:off x="4533900" y="2362200"/>
            <a:ext cx="0" cy="44958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直接连接符 10"/>
          <p:cNvCxnSpPr/>
          <p:nvPr/>
        </p:nvCxnSpPr>
        <p:spPr>
          <a:xfrm flipV="1">
            <a:off x="14288" y="3534162"/>
            <a:ext cx="9144000" cy="10082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任意多边形 11"/>
          <p:cNvSpPr/>
          <p:nvPr/>
        </p:nvSpPr>
        <p:spPr>
          <a:xfrm>
            <a:off x="390617" y="5414467"/>
            <a:ext cx="1651247" cy="560205"/>
          </a:xfrm>
          <a:custGeom>
            <a:avLst/>
            <a:gdLst>
              <a:gd name="connsiteX0" fmla="*/ 0 w 1651247"/>
              <a:gd name="connsiteY0" fmla="*/ 560205 h 560205"/>
              <a:gd name="connsiteX1" fmla="*/ 26633 w 1651247"/>
              <a:gd name="connsiteY1" fmla="*/ 480306 h 560205"/>
              <a:gd name="connsiteX2" fmla="*/ 35511 w 1651247"/>
              <a:gd name="connsiteY2" fmla="*/ 444795 h 560205"/>
              <a:gd name="connsiteX3" fmla="*/ 71022 w 1651247"/>
              <a:gd name="connsiteY3" fmla="*/ 391529 h 560205"/>
              <a:gd name="connsiteX4" fmla="*/ 115410 w 1651247"/>
              <a:gd name="connsiteY4" fmla="*/ 329385 h 560205"/>
              <a:gd name="connsiteX5" fmla="*/ 124288 w 1651247"/>
              <a:gd name="connsiteY5" fmla="*/ 302752 h 560205"/>
              <a:gd name="connsiteX6" fmla="*/ 186432 w 1651247"/>
              <a:gd name="connsiteY6" fmla="*/ 222853 h 560205"/>
              <a:gd name="connsiteX7" fmla="*/ 239698 w 1651247"/>
              <a:gd name="connsiteY7" fmla="*/ 187343 h 560205"/>
              <a:gd name="connsiteX8" fmla="*/ 319597 w 1651247"/>
              <a:gd name="connsiteY8" fmla="*/ 169587 h 560205"/>
              <a:gd name="connsiteX9" fmla="*/ 461639 w 1651247"/>
              <a:gd name="connsiteY9" fmla="*/ 178465 h 560205"/>
              <a:gd name="connsiteX10" fmla="*/ 488272 w 1651247"/>
              <a:gd name="connsiteY10" fmla="*/ 196220 h 560205"/>
              <a:gd name="connsiteX11" fmla="*/ 514905 w 1651247"/>
              <a:gd name="connsiteY11" fmla="*/ 205098 h 560205"/>
              <a:gd name="connsiteX12" fmla="*/ 568171 w 1651247"/>
              <a:gd name="connsiteY12" fmla="*/ 240609 h 560205"/>
              <a:gd name="connsiteX13" fmla="*/ 594804 w 1651247"/>
              <a:gd name="connsiteY13" fmla="*/ 258364 h 560205"/>
              <a:gd name="connsiteX14" fmla="*/ 621437 w 1651247"/>
              <a:gd name="connsiteY14" fmla="*/ 267242 h 560205"/>
              <a:gd name="connsiteX15" fmla="*/ 674703 w 1651247"/>
              <a:gd name="connsiteY15" fmla="*/ 293875 h 560205"/>
              <a:gd name="connsiteX16" fmla="*/ 798991 w 1651247"/>
              <a:gd name="connsiteY16" fmla="*/ 284997 h 560205"/>
              <a:gd name="connsiteX17" fmla="*/ 870012 w 1651247"/>
              <a:gd name="connsiteY17" fmla="*/ 240609 h 560205"/>
              <a:gd name="connsiteX18" fmla="*/ 905523 w 1651247"/>
              <a:gd name="connsiteY18" fmla="*/ 196220 h 560205"/>
              <a:gd name="connsiteX19" fmla="*/ 932156 w 1651247"/>
              <a:gd name="connsiteY19" fmla="*/ 187343 h 560205"/>
              <a:gd name="connsiteX20" fmla="*/ 958789 w 1651247"/>
              <a:gd name="connsiteY20" fmla="*/ 160710 h 560205"/>
              <a:gd name="connsiteX21" fmla="*/ 1003177 w 1651247"/>
              <a:gd name="connsiteY21" fmla="*/ 125199 h 560205"/>
              <a:gd name="connsiteX22" fmla="*/ 1038688 w 1651247"/>
              <a:gd name="connsiteY22" fmla="*/ 89688 h 560205"/>
              <a:gd name="connsiteX23" fmla="*/ 1065321 w 1651247"/>
              <a:gd name="connsiteY23" fmla="*/ 63055 h 560205"/>
              <a:gd name="connsiteX24" fmla="*/ 1100832 w 1651247"/>
              <a:gd name="connsiteY24" fmla="*/ 36422 h 560205"/>
              <a:gd name="connsiteX25" fmla="*/ 1118587 w 1651247"/>
              <a:gd name="connsiteY25" fmla="*/ 9789 h 560205"/>
              <a:gd name="connsiteX26" fmla="*/ 1242874 w 1651247"/>
              <a:gd name="connsiteY26" fmla="*/ 9789 h 560205"/>
              <a:gd name="connsiteX27" fmla="*/ 1296140 w 1651247"/>
              <a:gd name="connsiteY27" fmla="*/ 27545 h 560205"/>
              <a:gd name="connsiteX28" fmla="*/ 1322773 w 1651247"/>
              <a:gd name="connsiteY28" fmla="*/ 45300 h 560205"/>
              <a:gd name="connsiteX29" fmla="*/ 1376039 w 1651247"/>
              <a:gd name="connsiteY29" fmla="*/ 63055 h 560205"/>
              <a:gd name="connsiteX30" fmla="*/ 1438183 w 1651247"/>
              <a:gd name="connsiteY30" fmla="*/ 80811 h 560205"/>
              <a:gd name="connsiteX31" fmla="*/ 1464816 w 1651247"/>
              <a:gd name="connsiteY31" fmla="*/ 98566 h 560205"/>
              <a:gd name="connsiteX32" fmla="*/ 1518082 w 1651247"/>
              <a:gd name="connsiteY32" fmla="*/ 116321 h 560205"/>
              <a:gd name="connsiteX33" fmla="*/ 1580226 w 1651247"/>
              <a:gd name="connsiteY33" fmla="*/ 107444 h 560205"/>
              <a:gd name="connsiteX34" fmla="*/ 1606859 w 1651247"/>
              <a:gd name="connsiteY34" fmla="*/ 89688 h 560205"/>
              <a:gd name="connsiteX35" fmla="*/ 1642369 w 1651247"/>
              <a:gd name="connsiteY35" fmla="*/ 71933 h 560205"/>
              <a:gd name="connsiteX36" fmla="*/ 1651247 w 1651247"/>
              <a:gd name="connsiteY36" fmla="*/ 45300 h 56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51247" h="560205">
                <a:moveTo>
                  <a:pt x="0" y="560205"/>
                </a:moveTo>
                <a:cubicBezTo>
                  <a:pt x="8878" y="533572"/>
                  <a:pt x="19824" y="507541"/>
                  <a:pt x="26633" y="480306"/>
                </a:cubicBezTo>
                <a:cubicBezTo>
                  <a:pt x="29592" y="468469"/>
                  <a:pt x="30054" y="455708"/>
                  <a:pt x="35511" y="444795"/>
                </a:cubicBezTo>
                <a:cubicBezTo>
                  <a:pt x="45054" y="425709"/>
                  <a:pt x="60043" y="409827"/>
                  <a:pt x="71022" y="391529"/>
                </a:cubicBezTo>
                <a:cubicBezTo>
                  <a:pt x="101961" y="339964"/>
                  <a:pt x="85454" y="359342"/>
                  <a:pt x="115410" y="329385"/>
                </a:cubicBezTo>
                <a:cubicBezTo>
                  <a:pt x="118369" y="320507"/>
                  <a:pt x="119743" y="310932"/>
                  <a:pt x="124288" y="302752"/>
                </a:cubicBezTo>
                <a:cubicBezTo>
                  <a:pt x="138881" y="276485"/>
                  <a:pt x="161114" y="242544"/>
                  <a:pt x="186432" y="222853"/>
                </a:cubicBezTo>
                <a:cubicBezTo>
                  <a:pt x="203276" y="209752"/>
                  <a:pt x="218996" y="192519"/>
                  <a:pt x="239698" y="187343"/>
                </a:cubicBezTo>
                <a:cubicBezTo>
                  <a:pt x="289847" y="174805"/>
                  <a:pt x="263244" y="180858"/>
                  <a:pt x="319597" y="169587"/>
                </a:cubicBezTo>
                <a:cubicBezTo>
                  <a:pt x="366944" y="172546"/>
                  <a:pt x="414780" y="171066"/>
                  <a:pt x="461639" y="178465"/>
                </a:cubicBezTo>
                <a:cubicBezTo>
                  <a:pt x="472178" y="180129"/>
                  <a:pt x="478729" y="191448"/>
                  <a:pt x="488272" y="196220"/>
                </a:cubicBezTo>
                <a:cubicBezTo>
                  <a:pt x="496642" y="200405"/>
                  <a:pt x="506725" y="200553"/>
                  <a:pt x="514905" y="205098"/>
                </a:cubicBezTo>
                <a:cubicBezTo>
                  <a:pt x="533559" y="215461"/>
                  <a:pt x="550416" y="228772"/>
                  <a:pt x="568171" y="240609"/>
                </a:cubicBezTo>
                <a:cubicBezTo>
                  <a:pt x="577049" y="246527"/>
                  <a:pt x="584682" y="254990"/>
                  <a:pt x="594804" y="258364"/>
                </a:cubicBezTo>
                <a:cubicBezTo>
                  <a:pt x="603682" y="261323"/>
                  <a:pt x="613067" y="263057"/>
                  <a:pt x="621437" y="267242"/>
                </a:cubicBezTo>
                <a:cubicBezTo>
                  <a:pt x="690276" y="301661"/>
                  <a:pt x="607760" y="271560"/>
                  <a:pt x="674703" y="293875"/>
                </a:cubicBezTo>
                <a:cubicBezTo>
                  <a:pt x="716132" y="290916"/>
                  <a:pt x="758920" y="295926"/>
                  <a:pt x="798991" y="284997"/>
                </a:cubicBezTo>
                <a:cubicBezTo>
                  <a:pt x="825924" y="277652"/>
                  <a:pt x="870012" y="240609"/>
                  <a:pt x="870012" y="240609"/>
                </a:cubicBezTo>
                <a:cubicBezTo>
                  <a:pt x="881849" y="225813"/>
                  <a:pt x="891136" y="208551"/>
                  <a:pt x="905523" y="196220"/>
                </a:cubicBezTo>
                <a:cubicBezTo>
                  <a:pt x="912628" y="190130"/>
                  <a:pt x="924370" y="192534"/>
                  <a:pt x="932156" y="187343"/>
                </a:cubicBezTo>
                <a:cubicBezTo>
                  <a:pt x="942602" y="180379"/>
                  <a:pt x="949341" y="168978"/>
                  <a:pt x="958789" y="160710"/>
                </a:cubicBezTo>
                <a:cubicBezTo>
                  <a:pt x="973049" y="148232"/>
                  <a:pt x="989015" y="137788"/>
                  <a:pt x="1003177" y="125199"/>
                </a:cubicBezTo>
                <a:cubicBezTo>
                  <a:pt x="1015689" y="114077"/>
                  <a:pt x="1026851" y="101525"/>
                  <a:pt x="1038688" y="89688"/>
                </a:cubicBezTo>
                <a:cubicBezTo>
                  <a:pt x="1047566" y="80810"/>
                  <a:pt x="1055277" y="70588"/>
                  <a:pt x="1065321" y="63055"/>
                </a:cubicBezTo>
                <a:lnTo>
                  <a:pt x="1100832" y="36422"/>
                </a:lnTo>
                <a:cubicBezTo>
                  <a:pt x="1106750" y="27544"/>
                  <a:pt x="1110255" y="16454"/>
                  <a:pt x="1118587" y="9789"/>
                </a:cubicBezTo>
                <a:cubicBezTo>
                  <a:pt x="1146034" y="-12168"/>
                  <a:pt x="1241367" y="9652"/>
                  <a:pt x="1242874" y="9789"/>
                </a:cubicBezTo>
                <a:cubicBezTo>
                  <a:pt x="1260629" y="15708"/>
                  <a:pt x="1280567" y="17163"/>
                  <a:pt x="1296140" y="27545"/>
                </a:cubicBezTo>
                <a:cubicBezTo>
                  <a:pt x="1305018" y="33463"/>
                  <a:pt x="1313023" y="40967"/>
                  <a:pt x="1322773" y="45300"/>
                </a:cubicBezTo>
                <a:cubicBezTo>
                  <a:pt x="1339876" y="52901"/>
                  <a:pt x="1357882" y="58516"/>
                  <a:pt x="1376039" y="63055"/>
                </a:cubicBezTo>
                <a:cubicBezTo>
                  <a:pt x="1387418" y="65900"/>
                  <a:pt x="1425446" y="74442"/>
                  <a:pt x="1438183" y="80811"/>
                </a:cubicBezTo>
                <a:cubicBezTo>
                  <a:pt x="1447726" y="85583"/>
                  <a:pt x="1455066" y="94233"/>
                  <a:pt x="1464816" y="98566"/>
                </a:cubicBezTo>
                <a:cubicBezTo>
                  <a:pt x="1481919" y="106167"/>
                  <a:pt x="1518082" y="116321"/>
                  <a:pt x="1518082" y="116321"/>
                </a:cubicBezTo>
                <a:cubicBezTo>
                  <a:pt x="1538797" y="113362"/>
                  <a:pt x="1560184" y="113457"/>
                  <a:pt x="1580226" y="107444"/>
                </a:cubicBezTo>
                <a:cubicBezTo>
                  <a:pt x="1590446" y="104378"/>
                  <a:pt x="1597595" y="94982"/>
                  <a:pt x="1606859" y="89688"/>
                </a:cubicBezTo>
                <a:cubicBezTo>
                  <a:pt x="1618349" y="83122"/>
                  <a:pt x="1630532" y="77851"/>
                  <a:pt x="1642369" y="71933"/>
                </a:cubicBezTo>
                <a:lnTo>
                  <a:pt x="1651247" y="4530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13" name="椭圆 12"/>
          <p:cNvSpPr/>
          <p:nvPr/>
        </p:nvSpPr>
        <p:spPr>
          <a:xfrm>
            <a:off x="228600" y="5974672"/>
            <a:ext cx="304800" cy="2737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s</a:t>
            </a:r>
            <a:endParaRPr lang="zh-CN" altLang="en-US" dirty="0">
              <a:solidFill>
                <a:srgbClr val="FF0000"/>
              </a:solidFill>
            </a:endParaRPr>
          </a:p>
        </p:txBody>
      </p:sp>
      <p:sp>
        <p:nvSpPr>
          <p:cNvPr id="14" name="椭圆 13"/>
          <p:cNvSpPr/>
          <p:nvPr/>
        </p:nvSpPr>
        <p:spPr>
          <a:xfrm>
            <a:off x="2003763" y="5359721"/>
            <a:ext cx="304800" cy="2737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v</a:t>
            </a:r>
            <a:endParaRPr lang="zh-CN" altLang="en-US" dirty="0">
              <a:solidFill>
                <a:srgbClr val="FF0000"/>
              </a:solidFill>
            </a:endParaRPr>
          </a:p>
        </p:txBody>
      </p:sp>
      <p:sp>
        <p:nvSpPr>
          <p:cNvPr id="15" name="任意多边形 14"/>
          <p:cNvSpPr/>
          <p:nvPr/>
        </p:nvSpPr>
        <p:spPr>
          <a:xfrm>
            <a:off x="514905" y="6134389"/>
            <a:ext cx="1216241" cy="301922"/>
          </a:xfrm>
          <a:custGeom>
            <a:avLst/>
            <a:gdLst>
              <a:gd name="connsiteX0" fmla="*/ 0 w 1216241"/>
              <a:gd name="connsiteY0" fmla="*/ 53347 h 301922"/>
              <a:gd name="connsiteX1" fmla="*/ 142043 w 1216241"/>
              <a:gd name="connsiteY1" fmla="*/ 8959 h 301922"/>
              <a:gd name="connsiteX2" fmla="*/ 168676 w 1216241"/>
              <a:gd name="connsiteY2" fmla="*/ 17836 h 301922"/>
              <a:gd name="connsiteX3" fmla="*/ 221942 w 1216241"/>
              <a:gd name="connsiteY3" fmla="*/ 44469 h 301922"/>
              <a:gd name="connsiteX4" fmla="*/ 239697 w 1216241"/>
              <a:gd name="connsiteY4" fmla="*/ 62225 h 301922"/>
              <a:gd name="connsiteX5" fmla="*/ 301841 w 1216241"/>
              <a:gd name="connsiteY5" fmla="*/ 97735 h 301922"/>
              <a:gd name="connsiteX6" fmla="*/ 319596 w 1216241"/>
              <a:gd name="connsiteY6" fmla="*/ 115491 h 301922"/>
              <a:gd name="connsiteX7" fmla="*/ 372862 w 1216241"/>
              <a:gd name="connsiteY7" fmla="*/ 151001 h 301922"/>
              <a:gd name="connsiteX8" fmla="*/ 408373 w 1216241"/>
              <a:gd name="connsiteY8" fmla="*/ 186512 h 301922"/>
              <a:gd name="connsiteX9" fmla="*/ 435006 w 1216241"/>
              <a:gd name="connsiteY9" fmla="*/ 195390 h 301922"/>
              <a:gd name="connsiteX10" fmla="*/ 461639 w 1216241"/>
              <a:gd name="connsiteY10" fmla="*/ 213145 h 301922"/>
              <a:gd name="connsiteX11" fmla="*/ 497149 w 1216241"/>
              <a:gd name="connsiteY11" fmla="*/ 222023 h 301922"/>
              <a:gd name="connsiteX12" fmla="*/ 603681 w 1216241"/>
              <a:gd name="connsiteY12" fmla="*/ 213145 h 301922"/>
              <a:gd name="connsiteX13" fmla="*/ 656947 w 1216241"/>
              <a:gd name="connsiteY13" fmla="*/ 195390 h 301922"/>
              <a:gd name="connsiteX14" fmla="*/ 683580 w 1216241"/>
              <a:gd name="connsiteY14" fmla="*/ 186512 h 301922"/>
              <a:gd name="connsiteX15" fmla="*/ 736846 w 1216241"/>
              <a:gd name="connsiteY15" fmla="*/ 159879 h 301922"/>
              <a:gd name="connsiteX16" fmla="*/ 763479 w 1216241"/>
              <a:gd name="connsiteY16" fmla="*/ 168757 h 301922"/>
              <a:gd name="connsiteX17" fmla="*/ 861134 w 1216241"/>
              <a:gd name="connsiteY17" fmla="*/ 186512 h 301922"/>
              <a:gd name="connsiteX18" fmla="*/ 923278 w 1216241"/>
              <a:gd name="connsiteY18" fmla="*/ 204267 h 301922"/>
              <a:gd name="connsiteX19" fmla="*/ 941033 w 1216241"/>
              <a:gd name="connsiteY19" fmla="*/ 222023 h 301922"/>
              <a:gd name="connsiteX20" fmla="*/ 1003177 w 1216241"/>
              <a:gd name="connsiteY20" fmla="*/ 293044 h 301922"/>
              <a:gd name="connsiteX21" fmla="*/ 1029810 w 1216241"/>
              <a:gd name="connsiteY21" fmla="*/ 301922 h 301922"/>
              <a:gd name="connsiteX22" fmla="*/ 1118586 w 1216241"/>
              <a:gd name="connsiteY22" fmla="*/ 293044 h 301922"/>
              <a:gd name="connsiteX23" fmla="*/ 1162975 w 1216241"/>
              <a:gd name="connsiteY23" fmla="*/ 257533 h 301922"/>
              <a:gd name="connsiteX24" fmla="*/ 1180730 w 1216241"/>
              <a:gd name="connsiteY24" fmla="*/ 222023 h 301922"/>
              <a:gd name="connsiteX25" fmla="*/ 1216241 w 1216241"/>
              <a:gd name="connsiteY25" fmla="*/ 177634 h 30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6241" h="301922">
                <a:moveTo>
                  <a:pt x="0" y="53347"/>
                </a:moveTo>
                <a:cubicBezTo>
                  <a:pt x="97310" y="-11526"/>
                  <a:pt x="48212" y="-4446"/>
                  <a:pt x="142043" y="8959"/>
                </a:cubicBezTo>
                <a:cubicBezTo>
                  <a:pt x="150921" y="11918"/>
                  <a:pt x="160306" y="13651"/>
                  <a:pt x="168676" y="17836"/>
                </a:cubicBezTo>
                <a:cubicBezTo>
                  <a:pt x="237514" y="52255"/>
                  <a:pt x="155000" y="22157"/>
                  <a:pt x="221942" y="44469"/>
                </a:cubicBezTo>
                <a:cubicBezTo>
                  <a:pt x="227860" y="50388"/>
                  <a:pt x="232733" y="57582"/>
                  <a:pt x="239697" y="62225"/>
                </a:cubicBezTo>
                <a:cubicBezTo>
                  <a:pt x="294373" y="98676"/>
                  <a:pt x="256439" y="61413"/>
                  <a:pt x="301841" y="97735"/>
                </a:cubicBezTo>
                <a:cubicBezTo>
                  <a:pt x="308377" y="102964"/>
                  <a:pt x="312900" y="110469"/>
                  <a:pt x="319596" y="115491"/>
                </a:cubicBezTo>
                <a:cubicBezTo>
                  <a:pt x="336667" y="128295"/>
                  <a:pt x="357773" y="135912"/>
                  <a:pt x="372862" y="151001"/>
                </a:cubicBezTo>
                <a:cubicBezTo>
                  <a:pt x="384699" y="162838"/>
                  <a:pt x="392492" y="181218"/>
                  <a:pt x="408373" y="186512"/>
                </a:cubicBezTo>
                <a:cubicBezTo>
                  <a:pt x="417251" y="189471"/>
                  <a:pt x="426636" y="191205"/>
                  <a:pt x="435006" y="195390"/>
                </a:cubicBezTo>
                <a:cubicBezTo>
                  <a:pt x="444549" y="200162"/>
                  <a:pt x="451832" y="208942"/>
                  <a:pt x="461639" y="213145"/>
                </a:cubicBezTo>
                <a:cubicBezTo>
                  <a:pt x="472853" y="217951"/>
                  <a:pt x="485312" y="219064"/>
                  <a:pt x="497149" y="222023"/>
                </a:cubicBezTo>
                <a:cubicBezTo>
                  <a:pt x="532660" y="219064"/>
                  <a:pt x="568532" y="219003"/>
                  <a:pt x="603681" y="213145"/>
                </a:cubicBezTo>
                <a:cubicBezTo>
                  <a:pt x="622142" y="210068"/>
                  <a:pt x="639192" y="201308"/>
                  <a:pt x="656947" y="195390"/>
                </a:cubicBezTo>
                <a:cubicBezTo>
                  <a:pt x="665825" y="192431"/>
                  <a:pt x="675794" y="191703"/>
                  <a:pt x="683580" y="186512"/>
                </a:cubicBezTo>
                <a:cubicBezTo>
                  <a:pt x="717999" y="163566"/>
                  <a:pt x="700091" y="172131"/>
                  <a:pt x="736846" y="159879"/>
                </a:cubicBezTo>
                <a:cubicBezTo>
                  <a:pt x="745724" y="162838"/>
                  <a:pt x="754400" y="166487"/>
                  <a:pt x="763479" y="168757"/>
                </a:cubicBezTo>
                <a:cubicBezTo>
                  <a:pt x="801545" y="178273"/>
                  <a:pt x="821582" y="178601"/>
                  <a:pt x="861134" y="186512"/>
                </a:cubicBezTo>
                <a:cubicBezTo>
                  <a:pt x="888998" y="192085"/>
                  <a:pt x="897897" y="195807"/>
                  <a:pt x="923278" y="204267"/>
                </a:cubicBezTo>
                <a:cubicBezTo>
                  <a:pt x="929196" y="210186"/>
                  <a:pt x="935804" y="215487"/>
                  <a:pt x="941033" y="222023"/>
                </a:cubicBezTo>
                <a:cubicBezTo>
                  <a:pt x="959145" y="244664"/>
                  <a:pt x="973307" y="283087"/>
                  <a:pt x="1003177" y="293044"/>
                </a:cubicBezTo>
                <a:lnTo>
                  <a:pt x="1029810" y="301922"/>
                </a:lnTo>
                <a:cubicBezTo>
                  <a:pt x="1059402" y="298963"/>
                  <a:pt x="1089608" y="299731"/>
                  <a:pt x="1118586" y="293044"/>
                </a:cubicBezTo>
                <a:cubicBezTo>
                  <a:pt x="1127941" y="290885"/>
                  <a:pt x="1156693" y="266956"/>
                  <a:pt x="1162975" y="257533"/>
                </a:cubicBezTo>
                <a:cubicBezTo>
                  <a:pt x="1170316" y="246522"/>
                  <a:pt x="1173038" y="232792"/>
                  <a:pt x="1180730" y="222023"/>
                </a:cubicBezTo>
                <a:cubicBezTo>
                  <a:pt x="1232916" y="148962"/>
                  <a:pt x="1190746" y="228624"/>
                  <a:pt x="1216241" y="17763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712096" y="6134298"/>
            <a:ext cx="304800" cy="27372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u</a:t>
            </a:r>
            <a:endParaRPr lang="zh-CN" altLang="en-US" dirty="0">
              <a:solidFill>
                <a:srgbClr val="FF0000"/>
              </a:solidFill>
            </a:endParaRPr>
          </a:p>
        </p:txBody>
      </p:sp>
      <p:cxnSp>
        <p:nvCxnSpPr>
          <p:cNvPr id="18" name="直接箭头连接符 17"/>
          <p:cNvCxnSpPr>
            <a:stCxn id="16" idx="7"/>
            <a:endCxn id="14" idx="4"/>
          </p:cNvCxnSpPr>
          <p:nvPr/>
        </p:nvCxnSpPr>
        <p:spPr>
          <a:xfrm flipV="1">
            <a:off x="1972259" y="5633449"/>
            <a:ext cx="183904" cy="540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文本框 18"/>
              <p:cNvSpPr txBox="1"/>
              <p:nvPr/>
            </p:nvSpPr>
            <p:spPr>
              <a:xfrm>
                <a:off x="752009" y="5414467"/>
                <a:ext cx="91044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v</m:t>
                          </m:r>
                        </m:e>
                      </m:d>
                    </m:oMath>
                  </m:oMathPara>
                </a14:m>
                <a:endParaRPr lang="zh-CN" altLang="en-US" dirty="0"/>
              </a:p>
            </p:txBody>
          </p:sp>
        </mc:Choice>
        <mc:Fallback>
          <p:sp>
            <p:nvSpPr>
              <p:cNvPr id="19" name="文本框 18"/>
              <p:cNvSpPr txBox="1">
                <a:spLocks noRot="1" noChangeAspect="1" noMove="1" noResize="1" noEditPoints="1" noAdjustHandles="1" noChangeArrowheads="1" noChangeShapeType="1" noTextEdit="1"/>
              </p:cNvSpPr>
              <p:nvPr/>
            </p:nvSpPr>
            <p:spPr>
              <a:xfrm>
                <a:off x="752009" y="5414467"/>
                <a:ext cx="910442" cy="369332"/>
              </a:xfrm>
              <a:prstGeom prst="rect">
                <a:avLst/>
              </a:prstGeom>
              <a:blipFill rotWithShape="1">
                <a:blip r:embed="rId4"/>
                <a:stretch>
                  <a:fillRect l="-19" t="-124" r="2" b="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508358" y="6181646"/>
                <a:ext cx="91044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𝑢</m:t>
                          </m:r>
                        </m:e>
                      </m:d>
                    </m:oMath>
                  </m:oMathPara>
                </a14:m>
                <a:endParaRPr lang="zh-CN" altLang="en-US" dirty="0"/>
              </a:p>
            </p:txBody>
          </p:sp>
        </mc:Choice>
        <mc:Fallback>
          <p:sp>
            <p:nvSpPr>
              <p:cNvPr id="20" name="文本框 19"/>
              <p:cNvSpPr txBox="1">
                <a:spLocks noRot="1" noChangeAspect="1" noMove="1" noResize="1" noEditPoints="1" noAdjustHandles="1" noChangeArrowheads="1" noChangeShapeType="1" noTextEdit="1"/>
              </p:cNvSpPr>
              <p:nvPr/>
            </p:nvSpPr>
            <p:spPr>
              <a:xfrm>
                <a:off x="508358" y="6181646"/>
                <a:ext cx="910442" cy="369332"/>
              </a:xfrm>
              <a:prstGeom prst="rect">
                <a:avLst/>
              </a:prstGeom>
              <a:blipFill rotWithShape="1">
                <a:blip r:embed="rId5"/>
                <a:stretch>
                  <a:fillRect l="-39" t="-151" r="23" b="8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183119"/>
                <a:ext cx="8458200" cy="4074681"/>
              </a:xfrm>
              <a:ln>
                <a:solidFill>
                  <a:schemeClr val="accent1"/>
                </a:solidFill>
              </a:ln>
            </p:spPr>
            <p:txBody>
              <a:bodyPr/>
              <a:lstStyle/>
              <a:p>
                <a:pPr marL="0" indent="0">
                  <a:buNone/>
                </a:pPr>
                <a:r>
                  <a:rPr lang="zh-CN" altLang="en-US" sz="1800" b="1" dirty="0">
                    <a:solidFill>
                      <a:srgbClr val="C00000"/>
                    </a:solidFill>
                    <a:ea typeface="华文楷体" panose="02010600040101010101" pitchFamily="2" charset="-122"/>
                  </a:rPr>
                  <a:t>引理</a:t>
                </a:r>
                <a:r>
                  <a:rPr lang="en-US" altLang="zh-CN" sz="1800" b="1" dirty="0">
                    <a:solidFill>
                      <a:srgbClr val="C00000"/>
                    </a:solidFill>
                    <a:ea typeface="华文楷体" panose="02010600040101010101" pitchFamily="2" charset="-122"/>
                  </a:rPr>
                  <a:t>3</a:t>
                </a:r>
                <a:r>
                  <a:rPr lang="zh-CN" altLang="en-US" sz="1800" dirty="0">
                    <a:ea typeface="华文楷体" panose="02010600040101010101" pitchFamily="2" charset="-122"/>
                  </a:rPr>
                  <a:t>：假定</a:t>
                </a:r>
                <a:r>
                  <a:rPr lang="en-US" altLang="zh-CN" sz="1800" dirty="0">
                    <a:ea typeface="华文楷体" panose="02010600040101010101" pitchFamily="2" charset="-122"/>
                  </a:rPr>
                  <a:t>BFS</a:t>
                </a:r>
                <a:r>
                  <a:rPr lang="zh-CN" altLang="en-US" sz="1800" dirty="0" smtClean="0">
                    <a:ea typeface="华文楷体" panose="02010600040101010101" pitchFamily="2" charset="-122"/>
                  </a:rPr>
                  <a:t>在无权图</a:t>
                </a:r>
                <a:r>
                  <a:rPr lang="en-US" altLang="zh-CN" sz="1800" dirty="0">
                    <a:ea typeface="华文楷体" panose="02010600040101010101" pitchFamily="2" charset="-122"/>
                  </a:rPr>
                  <a:t>G=(V,E)</a:t>
                </a:r>
                <a:r>
                  <a:rPr lang="zh-CN" altLang="en-US" sz="1800" dirty="0">
                    <a:ea typeface="华文楷体" panose="02010600040101010101" pitchFamily="2" charset="-122"/>
                  </a:rPr>
                  <a:t>的运行过程</a:t>
                </a:r>
                <a:r>
                  <a:rPr lang="zh-CN" altLang="en-US" sz="1800" dirty="0" smtClean="0">
                    <a:ea typeface="华文楷体" panose="02010600040101010101" pitchFamily="2" charset="-122"/>
                  </a:rPr>
                  <a:t>中某时刻，</a:t>
                </a:r>
                <a:r>
                  <a:rPr lang="zh-CN" altLang="en-US" sz="1800" dirty="0">
                    <a:ea typeface="华文楷体" panose="02010600040101010101" pitchFamily="2" charset="-122"/>
                  </a:rPr>
                  <a:t>队列</a:t>
                </a:r>
                <a:r>
                  <a:rPr lang="en-US" altLang="zh-CN" sz="1800" dirty="0">
                    <a:ea typeface="华文楷体" panose="02010600040101010101" pitchFamily="2" charset="-122"/>
                  </a:rPr>
                  <a:t>Qu</a:t>
                </a:r>
                <a:r>
                  <a:rPr lang="zh-CN" altLang="en-US" sz="1800" dirty="0">
                    <a:ea typeface="华文楷体" panose="02010600040101010101" pitchFamily="2" charset="-122"/>
                  </a:rPr>
                  <a:t>依次包含顶点</a:t>
                </a:r>
                <a:r>
                  <a:rPr lang="en-US" altLang="zh-CN" sz="1800" dirty="0" smtClean="0">
                    <a:ea typeface="华文楷体" panose="02010600040101010101" pitchFamily="2" charset="-122"/>
                  </a:rPr>
                  <a:t>{v</a:t>
                </a:r>
                <a:r>
                  <a:rPr lang="en-US" altLang="zh-CN" sz="1800" baseline="-25000" dirty="0" smtClean="0">
                    <a:ea typeface="华文楷体" panose="02010600040101010101" pitchFamily="2" charset="-122"/>
                  </a:rPr>
                  <a:t>1</a:t>
                </a:r>
                <a:r>
                  <a:rPr lang="en-US" altLang="zh-CN" sz="1800" dirty="0" smtClean="0">
                    <a:ea typeface="华文楷体" panose="02010600040101010101" pitchFamily="2" charset="-122"/>
                  </a:rPr>
                  <a:t>,v</a:t>
                </a:r>
                <a:r>
                  <a:rPr lang="en-US" altLang="zh-CN" sz="1800" baseline="-25000" dirty="0">
                    <a:ea typeface="华文楷体" panose="02010600040101010101" pitchFamily="2" charset="-122"/>
                  </a:rPr>
                  <a:t>2</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r</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a:t>
                </a:r>
                <a:r>
                  <a:rPr lang="en-US" altLang="zh-CN" sz="1800" dirty="0">
                    <a:ea typeface="华文楷体" panose="02010600040101010101" pitchFamily="2" charset="-122"/>
                  </a:rPr>
                  <a:t>v</a:t>
                </a:r>
                <a:r>
                  <a:rPr lang="en-US" altLang="zh-CN" sz="1800" baseline="-25000" dirty="0">
                    <a:ea typeface="华文楷体" panose="02010600040101010101" pitchFamily="2" charset="-122"/>
                  </a:rPr>
                  <a:t>1</a:t>
                </a:r>
                <a:r>
                  <a:rPr lang="zh-CN" altLang="en-US" sz="1800" dirty="0" smtClean="0">
                    <a:ea typeface="华文楷体" panose="02010600040101010101" pitchFamily="2" charset="-122"/>
                  </a:rPr>
                  <a:t>为队头，</a:t>
                </a:r>
                <a:r>
                  <a:rPr lang="en-US" altLang="zh-CN" sz="1800" dirty="0">
                    <a:ea typeface="华文楷体" panose="02010600040101010101" pitchFamily="2" charset="-122"/>
                  </a:rPr>
                  <a:t> </a:t>
                </a:r>
                <a:r>
                  <a:rPr lang="en-US" altLang="zh-CN" sz="1800" dirty="0" err="1">
                    <a:ea typeface="华文楷体" panose="02010600040101010101" pitchFamily="2" charset="-122"/>
                  </a:rPr>
                  <a:t>v</a:t>
                </a:r>
                <a:r>
                  <a:rPr lang="en-US" altLang="zh-CN" sz="1800" baseline="-25000" dirty="0" err="1">
                    <a:ea typeface="华文楷体" panose="02010600040101010101" pitchFamily="2" charset="-122"/>
                  </a:rPr>
                  <a:t>r</a:t>
                </a:r>
                <a:r>
                  <a:rPr lang="zh-CN" altLang="en-US" sz="1800" dirty="0" smtClean="0">
                    <a:ea typeface="华文楷体" panose="02010600040101010101" pitchFamily="2" charset="-122"/>
                  </a:rPr>
                  <a:t>为队尾。则</a:t>
                </a:r>
                <a:r>
                  <a:rPr lang="en-US" altLang="zh-CN" sz="1800" dirty="0" smtClean="0">
                    <a:ea typeface="华文楷体" panose="02010600040101010101" pitchFamily="2" charset="-122"/>
                  </a:rPr>
                  <a:t>d[</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r</a:t>
                </a:r>
                <a:r>
                  <a:rPr lang="en-US" altLang="zh-CN" sz="1800" dirty="0" smtClean="0">
                    <a:ea typeface="华文楷体" panose="02010600040101010101" pitchFamily="2" charset="-122"/>
                  </a:rPr>
                  <a:t>]</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1</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；且对于</a:t>
                </a:r>
                <a:r>
                  <a:rPr lang="en-US" altLang="zh-CN" sz="1800" dirty="0" err="1" smtClean="0">
                    <a:ea typeface="华文楷体" panose="02010600040101010101" pitchFamily="2" charset="-122"/>
                  </a:rPr>
                  <a:t>i</a:t>
                </a:r>
                <a:r>
                  <a:rPr lang="en-US" altLang="zh-CN" sz="1800" dirty="0" smtClean="0">
                    <a:ea typeface="华文楷体" panose="02010600040101010101" pitchFamily="2" charset="-122"/>
                  </a:rPr>
                  <a:t>=1,2,..,r-1</a:t>
                </a:r>
                <a:r>
                  <a:rPr lang="zh-CN" altLang="en-US" sz="1800" dirty="0" smtClean="0">
                    <a:ea typeface="华文楷体" panose="02010600040101010101" pitchFamily="2" charset="-122"/>
                  </a:rPr>
                  <a:t>，有</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i</a:t>
                </a:r>
                <a:r>
                  <a:rPr lang="en-US" altLang="zh-CN" sz="1800" dirty="0" smtClean="0">
                    <a:ea typeface="华文楷体" panose="02010600040101010101" pitchFamily="2" charset="-122"/>
                  </a:rPr>
                  <a:t>]</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i+1</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zh-CN" altLang="en-US" sz="1800" dirty="0" smtClean="0">
                    <a:solidFill>
                      <a:srgbClr val="C00000"/>
                    </a:solidFill>
                    <a:ea typeface="华文楷体" panose="02010600040101010101" pitchFamily="2" charset="-122"/>
                  </a:rPr>
                  <a:t>证明</a:t>
                </a:r>
                <a:r>
                  <a:rPr lang="zh-CN" altLang="en-US" sz="1800" dirty="0" smtClean="0">
                    <a:ea typeface="华文楷体" panose="02010600040101010101" pitchFamily="2" charset="-122"/>
                  </a:rPr>
                  <a:t>：我们仍通过</a:t>
                </a:r>
                <a:r>
                  <a:rPr lang="en-US" altLang="zh-CN" sz="1800" dirty="0" smtClean="0">
                    <a:ea typeface="华文楷体" panose="02010600040101010101" pitchFamily="2" charset="-122"/>
                  </a:rPr>
                  <a:t>BFS</a:t>
                </a:r>
                <a:r>
                  <a:rPr lang="zh-CN" altLang="en-US" sz="1800" dirty="0" smtClean="0">
                    <a:ea typeface="华文楷体" panose="02010600040101010101" pitchFamily="2" charset="-122"/>
                  </a:rPr>
                  <a:t>算法中入队操作次数来进行归纳证明。</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队列</a:t>
                </a:r>
                <a:r>
                  <a:rPr lang="en-US" altLang="zh-CN" sz="1800" dirty="0" smtClean="0">
                    <a:ea typeface="华文楷体" panose="02010600040101010101" pitchFamily="2" charset="-122"/>
                  </a:rPr>
                  <a:t>Qu</a:t>
                </a:r>
                <a:r>
                  <a:rPr lang="zh-CN" altLang="en-US" sz="1800" dirty="0" smtClean="0">
                    <a:ea typeface="华文楷体" panose="02010600040101010101" pitchFamily="2" charset="-122"/>
                  </a:rPr>
                  <a:t>初始仅仅包含顶点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，定理成立。</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对于归纳步，我们要证明在入队操作和出队操作时，引理</a:t>
                </a:r>
                <a:r>
                  <a:rPr lang="en-US" altLang="zh-CN" sz="1800" dirty="0" smtClean="0">
                    <a:ea typeface="华文楷体" panose="02010600040101010101" pitchFamily="2" charset="-122"/>
                  </a:rPr>
                  <a:t>3</a:t>
                </a:r>
                <a:r>
                  <a:rPr lang="zh-CN" altLang="en-US" sz="1800" dirty="0" smtClean="0">
                    <a:ea typeface="华文楷体" panose="02010600040101010101" pitchFamily="2" charset="-122"/>
                  </a:rPr>
                  <a:t>都成立。如果队头顶点</a:t>
                </a:r>
                <a:r>
                  <a:rPr lang="en-US" altLang="zh-CN" sz="1800" dirty="0" smtClean="0">
                    <a:ea typeface="华文楷体" panose="02010600040101010101" pitchFamily="2" charset="-122"/>
                  </a:rPr>
                  <a:t>v</a:t>
                </a:r>
                <a:r>
                  <a:rPr lang="en-US" altLang="zh-CN" sz="1800" baseline="-25000" dirty="0" smtClean="0">
                    <a:ea typeface="华文楷体" panose="02010600040101010101" pitchFamily="2" charset="-122"/>
                  </a:rPr>
                  <a:t>1</a:t>
                </a:r>
                <a:r>
                  <a:rPr lang="zh-CN" altLang="en-US" sz="1800" dirty="0" smtClean="0">
                    <a:ea typeface="华文楷体" panose="02010600040101010101" pitchFamily="2" charset="-122"/>
                  </a:rPr>
                  <a:t>出队：情况</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，队列空，引理</a:t>
                </a:r>
                <a:r>
                  <a:rPr lang="en-US" altLang="zh-CN" sz="1800" dirty="0" smtClean="0">
                    <a:ea typeface="华文楷体" panose="02010600040101010101" pitchFamily="2" charset="-122"/>
                  </a:rPr>
                  <a:t>3</a:t>
                </a:r>
                <a:r>
                  <a:rPr lang="zh-CN" altLang="en-US" sz="1800" dirty="0" smtClean="0">
                    <a:ea typeface="华文楷体" panose="02010600040101010101" pitchFamily="2" charset="-122"/>
                  </a:rPr>
                  <a:t>直接成立；情况</a:t>
                </a:r>
                <a:r>
                  <a:rPr lang="en-US" altLang="zh-CN" sz="1800" dirty="0" smtClean="0">
                    <a:ea typeface="华文楷体" panose="02010600040101010101" pitchFamily="2" charset="-122"/>
                  </a:rPr>
                  <a:t>2</a:t>
                </a:r>
                <a:r>
                  <a:rPr lang="zh-CN" altLang="en-US" sz="1800" dirty="0" smtClean="0">
                    <a:ea typeface="华文楷体" panose="02010600040101010101" pitchFamily="2" charset="-122"/>
                  </a:rPr>
                  <a:t>：队列不空，</a:t>
                </a:r>
                <a:r>
                  <a:rPr lang="en-US" altLang="zh-CN" sz="1800" dirty="0" smtClean="0">
                    <a:ea typeface="华文楷体" panose="02010600040101010101" pitchFamily="2" charset="-122"/>
                  </a:rPr>
                  <a:t>v</a:t>
                </a:r>
                <a:r>
                  <a:rPr lang="en-US" altLang="zh-CN" sz="1800" baseline="-25000" dirty="0" smtClean="0">
                    <a:ea typeface="华文楷体" panose="02010600040101010101" pitchFamily="2" charset="-122"/>
                  </a:rPr>
                  <a:t>2</a:t>
                </a:r>
                <a:r>
                  <a:rPr lang="zh-CN" altLang="en-US" sz="1800" dirty="0" smtClean="0">
                    <a:ea typeface="华文楷体" panose="02010600040101010101" pitchFamily="2" charset="-122"/>
                  </a:rPr>
                  <a:t>成为新队头，根据归纳假设，</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1</a:t>
                </a:r>
                <a:r>
                  <a:rPr lang="en-US" altLang="zh-CN" sz="1800" dirty="0" smtClean="0">
                    <a:ea typeface="华文楷体" panose="02010600040101010101" pitchFamily="2" charset="-122"/>
                  </a:rPr>
                  <a:t>]</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2</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，同时我们还有</a:t>
                </a:r>
                <a:r>
                  <a:rPr lang="en-US" altLang="zh-CN" sz="1800" dirty="0" smtClean="0">
                    <a:ea typeface="华文楷体" panose="02010600040101010101" pitchFamily="2" charset="-122"/>
                  </a:rPr>
                  <a:t>d[</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r</a:t>
                </a:r>
                <a:r>
                  <a:rPr lang="en-US" altLang="zh-CN" sz="1800" dirty="0">
                    <a:ea typeface="华文楷体" panose="02010600040101010101" pitchFamily="2" charset="-122"/>
                  </a:rPr>
                  <a:t>]</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1</a:t>
                </a:r>
                <a:r>
                  <a:rPr lang="en-US" altLang="zh-CN" sz="1800" dirty="0">
                    <a:ea typeface="华文楷体" panose="02010600040101010101" pitchFamily="2" charset="-122"/>
                  </a:rPr>
                  <a:t>]+1</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2</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，且余下不等式不受影响，因此</a:t>
                </a:r>
                <a:r>
                  <a:rPr lang="zh-CN" altLang="en-US" sz="1800" dirty="0">
                    <a:ea typeface="华文楷体" panose="02010600040101010101" pitchFamily="2" charset="-122"/>
                  </a:rPr>
                  <a:t>出队</a:t>
                </a:r>
                <a:r>
                  <a:rPr lang="zh-CN" altLang="en-US" sz="1800" dirty="0" smtClean="0">
                    <a:ea typeface="华文楷体" panose="02010600040101010101" pitchFamily="2" charset="-122"/>
                  </a:rPr>
                  <a:t>操作后</a:t>
                </a:r>
                <a:r>
                  <a:rPr lang="zh-CN" altLang="en-US" sz="1800" dirty="0">
                    <a:ea typeface="华文楷体" panose="02010600040101010101" pitchFamily="2" charset="-122"/>
                  </a:rPr>
                  <a:t>引理</a:t>
                </a:r>
                <a:r>
                  <a:rPr lang="en-US" altLang="zh-CN" sz="1800" dirty="0" smtClean="0">
                    <a:ea typeface="华文楷体" panose="02010600040101010101" pitchFamily="2" charset="-122"/>
                  </a:rPr>
                  <a:t>3</a:t>
                </a:r>
                <a:r>
                  <a:rPr lang="zh-CN" altLang="en-US" sz="1800" dirty="0" smtClean="0">
                    <a:ea typeface="华文楷体" panose="02010600040101010101" pitchFamily="2" charset="-122"/>
                  </a:rPr>
                  <a:t>成立。</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对于入队后的情况，我们从算法中可知，查找顶点</a:t>
                </a:r>
                <a:r>
                  <a:rPr lang="en-US" altLang="zh-CN" sz="1800" dirty="0" smtClean="0">
                    <a:ea typeface="华文楷体" panose="02010600040101010101" pitchFamily="2" charset="-122"/>
                  </a:rPr>
                  <a:t>w</a:t>
                </a:r>
                <a:r>
                  <a:rPr lang="zh-CN" altLang="en-US" sz="1800" dirty="0" smtClean="0">
                    <a:ea typeface="华文楷体" panose="02010600040101010101" pitchFamily="2" charset="-122"/>
                  </a:rPr>
                  <a:t>邻接顶点时，假设任一新邻接顶点</a:t>
                </a:r>
                <a:r>
                  <a:rPr lang="en-US" altLang="zh-CN" sz="1800" dirty="0">
                    <a:ea typeface="华文楷体" panose="02010600040101010101" pitchFamily="2" charset="-122"/>
                  </a:rPr>
                  <a:t>v</a:t>
                </a:r>
                <a:r>
                  <a:rPr lang="zh-CN" altLang="en-US" sz="1800" dirty="0" smtClean="0">
                    <a:ea typeface="华文楷体" panose="02010600040101010101" pitchFamily="2" charset="-122"/>
                  </a:rPr>
                  <a:t>入队列</a:t>
                </a:r>
                <a:r>
                  <a:rPr lang="en-US" altLang="zh-CN" sz="1800" dirty="0" smtClean="0">
                    <a:ea typeface="华文楷体" panose="02010600040101010101" pitchFamily="2" charset="-122"/>
                  </a:rPr>
                  <a:t>Qu</a:t>
                </a:r>
                <a:r>
                  <a:rPr lang="zh-CN" altLang="en-US" sz="1800" dirty="0" smtClean="0">
                    <a:ea typeface="华文楷体" panose="02010600040101010101" pitchFamily="2" charset="-122"/>
                  </a:rPr>
                  <a:t>，则新顶点</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入队后即为队列中为</a:t>
                </a:r>
                <a:r>
                  <a:rPr lang="en-US" altLang="zh-CN" sz="1800" dirty="0" err="1">
                    <a:ea typeface="华文楷体" panose="02010600040101010101" pitchFamily="2" charset="-122"/>
                  </a:rPr>
                  <a:t>v</a:t>
                </a:r>
                <a:r>
                  <a:rPr lang="en-US" altLang="zh-CN" sz="1800" baseline="-25000" dirty="0" err="1">
                    <a:ea typeface="华文楷体" panose="02010600040101010101" pitchFamily="2" charset="-122"/>
                  </a:rPr>
                  <a:t>r</a:t>
                </a:r>
                <a:r>
                  <a:rPr lang="en-US" altLang="zh-CN" sz="1800" baseline="-25000" dirty="0">
                    <a:ea typeface="华文楷体" panose="02010600040101010101" pitchFamily="2" charset="-122"/>
                  </a:rPr>
                  <a:t> </a:t>
                </a:r>
                <a:r>
                  <a:rPr lang="en-US" altLang="zh-CN" sz="1800" baseline="-25000" dirty="0" smtClean="0">
                    <a:ea typeface="华文楷体" panose="02010600040101010101" pitchFamily="2" charset="-122"/>
                  </a:rPr>
                  <a:t>+1</a:t>
                </a:r>
                <a:r>
                  <a:rPr lang="zh-CN" altLang="en-US" sz="1800" dirty="0" smtClean="0">
                    <a:ea typeface="华文楷体" panose="02010600040101010101" pitchFamily="2" charset="-122"/>
                  </a:rPr>
                  <a:t>，此时顶点</a:t>
                </a:r>
                <a:r>
                  <a:rPr lang="en-US" altLang="zh-CN" sz="1800" dirty="0" smtClean="0">
                    <a:ea typeface="华文楷体" panose="02010600040101010101" pitchFamily="2" charset="-122"/>
                  </a:rPr>
                  <a:t>w</a:t>
                </a:r>
                <a:r>
                  <a:rPr lang="zh-CN" altLang="en-US" sz="1800" dirty="0" smtClean="0">
                    <a:ea typeface="华文楷体" panose="02010600040101010101" pitchFamily="2" charset="-122"/>
                  </a:rPr>
                  <a:t>已经出队，新队头</a:t>
                </a:r>
                <a:r>
                  <a:rPr lang="en-US" altLang="zh-CN" sz="1800" dirty="0">
                    <a:ea typeface="华文楷体" panose="02010600040101010101" pitchFamily="2" charset="-122"/>
                  </a:rPr>
                  <a:t>v</a:t>
                </a:r>
                <a:r>
                  <a:rPr lang="en-US" altLang="zh-CN" sz="1800" baseline="-25000" dirty="0">
                    <a:ea typeface="华文楷体" panose="02010600040101010101" pitchFamily="2" charset="-122"/>
                  </a:rPr>
                  <a:t>1</a:t>
                </a:r>
                <a:r>
                  <a:rPr lang="zh-CN" altLang="en-US" sz="1800" dirty="0" smtClean="0">
                    <a:ea typeface="华文楷体" panose="02010600040101010101" pitchFamily="2" charset="-122"/>
                  </a:rPr>
                  <a:t>满足</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1</a:t>
                </a:r>
                <a:r>
                  <a:rPr lang="en-US" altLang="zh-CN" sz="1800" dirty="0" smtClean="0">
                    <a:ea typeface="华文楷体" panose="02010600040101010101" pitchFamily="2" charset="-122"/>
                  </a:rPr>
                  <a:t>]</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d[w]</a:t>
                </a:r>
                <a:r>
                  <a:rPr lang="zh-CN" altLang="en-US" sz="1800" dirty="0" smtClean="0">
                    <a:ea typeface="华文楷体" panose="02010600040101010101" pitchFamily="2" charset="-122"/>
                  </a:rPr>
                  <a:t>。因此，</a:t>
                </a:r>
                <a:r>
                  <a:rPr lang="en-US" altLang="zh-CN" sz="1800" dirty="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r+1</a:t>
                </a:r>
                <a:r>
                  <a:rPr lang="en-US" altLang="zh-CN" sz="1800" dirty="0" smtClean="0">
                    <a:ea typeface="华文楷体" panose="02010600040101010101" pitchFamily="2" charset="-122"/>
                  </a:rPr>
                  <a:t>]=d[v]=d[w]+1</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d[v</a:t>
                </a:r>
                <a:r>
                  <a:rPr lang="en-US" altLang="zh-CN" sz="1800" baseline="-25000" dirty="0" smtClean="0">
                    <a:ea typeface="华文楷体" panose="02010600040101010101" pitchFamily="2" charset="-122"/>
                  </a:rPr>
                  <a:t>1</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。根据归纳假设，我们还有</a:t>
                </a:r>
                <a:r>
                  <a:rPr lang="en-US" altLang="zh-CN" sz="1800" dirty="0" smtClean="0">
                    <a:ea typeface="华文楷体" panose="02010600040101010101" pitchFamily="2" charset="-122"/>
                  </a:rPr>
                  <a:t>d[</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r</a:t>
                </a:r>
                <a:r>
                  <a:rPr lang="en-US" altLang="zh-CN" sz="1800" dirty="0" smtClean="0">
                    <a:ea typeface="华文楷体" panose="02010600040101010101" pitchFamily="2" charset="-122"/>
                  </a:rPr>
                  <a:t>]</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d[w</a:t>
                </a:r>
                <a:r>
                  <a:rPr lang="en-US" altLang="zh-CN" sz="1800" dirty="0">
                    <a:ea typeface="华文楷体" panose="02010600040101010101" pitchFamily="2" charset="-122"/>
                  </a:rPr>
                  <a:t>]+</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，因此</a:t>
                </a:r>
                <a:r>
                  <a:rPr lang="en-US" altLang="zh-CN" sz="1800" dirty="0" smtClean="0">
                    <a:ea typeface="华文楷体" panose="02010600040101010101" pitchFamily="2" charset="-122"/>
                  </a:rPr>
                  <a:t>d[</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r</a:t>
                </a:r>
                <a:r>
                  <a:rPr lang="en-US" altLang="zh-CN" sz="1800" dirty="0">
                    <a:ea typeface="华文楷体" panose="02010600040101010101" pitchFamily="2" charset="-122"/>
                  </a:rPr>
                  <a:t>]</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a:ea typeface="华文楷体" panose="02010600040101010101" pitchFamily="2" charset="-122"/>
                  </a:rPr>
                  <a:t> </a:t>
                </a:r>
                <a:r>
                  <a:rPr lang="en-US" altLang="zh-CN" sz="1800" dirty="0" smtClean="0">
                    <a:ea typeface="华文楷体" panose="02010600040101010101" pitchFamily="2" charset="-122"/>
                  </a:rPr>
                  <a:t>d[w</a:t>
                </a:r>
                <a:r>
                  <a:rPr lang="en-US" altLang="zh-CN" sz="1800" dirty="0">
                    <a:ea typeface="华文楷体" panose="02010600040101010101" pitchFamily="2" charset="-122"/>
                  </a:rPr>
                  <a:t>]+</a:t>
                </a:r>
                <a:r>
                  <a:rPr lang="en-US" altLang="zh-CN" sz="1800" dirty="0" smtClean="0">
                    <a:ea typeface="华文楷体" panose="02010600040101010101" pitchFamily="2" charset="-122"/>
                  </a:rPr>
                  <a:t>1=d[v]=d[v</a:t>
                </a:r>
                <a:r>
                  <a:rPr lang="en-US" altLang="zh-CN" sz="1800" baseline="-25000" dirty="0" smtClean="0">
                    <a:ea typeface="华文楷体" panose="02010600040101010101" pitchFamily="2" charset="-122"/>
                  </a:rPr>
                  <a:t>r+1</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a:t>
                </a:r>
                <a:r>
                  <a:rPr lang="zh-CN" altLang="en-US" sz="1800" dirty="0">
                    <a:ea typeface="华文楷体" panose="02010600040101010101" pitchFamily="2" charset="-122"/>
                  </a:rPr>
                  <a:t>且余下不等式不受影响，</a:t>
                </a:r>
                <a:r>
                  <a:rPr lang="zh-CN" altLang="en-US" sz="1800" dirty="0" smtClean="0">
                    <a:ea typeface="华文楷体" panose="02010600040101010101" pitchFamily="2" charset="-122"/>
                  </a:rPr>
                  <a:t>因此入队</a:t>
                </a:r>
                <a:r>
                  <a:rPr lang="zh-CN" altLang="en-US" sz="1800" dirty="0">
                    <a:ea typeface="华文楷体" panose="02010600040101010101" pitchFamily="2" charset="-122"/>
                  </a:rPr>
                  <a:t>操作后引理</a:t>
                </a:r>
                <a:r>
                  <a:rPr lang="en-US" altLang="zh-CN" sz="1800" dirty="0">
                    <a:ea typeface="华文楷体" panose="02010600040101010101" pitchFamily="2" charset="-122"/>
                  </a:rPr>
                  <a:t>3</a:t>
                </a:r>
                <a:r>
                  <a:rPr lang="zh-CN" altLang="en-US" sz="1800" dirty="0">
                    <a:ea typeface="华文楷体" panose="02010600040101010101" pitchFamily="2" charset="-122"/>
                  </a:rPr>
                  <a:t>成立</a:t>
                </a:r>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endParaRPr lang="zh-CN" altLang="en-US" sz="18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183119"/>
                <a:ext cx="8458200" cy="4074681"/>
              </a:xfrm>
              <a:blipFill rotWithShape="1">
                <a:blip r:embed="rId1"/>
                <a:stretch>
                  <a:fillRect l="-60" t="-127" r="-53" b="-8805"/>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457200" y="5397797"/>
                <a:ext cx="8458200" cy="923330"/>
              </a:xfrm>
              <a:prstGeom prst="rect">
                <a:avLst/>
              </a:prstGeom>
              <a:noFill/>
              <a:ln>
                <a:solidFill>
                  <a:schemeClr val="accent1"/>
                </a:solidFill>
              </a:ln>
            </p:spPr>
            <p:txBody>
              <a:bodyPr wrap="square" rtlCol="0">
                <a:spAutoFit/>
              </a:bodyPr>
              <a:lstStyle/>
              <a:p>
                <a:pPr marL="0" indent="0">
                  <a:buNone/>
                </a:pPr>
                <a:r>
                  <a:rPr lang="zh-CN" altLang="en-US" b="1" dirty="0">
                    <a:solidFill>
                      <a:srgbClr val="C00000"/>
                    </a:solidFill>
                    <a:ea typeface="华文楷体" panose="02010600040101010101" pitchFamily="2" charset="-122"/>
                  </a:rPr>
                  <a:t>引理</a:t>
                </a:r>
                <a:r>
                  <a:rPr lang="en-US" altLang="zh-CN" b="1" dirty="0" smtClean="0">
                    <a:solidFill>
                      <a:srgbClr val="C00000"/>
                    </a:solidFill>
                    <a:ea typeface="华文楷体" panose="02010600040101010101" pitchFamily="2" charset="-122"/>
                  </a:rPr>
                  <a:t>4</a:t>
                </a:r>
                <a:r>
                  <a:rPr lang="zh-CN" altLang="en-US" dirty="0">
                    <a:ea typeface="华文楷体" panose="02010600040101010101" pitchFamily="2" charset="-122"/>
                  </a:rPr>
                  <a:t>：假定无权图在执行</a:t>
                </a:r>
                <a:r>
                  <a:rPr lang="en-US" altLang="zh-CN" dirty="0">
                    <a:ea typeface="华文楷体" panose="02010600040101010101" pitchFamily="2" charset="-122"/>
                  </a:rPr>
                  <a:t>BFS</a:t>
                </a:r>
                <a:r>
                  <a:rPr lang="zh-CN" altLang="en-US" dirty="0">
                    <a:ea typeface="华文楷体" panose="02010600040101010101" pitchFamily="2" charset="-122"/>
                  </a:rPr>
                  <a:t>时，顶点</a:t>
                </a:r>
                <a:r>
                  <a:rPr lang="en-US" altLang="zh-CN" dirty="0">
                    <a:ea typeface="华文楷体" panose="02010600040101010101" pitchFamily="2" charset="-122"/>
                  </a:rPr>
                  <a:t>v</a:t>
                </a:r>
                <a:r>
                  <a:rPr lang="en-US" altLang="zh-CN" baseline="-25000" dirty="0">
                    <a:ea typeface="华文楷体" panose="02010600040101010101" pitchFamily="2" charset="-122"/>
                  </a:rPr>
                  <a:t>i</a:t>
                </a:r>
                <a:r>
                  <a:rPr lang="zh-CN" altLang="en-US" dirty="0">
                    <a:ea typeface="华文楷体" panose="02010600040101010101" pitchFamily="2" charset="-122"/>
                  </a:rPr>
                  <a:t>和</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zh-CN" altLang="en-US" dirty="0">
                    <a:ea typeface="华文楷体" panose="02010600040101010101" pitchFamily="2" charset="-122"/>
                  </a:rPr>
                  <a:t>都加入到队列</a:t>
                </a:r>
                <a:r>
                  <a:rPr lang="en-US" altLang="zh-CN" dirty="0">
                    <a:ea typeface="华文楷体" panose="02010600040101010101" pitchFamily="2" charset="-122"/>
                  </a:rPr>
                  <a:t>Qu</a:t>
                </a:r>
                <a:r>
                  <a:rPr lang="zh-CN" altLang="en-US" dirty="0">
                    <a:ea typeface="华文楷体" panose="02010600040101010101" pitchFamily="2" charset="-122"/>
                  </a:rPr>
                  <a:t>中，且</a:t>
                </a:r>
                <a:r>
                  <a:rPr lang="en-US" altLang="zh-CN" dirty="0">
                    <a:ea typeface="华文楷体" panose="02010600040101010101" pitchFamily="2" charset="-122"/>
                  </a:rPr>
                  <a:t>v</a:t>
                </a:r>
                <a:r>
                  <a:rPr lang="en-US" altLang="zh-CN" baseline="-25000" dirty="0">
                    <a:ea typeface="华文楷体" panose="02010600040101010101" pitchFamily="2" charset="-122"/>
                  </a:rPr>
                  <a:t>i</a:t>
                </a:r>
                <a:r>
                  <a:rPr lang="zh-CN" altLang="en-US" dirty="0">
                    <a:ea typeface="华文楷体" panose="02010600040101010101" pitchFamily="2" charset="-122"/>
                  </a:rPr>
                  <a:t>先入队，则在</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zh-CN" altLang="en-US" dirty="0">
                    <a:ea typeface="华文楷体" panose="02010600040101010101" pitchFamily="2" charset="-122"/>
                  </a:rPr>
                  <a:t>入队时，有</a:t>
                </a:r>
                <a:r>
                  <a:rPr lang="en-US" altLang="zh-CN" dirty="0">
                    <a:ea typeface="华文楷体" panose="02010600040101010101" pitchFamily="2" charset="-122"/>
                  </a:rPr>
                  <a:t>d[v</a:t>
                </a:r>
                <a:r>
                  <a:rPr lang="en-US" altLang="zh-CN" baseline="-25000" dirty="0">
                    <a:ea typeface="华文楷体" panose="02010600040101010101" pitchFamily="2" charset="-122"/>
                  </a:rPr>
                  <a:t>i</a:t>
                </a:r>
                <a:r>
                  <a:rPr lang="en-US" altLang="zh-CN" dirty="0">
                    <a:ea typeface="华文楷体" panose="02010600040101010101" pitchFamily="2" charset="-122"/>
                  </a:rPr>
                  <a:t>]</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ea typeface="华文楷体" panose="02010600040101010101" pitchFamily="2" charset="-122"/>
                  </a:rPr>
                  <a:t>d[</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en-US" altLang="zh-CN" dirty="0" smtClean="0">
                    <a:ea typeface="华文楷体" panose="02010600040101010101" pitchFamily="2" charset="-122"/>
                  </a:rPr>
                  <a:t>]</a:t>
                </a:r>
                <a:r>
                  <a:rPr lang="zh-CN" altLang="en-US" dirty="0" smtClean="0">
                    <a:ea typeface="华文楷体" panose="02010600040101010101" pitchFamily="2" charset="-122"/>
                  </a:rPr>
                  <a:t>；即</a:t>
                </a:r>
                <a:r>
                  <a:rPr lang="zh-CN" altLang="en-US" dirty="0" smtClean="0">
                    <a:solidFill>
                      <a:srgbClr val="FF0000"/>
                    </a:solidFill>
                    <a:ea typeface="华文楷体" panose="02010600040101010101" pitchFamily="2" charset="-122"/>
                  </a:rPr>
                  <a:t>先入队列者通过</a:t>
                </a:r>
                <a:r>
                  <a:rPr lang="en-US" altLang="zh-CN" dirty="0" smtClean="0">
                    <a:solidFill>
                      <a:srgbClr val="FF0000"/>
                    </a:solidFill>
                    <a:ea typeface="华文楷体" panose="02010600040101010101" pitchFamily="2" charset="-122"/>
                  </a:rPr>
                  <a:t>BFS</a:t>
                </a:r>
                <a:r>
                  <a:rPr lang="zh-CN" altLang="en-US" dirty="0" smtClean="0">
                    <a:solidFill>
                      <a:srgbClr val="FF0000"/>
                    </a:solidFill>
                    <a:ea typeface="华文楷体" panose="02010600040101010101" pitchFamily="2" charset="-122"/>
                  </a:rPr>
                  <a:t>计算的路径较短</a:t>
                </a:r>
                <a:r>
                  <a:rPr lang="en-US" altLang="zh-CN" dirty="0" smtClean="0">
                    <a:ea typeface="华文楷体" panose="02010600040101010101" pitchFamily="2" charset="-122"/>
                  </a:rPr>
                  <a:t> </a:t>
                </a:r>
                <a:r>
                  <a:rPr lang="zh-CN" altLang="en-US" dirty="0" smtClean="0">
                    <a:solidFill>
                      <a:srgbClr val="FF0000"/>
                    </a:solidFill>
                    <a:ea typeface="华文楷体" panose="02010600040101010101" pitchFamily="2" charset="-122"/>
                  </a:rPr>
                  <a:t>。</a:t>
                </a:r>
                <a:endParaRPr lang="en-US" altLang="zh-CN" dirty="0">
                  <a:solidFill>
                    <a:srgbClr val="FF0000"/>
                  </a:solidFill>
                  <a:ea typeface="华文楷体" panose="02010600040101010101" pitchFamily="2" charset="-122"/>
                </a:endParaRPr>
              </a:p>
              <a:p>
                <a:pPr marL="0" indent="0">
                  <a:buNone/>
                </a:pPr>
                <a:r>
                  <a:rPr lang="zh-CN" altLang="en-US" dirty="0">
                    <a:solidFill>
                      <a:srgbClr val="C00000"/>
                    </a:solidFill>
                    <a:ea typeface="华文楷体" panose="02010600040101010101" pitchFamily="2" charset="-122"/>
                  </a:rPr>
                  <a:t>证明</a:t>
                </a:r>
                <a:r>
                  <a:rPr lang="zh-CN" altLang="en-US" dirty="0">
                    <a:ea typeface="华文楷体" panose="02010600040101010101" pitchFamily="2" charset="-122"/>
                  </a:rPr>
                  <a:t>：由引理</a:t>
                </a:r>
                <a:r>
                  <a:rPr lang="en-US" altLang="zh-CN" dirty="0">
                    <a:ea typeface="华文楷体" panose="02010600040101010101" pitchFamily="2" charset="-122"/>
                  </a:rPr>
                  <a:t>3</a:t>
                </a:r>
                <a:r>
                  <a:rPr lang="zh-CN" altLang="en-US" dirty="0">
                    <a:ea typeface="华文楷体" panose="02010600040101010101" pitchFamily="2" charset="-122"/>
                  </a:rPr>
                  <a:t>，以及</a:t>
                </a:r>
                <a:r>
                  <a:rPr lang="en-US" altLang="zh-CN" dirty="0">
                    <a:ea typeface="华文楷体" panose="02010600040101010101" pitchFamily="2" charset="-122"/>
                  </a:rPr>
                  <a:t>BFS</a:t>
                </a:r>
                <a:r>
                  <a:rPr lang="zh-CN" altLang="en-US" dirty="0">
                    <a:ea typeface="华文楷体" panose="02010600040101010101" pitchFamily="2" charset="-122"/>
                  </a:rPr>
                  <a:t>过程中最多只更新任意结点</a:t>
                </a:r>
                <a:r>
                  <a:rPr lang="en-US" altLang="zh-CN" dirty="0">
                    <a:ea typeface="华文楷体" panose="02010600040101010101" pitchFamily="2" charset="-122"/>
                  </a:rPr>
                  <a:t>d</a:t>
                </a:r>
                <a:r>
                  <a:rPr lang="zh-CN" altLang="en-US" dirty="0">
                    <a:ea typeface="华文楷体" panose="02010600040101010101" pitchFamily="2" charset="-122"/>
                  </a:rPr>
                  <a:t>值</a:t>
                </a:r>
                <a:r>
                  <a:rPr lang="en-US" altLang="zh-CN" dirty="0">
                    <a:ea typeface="华文楷体" panose="02010600040101010101" pitchFamily="2" charset="-122"/>
                  </a:rPr>
                  <a:t>1</a:t>
                </a:r>
                <a:r>
                  <a:rPr lang="zh-CN" altLang="en-US" dirty="0">
                    <a:ea typeface="华文楷体" panose="02010600040101010101" pitchFamily="2" charset="-122"/>
                  </a:rPr>
                  <a:t>次，因此结论成立。</a:t>
                </a:r>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457200" y="5397797"/>
                <a:ext cx="8458200" cy="923330"/>
              </a:xfrm>
              <a:prstGeom prst="rect">
                <a:avLst/>
              </a:prstGeom>
              <a:blipFill rotWithShape="1">
                <a:blip r:embed="rId2"/>
                <a:stretch>
                  <a:fillRect l="-60" t="-582" r="-53" b="-514"/>
                </a:stretch>
              </a:blipFill>
              <a:ln>
                <a:solidFill>
                  <a:schemeClr val="accent1"/>
                </a:solidFill>
              </a:ln>
            </p:spPr>
            <p:txBody>
              <a:bodyPr/>
              <a:lstStyle/>
              <a:p>
                <a:r>
                  <a:rPr lang="zh-CN" altLang="en-US">
                    <a:noFill/>
                  </a:rPr>
                  <a:t> </a:t>
                </a:r>
              </a:p>
            </p:txBody>
          </p:sp>
        </mc:Fallback>
      </mc:AlternateContent>
      <p:cxnSp>
        <p:nvCxnSpPr>
          <p:cNvPr id="8" name="直接连接符 7"/>
          <p:cNvCxnSpPr/>
          <p:nvPr/>
        </p:nvCxnSpPr>
        <p:spPr>
          <a:xfrm>
            <a:off x="457200" y="2057400"/>
            <a:ext cx="84582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直接连接符 10"/>
          <p:cNvCxnSpPr/>
          <p:nvPr/>
        </p:nvCxnSpPr>
        <p:spPr>
          <a:xfrm>
            <a:off x="457200" y="6019800"/>
            <a:ext cx="84582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28600" y="1152525"/>
                <a:ext cx="8686800" cy="2200275"/>
              </a:xfrm>
              <a:ln>
                <a:solidFill>
                  <a:schemeClr val="accent1"/>
                </a:solidFill>
              </a:ln>
            </p:spPr>
            <p:txBody>
              <a:bodyPr/>
              <a:lstStyle/>
              <a:p>
                <a:pPr marL="0" indent="0">
                  <a:buNone/>
                </a:pPr>
                <a:r>
                  <a:rPr lang="zh-CN" altLang="en-US" sz="1800" b="1" dirty="0" smtClean="0">
                    <a:solidFill>
                      <a:srgbClr val="C00000"/>
                    </a:solidFill>
                    <a:ea typeface="华文楷体" panose="02010600040101010101" pitchFamily="2" charset="-122"/>
                  </a:rPr>
                  <a:t>定理</a:t>
                </a:r>
                <a:r>
                  <a:rPr lang="en-US" altLang="zh-CN" sz="1800" b="1" dirty="0">
                    <a:solidFill>
                      <a:srgbClr val="C00000"/>
                    </a:solidFill>
                    <a:ea typeface="华文楷体" panose="02010600040101010101" pitchFamily="2" charset="-122"/>
                  </a:rPr>
                  <a:t>5</a:t>
                </a:r>
                <a:r>
                  <a:rPr lang="zh-CN" altLang="en-US" sz="1800" b="1" dirty="0">
                    <a:solidFill>
                      <a:srgbClr val="C00000"/>
                    </a:solidFill>
                    <a:ea typeface="华文楷体" panose="02010600040101010101" pitchFamily="2" charset="-122"/>
                  </a:rPr>
                  <a:t>（广度优先遍历的正确性）</a:t>
                </a:r>
                <a:r>
                  <a:rPr lang="en-US" altLang="zh-CN" sz="1800" b="1" dirty="0">
                    <a:solidFill>
                      <a:srgbClr val="C00000"/>
                    </a:solidFill>
                    <a:ea typeface="华文楷体" panose="02010600040101010101" pitchFamily="2" charset="-122"/>
                  </a:rPr>
                  <a:t> </a:t>
                </a:r>
                <a:r>
                  <a:rPr lang="zh-CN" altLang="en-US" sz="1800" dirty="0" smtClean="0">
                    <a:ea typeface="华文楷体" panose="02010600040101010101" pitchFamily="2" charset="-122"/>
                  </a:rPr>
                  <a:t>：</a:t>
                </a:r>
                <a:r>
                  <a:rPr lang="zh-CN" altLang="en-US" sz="1800" dirty="0">
                    <a:ea typeface="华文楷体" panose="02010600040101010101" pitchFamily="2" charset="-122"/>
                  </a:rPr>
                  <a:t>对于给定</a:t>
                </a:r>
                <a:r>
                  <a:rPr lang="zh-CN" altLang="en-US" sz="1800" dirty="0" smtClean="0">
                    <a:ea typeface="华文楷体" panose="02010600040101010101" pitchFamily="2" charset="-122"/>
                  </a:rPr>
                  <a:t>的无权有向图</a:t>
                </a:r>
                <a:r>
                  <a:rPr lang="zh-CN" altLang="en-US" sz="1800" dirty="0">
                    <a:ea typeface="华文楷体" panose="02010600040101010101" pitchFamily="2" charset="-122"/>
                  </a:rPr>
                  <a:t>或无向图</a:t>
                </a:r>
                <a:r>
                  <a:rPr lang="en-US" altLang="zh-CN" sz="1800" dirty="0">
                    <a:ea typeface="华文楷体" panose="02010600040101010101" pitchFamily="2" charset="-122"/>
                  </a:rPr>
                  <a:t>G=(V,E</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a:t>
                </a:r>
                <a:r>
                  <a:rPr lang="zh-CN" altLang="en-US" sz="1800" dirty="0">
                    <a:ea typeface="华文楷体" panose="02010600040101010101" pitchFamily="2" charset="-122"/>
                  </a:rPr>
                  <a:t>假定</a:t>
                </a:r>
                <a:r>
                  <a:rPr lang="en-US" altLang="zh-CN" sz="1800" dirty="0">
                    <a:ea typeface="华文楷体" panose="02010600040101010101" pitchFamily="2" charset="-122"/>
                  </a:rPr>
                  <a:t>BFS</a:t>
                </a:r>
                <a:r>
                  <a:rPr lang="zh-CN" altLang="en-US" sz="1800" dirty="0">
                    <a:ea typeface="华文楷体" panose="02010600040101010101" pitchFamily="2" charset="-122"/>
                  </a:rPr>
                  <a:t>以给定源顶点</a:t>
                </a:r>
                <a14:m>
                  <m:oMath xmlns:m="http://schemas.openxmlformats.org/officeDocument/2006/math">
                    <m:r>
                      <m:rPr>
                        <m:sty m:val="p"/>
                      </m:rPr>
                      <a:rPr lang="en-US" altLang="zh-CN" sz="1800">
                        <a:latin typeface="Cambria Math" panose="02040503050406030204" pitchFamily="18" charset="0"/>
                        <a:ea typeface="华文楷体" panose="02010600040101010101" pitchFamily="2" charset="-122"/>
                      </a:rPr>
                      <m:t>s</m:t>
                    </m:r>
                    <m:r>
                      <a:rPr lang="en-US" altLang="zh-CN" sz="1800">
                        <a:latin typeface="Cambria Math" panose="02040503050406030204" pitchFamily="18" charset="0"/>
                        <a:ea typeface="华文楷体" panose="02010600040101010101" pitchFamily="2" charset="-122"/>
                      </a:rPr>
                      <m:t>∈</m:t>
                    </m:r>
                    <m:r>
                      <a:rPr lang="en-US" altLang="zh-CN" sz="1800">
                        <a:latin typeface="Cambria Math" panose="02040503050406030204" pitchFamily="18" charset="0"/>
                        <a:ea typeface="华文楷体" panose="02010600040101010101" pitchFamily="2" charset="-122"/>
                      </a:rPr>
                      <m:t>𝑉</m:t>
                    </m:r>
                  </m:oMath>
                </a14:m>
                <a:r>
                  <a:rPr lang="zh-CN" altLang="en-US" sz="1800" dirty="0">
                    <a:ea typeface="华文楷体" panose="02010600040101010101" pitchFamily="2" charset="-122"/>
                  </a:rPr>
                  <a:t>作为出发</a:t>
                </a:r>
                <a:r>
                  <a:rPr lang="zh-CN" altLang="en-US" sz="1800" dirty="0" smtClean="0">
                    <a:ea typeface="华文楷体" panose="02010600040101010101" pitchFamily="2" charset="-122"/>
                  </a:rPr>
                  <a:t>顶点，有如下结论成立：</a:t>
                </a:r>
                <a:endParaRPr lang="en-US" altLang="zh-CN" sz="1800" dirty="0" smtClean="0">
                  <a:ea typeface="华文楷体" panose="02010600040101010101" pitchFamily="2" charset="-122"/>
                </a:endParaRPr>
              </a:p>
              <a:p>
                <a:pPr marL="0" indent="0">
                  <a:buNone/>
                </a:pPr>
                <a:r>
                  <a:rPr lang="en-US" altLang="zh-CN" sz="1800" dirty="0" smtClean="0">
                    <a:latin typeface="宋体" panose="02010600030101010101" pitchFamily="2" charset="-122"/>
                    <a:ea typeface="宋体" panose="02010600030101010101" pitchFamily="2" charset="-122"/>
                  </a:rPr>
                  <a:t>①</a:t>
                </a:r>
                <a:r>
                  <a:rPr lang="en-US" altLang="zh-CN" sz="1800" dirty="0" smtClean="0">
                    <a:ea typeface="华文楷体" panose="02010600040101010101" pitchFamily="2" charset="-122"/>
                  </a:rPr>
                  <a:t>BFS</a:t>
                </a:r>
                <a:r>
                  <a:rPr lang="zh-CN" altLang="en-US" sz="1800" dirty="0" smtClean="0">
                    <a:ea typeface="华文楷体" panose="02010600040101010101" pitchFamily="2" charset="-122"/>
                  </a:rPr>
                  <a:t>能发现从源顶点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可达的所有顶点</a:t>
                </a:r>
                <a14:m>
                  <m:oMath xmlns:m="http://schemas.openxmlformats.org/officeDocument/2006/math">
                    <m:r>
                      <m:rPr>
                        <m:sty m:val="p"/>
                      </m:rPr>
                      <a:rPr lang="en-US" altLang="zh-CN" sz="1800" i="1" dirty="0">
                        <a:latin typeface="Cambria Math" panose="02040503050406030204" pitchFamily="18" charset="0"/>
                        <a:ea typeface="华文楷体" panose="02010600040101010101" pitchFamily="2" charset="-122"/>
                      </a:rPr>
                      <m:t>v</m:t>
                    </m:r>
                    <m:r>
                      <a:rPr lang="en-US" altLang="zh-CN" sz="1800">
                        <a:latin typeface="Cambria Math" panose="02040503050406030204" pitchFamily="18" charset="0"/>
                        <a:ea typeface="华文楷体" panose="02010600040101010101" pitchFamily="2" charset="-122"/>
                      </a:rPr>
                      <m:t>∈</m:t>
                    </m:r>
                    <m:r>
                      <a:rPr lang="en-US" altLang="zh-CN" sz="1800">
                        <a:latin typeface="Cambria Math" panose="02040503050406030204" pitchFamily="18" charset="0"/>
                        <a:ea typeface="华文楷体" panose="02010600040101010101" pitchFamily="2" charset="-122"/>
                      </a:rPr>
                      <m:t>𝑉</m:t>
                    </m:r>
                  </m:oMath>
                </a14:m>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zh-CN" altLang="en-US" sz="1800" b="1" dirty="0" smtClean="0">
                    <a:solidFill>
                      <a:srgbClr val="FF0000"/>
                    </a:solidFill>
                    <a:latin typeface="宋体" panose="02010600030101010101" pitchFamily="2" charset="-122"/>
                    <a:ea typeface="宋体" panose="02010600030101010101" pitchFamily="2" charset="-122"/>
                  </a:rPr>
                  <a:t>②</a:t>
                </a:r>
                <a:r>
                  <a:rPr lang="zh-CN" altLang="en-US" sz="1800" b="1" dirty="0" smtClean="0">
                    <a:solidFill>
                      <a:srgbClr val="FF0000"/>
                    </a:solidFill>
                    <a:ea typeface="华文楷体" panose="02010600040101010101" pitchFamily="2" charset="-122"/>
                  </a:rPr>
                  <a:t>在算法中止时，对于所有</a:t>
                </a:r>
                <a:r>
                  <a:rPr lang="en-US" altLang="zh-CN" sz="1800" b="1" dirty="0" smtClean="0">
                    <a:solidFill>
                      <a:srgbClr val="FF0000"/>
                    </a:solidFill>
                    <a:ea typeface="华文楷体" panose="02010600040101010101" pitchFamily="2" charset="-122"/>
                  </a:rPr>
                  <a:t>s</a:t>
                </a:r>
                <a:r>
                  <a:rPr lang="zh-CN" altLang="en-US" sz="1800" b="1" dirty="0" smtClean="0">
                    <a:solidFill>
                      <a:srgbClr val="FF0000"/>
                    </a:solidFill>
                    <a:ea typeface="华文楷体" panose="02010600040101010101" pitchFamily="2" charset="-122"/>
                  </a:rPr>
                  <a:t>可达或不可达的顶点</a:t>
                </a:r>
                <a14:m>
                  <m:oMath xmlns:m="http://schemas.openxmlformats.org/officeDocument/2006/math">
                    <m:r>
                      <a:rPr lang="en-US" altLang="zh-CN" sz="1800" b="1" i="1" dirty="0">
                        <a:solidFill>
                          <a:srgbClr val="FF0000"/>
                        </a:solidFill>
                        <a:latin typeface="Cambria Math" panose="02040503050406030204" pitchFamily="18" charset="0"/>
                        <a:ea typeface="华文楷体" panose="02010600040101010101" pitchFamily="2" charset="-122"/>
                      </a:rPr>
                      <m:t>𝒗</m:t>
                    </m:r>
                    <m:r>
                      <a:rPr lang="en-US" altLang="zh-CN" sz="1800" b="1">
                        <a:solidFill>
                          <a:srgbClr val="FF0000"/>
                        </a:solidFill>
                        <a:latin typeface="Cambria Math" panose="02040503050406030204" pitchFamily="18" charset="0"/>
                        <a:ea typeface="华文楷体" panose="02010600040101010101" pitchFamily="2" charset="-122"/>
                      </a:rPr>
                      <m:t>∈</m:t>
                    </m:r>
                    <m:r>
                      <a:rPr lang="en-US" altLang="zh-CN" sz="1800" b="1">
                        <a:solidFill>
                          <a:srgbClr val="FF0000"/>
                        </a:solidFill>
                        <a:latin typeface="Cambria Math" panose="02040503050406030204" pitchFamily="18" charset="0"/>
                        <a:ea typeface="华文楷体" panose="02010600040101010101" pitchFamily="2" charset="-122"/>
                      </a:rPr>
                      <m:t>𝐕</m:t>
                    </m:r>
                  </m:oMath>
                </a14:m>
                <a:r>
                  <a:rPr lang="zh-CN" altLang="en-US" sz="1800" b="1" dirty="0" smtClean="0">
                    <a:solidFill>
                      <a:srgbClr val="FF0000"/>
                    </a:solidFill>
                    <a:ea typeface="华文楷体" panose="02010600040101010101" pitchFamily="2" charset="-122"/>
                  </a:rPr>
                  <a:t>，有</a:t>
                </a:r>
                <a:r>
                  <a:rPr lang="en-US" altLang="zh-CN" sz="1800" b="1" dirty="0" smtClean="0">
                    <a:solidFill>
                      <a:srgbClr val="FF0000"/>
                    </a:solidFill>
                    <a:ea typeface="华文楷体" panose="02010600040101010101" pitchFamily="2" charset="-122"/>
                  </a:rPr>
                  <a:t>d[v</a:t>
                </a:r>
                <a:r>
                  <a:rPr lang="en-US" altLang="zh-CN" sz="1800" b="1" dirty="0">
                    <a:solidFill>
                      <a:srgbClr val="FF0000"/>
                    </a:solidFill>
                    <a:ea typeface="华文楷体" panose="02010600040101010101" pitchFamily="2" charset="-122"/>
                  </a:rPr>
                  <a:t>]</a:t>
                </a:r>
                <a14:m>
                  <m:oMath xmlns:m="http://schemas.openxmlformats.org/officeDocument/2006/math">
                    <m:r>
                      <a:rPr lang="en-US" altLang="zh-CN" sz="1800" b="1" i="1" dirty="0" smtClean="0">
                        <a:solidFill>
                          <a:srgbClr val="FF0000"/>
                        </a:solidFill>
                        <a:latin typeface="Cambria Math" panose="02040503050406030204" pitchFamily="18" charset="0"/>
                        <a:ea typeface="华文楷体" panose="02010600040101010101" pitchFamily="2" charset="-122"/>
                      </a:rPr>
                      <m:t>=</m:t>
                    </m:r>
                    <m:r>
                      <a:rPr lang="zh-CN" altLang="en-US" sz="1800" b="1" dirty="0">
                        <a:solidFill>
                          <a:srgbClr val="FF0000"/>
                        </a:solidFill>
                        <a:latin typeface="Cambria Math" panose="02040503050406030204" pitchFamily="18" charset="0"/>
                        <a:ea typeface="华文楷体" panose="02010600040101010101" pitchFamily="2" charset="-122"/>
                      </a:rPr>
                      <m:t>𝛅</m:t>
                    </m:r>
                    <m:d>
                      <m:dPr>
                        <m:ctrlPr>
                          <a:rPr lang="en-US" altLang="zh-CN" sz="1800" b="1" i="1" dirty="0">
                            <a:solidFill>
                              <a:srgbClr val="FF0000"/>
                            </a:solidFill>
                            <a:latin typeface="Cambria Math" panose="02040503050406030204" pitchFamily="18" charset="0"/>
                            <a:ea typeface="华文楷体" panose="02010600040101010101" pitchFamily="2" charset="-122"/>
                          </a:rPr>
                        </m:ctrlPr>
                      </m:dPr>
                      <m:e>
                        <m:r>
                          <a:rPr lang="en-US" altLang="zh-CN" sz="1800" b="1" dirty="0">
                            <a:solidFill>
                              <a:srgbClr val="FF0000"/>
                            </a:solidFill>
                            <a:latin typeface="Cambria Math" panose="02040503050406030204" pitchFamily="18" charset="0"/>
                            <a:ea typeface="华文楷体" panose="02010600040101010101" pitchFamily="2" charset="-122"/>
                          </a:rPr>
                          <m:t>𝐬</m:t>
                        </m:r>
                        <m:r>
                          <a:rPr lang="en-US" altLang="zh-CN" sz="1800" b="1" dirty="0">
                            <a:solidFill>
                              <a:srgbClr val="FF0000"/>
                            </a:solidFill>
                            <a:latin typeface="Cambria Math" panose="02040503050406030204" pitchFamily="18" charset="0"/>
                            <a:ea typeface="华文楷体" panose="02010600040101010101" pitchFamily="2" charset="-122"/>
                          </a:rPr>
                          <m:t>,</m:t>
                        </m:r>
                        <m:r>
                          <a:rPr lang="en-US" altLang="zh-CN" sz="1800" b="1" dirty="0">
                            <a:solidFill>
                              <a:srgbClr val="FF0000"/>
                            </a:solidFill>
                            <a:latin typeface="Cambria Math" panose="02040503050406030204" pitchFamily="18" charset="0"/>
                            <a:ea typeface="华文楷体" panose="02010600040101010101" pitchFamily="2" charset="-122"/>
                          </a:rPr>
                          <m:t>𝐯</m:t>
                        </m:r>
                      </m:e>
                    </m:d>
                  </m:oMath>
                </a14:m>
                <a:r>
                  <a:rPr lang="zh-CN" altLang="en-US" sz="1800" b="1" dirty="0" smtClean="0">
                    <a:solidFill>
                      <a:srgbClr val="FF0000"/>
                    </a:solidFill>
                    <a:ea typeface="华文楷体" panose="02010600040101010101" pitchFamily="2" charset="-122"/>
                  </a:rPr>
                  <a:t>，即：通过</a:t>
                </a:r>
                <a:r>
                  <a:rPr lang="en-US" altLang="zh-CN" sz="1800" b="1" dirty="0" smtClean="0">
                    <a:solidFill>
                      <a:srgbClr val="FF0000"/>
                    </a:solidFill>
                    <a:ea typeface="华文楷体" panose="02010600040101010101" pitchFamily="2" charset="-122"/>
                  </a:rPr>
                  <a:t>BFS</a:t>
                </a:r>
                <a:r>
                  <a:rPr lang="zh-CN" altLang="en-US" sz="1800" b="1" dirty="0" smtClean="0">
                    <a:solidFill>
                      <a:srgbClr val="FF0000"/>
                    </a:solidFill>
                    <a:ea typeface="华文楷体" panose="02010600040101010101" pitchFamily="2" charset="-122"/>
                  </a:rPr>
                  <a:t>计算的</a:t>
                </a:r>
                <a:r>
                  <a:rPr lang="en-US" altLang="zh-CN" sz="1800" b="1" dirty="0">
                    <a:solidFill>
                      <a:srgbClr val="FF0000"/>
                    </a:solidFill>
                    <a:ea typeface="华文楷体" panose="02010600040101010101" pitchFamily="2" charset="-122"/>
                  </a:rPr>
                  <a:t>d[v</a:t>
                </a:r>
                <a:r>
                  <a:rPr lang="en-US" altLang="zh-CN" sz="1800" b="1" dirty="0" smtClean="0">
                    <a:solidFill>
                      <a:srgbClr val="FF0000"/>
                    </a:solidFill>
                    <a:ea typeface="华文楷体" panose="02010600040101010101" pitchFamily="2" charset="-122"/>
                  </a:rPr>
                  <a:t>]</a:t>
                </a:r>
                <a:r>
                  <a:rPr lang="zh-CN" altLang="en-US" sz="1800" b="1" dirty="0" smtClean="0">
                    <a:solidFill>
                      <a:srgbClr val="FF0000"/>
                    </a:solidFill>
                    <a:ea typeface="华文楷体" panose="02010600040101010101" pitchFamily="2" charset="-122"/>
                  </a:rPr>
                  <a:t>为最短路径</a:t>
                </a:r>
                <a:r>
                  <a:rPr lang="en-US" altLang="zh-CN" sz="1800" b="1" dirty="0">
                    <a:solidFill>
                      <a:srgbClr val="FF0000"/>
                    </a:solidFill>
                    <a:ea typeface="华文楷体" panose="02010600040101010101" pitchFamily="2" charset="-122"/>
                  </a:rPr>
                  <a:t>;</a:t>
                </a:r>
                <a:endParaRPr lang="en-US" altLang="zh-CN" sz="1800" b="1" dirty="0" smtClean="0">
                  <a:solidFill>
                    <a:srgbClr val="FF0000"/>
                  </a:solidFill>
                  <a:ea typeface="华文楷体" panose="02010600040101010101" pitchFamily="2" charset="-122"/>
                </a:endParaRPr>
              </a:p>
              <a:p>
                <a:pPr marL="0" indent="0">
                  <a:buNone/>
                </a:pPr>
                <a:r>
                  <a:rPr lang="zh-CN" altLang="en-US" sz="1800" dirty="0">
                    <a:latin typeface="宋体" panose="02010600030101010101" pitchFamily="2" charset="-122"/>
                    <a:ea typeface="宋体" panose="02010600030101010101" pitchFamily="2" charset="-122"/>
                  </a:rPr>
                  <a:t>③</a:t>
                </a:r>
                <a:r>
                  <a:rPr lang="zh-CN" altLang="en-US" sz="1800" dirty="0" smtClean="0">
                    <a:ea typeface="华文楷体" panose="02010600040101010101" pitchFamily="2" charset="-122"/>
                  </a:rPr>
                  <a:t>对于任一可达的顶点</a:t>
                </a:r>
                <a:r>
                  <a:rPr lang="en-US" altLang="zh-CN" sz="1800" dirty="0" smtClean="0">
                    <a:ea typeface="华文楷体" panose="02010600040101010101" pitchFamily="2" charset="-122"/>
                  </a:rPr>
                  <a:t>v</a:t>
                </a:r>
                <a:r>
                  <a:rPr lang="en-US" altLang="zh-CN" sz="1800" dirty="0">
                    <a:ea typeface="华文楷体" panose="02010600040101010101" pitchFamily="2" charset="-122"/>
                  </a:rPr>
                  <a:t>(</a:t>
                </a:r>
                <a:r>
                  <a:rPr lang="en-US" altLang="zh-CN" sz="1800" dirty="0" smtClean="0">
                    <a:ea typeface="华文楷体" panose="02010600040101010101" pitchFamily="2" charset="-122"/>
                  </a:rPr>
                  <a:t>v</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r>
                      <m:rPr>
                        <m:sty m:val="p"/>
                      </m:rPr>
                      <a:rPr lang="en-US" altLang="zh-CN" sz="1800" i="1">
                        <a:latin typeface="Cambria Math" panose="02040503050406030204" pitchFamily="18" charset="0"/>
                        <a:ea typeface="Cambria Math" panose="02040503050406030204" pitchFamily="18" charset="0"/>
                      </a:rPr>
                      <m:t>s</m:t>
                    </m:r>
                    <m:r>
                      <a:rPr lang="en-US" altLang="zh-CN" sz="1800" b="0" i="1" smtClean="0">
                        <a:latin typeface="Cambria Math" panose="02040503050406030204" pitchFamily="18" charset="0"/>
                        <a:ea typeface="Cambria Math" panose="02040503050406030204" pitchFamily="18" charset="0"/>
                      </a:rPr>
                      <m:t>)</m:t>
                    </m:r>
                  </m:oMath>
                </a14:m>
                <a:r>
                  <a:rPr lang="zh-CN" altLang="en-US" sz="1800" dirty="0" smtClean="0">
                    <a:ea typeface="华文楷体" panose="02010600040101010101" pitchFamily="2" charset="-122"/>
                  </a:rPr>
                  <a:t>，从</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到</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的最短路</a:t>
                </a:r>
                <a:r>
                  <a:rPr lang="en-US" altLang="zh-CN" sz="1800" dirty="0">
                    <a:ea typeface="华文楷体" panose="02010600040101010101" pitchFamily="2" charset="-122"/>
                  </a:rPr>
                  <a:t>s</a:t>
                </a:r>
                <a:r>
                  <a:rPr lang="zh-CN" altLang="en-US" sz="1800" dirty="0">
                    <a:ea typeface="华文楷体" panose="02010600040101010101" pitchFamily="2" charset="-122"/>
                  </a:rPr>
                  <a:t>到</a:t>
                </a:r>
                <a:r>
                  <a:rPr lang="en-US" altLang="zh-CN" sz="1800" dirty="0">
                    <a:ea typeface="华文楷体" panose="02010600040101010101" pitchFamily="2" charset="-122"/>
                  </a:rPr>
                  <a:t>v</a:t>
                </a:r>
                <a:r>
                  <a:rPr lang="zh-CN" altLang="en-US" sz="1800" dirty="0">
                    <a:ea typeface="华文楷体" panose="02010600040101010101" pitchFamily="2" charset="-122"/>
                  </a:rPr>
                  <a:t>的直接前驱顶点</a:t>
                </a:r>
                <a:r>
                  <a:rPr lang="en-US" altLang="zh-CN" sz="1800" dirty="0">
                    <a:ea typeface="华文楷体" panose="02010600040101010101" pitchFamily="2" charset="-122"/>
                  </a:rPr>
                  <a:t>w</a:t>
                </a:r>
                <a:r>
                  <a:rPr lang="zh-CN" altLang="en-US" sz="1800" dirty="0">
                    <a:ea typeface="华文楷体" panose="02010600040101010101" pitchFamily="2" charset="-122"/>
                  </a:rPr>
                  <a:t>（即由</a:t>
                </a:r>
                <a:r>
                  <a:rPr lang="en-US" altLang="zh-CN" sz="1800" dirty="0">
                    <a:ea typeface="华文楷体" panose="02010600040101010101" pitchFamily="2" charset="-122"/>
                  </a:rPr>
                  <a:t>w</a:t>
                </a:r>
                <a:r>
                  <a:rPr lang="zh-CN" altLang="en-US" sz="1800" dirty="0">
                    <a:ea typeface="华文楷体" panose="02010600040101010101" pitchFamily="2" charset="-122"/>
                  </a:rPr>
                  <a:t>通过查找邻接顶点而</a:t>
                </a:r>
                <a:r>
                  <a:rPr lang="en-US" altLang="zh-CN" sz="1800" dirty="0">
                    <a:ea typeface="华文楷体" panose="02010600040101010101" pitchFamily="2" charset="-122"/>
                  </a:rPr>
                  <a:t>BFS</a:t>
                </a:r>
                <a:r>
                  <a:rPr lang="zh-CN" altLang="en-US" sz="1800" dirty="0">
                    <a:ea typeface="华文楷体" panose="02010600040101010101" pitchFamily="2" charset="-122"/>
                  </a:rPr>
                  <a:t>访问到</a:t>
                </a:r>
                <a:r>
                  <a:rPr lang="en-US" altLang="zh-CN" sz="1800" dirty="0">
                    <a:ea typeface="华文楷体" panose="02010600040101010101" pitchFamily="2" charset="-122"/>
                  </a:rPr>
                  <a:t>v</a:t>
                </a:r>
                <a:r>
                  <a:rPr lang="zh-CN" altLang="en-US" sz="1800" dirty="0">
                    <a:ea typeface="华文楷体" panose="02010600040101010101" pitchFamily="2" charset="-122"/>
                  </a:rPr>
                  <a:t>）的最短路径</a:t>
                </a:r>
                <a:r>
                  <a:rPr lang="en-US" altLang="zh-CN" sz="1800" dirty="0">
                    <a:ea typeface="华文楷体" panose="02010600040101010101" pitchFamily="2" charset="-122"/>
                  </a:rPr>
                  <a:t>+</a:t>
                </a:r>
                <a:r>
                  <a:rPr lang="zh-CN" altLang="en-US" sz="1800" dirty="0">
                    <a:ea typeface="华文楷体" panose="02010600040101010101" pitchFamily="2" charset="-122"/>
                  </a:rPr>
                  <a:t>边</a:t>
                </a:r>
                <a:r>
                  <a:rPr lang="en-US" altLang="zh-CN" sz="1800" dirty="0">
                    <a:ea typeface="华文楷体" panose="02010600040101010101" pitchFamily="2" charset="-122"/>
                  </a:rPr>
                  <a:t>(</a:t>
                </a:r>
                <a:r>
                  <a:rPr lang="en-US" altLang="zh-CN" sz="1800" dirty="0" err="1">
                    <a:ea typeface="华文楷体" panose="02010600040101010101" pitchFamily="2" charset="-122"/>
                  </a:rPr>
                  <a:t>w,v</a:t>
                </a:r>
                <a:r>
                  <a:rPr lang="en-US" altLang="zh-CN" sz="1800" dirty="0">
                    <a:ea typeface="华文楷体" panose="02010600040101010101" pitchFamily="2" charset="-122"/>
                  </a:rPr>
                  <a:t>)</a:t>
                </a:r>
                <a:r>
                  <a:rPr lang="zh-CN" altLang="en-US" sz="1800" dirty="0">
                    <a:ea typeface="华文楷体" panose="02010600040101010101" pitchFamily="2" charset="-122"/>
                  </a:rPr>
                  <a:t>，即</a:t>
                </a:r>
                <a:r>
                  <a:rPr lang="en-US" altLang="zh-CN" sz="1800" dirty="0">
                    <a:ea typeface="华文楷体" panose="02010600040101010101" pitchFamily="2" charset="-122"/>
                  </a:rPr>
                  <a:t>d[v] = d[w] + 1 </a:t>
                </a:r>
                <a:r>
                  <a:rPr lang="zh-CN" altLang="en-US" sz="1800" dirty="0" smtClean="0">
                    <a:ea typeface="华文楷体" panose="02010600040101010101" pitchFamily="2" charset="-122"/>
                  </a:rPr>
                  <a:t>。</a:t>
                </a:r>
                <a:endParaRPr lang="en-US" altLang="zh-CN" sz="18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28600" y="1152525"/>
                <a:ext cx="8686800" cy="2200275"/>
              </a:xfrm>
              <a:blipFill rotWithShape="1">
                <a:blip r:embed="rId1"/>
                <a:stretch>
                  <a:fillRect l="-58" t="-231" r="-51" b="-202"/>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152400" y="3469048"/>
                <a:ext cx="8839200" cy="3139321"/>
              </a:xfrm>
              <a:prstGeom prst="rect">
                <a:avLst/>
              </a:prstGeom>
              <a:noFill/>
              <a:ln>
                <a:solidFill>
                  <a:schemeClr val="accent1"/>
                </a:solidFill>
              </a:ln>
            </p:spPr>
            <p:txBody>
              <a:bodyPr wrap="square" rtlCol="0">
                <a:spAutoFit/>
              </a:bodyPr>
              <a:lstStyle/>
              <a:p>
                <a:pPr marL="0" indent="0">
                  <a:buNone/>
                </a:pPr>
                <a:r>
                  <a:rPr lang="zh-CN" altLang="en-US" dirty="0">
                    <a:solidFill>
                      <a:srgbClr val="C00000"/>
                    </a:solidFill>
                    <a:ea typeface="华文楷体" panose="02010600040101010101" pitchFamily="2" charset="-122"/>
                  </a:rPr>
                  <a:t>证明</a:t>
                </a:r>
                <a:r>
                  <a:rPr lang="zh-CN" altLang="en-US" dirty="0">
                    <a:ea typeface="华文楷体" panose="02010600040101010101" pitchFamily="2" charset="-122"/>
                  </a:rPr>
                  <a:t>：使用反证法。假定某个</a:t>
                </a:r>
                <a:r>
                  <a:rPr lang="en-US" altLang="zh-CN" dirty="0">
                    <a:ea typeface="华文楷体" panose="02010600040101010101" pitchFamily="2" charset="-122"/>
                  </a:rPr>
                  <a:t>v</a:t>
                </a:r>
                <a:r>
                  <a:rPr lang="zh-CN" altLang="en-US" dirty="0">
                    <a:ea typeface="华文楷体" panose="02010600040101010101" pitchFamily="2" charset="-122"/>
                  </a:rPr>
                  <a:t>顶点获得的</a:t>
                </a:r>
                <a:r>
                  <a:rPr lang="en-US" altLang="zh-CN" dirty="0">
                    <a:ea typeface="华文楷体" panose="02010600040101010101" pitchFamily="2" charset="-122"/>
                  </a:rPr>
                  <a:t>d[v]</a:t>
                </a:r>
                <a:r>
                  <a:rPr lang="zh-CN" altLang="en-US" dirty="0">
                    <a:ea typeface="华文楷体" panose="02010600040101010101" pitchFamily="2" charset="-122"/>
                  </a:rPr>
                  <a:t>值并不等于其最短路径的距离，其最短路径为</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，显然</a:t>
                </a:r>
                <a:r>
                  <a:rPr lang="en-US" altLang="zh-CN" dirty="0">
                    <a:ea typeface="华文楷体" panose="02010600040101010101" pitchFamily="2" charset="-122"/>
                  </a:rPr>
                  <a:t>v</a:t>
                </a:r>
                <a14:m>
                  <m:oMath xmlns:m="http://schemas.openxmlformats.org/officeDocument/2006/math">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s</m:t>
                    </m:r>
                  </m:oMath>
                </a14:m>
                <a:r>
                  <a:rPr lang="zh-CN" altLang="en-US" dirty="0">
                    <a:ea typeface="华文楷体" panose="02010600040101010101" pitchFamily="2" charset="-122"/>
                  </a:rPr>
                  <a:t>。根据引理</a:t>
                </a:r>
                <a:r>
                  <a:rPr lang="en-US" altLang="zh-CN" dirty="0">
                    <a:ea typeface="华文楷体" panose="02010600040101010101" pitchFamily="2" charset="-122"/>
                  </a:rPr>
                  <a:t>2</a:t>
                </a:r>
                <a:r>
                  <a:rPr lang="zh-CN" altLang="en-US" dirty="0">
                    <a:ea typeface="华文楷体" panose="02010600040101010101" pitchFamily="2" charset="-122"/>
                  </a:rPr>
                  <a:t>，有</a:t>
                </a:r>
                <a:r>
                  <a:rPr lang="en-US" altLang="zh-CN" dirty="0">
                    <a:ea typeface="华文楷体" panose="02010600040101010101" pitchFamily="2" charset="-122"/>
                  </a:rPr>
                  <a:t>d[v]</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，因此</a:t>
                </a:r>
                <a:r>
                  <a:rPr lang="en-US" altLang="zh-CN" dirty="0">
                    <a:ea typeface="华文楷体" panose="02010600040101010101" pitchFamily="2" charset="-122"/>
                  </a:rPr>
                  <a:t>d[v] </a:t>
                </a:r>
                <a14:m>
                  <m:oMath xmlns:m="http://schemas.openxmlformats.org/officeDocument/2006/math">
                    <m:r>
                      <a:rPr lang="en-US" altLang="zh-CN" i="1">
                        <a:latin typeface="Cambria Math" panose="02040503050406030204" pitchFamily="18" charset="0"/>
                        <a:ea typeface="Cambria Math" panose="02040503050406030204" pitchFamily="18" charset="0"/>
                      </a:rPr>
                      <m:t>&gt;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。另外，结点</a:t>
                </a:r>
                <a:r>
                  <a:rPr lang="en-US" altLang="zh-CN" dirty="0">
                    <a:ea typeface="华文楷体" panose="02010600040101010101" pitchFamily="2" charset="-122"/>
                  </a:rPr>
                  <a:t>v</a:t>
                </a:r>
                <a:r>
                  <a:rPr lang="zh-CN" altLang="en-US" dirty="0">
                    <a:ea typeface="华文楷体" panose="02010600040101010101" pitchFamily="2" charset="-122"/>
                  </a:rPr>
                  <a:t>必是从</a:t>
                </a:r>
                <a:r>
                  <a:rPr lang="en-US" altLang="zh-CN" dirty="0">
                    <a:ea typeface="华文楷体" panose="02010600040101010101" pitchFamily="2" charset="-122"/>
                  </a:rPr>
                  <a:t>s</a:t>
                </a:r>
                <a:r>
                  <a:rPr lang="zh-CN" altLang="en-US" dirty="0">
                    <a:ea typeface="华文楷体" panose="02010600040101010101" pitchFamily="2" charset="-122"/>
                  </a:rPr>
                  <a:t>可达的，否则将有</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en-US" altLang="zh-CN" dirty="0">
                    <a:ea typeface="华文楷体" panose="02010600040101010101" pitchFamily="2" charset="-122"/>
                  </a:rPr>
                  <a:t>=</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ea typeface="华文楷体" panose="02010600040101010101" pitchFamily="2" charset="-122"/>
                  </a:rPr>
                  <a:t> </a:t>
                </a:r>
                <a:r>
                  <a:rPr lang="en-US" altLang="zh-CN" dirty="0" smtClean="0">
                    <a:ea typeface="华文楷体" panose="02010600040101010101" pitchFamily="2" charset="-122"/>
                  </a:rPr>
                  <a:t>d[v</a:t>
                </a:r>
                <a:r>
                  <a:rPr lang="en-US" altLang="zh-CN" dirty="0">
                    <a:ea typeface="华文楷体" panose="02010600040101010101" pitchFamily="2" charset="-122"/>
                  </a:rPr>
                  <a:t>]</a:t>
                </a:r>
                <a:r>
                  <a:rPr lang="zh-CN" altLang="en-US" dirty="0">
                    <a:ea typeface="华文楷体" panose="02010600040101010101" pitchFamily="2" charset="-122"/>
                  </a:rPr>
                  <a:t>。设</a:t>
                </a:r>
                <a:r>
                  <a:rPr lang="en-US" altLang="zh-CN" dirty="0">
                    <a:ea typeface="华文楷体" panose="02010600040101010101" pitchFamily="2" charset="-122"/>
                  </a:rPr>
                  <a:t>w</a:t>
                </a:r>
                <a:r>
                  <a:rPr lang="zh-CN" altLang="en-US" dirty="0">
                    <a:ea typeface="华文楷体" panose="02010600040101010101" pitchFamily="2" charset="-122"/>
                  </a:rPr>
                  <a:t>是</a:t>
                </a:r>
                <a:r>
                  <a:rPr lang="en-US" altLang="zh-CN" dirty="0">
                    <a:ea typeface="华文楷体" panose="02010600040101010101" pitchFamily="2" charset="-122"/>
                  </a:rPr>
                  <a:t>s </a:t>
                </a:r>
                <a:r>
                  <a:rPr lang="zh-CN" altLang="en-US" dirty="0">
                    <a:ea typeface="华文楷体" panose="02010600040101010101" pitchFamily="2" charset="-122"/>
                  </a:rPr>
                  <a:t>到</a:t>
                </a:r>
                <a:r>
                  <a:rPr lang="en-US" altLang="zh-CN" dirty="0">
                    <a:ea typeface="华文楷体" panose="02010600040101010101" pitchFamily="2" charset="-122"/>
                  </a:rPr>
                  <a:t>v</a:t>
                </a:r>
                <a:r>
                  <a:rPr lang="zh-CN" altLang="en-US" dirty="0">
                    <a:ea typeface="华文楷体" panose="02010600040101010101" pitchFamily="2" charset="-122"/>
                  </a:rPr>
                  <a:t>的直接前驱顶点，</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en-US" altLang="zh-CN" dirty="0">
                    <a:ea typeface="华文楷体" panose="02010600040101010101" pitchFamily="2" charset="-122"/>
                  </a:rPr>
                  <a:t>=</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w</m:t>
                        </m:r>
                      </m:e>
                    </m:d>
                  </m:oMath>
                </a14:m>
                <a:r>
                  <a:rPr lang="en-US" altLang="zh-CN" dirty="0">
                    <a:ea typeface="华文楷体" panose="02010600040101010101" pitchFamily="2" charset="-122"/>
                  </a:rPr>
                  <a:t>+1</a:t>
                </a:r>
                <a:r>
                  <a:rPr lang="zh-CN" altLang="en-US" dirty="0">
                    <a:ea typeface="华文楷体" panose="02010600040101010101" pitchFamily="2" charset="-122"/>
                  </a:rPr>
                  <a:t>。因为</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w</m:t>
                        </m:r>
                      </m:e>
                    </m:d>
                  </m:oMath>
                </a14:m>
                <a:r>
                  <a:rPr lang="en-US" altLang="zh-CN" dirty="0">
                    <a:ea typeface="华文楷体" panose="02010600040101010101" pitchFamily="2" charset="-122"/>
                  </a:rPr>
                  <a:t>&lt;</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r>
                      <a:rPr lang="zh-CN" altLang="en-US" i="1" dirty="0">
                        <a:latin typeface="Cambria Math" panose="02040503050406030204" pitchFamily="18" charset="0"/>
                        <a:ea typeface="华文楷体" panose="02010600040101010101" pitchFamily="2" charset="-122"/>
                      </a:rPr>
                      <m:t>，</m:t>
                    </m:r>
                  </m:oMath>
                </a14:m>
                <a:r>
                  <a:rPr lang="zh-CN" altLang="en-US" dirty="0">
                    <a:ea typeface="华文楷体" panose="02010600040101010101" pitchFamily="2" charset="-122"/>
                  </a:rPr>
                  <a:t>且算法对顶点</a:t>
                </a:r>
                <a:r>
                  <a:rPr lang="en-US" altLang="zh-CN" dirty="0">
                    <a:ea typeface="华文楷体" panose="02010600040101010101" pitchFamily="2" charset="-122"/>
                  </a:rPr>
                  <a:t>v</a:t>
                </a:r>
                <a:r>
                  <a:rPr lang="zh-CN" altLang="en-US" dirty="0">
                    <a:ea typeface="华文楷体" panose="02010600040101010101" pitchFamily="2" charset="-122"/>
                  </a:rPr>
                  <a:t>的访问方式，可知</a:t>
                </a:r>
                <a:r>
                  <a:rPr lang="en-US" altLang="zh-CN" dirty="0">
                    <a:ea typeface="华文楷体" panose="02010600040101010101" pitchFamily="2" charset="-122"/>
                  </a:rPr>
                  <a:t>d[w]</a:t>
                </a:r>
                <a14:m>
                  <m:oMath xmlns:m="http://schemas.openxmlformats.org/officeDocument/2006/math">
                    <m:r>
                      <a:rPr lang="en-US" altLang="zh-CN" i="1" dirty="0">
                        <a:latin typeface="Cambria Math" panose="02040503050406030204" pitchFamily="18" charset="0"/>
                        <a:ea typeface="华文楷体" panose="02010600040101010101" pitchFamily="2" charset="-122"/>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w</m:t>
                        </m:r>
                      </m:e>
                    </m:d>
                  </m:oMath>
                </a14:m>
                <a:r>
                  <a:rPr lang="zh-CN" altLang="en-US" dirty="0">
                    <a:ea typeface="华文楷体" panose="02010600040101010101" pitchFamily="2" charset="-122"/>
                  </a:rPr>
                  <a:t>。合并上述结果，有：</a:t>
                </a:r>
                <a:r>
                  <a:rPr lang="en-US" altLang="zh-CN" dirty="0">
                    <a:ea typeface="华文楷体" panose="02010600040101010101" pitchFamily="2" charset="-122"/>
                  </a:rPr>
                  <a:t> d[v]</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&gt;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en-US" altLang="zh-CN" dirty="0">
                    <a:ea typeface="华文楷体" panose="02010600040101010101" pitchFamily="2" charset="-122"/>
                  </a:rPr>
                  <a:t>=</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m:rPr>
                            <m:sty m:val="p"/>
                          </m:rPr>
                          <a:rPr lang="en-US" altLang="zh-CN" i="1" dirty="0">
                            <a:latin typeface="Cambria Math" panose="02040503050406030204" pitchFamily="18" charset="0"/>
                            <a:ea typeface="华文楷体" panose="02010600040101010101" pitchFamily="2" charset="-122"/>
                          </a:rPr>
                          <m:t>w</m:t>
                        </m:r>
                      </m:e>
                    </m:d>
                  </m:oMath>
                </a14:m>
                <a:r>
                  <a:rPr lang="en-US" altLang="zh-CN" dirty="0">
                    <a:ea typeface="华文楷体" panose="02010600040101010101" pitchFamily="2" charset="-122"/>
                  </a:rPr>
                  <a:t>+1 = d[w]+1…</a:t>
                </a:r>
                <a:r>
                  <a:rPr lang="en-US" altLang="zh-CN" dirty="0">
                    <a:latin typeface="宋体" panose="02010600030101010101" pitchFamily="2" charset="-122"/>
                  </a:rPr>
                  <a:t>①</a:t>
                </a:r>
                <a:r>
                  <a:rPr lang="zh-CN" altLang="en-US" dirty="0">
                    <a:latin typeface="宋体" panose="02010600030101010101" pitchFamily="2" charset="-122"/>
                  </a:rPr>
                  <a:t>。</a:t>
                </a:r>
                <a:endParaRPr lang="en-US" altLang="zh-CN" dirty="0">
                  <a:latin typeface="宋体" panose="02010600030101010101" pitchFamily="2" charset="-122"/>
                </a:endParaRPr>
              </a:p>
              <a:p>
                <a:pPr marL="0" indent="0">
                  <a:buNone/>
                </a:pPr>
                <a:r>
                  <a:rPr lang="zh-CN" altLang="en-US" dirty="0">
                    <a:ea typeface="华文楷体" panose="02010600040101010101" pitchFamily="2" charset="-122"/>
                  </a:rPr>
                  <a:t>考虑</a:t>
                </a:r>
                <a:r>
                  <a:rPr lang="en-US" altLang="zh-CN" dirty="0">
                    <a:ea typeface="华文楷体" panose="02010600040101010101" pitchFamily="2" charset="-122"/>
                  </a:rPr>
                  <a:t>BFS</a:t>
                </a:r>
                <a:r>
                  <a:rPr lang="zh-CN" altLang="en-US" dirty="0">
                    <a:ea typeface="华文楷体" panose="02010600040101010101" pitchFamily="2" charset="-122"/>
                  </a:rPr>
                  <a:t>算法将</a:t>
                </a:r>
                <a:r>
                  <a:rPr lang="en-US" altLang="zh-CN" dirty="0">
                    <a:ea typeface="华文楷体" panose="02010600040101010101" pitchFamily="2" charset="-122"/>
                  </a:rPr>
                  <a:t>v</a:t>
                </a:r>
                <a:r>
                  <a:rPr lang="zh-CN" altLang="en-US" dirty="0">
                    <a:ea typeface="华文楷体" panose="02010600040101010101" pitchFamily="2" charset="-122"/>
                  </a:rPr>
                  <a:t>从队列</a:t>
                </a:r>
                <a:r>
                  <a:rPr lang="en-US" altLang="zh-CN" dirty="0">
                    <a:ea typeface="华文楷体" panose="02010600040101010101" pitchFamily="2" charset="-122"/>
                  </a:rPr>
                  <a:t>Qu</a:t>
                </a:r>
                <a:r>
                  <a:rPr lang="zh-CN" altLang="en-US" dirty="0">
                    <a:ea typeface="华文楷体" panose="02010600040101010101" pitchFamily="2" charset="-122"/>
                  </a:rPr>
                  <a:t>中出队之时，根据算法实现过程，</a:t>
                </a:r>
                <a:r>
                  <a:rPr lang="en-US" altLang="zh-CN" dirty="0">
                    <a:ea typeface="华文楷体" panose="02010600040101010101" pitchFamily="2" charset="-122"/>
                  </a:rPr>
                  <a:t>v</a:t>
                </a:r>
                <a:r>
                  <a:rPr lang="zh-CN" altLang="en-US" dirty="0">
                    <a:ea typeface="华文楷体" panose="02010600040101010101" pitchFamily="2" charset="-122"/>
                  </a:rPr>
                  <a:t>已经被访问，依照算法的赋值语句，有</a:t>
                </a:r>
                <a:r>
                  <a:rPr lang="en-US" altLang="zh-CN" dirty="0">
                    <a:ea typeface="华文楷体" panose="02010600040101010101" pitchFamily="2" charset="-122"/>
                  </a:rPr>
                  <a:t>d[v]=d[w]+1</a:t>
                </a:r>
                <a:r>
                  <a:rPr lang="zh-CN" altLang="en-US" dirty="0">
                    <a:ea typeface="华文楷体" panose="02010600040101010101" pitchFamily="2" charset="-122"/>
                  </a:rPr>
                  <a:t>。这与</a:t>
                </a:r>
                <a:r>
                  <a:rPr lang="en-US" altLang="zh-CN" dirty="0">
                    <a:latin typeface="宋体" panose="02010600030101010101" pitchFamily="2" charset="-122"/>
                  </a:rPr>
                  <a:t>①</a:t>
                </a:r>
                <a:r>
                  <a:rPr lang="zh-CN" altLang="en-US" dirty="0">
                    <a:latin typeface="宋体" panose="02010600030101010101" pitchFamily="2" charset="-122"/>
                  </a:rPr>
                  <a:t>矛盾。</a:t>
                </a:r>
                <a:endParaRPr lang="en-US" altLang="zh-CN" dirty="0">
                  <a:latin typeface="宋体" panose="02010600030101010101" pitchFamily="2" charset="-122"/>
                </a:endParaRPr>
              </a:p>
              <a:p>
                <a:pPr marL="0" indent="0">
                  <a:buNone/>
                </a:pPr>
                <a:r>
                  <a:rPr lang="zh-CN" altLang="en-US" dirty="0">
                    <a:ea typeface="华文楷体" panose="02010600040101010101" pitchFamily="2" charset="-122"/>
                  </a:rPr>
                  <a:t>因此，我们有所有</a:t>
                </a:r>
                <a14:m>
                  <m:oMath xmlns:m="http://schemas.openxmlformats.org/officeDocument/2006/math">
                    <m:r>
                      <m:rPr>
                        <m:sty m:val="p"/>
                      </m:rPr>
                      <a:rPr lang="en-US" altLang="zh-CN" i="1" dirty="0">
                        <a:latin typeface="Cambria Math" panose="02040503050406030204" pitchFamily="18" charset="0"/>
                        <a:ea typeface="华文楷体" panose="02010600040101010101" pitchFamily="2" charset="-122"/>
                      </a:rPr>
                      <m:t>v</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𝑉</m:t>
                    </m:r>
                  </m:oMath>
                </a14:m>
                <a:r>
                  <a:rPr lang="zh-CN" altLang="en-US" dirty="0">
                    <a:ea typeface="华文楷体" panose="02010600040101010101" pitchFamily="2" charset="-122"/>
                  </a:rPr>
                  <a:t>，</a:t>
                </a:r>
                <a:r>
                  <a:rPr lang="en-US" altLang="zh-CN" dirty="0">
                    <a:ea typeface="华文楷体" panose="02010600040101010101" pitchFamily="2" charset="-122"/>
                  </a:rPr>
                  <a:t>d[v]</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oMath>
                </a14:m>
                <a:r>
                  <a:rPr lang="zh-CN" altLang="en-US" dirty="0">
                    <a:ea typeface="华文楷体" panose="02010600040101010101" pitchFamily="2" charset="-122"/>
                  </a:rPr>
                  <a:t>。所有</a:t>
                </a:r>
                <a:r>
                  <a:rPr lang="en-US" altLang="zh-CN" dirty="0">
                    <a:ea typeface="华文楷体" panose="02010600040101010101" pitchFamily="2" charset="-122"/>
                  </a:rPr>
                  <a:t>s</a:t>
                </a:r>
                <a:r>
                  <a:rPr lang="zh-CN" altLang="en-US" dirty="0">
                    <a:ea typeface="华文楷体" panose="02010600040101010101" pitchFamily="2" charset="-122"/>
                  </a:rPr>
                  <a:t>可达顶点</a:t>
                </a:r>
                <a:r>
                  <a:rPr lang="en-US" altLang="zh-CN" dirty="0">
                    <a:ea typeface="华文楷体" panose="02010600040101010101" pitchFamily="2" charset="-122"/>
                  </a:rPr>
                  <a:t>v</a:t>
                </a:r>
                <a:r>
                  <a:rPr lang="zh-CN" altLang="en-US" dirty="0">
                    <a:ea typeface="华文楷体" panose="02010600040101010101" pitchFamily="2" charset="-122"/>
                  </a:rPr>
                  <a:t>都必定被访问到，否则</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ea typeface="华文楷体" panose="02010600040101010101" pitchFamily="2" charset="-122"/>
                  </a:rPr>
                  <a:t>= d[v]&gt;</a:t>
                </a:r>
                <a14:m>
                  <m:oMath xmlns:m="http://schemas.openxmlformats.org/officeDocument/2006/math">
                    <m:r>
                      <a:rPr lang="zh-CN" altLang="en-US" dirty="0">
                        <a:latin typeface="Cambria Math" panose="02040503050406030204" pitchFamily="18" charset="0"/>
                        <a:ea typeface="华文楷体" panose="02010600040101010101" pitchFamily="2" charset="-122"/>
                      </a:rPr>
                      <m:t>𝛿</m:t>
                    </m:r>
                    <m:d>
                      <m:dPr>
                        <m:ctrlPr>
                          <a:rPr lang="en-US" altLang="zh-CN" i="1" dirty="0">
                            <a:latin typeface="Cambria Math" panose="02040503050406030204" pitchFamily="18" charset="0"/>
                            <a:ea typeface="华文楷体" panose="02010600040101010101" pitchFamily="2" charset="-122"/>
                          </a:rPr>
                        </m:ctrlPr>
                      </m:dPr>
                      <m:e>
                        <m:r>
                          <a:rPr lang="en-US" altLang="zh-CN" dirty="0">
                            <a:latin typeface="Cambria Math" panose="02040503050406030204" pitchFamily="18" charset="0"/>
                            <a:ea typeface="华文楷体" panose="02010600040101010101" pitchFamily="2" charset="-122"/>
                          </a:rPr>
                          <m:t>𝑠</m:t>
                        </m:r>
                        <m:r>
                          <a:rPr lang="en-US" altLang="zh-CN" dirty="0">
                            <a:latin typeface="Cambria Math" panose="02040503050406030204" pitchFamily="18" charset="0"/>
                            <a:ea typeface="华文楷体" panose="02010600040101010101" pitchFamily="2" charset="-122"/>
                          </a:rPr>
                          <m:t>,</m:t>
                        </m:r>
                        <m:r>
                          <a:rPr lang="en-US" altLang="zh-CN" dirty="0">
                            <a:latin typeface="Cambria Math" panose="02040503050406030204" pitchFamily="18" charset="0"/>
                            <a:ea typeface="华文楷体" panose="02010600040101010101" pitchFamily="2" charset="-122"/>
                          </a:rPr>
                          <m:t>𝑣</m:t>
                        </m:r>
                      </m:e>
                    </m:d>
                    <m:r>
                      <a:rPr lang="zh-CN" altLang="en-US" i="1" dirty="0">
                        <a:latin typeface="Cambria Math" panose="02040503050406030204" pitchFamily="18" charset="0"/>
                        <a:ea typeface="华文楷体" panose="02010600040101010101" pitchFamily="2" charset="-122"/>
                      </a:rPr>
                      <m:t>。</m:t>
                    </m:r>
                  </m:oMath>
                </a14:m>
                <a:r>
                  <a:rPr lang="zh-CN" altLang="en-US" dirty="0">
                    <a:ea typeface="华文楷体" panose="02010600040101010101" pitchFamily="2" charset="-122"/>
                  </a:rPr>
                  <a:t>同时注意到：</a:t>
                </a:r>
                <a:r>
                  <a:rPr lang="en-US" altLang="zh-CN" dirty="0">
                    <a:ea typeface="华文楷体" panose="02010600040101010101" pitchFamily="2" charset="-122"/>
                  </a:rPr>
                  <a:t> v</a:t>
                </a:r>
                <a:r>
                  <a:rPr lang="zh-CN" altLang="en-US" dirty="0">
                    <a:ea typeface="华文楷体" panose="02010600040101010101" pitchFamily="2" charset="-122"/>
                  </a:rPr>
                  <a:t>的直接前驱顶点为</a:t>
                </a:r>
                <a:r>
                  <a:rPr lang="en-US" altLang="zh-CN" dirty="0">
                    <a:ea typeface="华文楷体" panose="02010600040101010101" pitchFamily="2" charset="-122"/>
                  </a:rPr>
                  <a:t>w</a:t>
                </a:r>
                <a:r>
                  <a:rPr lang="zh-CN" altLang="en-US" dirty="0">
                    <a:ea typeface="华文楷体" panose="02010600040101010101" pitchFamily="2" charset="-122"/>
                  </a:rPr>
                  <a:t>，</a:t>
                </a:r>
                <a:r>
                  <a:rPr lang="en-US" altLang="zh-CN" dirty="0">
                    <a:ea typeface="华文楷体" panose="02010600040101010101" pitchFamily="2" charset="-122"/>
                  </a:rPr>
                  <a:t> d[v] = d[w] + 1</a:t>
                </a:r>
                <a:r>
                  <a:rPr lang="zh-CN" altLang="en-US" dirty="0">
                    <a:ea typeface="华文楷体" panose="02010600040101010101" pitchFamily="2" charset="-122"/>
                  </a:rPr>
                  <a:t>；因此，从</a:t>
                </a:r>
                <a:r>
                  <a:rPr lang="en-US" altLang="zh-CN" dirty="0">
                    <a:ea typeface="华文楷体" panose="02010600040101010101" pitchFamily="2" charset="-122"/>
                  </a:rPr>
                  <a:t>s</a:t>
                </a:r>
                <a:r>
                  <a:rPr lang="zh-CN" altLang="en-US" dirty="0">
                    <a:ea typeface="华文楷体" panose="02010600040101010101" pitchFamily="2" charset="-122"/>
                  </a:rPr>
                  <a:t>到</a:t>
                </a:r>
                <a:r>
                  <a:rPr lang="en-US" altLang="zh-CN" dirty="0">
                    <a:ea typeface="华文楷体" panose="02010600040101010101" pitchFamily="2" charset="-122"/>
                  </a:rPr>
                  <a:t>v</a:t>
                </a:r>
                <a:r>
                  <a:rPr lang="zh-CN" altLang="en-US" dirty="0">
                    <a:ea typeface="华文楷体" panose="02010600040101010101" pitchFamily="2" charset="-122"/>
                  </a:rPr>
                  <a:t>的其中一条最短路径为</a:t>
                </a:r>
                <a:r>
                  <a:rPr lang="en-US" altLang="zh-CN" dirty="0">
                    <a:ea typeface="华文楷体" panose="02010600040101010101" pitchFamily="2" charset="-122"/>
                  </a:rPr>
                  <a:t>s</a:t>
                </a:r>
                <a:r>
                  <a:rPr lang="zh-CN" altLang="en-US" dirty="0">
                    <a:ea typeface="华文楷体" panose="02010600040101010101" pitchFamily="2" charset="-122"/>
                  </a:rPr>
                  <a:t>到</a:t>
                </a:r>
                <a:r>
                  <a:rPr lang="en-US" altLang="zh-CN" dirty="0">
                    <a:ea typeface="华文楷体" panose="02010600040101010101" pitchFamily="2" charset="-122"/>
                  </a:rPr>
                  <a:t>v</a:t>
                </a:r>
                <a:r>
                  <a:rPr lang="zh-CN" altLang="en-US" dirty="0">
                    <a:ea typeface="华文楷体" panose="02010600040101010101" pitchFamily="2" charset="-122"/>
                  </a:rPr>
                  <a:t>的直接前驱顶点</a:t>
                </a:r>
                <a:r>
                  <a:rPr lang="en-US" altLang="zh-CN" dirty="0">
                    <a:ea typeface="华文楷体" panose="02010600040101010101" pitchFamily="2" charset="-122"/>
                  </a:rPr>
                  <a:t>w</a:t>
                </a:r>
                <a:r>
                  <a:rPr lang="zh-CN" altLang="en-US" dirty="0">
                    <a:ea typeface="华文楷体" panose="02010600040101010101" pitchFamily="2" charset="-122"/>
                  </a:rPr>
                  <a:t>的最短路径</a:t>
                </a:r>
                <a:r>
                  <a:rPr lang="en-US" altLang="zh-CN" dirty="0">
                    <a:ea typeface="华文楷体" panose="02010600040101010101" pitchFamily="2" charset="-122"/>
                  </a:rPr>
                  <a:t>+</a:t>
                </a:r>
                <a:r>
                  <a:rPr lang="zh-CN" altLang="en-US" dirty="0">
                    <a:ea typeface="华文楷体" panose="02010600040101010101" pitchFamily="2" charset="-122"/>
                  </a:rPr>
                  <a:t>边</a:t>
                </a:r>
                <a:r>
                  <a:rPr lang="en-US" altLang="zh-CN" dirty="0">
                    <a:ea typeface="华文楷体" panose="02010600040101010101" pitchFamily="2" charset="-122"/>
                  </a:rPr>
                  <a:t>(</a:t>
                </a:r>
                <a:r>
                  <a:rPr lang="en-US" altLang="zh-CN" dirty="0" err="1">
                    <a:ea typeface="华文楷体" panose="02010600040101010101" pitchFamily="2" charset="-122"/>
                  </a:rPr>
                  <a:t>w,v</a:t>
                </a:r>
                <a:r>
                  <a:rPr lang="en-US" altLang="zh-CN" dirty="0">
                    <a:ea typeface="华文楷体" panose="02010600040101010101" pitchFamily="2" charset="-122"/>
                  </a:rPr>
                  <a:t>)</a:t>
                </a:r>
                <a:r>
                  <a:rPr lang="zh-CN" altLang="en-US" dirty="0">
                    <a:ea typeface="华文楷体" panose="02010600040101010101" pitchFamily="2" charset="-122"/>
                  </a:rPr>
                  <a:t>。</a:t>
                </a:r>
                <a:endParaRPr lang="en-US" altLang="zh-CN" dirty="0">
                  <a:ea typeface="华文楷体" panose="02010600040101010101" pitchFamily="2" charset="-122"/>
                </a:endParaRPr>
              </a:p>
              <a:p>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52400" y="3469048"/>
                <a:ext cx="8839200" cy="3139321"/>
              </a:xfrm>
              <a:prstGeom prst="rect">
                <a:avLst/>
              </a:prstGeom>
              <a:blipFill rotWithShape="1">
                <a:blip r:embed="rId2"/>
                <a:stretch>
                  <a:fillRect l="-57" t="-163" r="-50" b="-144"/>
                </a:stretch>
              </a:blipFill>
              <a:ln>
                <a:solidFill>
                  <a:schemeClr val="accent1"/>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04800" y="1189037"/>
                <a:ext cx="8382000" cy="4257675"/>
              </a:xfrm>
              <a:ln>
                <a:solidFill>
                  <a:schemeClr val="accent1"/>
                </a:solidFill>
              </a:ln>
            </p:spPr>
            <p:txBody>
              <a:bodyPr/>
              <a:lstStyle/>
              <a:p>
                <a:pPr marL="0" indent="0">
                  <a:buNone/>
                </a:pPr>
                <a:r>
                  <a:rPr lang="en-US" altLang="zh-CN" sz="1800" b="1" dirty="0" smtClean="0">
                    <a:solidFill>
                      <a:srgbClr val="C00000"/>
                    </a:solidFill>
                    <a:ea typeface="华文楷体" panose="02010600040101010101" pitchFamily="2" charset="-122"/>
                  </a:rPr>
                  <a:t>[</a:t>
                </a:r>
                <a:r>
                  <a:rPr lang="zh-CN" altLang="en-US" sz="1800" b="1" dirty="0" smtClean="0">
                    <a:solidFill>
                      <a:srgbClr val="C00000"/>
                    </a:solidFill>
                    <a:ea typeface="华文楷体" panose="02010600040101010101" pitchFamily="2" charset="-122"/>
                  </a:rPr>
                  <a:t>广度优先生成树性质</a:t>
                </a:r>
                <a:r>
                  <a:rPr lang="en-US" altLang="zh-CN" sz="1800" b="1" dirty="0" smtClean="0">
                    <a:solidFill>
                      <a:srgbClr val="C00000"/>
                    </a:solidFill>
                    <a:ea typeface="华文楷体" panose="02010600040101010101" pitchFamily="2" charset="-122"/>
                  </a:rPr>
                  <a:t>]</a:t>
                </a:r>
                <a:endParaRPr lang="en-US" altLang="zh-CN" sz="1800" b="1" dirty="0" smtClean="0">
                  <a:solidFill>
                    <a:srgbClr val="C00000"/>
                  </a:solidFill>
                  <a:ea typeface="华文楷体" panose="02010600040101010101" pitchFamily="2" charset="-122"/>
                </a:endParaRPr>
              </a:p>
              <a:p>
                <a:pPr marL="0" indent="0">
                  <a:buNone/>
                </a:pPr>
                <a:r>
                  <a:rPr lang="en-US" altLang="zh-CN" sz="1800" dirty="0" smtClean="0">
                    <a:ea typeface="华文楷体" panose="02010600040101010101" pitchFamily="2" charset="-122"/>
                  </a:rPr>
                  <a:t>BFS</a:t>
                </a:r>
                <a:r>
                  <a:rPr lang="zh-CN" altLang="en-US" sz="1800" dirty="0" smtClean="0">
                    <a:ea typeface="华文楷体" panose="02010600040101010101" pitchFamily="2" charset="-122"/>
                  </a:rPr>
                  <a:t>算法对图进行搜索过程中将创建一颗广度优先生成树，该树对应着</a:t>
                </a:r>
                <a:r>
                  <a:rPr lang="en-US" altLang="zh-CN" sz="1800" dirty="0" smtClean="0">
                    <a:ea typeface="华文楷体" panose="02010600040101010101" pitchFamily="2" charset="-122"/>
                  </a:rPr>
                  <a:t>BFS</a:t>
                </a:r>
                <a:r>
                  <a:rPr lang="zh-CN" altLang="en-US" sz="1800" dirty="0" smtClean="0">
                    <a:ea typeface="华文楷体" panose="02010600040101010101" pitchFamily="2" charset="-122"/>
                  </a:rPr>
                  <a:t>算法完成时</a:t>
                </a:r>
                <a:r>
                  <a:rPr lang="en-US" altLang="zh-CN" sz="1800" dirty="0" smtClean="0">
                    <a:ea typeface="华文楷体" panose="02010600040101010101" pitchFamily="2" charset="-122"/>
                  </a:rPr>
                  <a:t>p</a:t>
                </a:r>
                <a:r>
                  <a:rPr lang="zh-CN" altLang="en-US" sz="1800" dirty="0" smtClean="0">
                    <a:ea typeface="华文楷体" panose="02010600040101010101" pitchFamily="2" charset="-122"/>
                  </a:rPr>
                  <a:t>数组保存的值。</a:t>
                </a:r>
                <a:endParaRPr lang="en-US" altLang="zh-CN" sz="1800" dirty="0" smtClean="0">
                  <a:ea typeface="华文楷体" panose="02010600040101010101" pitchFamily="2" charset="-122"/>
                </a:endParaRPr>
              </a:p>
              <a:p>
                <a:pPr marL="0" indent="0">
                  <a:buNone/>
                </a:pPr>
                <a:r>
                  <a:rPr lang="zh-CN" altLang="en-US" sz="1800" b="1" dirty="0" smtClean="0">
                    <a:solidFill>
                      <a:srgbClr val="C00000"/>
                    </a:solidFill>
                    <a:ea typeface="华文楷体" panose="02010600040101010101" pitchFamily="2" charset="-122"/>
                  </a:rPr>
                  <a:t>定义</a:t>
                </a:r>
                <a:r>
                  <a:rPr lang="en-US" altLang="zh-CN" sz="1800" b="1" dirty="0" smtClean="0">
                    <a:solidFill>
                      <a:srgbClr val="C00000"/>
                    </a:solidFill>
                    <a:ea typeface="华文楷体" panose="02010600040101010101" pitchFamily="2" charset="-122"/>
                  </a:rPr>
                  <a:t>1</a:t>
                </a:r>
                <a:r>
                  <a:rPr lang="zh-CN" altLang="en-US" sz="1800" dirty="0" smtClean="0">
                    <a:ea typeface="华文楷体" panose="02010600040101010101" pitchFamily="2" charset="-122"/>
                  </a:rPr>
                  <a:t>：对于图</a:t>
                </a:r>
                <a:r>
                  <a:rPr lang="en-US" altLang="zh-CN" sz="1800" dirty="0" smtClean="0">
                    <a:ea typeface="华文楷体" panose="02010600040101010101" pitchFamily="2" charset="-122"/>
                  </a:rPr>
                  <a:t>G</a:t>
                </a:r>
                <a:r>
                  <a:rPr lang="zh-CN" altLang="en-US" sz="1800" dirty="0" smtClean="0">
                    <a:ea typeface="华文楷体" panose="02010600040101010101" pitchFamily="2" charset="-122"/>
                  </a:rPr>
                  <a:t>和源顶点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a:t>
                </a:r>
                <a:r>
                  <a:rPr lang="zh-CN" altLang="en-US" sz="1800" b="1" dirty="0">
                    <a:solidFill>
                      <a:srgbClr val="C00000"/>
                    </a:solidFill>
                    <a:ea typeface="华文楷体" panose="02010600040101010101" pitchFamily="2" charset="-122"/>
                  </a:rPr>
                  <a:t>广度优先搜索的</a:t>
                </a:r>
                <a:r>
                  <a:rPr lang="zh-CN" altLang="en-US" sz="1800" b="1" dirty="0" smtClean="0">
                    <a:solidFill>
                      <a:srgbClr val="C00000"/>
                    </a:solidFill>
                    <a:ea typeface="华文楷体" panose="02010600040101010101" pitchFamily="2" charset="-122"/>
                  </a:rPr>
                  <a:t>前驱子图</a:t>
                </a:r>
                <a:r>
                  <a:rPr lang="zh-CN" altLang="en-US" sz="1800" dirty="0" smtClean="0">
                    <a:ea typeface="华文楷体" panose="02010600040101010101" pitchFamily="2" charset="-122"/>
                  </a:rPr>
                  <a:t>是</a:t>
                </a:r>
                <a:r>
                  <a:rPr lang="en-US" altLang="zh-CN" sz="1800" dirty="0" err="1" smtClean="0">
                    <a:ea typeface="华文楷体" panose="02010600040101010101" pitchFamily="2" charset="-122"/>
                  </a:rPr>
                  <a:t>G</a:t>
                </a:r>
                <a:r>
                  <a:rPr lang="en-US" altLang="zh-CN" sz="1800" baseline="-25000" dirty="0" err="1" smtClean="0">
                    <a:ea typeface="华文楷体" panose="02010600040101010101" pitchFamily="2" charset="-122"/>
                  </a:rPr>
                  <a:t>p</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p</a:t>
                </a:r>
                <a:r>
                  <a:rPr lang="en-US" altLang="zh-CN" sz="1800" dirty="0" err="1" smtClean="0">
                    <a:ea typeface="华文楷体" panose="02010600040101010101" pitchFamily="2" charset="-122"/>
                  </a:rPr>
                  <a:t>,E</a:t>
                </a:r>
                <a:r>
                  <a:rPr lang="en-US" altLang="zh-CN" sz="1800" baseline="-25000" dirty="0" err="1" smtClean="0">
                    <a:ea typeface="华文楷体" panose="02010600040101010101" pitchFamily="2" charset="-122"/>
                  </a:rPr>
                  <a:t>p</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，其中</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p</a:t>
                </a:r>
                <a:r>
                  <a:rPr lang="en-US" altLang="zh-CN" sz="1800" dirty="0" smtClean="0">
                    <a:ea typeface="华文楷体" panose="02010600040101010101" pitchFamily="2" charset="-122"/>
                  </a:rPr>
                  <a:t>=</a:t>
                </a:r>
                <a14:m>
                  <m:oMath xmlns:m="http://schemas.openxmlformats.org/officeDocument/2006/math">
                    <m:d>
                      <m:dPr>
                        <m:begChr m:val="{"/>
                        <m:endChr m:val="}"/>
                        <m:ctrlPr>
                          <a:rPr lang="en-US" altLang="zh-CN" sz="1800" b="0" i="1" smtClean="0">
                            <a:latin typeface="Cambria Math" panose="02040503050406030204" pitchFamily="18" charset="0"/>
                            <a:ea typeface="华文楷体" panose="02010600040101010101" pitchFamily="2" charset="-122"/>
                          </a:rPr>
                        </m:ctrlPr>
                      </m:dPr>
                      <m:e>
                        <m:r>
                          <a:rPr lang="en-US" altLang="zh-CN" sz="1800" b="0" i="1" smtClean="0">
                            <a:latin typeface="Cambria Math" panose="02040503050406030204" pitchFamily="18" charset="0"/>
                            <a:ea typeface="华文楷体" panose="02010600040101010101" pitchFamily="2" charset="-122"/>
                          </a:rPr>
                          <m:t>𝑣</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𝑉</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𝑝</m:t>
                        </m:r>
                        <m:d>
                          <m:dPr>
                            <m:begChr m:val="["/>
                            <m:endChr m:val="]"/>
                            <m:ctrlPr>
                              <a:rPr lang="en-US" altLang="zh-CN" sz="1800" b="0" i="1" smtClean="0">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𝑣</m:t>
                            </m:r>
                          </m:e>
                        </m:d>
                        <m:r>
                          <a:rPr lang="en-US" altLang="zh-CN" sz="1800" i="1">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1</m:t>
                        </m:r>
                      </m:e>
                    </m:d>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𝑠</m:t>
                    </m:r>
                    <m:r>
                      <a:rPr lang="en-US" altLang="zh-CN" sz="1800" b="0" i="1" smtClean="0">
                        <a:latin typeface="Cambria Math" panose="02040503050406030204" pitchFamily="18" charset="0"/>
                        <a:ea typeface="Cambria Math" panose="02040503050406030204" pitchFamily="18" charset="0"/>
                      </a:rPr>
                      <m:t>}，</m:t>
                    </m:r>
                    <m:r>
                      <m:rPr>
                        <m:nor/>
                      </m:rPr>
                      <a:rPr lang="en-US" altLang="zh-CN" sz="1800" dirty="0">
                        <a:latin typeface="Cambria Math" panose="02040503050406030204" pitchFamily="18" charset="0"/>
                        <a:ea typeface="华文楷体" panose="02010600040101010101" pitchFamily="2" charset="-122"/>
                      </a:rPr>
                      <m:t>E</m:t>
                    </m:r>
                    <m:r>
                      <m:rPr>
                        <m:nor/>
                      </m:rPr>
                      <a:rPr lang="en-US" altLang="zh-CN" sz="1800" baseline="-25000" dirty="0">
                        <a:latin typeface="Cambria Math" panose="02040503050406030204" pitchFamily="18" charset="0"/>
                        <a:ea typeface="华文楷体" panose="02010600040101010101" pitchFamily="2" charset="-122"/>
                      </a:rPr>
                      <m:t>p</m:t>
                    </m:r>
                  </m:oMath>
                </a14:m>
                <a:r>
                  <a:rPr lang="en-US" altLang="zh-CN" sz="1800" dirty="0" smtClean="0">
                    <a:ea typeface="华文楷体" panose="02010600040101010101" pitchFamily="2" charset="-122"/>
                  </a:rPr>
                  <a:t>=</a:t>
                </a:r>
                <a14:m>
                  <m:oMath xmlns:m="http://schemas.openxmlformats.org/officeDocument/2006/math">
                    <m:r>
                      <a:rPr lang="en-US" altLang="zh-CN" sz="1800" b="0" i="1" dirty="0" smtClean="0">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Cambria Math" panose="02040503050406030204" pitchFamily="18" charset="0"/>
                      </a:rPr>
                      <m:t>𝑝</m:t>
                    </m:r>
                    <m:d>
                      <m:dPr>
                        <m:begChr m:val="["/>
                        <m:endChr m:val="]"/>
                        <m:ctrlPr>
                          <a:rPr lang="en-US" altLang="zh-CN" sz="1800" i="1">
                            <a:latin typeface="Cambria Math" panose="02040503050406030204" pitchFamily="18" charset="0"/>
                            <a:ea typeface="Cambria Math" panose="02040503050406030204" pitchFamily="18" charset="0"/>
                          </a:rPr>
                        </m:ctrlPr>
                      </m:dPr>
                      <m:e>
                        <m:r>
                          <a:rPr lang="en-US" altLang="zh-CN" sz="1800" i="1">
                            <a:latin typeface="Cambria Math" panose="02040503050406030204" pitchFamily="18" charset="0"/>
                            <a:ea typeface="Cambria Math" panose="02040503050406030204" pitchFamily="18" charset="0"/>
                          </a:rPr>
                          <m:t>𝑣</m:t>
                        </m:r>
                      </m:e>
                    </m:d>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𝑣</m:t>
                    </m:r>
                    <m:r>
                      <a:rPr lang="en-US" altLang="zh-CN" sz="1800" b="0" i="1" dirty="0" smtClean="0">
                        <a:latin typeface="Cambria Math" panose="02040503050406030204" pitchFamily="18" charset="0"/>
                        <a:ea typeface="华文楷体" panose="02010600040101010101" pitchFamily="2" charset="-122"/>
                      </a:rPr>
                      <m:t>):</m:t>
                    </m:r>
                    <m:r>
                      <a:rPr lang="en-US" altLang="zh-CN" sz="1800" b="0" i="1" dirty="0" smtClean="0">
                        <a:latin typeface="Cambria Math" panose="02040503050406030204" pitchFamily="18" charset="0"/>
                        <a:ea typeface="华文楷体" panose="02010600040101010101" pitchFamily="2" charset="-122"/>
                      </a:rPr>
                      <m:t>𝑣</m:t>
                    </m:r>
                    <m:r>
                      <a:rPr lang="en-US" altLang="zh-CN" sz="1800" b="0" i="1" dirty="0" smtClean="0">
                        <a:latin typeface="Cambria Math" panose="02040503050406030204" pitchFamily="18" charset="0"/>
                        <a:ea typeface="Cambria Math" panose="02040503050406030204" pitchFamily="18" charset="0"/>
                      </a:rPr>
                      <m:t>∈</m:t>
                    </m:r>
                    <m:sSub>
                      <m:sSubPr>
                        <m:ctrlPr>
                          <a:rPr lang="en-US" altLang="zh-CN" sz="1800" b="0" i="1" dirty="0" smtClean="0">
                            <a:latin typeface="Cambria Math" panose="02040503050406030204" pitchFamily="18" charset="0"/>
                            <a:ea typeface="Cambria Math" panose="02040503050406030204" pitchFamily="18" charset="0"/>
                          </a:rPr>
                        </m:ctrlPr>
                      </m:sSubPr>
                      <m:e>
                        <m:r>
                          <a:rPr lang="en-US" altLang="zh-CN" sz="1800" b="0" i="1" dirty="0" smtClean="0">
                            <a:latin typeface="Cambria Math" panose="02040503050406030204" pitchFamily="18" charset="0"/>
                            <a:ea typeface="Cambria Math" panose="02040503050406030204" pitchFamily="18" charset="0"/>
                          </a:rPr>
                          <m:t>𝑉</m:t>
                        </m:r>
                      </m:e>
                      <m:sub>
                        <m:r>
                          <a:rPr lang="en-US" altLang="zh-CN" sz="1800" b="0" i="1" dirty="0" smtClean="0">
                            <a:latin typeface="Cambria Math" panose="02040503050406030204" pitchFamily="18" charset="0"/>
                            <a:ea typeface="Cambria Math" panose="02040503050406030204" pitchFamily="18" charset="0"/>
                          </a:rPr>
                          <m:t>𝑝</m:t>
                        </m:r>
                      </m:sub>
                    </m:sSub>
                  </m:oMath>
                </a14:m>
                <a:r>
                  <a:rPr lang="en-US" altLang="zh-CN" sz="1800" dirty="0" smtClean="0">
                    <a:ea typeface="华文楷体" panose="02010600040101010101" pitchFamily="2" charset="-122"/>
                  </a:rPr>
                  <a:t>-{s}}.</a:t>
                </a:r>
                <a:endParaRPr lang="en-US" altLang="zh-CN" sz="1800" dirty="0" smtClean="0">
                  <a:ea typeface="华文楷体" panose="02010600040101010101" pitchFamily="2" charset="-122"/>
                </a:endParaRPr>
              </a:p>
              <a:p>
                <a:pPr marL="0" indent="0">
                  <a:buNone/>
                </a:pPr>
                <a:r>
                  <a:rPr lang="zh-CN" altLang="en-US" sz="1800" b="1" dirty="0">
                    <a:solidFill>
                      <a:srgbClr val="C00000"/>
                    </a:solidFill>
                    <a:ea typeface="华文楷体" panose="02010600040101010101" pitchFamily="2" charset="-122"/>
                  </a:rPr>
                  <a:t>性质</a:t>
                </a:r>
                <a:r>
                  <a:rPr lang="zh-CN" altLang="en-US" sz="1800" dirty="0" smtClean="0">
                    <a:ea typeface="华文楷体" panose="02010600040101010101" pitchFamily="2" charset="-122"/>
                  </a:rPr>
                  <a:t>：若</a:t>
                </a:r>
                <a:r>
                  <a:rPr lang="en-US" altLang="zh-CN" sz="1800" dirty="0" err="1">
                    <a:ea typeface="华文楷体" panose="02010600040101010101" pitchFamily="2" charset="-122"/>
                  </a:rPr>
                  <a:t>V</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由所有从源</a:t>
                </a:r>
                <a:r>
                  <a:rPr lang="zh-CN" altLang="en-US" sz="1800" dirty="0">
                    <a:ea typeface="华文楷体" panose="02010600040101010101" pitchFamily="2" charset="-122"/>
                  </a:rPr>
                  <a:t>顶</a:t>
                </a:r>
                <a:r>
                  <a:rPr lang="zh-CN" altLang="en-US" sz="1800" dirty="0" smtClean="0">
                    <a:ea typeface="华文楷体" panose="02010600040101010101" pitchFamily="2" charset="-122"/>
                  </a:rPr>
                  <a:t>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出发可达的顶点构成，且对于所有</a:t>
                </a:r>
                <a14:m>
                  <m:oMath xmlns:m="http://schemas.openxmlformats.org/officeDocument/2006/math">
                    <m:r>
                      <a:rPr lang="en-US" altLang="zh-CN" sz="1800" i="1" dirty="0">
                        <a:latin typeface="Cambria Math" panose="02040503050406030204" pitchFamily="18" charset="0"/>
                        <a:ea typeface="华文楷体" panose="02010600040101010101" pitchFamily="2" charset="-122"/>
                      </a:rPr>
                      <m:t>𝑣</m:t>
                    </m:r>
                    <m:r>
                      <a:rPr lang="en-US" altLang="zh-CN" sz="1800" i="1" dirty="0">
                        <a:latin typeface="Cambria Math" panose="02040503050406030204" pitchFamily="18" charset="0"/>
                        <a:ea typeface="Cambria Math" panose="02040503050406030204" pitchFamily="18" charset="0"/>
                      </a:rPr>
                      <m:t>∈</m:t>
                    </m:r>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𝑉</m:t>
                        </m:r>
                      </m:e>
                      <m:sub>
                        <m:r>
                          <a:rPr lang="en-US" altLang="zh-CN" sz="1800" i="1" dirty="0">
                            <a:latin typeface="Cambria Math" panose="02040503050406030204" pitchFamily="18" charset="0"/>
                            <a:ea typeface="Cambria Math" panose="02040503050406030204" pitchFamily="18" charset="0"/>
                          </a:rPr>
                          <m:t>𝑝</m:t>
                        </m:r>
                      </m:sub>
                    </m:sSub>
                  </m:oMath>
                </a14:m>
                <a:r>
                  <a:rPr lang="zh-CN" altLang="en-US" sz="1800" dirty="0" smtClean="0">
                    <a:ea typeface="华文楷体" panose="02010600040101010101" pitchFamily="2" charset="-122"/>
                  </a:rPr>
                  <a:t>，子图</a:t>
                </a:r>
                <a:r>
                  <a:rPr lang="en-US" altLang="zh-CN" sz="1800" dirty="0" err="1">
                    <a:ea typeface="华文楷体" panose="02010600040101010101" pitchFamily="2" charset="-122"/>
                  </a:rPr>
                  <a:t>G</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包含一条从源顶点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到顶点</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的唯一简单路径，则该路径也是</a:t>
                </a:r>
                <a:r>
                  <a:rPr lang="zh-CN" altLang="en-US" sz="1800" dirty="0">
                    <a:ea typeface="华文楷体" panose="02010600040101010101" pitchFamily="2" charset="-122"/>
                  </a:rPr>
                  <a:t>从源顶点</a:t>
                </a:r>
                <a:r>
                  <a:rPr lang="en-US" altLang="zh-CN" sz="1800" dirty="0">
                    <a:ea typeface="华文楷体" panose="02010600040101010101" pitchFamily="2" charset="-122"/>
                  </a:rPr>
                  <a:t>s</a:t>
                </a:r>
                <a:r>
                  <a:rPr lang="zh-CN" altLang="en-US" sz="1800" dirty="0">
                    <a:ea typeface="华文楷体" panose="02010600040101010101" pitchFamily="2" charset="-122"/>
                  </a:rPr>
                  <a:t>到顶点</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的一条最短路径，而且前驱子图</a:t>
                </a:r>
                <a:r>
                  <a:rPr lang="en-US" altLang="zh-CN" sz="1800" dirty="0" err="1">
                    <a:ea typeface="华文楷体" panose="02010600040101010101" pitchFamily="2" charset="-122"/>
                  </a:rPr>
                  <a:t>G</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也是一</a:t>
                </a:r>
                <a:r>
                  <a:rPr lang="zh-CN" altLang="en-US" sz="1800" dirty="0">
                    <a:ea typeface="华文楷体" panose="02010600040101010101" pitchFamily="2" charset="-122"/>
                  </a:rPr>
                  <a:t>棵</a:t>
                </a:r>
                <a:r>
                  <a:rPr lang="zh-CN" altLang="en-US" sz="1800" b="1" dirty="0" smtClean="0">
                    <a:solidFill>
                      <a:srgbClr val="C00000"/>
                    </a:solidFill>
                    <a:ea typeface="华文楷体" panose="02010600040101010101" pitchFamily="2" charset="-122"/>
                  </a:rPr>
                  <a:t>广度优先生成树</a:t>
                </a:r>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zh-CN" altLang="en-US" sz="1800" b="1" dirty="0" smtClean="0">
                    <a:solidFill>
                      <a:srgbClr val="C00000"/>
                    </a:solidFill>
                    <a:ea typeface="华文楷体" panose="02010600040101010101" pitchFamily="2" charset="-122"/>
                  </a:rPr>
                  <a:t>定理</a:t>
                </a:r>
                <a:r>
                  <a:rPr lang="zh-CN" altLang="en-US" sz="1800" dirty="0" smtClean="0">
                    <a:ea typeface="华文楷体" panose="02010600040101010101" pitchFamily="2" charset="-122"/>
                  </a:rPr>
                  <a:t>：对于图</a:t>
                </a:r>
                <a:r>
                  <a:rPr lang="en-US" altLang="zh-CN" sz="1800" dirty="0" smtClean="0">
                    <a:ea typeface="华文楷体" panose="02010600040101010101" pitchFamily="2" charset="-122"/>
                  </a:rPr>
                  <a:t>G=(V,E)</a:t>
                </a:r>
                <a:r>
                  <a:rPr lang="zh-CN" altLang="en-US" sz="1800" dirty="0" smtClean="0">
                    <a:ea typeface="华文楷体" panose="02010600040101010101" pitchFamily="2" charset="-122"/>
                  </a:rPr>
                  <a:t>，利用</a:t>
                </a:r>
                <a:r>
                  <a:rPr lang="en-US" altLang="zh-CN" sz="1800" dirty="0" smtClean="0">
                    <a:ea typeface="华文楷体" panose="02010600040101010101" pitchFamily="2" charset="-122"/>
                  </a:rPr>
                  <a:t>BFS</a:t>
                </a:r>
                <a:r>
                  <a:rPr lang="zh-CN" altLang="en-US" sz="1800" dirty="0" smtClean="0">
                    <a:ea typeface="华文楷体" panose="02010600040101010101" pitchFamily="2" charset="-122"/>
                  </a:rPr>
                  <a:t>算法计算的</a:t>
                </a:r>
                <a:r>
                  <a:rPr lang="en-US" altLang="zh-CN" sz="1800" dirty="0" smtClean="0">
                    <a:ea typeface="华文楷体" panose="02010600040101010101" pitchFamily="2" charset="-122"/>
                  </a:rPr>
                  <a:t>p</a:t>
                </a:r>
                <a:r>
                  <a:rPr lang="zh-CN" altLang="en-US" sz="1800" dirty="0" smtClean="0">
                    <a:ea typeface="华文楷体" panose="02010600040101010101" pitchFamily="2" charset="-122"/>
                  </a:rPr>
                  <a:t>数组构造的前驱子图是一棵广度优先生成树。</a:t>
                </a:r>
                <a:endParaRPr lang="en-US" altLang="zh-CN" sz="1800" dirty="0" smtClean="0">
                  <a:ea typeface="华文楷体" panose="02010600040101010101" pitchFamily="2" charset="-122"/>
                </a:endParaRPr>
              </a:p>
              <a:p>
                <a:pPr marL="0" indent="0">
                  <a:buNone/>
                </a:pPr>
                <a:r>
                  <a:rPr lang="zh-CN" altLang="en-US" sz="1800" dirty="0" smtClean="0">
                    <a:solidFill>
                      <a:srgbClr val="FF0000"/>
                    </a:solidFill>
                    <a:ea typeface="华文楷体" panose="02010600040101010101" pitchFamily="2" charset="-122"/>
                  </a:rPr>
                  <a:t>证明</a:t>
                </a:r>
                <a:r>
                  <a:rPr lang="zh-CN" altLang="en-US" sz="1800" dirty="0">
                    <a:ea typeface="华文楷体" panose="02010600040101010101" pitchFamily="2" charset="-122"/>
                  </a:rPr>
                  <a:t>：</a:t>
                </a:r>
                <a:r>
                  <a:rPr lang="zh-CN" altLang="en-US" sz="1800" dirty="0" smtClean="0">
                    <a:ea typeface="华文楷体" panose="02010600040101010101" pitchFamily="2" charset="-122"/>
                  </a:rPr>
                  <a:t>算法在赋值</a:t>
                </a:r>
                <a:r>
                  <a:rPr lang="en-US" altLang="zh-CN" sz="1800" dirty="0" smtClean="0">
                    <a:ea typeface="华文楷体" panose="02010600040101010101" pitchFamily="2" charset="-122"/>
                  </a:rPr>
                  <a:t>p[v]=u</a:t>
                </a:r>
                <a:r>
                  <a:rPr lang="zh-CN" altLang="en-US" sz="1800" dirty="0" smtClean="0">
                    <a:ea typeface="华文楷体" panose="02010600040101010101" pitchFamily="2" charset="-122"/>
                  </a:rPr>
                  <a:t>时，当且仅当</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u,v</a:t>
                </a:r>
                <a:r>
                  <a:rPr lang="en-US" altLang="zh-CN" sz="1800" dirty="0" smtClean="0">
                    <a:ea typeface="华文楷体" panose="02010600040101010101" pitchFamily="2" charset="-122"/>
                  </a:rPr>
                  <a:t>)</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smtClean="0">
                    <a:ea typeface="华文楷体" panose="02010600040101010101" pitchFamily="2" charset="-122"/>
                  </a:rPr>
                  <a:t>E</a:t>
                </a:r>
                <a:r>
                  <a:rPr lang="zh-CN" altLang="en-US" sz="1800" dirty="0" smtClean="0">
                    <a:ea typeface="华文楷体" panose="02010600040101010101" pitchFamily="2" charset="-122"/>
                  </a:rPr>
                  <a:t>，并且</a:t>
                </a:r>
                <a14:m>
                  <m:oMath xmlns:m="http://schemas.openxmlformats.org/officeDocument/2006/math">
                    <m:r>
                      <a:rPr lang="zh-CN" altLang="en-US" sz="1800" dirty="0">
                        <a:latin typeface="Cambria Math" panose="02040503050406030204" pitchFamily="18" charset="0"/>
                        <a:ea typeface="华文楷体" panose="02010600040101010101" pitchFamily="2" charset="-122"/>
                      </a:rPr>
                      <m:t>𝛿</m:t>
                    </m:r>
                    <m:d>
                      <m:dPr>
                        <m:ctrlPr>
                          <a:rPr lang="en-US" altLang="zh-CN" sz="1800" i="1" dirty="0">
                            <a:latin typeface="Cambria Math" panose="02040503050406030204" pitchFamily="18" charset="0"/>
                            <a:ea typeface="华文楷体" panose="02010600040101010101" pitchFamily="2" charset="-122"/>
                          </a:rPr>
                        </m:ctrlPr>
                      </m:dPr>
                      <m:e>
                        <m:r>
                          <a:rPr lang="en-US" altLang="zh-CN" sz="1800" dirty="0">
                            <a:latin typeface="Cambria Math" panose="02040503050406030204" pitchFamily="18" charset="0"/>
                            <a:ea typeface="华文楷体" panose="02010600040101010101" pitchFamily="2" charset="-122"/>
                          </a:rPr>
                          <m:t>𝑠</m:t>
                        </m:r>
                        <m:r>
                          <a:rPr lang="en-US" altLang="zh-CN" sz="1800" dirty="0">
                            <a:latin typeface="Cambria Math" panose="02040503050406030204" pitchFamily="18" charset="0"/>
                            <a:ea typeface="华文楷体" panose="02010600040101010101" pitchFamily="2" charset="-122"/>
                          </a:rPr>
                          <m:t>,</m:t>
                        </m:r>
                        <m:r>
                          <a:rPr lang="en-US" altLang="zh-CN" sz="1800" dirty="0">
                            <a:latin typeface="Cambria Math" panose="02040503050406030204" pitchFamily="18" charset="0"/>
                            <a:ea typeface="华文楷体" panose="02010600040101010101" pitchFamily="2" charset="-122"/>
                          </a:rPr>
                          <m:t>𝑣</m:t>
                        </m:r>
                      </m:e>
                    </m:d>
                    <m:r>
                      <a:rPr lang="en-US" altLang="zh-CN" sz="1800" b="0" i="0" dirty="0" smtClean="0">
                        <a:latin typeface="Cambria Math" panose="02040503050406030204" pitchFamily="18" charset="0"/>
                        <a:ea typeface="华文楷体" panose="02010600040101010101" pitchFamily="2" charset="-122"/>
                      </a:rPr>
                      <m:t>&lt;</m:t>
                    </m:r>
                    <m:r>
                      <a:rPr lang="en-US" altLang="zh-CN" sz="1800" b="0" i="1" dirty="0" smtClean="0">
                        <a:latin typeface="Cambria Math" panose="02040503050406030204" pitchFamily="18" charset="0"/>
                        <a:ea typeface="Cambria Math" panose="02040503050406030204" pitchFamily="18" charset="0"/>
                      </a:rPr>
                      <m:t>∞</m:t>
                    </m:r>
                  </m:oMath>
                </a14:m>
                <a:r>
                  <a:rPr lang="zh-CN" altLang="en-US" sz="1800" dirty="0" smtClean="0">
                    <a:ea typeface="华文楷体" panose="02010600040101010101" pitchFamily="2" charset="-122"/>
                  </a:rPr>
                  <a:t>；即若</a:t>
                </a:r>
                <a:r>
                  <a:rPr lang="zh-CN" altLang="en-US" sz="1800" dirty="0">
                    <a:ea typeface="华文楷体" panose="02010600040101010101" pitchFamily="2" charset="-122"/>
                  </a:rPr>
                  <a:t>源顶点</a:t>
                </a:r>
                <a:r>
                  <a:rPr lang="en-US" altLang="zh-CN" sz="1800" dirty="0">
                    <a:ea typeface="华文楷体" panose="02010600040101010101" pitchFamily="2" charset="-122"/>
                  </a:rPr>
                  <a:t>s</a:t>
                </a:r>
                <a:r>
                  <a:rPr lang="zh-CN" altLang="en-US" sz="1800" dirty="0">
                    <a:ea typeface="华文楷体" panose="02010600040101010101" pitchFamily="2" charset="-122"/>
                  </a:rPr>
                  <a:t>到顶点</a:t>
                </a:r>
                <a:r>
                  <a:rPr lang="en-US" altLang="zh-CN" sz="1800" dirty="0">
                    <a:ea typeface="华文楷体" panose="02010600040101010101" pitchFamily="2" charset="-122"/>
                  </a:rPr>
                  <a:t>v </a:t>
                </a:r>
                <a:r>
                  <a:rPr lang="zh-CN" altLang="en-US" sz="1800" dirty="0" smtClean="0">
                    <a:ea typeface="华文楷体" panose="02010600040101010101" pitchFamily="2" charset="-122"/>
                  </a:rPr>
                  <a:t>可达，且</a:t>
                </a:r>
                <a:r>
                  <a:rPr lang="en-US" altLang="zh-CN" sz="1800" dirty="0" err="1" smtClean="0">
                    <a:ea typeface="华文楷体" panose="02010600040101010101" pitchFamily="2" charset="-122"/>
                  </a:rPr>
                  <a:t>V</a:t>
                </a:r>
                <a:r>
                  <a:rPr lang="en-US" altLang="zh-CN" sz="1800" baseline="-25000" dirty="0" err="1" smtClean="0">
                    <a:ea typeface="华文楷体" panose="02010600040101010101" pitchFamily="2" charset="-122"/>
                  </a:rPr>
                  <a:t>p</a:t>
                </a:r>
                <a:r>
                  <a:rPr lang="zh-CN" altLang="en-US" sz="1800" dirty="0">
                    <a:ea typeface="华文楷体" panose="02010600040101010101" pitchFamily="2" charset="-122"/>
                  </a:rPr>
                  <a:t>由所有从源顶点</a:t>
                </a:r>
                <a:r>
                  <a:rPr lang="en-US" altLang="zh-CN" sz="1800" dirty="0">
                    <a:ea typeface="华文楷体" panose="02010600040101010101" pitchFamily="2" charset="-122"/>
                  </a:rPr>
                  <a:t>s</a:t>
                </a:r>
                <a:r>
                  <a:rPr lang="zh-CN" altLang="en-US" sz="1800" dirty="0">
                    <a:ea typeface="华文楷体" panose="02010600040101010101" pitchFamily="2" charset="-122"/>
                  </a:rPr>
                  <a:t>出发可达的顶点</a:t>
                </a:r>
                <a:r>
                  <a:rPr lang="zh-CN" altLang="en-US" sz="1800" dirty="0" smtClean="0">
                    <a:ea typeface="华文楷体" panose="02010600040101010101" pitchFamily="2" charset="-122"/>
                  </a:rPr>
                  <a:t>构成，由于</a:t>
                </a:r>
                <a:r>
                  <a:rPr lang="en-US" altLang="zh-CN" sz="1800" dirty="0" err="1">
                    <a:ea typeface="华文楷体" panose="02010600040101010101" pitchFamily="2" charset="-122"/>
                  </a:rPr>
                  <a:t>G</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是一棵树，因此该树从源</a:t>
                </a:r>
                <a:r>
                  <a:rPr lang="zh-CN" altLang="en-US" sz="1800" dirty="0">
                    <a:ea typeface="华文楷体" panose="02010600040101010101" pitchFamily="2" charset="-122"/>
                  </a:rPr>
                  <a:t>顶点</a:t>
                </a:r>
                <a:r>
                  <a:rPr lang="en-US" altLang="zh-CN" sz="1800" dirty="0">
                    <a:ea typeface="华文楷体" panose="02010600040101010101" pitchFamily="2" charset="-122"/>
                  </a:rPr>
                  <a:t>s</a:t>
                </a:r>
                <a:r>
                  <a:rPr lang="zh-CN" altLang="en-US" sz="1800" dirty="0" smtClean="0">
                    <a:ea typeface="华文楷体" panose="02010600040101010101" pitchFamily="2" charset="-122"/>
                  </a:rPr>
                  <a:t>到每个可达顶点</a:t>
                </a:r>
                <a:r>
                  <a:rPr lang="en-US" altLang="zh-CN" sz="1800" dirty="0">
                    <a:ea typeface="华文楷体" panose="02010600040101010101" pitchFamily="2" charset="-122"/>
                  </a:rPr>
                  <a:t>v </a:t>
                </a:r>
                <a:r>
                  <a:rPr lang="zh-CN" altLang="en-US" sz="1800" dirty="0" smtClean="0">
                    <a:ea typeface="华文楷体" panose="02010600040101010101" pitchFamily="2" charset="-122"/>
                  </a:rPr>
                  <a:t>必定存在唯一一条简单路径。</a:t>
                </a:r>
                <a:r>
                  <a:rPr lang="zh-CN" altLang="en-US" sz="1800" dirty="0">
                    <a:ea typeface="华文楷体" panose="02010600040101010101" pitchFamily="2" charset="-122"/>
                  </a:rPr>
                  <a:t>通过</a:t>
                </a:r>
                <a:r>
                  <a:rPr lang="zh-CN" altLang="en-US" sz="1800" dirty="0" smtClean="0">
                    <a:ea typeface="华文楷体" panose="02010600040101010101" pitchFamily="2" charset="-122"/>
                  </a:rPr>
                  <a:t>递归地应用</a:t>
                </a:r>
                <a:r>
                  <a:rPr lang="zh-CN" altLang="en-US" sz="1800" dirty="0">
                    <a:ea typeface="华文楷体" panose="02010600040101010101" pitchFamily="2" charset="-122"/>
                  </a:rPr>
                  <a:t>广度优先遍历的正确性定理，我们可知每条简单路径也必定是一条最短路径。</a:t>
                </a:r>
                <a:endParaRPr lang="zh-CN" altLang="en-US" sz="18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04800" y="1189037"/>
                <a:ext cx="8382000" cy="4257675"/>
              </a:xfrm>
              <a:blipFill rotWithShape="1">
                <a:blip r:embed="rId1"/>
                <a:stretch>
                  <a:fillRect l="-61" t="-127" r="-53" b="-97"/>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cxnSp>
        <p:nvCxnSpPr>
          <p:cNvPr id="6" name="直接连接符 5"/>
          <p:cNvCxnSpPr/>
          <p:nvPr/>
        </p:nvCxnSpPr>
        <p:spPr>
          <a:xfrm>
            <a:off x="304800" y="2133600"/>
            <a:ext cx="8382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直接连接符 7"/>
          <p:cNvCxnSpPr/>
          <p:nvPr/>
        </p:nvCxnSpPr>
        <p:spPr>
          <a:xfrm>
            <a:off x="304800" y="2743200"/>
            <a:ext cx="8382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连接符 8"/>
          <p:cNvCxnSpPr/>
          <p:nvPr/>
        </p:nvCxnSpPr>
        <p:spPr>
          <a:xfrm>
            <a:off x="304800" y="3657600"/>
            <a:ext cx="8382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789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7893" name="Rectangle 3"/>
          <p:cNvSpPr>
            <a:spLocks noGrp="1" noChangeArrowheads="1"/>
          </p:cNvSpPr>
          <p:nvPr>
            <p:ph type="body" idx="1"/>
          </p:nvPr>
        </p:nvSpPr>
        <p:spPr>
          <a:xfrm>
            <a:off x="14288" y="1080117"/>
            <a:ext cx="8229600" cy="5248275"/>
          </a:xfrm>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3 </a:t>
            </a:r>
            <a:r>
              <a:rPr lang="zh-CN" altLang="en-US" sz="2400" b="1" dirty="0" smtClean="0">
                <a:solidFill>
                  <a:srgbClr val="800000"/>
                </a:solidFill>
                <a:ea typeface="华文楷体" panose="02010600040101010101" pitchFamily="2" charset="-122"/>
              </a:rPr>
              <a:t>图的遍历小结</a:t>
            </a:r>
            <a:endParaRPr lang="zh-CN" altLang="en-US" sz="2400" b="1" dirty="0" smtClean="0">
              <a:solidFill>
                <a:srgbClr val="800000"/>
              </a:solidFill>
              <a:ea typeface="华文楷体" panose="02010600040101010101" pitchFamily="2" charset="-122"/>
            </a:endParaRPr>
          </a:p>
          <a:p>
            <a:pPr eaLnBrk="1" hangingPunct="1"/>
            <a:r>
              <a:rPr lang="zh-CN" altLang="en-US" sz="2400" dirty="0" smtClean="0">
                <a:ea typeface="华文楷体" panose="02010600040101010101" pitchFamily="2" charset="-122"/>
              </a:rPr>
              <a:t>深度优先遍历算法借助于栈结构实现；广度优先遍历算法借助于队列结构实现。</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图的遍历序列与算法和存储方式有关。</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对于非连通图，通过遍历可求得各连通分量。</a:t>
            </a:r>
            <a:endParaRPr lang="en-US" altLang="zh-CN"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广度优先遍历，可求无权图的最短路径。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2000" b="1" dirty="0" smtClean="0">
                <a:solidFill>
                  <a:srgbClr val="FF0000"/>
                </a:solidFill>
                <a:ea typeface="华文楷体" panose="02010600040101010101" pitchFamily="2" charset="-122"/>
              </a:rPr>
              <a:t>[</a:t>
            </a:r>
            <a:r>
              <a:rPr lang="zh-CN" altLang="en-US" sz="2000" b="1" dirty="0" smtClean="0">
                <a:solidFill>
                  <a:srgbClr val="FF0000"/>
                </a:solidFill>
                <a:ea typeface="华文楷体" panose="02010600040101010101" pitchFamily="2" charset="-122"/>
              </a:rPr>
              <a:t>示例</a:t>
            </a:r>
            <a:r>
              <a:rPr lang="en-US" altLang="zh-CN" sz="2000" b="1" dirty="0" smtClean="0">
                <a:solidFill>
                  <a:srgbClr val="FF0000"/>
                </a:solidFill>
                <a:ea typeface="华文楷体" panose="02010600040101010101" pitchFamily="2" charset="-122"/>
              </a:rPr>
              <a:t>] </a:t>
            </a:r>
            <a:r>
              <a:rPr lang="zh-CN" altLang="en-US" sz="2000" dirty="0" smtClean="0">
                <a:ea typeface="华文楷体" panose="02010600040101010101" pitchFamily="2" charset="-122"/>
              </a:rPr>
              <a:t>假设图采用邻接表存储，写出基于</a:t>
            </a:r>
            <a:r>
              <a:rPr lang="en-US" altLang="zh-CN" sz="2000" dirty="0" smtClean="0">
                <a:ea typeface="华文楷体" panose="02010600040101010101" pitchFamily="2" charset="-122"/>
              </a:rPr>
              <a:t>DFS</a:t>
            </a:r>
            <a:r>
              <a:rPr lang="zh-CN" altLang="en-US" sz="2000" dirty="0" smtClean="0">
                <a:ea typeface="华文楷体" panose="02010600040101010101" pitchFamily="2" charset="-122"/>
              </a:rPr>
              <a:t>和</a:t>
            </a:r>
            <a:r>
              <a:rPr lang="en-US" altLang="zh-CN" sz="2000" dirty="0" smtClean="0">
                <a:ea typeface="华文楷体" panose="02010600040101010101" pitchFamily="2" charset="-122"/>
              </a:rPr>
              <a:t>BFS</a:t>
            </a:r>
            <a:r>
              <a:rPr lang="zh-CN" altLang="en-US" sz="2000" dirty="0" smtClean="0">
                <a:ea typeface="华文楷体" panose="02010600040101010101" pitchFamily="2" charset="-122"/>
              </a:rPr>
              <a:t>遍历的算法来判定顶点</a:t>
            </a:r>
            <a:r>
              <a:rPr lang="en-US" altLang="zh-CN" sz="2000" dirty="0" err="1" smtClean="0">
                <a:ea typeface="华文楷体" panose="02010600040101010101" pitchFamily="2" charset="-122"/>
              </a:rPr>
              <a:t>i</a:t>
            </a:r>
            <a:r>
              <a:rPr lang="zh-CN" altLang="en-US" sz="2000" dirty="0" smtClean="0">
                <a:ea typeface="华文楷体" panose="02010600040101010101" pitchFamily="2" charset="-122"/>
              </a:rPr>
              <a:t>和</a:t>
            </a:r>
            <a:r>
              <a:rPr lang="en-US" altLang="zh-CN" sz="2000" dirty="0" smtClean="0">
                <a:ea typeface="华文楷体" panose="02010600040101010101" pitchFamily="2" charset="-122"/>
              </a:rPr>
              <a:t>j</a:t>
            </a:r>
            <a:r>
              <a:rPr lang="zh-CN" altLang="en-US" sz="2000" dirty="0" smtClean="0">
                <a:ea typeface="华文楷体" panose="02010600040101010101" pitchFamily="2" charset="-122"/>
              </a:rPr>
              <a:t>之间有没有路径存在。</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257536" y="3300798"/>
            <a:ext cx="4238265" cy="2585323"/>
          </a:xfrm>
          <a:prstGeom prst="rect">
            <a:avLst/>
          </a:prstGeom>
          <a:noFill/>
          <a:ln>
            <a:solidFill>
              <a:schemeClr val="accent1"/>
            </a:solidFill>
          </a:ln>
        </p:spPr>
        <p:txBody>
          <a:bodyPr wrap="square" rtlCol="0">
            <a:spAutoFit/>
          </a:bodyPr>
          <a:lstStyle/>
          <a:p>
            <a:r>
              <a:rPr lang="zh-CN" altLang="en-US" b="1" dirty="0" smtClean="0">
                <a:solidFill>
                  <a:srgbClr val="FF0000"/>
                </a:solidFill>
                <a:latin typeface="Times New Roman" panose="02020603050405020304" pitchFamily="18" charset="0"/>
                <a:ea typeface="华文楷体" panose="02010600040101010101" pitchFamily="2" charset="-122"/>
              </a:rPr>
              <a:t>深度优先</a:t>
            </a:r>
            <a:endParaRPr lang="en-US" altLang="zh-CN" b="1" dirty="0" smtClean="0">
              <a:solidFill>
                <a:srgbClr val="FF0000"/>
              </a:solidFill>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bool visit[MAXV];</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Bool </a:t>
            </a:r>
            <a:r>
              <a:rPr lang="en-US" altLang="zh-CN" dirty="0" err="1" smtClean="0">
                <a:latin typeface="Times New Roman" panose="02020603050405020304" pitchFamily="18" charset="0"/>
                <a:ea typeface="华文楷体" panose="02010600040101010101" pitchFamily="2" charset="-122"/>
              </a:rPr>
              <a:t>DFSTavel</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Agraph</a:t>
            </a:r>
            <a:r>
              <a:rPr lang="en-US" altLang="zh-CN" dirty="0" smtClean="0">
                <a:latin typeface="Times New Roman" panose="02020603050405020304" pitchFamily="18" charset="0"/>
                <a:ea typeface="华文楷体" panose="02010600040101010101" pitchFamily="2" charset="-122"/>
              </a:rPr>
              <a:t> *G, </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a:t>
            </a:r>
            <a:r>
              <a:rPr lang="en-US" altLang="zh-CN" dirty="0" err="1" smtClean="0">
                <a:latin typeface="Times New Roman" panose="02020603050405020304" pitchFamily="18" charset="0"/>
                <a:ea typeface="华文楷体" panose="02010600040101010101" pitchFamily="2" charset="-122"/>
              </a:rPr>
              <a:t>i</a:t>
            </a:r>
            <a:r>
              <a:rPr lang="en-US" altLang="zh-CN" dirty="0" smtClean="0">
                <a:latin typeface="Times New Roman" panose="02020603050405020304" pitchFamily="18" charset="0"/>
                <a:ea typeface="华文楷体" panose="02010600040101010101" pitchFamily="2" charset="-122"/>
              </a:rPr>
              <a:t>, </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j)</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for(</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k =0; k&lt;MAXV; </a:t>
            </a:r>
            <a:r>
              <a:rPr lang="en-US" altLang="zh-CN" dirty="0">
                <a:latin typeface="Times New Roman" panose="02020603050405020304" pitchFamily="18" charset="0"/>
                <a:ea typeface="华文楷体" panose="02010600040101010101" pitchFamily="2" charset="-122"/>
              </a:rPr>
              <a:t>k</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visit[k] = FALSE;</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DFS(</a:t>
            </a:r>
            <a:r>
              <a:rPr lang="en-US" altLang="zh-CN" dirty="0" err="1" smtClean="0">
                <a:latin typeface="Times New Roman" panose="02020603050405020304" pitchFamily="18" charset="0"/>
                <a:ea typeface="华文楷体" panose="02010600040101010101" pitchFamily="2" charset="-122"/>
              </a:rPr>
              <a:t>G,i</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return (visit[j]==FALSE)?FALSE:TRUE;</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7" name="文本框 6"/>
          <p:cNvSpPr txBox="1"/>
          <p:nvPr/>
        </p:nvSpPr>
        <p:spPr>
          <a:xfrm>
            <a:off x="4648200" y="3297839"/>
            <a:ext cx="4429546" cy="2585323"/>
          </a:xfrm>
          <a:prstGeom prst="rect">
            <a:avLst/>
          </a:prstGeom>
          <a:noFill/>
          <a:ln>
            <a:solidFill>
              <a:schemeClr val="accent1"/>
            </a:solidFill>
          </a:ln>
        </p:spPr>
        <p:txBody>
          <a:bodyPr wrap="none" rtlCol="0">
            <a:spAutoFit/>
          </a:bodyPr>
          <a:lstStyle/>
          <a:p>
            <a:r>
              <a:rPr lang="zh-CN" altLang="en-US" b="1" dirty="0" smtClean="0">
                <a:solidFill>
                  <a:srgbClr val="FF0000"/>
                </a:solidFill>
                <a:latin typeface="Times New Roman" panose="02020603050405020304" pitchFamily="18" charset="0"/>
                <a:ea typeface="华文楷体" panose="02010600040101010101" pitchFamily="2" charset="-122"/>
              </a:rPr>
              <a:t>广度</a:t>
            </a:r>
            <a:r>
              <a:rPr lang="zh-CN" altLang="en-US" b="1" dirty="0">
                <a:solidFill>
                  <a:srgbClr val="FF0000"/>
                </a:solidFill>
                <a:latin typeface="Times New Roman" panose="02020603050405020304" pitchFamily="18" charset="0"/>
                <a:ea typeface="华文楷体" panose="02010600040101010101" pitchFamily="2" charset="-122"/>
              </a:rPr>
              <a:t>优先</a:t>
            </a:r>
            <a:endParaRPr lang="en-US" altLang="zh-CN" b="1" dirty="0">
              <a:solidFill>
                <a:srgbClr val="FF0000"/>
              </a:solidFill>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bool visit[MAXV];</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Bool </a:t>
            </a:r>
            <a:r>
              <a:rPr lang="en-US" altLang="zh-CN" dirty="0" err="1" smtClean="0">
                <a:latin typeface="Times New Roman" panose="02020603050405020304" pitchFamily="18" charset="0"/>
                <a:ea typeface="华文楷体" panose="02010600040101010101" pitchFamily="2" charset="-122"/>
              </a:rPr>
              <a:t>BFSTavel</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Agraph</a:t>
            </a:r>
            <a:r>
              <a:rPr lang="en-US" altLang="zh-CN" dirty="0" smtClean="0">
                <a:latin typeface="Times New Roman" panose="02020603050405020304" pitchFamily="18" charset="0"/>
                <a:ea typeface="华文楷体" panose="02010600040101010101" pitchFamily="2" charset="-122"/>
              </a:rPr>
              <a:t> </a:t>
            </a:r>
            <a:r>
              <a:rPr lang="en-US" altLang="zh-CN" dirty="0">
                <a:latin typeface="Times New Roman" panose="02020603050405020304" pitchFamily="18" charset="0"/>
                <a:ea typeface="华文楷体" panose="02010600040101010101" pitchFamily="2" charset="-122"/>
              </a:rPr>
              <a:t>*G,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j)</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for(</a:t>
            </a:r>
            <a:r>
              <a:rPr lang="en-US" altLang="zh-CN" dirty="0" err="1">
                <a:latin typeface="Times New Roman" panose="02020603050405020304" pitchFamily="18" charset="0"/>
                <a:ea typeface="华文楷体" panose="02010600040101010101" pitchFamily="2" charset="-122"/>
              </a:rPr>
              <a:t>int</a:t>
            </a: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k </a:t>
            </a:r>
            <a:r>
              <a:rPr lang="en-US" altLang="zh-CN" dirty="0">
                <a:latin typeface="Times New Roman" panose="02020603050405020304" pitchFamily="18" charset="0"/>
                <a:ea typeface="华文楷体" panose="02010600040101010101" pitchFamily="2" charset="-122"/>
              </a:rPr>
              <a:t>=0; </a:t>
            </a:r>
            <a:r>
              <a:rPr lang="en-US" altLang="zh-CN" dirty="0" smtClean="0">
                <a:latin typeface="Times New Roman" panose="02020603050405020304" pitchFamily="18" charset="0"/>
                <a:ea typeface="华文楷体" panose="02010600040101010101" pitchFamily="2" charset="-122"/>
              </a:rPr>
              <a:t>k&lt;MAXV</a:t>
            </a: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k++)</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visit[k] </a:t>
            </a:r>
            <a:r>
              <a:rPr lang="en-US" altLang="zh-CN" dirty="0">
                <a:latin typeface="Times New Roman" panose="02020603050405020304" pitchFamily="18" charset="0"/>
                <a:ea typeface="华文楷体" panose="02010600040101010101" pitchFamily="2" charset="-122"/>
              </a:rPr>
              <a:t>= FALSE;</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BFS(</a:t>
            </a:r>
            <a:r>
              <a:rPr lang="en-US" altLang="zh-CN" dirty="0" err="1" smtClean="0">
                <a:latin typeface="Times New Roman" panose="02020603050405020304" pitchFamily="18" charset="0"/>
                <a:ea typeface="华文楷体" panose="02010600040101010101" pitchFamily="2" charset="-122"/>
              </a:rPr>
              <a:t>G,i</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return (visit[j]==FALSE)?FALSE:TRUE;</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8" name="文本框 7"/>
          <p:cNvSpPr txBox="1"/>
          <p:nvPr/>
        </p:nvSpPr>
        <p:spPr>
          <a:xfrm>
            <a:off x="838200" y="2088487"/>
            <a:ext cx="7010400" cy="923330"/>
          </a:xfrm>
          <a:prstGeom prst="rect">
            <a:avLst/>
          </a:prstGeom>
          <a:noFill/>
          <a:ln>
            <a:solidFill>
              <a:schemeClr val="accent1"/>
            </a:solidFill>
          </a:ln>
        </p:spPr>
        <p:txBody>
          <a:bodyPr wrap="square" rtlCol="0">
            <a:spAutoFit/>
          </a:bodyPr>
          <a:lstStyle/>
          <a:p>
            <a:r>
              <a:rPr lang="zh-CN" altLang="en-US" b="1" dirty="0">
                <a:solidFill>
                  <a:srgbClr val="FF0000"/>
                </a:solidFill>
                <a:latin typeface="Times New Roman" panose="02020603050405020304" pitchFamily="18" charset="0"/>
                <a:ea typeface="华文楷体" panose="02010600040101010101" pitchFamily="2" charset="-122"/>
              </a:rPr>
              <a:t>算法思想</a:t>
            </a:r>
            <a:r>
              <a:rPr lang="zh-CN" altLang="en-US" dirty="0">
                <a:latin typeface="Times New Roman" panose="02020603050405020304" pitchFamily="18" charset="0"/>
                <a:ea typeface="华文楷体" panose="02010600040101010101" pitchFamily="2" charset="-122"/>
              </a:rPr>
              <a:t>：先置全局变量</a:t>
            </a:r>
            <a:r>
              <a:rPr lang="en-US" altLang="zh-CN" dirty="0">
                <a:latin typeface="Times New Roman" panose="02020603050405020304" pitchFamily="18" charset="0"/>
                <a:ea typeface="华文楷体" panose="02010600040101010101" pitchFamily="2" charset="-122"/>
              </a:rPr>
              <a:t>visit[MAXV]=FALSE;</a:t>
            </a:r>
            <a:r>
              <a:rPr lang="zh-CN" altLang="en-US" dirty="0" smtClean="0">
                <a:latin typeface="Times New Roman" panose="02020603050405020304" pitchFamily="18" charset="0"/>
                <a:ea typeface="华文楷体" panose="02010600040101010101" pitchFamily="2" charset="-122"/>
              </a:rPr>
              <a:t>从顶点</a:t>
            </a:r>
            <a:r>
              <a:rPr lang="en-US" altLang="zh-CN" dirty="0" err="1" smtClean="0">
                <a:latin typeface="Times New Roman" panose="02020603050405020304" pitchFamily="18" charset="0"/>
                <a:ea typeface="华文楷体" panose="02010600040101010101" pitchFamily="2" charset="-122"/>
              </a:rPr>
              <a:t>i</a:t>
            </a:r>
            <a:r>
              <a:rPr lang="zh-CN" altLang="en-US" dirty="0" smtClean="0">
                <a:latin typeface="Times New Roman" panose="02020603050405020304" pitchFamily="18" charset="0"/>
                <a:ea typeface="华文楷体" panose="02010600040101010101" pitchFamily="2" charset="-122"/>
              </a:rPr>
              <a:t>开始做深度优先遍历或广度优先遍历，遍历结束时若</a:t>
            </a:r>
            <a:r>
              <a:rPr lang="en-US" altLang="zh-CN" dirty="0" smtClean="0">
                <a:latin typeface="Times New Roman" panose="02020603050405020304" pitchFamily="18" charset="0"/>
                <a:ea typeface="华文楷体" panose="02010600040101010101" pitchFamily="2" charset="-122"/>
              </a:rPr>
              <a:t>visit[j]==TRUE;</a:t>
            </a:r>
            <a:r>
              <a:rPr lang="zh-CN" altLang="en-US" dirty="0" smtClean="0">
                <a:latin typeface="Times New Roman" panose="02020603050405020304" pitchFamily="18" charset="0"/>
                <a:ea typeface="华文楷体" panose="02010600040101010101" pitchFamily="2" charset="-122"/>
              </a:rPr>
              <a:t>则说明顶点</a:t>
            </a:r>
            <a:r>
              <a:rPr lang="en-US" altLang="zh-CN" dirty="0" err="1" smtClean="0">
                <a:latin typeface="Times New Roman" panose="02020603050405020304" pitchFamily="18" charset="0"/>
                <a:ea typeface="华文楷体" panose="02010600040101010101" pitchFamily="2" charset="-122"/>
              </a:rPr>
              <a:t>i</a:t>
            </a:r>
            <a:r>
              <a:rPr lang="zh-CN" altLang="en-US" dirty="0" smtClean="0">
                <a:latin typeface="Times New Roman" panose="02020603050405020304" pitchFamily="18" charset="0"/>
                <a:ea typeface="华文楷体" panose="02010600040101010101" pitchFamily="2" charset="-122"/>
              </a:rPr>
              <a:t>与</a:t>
            </a:r>
            <a:r>
              <a:rPr lang="en-US" altLang="zh-CN" dirty="0" smtClean="0">
                <a:latin typeface="Times New Roman" panose="02020603050405020304" pitchFamily="18" charset="0"/>
                <a:ea typeface="华文楷体" panose="02010600040101010101" pitchFamily="2" charset="-122"/>
              </a:rPr>
              <a:t>j</a:t>
            </a:r>
            <a:r>
              <a:rPr lang="zh-CN" altLang="en-US" dirty="0" smtClean="0">
                <a:latin typeface="Times New Roman" panose="02020603050405020304" pitchFamily="18" charset="0"/>
                <a:ea typeface="华文楷体" panose="02010600040101010101" pitchFamily="2" charset="-122"/>
              </a:rPr>
              <a:t>之间有路径，否则无路径。</a:t>
            </a:r>
            <a:endParaRPr lang="zh-CN" altLang="en-US" dirty="0"/>
          </a:p>
        </p:txBody>
      </p:sp>
      <p:cxnSp>
        <p:nvCxnSpPr>
          <p:cNvPr id="10" name="直接连接符 9"/>
          <p:cNvCxnSpPr/>
          <p:nvPr/>
        </p:nvCxnSpPr>
        <p:spPr>
          <a:xfrm>
            <a:off x="4552950" y="3027362"/>
            <a:ext cx="38100" cy="3810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096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7.4 </a:t>
            </a:r>
            <a:r>
              <a:rPr lang="zh-CN" altLang="en-US" sz="2800" dirty="0" smtClean="0">
                <a:ea typeface="华文楷体" panose="02010600040101010101" pitchFamily="2" charset="-122"/>
              </a:rPr>
              <a:t>图的连通性</a:t>
            </a:r>
            <a:endParaRPr lang="zh-CN" altLang="en-US" sz="2800" dirty="0" smtClean="0">
              <a:ea typeface="华文楷体" panose="02010600040101010101" pitchFamily="2" charset="-122"/>
            </a:endParaRPr>
          </a:p>
        </p:txBody>
      </p:sp>
      <p:sp>
        <p:nvSpPr>
          <p:cNvPr id="40965"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1 </a:t>
            </a:r>
            <a:r>
              <a:rPr lang="zh-CN" altLang="en-US" sz="2400" b="1" dirty="0" smtClean="0">
                <a:solidFill>
                  <a:srgbClr val="800000"/>
                </a:solidFill>
                <a:ea typeface="华文楷体" panose="02010600040101010101" pitchFamily="2" charset="-122"/>
              </a:rPr>
              <a:t>无向图的连通分量和生成树</a:t>
            </a:r>
            <a:endParaRPr lang="zh-CN" altLang="en-US" sz="2400" b="1"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连通图的生成树</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lnSpc>
                <a:spcPct val="90000"/>
              </a:lnSpc>
            </a:pPr>
            <a:r>
              <a:rPr lang="zh-CN" altLang="en-US" sz="2400" b="1" dirty="0" smtClean="0">
                <a:solidFill>
                  <a:srgbClr val="FF3300"/>
                </a:solidFill>
                <a:ea typeface="华文楷体" panose="02010600040101010101" pitchFamily="2" charset="-122"/>
              </a:rPr>
              <a:t>生成树</a:t>
            </a:r>
            <a:r>
              <a:rPr lang="zh-CN" altLang="en-US" sz="2400" dirty="0" smtClean="0">
                <a:ea typeface="华文楷体" panose="02010600040101010101" pitchFamily="2" charset="-122"/>
              </a:rPr>
              <a:t>是图</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的一个子图，该子图是包含</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的所有顶点的树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或者是自由树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未确定根结点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若图</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个顶点，则其生成树必具有</a:t>
            </a:r>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条边。</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生成树是包含图中所有顶点的极小连通子图。</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生成树可以通过对图的深度</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广度优先遍历而得到，称之为深度</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广度优先生成树。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zh-CN" altLang="en-US" sz="2400" dirty="0">
                <a:ea typeface="华文楷体" panose="02010600040101010101" pitchFamily="2" charset="-122"/>
              </a:rPr>
              <a:t>在算法中，访问一个结点时</a:t>
            </a:r>
            <a:r>
              <a:rPr lang="en-US" altLang="zh-CN" sz="2400" dirty="0" err="1">
                <a:ea typeface="华文楷体" panose="02010600040101010101" pitchFamily="2" charset="-122"/>
              </a:rPr>
              <a:t>v</a:t>
            </a:r>
            <a:r>
              <a:rPr lang="en-US" altLang="zh-CN" sz="2400" baseline="-25000" dirty="0" err="1">
                <a:ea typeface="华文楷体" panose="02010600040101010101" pitchFamily="2" charset="-122"/>
              </a:rPr>
              <a:t>j</a:t>
            </a:r>
            <a:r>
              <a:rPr lang="zh-CN" altLang="en-US" sz="2400" dirty="0">
                <a:ea typeface="华文楷体" panose="02010600040101010101" pitchFamily="2" charset="-122"/>
              </a:rPr>
              <a:t>，同时记录它的父结点</a:t>
            </a:r>
            <a:r>
              <a:rPr lang="en-US" altLang="zh-CN" sz="2400" dirty="0">
                <a:ea typeface="华文楷体" panose="02010600040101010101" pitchFamily="2" charset="-122"/>
              </a:rPr>
              <a:t>v</a:t>
            </a:r>
            <a:r>
              <a:rPr lang="en-US" altLang="zh-CN" sz="2400" baseline="-25000" dirty="0">
                <a:ea typeface="华文楷体" panose="02010600040101010101" pitchFamily="2" charset="-122"/>
              </a:rPr>
              <a:t>i</a:t>
            </a:r>
            <a:r>
              <a:rPr lang="zh-CN" altLang="en-US" sz="2400" dirty="0">
                <a:ea typeface="华文楷体" panose="02010600040101010101" pitchFamily="2" charset="-122"/>
              </a:rPr>
              <a:t>，</a:t>
            </a:r>
            <a:r>
              <a:rPr lang="en-US" altLang="zh-CN" sz="2400" dirty="0">
                <a:ea typeface="华文楷体" panose="02010600040101010101" pitchFamily="2" charset="-122"/>
              </a:rPr>
              <a:t>(v</a:t>
            </a:r>
            <a:r>
              <a:rPr lang="en-US" altLang="zh-CN" sz="2400" baseline="-25000" dirty="0">
                <a:ea typeface="华文楷体" panose="02010600040101010101" pitchFamily="2" charset="-122"/>
              </a:rPr>
              <a:t>i</a:t>
            </a:r>
            <a:r>
              <a:rPr lang="en-US" altLang="zh-CN" sz="2400" dirty="0">
                <a:ea typeface="华文楷体" panose="02010600040101010101" pitchFamily="2" charset="-122"/>
              </a:rPr>
              <a:t> ,</a:t>
            </a:r>
            <a:r>
              <a:rPr lang="en-US" altLang="zh-CN" sz="2400" dirty="0" err="1">
                <a:ea typeface="华文楷体" panose="02010600040101010101" pitchFamily="2" charset="-122"/>
              </a:rPr>
              <a:t>v</a:t>
            </a:r>
            <a:r>
              <a:rPr lang="en-US" altLang="zh-CN" sz="2400" baseline="-25000" dirty="0" err="1">
                <a:ea typeface="华文楷体" panose="02010600040101010101" pitchFamily="2" charset="-122"/>
              </a:rPr>
              <a:t>j</a:t>
            </a:r>
            <a:r>
              <a:rPr lang="en-US" altLang="zh-CN" sz="2400" dirty="0">
                <a:ea typeface="华文楷体" panose="02010600040101010101" pitchFamily="2" charset="-122"/>
              </a:rPr>
              <a:t>)</a:t>
            </a:r>
            <a:r>
              <a:rPr lang="zh-CN" altLang="en-US" sz="2400" dirty="0">
                <a:ea typeface="华文楷体" panose="02010600040101010101" pitchFamily="2" charset="-122"/>
              </a:rPr>
              <a:t>是生成树的一条</a:t>
            </a:r>
            <a:r>
              <a:rPr lang="zh-CN" altLang="en-US" sz="2400" dirty="0" smtClean="0">
                <a:ea typeface="华文楷体" panose="02010600040101010101" pitchFamily="2" charset="-122"/>
              </a:rPr>
              <a:t>边，即树边。</a:t>
            </a:r>
            <a:endParaRPr lang="zh-CN" altLang="en-US" sz="2400" dirty="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3"/>
          <p:cNvSpPr>
            <a:spLocks noGrp="1"/>
          </p:cNvSpPr>
          <p:nvPr>
            <p:ph type="ftr" sz="quarter" idx="10"/>
          </p:nvPr>
        </p:nvSpPr>
        <p:spPr/>
        <p:txBody>
          <a:bodyPr/>
          <a:lstStyle/>
          <a:p>
            <a:pPr>
              <a:defRPr/>
            </a:pPr>
            <a:r>
              <a:rPr lang="en-US" altLang="zh-CN"/>
              <a:t>BUPT SCST</a:t>
            </a:r>
            <a:endParaRPr lang="en-US" altLang="zh-CN"/>
          </a:p>
        </p:txBody>
      </p:sp>
      <p:sp>
        <p:nvSpPr>
          <p:cNvPr id="37" name="日期占位符 5"/>
          <p:cNvSpPr>
            <a:spLocks noGrp="1"/>
          </p:cNvSpPr>
          <p:nvPr>
            <p:ph type="dt" sz="quarter" idx="12"/>
          </p:nvPr>
        </p:nvSpPr>
        <p:spPr/>
        <p:txBody>
          <a:bodyPr/>
          <a:lstStyle/>
          <a:p>
            <a:pPr>
              <a:defRPr/>
            </a:pPr>
            <a:r>
              <a:rPr lang="en-US" altLang="zh-CN"/>
              <a:t>BUPT</a:t>
            </a:r>
            <a:endParaRPr lang="en-US" altLang="zh-CN"/>
          </a:p>
        </p:txBody>
      </p:sp>
      <p:sp>
        <p:nvSpPr>
          <p:cNvPr id="4198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1989" name="Rectangle 3"/>
          <p:cNvSpPr>
            <a:spLocks noGrp="1" noChangeArrowheads="1"/>
          </p:cNvSpPr>
          <p:nvPr>
            <p:ph type="body" idx="1"/>
          </p:nvPr>
        </p:nvSpPr>
        <p:spPr/>
        <p:txBody>
          <a:bodyPr/>
          <a:lstStyle/>
          <a:p>
            <a:pPr eaLnBrk="1" hangingPunct="1"/>
            <a:r>
              <a:rPr lang="zh-CN" altLang="en-US" sz="2400" dirty="0" smtClean="0">
                <a:ea typeface="华文楷体" panose="02010600040101010101" pitchFamily="2" charset="-122"/>
              </a:rPr>
              <a:t>一般情况，</a:t>
            </a:r>
            <a:r>
              <a:rPr lang="en-US" altLang="zh-CN" sz="2400" dirty="0" smtClean="0">
                <a:ea typeface="华文楷体" panose="02010600040101010101" pitchFamily="2" charset="-122"/>
              </a:rPr>
              <a:t>BFS(</a:t>
            </a:r>
            <a:r>
              <a:rPr lang="zh-CN" altLang="en-US" sz="2400" dirty="0" smtClean="0">
                <a:ea typeface="华文楷体" panose="02010600040101010101" pitchFamily="2" charset="-122"/>
              </a:rPr>
              <a:t>广度优先搜索</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生成树的树高小于</a:t>
            </a:r>
            <a:r>
              <a:rPr lang="en-US" altLang="zh-CN" sz="2400" dirty="0" smtClean="0">
                <a:ea typeface="华文楷体" panose="02010600040101010101" pitchFamily="2" charset="-122"/>
              </a:rPr>
              <a:t>DFS(</a:t>
            </a:r>
            <a:r>
              <a:rPr lang="zh-CN" altLang="en-US" sz="2400" dirty="0" smtClean="0">
                <a:ea typeface="华文楷体" panose="02010600040101010101" pitchFamily="2" charset="-122"/>
              </a:rPr>
              <a:t>深度优先搜索</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生成树的高度。</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一个图的生成树是不唯一的</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从不同的顶点出发</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采用不同的存储结构和存储顺序</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41990" name="Oval 4"/>
          <p:cNvSpPr>
            <a:spLocks noChangeArrowheads="1"/>
          </p:cNvSpPr>
          <p:nvPr/>
        </p:nvSpPr>
        <p:spPr bwMode="auto">
          <a:xfrm>
            <a:off x="1600200" y="4038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1991" name="Oval 5"/>
          <p:cNvSpPr>
            <a:spLocks noChangeArrowheads="1"/>
          </p:cNvSpPr>
          <p:nvPr/>
        </p:nvSpPr>
        <p:spPr bwMode="auto">
          <a:xfrm>
            <a:off x="3352800" y="4038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1992" name="Line 6"/>
          <p:cNvSpPr>
            <a:spLocks noChangeShapeType="1"/>
          </p:cNvSpPr>
          <p:nvPr/>
        </p:nvSpPr>
        <p:spPr bwMode="auto">
          <a:xfrm>
            <a:off x="2057400" y="42672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993" name="Oval 7"/>
          <p:cNvSpPr>
            <a:spLocks noChangeArrowheads="1"/>
          </p:cNvSpPr>
          <p:nvPr/>
        </p:nvSpPr>
        <p:spPr bwMode="auto">
          <a:xfrm>
            <a:off x="1600200" y="6096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1994" name="Oval 8"/>
          <p:cNvSpPr>
            <a:spLocks noChangeArrowheads="1"/>
          </p:cNvSpPr>
          <p:nvPr/>
        </p:nvSpPr>
        <p:spPr bwMode="auto">
          <a:xfrm>
            <a:off x="3352800" y="6096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1995" name="Line 9"/>
          <p:cNvSpPr>
            <a:spLocks noChangeShapeType="1"/>
          </p:cNvSpPr>
          <p:nvPr/>
        </p:nvSpPr>
        <p:spPr bwMode="auto">
          <a:xfrm flipH="1">
            <a:off x="1752600" y="4419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996" name="Line 10"/>
          <p:cNvSpPr>
            <a:spLocks noChangeShapeType="1"/>
          </p:cNvSpPr>
          <p:nvPr/>
        </p:nvSpPr>
        <p:spPr bwMode="auto">
          <a:xfrm flipH="1">
            <a:off x="3657600" y="4419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997" name="Oval 11"/>
          <p:cNvSpPr>
            <a:spLocks noChangeArrowheads="1"/>
          </p:cNvSpPr>
          <p:nvPr/>
        </p:nvSpPr>
        <p:spPr bwMode="auto">
          <a:xfrm>
            <a:off x="2057400" y="4419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41998" name="Line 12"/>
          <p:cNvSpPr>
            <a:spLocks noChangeShapeType="1"/>
          </p:cNvSpPr>
          <p:nvPr/>
        </p:nvSpPr>
        <p:spPr bwMode="auto">
          <a:xfrm>
            <a:off x="2057400" y="62484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999" name="Oval 13"/>
          <p:cNvSpPr>
            <a:spLocks noChangeArrowheads="1"/>
          </p:cNvSpPr>
          <p:nvPr/>
        </p:nvSpPr>
        <p:spPr bwMode="auto">
          <a:xfrm>
            <a:off x="1905000" y="4876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0" name="Oval 14"/>
          <p:cNvSpPr>
            <a:spLocks noChangeArrowheads="1"/>
          </p:cNvSpPr>
          <p:nvPr/>
        </p:nvSpPr>
        <p:spPr bwMode="auto">
          <a:xfrm>
            <a:off x="2438400" y="5715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1" name="Line 15"/>
          <p:cNvSpPr>
            <a:spLocks noChangeShapeType="1"/>
          </p:cNvSpPr>
          <p:nvPr/>
        </p:nvSpPr>
        <p:spPr bwMode="auto">
          <a:xfrm>
            <a:off x="2895600" y="5943600"/>
            <a:ext cx="5334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2" name="Line 16"/>
          <p:cNvSpPr>
            <a:spLocks noChangeShapeType="1"/>
          </p:cNvSpPr>
          <p:nvPr/>
        </p:nvSpPr>
        <p:spPr bwMode="auto">
          <a:xfrm flipV="1">
            <a:off x="1981200" y="59436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3" name="Line 17"/>
          <p:cNvSpPr>
            <a:spLocks noChangeShapeType="1"/>
          </p:cNvSpPr>
          <p:nvPr/>
        </p:nvSpPr>
        <p:spPr bwMode="auto">
          <a:xfrm>
            <a:off x="1828800" y="44196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4" name="Line 18"/>
          <p:cNvSpPr>
            <a:spLocks noChangeShapeType="1"/>
          </p:cNvSpPr>
          <p:nvPr/>
        </p:nvSpPr>
        <p:spPr bwMode="auto">
          <a:xfrm>
            <a:off x="1981200" y="43434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5" name="Oval 19"/>
          <p:cNvSpPr>
            <a:spLocks noChangeArrowheads="1"/>
          </p:cNvSpPr>
          <p:nvPr/>
        </p:nvSpPr>
        <p:spPr bwMode="auto">
          <a:xfrm>
            <a:off x="4800600" y="4038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6" name="Oval 20"/>
          <p:cNvSpPr>
            <a:spLocks noChangeArrowheads="1"/>
          </p:cNvSpPr>
          <p:nvPr/>
        </p:nvSpPr>
        <p:spPr bwMode="auto">
          <a:xfrm>
            <a:off x="6553200" y="4038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7" name="Oval 21"/>
          <p:cNvSpPr>
            <a:spLocks noChangeArrowheads="1"/>
          </p:cNvSpPr>
          <p:nvPr/>
        </p:nvSpPr>
        <p:spPr bwMode="auto">
          <a:xfrm>
            <a:off x="4800600" y="6096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8" name="Oval 22"/>
          <p:cNvSpPr>
            <a:spLocks noChangeArrowheads="1"/>
          </p:cNvSpPr>
          <p:nvPr/>
        </p:nvSpPr>
        <p:spPr bwMode="auto">
          <a:xfrm>
            <a:off x="6553200" y="6096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9" name="Line 23"/>
          <p:cNvSpPr>
            <a:spLocks noChangeShapeType="1"/>
          </p:cNvSpPr>
          <p:nvPr/>
        </p:nvSpPr>
        <p:spPr bwMode="auto">
          <a:xfrm flipH="1">
            <a:off x="4953000" y="4419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0" name="Line 24"/>
          <p:cNvSpPr>
            <a:spLocks noChangeShapeType="1"/>
          </p:cNvSpPr>
          <p:nvPr/>
        </p:nvSpPr>
        <p:spPr bwMode="auto">
          <a:xfrm flipH="1">
            <a:off x="6858000" y="4419600"/>
            <a:ext cx="0" cy="167640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1" name="Oval 25"/>
          <p:cNvSpPr>
            <a:spLocks noChangeArrowheads="1"/>
          </p:cNvSpPr>
          <p:nvPr/>
        </p:nvSpPr>
        <p:spPr bwMode="auto">
          <a:xfrm>
            <a:off x="5257800" y="4419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42012" name="Line 26"/>
          <p:cNvSpPr>
            <a:spLocks noChangeShapeType="1"/>
          </p:cNvSpPr>
          <p:nvPr/>
        </p:nvSpPr>
        <p:spPr bwMode="auto">
          <a:xfrm>
            <a:off x="5257800" y="6248400"/>
            <a:ext cx="1295400" cy="0"/>
          </a:xfrm>
          <a:prstGeom prst="line">
            <a:avLst/>
          </a:prstGeom>
          <a:noFill/>
          <a:ln w="19050">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3" name="Oval 27"/>
          <p:cNvSpPr>
            <a:spLocks noChangeArrowheads="1"/>
          </p:cNvSpPr>
          <p:nvPr/>
        </p:nvSpPr>
        <p:spPr bwMode="auto">
          <a:xfrm>
            <a:off x="5105400" y="4876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42014" name="Oval 28"/>
          <p:cNvSpPr>
            <a:spLocks noChangeArrowheads="1"/>
          </p:cNvSpPr>
          <p:nvPr/>
        </p:nvSpPr>
        <p:spPr bwMode="auto">
          <a:xfrm>
            <a:off x="5638800" y="5715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M</a:t>
            </a:r>
            <a:endParaRPr kumimoji="1" lang="en-US" altLang="zh-CN" sz="1600" b="1" u="sng" dirty="0">
              <a:latin typeface="Times New Roman" panose="02020603050405020304" pitchFamily="18" charset="0"/>
              <a:ea typeface="华文楷体" panose="02010600040101010101" pitchFamily="2" charset="-122"/>
            </a:endParaRPr>
          </a:p>
        </p:txBody>
      </p:sp>
      <p:sp>
        <p:nvSpPr>
          <p:cNvPr id="42015" name="Line 29"/>
          <p:cNvSpPr>
            <a:spLocks noChangeShapeType="1"/>
          </p:cNvSpPr>
          <p:nvPr/>
        </p:nvSpPr>
        <p:spPr bwMode="auto">
          <a:xfrm flipV="1">
            <a:off x="5181600" y="5943600"/>
            <a:ext cx="45720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6" name="Line 30"/>
          <p:cNvSpPr>
            <a:spLocks noChangeShapeType="1"/>
          </p:cNvSpPr>
          <p:nvPr/>
        </p:nvSpPr>
        <p:spPr bwMode="auto">
          <a:xfrm>
            <a:off x="5029200" y="4419600"/>
            <a:ext cx="22860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7" name="Line 31"/>
          <p:cNvSpPr>
            <a:spLocks noChangeShapeType="1"/>
          </p:cNvSpPr>
          <p:nvPr/>
        </p:nvSpPr>
        <p:spPr bwMode="auto">
          <a:xfrm>
            <a:off x="5181600" y="4343400"/>
            <a:ext cx="152400" cy="152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18" name="Text Box 32"/>
          <p:cNvSpPr txBox="1">
            <a:spLocks noChangeArrowheads="1"/>
          </p:cNvSpPr>
          <p:nvPr/>
        </p:nvSpPr>
        <p:spPr bwMode="auto">
          <a:xfrm>
            <a:off x="2057400" y="3657600"/>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 </a:t>
            </a:r>
            <a:endParaRPr kumimoji="1" lang="en-US" altLang="zh-CN" sz="1600" b="1" dirty="0">
              <a:latin typeface="Times New Roman" panose="02020603050405020304" pitchFamily="18" charset="0"/>
              <a:ea typeface="华文楷体" panose="02010600040101010101" pitchFamily="2" charset="-122"/>
            </a:endParaRPr>
          </a:p>
        </p:txBody>
      </p:sp>
      <p:sp>
        <p:nvSpPr>
          <p:cNvPr id="42019" name="Text Box 33"/>
          <p:cNvSpPr txBox="1">
            <a:spLocks noChangeArrowheads="1"/>
          </p:cNvSpPr>
          <p:nvPr/>
        </p:nvSpPr>
        <p:spPr bwMode="auto">
          <a:xfrm>
            <a:off x="4953000" y="3657600"/>
            <a:ext cx="1905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无向图</a:t>
            </a:r>
            <a:r>
              <a:rPr kumimoji="1" lang="en-US" altLang="zh-CN" sz="1600" b="1" dirty="0">
                <a:latin typeface="Times New Roman" panose="02020603050405020304" pitchFamily="18" charset="0"/>
                <a:ea typeface="华文楷体" panose="02010600040101010101" pitchFamily="2" charset="-122"/>
              </a:rPr>
              <a:t>G</a:t>
            </a:r>
            <a:r>
              <a:rPr kumimoji="1" lang="zh-CN" altLang="zh-CN" sz="1600" b="1" dirty="0">
                <a:latin typeface="Times New Roman" panose="02020603050405020304" pitchFamily="18" charset="0"/>
                <a:ea typeface="华文楷体" panose="02010600040101010101" pitchFamily="2" charset="-122"/>
              </a:rPr>
              <a:t>的生成树</a:t>
            </a:r>
            <a:r>
              <a:rPr kumimoji="1" lang="zh-CN" altLang="en-US" sz="1600" b="1" dirty="0">
                <a:latin typeface="Times New Roman" panose="02020603050405020304" pitchFamily="18" charset="0"/>
                <a:ea typeface="华文楷体" panose="02010600040101010101" pitchFamily="2" charset="-122"/>
              </a:rPr>
              <a:t> </a:t>
            </a:r>
            <a:endParaRPr kumimoji="1" lang="zh-CN" altLang="en-US" sz="1600" b="1" dirty="0">
              <a:latin typeface="Times New Roman" panose="02020603050405020304" pitchFamily="18" charset="0"/>
              <a:ea typeface="华文楷体" panose="02010600040101010101" pitchFamily="2" charset="-122"/>
            </a:endParaRPr>
          </a:p>
        </p:txBody>
      </p:sp>
      <p:sp>
        <p:nvSpPr>
          <p:cNvPr id="50210" name="Line 34"/>
          <p:cNvSpPr>
            <a:spLocks noChangeShapeType="1"/>
          </p:cNvSpPr>
          <p:nvPr/>
        </p:nvSpPr>
        <p:spPr bwMode="auto">
          <a:xfrm>
            <a:off x="6096000" y="5867400"/>
            <a:ext cx="533400" cy="304800"/>
          </a:xfrm>
          <a:prstGeom prst="line">
            <a:avLst/>
          </a:prstGeom>
          <a:noFill/>
          <a:ln w="76200">
            <a:solidFill>
              <a:schemeClr val="accent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0211" name="Line 35"/>
          <p:cNvSpPr>
            <a:spLocks noChangeShapeType="1"/>
          </p:cNvSpPr>
          <p:nvPr/>
        </p:nvSpPr>
        <p:spPr bwMode="auto">
          <a:xfrm>
            <a:off x="5257800" y="4191000"/>
            <a:ext cx="1295400" cy="0"/>
          </a:xfrm>
          <a:prstGeom prst="line">
            <a:avLst/>
          </a:prstGeom>
          <a:noFill/>
          <a:ln w="76200">
            <a:solidFill>
              <a:schemeClr val="accent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0210"/>
                                        </p:tgtEl>
                                        <p:attrNameLst>
                                          <p:attrName>style.visibility</p:attrName>
                                        </p:attrNameLst>
                                      </p:cBhvr>
                                      <p:to>
                                        <p:strVal val="visible"/>
                                      </p:to>
                                    </p:set>
                                    <p:anim calcmode="lin" valueType="num">
                                      <p:cBhvr additive="base">
                                        <p:cTn id="7" dur="500" fill="hold"/>
                                        <p:tgtEl>
                                          <p:spTgt spid="50210"/>
                                        </p:tgtEl>
                                        <p:attrNameLst>
                                          <p:attrName>ppt_x</p:attrName>
                                        </p:attrNameLst>
                                      </p:cBhvr>
                                      <p:tavLst>
                                        <p:tav tm="0">
                                          <p:val>
                                            <p:strVal val="1+#ppt_w/2"/>
                                          </p:val>
                                        </p:tav>
                                        <p:tav tm="100000">
                                          <p:val>
                                            <p:strVal val="#ppt_x"/>
                                          </p:val>
                                        </p:tav>
                                      </p:tavLst>
                                    </p:anim>
                                    <p:anim calcmode="lin" valueType="num">
                                      <p:cBhvr additive="base">
                                        <p:cTn id="8" dur="500" fill="hold"/>
                                        <p:tgtEl>
                                          <p:spTgt spid="502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50211"/>
                                        </p:tgtEl>
                                        <p:attrNameLst>
                                          <p:attrName>style.visibility</p:attrName>
                                        </p:attrNameLst>
                                      </p:cBhvr>
                                      <p:to>
                                        <p:strVal val="visible"/>
                                      </p:to>
                                    </p:set>
                                    <p:animEffect transition="in" filter="box(out)">
                                      <p:cBhvr>
                                        <p:cTn id="13" dur="500"/>
                                        <p:tgtEl>
                                          <p:spTgt spid="50211"/>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页脚占位符 3"/>
          <p:cNvSpPr>
            <a:spLocks noGrp="1"/>
          </p:cNvSpPr>
          <p:nvPr>
            <p:ph type="ftr" sz="quarter" idx="10"/>
          </p:nvPr>
        </p:nvSpPr>
        <p:spPr/>
        <p:txBody>
          <a:bodyPr/>
          <a:lstStyle/>
          <a:p>
            <a:pPr>
              <a:defRPr/>
            </a:pPr>
            <a:r>
              <a:rPr lang="en-US" altLang="zh-CN"/>
              <a:t>BUPT SCST</a:t>
            </a:r>
            <a:endParaRPr lang="en-US" altLang="zh-CN"/>
          </a:p>
        </p:txBody>
      </p:sp>
      <p:sp>
        <p:nvSpPr>
          <p:cNvPr id="31" name="日期占位符 5"/>
          <p:cNvSpPr>
            <a:spLocks noGrp="1"/>
          </p:cNvSpPr>
          <p:nvPr>
            <p:ph type="dt" sz="quarter" idx="12"/>
          </p:nvPr>
        </p:nvSpPr>
        <p:spPr/>
        <p:txBody>
          <a:bodyPr/>
          <a:lstStyle/>
          <a:p>
            <a:pPr>
              <a:defRPr/>
            </a:pPr>
            <a:r>
              <a:rPr lang="en-US" altLang="zh-CN"/>
              <a:t>BUPT</a:t>
            </a:r>
            <a:endParaRPr lang="en-US" altLang="zh-CN"/>
          </a:p>
        </p:txBody>
      </p:sp>
      <p:sp>
        <p:nvSpPr>
          <p:cNvPr id="430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301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非连通图的生成森林</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r>
              <a:rPr lang="zh-CN" altLang="en-US" sz="2400" dirty="0" smtClean="0">
                <a:ea typeface="华文楷体" panose="02010600040101010101" pitchFamily="2" charset="-122"/>
              </a:rPr>
              <a:t>一个连通分量及其遍历时走过的边构成一棵生成树。</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非连通图的各连通分量的生成树组成</a:t>
            </a:r>
            <a:r>
              <a:rPr lang="zh-CN" altLang="en-US" sz="2400" b="1" dirty="0" smtClean="0">
                <a:solidFill>
                  <a:srgbClr val="FF3300"/>
                </a:solidFill>
                <a:ea typeface="华文楷体" panose="02010600040101010101" pitchFamily="2" charset="-122"/>
              </a:rPr>
              <a:t>生成森林</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p:txBody>
      </p:sp>
      <p:sp>
        <p:nvSpPr>
          <p:cNvPr id="43014" name="Oval 4"/>
          <p:cNvSpPr>
            <a:spLocks noChangeArrowheads="1"/>
          </p:cNvSpPr>
          <p:nvPr/>
        </p:nvSpPr>
        <p:spPr bwMode="auto">
          <a:xfrm>
            <a:off x="2362200" y="2971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15" name="Oval 5"/>
          <p:cNvSpPr>
            <a:spLocks noChangeArrowheads="1"/>
          </p:cNvSpPr>
          <p:nvPr/>
        </p:nvSpPr>
        <p:spPr bwMode="auto">
          <a:xfrm>
            <a:off x="1447800" y="3886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16" name="Oval 6"/>
          <p:cNvSpPr>
            <a:spLocks noChangeArrowheads="1"/>
          </p:cNvSpPr>
          <p:nvPr/>
        </p:nvSpPr>
        <p:spPr bwMode="auto">
          <a:xfrm>
            <a:off x="2362200" y="3810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17" name="Oval 7"/>
          <p:cNvSpPr>
            <a:spLocks noChangeArrowheads="1"/>
          </p:cNvSpPr>
          <p:nvPr/>
        </p:nvSpPr>
        <p:spPr bwMode="auto">
          <a:xfrm>
            <a:off x="3429000" y="3810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18" name="Oval 8"/>
          <p:cNvSpPr>
            <a:spLocks noChangeArrowheads="1"/>
          </p:cNvSpPr>
          <p:nvPr/>
        </p:nvSpPr>
        <p:spPr bwMode="auto">
          <a:xfrm>
            <a:off x="1905000" y="4953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19" name="Oval 9"/>
          <p:cNvSpPr>
            <a:spLocks noChangeArrowheads="1"/>
          </p:cNvSpPr>
          <p:nvPr/>
        </p:nvSpPr>
        <p:spPr bwMode="auto">
          <a:xfrm>
            <a:off x="3124200" y="4953000"/>
            <a:ext cx="3048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20" name="Line 10"/>
          <p:cNvSpPr>
            <a:spLocks noChangeShapeType="1"/>
          </p:cNvSpPr>
          <p:nvPr/>
        </p:nvSpPr>
        <p:spPr bwMode="auto">
          <a:xfrm flipH="1">
            <a:off x="1676400" y="3276600"/>
            <a:ext cx="685800" cy="6096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1" name="Line 11"/>
          <p:cNvSpPr>
            <a:spLocks noChangeShapeType="1"/>
          </p:cNvSpPr>
          <p:nvPr/>
        </p:nvSpPr>
        <p:spPr bwMode="auto">
          <a:xfrm>
            <a:off x="2743200" y="3276600"/>
            <a:ext cx="8382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2" name="Line 12"/>
          <p:cNvSpPr>
            <a:spLocks noChangeShapeType="1"/>
          </p:cNvSpPr>
          <p:nvPr/>
        </p:nvSpPr>
        <p:spPr bwMode="auto">
          <a:xfrm>
            <a:off x="1676400" y="4267200"/>
            <a:ext cx="381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3" name="Line 13"/>
          <p:cNvSpPr>
            <a:spLocks noChangeShapeType="1"/>
          </p:cNvSpPr>
          <p:nvPr/>
        </p:nvSpPr>
        <p:spPr bwMode="auto">
          <a:xfrm flipH="1">
            <a:off x="2286000" y="4191000"/>
            <a:ext cx="304800" cy="8382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4" name="Line 14"/>
          <p:cNvSpPr>
            <a:spLocks noChangeShapeType="1"/>
          </p:cNvSpPr>
          <p:nvPr/>
        </p:nvSpPr>
        <p:spPr bwMode="auto">
          <a:xfrm>
            <a:off x="2590800" y="4191000"/>
            <a:ext cx="6096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5" name="Line 15"/>
          <p:cNvSpPr>
            <a:spLocks noChangeShapeType="1"/>
          </p:cNvSpPr>
          <p:nvPr/>
        </p:nvSpPr>
        <p:spPr bwMode="auto">
          <a:xfrm>
            <a:off x="2514600" y="335280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6" name="Line 16"/>
          <p:cNvSpPr>
            <a:spLocks noChangeShapeType="1"/>
          </p:cNvSpPr>
          <p:nvPr/>
        </p:nvSpPr>
        <p:spPr bwMode="auto">
          <a:xfrm>
            <a:off x="1828800" y="4038600"/>
            <a:ext cx="5334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7" name="Line 17"/>
          <p:cNvSpPr>
            <a:spLocks noChangeShapeType="1"/>
          </p:cNvSpPr>
          <p:nvPr/>
        </p:nvSpPr>
        <p:spPr bwMode="auto">
          <a:xfrm>
            <a:off x="2743200" y="4038600"/>
            <a:ext cx="6858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8" name="Line 18"/>
          <p:cNvSpPr>
            <a:spLocks noChangeShapeType="1"/>
          </p:cNvSpPr>
          <p:nvPr/>
        </p:nvSpPr>
        <p:spPr bwMode="auto">
          <a:xfrm>
            <a:off x="2286000" y="5181600"/>
            <a:ext cx="8382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9" name="Oval 19"/>
          <p:cNvSpPr>
            <a:spLocks noChangeArrowheads="1"/>
          </p:cNvSpPr>
          <p:nvPr/>
        </p:nvSpPr>
        <p:spPr bwMode="auto">
          <a:xfrm>
            <a:off x="5181600" y="3276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0" name="Oval 20"/>
          <p:cNvSpPr>
            <a:spLocks noChangeArrowheads="1"/>
          </p:cNvSpPr>
          <p:nvPr/>
        </p:nvSpPr>
        <p:spPr bwMode="auto">
          <a:xfrm>
            <a:off x="4572000" y="4495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1" name="Oval 21"/>
          <p:cNvSpPr>
            <a:spLocks noChangeArrowheads="1"/>
          </p:cNvSpPr>
          <p:nvPr/>
        </p:nvSpPr>
        <p:spPr bwMode="auto">
          <a:xfrm>
            <a:off x="6019800" y="4572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2" name="Line 22"/>
          <p:cNvSpPr>
            <a:spLocks noChangeShapeType="1"/>
          </p:cNvSpPr>
          <p:nvPr/>
        </p:nvSpPr>
        <p:spPr bwMode="auto">
          <a:xfrm flipH="1">
            <a:off x="4800600" y="3657600"/>
            <a:ext cx="533400" cy="83820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33" name="Line 23"/>
          <p:cNvSpPr>
            <a:spLocks noChangeShapeType="1"/>
          </p:cNvSpPr>
          <p:nvPr/>
        </p:nvSpPr>
        <p:spPr bwMode="auto">
          <a:xfrm>
            <a:off x="5029200" y="4648200"/>
            <a:ext cx="1066800" cy="0"/>
          </a:xfrm>
          <a:prstGeom prst="line">
            <a:avLst/>
          </a:prstGeom>
          <a:noFill/>
          <a:ln w="952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34" name="Line 24"/>
          <p:cNvSpPr>
            <a:spLocks noChangeShapeType="1"/>
          </p:cNvSpPr>
          <p:nvPr/>
        </p:nvSpPr>
        <p:spPr bwMode="auto">
          <a:xfrm>
            <a:off x="5562600" y="3581400"/>
            <a:ext cx="6858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35" name="Text Box 25"/>
          <p:cNvSpPr txBox="1">
            <a:spLocks noChangeArrowheads="1"/>
          </p:cNvSpPr>
          <p:nvPr/>
        </p:nvSpPr>
        <p:spPr bwMode="auto">
          <a:xfrm>
            <a:off x="2133600" y="2895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3036" name="Text Box 26"/>
          <p:cNvSpPr txBox="1">
            <a:spLocks noChangeArrowheads="1"/>
          </p:cNvSpPr>
          <p:nvPr/>
        </p:nvSpPr>
        <p:spPr bwMode="auto">
          <a:xfrm>
            <a:off x="1295400" y="35814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2         3            4</a:t>
            </a:r>
            <a:endParaRPr kumimoji="1" lang="en-US" altLang="zh-CN" sz="2400" dirty="0">
              <a:latin typeface="Times New Roman" panose="02020603050405020304" pitchFamily="18" charset="0"/>
              <a:ea typeface="华文楷体" panose="02010600040101010101" pitchFamily="2" charset="-122"/>
            </a:endParaRPr>
          </a:p>
        </p:txBody>
      </p:sp>
      <p:sp>
        <p:nvSpPr>
          <p:cNvPr id="43037" name="Text Box 27"/>
          <p:cNvSpPr txBox="1">
            <a:spLocks noChangeArrowheads="1"/>
          </p:cNvSpPr>
          <p:nvPr/>
        </p:nvSpPr>
        <p:spPr bwMode="auto">
          <a:xfrm>
            <a:off x="1905000" y="52578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5            6</a:t>
            </a:r>
            <a:endParaRPr kumimoji="1" lang="en-US" altLang="zh-CN" sz="2400" dirty="0">
              <a:latin typeface="Times New Roman" panose="02020603050405020304" pitchFamily="18" charset="0"/>
              <a:ea typeface="华文楷体" panose="02010600040101010101" pitchFamily="2" charset="-122"/>
            </a:endParaRPr>
          </a:p>
        </p:txBody>
      </p:sp>
      <p:sp>
        <p:nvSpPr>
          <p:cNvPr id="43038" name="Text Box 28"/>
          <p:cNvSpPr txBox="1">
            <a:spLocks noChangeArrowheads="1"/>
          </p:cNvSpPr>
          <p:nvPr/>
        </p:nvSpPr>
        <p:spPr bwMode="auto">
          <a:xfrm>
            <a:off x="5410200" y="2971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7</a:t>
            </a:r>
            <a:endParaRPr kumimoji="1" lang="en-US" altLang="zh-CN" sz="2400" dirty="0">
              <a:latin typeface="Times New Roman" panose="02020603050405020304" pitchFamily="18" charset="0"/>
              <a:ea typeface="华文楷体" panose="02010600040101010101" pitchFamily="2" charset="-122"/>
            </a:endParaRPr>
          </a:p>
        </p:txBody>
      </p:sp>
      <p:sp>
        <p:nvSpPr>
          <p:cNvPr id="43039" name="Text Box 29"/>
          <p:cNvSpPr txBox="1">
            <a:spLocks noChangeArrowheads="1"/>
          </p:cNvSpPr>
          <p:nvPr/>
        </p:nvSpPr>
        <p:spPr bwMode="auto">
          <a:xfrm>
            <a:off x="4648200" y="4800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8             9</a:t>
            </a:r>
            <a:endParaRPr kumimoji="1"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0"/>
          </p:nvPr>
        </p:nvSpPr>
        <p:spPr/>
        <p:txBody>
          <a:bodyPr/>
          <a:lstStyle/>
          <a:p>
            <a:pPr>
              <a:defRPr/>
            </a:pPr>
            <a:r>
              <a:rPr lang="en-US" altLang="zh-CN"/>
              <a:t>BUPT SCST</a:t>
            </a:r>
            <a:endParaRPr lang="en-US" altLang="zh-CN"/>
          </a:p>
        </p:txBody>
      </p:sp>
      <p:sp>
        <p:nvSpPr>
          <p:cNvPr id="25" name="日期占位符 5"/>
          <p:cNvSpPr>
            <a:spLocks noGrp="1"/>
          </p:cNvSpPr>
          <p:nvPr>
            <p:ph type="dt" sz="quarter" idx="12"/>
          </p:nvPr>
        </p:nvSpPr>
        <p:spPr/>
        <p:txBody>
          <a:bodyPr/>
          <a:lstStyle/>
          <a:p>
            <a:pPr>
              <a:defRPr/>
            </a:pPr>
            <a:r>
              <a:rPr lang="en-US" altLang="zh-CN"/>
              <a:t>BUPT</a:t>
            </a:r>
            <a:endParaRPr lang="en-US" altLang="zh-CN"/>
          </a:p>
        </p:txBody>
      </p:sp>
      <p:sp>
        <p:nvSpPr>
          <p:cNvPr id="440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4037" name="Rectangle 3"/>
          <p:cNvSpPr>
            <a:spLocks noChangeArrowheads="1"/>
          </p:cNvSpPr>
          <p:nvPr/>
        </p:nvSpPr>
        <p:spPr bwMode="auto">
          <a:xfrm>
            <a:off x="0" y="1143000"/>
            <a:ext cx="4656138"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en-US" altLang="zh-CN" sz="2400" b="1" dirty="0">
                <a:solidFill>
                  <a:schemeClr val="accent2"/>
                </a:solidFill>
                <a:latin typeface="Times New Roman" panose="02020603050405020304" pitchFamily="18" charset="0"/>
                <a:ea typeface="华文楷体" panose="02010600040101010101" pitchFamily="2" charset="-122"/>
              </a:rPr>
              <a:t>2  </a:t>
            </a:r>
            <a:r>
              <a:rPr kumimoji="1" lang="zh-CN" altLang="en-US" sz="2400" b="1" dirty="0">
                <a:solidFill>
                  <a:schemeClr val="accent2"/>
                </a:solidFill>
                <a:latin typeface="Times New Roman" panose="02020603050405020304" pitchFamily="18" charset="0"/>
                <a:ea typeface="华文楷体" panose="02010600040101010101" pitchFamily="2" charset="-122"/>
              </a:rPr>
              <a:t>有向图的强连通分量的求法</a:t>
            </a:r>
            <a:endParaRPr kumimoji="1" lang="zh-CN" altLang="en-US" sz="2400" b="1" dirty="0">
              <a:solidFill>
                <a:schemeClr val="accent2"/>
              </a:solidFill>
              <a:latin typeface="Times New Roman" panose="02020603050405020304" pitchFamily="18" charset="0"/>
              <a:ea typeface="华文楷体" panose="02010600040101010101" pitchFamily="2" charset="-122"/>
            </a:endParaRPr>
          </a:p>
        </p:txBody>
      </p:sp>
      <p:sp>
        <p:nvSpPr>
          <p:cNvPr id="44038" name="AutoShape 4"/>
          <p:cNvSpPr>
            <a:spLocks noChangeAspect="1" noChangeArrowheads="1"/>
          </p:cNvSpPr>
          <p:nvPr/>
        </p:nvSpPr>
        <p:spPr bwMode="auto">
          <a:xfrm>
            <a:off x="3124200" y="6705600"/>
            <a:ext cx="914400" cy="914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39" name="Text Box 5"/>
          <p:cNvSpPr txBox="1">
            <a:spLocks noChangeArrowheads="1"/>
          </p:cNvSpPr>
          <p:nvPr/>
        </p:nvSpPr>
        <p:spPr bwMode="auto">
          <a:xfrm>
            <a:off x="457200" y="1600200"/>
            <a:ext cx="82296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Char char="•"/>
            </a:pPr>
            <a:r>
              <a:rPr kumimoji="1" lang="zh-CN" altLang="zh-CN" sz="1600" b="1" dirty="0">
                <a:latin typeface="Times New Roman" panose="02020603050405020304" pitchFamily="18" charset="0"/>
                <a:ea typeface="华文楷体" panose="02010600040101010101" pitchFamily="2" charset="-122"/>
              </a:rPr>
              <a:t>强连通图：有向图图 </a:t>
            </a:r>
            <a:r>
              <a:rPr kumimoji="1" lang="en-US" altLang="zh-CN" sz="1600" b="1" dirty="0">
                <a:latin typeface="Times New Roman" panose="02020603050405020304" pitchFamily="18" charset="0"/>
                <a:ea typeface="华文楷体" panose="02010600040101010101" pitchFamily="2" charset="-122"/>
              </a:rPr>
              <a:t>G </a:t>
            </a:r>
            <a:r>
              <a:rPr kumimoji="1" lang="zh-CN" altLang="zh-CN" sz="1600" b="1" dirty="0">
                <a:latin typeface="Times New Roman" panose="02020603050405020304" pitchFamily="18" charset="0"/>
                <a:ea typeface="华文楷体" panose="02010600040101010101" pitchFamily="2" charset="-122"/>
              </a:rPr>
              <a:t>的任意两点之间都是连通的，则称 </a:t>
            </a:r>
            <a:r>
              <a:rPr kumimoji="1" lang="en-US" altLang="zh-CN" sz="1600" b="1" dirty="0">
                <a:latin typeface="Times New Roman" panose="02020603050405020304" pitchFamily="18" charset="0"/>
                <a:ea typeface="华文楷体" panose="02010600040101010101" pitchFamily="2" charset="-122"/>
              </a:rPr>
              <a:t>G </a:t>
            </a:r>
            <a:r>
              <a:rPr kumimoji="1" lang="zh-CN" altLang="zh-CN" sz="1600" b="1" dirty="0">
                <a:latin typeface="Times New Roman" panose="02020603050405020304" pitchFamily="18" charset="0"/>
                <a:ea typeface="华文楷体" panose="02010600040101010101" pitchFamily="2" charset="-122"/>
              </a:rPr>
              <a:t>是强连通图。</a:t>
            </a:r>
            <a:endParaRPr kumimoji="1" lang="zh-CN" altLang="zh-CN" sz="1600" b="1" dirty="0">
              <a:latin typeface="Times New Roman" panose="02020603050405020304" pitchFamily="18" charset="0"/>
              <a:ea typeface="华文楷体" panose="02010600040101010101" pitchFamily="2" charset="-122"/>
            </a:endParaRPr>
          </a:p>
          <a:p>
            <a:pPr>
              <a:spcBef>
                <a:spcPct val="50000"/>
              </a:spcBef>
              <a:buClrTx/>
              <a:buFontTx/>
              <a:buChar char="•"/>
            </a:pPr>
            <a:r>
              <a:rPr kumimoji="1" lang="zh-CN" altLang="zh-CN" sz="1600" b="1" dirty="0">
                <a:latin typeface="Times New Roman" panose="02020603050405020304" pitchFamily="18" charset="0"/>
                <a:ea typeface="华文楷体" panose="02010600040101010101" pitchFamily="2" charset="-122"/>
              </a:rPr>
              <a:t>强连通分量：极大连通子图</a:t>
            </a:r>
            <a:endParaRPr kumimoji="1" lang="zh-CN" altLang="en-US" sz="1600" b="1" dirty="0">
              <a:latin typeface="Times New Roman" panose="02020603050405020304" pitchFamily="18" charset="0"/>
              <a:ea typeface="华文楷体" panose="02010600040101010101" pitchFamily="2" charset="-122"/>
            </a:endParaRPr>
          </a:p>
        </p:txBody>
      </p:sp>
      <p:sp>
        <p:nvSpPr>
          <p:cNvPr id="44040" name="Text Box 6"/>
          <p:cNvSpPr txBox="1">
            <a:spLocks noChangeArrowheads="1"/>
          </p:cNvSpPr>
          <p:nvPr/>
        </p:nvSpPr>
        <p:spPr bwMode="auto">
          <a:xfrm>
            <a:off x="990600" y="309245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dirty="0">
              <a:latin typeface="Times New Roman" panose="02020603050405020304" pitchFamily="18" charset="0"/>
              <a:ea typeface="华文楷体" panose="02010600040101010101" pitchFamily="2" charset="-122"/>
            </a:endParaRPr>
          </a:p>
        </p:txBody>
      </p:sp>
      <p:sp>
        <p:nvSpPr>
          <p:cNvPr id="44041" name="Text Box 7"/>
          <p:cNvSpPr txBox="1">
            <a:spLocks noChangeArrowheads="1"/>
          </p:cNvSpPr>
          <p:nvPr/>
        </p:nvSpPr>
        <p:spPr bwMode="auto">
          <a:xfrm>
            <a:off x="4800600" y="3048000"/>
            <a:ext cx="28956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a:latin typeface="Times New Roman" panose="02020603050405020304" pitchFamily="18" charset="0"/>
                <a:ea typeface="华文楷体" panose="02010600040101010101" pitchFamily="2" charset="-122"/>
              </a:rPr>
              <a:t>G</a:t>
            </a:r>
            <a:r>
              <a:rPr kumimoji="1" lang="zh-CN" altLang="zh-CN" sz="1600" b="1" dirty="0">
                <a:latin typeface="Times New Roman" panose="02020603050405020304" pitchFamily="18" charset="0"/>
                <a:ea typeface="华文楷体" panose="02010600040101010101" pitchFamily="2" charset="-122"/>
              </a:rPr>
              <a:t>的两个强连通分量</a:t>
            </a:r>
            <a:endParaRPr kumimoji="1" lang="zh-CN" altLang="en-US" sz="1600" b="1" dirty="0">
              <a:latin typeface="Times New Roman" panose="02020603050405020304" pitchFamily="18" charset="0"/>
              <a:ea typeface="华文楷体" panose="02010600040101010101" pitchFamily="2" charset="-122"/>
            </a:endParaRPr>
          </a:p>
        </p:txBody>
      </p:sp>
      <p:sp>
        <p:nvSpPr>
          <p:cNvPr id="44042" name="Oval 8"/>
          <p:cNvSpPr>
            <a:spLocks noChangeArrowheads="1"/>
          </p:cNvSpPr>
          <p:nvPr/>
        </p:nvSpPr>
        <p:spPr bwMode="auto">
          <a:xfrm>
            <a:off x="7620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4043" name="Oval 9"/>
          <p:cNvSpPr>
            <a:spLocks noChangeArrowheads="1"/>
          </p:cNvSpPr>
          <p:nvPr/>
        </p:nvSpPr>
        <p:spPr bwMode="auto">
          <a:xfrm>
            <a:off x="22860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4044" name="Line 10"/>
          <p:cNvSpPr>
            <a:spLocks noChangeShapeType="1"/>
          </p:cNvSpPr>
          <p:nvPr/>
        </p:nvSpPr>
        <p:spPr bwMode="auto">
          <a:xfrm>
            <a:off x="1219200" y="38100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5" name="Oval 11"/>
          <p:cNvSpPr>
            <a:spLocks noChangeArrowheads="1"/>
          </p:cNvSpPr>
          <p:nvPr/>
        </p:nvSpPr>
        <p:spPr bwMode="auto">
          <a:xfrm>
            <a:off x="762000" y="5181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4046" name="Oval 12"/>
          <p:cNvSpPr>
            <a:spLocks noChangeArrowheads="1"/>
          </p:cNvSpPr>
          <p:nvPr/>
        </p:nvSpPr>
        <p:spPr bwMode="auto">
          <a:xfrm>
            <a:off x="2286000" y="5181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4047" name="Line 13"/>
          <p:cNvSpPr>
            <a:spLocks noChangeShapeType="1"/>
          </p:cNvSpPr>
          <p:nvPr/>
        </p:nvSpPr>
        <p:spPr bwMode="auto">
          <a:xfrm>
            <a:off x="1219200" y="53340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8" name="Line 14"/>
          <p:cNvSpPr>
            <a:spLocks noChangeShapeType="1"/>
          </p:cNvSpPr>
          <p:nvPr/>
        </p:nvSpPr>
        <p:spPr bwMode="auto">
          <a:xfrm flipH="1">
            <a:off x="990600" y="40386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9" name="Line 15"/>
          <p:cNvSpPr>
            <a:spLocks noChangeShapeType="1"/>
          </p:cNvSpPr>
          <p:nvPr/>
        </p:nvSpPr>
        <p:spPr bwMode="auto">
          <a:xfrm flipH="1" flipV="1">
            <a:off x="1143000" y="39624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0" name="Oval 16"/>
          <p:cNvSpPr>
            <a:spLocks noChangeArrowheads="1"/>
          </p:cNvSpPr>
          <p:nvPr/>
        </p:nvSpPr>
        <p:spPr bwMode="auto">
          <a:xfrm>
            <a:off x="51054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4051" name="Oval 17"/>
          <p:cNvSpPr>
            <a:spLocks noChangeArrowheads="1"/>
          </p:cNvSpPr>
          <p:nvPr/>
        </p:nvSpPr>
        <p:spPr bwMode="auto">
          <a:xfrm>
            <a:off x="66294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4052" name="Oval 18"/>
          <p:cNvSpPr>
            <a:spLocks noChangeArrowheads="1"/>
          </p:cNvSpPr>
          <p:nvPr/>
        </p:nvSpPr>
        <p:spPr bwMode="auto">
          <a:xfrm>
            <a:off x="5105400" y="5181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4053" name="Oval 19"/>
          <p:cNvSpPr>
            <a:spLocks noChangeArrowheads="1"/>
          </p:cNvSpPr>
          <p:nvPr/>
        </p:nvSpPr>
        <p:spPr bwMode="auto">
          <a:xfrm>
            <a:off x="6629400" y="5181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4054" name="Line 20"/>
          <p:cNvSpPr>
            <a:spLocks noChangeShapeType="1"/>
          </p:cNvSpPr>
          <p:nvPr/>
        </p:nvSpPr>
        <p:spPr bwMode="auto">
          <a:xfrm>
            <a:off x="5562600" y="53340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5" name="Line 21"/>
          <p:cNvSpPr>
            <a:spLocks noChangeShapeType="1"/>
          </p:cNvSpPr>
          <p:nvPr/>
        </p:nvSpPr>
        <p:spPr bwMode="auto">
          <a:xfrm flipH="1">
            <a:off x="5334000" y="40386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6" name="Line 22"/>
          <p:cNvSpPr>
            <a:spLocks noChangeShapeType="1"/>
          </p:cNvSpPr>
          <p:nvPr/>
        </p:nvSpPr>
        <p:spPr bwMode="auto">
          <a:xfrm flipH="1" flipV="1">
            <a:off x="5486400" y="39624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7" name="Line 23"/>
          <p:cNvSpPr>
            <a:spLocks noChangeShapeType="1"/>
          </p:cNvSpPr>
          <p:nvPr/>
        </p:nvSpPr>
        <p:spPr bwMode="auto">
          <a:xfrm flipH="1" flipV="1">
            <a:off x="838200" y="3962400"/>
            <a:ext cx="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450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5061" name="Text Box 3"/>
          <p:cNvSpPr txBox="1">
            <a:spLocks noChangeArrowheads="1"/>
          </p:cNvSpPr>
          <p:nvPr/>
        </p:nvSpPr>
        <p:spPr bwMode="auto">
          <a:xfrm>
            <a:off x="457200" y="1143000"/>
            <a:ext cx="3200400" cy="46166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None/>
            </a:pPr>
            <a:r>
              <a:rPr kumimoji="1" lang="en-US" altLang="zh-CN" sz="2400" b="1" dirty="0" smtClean="0">
                <a:solidFill>
                  <a:srgbClr val="C00000"/>
                </a:solidFill>
                <a:latin typeface="Times New Roman" panose="02020603050405020304" pitchFamily="18" charset="0"/>
                <a:ea typeface="华文楷体" panose="02010600040101010101" pitchFamily="2" charset="-122"/>
              </a:rPr>
              <a:t>[</a:t>
            </a:r>
            <a:r>
              <a:rPr kumimoji="1" lang="zh-CN" altLang="en-US" sz="2400" b="1" dirty="0" smtClean="0">
                <a:solidFill>
                  <a:srgbClr val="C00000"/>
                </a:solidFill>
                <a:latin typeface="Times New Roman" panose="02020603050405020304" pitchFamily="18" charset="0"/>
                <a:ea typeface="华文楷体" panose="02010600040101010101" pitchFamily="2" charset="-122"/>
              </a:rPr>
              <a:t>求</a:t>
            </a:r>
            <a:r>
              <a:rPr kumimoji="1" lang="zh-CN" altLang="zh-CN" sz="2400" b="1" dirty="0" smtClean="0">
                <a:solidFill>
                  <a:srgbClr val="C00000"/>
                </a:solidFill>
                <a:latin typeface="Times New Roman" panose="02020603050405020304" pitchFamily="18" charset="0"/>
                <a:ea typeface="华文楷体" panose="02010600040101010101" pitchFamily="2" charset="-122"/>
              </a:rPr>
              <a:t>强连通</a:t>
            </a:r>
            <a:r>
              <a:rPr kumimoji="1" lang="zh-CN" altLang="zh-CN" sz="2400" b="1" dirty="0">
                <a:solidFill>
                  <a:srgbClr val="C00000"/>
                </a:solidFill>
                <a:latin typeface="Times New Roman" panose="02020603050405020304" pitchFamily="18" charset="0"/>
                <a:ea typeface="华文楷体" panose="02010600040101010101" pitchFamily="2" charset="-122"/>
              </a:rPr>
              <a:t>分量</a:t>
            </a:r>
            <a:r>
              <a:rPr kumimoji="1" lang="zh-CN" altLang="zh-CN" sz="2400" b="1" dirty="0" smtClean="0">
                <a:solidFill>
                  <a:srgbClr val="C00000"/>
                </a:solidFill>
                <a:latin typeface="Times New Roman" panose="02020603050405020304" pitchFamily="18" charset="0"/>
                <a:ea typeface="华文楷体" panose="02010600040101010101" pitchFamily="2" charset="-122"/>
              </a:rPr>
              <a:t>的</a:t>
            </a:r>
            <a:r>
              <a:rPr kumimoji="1" lang="zh-CN" altLang="en-US" sz="2400" b="1" dirty="0" smtClean="0">
                <a:solidFill>
                  <a:srgbClr val="C00000"/>
                </a:solidFill>
                <a:latin typeface="Times New Roman" panose="02020603050405020304" pitchFamily="18" charset="0"/>
                <a:ea typeface="华文楷体" panose="02010600040101010101" pitchFamily="2" charset="-122"/>
              </a:rPr>
              <a:t>算法</a:t>
            </a:r>
            <a:r>
              <a:rPr kumimoji="1" lang="en-US" altLang="zh-CN" sz="2400" b="1" dirty="0" smtClean="0">
                <a:solidFill>
                  <a:srgbClr val="C00000"/>
                </a:solidFill>
                <a:latin typeface="Times New Roman" panose="02020603050405020304" pitchFamily="18" charset="0"/>
                <a:ea typeface="华文楷体" panose="02010600040101010101" pitchFamily="2" charset="-122"/>
              </a:rPr>
              <a:t>]</a:t>
            </a:r>
            <a:endParaRPr kumimoji="1" lang="zh-CN" altLang="en-US" sz="2400" b="1" dirty="0">
              <a:solidFill>
                <a:srgbClr val="C00000"/>
              </a:solidFill>
              <a:latin typeface="Times New Roman" panose="02020603050405020304" pitchFamily="18" charset="0"/>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76200" y="1787756"/>
                <a:ext cx="8915400" cy="4401205"/>
              </a:xfrm>
              <a:prstGeom prst="rect">
                <a:avLst/>
              </a:prstGeom>
              <a:noFill/>
              <a:ln>
                <a:solidFill>
                  <a:schemeClr val="accent1"/>
                </a:solidFill>
              </a:ln>
            </p:spPr>
            <p:txBody>
              <a:bodyPr wrap="square" rtlCol="0">
                <a:spAutoFit/>
              </a:bodyPr>
              <a:lstStyle/>
              <a:p>
                <a:pPr lvl="1">
                  <a:lnSpc>
                    <a:spcPct val="110000"/>
                  </a:lnSpc>
                  <a:spcBef>
                    <a:spcPct val="50000"/>
                  </a:spcBef>
                  <a:buClrTx/>
                  <a:buFontTx/>
                  <a:buNone/>
                </a:pPr>
                <a:r>
                  <a:rPr kumimoji="1" lang="zh-CN" altLang="en-US" sz="2000" dirty="0">
                    <a:latin typeface="宋体" panose="02010600030101010101" pitchFamily="2" charset="-122"/>
                  </a:rPr>
                  <a:t>①</a:t>
                </a:r>
                <a:r>
                  <a:rPr kumimoji="1" lang="zh-CN" altLang="zh-CN" sz="2000" dirty="0">
                    <a:latin typeface="Times New Roman" panose="02020603050405020304" pitchFamily="18" charset="0"/>
                    <a:ea typeface="华文楷体" panose="02010600040101010101" pitchFamily="2" charset="-122"/>
                  </a:rPr>
                  <a:t>对有向图 </a:t>
                </a:r>
                <a:r>
                  <a:rPr kumimoji="1" lang="en-US" altLang="zh-CN" sz="2000" dirty="0">
                    <a:latin typeface="Times New Roman" panose="02020603050405020304" pitchFamily="18" charset="0"/>
                    <a:ea typeface="华文楷体" panose="02010600040101010101" pitchFamily="2" charset="-122"/>
                  </a:rPr>
                  <a:t>G </a:t>
                </a:r>
                <a:r>
                  <a:rPr kumimoji="1" lang="en-US" altLang="zh-CN" sz="2000" dirty="0" smtClean="0">
                    <a:latin typeface="Times New Roman" panose="02020603050405020304" pitchFamily="18" charset="0"/>
                    <a:ea typeface="华文楷体" panose="02010600040101010101" pitchFamily="2" charset="-122"/>
                  </a:rPr>
                  <a:t>=(V,E)</a:t>
                </a:r>
                <a:r>
                  <a:rPr kumimoji="1" lang="zh-CN" altLang="zh-CN" sz="2000" dirty="0" smtClean="0">
                    <a:latin typeface="Times New Roman" panose="02020603050405020304" pitchFamily="18" charset="0"/>
                    <a:ea typeface="华文楷体" panose="02010600040101010101" pitchFamily="2" charset="-122"/>
                  </a:rPr>
                  <a:t>进行</a:t>
                </a:r>
                <a:r>
                  <a:rPr kumimoji="1" lang="zh-CN" altLang="zh-CN" sz="2000" dirty="0">
                    <a:latin typeface="Times New Roman" panose="02020603050405020304" pitchFamily="18" charset="0"/>
                    <a:ea typeface="华文楷体" panose="02010600040101010101" pitchFamily="2" charset="-122"/>
                  </a:rPr>
                  <a:t>深度</a:t>
                </a:r>
                <a:r>
                  <a:rPr kumimoji="1" lang="zh-CN" altLang="en-US" sz="2000" dirty="0">
                    <a:latin typeface="Times New Roman" panose="02020603050405020304" pitchFamily="18" charset="0"/>
                    <a:ea typeface="华文楷体" panose="02010600040101010101" pitchFamily="2" charset="-122"/>
                  </a:rPr>
                  <a:t>优先</a:t>
                </a:r>
                <a:r>
                  <a:rPr kumimoji="1" lang="zh-CN" altLang="zh-CN" sz="2000" dirty="0">
                    <a:latin typeface="Times New Roman" panose="02020603050405020304" pitchFamily="18" charset="0"/>
                    <a:ea typeface="华文楷体" panose="02010600040101010101" pitchFamily="2" charset="-122"/>
                  </a:rPr>
                  <a:t>搜索，按</a:t>
                </a:r>
                <a:r>
                  <a:rPr kumimoji="1" lang="zh-CN" altLang="en-US" sz="2000" dirty="0">
                    <a:latin typeface="Times New Roman" panose="02020603050405020304" pitchFamily="18" charset="0"/>
                    <a:ea typeface="华文楷体" panose="02010600040101010101" pitchFamily="2" charset="-122"/>
                  </a:rPr>
                  <a:t>回溯</a:t>
                </a:r>
                <a:r>
                  <a:rPr kumimoji="1" lang="zh-CN" altLang="zh-CN" sz="2000" dirty="0">
                    <a:latin typeface="Times New Roman" panose="02020603050405020304" pitchFamily="18" charset="0"/>
                    <a:ea typeface="华文楷体" panose="02010600040101010101" pitchFamily="2" charset="-122"/>
                  </a:rPr>
                  <a:t>次序给结点进行编号。最先</a:t>
                </a:r>
                <a:r>
                  <a:rPr kumimoji="1" lang="zh-CN" altLang="en-US" sz="2000" dirty="0">
                    <a:latin typeface="Times New Roman" panose="02020603050405020304" pitchFamily="18" charset="0"/>
                    <a:ea typeface="华文楷体" panose="02010600040101010101" pitchFamily="2" charset="-122"/>
                  </a:rPr>
                  <a:t>出现回溯</a:t>
                </a:r>
                <a:r>
                  <a:rPr kumimoji="1" lang="zh-CN" altLang="zh-CN" sz="2000" dirty="0">
                    <a:latin typeface="Times New Roman" panose="02020603050405020304" pitchFamily="18" charset="0"/>
                    <a:ea typeface="华文楷体" panose="02010600040101010101" pitchFamily="2" charset="-122"/>
                  </a:rPr>
                  <a:t>的结点的编号为 1，其它结点的编号按</a:t>
                </a:r>
                <a:r>
                  <a:rPr kumimoji="1" lang="zh-CN" altLang="en-US" sz="2000" dirty="0">
                    <a:latin typeface="Times New Roman" panose="02020603050405020304" pitchFamily="18" charset="0"/>
                    <a:ea typeface="华文楷体" panose="02010600040101010101" pitchFamily="2" charset="-122"/>
                  </a:rPr>
                  <a:t>回溯</a:t>
                </a:r>
                <a:r>
                  <a:rPr kumimoji="1" lang="zh-CN" altLang="zh-CN" sz="2000" dirty="0">
                    <a:latin typeface="Times New Roman" panose="02020603050405020304" pitchFamily="18" charset="0"/>
                    <a:ea typeface="华文楷体" panose="02010600040101010101" pitchFamily="2" charset="-122"/>
                  </a:rPr>
                  <a:t>次序逐次增大 1。</a:t>
                </a:r>
                <a:endParaRPr kumimoji="1" lang="zh-CN" altLang="zh-CN" sz="2000" dirty="0">
                  <a:latin typeface="Times New Roman" panose="02020603050405020304" pitchFamily="18" charset="0"/>
                  <a:ea typeface="华文楷体" panose="02010600040101010101" pitchFamily="2" charset="-122"/>
                </a:endParaRPr>
              </a:p>
              <a:p>
                <a:pPr lvl="1">
                  <a:lnSpc>
                    <a:spcPct val="110000"/>
                  </a:lnSpc>
                  <a:spcBef>
                    <a:spcPct val="50000"/>
                  </a:spcBef>
                  <a:buClrTx/>
                  <a:buFontTx/>
                  <a:buNone/>
                </a:pPr>
                <a:r>
                  <a:rPr kumimoji="1" lang="zh-CN" altLang="en-US" sz="2000" dirty="0">
                    <a:latin typeface="宋体" panose="02010600030101010101" pitchFamily="2" charset="-122"/>
                  </a:rPr>
                  <a:t>②</a:t>
                </a:r>
                <a:r>
                  <a:rPr kumimoji="1" lang="zh-CN" altLang="zh-CN" sz="2000" dirty="0">
                    <a:latin typeface="Times New Roman" panose="02020603050405020304" pitchFamily="18" charset="0"/>
                    <a:ea typeface="华文楷体" panose="02010600040101010101" pitchFamily="2" charset="-122"/>
                  </a:rPr>
                  <a:t>将有向图 </a:t>
                </a:r>
                <a:r>
                  <a:rPr kumimoji="1" lang="en-US" altLang="zh-CN" sz="2000" dirty="0">
                    <a:latin typeface="Times New Roman" panose="02020603050405020304" pitchFamily="18" charset="0"/>
                    <a:ea typeface="华文楷体" panose="02010600040101010101" pitchFamily="2" charset="-122"/>
                  </a:rPr>
                  <a:t>G </a:t>
                </a:r>
                <a:r>
                  <a:rPr kumimoji="1" lang="zh-CN" altLang="zh-CN" sz="2000" dirty="0">
                    <a:latin typeface="Times New Roman" panose="02020603050405020304" pitchFamily="18" charset="0"/>
                    <a:ea typeface="华文楷体" panose="02010600040101010101" pitchFamily="2" charset="-122"/>
                  </a:rPr>
                  <a:t>的所有的有向边进行倒置，</a:t>
                </a:r>
                <a:r>
                  <a:rPr kumimoji="1" lang="zh-CN" altLang="zh-CN" sz="2000" dirty="0" smtClean="0">
                    <a:latin typeface="Times New Roman" panose="02020603050405020304" pitchFamily="18" charset="0"/>
                    <a:ea typeface="华文楷体" panose="02010600040101010101" pitchFamily="2" charset="-122"/>
                  </a:rPr>
                  <a:t>构造</a:t>
                </a:r>
                <a:r>
                  <a:rPr kumimoji="1" lang="zh-CN" altLang="zh-CN" sz="2000" dirty="0">
                    <a:latin typeface="Times New Roman" panose="02020603050405020304" pitchFamily="18" charset="0"/>
                    <a:ea typeface="华文楷体" panose="02010600040101010101" pitchFamily="2" charset="-122"/>
                  </a:rPr>
                  <a:t>新的有向图记</a:t>
                </a:r>
                <a:r>
                  <a:rPr kumimoji="1" lang="zh-CN" altLang="zh-CN" sz="2000" dirty="0" smtClean="0">
                    <a:latin typeface="Times New Roman" panose="02020603050405020304" pitchFamily="18" charset="0"/>
                    <a:ea typeface="华文楷体" panose="02010600040101010101" pitchFamily="2" charset="-122"/>
                  </a:rPr>
                  <a:t>为</a:t>
                </a:r>
                <a:r>
                  <a:rPr kumimoji="1" lang="en-US" altLang="zh-CN" sz="2000" dirty="0">
                    <a:latin typeface="Times New Roman" panose="02020603050405020304" pitchFamily="18" charset="0"/>
                    <a:ea typeface="华文楷体" panose="02010600040101010101" pitchFamily="2" charset="-122"/>
                  </a:rPr>
                  <a:t>G</a:t>
                </a:r>
                <a:r>
                  <a:rPr kumimoji="1" lang="en-US" altLang="zh-CN" sz="2000" baseline="30000" dirty="0">
                    <a:latin typeface="Times New Roman" panose="02020603050405020304" pitchFamily="18" charset="0"/>
                    <a:ea typeface="华文楷体" panose="02010600040101010101" pitchFamily="2" charset="-122"/>
                  </a:rPr>
                  <a:t>T </a:t>
                </a:r>
                <a:r>
                  <a:rPr kumimoji="1" lang="zh-CN" altLang="en-US" sz="2000" dirty="0" smtClean="0">
                    <a:latin typeface="Times New Roman" panose="02020603050405020304" pitchFamily="18" charset="0"/>
                    <a:ea typeface="华文楷体" panose="02010600040101010101" pitchFamily="2" charset="-122"/>
                  </a:rPr>
                  <a:t>，</a:t>
                </a:r>
                <a:endParaRPr kumimoji="1" lang="en-US" altLang="zh-CN" sz="2000" dirty="0" smtClean="0">
                  <a:latin typeface="Times New Roman" panose="02020603050405020304" pitchFamily="18" charset="0"/>
                  <a:ea typeface="华文楷体" panose="02010600040101010101" pitchFamily="2" charset="-122"/>
                </a:endParaRPr>
              </a:p>
              <a:p>
                <a:pPr lvl="1">
                  <a:lnSpc>
                    <a:spcPct val="110000"/>
                  </a:lnSpc>
                  <a:spcBef>
                    <a:spcPct val="50000"/>
                  </a:spcBef>
                  <a:buClrTx/>
                  <a:buFontTx/>
                  <a:buNone/>
                </a:pPr>
                <a:r>
                  <a:rPr kumimoji="1" lang="en-US" altLang="zh-CN" sz="2000" dirty="0" smtClean="0">
                    <a:latin typeface="Times New Roman" panose="02020603050405020304" pitchFamily="18" charset="0"/>
                    <a:ea typeface="华文楷体" panose="02010600040101010101" pitchFamily="2" charset="-122"/>
                  </a:rPr>
                  <a:t>G</a:t>
                </a:r>
                <a:r>
                  <a:rPr kumimoji="1" lang="en-US" altLang="zh-CN" sz="2000" baseline="30000" dirty="0" smtClean="0">
                    <a:latin typeface="Times New Roman" panose="02020603050405020304" pitchFamily="18" charset="0"/>
                    <a:ea typeface="华文楷体" panose="02010600040101010101" pitchFamily="2" charset="-122"/>
                  </a:rPr>
                  <a:t>T </a:t>
                </a:r>
                <a:r>
                  <a:rPr kumimoji="1" lang="en-US" altLang="zh-CN" sz="2000" dirty="0" smtClean="0">
                    <a:latin typeface="Times New Roman" panose="02020603050405020304" pitchFamily="18" charset="0"/>
                    <a:ea typeface="华文楷体" panose="02010600040101010101" pitchFamily="2" charset="-122"/>
                  </a:rPr>
                  <a:t>= (</a:t>
                </a:r>
                <a:r>
                  <a:rPr kumimoji="1" lang="en-US" altLang="zh-CN" sz="2000" dirty="0">
                    <a:latin typeface="Times New Roman" panose="02020603050405020304" pitchFamily="18" charset="0"/>
                    <a:ea typeface="华文楷体" panose="02010600040101010101" pitchFamily="2" charset="-122"/>
                  </a:rPr>
                  <a:t>V</a:t>
                </a:r>
                <a:r>
                  <a:rPr kumimoji="1" lang="en-US" altLang="zh-CN" sz="2000" dirty="0" smtClean="0">
                    <a:latin typeface="Times New Roman" panose="02020603050405020304" pitchFamily="18" charset="0"/>
                    <a:ea typeface="华文楷体" panose="02010600040101010101" pitchFamily="2" charset="-122"/>
                  </a:rPr>
                  <a:t>, E</a:t>
                </a:r>
                <a:r>
                  <a:rPr kumimoji="1" lang="en-US" altLang="zh-CN" sz="2000" baseline="30000" dirty="0" smtClean="0">
                    <a:latin typeface="Times New Roman" panose="02020603050405020304" pitchFamily="18" charset="0"/>
                    <a:ea typeface="华文楷体" panose="02010600040101010101" pitchFamily="2" charset="-122"/>
                  </a:rPr>
                  <a:t>T</a:t>
                </a:r>
                <a:r>
                  <a:rPr kumimoji="1" lang="en-US" altLang="zh-CN" sz="2000" dirty="0">
                    <a:latin typeface="Times New Roman" panose="02020603050405020304" pitchFamily="18" charset="0"/>
                    <a:ea typeface="华文楷体" panose="02010600040101010101" pitchFamily="2" charset="-122"/>
                  </a:rPr>
                  <a:t>) </a:t>
                </a:r>
                <a:r>
                  <a:rPr kumimoji="1" lang="zh-CN" altLang="en-US" sz="2000" dirty="0" smtClean="0">
                    <a:latin typeface="Times New Roman" panose="02020603050405020304" pitchFamily="18" charset="0"/>
                    <a:ea typeface="华文楷体" panose="02010600040101010101" pitchFamily="2" charset="-122"/>
                  </a:rPr>
                  <a:t>，</a:t>
                </a:r>
                <a:r>
                  <a:rPr kumimoji="1" lang="en-US" altLang="zh-CN" sz="2000" dirty="0">
                    <a:latin typeface="Times New Roman" panose="02020603050405020304" pitchFamily="18" charset="0"/>
                    <a:ea typeface="华文楷体" panose="02010600040101010101" pitchFamily="2" charset="-122"/>
                  </a:rPr>
                  <a:t> E</a:t>
                </a:r>
                <a:r>
                  <a:rPr kumimoji="1" lang="en-US" altLang="zh-CN" sz="2000" baseline="30000" dirty="0">
                    <a:latin typeface="Times New Roman" panose="02020603050405020304" pitchFamily="18" charset="0"/>
                    <a:ea typeface="华文楷体" panose="02010600040101010101" pitchFamily="2" charset="-122"/>
                  </a:rPr>
                  <a:t>T </a:t>
                </a:r>
                <a:r>
                  <a:rPr kumimoji="1" lang="en-US" altLang="zh-CN" sz="2000" dirty="0" smtClean="0">
                    <a:latin typeface="Times New Roman" panose="02020603050405020304" pitchFamily="18" charset="0"/>
                    <a:ea typeface="华文楷体" panose="02010600040101010101" pitchFamily="2" charset="-122"/>
                  </a:rPr>
                  <a:t>={&lt;</a:t>
                </a:r>
                <a:r>
                  <a:rPr kumimoji="1" lang="en-US" altLang="zh-CN" sz="2000" dirty="0" err="1">
                    <a:latin typeface="Times New Roman" panose="02020603050405020304" pitchFamily="18" charset="0"/>
                    <a:ea typeface="华文楷体" panose="02010600040101010101" pitchFamily="2" charset="-122"/>
                  </a:rPr>
                  <a:t>u,v</a:t>
                </a:r>
                <a:r>
                  <a:rPr kumimoji="1" lang="en-US" altLang="zh-CN" sz="2000" dirty="0">
                    <a:latin typeface="Times New Roman" panose="02020603050405020304" pitchFamily="18" charset="0"/>
                    <a:ea typeface="华文楷体" panose="02010600040101010101" pitchFamily="2" charset="-122"/>
                  </a:rPr>
                  <a:t>&gt;:&lt;</a:t>
                </a:r>
                <a:r>
                  <a:rPr kumimoji="1" lang="en-US" altLang="zh-CN" sz="2000" dirty="0" err="1">
                    <a:latin typeface="Times New Roman" panose="02020603050405020304" pitchFamily="18" charset="0"/>
                    <a:ea typeface="华文楷体" panose="02010600040101010101" pitchFamily="2" charset="-122"/>
                  </a:rPr>
                  <a:t>v,u</a:t>
                </a:r>
                <a:r>
                  <a:rPr kumimoji="1" lang="en-US" altLang="zh-CN" sz="2000" dirty="0">
                    <a:latin typeface="Times New Roman" panose="02020603050405020304" pitchFamily="18" charset="0"/>
                    <a:ea typeface="华文楷体" panose="02010600040101010101" pitchFamily="2" charset="-122"/>
                  </a:rPr>
                  <a:t>&gt;</a:t>
                </a:r>
                <a14:m>
                  <m:oMath xmlns:m="http://schemas.openxmlformats.org/officeDocument/2006/math">
                    <m:r>
                      <a:rPr kumimoji="1" lang="en-US" altLang="zh-CN" sz="2000" i="1">
                        <a:latin typeface="Cambria Math" panose="02040503050406030204" pitchFamily="18" charset="0"/>
                        <a:ea typeface="Cambria Math" panose="02040503050406030204" pitchFamily="18" charset="0"/>
                      </a:rPr>
                      <m:t>∈</m:t>
                    </m:r>
                  </m:oMath>
                </a14:m>
                <a:r>
                  <a:rPr kumimoji="1" lang="en-US" altLang="zh-CN" sz="2000" dirty="0">
                    <a:latin typeface="Times New Roman" panose="02020603050405020304" pitchFamily="18" charset="0"/>
                    <a:ea typeface="华文楷体" panose="02010600040101010101" pitchFamily="2" charset="-122"/>
                  </a:rPr>
                  <a:t>E</a:t>
                </a:r>
                <a:r>
                  <a:rPr kumimoji="1" lang="en-US" altLang="zh-CN" sz="2000" dirty="0" smtClean="0">
                    <a:latin typeface="Times New Roman" panose="02020603050405020304" pitchFamily="18" charset="0"/>
                    <a:ea typeface="华文楷体" panose="02010600040101010101" pitchFamily="2" charset="-122"/>
                  </a:rPr>
                  <a:t>}</a:t>
                </a:r>
                <a:r>
                  <a:rPr kumimoji="1" lang="zh-CN" altLang="en-US" sz="2000" dirty="0" smtClean="0">
                    <a:latin typeface="Times New Roman" panose="02020603050405020304" pitchFamily="18" charset="0"/>
                    <a:ea typeface="华文楷体" panose="02010600040101010101" pitchFamily="2" charset="-122"/>
                  </a:rPr>
                  <a:t>。</a:t>
                </a:r>
                <a:endParaRPr kumimoji="1" lang="en-US" altLang="zh-CN" sz="2000" dirty="0">
                  <a:latin typeface="Times New Roman" panose="02020603050405020304" pitchFamily="18" charset="0"/>
                  <a:ea typeface="华文楷体" panose="02010600040101010101" pitchFamily="2" charset="-122"/>
                </a:endParaRPr>
              </a:p>
              <a:p>
                <a:pPr lvl="1">
                  <a:lnSpc>
                    <a:spcPct val="110000"/>
                  </a:lnSpc>
                  <a:spcBef>
                    <a:spcPct val="50000"/>
                  </a:spcBef>
                  <a:buClrTx/>
                  <a:buFontTx/>
                  <a:buNone/>
                </a:pPr>
                <a:r>
                  <a:rPr kumimoji="1" lang="zh-CN" altLang="en-US" sz="2000" dirty="0">
                    <a:latin typeface="宋体" panose="02010600030101010101" pitchFamily="2" charset="-122"/>
                  </a:rPr>
                  <a:t>③</a:t>
                </a:r>
                <a:r>
                  <a:rPr kumimoji="1" lang="zh-CN" altLang="zh-CN" sz="2000" dirty="0">
                    <a:latin typeface="Times New Roman" panose="02020603050405020304" pitchFamily="18" charset="0"/>
                    <a:ea typeface="华文楷体" panose="02010600040101010101" pitchFamily="2" charset="-122"/>
                  </a:rPr>
                  <a:t>根据步骤 </a:t>
                </a:r>
                <a:r>
                  <a:rPr kumimoji="1" lang="zh-CN" altLang="en-US" sz="2000" dirty="0">
                    <a:latin typeface="宋体" panose="02010600030101010101" pitchFamily="2" charset="-122"/>
                  </a:rPr>
                  <a:t>①</a:t>
                </a:r>
                <a:r>
                  <a:rPr kumimoji="1" lang="zh-CN" altLang="zh-CN" sz="2000" dirty="0">
                    <a:latin typeface="Times New Roman" panose="02020603050405020304" pitchFamily="18" charset="0"/>
                    <a:ea typeface="华文楷体" panose="02010600040101010101" pitchFamily="2" charset="-122"/>
                  </a:rPr>
                  <a:t> 对结点进行的编号，选取最大 编号的结点。从该结点出发，在有向图</a:t>
                </a:r>
                <a:r>
                  <a:rPr kumimoji="1" lang="en-US" altLang="zh-CN" sz="2000" dirty="0">
                    <a:latin typeface="Times New Roman" panose="02020603050405020304" pitchFamily="18" charset="0"/>
                    <a:ea typeface="华文楷体" panose="02010600040101010101" pitchFamily="2" charset="-122"/>
                  </a:rPr>
                  <a:t>G</a:t>
                </a:r>
                <a:r>
                  <a:rPr kumimoji="1" lang="en-US" altLang="zh-CN" sz="2000" baseline="30000" dirty="0">
                    <a:latin typeface="Times New Roman" panose="02020603050405020304" pitchFamily="18" charset="0"/>
                    <a:ea typeface="华文楷体" panose="02010600040101010101" pitchFamily="2" charset="-122"/>
                  </a:rPr>
                  <a:t>T</a:t>
                </a:r>
                <a:r>
                  <a:rPr kumimoji="1" lang="en-US" altLang="zh-CN" sz="2000" dirty="0">
                    <a:latin typeface="Times New Roman" panose="02020603050405020304" pitchFamily="18" charset="0"/>
                    <a:ea typeface="华文楷体" panose="02010600040101010101" pitchFamily="2" charset="-122"/>
                  </a:rPr>
                  <a:t> </a:t>
                </a:r>
                <a:r>
                  <a:rPr kumimoji="1" lang="zh-CN" altLang="zh-CN" sz="2000" dirty="0">
                    <a:latin typeface="Times New Roman" panose="02020603050405020304" pitchFamily="18" charset="0"/>
                    <a:ea typeface="华文楷体" panose="02010600040101010101" pitchFamily="2" charset="-122"/>
                  </a:rPr>
                  <a:t>上进行深度</a:t>
                </a:r>
                <a:r>
                  <a:rPr kumimoji="1" lang="zh-CN" altLang="en-US" sz="2000" dirty="0">
                    <a:latin typeface="Times New Roman" panose="02020603050405020304" pitchFamily="18" charset="0"/>
                    <a:ea typeface="华文楷体" panose="02010600040101010101" pitchFamily="2" charset="-122"/>
                  </a:rPr>
                  <a:t>优先</a:t>
                </a:r>
                <a:r>
                  <a:rPr kumimoji="1" lang="zh-CN" altLang="zh-CN" sz="2000" dirty="0">
                    <a:latin typeface="Times New Roman" panose="02020603050405020304" pitchFamily="18" charset="0"/>
                    <a:ea typeface="华文楷体" panose="02010600040101010101" pitchFamily="2" charset="-122"/>
                  </a:rPr>
                  <a:t>遍历。如果没有</a:t>
                </a:r>
                <a:r>
                  <a:rPr kumimoji="1" lang="zh-CN" altLang="zh-CN" sz="2000" dirty="0" smtClean="0">
                    <a:latin typeface="Times New Roman" panose="02020603050405020304" pitchFamily="18" charset="0"/>
                    <a:ea typeface="华文楷体" panose="02010600040101010101" pitchFamily="2" charset="-122"/>
                  </a:rPr>
                  <a:t>访问到</a:t>
                </a:r>
                <a:r>
                  <a:rPr kumimoji="1" lang="zh-CN" altLang="zh-CN" sz="2000" dirty="0">
                    <a:latin typeface="Times New Roman" panose="02020603050405020304" pitchFamily="18" charset="0"/>
                    <a:ea typeface="华文楷体" panose="02010600040101010101" pitchFamily="2" charset="-122"/>
                  </a:rPr>
                  <a:t>所有的结点，则从剩余的那些结点</a:t>
                </a:r>
                <a:r>
                  <a:rPr kumimoji="1" lang="zh-CN" altLang="zh-CN" sz="2000" dirty="0" smtClean="0">
                    <a:latin typeface="Times New Roman" panose="02020603050405020304" pitchFamily="18" charset="0"/>
                    <a:ea typeface="华文楷体" panose="02010600040101010101" pitchFamily="2" charset="-122"/>
                  </a:rPr>
                  <a:t>中选取</a:t>
                </a:r>
                <a:r>
                  <a:rPr kumimoji="1" lang="zh-CN" altLang="zh-CN" sz="2000" dirty="0">
                    <a:latin typeface="Times New Roman" panose="02020603050405020304" pitchFamily="18" charset="0"/>
                    <a:ea typeface="华文楷体" panose="02010600040101010101" pitchFamily="2" charset="-122"/>
                  </a:rPr>
                  <a:t>编号最大的结点再进行深度</a:t>
                </a:r>
                <a:r>
                  <a:rPr kumimoji="1" lang="zh-CN" altLang="en-US" sz="2000" dirty="0">
                    <a:latin typeface="Times New Roman" panose="02020603050405020304" pitchFamily="18" charset="0"/>
                    <a:ea typeface="华文楷体" panose="02010600040101010101" pitchFamily="2" charset="-122"/>
                  </a:rPr>
                  <a:t>优先</a:t>
                </a:r>
                <a:r>
                  <a:rPr kumimoji="1" lang="zh-CN" altLang="zh-CN" sz="2000" dirty="0" smtClean="0">
                    <a:latin typeface="Times New Roman" panose="02020603050405020304" pitchFamily="18" charset="0"/>
                    <a:ea typeface="华文楷体" panose="02010600040101010101" pitchFamily="2" charset="-122"/>
                  </a:rPr>
                  <a:t>遍历</a:t>
                </a:r>
                <a:r>
                  <a:rPr kumimoji="1" lang="zh-CN" altLang="zh-CN" sz="2000" dirty="0">
                    <a:latin typeface="Times New Roman" panose="02020603050405020304" pitchFamily="18" charset="0"/>
                    <a:ea typeface="华文楷体" panose="02010600040101010101" pitchFamily="2" charset="-122"/>
                  </a:rPr>
                  <a:t>。直至所有的结点都被访问到为止。</a:t>
                </a:r>
                <a:endParaRPr kumimoji="1" lang="zh-CN" altLang="zh-CN" sz="2000" dirty="0">
                  <a:latin typeface="Times New Roman" panose="02020603050405020304" pitchFamily="18" charset="0"/>
                  <a:ea typeface="华文楷体" panose="02010600040101010101" pitchFamily="2" charset="-122"/>
                </a:endParaRPr>
              </a:p>
              <a:p>
                <a:pPr lvl="1">
                  <a:lnSpc>
                    <a:spcPct val="110000"/>
                  </a:lnSpc>
                  <a:spcBef>
                    <a:spcPct val="50000"/>
                  </a:spcBef>
                  <a:buClrTx/>
                  <a:buFontTx/>
                  <a:buNone/>
                </a:pPr>
                <a:r>
                  <a:rPr kumimoji="1" lang="zh-CN" altLang="zh-CN" sz="2000" dirty="0">
                    <a:latin typeface="Times New Roman" panose="02020603050405020304" pitchFamily="18" charset="0"/>
                    <a:ea typeface="华文楷体" panose="02010600040101010101" pitchFamily="2" charset="-122"/>
                  </a:rPr>
                  <a:t>④在最后得到的生成森林中的每一棵生成树，都是</a:t>
                </a:r>
                <a:r>
                  <a:rPr kumimoji="1" lang="zh-CN" altLang="zh-CN" sz="2000" dirty="0" smtClean="0">
                    <a:latin typeface="Times New Roman" panose="02020603050405020304" pitchFamily="18" charset="0"/>
                    <a:ea typeface="华文楷体" panose="02010600040101010101" pitchFamily="2" charset="-122"/>
                  </a:rPr>
                  <a:t>有向图</a:t>
                </a:r>
                <a:r>
                  <a:rPr kumimoji="1" lang="en-US" altLang="zh-CN" sz="2000" dirty="0" smtClean="0">
                    <a:latin typeface="Times New Roman" panose="02020603050405020304" pitchFamily="18" charset="0"/>
                    <a:ea typeface="华文楷体" panose="02010600040101010101" pitchFamily="2" charset="-122"/>
                  </a:rPr>
                  <a:t>G</a:t>
                </a:r>
                <a:r>
                  <a:rPr kumimoji="1" lang="zh-CN" altLang="zh-CN" sz="2000" dirty="0" smtClean="0">
                    <a:latin typeface="Times New Roman" panose="02020603050405020304" pitchFamily="18" charset="0"/>
                    <a:ea typeface="华文楷体" panose="02010600040101010101" pitchFamily="2" charset="-122"/>
                  </a:rPr>
                  <a:t>的</a:t>
                </a:r>
                <a:r>
                  <a:rPr kumimoji="1" lang="zh-CN" altLang="zh-CN" sz="2000" dirty="0">
                    <a:latin typeface="Times New Roman" panose="02020603050405020304" pitchFamily="18" charset="0"/>
                    <a:ea typeface="华文楷体" panose="02010600040101010101" pitchFamily="2" charset="-122"/>
                  </a:rPr>
                  <a:t>强连通分量顶点集。</a:t>
                </a:r>
                <a:endParaRPr kumimoji="1" lang="zh-CN" altLang="en-US" sz="2000" dirty="0">
                  <a:latin typeface="Times New Roman" panose="02020603050405020304" pitchFamily="18" charset="0"/>
                  <a:ea typeface="华文楷体" panose="02010600040101010101" pitchFamily="2" charset="-122"/>
                </a:endParaRPr>
              </a:p>
              <a:p>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76200" y="1787756"/>
                <a:ext cx="8915400" cy="4401205"/>
              </a:xfrm>
              <a:prstGeom prst="rect">
                <a:avLst/>
              </a:prstGeom>
              <a:blipFill rotWithShape="1">
                <a:blip r:embed="rId1"/>
                <a:stretch>
                  <a:fillRect l="-57" t="-121" r="-50" b="-95"/>
                </a:stretch>
              </a:blipFill>
              <a:ln>
                <a:solidFill>
                  <a:schemeClr val="accent1"/>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页脚占位符 3"/>
          <p:cNvSpPr>
            <a:spLocks noGrp="1"/>
          </p:cNvSpPr>
          <p:nvPr>
            <p:ph type="ftr" sz="quarter" idx="10"/>
          </p:nvPr>
        </p:nvSpPr>
        <p:spPr/>
        <p:txBody>
          <a:bodyPr/>
          <a:lstStyle/>
          <a:p>
            <a:pPr>
              <a:defRPr/>
            </a:pPr>
            <a:r>
              <a:rPr lang="en-US" altLang="zh-CN"/>
              <a:t>BUPT SCST</a:t>
            </a:r>
            <a:endParaRPr lang="en-US" altLang="zh-CN"/>
          </a:p>
        </p:txBody>
      </p:sp>
      <p:sp>
        <p:nvSpPr>
          <p:cNvPr id="67" name="日期占位符 5"/>
          <p:cNvSpPr>
            <a:spLocks noGrp="1"/>
          </p:cNvSpPr>
          <p:nvPr>
            <p:ph type="dt" sz="quarter" idx="12"/>
          </p:nvPr>
        </p:nvSpPr>
        <p:spPr/>
        <p:txBody>
          <a:bodyPr/>
          <a:lstStyle/>
          <a:p>
            <a:pPr>
              <a:defRPr/>
            </a:pPr>
            <a:r>
              <a:rPr lang="en-US" altLang="zh-CN"/>
              <a:t>BUPT</a:t>
            </a:r>
            <a:endParaRPr lang="en-US" altLang="zh-CN"/>
          </a:p>
        </p:txBody>
      </p:sp>
      <p:sp>
        <p:nvSpPr>
          <p:cNvPr id="4608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6085" name="AutoShape 3"/>
          <p:cNvSpPr>
            <a:spLocks noChangeAspect="1" noChangeArrowheads="1"/>
          </p:cNvSpPr>
          <p:nvPr/>
        </p:nvSpPr>
        <p:spPr bwMode="auto">
          <a:xfrm>
            <a:off x="2895600" y="6400800"/>
            <a:ext cx="914400" cy="914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6086" name="Text Box 4"/>
          <p:cNvSpPr txBox="1">
            <a:spLocks noChangeArrowheads="1"/>
          </p:cNvSpPr>
          <p:nvPr/>
        </p:nvSpPr>
        <p:spPr bwMode="auto">
          <a:xfrm>
            <a:off x="228600" y="1346200"/>
            <a:ext cx="2438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Char char="•"/>
            </a:pPr>
            <a:r>
              <a:rPr kumimoji="1" lang="zh-CN" altLang="en-US" sz="1600" b="1" dirty="0">
                <a:solidFill>
                  <a:schemeClr val="folHlink"/>
                </a:solidFill>
                <a:latin typeface="Times New Roman" panose="02020603050405020304" pitchFamily="18" charset="0"/>
                <a:ea typeface="华文楷体" panose="02010600040101010101" pitchFamily="2" charset="-122"/>
              </a:rPr>
              <a:t>实例</a:t>
            </a:r>
            <a:endParaRPr kumimoji="1" lang="zh-CN" altLang="en-US" sz="1600" b="1" dirty="0">
              <a:latin typeface="Times New Roman" panose="02020603050405020304" pitchFamily="18" charset="0"/>
              <a:ea typeface="华文楷体" panose="02010600040101010101" pitchFamily="2" charset="-122"/>
            </a:endParaRPr>
          </a:p>
        </p:txBody>
      </p:sp>
      <p:sp>
        <p:nvSpPr>
          <p:cNvPr id="46087" name="Text Box 5"/>
          <p:cNvSpPr txBox="1">
            <a:spLocks noChangeArrowheads="1"/>
          </p:cNvSpPr>
          <p:nvPr/>
        </p:nvSpPr>
        <p:spPr bwMode="auto">
          <a:xfrm>
            <a:off x="762000" y="217805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dirty="0">
              <a:latin typeface="Times New Roman" panose="02020603050405020304" pitchFamily="18" charset="0"/>
              <a:ea typeface="华文楷体" panose="02010600040101010101" pitchFamily="2" charset="-122"/>
            </a:endParaRPr>
          </a:p>
        </p:txBody>
      </p:sp>
      <p:sp>
        <p:nvSpPr>
          <p:cNvPr id="46088" name="Oval 6"/>
          <p:cNvSpPr>
            <a:spLocks noChangeArrowheads="1"/>
          </p:cNvSpPr>
          <p:nvPr/>
        </p:nvSpPr>
        <p:spPr bwMode="auto">
          <a:xfrm>
            <a:off x="533400" y="2438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6089" name="Oval 7"/>
          <p:cNvSpPr>
            <a:spLocks noChangeArrowheads="1"/>
          </p:cNvSpPr>
          <p:nvPr/>
        </p:nvSpPr>
        <p:spPr bwMode="auto">
          <a:xfrm>
            <a:off x="2057400" y="2438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6090" name="Line 8"/>
          <p:cNvSpPr>
            <a:spLocks noChangeShapeType="1"/>
          </p:cNvSpPr>
          <p:nvPr/>
        </p:nvSpPr>
        <p:spPr bwMode="auto">
          <a:xfrm>
            <a:off x="990600" y="25908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1" name="Oval 9"/>
          <p:cNvSpPr>
            <a:spLocks noChangeArrowheads="1"/>
          </p:cNvSpPr>
          <p:nvPr/>
        </p:nvSpPr>
        <p:spPr bwMode="auto">
          <a:xfrm>
            <a:off x="533400" y="3962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6092" name="Oval 10"/>
          <p:cNvSpPr>
            <a:spLocks noChangeArrowheads="1"/>
          </p:cNvSpPr>
          <p:nvPr/>
        </p:nvSpPr>
        <p:spPr bwMode="auto">
          <a:xfrm>
            <a:off x="2057400" y="3962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6093" name="Line 11"/>
          <p:cNvSpPr>
            <a:spLocks noChangeShapeType="1"/>
          </p:cNvSpPr>
          <p:nvPr/>
        </p:nvSpPr>
        <p:spPr bwMode="auto">
          <a:xfrm>
            <a:off x="990600" y="4114800"/>
            <a:ext cx="10668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4" name="Line 12"/>
          <p:cNvSpPr>
            <a:spLocks noChangeShapeType="1"/>
          </p:cNvSpPr>
          <p:nvPr/>
        </p:nvSpPr>
        <p:spPr bwMode="auto">
          <a:xfrm flipH="1">
            <a:off x="762000" y="2819400"/>
            <a:ext cx="0" cy="1143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5" name="Line 13"/>
          <p:cNvSpPr>
            <a:spLocks noChangeShapeType="1"/>
          </p:cNvSpPr>
          <p:nvPr/>
        </p:nvSpPr>
        <p:spPr bwMode="auto">
          <a:xfrm flipH="1" flipV="1">
            <a:off x="914400" y="2743200"/>
            <a:ext cx="121920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6" name="Line 14"/>
          <p:cNvSpPr>
            <a:spLocks noChangeShapeType="1"/>
          </p:cNvSpPr>
          <p:nvPr/>
        </p:nvSpPr>
        <p:spPr bwMode="auto">
          <a:xfrm flipH="1" flipV="1">
            <a:off x="609600" y="2743200"/>
            <a:ext cx="0" cy="1295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7" name="Oval 15"/>
          <p:cNvSpPr>
            <a:spLocks noChangeArrowheads="1"/>
          </p:cNvSpPr>
          <p:nvPr/>
        </p:nvSpPr>
        <p:spPr bwMode="auto">
          <a:xfrm>
            <a:off x="3962400" y="1447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6098" name="Oval 16"/>
          <p:cNvSpPr>
            <a:spLocks noChangeArrowheads="1"/>
          </p:cNvSpPr>
          <p:nvPr/>
        </p:nvSpPr>
        <p:spPr bwMode="auto">
          <a:xfrm>
            <a:off x="3581400" y="2133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6099" name="Oval 17"/>
          <p:cNvSpPr>
            <a:spLocks noChangeArrowheads="1"/>
          </p:cNvSpPr>
          <p:nvPr/>
        </p:nvSpPr>
        <p:spPr bwMode="auto">
          <a:xfrm>
            <a:off x="3429000" y="2819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6100" name="Line 18"/>
          <p:cNvSpPr>
            <a:spLocks noChangeShapeType="1"/>
          </p:cNvSpPr>
          <p:nvPr/>
        </p:nvSpPr>
        <p:spPr bwMode="auto">
          <a:xfrm flipH="1">
            <a:off x="3886200" y="1752600"/>
            <a:ext cx="1524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01" name="Oval 19"/>
          <p:cNvSpPr>
            <a:spLocks noChangeArrowheads="1"/>
          </p:cNvSpPr>
          <p:nvPr/>
        </p:nvSpPr>
        <p:spPr bwMode="auto">
          <a:xfrm>
            <a:off x="4419600" y="2133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6102" name="Line 20"/>
          <p:cNvSpPr>
            <a:spLocks noChangeShapeType="1"/>
          </p:cNvSpPr>
          <p:nvPr/>
        </p:nvSpPr>
        <p:spPr bwMode="auto">
          <a:xfrm flipH="1">
            <a:off x="3733800" y="2514600"/>
            <a:ext cx="76200" cy="3048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03" name="Line 21"/>
          <p:cNvSpPr>
            <a:spLocks noChangeShapeType="1"/>
          </p:cNvSpPr>
          <p:nvPr/>
        </p:nvSpPr>
        <p:spPr bwMode="auto">
          <a:xfrm>
            <a:off x="4343400" y="1752600"/>
            <a:ext cx="2286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04" name="Line 22"/>
          <p:cNvSpPr>
            <a:spLocks noChangeShapeType="1"/>
          </p:cNvSpPr>
          <p:nvPr/>
        </p:nvSpPr>
        <p:spPr bwMode="auto">
          <a:xfrm flipV="1">
            <a:off x="4038600" y="1828800"/>
            <a:ext cx="76200" cy="381000"/>
          </a:xfrm>
          <a:prstGeom prst="line">
            <a:avLst/>
          </a:prstGeom>
          <a:noFill/>
          <a:ln w="38100" cap="rnd">
            <a:solidFill>
              <a:schemeClr val="folHlink"/>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cxnSp>
        <p:nvCxnSpPr>
          <p:cNvPr id="46105" name="AutoShape 23"/>
          <p:cNvCxnSpPr>
            <a:cxnSpLocks noChangeShapeType="1"/>
          </p:cNvCxnSpPr>
          <p:nvPr/>
        </p:nvCxnSpPr>
        <p:spPr bwMode="auto">
          <a:xfrm flipV="1">
            <a:off x="3886200" y="1828800"/>
            <a:ext cx="304800" cy="1104900"/>
          </a:xfrm>
          <a:prstGeom prst="curvedConnector2">
            <a:avLst/>
          </a:prstGeom>
          <a:noFill/>
          <a:ln w="38100">
            <a:solidFill>
              <a:schemeClr val="folHlink"/>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106" name="Text Box 24"/>
          <p:cNvSpPr txBox="1">
            <a:spLocks noChangeArrowheads="1"/>
          </p:cNvSpPr>
          <p:nvPr/>
        </p:nvSpPr>
        <p:spPr bwMode="auto">
          <a:xfrm>
            <a:off x="3733800" y="3321050"/>
            <a:ext cx="1295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有向图</a:t>
            </a:r>
            <a:r>
              <a:rPr kumimoji="1" lang="en-US" altLang="zh-CN" sz="1600" b="1" dirty="0" smtClean="0">
                <a:latin typeface="Times New Roman" panose="02020603050405020304" pitchFamily="18" charset="0"/>
                <a:ea typeface="华文楷体" panose="02010600040101010101" pitchFamily="2" charset="-122"/>
              </a:rPr>
              <a:t>G</a:t>
            </a:r>
            <a:r>
              <a:rPr kumimoji="1" lang="en-US" altLang="zh-CN" sz="1600" b="1" baseline="30000" dirty="0" smtClean="0">
                <a:latin typeface="Times New Roman" panose="02020603050405020304" pitchFamily="18" charset="0"/>
                <a:ea typeface="华文楷体" panose="02010600040101010101" pitchFamily="2" charset="-122"/>
              </a:rPr>
              <a:t>T</a:t>
            </a:r>
            <a:endParaRPr kumimoji="1" lang="en-US" altLang="zh-CN" sz="1600" b="1" baseline="30000" dirty="0">
              <a:latin typeface="Times New Roman" panose="02020603050405020304" pitchFamily="18" charset="0"/>
              <a:ea typeface="华文楷体" panose="02010600040101010101" pitchFamily="2" charset="-122"/>
            </a:endParaRPr>
          </a:p>
        </p:txBody>
      </p:sp>
      <p:sp>
        <p:nvSpPr>
          <p:cNvPr id="46107" name="Oval 25"/>
          <p:cNvSpPr>
            <a:spLocks noChangeArrowheads="1"/>
          </p:cNvSpPr>
          <p:nvPr/>
        </p:nvSpPr>
        <p:spPr bwMode="auto">
          <a:xfrm>
            <a:off x="3505200" y="3581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6108" name="Oval 26"/>
          <p:cNvSpPr>
            <a:spLocks noChangeArrowheads="1"/>
          </p:cNvSpPr>
          <p:nvPr/>
        </p:nvSpPr>
        <p:spPr bwMode="auto">
          <a:xfrm>
            <a:off x="5029200" y="3581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6109" name="Line 27"/>
          <p:cNvSpPr>
            <a:spLocks noChangeShapeType="1"/>
          </p:cNvSpPr>
          <p:nvPr/>
        </p:nvSpPr>
        <p:spPr bwMode="auto">
          <a:xfrm>
            <a:off x="3962400" y="3733800"/>
            <a:ext cx="1066800"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10" name="Oval 28"/>
          <p:cNvSpPr>
            <a:spLocks noChangeArrowheads="1"/>
          </p:cNvSpPr>
          <p:nvPr/>
        </p:nvSpPr>
        <p:spPr bwMode="auto">
          <a:xfrm>
            <a:off x="3505200" y="5105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6111" name="Oval 29"/>
          <p:cNvSpPr>
            <a:spLocks noChangeArrowheads="1"/>
          </p:cNvSpPr>
          <p:nvPr/>
        </p:nvSpPr>
        <p:spPr bwMode="auto">
          <a:xfrm>
            <a:off x="5029200" y="5105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6112" name="Line 30"/>
          <p:cNvSpPr>
            <a:spLocks noChangeShapeType="1"/>
          </p:cNvSpPr>
          <p:nvPr/>
        </p:nvSpPr>
        <p:spPr bwMode="auto">
          <a:xfrm>
            <a:off x="3962400" y="5257800"/>
            <a:ext cx="1066800"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13" name="Line 31"/>
          <p:cNvSpPr>
            <a:spLocks noChangeShapeType="1"/>
          </p:cNvSpPr>
          <p:nvPr/>
        </p:nvSpPr>
        <p:spPr bwMode="auto">
          <a:xfrm flipH="1">
            <a:off x="3733800" y="3962400"/>
            <a:ext cx="0" cy="11430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14" name="Line 32"/>
          <p:cNvSpPr>
            <a:spLocks noChangeShapeType="1"/>
          </p:cNvSpPr>
          <p:nvPr/>
        </p:nvSpPr>
        <p:spPr bwMode="auto">
          <a:xfrm flipH="1" flipV="1">
            <a:off x="3886200" y="3886200"/>
            <a:ext cx="1219200" cy="12954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15" name="Line 33"/>
          <p:cNvSpPr>
            <a:spLocks noChangeShapeType="1"/>
          </p:cNvSpPr>
          <p:nvPr/>
        </p:nvSpPr>
        <p:spPr bwMode="auto">
          <a:xfrm flipH="1" flipV="1">
            <a:off x="3581400" y="3886200"/>
            <a:ext cx="0" cy="12954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16" name="Oval 34"/>
          <p:cNvSpPr>
            <a:spLocks noChangeArrowheads="1"/>
          </p:cNvSpPr>
          <p:nvPr/>
        </p:nvSpPr>
        <p:spPr bwMode="auto">
          <a:xfrm>
            <a:off x="6629400" y="14478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6117" name="Oval 35"/>
          <p:cNvSpPr>
            <a:spLocks noChangeArrowheads="1"/>
          </p:cNvSpPr>
          <p:nvPr/>
        </p:nvSpPr>
        <p:spPr bwMode="auto">
          <a:xfrm>
            <a:off x="6248400" y="2133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6118" name="Oval 36"/>
          <p:cNvSpPr>
            <a:spLocks noChangeArrowheads="1"/>
          </p:cNvSpPr>
          <p:nvPr/>
        </p:nvSpPr>
        <p:spPr bwMode="auto">
          <a:xfrm>
            <a:off x="6096000" y="2819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6119" name="Line 37"/>
          <p:cNvSpPr>
            <a:spLocks noChangeShapeType="1"/>
          </p:cNvSpPr>
          <p:nvPr/>
        </p:nvSpPr>
        <p:spPr bwMode="auto">
          <a:xfrm flipH="1">
            <a:off x="6629400" y="1828800"/>
            <a:ext cx="1524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20" name="Oval 38"/>
          <p:cNvSpPr>
            <a:spLocks noChangeArrowheads="1"/>
          </p:cNvSpPr>
          <p:nvPr/>
        </p:nvSpPr>
        <p:spPr bwMode="auto">
          <a:xfrm>
            <a:off x="7086600" y="2133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6121" name="Line 39"/>
          <p:cNvSpPr>
            <a:spLocks noChangeShapeType="1"/>
          </p:cNvSpPr>
          <p:nvPr/>
        </p:nvSpPr>
        <p:spPr bwMode="auto">
          <a:xfrm flipV="1">
            <a:off x="6477000" y="1676400"/>
            <a:ext cx="228600" cy="457200"/>
          </a:xfrm>
          <a:prstGeom prst="line">
            <a:avLst/>
          </a:prstGeom>
          <a:noFill/>
          <a:ln w="38100" cap="rnd">
            <a:solidFill>
              <a:schemeClr val="folHlink"/>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cxnSp>
        <p:nvCxnSpPr>
          <p:cNvPr id="46122" name="AutoShape 40"/>
          <p:cNvCxnSpPr>
            <a:cxnSpLocks noChangeShapeType="1"/>
          </p:cNvCxnSpPr>
          <p:nvPr/>
        </p:nvCxnSpPr>
        <p:spPr bwMode="auto">
          <a:xfrm flipV="1">
            <a:off x="6553200" y="1828800"/>
            <a:ext cx="304800" cy="1104900"/>
          </a:xfrm>
          <a:prstGeom prst="curvedConnector2">
            <a:avLst/>
          </a:prstGeom>
          <a:noFill/>
          <a:ln w="381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123" name="Line 41"/>
          <p:cNvSpPr>
            <a:spLocks noChangeShapeType="1"/>
          </p:cNvSpPr>
          <p:nvPr/>
        </p:nvSpPr>
        <p:spPr bwMode="auto">
          <a:xfrm flipV="1">
            <a:off x="6248400" y="2438400"/>
            <a:ext cx="76200" cy="381000"/>
          </a:xfrm>
          <a:prstGeom prst="line">
            <a:avLst/>
          </a:prstGeom>
          <a:noFill/>
          <a:ln w="38100" cap="rnd">
            <a:solidFill>
              <a:schemeClr val="folHlink"/>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24" name="Line 42"/>
          <p:cNvSpPr>
            <a:spLocks noChangeShapeType="1"/>
          </p:cNvSpPr>
          <p:nvPr/>
        </p:nvSpPr>
        <p:spPr bwMode="auto">
          <a:xfrm flipH="1" flipV="1">
            <a:off x="7010400" y="1752600"/>
            <a:ext cx="228600" cy="381000"/>
          </a:xfrm>
          <a:prstGeom prst="line">
            <a:avLst/>
          </a:prstGeom>
          <a:noFill/>
          <a:ln w="38100" cap="rnd">
            <a:solidFill>
              <a:schemeClr val="folHlink"/>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25" name="Oval 43"/>
          <p:cNvSpPr>
            <a:spLocks noChangeArrowheads="1"/>
          </p:cNvSpPr>
          <p:nvPr/>
        </p:nvSpPr>
        <p:spPr bwMode="auto">
          <a:xfrm>
            <a:off x="6781800" y="36576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6126" name="Oval 44"/>
          <p:cNvSpPr>
            <a:spLocks noChangeArrowheads="1"/>
          </p:cNvSpPr>
          <p:nvPr/>
        </p:nvSpPr>
        <p:spPr bwMode="auto">
          <a:xfrm>
            <a:off x="6400800" y="4343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6127" name="Oval 45"/>
          <p:cNvSpPr>
            <a:spLocks noChangeArrowheads="1"/>
          </p:cNvSpPr>
          <p:nvPr/>
        </p:nvSpPr>
        <p:spPr bwMode="auto">
          <a:xfrm>
            <a:off x="6248400" y="50292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D</a:t>
            </a:r>
            <a:endParaRPr kumimoji="1" lang="en-US" altLang="zh-CN" sz="1600" b="1" u="sng" dirty="0">
              <a:latin typeface="Times New Roman" panose="02020603050405020304" pitchFamily="18" charset="0"/>
              <a:ea typeface="华文楷体" panose="02010600040101010101" pitchFamily="2" charset="-122"/>
            </a:endParaRPr>
          </a:p>
        </p:txBody>
      </p:sp>
      <p:sp>
        <p:nvSpPr>
          <p:cNvPr id="46128" name="Line 46"/>
          <p:cNvSpPr>
            <a:spLocks noChangeShapeType="1"/>
          </p:cNvSpPr>
          <p:nvPr/>
        </p:nvSpPr>
        <p:spPr bwMode="auto">
          <a:xfrm flipH="1">
            <a:off x="6781800" y="4038600"/>
            <a:ext cx="152400" cy="3810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29" name="Oval 47"/>
          <p:cNvSpPr>
            <a:spLocks noChangeArrowheads="1"/>
          </p:cNvSpPr>
          <p:nvPr/>
        </p:nvSpPr>
        <p:spPr bwMode="auto">
          <a:xfrm>
            <a:off x="7239000" y="4343400"/>
            <a:ext cx="457200" cy="381000"/>
          </a:xfrm>
          <a:prstGeom prst="ellipse">
            <a:avLst/>
          </a:prstGeom>
          <a:solidFill>
            <a:schemeClr val="accent1"/>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cxnSp>
        <p:nvCxnSpPr>
          <p:cNvPr id="46130" name="AutoShape 48"/>
          <p:cNvCxnSpPr>
            <a:cxnSpLocks noChangeShapeType="1"/>
          </p:cNvCxnSpPr>
          <p:nvPr/>
        </p:nvCxnSpPr>
        <p:spPr bwMode="auto">
          <a:xfrm flipV="1">
            <a:off x="6705600" y="4038600"/>
            <a:ext cx="304800" cy="1104900"/>
          </a:xfrm>
          <a:prstGeom prst="curvedConnector2">
            <a:avLst/>
          </a:prstGeom>
          <a:noFill/>
          <a:ln w="381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131" name="Text Box 49"/>
          <p:cNvSpPr txBox="1">
            <a:spLocks noChangeArrowheads="1"/>
          </p:cNvSpPr>
          <p:nvPr/>
        </p:nvSpPr>
        <p:spPr bwMode="auto">
          <a:xfrm>
            <a:off x="3124200" y="2819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p:txBody>
      </p:sp>
      <p:sp>
        <p:nvSpPr>
          <p:cNvPr id="46132" name="Text Box 50"/>
          <p:cNvSpPr txBox="1">
            <a:spLocks noChangeArrowheads="1"/>
          </p:cNvSpPr>
          <p:nvPr/>
        </p:nvSpPr>
        <p:spPr bwMode="auto">
          <a:xfrm>
            <a:off x="3276600" y="2133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46133" name="Text Box 51"/>
          <p:cNvSpPr txBox="1">
            <a:spLocks noChangeArrowheads="1"/>
          </p:cNvSpPr>
          <p:nvPr/>
        </p:nvSpPr>
        <p:spPr bwMode="auto">
          <a:xfrm>
            <a:off x="4114800" y="2133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46134" name="Text Box 52"/>
          <p:cNvSpPr txBox="1">
            <a:spLocks noChangeArrowheads="1"/>
          </p:cNvSpPr>
          <p:nvPr/>
        </p:nvSpPr>
        <p:spPr bwMode="auto">
          <a:xfrm>
            <a:off x="3657600" y="1447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p:txBody>
      </p:sp>
      <p:sp>
        <p:nvSpPr>
          <p:cNvPr id="46135" name="Text Box 53"/>
          <p:cNvSpPr txBox="1">
            <a:spLocks noChangeArrowheads="1"/>
          </p:cNvSpPr>
          <p:nvPr/>
        </p:nvSpPr>
        <p:spPr bwMode="auto">
          <a:xfrm>
            <a:off x="3200400" y="3581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p:txBody>
      </p:sp>
      <p:sp>
        <p:nvSpPr>
          <p:cNvPr id="46136" name="Text Box 54"/>
          <p:cNvSpPr txBox="1">
            <a:spLocks noChangeArrowheads="1"/>
          </p:cNvSpPr>
          <p:nvPr/>
        </p:nvSpPr>
        <p:spPr bwMode="auto">
          <a:xfrm>
            <a:off x="3200400" y="50292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46137" name="Text Box 55"/>
          <p:cNvSpPr txBox="1">
            <a:spLocks noChangeArrowheads="1"/>
          </p:cNvSpPr>
          <p:nvPr/>
        </p:nvSpPr>
        <p:spPr bwMode="auto">
          <a:xfrm>
            <a:off x="4724400" y="5181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p:txBody>
      </p:sp>
      <p:sp>
        <p:nvSpPr>
          <p:cNvPr id="46138" name="Text Box 56"/>
          <p:cNvSpPr txBox="1">
            <a:spLocks noChangeArrowheads="1"/>
          </p:cNvSpPr>
          <p:nvPr/>
        </p:nvSpPr>
        <p:spPr bwMode="auto">
          <a:xfrm>
            <a:off x="4800600" y="3459163"/>
            <a:ext cx="381000" cy="2746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46139" name="Text Box 57"/>
          <p:cNvSpPr txBox="1">
            <a:spLocks noChangeArrowheads="1"/>
          </p:cNvSpPr>
          <p:nvPr/>
        </p:nvSpPr>
        <p:spPr bwMode="auto">
          <a:xfrm>
            <a:off x="6324600" y="1447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p:txBody>
      </p:sp>
      <p:sp>
        <p:nvSpPr>
          <p:cNvPr id="46140" name="Text Box 58"/>
          <p:cNvSpPr txBox="1">
            <a:spLocks noChangeArrowheads="1"/>
          </p:cNvSpPr>
          <p:nvPr/>
        </p:nvSpPr>
        <p:spPr bwMode="auto">
          <a:xfrm>
            <a:off x="6019800" y="2133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46141" name="Text Box 59"/>
          <p:cNvSpPr txBox="1">
            <a:spLocks noChangeArrowheads="1"/>
          </p:cNvSpPr>
          <p:nvPr/>
        </p:nvSpPr>
        <p:spPr bwMode="auto">
          <a:xfrm>
            <a:off x="5791200" y="2849563"/>
            <a:ext cx="381000" cy="2746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p:txBody>
      </p:sp>
      <p:sp>
        <p:nvSpPr>
          <p:cNvPr id="46142" name="Text Box 60"/>
          <p:cNvSpPr txBox="1">
            <a:spLocks noChangeArrowheads="1"/>
          </p:cNvSpPr>
          <p:nvPr/>
        </p:nvSpPr>
        <p:spPr bwMode="auto">
          <a:xfrm>
            <a:off x="6858000" y="2133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46143" name="Text Box 61"/>
          <p:cNvSpPr txBox="1">
            <a:spLocks noChangeArrowheads="1"/>
          </p:cNvSpPr>
          <p:nvPr/>
        </p:nvSpPr>
        <p:spPr bwMode="auto">
          <a:xfrm>
            <a:off x="2667000" y="1371600"/>
            <a:ext cx="838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第一步</a:t>
            </a:r>
            <a:endParaRPr kumimoji="1" lang="zh-CN" altLang="en-US" sz="1200" b="1" dirty="0">
              <a:latin typeface="Times New Roman" panose="02020603050405020304" pitchFamily="18" charset="0"/>
              <a:ea typeface="华文楷体" panose="02010600040101010101" pitchFamily="2" charset="-122"/>
            </a:endParaRPr>
          </a:p>
        </p:txBody>
      </p:sp>
      <p:sp>
        <p:nvSpPr>
          <p:cNvPr id="46144" name="Text Box 62"/>
          <p:cNvSpPr txBox="1">
            <a:spLocks noChangeArrowheads="1"/>
          </p:cNvSpPr>
          <p:nvPr/>
        </p:nvSpPr>
        <p:spPr bwMode="auto">
          <a:xfrm>
            <a:off x="2667000" y="3276600"/>
            <a:ext cx="838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第二步</a:t>
            </a:r>
            <a:endParaRPr kumimoji="1" lang="zh-CN" altLang="en-US" sz="1200" b="1" dirty="0">
              <a:latin typeface="Times New Roman" panose="02020603050405020304" pitchFamily="18" charset="0"/>
              <a:ea typeface="华文楷体" panose="02010600040101010101" pitchFamily="2" charset="-122"/>
            </a:endParaRPr>
          </a:p>
        </p:txBody>
      </p:sp>
      <p:sp>
        <p:nvSpPr>
          <p:cNvPr id="46145" name="Text Box 63"/>
          <p:cNvSpPr txBox="1">
            <a:spLocks noChangeArrowheads="1"/>
          </p:cNvSpPr>
          <p:nvPr/>
        </p:nvSpPr>
        <p:spPr bwMode="auto">
          <a:xfrm>
            <a:off x="5562600" y="1447800"/>
            <a:ext cx="838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第三步</a:t>
            </a:r>
            <a:endParaRPr kumimoji="1" lang="zh-CN" altLang="en-US" sz="1200" b="1" dirty="0">
              <a:latin typeface="Times New Roman" panose="02020603050405020304" pitchFamily="18" charset="0"/>
              <a:ea typeface="华文楷体" panose="02010600040101010101" pitchFamily="2" charset="-122"/>
            </a:endParaRPr>
          </a:p>
        </p:txBody>
      </p:sp>
      <p:sp>
        <p:nvSpPr>
          <p:cNvPr id="46146" name="Text Box 64"/>
          <p:cNvSpPr txBox="1">
            <a:spLocks noChangeArrowheads="1"/>
          </p:cNvSpPr>
          <p:nvPr/>
        </p:nvSpPr>
        <p:spPr bwMode="auto">
          <a:xfrm>
            <a:off x="5562600" y="3581400"/>
            <a:ext cx="838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第四步</a:t>
            </a:r>
            <a:endParaRPr kumimoji="1" lang="zh-CN" altLang="en-US" sz="1200" b="1" dirty="0">
              <a:latin typeface="Times New Roman" panose="02020603050405020304" pitchFamily="18" charset="0"/>
              <a:ea typeface="华文楷体" panose="02010600040101010101" pitchFamily="2" charset="-122"/>
            </a:endParaRPr>
          </a:p>
        </p:txBody>
      </p:sp>
      <p:sp>
        <p:nvSpPr>
          <p:cNvPr id="46147" name="Text Box 65"/>
          <p:cNvSpPr txBox="1">
            <a:spLocks noChangeArrowheads="1"/>
          </p:cNvSpPr>
          <p:nvPr/>
        </p:nvSpPr>
        <p:spPr bwMode="auto">
          <a:xfrm>
            <a:off x="6019800" y="5562600"/>
            <a:ext cx="2895600" cy="8255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solidFill>
                  <a:schemeClr val="folHlink"/>
                </a:solidFill>
                <a:latin typeface="Times New Roman" panose="02020603050405020304" pitchFamily="18" charset="0"/>
                <a:ea typeface="华文楷体" panose="02010600040101010101" pitchFamily="2" charset="-122"/>
              </a:rPr>
              <a:t>二棵生成树的结点是有向图</a:t>
            </a:r>
            <a:r>
              <a:rPr kumimoji="1" lang="en-US" altLang="zh-CN" sz="1600" b="1" dirty="0">
                <a:solidFill>
                  <a:schemeClr val="folHlink"/>
                </a:solidFill>
                <a:latin typeface="Times New Roman" panose="02020603050405020304" pitchFamily="18" charset="0"/>
                <a:ea typeface="华文楷体" panose="02010600040101010101" pitchFamily="2" charset="-122"/>
              </a:rPr>
              <a:t>G</a:t>
            </a:r>
            <a:r>
              <a:rPr kumimoji="1" lang="zh-CN" altLang="zh-CN" sz="1600" b="1" dirty="0">
                <a:solidFill>
                  <a:schemeClr val="folHlink"/>
                </a:solidFill>
                <a:latin typeface="Times New Roman" panose="02020603050405020304" pitchFamily="18" charset="0"/>
                <a:ea typeface="华文楷体" panose="02010600040101010101" pitchFamily="2" charset="-122"/>
              </a:rPr>
              <a:t>的两个强连通分量的顶点集：{</a:t>
            </a:r>
            <a:r>
              <a:rPr kumimoji="1" lang="en-US" altLang="zh-CN" sz="1600" b="1" dirty="0">
                <a:solidFill>
                  <a:schemeClr val="folHlink"/>
                </a:solidFill>
                <a:latin typeface="Times New Roman" panose="02020603050405020304" pitchFamily="18" charset="0"/>
                <a:ea typeface="华文楷体" panose="02010600040101010101" pitchFamily="2" charset="-122"/>
              </a:rPr>
              <a:t>A</a:t>
            </a:r>
            <a:r>
              <a:rPr kumimoji="1" lang="zh-CN" altLang="en-US" sz="1600" b="1" dirty="0">
                <a:solidFill>
                  <a:schemeClr val="folHlink"/>
                </a:solidFill>
                <a:latin typeface="Times New Roman" panose="02020603050405020304" pitchFamily="18" charset="0"/>
                <a:ea typeface="华文楷体" panose="02010600040101010101" pitchFamily="2" charset="-122"/>
              </a:rPr>
              <a:t>、</a:t>
            </a:r>
            <a:r>
              <a:rPr kumimoji="1" lang="en-US" altLang="zh-CN" sz="1600" b="1" dirty="0">
                <a:solidFill>
                  <a:schemeClr val="folHlink"/>
                </a:solidFill>
                <a:latin typeface="Times New Roman" panose="02020603050405020304" pitchFamily="18" charset="0"/>
                <a:ea typeface="华文楷体" panose="02010600040101010101" pitchFamily="2" charset="-122"/>
              </a:rPr>
              <a:t>C</a:t>
            </a:r>
            <a:r>
              <a:rPr kumimoji="1" lang="zh-CN" altLang="en-US" sz="1600" b="1" dirty="0">
                <a:solidFill>
                  <a:schemeClr val="folHlink"/>
                </a:solidFill>
                <a:latin typeface="Times New Roman" panose="02020603050405020304" pitchFamily="18" charset="0"/>
                <a:ea typeface="华文楷体" panose="02010600040101010101" pitchFamily="2" charset="-122"/>
              </a:rPr>
              <a:t>、</a:t>
            </a:r>
            <a:r>
              <a:rPr kumimoji="1" lang="en-US" altLang="zh-CN" sz="1600" b="1" dirty="0">
                <a:solidFill>
                  <a:schemeClr val="folHlink"/>
                </a:solidFill>
                <a:latin typeface="Times New Roman" panose="02020603050405020304" pitchFamily="18" charset="0"/>
                <a:ea typeface="华文楷体" panose="02010600040101010101" pitchFamily="2" charset="-122"/>
              </a:rPr>
              <a:t>D}</a:t>
            </a:r>
            <a:r>
              <a:rPr kumimoji="1" lang="zh-CN" altLang="zh-CN" sz="1600" b="1" dirty="0">
                <a:solidFill>
                  <a:schemeClr val="folHlink"/>
                </a:solidFill>
                <a:latin typeface="Times New Roman" panose="02020603050405020304" pitchFamily="18" charset="0"/>
                <a:ea typeface="华文楷体" panose="02010600040101010101" pitchFamily="2" charset="-122"/>
              </a:rPr>
              <a:t>及{</a:t>
            </a:r>
            <a:r>
              <a:rPr kumimoji="1" lang="en-US" altLang="zh-CN" sz="1600" b="1" dirty="0">
                <a:solidFill>
                  <a:schemeClr val="folHlink"/>
                </a:solidFill>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cxnSp>
        <p:nvCxnSpPr>
          <p:cNvPr id="3" name="直接连接符 2"/>
          <p:cNvCxnSpPr/>
          <p:nvPr/>
        </p:nvCxnSpPr>
        <p:spPr>
          <a:xfrm flipH="1">
            <a:off x="2590800" y="1066800"/>
            <a:ext cx="7620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p:cNvCxnSpPr/>
          <p:nvPr/>
        </p:nvCxnSpPr>
        <p:spPr>
          <a:xfrm>
            <a:off x="2667000" y="3276600"/>
            <a:ext cx="6477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连接符 8"/>
          <p:cNvCxnSpPr/>
          <p:nvPr/>
        </p:nvCxnSpPr>
        <p:spPr>
          <a:xfrm>
            <a:off x="5562600" y="1086775"/>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页脚占位符 3"/>
          <p:cNvSpPr>
            <a:spLocks noGrp="1"/>
          </p:cNvSpPr>
          <p:nvPr>
            <p:ph type="ftr" sz="quarter" idx="10"/>
          </p:nvPr>
        </p:nvSpPr>
        <p:spPr/>
        <p:txBody>
          <a:bodyPr/>
          <a:lstStyle/>
          <a:p>
            <a:pPr>
              <a:defRPr/>
            </a:pPr>
            <a:r>
              <a:rPr lang="en-US" altLang="zh-CN"/>
              <a:t>BUPT SCST</a:t>
            </a:r>
            <a:endParaRPr lang="en-US" altLang="zh-CN"/>
          </a:p>
        </p:txBody>
      </p:sp>
      <p:sp>
        <p:nvSpPr>
          <p:cNvPr id="15" name="日期占位符 5"/>
          <p:cNvSpPr>
            <a:spLocks noGrp="1"/>
          </p:cNvSpPr>
          <p:nvPr>
            <p:ph type="dt" sz="quarter" idx="12"/>
          </p:nvPr>
        </p:nvSpPr>
        <p:spPr/>
        <p:txBody>
          <a:bodyPr/>
          <a:lstStyle/>
          <a:p>
            <a:pPr>
              <a:defRPr/>
            </a:pPr>
            <a:r>
              <a:rPr lang="en-US" altLang="zh-CN"/>
              <a:t>BUPT</a:t>
            </a:r>
            <a:endParaRPr lang="en-US" altLang="zh-CN"/>
          </a:p>
        </p:txBody>
      </p:sp>
      <p:sp>
        <p:nvSpPr>
          <p:cNvPr id="501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mc:AlternateContent xmlns:mc="http://schemas.openxmlformats.org/markup-compatibility/2006">
        <mc:Choice xmlns:a14="http://schemas.microsoft.com/office/drawing/2010/main" Requires="a14">
          <p:sp>
            <p:nvSpPr>
              <p:cNvPr id="50181" name="Rectangle 3"/>
              <p:cNvSpPr>
                <a:spLocks noGrp="1" noChangeArrowheads="1"/>
              </p:cNvSpPr>
              <p:nvPr>
                <p:ph type="body" idx="1"/>
              </p:nvPr>
            </p:nvSpPr>
            <p:spPr>
              <a:xfrm>
                <a:off x="457200" y="1152525"/>
                <a:ext cx="8458200" cy="5553075"/>
              </a:xfrm>
            </p:spPr>
            <p:txBody>
              <a:bodyPr/>
              <a:lstStyle/>
              <a:p>
                <a:pPr marL="609600" indent="-609600"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2. </a:t>
                </a:r>
                <a:r>
                  <a:rPr lang="zh-CN" altLang="en-US" sz="2400" b="1" dirty="0" smtClean="0">
                    <a:solidFill>
                      <a:srgbClr val="800000"/>
                    </a:solidFill>
                    <a:ea typeface="华文楷体" panose="02010600040101010101" pitchFamily="2" charset="-122"/>
                  </a:rPr>
                  <a:t>最小生成树</a:t>
                </a:r>
                <a:endParaRPr lang="zh-CN" altLang="en-US" sz="2400" b="1" dirty="0" smtClean="0">
                  <a:solidFill>
                    <a:srgbClr val="800000"/>
                  </a:solidFill>
                  <a:ea typeface="华文楷体" panose="02010600040101010101" pitchFamily="2" charset="-122"/>
                </a:endParaRPr>
              </a:p>
              <a:p>
                <a:pPr marL="609600" indent="-609600"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概述</a:t>
                </a:r>
                <a:r>
                  <a:rPr lang="en-US" altLang="zh-CN" sz="2400" b="1" dirty="0" smtClean="0">
                    <a:solidFill>
                      <a:srgbClr val="996600"/>
                    </a:solidFill>
                    <a:ea typeface="华文楷体" panose="02010600040101010101" pitchFamily="2" charset="-122"/>
                  </a:rPr>
                  <a:t>]</a:t>
                </a:r>
                <a:r>
                  <a:rPr lang="en-US" altLang="zh-CN" sz="2400" b="1" dirty="0" smtClean="0">
                    <a:ea typeface="华文楷体" panose="02010600040101010101" pitchFamily="2" charset="-122"/>
                  </a:rPr>
                  <a:t> </a:t>
                </a:r>
                <a:endParaRPr lang="en-US" altLang="zh-CN" sz="2400" b="1" dirty="0" smtClean="0">
                  <a:ea typeface="华文楷体" panose="02010600040101010101" pitchFamily="2" charset="-122"/>
                </a:endParaRPr>
              </a:p>
              <a:p>
                <a:pPr marL="609600" indent="-609600" eaLnBrk="1" hangingPunct="1"/>
                <a:r>
                  <a:rPr lang="zh-CN" altLang="en-US" sz="2200" dirty="0" smtClean="0">
                    <a:ea typeface="华文楷体" panose="02010600040101010101" pitchFamily="2" charset="-122"/>
                  </a:rPr>
                  <a:t>由一个连通带权无向图</a:t>
                </a:r>
                <a:r>
                  <a:rPr lang="en-US" altLang="zh-CN" sz="2200" dirty="0">
                    <a:ea typeface="华文楷体" panose="02010600040101010101" pitchFamily="2" charset="-122"/>
                  </a:rPr>
                  <a:t>G=(V, E</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，对每条边</a:t>
                </a:r>
                <a:r>
                  <a:rPr lang="en-US" altLang="zh-CN" sz="2200" dirty="0" smtClean="0">
                    <a:ea typeface="华文楷体" panose="02010600040101010101" pitchFamily="2" charset="-122"/>
                  </a:rPr>
                  <a:t>(</a:t>
                </a:r>
                <a:r>
                  <a:rPr lang="en-US" altLang="zh-CN" sz="2200" dirty="0" err="1" smtClean="0">
                    <a:ea typeface="华文楷体" panose="02010600040101010101" pitchFamily="2" charset="-122"/>
                  </a:rPr>
                  <a:t>u,v</a:t>
                </a:r>
                <a:r>
                  <a:rPr lang="en-US" altLang="zh-CN" sz="2200" dirty="0" smtClean="0">
                    <a:ea typeface="华文楷体" panose="02010600040101010101" pitchFamily="2" charset="-122"/>
                  </a:rPr>
                  <a:t>)</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𝐸</m:t>
                    </m:r>
                    <m:r>
                      <a:rPr lang="zh-CN" altLang="en-US" sz="2200" i="1">
                        <a:latin typeface="Cambria Math" panose="02040503050406030204" pitchFamily="18" charset="0"/>
                        <a:ea typeface="Cambria Math" panose="02040503050406030204" pitchFamily="18" charset="0"/>
                      </a:rPr>
                      <m:t>赋予</m:t>
                    </m:r>
                  </m:oMath>
                </a14:m>
                <a:r>
                  <a:rPr lang="zh-CN" altLang="en-US" sz="2200" dirty="0" smtClean="0">
                    <a:ea typeface="华文楷体" panose="02010600040101010101" pitchFamily="2" charset="-122"/>
                  </a:rPr>
                  <a:t>权值</a:t>
                </a:r>
                <a:r>
                  <a:rPr lang="en-US" altLang="zh-CN" sz="2200" dirty="0">
                    <a:ea typeface="华文楷体" panose="02010600040101010101" pitchFamily="2" charset="-122"/>
                  </a:rPr>
                  <a:t>w (</a:t>
                </a:r>
                <a:r>
                  <a:rPr lang="en-US" altLang="zh-CN" sz="2200" dirty="0" err="1">
                    <a:ea typeface="华文楷体" panose="02010600040101010101" pitchFamily="2" charset="-122"/>
                  </a:rPr>
                  <a:t>u,v</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，找到一个无环子集</a:t>
                </a:r>
                <a:r>
                  <a:rPr lang="en-US" altLang="zh-CN" sz="2200" dirty="0" smtClean="0">
                    <a:ea typeface="华文楷体" panose="02010600040101010101" pitchFamily="2" charset="-122"/>
                  </a:rPr>
                  <a:t>T</a:t>
                </a:r>
                <a14:m>
                  <m:oMath xmlns:m="http://schemas.openxmlformats.org/officeDocument/2006/math">
                    <m:r>
                      <a:rPr lang="en-US" altLang="zh-CN" sz="2200" smtClean="0">
                        <a:latin typeface="Cambria Math" panose="02040503050406030204" pitchFamily="18" charset="0"/>
                      </a:rPr>
                      <m:t>⊆</m:t>
                    </m:r>
                  </m:oMath>
                </a14:m>
                <a:r>
                  <a:rPr lang="en-US" altLang="zh-CN" sz="2200" dirty="0" smtClean="0">
                    <a:ea typeface="华文楷体" panose="02010600040101010101" pitchFamily="2" charset="-122"/>
                  </a:rPr>
                  <a:t>E</a:t>
                </a:r>
                <a:r>
                  <a:rPr lang="zh-CN" altLang="en-US" sz="2200" dirty="0" smtClean="0">
                    <a:ea typeface="华文楷体" panose="02010600040101010101" pitchFamily="2" charset="-122"/>
                  </a:rPr>
                  <a:t>，能将所有顶点连接起来，且</a:t>
                </a:r>
                <a:r>
                  <a:rPr lang="en-US" altLang="zh-CN" sz="2200" dirty="0" smtClean="0">
                    <a:ea typeface="华文楷体" panose="02010600040101010101" pitchFamily="2" charset="-122"/>
                  </a:rPr>
                  <a:t>T</a:t>
                </a:r>
                <a:r>
                  <a:rPr lang="zh-CN" altLang="en-US" sz="2200" dirty="0" smtClean="0">
                    <a:ea typeface="华文楷体" panose="02010600040101010101" pitchFamily="2" charset="-122"/>
                  </a:rPr>
                  <a:t>各边的权中之和最小，即</a:t>
                </a:r>
                <a14:m>
                  <m:oMath xmlns:m="http://schemas.openxmlformats.org/officeDocument/2006/math">
                    <m:r>
                      <a:rPr lang="en-US" altLang="zh-CN" sz="2200" b="0" i="1" smtClean="0">
                        <a:latin typeface="Cambria Math" panose="02040503050406030204" pitchFamily="18" charset="0"/>
                        <a:ea typeface="华文楷体" panose="02010600040101010101" pitchFamily="2" charset="-122"/>
                      </a:rPr>
                      <m:t>𝑤</m:t>
                    </m:r>
                    <m:d>
                      <m:dPr>
                        <m:ctrlPr>
                          <a:rPr lang="en-US" altLang="zh-CN" sz="2200" b="0" i="1" smtClean="0">
                            <a:latin typeface="Cambria Math" panose="02040503050406030204" pitchFamily="18" charset="0"/>
                            <a:ea typeface="华文楷体" panose="02010600040101010101" pitchFamily="2" charset="-122"/>
                          </a:rPr>
                        </m:ctrlPr>
                      </m:dPr>
                      <m:e>
                        <m:r>
                          <a:rPr lang="en-US" altLang="zh-CN" sz="2200" b="0" i="1" smtClean="0">
                            <a:latin typeface="Cambria Math" panose="02040503050406030204" pitchFamily="18" charset="0"/>
                            <a:ea typeface="华文楷体" panose="02010600040101010101" pitchFamily="2" charset="-122"/>
                          </a:rPr>
                          <m:t>𝑇</m:t>
                        </m:r>
                      </m:e>
                    </m:d>
                    <m:r>
                      <a:rPr lang="en-US" altLang="zh-CN" sz="2200" b="0" i="1" smtClean="0">
                        <a:latin typeface="Cambria Math" panose="02040503050406030204" pitchFamily="18" charset="0"/>
                        <a:ea typeface="华文楷体" panose="02010600040101010101" pitchFamily="2" charset="-122"/>
                      </a:rPr>
                      <m:t>=</m:t>
                    </m:r>
                    <m:nary>
                      <m:naryPr>
                        <m:chr m:val="∑"/>
                        <m:supHide m:val="on"/>
                        <m:ctrlPr>
                          <a:rPr lang="en-US" altLang="zh-CN" sz="2200" b="0" i="1" smtClean="0">
                            <a:latin typeface="Cambria Math" panose="02040503050406030204" pitchFamily="18" charset="0"/>
                            <a:ea typeface="华文楷体" panose="02010600040101010101" pitchFamily="2" charset="-122"/>
                          </a:rPr>
                        </m:ctrlPr>
                      </m:naryPr>
                      <m:sub>
                        <m:r>
                          <m:rPr>
                            <m:brk m:alnAt="7"/>
                          </m:rPr>
                          <a:rPr lang="en-US" altLang="zh-CN" sz="2200" b="0" i="1" smtClean="0">
                            <a:latin typeface="Cambria Math" panose="02040503050406030204" pitchFamily="18" charset="0"/>
                            <a:ea typeface="华文楷体" panose="02010600040101010101" pitchFamily="2" charset="-122"/>
                          </a:rPr>
                          <m:t>(</m:t>
                        </m:r>
                        <m:r>
                          <a:rPr lang="en-US" altLang="zh-CN" sz="2200" b="0" i="1" smtClean="0">
                            <a:latin typeface="Cambria Math" panose="02040503050406030204" pitchFamily="18" charset="0"/>
                            <a:ea typeface="华文楷体" panose="02010600040101010101" pitchFamily="2" charset="-122"/>
                          </a:rPr>
                          <m:t>𝑢</m:t>
                        </m:r>
                        <m:r>
                          <a:rPr lang="en-US" altLang="zh-CN" sz="2200" b="0" i="1" smtClean="0">
                            <a:latin typeface="Cambria Math" panose="02040503050406030204" pitchFamily="18" charset="0"/>
                            <a:ea typeface="华文楷体" panose="02010600040101010101" pitchFamily="2" charset="-122"/>
                          </a:rPr>
                          <m:t>,</m:t>
                        </m:r>
                        <m:r>
                          <a:rPr lang="en-US" altLang="zh-CN" sz="2200" b="0" i="1" smtClean="0">
                            <a:latin typeface="Cambria Math" panose="02040503050406030204" pitchFamily="18" charset="0"/>
                            <a:ea typeface="华文楷体" panose="02010600040101010101" pitchFamily="2" charset="-122"/>
                          </a:rPr>
                          <m:t>𝑣</m:t>
                        </m:r>
                        <m:r>
                          <a:rPr lang="en-US" altLang="zh-CN" sz="2200" b="0" i="1" smtClean="0">
                            <a:latin typeface="Cambria Math" panose="02040503050406030204" pitchFamily="18" charset="0"/>
                            <a:ea typeface="华文楷体" panose="02010600040101010101" pitchFamily="2" charset="-122"/>
                          </a:rPr>
                          <m:t>)∈</m:t>
                        </m:r>
                        <m:r>
                          <a:rPr lang="en-US" altLang="zh-CN" sz="2200" b="0" i="1" smtClean="0">
                            <a:latin typeface="Cambria Math" panose="02040503050406030204" pitchFamily="18" charset="0"/>
                            <a:ea typeface="Cambria Math" panose="02040503050406030204" pitchFamily="18" charset="0"/>
                          </a:rPr>
                          <m:t>𝑇</m:t>
                        </m:r>
                      </m:sub>
                      <m:sup/>
                      <m:e>
                        <m:r>
                          <a:rPr lang="en-US" altLang="zh-CN" sz="2200" b="0" i="1" smtClean="0">
                            <a:latin typeface="Cambria Math" panose="02040503050406030204" pitchFamily="18" charset="0"/>
                            <a:ea typeface="华文楷体" panose="02010600040101010101" pitchFamily="2" charset="-122"/>
                          </a:rPr>
                          <m:t>𝑤</m:t>
                        </m:r>
                        <m:r>
                          <a:rPr lang="en-US" altLang="zh-CN" sz="2200" b="0" i="1" smtClean="0">
                            <a:latin typeface="Cambria Math" panose="02040503050406030204" pitchFamily="18" charset="0"/>
                            <a:ea typeface="华文楷体" panose="02010600040101010101" pitchFamily="2" charset="-122"/>
                          </a:rPr>
                          <m:t>(</m:t>
                        </m:r>
                        <m:r>
                          <a:rPr lang="en-US" altLang="zh-CN" sz="2200" b="0" i="1" smtClean="0">
                            <a:latin typeface="Cambria Math" panose="02040503050406030204" pitchFamily="18" charset="0"/>
                            <a:ea typeface="华文楷体" panose="02010600040101010101" pitchFamily="2" charset="-122"/>
                          </a:rPr>
                          <m:t>𝑢</m:t>
                        </m:r>
                        <m:r>
                          <a:rPr lang="en-US" altLang="zh-CN" sz="2200" b="0" i="1" smtClean="0">
                            <a:latin typeface="Cambria Math" panose="02040503050406030204" pitchFamily="18" charset="0"/>
                            <a:ea typeface="华文楷体" panose="02010600040101010101" pitchFamily="2" charset="-122"/>
                          </a:rPr>
                          <m:t>,</m:t>
                        </m:r>
                        <m:r>
                          <a:rPr lang="en-US" altLang="zh-CN" sz="2200" b="0" i="1" smtClean="0">
                            <a:latin typeface="Cambria Math" panose="02040503050406030204" pitchFamily="18" charset="0"/>
                            <a:ea typeface="华文楷体" panose="02010600040101010101" pitchFamily="2" charset="-122"/>
                          </a:rPr>
                          <m:t>𝑣</m:t>
                        </m:r>
                        <m:r>
                          <a:rPr lang="en-US" altLang="zh-CN" sz="2200" b="0" i="1" smtClean="0">
                            <a:latin typeface="Cambria Math" panose="02040503050406030204" pitchFamily="18" charset="0"/>
                            <a:ea typeface="华文楷体" panose="02010600040101010101" pitchFamily="2" charset="-122"/>
                          </a:rPr>
                          <m:t>)</m:t>
                        </m:r>
                      </m:e>
                    </m:nary>
                  </m:oMath>
                </a14:m>
                <a:r>
                  <a:rPr lang="zh-CN" altLang="en-US" sz="2200" dirty="0" smtClean="0">
                    <a:ea typeface="华文楷体" panose="02010600040101010101" pitchFamily="2" charset="-122"/>
                  </a:rPr>
                  <a:t>的值最小。由于</a:t>
                </a:r>
                <a:r>
                  <a:rPr lang="en-US" altLang="zh-CN" sz="2200" dirty="0" smtClean="0">
                    <a:ea typeface="华文楷体" panose="02010600040101010101" pitchFamily="2" charset="-122"/>
                  </a:rPr>
                  <a:t>T</a:t>
                </a:r>
                <a:r>
                  <a:rPr lang="zh-CN" altLang="en-US" sz="2200" dirty="0" smtClean="0">
                    <a:ea typeface="华文楷体" panose="02010600040101010101" pitchFamily="2" charset="-122"/>
                  </a:rPr>
                  <a:t>无环且连通，因此</a:t>
                </a:r>
                <a:r>
                  <a:rPr lang="en-US" altLang="zh-CN" sz="2200" dirty="0" smtClean="0">
                    <a:ea typeface="华文楷体" panose="02010600040101010101" pitchFamily="2" charset="-122"/>
                  </a:rPr>
                  <a:t>T</a:t>
                </a:r>
                <a:r>
                  <a:rPr lang="zh-CN" altLang="en-US" sz="2200" dirty="0" smtClean="0">
                    <a:ea typeface="华文楷体" panose="02010600040101010101" pitchFamily="2" charset="-122"/>
                  </a:rPr>
                  <a:t>必为树，称这样的树为</a:t>
                </a:r>
                <a:r>
                  <a:rPr lang="zh-CN" altLang="en-US" sz="2200" b="1" dirty="0" smtClean="0">
                    <a:solidFill>
                      <a:srgbClr val="FF3300"/>
                    </a:solidFill>
                    <a:ea typeface="华文楷体" panose="02010600040101010101" pitchFamily="2" charset="-122"/>
                  </a:rPr>
                  <a:t>最小生成树</a:t>
                </a:r>
                <a:r>
                  <a:rPr lang="zh-CN" altLang="en-US" sz="2200" dirty="0" smtClean="0">
                    <a:ea typeface="华文楷体" panose="02010600040101010101" pitchFamily="2" charset="-122"/>
                  </a:rPr>
                  <a:t>，记为</a:t>
                </a:r>
                <a:r>
                  <a:rPr lang="en-US" altLang="zh-CN" sz="2200" dirty="0" smtClean="0">
                    <a:ea typeface="华文楷体" panose="02010600040101010101" pitchFamily="2" charset="-122"/>
                  </a:rPr>
                  <a:t>MST</a:t>
                </a:r>
                <a:r>
                  <a:rPr lang="zh-CN" altLang="en-US" sz="2200" dirty="0" smtClean="0">
                    <a:ea typeface="华文楷体" panose="02010600040101010101" pitchFamily="2" charset="-122"/>
                  </a:rPr>
                  <a:t>。</a:t>
                </a:r>
                <a:endParaRPr lang="en-US" altLang="zh-CN" sz="2200" dirty="0" smtClean="0">
                  <a:ea typeface="华文楷体" panose="02010600040101010101" pitchFamily="2" charset="-122"/>
                </a:endParaRPr>
              </a:p>
              <a:p>
                <a:pPr marL="609600" indent="-609600" eaLnBrk="1" hangingPunct="1"/>
                <a:r>
                  <a:rPr lang="zh-CN" altLang="en-US" sz="2200" b="1" dirty="0" smtClean="0">
                    <a:solidFill>
                      <a:srgbClr val="C00000"/>
                    </a:solidFill>
                    <a:ea typeface="华文楷体" panose="02010600040101010101" pitchFamily="2" charset="-122"/>
                  </a:rPr>
                  <a:t>应用场景</a:t>
                </a:r>
                <a:r>
                  <a:rPr lang="zh-CN" altLang="en-US" sz="2200" dirty="0" smtClean="0">
                    <a:ea typeface="华文楷体" panose="02010600040101010101" pitchFamily="2" charset="-122"/>
                  </a:rPr>
                  <a:t>：在电子电路设计中，常常需要将不同组件的针脚连在一起，要连接</a:t>
                </a:r>
                <a:r>
                  <a:rPr lang="en-US" altLang="zh-CN" sz="2200" dirty="0" smtClean="0">
                    <a:ea typeface="华文楷体" panose="02010600040101010101" pitchFamily="2" charset="-122"/>
                  </a:rPr>
                  <a:t>n</a:t>
                </a:r>
                <a:r>
                  <a:rPr lang="zh-CN" altLang="en-US" sz="2200" dirty="0" smtClean="0">
                    <a:ea typeface="华文楷体" panose="02010600040101010101" pitchFamily="2" charset="-122"/>
                  </a:rPr>
                  <a:t>个针脚，可以使用</a:t>
                </a:r>
                <a:r>
                  <a:rPr lang="en-US" altLang="zh-CN" sz="2200" dirty="0" smtClean="0">
                    <a:ea typeface="华文楷体" panose="02010600040101010101" pitchFamily="2" charset="-122"/>
                  </a:rPr>
                  <a:t>n-1</a:t>
                </a:r>
                <a:r>
                  <a:rPr lang="zh-CN" altLang="en-US" sz="2200" dirty="0" smtClean="0">
                    <a:ea typeface="华文楷体" panose="02010600040101010101" pitchFamily="2" charset="-122"/>
                  </a:rPr>
                  <a:t>根连线 ，我们希望连线长度最短。这类布线问题可以看成是一个连通无向图</a:t>
                </a:r>
                <a:r>
                  <a:rPr lang="en-US" altLang="zh-CN" sz="2200" dirty="0">
                    <a:ea typeface="华文楷体" panose="02010600040101010101" pitchFamily="2" charset="-122"/>
                  </a:rPr>
                  <a:t>G=(V, E</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a:t>
                </a:r>
                <a:r>
                  <a:rPr lang="en-US" altLang="zh-CN" sz="2200" dirty="0" smtClean="0">
                    <a:ea typeface="华文楷体" panose="02010600040101010101" pitchFamily="2" charset="-122"/>
                  </a:rPr>
                  <a:t>V</a:t>
                </a:r>
                <a:r>
                  <a:rPr lang="zh-CN" altLang="en-US" sz="2200" dirty="0" smtClean="0">
                    <a:ea typeface="华文楷体" panose="02010600040101010101" pitchFamily="2" charset="-122"/>
                  </a:rPr>
                  <a:t>是针脚集合，</a:t>
                </a:r>
                <a:r>
                  <a:rPr lang="en-US" altLang="zh-CN" sz="2200" dirty="0" smtClean="0">
                    <a:ea typeface="华文楷体" panose="02010600040101010101" pitchFamily="2" charset="-122"/>
                  </a:rPr>
                  <a:t>E</a:t>
                </a:r>
                <a:r>
                  <a:rPr lang="zh-CN" altLang="en-US" sz="2200" dirty="0" smtClean="0">
                    <a:ea typeface="华文楷体" panose="02010600040101010101" pitchFamily="2" charset="-122"/>
                  </a:rPr>
                  <a:t>是针脚之间可能的连线。</a:t>
                </a:r>
                <a:endParaRPr lang="en-US" altLang="zh-CN" sz="2200" dirty="0" smtClean="0">
                  <a:ea typeface="华文楷体" panose="02010600040101010101" pitchFamily="2" charset="-122"/>
                </a:endParaRPr>
              </a:p>
              <a:p>
                <a:pPr marL="609600" indent="-609600" eaLnBrk="1" hangingPunct="1"/>
                <a:r>
                  <a:rPr lang="zh-CN" altLang="en-US" sz="2200" dirty="0" smtClean="0">
                    <a:ea typeface="华文楷体" panose="02010600040101010101" pitchFamily="2" charset="-122"/>
                  </a:rPr>
                  <a:t>两种最小生成树算法都是基于贪心算法的，只是贪心策略不一样。贪心是在多个可能中选择一个，一般不能</a:t>
                </a:r>
                <a:r>
                  <a:rPr lang="zh-CN" altLang="en-US" sz="2200" dirty="0">
                    <a:ea typeface="华文楷体" panose="02010600040101010101" pitchFamily="2" charset="-122"/>
                  </a:rPr>
                  <a:t>保证</a:t>
                </a:r>
                <a:r>
                  <a:rPr lang="zh-CN" altLang="en-US" sz="2200" dirty="0" smtClean="0">
                    <a:ea typeface="华文楷体" panose="02010600040101010101" pitchFamily="2" charset="-122"/>
                  </a:rPr>
                  <a:t>得到一个全局最优解。但对于最小生成树问题，可证明这两种贪心策略是能找到最优解的。</a:t>
                </a:r>
                <a:endParaRPr lang="en-US" altLang="zh-CN" sz="2200" b="1" dirty="0" smtClean="0">
                  <a:solidFill>
                    <a:srgbClr val="800000"/>
                  </a:solidFill>
                  <a:ea typeface="华文楷体" panose="02010600040101010101" pitchFamily="2" charset="-122"/>
                </a:endParaRPr>
              </a:p>
            </p:txBody>
          </p:sp>
        </mc:Choice>
        <mc:Fallback>
          <p:sp>
            <p:nvSpPr>
              <p:cNvPr id="50181" name="Rectangle 3"/>
              <p:cNvSpPr>
                <a:spLocks noRot="1" noChangeAspect="1" noMove="1" noResize="1" noEditPoints="1" noAdjustHandles="1" noChangeArrowheads="1" noChangeShapeType="1" noTextEdit="1"/>
              </p:cNvSpPr>
              <p:nvPr>
                <p:ph type="body" idx="1"/>
              </p:nvPr>
            </p:nvSpPr>
            <p:spPr>
              <a:xfrm>
                <a:off x="457200" y="1152525"/>
                <a:ext cx="8458200" cy="5553075"/>
              </a:xfr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512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05" name="Rectangle 3"/>
          <p:cNvSpPr>
            <a:spLocks noGrp="1" noChangeArrowheads="1"/>
          </p:cNvSpPr>
          <p:nvPr>
            <p:ph type="body" idx="1"/>
          </p:nvPr>
        </p:nvSpPr>
        <p:spPr>
          <a:xfrm>
            <a:off x="381000" y="1313233"/>
            <a:ext cx="8229600" cy="1257582"/>
          </a:xfrm>
          <a:ln>
            <a:solidFill>
              <a:schemeClr val="accent1"/>
            </a:solidFill>
          </a:ln>
        </p:spPr>
        <p:txBody>
          <a:bodyPr/>
          <a:lstStyle/>
          <a:p>
            <a:pPr eaLnBrk="1" hangingPunct="1">
              <a:buNone/>
            </a:pPr>
            <a:r>
              <a:rPr lang="en-US" altLang="zh-CN" sz="2000" b="1" dirty="0">
                <a:solidFill>
                  <a:schemeClr val="accent2"/>
                </a:solidFill>
                <a:ea typeface="华文楷体" panose="02010600040101010101" pitchFamily="2" charset="-122"/>
              </a:rPr>
              <a:t>MST</a:t>
            </a:r>
            <a:r>
              <a:rPr lang="zh-CN" altLang="en-US" sz="2000" b="1" dirty="0" smtClean="0">
                <a:solidFill>
                  <a:schemeClr val="accent2"/>
                </a:solidFill>
                <a:ea typeface="华文楷体" panose="02010600040101010101" pitchFamily="2" charset="-122"/>
              </a:rPr>
              <a:t>性质（贪心）</a:t>
            </a:r>
            <a:r>
              <a:rPr lang="zh-CN" altLang="en-US" sz="2000" dirty="0" smtClean="0">
                <a:ea typeface="华文楷体" panose="02010600040101010101" pitchFamily="2" charset="-122"/>
              </a:rPr>
              <a:t>：</a:t>
            </a:r>
            <a:r>
              <a:rPr lang="zh-CN" altLang="en-US" sz="2000" dirty="0">
                <a:ea typeface="华文楷体" panose="02010600040101010101" pitchFamily="2" charset="-122"/>
              </a:rPr>
              <a:t>设</a:t>
            </a:r>
            <a:r>
              <a:rPr lang="en-US" altLang="zh-CN" sz="2000" dirty="0">
                <a:ea typeface="华文楷体" panose="02010600040101010101" pitchFamily="2" charset="-122"/>
              </a:rPr>
              <a:t>G=(V, E)</a:t>
            </a:r>
            <a:r>
              <a:rPr lang="zh-CN" altLang="en-US" sz="2000" dirty="0">
                <a:ea typeface="华文楷体" panose="02010600040101010101" pitchFamily="2" charset="-122"/>
              </a:rPr>
              <a:t>是一个连通的带权图</a:t>
            </a:r>
            <a:r>
              <a:rPr lang="zh-CN" altLang="en-US" sz="2000" dirty="0" smtClean="0">
                <a:ea typeface="华文楷体" panose="02010600040101010101" pitchFamily="2" charset="-122"/>
              </a:rPr>
              <a:t>，权重函数为</a:t>
            </a:r>
            <a:r>
              <a:rPr lang="en-US" altLang="zh-CN" sz="2000" dirty="0" smtClean="0">
                <a:ea typeface="华文楷体" panose="02010600040101010101" pitchFamily="2" charset="-122"/>
              </a:rPr>
              <a:t>w</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U</a:t>
            </a:r>
            <a:r>
              <a:rPr lang="zh-CN" altLang="en-US" sz="2000" dirty="0">
                <a:ea typeface="华文楷体" panose="02010600040101010101" pitchFamily="2" charset="-122"/>
              </a:rPr>
              <a:t>是</a:t>
            </a:r>
            <a:r>
              <a:rPr lang="en-US" altLang="zh-CN" sz="2000" dirty="0">
                <a:ea typeface="华文楷体" panose="02010600040101010101" pitchFamily="2" charset="-122"/>
              </a:rPr>
              <a:t>V</a:t>
            </a:r>
            <a:r>
              <a:rPr lang="zh-CN" altLang="en-US" sz="2000" dirty="0">
                <a:ea typeface="华文楷体" panose="02010600040101010101" pitchFamily="2" charset="-122"/>
              </a:rPr>
              <a:t>的真子集，若边</a:t>
            </a:r>
            <a:r>
              <a:rPr lang="en-US" altLang="zh-CN" sz="2000" dirty="0">
                <a:ea typeface="华文楷体" panose="02010600040101010101" pitchFamily="2" charset="-122"/>
              </a:rPr>
              <a:t>(</a:t>
            </a:r>
            <a:r>
              <a:rPr lang="en-US" altLang="zh-CN" sz="2000" dirty="0" err="1">
                <a:ea typeface="华文楷体" panose="02010600040101010101" pitchFamily="2" charset="-122"/>
              </a:rPr>
              <a:t>u,v</a:t>
            </a:r>
            <a:r>
              <a:rPr lang="en-US" altLang="zh-CN" sz="2000" dirty="0">
                <a:ea typeface="华文楷体" panose="02010600040101010101" pitchFamily="2" charset="-122"/>
              </a:rPr>
              <a:t>)[</a:t>
            </a:r>
            <a:r>
              <a:rPr lang="en-US" altLang="zh-CN" sz="2000" dirty="0" err="1">
                <a:ea typeface="华文楷体" panose="02010600040101010101" pitchFamily="2" charset="-122"/>
              </a:rPr>
              <a:t>u</a:t>
            </a:r>
            <a:r>
              <a:rPr lang="en-US" altLang="zh-CN" sz="2000" dirty="0" err="1">
                <a:ea typeface="华文楷体" panose="02010600040101010101" pitchFamily="2" charset="-122"/>
                <a:sym typeface="Symbol" panose="05050102010706020507" pitchFamily="18" charset="2"/>
              </a:rPr>
              <a:t>U,vV-U</a:t>
            </a:r>
            <a:r>
              <a:rPr lang="en-US" altLang="zh-CN" sz="2000" dirty="0">
                <a:ea typeface="华文楷体" panose="02010600040101010101" pitchFamily="2" charset="-122"/>
                <a:sym typeface="Symbol" panose="05050102010706020507" pitchFamily="18" charset="2"/>
              </a:rPr>
              <a:t>]</a:t>
            </a:r>
            <a:r>
              <a:rPr lang="zh-CN" altLang="zh-CN" sz="2000" dirty="0">
                <a:ea typeface="华文楷体" panose="02010600040101010101" pitchFamily="2" charset="-122"/>
                <a:sym typeface="Symbol" panose="05050102010706020507" pitchFamily="18" charset="2"/>
              </a:rPr>
              <a:t>是</a:t>
            </a:r>
            <a:r>
              <a:rPr lang="en-US" altLang="zh-CN" sz="2000" dirty="0">
                <a:ea typeface="华文楷体" panose="02010600040101010101" pitchFamily="2" charset="-122"/>
                <a:sym typeface="Symbol" panose="05050102010706020507" pitchFamily="18" charset="2"/>
              </a:rPr>
              <a:t>E</a:t>
            </a:r>
            <a:r>
              <a:rPr lang="zh-CN" altLang="zh-CN" sz="2000" dirty="0">
                <a:ea typeface="华文楷体" panose="02010600040101010101" pitchFamily="2" charset="-122"/>
                <a:sym typeface="Symbol" panose="05050102010706020507" pitchFamily="18" charset="2"/>
              </a:rPr>
              <a:t>中所有</a:t>
            </a:r>
            <a:r>
              <a:rPr lang="zh-CN" altLang="zh-CN" sz="2000" dirty="0">
                <a:solidFill>
                  <a:schemeClr val="accent2"/>
                </a:solidFill>
                <a:ea typeface="华文楷体" panose="02010600040101010101" pitchFamily="2" charset="-122"/>
                <a:sym typeface="Symbol" panose="05050102010706020507" pitchFamily="18" charset="2"/>
              </a:rPr>
              <a:t>一个端点在</a:t>
            </a:r>
            <a:r>
              <a:rPr lang="en-US" altLang="zh-CN" sz="2000" dirty="0">
                <a:solidFill>
                  <a:schemeClr val="accent2"/>
                </a:solidFill>
                <a:ea typeface="华文楷体" panose="02010600040101010101" pitchFamily="2" charset="-122"/>
                <a:sym typeface="Symbol" panose="05050102010706020507" pitchFamily="18" charset="2"/>
              </a:rPr>
              <a:t>U</a:t>
            </a:r>
            <a:r>
              <a:rPr lang="zh-CN" altLang="zh-CN" sz="2000" dirty="0">
                <a:solidFill>
                  <a:schemeClr val="accent2"/>
                </a:solidFill>
                <a:ea typeface="华文楷体" panose="02010600040101010101" pitchFamily="2" charset="-122"/>
                <a:sym typeface="Symbol" panose="05050102010706020507" pitchFamily="18" charset="2"/>
              </a:rPr>
              <a:t>内，一个端点不在</a:t>
            </a:r>
            <a:r>
              <a:rPr lang="en-US" altLang="zh-CN" sz="2000" dirty="0">
                <a:solidFill>
                  <a:schemeClr val="accent2"/>
                </a:solidFill>
                <a:ea typeface="华文楷体" panose="02010600040101010101" pitchFamily="2" charset="-122"/>
                <a:sym typeface="Symbol" panose="05050102010706020507" pitchFamily="18" charset="2"/>
              </a:rPr>
              <a:t>U</a:t>
            </a:r>
            <a:r>
              <a:rPr lang="zh-CN" altLang="zh-CN" sz="2000" dirty="0">
                <a:solidFill>
                  <a:schemeClr val="accent2"/>
                </a:solidFill>
                <a:ea typeface="华文楷体" panose="02010600040101010101" pitchFamily="2" charset="-122"/>
                <a:sym typeface="Symbol" panose="05050102010706020507" pitchFamily="18" charset="2"/>
              </a:rPr>
              <a:t>内的边</a:t>
            </a:r>
            <a:r>
              <a:rPr lang="zh-CN" altLang="zh-CN" sz="2000" dirty="0">
                <a:ea typeface="华文楷体" panose="02010600040101010101" pitchFamily="2" charset="-122"/>
                <a:sym typeface="Symbol" panose="05050102010706020507" pitchFamily="18" charset="2"/>
              </a:rPr>
              <a:t>中权值</a:t>
            </a:r>
            <a:r>
              <a:rPr lang="zh-CN" altLang="zh-CN" sz="2000" dirty="0">
                <a:solidFill>
                  <a:schemeClr val="accent2"/>
                </a:solidFill>
                <a:ea typeface="华文楷体" panose="02010600040101010101" pitchFamily="2" charset="-122"/>
                <a:sym typeface="Symbol" panose="05050102010706020507" pitchFamily="18" charset="2"/>
              </a:rPr>
              <a:t>最小</a:t>
            </a:r>
            <a:r>
              <a:rPr lang="zh-CN" altLang="zh-CN" sz="2000" dirty="0">
                <a:ea typeface="华文楷体" panose="02010600040101010101" pitchFamily="2" charset="-122"/>
                <a:sym typeface="Symbol" panose="05050102010706020507" pitchFamily="18" charset="2"/>
              </a:rPr>
              <a:t>的一条边(轻</a:t>
            </a:r>
            <a:r>
              <a:rPr lang="zh-CN" altLang="zh-CN" sz="2000" dirty="0" smtClean="0">
                <a:ea typeface="华文楷体" panose="02010600040101010101" pitchFamily="2" charset="-122"/>
                <a:sym typeface="Symbol" panose="05050102010706020507" pitchFamily="18" charset="2"/>
              </a:rPr>
              <a:t>边</a:t>
            </a:r>
            <a:r>
              <a:rPr lang="en-US" altLang="zh-CN" sz="2000" dirty="0" smtClean="0">
                <a:ea typeface="华文楷体" panose="02010600040101010101" pitchFamily="2" charset="-122"/>
                <a:sym typeface="Symbol" panose="05050102010706020507" pitchFamily="18" charset="2"/>
              </a:rPr>
              <a:t>/</a:t>
            </a:r>
            <a:r>
              <a:rPr lang="zh-CN" altLang="en-US" sz="2000" dirty="0" smtClean="0">
                <a:ea typeface="华文楷体" panose="02010600040101010101" pitchFamily="2" charset="-122"/>
                <a:sym typeface="Symbol" panose="05050102010706020507" pitchFamily="18" charset="2"/>
              </a:rPr>
              <a:t>安全边</a:t>
            </a:r>
            <a:r>
              <a:rPr lang="zh-CN" altLang="zh-CN" sz="2000" dirty="0" smtClean="0">
                <a:ea typeface="华文楷体" panose="02010600040101010101" pitchFamily="2" charset="-122"/>
                <a:sym typeface="Symbol" panose="05050102010706020507" pitchFamily="18" charset="2"/>
              </a:rPr>
              <a:t>)</a:t>
            </a:r>
            <a:r>
              <a:rPr lang="zh-CN" altLang="zh-CN" sz="2000" dirty="0">
                <a:ea typeface="华文楷体" panose="02010600040101010101" pitchFamily="2" charset="-122"/>
                <a:sym typeface="Symbol" panose="05050102010706020507" pitchFamily="18" charset="2"/>
              </a:rPr>
              <a:t>，则一定存在</a:t>
            </a:r>
            <a:r>
              <a:rPr lang="en-US" altLang="zh-CN" sz="2000" dirty="0">
                <a:ea typeface="华文楷体" panose="02010600040101010101" pitchFamily="2" charset="-122"/>
                <a:sym typeface="Symbol" panose="05050102010706020507" pitchFamily="18" charset="2"/>
              </a:rPr>
              <a:t>G</a:t>
            </a:r>
            <a:r>
              <a:rPr lang="zh-CN" altLang="zh-CN" sz="2000" dirty="0">
                <a:ea typeface="华文楷体" panose="02010600040101010101" pitchFamily="2" charset="-122"/>
                <a:sym typeface="Symbol" panose="05050102010706020507" pitchFamily="18" charset="2"/>
              </a:rPr>
              <a:t>的一</a:t>
            </a:r>
            <a:r>
              <a:rPr lang="zh-CN" altLang="zh-CN" sz="2000" dirty="0" smtClean="0">
                <a:ea typeface="华文楷体" panose="02010600040101010101" pitchFamily="2" charset="-122"/>
                <a:sym typeface="Symbol" panose="05050102010706020507" pitchFamily="18" charset="2"/>
              </a:rPr>
              <a:t>棵</a:t>
            </a:r>
            <a:r>
              <a:rPr lang="zh-CN" altLang="en-US" sz="2000" dirty="0" smtClean="0">
                <a:ea typeface="华文楷体" panose="02010600040101010101" pitchFamily="2" charset="-122"/>
                <a:sym typeface="Symbol" panose="05050102010706020507" pitchFamily="18" charset="2"/>
              </a:rPr>
              <a:t>最小</a:t>
            </a:r>
            <a:r>
              <a:rPr lang="zh-CN" altLang="zh-CN" sz="2000" dirty="0" smtClean="0">
                <a:ea typeface="华文楷体" panose="02010600040101010101" pitchFamily="2" charset="-122"/>
                <a:sym typeface="Symbol" panose="05050102010706020507" pitchFamily="18" charset="2"/>
              </a:rPr>
              <a:t>生成树</a:t>
            </a:r>
            <a:r>
              <a:rPr lang="zh-CN" altLang="zh-CN" sz="2000" dirty="0">
                <a:ea typeface="华文楷体" panose="02010600040101010101" pitchFamily="2" charset="-122"/>
                <a:sym typeface="Symbol" panose="05050102010706020507" pitchFamily="18" charset="2"/>
              </a:rPr>
              <a:t>包括此边。</a:t>
            </a:r>
            <a:endParaRPr lang="zh-CN" altLang="en-US" sz="2000" dirty="0">
              <a:ea typeface="华文楷体" panose="02010600040101010101" pitchFamily="2" charset="-122"/>
            </a:endParaRPr>
          </a:p>
          <a:p>
            <a:pPr eaLnBrk="1" hangingPunct="1">
              <a:buFont typeface="Wingdings" panose="05000000000000000000" pitchFamily="2" charset="2"/>
              <a:buNone/>
            </a:pPr>
            <a:endParaRPr kumimoji="1" lang="en-US" altLang="zh-CN" sz="2400" dirty="0" smtClean="0">
              <a:ea typeface="华文楷体" panose="02010600040101010101" pitchFamily="2" charset="-122"/>
            </a:endParaRPr>
          </a:p>
          <a:p>
            <a:pPr eaLnBrk="1" hangingPunct="1">
              <a:buFont typeface="Wingdings" panose="05000000000000000000" pitchFamily="2" charset="2"/>
              <a:buNone/>
            </a:pPr>
            <a:endParaRPr kumimoji="1" lang="en-US" altLang="zh-CN" sz="2400" dirty="0" smtClean="0">
              <a:ea typeface="华文楷体" panose="02010600040101010101" pitchFamily="2" charset="-122"/>
            </a:endParaRPr>
          </a:p>
        </p:txBody>
      </p:sp>
      <p:sp>
        <p:nvSpPr>
          <p:cNvPr id="6" name="Rectangle 4"/>
          <p:cNvSpPr>
            <a:spLocks noChangeArrowheads="1"/>
          </p:cNvSpPr>
          <p:nvPr/>
        </p:nvSpPr>
        <p:spPr bwMode="auto">
          <a:xfrm>
            <a:off x="4607511" y="3060436"/>
            <a:ext cx="1219200" cy="134112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 name="Oval 5"/>
          <p:cNvSpPr>
            <a:spLocks noChangeArrowheads="1"/>
          </p:cNvSpPr>
          <p:nvPr/>
        </p:nvSpPr>
        <p:spPr bwMode="auto">
          <a:xfrm>
            <a:off x="4988511" y="3490966"/>
            <a:ext cx="228600" cy="25146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 name="Oval 6"/>
          <p:cNvSpPr>
            <a:spLocks noChangeArrowheads="1"/>
          </p:cNvSpPr>
          <p:nvPr/>
        </p:nvSpPr>
        <p:spPr bwMode="auto">
          <a:xfrm>
            <a:off x="7655511" y="3490966"/>
            <a:ext cx="228600" cy="25146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9" name="Rectangle 7"/>
          <p:cNvSpPr>
            <a:spLocks noChangeArrowheads="1"/>
          </p:cNvSpPr>
          <p:nvPr/>
        </p:nvSpPr>
        <p:spPr bwMode="auto">
          <a:xfrm>
            <a:off x="7426911" y="3064246"/>
            <a:ext cx="1219200" cy="12573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 name="Text Box 8"/>
          <p:cNvSpPr txBox="1">
            <a:spLocks noChangeArrowheads="1"/>
          </p:cNvSpPr>
          <p:nvPr/>
        </p:nvSpPr>
        <p:spPr bwMode="auto">
          <a:xfrm>
            <a:off x="4859784" y="2680090"/>
            <a:ext cx="4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rgbClr val="FF0000"/>
                </a:solidFill>
                <a:latin typeface="Times New Roman" panose="02020603050405020304" pitchFamily="18" charset="0"/>
                <a:ea typeface="华文楷体" panose="02010600040101010101" pitchFamily="2" charset="-122"/>
              </a:rPr>
              <a:t>U</a:t>
            </a:r>
            <a:endParaRPr kumimoji="1" lang="en-US" altLang="zh-CN" sz="2400" b="1" dirty="0">
              <a:solidFill>
                <a:srgbClr val="FF0000"/>
              </a:solidFill>
              <a:latin typeface="Times New Roman" panose="02020603050405020304" pitchFamily="18" charset="0"/>
              <a:ea typeface="华文楷体" panose="02010600040101010101" pitchFamily="2" charset="-122"/>
            </a:endParaRPr>
          </a:p>
        </p:txBody>
      </p:sp>
      <p:sp>
        <p:nvSpPr>
          <p:cNvPr id="11" name="Text Box 9"/>
          <p:cNvSpPr txBox="1">
            <a:spLocks noChangeArrowheads="1"/>
          </p:cNvSpPr>
          <p:nvPr/>
        </p:nvSpPr>
        <p:spPr bwMode="auto">
          <a:xfrm>
            <a:off x="7655511" y="2682611"/>
            <a:ext cx="99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rgbClr val="FF0000"/>
                </a:solidFill>
                <a:latin typeface="Times New Roman" panose="02020603050405020304" pitchFamily="18" charset="0"/>
                <a:ea typeface="华文楷体" panose="02010600040101010101" pitchFamily="2" charset="-122"/>
              </a:rPr>
              <a:t>V-U</a:t>
            </a:r>
            <a:endParaRPr kumimoji="1" lang="en-US" altLang="zh-CN" sz="2400" b="1" dirty="0">
              <a:solidFill>
                <a:srgbClr val="FF0000"/>
              </a:solidFill>
              <a:latin typeface="Times New Roman" panose="02020603050405020304" pitchFamily="18" charset="0"/>
              <a:ea typeface="华文楷体" panose="02010600040101010101" pitchFamily="2" charset="-122"/>
            </a:endParaRPr>
          </a:p>
        </p:txBody>
      </p:sp>
      <p:sp>
        <p:nvSpPr>
          <p:cNvPr id="12" name="Line 10"/>
          <p:cNvSpPr>
            <a:spLocks noChangeShapeType="1"/>
          </p:cNvSpPr>
          <p:nvPr/>
        </p:nvSpPr>
        <p:spPr bwMode="auto">
          <a:xfrm>
            <a:off x="5217111" y="3654796"/>
            <a:ext cx="24384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 name="Text Box 11"/>
          <p:cNvSpPr txBox="1">
            <a:spLocks noChangeArrowheads="1"/>
          </p:cNvSpPr>
          <p:nvPr/>
        </p:nvSpPr>
        <p:spPr bwMode="auto">
          <a:xfrm>
            <a:off x="4759911" y="3250936"/>
            <a:ext cx="45720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u</a:t>
            </a:r>
            <a:endParaRPr kumimoji="1" lang="en-US" altLang="zh-CN" sz="2400" dirty="0">
              <a:latin typeface="Times New Roman" panose="02020603050405020304" pitchFamily="18" charset="0"/>
              <a:ea typeface="华文楷体" panose="02010600040101010101" pitchFamily="2" charset="-122"/>
            </a:endParaRPr>
          </a:p>
        </p:txBody>
      </p:sp>
      <p:sp>
        <p:nvSpPr>
          <p:cNvPr id="14" name="Text Box 12"/>
          <p:cNvSpPr txBox="1">
            <a:spLocks noChangeArrowheads="1"/>
          </p:cNvSpPr>
          <p:nvPr/>
        </p:nvSpPr>
        <p:spPr bwMode="auto">
          <a:xfrm>
            <a:off x="7807911" y="3250936"/>
            <a:ext cx="60960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endParaRPr kumimoji="1" lang="en-US" altLang="zh-CN" sz="2400" dirty="0">
              <a:latin typeface="Times New Roman" panose="02020603050405020304" pitchFamily="18" charset="0"/>
              <a:ea typeface="华文楷体" panose="02010600040101010101" pitchFamily="2" charset="-122"/>
            </a:endParaRPr>
          </a:p>
        </p:txBody>
      </p:sp>
      <p:sp>
        <p:nvSpPr>
          <p:cNvPr id="15" name="Text Box 13"/>
          <p:cNvSpPr txBox="1">
            <a:spLocks noChangeArrowheads="1"/>
          </p:cNvSpPr>
          <p:nvPr/>
        </p:nvSpPr>
        <p:spPr bwMode="auto">
          <a:xfrm>
            <a:off x="6207711" y="3327136"/>
            <a:ext cx="53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solidFill>
                  <a:schemeClr val="accent2"/>
                </a:solidFill>
                <a:latin typeface="Times New Roman" panose="02020603050405020304" pitchFamily="18" charset="0"/>
                <a:ea typeface="华文楷体" panose="02010600040101010101" pitchFamily="2" charset="-122"/>
              </a:rPr>
              <a:t>w</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mc:AlternateContent xmlns:mc="http://schemas.openxmlformats.org/markup-compatibility/2006">
        <mc:Choice xmlns:a14="http://schemas.microsoft.com/office/drawing/2010/main" Requires="a14">
          <p:sp>
            <p:nvSpPr>
              <p:cNvPr id="3" name="文本框 2"/>
              <p:cNvSpPr txBox="1"/>
              <p:nvPr/>
            </p:nvSpPr>
            <p:spPr>
              <a:xfrm>
                <a:off x="495300" y="4744623"/>
                <a:ext cx="8001000" cy="2062103"/>
              </a:xfrm>
              <a:prstGeom prst="rect">
                <a:avLst/>
              </a:prstGeom>
              <a:noFill/>
              <a:ln>
                <a:solidFill>
                  <a:schemeClr val="accent1"/>
                </a:solidFill>
              </a:ln>
            </p:spPr>
            <p:txBody>
              <a:bodyPr wrap="square" rtlCol="0">
                <a:spAutoFit/>
              </a:bodyPr>
              <a:lstStyle/>
              <a:p>
                <a:pPr eaLnBrk="1" hangingPunct="1">
                  <a:buFont typeface="Wingdings" panose="05000000000000000000" pitchFamily="2" charset="2"/>
                  <a:buNone/>
                </a:pPr>
                <a:r>
                  <a:rPr kumimoji="1" lang="zh-CN" altLang="zh-CN" sz="1600" dirty="0" smtClean="0">
                    <a:ea typeface="华文楷体" panose="02010600040101010101" pitchFamily="2" charset="-122"/>
                  </a:rPr>
                  <a:t>证明：假定存在一棵不包括</a:t>
                </a:r>
                <a:r>
                  <a:rPr kumimoji="1" lang="zh-CN" altLang="en-US" sz="1600" dirty="0" smtClean="0">
                    <a:ea typeface="华文楷体" panose="02010600040101010101" pitchFamily="2" charset="-122"/>
                  </a:rPr>
                  <a:t>轻</a:t>
                </a:r>
                <a:r>
                  <a:rPr kumimoji="1" lang="zh-CN" altLang="zh-CN" sz="1600" dirty="0" smtClean="0">
                    <a:ea typeface="华文楷体" panose="02010600040101010101" pitchFamily="2" charset="-122"/>
                  </a:rPr>
                  <a:t>边</a:t>
                </a:r>
                <a14:m>
                  <m:oMath xmlns:m="http://schemas.openxmlformats.org/officeDocument/2006/math">
                    <m:d>
                      <m:dPr>
                        <m:ctrlPr>
                          <a:rPr kumimoji="1" lang="en-US" altLang="zh-CN" sz="1600" i="1" dirty="0">
                            <a:latin typeface="Cambria Math" panose="02040503050406030204" pitchFamily="18" charset="0"/>
                            <a:ea typeface="华文楷体" panose="02010600040101010101" pitchFamily="2" charset="-122"/>
                          </a:rPr>
                        </m:ctrlPr>
                      </m:dPr>
                      <m:e>
                        <m:r>
                          <a:rPr kumimoji="1" lang="en-US" altLang="zh-CN" sz="1600" i="1" dirty="0">
                            <a:latin typeface="Cambria Math" panose="02040503050406030204" pitchFamily="18" charset="0"/>
                            <a:ea typeface="华文楷体" panose="02010600040101010101" pitchFamily="2" charset="-122"/>
                          </a:rPr>
                          <m:t>𝑢</m:t>
                        </m:r>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e>
                    </m:d>
                  </m:oMath>
                </a14:m>
                <a:r>
                  <a:rPr kumimoji="1" lang="zh-CN" altLang="zh-CN" sz="1600" dirty="0" smtClean="0">
                    <a:ea typeface="华文楷体" panose="02010600040101010101" pitchFamily="2" charset="-122"/>
                  </a:rPr>
                  <a:t>在内</a:t>
                </a:r>
                <a:r>
                  <a:rPr kumimoji="1" lang="zh-CN" altLang="zh-CN" sz="1600" dirty="0">
                    <a:ea typeface="华文楷体" panose="02010600040101010101" pitchFamily="2" charset="-122"/>
                  </a:rPr>
                  <a:t>的</a:t>
                </a:r>
                <a:r>
                  <a:rPr kumimoji="1" lang="zh-CN" altLang="zh-CN" sz="1600" dirty="0" smtClean="0">
                    <a:ea typeface="华文楷体" panose="02010600040101010101" pitchFamily="2" charset="-122"/>
                  </a:rPr>
                  <a:t>最小生成树</a:t>
                </a:r>
                <a:r>
                  <a:rPr kumimoji="1" lang="zh-CN" altLang="zh-CN" sz="1600" dirty="0">
                    <a:ea typeface="华文楷体" panose="02010600040101010101" pitchFamily="2" charset="-122"/>
                  </a:rPr>
                  <a:t>，设其为 </a:t>
                </a:r>
                <a:r>
                  <a:rPr kumimoji="1" lang="en-US" altLang="zh-CN" sz="1600" dirty="0">
                    <a:ea typeface="华文楷体" panose="02010600040101010101" pitchFamily="2" charset="-122"/>
                  </a:rPr>
                  <a:t>T</a:t>
                </a:r>
                <a:r>
                  <a:rPr kumimoji="1" lang="zh-CN" altLang="en-US" sz="1600" dirty="0" smtClean="0">
                    <a:ea typeface="华文楷体" panose="02010600040101010101" pitchFamily="2" charset="-122"/>
                  </a:rPr>
                  <a:t>。</a:t>
                </a:r>
                <a:endParaRPr kumimoji="1" lang="en-US" altLang="zh-CN" sz="1600" dirty="0" smtClean="0">
                  <a:ea typeface="华文楷体" panose="02010600040101010101" pitchFamily="2" charset="-122"/>
                </a:endParaRPr>
              </a:p>
              <a:p>
                <a:pPr eaLnBrk="1" hangingPunct="1">
                  <a:buFont typeface="Wingdings" panose="05000000000000000000" pitchFamily="2" charset="2"/>
                  <a:buNone/>
                </a:pPr>
                <a:r>
                  <a:rPr kumimoji="1" lang="zh-CN" altLang="en-US" sz="1600" dirty="0" smtClean="0">
                    <a:latin typeface="宋体" panose="02010600030101010101" pitchFamily="2" charset="-122"/>
                  </a:rPr>
                  <a:t>①</a:t>
                </a:r>
                <a:r>
                  <a:rPr kumimoji="1" lang="zh-CN" altLang="en-US" sz="1600" dirty="0" smtClean="0">
                    <a:ea typeface="华文楷体" panose="02010600040101010101" pitchFamily="2" charset="-122"/>
                  </a:rPr>
                  <a:t>现在来构造另外一</a:t>
                </a:r>
                <a:r>
                  <a:rPr kumimoji="1" lang="zh-CN" altLang="zh-CN" sz="1600" dirty="0">
                    <a:ea typeface="华文楷体" panose="02010600040101010101" pitchFamily="2" charset="-122"/>
                  </a:rPr>
                  <a:t>棵</a:t>
                </a:r>
                <a:r>
                  <a:rPr kumimoji="1" lang="zh-CN" altLang="en-US" sz="1600" dirty="0" smtClean="0">
                    <a:ea typeface="华文楷体" panose="02010600040101010101" pitchFamily="2" charset="-122"/>
                  </a:rPr>
                  <a:t>最小生成树</a:t>
                </a:r>
                <a:r>
                  <a:rPr kumimoji="1" lang="en-US" altLang="zh-CN" sz="1600" b="1" dirty="0">
                    <a:solidFill>
                      <a:schemeClr val="accent2"/>
                    </a:solidFill>
                    <a:ea typeface="华文楷体" panose="02010600040101010101" pitchFamily="2" charset="-122"/>
                  </a:rPr>
                  <a:t>T’ </a:t>
                </a:r>
                <a:r>
                  <a:rPr kumimoji="1" lang="zh-CN" altLang="en-US" sz="1600" dirty="0" smtClean="0">
                    <a:ea typeface="华文楷体" panose="02010600040101010101" pitchFamily="2" charset="-122"/>
                  </a:rPr>
                  <a:t>，</a:t>
                </a:r>
                <a:r>
                  <a:rPr kumimoji="1" lang="zh-CN" altLang="zh-CN" sz="1600" dirty="0" smtClean="0">
                    <a:ea typeface="华文楷体" panose="02010600040101010101" pitchFamily="2" charset="-122"/>
                  </a:rPr>
                  <a:t>将</a:t>
                </a:r>
                <a:r>
                  <a:rPr kumimoji="1" lang="zh-CN" altLang="zh-CN" sz="1600" dirty="0">
                    <a:ea typeface="华文楷体" panose="02010600040101010101" pitchFamily="2" charset="-122"/>
                  </a:rPr>
                  <a:t>边</a:t>
                </a:r>
                <a14:m>
                  <m:oMath xmlns:m="http://schemas.openxmlformats.org/officeDocument/2006/math">
                    <m:d>
                      <m:dPr>
                        <m:ctrlPr>
                          <a:rPr kumimoji="1" lang="en-US" altLang="zh-CN" sz="1600" i="1" dirty="0">
                            <a:latin typeface="Cambria Math" panose="02040503050406030204" pitchFamily="18" charset="0"/>
                            <a:ea typeface="华文楷体" panose="02010600040101010101" pitchFamily="2" charset="-122"/>
                          </a:rPr>
                        </m:ctrlPr>
                      </m:dPr>
                      <m:e>
                        <m:r>
                          <a:rPr kumimoji="1" lang="en-US" altLang="zh-CN" sz="1600" i="1" dirty="0">
                            <a:latin typeface="Cambria Math" panose="02040503050406030204" pitchFamily="18" charset="0"/>
                            <a:ea typeface="华文楷体" panose="02010600040101010101" pitchFamily="2" charset="-122"/>
                          </a:rPr>
                          <m:t>𝑢</m:t>
                        </m:r>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e>
                    </m:d>
                  </m:oMath>
                </a14:m>
                <a:r>
                  <a:rPr kumimoji="1" lang="zh-CN" altLang="zh-CN" sz="1600" dirty="0">
                    <a:ea typeface="华文楷体" panose="02010600040101010101" pitchFamily="2" charset="-122"/>
                  </a:rPr>
                  <a:t>添加到树 </a:t>
                </a:r>
                <a:r>
                  <a:rPr kumimoji="1" lang="en-US" altLang="zh-CN" sz="1600" dirty="0">
                    <a:ea typeface="华文楷体" panose="02010600040101010101" pitchFamily="2" charset="-122"/>
                  </a:rPr>
                  <a:t>T </a:t>
                </a:r>
                <a:r>
                  <a:rPr kumimoji="1" lang="zh-CN" altLang="en-US" sz="1600" dirty="0">
                    <a:ea typeface="华文楷体" panose="02010600040101010101" pitchFamily="2" charset="-122"/>
                  </a:rPr>
                  <a:t>，</a:t>
                </a:r>
                <a:r>
                  <a:rPr kumimoji="1" lang="zh-CN" altLang="zh-CN" sz="1600" dirty="0" smtClean="0">
                    <a:ea typeface="华文楷体" panose="02010600040101010101" pitchFamily="2" charset="-122"/>
                  </a:rPr>
                  <a:t>则 </a:t>
                </a:r>
                <a14:m>
                  <m:oMath xmlns:m="http://schemas.openxmlformats.org/officeDocument/2006/math">
                    <m:d>
                      <m:dPr>
                        <m:ctrlPr>
                          <a:rPr kumimoji="1" lang="en-US" altLang="zh-CN" sz="1600" i="1" dirty="0">
                            <a:latin typeface="Cambria Math" panose="02040503050406030204" pitchFamily="18" charset="0"/>
                            <a:ea typeface="华文楷体" panose="02010600040101010101" pitchFamily="2" charset="-122"/>
                          </a:rPr>
                        </m:ctrlPr>
                      </m:dPr>
                      <m:e>
                        <m:r>
                          <a:rPr kumimoji="1" lang="en-US" altLang="zh-CN" sz="1600" i="1" dirty="0">
                            <a:latin typeface="Cambria Math" panose="02040503050406030204" pitchFamily="18" charset="0"/>
                            <a:ea typeface="华文楷体" panose="02010600040101010101" pitchFamily="2" charset="-122"/>
                          </a:rPr>
                          <m:t>𝑢</m:t>
                        </m:r>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e>
                    </m:d>
                  </m:oMath>
                </a14:m>
                <a:r>
                  <a:rPr kumimoji="1" lang="zh-CN" altLang="en-US" sz="1600" dirty="0" smtClean="0">
                    <a:ea typeface="华文楷体" panose="02010600040101010101" pitchFamily="2" charset="-122"/>
                  </a:rPr>
                  <a:t>和</a:t>
                </a:r>
                <a:r>
                  <a:rPr kumimoji="1" lang="en-US" altLang="zh-CN" sz="1600" dirty="0" smtClean="0">
                    <a:ea typeface="华文楷体" panose="02010600040101010101" pitchFamily="2" charset="-122"/>
                  </a:rPr>
                  <a:t>u</a:t>
                </a:r>
                <a:r>
                  <a:rPr kumimoji="1" lang="zh-CN" altLang="en-US" sz="1600" dirty="0" smtClean="0">
                    <a:ea typeface="华文楷体" panose="02010600040101010101" pitchFamily="2" charset="-122"/>
                  </a:rPr>
                  <a:t>到</a:t>
                </a:r>
                <a:r>
                  <a:rPr kumimoji="1" lang="en-US" altLang="zh-CN" sz="1600" dirty="0" smtClean="0">
                    <a:ea typeface="华文楷体" panose="02010600040101010101" pitchFamily="2" charset="-122"/>
                  </a:rPr>
                  <a:t>v</a:t>
                </a:r>
                <a:r>
                  <a:rPr kumimoji="1" lang="zh-CN" altLang="en-US" sz="1600" dirty="0" smtClean="0">
                    <a:ea typeface="华文楷体" panose="02010600040101010101" pitchFamily="2" charset="-122"/>
                  </a:rPr>
                  <a:t>的简单路径</a:t>
                </a:r>
                <a:r>
                  <a:rPr kumimoji="1" lang="en-US" altLang="zh-CN" sz="1600" dirty="0" smtClean="0">
                    <a:ea typeface="华文楷体" panose="02010600040101010101" pitchFamily="2" charset="-122"/>
                  </a:rPr>
                  <a:t>p</a:t>
                </a:r>
                <a:r>
                  <a:rPr kumimoji="1" lang="zh-CN" altLang="en-US" sz="1600" dirty="0" smtClean="0">
                    <a:ea typeface="华文楷体" panose="02010600040101010101" pitchFamily="2" charset="-122"/>
                  </a:rPr>
                  <a:t>将构成</a:t>
                </a:r>
                <a:r>
                  <a:rPr kumimoji="1" lang="zh-CN" altLang="en-US" sz="1600" dirty="0">
                    <a:ea typeface="华文楷体" panose="02010600040101010101" pitchFamily="2" charset="-122"/>
                  </a:rPr>
                  <a:t>一个</a:t>
                </a:r>
                <a:r>
                  <a:rPr kumimoji="1" lang="zh-CN" altLang="zh-CN" sz="1600" dirty="0" smtClean="0">
                    <a:ea typeface="华文楷体" panose="02010600040101010101" pitchFamily="2" charset="-122"/>
                  </a:rPr>
                  <a:t>回路</a:t>
                </a:r>
                <a:r>
                  <a:rPr kumimoji="1" lang="zh-CN" altLang="zh-CN" sz="1600" dirty="0">
                    <a:ea typeface="华文楷体" panose="02010600040101010101" pitchFamily="2" charset="-122"/>
                  </a:rPr>
                  <a:t>。因此，必定存在另一条边  </a:t>
                </a:r>
                <a:r>
                  <a:rPr kumimoji="1" lang="en-US" altLang="zh-CN" sz="1600" dirty="0" smtClean="0">
                    <a:ea typeface="华文楷体" panose="02010600040101010101" pitchFamily="2" charset="-122"/>
                  </a:rPr>
                  <a:t>(</a:t>
                </a:r>
                <a:r>
                  <a:rPr kumimoji="1" lang="en-US" altLang="zh-CN" sz="1600" dirty="0" err="1" smtClean="0">
                    <a:ea typeface="华文楷体" panose="02010600040101010101" pitchFamily="2" charset="-122"/>
                  </a:rPr>
                  <a:t>u’,v</a:t>
                </a:r>
                <a:r>
                  <a:rPr kumimoji="1" lang="en-US" altLang="zh-CN" sz="1600" dirty="0" smtClean="0">
                    <a:ea typeface="华文楷体" panose="02010600040101010101" pitchFamily="2" charset="-122"/>
                  </a:rPr>
                  <a:t>’)</a:t>
                </a:r>
                <a:r>
                  <a:rPr kumimoji="1" lang="zh-CN" altLang="en-US" sz="1600" dirty="0" smtClean="0">
                    <a:ea typeface="华文楷体" panose="02010600040101010101" pitchFamily="2" charset="-122"/>
                  </a:rPr>
                  <a:t>，</a:t>
                </a:r>
                <a:r>
                  <a:rPr kumimoji="1" lang="zh-CN" altLang="zh-CN" sz="1600" dirty="0">
                    <a:ea typeface="华文楷体" panose="02010600040101010101" pitchFamily="2" charset="-122"/>
                  </a:rPr>
                  <a:t>且 </a:t>
                </a:r>
                <a:r>
                  <a:rPr kumimoji="1" lang="en-US" altLang="zh-CN" sz="1600" dirty="0" smtClean="0">
                    <a:ea typeface="华文楷体" panose="02010600040101010101" pitchFamily="2" charset="-122"/>
                  </a:rPr>
                  <a:t>u’</a:t>
                </a:r>
                <a14:m>
                  <m:oMath xmlns:m="http://schemas.openxmlformats.org/officeDocument/2006/math">
                    <m:r>
                      <a:rPr kumimoji="1" lang="en-US" altLang="zh-CN" sz="1600" i="1" smtClean="0">
                        <a:latin typeface="Cambria Math" panose="02040503050406030204" pitchFamily="18" charset="0"/>
                        <a:ea typeface="Cambria Math" panose="02040503050406030204" pitchFamily="18" charset="0"/>
                      </a:rPr>
                      <m:t>∈</m:t>
                    </m:r>
                  </m:oMath>
                </a14:m>
                <a:r>
                  <a:rPr kumimoji="1" lang="en-US" altLang="zh-CN" sz="1600" dirty="0" smtClean="0">
                    <a:ea typeface="华文楷体" panose="02010600040101010101" pitchFamily="2" charset="-122"/>
                  </a:rPr>
                  <a:t>U </a:t>
                </a:r>
                <a:r>
                  <a:rPr kumimoji="1" lang="en-US" altLang="zh-CN" sz="1600" dirty="0">
                    <a:ea typeface="华文楷体" panose="02010600040101010101" pitchFamily="2" charset="-122"/>
                  </a:rPr>
                  <a:t>, v’</a:t>
                </a:r>
                <a14:m>
                  <m:oMath xmlns:m="http://schemas.openxmlformats.org/officeDocument/2006/math">
                    <m:r>
                      <a:rPr kumimoji="1" lang="zh-CN" altLang="en-US" sz="1600" i="1" dirty="0" smtClean="0">
                        <a:latin typeface="Cambria Math" panose="02040503050406030204" pitchFamily="18" charset="0"/>
                        <a:ea typeface="华文楷体" panose="02010600040101010101" pitchFamily="2" charset="-122"/>
                      </a:rPr>
                      <m:t>∈</m:t>
                    </m:r>
                  </m:oMath>
                </a14:m>
                <a:r>
                  <a:rPr kumimoji="1" lang="zh-CN" altLang="zh-CN" sz="1600" dirty="0" smtClean="0">
                    <a:ea typeface="华文楷体" panose="02010600040101010101" pitchFamily="2" charset="-122"/>
                  </a:rPr>
                  <a:t> </a:t>
                </a:r>
                <a:r>
                  <a:rPr kumimoji="1" lang="en-US" altLang="zh-CN" sz="1600" dirty="0">
                    <a:ea typeface="华文楷体" panose="02010600040101010101" pitchFamily="2" charset="-122"/>
                  </a:rPr>
                  <a:t>V - U</a:t>
                </a:r>
                <a:r>
                  <a:rPr kumimoji="1" lang="zh-CN" altLang="en-US" sz="1600" dirty="0">
                    <a:ea typeface="华文楷体" panose="02010600040101010101" pitchFamily="2" charset="-122"/>
                  </a:rPr>
                  <a:t>。</a:t>
                </a:r>
                <a:r>
                  <a:rPr kumimoji="1" lang="zh-CN" altLang="zh-CN" sz="1600" dirty="0">
                    <a:ea typeface="华文楷体" panose="02010600040101010101" pitchFamily="2" charset="-122"/>
                  </a:rPr>
                  <a:t>删去边 </a:t>
                </a:r>
                <a14:m>
                  <m:oMath xmlns:m="http://schemas.openxmlformats.org/officeDocument/2006/math">
                    <m:r>
                      <a:rPr kumimoji="1" lang="en-US" altLang="zh-CN" sz="1600" i="1" dirty="0">
                        <a:latin typeface="Cambria Math" panose="02040503050406030204" pitchFamily="18" charset="0"/>
                        <a:ea typeface="华文楷体" panose="02010600040101010101" pitchFamily="2" charset="-122"/>
                      </a:rPr>
                      <m:t>(</m:t>
                    </m:r>
                    <m:sSup>
                      <m:sSupPr>
                        <m:ctrlPr>
                          <a:rPr kumimoji="1" lang="en-US" altLang="zh-CN" sz="1600" i="1" dirty="0">
                            <a:latin typeface="Cambria Math" panose="02040503050406030204" pitchFamily="18" charset="0"/>
                            <a:ea typeface="华文楷体" panose="02010600040101010101" pitchFamily="2" charset="-122"/>
                          </a:rPr>
                        </m:ctrlPr>
                      </m:sSupPr>
                      <m:e>
                        <m:r>
                          <a:rPr kumimoji="1" lang="en-US" altLang="zh-CN" sz="1600" i="1" dirty="0">
                            <a:latin typeface="Cambria Math" panose="02040503050406030204" pitchFamily="18" charset="0"/>
                            <a:ea typeface="华文楷体" panose="02010600040101010101" pitchFamily="2" charset="-122"/>
                          </a:rPr>
                          <m:t>𝑢</m:t>
                        </m:r>
                      </m:e>
                      <m:sup>
                        <m:r>
                          <a:rPr kumimoji="1" lang="en-US" altLang="zh-CN" sz="1600" i="1" dirty="0">
                            <a:latin typeface="Cambria Math" panose="02040503050406030204" pitchFamily="18" charset="0"/>
                            <a:ea typeface="华文楷体" panose="02010600040101010101" pitchFamily="2" charset="-122"/>
                          </a:rPr>
                          <m:t>′</m:t>
                        </m:r>
                      </m:sup>
                    </m:sSup>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r>
                      <a:rPr kumimoji="1" lang="en-US" altLang="zh-CN" sz="1600" i="1" dirty="0">
                        <a:latin typeface="Cambria Math" panose="02040503050406030204" pitchFamily="18" charset="0"/>
                        <a:ea typeface="华文楷体" panose="02010600040101010101" pitchFamily="2" charset="-122"/>
                      </a:rPr>
                      <m:t>′) </m:t>
                    </m:r>
                  </m:oMath>
                </a14:m>
                <a:r>
                  <a:rPr kumimoji="1" lang="zh-CN" altLang="en-US" sz="1600" dirty="0" smtClean="0">
                    <a:ea typeface="华文楷体" panose="02010600040101010101" pitchFamily="2" charset="-122"/>
                  </a:rPr>
                  <a:t>，</a:t>
                </a:r>
                <a:r>
                  <a:rPr kumimoji="1" lang="zh-CN" altLang="zh-CN" sz="1600" dirty="0" smtClean="0">
                    <a:ea typeface="华文楷体" panose="02010600040101010101" pitchFamily="2" charset="-122"/>
                  </a:rPr>
                  <a:t>得到</a:t>
                </a:r>
                <a:r>
                  <a:rPr kumimoji="1" lang="zh-CN" altLang="zh-CN" sz="1600" dirty="0">
                    <a:ea typeface="华文楷体" panose="02010600040101010101" pitchFamily="2" charset="-122"/>
                  </a:rPr>
                  <a:t>另一棵生成</a:t>
                </a:r>
                <a:r>
                  <a:rPr kumimoji="1" lang="zh-CN" altLang="zh-CN" sz="1600" dirty="0" smtClean="0">
                    <a:ea typeface="华文楷体" panose="02010600040101010101" pitchFamily="2" charset="-122"/>
                  </a:rPr>
                  <a:t>树</a:t>
                </a:r>
                <a14:m>
                  <m:oMath xmlns:m="http://schemas.openxmlformats.org/officeDocument/2006/math">
                    <m:sSup>
                      <m:sSupPr>
                        <m:ctrlPr>
                          <a:rPr kumimoji="1" lang="en-US" altLang="zh-CN" sz="1600" b="0" i="1" smtClean="0">
                            <a:latin typeface="Cambria Math" panose="02040503050406030204" pitchFamily="18" charset="0"/>
                            <a:ea typeface="华文楷体" panose="02010600040101010101" pitchFamily="2" charset="-122"/>
                          </a:rPr>
                        </m:ctrlPr>
                      </m:sSupPr>
                      <m:e>
                        <m:r>
                          <a:rPr kumimoji="1" lang="en-US" altLang="zh-CN" sz="1600" b="0" i="1" smtClean="0">
                            <a:latin typeface="Cambria Math" panose="02040503050406030204" pitchFamily="18" charset="0"/>
                            <a:ea typeface="华文楷体" panose="02010600040101010101" pitchFamily="2" charset="-122"/>
                          </a:rPr>
                          <m:t>𝑇</m:t>
                        </m:r>
                      </m:e>
                      <m:sup>
                        <m:r>
                          <a:rPr kumimoji="1" lang="en-US" altLang="zh-CN" sz="1600" b="0" i="1" smtClean="0">
                            <a:latin typeface="Cambria Math" panose="02040503050406030204" pitchFamily="18" charset="0"/>
                            <a:ea typeface="华文楷体" panose="02010600040101010101" pitchFamily="2" charset="-122"/>
                          </a:rPr>
                          <m:t>′</m:t>
                        </m:r>
                      </m:sup>
                    </m:sSup>
                    <m:r>
                      <a:rPr kumimoji="1" lang="en-US" altLang="zh-CN" sz="1600" b="0" i="1" smtClean="0">
                        <a:latin typeface="Cambria Math" panose="02040503050406030204" pitchFamily="18" charset="0"/>
                        <a:ea typeface="华文楷体" panose="02010600040101010101" pitchFamily="2" charset="-122"/>
                      </a:rPr>
                      <m:t>=</m:t>
                    </m:r>
                    <m:r>
                      <a:rPr kumimoji="1" lang="en-US" altLang="zh-CN" sz="1600" b="0" i="1" smtClean="0">
                        <a:latin typeface="Cambria Math" panose="02040503050406030204" pitchFamily="18" charset="0"/>
                        <a:ea typeface="华文楷体" panose="02010600040101010101" pitchFamily="2" charset="-122"/>
                      </a:rPr>
                      <m:t>𝑇</m:t>
                    </m:r>
                    <m:r>
                      <a:rPr kumimoji="1" lang="en-US" altLang="zh-CN" sz="1600" b="0" i="1" smtClean="0">
                        <a:latin typeface="Cambria Math" panose="02040503050406030204" pitchFamily="18" charset="0"/>
                        <a:ea typeface="华文楷体" panose="02010600040101010101" pitchFamily="2" charset="-122"/>
                      </a:rPr>
                      <m:t>−</m:t>
                    </m:r>
                    <m:d>
                      <m:dPr>
                        <m:begChr m:val="{"/>
                        <m:endChr m:val="}"/>
                        <m:ctrlPr>
                          <a:rPr kumimoji="1" lang="en-US" altLang="zh-CN" sz="1600" b="0" i="1" smtClean="0">
                            <a:latin typeface="Cambria Math" panose="02040503050406030204" pitchFamily="18" charset="0"/>
                            <a:ea typeface="华文楷体" panose="02010600040101010101" pitchFamily="2" charset="-122"/>
                          </a:rPr>
                        </m:ctrlPr>
                      </m:dPr>
                      <m:e>
                        <m:d>
                          <m:dPr>
                            <m:ctrlPr>
                              <a:rPr kumimoji="1" lang="en-US" altLang="zh-CN" sz="1600" b="0" i="1" smtClean="0">
                                <a:latin typeface="Cambria Math" panose="02040503050406030204" pitchFamily="18" charset="0"/>
                                <a:ea typeface="华文楷体" panose="02010600040101010101" pitchFamily="2" charset="-122"/>
                              </a:rPr>
                            </m:ctrlPr>
                          </m:dPr>
                          <m:e>
                            <m:sSup>
                              <m:sSupPr>
                                <m:ctrlPr>
                                  <a:rPr kumimoji="1" lang="en-US" altLang="zh-CN" sz="1600" b="0" i="1" smtClean="0">
                                    <a:latin typeface="Cambria Math" panose="02040503050406030204" pitchFamily="18" charset="0"/>
                                    <a:ea typeface="华文楷体" panose="02010600040101010101" pitchFamily="2" charset="-122"/>
                                  </a:rPr>
                                </m:ctrlPr>
                              </m:sSupPr>
                              <m:e>
                                <m:r>
                                  <a:rPr kumimoji="1" lang="en-US" altLang="zh-CN" sz="1600" b="0" i="1" smtClean="0">
                                    <a:latin typeface="Cambria Math" panose="02040503050406030204" pitchFamily="18" charset="0"/>
                                    <a:ea typeface="华文楷体" panose="02010600040101010101" pitchFamily="2" charset="-122"/>
                                  </a:rPr>
                                  <m:t>𝑈</m:t>
                                </m:r>
                              </m:e>
                              <m:sup>
                                <m:r>
                                  <a:rPr kumimoji="1" lang="en-US" altLang="zh-CN" sz="1600" b="0" i="1" smtClean="0">
                                    <a:latin typeface="Cambria Math" panose="02040503050406030204" pitchFamily="18" charset="0"/>
                                    <a:ea typeface="华文楷体" panose="02010600040101010101" pitchFamily="2" charset="-122"/>
                                  </a:rPr>
                                  <m:t>′</m:t>
                                </m:r>
                              </m:sup>
                            </m:sSup>
                            <m:r>
                              <a:rPr kumimoji="1" lang="en-US" altLang="zh-CN" sz="1600" b="0" i="1" smtClean="0">
                                <a:latin typeface="Cambria Math" panose="02040503050406030204" pitchFamily="18" charset="0"/>
                                <a:ea typeface="华文楷体" panose="02010600040101010101" pitchFamily="2" charset="-122"/>
                              </a:rPr>
                              <m:t>,</m:t>
                            </m:r>
                            <m:sSup>
                              <m:sSupPr>
                                <m:ctrlPr>
                                  <a:rPr kumimoji="1" lang="en-US" altLang="zh-CN" sz="1600" b="0" i="1" smtClean="0">
                                    <a:latin typeface="Cambria Math" panose="02040503050406030204" pitchFamily="18" charset="0"/>
                                    <a:ea typeface="华文楷体" panose="02010600040101010101" pitchFamily="2" charset="-122"/>
                                  </a:rPr>
                                </m:ctrlPr>
                              </m:sSupPr>
                              <m:e>
                                <m:r>
                                  <a:rPr kumimoji="1" lang="en-US" altLang="zh-CN" sz="1600" b="0" i="1" smtClean="0">
                                    <a:latin typeface="Cambria Math" panose="02040503050406030204" pitchFamily="18" charset="0"/>
                                    <a:ea typeface="华文楷体" panose="02010600040101010101" pitchFamily="2" charset="-122"/>
                                  </a:rPr>
                                  <m:t>𝑉</m:t>
                                </m:r>
                              </m:e>
                              <m:sup>
                                <m:r>
                                  <a:rPr kumimoji="1" lang="en-US" altLang="zh-CN" sz="1600" b="0" i="1" smtClean="0">
                                    <a:latin typeface="Cambria Math" panose="02040503050406030204" pitchFamily="18" charset="0"/>
                                    <a:ea typeface="华文楷体" panose="02010600040101010101" pitchFamily="2" charset="-122"/>
                                  </a:rPr>
                                  <m:t>′</m:t>
                                </m:r>
                              </m:sup>
                            </m:sSup>
                          </m:e>
                        </m:d>
                      </m:e>
                    </m:d>
                    <m:r>
                      <a:rPr kumimoji="1" lang="en-US" altLang="zh-CN" sz="1600" b="0" i="1" smtClean="0">
                        <a:latin typeface="Cambria Math" panose="02040503050406030204" pitchFamily="18" charset="0"/>
                        <a:ea typeface="Cambria Math" panose="02040503050406030204" pitchFamily="18" charset="0"/>
                      </a:rPr>
                      <m:t>∪{(</m:t>
                    </m:r>
                    <m:r>
                      <a:rPr kumimoji="1" lang="en-US" altLang="zh-CN" sz="1600" b="0" i="1" smtClean="0">
                        <a:latin typeface="Cambria Math" panose="02040503050406030204" pitchFamily="18" charset="0"/>
                        <a:ea typeface="Cambria Math" panose="02040503050406030204" pitchFamily="18" charset="0"/>
                      </a:rPr>
                      <m:t>𝑈</m:t>
                    </m:r>
                    <m:r>
                      <a:rPr kumimoji="1" lang="en-US" altLang="zh-CN" sz="1600" b="0" i="1" smtClean="0">
                        <a:latin typeface="Cambria Math" panose="02040503050406030204" pitchFamily="18" charset="0"/>
                        <a:ea typeface="Cambria Math" panose="02040503050406030204" pitchFamily="18" charset="0"/>
                      </a:rPr>
                      <m:t>,</m:t>
                    </m:r>
                    <m:r>
                      <a:rPr kumimoji="1" lang="en-US" altLang="zh-CN" sz="1600" b="0" i="1" smtClean="0">
                        <a:latin typeface="Cambria Math" panose="02040503050406030204" pitchFamily="18" charset="0"/>
                        <a:ea typeface="Cambria Math" panose="02040503050406030204" pitchFamily="18" charset="0"/>
                      </a:rPr>
                      <m:t>𝑉</m:t>
                    </m:r>
                    <m:r>
                      <a:rPr kumimoji="1" lang="en-US" altLang="zh-CN" sz="1600" b="0" i="1" smtClean="0">
                        <a:latin typeface="Cambria Math" panose="02040503050406030204" pitchFamily="18" charset="0"/>
                        <a:ea typeface="Cambria Math" panose="02040503050406030204" pitchFamily="18" charset="0"/>
                      </a:rPr>
                      <m:t>)}</m:t>
                    </m:r>
                  </m:oMath>
                </a14:m>
                <a:r>
                  <a:rPr kumimoji="1" lang="zh-CN" altLang="zh-CN" sz="1600" dirty="0" smtClean="0">
                    <a:ea typeface="华文楷体" panose="02010600040101010101" pitchFamily="2" charset="-122"/>
                  </a:rPr>
                  <a:t> </a:t>
                </a:r>
                <a:r>
                  <a:rPr kumimoji="1" lang="zh-CN" altLang="en-US" sz="1600" b="1" dirty="0" smtClean="0">
                    <a:solidFill>
                      <a:schemeClr val="accent2"/>
                    </a:solidFill>
                    <a:ea typeface="华文楷体" panose="02010600040101010101" pitchFamily="2" charset="-122"/>
                  </a:rPr>
                  <a:t>，</a:t>
                </a:r>
                <a:r>
                  <a:rPr kumimoji="1" lang="zh-CN" altLang="zh-CN" sz="1600" b="1" dirty="0" smtClean="0">
                    <a:solidFill>
                      <a:schemeClr val="accent2"/>
                    </a:solidFill>
                    <a:ea typeface="华文楷体" panose="02010600040101010101" pitchFamily="2" charset="-122"/>
                  </a:rPr>
                  <a:t>新</a:t>
                </a:r>
                <a:r>
                  <a:rPr kumimoji="1" lang="zh-CN" altLang="zh-CN" sz="1600" b="1" dirty="0">
                    <a:solidFill>
                      <a:schemeClr val="accent2"/>
                    </a:solidFill>
                    <a:ea typeface="华文楷体" panose="02010600040101010101" pitchFamily="2" charset="-122"/>
                  </a:rPr>
                  <a:t>的生成树</a:t>
                </a:r>
                <a:r>
                  <a:rPr kumimoji="1" lang="en-US" altLang="zh-CN" sz="1600" b="1" dirty="0">
                    <a:solidFill>
                      <a:schemeClr val="accent2"/>
                    </a:solidFill>
                    <a:ea typeface="华文楷体" panose="02010600040101010101" pitchFamily="2" charset="-122"/>
                  </a:rPr>
                  <a:t>T’</a:t>
                </a:r>
                <a:r>
                  <a:rPr kumimoji="1" lang="zh-CN" altLang="zh-CN" sz="1600" b="1" dirty="0">
                    <a:solidFill>
                      <a:schemeClr val="accent2"/>
                    </a:solidFill>
                    <a:ea typeface="华文楷体" panose="02010600040101010101" pitchFamily="2" charset="-122"/>
                  </a:rPr>
                  <a:t>是树的理由：连通且无回路</a:t>
                </a:r>
                <a:r>
                  <a:rPr kumimoji="1" lang="zh-CN" altLang="en-US" sz="1600" b="1" dirty="0" smtClean="0">
                    <a:solidFill>
                      <a:schemeClr val="accent2"/>
                    </a:solidFill>
                    <a:ea typeface="华文楷体" panose="02010600040101010101" pitchFamily="2" charset="-122"/>
                  </a:rPr>
                  <a:t>。</a:t>
                </a:r>
                <a:r>
                  <a:rPr kumimoji="1" lang="en-US" altLang="zh-CN" sz="1600" b="1" dirty="0">
                    <a:solidFill>
                      <a:schemeClr val="accent2"/>
                    </a:solidFill>
                    <a:ea typeface="华文楷体" panose="02010600040101010101" pitchFamily="2" charset="-122"/>
                  </a:rPr>
                  <a:t> </a:t>
                </a:r>
                <a:endParaRPr kumimoji="1" lang="en-US" altLang="zh-CN" sz="16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kumimoji="1" lang="en-US" altLang="zh-CN" sz="1600" dirty="0">
                    <a:ea typeface="华文楷体" panose="02010600040101010101" pitchFamily="2" charset="-122"/>
                  </a:rPr>
                  <a:t>②</a:t>
                </a:r>
                <a:r>
                  <a:rPr kumimoji="1" lang="zh-CN" altLang="en-US" sz="1600" dirty="0">
                    <a:ea typeface="华文楷体" panose="02010600040101010101" pitchFamily="2" charset="-122"/>
                  </a:rPr>
                  <a:t>接下来</a:t>
                </a:r>
                <a:r>
                  <a:rPr kumimoji="1" lang="zh-CN" altLang="en-US" sz="1600" dirty="0" smtClean="0">
                    <a:ea typeface="华文楷体" panose="02010600040101010101" pitchFamily="2" charset="-122"/>
                  </a:rPr>
                  <a:t>证明</a:t>
                </a:r>
                <a14:m>
                  <m:oMath xmlns:m="http://schemas.openxmlformats.org/officeDocument/2006/math">
                    <m:sSup>
                      <m:sSupPr>
                        <m:ctrlPr>
                          <a:rPr kumimoji="1" lang="en-US" altLang="zh-CN" sz="1600" i="1" dirty="0">
                            <a:latin typeface="Cambria Math" panose="02040503050406030204" pitchFamily="18" charset="0"/>
                            <a:ea typeface="华文楷体" panose="02010600040101010101" pitchFamily="2" charset="-122"/>
                          </a:rPr>
                        </m:ctrlPr>
                      </m:sSupPr>
                      <m:e>
                        <m:r>
                          <a:rPr kumimoji="1" lang="en-US" altLang="zh-CN" sz="1600" i="1" dirty="0">
                            <a:latin typeface="Cambria Math" panose="02040503050406030204" pitchFamily="18" charset="0"/>
                            <a:ea typeface="华文楷体" panose="02010600040101010101" pitchFamily="2" charset="-122"/>
                          </a:rPr>
                          <m:t>𝑇</m:t>
                        </m:r>
                      </m:e>
                      <m:sup>
                        <m:r>
                          <a:rPr kumimoji="1" lang="en-US" altLang="zh-CN" sz="1600" i="1" dirty="0">
                            <a:latin typeface="Cambria Math" panose="02040503050406030204" pitchFamily="18" charset="0"/>
                            <a:ea typeface="华文楷体" panose="02010600040101010101" pitchFamily="2" charset="-122"/>
                          </a:rPr>
                          <m:t>′</m:t>
                        </m:r>
                      </m:sup>
                    </m:sSup>
                  </m:oMath>
                </a14:m>
                <a:r>
                  <a:rPr kumimoji="1" lang="zh-CN" altLang="en-US" sz="1600" dirty="0" smtClean="0">
                    <a:ea typeface="华文楷体" panose="02010600040101010101" pitchFamily="2" charset="-122"/>
                  </a:rPr>
                  <a:t>是一</a:t>
                </a:r>
                <a:r>
                  <a:rPr kumimoji="1" lang="zh-CN" altLang="zh-CN" sz="1600" dirty="0" smtClean="0">
                    <a:ea typeface="华文楷体" panose="02010600040101010101" pitchFamily="2" charset="-122"/>
                  </a:rPr>
                  <a:t>棵</a:t>
                </a:r>
                <a:r>
                  <a:rPr kumimoji="1" lang="zh-CN" altLang="en-US" sz="1600" dirty="0" smtClean="0">
                    <a:ea typeface="华文楷体" panose="02010600040101010101" pitchFamily="2" charset="-122"/>
                  </a:rPr>
                  <a:t>最小生成树，由于</a:t>
                </a:r>
                <a14:m>
                  <m:oMath xmlns:m="http://schemas.openxmlformats.org/officeDocument/2006/math">
                    <m:r>
                      <m:rPr>
                        <m:sty m:val="p"/>
                      </m:rPr>
                      <a:rPr kumimoji="1" lang="en-US" altLang="zh-CN" sz="1600" i="1" dirty="0">
                        <a:latin typeface="Cambria Math" panose="02040503050406030204" pitchFamily="18" charset="0"/>
                        <a:ea typeface="华文楷体" panose="02010600040101010101" pitchFamily="2" charset="-122"/>
                      </a:rPr>
                      <m:t>w</m:t>
                    </m:r>
                    <m:d>
                      <m:dPr>
                        <m:ctrlPr>
                          <a:rPr kumimoji="1" lang="en-US" altLang="zh-CN" sz="1600" b="0" i="1" dirty="0" smtClean="0">
                            <a:latin typeface="Cambria Math" panose="02040503050406030204" pitchFamily="18" charset="0"/>
                            <a:ea typeface="华文楷体" panose="02010600040101010101" pitchFamily="2" charset="-122"/>
                          </a:rPr>
                        </m:ctrlPr>
                      </m:dPr>
                      <m:e>
                        <m:r>
                          <a:rPr kumimoji="1" lang="en-US" altLang="zh-CN" sz="1600" b="0" i="1" dirty="0" smtClean="0">
                            <a:latin typeface="Cambria Math" panose="02040503050406030204" pitchFamily="18" charset="0"/>
                            <a:ea typeface="华文楷体" panose="02010600040101010101" pitchFamily="2" charset="-122"/>
                          </a:rPr>
                          <m:t>𝑢</m:t>
                        </m:r>
                        <m:r>
                          <a:rPr kumimoji="1" lang="en-US" altLang="zh-CN" sz="1600" b="0" i="1" dirty="0" smtClean="0">
                            <a:latin typeface="Cambria Math" panose="02040503050406030204" pitchFamily="18" charset="0"/>
                            <a:ea typeface="华文楷体" panose="02010600040101010101" pitchFamily="2" charset="-122"/>
                          </a:rPr>
                          <m:t>,</m:t>
                        </m:r>
                        <m:r>
                          <a:rPr kumimoji="1" lang="en-US" altLang="zh-CN" sz="1600" b="0" i="1" dirty="0" smtClean="0">
                            <a:latin typeface="Cambria Math" panose="02040503050406030204" pitchFamily="18" charset="0"/>
                            <a:ea typeface="华文楷体" panose="02010600040101010101" pitchFamily="2" charset="-122"/>
                          </a:rPr>
                          <m:t>𝑣</m:t>
                        </m:r>
                      </m:e>
                    </m:d>
                    <m:r>
                      <a:rPr kumimoji="1" lang="en-US" altLang="zh-CN" sz="1600" b="0" i="1" dirty="0" smtClean="0">
                        <a:latin typeface="Cambria Math" panose="02040503050406030204" pitchFamily="18" charset="0"/>
                        <a:ea typeface="Cambria Math" panose="02040503050406030204" pitchFamily="18" charset="0"/>
                      </a:rPr>
                      <m:t>≤</m:t>
                    </m:r>
                    <m:r>
                      <m:rPr>
                        <m:sty m:val="p"/>
                      </m:rPr>
                      <a:rPr kumimoji="1" lang="en-US" altLang="zh-CN" sz="1600" b="0" i="0" dirty="0" smtClean="0">
                        <a:latin typeface="Cambria Math" panose="02040503050406030204" pitchFamily="18" charset="0"/>
                        <a:ea typeface="Cambria Math" panose="02040503050406030204" pitchFamily="18" charset="0"/>
                      </a:rPr>
                      <m:t>w</m:t>
                    </m:r>
                    <m:r>
                      <a:rPr kumimoji="1" lang="en-US" altLang="zh-CN" sz="1600" b="0" i="0" dirty="0" smtClean="0">
                        <a:latin typeface="Cambria Math" panose="02040503050406030204" pitchFamily="18" charset="0"/>
                        <a:ea typeface="Cambria Math" panose="02040503050406030204" pitchFamily="18" charset="0"/>
                      </a:rPr>
                      <m:t>(</m:t>
                    </m:r>
                    <m:sSup>
                      <m:sSupPr>
                        <m:ctrlPr>
                          <a:rPr kumimoji="1" lang="en-US" altLang="zh-CN" sz="1600" b="0" i="1" dirty="0" smtClean="0">
                            <a:latin typeface="Cambria Math" panose="02040503050406030204" pitchFamily="18" charset="0"/>
                            <a:ea typeface="Cambria Math" panose="02040503050406030204" pitchFamily="18" charset="0"/>
                          </a:rPr>
                        </m:ctrlPr>
                      </m:sSupPr>
                      <m:e>
                        <m:r>
                          <m:rPr>
                            <m:sty m:val="p"/>
                          </m:rPr>
                          <a:rPr kumimoji="1" lang="en-US" altLang="zh-CN" sz="1600" b="0" i="0" dirty="0" smtClean="0">
                            <a:latin typeface="Cambria Math" panose="02040503050406030204" pitchFamily="18" charset="0"/>
                            <a:ea typeface="Cambria Math" panose="02040503050406030204" pitchFamily="18" charset="0"/>
                          </a:rPr>
                          <m:t>u</m:t>
                        </m:r>
                      </m:e>
                      <m:sup>
                        <m:r>
                          <a:rPr kumimoji="1" lang="en-US" altLang="zh-CN" sz="1600" b="0" i="0" dirty="0" smtClean="0">
                            <a:latin typeface="Cambria Math" panose="02040503050406030204" pitchFamily="18" charset="0"/>
                            <a:ea typeface="Cambria Math" panose="02040503050406030204" pitchFamily="18" charset="0"/>
                          </a:rPr>
                          <m:t>′</m:t>
                        </m:r>
                      </m:sup>
                    </m:sSup>
                    <m:r>
                      <a:rPr kumimoji="1" lang="en-US" altLang="zh-CN" sz="1600" b="0" i="0" dirty="0" smtClean="0">
                        <a:latin typeface="Cambria Math" panose="02040503050406030204" pitchFamily="18" charset="0"/>
                        <a:ea typeface="Cambria Math" panose="02040503050406030204" pitchFamily="18" charset="0"/>
                      </a:rPr>
                      <m:t>,</m:t>
                    </m:r>
                    <m:r>
                      <m:rPr>
                        <m:sty m:val="p"/>
                      </m:rPr>
                      <a:rPr kumimoji="1" lang="en-US" altLang="zh-CN" sz="1600" b="0" i="0" dirty="0" smtClean="0">
                        <a:latin typeface="Cambria Math" panose="02040503050406030204" pitchFamily="18" charset="0"/>
                        <a:ea typeface="Cambria Math" panose="02040503050406030204" pitchFamily="18" charset="0"/>
                      </a:rPr>
                      <m:t>v</m:t>
                    </m:r>
                    <m:r>
                      <a:rPr kumimoji="1" lang="en-US" altLang="zh-CN" sz="1600" b="0" i="0" dirty="0" smtClean="0">
                        <a:latin typeface="Cambria Math" panose="02040503050406030204" pitchFamily="18" charset="0"/>
                        <a:ea typeface="Cambria Math" panose="02040503050406030204" pitchFamily="18" charset="0"/>
                      </a:rPr>
                      <m:t>′)</m:t>
                    </m:r>
                    <m:r>
                      <a:rPr kumimoji="1" lang="zh-CN" altLang="en-US" sz="1600" i="1" dirty="0">
                        <a:latin typeface="Cambria Math" panose="02040503050406030204" pitchFamily="18" charset="0"/>
                        <a:ea typeface="Cambria Math" panose="02040503050406030204" pitchFamily="18" charset="0"/>
                      </a:rPr>
                      <m:t>；</m:t>
                    </m:r>
                  </m:oMath>
                </a14:m>
                <a:r>
                  <a:rPr kumimoji="1" lang="zh-CN" altLang="en-US" sz="1600" dirty="0" smtClean="0">
                    <a:ea typeface="华文楷体" panose="02010600040101010101" pitchFamily="2" charset="-122"/>
                  </a:rPr>
                  <a:t>因此，有</a:t>
                </a:r>
                <a:r>
                  <a:rPr kumimoji="1" lang="en-US" altLang="zh-CN" sz="1600" dirty="0" smtClean="0">
                    <a:ea typeface="华文楷体" panose="02010600040101010101" pitchFamily="2" charset="-122"/>
                  </a:rPr>
                  <a:t> </a:t>
                </a:r>
                <a14:m>
                  <m:oMath xmlns:m="http://schemas.openxmlformats.org/officeDocument/2006/math">
                    <m:r>
                      <m:rPr>
                        <m:sty m:val="p"/>
                      </m:rPr>
                      <a:rPr kumimoji="1" lang="en-US" altLang="zh-CN" sz="1600" i="1" dirty="0">
                        <a:latin typeface="Cambria Math" panose="02040503050406030204" pitchFamily="18" charset="0"/>
                        <a:ea typeface="华文楷体" panose="02010600040101010101" pitchFamily="2" charset="-122"/>
                      </a:rPr>
                      <m:t>w</m:t>
                    </m:r>
                    <m:d>
                      <m:dPr>
                        <m:ctrlPr>
                          <a:rPr kumimoji="1" lang="en-US" altLang="zh-CN" sz="1600" i="1" dirty="0">
                            <a:latin typeface="Cambria Math" panose="02040503050406030204" pitchFamily="18" charset="0"/>
                            <a:ea typeface="华文楷体" panose="02010600040101010101" pitchFamily="2" charset="-122"/>
                          </a:rPr>
                        </m:ctrlPr>
                      </m:dPr>
                      <m:e>
                        <m:sSup>
                          <m:sSupPr>
                            <m:ctrlPr>
                              <a:rPr kumimoji="1" lang="en-US" altLang="zh-CN" sz="1600" i="1" dirty="0">
                                <a:latin typeface="Cambria Math" panose="02040503050406030204" pitchFamily="18" charset="0"/>
                                <a:ea typeface="华文楷体" panose="02010600040101010101" pitchFamily="2" charset="-122"/>
                              </a:rPr>
                            </m:ctrlPr>
                          </m:sSupPr>
                          <m:e>
                            <m:r>
                              <a:rPr kumimoji="1" lang="en-US" altLang="zh-CN" sz="1600" i="1" dirty="0">
                                <a:latin typeface="Cambria Math" panose="02040503050406030204" pitchFamily="18" charset="0"/>
                                <a:ea typeface="华文楷体" panose="02010600040101010101" pitchFamily="2" charset="-122"/>
                              </a:rPr>
                              <m:t>𝑇</m:t>
                            </m:r>
                          </m:e>
                          <m:sup>
                            <m:r>
                              <a:rPr kumimoji="1" lang="en-US" altLang="zh-CN" sz="1600" i="1" dirty="0">
                                <a:latin typeface="Cambria Math" panose="02040503050406030204" pitchFamily="18" charset="0"/>
                                <a:ea typeface="华文楷体" panose="02010600040101010101" pitchFamily="2" charset="-122"/>
                              </a:rPr>
                              <m:t>′</m:t>
                            </m:r>
                          </m:sup>
                        </m:sSup>
                      </m:e>
                    </m:d>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𝑤</m:t>
                    </m:r>
                    <m:d>
                      <m:dPr>
                        <m:ctrlPr>
                          <a:rPr kumimoji="1" lang="en-US" altLang="zh-CN" sz="1600" i="1" dirty="0">
                            <a:latin typeface="Cambria Math" panose="02040503050406030204" pitchFamily="18" charset="0"/>
                            <a:ea typeface="华文楷体" panose="02010600040101010101" pitchFamily="2" charset="-122"/>
                          </a:rPr>
                        </m:ctrlPr>
                      </m:dPr>
                      <m:e>
                        <m:r>
                          <a:rPr kumimoji="1" lang="en-US" altLang="zh-CN" sz="1600" i="1" dirty="0">
                            <a:latin typeface="Cambria Math" panose="02040503050406030204" pitchFamily="18" charset="0"/>
                            <a:ea typeface="华文楷体" panose="02010600040101010101" pitchFamily="2" charset="-122"/>
                          </a:rPr>
                          <m:t>𝑇</m:t>
                        </m:r>
                      </m:e>
                    </m:d>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𝑤</m:t>
                    </m:r>
                    <m:d>
                      <m:dPr>
                        <m:ctrlPr>
                          <a:rPr kumimoji="1" lang="en-US" altLang="zh-CN" sz="1600" i="1" dirty="0">
                            <a:latin typeface="Cambria Math" panose="02040503050406030204" pitchFamily="18" charset="0"/>
                            <a:ea typeface="华文楷体" panose="02010600040101010101" pitchFamily="2" charset="-122"/>
                          </a:rPr>
                        </m:ctrlPr>
                      </m:dPr>
                      <m:e>
                        <m:r>
                          <a:rPr kumimoji="1" lang="en-US" altLang="zh-CN" sz="1600" i="1" dirty="0">
                            <a:latin typeface="Cambria Math" panose="02040503050406030204" pitchFamily="18" charset="0"/>
                            <a:ea typeface="华文楷体" panose="02010600040101010101" pitchFamily="2" charset="-122"/>
                          </a:rPr>
                          <m:t>𝑢</m:t>
                        </m:r>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e>
                    </m:d>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𝑤</m:t>
                    </m:r>
                    <m:r>
                      <a:rPr kumimoji="1" lang="en-US" altLang="zh-CN" sz="1600" i="1" dirty="0">
                        <a:latin typeface="Cambria Math" panose="02040503050406030204" pitchFamily="18" charset="0"/>
                        <a:ea typeface="华文楷体" panose="02010600040101010101" pitchFamily="2" charset="-122"/>
                      </a:rPr>
                      <m:t>(</m:t>
                    </m:r>
                    <m:sSup>
                      <m:sSupPr>
                        <m:ctrlPr>
                          <a:rPr kumimoji="1" lang="en-US" altLang="zh-CN" sz="1600" i="1" dirty="0">
                            <a:latin typeface="Cambria Math" panose="02040503050406030204" pitchFamily="18" charset="0"/>
                            <a:ea typeface="华文楷体" panose="02010600040101010101" pitchFamily="2" charset="-122"/>
                          </a:rPr>
                        </m:ctrlPr>
                      </m:sSupPr>
                      <m:e>
                        <m:r>
                          <a:rPr kumimoji="1" lang="en-US" altLang="zh-CN" sz="1600" i="1" dirty="0">
                            <a:latin typeface="Cambria Math" panose="02040503050406030204" pitchFamily="18" charset="0"/>
                            <a:ea typeface="华文楷体" panose="02010600040101010101" pitchFamily="2" charset="-122"/>
                          </a:rPr>
                          <m:t>𝑢</m:t>
                        </m:r>
                      </m:e>
                      <m:sup>
                        <m:r>
                          <a:rPr kumimoji="1" lang="en-US" altLang="zh-CN" sz="1600" i="1" dirty="0">
                            <a:latin typeface="Cambria Math" panose="02040503050406030204" pitchFamily="18" charset="0"/>
                            <a:ea typeface="华文楷体" panose="02010600040101010101" pitchFamily="2" charset="-122"/>
                          </a:rPr>
                          <m:t>′</m:t>
                        </m:r>
                      </m:sup>
                    </m:sSup>
                    <m:r>
                      <a:rPr kumimoji="1" lang="en-US" altLang="zh-CN" sz="1600" i="1" dirty="0">
                        <a:latin typeface="Cambria Math" panose="02040503050406030204" pitchFamily="18" charset="0"/>
                        <a:ea typeface="华文楷体" panose="02010600040101010101" pitchFamily="2" charset="-122"/>
                      </a:rPr>
                      <m:t>,</m:t>
                    </m:r>
                    <m:r>
                      <a:rPr kumimoji="1" lang="en-US" altLang="zh-CN" sz="1600" i="1" dirty="0">
                        <a:latin typeface="Cambria Math" panose="02040503050406030204" pitchFamily="18" charset="0"/>
                        <a:ea typeface="华文楷体" panose="02010600040101010101" pitchFamily="2" charset="-122"/>
                      </a:rPr>
                      <m:t>𝑣</m:t>
                    </m:r>
                    <m:r>
                      <a:rPr kumimoji="1" lang="en-US" altLang="zh-CN" sz="1600" i="1" dirty="0">
                        <a:latin typeface="Cambria Math" panose="02040503050406030204" pitchFamily="18" charset="0"/>
                        <a:ea typeface="华文楷体" panose="02010600040101010101" pitchFamily="2" charset="-122"/>
                      </a:rPr>
                      <m:t>′)≤</m:t>
                    </m:r>
                    <m:r>
                      <m:rPr>
                        <m:sty m:val="p"/>
                      </m:rPr>
                      <a:rPr kumimoji="1" lang="en-US" altLang="zh-CN" sz="1600" b="0" i="0" dirty="0" smtClean="0">
                        <a:latin typeface="Cambria Math" panose="02040503050406030204" pitchFamily="18" charset="0"/>
                        <a:ea typeface="Cambria Math" panose="02040503050406030204" pitchFamily="18" charset="0"/>
                      </a:rPr>
                      <m:t>w</m:t>
                    </m:r>
                    <m:r>
                      <a:rPr kumimoji="1" lang="en-US" altLang="zh-CN" sz="1600" b="0" i="0" dirty="0" smtClean="0">
                        <a:latin typeface="Cambria Math" panose="02040503050406030204" pitchFamily="18" charset="0"/>
                        <a:ea typeface="Cambria Math" panose="02040503050406030204" pitchFamily="18" charset="0"/>
                      </a:rPr>
                      <m:t>(</m:t>
                    </m:r>
                    <m:r>
                      <m:rPr>
                        <m:sty m:val="p"/>
                      </m:rPr>
                      <a:rPr kumimoji="1" lang="en-US" altLang="zh-CN" sz="1600" b="0" i="0" dirty="0" smtClean="0">
                        <a:latin typeface="Cambria Math" panose="02040503050406030204" pitchFamily="18" charset="0"/>
                        <a:ea typeface="Cambria Math" panose="02040503050406030204" pitchFamily="18" charset="0"/>
                      </a:rPr>
                      <m:t>T</m:t>
                    </m:r>
                    <m:r>
                      <a:rPr kumimoji="1" lang="en-US" altLang="zh-CN" sz="1600" b="0" i="0" dirty="0" smtClean="0">
                        <a:latin typeface="Cambria Math" panose="02040503050406030204" pitchFamily="18" charset="0"/>
                        <a:ea typeface="Cambria Math" panose="02040503050406030204" pitchFamily="18" charset="0"/>
                      </a:rPr>
                      <m:t>)</m:t>
                    </m:r>
                    <m:r>
                      <a:rPr kumimoji="1" lang="zh-CN" altLang="en-US" sz="1600" i="1" dirty="0">
                        <a:latin typeface="Cambria Math" panose="02040503050406030204" pitchFamily="18" charset="0"/>
                        <a:ea typeface="Cambria Math" panose="02040503050406030204" pitchFamily="18" charset="0"/>
                      </a:rPr>
                      <m:t>。</m:t>
                    </m:r>
                  </m:oMath>
                </a14:m>
                <a:r>
                  <a:rPr kumimoji="1" lang="zh-CN" altLang="en-US" sz="1600" dirty="0" smtClean="0">
                    <a:ea typeface="华文楷体" panose="02010600040101010101" pitchFamily="2" charset="-122"/>
                  </a:rPr>
                  <a:t>因此，</a:t>
                </a:r>
                <a14:m>
                  <m:oMath xmlns:m="http://schemas.openxmlformats.org/officeDocument/2006/math">
                    <m:sSup>
                      <m:sSupPr>
                        <m:ctrlPr>
                          <a:rPr kumimoji="1" lang="en-US" altLang="zh-CN" sz="1600" i="1" dirty="0">
                            <a:latin typeface="Cambria Math" panose="02040503050406030204" pitchFamily="18" charset="0"/>
                            <a:ea typeface="华文楷体" panose="02010600040101010101" pitchFamily="2" charset="-122"/>
                          </a:rPr>
                        </m:ctrlPr>
                      </m:sSupPr>
                      <m:e>
                        <m:r>
                          <a:rPr kumimoji="1" lang="en-US" altLang="zh-CN" sz="1600" i="1" dirty="0">
                            <a:latin typeface="Cambria Math" panose="02040503050406030204" pitchFamily="18" charset="0"/>
                            <a:ea typeface="华文楷体" panose="02010600040101010101" pitchFamily="2" charset="-122"/>
                          </a:rPr>
                          <m:t>𝑇</m:t>
                        </m:r>
                      </m:e>
                      <m:sup>
                        <m:r>
                          <a:rPr kumimoji="1" lang="en-US" altLang="zh-CN" sz="1600" i="1" dirty="0">
                            <a:latin typeface="Cambria Math" panose="02040503050406030204" pitchFamily="18" charset="0"/>
                            <a:ea typeface="华文楷体" panose="02010600040101010101" pitchFamily="2" charset="-122"/>
                          </a:rPr>
                          <m:t>′</m:t>
                        </m:r>
                      </m:sup>
                    </m:sSup>
                  </m:oMath>
                </a14:m>
                <a:r>
                  <a:rPr kumimoji="1" lang="zh-CN" altLang="en-US" sz="1600" dirty="0">
                    <a:ea typeface="华文楷体" panose="02010600040101010101" pitchFamily="2" charset="-122"/>
                  </a:rPr>
                  <a:t>是一</a:t>
                </a:r>
                <a:r>
                  <a:rPr kumimoji="1" lang="zh-CN" altLang="zh-CN" sz="1600" dirty="0">
                    <a:ea typeface="华文楷体" panose="02010600040101010101" pitchFamily="2" charset="-122"/>
                  </a:rPr>
                  <a:t>棵</a:t>
                </a:r>
                <a:r>
                  <a:rPr kumimoji="1" lang="zh-CN" altLang="en-US" sz="1600" dirty="0" smtClean="0">
                    <a:ea typeface="华文楷体" panose="02010600040101010101" pitchFamily="2" charset="-122"/>
                  </a:rPr>
                  <a:t>最小生成树。</a:t>
                </a:r>
                <a:r>
                  <a:rPr kumimoji="1" lang="zh-CN" altLang="zh-CN" sz="1600" dirty="0" smtClean="0">
                    <a:ea typeface="华文楷体" panose="02010600040101010101" pitchFamily="2" charset="-122"/>
                  </a:rPr>
                  <a:t>和</a:t>
                </a:r>
                <a:r>
                  <a:rPr kumimoji="1" lang="zh-CN" altLang="zh-CN" sz="1600" dirty="0">
                    <a:ea typeface="华文楷体" panose="02010600040101010101" pitchFamily="2" charset="-122"/>
                  </a:rPr>
                  <a:t>原假设矛盾</a:t>
                </a:r>
                <a:r>
                  <a:rPr kumimoji="1" lang="zh-CN" altLang="zh-CN" sz="1600" dirty="0" smtClean="0">
                    <a:ea typeface="华文楷体" panose="02010600040101010101" pitchFamily="2" charset="-122"/>
                  </a:rPr>
                  <a:t>。</a:t>
                </a:r>
                <a:r>
                  <a:rPr kumimoji="1" lang="zh-CN" altLang="zh-CN" sz="1600" b="1" dirty="0" smtClean="0">
                    <a:ea typeface="华文楷体" panose="02010600040101010101" pitchFamily="2" charset="-122"/>
                  </a:rPr>
                  <a:t>         </a:t>
                </a:r>
                <a:endParaRPr kumimoji="1" lang="zh-CN" altLang="en-US" sz="1600" b="1" dirty="0">
                  <a:solidFill>
                    <a:schemeClr val="accent2"/>
                  </a:solidFill>
                  <a:ea typeface="华文楷体" panose="02010600040101010101" pitchFamily="2" charset="-122"/>
                </a:endParaRPr>
              </a:p>
              <a:p>
                <a:endParaRPr lang="zh-CN" altLang="en-US" sz="1600" dirty="0"/>
              </a:p>
            </p:txBody>
          </p:sp>
        </mc:Choice>
        <mc:Fallback>
          <p:sp>
            <p:nvSpPr>
              <p:cNvPr id="3" name="文本框 2"/>
              <p:cNvSpPr txBox="1">
                <a:spLocks noRot="1" noChangeAspect="1" noMove="1" noResize="1" noEditPoints="1" noAdjustHandles="1" noChangeArrowheads="1" noChangeShapeType="1" noTextEdit="1"/>
              </p:cNvSpPr>
              <p:nvPr/>
            </p:nvSpPr>
            <p:spPr>
              <a:xfrm>
                <a:off x="495300" y="4744623"/>
                <a:ext cx="8001000" cy="2062103"/>
              </a:xfrm>
              <a:prstGeom prst="rect">
                <a:avLst/>
              </a:prstGeom>
              <a:blipFill rotWithShape="1">
                <a:blip r:embed="rId1"/>
                <a:stretch>
                  <a:fillRect l="-63" t="-242" r="-56" b="-208"/>
                </a:stretch>
              </a:blipFill>
              <a:ln>
                <a:solidFill>
                  <a:schemeClr val="accent1"/>
                </a:solidFill>
              </a:ln>
            </p:spPr>
            <p:txBody>
              <a:bodyPr/>
              <a:lstStyle/>
              <a:p>
                <a:r>
                  <a:rPr lang="zh-CN" altLang="en-US">
                    <a:noFill/>
                  </a:rPr>
                  <a:t> </a:t>
                </a:r>
              </a:p>
            </p:txBody>
          </p:sp>
        </mc:Fallback>
      </mc:AlternateContent>
      <p:sp>
        <p:nvSpPr>
          <p:cNvPr id="17" name="Text Box 3"/>
          <p:cNvSpPr txBox="1">
            <a:spLocks noChangeArrowheads="1"/>
          </p:cNvSpPr>
          <p:nvPr/>
        </p:nvSpPr>
        <p:spPr bwMode="auto">
          <a:xfrm>
            <a:off x="2297837" y="4127236"/>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18" name="Text Box 65"/>
          <p:cNvSpPr txBox="1">
            <a:spLocks noChangeArrowheads="1"/>
          </p:cNvSpPr>
          <p:nvPr/>
        </p:nvSpPr>
        <p:spPr bwMode="auto">
          <a:xfrm>
            <a:off x="2221637" y="344143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19" name="Oval 66"/>
          <p:cNvSpPr>
            <a:spLocks noChangeArrowheads="1"/>
          </p:cNvSpPr>
          <p:nvPr/>
        </p:nvSpPr>
        <p:spPr bwMode="auto">
          <a:xfrm>
            <a:off x="1612037" y="2603236"/>
            <a:ext cx="381000" cy="395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 name="Oval 67"/>
          <p:cNvSpPr>
            <a:spLocks noChangeArrowheads="1"/>
          </p:cNvSpPr>
          <p:nvPr/>
        </p:nvSpPr>
        <p:spPr bwMode="auto">
          <a:xfrm>
            <a:off x="773837" y="3077899"/>
            <a:ext cx="381000" cy="395287"/>
          </a:xfrm>
          <a:prstGeom prst="ellipse">
            <a:avLst/>
          </a:prstGeom>
          <a:solidFill>
            <a:schemeClr val="accent1"/>
          </a:solidFill>
          <a:ln w="9525">
            <a:solidFill>
              <a:schemeClr val="tx1"/>
            </a:solidFill>
            <a:rou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1" name="Oval 68"/>
          <p:cNvSpPr>
            <a:spLocks noChangeArrowheads="1"/>
          </p:cNvSpPr>
          <p:nvPr/>
        </p:nvSpPr>
        <p:spPr bwMode="auto">
          <a:xfrm>
            <a:off x="2221637" y="3077899"/>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2" name="Oval 69"/>
          <p:cNvSpPr>
            <a:spLocks noChangeArrowheads="1"/>
          </p:cNvSpPr>
          <p:nvPr/>
        </p:nvSpPr>
        <p:spPr bwMode="auto">
          <a:xfrm>
            <a:off x="1535837" y="3631936"/>
            <a:ext cx="381000" cy="396875"/>
          </a:xfrm>
          <a:prstGeom prst="ellipse">
            <a:avLst/>
          </a:prstGeom>
          <a:solidFill>
            <a:schemeClr val="accent1"/>
          </a:solidFill>
          <a:ln w="9525">
            <a:solidFill>
              <a:schemeClr val="tx1"/>
            </a:solidFill>
            <a:rou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3" name="Oval 70"/>
          <p:cNvSpPr>
            <a:spLocks noChangeArrowheads="1"/>
          </p:cNvSpPr>
          <p:nvPr/>
        </p:nvSpPr>
        <p:spPr bwMode="auto">
          <a:xfrm>
            <a:off x="697637" y="4185974"/>
            <a:ext cx="381000" cy="396875"/>
          </a:xfrm>
          <a:prstGeom prst="ellipse">
            <a:avLst/>
          </a:prstGeom>
          <a:solidFill>
            <a:schemeClr val="accent1"/>
          </a:solidFill>
          <a:ln w="9525">
            <a:solidFill>
              <a:schemeClr val="tx1"/>
            </a:solidFill>
            <a:round/>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 name="Oval 71"/>
          <p:cNvSpPr>
            <a:spLocks noChangeArrowheads="1"/>
          </p:cNvSpPr>
          <p:nvPr/>
        </p:nvSpPr>
        <p:spPr bwMode="auto">
          <a:xfrm>
            <a:off x="2297837" y="4185974"/>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5" name="Text Box 72"/>
          <p:cNvSpPr txBox="1">
            <a:spLocks noChangeArrowheads="1"/>
          </p:cNvSpPr>
          <p:nvPr/>
        </p:nvSpPr>
        <p:spPr bwMode="auto">
          <a:xfrm>
            <a:off x="1688237" y="2603236"/>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26" name="Text Box 73"/>
          <p:cNvSpPr txBox="1">
            <a:spLocks noChangeArrowheads="1"/>
          </p:cNvSpPr>
          <p:nvPr/>
        </p:nvSpPr>
        <p:spPr bwMode="auto">
          <a:xfrm>
            <a:off x="850037" y="3077899"/>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27" name="Text Box 74"/>
          <p:cNvSpPr txBox="1">
            <a:spLocks noChangeArrowheads="1"/>
          </p:cNvSpPr>
          <p:nvPr/>
        </p:nvSpPr>
        <p:spPr bwMode="auto">
          <a:xfrm>
            <a:off x="1612037" y="363193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28" name="Text Box 75"/>
          <p:cNvSpPr txBox="1">
            <a:spLocks noChangeArrowheads="1"/>
          </p:cNvSpPr>
          <p:nvPr/>
        </p:nvSpPr>
        <p:spPr bwMode="auto">
          <a:xfrm>
            <a:off x="2221637" y="3077899"/>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29" name="Text Box 76"/>
          <p:cNvSpPr txBox="1">
            <a:spLocks noChangeArrowheads="1"/>
          </p:cNvSpPr>
          <p:nvPr/>
        </p:nvSpPr>
        <p:spPr bwMode="auto">
          <a:xfrm>
            <a:off x="773837" y="4185974"/>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30" name="Line 77"/>
          <p:cNvSpPr>
            <a:spLocks noChangeShapeType="1"/>
          </p:cNvSpPr>
          <p:nvPr/>
        </p:nvSpPr>
        <p:spPr bwMode="auto">
          <a:xfrm flipV="1">
            <a:off x="1078637" y="2841361"/>
            <a:ext cx="533400" cy="315913"/>
          </a:xfrm>
          <a:prstGeom prst="line">
            <a:avLst/>
          </a:prstGeom>
        </p:spPr>
        <p:style>
          <a:lnRef idx="3">
            <a:schemeClr val="accent2"/>
          </a:lnRef>
          <a:fillRef idx="0">
            <a:schemeClr val="accent2"/>
          </a:fillRef>
          <a:effectRef idx="2">
            <a:schemeClr val="accent2"/>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 name="Line 78"/>
          <p:cNvSpPr>
            <a:spLocks noChangeShapeType="1"/>
          </p:cNvSpPr>
          <p:nvPr/>
        </p:nvSpPr>
        <p:spPr bwMode="auto">
          <a:xfrm>
            <a:off x="1002437" y="3552561"/>
            <a:ext cx="0" cy="633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2" name="Line 79"/>
          <p:cNvSpPr>
            <a:spLocks noChangeShapeType="1"/>
          </p:cNvSpPr>
          <p:nvPr/>
        </p:nvSpPr>
        <p:spPr bwMode="auto">
          <a:xfrm>
            <a:off x="1993037" y="2841361"/>
            <a:ext cx="304800" cy="2365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 name="Line 80"/>
          <p:cNvSpPr>
            <a:spLocks noChangeShapeType="1"/>
          </p:cNvSpPr>
          <p:nvPr/>
        </p:nvSpPr>
        <p:spPr bwMode="auto">
          <a:xfrm>
            <a:off x="1078637" y="4424099"/>
            <a:ext cx="1219200" cy="0"/>
          </a:xfrm>
          <a:prstGeom prst="line">
            <a:avLst/>
          </a:prstGeom>
        </p:spPr>
        <p:style>
          <a:lnRef idx="3">
            <a:schemeClr val="accent2"/>
          </a:lnRef>
          <a:fillRef idx="0">
            <a:schemeClr val="accent2"/>
          </a:fillRef>
          <a:effectRef idx="2">
            <a:schemeClr val="accent2"/>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 name="Line 81"/>
          <p:cNvSpPr>
            <a:spLocks noChangeShapeType="1"/>
          </p:cNvSpPr>
          <p:nvPr/>
        </p:nvSpPr>
        <p:spPr bwMode="auto">
          <a:xfrm>
            <a:off x="2450237" y="3473186"/>
            <a:ext cx="0" cy="7127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 name="Line 82"/>
          <p:cNvSpPr>
            <a:spLocks noChangeShapeType="1"/>
          </p:cNvSpPr>
          <p:nvPr/>
        </p:nvSpPr>
        <p:spPr bwMode="auto">
          <a:xfrm flipV="1">
            <a:off x="1078637" y="3949436"/>
            <a:ext cx="533400" cy="395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 name="Line 83"/>
          <p:cNvSpPr>
            <a:spLocks noChangeShapeType="1"/>
          </p:cNvSpPr>
          <p:nvPr/>
        </p:nvSpPr>
        <p:spPr bwMode="auto">
          <a:xfrm>
            <a:off x="1916837" y="3949436"/>
            <a:ext cx="457200" cy="315913"/>
          </a:xfrm>
          <a:prstGeom prst="line">
            <a:avLst/>
          </a:prstGeom>
        </p:spPr>
        <p:style>
          <a:lnRef idx="3">
            <a:schemeClr val="accent2"/>
          </a:lnRef>
          <a:fillRef idx="0">
            <a:schemeClr val="accent2"/>
          </a:fillRef>
          <a:effectRef idx="2">
            <a:schemeClr val="accent2"/>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7" name="Line 84"/>
          <p:cNvSpPr>
            <a:spLocks noChangeShapeType="1"/>
          </p:cNvSpPr>
          <p:nvPr/>
        </p:nvSpPr>
        <p:spPr bwMode="auto">
          <a:xfrm>
            <a:off x="1154837" y="3316024"/>
            <a:ext cx="381000" cy="3952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 name="Line 85"/>
          <p:cNvSpPr>
            <a:spLocks noChangeShapeType="1"/>
          </p:cNvSpPr>
          <p:nvPr/>
        </p:nvSpPr>
        <p:spPr bwMode="auto">
          <a:xfrm flipH="1">
            <a:off x="1840637" y="3473186"/>
            <a:ext cx="457200" cy="238125"/>
          </a:xfrm>
          <a:prstGeom prst="line">
            <a:avLst/>
          </a:prstGeom>
        </p:spPr>
        <p:style>
          <a:lnRef idx="3">
            <a:schemeClr val="accent2"/>
          </a:lnRef>
          <a:fillRef idx="0">
            <a:schemeClr val="accent2"/>
          </a:fillRef>
          <a:effectRef idx="2">
            <a:schemeClr val="accent2"/>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 name="Line 86"/>
          <p:cNvSpPr>
            <a:spLocks noChangeShapeType="1"/>
          </p:cNvSpPr>
          <p:nvPr/>
        </p:nvSpPr>
        <p:spPr bwMode="auto">
          <a:xfrm>
            <a:off x="1764437" y="2998524"/>
            <a:ext cx="0" cy="633412"/>
          </a:xfrm>
          <a:prstGeom prst="line">
            <a:avLst/>
          </a:prstGeom>
        </p:spPr>
        <p:style>
          <a:lnRef idx="3">
            <a:schemeClr val="accent2"/>
          </a:lnRef>
          <a:fillRef idx="0">
            <a:schemeClr val="accent2"/>
          </a:fillRef>
          <a:effectRef idx="2">
            <a:schemeClr val="accent2"/>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 name="Text Box 87"/>
          <p:cNvSpPr txBox="1">
            <a:spLocks noChangeArrowheads="1"/>
          </p:cNvSpPr>
          <p:nvPr/>
        </p:nvSpPr>
        <p:spPr bwMode="auto">
          <a:xfrm>
            <a:off x="1208471" y="2682611"/>
            <a:ext cx="4797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41" name="Text Box 88"/>
          <p:cNvSpPr txBox="1">
            <a:spLocks noChangeArrowheads="1"/>
          </p:cNvSpPr>
          <p:nvPr/>
        </p:nvSpPr>
        <p:spPr bwMode="auto">
          <a:xfrm>
            <a:off x="1993037" y="2603236"/>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42" name="Text Box 89"/>
          <p:cNvSpPr txBox="1">
            <a:spLocks noChangeArrowheads="1"/>
          </p:cNvSpPr>
          <p:nvPr/>
        </p:nvSpPr>
        <p:spPr bwMode="auto">
          <a:xfrm>
            <a:off x="1231037" y="3157274"/>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43" name="Text Box 90"/>
          <p:cNvSpPr txBox="1">
            <a:spLocks noChangeArrowheads="1"/>
          </p:cNvSpPr>
          <p:nvPr/>
        </p:nvSpPr>
        <p:spPr bwMode="auto">
          <a:xfrm>
            <a:off x="1688237" y="299852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44" name="Text Box 91"/>
          <p:cNvSpPr txBox="1">
            <a:spLocks noChangeArrowheads="1"/>
          </p:cNvSpPr>
          <p:nvPr/>
        </p:nvSpPr>
        <p:spPr bwMode="auto">
          <a:xfrm>
            <a:off x="1916837" y="3236649"/>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45" name="Text Box 92"/>
          <p:cNvSpPr txBox="1">
            <a:spLocks noChangeArrowheads="1"/>
          </p:cNvSpPr>
          <p:nvPr/>
        </p:nvSpPr>
        <p:spPr bwMode="auto">
          <a:xfrm>
            <a:off x="773837" y="363193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46" name="Text Box 93"/>
          <p:cNvSpPr txBox="1">
            <a:spLocks noChangeArrowheads="1"/>
          </p:cNvSpPr>
          <p:nvPr/>
        </p:nvSpPr>
        <p:spPr bwMode="auto">
          <a:xfrm>
            <a:off x="1154837" y="379068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47" name="Text Box 94"/>
          <p:cNvSpPr txBox="1">
            <a:spLocks noChangeArrowheads="1"/>
          </p:cNvSpPr>
          <p:nvPr/>
        </p:nvSpPr>
        <p:spPr bwMode="auto">
          <a:xfrm>
            <a:off x="1535837" y="4028811"/>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48" name="Text Box 95"/>
          <p:cNvSpPr txBox="1">
            <a:spLocks noChangeArrowheads="1"/>
          </p:cNvSpPr>
          <p:nvPr/>
        </p:nvSpPr>
        <p:spPr bwMode="auto">
          <a:xfrm>
            <a:off x="2069237" y="3790686"/>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2" name="任意多边形 1"/>
          <p:cNvSpPr/>
          <p:nvPr/>
        </p:nvSpPr>
        <p:spPr>
          <a:xfrm>
            <a:off x="435006" y="2805344"/>
            <a:ext cx="1580225" cy="1856341"/>
          </a:xfrm>
          <a:custGeom>
            <a:avLst/>
            <a:gdLst>
              <a:gd name="connsiteX0" fmla="*/ 0 w 1580225"/>
              <a:gd name="connsiteY0" fmla="*/ 62143 h 1856341"/>
              <a:gd name="connsiteX1" fmla="*/ 115410 w 1580225"/>
              <a:gd name="connsiteY1" fmla="*/ 35510 h 1856341"/>
              <a:gd name="connsiteX2" fmla="*/ 159798 w 1580225"/>
              <a:gd name="connsiteY2" fmla="*/ 26633 h 1856341"/>
              <a:gd name="connsiteX3" fmla="*/ 213064 w 1580225"/>
              <a:gd name="connsiteY3" fmla="*/ 17755 h 1856341"/>
              <a:gd name="connsiteX4" fmla="*/ 310718 w 1580225"/>
              <a:gd name="connsiteY4" fmla="*/ 0 h 1856341"/>
              <a:gd name="connsiteX5" fmla="*/ 435006 w 1580225"/>
              <a:gd name="connsiteY5" fmla="*/ 17755 h 1856341"/>
              <a:gd name="connsiteX6" fmla="*/ 461639 w 1580225"/>
              <a:gd name="connsiteY6" fmla="*/ 26633 h 1856341"/>
              <a:gd name="connsiteX7" fmla="*/ 514905 w 1580225"/>
              <a:gd name="connsiteY7" fmla="*/ 35510 h 1856341"/>
              <a:gd name="connsiteX8" fmla="*/ 577048 w 1580225"/>
              <a:gd name="connsiteY8" fmla="*/ 53266 h 1856341"/>
              <a:gd name="connsiteX9" fmla="*/ 639192 w 1580225"/>
              <a:gd name="connsiteY9" fmla="*/ 79899 h 1856341"/>
              <a:gd name="connsiteX10" fmla="*/ 701336 w 1580225"/>
              <a:gd name="connsiteY10" fmla="*/ 97654 h 1856341"/>
              <a:gd name="connsiteX11" fmla="*/ 763479 w 1580225"/>
              <a:gd name="connsiteY11" fmla="*/ 133165 h 1856341"/>
              <a:gd name="connsiteX12" fmla="*/ 798990 w 1580225"/>
              <a:gd name="connsiteY12" fmla="*/ 142042 h 1856341"/>
              <a:gd name="connsiteX13" fmla="*/ 834501 w 1580225"/>
              <a:gd name="connsiteY13" fmla="*/ 177553 h 1856341"/>
              <a:gd name="connsiteX14" fmla="*/ 887767 w 1580225"/>
              <a:gd name="connsiteY14" fmla="*/ 204186 h 1856341"/>
              <a:gd name="connsiteX15" fmla="*/ 923277 w 1580225"/>
              <a:gd name="connsiteY15" fmla="*/ 230819 h 1856341"/>
              <a:gd name="connsiteX16" fmla="*/ 941033 w 1580225"/>
              <a:gd name="connsiteY16" fmla="*/ 248574 h 1856341"/>
              <a:gd name="connsiteX17" fmla="*/ 976544 w 1580225"/>
              <a:gd name="connsiteY17" fmla="*/ 266330 h 1856341"/>
              <a:gd name="connsiteX18" fmla="*/ 1003177 w 1580225"/>
              <a:gd name="connsiteY18" fmla="*/ 292963 h 1856341"/>
              <a:gd name="connsiteX19" fmla="*/ 1056443 w 1580225"/>
              <a:gd name="connsiteY19" fmla="*/ 328473 h 1856341"/>
              <a:gd name="connsiteX20" fmla="*/ 1100831 w 1580225"/>
              <a:gd name="connsiteY20" fmla="*/ 363984 h 1856341"/>
              <a:gd name="connsiteX21" fmla="*/ 1127464 w 1580225"/>
              <a:gd name="connsiteY21" fmla="*/ 372862 h 1856341"/>
              <a:gd name="connsiteX22" fmla="*/ 1180730 w 1580225"/>
              <a:gd name="connsiteY22" fmla="*/ 408373 h 1856341"/>
              <a:gd name="connsiteX23" fmla="*/ 1207363 w 1580225"/>
              <a:gd name="connsiteY23" fmla="*/ 426128 h 1856341"/>
              <a:gd name="connsiteX24" fmla="*/ 1260629 w 1580225"/>
              <a:gd name="connsiteY24" fmla="*/ 470516 h 1856341"/>
              <a:gd name="connsiteX25" fmla="*/ 1296140 w 1580225"/>
              <a:gd name="connsiteY25" fmla="*/ 506027 h 1856341"/>
              <a:gd name="connsiteX26" fmla="*/ 1331650 w 1580225"/>
              <a:gd name="connsiteY26" fmla="*/ 532660 h 1856341"/>
              <a:gd name="connsiteX27" fmla="*/ 1367161 w 1580225"/>
              <a:gd name="connsiteY27" fmla="*/ 568171 h 1856341"/>
              <a:gd name="connsiteX28" fmla="*/ 1393794 w 1580225"/>
              <a:gd name="connsiteY28" fmla="*/ 585926 h 1856341"/>
              <a:gd name="connsiteX29" fmla="*/ 1447060 w 1580225"/>
              <a:gd name="connsiteY29" fmla="*/ 630314 h 1856341"/>
              <a:gd name="connsiteX30" fmla="*/ 1464815 w 1580225"/>
              <a:gd name="connsiteY30" fmla="*/ 656947 h 1856341"/>
              <a:gd name="connsiteX31" fmla="*/ 1482571 w 1580225"/>
              <a:gd name="connsiteY31" fmla="*/ 674703 h 1856341"/>
              <a:gd name="connsiteX32" fmla="*/ 1500326 w 1580225"/>
              <a:gd name="connsiteY32" fmla="*/ 727969 h 1856341"/>
              <a:gd name="connsiteX33" fmla="*/ 1509204 w 1580225"/>
              <a:gd name="connsiteY33" fmla="*/ 754602 h 1856341"/>
              <a:gd name="connsiteX34" fmla="*/ 1544714 w 1580225"/>
              <a:gd name="connsiteY34" fmla="*/ 843378 h 1856341"/>
              <a:gd name="connsiteX35" fmla="*/ 1562470 w 1580225"/>
              <a:gd name="connsiteY35" fmla="*/ 905522 h 1856341"/>
              <a:gd name="connsiteX36" fmla="*/ 1580225 w 1580225"/>
              <a:gd name="connsiteY36" fmla="*/ 985421 h 1856341"/>
              <a:gd name="connsiteX37" fmla="*/ 1571347 w 1580225"/>
              <a:gd name="connsiteY37" fmla="*/ 1260629 h 1856341"/>
              <a:gd name="connsiteX38" fmla="*/ 1553592 w 1580225"/>
              <a:gd name="connsiteY38" fmla="*/ 1313895 h 1856341"/>
              <a:gd name="connsiteX39" fmla="*/ 1518081 w 1580225"/>
              <a:gd name="connsiteY39" fmla="*/ 1358283 h 1856341"/>
              <a:gd name="connsiteX40" fmla="*/ 1500326 w 1580225"/>
              <a:gd name="connsiteY40" fmla="*/ 1393794 h 1856341"/>
              <a:gd name="connsiteX41" fmla="*/ 1491448 w 1580225"/>
              <a:gd name="connsiteY41" fmla="*/ 1420427 h 1856341"/>
              <a:gd name="connsiteX42" fmla="*/ 1447060 w 1580225"/>
              <a:gd name="connsiteY42" fmla="*/ 1473693 h 1856341"/>
              <a:gd name="connsiteX43" fmla="*/ 1384916 w 1580225"/>
              <a:gd name="connsiteY43" fmla="*/ 1553592 h 1856341"/>
              <a:gd name="connsiteX44" fmla="*/ 1340528 w 1580225"/>
              <a:gd name="connsiteY44" fmla="*/ 1606858 h 1856341"/>
              <a:gd name="connsiteX45" fmla="*/ 1313895 w 1580225"/>
              <a:gd name="connsiteY45" fmla="*/ 1624613 h 1856341"/>
              <a:gd name="connsiteX46" fmla="*/ 1278384 w 1580225"/>
              <a:gd name="connsiteY46" fmla="*/ 1660124 h 1856341"/>
              <a:gd name="connsiteX47" fmla="*/ 1251751 w 1580225"/>
              <a:gd name="connsiteY47" fmla="*/ 1677879 h 1856341"/>
              <a:gd name="connsiteX48" fmla="*/ 1233996 w 1580225"/>
              <a:gd name="connsiteY48" fmla="*/ 1695635 h 1856341"/>
              <a:gd name="connsiteX49" fmla="*/ 1216241 w 1580225"/>
              <a:gd name="connsiteY49" fmla="*/ 1722268 h 1856341"/>
              <a:gd name="connsiteX50" fmla="*/ 1189608 w 1580225"/>
              <a:gd name="connsiteY50" fmla="*/ 1731145 h 1856341"/>
              <a:gd name="connsiteX51" fmla="*/ 1171852 w 1580225"/>
              <a:gd name="connsiteY51" fmla="*/ 1748901 h 1856341"/>
              <a:gd name="connsiteX52" fmla="*/ 1118586 w 1580225"/>
              <a:gd name="connsiteY52" fmla="*/ 1766656 h 1856341"/>
              <a:gd name="connsiteX53" fmla="*/ 1091953 w 1580225"/>
              <a:gd name="connsiteY53" fmla="*/ 1775534 h 1856341"/>
              <a:gd name="connsiteX54" fmla="*/ 1065320 w 1580225"/>
              <a:gd name="connsiteY54" fmla="*/ 1793289 h 1856341"/>
              <a:gd name="connsiteX55" fmla="*/ 1012054 w 1580225"/>
              <a:gd name="connsiteY55" fmla="*/ 1811044 h 1856341"/>
              <a:gd name="connsiteX56" fmla="*/ 958788 w 1580225"/>
              <a:gd name="connsiteY56" fmla="*/ 1828800 h 1856341"/>
              <a:gd name="connsiteX57" fmla="*/ 932155 w 1580225"/>
              <a:gd name="connsiteY57" fmla="*/ 1837677 h 1856341"/>
              <a:gd name="connsiteX58" fmla="*/ 905522 w 1580225"/>
              <a:gd name="connsiteY58" fmla="*/ 1846555 h 1856341"/>
              <a:gd name="connsiteX59" fmla="*/ 870011 w 1580225"/>
              <a:gd name="connsiteY59" fmla="*/ 1855433 h 1856341"/>
              <a:gd name="connsiteX60" fmla="*/ 790112 w 1580225"/>
              <a:gd name="connsiteY60" fmla="*/ 1855433 h 185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580225" h="1856341">
                <a:moveTo>
                  <a:pt x="0" y="62143"/>
                </a:moveTo>
                <a:cubicBezTo>
                  <a:pt x="83422" y="34336"/>
                  <a:pt x="23217" y="50875"/>
                  <a:pt x="115410" y="35510"/>
                </a:cubicBezTo>
                <a:cubicBezTo>
                  <a:pt x="130294" y="33029"/>
                  <a:pt x="144952" y="29332"/>
                  <a:pt x="159798" y="26633"/>
                </a:cubicBezTo>
                <a:cubicBezTo>
                  <a:pt x="177508" y="23413"/>
                  <a:pt x="195354" y="20975"/>
                  <a:pt x="213064" y="17755"/>
                </a:cubicBezTo>
                <a:cubicBezTo>
                  <a:pt x="349457" y="-7045"/>
                  <a:pt x="153868" y="26140"/>
                  <a:pt x="310718" y="0"/>
                </a:cubicBezTo>
                <a:cubicBezTo>
                  <a:pt x="352147" y="5918"/>
                  <a:pt x="395304" y="4520"/>
                  <a:pt x="435006" y="17755"/>
                </a:cubicBezTo>
                <a:cubicBezTo>
                  <a:pt x="443884" y="20714"/>
                  <a:pt x="452504" y="24603"/>
                  <a:pt x="461639" y="26633"/>
                </a:cubicBezTo>
                <a:cubicBezTo>
                  <a:pt x="479211" y="30538"/>
                  <a:pt x="497254" y="31980"/>
                  <a:pt x="514905" y="35510"/>
                </a:cubicBezTo>
                <a:cubicBezTo>
                  <a:pt x="528983" y="38326"/>
                  <a:pt x="562241" y="46920"/>
                  <a:pt x="577048" y="53266"/>
                </a:cubicBezTo>
                <a:cubicBezTo>
                  <a:pt x="624385" y="73553"/>
                  <a:pt x="597560" y="68005"/>
                  <a:pt x="639192" y="79899"/>
                </a:cubicBezTo>
                <a:cubicBezTo>
                  <a:pt x="652473" y="83694"/>
                  <a:pt x="687140" y="90556"/>
                  <a:pt x="701336" y="97654"/>
                </a:cubicBezTo>
                <a:cubicBezTo>
                  <a:pt x="752839" y="123405"/>
                  <a:pt x="701237" y="109824"/>
                  <a:pt x="763479" y="133165"/>
                </a:cubicBezTo>
                <a:cubicBezTo>
                  <a:pt x="774903" y="137449"/>
                  <a:pt x="787153" y="139083"/>
                  <a:pt x="798990" y="142042"/>
                </a:cubicBezTo>
                <a:cubicBezTo>
                  <a:pt x="810827" y="153879"/>
                  <a:pt x="818620" y="172259"/>
                  <a:pt x="834501" y="177553"/>
                </a:cubicBezTo>
                <a:cubicBezTo>
                  <a:pt x="867481" y="188547"/>
                  <a:pt x="857652" y="182675"/>
                  <a:pt x="887767" y="204186"/>
                </a:cubicBezTo>
                <a:cubicBezTo>
                  <a:pt x="899807" y="212786"/>
                  <a:pt x="911910" y="221347"/>
                  <a:pt x="923277" y="230819"/>
                </a:cubicBezTo>
                <a:cubicBezTo>
                  <a:pt x="929707" y="236177"/>
                  <a:pt x="934069" y="243931"/>
                  <a:pt x="941033" y="248574"/>
                </a:cubicBezTo>
                <a:cubicBezTo>
                  <a:pt x="952045" y="255915"/>
                  <a:pt x="965775" y="258638"/>
                  <a:pt x="976544" y="266330"/>
                </a:cubicBezTo>
                <a:cubicBezTo>
                  <a:pt x="986760" y="273627"/>
                  <a:pt x="993267" y="285255"/>
                  <a:pt x="1003177" y="292963"/>
                </a:cubicBezTo>
                <a:cubicBezTo>
                  <a:pt x="1020021" y="306064"/>
                  <a:pt x="1041354" y="313384"/>
                  <a:pt x="1056443" y="328473"/>
                </a:cubicBezTo>
                <a:cubicBezTo>
                  <a:pt x="1072959" y="344989"/>
                  <a:pt x="1078431" y="352784"/>
                  <a:pt x="1100831" y="363984"/>
                </a:cubicBezTo>
                <a:cubicBezTo>
                  <a:pt x="1109201" y="368169"/>
                  <a:pt x="1119284" y="368317"/>
                  <a:pt x="1127464" y="372862"/>
                </a:cubicBezTo>
                <a:cubicBezTo>
                  <a:pt x="1146118" y="383225"/>
                  <a:pt x="1162975" y="396536"/>
                  <a:pt x="1180730" y="408373"/>
                </a:cubicBezTo>
                <a:cubicBezTo>
                  <a:pt x="1189608" y="414291"/>
                  <a:pt x="1199818" y="418583"/>
                  <a:pt x="1207363" y="426128"/>
                </a:cubicBezTo>
                <a:cubicBezTo>
                  <a:pt x="1299716" y="518481"/>
                  <a:pt x="1174110" y="396357"/>
                  <a:pt x="1260629" y="470516"/>
                </a:cubicBezTo>
                <a:cubicBezTo>
                  <a:pt x="1273339" y="481410"/>
                  <a:pt x="1282748" y="495983"/>
                  <a:pt x="1296140" y="506027"/>
                </a:cubicBezTo>
                <a:cubicBezTo>
                  <a:pt x="1307977" y="514905"/>
                  <a:pt x="1320515" y="522917"/>
                  <a:pt x="1331650" y="532660"/>
                </a:cubicBezTo>
                <a:cubicBezTo>
                  <a:pt x="1344248" y="543683"/>
                  <a:pt x="1353232" y="558885"/>
                  <a:pt x="1367161" y="568171"/>
                </a:cubicBezTo>
                <a:cubicBezTo>
                  <a:pt x="1376039" y="574089"/>
                  <a:pt x="1385597" y="579096"/>
                  <a:pt x="1393794" y="585926"/>
                </a:cubicBezTo>
                <a:cubicBezTo>
                  <a:pt x="1462149" y="642888"/>
                  <a:pt x="1380935" y="586232"/>
                  <a:pt x="1447060" y="630314"/>
                </a:cubicBezTo>
                <a:cubicBezTo>
                  <a:pt x="1452978" y="639192"/>
                  <a:pt x="1458150" y="648615"/>
                  <a:pt x="1464815" y="656947"/>
                </a:cubicBezTo>
                <a:cubicBezTo>
                  <a:pt x="1470044" y="663483"/>
                  <a:pt x="1478828" y="667216"/>
                  <a:pt x="1482571" y="674703"/>
                </a:cubicBezTo>
                <a:cubicBezTo>
                  <a:pt x="1490941" y="691443"/>
                  <a:pt x="1494408" y="710214"/>
                  <a:pt x="1500326" y="727969"/>
                </a:cubicBezTo>
                <a:cubicBezTo>
                  <a:pt x="1503285" y="736847"/>
                  <a:pt x="1505019" y="746232"/>
                  <a:pt x="1509204" y="754602"/>
                </a:cubicBezTo>
                <a:cubicBezTo>
                  <a:pt x="1535330" y="806854"/>
                  <a:pt x="1522773" y="777555"/>
                  <a:pt x="1544714" y="843378"/>
                </a:cubicBezTo>
                <a:cubicBezTo>
                  <a:pt x="1553176" y="868763"/>
                  <a:pt x="1556896" y="877652"/>
                  <a:pt x="1562470" y="905522"/>
                </a:cubicBezTo>
                <a:cubicBezTo>
                  <a:pt x="1578094" y="983645"/>
                  <a:pt x="1562947" y="933588"/>
                  <a:pt x="1580225" y="985421"/>
                </a:cubicBezTo>
                <a:cubicBezTo>
                  <a:pt x="1577266" y="1077157"/>
                  <a:pt x="1578765" y="1169145"/>
                  <a:pt x="1571347" y="1260629"/>
                </a:cubicBezTo>
                <a:cubicBezTo>
                  <a:pt x="1569834" y="1279284"/>
                  <a:pt x="1563973" y="1298322"/>
                  <a:pt x="1553592" y="1313895"/>
                </a:cubicBezTo>
                <a:cubicBezTo>
                  <a:pt x="1531194" y="1347492"/>
                  <a:pt x="1543382" y="1332984"/>
                  <a:pt x="1518081" y="1358283"/>
                </a:cubicBezTo>
                <a:cubicBezTo>
                  <a:pt x="1512163" y="1370120"/>
                  <a:pt x="1505539" y="1381630"/>
                  <a:pt x="1500326" y="1393794"/>
                </a:cubicBezTo>
                <a:cubicBezTo>
                  <a:pt x="1496640" y="1402395"/>
                  <a:pt x="1495633" y="1412057"/>
                  <a:pt x="1491448" y="1420427"/>
                </a:cubicBezTo>
                <a:cubicBezTo>
                  <a:pt x="1479088" y="1445148"/>
                  <a:pt x="1466695" y="1454058"/>
                  <a:pt x="1447060" y="1473693"/>
                </a:cubicBezTo>
                <a:cubicBezTo>
                  <a:pt x="1422801" y="1546467"/>
                  <a:pt x="1464763" y="1433819"/>
                  <a:pt x="1384916" y="1553592"/>
                </a:cubicBezTo>
                <a:cubicBezTo>
                  <a:pt x="1367458" y="1579779"/>
                  <a:pt x="1366161" y="1585497"/>
                  <a:pt x="1340528" y="1606858"/>
                </a:cubicBezTo>
                <a:cubicBezTo>
                  <a:pt x="1332331" y="1613688"/>
                  <a:pt x="1321996" y="1617669"/>
                  <a:pt x="1313895" y="1624613"/>
                </a:cubicBezTo>
                <a:cubicBezTo>
                  <a:pt x="1301185" y="1635507"/>
                  <a:pt x="1292313" y="1650838"/>
                  <a:pt x="1278384" y="1660124"/>
                </a:cubicBezTo>
                <a:cubicBezTo>
                  <a:pt x="1269506" y="1666042"/>
                  <a:pt x="1260082" y="1671214"/>
                  <a:pt x="1251751" y="1677879"/>
                </a:cubicBezTo>
                <a:cubicBezTo>
                  <a:pt x="1245215" y="1683108"/>
                  <a:pt x="1239225" y="1689099"/>
                  <a:pt x="1233996" y="1695635"/>
                </a:cubicBezTo>
                <a:cubicBezTo>
                  <a:pt x="1227331" y="1703967"/>
                  <a:pt x="1224573" y="1715603"/>
                  <a:pt x="1216241" y="1722268"/>
                </a:cubicBezTo>
                <a:cubicBezTo>
                  <a:pt x="1208934" y="1728114"/>
                  <a:pt x="1198486" y="1728186"/>
                  <a:pt x="1189608" y="1731145"/>
                </a:cubicBezTo>
                <a:cubicBezTo>
                  <a:pt x="1183689" y="1737064"/>
                  <a:pt x="1179339" y="1745158"/>
                  <a:pt x="1171852" y="1748901"/>
                </a:cubicBezTo>
                <a:cubicBezTo>
                  <a:pt x="1155112" y="1757271"/>
                  <a:pt x="1136341" y="1760738"/>
                  <a:pt x="1118586" y="1766656"/>
                </a:cubicBezTo>
                <a:cubicBezTo>
                  <a:pt x="1109708" y="1769615"/>
                  <a:pt x="1099739" y="1770343"/>
                  <a:pt x="1091953" y="1775534"/>
                </a:cubicBezTo>
                <a:cubicBezTo>
                  <a:pt x="1083075" y="1781452"/>
                  <a:pt x="1075070" y="1788956"/>
                  <a:pt x="1065320" y="1793289"/>
                </a:cubicBezTo>
                <a:cubicBezTo>
                  <a:pt x="1048217" y="1800890"/>
                  <a:pt x="1029809" y="1805126"/>
                  <a:pt x="1012054" y="1811044"/>
                </a:cubicBezTo>
                <a:lnTo>
                  <a:pt x="958788" y="1828800"/>
                </a:lnTo>
                <a:lnTo>
                  <a:pt x="932155" y="1837677"/>
                </a:lnTo>
                <a:cubicBezTo>
                  <a:pt x="923277" y="1840636"/>
                  <a:pt x="914600" y="1844285"/>
                  <a:pt x="905522" y="1846555"/>
                </a:cubicBezTo>
                <a:cubicBezTo>
                  <a:pt x="893685" y="1849514"/>
                  <a:pt x="882176" y="1854497"/>
                  <a:pt x="870011" y="1855433"/>
                </a:cubicBezTo>
                <a:cubicBezTo>
                  <a:pt x="843456" y="1857476"/>
                  <a:pt x="816745" y="1855433"/>
                  <a:pt x="790112" y="185543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45024" y="3451916"/>
            <a:ext cx="351378" cy="369332"/>
          </a:xfrm>
          <a:prstGeom prst="rect">
            <a:avLst/>
          </a:prstGeom>
          <a:noFill/>
        </p:spPr>
        <p:txBody>
          <a:bodyPr wrap="none" rtlCol="0">
            <a:spAutoFit/>
          </a:bodyPr>
          <a:lstStyle/>
          <a:p>
            <a:r>
              <a:rPr lang="en-US" altLang="zh-CN" b="1" dirty="0" smtClean="0">
                <a:solidFill>
                  <a:srgbClr val="FF0000"/>
                </a:solidFill>
              </a:rPr>
              <a:t>U</a:t>
            </a:r>
            <a:endParaRPr lang="zh-CN" altLang="en-US" b="1" dirty="0">
              <a:solidFill>
                <a:srgbClr val="FF0000"/>
              </a:solidFill>
            </a:endParaRPr>
          </a:p>
        </p:txBody>
      </p:sp>
      <p:sp>
        <p:nvSpPr>
          <p:cNvPr id="49" name="文本框 48"/>
          <p:cNvSpPr txBox="1"/>
          <p:nvPr/>
        </p:nvSpPr>
        <p:spPr>
          <a:xfrm>
            <a:off x="2541803" y="3493307"/>
            <a:ext cx="569451" cy="369332"/>
          </a:xfrm>
          <a:prstGeom prst="rect">
            <a:avLst/>
          </a:prstGeom>
          <a:noFill/>
        </p:spPr>
        <p:txBody>
          <a:bodyPr wrap="none" rtlCol="0">
            <a:spAutoFit/>
          </a:bodyPr>
          <a:lstStyle/>
          <a:p>
            <a:r>
              <a:rPr lang="en-US" altLang="zh-CN" b="1" dirty="0" smtClean="0">
                <a:solidFill>
                  <a:srgbClr val="FF0000"/>
                </a:solidFill>
              </a:rPr>
              <a:t>V-U</a:t>
            </a:r>
            <a:endParaRPr lang="zh-CN" altLang="en-US" b="1" dirty="0">
              <a:solidFill>
                <a:srgbClr val="FF0000"/>
              </a:solidFill>
            </a:endParaRPr>
          </a:p>
        </p:txBody>
      </p:sp>
      <p:cxnSp>
        <p:nvCxnSpPr>
          <p:cNvPr id="51" name="直接连接符 50"/>
          <p:cNvCxnSpPr/>
          <p:nvPr/>
        </p:nvCxnSpPr>
        <p:spPr>
          <a:xfrm flipH="1">
            <a:off x="3921711" y="2590800"/>
            <a:ext cx="22194" cy="217511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522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2229" name="Rectangle 3"/>
          <p:cNvSpPr>
            <a:spLocks noGrp="1" noChangeArrowheads="1"/>
          </p:cNvSpPr>
          <p:nvPr>
            <p:ph type="body" idx="1"/>
          </p:nvPr>
        </p:nvSpPr>
        <p:spPr>
          <a:xfrm>
            <a:off x="457200" y="1152525"/>
            <a:ext cx="8229600" cy="3419475"/>
          </a:xfrm>
          <a:ln>
            <a:solidFill>
              <a:schemeClr val="accent1"/>
            </a:solidFill>
          </a:ln>
        </p:spPr>
        <p:txBody>
          <a:bodyPr/>
          <a:lstStyle/>
          <a:p>
            <a:pPr marL="0" indent="0" eaLnBrk="1" hangingPunct="1">
              <a:buNone/>
            </a:pPr>
            <a:r>
              <a:rPr lang="en-US" altLang="zh-CN" sz="2400" b="1" dirty="0">
                <a:solidFill>
                  <a:schemeClr val="accent2"/>
                </a:solidFill>
                <a:ea typeface="华文楷体" panose="02010600040101010101" pitchFamily="2" charset="-122"/>
              </a:rPr>
              <a:t>[Prim</a:t>
            </a:r>
            <a:r>
              <a:rPr lang="zh-CN" altLang="en-US" sz="2400" b="1" dirty="0">
                <a:solidFill>
                  <a:schemeClr val="accent2"/>
                </a:solidFill>
                <a:ea typeface="华文楷体" panose="02010600040101010101" pitchFamily="2" charset="-122"/>
              </a:rPr>
              <a:t>算法</a:t>
            </a:r>
            <a:r>
              <a:rPr lang="en-US" altLang="zh-CN" sz="2400" b="1" dirty="0">
                <a:solidFill>
                  <a:schemeClr val="accent2"/>
                </a:solidFill>
                <a:ea typeface="华文楷体" panose="02010600040101010101" pitchFamily="2" charset="-122"/>
              </a:rPr>
              <a:t>]</a:t>
            </a:r>
            <a:endParaRPr lang="en-US" altLang="zh-CN" sz="2400" b="1" dirty="0">
              <a:solidFill>
                <a:schemeClr val="accent2"/>
              </a:solidFill>
              <a:ea typeface="华文楷体" panose="02010600040101010101" pitchFamily="2" charset="-122"/>
            </a:endParaRPr>
          </a:p>
          <a:p>
            <a:pPr marL="0" indent="0" eaLnBrk="1" hangingPunct="1">
              <a:buNone/>
            </a:pPr>
            <a:r>
              <a:rPr lang="zh-CN" altLang="en-US" sz="2400" dirty="0" smtClean="0">
                <a:ea typeface="华文楷体" panose="02010600040101010101" pitchFamily="2" charset="-122"/>
              </a:rPr>
              <a:t>利用</a:t>
            </a:r>
            <a:r>
              <a:rPr lang="en-US" altLang="zh-CN" sz="2400" dirty="0" smtClean="0">
                <a:ea typeface="华文楷体" panose="02010600040101010101" pitchFamily="2" charset="-122"/>
              </a:rPr>
              <a:t>prim</a:t>
            </a:r>
            <a:r>
              <a:rPr lang="zh-CN" altLang="en-US" sz="2400" dirty="0" smtClean="0">
                <a:ea typeface="华文楷体" panose="02010600040101010101" pitchFamily="2" charset="-122"/>
              </a:rPr>
              <a:t>算法从指定顶点</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开始构造最小生成树的步骤如下：</a:t>
            </a:r>
            <a:endParaRPr lang="en-US" altLang="zh-CN" sz="2400" dirty="0" smtClean="0">
              <a:ea typeface="华文楷体" panose="02010600040101010101" pitchFamily="2" charset="-122"/>
            </a:endParaRPr>
          </a:p>
          <a:p>
            <a:pPr marL="0" indent="0" eaLnBrk="1" hangingPunct="1">
              <a:buNone/>
            </a:pPr>
            <a:r>
              <a:rPr lang="zh-CN" altLang="zh-CN" sz="2400" dirty="0" smtClean="0">
                <a:latin typeface="宋体" panose="02010600030101010101" pitchFamily="2" charset="-122"/>
                <a:ea typeface="华文楷体" panose="02010600040101010101" pitchFamily="2" charset="-122"/>
              </a:rPr>
              <a:t>⑴</a:t>
            </a:r>
            <a:r>
              <a:rPr lang="zh-CN" altLang="en-US" sz="2400" dirty="0" smtClean="0">
                <a:ea typeface="华文楷体" panose="02010600040101010101" pitchFamily="2" charset="-122"/>
              </a:rPr>
              <a:t>初始化</a:t>
            </a:r>
            <a:r>
              <a:rPr lang="en-US" altLang="zh-CN" sz="2400" dirty="0">
                <a:ea typeface="华文楷体" panose="02010600040101010101" pitchFamily="2" charset="-122"/>
              </a:rPr>
              <a:t>U={v</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，将</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到其他顶点的所有边作为候选边。</a:t>
            </a:r>
            <a:endParaRPr lang="en-US" altLang="zh-CN" sz="2400" dirty="0">
              <a:ea typeface="华文楷体" panose="02010600040101010101" pitchFamily="2" charset="-122"/>
            </a:endParaRPr>
          </a:p>
          <a:p>
            <a:pPr marL="0" indent="0" eaLnBrk="1" hangingPunct="1">
              <a:buNone/>
            </a:pPr>
            <a:r>
              <a:rPr lang="zh-CN" altLang="en-US" sz="2400" dirty="0">
                <a:latin typeface="宋体" panose="02010600030101010101" pitchFamily="2" charset="-122"/>
                <a:ea typeface="华文楷体" panose="02010600040101010101" pitchFamily="2" charset="-122"/>
              </a:rPr>
              <a:t>⑵</a:t>
            </a:r>
            <a:r>
              <a:rPr lang="zh-CN" altLang="en-US" sz="2400" dirty="0" smtClean="0">
                <a:ea typeface="华文楷体" panose="02010600040101010101" pitchFamily="2" charset="-122"/>
              </a:rPr>
              <a:t>重复以下</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个步骤</a:t>
            </a:r>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次，直到其他</a:t>
            </a:r>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个顶点加入到</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中。</a:t>
            </a:r>
            <a:endParaRPr lang="en-US" altLang="zh-CN" sz="2400" dirty="0" smtClean="0">
              <a:ea typeface="华文楷体" panose="02010600040101010101" pitchFamily="2" charset="-122"/>
            </a:endParaRPr>
          </a:p>
          <a:p>
            <a:pPr marL="0" indent="0" eaLnBrk="1" hangingPunct="1">
              <a:buNone/>
            </a:pPr>
            <a:r>
              <a:rPr lang="en-US" altLang="zh-CN" sz="2400" dirty="0">
                <a:ea typeface="华文楷体" panose="02010600040101010101" pitchFamily="2" charset="-122"/>
              </a:rPr>
              <a:t>    ①</a:t>
            </a:r>
            <a:r>
              <a:rPr lang="zh-CN" altLang="en-US" sz="2400" dirty="0">
                <a:ea typeface="华文楷体" panose="02010600040101010101" pitchFamily="2" charset="-122"/>
              </a:rPr>
              <a:t>从候选边中挑选权值最小的</a:t>
            </a:r>
            <a:r>
              <a:rPr lang="zh-CN" altLang="en-US" sz="2400" dirty="0" smtClean="0">
                <a:ea typeface="华文楷体" panose="02010600040101010101" pitchFamily="2" charset="-122"/>
              </a:rPr>
              <a:t>边作为树边输出</a:t>
            </a:r>
            <a:r>
              <a:rPr lang="zh-CN" altLang="en-US" sz="2400" dirty="0">
                <a:ea typeface="华文楷体" panose="02010600040101010101" pitchFamily="2" charset="-122"/>
              </a:rPr>
              <a:t>，设该边在</a:t>
            </a:r>
            <a:r>
              <a:rPr lang="en-US" altLang="zh-CN" sz="2400" dirty="0" smtClean="0">
                <a:ea typeface="华文楷体" panose="02010600040101010101" pitchFamily="2" charset="-122"/>
              </a:rPr>
              <a:t>V-U</a:t>
            </a:r>
            <a:r>
              <a:rPr lang="zh-CN" altLang="en-US" sz="2400" dirty="0" smtClean="0">
                <a:ea typeface="华文楷体" panose="02010600040101010101" pitchFamily="2" charset="-122"/>
              </a:rPr>
              <a:t>中的顶点为</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，将</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加入到集合</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中。</a:t>
            </a:r>
            <a:endParaRPr lang="en-US" altLang="zh-CN" sz="2400" dirty="0" smtClean="0">
              <a:ea typeface="华文楷体" panose="02010600040101010101" pitchFamily="2" charset="-122"/>
            </a:endParaRPr>
          </a:p>
          <a:p>
            <a:pPr marL="0" indent="0" eaLnBrk="1" hangingPunct="1">
              <a:buNone/>
            </a:pPr>
            <a:r>
              <a:rPr lang="en-US" altLang="zh-CN" sz="2400" dirty="0">
                <a:ea typeface="华文楷体" panose="02010600040101010101" pitchFamily="2" charset="-122"/>
              </a:rPr>
              <a:t>    ②</a:t>
            </a:r>
            <a:r>
              <a:rPr lang="zh-CN" altLang="en-US" sz="2400" dirty="0">
                <a:ea typeface="华文楷体" panose="02010600040101010101" pitchFamily="2" charset="-122"/>
              </a:rPr>
              <a:t>考察</a:t>
            </a:r>
            <a:r>
              <a:rPr lang="zh-CN" altLang="en-US" sz="2400" dirty="0" smtClean="0">
                <a:ea typeface="华文楷体" panose="02010600040101010101" pitchFamily="2" charset="-122"/>
              </a:rPr>
              <a:t>当前</a:t>
            </a:r>
            <a:r>
              <a:rPr lang="en-US" altLang="zh-CN" sz="2400" dirty="0" smtClean="0">
                <a:ea typeface="华文楷体" panose="02010600040101010101" pitchFamily="2" charset="-122"/>
              </a:rPr>
              <a:t>V-U</a:t>
            </a:r>
            <a:r>
              <a:rPr lang="zh-CN" altLang="en-US" sz="2400" dirty="0" smtClean="0">
                <a:ea typeface="华文楷体" panose="02010600040101010101" pitchFamily="2" charset="-122"/>
              </a:rPr>
              <a:t>集合中的所有顶点</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，修正侯选边：若</a:t>
            </a:r>
            <a:r>
              <a:rPr lang="en-US" altLang="zh-CN" sz="2400" dirty="0" smtClean="0">
                <a:ea typeface="华文楷体" panose="02010600040101010101" pitchFamily="2" charset="-122"/>
              </a:rPr>
              <a:t>w(k, j)</a:t>
            </a:r>
            <a:r>
              <a:rPr lang="zh-CN" altLang="en-US" sz="2400" dirty="0" smtClean="0">
                <a:ea typeface="华文楷体" panose="02010600040101010101" pitchFamily="2" charset="-122"/>
              </a:rPr>
              <a:t>小于原来的侯选边权值，则</a:t>
            </a:r>
            <a:r>
              <a:rPr lang="en-US" altLang="zh-CN" sz="2400" dirty="0">
                <a:ea typeface="华文楷体" panose="02010600040101010101" pitchFamily="2" charset="-122"/>
              </a:rPr>
              <a:t>(k, 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取代后者作为新的侯选边。</a:t>
            </a:r>
            <a:endParaRPr lang="en-US" altLang="zh-CN" sz="2400" dirty="0">
              <a:ea typeface="华文楷体" panose="02010600040101010101" pitchFamily="2" charset="-122"/>
            </a:endParaRPr>
          </a:p>
        </p:txBody>
      </p:sp>
      <p:sp>
        <p:nvSpPr>
          <p:cNvPr id="2" name="文本框 1"/>
          <p:cNvSpPr txBox="1"/>
          <p:nvPr/>
        </p:nvSpPr>
        <p:spPr>
          <a:xfrm>
            <a:off x="457200" y="4876800"/>
            <a:ext cx="8229600" cy="923330"/>
          </a:xfrm>
          <a:prstGeom prst="rect">
            <a:avLst/>
          </a:prstGeom>
          <a:noFill/>
          <a:ln>
            <a:solidFill>
              <a:schemeClr val="accent1"/>
            </a:solidFill>
          </a:ln>
        </p:spPr>
        <p:txBody>
          <a:bodyPr wrap="square" rtlCol="0">
            <a:spAutoFit/>
          </a:bodyPr>
          <a:lstStyle/>
          <a:p>
            <a:r>
              <a:rPr lang="zh-CN" altLang="en-US" b="1" dirty="0" smtClean="0">
                <a:solidFill>
                  <a:srgbClr val="C00000"/>
                </a:solidFill>
                <a:ea typeface="华文楷体" panose="02010600040101010101" pitchFamily="2" charset="-122"/>
              </a:rPr>
              <a:t>说明</a:t>
            </a:r>
            <a:r>
              <a:rPr lang="zh-CN" altLang="en-US" dirty="0" smtClean="0">
                <a:ea typeface="华文楷体" panose="02010600040101010101" pitchFamily="2" charset="-122"/>
              </a:rPr>
              <a:t>：</a:t>
            </a:r>
            <a:r>
              <a:rPr lang="en-US" altLang="zh-CN" dirty="0" smtClean="0">
                <a:ea typeface="华文楷体" panose="02010600040101010101" pitchFamily="2" charset="-122"/>
              </a:rPr>
              <a:t> </a:t>
            </a:r>
            <a:r>
              <a:rPr lang="en-US" altLang="zh-CN" dirty="0">
                <a:ea typeface="华文楷体" panose="02010600040101010101" pitchFamily="2" charset="-122"/>
              </a:rPr>
              <a:t>prim</a:t>
            </a:r>
            <a:r>
              <a:rPr lang="zh-CN" altLang="en-US" dirty="0" smtClean="0">
                <a:ea typeface="华文楷体" panose="02010600040101010101" pitchFamily="2" charset="-122"/>
              </a:rPr>
              <a:t>算法是将顶点分为两个部分，</a:t>
            </a:r>
            <a:r>
              <a:rPr lang="en-US" altLang="zh-CN" dirty="0" smtClean="0">
                <a:ea typeface="华文楷体" panose="02010600040101010101" pitchFamily="2" charset="-122"/>
              </a:rPr>
              <a:t>U</a:t>
            </a:r>
            <a:r>
              <a:rPr lang="zh-CN" altLang="en-US" dirty="0" smtClean="0">
                <a:ea typeface="华文楷体" panose="02010600040101010101" pitchFamily="2" charset="-122"/>
              </a:rPr>
              <a:t>和</a:t>
            </a:r>
            <a:r>
              <a:rPr lang="en-US" altLang="zh-CN" dirty="0" smtClean="0">
                <a:ea typeface="华文楷体" panose="02010600040101010101" pitchFamily="2" charset="-122"/>
              </a:rPr>
              <a:t>V-U</a:t>
            </a:r>
            <a:r>
              <a:rPr lang="zh-CN" altLang="en-US" dirty="0" smtClean="0">
                <a:ea typeface="华文楷体" panose="02010600040101010101" pitchFamily="2" charset="-122"/>
              </a:rPr>
              <a:t>集合，利用</a:t>
            </a:r>
            <a:r>
              <a:rPr lang="en-US" altLang="zh-CN" dirty="0" smtClean="0">
                <a:ea typeface="华文楷体" panose="02010600040101010101" pitchFamily="2" charset="-122"/>
              </a:rPr>
              <a:t>MST</a:t>
            </a:r>
            <a:r>
              <a:rPr lang="zh-CN" altLang="en-US" dirty="0" smtClean="0">
                <a:ea typeface="华文楷体" panose="02010600040101010101" pitchFamily="2" charset="-122"/>
              </a:rPr>
              <a:t>性质，执行贪心策略：每次从中选择一个连通</a:t>
            </a:r>
            <a:r>
              <a:rPr lang="en-US" altLang="zh-CN" dirty="0">
                <a:ea typeface="华文楷体" panose="02010600040101010101" pitchFamily="2" charset="-122"/>
              </a:rPr>
              <a:t>U</a:t>
            </a:r>
            <a:r>
              <a:rPr lang="zh-CN" altLang="en-US" dirty="0">
                <a:ea typeface="华文楷体" panose="02010600040101010101" pitchFamily="2" charset="-122"/>
              </a:rPr>
              <a:t>和</a:t>
            </a:r>
            <a:r>
              <a:rPr lang="en-US" altLang="zh-CN" dirty="0">
                <a:ea typeface="华文楷体" panose="02010600040101010101" pitchFamily="2" charset="-122"/>
              </a:rPr>
              <a:t>V-U</a:t>
            </a:r>
            <a:r>
              <a:rPr lang="zh-CN" altLang="en-US" dirty="0" smtClean="0">
                <a:ea typeface="华文楷体" panose="02010600040101010101" pitchFamily="2" charset="-122"/>
              </a:rPr>
              <a:t>集合中权值最小的边作为树边加入，再调整</a:t>
            </a:r>
            <a:r>
              <a:rPr lang="en-US" altLang="zh-CN" dirty="0">
                <a:ea typeface="华文楷体" panose="02010600040101010101" pitchFamily="2" charset="-122"/>
              </a:rPr>
              <a:t>U</a:t>
            </a:r>
            <a:r>
              <a:rPr lang="zh-CN" altLang="en-US" dirty="0">
                <a:ea typeface="华文楷体" panose="02010600040101010101" pitchFamily="2" charset="-122"/>
              </a:rPr>
              <a:t>和</a:t>
            </a:r>
            <a:r>
              <a:rPr lang="en-US" altLang="zh-CN" dirty="0">
                <a:ea typeface="华文楷体" panose="02010600040101010101" pitchFamily="2" charset="-122"/>
              </a:rPr>
              <a:t>V-U</a:t>
            </a:r>
            <a:r>
              <a:rPr lang="zh-CN" altLang="en-US" dirty="0" smtClean="0">
                <a:ea typeface="华文楷体" panose="02010600040101010101" pitchFamily="2" charset="-122"/>
              </a:rPr>
              <a:t>集合，和连通两个顶点集的侯选边。</a:t>
            </a:r>
            <a:endParaRPr lang="zh-CN" altLang="en-US" dirty="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页脚占位符 3"/>
          <p:cNvSpPr>
            <a:spLocks noGrp="1"/>
          </p:cNvSpPr>
          <p:nvPr>
            <p:ph type="ftr" sz="quarter" idx="10"/>
          </p:nvPr>
        </p:nvSpPr>
        <p:spPr/>
        <p:txBody>
          <a:bodyPr/>
          <a:lstStyle/>
          <a:p>
            <a:pPr>
              <a:defRPr/>
            </a:pPr>
            <a:r>
              <a:rPr lang="en-US" altLang="zh-CN"/>
              <a:t>BUPT SCST</a:t>
            </a:r>
            <a:endParaRPr lang="en-US" altLang="zh-CN"/>
          </a:p>
        </p:txBody>
      </p:sp>
      <p:sp>
        <p:nvSpPr>
          <p:cNvPr id="211" name="日期占位符 5"/>
          <p:cNvSpPr>
            <a:spLocks noGrp="1"/>
          </p:cNvSpPr>
          <p:nvPr>
            <p:ph type="dt" sz="quarter" idx="12"/>
          </p:nvPr>
        </p:nvSpPr>
        <p:spPr/>
        <p:txBody>
          <a:bodyPr/>
          <a:lstStyle/>
          <a:p>
            <a:pPr>
              <a:defRPr/>
            </a:pPr>
            <a:r>
              <a:rPr lang="en-US" altLang="zh-CN"/>
              <a:t>BUPT</a:t>
            </a:r>
            <a:endParaRPr lang="en-US" altLang="zh-CN"/>
          </a:p>
        </p:txBody>
      </p:sp>
      <p:sp>
        <p:nvSpPr>
          <p:cNvPr id="53252" name="Rectangle 2"/>
          <p:cNvSpPr>
            <a:spLocks noGrp="1" noChangeArrowheads="1"/>
          </p:cNvSpPr>
          <p:nvPr>
            <p:ph type="body" idx="1"/>
          </p:nvPr>
        </p:nvSpPr>
        <p:spPr>
          <a:xfrm>
            <a:off x="114300" y="1217613"/>
            <a:ext cx="7772400" cy="4724400"/>
          </a:xfrm>
          <a:noFill/>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示例</a:t>
            </a: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p:txBody>
      </p:sp>
      <p:sp>
        <p:nvSpPr>
          <p:cNvPr id="53253" name="Text Box 3"/>
          <p:cNvSpPr txBox="1">
            <a:spLocks noChangeArrowheads="1"/>
          </p:cNvSpPr>
          <p:nvPr/>
        </p:nvSpPr>
        <p:spPr bwMode="auto">
          <a:xfrm>
            <a:off x="2743200" y="3429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254" name="Oval 4"/>
          <p:cNvSpPr>
            <a:spLocks noChangeArrowheads="1"/>
          </p:cNvSpPr>
          <p:nvPr/>
        </p:nvSpPr>
        <p:spPr bwMode="auto">
          <a:xfrm>
            <a:off x="6858000" y="1676400"/>
            <a:ext cx="381000" cy="39528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55" name="Oval 5"/>
          <p:cNvSpPr>
            <a:spLocks noChangeArrowheads="1"/>
          </p:cNvSpPr>
          <p:nvPr/>
        </p:nvSpPr>
        <p:spPr bwMode="auto">
          <a:xfrm>
            <a:off x="6019800" y="21510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56" name="Oval 6"/>
          <p:cNvSpPr>
            <a:spLocks noChangeArrowheads="1"/>
          </p:cNvSpPr>
          <p:nvPr/>
        </p:nvSpPr>
        <p:spPr bwMode="auto">
          <a:xfrm>
            <a:off x="7467600" y="21510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57" name="Oval 7"/>
          <p:cNvSpPr>
            <a:spLocks noChangeArrowheads="1"/>
          </p:cNvSpPr>
          <p:nvPr/>
        </p:nvSpPr>
        <p:spPr bwMode="auto">
          <a:xfrm>
            <a:off x="6781800" y="27051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58" name="Oval 8"/>
          <p:cNvSpPr>
            <a:spLocks noChangeArrowheads="1"/>
          </p:cNvSpPr>
          <p:nvPr/>
        </p:nvSpPr>
        <p:spPr bwMode="auto">
          <a:xfrm>
            <a:off x="5943600" y="32591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59" name="Oval 9"/>
          <p:cNvSpPr>
            <a:spLocks noChangeArrowheads="1"/>
          </p:cNvSpPr>
          <p:nvPr/>
        </p:nvSpPr>
        <p:spPr bwMode="auto">
          <a:xfrm>
            <a:off x="7543800" y="32591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60" name="Text Box 10"/>
          <p:cNvSpPr txBox="1">
            <a:spLocks noChangeArrowheads="1"/>
          </p:cNvSpPr>
          <p:nvPr/>
        </p:nvSpPr>
        <p:spPr bwMode="auto">
          <a:xfrm>
            <a:off x="6858000" y="167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261" name="Text Box 11"/>
          <p:cNvSpPr txBox="1">
            <a:spLocks noChangeArrowheads="1"/>
          </p:cNvSpPr>
          <p:nvPr/>
        </p:nvSpPr>
        <p:spPr bwMode="auto">
          <a:xfrm>
            <a:off x="6096000" y="2151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262" name="Text Box 12"/>
          <p:cNvSpPr txBox="1">
            <a:spLocks noChangeArrowheads="1"/>
          </p:cNvSpPr>
          <p:nvPr/>
        </p:nvSpPr>
        <p:spPr bwMode="auto">
          <a:xfrm>
            <a:off x="6858000" y="2705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263" name="Text Box 13"/>
          <p:cNvSpPr txBox="1">
            <a:spLocks noChangeArrowheads="1"/>
          </p:cNvSpPr>
          <p:nvPr/>
        </p:nvSpPr>
        <p:spPr bwMode="auto">
          <a:xfrm>
            <a:off x="7467600" y="2151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264" name="Text Box 14"/>
          <p:cNvSpPr txBox="1">
            <a:spLocks noChangeArrowheads="1"/>
          </p:cNvSpPr>
          <p:nvPr/>
        </p:nvSpPr>
        <p:spPr bwMode="auto">
          <a:xfrm>
            <a:off x="6019800" y="32591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265" name="Line 15"/>
          <p:cNvSpPr>
            <a:spLocks noChangeShapeType="1"/>
          </p:cNvSpPr>
          <p:nvPr/>
        </p:nvSpPr>
        <p:spPr bwMode="auto">
          <a:xfrm flipV="1">
            <a:off x="6324600" y="1914525"/>
            <a:ext cx="533400" cy="315913"/>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66" name="Line 16"/>
          <p:cNvSpPr>
            <a:spLocks noChangeShapeType="1"/>
          </p:cNvSpPr>
          <p:nvPr/>
        </p:nvSpPr>
        <p:spPr bwMode="auto">
          <a:xfrm>
            <a:off x="6248400" y="2625725"/>
            <a:ext cx="0" cy="633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67" name="Line 17"/>
          <p:cNvSpPr>
            <a:spLocks noChangeShapeType="1"/>
          </p:cNvSpPr>
          <p:nvPr/>
        </p:nvSpPr>
        <p:spPr bwMode="auto">
          <a:xfrm>
            <a:off x="7239000" y="1914525"/>
            <a:ext cx="304800" cy="23653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68" name="Line 18"/>
          <p:cNvSpPr>
            <a:spLocks noChangeShapeType="1"/>
          </p:cNvSpPr>
          <p:nvPr/>
        </p:nvSpPr>
        <p:spPr bwMode="auto">
          <a:xfrm>
            <a:off x="6324600" y="3497263"/>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69" name="Line 19"/>
          <p:cNvSpPr>
            <a:spLocks noChangeShapeType="1"/>
          </p:cNvSpPr>
          <p:nvPr/>
        </p:nvSpPr>
        <p:spPr bwMode="auto">
          <a:xfrm>
            <a:off x="7696200" y="2546350"/>
            <a:ext cx="0" cy="7127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0" name="Line 20"/>
          <p:cNvSpPr>
            <a:spLocks noChangeShapeType="1"/>
          </p:cNvSpPr>
          <p:nvPr/>
        </p:nvSpPr>
        <p:spPr bwMode="auto">
          <a:xfrm flipV="1">
            <a:off x="6324600" y="3022600"/>
            <a:ext cx="533400" cy="395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1" name="Line 21"/>
          <p:cNvSpPr>
            <a:spLocks noChangeShapeType="1"/>
          </p:cNvSpPr>
          <p:nvPr/>
        </p:nvSpPr>
        <p:spPr bwMode="auto">
          <a:xfrm>
            <a:off x="7162800" y="3022600"/>
            <a:ext cx="457200" cy="315913"/>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2" name="Line 22"/>
          <p:cNvSpPr>
            <a:spLocks noChangeShapeType="1"/>
          </p:cNvSpPr>
          <p:nvPr/>
        </p:nvSpPr>
        <p:spPr bwMode="auto">
          <a:xfrm>
            <a:off x="6400800" y="2389188"/>
            <a:ext cx="381000" cy="395287"/>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3" name="Line 23"/>
          <p:cNvSpPr>
            <a:spLocks noChangeShapeType="1"/>
          </p:cNvSpPr>
          <p:nvPr/>
        </p:nvSpPr>
        <p:spPr bwMode="auto">
          <a:xfrm flipH="1">
            <a:off x="7086600" y="2546350"/>
            <a:ext cx="457200" cy="23812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4" name="Line 24"/>
          <p:cNvSpPr>
            <a:spLocks noChangeShapeType="1"/>
          </p:cNvSpPr>
          <p:nvPr/>
        </p:nvSpPr>
        <p:spPr bwMode="auto">
          <a:xfrm>
            <a:off x="7010400" y="2071688"/>
            <a:ext cx="0" cy="633412"/>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75" name="Text Box 25"/>
          <p:cNvSpPr txBox="1">
            <a:spLocks noChangeArrowheads="1"/>
          </p:cNvSpPr>
          <p:nvPr/>
        </p:nvSpPr>
        <p:spPr bwMode="auto">
          <a:xfrm>
            <a:off x="6324600" y="1752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276" name="Text Box 26"/>
          <p:cNvSpPr txBox="1">
            <a:spLocks noChangeArrowheads="1"/>
          </p:cNvSpPr>
          <p:nvPr/>
        </p:nvSpPr>
        <p:spPr bwMode="auto">
          <a:xfrm>
            <a:off x="7315200" y="167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277" name="Text Box 27"/>
          <p:cNvSpPr txBox="1">
            <a:spLocks noChangeArrowheads="1"/>
          </p:cNvSpPr>
          <p:nvPr/>
        </p:nvSpPr>
        <p:spPr bwMode="auto">
          <a:xfrm>
            <a:off x="6477000" y="228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278" name="Text Box 28"/>
          <p:cNvSpPr txBox="1">
            <a:spLocks noChangeArrowheads="1"/>
          </p:cNvSpPr>
          <p:nvPr/>
        </p:nvSpPr>
        <p:spPr bwMode="auto">
          <a:xfrm>
            <a:off x="6934200" y="20716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279" name="Text Box 29"/>
          <p:cNvSpPr txBox="1">
            <a:spLocks noChangeArrowheads="1"/>
          </p:cNvSpPr>
          <p:nvPr/>
        </p:nvSpPr>
        <p:spPr bwMode="auto">
          <a:xfrm>
            <a:off x="7086600" y="2362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280" name="Text Box 30"/>
          <p:cNvSpPr txBox="1">
            <a:spLocks noChangeArrowheads="1"/>
          </p:cNvSpPr>
          <p:nvPr/>
        </p:nvSpPr>
        <p:spPr bwMode="auto">
          <a:xfrm>
            <a:off x="6019800" y="2705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281" name="Text Box 31"/>
          <p:cNvSpPr txBox="1">
            <a:spLocks noChangeArrowheads="1"/>
          </p:cNvSpPr>
          <p:nvPr/>
        </p:nvSpPr>
        <p:spPr bwMode="auto">
          <a:xfrm>
            <a:off x="6400800" y="2895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282" name="Text Box 32"/>
          <p:cNvSpPr txBox="1">
            <a:spLocks noChangeArrowheads="1"/>
          </p:cNvSpPr>
          <p:nvPr/>
        </p:nvSpPr>
        <p:spPr bwMode="auto">
          <a:xfrm>
            <a:off x="6781800" y="310197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283" name="Text Box 33"/>
          <p:cNvSpPr txBox="1">
            <a:spLocks noChangeArrowheads="1"/>
          </p:cNvSpPr>
          <p:nvPr/>
        </p:nvSpPr>
        <p:spPr bwMode="auto">
          <a:xfrm>
            <a:off x="7315200" y="2863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284" name="Oval 34"/>
          <p:cNvSpPr>
            <a:spLocks noChangeArrowheads="1"/>
          </p:cNvSpPr>
          <p:nvPr/>
        </p:nvSpPr>
        <p:spPr bwMode="auto">
          <a:xfrm>
            <a:off x="4343400" y="1752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85" name="Oval 35"/>
          <p:cNvSpPr>
            <a:spLocks noChangeArrowheads="1"/>
          </p:cNvSpPr>
          <p:nvPr/>
        </p:nvSpPr>
        <p:spPr bwMode="auto">
          <a:xfrm>
            <a:off x="3505200" y="2209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86" name="Oval 36"/>
          <p:cNvSpPr>
            <a:spLocks noChangeArrowheads="1"/>
          </p:cNvSpPr>
          <p:nvPr/>
        </p:nvSpPr>
        <p:spPr bwMode="auto">
          <a:xfrm>
            <a:off x="4953000" y="2209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87" name="Oval 37"/>
          <p:cNvSpPr>
            <a:spLocks noChangeArrowheads="1"/>
          </p:cNvSpPr>
          <p:nvPr/>
        </p:nvSpPr>
        <p:spPr bwMode="auto">
          <a:xfrm>
            <a:off x="4267200" y="2743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88" name="Oval 38"/>
          <p:cNvSpPr>
            <a:spLocks noChangeArrowheads="1"/>
          </p:cNvSpPr>
          <p:nvPr/>
        </p:nvSpPr>
        <p:spPr bwMode="auto">
          <a:xfrm>
            <a:off x="3429000" y="3276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89" name="Oval 39"/>
          <p:cNvSpPr>
            <a:spLocks noChangeArrowheads="1"/>
          </p:cNvSpPr>
          <p:nvPr/>
        </p:nvSpPr>
        <p:spPr bwMode="auto">
          <a:xfrm>
            <a:off x="5029200" y="3276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290" name="Text Box 40"/>
          <p:cNvSpPr txBox="1">
            <a:spLocks noChangeArrowheads="1"/>
          </p:cNvSpPr>
          <p:nvPr/>
        </p:nvSpPr>
        <p:spPr bwMode="auto">
          <a:xfrm>
            <a:off x="4419600" y="175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291" name="Text Box 41"/>
          <p:cNvSpPr txBox="1">
            <a:spLocks noChangeArrowheads="1"/>
          </p:cNvSpPr>
          <p:nvPr/>
        </p:nvSpPr>
        <p:spPr bwMode="auto">
          <a:xfrm>
            <a:off x="3581400" y="2209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292" name="Text Box 42"/>
          <p:cNvSpPr txBox="1">
            <a:spLocks noChangeArrowheads="1"/>
          </p:cNvSpPr>
          <p:nvPr/>
        </p:nvSpPr>
        <p:spPr bwMode="auto">
          <a:xfrm>
            <a:off x="4343400" y="2743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293" name="Text Box 43"/>
          <p:cNvSpPr txBox="1">
            <a:spLocks noChangeArrowheads="1"/>
          </p:cNvSpPr>
          <p:nvPr/>
        </p:nvSpPr>
        <p:spPr bwMode="auto">
          <a:xfrm>
            <a:off x="4953000" y="2209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294" name="Text Box 44"/>
          <p:cNvSpPr txBox="1">
            <a:spLocks noChangeArrowheads="1"/>
          </p:cNvSpPr>
          <p:nvPr/>
        </p:nvSpPr>
        <p:spPr bwMode="auto">
          <a:xfrm>
            <a:off x="3505200" y="3276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295" name="Line 45"/>
          <p:cNvSpPr>
            <a:spLocks noChangeShapeType="1"/>
          </p:cNvSpPr>
          <p:nvPr/>
        </p:nvSpPr>
        <p:spPr bwMode="auto">
          <a:xfrm flipV="1">
            <a:off x="3810000" y="1981200"/>
            <a:ext cx="533400" cy="30480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96" name="Line 46"/>
          <p:cNvSpPr>
            <a:spLocks noChangeShapeType="1"/>
          </p:cNvSpPr>
          <p:nvPr/>
        </p:nvSpPr>
        <p:spPr bwMode="auto">
          <a:xfrm>
            <a:off x="3657600" y="2590800"/>
            <a:ext cx="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97" name="Line 47"/>
          <p:cNvSpPr>
            <a:spLocks noChangeShapeType="1"/>
          </p:cNvSpPr>
          <p:nvPr/>
        </p:nvSpPr>
        <p:spPr bwMode="auto">
          <a:xfrm>
            <a:off x="4724400" y="1981200"/>
            <a:ext cx="304800" cy="22860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98" name="Line 48"/>
          <p:cNvSpPr>
            <a:spLocks noChangeShapeType="1"/>
          </p:cNvSpPr>
          <p:nvPr/>
        </p:nvSpPr>
        <p:spPr bwMode="auto">
          <a:xfrm>
            <a:off x="3810000" y="3505200"/>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299" name="Line 49"/>
          <p:cNvSpPr>
            <a:spLocks noChangeShapeType="1"/>
          </p:cNvSpPr>
          <p:nvPr/>
        </p:nvSpPr>
        <p:spPr bwMode="auto">
          <a:xfrm>
            <a:off x="5181600" y="2590800"/>
            <a:ext cx="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0" name="Line 50"/>
          <p:cNvSpPr>
            <a:spLocks noChangeShapeType="1"/>
          </p:cNvSpPr>
          <p:nvPr/>
        </p:nvSpPr>
        <p:spPr bwMode="auto">
          <a:xfrm flipV="1">
            <a:off x="3810000" y="3048000"/>
            <a:ext cx="5334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1" name="Line 51"/>
          <p:cNvSpPr>
            <a:spLocks noChangeShapeType="1"/>
          </p:cNvSpPr>
          <p:nvPr/>
        </p:nvSpPr>
        <p:spPr bwMode="auto">
          <a:xfrm>
            <a:off x="4648200" y="3048000"/>
            <a:ext cx="4572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2" name="Line 52"/>
          <p:cNvSpPr>
            <a:spLocks noChangeShapeType="1"/>
          </p:cNvSpPr>
          <p:nvPr/>
        </p:nvSpPr>
        <p:spPr bwMode="auto">
          <a:xfrm>
            <a:off x="3886200" y="2438400"/>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3" name="Line 53"/>
          <p:cNvSpPr>
            <a:spLocks noChangeShapeType="1"/>
          </p:cNvSpPr>
          <p:nvPr/>
        </p:nvSpPr>
        <p:spPr bwMode="auto">
          <a:xfrm flipH="1">
            <a:off x="4572000" y="2590800"/>
            <a:ext cx="457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4" name="Line 54"/>
          <p:cNvSpPr>
            <a:spLocks noChangeShapeType="1"/>
          </p:cNvSpPr>
          <p:nvPr/>
        </p:nvSpPr>
        <p:spPr bwMode="auto">
          <a:xfrm>
            <a:off x="4495800" y="2133600"/>
            <a:ext cx="0" cy="60960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05" name="Text Box 55"/>
          <p:cNvSpPr txBox="1">
            <a:spLocks noChangeArrowheads="1"/>
          </p:cNvSpPr>
          <p:nvPr/>
        </p:nvSpPr>
        <p:spPr bwMode="auto">
          <a:xfrm>
            <a:off x="3886200" y="1828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06" name="Text Box 56"/>
          <p:cNvSpPr txBox="1">
            <a:spLocks noChangeArrowheads="1"/>
          </p:cNvSpPr>
          <p:nvPr/>
        </p:nvSpPr>
        <p:spPr bwMode="auto">
          <a:xfrm>
            <a:off x="4800600" y="1752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07" name="Text Box 57"/>
          <p:cNvSpPr txBox="1">
            <a:spLocks noChangeArrowheads="1"/>
          </p:cNvSpPr>
          <p:nvPr/>
        </p:nvSpPr>
        <p:spPr bwMode="auto">
          <a:xfrm>
            <a:off x="3962400" y="228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08" name="Text Box 58"/>
          <p:cNvSpPr txBox="1">
            <a:spLocks noChangeArrowheads="1"/>
          </p:cNvSpPr>
          <p:nvPr/>
        </p:nvSpPr>
        <p:spPr bwMode="auto">
          <a:xfrm>
            <a:off x="4419600" y="2133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09" name="Text Box 59"/>
          <p:cNvSpPr txBox="1">
            <a:spLocks noChangeArrowheads="1"/>
          </p:cNvSpPr>
          <p:nvPr/>
        </p:nvSpPr>
        <p:spPr bwMode="auto">
          <a:xfrm>
            <a:off x="4648200" y="2362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10" name="Text Box 60"/>
          <p:cNvSpPr txBox="1">
            <a:spLocks noChangeArrowheads="1"/>
          </p:cNvSpPr>
          <p:nvPr/>
        </p:nvSpPr>
        <p:spPr bwMode="auto">
          <a:xfrm>
            <a:off x="3352800" y="2743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11" name="Text Box 61"/>
          <p:cNvSpPr txBox="1">
            <a:spLocks noChangeArrowheads="1"/>
          </p:cNvSpPr>
          <p:nvPr/>
        </p:nvSpPr>
        <p:spPr bwMode="auto">
          <a:xfrm>
            <a:off x="3886200" y="2895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12" name="Text Box 62"/>
          <p:cNvSpPr txBox="1">
            <a:spLocks noChangeArrowheads="1"/>
          </p:cNvSpPr>
          <p:nvPr/>
        </p:nvSpPr>
        <p:spPr bwMode="auto">
          <a:xfrm>
            <a:off x="4267200" y="3124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13" name="Text Box 63"/>
          <p:cNvSpPr txBox="1">
            <a:spLocks noChangeArrowheads="1"/>
          </p:cNvSpPr>
          <p:nvPr/>
        </p:nvSpPr>
        <p:spPr bwMode="auto">
          <a:xfrm>
            <a:off x="4800600" y="2895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14" name="Text Box 64"/>
          <p:cNvSpPr txBox="1">
            <a:spLocks noChangeArrowheads="1"/>
          </p:cNvSpPr>
          <p:nvPr/>
        </p:nvSpPr>
        <p:spPr bwMode="auto">
          <a:xfrm>
            <a:off x="5029200" y="3200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15" name="Text Box 65"/>
          <p:cNvSpPr txBox="1">
            <a:spLocks noChangeArrowheads="1"/>
          </p:cNvSpPr>
          <p:nvPr/>
        </p:nvSpPr>
        <p:spPr bwMode="auto">
          <a:xfrm>
            <a:off x="2667000" y="2743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16" name="Oval 66"/>
          <p:cNvSpPr>
            <a:spLocks noChangeArrowheads="1"/>
          </p:cNvSpPr>
          <p:nvPr/>
        </p:nvSpPr>
        <p:spPr bwMode="auto">
          <a:xfrm>
            <a:off x="2057400" y="1905000"/>
            <a:ext cx="381000" cy="395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17" name="Oval 67"/>
          <p:cNvSpPr>
            <a:spLocks noChangeArrowheads="1"/>
          </p:cNvSpPr>
          <p:nvPr/>
        </p:nvSpPr>
        <p:spPr bwMode="auto">
          <a:xfrm>
            <a:off x="1219200" y="23796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18" name="Oval 68"/>
          <p:cNvSpPr>
            <a:spLocks noChangeArrowheads="1"/>
          </p:cNvSpPr>
          <p:nvPr/>
        </p:nvSpPr>
        <p:spPr bwMode="auto">
          <a:xfrm>
            <a:off x="2667000" y="23796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19" name="Oval 69"/>
          <p:cNvSpPr>
            <a:spLocks noChangeArrowheads="1"/>
          </p:cNvSpPr>
          <p:nvPr/>
        </p:nvSpPr>
        <p:spPr bwMode="auto">
          <a:xfrm>
            <a:off x="1981200" y="2933700"/>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20" name="Oval 70"/>
          <p:cNvSpPr>
            <a:spLocks noChangeArrowheads="1"/>
          </p:cNvSpPr>
          <p:nvPr/>
        </p:nvSpPr>
        <p:spPr bwMode="auto">
          <a:xfrm>
            <a:off x="1143000" y="34877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21" name="Oval 71"/>
          <p:cNvSpPr>
            <a:spLocks noChangeArrowheads="1"/>
          </p:cNvSpPr>
          <p:nvPr/>
        </p:nvSpPr>
        <p:spPr bwMode="auto">
          <a:xfrm>
            <a:off x="2743200" y="34877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22" name="Text Box 72"/>
          <p:cNvSpPr txBox="1">
            <a:spLocks noChangeArrowheads="1"/>
          </p:cNvSpPr>
          <p:nvPr/>
        </p:nvSpPr>
        <p:spPr bwMode="auto">
          <a:xfrm>
            <a:off x="2133600" y="1905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23" name="Text Box 73"/>
          <p:cNvSpPr txBox="1">
            <a:spLocks noChangeArrowheads="1"/>
          </p:cNvSpPr>
          <p:nvPr/>
        </p:nvSpPr>
        <p:spPr bwMode="auto">
          <a:xfrm>
            <a:off x="1295400" y="23796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24" name="Text Box 74"/>
          <p:cNvSpPr txBox="1">
            <a:spLocks noChangeArrowheads="1"/>
          </p:cNvSpPr>
          <p:nvPr/>
        </p:nvSpPr>
        <p:spPr bwMode="auto">
          <a:xfrm>
            <a:off x="2057400" y="29337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25" name="Text Box 75"/>
          <p:cNvSpPr txBox="1">
            <a:spLocks noChangeArrowheads="1"/>
          </p:cNvSpPr>
          <p:nvPr/>
        </p:nvSpPr>
        <p:spPr bwMode="auto">
          <a:xfrm>
            <a:off x="2667000" y="23796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26" name="Text Box 76"/>
          <p:cNvSpPr txBox="1">
            <a:spLocks noChangeArrowheads="1"/>
          </p:cNvSpPr>
          <p:nvPr/>
        </p:nvSpPr>
        <p:spPr bwMode="auto">
          <a:xfrm>
            <a:off x="1219200" y="34877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27" name="Line 77"/>
          <p:cNvSpPr>
            <a:spLocks noChangeShapeType="1"/>
          </p:cNvSpPr>
          <p:nvPr/>
        </p:nvSpPr>
        <p:spPr bwMode="auto">
          <a:xfrm flipV="1">
            <a:off x="1524000" y="2143125"/>
            <a:ext cx="533400" cy="3159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28" name="Line 78"/>
          <p:cNvSpPr>
            <a:spLocks noChangeShapeType="1"/>
          </p:cNvSpPr>
          <p:nvPr/>
        </p:nvSpPr>
        <p:spPr bwMode="auto">
          <a:xfrm>
            <a:off x="1447800" y="2854325"/>
            <a:ext cx="0" cy="633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29" name="Line 79"/>
          <p:cNvSpPr>
            <a:spLocks noChangeShapeType="1"/>
          </p:cNvSpPr>
          <p:nvPr/>
        </p:nvSpPr>
        <p:spPr bwMode="auto">
          <a:xfrm>
            <a:off x="2438400" y="2143125"/>
            <a:ext cx="304800" cy="2365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0" name="Line 80"/>
          <p:cNvSpPr>
            <a:spLocks noChangeShapeType="1"/>
          </p:cNvSpPr>
          <p:nvPr/>
        </p:nvSpPr>
        <p:spPr bwMode="auto">
          <a:xfrm>
            <a:off x="1524000" y="3725863"/>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1" name="Line 81"/>
          <p:cNvSpPr>
            <a:spLocks noChangeShapeType="1"/>
          </p:cNvSpPr>
          <p:nvPr/>
        </p:nvSpPr>
        <p:spPr bwMode="auto">
          <a:xfrm>
            <a:off x="2895600" y="2774950"/>
            <a:ext cx="0" cy="7127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2" name="Line 82"/>
          <p:cNvSpPr>
            <a:spLocks noChangeShapeType="1"/>
          </p:cNvSpPr>
          <p:nvPr/>
        </p:nvSpPr>
        <p:spPr bwMode="auto">
          <a:xfrm flipV="1">
            <a:off x="1524000" y="3251200"/>
            <a:ext cx="533400" cy="395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3" name="Line 83"/>
          <p:cNvSpPr>
            <a:spLocks noChangeShapeType="1"/>
          </p:cNvSpPr>
          <p:nvPr/>
        </p:nvSpPr>
        <p:spPr bwMode="auto">
          <a:xfrm>
            <a:off x="2362200" y="3251200"/>
            <a:ext cx="457200" cy="3159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4" name="Line 84"/>
          <p:cNvSpPr>
            <a:spLocks noChangeShapeType="1"/>
          </p:cNvSpPr>
          <p:nvPr/>
        </p:nvSpPr>
        <p:spPr bwMode="auto">
          <a:xfrm>
            <a:off x="1600200" y="2617788"/>
            <a:ext cx="381000" cy="3952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5" name="Line 85"/>
          <p:cNvSpPr>
            <a:spLocks noChangeShapeType="1"/>
          </p:cNvSpPr>
          <p:nvPr/>
        </p:nvSpPr>
        <p:spPr bwMode="auto">
          <a:xfrm flipH="1">
            <a:off x="2286000" y="2774950"/>
            <a:ext cx="457200" cy="238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6" name="Line 86"/>
          <p:cNvSpPr>
            <a:spLocks noChangeShapeType="1"/>
          </p:cNvSpPr>
          <p:nvPr/>
        </p:nvSpPr>
        <p:spPr bwMode="auto">
          <a:xfrm>
            <a:off x="2209800" y="2300288"/>
            <a:ext cx="0" cy="6334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37" name="Text Box 87"/>
          <p:cNvSpPr txBox="1">
            <a:spLocks noChangeArrowheads="1"/>
          </p:cNvSpPr>
          <p:nvPr/>
        </p:nvSpPr>
        <p:spPr bwMode="auto">
          <a:xfrm>
            <a:off x="1600200" y="198437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38" name="Text Box 88"/>
          <p:cNvSpPr txBox="1">
            <a:spLocks noChangeArrowheads="1"/>
          </p:cNvSpPr>
          <p:nvPr/>
        </p:nvSpPr>
        <p:spPr bwMode="auto">
          <a:xfrm>
            <a:off x="2438400" y="1905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39" name="Text Box 89"/>
          <p:cNvSpPr txBox="1">
            <a:spLocks noChangeArrowheads="1"/>
          </p:cNvSpPr>
          <p:nvPr/>
        </p:nvSpPr>
        <p:spPr bwMode="auto">
          <a:xfrm>
            <a:off x="1676400" y="245903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40" name="Text Box 90"/>
          <p:cNvSpPr txBox="1">
            <a:spLocks noChangeArrowheads="1"/>
          </p:cNvSpPr>
          <p:nvPr/>
        </p:nvSpPr>
        <p:spPr bwMode="auto">
          <a:xfrm>
            <a:off x="2133600" y="23002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41" name="Text Box 91"/>
          <p:cNvSpPr txBox="1">
            <a:spLocks noChangeArrowheads="1"/>
          </p:cNvSpPr>
          <p:nvPr/>
        </p:nvSpPr>
        <p:spPr bwMode="auto">
          <a:xfrm>
            <a:off x="2362200" y="2538413"/>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42" name="Text Box 92"/>
          <p:cNvSpPr txBox="1">
            <a:spLocks noChangeArrowheads="1"/>
          </p:cNvSpPr>
          <p:nvPr/>
        </p:nvSpPr>
        <p:spPr bwMode="auto">
          <a:xfrm>
            <a:off x="1219200" y="29337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43" name="Text Box 93"/>
          <p:cNvSpPr txBox="1">
            <a:spLocks noChangeArrowheads="1"/>
          </p:cNvSpPr>
          <p:nvPr/>
        </p:nvSpPr>
        <p:spPr bwMode="auto">
          <a:xfrm>
            <a:off x="1600200" y="309245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44" name="Text Box 94"/>
          <p:cNvSpPr txBox="1">
            <a:spLocks noChangeArrowheads="1"/>
          </p:cNvSpPr>
          <p:nvPr/>
        </p:nvSpPr>
        <p:spPr bwMode="auto">
          <a:xfrm>
            <a:off x="1981200" y="333057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45" name="Text Box 95"/>
          <p:cNvSpPr txBox="1">
            <a:spLocks noChangeArrowheads="1"/>
          </p:cNvSpPr>
          <p:nvPr/>
        </p:nvSpPr>
        <p:spPr bwMode="auto">
          <a:xfrm>
            <a:off x="2514600" y="30924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46" name="Text Box 96"/>
          <p:cNvSpPr txBox="1">
            <a:spLocks noChangeArrowheads="1"/>
          </p:cNvSpPr>
          <p:nvPr/>
        </p:nvSpPr>
        <p:spPr bwMode="auto">
          <a:xfrm>
            <a:off x="7620000" y="3276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47" name="Line 97"/>
          <p:cNvSpPr>
            <a:spLocks noChangeShapeType="1"/>
          </p:cNvSpPr>
          <p:nvPr/>
        </p:nvSpPr>
        <p:spPr bwMode="auto">
          <a:xfrm flipV="1">
            <a:off x="3733800" y="2057400"/>
            <a:ext cx="685800" cy="1219200"/>
          </a:xfrm>
          <a:prstGeom prst="line">
            <a:avLst/>
          </a:prstGeom>
          <a:noFill/>
          <a:ln w="38100">
            <a:solidFill>
              <a:schemeClr val="accent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48" name="Line 98"/>
          <p:cNvSpPr>
            <a:spLocks noChangeShapeType="1"/>
          </p:cNvSpPr>
          <p:nvPr/>
        </p:nvSpPr>
        <p:spPr bwMode="auto">
          <a:xfrm>
            <a:off x="4648200" y="2133600"/>
            <a:ext cx="457200" cy="1143000"/>
          </a:xfrm>
          <a:prstGeom prst="line">
            <a:avLst/>
          </a:prstGeom>
          <a:noFill/>
          <a:ln w="38100">
            <a:solidFill>
              <a:schemeClr val="accent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49" name="Text Box 99"/>
          <p:cNvSpPr txBox="1">
            <a:spLocks noChangeArrowheads="1"/>
          </p:cNvSpPr>
          <p:nvPr/>
        </p:nvSpPr>
        <p:spPr bwMode="auto">
          <a:xfrm>
            <a:off x="3733800" y="36576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r>
              <a:rPr kumimoji="1" lang="zh-CN" altLang="en-US" sz="2400" dirty="0">
                <a:latin typeface="Times New Roman" panose="02020603050405020304" pitchFamily="18" charset="0"/>
                <a:ea typeface="华文楷体" panose="02010600040101010101" pitchFamily="2" charset="-122"/>
              </a:rPr>
              <a:t>条候选边</a:t>
            </a:r>
            <a:endParaRPr kumimoji="1" lang="zh-CN" altLang="en-US" sz="2400" dirty="0">
              <a:latin typeface="Times New Roman" panose="02020603050405020304" pitchFamily="18" charset="0"/>
              <a:ea typeface="华文楷体" panose="02010600040101010101" pitchFamily="2" charset="-122"/>
            </a:endParaRPr>
          </a:p>
        </p:txBody>
      </p:sp>
      <p:sp>
        <p:nvSpPr>
          <p:cNvPr id="53350" name="Text Box 100"/>
          <p:cNvSpPr txBox="1">
            <a:spLocks noChangeArrowheads="1"/>
          </p:cNvSpPr>
          <p:nvPr/>
        </p:nvSpPr>
        <p:spPr bwMode="auto">
          <a:xfrm>
            <a:off x="6096000" y="35814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r>
              <a:rPr kumimoji="1" lang="zh-CN" altLang="en-US" sz="2400" dirty="0">
                <a:latin typeface="Times New Roman" panose="02020603050405020304" pitchFamily="18" charset="0"/>
                <a:ea typeface="华文楷体" panose="02010600040101010101" pitchFamily="2" charset="-122"/>
              </a:rPr>
              <a:t>条候选边</a:t>
            </a:r>
            <a:endParaRPr kumimoji="1" lang="zh-CN" altLang="en-US" sz="2400" dirty="0">
              <a:latin typeface="Times New Roman" panose="02020603050405020304" pitchFamily="18" charset="0"/>
              <a:ea typeface="华文楷体" panose="02010600040101010101" pitchFamily="2" charset="-122"/>
            </a:endParaRPr>
          </a:p>
        </p:txBody>
      </p:sp>
      <p:sp>
        <p:nvSpPr>
          <p:cNvPr id="53351" name="Text Box 101"/>
          <p:cNvSpPr txBox="1">
            <a:spLocks noChangeArrowheads="1"/>
          </p:cNvSpPr>
          <p:nvPr/>
        </p:nvSpPr>
        <p:spPr bwMode="auto">
          <a:xfrm>
            <a:off x="7239000" y="2438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endParaRPr kumimoji="1" lang="en-US" altLang="zh-CN" sz="2400" dirty="0">
              <a:latin typeface="Times New Roman" panose="02020603050405020304" pitchFamily="18" charset="0"/>
              <a:ea typeface="华文楷体" panose="02010600040101010101" pitchFamily="2" charset="-122"/>
            </a:endParaRPr>
          </a:p>
        </p:txBody>
      </p:sp>
      <p:sp>
        <p:nvSpPr>
          <p:cNvPr id="53352" name="Text Box 102"/>
          <p:cNvSpPr txBox="1">
            <a:spLocks noChangeArrowheads="1"/>
          </p:cNvSpPr>
          <p:nvPr/>
        </p:nvSpPr>
        <p:spPr bwMode="auto">
          <a:xfrm>
            <a:off x="6553200" y="1828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endParaRPr kumimoji="1" lang="en-US" altLang="zh-CN" sz="2400" dirty="0">
              <a:solidFill>
                <a:schemeClr val="hlink"/>
              </a:solidFill>
              <a:latin typeface="Times New Roman" panose="02020603050405020304" pitchFamily="18" charset="0"/>
              <a:ea typeface="华文楷体" panose="02010600040101010101" pitchFamily="2" charset="-122"/>
            </a:endParaRPr>
          </a:p>
        </p:txBody>
      </p:sp>
      <p:sp>
        <p:nvSpPr>
          <p:cNvPr id="53353" name="Text Box 103"/>
          <p:cNvSpPr txBox="1">
            <a:spLocks noChangeArrowheads="1"/>
          </p:cNvSpPr>
          <p:nvPr/>
        </p:nvSpPr>
        <p:spPr bwMode="auto">
          <a:xfrm>
            <a:off x="1752600" y="4800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54" name="Oval 104"/>
          <p:cNvSpPr>
            <a:spLocks noChangeArrowheads="1"/>
          </p:cNvSpPr>
          <p:nvPr/>
        </p:nvSpPr>
        <p:spPr bwMode="auto">
          <a:xfrm>
            <a:off x="1143000" y="3962400"/>
            <a:ext cx="381000" cy="39528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55" name="Oval 105"/>
          <p:cNvSpPr>
            <a:spLocks noChangeArrowheads="1"/>
          </p:cNvSpPr>
          <p:nvPr/>
        </p:nvSpPr>
        <p:spPr bwMode="auto">
          <a:xfrm>
            <a:off x="304800" y="44370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56" name="Oval 106"/>
          <p:cNvSpPr>
            <a:spLocks noChangeArrowheads="1"/>
          </p:cNvSpPr>
          <p:nvPr/>
        </p:nvSpPr>
        <p:spPr bwMode="auto">
          <a:xfrm>
            <a:off x="1752600" y="44370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57" name="Oval 107"/>
          <p:cNvSpPr>
            <a:spLocks noChangeArrowheads="1"/>
          </p:cNvSpPr>
          <p:nvPr/>
        </p:nvSpPr>
        <p:spPr bwMode="auto">
          <a:xfrm>
            <a:off x="1066800" y="49911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58" name="Oval 108"/>
          <p:cNvSpPr>
            <a:spLocks noChangeArrowheads="1"/>
          </p:cNvSpPr>
          <p:nvPr/>
        </p:nvSpPr>
        <p:spPr bwMode="auto">
          <a:xfrm>
            <a:off x="228600" y="55451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59" name="Oval 109"/>
          <p:cNvSpPr>
            <a:spLocks noChangeArrowheads="1"/>
          </p:cNvSpPr>
          <p:nvPr/>
        </p:nvSpPr>
        <p:spPr bwMode="auto">
          <a:xfrm>
            <a:off x="1828800" y="5545138"/>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60" name="Text Box 110"/>
          <p:cNvSpPr txBox="1">
            <a:spLocks noChangeArrowheads="1"/>
          </p:cNvSpPr>
          <p:nvPr/>
        </p:nvSpPr>
        <p:spPr bwMode="auto">
          <a:xfrm>
            <a:off x="1219200" y="3962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61" name="Text Box 111"/>
          <p:cNvSpPr txBox="1">
            <a:spLocks noChangeArrowheads="1"/>
          </p:cNvSpPr>
          <p:nvPr/>
        </p:nvSpPr>
        <p:spPr bwMode="auto">
          <a:xfrm>
            <a:off x="3810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62" name="Text Box 112"/>
          <p:cNvSpPr txBox="1">
            <a:spLocks noChangeArrowheads="1"/>
          </p:cNvSpPr>
          <p:nvPr/>
        </p:nvSpPr>
        <p:spPr bwMode="auto">
          <a:xfrm>
            <a:off x="1143000" y="4991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63" name="Text Box 113"/>
          <p:cNvSpPr txBox="1">
            <a:spLocks noChangeArrowheads="1"/>
          </p:cNvSpPr>
          <p:nvPr/>
        </p:nvSpPr>
        <p:spPr bwMode="auto">
          <a:xfrm>
            <a:off x="17526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64" name="Text Box 114"/>
          <p:cNvSpPr txBox="1">
            <a:spLocks noChangeArrowheads="1"/>
          </p:cNvSpPr>
          <p:nvPr/>
        </p:nvSpPr>
        <p:spPr bwMode="auto">
          <a:xfrm>
            <a:off x="304800" y="55451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65" name="Line 115"/>
          <p:cNvSpPr>
            <a:spLocks noChangeShapeType="1"/>
          </p:cNvSpPr>
          <p:nvPr/>
        </p:nvSpPr>
        <p:spPr bwMode="auto">
          <a:xfrm>
            <a:off x="533400" y="4911725"/>
            <a:ext cx="0" cy="633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66" name="Line 116"/>
          <p:cNvSpPr>
            <a:spLocks noChangeShapeType="1"/>
          </p:cNvSpPr>
          <p:nvPr/>
        </p:nvSpPr>
        <p:spPr bwMode="auto">
          <a:xfrm>
            <a:off x="1524000" y="4200525"/>
            <a:ext cx="304800" cy="23653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67" name="Line 117"/>
          <p:cNvSpPr>
            <a:spLocks noChangeShapeType="1"/>
          </p:cNvSpPr>
          <p:nvPr/>
        </p:nvSpPr>
        <p:spPr bwMode="auto">
          <a:xfrm>
            <a:off x="609600" y="5783263"/>
            <a:ext cx="12192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68" name="Line 118"/>
          <p:cNvSpPr>
            <a:spLocks noChangeShapeType="1"/>
          </p:cNvSpPr>
          <p:nvPr/>
        </p:nvSpPr>
        <p:spPr bwMode="auto">
          <a:xfrm>
            <a:off x="1981200" y="4832350"/>
            <a:ext cx="0" cy="7127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69" name="Line 119"/>
          <p:cNvSpPr>
            <a:spLocks noChangeShapeType="1"/>
          </p:cNvSpPr>
          <p:nvPr/>
        </p:nvSpPr>
        <p:spPr bwMode="auto">
          <a:xfrm flipV="1">
            <a:off x="609600" y="5308600"/>
            <a:ext cx="533400" cy="395288"/>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70" name="Line 120"/>
          <p:cNvSpPr>
            <a:spLocks noChangeShapeType="1"/>
          </p:cNvSpPr>
          <p:nvPr/>
        </p:nvSpPr>
        <p:spPr bwMode="auto">
          <a:xfrm>
            <a:off x="1447800" y="5308600"/>
            <a:ext cx="457200" cy="315913"/>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71" name="Line 121"/>
          <p:cNvSpPr>
            <a:spLocks noChangeShapeType="1"/>
          </p:cNvSpPr>
          <p:nvPr/>
        </p:nvSpPr>
        <p:spPr bwMode="auto">
          <a:xfrm>
            <a:off x="685800" y="4675188"/>
            <a:ext cx="381000" cy="395287"/>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72" name="Line 122"/>
          <p:cNvSpPr>
            <a:spLocks noChangeShapeType="1"/>
          </p:cNvSpPr>
          <p:nvPr/>
        </p:nvSpPr>
        <p:spPr bwMode="auto">
          <a:xfrm>
            <a:off x="1295400" y="4357688"/>
            <a:ext cx="0" cy="633412"/>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73" name="Text Box 123"/>
          <p:cNvSpPr txBox="1">
            <a:spLocks noChangeArrowheads="1"/>
          </p:cNvSpPr>
          <p:nvPr/>
        </p:nvSpPr>
        <p:spPr bwMode="auto">
          <a:xfrm>
            <a:off x="1600200" y="4038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74" name="Text Box 124"/>
          <p:cNvSpPr txBox="1">
            <a:spLocks noChangeArrowheads="1"/>
          </p:cNvSpPr>
          <p:nvPr/>
        </p:nvSpPr>
        <p:spPr bwMode="auto">
          <a:xfrm>
            <a:off x="762000" y="451643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75" name="Text Box 125"/>
          <p:cNvSpPr txBox="1">
            <a:spLocks noChangeArrowheads="1"/>
          </p:cNvSpPr>
          <p:nvPr/>
        </p:nvSpPr>
        <p:spPr bwMode="auto">
          <a:xfrm>
            <a:off x="1219200" y="43576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76" name="Text Box 126"/>
          <p:cNvSpPr txBox="1">
            <a:spLocks noChangeArrowheads="1"/>
          </p:cNvSpPr>
          <p:nvPr/>
        </p:nvSpPr>
        <p:spPr bwMode="auto">
          <a:xfrm>
            <a:off x="457200" y="4876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77" name="Text Box 127"/>
          <p:cNvSpPr txBox="1">
            <a:spLocks noChangeArrowheads="1"/>
          </p:cNvSpPr>
          <p:nvPr/>
        </p:nvSpPr>
        <p:spPr bwMode="auto">
          <a:xfrm>
            <a:off x="685800" y="514985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78" name="Text Box 128"/>
          <p:cNvSpPr txBox="1">
            <a:spLocks noChangeArrowheads="1"/>
          </p:cNvSpPr>
          <p:nvPr/>
        </p:nvSpPr>
        <p:spPr bwMode="auto">
          <a:xfrm>
            <a:off x="1066800" y="538797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79" name="Text Box 129"/>
          <p:cNvSpPr txBox="1">
            <a:spLocks noChangeArrowheads="1"/>
          </p:cNvSpPr>
          <p:nvPr/>
        </p:nvSpPr>
        <p:spPr bwMode="auto">
          <a:xfrm>
            <a:off x="1600200" y="5149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80" name="Text Box 130"/>
          <p:cNvSpPr txBox="1">
            <a:spLocks noChangeArrowheads="1"/>
          </p:cNvSpPr>
          <p:nvPr/>
        </p:nvSpPr>
        <p:spPr bwMode="auto">
          <a:xfrm>
            <a:off x="1905000" y="548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381" name="Text Box 131"/>
          <p:cNvSpPr txBox="1">
            <a:spLocks noChangeArrowheads="1"/>
          </p:cNvSpPr>
          <p:nvPr/>
        </p:nvSpPr>
        <p:spPr bwMode="auto">
          <a:xfrm>
            <a:off x="1295400" y="556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endPar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endParaRPr>
          </a:p>
        </p:txBody>
      </p:sp>
      <p:sp>
        <p:nvSpPr>
          <p:cNvPr id="53382" name="Text Box 132"/>
          <p:cNvSpPr txBox="1">
            <a:spLocks noChangeArrowheads="1"/>
          </p:cNvSpPr>
          <p:nvPr/>
        </p:nvSpPr>
        <p:spPr bwMode="auto">
          <a:xfrm>
            <a:off x="1447800" y="4114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endParaRPr kumimoji="1" lang="en-US" altLang="zh-CN" sz="2400" dirty="0">
              <a:solidFill>
                <a:schemeClr val="hlink"/>
              </a:solidFill>
              <a:latin typeface="Times New Roman" panose="02020603050405020304" pitchFamily="18" charset="0"/>
              <a:ea typeface="华文楷体" panose="02010600040101010101" pitchFamily="2" charset="-122"/>
              <a:sym typeface="Symbol" panose="05050102010706020507" pitchFamily="18" charset="2"/>
            </a:endParaRPr>
          </a:p>
        </p:txBody>
      </p:sp>
      <p:sp>
        <p:nvSpPr>
          <p:cNvPr id="53383" name="Text Box 133"/>
          <p:cNvSpPr txBox="1">
            <a:spLocks noChangeArrowheads="1"/>
          </p:cNvSpPr>
          <p:nvPr/>
        </p:nvSpPr>
        <p:spPr bwMode="auto">
          <a:xfrm>
            <a:off x="533400" y="58674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r>
              <a:rPr kumimoji="1" lang="zh-CN" altLang="en-US" sz="2400" dirty="0">
                <a:latin typeface="Times New Roman" panose="02020603050405020304" pitchFamily="18" charset="0"/>
                <a:ea typeface="华文楷体" panose="02010600040101010101" pitchFamily="2" charset="-122"/>
              </a:rPr>
              <a:t>条候选边</a:t>
            </a:r>
            <a:endParaRPr kumimoji="1" lang="zh-CN" altLang="en-US" sz="2400" dirty="0">
              <a:latin typeface="Times New Roman" panose="02020603050405020304" pitchFamily="18" charset="0"/>
              <a:ea typeface="华文楷体" panose="02010600040101010101" pitchFamily="2" charset="-122"/>
            </a:endParaRPr>
          </a:p>
        </p:txBody>
      </p:sp>
      <p:sp>
        <p:nvSpPr>
          <p:cNvPr id="53384" name="Text Box 134"/>
          <p:cNvSpPr txBox="1">
            <a:spLocks noChangeArrowheads="1"/>
          </p:cNvSpPr>
          <p:nvPr/>
        </p:nvSpPr>
        <p:spPr bwMode="auto">
          <a:xfrm>
            <a:off x="3886200" y="4800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85" name="Oval 135"/>
          <p:cNvSpPr>
            <a:spLocks noChangeArrowheads="1"/>
          </p:cNvSpPr>
          <p:nvPr/>
        </p:nvSpPr>
        <p:spPr bwMode="auto">
          <a:xfrm>
            <a:off x="3276600" y="3962400"/>
            <a:ext cx="381000" cy="39528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86" name="Oval 136"/>
          <p:cNvSpPr>
            <a:spLocks noChangeArrowheads="1"/>
          </p:cNvSpPr>
          <p:nvPr/>
        </p:nvSpPr>
        <p:spPr bwMode="auto">
          <a:xfrm>
            <a:off x="2438400" y="4437063"/>
            <a:ext cx="381000" cy="39528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87" name="Oval 137"/>
          <p:cNvSpPr>
            <a:spLocks noChangeArrowheads="1"/>
          </p:cNvSpPr>
          <p:nvPr/>
        </p:nvSpPr>
        <p:spPr bwMode="auto">
          <a:xfrm>
            <a:off x="3886200" y="4437063"/>
            <a:ext cx="381000" cy="39528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88" name="Oval 138"/>
          <p:cNvSpPr>
            <a:spLocks noChangeArrowheads="1"/>
          </p:cNvSpPr>
          <p:nvPr/>
        </p:nvSpPr>
        <p:spPr bwMode="auto">
          <a:xfrm>
            <a:off x="3200400" y="49911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89" name="Oval 139"/>
          <p:cNvSpPr>
            <a:spLocks noChangeArrowheads="1"/>
          </p:cNvSpPr>
          <p:nvPr/>
        </p:nvSpPr>
        <p:spPr bwMode="auto">
          <a:xfrm>
            <a:off x="2362200" y="55451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90" name="Oval 140"/>
          <p:cNvSpPr>
            <a:spLocks noChangeArrowheads="1"/>
          </p:cNvSpPr>
          <p:nvPr/>
        </p:nvSpPr>
        <p:spPr bwMode="auto">
          <a:xfrm>
            <a:off x="3962400" y="5545138"/>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391" name="Text Box 141"/>
          <p:cNvSpPr txBox="1">
            <a:spLocks noChangeArrowheads="1"/>
          </p:cNvSpPr>
          <p:nvPr/>
        </p:nvSpPr>
        <p:spPr bwMode="auto">
          <a:xfrm>
            <a:off x="3352800" y="3962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392" name="Text Box 142"/>
          <p:cNvSpPr txBox="1">
            <a:spLocks noChangeArrowheads="1"/>
          </p:cNvSpPr>
          <p:nvPr/>
        </p:nvSpPr>
        <p:spPr bwMode="auto">
          <a:xfrm>
            <a:off x="25146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393" name="Text Box 143"/>
          <p:cNvSpPr txBox="1">
            <a:spLocks noChangeArrowheads="1"/>
          </p:cNvSpPr>
          <p:nvPr/>
        </p:nvSpPr>
        <p:spPr bwMode="auto">
          <a:xfrm>
            <a:off x="3276600" y="4991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394" name="Text Box 144"/>
          <p:cNvSpPr txBox="1">
            <a:spLocks noChangeArrowheads="1"/>
          </p:cNvSpPr>
          <p:nvPr/>
        </p:nvSpPr>
        <p:spPr bwMode="auto">
          <a:xfrm>
            <a:off x="38862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395" name="Text Box 145"/>
          <p:cNvSpPr txBox="1">
            <a:spLocks noChangeArrowheads="1"/>
          </p:cNvSpPr>
          <p:nvPr/>
        </p:nvSpPr>
        <p:spPr bwMode="auto">
          <a:xfrm>
            <a:off x="2438400" y="55451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396" name="Line 146"/>
          <p:cNvSpPr>
            <a:spLocks noChangeShapeType="1"/>
          </p:cNvSpPr>
          <p:nvPr/>
        </p:nvSpPr>
        <p:spPr bwMode="auto">
          <a:xfrm>
            <a:off x="2667000" y="4911725"/>
            <a:ext cx="0" cy="6334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97" name="Line 147"/>
          <p:cNvSpPr>
            <a:spLocks noChangeShapeType="1"/>
          </p:cNvSpPr>
          <p:nvPr/>
        </p:nvSpPr>
        <p:spPr bwMode="auto">
          <a:xfrm>
            <a:off x="4114800" y="4832350"/>
            <a:ext cx="0" cy="712788"/>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98" name="Line 148"/>
          <p:cNvSpPr>
            <a:spLocks noChangeShapeType="1"/>
          </p:cNvSpPr>
          <p:nvPr/>
        </p:nvSpPr>
        <p:spPr bwMode="auto">
          <a:xfrm>
            <a:off x="3581400" y="5308600"/>
            <a:ext cx="457200" cy="315913"/>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399" name="Line 149"/>
          <p:cNvSpPr>
            <a:spLocks noChangeShapeType="1"/>
          </p:cNvSpPr>
          <p:nvPr/>
        </p:nvSpPr>
        <p:spPr bwMode="auto">
          <a:xfrm>
            <a:off x="2819400" y="4675188"/>
            <a:ext cx="381000" cy="395287"/>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00" name="Line 150"/>
          <p:cNvSpPr>
            <a:spLocks noChangeShapeType="1"/>
          </p:cNvSpPr>
          <p:nvPr/>
        </p:nvSpPr>
        <p:spPr bwMode="auto">
          <a:xfrm>
            <a:off x="3429000" y="4357688"/>
            <a:ext cx="0" cy="633412"/>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01" name="Text Box 151"/>
          <p:cNvSpPr txBox="1">
            <a:spLocks noChangeArrowheads="1"/>
          </p:cNvSpPr>
          <p:nvPr/>
        </p:nvSpPr>
        <p:spPr bwMode="auto">
          <a:xfrm>
            <a:off x="2895600" y="451643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402" name="Text Box 152"/>
          <p:cNvSpPr txBox="1">
            <a:spLocks noChangeArrowheads="1"/>
          </p:cNvSpPr>
          <p:nvPr/>
        </p:nvSpPr>
        <p:spPr bwMode="auto">
          <a:xfrm>
            <a:off x="3352800" y="43576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403" name="Text Box 153"/>
          <p:cNvSpPr txBox="1">
            <a:spLocks noChangeArrowheads="1"/>
          </p:cNvSpPr>
          <p:nvPr/>
        </p:nvSpPr>
        <p:spPr bwMode="auto">
          <a:xfrm>
            <a:off x="2362200" y="4953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404" name="Text Box 154"/>
          <p:cNvSpPr txBox="1">
            <a:spLocks noChangeArrowheads="1"/>
          </p:cNvSpPr>
          <p:nvPr/>
        </p:nvSpPr>
        <p:spPr bwMode="auto">
          <a:xfrm>
            <a:off x="3733800" y="5149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405" name="Text Box 155"/>
          <p:cNvSpPr txBox="1">
            <a:spLocks noChangeArrowheads="1"/>
          </p:cNvSpPr>
          <p:nvPr/>
        </p:nvSpPr>
        <p:spPr bwMode="auto">
          <a:xfrm>
            <a:off x="4038600" y="548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406" name="Line 156"/>
          <p:cNvSpPr>
            <a:spLocks noChangeShapeType="1"/>
          </p:cNvSpPr>
          <p:nvPr/>
        </p:nvSpPr>
        <p:spPr bwMode="auto">
          <a:xfrm flipV="1">
            <a:off x="2743200" y="5334000"/>
            <a:ext cx="533400" cy="304800"/>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07" name="Text Box 157"/>
          <p:cNvSpPr txBox="1">
            <a:spLocks noChangeArrowheads="1"/>
          </p:cNvSpPr>
          <p:nvPr/>
        </p:nvSpPr>
        <p:spPr bwMode="auto">
          <a:xfrm>
            <a:off x="2819400" y="5181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408" name="Text Box 158"/>
          <p:cNvSpPr txBox="1">
            <a:spLocks noChangeArrowheads="1"/>
          </p:cNvSpPr>
          <p:nvPr/>
        </p:nvSpPr>
        <p:spPr bwMode="auto">
          <a:xfrm>
            <a:off x="2590800" y="58674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r>
              <a:rPr kumimoji="1" lang="zh-CN" altLang="en-US" sz="2400" dirty="0">
                <a:latin typeface="Times New Roman" panose="02020603050405020304" pitchFamily="18" charset="0"/>
                <a:ea typeface="华文楷体" panose="02010600040101010101" pitchFamily="2" charset="-122"/>
              </a:rPr>
              <a:t>条候选边</a:t>
            </a:r>
            <a:endParaRPr kumimoji="1" lang="zh-CN" altLang="en-US" sz="2400" dirty="0">
              <a:latin typeface="Times New Roman" panose="02020603050405020304" pitchFamily="18" charset="0"/>
              <a:ea typeface="华文楷体" panose="02010600040101010101" pitchFamily="2" charset="-122"/>
            </a:endParaRPr>
          </a:p>
        </p:txBody>
      </p:sp>
      <p:sp>
        <p:nvSpPr>
          <p:cNvPr id="53409" name="Text Box 159"/>
          <p:cNvSpPr txBox="1">
            <a:spLocks noChangeArrowheads="1"/>
          </p:cNvSpPr>
          <p:nvPr/>
        </p:nvSpPr>
        <p:spPr bwMode="auto">
          <a:xfrm>
            <a:off x="5029200" y="58674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r>
              <a:rPr kumimoji="1" lang="zh-CN" altLang="en-US" sz="2400" dirty="0">
                <a:latin typeface="Times New Roman" panose="02020603050405020304" pitchFamily="18" charset="0"/>
                <a:ea typeface="华文楷体" panose="02010600040101010101" pitchFamily="2" charset="-122"/>
              </a:rPr>
              <a:t>条候选边</a:t>
            </a:r>
            <a:endParaRPr kumimoji="1" lang="zh-CN" altLang="en-US" sz="2400" dirty="0">
              <a:latin typeface="Times New Roman" panose="02020603050405020304" pitchFamily="18" charset="0"/>
              <a:ea typeface="华文楷体" panose="02010600040101010101" pitchFamily="2" charset="-122"/>
            </a:endParaRPr>
          </a:p>
        </p:txBody>
      </p:sp>
      <p:sp>
        <p:nvSpPr>
          <p:cNvPr id="53410" name="Text Box 160"/>
          <p:cNvSpPr txBox="1">
            <a:spLocks noChangeArrowheads="1"/>
          </p:cNvSpPr>
          <p:nvPr/>
        </p:nvSpPr>
        <p:spPr bwMode="auto">
          <a:xfrm>
            <a:off x="6172200" y="4800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411" name="Oval 161"/>
          <p:cNvSpPr>
            <a:spLocks noChangeArrowheads="1"/>
          </p:cNvSpPr>
          <p:nvPr/>
        </p:nvSpPr>
        <p:spPr bwMode="auto">
          <a:xfrm>
            <a:off x="5562600" y="3962400"/>
            <a:ext cx="381000" cy="39528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2" name="Oval 162"/>
          <p:cNvSpPr>
            <a:spLocks noChangeArrowheads="1"/>
          </p:cNvSpPr>
          <p:nvPr/>
        </p:nvSpPr>
        <p:spPr bwMode="auto">
          <a:xfrm>
            <a:off x="4724400" y="4437063"/>
            <a:ext cx="381000" cy="39528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3" name="Oval 163"/>
          <p:cNvSpPr>
            <a:spLocks noChangeArrowheads="1"/>
          </p:cNvSpPr>
          <p:nvPr/>
        </p:nvSpPr>
        <p:spPr bwMode="auto">
          <a:xfrm>
            <a:off x="6172200" y="4437063"/>
            <a:ext cx="381000" cy="39528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4" name="Oval 164"/>
          <p:cNvSpPr>
            <a:spLocks noChangeArrowheads="1"/>
          </p:cNvSpPr>
          <p:nvPr/>
        </p:nvSpPr>
        <p:spPr bwMode="auto">
          <a:xfrm>
            <a:off x="5486400" y="49911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5" name="Oval 165"/>
          <p:cNvSpPr>
            <a:spLocks noChangeArrowheads="1"/>
          </p:cNvSpPr>
          <p:nvPr/>
        </p:nvSpPr>
        <p:spPr bwMode="auto">
          <a:xfrm>
            <a:off x="4648200" y="5545138"/>
            <a:ext cx="381000" cy="39687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6" name="Oval 166"/>
          <p:cNvSpPr>
            <a:spLocks noChangeArrowheads="1"/>
          </p:cNvSpPr>
          <p:nvPr/>
        </p:nvSpPr>
        <p:spPr bwMode="auto">
          <a:xfrm>
            <a:off x="6248400" y="5545138"/>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17" name="Text Box 167"/>
          <p:cNvSpPr txBox="1">
            <a:spLocks noChangeArrowheads="1"/>
          </p:cNvSpPr>
          <p:nvPr/>
        </p:nvSpPr>
        <p:spPr bwMode="auto">
          <a:xfrm>
            <a:off x="5638800" y="3962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418" name="Text Box 168"/>
          <p:cNvSpPr txBox="1">
            <a:spLocks noChangeArrowheads="1"/>
          </p:cNvSpPr>
          <p:nvPr/>
        </p:nvSpPr>
        <p:spPr bwMode="auto">
          <a:xfrm>
            <a:off x="48006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419" name="Text Box 169"/>
          <p:cNvSpPr txBox="1">
            <a:spLocks noChangeArrowheads="1"/>
          </p:cNvSpPr>
          <p:nvPr/>
        </p:nvSpPr>
        <p:spPr bwMode="auto">
          <a:xfrm>
            <a:off x="5562600" y="4991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420" name="Text Box 170"/>
          <p:cNvSpPr txBox="1">
            <a:spLocks noChangeArrowheads="1"/>
          </p:cNvSpPr>
          <p:nvPr/>
        </p:nvSpPr>
        <p:spPr bwMode="auto">
          <a:xfrm>
            <a:off x="61722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421" name="Text Box 171"/>
          <p:cNvSpPr txBox="1">
            <a:spLocks noChangeArrowheads="1"/>
          </p:cNvSpPr>
          <p:nvPr/>
        </p:nvSpPr>
        <p:spPr bwMode="auto">
          <a:xfrm>
            <a:off x="4724400" y="55451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422" name="Line 172"/>
          <p:cNvSpPr>
            <a:spLocks noChangeShapeType="1"/>
          </p:cNvSpPr>
          <p:nvPr/>
        </p:nvSpPr>
        <p:spPr bwMode="auto">
          <a:xfrm>
            <a:off x="4953000" y="4911725"/>
            <a:ext cx="0" cy="633413"/>
          </a:xfrm>
          <a:prstGeom prst="line">
            <a:avLst/>
          </a:prstGeom>
          <a:noFill/>
          <a:ln w="381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23" name="Line 173"/>
          <p:cNvSpPr>
            <a:spLocks noChangeShapeType="1"/>
          </p:cNvSpPr>
          <p:nvPr/>
        </p:nvSpPr>
        <p:spPr bwMode="auto">
          <a:xfrm>
            <a:off x="6400800" y="4832350"/>
            <a:ext cx="0" cy="712788"/>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24" name="Line 174"/>
          <p:cNvSpPr>
            <a:spLocks noChangeShapeType="1"/>
          </p:cNvSpPr>
          <p:nvPr/>
        </p:nvSpPr>
        <p:spPr bwMode="auto">
          <a:xfrm>
            <a:off x="5867400" y="5308600"/>
            <a:ext cx="457200" cy="315913"/>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25" name="Line 175"/>
          <p:cNvSpPr>
            <a:spLocks noChangeShapeType="1"/>
          </p:cNvSpPr>
          <p:nvPr/>
        </p:nvSpPr>
        <p:spPr bwMode="auto">
          <a:xfrm>
            <a:off x="5105400" y="4675188"/>
            <a:ext cx="381000" cy="395287"/>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26" name="Line 176"/>
          <p:cNvSpPr>
            <a:spLocks noChangeShapeType="1"/>
          </p:cNvSpPr>
          <p:nvPr/>
        </p:nvSpPr>
        <p:spPr bwMode="auto">
          <a:xfrm>
            <a:off x="5715000" y="4357688"/>
            <a:ext cx="0" cy="633412"/>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27" name="Text Box 177"/>
          <p:cNvSpPr txBox="1">
            <a:spLocks noChangeArrowheads="1"/>
          </p:cNvSpPr>
          <p:nvPr/>
        </p:nvSpPr>
        <p:spPr bwMode="auto">
          <a:xfrm>
            <a:off x="5257800" y="4572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428" name="Text Box 178"/>
          <p:cNvSpPr txBox="1">
            <a:spLocks noChangeArrowheads="1"/>
          </p:cNvSpPr>
          <p:nvPr/>
        </p:nvSpPr>
        <p:spPr bwMode="auto">
          <a:xfrm>
            <a:off x="5638800" y="43576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429" name="Text Box 179"/>
          <p:cNvSpPr txBox="1">
            <a:spLocks noChangeArrowheads="1"/>
          </p:cNvSpPr>
          <p:nvPr/>
        </p:nvSpPr>
        <p:spPr bwMode="auto">
          <a:xfrm>
            <a:off x="4724400" y="4876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430" name="Text Box 180"/>
          <p:cNvSpPr txBox="1">
            <a:spLocks noChangeArrowheads="1"/>
          </p:cNvSpPr>
          <p:nvPr/>
        </p:nvSpPr>
        <p:spPr bwMode="auto">
          <a:xfrm>
            <a:off x="6019800" y="5149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431" name="Text Box 181"/>
          <p:cNvSpPr txBox="1">
            <a:spLocks noChangeArrowheads="1"/>
          </p:cNvSpPr>
          <p:nvPr/>
        </p:nvSpPr>
        <p:spPr bwMode="auto">
          <a:xfrm>
            <a:off x="6248400" y="556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432" name="Line 182"/>
          <p:cNvSpPr>
            <a:spLocks noChangeShapeType="1"/>
          </p:cNvSpPr>
          <p:nvPr/>
        </p:nvSpPr>
        <p:spPr bwMode="auto">
          <a:xfrm flipV="1">
            <a:off x="5029200" y="5334000"/>
            <a:ext cx="533400" cy="30480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33" name="Text Box 183"/>
          <p:cNvSpPr txBox="1">
            <a:spLocks noChangeArrowheads="1"/>
          </p:cNvSpPr>
          <p:nvPr/>
        </p:nvSpPr>
        <p:spPr bwMode="auto">
          <a:xfrm>
            <a:off x="5105400" y="5181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434" name="Text Box 184"/>
          <p:cNvSpPr txBox="1">
            <a:spLocks noChangeArrowheads="1"/>
          </p:cNvSpPr>
          <p:nvPr/>
        </p:nvSpPr>
        <p:spPr bwMode="auto">
          <a:xfrm>
            <a:off x="5257800" y="5257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endParaRPr kumimoji="1" lang="en-US" altLang="zh-CN" sz="2400" dirty="0">
              <a:solidFill>
                <a:schemeClr val="hlink"/>
              </a:solidFill>
              <a:latin typeface="Times New Roman" panose="02020603050405020304" pitchFamily="18" charset="0"/>
              <a:ea typeface="华文楷体" panose="02010600040101010101" pitchFamily="2" charset="-122"/>
              <a:sym typeface="Symbol" panose="05050102010706020507" pitchFamily="18" charset="2"/>
            </a:endParaRPr>
          </a:p>
        </p:txBody>
      </p:sp>
      <p:sp>
        <p:nvSpPr>
          <p:cNvPr id="53435" name="Text Box 185"/>
          <p:cNvSpPr txBox="1">
            <a:spLocks noChangeArrowheads="1"/>
          </p:cNvSpPr>
          <p:nvPr/>
        </p:nvSpPr>
        <p:spPr bwMode="auto">
          <a:xfrm>
            <a:off x="8305800" y="4800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436" name="Oval 186"/>
          <p:cNvSpPr>
            <a:spLocks noChangeArrowheads="1"/>
          </p:cNvSpPr>
          <p:nvPr/>
        </p:nvSpPr>
        <p:spPr bwMode="auto">
          <a:xfrm>
            <a:off x="7696200" y="3962400"/>
            <a:ext cx="381000" cy="39528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37" name="Oval 187"/>
          <p:cNvSpPr>
            <a:spLocks noChangeArrowheads="1"/>
          </p:cNvSpPr>
          <p:nvPr/>
        </p:nvSpPr>
        <p:spPr bwMode="auto">
          <a:xfrm>
            <a:off x="6858000" y="4437063"/>
            <a:ext cx="381000" cy="39528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38" name="Oval 188"/>
          <p:cNvSpPr>
            <a:spLocks noChangeArrowheads="1"/>
          </p:cNvSpPr>
          <p:nvPr/>
        </p:nvSpPr>
        <p:spPr bwMode="auto">
          <a:xfrm>
            <a:off x="8305800" y="4437063"/>
            <a:ext cx="381000" cy="395287"/>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39" name="Oval 189"/>
          <p:cNvSpPr>
            <a:spLocks noChangeArrowheads="1"/>
          </p:cNvSpPr>
          <p:nvPr/>
        </p:nvSpPr>
        <p:spPr bwMode="auto">
          <a:xfrm>
            <a:off x="7620000" y="49911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40" name="Oval 190"/>
          <p:cNvSpPr>
            <a:spLocks noChangeArrowheads="1"/>
          </p:cNvSpPr>
          <p:nvPr/>
        </p:nvSpPr>
        <p:spPr bwMode="auto">
          <a:xfrm>
            <a:off x="6858000" y="5562600"/>
            <a:ext cx="381000" cy="39687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41" name="Oval 191"/>
          <p:cNvSpPr>
            <a:spLocks noChangeArrowheads="1"/>
          </p:cNvSpPr>
          <p:nvPr/>
        </p:nvSpPr>
        <p:spPr bwMode="auto">
          <a:xfrm>
            <a:off x="8382000" y="5545138"/>
            <a:ext cx="381000" cy="396875"/>
          </a:xfrm>
          <a:prstGeom prst="ellipse">
            <a:avLst/>
          </a:prstGeom>
          <a:solidFill>
            <a:schemeClr val="accent1"/>
          </a:solidFill>
          <a:ln w="952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3442" name="Text Box 192"/>
          <p:cNvSpPr txBox="1">
            <a:spLocks noChangeArrowheads="1"/>
          </p:cNvSpPr>
          <p:nvPr/>
        </p:nvSpPr>
        <p:spPr bwMode="auto">
          <a:xfrm>
            <a:off x="7772400" y="3962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443" name="Text Box 193"/>
          <p:cNvSpPr txBox="1">
            <a:spLocks noChangeArrowheads="1"/>
          </p:cNvSpPr>
          <p:nvPr/>
        </p:nvSpPr>
        <p:spPr bwMode="auto">
          <a:xfrm>
            <a:off x="69342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444" name="Text Box 194"/>
          <p:cNvSpPr txBox="1">
            <a:spLocks noChangeArrowheads="1"/>
          </p:cNvSpPr>
          <p:nvPr/>
        </p:nvSpPr>
        <p:spPr bwMode="auto">
          <a:xfrm>
            <a:off x="7696200" y="49911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445" name="Text Box 195"/>
          <p:cNvSpPr txBox="1">
            <a:spLocks noChangeArrowheads="1"/>
          </p:cNvSpPr>
          <p:nvPr/>
        </p:nvSpPr>
        <p:spPr bwMode="auto">
          <a:xfrm>
            <a:off x="8305800" y="4437063"/>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446" name="Text Box 196"/>
          <p:cNvSpPr txBox="1">
            <a:spLocks noChangeArrowheads="1"/>
          </p:cNvSpPr>
          <p:nvPr/>
        </p:nvSpPr>
        <p:spPr bwMode="auto">
          <a:xfrm>
            <a:off x="6858000" y="554513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447" name="Line 197"/>
          <p:cNvSpPr>
            <a:spLocks noChangeShapeType="1"/>
          </p:cNvSpPr>
          <p:nvPr/>
        </p:nvSpPr>
        <p:spPr bwMode="auto">
          <a:xfrm>
            <a:off x="7086600" y="4911725"/>
            <a:ext cx="0" cy="633413"/>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48" name="Line 198"/>
          <p:cNvSpPr>
            <a:spLocks noChangeShapeType="1"/>
          </p:cNvSpPr>
          <p:nvPr/>
        </p:nvSpPr>
        <p:spPr bwMode="auto">
          <a:xfrm>
            <a:off x="8534400" y="4832350"/>
            <a:ext cx="0" cy="712788"/>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49" name="Line 199"/>
          <p:cNvSpPr>
            <a:spLocks noChangeShapeType="1"/>
          </p:cNvSpPr>
          <p:nvPr/>
        </p:nvSpPr>
        <p:spPr bwMode="auto">
          <a:xfrm>
            <a:off x="8001000" y="5308600"/>
            <a:ext cx="457200" cy="315913"/>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50" name="Line 200"/>
          <p:cNvSpPr>
            <a:spLocks noChangeShapeType="1"/>
          </p:cNvSpPr>
          <p:nvPr/>
        </p:nvSpPr>
        <p:spPr bwMode="auto">
          <a:xfrm>
            <a:off x="7239000" y="4675188"/>
            <a:ext cx="381000" cy="395287"/>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51" name="Line 201"/>
          <p:cNvSpPr>
            <a:spLocks noChangeShapeType="1"/>
          </p:cNvSpPr>
          <p:nvPr/>
        </p:nvSpPr>
        <p:spPr bwMode="auto">
          <a:xfrm>
            <a:off x="7848600" y="4357688"/>
            <a:ext cx="0" cy="633412"/>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452" name="Text Box 202"/>
          <p:cNvSpPr txBox="1">
            <a:spLocks noChangeArrowheads="1"/>
          </p:cNvSpPr>
          <p:nvPr/>
        </p:nvSpPr>
        <p:spPr bwMode="auto">
          <a:xfrm>
            <a:off x="7391400" y="4572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3453" name="Text Box 203"/>
          <p:cNvSpPr txBox="1">
            <a:spLocks noChangeArrowheads="1"/>
          </p:cNvSpPr>
          <p:nvPr/>
        </p:nvSpPr>
        <p:spPr bwMode="auto">
          <a:xfrm>
            <a:off x="7772400" y="43576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3454" name="Text Box 204"/>
          <p:cNvSpPr txBox="1">
            <a:spLocks noChangeArrowheads="1"/>
          </p:cNvSpPr>
          <p:nvPr/>
        </p:nvSpPr>
        <p:spPr bwMode="auto">
          <a:xfrm>
            <a:off x="6858000" y="4876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3455" name="Text Box 205"/>
          <p:cNvSpPr txBox="1">
            <a:spLocks noChangeArrowheads="1"/>
          </p:cNvSpPr>
          <p:nvPr/>
        </p:nvSpPr>
        <p:spPr bwMode="auto">
          <a:xfrm>
            <a:off x="8153400" y="514985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3456" name="Text Box 206"/>
          <p:cNvSpPr txBox="1">
            <a:spLocks noChangeArrowheads="1"/>
          </p:cNvSpPr>
          <p:nvPr/>
        </p:nvSpPr>
        <p:spPr bwMode="auto">
          <a:xfrm>
            <a:off x="8382000" y="5562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3457" name="Text Box 207"/>
          <p:cNvSpPr txBox="1">
            <a:spLocks noChangeArrowheads="1"/>
          </p:cNvSpPr>
          <p:nvPr/>
        </p:nvSpPr>
        <p:spPr bwMode="auto">
          <a:xfrm>
            <a:off x="1905000" y="13716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n=6</a:t>
            </a:r>
            <a:endParaRPr kumimoji="1" lang="en-US" altLang="zh-CN" sz="2400" dirty="0">
              <a:latin typeface="Times New Roman" panose="02020603050405020304" pitchFamily="18" charset="0"/>
              <a:ea typeface="华文楷体" panose="02010600040101010101" pitchFamily="2" charset="-122"/>
            </a:endParaRPr>
          </a:p>
        </p:txBody>
      </p:sp>
      <p:sp>
        <p:nvSpPr>
          <p:cNvPr id="53458" name="Text Box 208"/>
          <p:cNvSpPr txBox="1">
            <a:spLocks noChangeArrowheads="1"/>
          </p:cNvSpPr>
          <p:nvPr/>
        </p:nvSpPr>
        <p:spPr bwMode="auto">
          <a:xfrm>
            <a:off x="5181600" y="2743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3459" name="Text Box 209"/>
          <p:cNvSpPr txBox="1">
            <a:spLocks noChangeArrowheads="1"/>
          </p:cNvSpPr>
          <p:nvPr/>
        </p:nvSpPr>
        <p:spPr bwMode="auto">
          <a:xfrm>
            <a:off x="7696200" y="2667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185" name="日期占位符 5"/>
          <p:cNvSpPr>
            <a:spLocks noGrp="1"/>
          </p:cNvSpPr>
          <p:nvPr>
            <p:ph type="dt" sz="quarter" idx="12"/>
          </p:nvPr>
        </p:nvSpPr>
        <p:spPr/>
        <p:txBody>
          <a:bodyPr/>
          <a:lstStyle/>
          <a:p>
            <a:pPr>
              <a:defRPr/>
            </a:pPr>
            <a:r>
              <a:rPr lang="en-US" altLang="zh-CN"/>
              <a:t>BUPT</a:t>
            </a:r>
            <a:endParaRPr lang="en-US" altLang="zh-CN"/>
          </a:p>
        </p:txBody>
      </p:sp>
      <p:sp>
        <p:nvSpPr>
          <p:cNvPr id="542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4277" name="AutoShape 3"/>
          <p:cNvSpPr>
            <a:spLocks noChangeAspect="1" noChangeArrowheads="1"/>
          </p:cNvSpPr>
          <p:nvPr/>
        </p:nvSpPr>
        <p:spPr bwMode="auto">
          <a:xfrm>
            <a:off x="3025775" y="6400800"/>
            <a:ext cx="914400" cy="914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4278" name="Text Box 4"/>
          <p:cNvSpPr txBox="1">
            <a:spLocks noChangeArrowheads="1"/>
          </p:cNvSpPr>
          <p:nvPr/>
        </p:nvSpPr>
        <p:spPr bwMode="auto">
          <a:xfrm>
            <a:off x="234487" y="1315244"/>
            <a:ext cx="3489787" cy="46166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lang="en-US" altLang="zh-CN" sz="2400" b="1" dirty="0" smtClean="0">
                <a:solidFill>
                  <a:srgbClr val="996600"/>
                </a:solidFill>
                <a:latin typeface="Verdana" panose="020B0604030504040204" pitchFamily="34" charset="0"/>
                <a:ea typeface="华文楷体" panose="02010600040101010101" pitchFamily="2" charset="-122"/>
              </a:rPr>
              <a:t>[Prim</a:t>
            </a:r>
            <a:r>
              <a:rPr lang="zh-CN" altLang="en-US" sz="2400" b="1" dirty="0" smtClean="0">
                <a:solidFill>
                  <a:srgbClr val="996600"/>
                </a:solidFill>
                <a:latin typeface="Verdana" panose="020B0604030504040204" pitchFamily="34" charset="0"/>
                <a:ea typeface="华文楷体" panose="02010600040101010101" pitchFamily="2" charset="-122"/>
              </a:rPr>
              <a:t>算法的数据结构</a:t>
            </a:r>
            <a:r>
              <a:rPr lang="en-US" altLang="zh-CN" sz="2400" b="1" dirty="0">
                <a:solidFill>
                  <a:srgbClr val="996600"/>
                </a:solidFill>
                <a:latin typeface="Verdana" panose="020B0604030504040204" pitchFamily="34"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54279" name="Oval 5"/>
          <p:cNvSpPr>
            <a:spLocks noChangeArrowheads="1"/>
          </p:cNvSpPr>
          <p:nvPr/>
        </p:nvSpPr>
        <p:spPr bwMode="auto">
          <a:xfrm>
            <a:off x="1349375" y="21336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54280" name="Oval 6"/>
          <p:cNvSpPr>
            <a:spLocks noChangeArrowheads="1"/>
          </p:cNvSpPr>
          <p:nvPr/>
        </p:nvSpPr>
        <p:spPr bwMode="auto">
          <a:xfrm>
            <a:off x="511175" y="28194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54281" name="Line 7"/>
          <p:cNvSpPr>
            <a:spLocks noChangeShapeType="1"/>
          </p:cNvSpPr>
          <p:nvPr/>
        </p:nvSpPr>
        <p:spPr bwMode="auto">
          <a:xfrm>
            <a:off x="968375" y="3048000"/>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2" name="Oval 8"/>
          <p:cNvSpPr>
            <a:spLocks noChangeArrowheads="1"/>
          </p:cNvSpPr>
          <p:nvPr/>
        </p:nvSpPr>
        <p:spPr bwMode="auto">
          <a:xfrm>
            <a:off x="2339975" y="28194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54283" name="Oval 9"/>
          <p:cNvSpPr>
            <a:spLocks noChangeArrowheads="1"/>
          </p:cNvSpPr>
          <p:nvPr/>
        </p:nvSpPr>
        <p:spPr bwMode="auto">
          <a:xfrm>
            <a:off x="1425575" y="28194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54284" name="Oval 10"/>
          <p:cNvSpPr>
            <a:spLocks noChangeArrowheads="1"/>
          </p:cNvSpPr>
          <p:nvPr/>
        </p:nvSpPr>
        <p:spPr bwMode="auto">
          <a:xfrm>
            <a:off x="815975" y="36576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54285" name="Oval 11"/>
          <p:cNvSpPr>
            <a:spLocks noChangeArrowheads="1"/>
          </p:cNvSpPr>
          <p:nvPr/>
        </p:nvSpPr>
        <p:spPr bwMode="auto">
          <a:xfrm>
            <a:off x="1806575" y="36576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54286" name="Line 12"/>
          <p:cNvSpPr>
            <a:spLocks noChangeShapeType="1"/>
          </p:cNvSpPr>
          <p:nvPr/>
        </p:nvSpPr>
        <p:spPr bwMode="auto">
          <a:xfrm>
            <a:off x="1882775" y="3048000"/>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7" name="Line 13"/>
          <p:cNvSpPr>
            <a:spLocks noChangeShapeType="1"/>
          </p:cNvSpPr>
          <p:nvPr/>
        </p:nvSpPr>
        <p:spPr bwMode="auto">
          <a:xfrm flipH="1">
            <a:off x="1654175" y="2514600"/>
            <a:ext cx="0" cy="3048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8" name="Line 14"/>
          <p:cNvSpPr>
            <a:spLocks noChangeShapeType="1"/>
          </p:cNvSpPr>
          <p:nvPr/>
        </p:nvSpPr>
        <p:spPr bwMode="auto">
          <a:xfrm>
            <a:off x="739775" y="3200400"/>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9" name="Line 15"/>
          <p:cNvSpPr>
            <a:spLocks noChangeShapeType="1"/>
          </p:cNvSpPr>
          <p:nvPr/>
        </p:nvSpPr>
        <p:spPr bwMode="auto">
          <a:xfrm flipV="1">
            <a:off x="1196975" y="3200400"/>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0" name="Line 16"/>
          <p:cNvSpPr>
            <a:spLocks noChangeShapeType="1"/>
          </p:cNvSpPr>
          <p:nvPr/>
        </p:nvSpPr>
        <p:spPr bwMode="auto">
          <a:xfrm>
            <a:off x="1730375" y="3200400"/>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1" name="Line 17"/>
          <p:cNvSpPr>
            <a:spLocks noChangeShapeType="1"/>
          </p:cNvSpPr>
          <p:nvPr/>
        </p:nvSpPr>
        <p:spPr bwMode="auto">
          <a:xfrm flipV="1">
            <a:off x="2263775" y="3200400"/>
            <a:ext cx="304800" cy="6096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2" name="Line 18"/>
          <p:cNvSpPr>
            <a:spLocks noChangeShapeType="1"/>
          </p:cNvSpPr>
          <p:nvPr/>
        </p:nvSpPr>
        <p:spPr bwMode="auto">
          <a:xfrm>
            <a:off x="1273175" y="3886200"/>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3" name="Line 19"/>
          <p:cNvSpPr>
            <a:spLocks noChangeShapeType="1"/>
          </p:cNvSpPr>
          <p:nvPr/>
        </p:nvSpPr>
        <p:spPr bwMode="auto">
          <a:xfrm flipV="1">
            <a:off x="892175" y="2438400"/>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4" name="Line 20"/>
          <p:cNvSpPr>
            <a:spLocks noChangeShapeType="1"/>
          </p:cNvSpPr>
          <p:nvPr/>
        </p:nvSpPr>
        <p:spPr bwMode="auto">
          <a:xfrm flipH="1" flipV="1">
            <a:off x="1730375" y="2438400"/>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95" name="Text Box 21"/>
          <p:cNvSpPr txBox="1">
            <a:spLocks noChangeArrowheads="1"/>
          </p:cNvSpPr>
          <p:nvPr/>
        </p:nvSpPr>
        <p:spPr bwMode="auto">
          <a:xfrm>
            <a:off x="739775" y="2514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54296" name="Text Box 22"/>
          <p:cNvSpPr txBox="1">
            <a:spLocks noChangeArrowheads="1"/>
          </p:cNvSpPr>
          <p:nvPr/>
        </p:nvSpPr>
        <p:spPr bwMode="auto">
          <a:xfrm>
            <a:off x="1349375" y="2590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p:txBody>
      </p:sp>
      <p:sp>
        <p:nvSpPr>
          <p:cNvPr id="54297" name="Text Box 23"/>
          <p:cNvSpPr txBox="1">
            <a:spLocks noChangeArrowheads="1"/>
          </p:cNvSpPr>
          <p:nvPr/>
        </p:nvSpPr>
        <p:spPr bwMode="auto">
          <a:xfrm>
            <a:off x="1349375" y="3657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54298" name="Text Box 24"/>
          <p:cNvSpPr txBox="1">
            <a:spLocks noChangeArrowheads="1"/>
          </p:cNvSpPr>
          <p:nvPr/>
        </p:nvSpPr>
        <p:spPr bwMode="auto">
          <a:xfrm>
            <a:off x="1882775" y="2438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4299" name="Text Box 25"/>
          <p:cNvSpPr txBox="1">
            <a:spLocks noChangeArrowheads="1"/>
          </p:cNvSpPr>
          <p:nvPr/>
        </p:nvSpPr>
        <p:spPr bwMode="auto">
          <a:xfrm>
            <a:off x="968375" y="2819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4300" name="Text Box 26"/>
          <p:cNvSpPr txBox="1">
            <a:spLocks noChangeArrowheads="1"/>
          </p:cNvSpPr>
          <p:nvPr/>
        </p:nvSpPr>
        <p:spPr bwMode="auto">
          <a:xfrm>
            <a:off x="1882775" y="2819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4301" name="Text Box 27"/>
          <p:cNvSpPr txBox="1">
            <a:spLocks noChangeArrowheads="1"/>
          </p:cNvSpPr>
          <p:nvPr/>
        </p:nvSpPr>
        <p:spPr bwMode="auto">
          <a:xfrm>
            <a:off x="1120775" y="3276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54302" name="Text Box 28"/>
          <p:cNvSpPr txBox="1">
            <a:spLocks noChangeArrowheads="1"/>
          </p:cNvSpPr>
          <p:nvPr/>
        </p:nvSpPr>
        <p:spPr bwMode="auto">
          <a:xfrm>
            <a:off x="587375" y="3352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54303" name="Text Box 29"/>
          <p:cNvSpPr txBox="1">
            <a:spLocks noChangeArrowheads="1"/>
          </p:cNvSpPr>
          <p:nvPr/>
        </p:nvSpPr>
        <p:spPr bwMode="auto">
          <a:xfrm>
            <a:off x="1730375" y="3276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p:txBody>
      </p:sp>
      <p:sp>
        <p:nvSpPr>
          <p:cNvPr id="54304" name="Text Box 30"/>
          <p:cNvSpPr txBox="1">
            <a:spLocks noChangeArrowheads="1"/>
          </p:cNvSpPr>
          <p:nvPr/>
        </p:nvSpPr>
        <p:spPr bwMode="auto">
          <a:xfrm>
            <a:off x="2339975" y="3352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54305" name="Text Box 31"/>
          <p:cNvSpPr txBox="1">
            <a:spLocks noChangeArrowheads="1"/>
          </p:cNvSpPr>
          <p:nvPr/>
        </p:nvSpPr>
        <p:spPr bwMode="auto">
          <a:xfrm>
            <a:off x="1044575" y="3962400"/>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54454" name="Text Box 180"/>
          <p:cNvSpPr txBox="1">
            <a:spLocks noChangeArrowheads="1"/>
          </p:cNvSpPr>
          <p:nvPr/>
        </p:nvSpPr>
        <p:spPr bwMode="auto">
          <a:xfrm>
            <a:off x="3566487" y="4811514"/>
            <a:ext cx="4663113" cy="1292662"/>
          </a:xfrm>
          <a:prstGeom prst="rect">
            <a:avLst/>
          </a:prstGeom>
          <a:noFill/>
          <a:ln w="9525">
            <a:solidFill>
              <a:schemeClr val="tx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lang="zh-CN" altLang="en-US" sz="2400" smtClean="0">
                <a:latin typeface="Times New Roman" panose="02020603050405020304" pitchFamily="18" charset="0"/>
                <a:ea typeface="华文楷体" panose="02010600040101010101" pitchFamily="2" charset="-122"/>
              </a:rPr>
              <a:t>注：</a:t>
            </a:r>
            <a:r>
              <a:rPr lang="en-US" altLang="zh-CN" sz="2400" dirty="0" err="1">
                <a:latin typeface="Times New Roman" panose="02020603050405020304" pitchFamily="18" charset="0"/>
                <a:ea typeface="华文楷体" panose="02010600040101010101" pitchFamily="2" charset="-122"/>
              </a:rPr>
              <a:t>closedge</a:t>
            </a:r>
            <a:r>
              <a:rPr lang="en-US" altLang="zh-CN" sz="2400" dirty="0">
                <a:latin typeface="Times New Roman" panose="02020603050405020304" pitchFamily="18" charset="0"/>
                <a:ea typeface="华文楷体" panose="02010600040101010101" pitchFamily="2" charset="-122"/>
              </a:rPr>
              <a:t>[ k ]. </a:t>
            </a:r>
            <a:r>
              <a:rPr lang="en-US" altLang="zh-CN" sz="2400" dirty="0" err="1">
                <a:latin typeface="Times New Roman" panose="02020603050405020304" pitchFamily="18" charset="0"/>
                <a:ea typeface="华文楷体" panose="02010600040101010101" pitchFamily="2" charset="-122"/>
              </a:rPr>
              <a:t>lowcost</a:t>
            </a:r>
            <a:r>
              <a:rPr lang="en-US" altLang="zh-CN" sz="2400" dirty="0">
                <a:latin typeface="Times New Roman" panose="02020603050405020304" pitchFamily="18" charset="0"/>
                <a:ea typeface="华文楷体" panose="02010600040101010101" pitchFamily="2" charset="-122"/>
              </a:rPr>
              <a:t> = 0</a:t>
            </a:r>
            <a:endParaRPr lang="en-US" altLang="zh-CN" sz="2400" dirty="0">
              <a:latin typeface="Times New Roman" panose="02020603050405020304" pitchFamily="18" charset="0"/>
              <a:ea typeface="华文楷体" panose="02010600040101010101" pitchFamily="2" charset="-122"/>
            </a:endParaRPr>
          </a:p>
          <a:p>
            <a:pPr>
              <a:spcBef>
                <a:spcPct val="50000"/>
              </a:spcBef>
              <a:buClrTx/>
              <a:buFontTx/>
              <a:buNone/>
            </a:pPr>
            <a:r>
              <a:rPr lang="zh-CN" altLang="en-US" sz="2400" dirty="0">
                <a:latin typeface="Times New Roman" panose="02020603050405020304" pitchFamily="18" charset="0"/>
                <a:ea typeface="华文楷体" panose="02010600040101010101" pitchFamily="2" charset="-122"/>
              </a:rPr>
              <a:t>表示顶点</a:t>
            </a:r>
            <a:r>
              <a:rPr lang="en-US" altLang="zh-CN" sz="2400" dirty="0">
                <a:latin typeface="Times New Roman" panose="02020603050405020304" pitchFamily="18" charset="0"/>
                <a:ea typeface="华文楷体" panose="02010600040101010101" pitchFamily="2" charset="-122"/>
              </a:rPr>
              <a:t>k</a:t>
            </a:r>
            <a:r>
              <a:rPr lang="zh-CN" altLang="en-US" sz="2400" dirty="0">
                <a:latin typeface="Times New Roman" panose="02020603050405020304" pitchFamily="18" charset="0"/>
                <a:ea typeface="华文楷体" panose="02010600040101010101" pitchFamily="2" charset="-122"/>
              </a:rPr>
              <a:t>已在</a:t>
            </a:r>
            <a:r>
              <a:rPr lang="en-US" altLang="zh-CN" sz="2400" dirty="0">
                <a:latin typeface="Times New Roman" panose="02020603050405020304" pitchFamily="18" charset="0"/>
                <a:ea typeface="华文楷体" panose="02010600040101010101" pitchFamily="2" charset="-122"/>
              </a:rPr>
              <a:t>U</a:t>
            </a:r>
            <a:r>
              <a:rPr lang="zh-CN" altLang="en-US" sz="2400" dirty="0">
                <a:latin typeface="Times New Roman" panose="02020603050405020304" pitchFamily="18" charset="0"/>
                <a:ea typeface="华文楷体" panose="02010600040101010101" pitchFamily="2" charset="-122"/>
              </a:rPr>
              <a:t>集合中。</a:t>
            </a:r>
            <a:endParaRPr lang="en-US" altLang="zh-CN" sz="2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 </a:t>
            </a:r>
            <a:endParaRPr kumimoji="1" lang="zh-CN" altLang="en-US" sz="1200" b="1" dirty="0">
              <a:latin typeface="Times New Roman" panose="02020603050405020304" pitchFamily="18" charset="0"/>
              <a:ea typeface="华文楷体" panose="02010600040101010101" pitchFamily="2" charset="-122"/>
            </a:endParaRPr>
          </a:p>
        </p:txBody>
      </p:sp>
      <p:sp>
        <p:nvSpPr>
          <p:cNvPr id="54457" name="Text Box 183"/>
          <p:cNvSpPr txBox="1">
            <a:spLocks noChangeArrowheads="1"/>
          </p:cNvSpPr>
          <p:nvPr/>
        </p:nvSpPr>
        <p:spPr bwMode="auto">
          <a:xfrm>
            <a:off x="0" y="4303713"/>
            <a:ext cx="31854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en-US" sz="1800" b="1" dirty="0" smtClean="0">
                <a:latin typeface="Times New Roman" panose="02020603050405020304" pitchFamily="18" charset="0"/>
                <a:ea typeface="华文楷体" panose="02010600040101010101" pitchFamily="2" charset="-122"/>
              </a:rPr>
              <a:t>主存储结构：</a:t>
            </a:r>
            <a:endParaRPr kumimoji="1" lang="en-US" altLang="zh-CN" sz="1800" b="1" dirty="0" smtClean="0">
              <a:latin typeface="Times New Roman" panose="02020603050405020304" pitchFamily="18" charset="0"/>
              <a:ea typeface="华文楷体" panose="02010600040101010101" pitchFamily="2" charset="-122"/>
            </a:endParaRPr>
          </a:p>
          <a:p>
            <a:pPr eaLnBrk="1" hangingPunct="1">
              <a:spcBef>
                <a:spcPct val="0"/>
              </a:spcBef>
              <a:buClrTx/>
              <a:buFontTx/>
              <a:buNone/>
            </a:pPr>
            <a:r>
              <a:rPr kumimoji="1" lang="zh-CN" altLang="en-US" sz="1800" b="1" dirty="0" smtClean="0">
                <a:latin typeface="Times New Roman" panose="02020603050405020304" pitchFamily="18" charset="0"/>
                <a:ea typeface="华文楷体" panose="02010600040101010101" pitchFamily="2" charset="-122"/>
              </a:rPr>
              <a:t>带</a:t>
            </a:r>
            <a:r>
              <a:rPr kumimoji="1" lang="zh-CN" altLang="en-US" sz="1800" b="1" dirty="0">
                <a:latin typeface="Times New Roman" panose="02020603050405020304" pitchFamily="18" charset="0"/>
                <a:ea typeface="华文楷体" panose="02010600040101010101" pitchFamily="2" charset="-122"/>
              </a:rPr>
              <a:t>权</a:t>
            </a:r>
            <a:r>
              <a:rPr kumimoji="1" lang="zh-CN" altLang="en-US" sz="1800" b="1" dirty="0" smtClean="0">
                <a:latin typeface="Times New Roman" panose="02020603050405020304" pitchFamily="18" charset="0"/>
                <a:ea typeface="华文楷体" panose="02010600040101010101" pitchFamily="2" charset="-122"/>
              </a:rPr>
              <a:t>邻接矩阵或邻接表记录</a:t>
            </a:r>
            <a:r>
              <a:rPr kumimoji="1" lang="zh-CN" altLang="en-US" sz="1800" b="1" dirty="0">
                <a:latin typeface="Times New Roman" panose="02020603050405020304" pitchFamily="18" charset="0"/>
                <a:ea typeface="华文楷体" panose="02010600040101010101" pitchFamily="2" charset="-122"/>
              </a:rPr>
              <a:t>图</a:t>
            </a:r>
            <a:endParaRPr kumimoji="1" lang="zh-CN" altLang="en-US" sz="1800" b="1" dirty="0">
              <a:latin typeface="Times New Roman" panose="02020603050405020304" pitchFamily="18" charset="0"/>
              <a:ea typeface="华文楷体" panose="02010600040101010101" pitchFamily="2" charset="-122"/>
            </a:endParaRPr>
          </a:p>
        </p:txBody>
      </p:sp>
      <p:sp>
        <p:nvSpPr>
          <p:cNvPr id="2" name="文本框 1"/>
          <p:cNvSpPr txBox="1"/>
          <p:nvPr/>
        </p:nvSpPr>
        <p:spPr>
          <a:xfrm>
            <a:off x="3566487" y="1776909"/>
            <a:ext cx="3714478" cy="2677656"/>
          </a:xfrm>
          <a:prstGeom prst="rect">
            <a:avLst/>
          </a:prstGeom>
          <a:noFill/>
          <a:ln>
            <a:solidFill>
              <a:schemeClr val="accent1"/>
            </a:solidFill>
          </a:ln>
        </p:spPr>
        <p:txBody>
          <a:bodyPr wrap="none" rtlCol="0">
            <a:spAutoFit/>
          </a:bodyPr>
          <a:lstStyle/>
          <a:p>
            <a:r>
              <a:rPr lang="zh-CN" altLang="en-US" sz="2400" dirty="0" smtClean="0">
                <a:latin typeface="Times New Roman" panose="02020603050405020304" pitchFamily="18" charset="0"/>
                <a:ea typeface="华文楷体" panose="02010600040101010101" pitchFamily="2" charset="-122"/>
              </a:rPr>
              <a:t>辅助变量的定义</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err="1" smtClean="0">
                <a:latin typeface="Times New Roman" panose="02020603050405020304" pitchFamily="18" charset="0"/>
                <a:ea typeface="华文楷体" panose="02010600040101010101" pitchFamily="2" charset="-122"/>
              </a:rPr>
              <a:t>typedef</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struct</a:t>
            </a:r>
            <a:r>
              <a:rPr lang="en-US" altLang="zh-CN" sz="2400" dirty="0" smtClean="0">
                <a:latin typeface="Times New Roman" panose="02020603050405020304" pitchFamily="18" charset="0"/>
                <a:ea typeface="华文楷体" panose="02010600040101010101" pitchFamily="2" charset="-122"/>
              </a:rPr>
              <a:t> </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en-US" altLang="zh-CN" sz="2400" b="1" dirty="0" err="1" smtClean="0">
                <a:solidFill>
                  <a:srgbClr val="C00000"/>
                </a:solidFill>
                <a:latin typeface="Times New Roman" panose="02020603050405020304" pitchFamily="18" charset="0"/>
                <a:ea typeface="华文楷体" panose="02010600040101010101" pitchFamily="2" charset="-122"/>
              </a:rPr>
              <a:t>int</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lowcost</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int</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adjvex</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EdgeInfo</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r>
              <a:rPr lang="en-US" altLang="zh-CN" sz="2400" dirty="0" err="1" smtClean="0">
                <a:latin typeface="Times New Roman" panose="02020603050405020304" pitchFamily="18" charset="0"/>
                <a:ea typeface="华文楷体" panose="02010600040101010101" pitchFamily="2" charset="-122"/>
              </a:rPr>
              <a:t>EdgeInfo</a:t>
            </a:r>
            <a:r>
              <a:rPr lang="en-US" altLang="zh-CN" sz="2400" dirty="0" smtClean="0">
                <a:latin typeface="Times New Roman" panose="02020603050405020304" pitchFamily="18" charset="0"/>
                <a:ea typeface="华文楷体" panose="02010600040101010101" pitchFamily="2" charset="-122"/>
              </a:rPr>
              <a:t> </a:t>
            </a:r>
            <a:r>
              <a:rPr kumimoji="1" lang="en-US" altLang="zh-CN" sz="2400" dirty="0" err="1" smtClean="0">
                <a:latin typeface="Times New Roman" panose="02020603050405020304" pitchFamily="18" charset="0"/>
                <a:ea typeface="华文楷体" panose="02010600040101010101" pitchFamily="2" charset="-122"/>
              </a:rPr>
              <a:t>closedge</a:t>
            </a:r>
            <a:r>
              <a:rPr kumimoji="1" lang="en-US" altLang="zh-CN" sz="2400" dirty="0" smtClean="0">
                <a:latin typeface="Times New Roman" panose="02020603050405020304" pitchFamily="18" charset="0"/>
                <a:ea typeface="华文楷体" panose="02010600040101010101" pitchFamily="2" charset="-122"/>
              </a:rPr>
              <a:t>[MAXV];</a:t>
            </a:r>
            <a:endParaRPr lang="en-US" altLang="zh-CN" sz="2400" dirty="0" smtClean="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7" name="Oval 32"/>
          <p:cNvSpPr>
            <a:spLocks noChangeArrowheads="1"/>
          </p:cNvSpPr>
          <p:nvPr/>
        </p:nvSpPr>
        <p:spPr bwMode="auto">
          <a:xfrm>
            <a:off x="990600" y="1799926"/>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8" name="Oval 33"/>
          <p:cNvSpPr>
            <a:spLocks noChangeArrowheads="1"/>
          </p:cNvSpPr>
          <p:nvPr/>
        </p:nvSpPr>
        <p:spPr bwMode="auto">
          <a:xfrm>
            <a:off x="152400" y="24857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9" name="Line 34"/>
          <p:cNvSpPr>
            <a:spLocks noChangeShapeType="1"/>
          </p:cNvSpPr>
          <p:nvPr/>
        </p:nvSpPr>
        <p:spPr bwMode="auto">
          <a:xfrm>
            <a:off x="609600" y="2714326"/>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 name="Oval 35"/>
          <p:cNvSpPr>
            <a:spLocks noChangeArrowheads="1"/>
          </p:cNvSpPr>
          <p:nvPr/>
        </p:nvSpPr>
        <p:spPr bwMode="auto">
          <a:xfrm>
            <a:off x="1981200" y="24857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11" name="Oval 36"/>
          <p:cNvSpPr>
            <a:spLocks noChangeArrowheads="1"/>
          </p:cNvSpPr>
          <p:nvPr/>
        </p:nvSpPr>
        <p:spPr bwMode="auto">
          <a:xfrm>
            <a:off x="1066800" y="24857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12" name="Oval 37"/>
          <p:cNvSpPr>
            <a:spLocks noChangeArrowheads="1"/>
          </p:cNvSpPr>
          <p:nvPr/>
        </p:nvSpPr>
        <p:spPr bwMode="auto">
          <a:xfrm>
            <a:off x="457200" y="33239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3" name="Oval 38"/>
          <p:cNvSpPr>
            <a:spLocks noChangeArrowheads="1"/>
          </p:cNvSpPr>
          <p:nvPr/>
        </p:nvSpPr>
        <p:spPr bwMode="auto">
          <a:xfrm>
            <a:off x="1447800" y="33239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14" name="Line 39"/>
          <p:cNvSpPr>
            <a:spLocks noChangeShapeType="1"/>
          </p:cNvSpPr>
          <p:nvPr/>
        </p:nvSpPr>
        <p:spPr bwMode="auto">
          <a:xfrm>
            <a:off x="1524000" y="2714326"/>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 name="Line 40"/>
          <p:cNvSpPr>
            <a:spLocks noChangeShapeType="1"/>
          </p:cNvSpPr>
          <p:nvPr/>
        </p:nvSpPr>
        <p:spPr bwMode="auto">
          <a:xfrm flipH="1">
            <a:off x="1295400" y="2180926"/>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 name="Line 41"/>
          <p:cNvSpPr>
            <a:spLocks noChangeShapeType="1"/>
          </p:cNvSpPr>
          <p:nvPr/>
        </p:nvSpPr>
        <p:spPr bwMode="auto">
          <a:xfrm>
            <a:off x="381000" y="2866726"/>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 name="Line 42"/>
          <p:cNvSpPr>
            <a:spLocks noChangeShapeType="1"/>
          </p:cNvSpPr>
          <p:nvPr/>
        </p:nvSpPr>
        <p:spPr bwMode="auto">
          <a:xfrm flipV="1">
            <a:off x="838200" y="2866726"/>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 name="Line 43"/>
          <p:cNvSpPr>
            <a:spLocks noChangeShapeType="1"/>
          </p:cNvSpPr>
          <p:nvPr/>
        </p:nvSpPr>
        <p:spPr bwMode="auto">
          <a:xfrm>
            <a:off x="1371600" y="2866726"/>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 name="Line 44"/>
          <p:cNvSpPr>
            <a:spLocks noChangeShapeType="1"/>
          </p:cNvSpPr>
          <p:nvPr/>
        </p:nvSpPr>
        <p:spPr bwMode="auto">
          <a:xfrm flipV="1">
            <a:off x="1905000" y="2866726"/>
            <a:ext cx="304800" cy="6096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 name="Line 45"/>
          <p:cNvSpPr>
            <a:spLocks noChangeShapeType="1"/>
          </p:cNvSpPr>
          <p:nvPr/>
        </p:nvSpPr>
        <p:spPr bwMode="auto">
          <a:xfrm>
            <a:off x="914400" y="3552526"/>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 name="Line 46"/>
          <p:cNvSpPr>
            <a:spLocks noChangeShapeType="1"/>
          </p:cNvSpPr>
          <p:nvPr/>
        </p:nvSpPr>
        <p:spPr bwMode="auto">
          <a:xfrm flipV="1">
            <a:off x="533400" y="2104726"/>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 name="Line 47"/>
          <p:cNvSpPr>
            <a:spLocks noChangeShapeType="1"/>
          </p:cNvSpPr>
          <p:nvPr/>
        </p:nvSpPr>
        <p:spPr bwMode="auto">
          <a:xfrm flipH="1" flipV="1">
            <a:off x="1371600" y="2104726"/>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 name="Text Box 48"/>
          <p:cNvSpPr txBox="1">
            <a:spLocks noChangeArrowheads="1"/>
          </p:cNvSpPr>
          <p:nvPr/>
        </p:nvSpPr>
        <p:spPr bwMode="auto">
          <a:xfrm>
            <a:off x="381000" y="2180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 name="Text Box 49"/>
          <p:cNvSpPr txBox="1">
            <a:spLocks noChangeArrowheads="1"/>
          </p:cNvSpPr>
          <p:nvPr/>
        </p:nvSpPr>
        <p:spPr bwMode="auto">
          <a:xfrm>
            <a:off x="990600" y="2257126"/>
            <a:ext cx="268287"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5" name="Text Box 50"/>
          <p:cNvSpPr txBox="1">
            <a:spLocks noChangeArrowheads="1"/>
          </p:cNvSpPr>
          <p:nvPr/>
        </p:nvSpPr>
        <p:spPr bwMode="auto">
          <a:xfrm>
            <a:off x="990600" y="3323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6" name="Text Box 51"/>
          <p:cNvSpPr txBox="1">
            <a:spLocks noChangeArrowheads="1"/>
          </p:cNvSpPr>
          <p:nvPr/>
        </p:nvSpPr>
        <p:spPr bwMode="auto">
          <a:xfrm>
            <a:off x="1524000" y="2104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7" name="Text Box 52"/>
          <p:cNvSpPr txBox="1">
            <a:spLocks noChangeArrowheads="1"/>
          </p:cNvSpPr>
          <p:nvPr/>
        </p:nvSpPr>
        <p:spPr bwMode="auto">
          <a:xfrm>
            <a:off x="609600" y="2485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8" name="Text Box 53"/>
          <p:cNvSpPr txBox="1">
            <a:spLocks noChangeArrowheads="1"/>
          </p:cNvSpPr>
          <p:nvPr/>
        </p:nvSpPr>
        <p:spPr bwMode="auto">
          <a:xfrm>
            <a:off x="1524000" y="2485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9" name="Text Box 54"/>
          <p:cNvSpPr txBox="1">
            <a:spLocks noChangeArrowheads="1"/>
          </p:cNvSpPr>
          <p:nvPr/>
        </p:nvSpPr>
        <p:spPr bwMode="auto">
          <a:xfrm>
            <a:off x="762000" y="2942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30" name="Text Box 55"/>
          <p:cNvSpPr txBox="1">
            <a:spLocks noChangeArrowheads="1"/>
          </p:cNvSpPr>
          <p:nvPr/>
        </p:nvSpPr>
        <p:spPr bwMode="auto">
          <a:xfrm>
            <a:off x="228600" y="30191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31" name="Text Box 56"/>
          <p:cNvSpPr txBox="1">
            <a:spLocks noChangeArrowheads="1"/>
          </p:cNvSpPr>
          <p:nvPr/>
        </p:nvSpPr>
        <p:spPr bwMode="auto">
          <a:xfrm>
            <a:off x="1371600" y="2942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p:txBody>
      </p:sp>
      <p:sp>
        <p:nvSpPr>
          <p:cNvPr id="32" name="Text Box 57"/>
          <p:cNvSpPr txBox="1">
            <a:spLocks noChangeArrowheads="1"/>
          </p:cNvSpPr>
          <p:nvPr/>
        </p:nvSpPr>
        <p:spPr bwMode="auto">
          <a:xfrm>
            <a:off x="1981200" y="30191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33" name="Text Box 58"/>
          <p:cNvSpPr txBox="1">
            <a:spLocks noChangeArrowheads="1"/>
          </p:cNvSpPr>
          <p:nvPr/>
        </p:nvSpPr>
        <p:spPr bwMode="auto">
          <a:xfrm>
            <a:off x="685800" y="3628726"/>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34" name="Oval 59"/>
          <p:cNvSpPr>
            <a:spLocks noChangeArrowheads="1"/>
          </p:cNvSpPr>
          <p:nvPr/>
        </p:nvSpPr>
        <p:spPr bwMode="auto">
          <a:xfrm>
            <a:off x="3810000" y="1799926"/>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35" name="Oval 60"/>
          <p:cNvSpPr>
            <a:spLocks noChangeArrowheads="1"/>
          </p:cNvSpPr>
          <p:nvPr/>
        </p:nvSpPr>
        <p:spPr bwMode="auto">
          <a:xfrm>
            <a:off x="2971800" y="24857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36" name="Line 61"/>
          <p:cNvSpPr>
            <a:spLocks noChangeShapeType="1"/>
          </p:cNvSpPr>
          <p:nvPr/>
        </p:nvSpPr>
        <p:spPr bwMode="auto">
          <a:xfrm>
            <a:off x="3429000" y="2714326"/>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7" name="Oval 62"/>
          <p:cNvSpPr>
            <a:spLocks noChangeArrowheads="1"/>
          </p:cNvSpPr>
          <p:nvPr/>
        </p:nvSpPr>
        <p:spPr bwMode="auto">
          <a:xfrm>
            <a:off x="4800600" y="24857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38" name="Oval 63"/>
          <p:cNvSpPr>
            <a:spLocks noChangeArrowheads="1"/>
          </p:cNvSpPr>
          <p:nvPr/>
        </p:nvSpPr>
        <p:spPr bwMode="auto">
          <a:xfrm>
            <a:off x="3886200" y="2485726"/>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39" name="Oval 64"/>
          <p:cNvSpPr>
            <a:spLocks noChangeArrowheads="1"/>
          </p:cNvSpPr>
          <p:nvPr/>
        </p:nvSpPr>
        <p:spPr bwMode="auto">
          <a:xfrm>
            <a:off x="3276600" y="33239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40" name="Oval 65"/>
          <p:cNvSpPr>
            <a:spLocks noChangeArrowheads="1"/>
          </p:cNvSpPr>
          <p:nvPr/>
        </p:nvSpPr>
        <p:spPr bwMode="auto">
          <a:xfrm>
            <a:off x="4267200" y="3323926"/>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41" name="Line 66"/>
          <p:cNvSpPr>
            <a:spLocks noChangeShapeType="1"/>
          </p:cNvSpPr>
          <p:nvPr/>
        </p:nvSpPr>
        <p:spPr bwMode="auto">
          <a:xfrm>
            <a:off x="4343400" y="2714326"/>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 name="Line 67"/>
          <p:cNvSpPr>
            <a:spLocks noChangeShapeType="1"/>
          </p:cNvSpPr>
          <p:nvPr/>
        </p:nvSpPr>
        <p:spPr bwMode="auto">
          <a:xfrm flipH="1">
            <a:off x="4114800" y="2180926"/>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 name="Line 68"/>
          <p:cNvSpPr>
            <a:spLocks noChangeShapeType="1"/>
          </p:cNvSpPr>
          <p:nvPr/>
        </p:nvSpPr>
        <p:spPr bwMode="auto">
          <a:xfrm>
            <a:off x="3200400" y="2866726"/>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 name="Line 69"/>
          <p:cNvSpPr>
            <a:spLocks noChangeShapeType="1"/>
          </p:cNvSpPr>
          <p:nvPr/>
        </p:nvSpPr>
        <p:spPr bwMode="auto">
          <a:xfrm flipV="1">
            <a:off x="3657600" y="2866726"/>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5" name="Line 70"/>
          <p:cNvSpPr>
            <a:spLocks noChangeShapeType="1"/>
          </p:cNvSpPr>
          <p:nvPr/>
        </p:nvSpPr>
        <p:spPr bwMode="auto">
          <a:xfrm>
            <a:off x="4191000" y="2866726"/>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 name="Line 71"/>
          <p:cNvSpPr>
            <a:spLocks noChangeShapeType="1"/>
          </p:cNvSpPr>
          <p:nvPr/>
        </p:nvSpPr>
        <p:spPr bwMode="auto">
          <a:xfrm flipV="1">
            <a:off x="4724400" y="2866726"/>
            <a:ext cx="304800" cy="6096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 name="Line 72"/>
          <p:cNvSpPr>
            <a:spLocks noChangeShapeType="1"/>
          </p:cNvSpPr>
          <p:nvPr/>
        </p:nvSpPr>
        <p:spPr bwMode="auto">
          <a:xfrm>
            <a:off x="3733800" y="3552526"/>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8" name="Line 73"/>
          <p:cNvSpPr>
            <a:spLocks noChangeShapeType="1"/>
          </p:cNvSpPr>
          <p:nvPr/>
        </p:nvSpPr>
        <p:spPr bwMode="auto">
          <a:xfrm flipV="1">
            <a:off x="3352800" y="2104726"/>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 name="Line 74"/>
          <p:cNvSpPr>
            <a:spLocks noChangeShapeType="1"/>
          </p:cNvSpPr>
          <p:nvPr/>
        </p:nvSpPr>
        <p:spPr bwMode="auto">
          <a:xfrm flipH="1" flipV="1">
            <a:off x="4191000" y="2104726"/>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0" name="Text Box 75"/>
          <p:cNvSpPr txBox="1">
            <a:spLocks noChangeArrowheads="1"/>
          </p:cNvSpPr>
          <p:nvPr/>
        </p:nvSpPr>
        <p:spPr bwMode="auto">
          <a:xfrm>
            <a:off x="3200400" y="2180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51" name="Text Box 76"/>
          <p:cNvSpPr txBox="1">
            <a:spLocks noChangeArrowheads="1"/>
          </p:cNvSpPr>
          <p:nvPr/>
        </p:nvSpPr>
        <p:spPr bwMode="auto">
          <a:xfrm>
            <a:off x="3774505" y="2266466"/>
            <a:ext cx="270697"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52" name="Text Box 77"/>
          <p:cNvSpPr txBox="1">
            <a:spLocks noChangeArrowheads="1"/>
          </p:cNvSpPr>
          <p:nvPr/>
        </p:nvSpPr>
        <p:spPr bwMode="auto">
          <a:xfrm>
            <a:off x="3810000" y="3323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53" name="Text Box 78"/>
          <p:cNvSpPr txBox="1">
            <a:spLocks noChangeArrowheads="1"/>
          </p:cNvSpPr>
          <p:nvPr/>
        </p:nvSpPr>
        <p:spPr bwMode="auto">
          <a:xfrm>
            <a:off x="4343400" y="2104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4" name="Text Box 79"/>
          <p:cNvSpPr txBox="1">
            <a:spLocks noChangeArrowheads="1"/>
          </p:cNvSpPr>
          <p:nvPr/>
        </p:nvSpPr>
        <p:spPr bwMode="auto">
          <a:xfrm>
            <a:off x="3429000" y="2485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5" name="Text Box 80"/>
          <p:cNvSpPr txBox="1">
            <a:spLocks noChangeArrowheads="1"/>
          </p:cNvSpPr>
          <p:nvPr/>
        </p:nvSpPr>
        <p:spPr bwMode="auto">
          <a:xfrm>
            <a:off x="4343400" y="24857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56" name="Text Box 81"/>
          <p:cNvSpPr txBox="1">
            <a:spLocks noChangeArrowheads="1"/>
          </p:cNvSpPr>
          <p:nvPr/>
        </p:nvSpPr>
        <p:spPr bwMode="auto">
          <a:xfrm>
            <a:off x="3581400" y="2942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6</a:t>
            </a:r>
            <a:endParaRPr kumimoji="1" lang="en-US" altLang="zh-CN" sz="1200" dirty="0">
              <a:latin typeface="Times New Roman" panose="02020603050405020304" pitchFamily="18" charset="0"/>
              <a:ea typeface="华文楷体" panose="02010600040101010101" pitchFamily="2" charset="-122"/>
            </a:endParaRPr>
          </a:p>
        </p:txBody>
      </p:sp>
      <p:sp>
        <p:nvSpPr>
          <p:cNvPr id="57" name="Text Box 82"/>
          <p:cNvSpPr txBox="1">
            <a:spLocks noChangeArrowheads="1"/>
          </p:cNvSpPr>
          <p:nvPr/>
        </p:nvSpPr>
        <p:spPr bwMode="auto">
          <a:xfrm>
            <a:off x="3048000" y="30191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58" name="Text Box 83"/>
          <p:cNvSpPr txBox="1">
            <a:spLocks noChangeArrowheads="1"/>
          </p:cNvSpPr>
          <p:nvPr/>
        </p:nvSpPr>
        <p:spPr bwMode="auto">
          <a:xfrm>
            <a:off x="4191000" y="29429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59" name="Text Box 84"/>
          <p:cNvSpPr txBox="1">
            <a:spLocks noChangeArrowheads="1"/>
          </p:cNvSpPr>
          <p:nvPr/>
        </p:nvSpPr>
        <p:spPr bwMode="auto">
          <a:xfrm>
            <a:off x="4800600" y="3019126"/>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p:txBody>
      </p:sp>
      <p:sp>
        <p:nvSpPr>
          <p:cNvPr id="60" name="Text Box 85"/>
          <p:cNvSpPr txBox="1">
            <a:spLocks noChangeArrowheads="1"/>
          </p:cNvSpPr>
          <p:nvPr/>
        </p:nvSpPr>
        <p:spPr bwMode="auto">
          <a:xfrm>
            <a:off x="3505200" y="3628726"/>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61" name="Freeform 86"/>
          <p:cNvSpPr/>
          <p:nvPr/>
        </p:nvSpPr>
        <p:spPr bwMode="auto">
          <a:xfrm>
            <a:off x="587375" y="1441151"/>
            <a:ext cx="1101725" cy="1050925"/>
          </a:xfrm>
          <a:custGeom>
            <a:avLst/>
            <a:gdLst>
              <a:gd name="T0" fmla="*/ 2147483646 w 694"/>
              <a:gd name="T1" fmla="*/ 0 h 662"/>
              <a:gd name="T2" fmla="*/ 2147483646 w 694"/>
              <a:gd name="T3" fmla="*/ 2147483646 h 662"/>
              <a:gd name="T4" fmla="*/ 2147483646 w 694"/>
              <a:gd name="T5" fmla="*/ 2147483646 h 662"/>
              <a:gd name="T6" fmla="*/ 2147483646 w 694"/>
              <a:gd name="T7" fmla="*/ 2147483646 h 662"/>
              <a:gd name="T8" fmla="*/ 2147483646 w 694"/>
              <a:gd name="T9" fmla="*/ 2147483646 h 662"/>
              <a:gd name="T10" fmla="*/ 2147483646 w 694"/>
              <a:gd name="T11" fmla="*/ 2147483646 h 662"/>
              <a:gd name="T12" fmla="*/ 2147483646 w 694"/>
              <a:gd name="T13" fmla="*/ 2147483646 h 6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4" h="662">
                <a:moveTo>
                  <a:pt x="76" y="0"/>
                </a:moveTo>
                <a:cubicBezTo>
                  <a:pt x="0" y="76"/>
                  <a:pt x="48" y="176"/>
                  <a:pt x="54" y="291"/>
                </a:cubicBezTo>
                <a:cubicBezTo>
                  <a:pt x="61" y="419"/>
                  <a:pt x="108" y="439"/>
                  <a:pt x="185" y="553"/>
                </a:cubicBezTo>
                <a:cubicBezTo>
                  <a:pt x="195" y="568"/>
                  <a:pt x="196" y="589"/>
                  <a:pt x="207" y="604"/>
                </a:cubicBezTo>
                <a:cubicBezTo>
                  <a:pt x="225" y="629"/>
                  <a:pt x="280" y="653"/>
                  <a:pt x="309" y="662"/>
                </a:cubicBezTo>
                <a:cubicBezTo>
                  <a:pt x="472" y="630"/>
                  <a:pt x="211" y="649"/>
                  <a:pt x="614" y="626"/>
                </a:cubicBezTo>
                <a:cubicBezTo>
                  <a:pt x="639" y="609"/>
                  <a:pt x="672" y="604"/>
                  <a:pt x="694" y="582"/>
                </a:cubicBezTo>
              </a:path>
            </a:pathLst>
          </a:cu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2" name="Freeform 87"/>
          <p:cNvSpPr/>
          <p:nvPr/>
        </p:nvSpPr>
        <p:spPr bwMode="auto">
          <a:xfrm>
            <a:off x="709486" y="1083964"/>
            <a:ext cx="1154113" cy="1354137"/>
          </a:xfrm>
          <a:custGeom>
            <a:avLst/>
            <a:gdLst>
              <a:gd name="T0" fmla="*/ 2147483646 w 727"/>
              <a:gd name="T1" fmla="*/ 2147483646 h 853"/>
              <a:gd name="T2" fmla="*/ 2147483646 w 727"/>
              <a:gd name="T3" fmla="*/ 2147483646 h 853"/>
              <a:gd name="T4" fmla="*/ 2147483646 w 727"/>
              <a:gd name="T5" fmla="*/ 2147483646 h 853"/>
              <a:gd name="T6" fmla="*/ 2147483646 w 727"/>
              <a:gd name="T7" fmla="*/ 2147483646 h 853"/>
              <a:gd name="T8" fmla="*/ 2147483646 w 727"/>
              <a:gd name="T9" fmla="*/ 2147483646 h 853"/>
              <a:gd name="T10" fmla="*/ 2147483646 w 727"/>
              <a:gd name="T11" fmla="*/ 2147483646 h 853"/>
              <a:gd name="T12" fmla="*/ 2147483646 w 727"/>
              <a:gd name="T13" fmla="*/ 2147483646 h 853"/>
              <a:gd name="T14" fmla="*/ 2147483646 w 727"/>
              <a:gd name="T15" fmla="*/ 2147483646 h 853"/>
              <a:gd name="T16" fmla="*/ 2147483646 w 727"/>
              <a:gd name="T17" fmla="*/ 2147483646 h 853"/>
              <a:gd name="T18" fmla="*/ 2147483646 w 727"/>
              <a:gd name="T19" fmla="*/ 2147483646 h 853"/>
              <a:gd name="T20" fmla="*/ 2147483646 w 727"/>
              <a:gd name="T21" fmla="*/ 2147483646 h 853"/>
              <a:gd name="T22" fmla="*/ 2147483646 w 727"/>
              <a:gd name="T23" fmla="*/ 2147483646 h 853"/>
              <a:gd name="T24" fmla="*/ 2147483646 w 727"/>
              <a:gd name="T25" fmla="*/ 2147483646 h 853"/>
              <a:gd name="T26" fmla="*/ 2147483646 w 727"/>
              <a:gd name="T27" fmla="*/ 2147483646 h 853"/>
              <a:gd name="T28" fmla="*/ 2147483646 w 727"/>
              <a:gd name="T29" fmla="*/ 2147483646 h 853"/>
              <a:gd name="T30" fmla="*/ 2147483646 w 727"/>
              <a:gd name="T31" fmla="*/ 2147483646 h 853"/>
              <a:gd name="T32" fmla="*/ 2147483646 w 727"/>
              <a:gd name="T33" fmla="*/ 2147483646 h 853"/>
              <a:gd name="T34" fmla="*/ 2147483646 w 727"/>
              <a:gd name="T35" fmla="*/ 2147483646 h 853"/>
              <a:gd name="T36" fmla="*/ 2147483646 w 727"/>
              <a:gd name="T37" fmla="*/ 2147483646 h 853"/>
              <a:gd name="T38" fmla="*/ 2147483646 w 727"/>
              <a:gd name="T39" fmla="*/ 2147483646 h 853"/>
              <a:gd name="T40" fmla="*/ 2147483646 w 727"/>
              <a:gd name="T41" fmla="*/ 2147483646 h 8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27" h="853">
                <a:moveTo>
                  <a:pt x="43" y="271"/>
                </a:moveTo>
                <a:cubicBezTo>
                  <a:pt x="31" y="357"/>
                  <a:pt x="0" y="465"/>
                  <a:pt x="51" y="541"/>
                </a:cubicBezTo>
                <a:cubicBezTo>
                  <a:pt x="65" y="599"/>
                  <a:pt x="85" y="659"/>
                  <a:pt x="138" y="693"/>
                </a:cubicBezTo>
                <a:cubicBezTo>
                  <a:pt x="155" y="719"/>
                  <a:pt x="166" y="734"/>
                  <a:pt x="196" y="744"/>
                </a:cubicBezTo>
                <a:cubicBezTo>
                  <a:pt x="198" y="751"/>
                  <a:pt x="198" y="761"/>
                  <a:pt x="203" y="766"/>
                </a:cubicBezTo>
                <a:cubicBezTo>
                  <a:pt x="215" y="778"/>
                  <a:pt x="275" y="792"/>
                  <a:pt x="291" y="795"/>
                </a:cubicBezTo>
                <a:cubicBezTo>
                  <a:pt x="334" y="826"/>
                  <a:pt x="375" y="820"/>
                  <a:pt x="429" y="824"/>
                </a:cubicBezTo>
                <a:cubicBezTo>
                  <a:pt x="468" y="833"/>
                  <a:pt x="507" y="841"/>
                  <a:pt x="545" y="853"/>
                </a:cubicBezTo>
                <a:cubicBezTo>
                  <a:pt x="574" y="851"/>
                  <a:pt x="603" y="852"/>
                  <a:pt x="632" y="846"/>
                </a:cubicBezTo>
                <a:cubicBezTo>
                  <a:pt x="679" y="837"/>
                  <a:pt x="677" y="755"/>
                  <a:pt x="698" y="715"/>
                </a:cubicBezTo>
                <a:cubicBezTo>
                  <a:pt x="713" y="539"/>
                  <a:pt x="681" y="594"/>
                  <a:pt x="727" y="526"/>
                </a:cubicBezTo>
                <a:cubicBezTo>
                  <a:pt x="714" y="362"/>
                  <a:pt x="724" y="283"/>
                  <a:pt x="611" y="170"/>
                </a:cubicBezTo>
                <a:cubicBezTo>
                  <a:pt x="595" y="116"/>
                  <a:pt x="597" y="109"/>
                  <a:pt x="545" y="97"/>
                </a:cubicBezTo>
                <a:cubicBezTo>
                  <a:pt x="530" y="86"/>
                  <a:pt x="517" y="71"/>
                  <a:pt x="502" y="61"/>
                </a:cubicBezTo>
                <a:cubicBezTo>
                  <a:pt x="469" y="39"/>
                  <a:pt x="415" y="36"/>
                  <a:pt x="378" y="31"/>
                </a:cubicBezTo>
                <a:cubicBezTo>
                  <a:pt x="280" y="0"/>
                  <a:pt x="311" y="11"/>
                  <a:pt x="152" y="24"/>
                </a:cubicBezTo>
                <a:cubicBezTo>
                  <a:pt x="129" y="60"/>
                  <a:pt x="151" y="84"/>
                  <a:pt x="109" y="97"/>
                </a:cubicBezTo>
                <a:cubicBezTo>
                  <a:pt x="104" y="107"/>
                  <a:pt x="101" y="118"/>
                  <a:pt x="94" y="126"/>
                </a:cubicBezTo>
                <a:cubicBezTo>
                  <a:pt x="88" y="133"/>
                  <a:pt x="76" y="133"/>
                  <a:pt x="72" y="141"/>
                </a:cubicBezTo>
                <a:cubicBezTo>
                  <a:pt x="54" y="176"/>
                  <a:pt x="68" y="192"/>
                  <a:pt x="43" y="228"/>
                </a:cubicBezTo>
                <a:cubicBezTo>
                  <a:pt x="35" y="267"/>
                  <a:pt x="27" y="255"/>
                  <a:pt x="43" y="271"/>
                </a:cubicBezTo>
                <a:close/>
              </a:path>
            </a:pathLst>
          </a:cu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3" name="Freeform 88"/>
          <p:cNvSpPr/>
          <p:nvPr/>
        </p:nvSpPr>
        <p:spPr bwMode="auto">
          <a:xfrm>
            <a:off x="3450431" y="1604665"/>
            <a:ext cx="1154112" cy="1354137"/>
          </a:xfrm>
          <a:custGeom>
            <a:avLst/>
            <a:gdLst>
              <a:gd name="T0" fmla="*/ 2147483646 w 727"/>
              <a:gd name="T1" fmla="*/ 2147483646 h 853"/>
              <a:gd name="T2" fmla="*/ 2147483646 w 727"/>
              <a:gd name="T3" fmla="*/ 2147483646 h 853"/>
              <a:gd name="T4" fmla="*/ 2147483646 w 727"/>
              <a:gd name="T5" fmla="*/ 2147483646 h 853"/>
              <a:gd name="T6" fmla="*/ 2147483646 w 727"/>
              <a:gd name="T7" fmla="*/ 2147483646 h 853"/>
              <a:gd name="T8" fmla="*/ 2147483646 w 727"/>
              <a:gd name="T9" fmla="*/ 2147483646 h 853"/>
              <a:gd name="T10" fmla="*/ 2147483646 w 727"/>
              <a:gd name="T11" fmla="*/ 2147483646 h 853"/>
              <a:gd name="T12" fmla="*/ 2147483646 w 727"/>
              <a:gd name="T13" fmla="*/ 2147483646 h 853"/>
              <a:gd name="T14" fmla="*/ 2147483646 w 727"/>
              <a:gd name="T15" fmla="*/ 2147483646 h 853"/>
              <a:gd name="T16" fmla="*/ 2147483646 w 727"/>
              <a:gd name="T17" fmla="*/ 2147483646 h 853"/>
              <a:gd name="T18" fmla="*/ 2147483646 w 727"/>
              <a:gd name="T19" fmla="*/ 2147483646 h 853"/>
              <a:gd name="T20" fmla="*/ 2147483646 w 727"/>
              <a:gd name="T21" fmla="*/ 2147483646 h 853"/>
              <a:gd name="T22" fmla="*/ 2147483646 w 727"/>
              <a:gd name="T23" fmla="*/ 2147483646 h 853"/>
              <a:gd name="T24" fmla="*/ 2147483646 w 727"/>
              <a:gd name="T25" fmla="*/ 2147483646 h 853"/>
              <a:gd name="T26" fmla="*/ 2147483646 w 727"/>
              <a:gd name="T27" fmla="*/ 2147483646 h 853"/>
              <a:gd name="T28" fmla="*/ 2147483646 w 727"/>
              <a:gd name="T29" fmla="*/ 2147483646 h 853"/>
              <a:gd name="T30" fmla="*/ 2147483646 w 727"/>
              <a:gd name="T31" fmla="*/ 2147483646 h 853"/>
              <a:gd name="T32" fmla="*/ 2147483646 w 727"/>
              <a:gd name="T33" fmla="*/ 2147483646 h 853"/>
              <a:gd name="T34" fmla="*/ 2147483646 w 727"/>
              <a:gd name="T35" fmla="*/ 2147483646 h 853"/>
              <a:gd name="T36" fmla="*/ 2147483646 w 727"/>
              <a:gd name="T37" fmla="*/ 2147483646 h 853"/>
              <a:gd name="T38" fmla="*/ 2147483646 w 727"/>
              <a:gd name="T39" fmla="*/ 2147483646 h 853"/>
              <a:gd name="T40" fmla="*/ 2147483646 w 727"/>
              <a:gd name="T41" fmla="*/ 2147483646 h 8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27" h="853">
                <a:moveTo>
                  <a:pt x="43" y="271"/>
                </a:moveTo>
                <a:cubicBezTo>
                  <a:pt x="31" y="357"/>
                  <a:pt x="0" y="465"/>
                  <a:pt x="51" y="541"/>
                </a:cubicBezTo>
                <a:cubicBezTo>
                  <a:pt x="65" y="599"/>
                  <a:pt x="85" y="659"/>
                  <a:pt x="138" y="693"/>
                </a:cubicBezTo>
                <a:cubicBezTo>
                  <a:pt x="155" y="719"/>
                  <a:pt x="166" y="734"/>
                  <a:pt x="196" y="744"/>
                </a:cubicBezTo>
                <a:cubicBezTo>
                  <a:pt x="198" y="751"/>
                  <a:pt x="198" y="761"/>
                  <a:pt x="203" y="766"/>
                </a:cubicBezTo>
                <a:cubicBezTo>
                  <a:pt x="215" y="778"/>
                  <a:pt x="275" y="792"/>
                  <a:pt x="291" y="795"/>
                </a:cubicBezTo>
                <a:cubicBezTo>
                  <a:pt x="334" y="826"/>
                  <a:pt x="375" y="820"/>
                  <a:pt x="429" y="824"/>
                </a:cubicBezTo>
                <a:cubicBezTo>
                  <a:pt x="468" y="833"/>
                  <a:pt x="507" y="841"/>
                  <a:pt x="545" y="853"/>
                </a:cubicBezTo>
                <a:cubicBezTo>
                  <a:pt x="574" y="851"/>
                  <a:pt x="603" y="852"/>
                  <a:pt x="632" y="846"/>
                </a:cubicBezTo>
                <a:cubicBezTo>
                  <a:pt x="679" y="837"/>
                  <a:pt x="677" y="755"/>
                  <a:pt x="698" y="715"/>
                </a:cubicBezTo>
                <a:cubicBezTo>
                  <a:pt x="713" y="539"/>
                  <a:pt x="681" y="594"/>
                  <a:pt x="727" y="526"/>
                </a:cubicBezTo>
                <a:cubicBezTo>
                  <a:pt x="714" y="362"/>
                  <a:pt x="724" y="283"/>
                  <a:pt x="611" y="170"/>
                </a:cubicBezTo>
                <a:cubicBezTo>
                  <a:pt x="595" y="116"/>
                  <a:pt x="597" y="109"/>
                  <a:pt x="545" y="97"/>
                </a:cubicBezTo>
                <a:cubicBezTo>
                  <a:pt x="530" y="86"/>
                  <a:pt x="517" y="71"/>
                  <a:pt x="502" y="61"/>
                </a:cubicBezTo>
                <a:cubicBezTo>
                  <a:pt x="469" y="39"/>
                  <a:pt x="415" y="36"/>
                  <a:pt x="378" y="31"/>
                </a:cubicBezTo>
                <a:cubicBezTo>
                  <a:pt x="280" y="0"/>
                  <a:pt x="311" y="11"/>
                  <a:pt x="152" y="24"/>
                </a:cubicBezTo>
                <a:cubicBezTo>
                  <a:pt x="129" y="60"/>
                  <a:pt x="151" y="84"/>
                  <a:pt x="109" y="97"/>
                </a:cubicBezTo>
                <a:cubicBezTo>
                  <a:pt x="104" y="107"/>
                  <a:pt x="101" y="118"/>
                  <a:pt x="94" y="126"/>
                </a:cubicBezTo>
                <a:cubicBezTo>
                  <a:pt x="88" y="133"/>
                  <a:pt x="76" y="133"/>
                  <a:pt x="72" y="141"/>
                </a:cubicBezTo>
                <a:cubicBezTo>
                  <a:pt x="54" y="176"/>
                  <a:pt x="68" y="192"/>
                  <a:pt x="43" y="228"/>
                </a:cubicBezTo>
                <a:cubicBezTo>
                  <a:pt x="35" y="267"/>
                  <a:pt x="27" y="255"/>
                  <a:pt x="43" y="271"/>
                </a:cubicBezTo>
                <a:close/>
              </a:path>
            </a:pathLst>
          </a:cu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 name="Text Box 89"/>
          <p:cNvSpPr txBox="1">
            <a:spLocks noChangeArrowheads="1"/>
          </p:cNvSpPr>
          <p:nvPr/>
        </p:nvSpPr>
        <p:spPr bwMode="auto">
          <a:xfrm>
            <a:off x="990600" y="1450676"/>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65" name="Text Box 90"/>
          <p:cNvSpPr txBox="1">
            <a:spLocks noChangeArrowheads="1"/>
          </p:cNvSpPr>
          <p:nvPr/>
        </p:nvSpPr>
        <p:spPr bwMode="auto">
          <a:xfrm>
            <a:off x="3352800" y="1907876"/>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66" name="Line 91"/>
          <p:cNvSpPr>
            <a:spLocks noChangeShapeType="1"/>
          </p:cNvSpPr>
          <p:nvPr/>
        </p:nvSpPr>
        <p:spPr bwMode="auto">
          <a:xfrm>
            <a:off x="762000" y="44224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 name="Line 92"/>
          <p:cNvSpPr>
            <a:spLocks noChangeShapeType="1"/>
          </p:cNvSpPr>
          <p:nvPr/>
        </p:nvSpPr>
        <p:spPr bwMode="auto">
          <a:xfrm flipV="1">
            <a:off x="7620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8" name="Line 93"/>
          <p:cNvSpPr>
            <a:spLocks noChangeShapeType="1"/>
          </p:cNvSpPr>
          <p:nvPr/>
        </p:nvSpPr>
        <p:spPr bwMode="auto">
          <a:xfrm>
            <a:off x="762000" y="46510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 name="Line 94"/>
          <p:cNvSpPr>
            <a:spLocks noChangeShapeType="1"/>
          </p:cNvSpPr>
          <p:nvPr/>
        </p:nvSpPr>
        <p:spPr bwMode="auto">
          <a:xfrm flipV="1">
            <a:off x="12192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 name="Line 95"/>
          <p:cNvSpPr>
            <a:spLocks noChangeShapeType="1"/>
          </p:cNvSpPr>
          <p:nvPr/>
        </p:nvSpPr>
        <p:spPr bwMode="auto">
          <a:xfrm flipV="1">
            <a:off x="16764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 name="Text Box 96"/>
          <p:cNvSpPr txBox="1">
            <a:spLocks noChangeArrowheads="1"/>
          </p:cNvSpPr>
          <p:nvPr/>
        </p:nvSpPr>
        <p:spPr bwMode="auto">
          <a:xfrm>
            <a:off x="762000" y="43462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72" name="Line 97"/>
          <p:cNvSpPr>
            <a:spLocks noChangeShapeType="1"/>
          </p:cNvSpPr>
          <p:nvPr/>
        </p:nvSpPr>
        <p:spPr bwMode="auto">
          <a:xfrm>
            <a:off x="762000" y="46510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 name="Line 98"/>
          <p:cNvSpPr>
            <a:spLocks noChangeShapeType="1"/>
          </p:cNvSpPr>
          <p:nvPr/>
        </p:nvSpPr>
        <p:spPr bwMode="auto">
          <a:xfrm flipV="1">
            <a:off x="7620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 name="Line 99"/>
          <p:cNvSpPr>
            <a:spLocks noChangeShapeType="1"/>
          </p:cNvSpPr>
          <p:nvPr/>
        </p:nvSpPr>
        <p:spPr bwMode="auto">
          <a:xfrm>
            <a:off x="762000" y="48796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 name="Line 100"/>
          <p:cNvSpPr>
            <a:spLocks noChangeShapeType="1"/>
          </p:cNvSpPr>
          <p:nvPr/>
        </p:nvSpPr>
        <p:spPr bwMode="auto">
          <a:xfrm flipV="1">
            <a:off x="12192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 name="Line 101"/>
          <p:cNvSpPr>
            <a:spLocks noChangeShapeType="1"/>
          </p:cNvSpPr>
          <p:nvPr/>
        </p:nvSpPr>
        <p:spPr bwMode="auto">
          <a:xfrm flipV="1">
            <a:off x="16764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 name="Text Box 102"/>
          <p:cNvSpPr txBox="1">
            <a:spLocks noChangeArrowheads="1"/>
          </p:cNvSpPr>
          <p:nvPr/>
        </p:nvSpPr>
        <p:spPr bwMode="auto">
          <a:xfrm>
            <a:off x="762000" y="45748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78" name="Line 103"/>
          <p:cNvSpPr>
            <a:spLocks noChangeShapeType="1"/>
          </p:cNvSpPr>
          <p:nvPr/>
        </p:nvSpPr>
        <p:spPr bwMode="auto">
          <a:xfrm>
            <a:off x="762000" y="48796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9" name="Line 104"/>
          <p:cNvSpPr>
            <a:spLocks noChangeShapeType="1"/>
          </p:cNvSpPr>
          <p:nvPr/>
        </p:nvSpPr>
        <p:spPr bwMode="auto">
          <a:xfrm flipV="1">
            <a:off x="7620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 name="Line 105"/>
          <p:cNvSpPr>
            <a:spLocks noChangeShapeType="1"/>
          </p:cNvSpPr>
          <p:nvPr/>
        </p:nvSpPr>
        <p:spPr bwMode="auto">
          <a:xfrm>
            <a:off x="762000" y="51844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 name="Line 106"/>
          <p:cNvSpPr>
            <a:spLocks noChangeShapeType="1"/>
          </p:cNvSpPr>
          <p:nvPr/>
        </p:nvSpPr>
        <p:spPr bwMode="auto">
          <a:xfrm flipV="1">
            <a:off x="12192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 name="Line 107"/>
          <p:cNvSpPr>
            <a:spLocks noChangeShapeType="1"/>
          </p:cNvSpPr>
          <p:nvPr/>
        </p:nvSpPr>
        <p:spPr bwMode="auto">
          <a:xfrm flipV="1">
            <a:off x="16764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3" name="Line 108"/>
          <p:cNvSpPr>
            <a:spLocks noChangeShapeType="1"/>
          </p:cNvSpPr>
          <p:nvPr/>
        </p:nvSpPr>
        <p:spPr bwMode="auto">
          <a:xfrm>
            <a:off x="762000" y="51828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4" name="Line 109"/>
          <p:cNvSpPr>
            <a:spLocks noChangeShapeType="1"/>
          </p:cNvSpPr>
          <p:nvPr/>
        </p:nvSpPr>
        <p:spPr bwMode="auto">
          <a:xfrm flipV="1">
            <a:off x="7620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 name="Line 110"/>
          <p:cNvSpPr>
            <a:spLocks noChangeShapeType="1"/>
          </p:cNvSpPr>
          <p:nvPr/>
        </p:nvSpPr>
        <p:spPr bwMode="auto">
          <a:xfrm>
            <a:off x="762000" y="54876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6" name="Line 111"/>
          <p:cNvSpPr>
            <a:spLocks noChangeShapeType="1"/>
          </p:cNvSpPr>
          <p:nvPr/>
        </p:nvSpPr>
        <p:spPr bwMode="auto">
          <a:xfrm flipV="1">
            <a:off x="12192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 name="Line 112"/>
          <p:cNvSpPr>
            <a:spLocks noChangeShapeType="1"/>
          </p:cNvSpPr>
          <p:nvPr/>
        </p:nvSpPr>
        <p:spPr bwMode="auto">
          <a:xfrm flipV="1">
            <a:off x="16764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8" name="Line 113"/>
          <p:cNvSpPr>
            <a:spLocks noChangeShapeType="1"/>
          </p:cNvSpPr>
          <p:nvPr/>
        </p:nvSpPr>
        <p:spPr bwMode="auto">
          <a:xfrm>
            <a:off x="762000" y="54876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9" name="Line 114"/>
          <p:cNvSpPr>
            <a:spLocks noChangeShapeType="1"/>
          </p:cNvSpPr>
          <p:nvPr/>
        </p:nvSpPr>
        <p:spPr bwMode="auto">
          <a:xfrm flipV="1">
            <a:off x="7620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0" name="Line 115"/>
          <p:cNvSpPr>
            <a:spLocks noChangeShapeType="1"/>
          </p:cNvSpPr>
          <p:nvPr/>
        </p:nvSpPr>
        <p:spPr bwMode="auto">
          <a:xfrm>
            <a:off x="7620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 name="Line 116"/>
          <p:cNvSpPr>
            <a:spLocks noChangeShapeType="1"/>
          </p:cNvSpPr>
          <p:nvPr/>
        </p:nvSpPr>
        <p:spPr bwMode="auto">
          <a:xfrm flipV="1">
            <a:off x="12192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2" name="Line 117"/>
          <p:cNvSpPr>
            <a:spLocks noChangeShapeType="1"/>
          </p:cNvSpPr>
          <p:nvPr/>
        </p:nvSpPr>
        <p:spPr bwMode="auto">
          <a:xfrm flipV="1">
            <a:off x="16764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3" name="Text Box 118"/>
          <p:cNvSpPr txBox="1">
            <a:spLocks noChangeArrowheads="1"/>
          </p:cNvSpPr>
          <p:nvPr/>
        </p:nvSpPr>
        <p:spPr bwMode="auto">
          <a:xfrm>
            <a:off x="685800" y="48796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1</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94" name="Text Box 119"/>
          <p:cNvSpPr txBox="1">
            <a:spLocks noChangeArrowheads="1"/>
          </p:cNvSpPr>
          <p:nvPr/>
        </p:nvSpPr>
        <p:spPr bwMode="auto">
          <a:xfrm>
            <a:off x="685800" y="51844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95" name="Text Box 120"/>
          <p:cNvSpPr txBox="1">
            <a:spLocks noChangeArrowheads="1"/>
          </p:cNvSpPr>
          <p:nvPr/>
        </p:nvSpPr>
        <p:spPr bwMode="auto">
          <a:xfrm>
            <a:off x="685800" y="545752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96" name="Line 121"/>
          <p:cNvSpPr>
            <a:spLocks noChangeShapeType="1"/>
          </p:cNvSpPr>
          <p:nvPr/>
        </p:nvSpPr>
        <p:spPr bwMode="auto">
          <a:xfrm>
            <a:off x="7620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7" name="Line 122"/>
          <p:cNvSpPr>
            <a:spLocks noChangeShapeType="1"/>
          </p:cNvSpPr>
          <p:nvPr/>
        </p:nvSpPr>
        <p:spPr bwMode="auto">
          <a:xfrm>
            <a:off x="7620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8" name="Line 123"/>
          <p:cNvSpPr>
            <a:spLocks noChangeShapeType="1"/>
          </p:cNvSpPr>
          <p:nvPr/>
        </p:nvSpPr>
        <p:spPr bwMode="auto">
          <a:xfrm flipV="1">
            <a:off x="7620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9" name="Line 124"/>
          <p:cNvSpPr>
            <a:spLocks noChangeShapeType="1"/>
          </p:cNvSpPr>
          <p:nvPr/>
        </p:nvSpPr>
        <p:spPr bwMode="auto">
          <a:xfrm>
            <a:off x="762000" y="60972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0" name="Line 125"/>
          <p:cNvSpPr>
            <a:spLocks noChangeShapeType="1"/>
          </p:cNvSpPr>
          <p:nvPr/>
        </p:nvSpPr>
        <p:spPr bwMode="auto">
          <a:xfrm flipV="1">
            <a:off x="12192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1" name="Line 126"/>
          <p:cNvSpPr>
            <a:spLocks noChangeShapeType="1"/>
          </p:cNvSpPr>
          <p:nvPr/>
        </p:nvSpPr>
        <p:spPr bwMode="auto">
          <a:xfrm flipV="1">
            <a:off x="16764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 name="Text Box 127"/>
          <p:cNvSpPr txBox="1">
            <a:spLocks noChangeArrowheads="1"/>
          </p:cNvSpPr>
          <p:nvPr/>
        </p:nvSpPr>
        <p:spPr bwMode="auto">
          <a:xfrm>
            <a:off x="685800" y="576232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103" name="Text Box 128"/>
          <p:cNvSpPr txBox="1">
            <a:spLocks noChangeArrowheads="1"/>
          </p:cNvSpPr>
          <p:nvPr/>
        </p:nvSpPr>
        <p:spPr bwMode="auto">
          <a:xfrm>
            <a:off x="685800" y="57940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a:t>
            </a:r>
            <a:endParaRPr kumimoji="1" lang="en-US" altLang="zh-CN" sz="1600" b="1" dirty="0">
              <a:latin typeface="Times New Roman" panose="02020603050405020304" pitchFamily="18" charset="0"/>
              <a:ea typeface="华文楷体" panose="02010600040101010101" pitchFamily="2" charset="-122"/>
            </a:endParaRPr>
          </a:p>
        </p:txBody>
      </p:sp>
      <p:sp>
        <p:nvSpPr>
          <p:cNvPr id="104" name="Text Box 129"/>
          <p:cNvSpPr txBox="1">
            <a:spLocks noChangeArrowheads="1"/>
          </p:cNvSpPr>
          <p:nvPr/>
        </p:nvSpPr>
        <p:spPr bwMode="auto">
          <a:xfrm>
            <a:off x="457200" y="4422476"/>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3</a:t>
            </a:r>
            <a:endParaRPr kumimoji="1" lang="en-US" altLang="zh-CN" sz="1200" b="1" dirty="0">
              <a:solidFill>
                <a:srgbClr val="C00000"/>
              </a:solidFill>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
        <p:nvSpPr>
          <p:cNvPr id="105" name="Text Box 130"/>
          <p:cNvSpPr txBox="1">
            <a:spLocks noChangeArrowheads="1"/>
          </p:cNvSpPr>
          <p:nvPr/>
        </p:nvSpPr>
        <p:spPr bwMode="auto">
          <a:xfrm>
            <a:off x="1219200" y="45748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06" name="Text Box 131"/>
          <p:cNvSpPr txBox="1">
            <a:spLocks noChangeArrowheads="1"/>
          </p:cNvSpPr>
          <p:nvPr/>
        </p:nvSpPr>
        <p:spPr bwMode="auto">
          <a:xfrm>
            <a:off x="1219200" y="48796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1</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107" name="Text Box 132"/>
          <p:cNvSpPr txBox="1">
            <a:spLocks noChangeArrowheads="1"/>
          </p:cNvSpPr>
          <p:nvPr/>
        </p:nvSpPr>
        <p:spPr bwMode="auto">
          <a:xfrm>
            <a:off x="1219200" y="51844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08" name="Text Box 133"/>
          <p:cNvSpPr txBox="1">
            <a:spLocks noChangeArrowheads="1"/>
          </p:cNvSpPr>
          <p:nvPr/>
        </p:nvSpPr>
        <p:spPr bwMode="auto">
          <a:xfrm>
            <a:off x="403225" y="6175076"/>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smtClean="0">
                <a:latin typeface="Times New Roman" panose="02020603050405020304" pitchFamily="18" charset="0"/>
                <a:ea typeface="华文楷体" panose="02010600040101010101" pitchFamily="2" charset="-122"/>
              </a:rPr>
              <a:t>  </a:t>
            </a:r>
            <a:r>
              <a:rPr kumimoji="1" lang="en-US" altLang="zh-CN" sz="1400" b="1" dirty="0" err="1" smtClean="0">
                <a:latin typeface="Times New Roman" panose="02020603050405020304" pitchFamily="18" charset="0"/>
                <a:ea typeface="华文楷体" panose="02010600040101010101" pitchFamily="2" charset="-122"/>
              </a:rPr>
              <a:t>lowcost</a:t>
            </a:r>
            <a:r>
              <a:rPr kumimoji="1" lang="en-US" altLang="zh-CN" sz="1400" b="1" dirty="0" smtClean="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400" b="1" dirty="0">
              <a:latin typeface="Times New Roman" panose="02020603050405020304" pitchFamily="18" charset="0"/>
              <a:ea typeface="华文楷体" panose="02010600040101010101" pitchFamily="2" charset="-122"/>
            </a:endParaRPr>
          </a:p>
        </p:txBody>
      </p:sp>
      <p:sp>
        <p:nvSpPr>
          <p:cNvPr id="109" name="Text Box 134"/>
          <p:cNvSpPr txBox="1">
            <a:spLocks noChangeArrowheads="1"/>
          </p:cNvSpPr>
          <p:nvPr/>
        </p:nvSpPr>
        <p:spPr bwMode="auto">
          <a:xfrm>
            <a:off x="381000" y="4041476"/>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110" name="Line 135"/>
          <p:cNvSpPr>
            <a:spLocks noChangeShapeType="1"/>
          </p:cNvSpPr>
          <p:nvPr/>
        </p:nvSpPr>
        <p:spPr bwMode="auto">
          <a:xfrm>
            <a:off x="3581400" y="44224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1" name="Line 136"/>
          <p:cNvSpPr>
            <a:spLocks noChangeShapeType="1"/>
          </p:cNvSpPr>
          <p:nvPr/>
        </p:nvSpPr>
        <p:spPr bwMode="auto">
          <a:xfrm flipV="1">
            <a:off x="35814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2" name="Line 137"/>
          <p:cNvSpPr>
            <a:spLocks noChangeShapeType="1"/>
          </p:cNvSpPr>
          <p:nvPr/>
        </p:nvSpPr>
        <p:spPr bwMode="auto">
          <a:xfrm>
            <a:off x="3581400" y="46510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3" name="Line 138"/>
          <p:cNvSpPr>
            <a:spLocks noChangeShapeType="1"/>
          </p:cNvSpPr>
          <p:nvPr/>
        </p:nvSpPr>
        <p:spPr bwMode="auto">
          <a:xfrm flipV="1">
            <a:off x="40386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4" name="Line 139"/>
          <p:cNvSpPr>
            <a:spLocks noChangeShapeType="1"/>
          </p:cNvSpPr>
          <p:nvPr/>
        </p:nvSpPr>
        <p:spPr bwMode="auto">
          <a:xfrm flipV="1">
            <a:off x="4495800" y="44224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5" name="Text Box 140"/>
          <p:cNvSpPr txBox="1">
            <a:spLocks noChangeArrowheads="1"/>
          </p:cNvSpPr>
          <p:nvPr/>
        </p:nvSpPr>
        <p:spPr bwMode="auto">
          <a:xfrm>
            <a:off x="3581400" y="43462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116" name="Line 141"/>
          <p:cNvSpPr>
            <a:spLocks noChangeShapeType="1"/>
          </p:cNvSpPr>
          <p:nvPr/>
        </p:nvSpPr>
        <p:spPr bwMode="auto">
          <a:xfrm>
            <a:off x="3581400" y="46510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7" name="Line 142"/>
          <p:cNvSpPr>
            <a:spLocks noChangeShapeType="1"/>
          </p:cNvSpPr>
          <p:nvPr/>
        </p:nvSpPr>
        <p:spPr bwMode="auto">
          <a:xfrm flipV="1">
            <a:off x="35814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8" name="Line 143"/>
          <p:cNvSpPr>
            <a:spLocks noChangeShapeType="1"/>
          </p:cNvSpPr>
          <p:nvPr/>
        </p:nvSpPr>
        <p:spPr bwMode="auto">
          <a:xfrm>
            <a:off x="3581400" y="48796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9" name="Line 144"/>
          <p:cNvSpPr>
            <a:spLocks noChangeShapeType="1"/>
          </p:cNvSpPr>
          <p:nvPr/>
        </p:nvSpPr>
        <p:spPr bwMode="auto">
          <a:xfrm flipV="1">
            <a:off x="40386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0" name="Line 145"/>
          <p:cNvSpPr>
            <a:spLocks noChangeShapeType="1"/>
          </p:cNvSpPr>
          <p:nvPr/>
        </p:nvSpPr>
        <p:spPr bwMode="auto">
          <a:xfrm flipV="1">
            <a:off x="4495800" y="4651076"/>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1" name="Text Box 146"/>
          <p:cNvSpPr txBox="1">
            <a:spLocks noChangeArrowheads="1"/>
          </p:cNvSpPr>
          <p:nvPr/>
        </p:nvSpPr>
        <p:spPr bwMode="auto">
          <a:xfrm>
            <a:off x="3581400" y="45748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22" name="Line 147"/>
          <p:cNvSpPr>
            <a:spLocks noChangeShapeType="1"/>
          </p:cNvSpPr>
          <p:nvPr/>
        </p:nvSpPr>
        <p:spPr bwMode="auto">
          <a:xfrm>
            <a:off x="3581400" y="48796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 name="Line 148"/>
          <p:cNvSpPr>
            <a:spLocks noChangeShapeType="1"/>
          </p:cNvSpPr>
          <p:nvPr/>
        </p:nvSpPr>
        <p:spPr bwMode="auto">
          <a:xfrm flipV="1">
            <a:off x="35814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4" name="Line 149"/>
          <p:cNvSpPr>
            <a:spLocks noChangeShapeType="1"/>
          </p:cNvSpPr>
          <p:nvPr/>
        </p:nvSpPr>
        <p:spPr bwMode="auto">
          <a:xfrm>
            <a:off x="3581400" y="5184476"/>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5" name="Line 150"/>
          <p:cNvSpPr>
            <a:spLocks noChangeShapeType="1"/>
          </p:cNvSpPr>
          <p:nvPr/>
        </p:nvSpPr>
        <p:spPr bwMode="auto">
          <a:xfrm flipV="1">
            <a:off x="40386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6" name="Line 151"/>
          <p:cNvSpPr>
            <a:spLocks noChangeShapeType="1"/>
          </p:cNvSpPr>
          <p:nvPr/>
        </p:nvSpPr>
        <p:spPr bwMode="auto">
          <a:xfrm flipV="1">
            <a:off x="4495800" y="487967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7" name="Line 152"/>
          <p:cNvSpPr>
            <a:spLocks noChangeShapeType="1"/>
          </p:cNvSpPr>
          <p:nvPr/>
        </p:nvSpPr>
        <p:spPr bwMode="auto">
          <a:xfrm>
            <a:off x="3581400" y="51828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8" name="Line 153"/>
          <p:cNvSpPr>
            <a:spLocks noChangeShapeType="1"/>
          </p:cNvSpPr>
          <p:nvPr/>
        </p:nvSpPr>
        <p:spPr bwMode="auto">
          <a:xfrm flipV="1">
            <a:off x="35814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9" name="Line 154"/>
          <p:cNvSpPr>
            <a:spLocks noChangeShapeType="1"/>
          </p:cNvSpPr>
          <p:nvPr/>
        </p:nvSpPr>
        <p:spPr bwMode="auto">
          <a:xfrm>
            <a:off x="3581400" y="54876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0" name="Line 155"/>
          <p:cNvSpPr>
            <a:spLocks noChangeShapeType="1"/>
          </p:cNvSpPr>
          <p:nvPr/>
        </p:nvSpPr>
        <p:spPr bwMode="auto">
          <a:xfrm flipV="1">
            <a:off x="40386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1" name="Line 156"/>
          <p:cNvSpPr>
            <a:spLocks noChangeShapeType="1"/>
          </p:cNvSpPr>
          <p:nvPr/>
        </p:nvSpPr>
        <p:spPr bwMode="auto">
          <a:xfrm flipV="1">
            <a:off x="4495800" y="51828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2" name="Line 157"/>
          <p:cNvSpPr>
            <a:spLocks noChangeShapeType="1"/>
          </p:cNvSpPr>
          <p:nvPr/>
        </p:nvSpPr>
        <p:spPr bwMode="auto">
          <a:xfrm>
            <a:off x="3581400" y="54876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3" name="Line 158"/>
          <p:cNvSpPr>
            <a:spLocks noChangeShapeType="1"/>
          </p:cNvSpPr>
          <p:nvPr/>
        </p:nvSpPr>
        <p:spPr bwMode="auto">
          <a:xfrm flipV="1">
            <a:off x="35814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4" name="Line 159"/>
          <p:cNvSpPr>
            <a:spLocks noChangeShapeType="1"/>
          </p:cNvSpPr>
          <p:nvPr/>
        </p:nvSpPr>
        <p:spPr bwMode="auto">
          <a:xfrm>
            <a:off x="35814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5" name="Line 160"/>
          <p:cNvSpPr>
            <a:spLocks noChangeShapeType="1"/>
          </p:cNvSpPr>
          <p:nvPr/>
        </p:nvSpPr>
        <p:spPr bwMode="auto">
          <a:xfrm flipV="1">
            <a:off x="40386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6" name="Line 161"/>
          <p:cNvSpPr>
            <a:spLocks noChangeShapeType="1"/>
          </p:cNvSpPr>
          <p:nvPr/>
        </p:nvSpPr>
        <p:spPr bwMode="auto">
          <a:xfrm flipV="1">
            <a:off x="4495800" y="54876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7" name="Text Box 162"/>
          <p:cNvSpPr txBox="1">
            <a:spLocks noChangeArrowheads="1"/>
          </p:cNvSpPr>
          <p:nvPr/>
        </p:nvSpPr>
        <p:spPr bwMode="auto">
          <a:xfrm>
            <a:off x="3505200" y="48796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138" name="Text Box 163"/>
          <p:cNvSpPr txBox="1">
            <a:spLocks noChangeArrowheads="1"/>
          </p:cNvSpPr>
          <p:nvPr/>
        </p:nvSpPr>
        <p:spPr bwMode="auto">
          <a:xfrm>
            <a:off x="3505200" y="51844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139" name="Text Box 164"/>
          <p:cNvSpPr txBox="1">
            <a:spLocks noChangeArrowheads="1"/>
          </p:cNvSpPr>
          <p:nvPr/>
        </p:nvSpPr>
        <p:spPr bwMode="auto">
          <a:xfrm>
            <a:off x="3505200" y="545752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140" name="Line 165"/>
          <p:cNvSpPr>
            <a:spLocks noChangeShapeType="1"/>
          </p:cNvSpPr>
          <p:nvPr/>
        </p:nvSpPr>
        <p:spPr bwMode="auto">
          <a:xfrm>
            <a:off x="35814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1" name="Line 166"/>
          <p:cNvSpPr>
            <a:spLocks noChangeShapeType="1"/>
          </p:cNvSpPr>
          <p:nvPr/>
        </p:nvSpPr>
        <p:spPr bwMode="auto">
          <a:xfrm>
            <a:off x="3581400" y="57924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2" name="Line 167"/>
          <p:cNvSpPr>
            <a:spLocks noChangeShapeType="1"/>
          </p:cNvSpPr>
          <p:nvPr/>
        </p:nvSpPr>
        <p:spPr bwMode="auto">
          <a:xfrm flipV="1">
            <a:off x="35814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3" name="Line 168"/>
          <p:cNvSpPr>
            <a:spLocks noChangeShapeType="1"/>
          </p:cNvSpPr>
          <p:nvPr/>
        </p:nvSpPr>
        <p:spPr bwMode="auto">
          <a:xfrm>
            <a:off x="3581400" y="6097289"/>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4" name="Line 169"/>
          <p:cNvSpPr>
            <a:spLocks noChangeShapeType="1"/>
          </p:cNvSpPr>
          <p:nvPr/>
        </p:nvSpPr>
        <p:spPr bwMode="auto">
          <a:xfrm flipV="1">
            <a:off x="40386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5" name="Line 170"/>
          <p:cNvSpPr>
            <a:spLocks noChangeShapeType="1"/>
          </p:cNvSpPr>
          <p:nvPr/>
        </p:nvSpPr>
        <p:spPr bwMode="auto">
          <a:xfrm flipV="1">
            <a:off x="4495800" y="579248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6" name="Text Box 171"/>
          <p:cNvSpPr txBox="1">
            <a:spLocks noChangeArrowheads="1"/>
          </p:cNvSpPr>
          <p:nvPr/>
        </p:nvSpPr>
        <p:spPr bwMode="auto">
          <a:xfrm>
            <a:off x="3505200" y="576232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147" name="Text Box 172"/>
          <p:cNvSpPr txBox="1">
            <a:spLocks noChangeArrowheads="1"/>
          </p:cNvSpPr>
          <p:nvPr/>
        </p:nvSpPr>
        <p:spPr bwMode="auto">
          <a:xfrm>
            <a:off x="3505200" y="5794076"/>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4</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148" name="Text Box 173"/>
          <p:cNvSpPr txBox="1">
            <a:spLocks noChangeArrowheads="1"/>
          </p:cNvSpPr>
          <p:nvPr/>
        </p:nvSpPr>
        <p:spPr bwMode="auto">
          <a:xfrm>
            <a:off x="4038600" y="45748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149" name="Text Box 174"/>
          <p:cNvSpPr txBox="1">
            <a:spLocks noChangeArrowheads="1"/>
          </p:cNvSpPr>
          <p:nvPr/>
        </p:nvSpPr>
        <p:spPr bwMode="auto">
          <a:xfrm>
            <a:off x="4038600" y="51844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50" name="Text Box 175"/>
          <p:cNvSpPr txBox="1">
            <a:spLocks noChangeArrowheads="1"/>
          </p:cNvSpPr>
          <p:nvPr/>
        </p:nvSpPr>
        <p:spPr bwMode="auto">
          <a:xfrm>
            <a:off x="4038600" y="54892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151" name="Text Box 176"/>
          <p:cNvSpPr txBox="1">
            <a:spLocks noChangeArrowheads="1"/>
          </p:cNvSpPr>
          <p:nvPr/>
        </p:nvSpPr>
        <p:spPr bwMode="auto">
          <a:xfrm>
            <a:off x="4038600" y="5794076"/>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3</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152" name="Text Box 177"/>
          <p:cNvSpPr txBox="1">
            <a:spLocks noChangeArrowheads="1"/>
          </p:cNvSpPr>
          <p:nvPr/>
        </p:nvSpPr>
        <p:spPr bwMode="auto">
          <a:xfrm>
            <a:off x="3124200" y="6098876"/>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lowcost</a:t>
            </a: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200" b="1" dirty="0">
              <a:latin typeface="Times New Roman" panose="02020603050405020304" pitchFamily="18" charset="0"/>
              <a:ea typeface="华文楷体" panose="02010600040101010101" pitchFamily="2" charset="-122"/>
            </a:endParaRPr>
          </a:p>
        </p:txBody>
      </p:sp>
      <p:sp>
        <p:nvSpPr>
          <p:cNvPr id="153" name="Text Box 178"/>
          <p:cNvSpPr txBox="1">
            <a:spLocks noChangeArrowheads="1"/>
          </p:cNvSpPr>
          <p:nvPr/>
        </p:nvSpPr>
        <p:spPr bwMode="auto">
          <a:xfrm>
            <a:off x="3200400" y="4041476"/>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154" name="Text Box 179"/>
          <p:cNvSpPr txBox="1">
            <a:spLocks noChangeArrowheads="1"/>
          </p:cNvSpPr>
          <p:nvPr/>
        </p:nvSpPr>
        <p:spPr bwMode="auto">
          <a:xfrm>
            <a:off x="3276600" y="4432300"/>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6</a:t>
            </a:r>
            <a:endParaRPr kumimoji="1" lang="en-US" altLang="zh-CN" sz="1200" b="1" dirty="0">
              <a:solidFill>
                <a:srgbClr val="C00000"/>
              </a:solidFill>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
        <p:nvSpPr>
          <p:cNvPr id="229" name="Oval 59"/>
          <p:cNvSpPr>
            <a:spLocks noChangeArrowheads="1"/>
          </p:cNvSpPr>
          <p:nvPr/>
        </p:nvSpPr>
        <p:spPr bwMode="auto">
          <a:xfrm>
            <a:off x="6692253" y="1769764"/>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230" name="Oval 60"/>
          <p:cNvSpPr>
            <a:spLocks noChangeArrowheads="1"/>
          </p:cNvSpPr>
          <p:nvPr/>
        </p:nvSpPr>
        <p:spPr bwMode="auto">
          <a:xfrm>
            <a:off x="5854053" y="2455564"/>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31" name="Line 61"/>
          <p:cNvSpPr>
            <a:spLocks noChangeShapeType="1"/>
          </p:cNvSpPr>
          <p:nvPr/>
        </p:nvSpPr>
        <p:spPr bwMode="auto">
          <a:xfrm>
            <a:off x="6311253" y="2684164"/>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2" name="Oval 62"/>
          <p:cNvSpPr>
            <a:spLocks noChangeArrowheads="1"/>
          </p:cNvSpPr>
          <p:nvPr/>
        </p:nvSpPr>
        <p:spPr bwMode="auto">
          <a:xfrm>
            <a:off x="7682853" y="2455564"/>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233" name="Oval 63"/>
          <p:cNvSpPr>
            <a:spLocks noChangeArrowheads="1"/>
          </p:cNvSpPr>
          <p:nvPr/>
        </p:nvSpPr>
        <p:spPr bwMode="auto">
          <a:xfrm>
            <a:off x="6768453" y="2455564"/>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34" name="Oval 64"/>
          <p:cNvSpPr>
            <a:spLocks noChangeArrowheads="1"/>
          </p:cNvSpPr>
          <p:nvPr/>
        </p:nvSpPr>
        <p:spPr bwMode="auto">
          <a:xfrm>
            <a:off x="6158853" y="3293764"/>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235" name="Oval 65"/>
          <p:cNvSpPr>
            <a:spLocks noChangeArrowheads="1"/>
          </p:cNvSpPr>
          <p:nvPr/>
        </p:nvSpPr>
        <p:spPr bwMode="auto">
          <a:xfrm>
            <a:off x="7149453" y="3293764"/>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236" name="Line 66"/>
          <p:cNvSpPr>
            <a:spLocks noChangeShapeType="1"/>
          </p:cNvSpPr>
          <p:nvPr/>
        </p:nvSpPr>
        <p:spPr bwMode="auto">
          <a:xfrm>
            <a:off x="7225653" y="2684164"/>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7" name="Line 67"/>
          <p:cNvSpPr>
            <a:spLocks noChangeShapeType="1"/>
          </p:cNvSpPr>
          <p:nvPr/>
        </p:nvSpPr>
        <p:spPr bwMode="auto">
          <a:xfrm flipH="1">
            <a:off x="6997053" y="2150764"/>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8" name="Line 68"/>
          <p:cNvSpPr>
            <a:spLocks noChangeShapeType="1"/>
          </p:cNvSpPr>
          <p:nvPr/>
        </p:nvSpPr>
        <p:spPr bwMode="auto">
          <a:xfrm>
            <a:off x="6082653" y="2836564"/>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9" name="Line 69"/>
          <p:cNvSpPr>
            <a:spLocks noChangeShapeType="1"/>
          </p:cNvSpPr>
          <p:nvPr/>
        </p:nvSpPr>
        <p:spPr bwMode="auto">
          <a:xfrm flipV="1">
            <a:off x="6539853" y="2836564"/>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0" name="Line 70"/>
          <p:cNvSpPr>
            <a:spLocks noChangeShapeType="1"/>
          </p:cNvSpPr>
          <p:nvPr/>
        </p:nvSpPr>
        <p:spPr bwMode="auto">
          <a:xfrm>
            <a:off x="7073253" y="2836564"/>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1" name="Line 71"/>
          <p:cNvSpPr>
            <a:spLocks noChangeShapeType="1"/>
          </p:cNvSpPr>
          <p:nvPr/>
        </p:nvSpPr>
        <p:spPr bwMode="auto">
          <a:xfrm flipV="1">
            <a:off x="7606653" y="2836564"/>
            <a:ext cx="304800" cy="6096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2" name="Line 72"/>
          <p:cNvSpPr>
            <a:spLocks noChangeShapeType="1"/>
          </p:cNvSpPr>
          <p:nvPr/>
        </p:nvSpPr>
        <p:spPr bwMode="auto">
          <a:xfrm>
            <a:off x="6616053" y="3522364"/>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3" name="Line 73"/>
          <p:cNvSpPr>
            <a:spLocks noChangeShapeType="1"/>
          </p:cNvSpPr>
          <p:nvPr/>
        </p:nvSpPr>
        <p:spPr bwMode="auto">
          <a:xfrm flipV="1">
            <a:off x="6235053" y="2074564"/>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4" name="Line 74"/>
          <p:cNvSpPr>
            <a:spLocks noChangeShapeType="1"/>
          </p:cNvSpPr>
          <p:nvPr/>
        </p:nvSpPr>
        <p:spPr bwMode="auto">
          <a:xfrm flipH="1" flipV="1">
            <a:off x="7073253" y="2074564"/>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 name="Text Box 75"/>
          <p:cNvSpPr txBox="1">
            <a:spLocks noChangeArrowheads="1"/>
          </p:cNvSpPr>
          <p:nvPr/>
        </p:nvSpPr>
        <p:spPr bwMode="auto">
          <a:xfrm>
            <a:off x="6082653" y="21507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6" name="Text Box 76"/>
          <p:cNvSpPr txBox="1">
            <a:spLocks noChangeArrowheads="1"/>
          </p:cNvSpPr>
          <p:nvPr/>
        </p:nvSpPr>
        <p:spPr bwMode="auto">
          <a:xfrm>
            <a:off x="6656758" y="2236304"/>
            <a:ext cx="270697"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47" name="Text Box 77"/>
          <p:cNvSpPr txBox="1">
            <a:spLocks noChangeArrowheads="1"/>
          </p:cNvSpPr>
          <p:nvPr/>
        </p:nvSpPr>
        <p:spPr bwMode="auto">
          <a:xfrm>
            <a:off x="6692253" y="32937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8" name="Text Box 78"/>
          <p:cNvSpPr txBox="1">
            <a:spLocks noChangeArrowheads="1"/>
          </p:cNvSpPr>
          <p:nvPr/>
        </p:nvSpPr>
        <p:spPr bwMode="auto">
          <a:xfrm>
            <a:off x="7225653" y="20745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49" name="Text Box 79"/>
          <p:cNvSpPr txBox="1">
            <a:spLocks noChangeArrowheads="1"/>
          </p:cNvSpPr>
          <p:nvPr/>
        </p:nvSpPr>
        <p:spPr bwMode="auto">
          <a:xfrm>
            <a:off x="6311253" y="24555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50" name="Text Box 80"/>
          <p:cNvSpPr txBox="1">
            <a:spLocks noChangeArrowheads="1"/>
          </p:cNvSpPr>
          <p:nvPr/>
        </p:nvSpPr>
        <p:spPr bwMode="auto">
          <a:xfrm>
            <a:off x="7225653" y="24555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51" name="Text Box 81"/>
          <p:cNvSpPr txBox="1">
            <a:spLocks noChangeArrowheads="1"/>
          </p:cNvSpPr>
          <p:nvPr/>
        </p:nvSpPr>
        <p:spPr bwMode="auto">
          <a:xfrm>
            <a:off x="6463653" y="29127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52" name="Text Box 82"/>
          <p:cNvSpPr txBox="1">
            <a:spLocks noChangeArrowheads="1"/>
          </p:cNvSpPr>
          <p:nvPr/>
        </p:nvSpPr>
        <p:spPr bwMode="auto">
          <a:xfrm>
            <a:off x="5930253" y="29889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253" name="Text Box 83"/>
          <p:cNvSpPr txBox="1">
            <a:spLocks noChangeArrowheads="1"/>
          </p:cNvSpPr>
          <p:nvPr/>
        </p:nvSpPr>
        <p:spPr bwMode="auto">
          <a:xfrm>
            <a:off x="7073253" y="29127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54" name="Text Box 84"/>
          <p:cNvSpPr txBox="1">
            <a:spLocks noChangeArrowheads="1"/>
          </p:cNvSpPr>
          <p:nvPr/>
        </p:nvSpPr>
        <p:spPr bwMode="auto">
          <a:xfrm>
            <a:off x="7682853" y="298896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55" name="Text Box 85"/>
          <p:cNvSpPr txBox="1">
            <a:spLocks noChangeArrowheads="1"/>
          </p:cNvSpPr>
          <p:nvPr/>
        </p:nvSpPr>
        <p:spPr bwMode="auto">
          <a:xfrm>
            <a:off x="6387453" y="3598564"/>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257" name="Text Box 90"/>
          <p:cNvSpPr txBox="1">
            <a:spLocks noChangeArrowheads="1"/>
          </p:cNvSpPr>
          <p:nvPr/>
        </p:nvSpPr>
        <p:spPr bwMode="auto">
          <a:xfrm>
            <a:off x="6958951" y="1786635"/>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258" name="Line 135"/>
          <p:cNvSpPr>
            <a:spLocks noChangeShapeType="1"/>
          </p:cNvSpPr>
          <p:nvPr/>
        </p:nvSpPr>
        <p:spPr bwMode="auto">
          <a:xfrm>
            <a:off x="6463653" y="43923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9" name="Line 136"/>
          <p:cNvSpPr>
            <a:spLocks noChangeShapeType="1"/>
          </p:cNvSpPr>
          <p:nvPr/>
        </p:nvSpPr>
        <p:spPr bwMode="auto">
          <a:xfrm flipV="1">
            <a:off x="6463653" y="43923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0" name="Line 137"/>
          <p:cNvSpPr>
            <a:spLocks noChangeShapeType="1"/>
          </p:cNvSpPr>
          <p:nvPr/>
        </p:nvSpPr>
        <p:spPr bwMode="auto">
          <a:xfrm>
            <a:off x="6463653" y="46209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1" name="Line 138"/>
          <p:cNvSpPr>
            <a:spLocks noChangeShapeType="1"/>
          </p:cNvSpPr>
          <p:nvPr/>
        </p:nvSpPr>
        <p:spPr bwMode="auto">
          <a:xfrm flipV="1">
            <a:off x="6920853" y="43923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2" name="Line 139"/>
          <p:cNvSpPr>
            <a:spLocks noChangeShapeType="1"/>
          </p:cNvSpPr>
          <p:nvPr/>
        </p:nvSpPr>
        <p:spPr bwMode="auto">
          <a:xfrm flipV="1">
            <a:off x="7378053" y="43923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3" name="Text Box 140"/>
          <p:cNvSpPr txBox="1">
            <a:spLocks noChangeArrowheads="1"/>
          </p:cNvSpPr>
          <p:nvPr/>
        </p:nvSpPr>
        <p:spPr bwMode="auto">
          <a:xfrm>
            <a:off x="6463653" y="4316114"/>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64" name="Line 141"/>
          <p:cNvSpPr>
            <a:spLocks noChangeShapeType="1"/>
          </p:cNvSpPr>
          <p:nvPr/>
        </p:nvSpPr>
        <p:spPr bwMode="auto">
          <a:xfrm>
            <a:off x="6463653" y="46209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5" name="Line 142"/>
          <p:cNvSpPr>
            <a:spLocks noChangeShapeType="1"/>
          </p:cNvSpPr>
          <p:nvPr/>
        </p:nvSpPr>
        <p:spPr bwMode="auto">
          <a:xfrm flipV="1">
            <a:off x="6463653" y="46209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 name="Line 143"/>
          <p:cNvSpPr>
            <a:spLocks noChangeShapeType="1"/>
          </p:cNvSpPr>
          <p:nvPr/>
        </p:nvSpPr>
        <p:spPr bwMode="auto">
          <a:xfrm>
            <a:off x="6463653" y="48495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7" name="Line 144"/>
          <p:cNvSpPr>
            <a:spLocks noChangeShapeType="1"/>
          </p:cNvSpPr>
          <p:nvPr/>
        </p:nvSpPr>
        <p:spPr bwMode="auto">
          <a:xfrm flipV="1">
            <a:off x="6920853" y="46209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8" name="Line 145"/>
          <p:cNvSpPr>
            <a:spLocks noChangeShapeType="1"/>
          </p:cNvSpPr>
          <p:nvPr/>
        </p:nvSpPr>
        <p:spPr bwMode="auto">
          <a:xfrm flipV="1">
            <a:off x="7378053" y="4620914"/>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9" name="Text Box 146"/>
          <p:cNvSpPr txBox="1">
            <a:spLocks noChangeArrowheads="1"/>
          </p:cNvSpPr>
          <p:nvPr/>
        </p:nvSpPr>
        <p:spPr bwMode="auto">
          <a:xfrm>
            <a:off x="6463653" y="4544714"/>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270" name="Line 147"/>
          <p:cNvSpPr>
            <a:spLocks noChangeShapeType="1"/>
          </p:cNvSpPr>
          <p:nvPr/>
        </p:nvSpPr>
        <p:spPr bwMode="auto">
          <a:xfrm>
            <a:off x="6463653" y="48495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1" name="Line 148"/>
          <p:cNvSpPr>
            <a:spLocks noChangeShapeType="1"/>
          </p:cNvSpPr>
          <p:nvPr/>
        </p:nvSpPr>
        <p:spPr bwMode="auto">
          <a:xfrm flipV="1">
            <a:off x="6463653" y="4849514"/>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2" name="Line 149"/>
          <p:cNvSpPr>
            <a:spLocks noChangeShapeType="1"/>
          </p:cNvSpPr>
          <p:nvPr/>
        </p:nvSpPr>
        <p:spPr bwMode="auto">
          <a:xfrm>
            <a:off x="6463653" y="5154314"/>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3" name="Line 150"/>
          <p:cNvSpPr>
            <a:spLocks noChangeShapeType="1"/>
          </p:cNvSpPr>
          <p:nvPr/>
        </p:nvSpPr>
        <p:spPr bwMode="auto">
          <a:xfrm flipV="1">
            <a:off x="6920853" y="4849514"/>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4" name="Line 151"/>
          <p:cNvSpPr>
            <a:spLocks noChangeShapeType="1"/>
          </p:cNvSpPr>
          <p:nvPr/>
        </p:nvSpPr>
        <p:spPr bwMode="auto">
          <a:xfrm flipV="1">
            <a:off x="7378053" y="4849514"/>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5" name="Line 152"/>
          <p:cNvSpPr>
            <a:spLocks noChangeShapeType="1"/>
          </p:cNvSpPr>
          <p:nvPr/>
        </p:nvSpPr>
        <p:spPr bwMode="auto">
          <a:xfrm>
            <a:off x="6463653" y="51527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 name="Line 153"/>
          <p:cNvSpPr>
            <a:spLocks noChangeShapeType="1"/>
          </p:cNvSpPr>
          <p:nvPr/>
        </p:nvSpPr>
        <p:spPr bwMode="auto">
          <a:xfrm flipV="1">
            <a:off x="6463653" y="51527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7" name="Line 154"/>
          <p:cNvSpPr>
            <a:spLocks noChangeShapeType="1"/>
          </p:cNvSpPr>
          <p:nvPr/>
        </p:nvSpPr>
        <p:spPr bwMode="auto">
          <a:xfrm>
            <a:off x="6463653" y="54575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8" name="Line 155"/>
          <p:cNvSpPr>
            <a:spLocks noChangeShapeType="1"/>
          </p:cNvSpPr>
          <p:nvPr/>
        </p:nvSpPr>
        <p:spPr bwMode="auto">
          <a:xfrm flipV="1">
            <a:off x="6920853" y="51527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9" name="Line 156"/>
          <p:cNvSpPr>
            <a:spLocks noChangeShapeType="1"/>
          </p:cNvSpPr>
          <p:nvPr/>
        </p:nvSpPr>
        <p:spPr bwMode="auto">
          <a:xfrm flipV="1">
            <a:off x="7378053" y="51527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0" name="Line 157"/>
          <p:cNvSpPr>
            <a:spLocks noChangeShapeType="1"/>
          </p:cNvSpPr>
          <p:nvPr/>
        </p:nvSpPr>
        <p:spPr bwMode="auto">
          <a:xfrm>
            <a:off x="6463653" y="54575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1" name="Line 158"/>
          <p:cNvSpPr>
            <a:spLocks noChangeShapeType="1"/>
          </p:cNvSpPr>
          <p:nvPr/>
        </p:nvSpPr>
        <p:spPr bwMode="auto">
          <a:xfrm flipV="1">
            <a:off x="6463653" y="54575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2" name="Line 159"/>
          <p:cNvSpPr>
            <a:spLocks noChangeShapeType="1"/>
          </p:cNvSpPr>
          <p:nvPr/>
        </p:nvSpPr>
        <p:spPr bwMode="auto">
          <a:xfrm>
            <a:off x="6463653" y="57623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3" name="Line 160"/>
          <p:cNvSpPr>
            <a:spLocks noChangeShapeType="1"/>
          </p:cNvSpPr>
          <p:nvPr/>
        </p:nvSpPr>
        <p:spPr bwMode="auto">
          <a:xfrm flipV="1">
            <a:off x="6920853" y="54575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4" name="Line 161"/>
          <p:cNvSpPr>
            <a:spLocks noChangeShapeType="1"/>
          </p:cNvSpPr>
          <p:nvPr/>
        </p:nvSpPr>
        <p:spPr bwMode="auto">
          <a:xfrm flipV="1">
            <a:off x="7378053" y="54575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5" name="Text Box 162"/>
          <p:cNvSpPr txBox="1">
            <a:spLocks noChangeArrowheads="1"/>
          </p:cNvSpPr>
          <p:nvPr/>
        </p:nvSpPr>
        <p:spPr bwMode="auto">
          <a:xfrm>
            <a:off x="6387453" y="4849514"/>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86" name="Text Box 163"/>
          <p:cNvSpPr txBox="1">
            <a:spLocks noChangeArrowheads="1"/>
          </p:cNvSpPr>
          <p:nvPr/>
        </p:nvSpPr>
        <p:spPr bwMode="auto">
          <a:xfrm>
            <a:off x="6387453" y="5154314"/>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solidFill>
                  <a:srgbClr val="C00000"/>
                </a:solidFill>
                <a:latin typeface="Times New Roman" panose="02020603050405020304" pitchFamily="18" charset="0"/>
                <a:ea typeface="华文楷体" panose="02010600040101010101" pitchFamily="2" charset="-122"/>
              </a:rPr>
              <a:t>2</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87" name="Text Box 164"/>
          <p:cNvSpPr txBox="1">
            <a:spLocks noChangeArrowheads="1"/>
          </p:cNvSpPr>
          <p:nvPr/>
        </p:nvSpPr>
        <p:spPr bwMode="auto">
          <a:xfrm>
            <a:off x="6387453" y="5427364"/>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288" name="Line 165"/>
          <p:cNvSpPr>
            <a:spLocks noChangeShapeType="1"/>
          </p:cNvSpPr>
          <p:nvPr/>
        </p:nvSpPr>
        <p:spPr bwMode="auto">
          <a:xfrm>
            <a:off x="6463653" y="57623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9" name="Line 166"/>
          <p:cNvSpPr>
            <a:spLocks noChangeShapeType="1"/>
          </p:cNvSpPr>
          <p:nvPr/>
        </p:nvSpPr>
        <p:spPr bwMode="auto">
          <a:xfrm>
            <a:off x="6463653" y="57623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0" name="Line 167"/>
          <p:cNvSpPr>
            <a:spLocks noChangeShapeType="1"/>
          </p:cNvSpPr>
          <p:nvPr/>
        </p:nvSpPr>
        <p:spPr bwMode="auto">
          <a:xfrm flipV="1">
            <a:off x="6463653" y="57623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1" name="Line 168"/>
          <p:cNvSpPr>
            <a:spLocks noChangeShapeType="1"/>
          </p:cNvSpPr>
          <p:nvPr/>
        </p:nvSpPr>
        <p:spPr bwMode="auto">
          <a:xfrm>
            <a:off x="6463653" y="6067127"/>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2" name="Line 169"/>
          <p:cNvSpPr>
            <a:spLocks noChangeShapeType="1"/>
          </p:cNvSpPr>
          <p:nvPr/>
        </p:nvSpPr>
        <p:spPr bwMode="auto">
          <a:xfrm flipV="1">
            <a:off x="6920853" y="57623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3" name="Line 170"/>
          <p:cNvSpPr>
            <a:spLocks noChangeShapeType="1"/>
          </p:cNvSpPr>
          <p:nvPr/>
        </p:nvSpPr>
        <p:spPr bwMode="auto">
          <a:xfrm flipV="1">
            <a:off x="7378053" y="5762327"/>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4" name="Text Box 171"/>
          <p:cNvSpPr txBox="1">
            <a:spLocks noChangeArrowheads="1"/>
          </p:cNvSpPr>
          <p:nvPr/>
        </p:nvSpPr>
        <p:spPr bwMode="auto">
          <a:xfrm>
            <a:off x="6387453" y="5732164"/>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295" name="Text Box 172"/>
          <p:cNvSpPr txBox="1">
            <a:spLocks noChangeArrowheads="1"/>
          </p:cNvSpPr>
          <p:nvPr/>
        </p:nvSpPr>
        <p:spPr bwMode="auto">
          <a:xfrm>
            <a:off x="6387453" y="5763914"/>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96" name="Text Box 173"/>
          <p:cNvSpPr txBox="1">
            <a:spLocks noChangeArrowheads="1"/>
          </p:cNvSpPr>
          <p:nvPr/>
        </p:nvSpPr>
        <p:spPr bwMode="auto">
          <a:xfrm>
            <a:off x="6920853" y="4544714"/>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97" name="Text Box 174"/>
          <p:cNvSpPr txBox="1">
            <a:spLocks noChangeArrowheads="1"/>
          </p:cNvSpPr>
          <p:nvPr/>
        </p:nvSpPr>
        <p:spPr bwMode="auto">
          <a:xfrm>
            <a:off x="6920853" y="5154314"/>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solidFill>
                  <a:srgbClr val="C00000"/>
                </a:solidFill>
                <a:latin typeface="Times New Roman" panose="02020603050405020304" pitchFamily="18" charset="0"/>
                <a:ea typeface="华文楷体" panose="02010600040101010101" pitchFamily="2" charset="-122"/>
              </a:rPr>
              <a:t>6</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98" name="Text Box 175"/>
          <p:cNvSpPr txBox="1">
            <a:spLocks noChangeArrowheads="1"/>
          </p:cNvSpPr>
          <p:nvPr/>
        </p:nvSpPr>
        <p:spPr bwMode="auto">
          <a:xfrm>
            <a:off x="6920853" y="5459114"/>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300" name="Text Box 177"/>
          <p:cNvSpPr txBox="1">
            <a:spLocks noChangeArrowheads="1"/>
          </p:cNvSpPr>
          <p:nvPr/>
        </p:nvSpPr>
        <p:spPr bwMode="auto">
          <a:xfrm>
            <a:off x="6006453" y="6068714"/>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lowcost</a:t>
            </a: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200" b="1" dirty="0">
              <a:latin typeface="Times New Roman" panose="02020603050405020304" pitchFamily="18" charset="0"/>
              <a:ea typeface="华文楷体" panose="02010600040101010101" pitchFamily="2" charset="-122"/>
            </a:endParaRPr>
          </a:p>
        </p:txBody>
      </p:sp>
      <p:sp>
        <p:nvSpPr>
          <p:cNvPr id="301" name="Text Box 178"/>
          <p:cNvSpPr txBox="1">
            <a:spLocks noChangeArrowheads="1"/>
          </p:cNvSpPr>
          <p:nvPr/>
        </p:nvSpPr>
        <p:spPr bwMode="auto">
          <a:xfrm>
            <a:off x="6082653" y="4011314"/>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302" name="Text Box 179"/>
          <p:cNvSpPr txBox="1">
            <a:spLocks noChangeArrowheads="1"/>
          </p:cNvSpPr>
          <p:nvPr/>
        </p:nvSpPr>
        <p:spPr bwMode="auto">
          <a:xfrm>
            <a:off x="6158853" y="4343400"/>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
        <p:nvSpPr>
          <p:cNvPr id="304" name="Freeform 88"/>
          <p:cNvSpPr/>
          <p:nvPr/>
        </p:nvSpPr>
        <p:spPr bwMode="auto">
          <a:xfrm>
            <a:off x="6539851" y="1668151"/>
            <a:ext cx="1129655" cy="2036775"/>
          </a:xfrm>
          <a:custGeom>
            <a:avLst/>
            <a:gdLst>
              <a:gd name="T0" fmla="*/ 2147483646 w 727"/>
              <a:gd name="T1" fmla="*/ 2147483646 h 853"/>
              <a:gd name="T2" fmla="*/ 2147483646 w 727"/>
              <a:gd name="T3" fmla="*/ 2147483646 h 853"/>
              <a:gd name="T4" fmla="*/ 2147483646 w 727"/>
              <a:gd name="T5" fmla="*/ 2147483646 h 853"/>
              <a:gd name="T6" fmla="*/ 2147483646 w 727"/>
              <a:gd name="T7" fmla="*/ 2147483646 h 853"/>
              <a:gd name="T8" fmla="*/ 2147483646 w 727"/>
              <a:gd name="T9" fmla="*/ 2147483646 h 853"/>
              <a:gd name="T10" fmla="*/ 2147483646 w 727"/>
              <a:gd name="T11" fmla="*/ 2147483646 h 853"/>
              <a:gd name="T12" fmla="*/ 2147483646 w 727"/>
              <a:gd name="T13" fmla="*/ 2147483646 h 853"/>
              <a:gd name="T14" fmla="*/ 2147483646 w 727"/>
              <a:gd name="T15" fmla="*/ 2147483646 h 853"/>
              <a:gd name="T16" fmla="*/ 2147483646 w 727"/>
              <a:gd name="T17" fmla="*/ 2147483646 h 853"/>
              <a:gd name="T18" fmla="*/ 2147483646 w 727"/>
              <a:gd name="T19" fmla="*/ 2147483646 h 853"/>
              <a:gd name="T20" fmla="*/ 2147483646 w 727"/>
              <a:gd name="T21" fmla="*/ 2147483646 h 853"/>
              <a:gd name="T22" fmla="*/ 2147483646 w 727"/>
              <a:gd name="T23" fmla="*/ 2147483646 h 853"/>
              <a:gd name="T24" fmla="*/ 2147483646 w 727"/>
              <a:gd name="T25" fmla="*/ 2147483646 h 853"/>
              <a:gd name="T26" fmla="*/ 2147483646 w 727"/>
              <a:gd name="T27" fmla="*/ 2147483646 h 853"/>
              <a:gd name="T28" fmla="*/ 2147483646 w 727"/>
              <a:gd name="T29" fmla="*/ 2147483646 h 853"/>
              <a:gd name="T30" fmla="*/ 2147483646 w 727"/>
              <a:gd name="T31" fmla="*/ 2147483646 h 853"/>
              <a:gd name="T32" fmla="*/ 2147483646 w 727"/>
              <a:gd name="T33" fmla="*/ 2147483646 h 853"/>
              <a:gd name="T34" fmla="*/ 2147483646 w 727"/>
              <a:gd name="T35" fmla="*/ 2147483646 h 853"/>
              <a:gd name="T36" fmla="*/ 2147483646 w 727"/>
              <a:gd name="T37" fmla="*/ 2147483646 h 853"/>
              <a:gd name="T38" fmla="*/ 2147483646 w 727"/>
              <a:gd name="T39" fmla="*/ 2147483646 h 853"/>
              <a:gd name="T40" fmla="*/ 2147483646 w 727"/>
              <a:gd name="T41" fmla="*/ 2147483646 h 8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27" h="853">
                <a:moveTo>
                  <a:pt x="43" y="271"/>
                </a:moveTo>
                <a:cubicBezTo>
                  <a:pt x="31" y="357"/>
                  <a:pt x="0" y="465"/>
                  <a:pt x="51" y="541"/>
                </a:cubicBezTo>
                <a:cubicBezTo>
                  <a:pt x="65" y="599"/>
                  <a:pt x="85" y="659"/>
                  <a:pt x="138" y="693"/>
                </a:cubicBezTo>
                <a:cubicBezTo>
                  <a:pt x="155" y="719"/>
                  <a:pt x="166" y="734"/>
                  <a:pt x="196" y="744"/>
                </a:cubicBezTo>
                <a:cubicBezTo>
                  <a:pt x="198" y="751"/>
                  <a:pt x="198" y="761"/>
                  <a:pt x="203" y="766"/>
                </a:cubicBezTo>
                <a:cubicBezTo>
                  <a:pt x="215" y="778"/>
                  <a:pt x="275" y="792"/>
                  <a:pt x="291" y="795"/>
                </a:cubicBezTo>
                <a:cubicBezTo>
                  <a:pt x="334" y="826"/>
                  <a:pt x="375" y="820"/>
                  <a:pt x="429" y="824"/>
                </a:cubicBezTo>
                <a:cubicBezTo>
                  <a:pt x="468" y="833"/>
                  <a:pt x="507" y="841"/>
                  <a:pt x="545" y="853"/>
                </a:cubicBezTo>
                <a:cubicBezTo>
                  <a:pt x="574" y="851"/>
                  <a:pt x="603" y="852"/>
                  <a:pt x="632" y="846"/>
                </a:cubicBezTo>
                <a:cubicBezTo>
                  <a:pt x="679" y="837"/>
                  <a:pt x="677" y="755"/>
                  <a:pt x="698" y="715"/>
                </a:cubicBezTo>
                <a:cubicBezTo>
                  <a:pt x="713" y="539"/>
                  <a:pt x="681" y="594"/>
                  <a:pt x="727" y="526"/>
                </a:cubicBezTo>
                <a:cubicBezTo>
                  <a:pt x="714" y="362"/>
                  <a:pt x="724" y="283"/>
                  <a:pt x="611" y="170"/>
                </a:cubicBezTo>
                <a:cubicBezTo>
                  <a:pt x="595" y="116"/>
                  <a:pt x="597" y="109"/>
                  <a:pt x="545" y="97"/>
                </a:cubicBezTo>
                <a:cubicBezTo>
                  <a:pt x="530" y="86"/>
                  <a:pt x="517" y="71"/>
                  <a:pt x="502" y="61"/>
                </a:cubicBezTo>
                <a:cubicBezTo>
                  <a:pt x="469" y="39"/>
                  <a:pt x="415" y="36"/>
                  <a:pt x="378" y="31"/>
                </a:cubicBezTo>
                <a:cubicBezTo>
                  <a:pt x="280" y="0"/>
                  <a:pt x="311" y="11"/>
                  <a:pt x="152" y="24"/>
                </a:cubicBezTo>
                <a:cubicBezTo>
                  <a:pt x="129" y="60"/>
                  <a:pt x="151" y="84"/>
                  <a:pt x="109" y="97"/>
                </a:cubicBezTo>
                <a:cubicBezTo>
                  <a:pt x="104" y="107"/>
                  <a:pt x="101" y="118"/>
                  <a:pt x="94" y="126"/>
                </a:cubicBezTo>
                <a:cubicBezTo>
                  <a:pt x="88" y="133"/>
                  <a:pt x="76" y="133"/>
                  <a:pt x="72" y="141"/>
                </a:cubicBezTo>
                <a:cubicBezTo>
                  <a:pt x="54" y="176"/>
                  <a:pt x="68" y="192"/>
                  <a:pt x="43" y="228"/>
                </a:cubicBezTo>
                <a:cubicBezTo>
                  <a:pt x="35" y="267"/>
                  <a:pt x="27" y="255"/>
                  <a:pt x="43" y="271"/>
                </a:cubicBezTo>
                <a:close/>
              </a:path>
            </a:pathLst>
          </a:cu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任意多边形 368"/>
          <p:cNvSpPr/>
          <p:nvPr/>
        </p:nvSpPr>
        <p:spPr>
          <a:xfrm>
            <a:off x="6048826" y="1136342"/>
            <a:ext cx="2660168" cy="2334827"/>
          </a:xfrm>
          <a:custGeom>
            <a:avLst/>
            <a:gdLst>
              <a:gd name="connsiteX0" fmla="*/ 5745 w 2660168"/>
              <a:gd name="connsiteY0" fmla="*/ 97654 h 2334827"/>
              <a:gd name="connsiteX1" fmla="*/ 23500 w 2660168"/>
              <a:gd name="connsiteY1" fmla="*/ 372862 h 2334827"/>
              <a:gd name="connsiteX2" fmla="*/ 59011 w 2660168"/>
              <a:gd name="connsiteY2" fmla="*/ 532660 h 2334827"/>
              <a:gd name="connsiteX3" fmla="*/ 67889 w 2660168"/>
              <a:gd name="connsiteY3" fmla="*/ 585926 h 2334827"/>
              <a:gd name="connsiteX4" fmla="*/ 59011 w 2660168"/>
              <a:gd name="connsiteY4" fmla="*/ 896644 h 2334827"/>
              <a:gd name="connsiteX5" fmla="*/ 50133 w 2660168"/>
              <a:gd name="connsiteY5" fmla="*/ 923277 h 2334827"/>
              <a:gd name="connsiteX6" fmla="*/ 59011 w 2660168"/>
              <a:gd name="connsiteY6" fmla="*/ 1216241 h 2334827"/>
              <a:gd name="connsiteX7" fmla="*/ 76766 w 2660168"/>
              <a:gd name="connsiteY7" fmla="*/ 1331650 h 2334827"/>
              <a:gd name="connsiteX8" fmla="*/ 103399 w 2660168"/>
              <a:gd name="connsiteY8" fmla="*/ 1509204 h 2334827"/>
              <a:gd name="connsiteX9" fmla="*/ 147788 w 2660168"/>
              <a:gd name="connsiteY9" fmla="*/ 1633491 h 2334827"/>
              <a:gd name="connsiteX10" fmla="*/ 183298 w 2660168"/>
              <a:gd name="connsiteY10" fmla="*/ 1704512 h 2334827"/>
              <a:gd name="connsiteX11" fmla="*/ 227687 w 2660168"/>
              <a:gd name="connsiteY11" fmla="*/ 1784411 h 2334827"/>
              <a:gd name="connsiteX12" fmla="*/ 245442 w 2660168"/>
              <a:gd name="connsiteY12" fmla="*/ 1802167 h 2334827"/>
              <a:gd name="connsiteX13" fmla="*/ 272075 w 2660168"/>
              <a:gd name="connsiteY13" fmla="*/ 1837677 h 2334827"/>
              <a:gd name="connsiteX14" fmla="*/ 289830 w 2660168"/>
              <a:gd name="connsiteY14" fmla="*/ 1864310 h 2334827"/>
              <a:gd name="connsiteX15" fmla="*/ 334219 w 2660168"/>
              <a:gd name="connsiteY15" fmla="*/ 1908699 h 2334827"/>
              <a:gd name="connsiteX16" fmla="*/ 387485 w 2660168"/>
              <a:gd name="connsiteY16" fmla="*/ 1944209 h 2334827"/>
              <a:gd name="connsiteX17" fmla="*/ 449628 w 2660168"/>
              <a:gd name="connsiteY17" fmla="*/ 1979720 h 2334827"/>
              <a:gd name="connsiteX18" fmla="*/ 538405 w 2660168"/>
              <a:gd name="connsiteY18" fmla="*/ 1997475 h 2334827"/>
              <a:gd name="connsiteX19" fmla="*/ 573916 w 2660168"/>
              <a:gd name="connsiteY19" fmla="*/ 2015231 h 2334827"/>
              <a:gd name="connsiteX20" fmla="*/ 733714 w 2660168"/>
              <a:gd name="connsiteY20" fmla="*/ 2032986 h 2334827"/>
              <a:gd name="connsiteX21" fmla="*/ 813613 w 2660168"/>
              <a:gd name="connsiteY21" fmla="*/ 2050741 h 2334827"/>
              <a:gd name="connsiteX22" fmla="*/ 866879 w 2660168"/>
              <a:gd name="connsiteY22" fmla="*/ 2068497 h 2334827"/>
              <a:gd name="connsiteX23" fmla="*/ 884634 w 2660168"/>
              <a:gd name="connsiteY23" fmla="*/ 2095130 h 2334827"/>
              <a:gd name="connsiteX24" fmla="*/ 902390 w 2660168"/>
              <a:gd name="connsiteY24" fmla="*/ 2112885 h 2334827"/>
              <a:gd name="connsiteX25" fmla="*/ 911267 w 2660168"/>
              <a:gd name="connsiteY25" fmla="*/ 2139518 h 2334827"/>
              <a:gd name="connsiteX26" fmla="*/ 929023 w 2660168"/>
              <a:gd name="connsiteY26" fmla="*/ 2175029 h 2334827"/>
              <a:gd name="connsiteX27" fmla="*/ 937900 w 2660168"/>
              <a:gd name="connsiteY27" fmla="*/ 2210540 h 2334827"/>
              <a:gd name="connsiteX28" fmla="*/ 982289 w 2660168"/>
              <a:gd name="connsiteY28" fmla="*/ 2246050 h 2334827"/>
              <a:gd name="connsiteX29" fmla="*/ 1053310 w 2660168"/>
              <a:gd name="connsiteY29" fmla="*/ 2281561 h 2334827"/>
              <a:gd name="connsiteX30" fmla="*/ 1124331 w 2660168"/>
              <a:gd name="connsiteY30" fmla="*/ 2299316 h 2334827"/>
              <a:gd name="connsiteX31" fmla="*/ 1204230 w 2660168"/>
              <a:gd name="connsiteY31" fmla="*/ 2317072 h 2334827"/>
              <a:gd name="connsiteX32" fmla="*/ 1310762 w 2660168"/>
              <a:gd name="connsiteY32" fmla="*/ 2325949 h 2334827"/>
              <a:gd name="connsiteX33" fmla="*/ 1372906 w 2660168"/>
              <a:gd name="connsiteY33" fmla="*/ 2334827 h 2334827"/>
              <a:gd name="connsiteX34" fmla="*/ 1772401 w 2660168"/>
              <a:gd name="connsiteY34" fmla="*/ 2325949 h 2334827"/>
              <a:gd name="connsiteX35" fmla="*/ 1807912 w 2660168"/>
              <a:gd name="connsiteY35" fmla="*/ 2317072 h 2334827"/>
              <a:gd name="connsiteX36" fmla="*/ 1861178 w 2660168"/>
              <a:gd name="connsiteY36" fmla="*/ 2308194 h 2334827"/>
              <a:gd name="connsiteX37" fmla="*/ 1941077 w 2660168"/>
              <a:gd name="connsiteY37" fmla="*/ 2290439 h 2334827"/>
              <a:gd name="connsiteX38" fmla="*/ 1994343 w 2660168"/>
              <a:gd name="connsiteY38" fmla="*/ 2263806 h 2334827"/>
              <a:gd name="connsiteX39" fmla="*/ 2047609 w 2660168"/>
              <a:gd name="connsiteY39" fmla="*/ 2219417 h 2334827"/>
              <a:gd name="connsiteX40" fmla="*/ 2074242 w 2660168"/>
              <a:gd name="connsiteY40" fmla="*/ 2201662 h 2334827"/>
              <a:gd name="connsiteX41" fmla="*/ 2145263 w 2660168"/>
              <a:gd name="connsiteY41" fmla="*/ 2139518 h 2334827"/>
              <a:gd name="connsiteX42" fmla="*/ 2225162 w 2660168"/>
              <a:gd name="connsiteY42" fmla="*/ 2068497 h 2334827"/>
              <a:gd name="connsiteX43" fmla="*/ 2260673 w 2660168"/>
              <a:gd name="connsiteY43" fmla="*/ 2015231 h 2334827"/>
              <a:gd name="connsiteX44" fmla="*/ 2331694 w 2660168"/>
              <a:gd name="connsiteY44" fmla="*/ 1926454 h 2334827"/>
              <a:gd name="connsiteX45" fmla="*/ 2349450 w 2660168"/>
              <a:gd name="connsiteY45" fmla="*/ 1908699 h 2334827"/>
              <a:gd name="connsiteX46" fmla="*/ 2376083 w 2660168"/>
              <a:gd name="connsiteY46" fmla="*/ 1864310 h 2334827"/>
              <a:gd name="connsiteX47" fmla="*/ 2402716 w 2660168"/>
              <a:gd name="connsiteY47" fmla="*/ 1837677 h 2334827"/>
              <a:gd name="connsiteX48" fmla="*/ 2429349 w 2660168"/>
              <a:gd name="connsiteY48" fmla="*/ 1802167 h 2334827"/>
              <a:gd name="connsiteX49" fmla="*/ 2447104 w 2660168"/>
              <a:gd name="connsiteY49" fmla="*/ 1784411 h 2334827"/>
              <a:gd name="connsiteX50" fmla="*/ 2473737 w 2660168"/>
              <a:gd name="connsiteY50" fmla="*/ 1748901 h 2334827"/>
              <a:gd name="connsiteX51" fmla="*/ 2500370 w 2660168"/>
              <a:gd name="connsiteY51" fmla="*/ 1740023 h 2334827"/>
              <a:gd name="connsiteX52" fmla="*/ 2509248 w 2660168"/>
              <a:gd name="connsiteY52" fmla="*/ 1713390 h 2334827"/>
              <a:gd name="connsiteX53" fmla="*/ 2535881 w 2660168"/>
              <a:gd name="connsiteY53" fmla="*/ 1677879 h 2334827"/>
              <a:gd name="connsiteX54" fmla="*/ 2562514 w 2660168"/>
              <a:gd name="connsiteY54" fmla="*/ 1571347 h 2334827"/>
              <a:gd name="connsiteX55" fmla="*/ 2589147 w 2660168"/>
              <a:gd name="connsiteY55" fmla="*/ 1491448 h 2334827"/>
              <a:gd name="connsiteX56" fmla="*/ 2606902 w 2660168"/>
              <a:gd name="connsiteY56" fmla="*/ 1411549 h 2334827"/>
              <a:gd name="connsiteX57" fmla="*/ 2615780 w 2660168"/>
              <a:gd name="connsiteY57" fmla="*/ 1376039 h 2334827"/>
              <a:gd name="connsiteX58" fmla="*/ 2624657 w 2660168"/>
              <a:gd name="connsiteY58" fmla="*/ 1349406 h 2334827"/>
              <a:gd name="connsiteX59" fmla="*/ 2642413 w 2660168"/>
              <a:gd name="connsiteY59" fmla="*/ 1260629 h 2334827"/>
              <a:gd name="connsiteX60" fmla="*/ 2660168 w 2660168"/>
              <a:gd name="connsiteY60" fmla="*/ 1136341 h 2334827"/>
              <a:gd name="connsiteX61" fmla="*/ 2642413 w 2660168"/>
              <a:gd name="connsiteY61" fmla="*/ 825623 h 2334827"/>
              <a:gd name="connsiteX62" fmla="*/ 2624657 w 2660168"/>
              <a:gd name="connsiteY62" fmla="*/ 763479 h 2334827"/>
              <a:gd name="connsiteX63" fmla="*/ 2571391 w 2660168"/>
              <a:gd name="connsiteY63" fmla="*/ 683580 h 2334827"/>
              <a:gd name="connsiteX64" fmla="*/ 2527003 w 2660168"/>
              <a:gd name="connsiteY64" fmla="*/ 603681 h 2334827"/>
              <a:gd name="connsiteX65" fmla="*/ 2500370 w 2660168"/>
              <a:gd name="connsiteY65" fmla="*/ 577048 h 2334827"/>
              <a:gd name="connsiteX66" fmla="*/ 2464859 w 2660168"/>
              <a:gd name="connsiteY66" fmla="*/ 523782 h 2334827"/>
              <a:gd name="connsiteX67" fmla="*/ 2438226 w 2660168"/>
              <a:gd name="connsiteY67" fmla="*/ 470516 h 2334827"/>
              <a:gd name="connsiteX68" fmla="*/ 2411593 w 2660168"/>
              <a:gd name="connsiteY68" fmla="*/ 452761 h 2334827"/>
              <a:gd name="connsiteX69" fmla="*/ 2358327 w 2660168"/>
              <a:gd name="connsiteY69" fmla="*/ 381740 h 2334827"/>
              <a:gd name="connsiteX70" fmla="*/ 2340572 w 2660168"/>
              <a:gd name="connsiteY70" fmla="*/ 355107 h 2334827"/>
              <a:gd name="connsiteX71" fmla="*/ 2305061 w 2660168"/>
              <a:gd name="connsiteY71" fmla="*/ 319596 h 2334827"/>
              <a:gd name="connsiteX72" fmla="*/ 2287306 w 2660168"/>
              <a:gd name="connsiteY72" fmla="*/ 292963 h 2334827"/>
              <a:gd name="connsiteX73" fmla="*/ 2251795 w 2660168"/>
              <a:gd name="connsiteY73" fmla="*/ 266330 h 2334827"/>
              <a:gd name="connsiteX74" fmla="*/ 2207407 w 2660168"/>
              <a:gd name="connsiteY74" fmla="*/ 221941 h 2334827"/>
              <a:gd name="connsiteX75" fmla="*/ 2118630 w 2660168"/>
              <a:gd name="connsiteY75" fmla="*/ 168675 h 2334827"/>
              <a:gd name="connsiteX76" fmla="*/ 2020976 w 2660168"/>
              <a:gd name="connsiteY76" fmla="*/ 115409 h 2334827"/>
              <a:gd name="connsiteX77" fmla="*/ 1967710 w 2660168"/>
              <a:gd name="connsiteY77" fmla="*/ 88776 h 2334827"/>
              <a:gd name="connsiteX78" fmla="*/ 1905566 w 2660168"/>
              <a:gd name="connsiteY78" fmla="*/ 71021 h 2334827"/>
              <a:gd name="connsiteX79" fmla="*/ 1834545 w 2660168"/>
              <a:gd name="connsiteY79" fmla="*/ 35510 h 2334827"/>
              <a:gd name="connsiteX80" fmla="*/ 1790157 w 2660168"/>
              <a:gd name="connsiteY80" fmla="*/ 17755 h 2334827"/>
              <a:gd name="connsiteX81" fmla="*/ 1763524 w 2660168"/>
              <a:gd name="connsiteY81" fmla="*/ 8877 h 2334827"/>
              <a:gd name="connsiteX82" fmla="*/ 1497193 w 2660168"/>
              <a:gd name="connsiteY82" fmla="*/ 0 h 2334827"/>
              <a:gd name="connsiteX83" fmla="*/ 849124 w 2660168"/>
              <a:gd name="connsiteY83" fmla="*/ 8877 h 2334827"/>
              <a:gd name="connsiteX84" fmla="*/ 715958 w 2660168"/>
              <a:gd name="connsiteY84" fmla="*/ 17755 h 2334827"/>
              <a:gd name="connsiteX85" fmla="*/ 494017 w 2660168"/>
              <a:gd name="connsiteY85" fmla="*/ 26633 h 2334827"/>
              <a:gd name="connsiteX86" fmla="*/ 422995 w 2660168"/>
              <a:gd name="connsiteY86" fmla="*/ 35510 h 2334827"/>
              <a:gd name="connsiteX87" fmla="*/ 316463 w 2660168"/>
              <a:gd name="connsiteY87" fmla="*/ 53266 h 2334827"/>
              <a:gd name="connsiteX88" fmla="*/ 209931 w 2660168"/>
              <a:gd name="connsiteY88" fmla="*/ 62143 h 2334827"/>
              <a:gd name="connsiteX89" fmla="*/ 94522 w 2660168"/>
              <a:gd name="connsiteY89" fmla="*/ 79899 h 2334827"/>
              <a:gd name="connsiteX90" fmla="*/ 50133 w 2660168"/>
              <a:gd name="connsiteY90" fmla="*/ 88776 h 2334827"/>
              <a:gd name="connsiteX91" fmla="*/ 5745 w 2660168"/>
              <a:gd name="connsiteY91" fmla="*/ 97654 h 233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660168" h="2334827">
                <a:moveTo>
                  <a:pt x="5745" y="97654"/>
                </a:moveTo>
                <a:cubicBezTo>
                  <a:pt x="1306" y="145002"/>
                  <a:pt x="-10846" y="156971"/>
                  <a:pt x="23500" y="372862"/>
                </a:cubicBezTo>
                <a:cubicBezTo>
                  <a:pt x="32073" y="426750"/>
                  <a:pt x="50040" y="478837"/>
                  <a:pt x="59011" y="532660"/>
                </a:cubicBezTo>
                <a:lnTo>
                  <a:pt x="67889" y="585926"/>
                </a:lnTo>
                <a:cubicBezTo>
                  <a:pt x="64930" y="689499"/>
                  <a:pt x="64457" y="793172"/>
                  <a:pt x="59011" y="896644"/>
                </a:cubicBezTo>
                <a:cubicBezTo>
                  <a:pt x="58519" y="905989"/>
                  <a:pt x="50133" y="913919"/>
                  <a:pt x="50133" y="923277"/>
                </a:cubicBezTo>
                <a:cubicBezTo>
                  <a:pt x="50133" y="1020976"/>
                  <a:pt x="54472" y="1118647"/>
                  <a:pt x="59011" y="1216241"/>
                </a:cubicBezTo>
                <a:cubicBezTo>
                  <a:pt x="62722" y="1296034"/>
                  <a:pt x="60404" y="1282560"/>
                  <a:pt x="76766" y="1331650"/>
                </a:cubicBezTo>
                <a:cubicBezTo>
                  <a:pt x="86801" y="1442027"/>
                  <a:pt x="79650" y="1409457"/>
                  <a:pt x="103399" y="1509204"/>
                </a:cubicBezTo>
                <a:cubicBezTo>
                  <a:pt x="130270" y="1622065"/>
                  <a:pt x="104558" y="1590264"/>
                  <a:pt x="147788" y="1633491"/>
                </a:cubicBezTo>
                <a:cubicBezTo>
                  <a:pt x="180336" y="1714862"/>
                  <a:pt x="149452" y="1646491"/>
                  <a:pt x="183298" y="1704512"/>
                </a:cubicBezTo>
                <a:cubicBezTo>
                  <a:pt x="198650" y="1730829"/>
                  <a:pt x="211330" y="1758707"/>
                  <a:pt x="227687" y="1784411"/>
                </a:cubicBezTo>
                <a:cubicBezTo>
                  <a:pt x="232181" y="1791472"/>
                  <a:pt x="240084" y="1795737"/>
                  <a:pt x="245442" y="1802167"/>
                </a:cubicBezTo>
                <a:cubicBezTo>
                  <a:pt x="254914" y="1813534"/>
                  <a:pt x="263475" y="1825637"/>
                  <a:pt x="272075" y="1837677"/>
                </a:cubicBezTo>
                <a:cubicBezTo>
                  <a:pt x="278277" y="1846359"/>
                  <a:pt x="282804" y="1856280"/>
                  <a:pt x="289830" y="1864310"/>
                </a:cubicBezTo>
                <a:cubicBezTo>
                  <a:pt x="303609" y="1880058"/>
                  <a:pt x="318024" y="1895448"/>
                  <a:pt x="334219" y="1908699"/>
                </a:cubicBezTo>
                <a:cubicBezTo>
                  <a:pt x="350735" y="1922212"/>
                  <a:pt x="369730" y="1932372"/>
                  <a:pt x="387485" y="1944209"/>
                </a:cubicBezTo>
                <a:cubicBezTo>
                  <a:pt x="404699" y="1955685"/>
                  <a:pt x="429914" y="1974088"/>
                  <a:pt x="449628" y="1979720"/>
                </a:cubicBezTo>
                <a:cubicBezTo>
                  <a:pt x="478645" y="1988011"/>
                  <a:pt x="538405" y="1997475"/>
                  <a:pt x="538405" y="1997475"/>
                </a:cubicBezTo>
                <a:cubicBezTo>
                  <a:pt x="550242" y="2003394"/>
                  <a:pt x="561361" y="2011046"/>
                  <a:pt x="573916" y="2015231"/>
                </a:cubicBezTo>
                <a:cubicBezTo>
                  <a:pt x="613378" y="2028385"/>
                  <a:pt x="712601" y="2031362"/>
                  <a:pt x="733714" y="2032986"/>
                </a:cubicBezTo>
                <a:cubicBezTo>
                  <a:pt x="759041" y="2038052"/>
                  <a:pt x="788551" y="2043222"/>
                  <a:pt x="813613" y="2050741"/>
                </a:cubicBezTo>
                <a:cubicBezTo>
                  <a:pt x="831540" y="2056119"/>
                  <a:pt x="866879" y="2068497"/>
                  <a:pt x="866879" y="2068497"/>
                </a:cubicBezTo>
                <a:cubicBezTo>
                  <a:pt x="872797" y="2077375"/>
                  <a:pt x="877969" y="2086799"/>
                  <a:pt x="884634" y="2095130"/>
                </a:cubicBezTo>
                <a:cubicBezTo>
                  <a:pt x="889863" y="2101666"/>
                  <a:pt x="898084" y="2105708"/>
                  <a:pt x="902390" y="2112885"/>
                </a:cubicBezTo>
                <a:cubicBezTo>
                  <a:pt x="907205" y="2120909"/>
                  <a:pt x="907581" y="2130917"/>
                  <a:pt x="911267" y="2139518"/>
                </a:cubicBezTo>
                <a:cubicBezTo>
                  <a:pt x="916480" y="2151682"/>
                  <a:pt x="923104" y="2163192"/>
                  <a:pt x="929023" y="2175029"/>
                </a:cubicBezTo>
                <a:cubicBezTo>
                  <a:pt x="931982" y="2186866"/>
                  <a:pt x="932443" y="2199627"/>
                  <a:pt x="937900" y="2210540"/>
                </a:cubicBezTo>
                <a:cubicBezTo>
                  <a:pt x="945044" y="2224829"/>
                  <a:pt x="971836" y="2237688"/>
                  <a:pt x="982289" y="2246050"/>
                </a:cubicBezTo>
                <a:cubicBezTo>
                  <a:pt x="1020401" y="2276540"/>
                  <a:pt x="976175" y="2262278"/>
                  <a:pt x="1053310" y="2281561"/>
                </a:cubicBezTo>
                <a:lnTo>
                  <a:pt x="1124331" y="2299316"/>
                </a:lnTo>
                <a:cubicBezTo>
                  <a:pt x="1146127" y="2304765"/>
                  <a:pt x="1182942" y="2314568"/>
                  <a:pt x="1204230" y="2317072"/>
                </a:cubicBezTo>
                <a:cubicBezTo>
                  <a:pt x="1239620" y="2321235"/>
                  <a:pt x="1275324" y="2322219"/>
                  <a:pt x="1310762" y="2325949"/>
                </a:cubicBezTo>
                <a:cubicBezTo>
                  <a:pt x="1331572" y="2328139"/>
                  <a:pt x="1352191" y="2331868"/>
                  <a:pt x="1372906" y="2334827"/>
                </a:cubicBezTo>
                <a:lnTo>
                  <a:pt x="1772401" y="2325949"/>
                </a:lnTo>
                <a:cubicBezTo>
                  <a:pt x="1784592" y="2325451"/>
                  <a:pt x="1795948" y="2319465"/>
                  <a:pt x="1807912" y="2317072"/>
                </a:cubicBezTo>
                <a:cubicBezTo>
                  <a:pt x="1825563" y="2313542"/>
                  <a:pt x="1843468" y="2311414"/>
                  <a:pt x="1861178" y="2308194"/>
                </a:cubicBezTo>
                <a:cubicBezTo>
                  <a:pt x="1902495" y="2300681"/>
                  <a:pt x="1903085" y="2299936"/>
                  <a:pt x="1941077" y="2290439"/>
                </a:cubicBezTo>
                <a:cubicBezTo>
                  <a:pt x="2017404" y="2239552"/>
                  <a:pt x="1920832" y="2300561"/>
                  <a:pt x="1994343" y="2263806"/>
                </a:cubicBezTo>
                <a:cubicBezTo>
                  <a:pt x="2027403" y="2247276"/>
                  <a:pt x="2018160" y="2243957"/>
                  <a:pt x="2047609" y="2219417"/>
                </a:cubicBezTo>
                <a:cubicBezTo>
                  <a:pt x="2055806" y="2212587"/>
                  <a:pt x="2065364" y="2207580"/>
                  <a:pt x="2074242" y="2201662"/>
                </a:cubicBezTo>
                <a:cubicBezTo>
                  <a:pt x="2111601" y="2145622"/>
                  <a:pt x="2067584" y="2204250"/>
                  <a:pt x="2145263" y="2139518"/>
                </a:cubicBezTo>
                <a:cubicBezTo>
                  <a:pt x="2266877" y="2038172"/>
                  <a:pt x="2151800" y="2117404"/>
                  <a:pt x="2225162" y="2068497"/>
                </a:cubicBezTo>
                <a:cubicBezTo>
                  <a:pt x="2240489" y="2022518"/>
                  <a:pt x="2224098" y="2058457"/>
                  <a:pt x="2260673" y="2015231"/>
                </a:cubicBezTo>
                <a:cubicBezTo>
                  <a:pt x="2285152" y="1986301"/>
                  <a:pt x="2304896" y="1953250"/>
                  <a:pt x="2331694" y="1926454"/>
                </a:cubicBezTo>
                <a:cubicBezTo>
                  <a:pt x="2337613" y="1920536"/>
                  <a:pt x="2344585" y="1915510"/>
                  <a:pt x="2349450" y="1908699"/>
                </a:cubicBezTo>
                <a:cubicBezTo>
                  <a:pt x="2359479" y="1894658"/>
                  <a:pt x="2365730" y="1878114"/>
                  <a:pt x="2376083" y="1864310"/>
                </a:cubicBezTo>
                <a:cubicBezTo>
                  <a:pt x="2383616" y="1854266"/>
                  <a:pt x="2394545" y="1847209"/>
                  <a:pt x="2402716" y="1837677"/>
                </a:cubicBezTo>
                <a:cubicBezTo>
                  <a:pt x="2412345" y="1826443"/>
                  <a:pt x="2419877" y="1813534"/>
                  <a:pt x="2429349" y="1802167"/>
                </a:cubicBezTo>
                <a:cubicBezTo>
                  <a:pt x="2434707" y="1795737"/>
                  <a:pt x="2441746" y="1790841"/>
                  <a:pt x="2447104" y="1784411"/>
                </a:cubicBezTo>
                <a:cubicBezTo>
                  <a:pt x="2456576" y="1773044"/>
                  <a:pt x="2462370" y="1758373"/>
                  <a:pt x="2473737" y="1748901"/>
                </a:cubicBezTo>
                <a:cubicBezTo>
                  <a:pt x="2480926" y="1742910"/>
                  <a:pt x="2491492" y="1742982"/>
                  <a:pt x="2500370" y="1740023"/>
                </a:cubicBezTo>
                <a:cubicBezTo>
                  <a:pt x="2503329" y="1731145"/>
                  <a:pt x="2504605" y="1721515"/>
                  <a:pt x="2509248" y="1713390"/>
                </a:cubicBezTo>
                <a:cubicBezTo>
                  <a:pt x="2516589" y="1700543"/>
                  <a:pt x="2530686" y="1691733"/>
                  <a:pt x="2535881" y="1677879"/>
                </a:cubicBezTo>
                <a:cubicBezTo>
                  <a:pt x="2548733" y="1643606"/>
                  <a:pt x="2550939" y="1606072"/>
                  <a:pt x="2562514" y="1571347"/>
                </a:cubicBezTo>
                <a:cubicBezTo>
                  <a:pt x="2571392" y="1544714"/>
                  <a:pt x="2582339" y="1518684"/>
                  <a:pt x="2589147" y="1491448"/>
                </a:cubicBezTo>
                <a:cubicBezTo>
                  <a:pt x="2610805" y="1404811"/>
                  <a:pt x="2584350" y="1513029"/>
                  <a:pt x="2606902" y="1411549"/>
                </a:cubicBezTo>
                <a:cubicBezTo>
                  <a:pt x="2609549" y="1399639"/>
                  <a:pt x="2612428" y="1387771"/>
                  <a:pt x="2615780" y="1376039"/>
                </a:cubicBezTo>
                <a:cubicBezTo>
                  <a:pt x="2618351" y="1367041"/>
                  <a:pt x="2622553" y="1358524"/>
                  <a:pt x="2624657" y="1349406"/>
                </a:cubicBezTo>
                <a:cubicBezTo>
                  <a:pt x="2631443" y="1320000"/>
                  <a:pt x="2638145" y="1290504"/>
                  <a:pt x="2642413" y="1260629"/>
                </a:cubicBezTo>
                <a:lnTo>
                  <a:pt x="2660168" y="1136341"/>
                </a:lnTo>
                <a:cubicBezTo>
                  <a:pt x="2653823" y="945987"/>
                  <a:pt x="2668196" y="941644"/>
                  <a:pt x="2642413" y="825623"/>
                </a:cubicBezTo>
                <a:cubicBezTo>
                  <a:pt x="2640930" y="818952"/>
                  <a:pt x="2629981" y="772605"/>
                  <a:pt x="2624657" y="763479"/>
                </a:cubicBezTo>
                <a:cubicBezTo>
                  <a:pt x="2608529" y="735830"/>
                  <a:pt x="2571391" y="683580"/>
                  <a:pt x="2571391" y="683580"/>
                </a:cubicBezTo>
                <a:cubicBezTo>
                  <a:pt x="2560228" y="650088"/>
                  <a:pt x="2557531" y="634209"/>
                  <a:pt x="2527003" y="603681"/>
                </a:cubicBezTo>
                <a:cubicBezTo>
                  <a:pt x="2518125" y="594803"/>
                  <a:pt x="2508078" y="586958"/>
                  <a:pt x="2500370" y="577048"/>
                </a:cubicBezTo>
                <a:cubicBezTo>
                  <a:pt x="2487269" y="560204"/>
                  <a:pt x="2464859" y="523782"/>
                  <a:pt x="2464859" y="523782"/>
                </a:cubicBezTo>
                <a:cubicBezTo>
                  <a:pt x="2457639" y="502119"/>
                  <a:pt x="2455437" y="487727"/>
                  <a:pt x="2438226" y="470516"/>
                </a:cubicBezTo>
                <a:cubicBezTo>
                  <a:pt x="2430681" y="462972"/>
                  <a:pt x="2420471" y="458679"/>
                  <a:pt x="2411593" y="452761"/>
                </a:cubicBezTo>
                <a:cubicBezTo>
                  <a:pt x="2355625" y="359481"/>
                  <a:pt x="2413806" y="448315"/>
                  <a:pt x="2358327" y="381740"/>
                </a:cubicBezTo>
                <a:cubicBezTo>
                  <a:pt x="2351497" y="373543"/>
                  <a:pt x="2347516" y="363208"/>
                  <a:pt x="2340572" y="355107"/>
                </a:cubicBezTo>
                <a:cubicBezTo>
                  <a:pt x="2329678" y="342397"/>
                  <a:pt x="2314347" y="333525"/>
                  <a:pt x="2305061" y="319596"/>
                </a:cubicBezTo>
                <a:cubicBezTo>
                  <a:pt x="2299143" y="310718"/>
                  <a:pt x="2294851" y="300508"/>
                  <a:pt x="2287306" y="292963"/>
                </a:cubicBezTo>
                <a:cubicBezTo>
                  <a:pt x="2276844" y="282501"/>
                  <a:pt x="2262854" y="276160"/>
                  <a:pt x="2251795" y="266330"/>
                </a:cubicBezTo>
                <a:cubicBezTo>
                  <a:pt x="2236156" y="252428"/>
                  <a:pt x="2226123" y="231299"/>
                  <a:pt x="2207407" y="221941"/>
                </a:cubicBezTo>
                <a:cubicBezTo>
                  <a:pt x="2152808" y="194642"/>
                  <a:pt x="2182910" y="211528"/>
                  <a:pt x="2118630" y="168675"/>
                </a:cubicBezTo>
                <a:cubicBezTo>
                  <a:pt x="2069978" y="136241"/>
                  <a:pt x="2101530" y="155686"/>
                  <a:pt x="2020976" y="115409"/>
                </a:cubicBezTo>
                <a:cubicBezTo>
                  <a:pt x="2003221" y="106531"/>
                  <a:pt x="1986797" y="94229"/>
                  <a:pt x="1967710" y="88776"/>
                </a:cubicBezTo>
                <a:cubicBezTo>
                  <a:pt x="1946995" y="82858"/>
                  <a:pt x="1925569" y="79022"/>
                  <a:pt x="1905566" y="71021"/>
                </a:cubicBezTo>
                <a:cubicBezTo>
                  <a:pt x="1880991" y="61191"/>
                  <a:pt x="1858577" y="46602"/>
                  <a:pt x="1834545" y="35510"/>
                </a:cubicBezTo>
                <a:cubicBezTo>
                  <a:pt x="1820076" y="28832"/>
                  <a:pt x="1805078" y="23350"/>
                  <a:pt x="1790157" y="17755"/>
                </a:cubicBezTo>
                <a:cubicBezTo>
                  <a:pt x="1781395" y="14469"/>
                  <a:pt x="1772865" y="9443"/>
                  <a:pt x="1763524" y="8877"/>
                </a:cubicBezTo>
                <a:cubicBezTo>
                  <a:pt x="1674860" y="3504"/>
                  <a:pt x="1585970" y="2959"/>
                  <a:pt x="1497193" y="0"/>
                </a:cubicBezTo>
                <a:lnTo>
                  <a:pt x="849124" y="8877"/>
                </a:lnTo>
                <a:cubicBezTo>
                  <a:pt x="804648" y="9888"/>
                  <a:pt x="760390" y="15533"/>
                  <a:pt x="715958" y="17755"/>
                </a:cubicBezTo>
                <a:lnTo>
                  <a:pt x="494017" y="26633"/>
                </a:lnTo>
                <a:cubicBezTo>
                  <a:pt x="470343" y="29592"/>
                  <a:pt x="446589" y="31971"/>
                  <a:pt x="422995" y="35510"/>
                </a:cubicBezTo>
                <a:cubicBezTo>
                  <a:pt x="387393" y="40850"/>
                  <a:pt x="352339" y="50277"/>
                  <a:pt x="316463" y="53266"/>
                </a:cubicBezTo>
                <a:lnTo>
                  <a:pt x="209931" y="62143"/>
                </a:lnTo>
                <a:cubicBezTo>
                  <a:pt x="136014" y="80623"/>
                  <a:pt x="213803" y="62859"/>
                  <a:pt x="94522" y="79899"/>
                </a:cubicBezTo>
                <a:cubicBezTo>
                  <a:pt x="79584" y="82033"/>
                  <a:pt x="64929" y="85817"/>
                  <a:pt x="50133" y="88776"/>
                </a:cubicBezTo>
                <a:cubicBezTo>
                  <a:pt x="18576" y="109815"/>
                  <a:pt x="10184" y="50306"/>
                  <a:pt x="5745" y="97654"/>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7" name="任意多边形 296"/>
          <p:cNvSpPr/>
          <p:nvPr/>
        </p:nvSpPr>
        <p:spPr>
          <a:xfrm>
            <a:off x="2867487" y="1198485"/>
            <a:ext cx="2778711" cy="2237044"/>
          </a:xfrm>
          <a:custGeom>
            <a:avLst/>
            <a:gdLst>
              <a:gd name="connsiteX0" fmla="*/ 1091954 w 2778711"/>
              <a:gd name="connsiteY0" fmla="*/ 35511 h 2237044"/>
              <a:gd name="connsiteX1" fmla="*/ 976544 w 2778711"/>
              <a:gd name="connsiteY1" fmla="*/ 53266 h 2237044"/>
              <a:gd name="connsiteX2" fmla="*/ 878890 w 2778711"/>
              <a:gd name="connsiteY2" fmla="*/ 71022 h 2237044"/>
              <a:gd name="connsiteX3" fmla="*/ 736847 w 2778711"/>
              <a:gd name="connsiteY3" fmla="*/ 88777 h 2237044"/>
              <a:gd name="connsiteX4" fmla="*/ 674703 w 2778711"/>
              <a:gd name="connsiteY4" fmla="*/ 97655 h 2237044"/>
              <a:gd name="connsiteX5" fmla="*/ 577049 w 2778711"/>
              <a:gd name="connsiteY5" fmla="*/ 124288 h 2237044"/>
              <a:gd name="connsiteX6" fmla="*/ 514905 w 2778711"/>
              <a:gd name="connsiteY6" fmla="*/ 133165 h 2237044"/>
              <a:gd name="connsiteX7" fmla="*/ 452762 w 2778711"/>
              <a:gd name="connsiteY7" fmla="*/ 150921 h 2237044"/>
              <a:gd name="connsiteX8" fmla="*/ 381740 w 2778711"/>
              <a:gd name="connsiteY8" fmla="*/ 195309 h 2237044"/>
              <a:gd name="connsiteX9" fmla="*/ 292963 w 2778711"/>
              <a:gd name="connsiteY9" fmla="*/ 239698 h 2237044"/>
              <a:gd name="connsiteX10" fmla="*/ 239697 w 2778711"/>
              <a:gd name="connsiteY10" fmla="*/ 292964 h 2237044"/>
              <a:gd name="connsiteX11" fmla="*/ 221942 w 2778711"/>
              <a:gd name="connsiteY11" fmla="*/ 319597 h 2237044"/>
              <a:gd name="connsiteX12" fmla="*/ 204187 w 2778711"/>
              <a:gd name="connsiteY12" fmla="*/ 355107 h 2237044"/>
              <a:gd name="connsiteX13" fmla="*/ 186431 w 2778711"/>
              <a:gd name="connsiteY13" fmla="*/ 372863 h 2237044"/>
              <a:gd name="connsiteX14" fmla="*/ 133165 w 2778711"/>
              <a:gd name="connsiteY14" fmla="*/ 426129 h 2237044"/>
              <a:gd name="connsiteX15" fmla="*/ 115410 w 2778711"/>
              <a:gd name="connsiteY15" fmla="*/ 461639 h 2237044"/>
              <a:gd name="connsiteX16" fmla="*/ 97655 w 2778711"/>
              <a:gd name="connsiteY16" fmla="*/ 479395 h 2237044"/>
              <a:gd name="connsiteX17" fmla="*/ 79899 w 2778711"/>
              <a:gd name="connsiteY17" fmla="*/ 506028 h 2237044"/>
              <a:gd name="connsiteX18" fmla="*/ 44389 w 2778711"/>
              <a:gd name="connsiteY18" fmla="*/ 594804 h 2237044"/>
              <a:gd name="connsiteX19" fmla="*/ 26633 w 2778711"/>
              <a:gd name="connsiteY19" fmla="*/ 630315 h 2237044"/>
              <a:gd name="connsiteX20" fmla="*/ 8878 w 2778711"/>
              <a:gd name="connsiteY20" fmla="*/ 683581 h 2237044"/>
              <a:gd name="connsiteX21" fmla="*/ 0 w 2778711"/>
              <a:gd name="connsiteY21" fmla="*/ 745725 h 2237044"/>
              <a:gd name="connsiteX22" fmla="*/ 17756 w 2778711"/>
              <a:gd name="connsiteY22" fmla="*/ 932156 h 2237044"/>
              <a:gd name="connsiteX23" fmla="*/ 26633 w 2778711"/>
              <a:gd name="connsiteY23" fmla="*/ 967666 h 2237044"/>
              <a:gd name="connsiteX24" fmla="*/ 35511 w 2778711"/>
              <a:gd name="connsiteY24" fmla="*/ 1029810 h 2237044"/>
              <a:gd name="connsiteX25" fmla="*/ 79899 w 2778711"/>
              <a:gd name="connsiteY25" fmla="*/ 1127465 h 2237044"/>
              <a:gd name="connsiteX26" fmla="*/ 124288 w 2778711"/>
              <a:gd name="connsiteY26" fmla="*/ 1198486 h 2237044"/>
              <a:gd name="connsiteX27" fmla="*/ 186431 w 2778711"/>
              <a:gd name="connsiteY27" fmla="*/ 1260630 h 2237044"/>
              <a:gd name="connsiteX28" fmla="*/ 239697 w 2778711"/>
              <a:gd name="connsiteY28" fmla="*/ 1287263 h 2237044"/>
              <a:gd name="connsiteX29" fmla="*/ 292963 w 2778711"/>
              <a:gd name="connsiteY29" fmla="*/ 1313896 h 2237044"/>
              <a:gd name="connsiteX30" fmla="*/ 390618 w 2778711"/>
              <a:gd name="connsiteY30" fmla="*/ 1340529 h 2237044"/>
              <a:gd name="connsiteX31" fmla="*/ 443884 w 2778711"/>
              <a:gd name="connsiteY31" fmla="*/ 1358284 h 2237044"/>
              <a:gd name="connsiteX32" fmla="*/ 523783 w 2778711"/>
              <a:gd name="connsiteY32" fmla="*/ 1402672 h 2237044"/>
              <a:gd name="connsiteX33" fmla="*/ 568171 w 2778711"/>
              <a:gd name="connsiteY33" fmla="*/ 1420428 h 2237044"/>
              <a:gd name="connsiteX34" fmla="*/ 639193 w 2778711"/>
              <a:gd name="connsiteY34" fmla="*/ 1447061 h 2237044"/>
              <a:gd name="connsiteX35" fmla="*/ 665826 w 2778711"/>
              <a:gd name="connsiteY35" fmla="*/ 1464816 h 2237044"/>
              <a:gd name="connsiteX36" fmla="*/ 692459 w 2778711"/>
              <a:gd name="connsiteY36" fmla="*/ 1491449 h 2237044"/>
              <a:gd name="connsiteX37" fmla="*/ 727969 w 2778711"/>
              <a:gd name="connsiteY37" fmla="*/ 1500327 h 2237044"/>
              <a:gd name="connsiteX38" fmla="*/ 754602 w 2778711"/>
              <a:gd name="connsiteY38" fmla="*/ 1518082 h 2237044"/>
              <a:gd name="connsiteX39" fmla="*/ 772358 w 2778711"/>
              <a:gd name="connsiteY39" fmla="*/ 1535837 h 2237044"/>
              <a:gd name="connsiteX40" fmla="*/ 798991 w 2778711"/>
              <a:gd name="connsiteY40" fmla="*/ 1544715 h 2237044"/>
              <a:gd name="connsiteX41" fmla="*/ 852257 w 2778711"/>
              <a:gd name="connsiteY41" fmla="*/ 1580226 h 2237044"/>
              <a:gd name="connsiteX42" fmla="*/ 905523 w 2778711"/>
              <a:gd name="connsiteY42" fmla="*/ 1597981 h 2237044"/>
              <a:gd name="connsiteX43" fmla="*/ 932156 w 2778711"/>
              <a:gd name="connsiteY43" fmla="*/ 1606859 h 2237044"/>
              <a:gd name="connsiteX44" fmla="*/ 994299 w 2778711"/>
              <a:gd name="connsiteY44" fmla="*/ 1642369 h 2237044"/>
              <a:gd name="connsiteX45" fmla="*/ 1020932 w 2778711"/>
              <a:gd name="connsiteY45" fmla="*/ 1660125 h 2237044"/>
              <a:gd name="connsiteX46" fmla="*/ 1083076 w 2778711"/>
              <a:gd name="connsiteY46" fmla="*/ 1713391 h 2237044"/>
              <a:gd name="connsiteX47" fmla="*/ 1109709 w 2778711"/>
              <a:gd name="connsiteY47" fmla="*/ 1722268 h 2237044"/>
              <a:gd name="connsiteX48" fmla="*/ 1127464 w 2778711"/>
              <a:gd name="connsiteY48" fmla="*/ 1740024 h 2237044"/>
              <a:gd name="connsiteX49" fmla="*/ 1207363 w 2778711"/>
              <a:gd name="connsiteY49" fmla="*/ 1784412 h 2237044"/>
              <a:gd name="connsiteX50" fmla="*/ 1233996 w 2778711"/>
              <a:gd name="connsiteY50" fmla="*/ 1793290 h 2237044"/>
              <a:gd name="connsiteX51" fmla="*/ 1278385 w 2778711"/>
              <a:gd name="connsiteY51" fmla="*/ 1819923 h 2237044"/>
              <a:gd name="connsiteX52" fmla="*/ 1313896 w 2778711"/>
              <a:gd name="connsiteY52" fmla="*/ 1855433 h 2237044"/>
              <a:gd name="connsiteX53" fmla="*/ 1376039 w 2778711"/>
              <a:gd name="connsiteY53" fmla="*/ 1882066 h 2237044"/>
              <a:gd name="connsiteX54" fmla="*/ 1473694 w 2778711"/>
              <a:gd name="connsiteY54" fmla="*/ 1961965 h 2237044"/>
              <a:gd name="connsiteX55" fmla="*/ 1500327 w 2778711"/>
              <a:gd name="connsiteY55" fmla="*/ 1979721 h 2237044"/>
              <a:gd name="connsiteX56" fmla="*/ 1526960 w 2778711"/>
              <a:gd name="connsiteY56" fmla="*/ 1997476 h 2237044"/>
              <a:gd name="connsiteX57" fmla="*/ 1562470 w 2778711"/>
              <a:gd name="connsiteY57" fmla="*/ 2041865 h 2237044"/>
              <a:gd name="connsiteX58" fmla="*/ 1589103 w 2778711"/>
              <a:gd name="connsiteY58" fmla="*/ 2050742 h 2237044"/>
              <a:gd name="connsiteX59" fmla="*/ 1606859 w 2778711"/>
              <a:gd name="connsiteY59" fmla="*/ 2077375 h 2237044"/>
              <a:gd name="connsiteX60" fmla="*/ 1642369 w 2778711"/>
              <a:gd name="connsiteY60" fmla="*/ 2095131 h 2237044"/>
              <a:gd name="connsiteX61" fmla="*/ 1669002 w 2778711"/>
              <a:gd name="connsiteY61" fmla="*/ 2112886 h 2237044"/>
              <a:gd name="connsiteX62" fmla="*/ 1740024 w 2778711"/>
              <a:gd name="connsiteY62" fmla="*/ 2166152 h 2237044"/>
              <a:gd name="connsiteX63" fmla="*/ 1802167 w 2778711"/>
              <a:gd name="connsiteY63" fmla="*/ 2192785 h 2237044"/>
              <a:gd name="connsiteX64" fmla="*/ 1828800 w 2778711"/>
              <a:gd name="connsiteY64" fmla="*/ 2210540 h 2237044"/>
              <a:gd name="connsiteX65" fmla="*/ 1908699 w 2778711"/>
              <a:gd name="connsiteY65" fmla="*/ 2219418 h 2237044"/>
              <a:gd name="connsiteX66" fmla="*/ 2121763 w 2778711"/>
              <a:gd name="connsiteY66" fmla="*/ 2219418 h 2237044"/>
              <a:gd name="connsiteX67" fmla="*/ 2157274 w 2778711"/>
              <a:gd name="connsiteY67" fmla="*/ 2201663 h 2237044"/>
              <a:gd name="connsiteX68" fmla="*/ 2192785 w 2778711"/>
              <a:gd name="connsiteY68" fmla="*/ 2192785 h 2237044"/>
              <a:gd name="connsiteX69" fmla="*/ 2281562 w 2778711"/>
              <a:gd name="connsiteY69" fmla="*/ 2157274 h 2237044"/>
              <a:gd name="connsiteX70" fmla="*/ 2414727 w 2778711"/>
              <a:gd name="connsiteY70" fmla="*/ 2041865 h 2237044"/>
              <a:gd name="connsiteX71" fmla="*/ 2450237 w 2778711"/>
              <a:gd name="connsiteY71" fmla="*/ 2006354 h 2237044"/>
              <a:gd name="connsiteX72" fmla="*/ 2494626 w 2778711"/>
              <a:gd name="connsiteY72" fmla="*/ 1926455 h 2237044"/>
              <a:gd name="connsiteX73" fmla="*/ 2512381 w 2778711"/>
              <a:gd name="connsiteY73" fmla="*/ 1890944 h 2237044"/>
              <a:gd name="connsiteX74" fmla="*/ 2530136 w 2778711"/>
              <a:gd name="connsiteY74" fmla="*/ 1864311 h 2237044"/>
              <a:gd name="connsiteX75" fmla="*/ 2539014 w 2778711"/>
              <a:gd name="connsiteY75" fmla="*/ 1837678 h 2237044"/>
              <a:gd name="connsiteX76" fmla="*/ 2565647 w 2778711"/>
              <a:gd name="connsiteY76" fmla="*/ 1811045 h 2237044"/>
              <a:gd name="connsiteX77" fmla="*/ 2601158 w 2778711"/>
              <a:gd name="connsiteY77" fmla="*/ 1740024 h 2237044"/>
              <a:gd name="connsiteX78" fmla="*/ 2618913 w 2778711"/>
              <a:gd name="connsiteY78" fmla="*/ 1722268 h 2237044"/>
              <a:gd name="connsiteX79" fmla="*/ 2689934 w 2778711"/>
              <a:gd name="connsiteY79" fmla="*/ 1606859 h 2237044"/>
              <a:gd name="connsiteX80" fmla="*/ 2707690 w 2778711"/>
              <a:gd name="connsiteY80" fmla="*/ 1580226 h 2237044"/>
              <a:gd name="connsiteX81" fmla="*/ 2734323 w 2778711"/>
              <a:gd name="connsiteY81" fmla="*/ 1500327 h 2237044"/>
              <a:gd name="connsiteX82" fmla="*/ 2743200 w 2778711"/>
              <a:gd name="connsiteY82" fmla="*/ 1464816 h 2237044"/>
              <a:gd name="connsiteX83" fmla="*/ 2760956 w 2778711"/>
              <a:gd name="connsiteY83" fmla="*/ 1411550 h 2237044"/>
              <a:gd name="connsiteX84" fmla="*/ 2778711 w 2778711"/>
              <a:gd name="connsiteY84" fmla="*/ 1331651 h 2237044"/>
              <a:gd name="connsiteX85" fmla="*/ 2760956 w 2778711"/>
              <a:gd name="connsiteY85" fmla="*/ 932156 h 2237044"/>
              <a:gd name="connsiteX86" fmla="*/ 2752078 w 2778711"/>
              <a:gd name="connsiteY86" fmla="*/ 861134 h 2237044"/>
              <a:gd name="connsiteX87" fmla="*/ 2725445 w 2778711"/>
              <a:gd name="connsiteY87" fmla="*/ 798991 h 2237044"/>
              <a:gd name="connsiteX88" fmla="*/ 2681057 w 2778711"/>
              <a:gd name="connsiteY88" fmla="*/ 648070 h 2237044"/>
              <a:gd name="connsiteX89" fmla="*/ 2663301 w 2778711"/>
              <a:gd name="connsiteY89" fmla="*/ 577049 h 2237044"/>
              <a:gd name="connsiteX90" fmla="*/ 2601158 w 2778711"/>
              <a:gd name="connsiteY90" fmla="*/ 461639 h 2237044"/>
              <a:gd name="connsiteX91" fmla="*/ 2494626 w 2778711"/>
              <a:gd name="connsiteY91" fmla="*/ 292964 h 2237044"/>
              <a:gd name="connsiteX92" fmla="*/ 2467993 w 2778711"/>
              <a:gd name="connsiteY92" fmla="*/ 275208 h 2237044"/>
              <a:gd name="connsiteX93" fmla="*/ 2450237 w 2778711"/>
              <a:gd name="connsiteY93" fmla="*/ 257453 h 2237044"/>
              <a:gd name="connsiteX94" fmla="*/ 2414727 w 2778711"/>
              <a:gd name="connsiteY94" fmla="*/ 239698 h 2237044"/>
              <a:gd name="connsiteX95" fmla="*/ 2343705 w 2778711"/>
              <a:gd name="connsiteY95" fmla="*/ 186432 h 2237044"/>
              <a:gd name="connsiteX96" fmla="*/ 2281562 w 2778711"/>
              <a:gd name="connsiteY96" fmla="*/ 150921 h 2237044"/>
              <a:gd name="connsiteX97" fmla="*/ 2237173 w 2778711"/>
              <a:gd name="connsiteY97" fmla="*/ 106532 h 2237044"/>
              <a:gd name="connsiteX98" fmla="*/ 2192785 w 2778711"/>
              <a:gd name="connsiteY98" fmla="*/ 79899 h 2237044"/>
              <a:gd name="connsiteX99" fmla="*/ 2112886 w 2778711"/>
              <a:gd name="connsiteY99" fmla="*/ 26633 h 2237044"/>
              <a:gd name="connsiteX100" fmla="*/ 2077375 w 2778711"/>
              <a:gd name="connsiteY100" fmla="*/ 17756 h 2237044"/>
              <a:gd name="connsiteX101" fmla="*/ 1908699 w 2778711"/>
              <a:gd name="connsiteY101" fmla="*/ 0 h 2237044"/>
              <a:gd name="connsiteX102" fmla="*/ 1278385 w 2778711"/>
              <a:gd name="connsiteY102" fmla="*/ 8878 h 2237044"/>
              <a:gd name="connsiteX103" fmla="*/ 1233996 w 2778711"/>
              <a:gd name="connsiteY103" fmla="*/ 17756 h 2237044"/>
              <a:gd name="connsiteX104" fmla="*/ 1145220 w 2778711"/>
              <a:gd name="connsiteY104" fmla="*/ 26633 h 2237044"/>
              <a:gd name="connsiteX105" fmla="*/ 1091954 w 2778711"/>
              <a:gd name="connsiteY105" fmla="*/ 35511 h 223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778711" h="2237044">
                <a:moveTo>
                  <a:pt x="1091954" y="35511"/>
                </a:moveTo>
                <a:lnTo>
                  <a:pt x="976544" y="53266"/>
                </a:lnTo>
                <a:cubicBezTo>
                  <a:pt x="943909" y="58705"/>
                  <a:pt x="911618" y="66173"/>
                  <a:pt x="878890" y="71022"/>
                </a:cubicBezTo>
                <a:cubicBezTo>
                  <a:pt x="831689" y="78015"/>
                  <a:pt x="784084" y="82029"/>
                  <a:pt x="736847" y="88777"/>
                </a:cubicBezTo>
                <a:lnTo>
                  <a:pt x="674703" y="97655"/>
                </a:lnTo>
                <a:cubicBezTo>
                  <a:pt x="622692" y="114992"/>
                  <a:pt x="627236" y="115924"/>
                  <a:pt x="577049" y="124288"/>
                </a:cubicBezTo>
                <a:cubicBezTo>
                  <a:pt x="556409" y="127728"/>
                  <a:pt x="535492" y="129422"/>
                  <a:pt x="514905" y="133165"/>
                </a:cubicBezTo>
                <a:cubicBezTo>
                  <a:pt x="501864" y="135536"/>
                  <a:pt x="466773" y="144916"/>
                  <a:pt x="452762" y="150921"/>
                </a:cubicBezTo>
                <a:cubicBezTo>
                  <a:pt x="398223" y="174295"/>
                  <a:pt x="434316" y="161852"/>
                  <a:pt x="381740" y="195309"/>
                </a:cubicBezTo>
                <a:cubicBezTo>
                  <a:pt x="326529" y="230443"/>
                  <a:pt x="336324" y="225244"/>
                  <a:pt x="292963" y="239698"/>
                </a:cubicBezTo>
                <a:cubicBezTo>
                  <a:pt x="275208" y="257453"/>
                  <a:pt x="253625" y="272071"/>
                  <a:pt x="239697" y="292964"/>
                </a:cubicBezTo>
                <a:cubicBezTo>
                  <a:pt x="233779" y="301842"/>
                  <a:pt x="227236" y="310333"/>
                  <a:pt x="221942" y="319597"/>
                </a:cubicBezTo>
                <a:cubicBezTo>
                  <a:pt x="215376" y="331087"/>
                  <a:pt x="211528" y="344096"/>
                  <a:pt x="204187" y="355107"/>
                </a:cubicBezTo>
                <a:cubicBezTo>
                  <a:pt x="199544" y="362071"/>
                  <a:pt x="191296" y="366052"/>
                  <a:pt x="186431" y="372863"/>
                </a:cubicBezTo>
                <a:cubicBezTo>
                  <a:pt x="147121" y="427896"/>
                  <a:pt x="180431" y="410373"/>
                  <a:pt x="133165" y="426129"/>
                </a:cubicBezTo>
                <a:cubicBezTo>
                  <a:pt x="127247" y="437966"/>
                  <a:pt x="122751" y="450628"/>
                  <a:pt x="115410" y="461639"/>
                </a:cubicBezTo>
                <a:cubicBezTo>
                  <a:pt x="110767" y="468603"/>
                  <a:pt x="102884" y="472859"/>
                  <a:pt x="97655" y="479395"/>
                </a:cubicBezTo>
                <a:cubicBezTo>
                  <a:pt x="90990" y="487727"/>
                  <a:pt x="85193" y="496764"/>
                  <a:pt x="79899" y="506028"/>
                </a:cubicBezTo>
                <a:cubicBezTo>
                  <a:pt x="17839" y="614632"/>
                  <a:pt x="117150" y="449286"/>
                  <a:pt x="44389" y="594804"/>
                </a:cubicBezTo>
                <a:cubicBezTo>
                  <a:pt x="38470" y="606641"/>
                  <a:pt x="31548" y="618027"/>
                  <a:pt x="26633" y="630315"/>
                </a:cubicBezTo>
                <a:cubicBezTo>
                  <a:pt x="19682" y="647692"/>
                  <a:pt x="8878" y="683581"/>
                  <a:pt x="8878" y="683581"/>
                </a:cubicBezTo>
                <a:cubicBezTo>
                  <a:pt x="5919" y="704296"/>
                  <a:pt x="0" y="724800"/>
                  <a:pt x="0" y="745725"/>
                </a:cubicBezTo>
                <a:cubicBezTo>
                  <a:pt x="0" y="764199"/>
                  <a:pt x="13293" y="903144"/>
                  <a:pt x="17756" y="932156"/>
                </a:cubicBezTo>
                <a:cubicBezTo>
                  <a:pt x="19611" y="944215"/>
                  <a:pt x="24450" y="955662"/>
                  <a:pt x="26633" y="967666"/>
                </a:cubicBezTo>
                <a:cubicBezTo>
                  <a:pt x="30376" y="988253"/>
                  <a:pt x="31407" y="1009291"/>
                  <a:pt x="35511" y="1029810"/>
                </a:cubicBezTo>
                <a:cubicBezTo>
                  <a:pt x="46329" y="1083896"/>
                  <a:pt x="58393" y="1041444"/>
                  <a:pt x="79899" y="1127465"/>
                </a:cubicBezTo>
                <a:cubicBezTo>
                  <a:pt x="99272" y="1204954"/>
                  <a:pt x="71321" y="1119033"/>
                  <a:pt x="124288" y="1198486"/>
                </a:cubicBezTo>
                <a:cubicBezTo>
                  <a:pt x="164989" y="1259538"/>
                  <a:pt x="139554" y="1245004"/>
                  <a:pt x="186431" y="1260630"/>
                </a:cubicBezTo>
                <a:cubicBezTo>
                  <a:pt x="222169" y="1296365"/>
                  <a:pt x="182432" y="1262720"/>
                  <a:pt x="239697" y="1287263"/>
                </a:cubicBezTo>
                <a:cubicBezTo>
                  <a:pt x="300443" y="1313297"/>
                  <a:pt x="233118" y="1298935"/>
                  <a:pt x="292963" y="1313896"/>
                </a:cubicBezTo>
                <a:cubicBezTo>
                  <a:pt x="393363" y="1338995"/>
                  <a:pt x="276328" y="1302432"/>
                  <a:pt x="390618" y="1340529"/>
                </a:cubicBezTo>
                <a:lnTo>
                  <a:pt x="443884" y="1358284"/>
                </a:lnTo>
                <a:cubicBezTo>
                  <a:pt x="475906" y="1377497"/>
                  <a:pt x="491027" y="1388114"/>
                  <a:pt x="523783" y="1402672"/>
                </a:cubicBezTo>
                <a:cubicBezTo>
                  <a:pt x="538345" y="1409144"/>
                  <a:pt x="553609" y="1413956"/>
                  <a:pt x="568171" y="1420428"/>
                </a:cubicBezTo>
                <a:cubicBezTo>
                  <a:pt x="627855" y="1446955"/>
                  <a:pt x="578618" y="1431917"/>
                  <a:pt x="639193" y="1447061"/>
                </a:cubicBezTo>
                <a:cubicBezTo>
                  <a:pt x="648071" y="1452979"/>
                  <a:pt x="657629" y="1457986"/>
                  <a:pt x="665826" y="1464816"/>
                </a:cubicBezTo>
                <a:cubicBezTo>
                  <a:pt x="675471" y="1472853"/>
                  <a:pt x="681558" y="1485220"/>
                  <a:pt x="692459" y="1491449"/>
                </a:cubicBezTo>
                <a:cubicBezTo>
                  <a:pt x="703052" y="1497502"/>
                  <a:pt x="716132" y="1497368"/>
                  <a:pt x="727969" y="1500327"/>
                </a:cubicBezTo>
                <a:cubicBezTo>
                  <a:pt x="736847" y="1506245"/>
                  <a:pt x="746270" y="1511417"/>
                  <a:pt x="754602" y="1518082"/>
                </a:cubicBezTo>
                <a:cubicBezTo>
                  <a:pt x="761138" y="1523311"/>
                  <a:pt x="765181" y="1531531"/>
                  <a:pt x="772358" y="1535837"/>
                </a:cubicBezTo>
                <a:cubicBezTo>
                  <a:pt x="780382" y="1540652"/>
                  <a:pt x="790811" y="1540170"/>
                  <a:pt x="798991" y="1544715"/>
                </a:cubicBezTo>
                <a:cubicBezTo>
                  <a:pt x="817645" y="1555078"/>
                  <a:pt x="832013" y="1573478"/>
                  <a:pt x="852257" y="1580226"/>
                </a:cubicBezTo>
                <a:lnTo>
                  <a:pt x="905523" y="1597981"/>
                </a:lnTo>
                <a:cubicBezTo>
                  <a:pt x="914401" y="1600940"/>
                  <a:pt x="924370" y="1601668"/>
                  <a:pt x="932156" y="1606859"/>
                </a:cubicBezTo>
                <a:cubicBezTo>
                  <a:pt x="997054" y="1650124"/>
                  <a:pt x="915442" y="1597307"/>
                  <a:pt x="994299" y="1642369"/>
                </a:cubicBezTo>
                <a:cubicBezTo>
                  <a:pt x="1003563" y="1647663"/>
                  <a:pt x="1012735" y="1653294"/>
                  <a:pt x="1020932" y="1660125"/>
                </a:cubicBezTo>
                <a:cubicBezTo>
                  <a:pt x="1055276" y="1688745"/>
                  <a:pt x="1040764" y="1689213"/>
                  <a:pt x="1083076" y="1713391"/>
                </a:cubicBezTo>
                <a:cubicBezTo>
                  <a:pt x="1091201" y="1718034"/>
                  <a:pt x="1100831" y="1719309"/>
                  <a:pt x="1109709" y="1722268"/>
                </a:cubicBezTo>
                <a:cubicBezTo>
                  <a:pt x="1115627" y="1728187"/>
                  <a:pt x="1120653" y="1735159"/>
                  <a:pt x="1127464" y="1740024"/>
                </a:cubicBezTo>
                <a:cubicBezTo>
                  <a:pt x="1144298" y="1752049"/>
                  <a:pt x="1186255" y="1775366"/>
                  <a:pt x="1207363" y="1784412"/>
                </a:cubicBezTo>
                <a:cubicBezTo>
                  <a:pt x="1215964" y="1788098"/>
                  <a:pt x="1225118" y="1790331"/>
                  <a:pt x="1233996" y="1793290"/>
                </a:cubicBezTo>
                <a:cubicBezTo>
                  <a:pt x="1299605" y="1858895"/>
                  <a:pt x="1197709" y="1762298"/>
                  <a:pt x="1278385" y="1819923"/>
                </a:cubicBezTo>
                <a:cubicBezTo>
                  <a:pt x="1292007" y="1829653"/>
                  <a:pt x="1300504" y="1845389"/>
                  <a:pt x="1313896" y="1855433"/>
                </a:cubicBezTo>
                <a:cubicBezTo>
                  <a:pt x="1331452" y="1868600"/>
                  <a:pt x="1355465" y="1875208"/>
                  <a:pt x="1376039" y="1882066"/>
                </a:cubicBezTo>
                <a:cubicBezTo>
                  <a:pt x="1435520" y="1941547"/>
                  <a:pt x="1403014" y="1914845"/>
                  <a:pt x="1473694" y="1961965"/>
                </a:cubicBezTo>
                <a:lnTo>
                  <a:pt x="1500327" y="1979721"/>
                </a:lnTo>
                <a:lnTo>
                  <a:pt x="1526960" y="1997476"/>
                </a:lnTo>
                <a:cubicBezTo>
                  <a:pt x="1535023" y="2009571"/>
                  <a:pt x="1548416" y="2033433"/>
                  <a:pt x="1562470" y="2041865"/>
                </a:cubicBezTo>
                <a:cubicBezTo>
                  <a:pt x="1570494" y="2046680"/>
                  <a:pt x="1580225" y="2047783"/>
                  <a:pt x="1589103" y="2050742"/>
                </a:cubicBezTo>
                <a:cubicBezTo>
                  <a:pt x="1595022" y="2059620"/>
                  <a:pt x="1598662" y="2070544"/>
                  <a:pt x="1606859" y="2077375"/>
                </a:cubicBezTo>
                <a:cubicBezTo>
                  <a:pt x="1617026" y="2085847"/>
                  <a:pt x="1630879" y="2088565"/>
                  <a:pt x="1642369" y="2095131"/>
                </a:cubicBezTo>
                <a:cubicBezTo>
                  <a:pt x="1651633" y="2100425"/>
                  <a:pt x="1660670" y="2106221"/>
                  <a:pt x="1669002" y="2112886"/>
                </a:cubicBezTo>
                <a:cubicBezTo>
                  <a:pt x="1699048" y="2136922"/>
                  <a:pt x="1686932" y="2148454"/>
                  <a:pt x="1740024" y="2166152"/>
                </a:cubicBezTo>
                <a:cubicBezTo>
                  <a:pt x="1769903" y="2176112"/>
                  <a:pt x="1771451" y="2175233"/>
                  <a:pt x="1802167" y="2192785"/>
                </a:cubicBezTo>
                <a:cubicBezTo>
                  <a:pt x="1811431" y="2198079"/>
                  <a:pt x="1818449" y="2207952"/>
                  <a:pt x="1828800" y="2210540"/>
                </a:cubicBezTo>
                <a:cubicBezTo>
                  <a:pt x="1854797" y="2217039"/>
                  <a:pt x="1882066" y="2216459"/>
                  <a:pt x="1908699" y="2219418"/>
                </a:cubicBezTo>
                <a:cubicBezTo>
                  <a:pt x="1989652" y="2246403"/>
                  <a:pt x="1957242" y="2239161"/>
                  <a:pt x="2121763" y="2219418"/>
                </a:cubicBezTo>
                <a:cubicBezTo>
                  <a:pt x="2134903" y="2217841"/>
                  <a:pt x="2144883" y="2206310"/>
                  <a:pt x="2157274" y="2201663"/>
                </a:cubicBezTo>
                <a:cubicBezTo>
                  <a:pt x="2168698" y="2197379"/>
                  <a:pt x="2181053" y="2196137"/>
                  <a:pt x="2192785" y="2192785"/>
                </a:cubicBezTo>
                <a:cubicBezTo>
                  <a:pt x="2216708" y="2185950"/>
                  <a:pt x="2268834" y="2165510"/>
                  <a:pt x="2281562" y="2157274"/>
                </a:cubicBezTo>
                <a:cubicBezTo>
                  <a:pt x="2341118" y="2118737"/>
                  <a:pt x="2368697" y="2087895"/>
                  <a:pt x="2414727" y="2041865"/>
                </a:cubicBezTo>
                <a:lnTo>
                  <a:pt x="2450237" y="2006354"/>
                </a:lnTo>
                <a:cubicBezTo>
                  <a:pt x="2468095" y="1952782"/>
                  <a:pt x="2448835" y="2002773"/>
                  <a:pt x="2494626" y="1926455"/>
                </a:cubicBezTo>
                <a:cubicBezTo>
                  <a:pt x="2501435" y="1915107"/>
                  <a:pt x="2505815" y="1902434"/>
                  <a:pt x="2512381" y="1890944"/>
                </a:cubicBezTo>
                <a:cubicBezTo>
                  <a:pt x="2517674" y="1881680"/>
                  <a:pt x="2525364" y="1873854"/>
                  <a:pt x="2530136" y="1864311"/>
                </a:cubicBezTo>
                <a:cubicBezTo>
                  <a:pt x="2534321" y="1855941"/>
                  <a:pt x="2533823" y="1845464"/>
                  <a:pt x="2539014" y="1837678"/>
                </a:cubicBezTo>
                <a:cubicBezTo>
                  <a:pt x="2545978" y="1827232"/>
                  <a:pt x="2556769" y="1819923"/>
                  <a:pt x="2565647" y="1811045"/>
                </a:cubicBezTo>
                <a:cubicBezTo>
                  <a:pt x="2577484" y="1787371"/>
                  <a:pt x="2582443" y="1758740"/>
                  <a:pt x="2601158" y="1740024"/>
                </a:cubicBezTo>
                <a:cubicBezTo>
                  <a:pt x="2607076" y="1734105"/>
                  <a:pt x="2614113" y="1729125"/>
                  <a:pt x="2618913" y="1722268"/>
                </a:cubicBezTo>
                <a:cubicBezTo>
                  <a:pt x="2644711" y="1685413"/>
                  <a:pt x="2666080" y="1645025"/>
                  <a:pt x="2689934" y="1606859"/>
                </a:cubicBezTo>
                <a:cubicBezTo>
                  <a:pt x="2695589" y="1597811"/>
                  <a:pt x="2701771" y="1589104"/>
                  <a:pt x="2707690" y="1580226"/>
                </a:cubicBezTo>
                <a:cubicBezTo>
                  <a:pt x="2728963" y="1495127"/>
                  <a:pt x="2700893" y="1600617"/>
                  <a:pt x="2734323" y="1500327"/>
                </a:cubicBezTo>
                <a:cubicBezTo>
                  <a:pt x="2738181" y="1488752"/>
                  <a:pt x="2739694" y="1476503"/>
                  <a:pt x="2743200" y="1464816"/>
                </a:cubicBezTo>
                <a:cubicBezTo>
                  <a:pt x="2748578" y="1446889"/>
                  <a:pt x="2755578" y="1429477"/>
                  <a:pt x="2760956" y="1411550"/>
                </a:cubicBezTo>
                <a:cubicBezTo>
                  <a:pt x="2768475" y="1386488"/>
                  <a:pt x="2773645" y="1356978"/>
                  <a:pt x="2778711" y="1331651"/>
                </a:cubicBezTo>
                <a:cubicBezTo>
                  <a:pt x="2767100" y="890430"/>
                  <a:pt x="2786146" y="1121088"/>
                  <a:pt x="2760956" y="932156"/>
                </a:cubicBezTo>
                <a:cubicBezTo>
                  <a:pt x="2757803" y="908507"/>
                  <a:pt x="2758225" y="884187"/>
                  <a:pt x="2752078" y="861134"/>
                </a:cubicBezTo>
                <a:cubicBezTo>
                  <a:pt x="2746271" y="839358"/>
                  <a:pt x="2734323" y="819705"/>
                  <a:pt x="2725445" y="798991"/>
                </a:cubicBezTo>
                <a:cubicBezTo>
                  <a:pt x="2708775" y="665631"/>
                  <a:pt x="2731360" y="790594"/>
                  <a:pt x="2681057" y="648070"/>
                </a:cubicBezTo>
                <a:cubicBezTo>
                  <a:pt x="2672935" y="625059"/>
                  <a:pt x="2671018" y="600199"/>
                  <a:pt x="2663301" y="577049"/>
                </a:cubicBezTo>
                <a:cubicBezTo>
                  <a:pt x="2639443" y="505477"/>
                  <a:pt x="2638582" y="524012"/>
                  <a:pt x="2601158" y="461639"/>
                </a:cubicBezTo>
                <a:cubicBezTo>
                  <a:pt x="2572368" y="413656"/>
                  <a:pt x="2539440" y="337779"/>
                  <a:pt x="2494626" y="292964"/>
                </a:cubicBezTo>
                <a:cubicBezTo>
                  <a:pt x="2487081" y="285419"/>
                  <a:pt x="2476325" y="281873"/>
                  <a:pt x="2467993" y="275208"/>
                </a:cubicBezTo>
                <a:cubicBezTo>
                  <a:pt x="2461457" y="269979"/>
                  <a:pt x="2457201" y="262096"/>
                  <a:pt x="2450237" y="257453"/>
                </a:cubicBezTo>
                <a:cubicBezTo>
                  <a:pt x="2439226" y="250112"/>
                  <a:pt x="2425738" y="247039"/>
                  <a:pt x="2414727" y="239698"/>
                </a:cubicBezTo>
                <a:cubicBezTo>
                  <a:pt x="2331846" y="184444"/>
                  <a:pt x="2403087" y="222061"/>
                  <a:pt x="2343705" y="186432"/>
                </a:cubicBezTo>
                <a:cubicBezTo>
                  <a:pt x="2323247" y="174157"/>
                  <a:pt x="2300648" y="165236"/>
                  <a:pt x="2281562" y="150921"/>
                </a:cubicBezTo>
                <a:cubicBezTo>
                  <a:pt x="2264822" y="138366"/>
                  <a:pt x="2255116" y="117298"/>
                  <a:pt x="2237173" y="106532"/>
                </a:cubicBezTo>
                <a:cubicBezTo>
                  <a:pt x="2222377" y="97654"/>
                  <a:pt x="2207300" y="89230"/>
                  <a:pt x="2192785" y="79899"/>
                </a:cubicBezTo>
                <a:cubicBezTo>
                  <a:pt x="2165860" y="62590"/>
                  <a:pt x="2143939" y="34396"/>
                  <a:pt x="2112886" y="26633"/>
                </a:cubicBezTo>
                <a:cubicBezTo>
                  <a:pt x="2101049" y="23674"/>
                  <a:pt x="2089410" y="19762"/>
                  <a:pt x="2077375" y="17756"/>
                </a:cubicBezTo>
                <a:cubicBezTo>
                  <a:pt x="2030813" y="9996"/>
                  <a:pt x="1952169" y="3952"/>
                  <a:pt x="1908699" y="0"/>
                </a:cubicBezTo>
                <a:lnTo>
                  <a:pt x="1278385" y="8878"/>
                </a:lnTo>
                <a:cubicBezTo>
                  <a:pt x="1263301" y="9275"/>
                  <a:pt x="1248953" y="15762"/>
                  <a:pt x="1233996" y="17756"/>
                </a:cubicBezTo>
                <a:cubicBezTo>
                  <a:pt x="1204517" y="21686"/>
                  <a:pt x="1174812" y="23674"/>
                  <a:pt x="1145220" y="26633"/>
                </a:cubicBezTo>
                <a:cubicBezTo>
                  <a:pt x="1110165" y="38318"/>
                  <a:pt x="1120067" y="31072"/>
                  <a:pt x="1091954" y="35511"/>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a:xfrm>
            <a:off x="228600" y="1246188"/>
            <a:ext cx="8458200" cy="228600"/>
          </a:xfrm>
        </p:spPr>
        <p:txBody>
          <a:bodyPr/>
          <a:lstStyle/>
          <a:p>
            <a:pPr>
              <a:defRPr/>
            </a:pPr>
            <a:r>
              <a:rPr lang="en-US" altLang="zh-CN" smtClean="0"/>
              <a:t>BUPT</a:t>
            </a:r>
            <a:endParaRPr lang="en-US" altLang="zh-CN"/>
          </a:p>
        </p:txBody>
      </p:sp>
      <p:sp>
        <p:nvSpPr>
          <p:cNvPr id="151" name="Oval 59"/>
          <p:cNvSpPr>
            <a:spLocks noChangeArrowheads="1"/>
          </p:cNvSpPr>
          <p:nvPr/>
        </p:nvSpPr>
        <p:spPr bwMode="auto">
          <a:xfrm>
            <a:off x="990600" y="14478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152" name="Oval 60"/>
          <p:cNvSpPr>
            <a:spLocks noChangeArrowheads="1"/>
          </p:cNvSpPr>
          <p:nvPr/>
        </p:nvSpPr>
        <p:spPr bwMode="auto">
          <a:xfrm>
            <a:off x="152400" y="21336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153" name="Line 61"/>
          <p:cNvSpPr>
            <a:spLocks noChangeShapeType="1"/>
          </p:cNvSpPr>
          <p:nvPr/>
        </p:nvSpPr>
        <p:spPr bwMode="auto">
          <a:xfrm>
            <a:off x="609600" y="2362200"/>
            <a:ext cx="457200" cy="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4" name="Oval 62"/>
          <p:cNvSpPr>
            <a:spLocks noChangeArrowheads="1"/>
          </p:cNvSpPr>
          <p:nvPr/>
        </p:nvSpPr>
        <p:spPr bwMode="auto">
          <a:xfrm>
            <a:off x="1981200" y="21336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155" name="Oval 63"/>
          <p:cNvSpPr>
            <a:spLocks noChangeArrowheads="1"/>
          </p:cNvSpPr>
          <p:nvPr/>
        </p:nvSpPr>
        <p:spPr bwMode="auto">
          <a:xfrm>
            <a:off x="1066800" y="21336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156" name="Oval 64"/>
          <p:cNvSpPr>
            <a:spLocks noChangeArrowheads="1"/>
          </p:cNvSpPr>
          <p:nvPr/>
        </p:nvSpPr>
        <p:spPr bwMode="auto">
          <a:xfrm>
            <a:off x="457200" y="29718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157" name="Oval 65"/>
          <p:cNvSpPr>
            <a:spLocks noChangeArrowheads="1"/>
          </p:cNvSpPr>
          <p:nvPr/>
        </p:nvSpPr>
        <p:spPr bwMode="auto">
          <a:xfrm>
            <a:off x="1447800" y="29718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158" name="Line 66"/>
          <p:cNvSpPr>
            <a:spLocks noChangeShapeType="1"/>
          </p:cNvSpPr>
          <p:nvPr/>
        </p:nvSpPr>
        <p:spPr bwMode="auto">
          <a:xfrm>
            <a:off x="1524000" y="2362200"/>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9" name="Line 67"/>
          <p:cNvSpPr>
            <a:spLocks noChangeShapeType="1"/>
          </p:cNvSpPr>
          <p:nvPr/>
        </p:nvSpPr>
        <p:spPr bwMode="auto">
          <a:xfrm flipH="1">
            <a:off x="1295400" y="1828800"/>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0" name="Line 68"/>
          <p:cNvSpPr>
            <a:spLocks noChangeShapeType="1"/>
          </p:cNvSpPr>
          <p:nvPr/>
        </p:nvSpPr>
        <p:spPr bwMode="auto">
          <a:xfrm>
            <a:off x="381000" y="2514600"/>
            <a:ext cx="2286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1" name="Line 69"/>
          <p:cNvSpPr>
            <a:spLocks noChangeShapeType="1"/>
          </p:cNvSpPr>
          <p:nvPr/>
        </p:nvSpPr>
        <p:spPr bwMode="auto">
          <a:xfrm flipV="1">
            <a:off x="838200" y="2514600"/>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2" name="Line 70"/>
          <p:cNvSpPr>
            <a:spLocks noChangeShapeType="1"/>
          </p:cNvSpPr>
          <p:nvPr/>
        </p:nvSpPr>
        <p:spPr bwMode="auto">
          <a:xfrm>
            <a:off x="1371600" y="2514600"/>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3" name="Line 71"/>
          <p:cNvSpPr>
            <a:spLocks noChangeShapeType="1"/>
          </p:cNvSpPr>
          <p:nvPr/>
        </p:nvSpPr>
        <p:spPr bwMode="auto">
          <a:xfrm flipV="1">
            <a:off x="1905000" y="2514600"/>
            <a:ext cx="304800" cy="6096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4" name="Line 72"/>
          <p:cNvSpPr>
            <a:spLocks noChangeShapeType="1"/>
          </p:cNvSpPr>
          <p:nvPr/>
        </p:nvSpPr>
        <p:spPr bwMode="auto">
          <a:xfrm>
            <a:off x="914400" y="3200400"/>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5" name="Line 73"/>
          <p:cNvSpPr>
            <a:spLocks noChangeShapeType="1"/>
          </p:cNvSpPr>
          <p:nvPr/>
        </p:nvSpPr>
        <p:spPr bwMode="auto">
          <a:xfrm flipV="1">
            <a:off x="533400" y="1752600"/>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6" name="Line 74"/>
          <p:cNvSpPr>
            <a:spLocks noChangeShapeType="1"/>
          </p:cNvSpPr>
          <p:nvPr/>
        </p:nvSpPr>
        <p:spPr bwMode="auto">
          <a:xfrm flipH="1" flipV="1">
            <a:off x="1371600" y="1752600"/>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7" name="Text Box 75"/>
          <p:cNvSpPr txBox="1">
            <a:spLocks noChangeArrowheads="1"/>
          </p:cNvSpPr>
          <p:nvPr/>
        </p:nvSpPr>
        <p:spPr bwMode="auto">
          <a:xfrm>
            <a:off x="381000" y="1828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168" name="Text Box 76"/>
          <p:cNvSpPr txBox="1">
            <a:spLocks noChangeArrowheads="1"/>
          </p:cNvSpPr>
          <p:nvPr/>
        </p:nvSpPr>
        <p:spPr bwMode="auto">
          <a:xfrm>
            <a:off x="955105" y="1914340"/>
            <a:ext cx="270697"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169" name="Text Box 77"/>
          <p:cNvSpPr txBox="1">
            <a:spLocks noChangeArrowheads="1"/>
          </p:cNvSpPr>
          <p:nvPr/>
        </p:nvSpPr>
        <p:spPr bwMode="auto">
          <a:xfrm>
            <a:off x="990600" y="2971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170" name="Text Box 78"/>
          <p:cNvSpPr txBox="1">
            <a:spLocks noChangeArrowheads="1"/>
          </p:cNvSpPr>
          <p:nvPr/>
        </p:nvSpPr>
        <p:spPr bwMode="auto">
          <a:xfrm>
            <a:off x="1524000" y="1752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171" name="Text Box 79"/>
          <p:cNvSpPr txBox="1">
            <a:spLocks noChangeArrowheads="1"/>
          </p:cNvSpPr>
          <p:nvPr/>
        </p:nvSpPr>
        <p:spPr bwMode="auto">
          <a:xfrm>
            <a:off x="609600" y="2034381"/>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5</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172" name="Text Box 80"/>
          <p:cNvSpPr txBox="1">
            <a:spLocks noChangeArrowheads="1"/>
          </p:cNvSpPr>
          <p:nvPr/>
        </p:nvSpPr>
        <p:spPr bwMode="auto">
          <a:xfrm>
            <a:off x="1524000" y="2133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173" name="Text Box 81"/>
          <p:cNvSpPr txBox="1">
            <a:spLocks noChangeArrowheads="1"/>
          </p:cNvSpPr>
          <p:nvPr/>
        </p:nvSpPr>
        <p:spPr bwMode="auto">
          <a:xfrm>
            <a:off x="762000" y="2590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174" name="Text Box 82"/>
          <p:cNvSpPr txBox="1">
            <a:spLocks noChangeArrowheads="1"/>
          </p:cNvSpPr>
          <p:nvPr/>
        </p:nvSpPr>
        <p:spPr bwMode="auto">
          <a:xfrm>
            <a:off x="228600" y="26670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p:txBody>
      </p:sp>
      <p:sp>
        <p:nvSpPr>
          <p:cNvPr id="175" name="Text Box 83"/>
          <p:cNvSpPr txBox="1">
            <a:spLocks noChangeArrowheads="1"/>
          </p:cNvSpPr>
          <p:nvPr/>
        </p:nvSpPr>
        <p:spPr bwMode="auto">
          <a:xfrm>
            <a:off x="1371600" y="25908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176" name="Text Box 84"/>
          <p:cNvSpPr txBox="1">
            <a:spLocks noChangeArrowheads="1"/>
          </p:cNvSpPr>
          <p:nvPr/>
        </p:nvSpPr>
        <p:spPr bwMode="auto">
          <a:xfrm>
            <a:off x="1981200" y="2667000"/>
            <a:ext cx="381000"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177" name="Text Box 85"/>
          <p:cNvSpPr txBox="1">
            <a:spLocks noChangeArrowheads="1"/>
          </p:cNvSpPr>
          <p:nvPr/>
        </p:nvSpPr>
        <p:spPr bwMode="auto">
          <a:xfrm>
            <a:off x="685800" y="3276600"/>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178" name="Text Box 90"/>
          <p:cNvSpPr txBox="1">
            <a:spLocks noChangeArrowheads="1"/>
          </p:cNvSpPr>
          <p:nvPr/>
        </p:nvSpPr>
        <p:spPr bwMode="auto">
          <a:xfrm>
            <a:off x="1257298" y="1464671"/>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179" name="Line 135"/>
          <p:cNvSpPr>
            <a:spLocks noChangeShapeType="1"/>
          </p:cNvSpPr>
          <p:nvPr/>
        </p:nvSpPr>
        <p:spPr bwMode="auto">
          <a:xfrm>
            <a:off x="762000" y="4070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0" name="Line 136"/>
          <p:cNvSpPr>
            <a:spLocks noChangeShapeType="1"/>
          </p:cNvSpPr>
          <p:nvPr/>
        </p:nvSpPr>
        <p:spPr bwMode="auto">
          <a:xfrm flipV="1">
            <a:off x="762000" y="4070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1" name="Line 137"/>
          <p:cNvSpPr>
            <a:spLocks noChangeShapeType="1"/>
          </p:cNvSpPr>
          <p:nvPr/>
        </p:nvSpPr>
        <p:spPr bwMode="auto">
          <a:xfrm>
            <a:off x="762000" y="42989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2" name="Line 138"/>
          <p:cNvSpPr>
            <a:spLocks noChangeShapeType="1"/>
          </p:cNvSpPr>
          <p:nvPr/>
        </p:nvSpPr>
        <p:spPr bwMode="auto">
          <a:xfrm flipV="1">
            <a:off x="1219200" y="4070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3" name="Line 139"/>
          <p:cNvSpPr>
            <a:spLocks noChangeShapeType="1"/>
          </p:cNvSpPr>
          <p:nvPr/>
        </p:nvSpPr>
        <p:spPr bwMode="auto">
          <a:xfrm flipV="1">
            <a:off x="1676400" y="4070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4" name="Text Box 140"/>
          <p:cNvSpPr txBox="1">
            <a:spLocks noChangeArrowheads="1"/>
          </p:cNvSpPr>
          <p:nvPr/>
        </p:nvSpPr>
        <p:spPr bwMode="auto">
          <a:xfrm>
            <a:off x="762000" y="39941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185" name="Line 141"/>
          <p:cNvSpPr>
            <a:spLocks noChangeShapeType="1"/>
          </p:cNvSpPr>
          <p:nvPr/>
        </p:nvSpPr>
        <p:spPr bwMode="auto">
          <a:xfrm>
            <a:off x="762000" y="42989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6" name="Line 142"/>
          <p:cNvSpPr>
            <a:spLocks noChangeShapeType="1"/>
          </p:cNvSpPr>
          <p:nvPr/>
        </p:nvSpPr>
        <p:spPr bwMode="auto">
          <a:xfrm flipV="1">
            <a:off x="762000" y="4298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7" name="Line 143"/>
          <p:cNvSpPr>
            <a:spLocks noChangeShapeType="1"/>
          </p:cNvSpPr>
          <p:nvPr/>
        </p:nvSpPr>
        <p:spPr bwMode="auto">
          <a:xfrm>
            <a:off x="762000" y="45275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8" name="Line 144"/>
          <p:cNvSpPr>
            <a:spLocks noChangeShapeType="1"/>
          </p:cNvSpPr>
          <p:nvPr/>
        </p:nvSpPr>
        <p:spPr bwMode="auto">
          <a:xfrm flipV="1">
            <a:off x="1219200" y="4298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9" name="Line 145"/>
          <p:cNvSpPr>
            <a:spLocks noChangeShapeType="1"/>
          </p:cNvSpPr>
          <p:nvPr/>
        </p:nvSpPr>
        <p:spPr bwMode="auto">
          <a:xfrm flipV="1">
            <a:off x="1676400" y="4298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0" name="Text Box 146"/>
          <p:cNvSpPr txBox="1">
            <a:spLocks noChangeArrowheads="1"/>
          </p:cNvSpPr>
          <p:nvPr/>
        </p:nvSpPr>
        <p:spPr bwMode="auto">
          <a:xfrm>
            <a:off x="762000" y="42227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5</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191" name="Line 147"/>
          <p:cNvSpPr>
            <a:spLocks noChangeShapeType="1"/>
          </p:cNvSpPr>
          <p:nvPr/>
        </p:nvSpPr>
        <p:spPr bwMode="auto">
          <a:xfrm>
            <a:off x="762000" y="45275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2" name="Line 148"/>
          <p:cNvSpPr>
            <a:spLocks noChangeShapeType="1"/>
          </p:cNvSpPr>
          <p:nvPr/>
        </p:nvSpPr>
        <p:spPr bwMode="auto">
          <a:xfrm flipV="1">
            <a:off x="762000" y="45275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3" name="Line 149"/>
          <p:cNvSpPr>
            <a:spLocks noChangeShapeType="1"/>
          </p:cNvSpPr>
          <p:nvPr/>
        </p:nvSpPr>
        <p:spPr bwMode="auto">
          <a:xfrm>
            <a:off x="762000" y="4832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4" name="Line 150"/>
          <p:cNvSpPr>
            <a:spLocks noChangeShapeType="1"/>
          </p:cNvSpPr>
          <p:nvPr/>
        </p:nvSpPr>
        <p:spPr bwMode="auto">
          <a:xfrm flipV="1">
            <a:off x="1219200" y="45275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5" name="Line 151"/>
          <p:cNvSpPr>
            <a:spLocks noChangeShapeType="1"/>
          </p:cNvSpPr>
          <p:nvPr/>
        </p:nvSpPr>
        <p:spPr bwMode="auto">
          <a:xfrm flipV="1">
            <a:off x="1676400" y="45275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6" name="Line 152"/>
          <p:cNvSpPr>
            <a:spLocks noChangeShapeType="1"/>
          </p:cNvSpPr>
          <p:nvPr/>
        </p:nvSpPr>
        <p:spPr bwMode="auto">
          <a:xfrm>
            <a:off x="762000" y="48307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7" name="Line 153"/>
          <p:cNvSpPr>
            <a:spLocks noChangeShapeType="1"/>
          </p:cNvSpPr>
          <p:nvPr/>
        </p:nvSpPr>
        <p:spPr bwMode="auto">
          <a:xfrm flipV="1">
            <a:off x="762000" y="4830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8" name="Line 154"/>
          <p:cNvSpPr>
            <a:spLocks noChangeShapeType="1"/>
          </p:cNvSpPr>
          <p:nvPr/>
        </p:nvSpPr>
        <p:spPr bwMode="auto">
          <a:xfrm>
            <a:off x="762000" y="51355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9" name="Line 155"/>
          <p:cNvSpPr>
            <a:spLocks noChangeShapeType="1"/>
          </p:cNvSpPr>
          <p:nvPr/>
        </p:nvSpPr>
        <p:spPr bwMode="auto">
          <a:xfrm flipV="1">
            <a:off x="1219200" y="4830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0" name="Line 156"/>
          <p:cNvSpPr>
            <a:spLocks noChangeShapeType="1"/>
          </p:cNvSpPr>
          <p:nvPr/>
        </p:nvSpPr>
        <p:spPr bwMode="auto">
          <a:xfrm flipV="1">
            <a:off x="1676400" y="4830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1" name="Line 157"/>
          <p:cNvSpPr>
            <a:spLocks noChangeShapeType="1"/>
          </p:cNvSpPr>
          <p:nvPr/>
        </p:nvSpPr>
        <p:spPr bwMode="auto">
          <a:xfrm>
            <a:off x="762000" y="51355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2" name="Line 158"/>
          <p:cNvSpPr>
            <a:spLocks noChangeShapeType="1"/>
          </p:cNvSpPr>
          <p:nvPr/>
        </p:nvSpPr>
        <p:spPr bwMode="auto">
          <a:xfrm flipV="1">
            <a:off x="762000" y="5135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3" name="Line 159"/>
          <p:cNvSpPr>
            <a:spLocks noChangeShapeType="1"/>
          </p:cNvSpPr>
          <p:nvPr/>
        </p:nvSpPr>
        <p:spPr bwMode="auto">
          <a:xfrm>
            <a:off x="762000" y="5440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 name="Line 160"/>
          <p:cNvSpPr>
            <a:spLocks noChangeShapeType="1"/>
          </p:cNvSpPr>
          <p:nvPr/>
        </p:nvSpPr>
        <p:spPr bwMode="auto">
          <a:xfrm flipV="1">
            <a:off x="1219200" y="5135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 name="Line 161"/>
          <p:cNvSpPr>
            <a:spLocks noChangeShapeType="1"/>
          </p:cNvSpPr>
          <p:nvPr/>
        </p:nvSpPr>
        <p:spPr bwMode="auto">
          <a:xfrm flipV="1">
            <a:off x="1676400" y="5135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6" name="Text Box 162"/>
          <p:cNvSpPr txBox="1">
            <a:spLocks noChangeArrowheads="1"/>
          </p:cNvSpPr>
          <p:nvPr/>
        </p:nvSpPr>
        <p:spPr bwMode="auto">
          <a:xfrm>
            <a:off x="685800" y="4527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07" name="Text Box 163"/>
          <p:cNvSpPr txBox="1">
            <a:spLocks noChangeArrowheads="1"/>
          </p:cNvSpPr>
          <p:nvPr/>
        </p:nvSpPr>
        <p:spPr bwMode="auto">
          <a:xfrm>
            <a:off x="685800" y="4832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08" name="Text Box 164"/>
          <p:cNvSpPr txBox="1">
            <a:spLocks noChangeArrowheads="1"/>
          </p:cNvSpPr>
          <p:nvPr/>
        </p:nvSpPr>
        <p:spPr bwMode="auto">
          <a:xfrm>
            <a:off x="685800" y="51054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209" name="Line 165"/>
          <p:cNvSpPr>
            <a:spLocks noChangeShapeType="1"/>
          </p:cNvSpPr>
          <p:nvPr/>
        </p:nvSpPr>
        <p:spPr bwMode="auto">
          <a:xfrm>
            <a:off x="762000" y="5440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0" name="Line 166"/>
          <p:cNvSpPr>
            <a:spLocks noChangeShapeType="1"/>
          </p:cNvSpPr>
          <p:nvPr/>
        </p:nvSpPr>
        <p:spPr bwMode="auto">
          <a:xfrm>
            <a:off x="762000" y="5440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1" name="Line 167"/>
          <p:cNvSpPr>
            <a:spLocks noChangeShapeType="1"/>
          </p:cNvSpPr>
          <p:nvPr/>
        </p:nvSpPr>
        <p:spPr bwMode="auto">
          <a:xfrm flipV="1">
            <a:off x="762000" y="5440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2" name="Line 168"/>
          <p:cNvSpPr>
            <a:spLocks noChangeShapeType="1"/>
          </p:cNvSpPr>
          <p:nvPr/>
        </p:nvSpPr>
        <p:spPr bwMode="auto">
          <a:xfrm>
            <a:off x="762000" y="5745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3" name="Line 169"/>
          <p:cNvSpPr>
            <a:spLocks noChangeShapeType="1"/>
          </p:cNvSpPr>
          <p:nvPr/>
        </p:nvSpPr>
        <p:spPr bwMode="auto">
          <a:xfrm flipV="1">
            <a:off x="1219200" y="5440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4" name="Line 170"/>
          <p:cNvSpPr>
            <a:spLocks noChangeShapeType="1"/>
          </p:cNvSpPr>
          <p:nvPr/>
        </p:nvSpPr>
        <p:spPr bwMode="auto">
          <a:xfrm flipV="1">
            <a:off x="1676400" y="5440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5" name="Text Box 171"/>
          <p:cNvSpPr txBox="1">
            <a:spLocks noChangeArrowheads="1"/>
          </p:cNvSpPr>
          <p:nvPr/>
        </p:nvSpPr>
        <p:spPr bwMode="auto">
          <a:xfrm>
            <a:off x="685800" y="54102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216" name="Text Box 172"/>
          <p:cNvSpPr txBox="1">
            <a:spLocks noChangeArrowheads="1"/>
          </p:cNvSpPr>
          <p:nvPr/>
        </p:nvSpPr>
        <p:spPr bwMode="auto">
          <a:xfrm>
            <a:off x="685800" y="54419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17" name="Text Box 173"/>
          <p:cNvSpPr txBox="1">
            <a:spLocks noChangeArrowheads="1"/>
          </p:cNvSpPr>
          <p:nvPr/>
        </p:nvSpPr>
        <p:spPr bwMode="auto">
          <a:xfrm>
            <a:off x="1219200" y="42227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rgbClr val="C00000"/>
                </a:solidFill>
                <a:latin typeface="Times New Roman" panose="02020603050405020304" pitchFamily="18" charset="0"/>
                <a:ea typeface="华文楷体" panose="02010600040101010101" pitchFamily="2" charset="-122"/>
              </a:rPr>
              <a:t>3</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18" name="Text Box 174"/>
          <p:cNvSpPr txBox="1">
            <a:spLocks noChangeArrowheads="1"/>
          </p:cNvSpPr>
          <p:nvPr/>
        </p:nvSpPr>
        <p:spPr bwMode="auto">
          <a:xfrm>
            <a:off x="1219200" y="48323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19" name="Text Box 175"/>
          <p:cNvSpPr txBox="1">
            <a:spLocks noChangeArrowheads="1"/>
          </p:cNvSpPr>
          <p:nvPr/>
        </p:nvSpPr>
        <p:spPr bwMode="auto">
          <a:xfrm>
            <a:off x="1219200" y="51371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220" name="Text Box 177"/>
          <p:cNvSpPr txBox="1">
            <a:spLocks noChangeArrowheads="1"/>
          </p:cNvSpPr>
          <p:nvPr/>
        </p:nvSpPr>
        <p:spPr bwMode="auto">
          <a:xfrm>
            <a:off x="304800" y="5746750"/>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lowcost</a:t>
            </a: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200" b="1" dirty="0">
              <a:latin typeface="Times New Roman" panose="02020603050405020304" pitchFamily="18" charset="0"/>
              <a:ea typeface="华文楷体" panose="02010600040101010101" pitchFamily="2" charset="-122"/>
            </a:endParaRPr>
          </a:p>
        </p:txBody>
      </p:sp>
      <p:sp>
        <p:nvSpPr>
          <p:cNvPr id="221" name="Text Box 178"/>
          <p:cNvSpPr txBox="1">
            <a:spLocks noChangeArrowheads="1"/>
          </p:cNvSpPr>
          <p:nvPr/>
        </p:nvSpPr>
        <p:spPr bwMode="auto">
          <a:xfrm>
            <a:off x="381000" y="3689350"/>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222" name="Text Box 179"/>
          <p:cNvSpPr txBox="1">
            <a:spLocks noChangeArrowheads="1"/>
          </p:cNvSpPr>
          <p:nvPr/>
        </p:nvSpPr>
        <p:spPr bwMode="auto">
          <a:xfrm>
            <a:off x="457200" y="4038600"/>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1200" b="1" dirty="0">
              <a:solidFill>
                <a:srgbClr val="C00000"/>
              </a:solidFill>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
        <p:nvSpPr>
          <p:cNvPr id="223" name="Freeform 88"/>
          <p:cNvSpPr/>
          <p:nvPr/>
        </p:nvSpPr>
        <p:spPr bwMode="auto">
          <a:xfrm>
            <a:off x="755398" y="1244601"/>
            <a:ext cx="1759202" cy="2228850"/>
          </a:xfrm>
          <a:custGeom>
            <a:avLst/>
            <a:gdLst>
              <a:gd name="T0" fmla="*/ 2147483646 w 727"/>
              <a:gd name="T1" fmla="*/ 2147483646 h 853"/>
              <a:gd name="T2" fmla="*/ 2147483646 w 727"/>
              <a:gd name="T3" fmla="*/ 2147483646 h 853"/>
              <a:gd name="T4" fmla="*/ 2147483646 w 727"/>
              <a:gd name="T5" fmla="*/ 2147483646 h 853"/>
              <a:gd name="T6" fmla="*/ 2147483646 w 727"/>
              <a:gd name="T7" fmla="*/ 2147483646 h 853"/>
              <a:gd name="T8" fmla="*/ 2147483646 w 727"/>
              <a:gd name="T9" fmla="*/ 2147483646 h 853"/>
              <a:gd name="T10" fmla="*/ 2147483646 w 727"/>
              <a:gd name="T11" fmla="*/ 2147483646 h 853"/>
              <a:gd name="T12" fmla="*/ 2147483646 w 727"/>
              <a:gd name="T13" fmla="*/ 2147483646 h 853"/>
              <a:gd name="T14" fmla="*/ 2147483646 w 727"/>
              <a:gd name="T15" fmla="*/ 2147483646 h 853"/>
              <a:gd name="T16" fmla="*/ 2147483646 w 727"/>
              <a:gd name="T17" fmla="*/ 2147483646 h 853"/>
              <a:gd name="T18" fmla="*/ 2147483646 w 727"/>
              <a:gd name="T19" fmla="*/ 2147483646 h 853"/>
              <a:gd name="T20" fmla="*/ 2147483646 w 727"/>
              <a:gd name="T21" fmla="*/ 2147483646 h 853"/>
              <a:gd name="T22" fmla="*/ 2147483646 w 727"/>
              <a:gd name="T23" fmla="*/ 2147483646 h 853"/>
              <a:gd name="T24" fmla="*/ 2147483646 w 727"/>
              <a:gd name="T25" fmla="*/ 2147483646 h 853"/>
              <a:gd name="T26" fmla="*/ 2147483646 w 727"/>
              <a:gd name="T27" fmla="*/ 2147483646 h 853"/>
              <a:gd name="T28" fmla="*/ 2147483646 w 727"/>
              <a:gd name="T29" fmla="*/ 2147483646 h 853"/>
              <a:gd name="T30" fmla="*/ 2147483646 w 727"/>
              <a:gd name="T31" fmla="*/ 2147483646 h 853"/>
              <a:gd name="T32" fmla="*/ 2147483646 w 727"/>
              <a:gd name="T33" fmla="*/ 2147483646 h 853"/>
              <a:gd name="T34" fmla="*/ 2147483646 w 727"/>
              <a:gd name="T35" fmla="*/ 2147483646 h 853"/>
              <a:gd name="T36" fmla="*/ 2147483646 w 727"/>
              <a:gd name="T37" fmla="*/ 2147483646 h 853"/>
              <a:gd name="T38" fmla="*/ 2147483646 w 727"/>
              <a:gd name="T39" fmla="*/ 2147483646 h 853"/>
              <a:gd name="T40" fmla="*/ 2147483646 w 727"/>
              <a:gd name="T41" fmla="*/ 2147483646 h 8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27" h="853">
                <a:moveTo>
                  <a:pt x="43" y="271"/>
                </a:moveTo>
                <a:cubicBezTo>
                  <a:pt x="31" y="357"/>
                  <a:pt x="0" y="465"/>
                  <a:pt x="51" y="541"/>
                </a:cubicBezTo>
                <a:cubicBezTo>
                  <a:pt x="65" y="599"/>
                  <a:pt x="85" y="659"/>
                  <a:pt x="138" y="693"/>
                </a:cubicBezTo>
                <a:cubicBezTo>
                  <a:pt x="155" y="719"/>
                  <a:pt x="166" y="734"/>
                  <a:pt x="196" y="744"/>
                </a:cubicBezTo>
                <a:cubicBezTo>
                  <a:pt x="198" y="751"/>
                  <a:pt x="198" y="761"/>
                  <a:pt x="203" y="766"/>
                </a:cubicBezTo>
                <a:cubicBezTo>
                  <a:pt x="215" y="778"/>
                  <a:pt x="275" y="792"/>
                  <a:pt x="291" y="795"/>
                </a:cubicBezTo>
                <a:cubicBezTo>
                  <a:pt x="334" y="826"/>
                  <a:pt x="375" y="820"/>
                  <a:pt x="429" y="824"/>
                </a:cubicBezTo>
                <a:cubicBezTo>
                  <a:pt x="468" y="833"/>
                  <a:pt x="507" y="841"/>
                  <a:pt x="545" y="853"/>
                </a:cubicBezTo>
                <a:cubicBezTo>
                  <a:pt x="574" y="851"/>
                  <a:pt x="603" y="852"/>
                  <a:pt x="632" y="846"/>
                </a:cubicBezTo>
                <a:cubicBezTo>
                  <a:pt x="679" y="837"/>
                  <a:pt x="677" y="755"/>
                  <a:pt x="698" y="715"/>
                </a:cubicBezTo>
                <a:cubicBezTo>
                  <a:pt x="713" y="539"/>
                  <a:pt x="681" y="594"/>
                  <a:pt x="727" y="526"/>
                </a:cubicBezTo>
                <a:cubicBezTo>
                  <a:pt x="714" y="362"/>
                  <a:pt x="724" y="283"/>
                  <a:pt x="611" y="170"/>
                </a:cubicBezTo>
                <a:cubicBezTo>
                  <a:pt x="595" y="116"/>
                  <a:pt x="597" y="109"/>
                  <a:pt x="545" y="97"/>
                </a:cubicBezTo>
                <a:cubicBezTo>
                  <a:pt x="530" y="86"/>
                  <a:pt x="517" y="71"/>
                  <a:pt x="502" y="61"/>
                </a:cubicBezTo>
                <a:cubicBezTo>
                  <a:pt x="469" y="39"/>
                  <a:pt x="415" y="36"/>
                  <a:pt x="378" y="31"/>
                </a:cubicBezTo>
                <a:cubicBezTo>
                  <a:pt x="280" y="0"/>
                  <a:pt x="311" y="11"/>
                  <a:pt x="152" y="24"/>
                </a:cubicBezTo>
                <a:cubicBezTo>
                  <a:pt x="129" y="60"/>
                  <a:pt x="151" y="84"/>
                  <a:pt x="109" y="97"/>
                </a:cubicBezTo>
                <a:cubicBezTo>
                  <a:pt x="104" y="107"/>
                  <a:pt x="101" y="118"/>
                  <a:pt x="94" y="126"/>
                </a:cubicBezTo>
                <a:cubicBezTo>
                  <a:pt x="88" y="133"/>
                  <a:pt x="76" y="133"/>
                  <a:pt x="72" y="141"/>
                </a:cubicBezTo>
                <a:cubicBezTo>
                  <a:pt x="54" y="176"/>
                  <a:pt x="68" y="192"/>
                  <a:pt x="43" y="228"/>
                </a:cubicBezTo>
                <a:cubicBezTo>
                  <a:pt x="35" y="267"/>
                  <a:pt x="27" y="255"/>
                  <a:pt x="43" y="271"/>
                </a:cubicBezTo>
                <a:close/>
              </a:path>
            </a:pathLst>
          </a:custGeom>
          <a:noFill/>
          <a:ln w="952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4" name="Oval 59"/>
          <p:cNvSpPr>
            <a:spLocks noChangeArrowheads="1"/>
          </p:cNvSpPr>
          <p:nvPr/>
        </p:nvSpPr>
        <p:spPr bwMode="auto">
          <a:xfrm>
            <a:off x="3867333" y="13716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225" name="Oval 60"/>
          <p:cNvSpPr>
            <a:spLocks noChangeArrowheads="1"/>
          </p:cNvSpPr>
          <p:nvPr/>
        </p:nvSpPr>
        <p:spPr bwMode="auto">
          <a:xfrm>
            <a:off x="3029133" y="20574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226" name="Line 61"/>
          <p:cNvSpPr>
            <a:spLocks noChangeShapeType="1"/>
          </p:cNvSpPr>
          <p:nvPr/>
        </p:nvSpPr>
        <p:spPr bwMode="auto">
          <a:xfrm>
            <a:off x="3486333" y="2286000"/>
            <a:ext cx="457200" cy="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7" name="Oval 62"/>
          <p:cNvSpPr>
            <a:spLocks noChangeArrowheads="1"/>
          </p:cNvSpPr>
          <p:nvPr/>
        </p:nvSpPr>
        <p:spPr bwMode="auto">
          <a:xfrm>
            <a:off x="4857933" y="20574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228" name="Oval 63"/>
          <p:cNvSpPr>
            <a:spLocks noChangeArrowheads="1"/>
          </p:cNvSpPr>
          <p:nvPr/>
        </p:nvSpPr>
        <p:spPr bwMode="auto">
          <a:xfrm>
            <a:off x="3943533" y="20574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229" name="Oval 64"/>
          <p:cNvSpPr>
            <a:spLocks noChangeArrowheads="1"/>
          </p:cNvSpPr>
          <p:nvPr/>
        </p:nvSpPr>
        <p:spPr bwMode="auto">
          <a:xfrm>
            <a:off x="3333933" y="2895600"/>
            <a:ext cx="457200" cy="381000"/>
          </a:xfrm>
          <a:prstGeom prst="ellipse">
            <a:avLst/>
          </a:prstGeom>
          <a:solidFill>
            <a:schemeClr val="bg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230" name="Oval 65"/>
          <p:cNvSpPr>
            <a:spLocks noChangeArrowheads="1"/>
          </p:cNvSpPr>
          <p:nvPr/>
        </p:nvSpPr>
        <p:spPr bwMode="auto">
          <a:xfrm>
            <a:off x="4324533" y="2895600"/>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231" name="Line 66"/>
          <p:cNvSpPr>
            <a:spLocks noChangeShapeType="1"/>
          </p:cNvSpPr>
          <p:nvPr/>
        </p:nvSpPr>
        <p:spPr bwMode="auto">
          <a:xfrm>
            <a:off x="4400733" y="2286000"/>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2" name="Line 67"/>
          <p:cNvSpPr>
            <a:spLocks noChangeShapeType="1"/>
          </p:cNvSpPr>
          <p:nvPr/>
        </p:nvSpPr>
        <p:spPr bwMode="auto">
          <a:xfrm flipH="1">
            <a:off x="4172133" y="1752600"/>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3" name="Line 68"/>
          <p:cNvSpPr>
            <a:spLocks noChangeShapeType="1"/>
          </p:cNvSpPr>
          <p:nvPr/>
        </p:nvSpPr>
        <p:spPr bwMode="auto">
          <a:xfrm>
            <a:off x="3257733" y="2438400"/>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4" name="Line 69"/>
          <p:cNvSpPr>
            <a:spLocks noChangeShapeType="1"/>
          </p:cNvSpPr>
          <p:nvPr/>
        </p:nvSpPr>
        <p:spPr bwMode="auto">
          <a:xfrm flipV="1">
            <a:off x="3714933" y="2438400"/>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5" name="Line 70"/>
          <p:cNvSpPr>
            <a:spLocks noChangeShapeType="1"/>
          </p:cNvSpPr>
          <p:nvPr/>
        </p:nvSpPr>
        <p:spPr bwMode="auto">
          <a:xfrm>
            <a:off x="4248333" y="2438400"/>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6" name="Line 71"/>
          <p:cNvSpPr>
            <a:spLocks noChangeShapeType="1"/>
          </p:cNvSpPr>
          <p:nvPr/>
        </p:nvSpPr>
        <p:spPr bwMode="auto">
          <a:xfrm flipV="1">
            <a:off x="4781733" y="2438400"/>
            <a:ext cx="304800" cy="6096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7" name="Line 72"/>
          <p:cNvSpPr>
            <a:spLocks noChangeShapeType="1"/>
          </p:cNvSpPr>
          <p:nvPr/>
        </p:nvSpPr>
        <p:spPr bwMode="auto">
          <a:xfrm>
            <a:off x="3791133" y="3124200"/>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8" name="Line 73"/>
          <p:cNvSpPr>
            <a:spLocks noChangeShapeType="1"/>
          </p:cNvSpPr>
          <p:nvPr/>
        </p:nvSpPr>
        <p:spPr bwMode="auto">
          <a:xfrm flipV="1">
            <a:off x="3410133" y="1676400"/>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9" name="Line 74"/>
          <p:cNvSpPr>
            <a:spLocks noChangeShapeType="1"/>
          </p:cNvSpPr>
          <p:nvPr/>
        </p:nvSpPr>
        <p:spPr bwMode="auto">
          <a:xfrm flipH="1" flipV="1">
            <a:off x="4248333" y="1676400"/>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0" name="Text Box 75"/>
          <p:cNvSpPr txBox="1">
            <a:spLocks noChangeArrowheads="1"/>
          </p:cNvSpPr>
          <p:nvPr/>
        </p:nvSpPr>
        <p:spPr bwMode="auto">
          <a:xfrm>
            <a:off x="3257733" y="1752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1" name="Text Box 76"/>
          <p:cNvSpPr txBox="1">
            <a:spLocks noChangeArrowheads="1"/>
          </p:cNvSpPr>
          <p:nvPr/>
        </p:nvSpPr>
        <p:spPr bwMode="auto">
          <a:xfrm>
            <a:off x="3831838" y="1838140"/>
            <a:ext cx="270697"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42" name="Text Box 77"/>
          <p:cNvSpPr txBox="1">
            <a:spLocks noChangeArrowheads="1"/>
          </p:cNvSpPr>
          <p:nvPr/>
        </p:nvSpPr>
        <p:spPr bwMode="auto">
          <a:xfrm>
            <a:off x="3867333" y="2895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3" name="Text Box 78"/>
          <p:cNvSpPr txBox="1">
            <a:spLocks noChangeArrowheads="1"/>
          </p:cNvSpPr>
          <p:nvPr/>
        </p:nvSpPr>
        <p:spPr bwMode="auto">
          <a:xfrm>
            <a:off x="4400733" y="1676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44" name="Text Box 79"/>
          <p:cNvSpPr txBox="1">
            <a:spLocks noChangeArrowheads="1"/>
          </p:cNvSpPr>
          <p:nvPr/>
        </p:nvSpPr>
        <p:spPr bwMode="auto">
          <a:xfrm>
            <a:off x="3486333" y="1958181"/>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5</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45" name="Text Box 80"/>
          <p:cNvSpPr txBox="1">
            <a:spLocks noChangeArrowheads="1"/>
          </p:cNvSpPr>
          <p:nvPr/>
        </p:nvSpPr>
        <p:spPr bwMode="auto">
          <a:xfrm>
            <a:off x="4400733" y="20574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246" name="Text Box 81"/>
          <p:cNvSpPr txBox="1">
            <a:spLocks noChangeArrowheads="1"/>
          </p:cNvSpPr>
          <p:nvPr/>
        </p:nvSpPr>
        <p:spPr bwMode="auto">
          <a:xfrm>
            <a:off x="3638733" y="2514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247" name="Text Box 82"/>
          <p:cNvSpPr txBox="1">
            <a:spLocks noChangeArrowheads="1"/>
          </p:cNvSpPr>
          <p:nvPr/>
        </p:nvSpPr>
        <p:spPr bwMode="auto">
          <a:xfrm>
            <a:off x="3105333" y="2590800"/>
            <a:ext cx="304800" cy="27699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3</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48" name="Text Box 83"/>
          <p:cNvSpPr txBox="1">
            <a:spLocks noChangeArrowheads="1"/>
          </p:cNvSpPr>
          <p:nvPr/>
        </p:nvSpPr>
        <p:spPr bwMode="auto">
          <a:xfrm>
            <a:off x="4248333" y="2514600"/>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49" name="Text Box 84"/>
          <p:cNvSpPr txBox="1">
            <a:spLocks noChangeArrowheads="1"/>
          </p:cNvSpPr>
          <p:nvPr/>
        </p:nvSpPr>
        <p:spPr bwMode="auto">
          <a:xfrm>
            <a:off x="4857933" y="2590800"/>
            <a:ext cx="381000"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250" name="Text Box 85"/>
          <p:cNvSpPr txBox="1">
            <a:spLocks noChangeArrowheads="1"/>
          </p:cNvSpPr>
          <p:nvPr/>
        </p:nvSpPr>
        <p:spPr bwMode="auto">
          <a:xfrm>
            <a:off x="3562533" y="3200400"/>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251" name="Text Box 90"/>
          <p:cNvSpPr txBox="1">
            <a:spLocks noChangeArrowheads="1"/>
          </p:cNvSpPr>
          <p:nvPr/>
        </p:nvSpPr>
        <p:spPr bwMode="auto">
          <a:xfrm>
            <a:off x="4134031" y="1388471"/>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252" name="Line 135"/>
          <p:cNvSpPr>
            <a:spLocks noChangeShapeType="1"/>
          </p:cNvSpPr>
          <p:nvPr/>
        </p:nvSpPr>
        <p:spPr bwMode="auto">
          <a:xfrm>
            <a:off x="3638733" y="39941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3" name="Line 136"/>
          <p:cNvSpPr>
            <a:spLocks noChangeShapeType="1"/>
          </p:cNvSpPr>
          <p:nvPr/>
        </p:nvSpPr>
        <p:spPr bwMode="auto">
          <a:xfrm flipV="1">
            <a:off x="3638733" y="39941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4" name="Line 137"/>
          <p:cNvSpPr>
            <a:spLocks noChangeShapeType="1"/>
          </p:cNvSpPr>
          <p:nvPr/>
        </p:nvSpPr>
        <p:spPr bwMode="auto">
          <a:xfrm>
            <a:off x="3638733" y="42227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5" name="Line 138"/>
          <p:cNvSpPr>
            <a:spLocks noChangeShapeType="1"/>
          </p:cNvSpPr>
          <p:nvPr/>
        </p:nvSpPr>
        <p:spPr bwMode="auto">
          <a:xfrm flipV="1">
            <a:off x="4095933" y="39941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6" name="Line 139"/>
          <p:cNvSpPr>
            <a:spLocks noChangeShapeType="1"/>
          </p:cNvSpPr>
          <p:nvPr/>
        </p:nvSpPr>
        <p:spPr bwMode="auto">
          <a:xfrm flipV="1">
            <a:off x="4553133" y="39941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7" name="Text Box 140"/>
          <p:cNvSpPr txBox="1">
            <a:spLocks noChangeArrowheads="1"/>
          </p:cNvSpPr>
          <p:nvPr/>
        </p:nvSpPr>
        <p:spPr bwMode="auto">
          <a:xfrm>
            <a:off x="3638733" y="39179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58" name="Line 141"/>
          <p:cNvSpPr>
            <a:spLocks noChangeShapeType="1"/>
          </p:cNvSpPr>
          <p:nvPr/>
        </p:nvSpPr>
        <p:spPr bwMode="auto">
          <a:xfrm>
            <a:off x="3638733" y="42227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9" name="Line 142"/>
          <p:cNvSpPr>
            <a:spLocks noChangeShapeType="1"/>
          </p:cNvSpPr>
          <p:nvPr/>
        </p:nvSpPr>
        <p:spPr bwMode="auto">
          <a:xfrm flipV="1">
            <a:off x="3638733" y="4222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0" name="Line 143"/>
          <p:cNvSpPr>
            <a:spLocks noChangeShapeType="1"/>
          </p:cNvSpPr>
          <p:nvPr/>
        </p:nvSpPr>
        <p:spPr bwMode="auto">
          <a:xfrm>
            <a:off x="3638733" y="4451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1" name="Line 144"/>
          <p:cNvSpPr>
            <a:spLocks noChangeShapeType="1"/>
          </p:cNvSpPr>
          <p:nvPr/>
        </p:nvSpPr>
        <p:spPr bwMode="auto">
          <a:xfrm flipV="1">
            <a:off x="4095933" y="4222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2" name="Line 145"/>
          <p:cNvSpPr>
            <a:spLocks noChangeShapeType="1"/>
          </p:cNvSpPr>
          <p:nvPr/>
        </p:nvSpPr>
        <p:spPr bwMode="auto">
          <a:xfrm flipV="1">
            <a:off x="4553133" y="4222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3" name="Text Box 146"/>
          <p:cNvSpPr txBox="1">
            <a:spLocks noChangeArrowheads="1"/>
          </p:cNvSpPr>
          <p:nvPr/>
        </p:nvSpPr>
        <p:spPr bwMode="auto">
          <a:xfrm>
            <a:off x="3638733" y="41465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64" name="Line 147"/>
          <p:cNvSpPr>
            <a:spLocks noChangeShapeType="1"/>
          </p:cNvSpPr>
          <p:nvPr/>
        </p:nvSpPr>
        <p:spPr bwMode="auto">
          <a:xfrm>
            <a:off x="3638733" y="4451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5" name="Line 148"/>
          <p:cNvSpPr>
            <a:spLocks noChangeShapeType="1"/>
          </p:cNvSpPr>
          <p:nvPr/>
        </p:nvSpPr>
        <p:spPr bwMode="auto">
          <a:xfrm flipV="1">
            <a:off x="3638733" y="44513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6" name="Line 149"/>
          <p:cNvSpPr>
            <a:spLocks noChangeShapeType="1"/>
          </p:cNvSpPr>
          <p:nvPr/>
        </p:nvSpPr>
        <p:spPr bwMode="auto">
          <a:xfrm>
            <a:off x="3638733" y="47561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7" name="Line 150"/>
          <p:cNvSpPr>
            <a:spLocks noChangeShapeType="1"/>
          </p:cNvSpPr>
          <p:nvPr/>
        </p:nvSpPr>
        <p:spPr bwMode="auto">
          <a:xfrm flipV="1">
            <a:off x="4095933" y="44513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8" name="Line 151"/>
          <p:cNvSpPr>
            <a:spLocks noChangeShapeType="1"/>
          </p:cNvSpPr>
          <p:nvPr/>
        </p:nvSpPr>
        <p:spPr bwMode="auto">
          <a:xfrm flipV="1">
            <a:off x="4553133" y="44513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69" name="Line 152"/>
          <p:cNvSpPr>
            <a:spLocks noChangeShapeType="1"/>
          </p:cNvSpPr>
          <p:nvPr/>
        </p:nvSpPr>
        <p:spPr bwMode="auto">
          <a:xfrm>
            <a:off x="3638733" y="47545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0" name="Line 153"/>
          <p:cNvSpPr>
            <a:spLocks noChangeShapeType="1"/>
          </p:cNvSpPr>
          <p:nvPr/>
        </p:nvSpPr>
        <p:spPr bwMode="auto">
          <a:xfrm flipV="1">
            <a:off x="3638733" y="4754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1" name="Line 154"/>
          <p:cNvSpPr>
            <a:spLocks noChangeShapeType="1"/>
          </p:cNvSpPr>
          <p:nvPr/>
        </p:nvSpPr>
        <p:spPr bwMode="auto">
          <a:xfrm>
            <a:off x="3638733" y="5059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2" name="Line 155"/>
          <p:cNvSpPr>
            <a:spLocks noChangeShapeType="1"/>
          </p:cNvSpPr>
          <p:nvPr/>
        </p:nvSpPr>
        <p:spPr bwMode="auto">
          <a:xfrm flipV="1">
            <a:off x="4095933" y="4754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3" name="Line 156"/>
          <p:cNvSpPr>
            <a:spLocks noChangeShapeType="1"/>
          </p:cNvSpPr>
          <p:nvPr/>
        </p:nvSpPr>
        <p:spPr bwMode="auto">
          <a:xfrm flipV="1">
            <a:off x="4553133" y="4754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4" name="Line 157"/>
          <p:cNvSpPr>
            <a:spLocks noChangeShapeType="1"/>
          </p:cNvSpPr>
          <p:nvPr/>
        </p:nvSpPr>
        <p:spPr bwMode="auto">
          <a:xfrm>
            <a:off x="3638733" y="5059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5" name="Line 158"/>
          <p:cNvSpPr>
            <a:spLocks noChangeShapeType="1"/>
          </p:cNvSpPr>
          <p:nvPr/>
        </p:nvSpPr>
        <p:spPr bwMode="auto">
          <a:xfrm flipV="1">
            <a:off x="3638733" y="5059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6" name="Line 159"/>
          <p:cNvSpPr>
            <a:spLocks noChangeShapeType="1"/>
          </p:cNvSpPr>
          <p:nvPr/>
        </p:nvSpPr>
        <p:spPr bwMode="auto">
          <a:xfrm>
            <a:off x="3638733" y="5364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7" name="Line 160"/>
          <p:cNvSpPr>
            <a:spLocks noChangeShapeType="1"/>
          </p:cNvSpPr>
          <p:nvPr/>
        </p:nvSpPr>
        <p:spPr bwMode="auto">
          <a:xfrm flipV="1">
            <a:off x="4095933" y="5059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8" name="Line 161"/>
          <p:cNvSpPr>
            <a:spLocks noChangeShapeType="1"/>
          </p:cNvSpPr>
          <p:nvPr/>
        </p:nvSpPr>
        <p:spPr bwMode="auto">
          <a:xfrm flipV="1">
            <a:off x="4553133" y="5059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9" name="Text Box 162"/>
          <p:cNvSpPr txBox="1">
            <a:spLocks noChangeArrowheads="1"/>
          </p:cNvSpPr>
          <p:nvPr/>
        </p:nvSpPr>
        <p:spPr bwMode="auto">
          <a:xfrm>
            <a:off x="3562533" y="4451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80" name="Text Box 163"/>
          <p:cNvSpPr txBox="1">
            <a:spLocks noChangeArrowheads="1"/>
          </p:cNvSpPr>
          <p:nvPr/>
        </p:nvSpPr>
        <p:spPr bwMode="auto">
          <a:xfrm>
            <a:off x="3562533" y="47561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81" name="Text Box 164"/>
          <p:cNvSpPr txBox="1">
            <a:spLocks noChangeArrowheads="1"/>
          </p:cNvSpPr>
          <p:nvPr/>
        </p:nvSpPr>
        <p:spPr bwMode="auto">
          <a:xfrm>
            <a:off x="3562533" y="50292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solidFill>
                  <a:srgbClr val="C00000"/>
                </a:solidFill>
                <a:latin typeface="Times New Roman" panose="02020603050405020304" pitchFamily="18" charset="0"/>
                <a:ea typeface="华文楷体" panose="02010600040101010101" pitchFamily="2" charset="-122"/>
              </a:rPr>
              <a:t>3</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82" name="Line 165"/>
          <p:cNvSpPr>
            <a:spLocks noChangeShapeType="1"/>
          </p:cNvSpPr>
          <p:nvPr/>
        </p:nvSpPr>
        <p:spPr bwMode="auto">
          <a:xfrm>
            <a:off x="3638733" y="5364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3" name="Line 166"/>
          <p:cNvSpPr>
            <a:spLocks noChangeShapeType="1"/>
          </p:cNvSpPr>
          <p:nvPr/>
        </p:nvSpPr>
        <p:spPr bwMode="auto">
          <a:xfrm>
            <a:off x="3638733" y="5364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4" name="Line 167"/>
          <p:cNvSpPr>
            <a:spLocks noChangeShapeType="1"/>
          </p:cNvSpPr>
          <p:nvPr/>
        </p:nvSpPr>
        <p:spPr bwMode="auto">
          <a:xfrm flipV="1">
            <a:off x="3638733" y="5364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5" name="Line 168"/>
          <p:cNvSpPr>
            <a:spLocks noChangeShapeType="1"/>
          </p:cNvSpPr>
          <p:nvPr/>
        </p:nvSpPr>
        <p:spPr bwMode="auto">
          <a:xfrm>
            <a:off x="3638733" y="56689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6" name="Line 169"/>
          <p:cNvSpPr>
            <a:spLocks noChangeShapeType="1"/>
          </p:cNvSpPr>
          <p:nvPr/>
        </p:nvSpPr>
        <p:spPr bwMode="auto">
          <a:xfrm flipV="1">
            <a:off x="4095933" y="5364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7" name="Line 170"/>
          <p:cNvSpPr>
            <a:spLocks noChangeShapeType="1"/>
          </p:cNvSpPr>
          <p:nvPr/>
        </p:nvSpPr>
        <p:spPr bwMode="auto">
          <a:xfrm flipV="1">
            <a:off x="4553133" y="5364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8" name="Text Box 171"/>
          <p:cNvSpPr txBox="1">
            <a:spLocks noChangeArrowheads="1"/>
          </p:cNvSpPr>
          <p:nvPr/>
        </p:nvSpPr>
        <p:spPr bwMode="auto">
          <a:xfrm>
            <a:off x="3562533" y="5334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289" name="Text Box 172"/>
          <p:cNvSpPr txBox="1">
            <a:spLocks noChangeArrowheads="1"/>
          </p:cNvSpPr>
          <p:nvPr/>
        </p:nvSpPr>
        <p:spPr bwMode="auto">
          <a:xfrm>
            <a:off x="3562533" y="53657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91" name="Text Box 174"/>
          <p:cNvSpPr txBox="1">
            <a:spLocks noChangeArrowheads="1"/>
          </p:cNvSpPr>
          <p:nvPr/>
        </p:nvSpPr>
        <p:spPr bwMode="auto">
          <a:xfrm>
            <a:off x="4095933" y="47561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292" name="Text Box 175"/>
          <p:cNvSpPr txBox="1">
            <a:spLocks noChangeArrowheads="1"/>
          </p:cNvSpPr>
          <p:nvPr/>
        </p:nvSpPr>
        <p:spPr bwMode="auto">
          <a:xfrm>
            <a:off x="4095933" y="50609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solidFill>
                  <a:srgbClr val="C00000"/>
                </a:solidFill>
                <a:latin typeface="Times New Roman" panose="02020603050405020304" pitchFamily="18" charset="0"/>
                <a:ea typeface="华文楷体" panose="02010600040101010101" pitchFamily="2" charset="-122"/>
              </a:rPr>
              <a:t>2</a:t>
            </a:r>
            <a:endParaRPr kumimoji="1" lang="en-US" altLang="zh-CN" sz="1600" b="1" dirty="0">
              <a:solidFill>
                <a:srgbClr val="C00000"/>
              </a:solidFill>
              <a:latin typeface="Times New Roman" panose="02020603050405020304" pitchFamily="18" charset="0"/>
              <a:ea typeface="华文楷体" panose="02010600040101010101" pitchFamily="2" charset="-122"/>
            </a:endParaRPr>
          </a:p>
        </p:txBody>
      </p:sp>
      <p:sp>
        <p:nvSpPr>
          <p:cNvPr id="293" name="Text Box 177"/>
          <p:cNvSpPr txBox="1">
            <a:spLocks noChangeArrowheads="1"/>
          </p:cNvSpPr>
          <p:nvPr/>
        </p:nvSpPr>
        <p:spPr bwMode="auto">
          <a:xfrm>
            <a:off x="3181533" y="5670550"/>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lowcost</a:t>
            </a: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200" b="1" dirty="0">
              <a:latin typeface="Times New Roman" panose="02020603050405020304" pitchFamily="18" charset="0"/>
              <a:ea typeface="华文楷体" panose="02010600040101010101" pitchFamily="2" charset="-122"/>
            </a:endParaRPr>
          </a:p>
        </p:txBody>
      </p:sp>
      <p:sp>
        <p:nvSpPr>
          <p:cNvPr id="294" name="Text Box 178"/>
          <p:cNvSpPr txBox="1">
            <a:spLocks noChangeArrowheads="1"/>
          </p:cNvSpPr>
          <p:nvPr/>
        </p:nvSpPr>
        <p:spPr bwMode="auto">
          <a:xfrm>
            <a:off x="3257733" y="3613150"/>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295" name="Text Box 179"/>
          <p:cNvSpPr txBox="1">
            <a:spLocks noChangeArrowheads="1"/>
          </p:cNvSpPr>
          <p:nvPr/>
        </p:nvSpPr>
        <p:spPr bwMode="auto">
          <a:xfrm>
            <a:off x="3333933" y="3994150"/>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5</a:t>
            </a:r>
            <a:endParaRPr kumimoji="1" lang="en-US" altLang="zh-CN" sz="1200" b="1" dirty="0">
              <a:solidFill>
                <a:srgbClr val="C00000"/>
              </a:solidFill>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
        <p:nvSpPr>
          <p:cNvPr id="298" name="Oval 59"/>
          <p:cNvSpPr>
            <a:spLocks noChangeArrowheads="1"/>
          </p:cNvSpPr>
          <p:nvPr/>
        </p:nvSpPr>
        <p:spPr bwMode="auto">
          <a:xfrm>
            <a:off x="7125066" y="12620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299" name="Oval 60"/>
          <p:cNvSpPr>
            <a:spLocks noChangeArrowheads="1"/>
          </p:cNvSpPr>
          <p:nvPr/>
        </p:nvSpPr>
        <p:spPr bwMode="auto">
          <a:xfrm>
            <a:off x="6286866" y="19478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300" name="Line 61"/>
          <p:cNvSpPr>
            <a:spLocks noChangeShapeType="1"/>
          </p:cNvSpPr>
          <p:nvPr/>
        </p:nvSpPr>
        <p:spPr bwMode="auto">
          <a:xfrm>
            <a:off x="6744066" y="2176463"/>
            <a:ext cx="457200" cy="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1" name="Oval 62"/>
          <p:cNvSpPr>
            <a:spLocks noChangeArrowheads="1"/>
          </p:cNvSpPr>
          <p:nvPr/>
        </p:nvSpPr>
        <p:spPr bwMode="auto">
          <a:xfrm>
            <a:off x="8115666" y="19478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302" name="Oval 63"/>
          <p:cNvSpPr>
            <a:spLocks noChangeArrowheads="1"/>
          </p:cNvSpPr>
          <p:nvPr/>
        </p:nvSpPr>
        <p:spPr bwMode="auto">
          <a:xfrm>
            <a:off x="7201266" y="19478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303" name="Oval 64"/>
          <p:cNvSpPr>
            <a:spLocks noChangeArrowheads="1"/>
          </p:cNvSpPr>
          <p:nvPr/>
        </p:nvSpPr>
        <p:spPr bwMode="auto">
          <a:xfrm>
            <a:off x="6591666" y="27860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p>
            <a:pPr algn="ct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304" name="Oval 65"/>
          <p:cNvSpPr>
            <a:spLocks noChangeArrowheads="1"/>
          </p:cNvSpPr>
          <p:nvPr/>
        </p:nvSpPr>
        <p:spPr bwMode="auto">
          <a:xfrm>
            <a:off x="7582266" y="2786063"/>
            <a:ext cx="457200" cy="381000"/>
          </a:xfrm>
          <a:prstGeom prst="ellipse">
            <a:avLst/>
          </a:prstGeom>
          <a:solidFill>
            <a:schemeClr val="accent1"/>
          </a:solidFill>
          <a:ln w="9525">
            <a:solidFill>
              <a:schemeClr val="tx1"/>
            </a:solidFill>
            <a:round/>
            <a:headEnd type="none" w="sm" len="sm"/>
            <a:tailEnd type="none" w="sm" len="sm"/>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305" name="Line 66"/>
          <p:cNvSpPr>
            <a:spLocks noChangeShapeType="1"/>
          </p:cNvSpPr>
          <p:nvPr/>
        </p:nvSpPr>
        <p:spPr bwMode="auto">
          <a:xfrm>
            <a:off x="7658466" y="2176463"/>
            <a:ext cx="4572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6" name="Line 67"/>
          <p:cNvSpPr>
            <a:spLocks noChangeShapeType="1"/>
          </p:cNvSpPr>
          <p:nvPr/>
        </p:nvSpPr>
        <p:spPr bwMode="auto">
          <a:xfrm flipH="1">
            <a:off x="7429866" y="1643063"/>
            <a:ext cx="0" cy="3048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7" name="Line 68"/>
          <p:cNvSpPr>
            <a:spLocks noChangeShapeType="1"/>
          </p:cNvSpPr>
          <p:nvPr/>
        </p:nvSpPr>
        <p:spPr bwMode="auto">
          <a:xfrm>
            <a:off x="6515466" y="2328863"/>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8" name="Line 69"/>
          <p:cNvSpPr>
            <a:spLocks noChangeShapeType="1"/>
          </p:cNvSpPr>
          <p:nvPr/>
        </p:nvSpPr>
        <p:spPr bwMode="auto">
          <a:xfrm flipV="1">
            <a:off x="6972666" y="2328863"/>
            <a:ext cx="381000" cy="5334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9" name="Line 70"/>
          <p:cNvSpPr>
            <a:spLocks noChangeShapeType="1"/>
          </p:cNvSpPr>
          <p:nvPr/>
        </p:nvSpPr>
        <p:spPr bwMode="auto">
          <a:xfrm>
            <a:off x="7506066" y="2328863"/>
            <a:ext cx="228600" cy="4572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0" name="Line 71"/>
          <p:cNvSpPr>
            <a:spLocks noChangeShapeType="1"/>
          </p:cNvSpPr>
          <p:nvPr/>
        </p:nvSpPr>
        <p:spPr bwMode="auto">
          <a:xfrm flipV="1">
            <a:off x="8039466" y="2328863"/>
            <a:ext cx="304800" cy="609600"/>
          </a:xfrm>
          <a:prstGeom prst="line">
            <a:avLst/>
          </a:prstGeom>
          <a:noFill/>
          <a:ln w="28575">
            <a:solidFill>
              <a:schemeClr val="accent2"/>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1" name="Line 72"/>
          <p:cNvSpPr>
            <a:spLocks noChangeShapeType="1"/>
          </p:cNvSpPr>
          <p:nvPr/>
        </p:nvSpPr>
        <p:spPr bwMode="auto">
          <a:xfrm>
            <a:off x="7048866" y="3014663"/>
            <a:ext cx="533400" cy="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2" name="Line 73"/>
          <p:cNvSpPr>
            <a:spLocks noChangeShapeType="1"/>
          </p:cNvSpPr>
          <p:nvPr/>
        </p:nvSpPr>
        <p:spPr bwMode="auto">
          <a:xfrm flipV="1">
            <a:off x="6667866" y="1566863"/>
            <a:ext cx="5334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3" name="Line 74"/>
          <p:cNvSpPr>
            <a:spLocks noChangeShapeType="1"/>
          </p:cNvSpPr>
          <p:nvPr/>
        </p:nvSpPr>
        <p:spPr bwMode="auto">
          <a:xfrm flipH="1" flipV="1">
            <a:off x="7506066" y="1566863"/>
            <a:ext cx="685800" cy="457200"/>
          </a:xfrm>
          <a:prstGeom prst="line">
            <a:avLst/>
          </a:prstGeom>
          <a:noFill/>
          <a:ln w="28575">
            <a:solidFill>
              <a:schemeClr val="tx1"/>
            </a:solidFill>
            <a:round/>
            <a:head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4" name="Text Box 75"/>
          <p:cNvSpPr txBox="1">
            <a:spLocks noChangeArrowheads="1"/>
          </p:cNvSpPr>
          <p:nvPr/>
        </p:nvSpPr>
        <p:spPr bwMode="auto">
          <a:xfrm>
            <a:off x="6515466" y="16430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315" name="Text Box 76"/>
          <p:cNvSpPr txBox="1">
            <a:spLocks noChangeArrowheads="1"/>
          </p:cNvSpPr>
          <p:nvPr/>
        </p:nvSpPr>
        <p:spPr bwMode="auto">
          <a:xfrm>
            <a:off x="7089571" y="1728603"/>
            <a:ext cx="264095" cy="274638"/>
          </a:xfrm>
          <a:prstGeom prst="rect">
            <a:avLst/>
          </a:prstGeom>
          <a:noFill/>
          <a:ln w="9525">
            <a:solidFill>
              <a:schemeClr val="bg1"/>
            </a:solidFill>
            <a:miter lim="800000"/>
            <a:headEnd type="none" w="sm" len="sm"/>
            <a:tailEnd type="none" w="sm" len="sm"/>
          </a:ln>
          <a:effec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316" name="Text Box 77"/>
          <p:cNvSpPr txBox="1">
            <a:spLocks noChangeArrowheads="1"/>
          </p:cNvSpPr>
          <p:nvPr/>
        </p:nvSpPr>
        <p:spPr bwMode="auto">
          <a:xfrm>
            <a:off x="7125066" y="27860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317" name="Text Box 78"/>
          <p:cNvSpPr txBox="1">
            <a:spLocks noChangeArrowheads="1"/>
          </p:cNvSpPr>
          <p:nvPr/>
        </p:nvSpPr>
        <p:spPr bwMode="auto">
          <a:xfrm>
            <a:off x="7658466" y="15668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318" name="Text Box 79"/>
          <p:cNvSpPr txBox="1">
            <a:spLocks noChangeArrowheads="1"/>
          </p:cNvSpPr>
          <p:nvPr/>
        </p:nvSpPr>
        <p:spPr bwMode="auto">
          <a:xfrm>
            <a:off x="6744066" y="1848644"/>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5</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319" name="Text Box 80"/>
          <p:cNvSpPr txBox="1">
            <a:spLocks noChangeArrowheads="1"/>
          </p:cNvSpPr>
          <p:nvPr/>
        </p:nvSpPr>
        <p:spPr bwMode="auto">
          <a:xfrm>
            <a:off x="7658466" y="19478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p:txBody>
      </p:sp>
      <p:sp>
        <p:nvSpPr>
          <p:cNvPr id="320" name="Text Box 81"/>
          <p:cNvSpPr txBox="1">
            <a:spLocks noChangeArrowheads="1"/>
          </p:cNvSpPr>
          <p:nvPr/>
        </p:nvSpPr>
        <p:spPr bwMode="auto">
          <a:xfrm>
            <a:off x="6896466" y="24050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p:txBody>
      </p:sp>
      <p:sp>
        <p:nvSpPr>
          <p:cNvPr id="321" name="Text Box 82"/>
          <p:cNvSpPr txBox="1">
            <a:spLocks noChangeArrowheads="1"/>
          </p:cNvSpPr>
          <p:nvPr/>
        </p:nvSpPr>
        <p:spPr bwMode="auto">
          <a:xfrm>
            <a:off x="6363066" y="2481263"/>
            <a:ext cx="304800" cy="27699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3</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322" name="Text Box 83"/>
          <p:cNvSpPr txBox="1">
            <a:spLocks noChangeArrowheads="1"/>
          </p:cNvSpPr>
          <p:nvPr/>
        </p:nvSpPr>
        <p:spPr bwMode="auto">
          <a:xfrm>
            <a:off x="7506066" y="2405063"/>
            <a:ext cx="3810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4</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323" name="Text Box 84"/>
          <p:cNvSpPr txBox="1">
            <a:spLocks noChangeArrowheads="1"/>
          </p:cNvSpPr>
          <p:nvPr/>
        </p:nvSpPr>
        <p:spPr bwMode="auto">
          <a:xfrm>
            <a:off x="8115666" y="2481263"/>
            <a:ext cx="381000" cy="274638"/>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1200" b="1" dirty="0">
              <a:solidFill>
                <a:srgbClr val="C00000"/>
              </a:solidFill>
              <a:latin typeface="Times New Roman" panose="02020603050405020304" pitchFamily="18" charset="0"/>
              <a:ea typeface="华文楷体" panose="02010600040101010101" pitchFamily="2" charset="-122"/>
            </a:endParaRPr>
          </a:p>
        </p:txBody>
      </p:sp>
      <p:sp>
        <p:nvSpPr>
          <p:cNvPr id="324" name="Text Box 85"/>
          <p:cNvSpPr txBox="1">
            <a:spLocks noChangeArrowheads="1"/>
          </p:cNvSpPr>
          <p:nvPr/>
        </p:nvSpPr>
        <p:spPr bwMode="auto">
          <a:xfrm>
            <a:off x="6820266" y="3090863"/>
            <a:ext cx="1219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a:t>
            </a:r>
            <a:r>
              <a:rPr kumimoji="1" lang="zh-CN" altLang="en-US" sz="1600" b="1" dirty="0">
                <a:latin typeface="Times New Roman" panose="02020603050405020304" pitchFamily="18" charset="0"/>
                <a:ea typeface="华文楷体" panose="02010600040101010101" pitchFamily="2" charset="-122"/>
              </a:rPr>
              <a:t>图</a:t>
            </a:r>
            <a:r>
              <a:rPr kumimoji="1" lang="en-US" altLang="zh-CN" sz="1600" b="1" dirty="0">
                <a:latin typeface="Times New Roman" panose="02020603050405020304" pitchFamily="18" charset="0"/>
                <a:ea typeface="华文楷体" panose="02010600040101010101" pitchFamily="2" charset="-122"/>
              </a:rPr>
              <a:t>G</a:t>
            </a:r>
            <a:endParaRPr kumimoji="1" lang="en-US" altLang="zh-CN" sz="1200" b="1" dirty="0">
              <a:latin typeface="Times New Roman" panose="02020603050405020304" pitchFamily="18" charset="0"/>
              <a:ea typeface="华文楷体" panose="02010600040101010101" pitchFamily="2" charset="-122"/>
            </a:endParaRPr>
          </a:p>
        </p:txBody>
      </p:sp>
      <p:sp>
        <p:nvSpPr>
          <p:cNvPr id="325" name="Text Box 90"/>
          <p:cNvSpPr txBox="1">
            <a:spLocks noChangeArrowheads="1"/>
          </p:cNvSpPr>
          <p:nvPr/>
        </p:nvSpPr>
        <p:spPr bwMode="auto">
          <a:xfrm>
            <a:off x="7391764" y="1278934"/>
            <a:ext cx="685800" cy="2746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U</a:t>
            </a:r>
            <a:endParaRPr kumimoji="1" lang="en-US" altLang="zh-CN" sz="1200" b="1" dirty="0">
              <a:latin typeface="Times New Roman" panose="02020603050405020304" pitchFamily="18" charset="0"/>
              <a:ea typeface="华文楷体" panose="02010600040101010101" pitchFamily="2" charset="-122"/>
            </a:endParaRPr>
          </a:p>
        </p:txBody>
      </p:sp>
      <p:sp>
        <p:nvSpPr>
          <p:cNvPr id="326" name="Line 135"/>
          <p:cNvSpPr>
            <a:spLocks noChangeShapeType="1"/>
          </p:cNvSpPr>
          <p:nvPr/>
        </p:nvSpPr>
        <p:spPr bwMode="auto">
          <a:xfrm>
            <a:off x="6896466" y="38846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27" name="Line 136"/>
          <p:cNvSpPr>
            <a:spLocks noChangeShapeType="1"/>
          </p:cNvSpPr>
          <p:nvPr/>
        </p:nvSpPr>
        <p:spPr bwMode="auto">
          <a:xfrm flipV="1">
            <a:off x="6896466" y="3884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28" name="Line 137"/>
          <p:cNvSpPr>
            <a:spLocks noChangeShapeType="1"/>
          </p:cNvSpPr>
          <p:nvPr/>
        </p:nvSpPr>
        <p:spPr bwMode="auto">
          <a:xfrm>
            <a:off x="6896466" y="41132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29" name="Line 138"/>
          <p:cNvSpPr>
            <a:spLocks noChangeShapeType="1"/>
          </p:cNvSpPr>
          <p:nvPr/>
        </p:nvSpPr>
        <p:spPr bwMode="auto">
          <a:xfrm flipV="1">
            <a:off x="7353666" y="3884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0" name="Line 139"/>
          <p:cNvSpPr>
            <a:spLocks noChangeShapeType="1"/>
          </p:cNvSpPr>
          <p:nvPr/>
        </p:nvSpPr>
        <p:spPr bwMode="auto">
          <a:xfrm flipV="1">
            <a:off x="7810866" y="38846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1" name="Text Box 140"/>
          <p:cNvSpPr txBox="1">
            <a:spLocks noChangeArrowheads="1"/>
          </p:cNvSpPr>
          <p:nvPr/>
        </p:nvSpPr>
        <p:spPr bwMode="auto">
          <a:xfrm>
            <a:off x="6896466" y="3808413"/>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32" name="Line 141"/>
          <p:cNvSpPr>
            <a:spLocks noChangeShapeType="1"/>
          </p:cNvSpPr>
          <p:nvPr/>
        </p:nvSpPr>
        <p:spPr bwMode="auto">
          <a:xfrm>
            <a:off x="6896466" y="41132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3" name="Line 142"/>
          <p:cNvSpPr>
            <a:spLocks noChangeShapeType="1"/>
          </p:cNvSpPr>
          <p:nvPr/>
        </p:nvSpPr>
        <p:spPr bwMode="auto">
          <a:xfrm flipV="1">
            <a:off x="6896466" y="41132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4" name="Line 143"/>
          <p:cNvSpPr>
            <a:spLocks noChangeShapeType="1"/>
          </p:cNvSpPr>
          <p:nvPr/>
        </p:nvSpPr>
        <p:spPr bwMode="auto">
          <a:xfrm>
            <a:off x="6896466" y="43418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5" name="Line 144"/>
          <p:cNvSpPr>
            <a:spLocks noChangeShapeType="1"/>
          </p:cNvSpPr>
          <p:nvPr/>
        </p:nvSpPr>
        <p:spPr bwMode="auto">
          <a:xfrm flipV="1">
            <a:off x="7353666" y="41132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6" name="Line 145"/>
          <p:cNvSpPr>
            <a:spLocks noChangeShapeType="1"/>
          </p:cNvSpPr>
          <p:nvPr/>
        </p:nvSpPr>
        <p:spPr bwMode="auto">
          <a:xfrm flipV="1">
            <a:off x="7810866" y="411321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7" name="Text Box 146"/>
          <p:cNvSpPr txBox="1">
            <a:spLocks noChangeArrowheads="1"/>
          </p:cNvSpPr>
          <p:nvPr/>
        </p:nvSpPr>
        <p:spPr bwMode="auto">
          <a:xfrm>
            <a:off x="6896466" y="4037013"/>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38" name="Line 147"/>
          <p:cNvSpPr>
            <a:spLocks noChangeShapeType="1"/>
          </p:cNvSpPr>
          <p:nvPr/>
        </p:nvSpPr>
        <p:spPr bwMode="auto">
          <a:xfrm>
            <a:off x="6896466" y="43418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39" name="Line 148"/>
          <p:cNvSpPr>
            <a:spLocks noChangeShapeType="1"/>
          </p:cNvSpPr>
          <p:nvPr/>
        </p:nvSpPr>
        <p:spPr bwMode="auto">
          <a:xfrm flipV="1">
            <a:off x="6896466" y="4341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0" name="Line 149"/>
          <p:cNvSpPr>
            <a:spLocks noChangeShapeType="1"/>
          </p:cNvSpPr>
          <p:nvPr/>
        </p:nvSpPr>
        <p:spPr bwMode="auto">
          <a:xfrm>
            <a:off x="6896466" y="4646613"/>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1" name="Line 150"/>
          <p:cNvSpPr>
            <a:spLocks noChangeShapeType="1"/>
          </p:cNvSpPr>
          <p:nvPr/>
        </p:nvSpPr>
        <p:spPr bwMode="auto">
          <a:xfrm flipV="1">
            <a:off x="7353666" y="4341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2" name="Line 151"/>
          <p:cNvSpPr>
            <a:spLocks noChangeShapeType="1"/>
          </p:cNvSpPr>
          <p:nvPr/>
        </p:nvSpPr>
        <p:spPr bwMode="auto">
          <a:xfrm flipV="1">
            <a:off x="7810866" y="434181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3" name="Line 152"/>
          <p:cNvSpPr>
            <a:spLocks noChangeShapeType="1"/>
          </p:cNvSpPr>
          <p:nvPr/>
        </p:nvSpPr>
        <p:spPr bwMode="auto">
          <a:xfrm>
            <a:off x="6896466" y="46450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4" name="Line 153"/>
          <p:cNvSpPr>
            <a:spLocks noChangeShapeType="1"/>
          </p:cNvSpPr>
          <p:nvPr/>
        </p:nvSpPr>
        <p:spPr bwMode="auto">
          <a:xfrm flipV="1">
            <a:off x="6896466" y="46450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5" name="Line 154"/>
          <p:cNvSpPr>
            <a:spLocks noChangeShapeType="1"/>
          </p:cNvSpPr>
          <p:nvPr/>
        </p:nvSpPr>
        <p:spPr bwMode="auto">
          <a:xfrm>
            <a:off x="6896466" y="49498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6" name="Line 155"/>
          <p:cNvSpPr>
            <a:spLocks noChangeShapeType="1"/>
          </p:cNvSpPr>
          <p:nvPr/>
        </p:nvSpPr>
        <p:spPr bwMode="auto">
          <a:xfrm flipV="1">
            <a:off x="7353666" y="46450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7" name="Line 156"/>
          <p:cNvSpPr>
            <a:spLocks noChangeShapeType="1"/>
          </p:cNvSpPr>
          <p:nvPr/>
        </p:nvSpPr>
        <p:spPr bwMode="auto">
          <a:xfrm flipV="1">
            <a:off x="7810866" y="46450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 name="Line 157"/>
          <p:cNvSpPr>
            <a:spLocks noChangeShapeType="1"/>
          </p:cNvSpPr>
          <p:nvPr/>
        </p:nvSpPr>
        <p:spPr bwMode="auto">
          <a:xfrm>
            <a:off x="6896466" y="49498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9" name="Line 158"/>
          <p:cNvSpPr>
            <a:spLocks noChangeShapeType="1"/>
          </p:cNvSpPr>
          <p:nvPr/>
        </p:nvSpPr>
        <p:spPr bwMode="auto">
          <a:xfrm flipV="1">
            <a:off x="6896466" y="49498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0" name="Line 159"/>
          <p:cNvSpPr>
            <a:spLocks noChangeShapeType="1"/>
          </p:cNvSpPr>
          <p:nvPr/>
        </p:nvSpPr>
        <p:spPr bwMode="auto">
          <a:xfrm>
            <a:off x="6896466" y="52546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1" name="Line 160"/>
          <p:cNvSpPr>
            <a:spLocks noChangeShapeType="1"/>
          </p:cNvSpPr>
          <p:nvPr/>
        </p:nvSpPr>
        <p:spPr bwMode="auto">
          <a:xfrm flipV="1">
            <a:off x="7353666" y="49498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2" name="Line 161"/>
          <p:cNvSpPr>
            <a:spLocks noChangeShapeType="1"/>
          </p:cNvSpPr>
          <p:nvPr/>
        </p:nvSpPr>
        <p:spPr bwMode="auto">
          <a:xfrm flipV="1">
            <a:off x="7810866" y="49498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3" name="Text Box 162"/>
          <p:cNvSpPr txBox="1">
            <a:spLocks noChangeArrowheads="1"/>
          </p:cNvSpPr>
          <p:nvPr/>
        </p:nvSpPr>
        <p:spPr bwMode="auto">
          <a:xfrm>
            <a:off x="6820266" y="4341813"/>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54" name="Text Box 163"/>
          <p:cNvSpPr txBox="1">
            <a:spLocks noChangeArrowheads="1"/>
          </p:cNvSpPr>
          <p:nvPr/>
        </p:nvSpPr>
        <p:spPr bwMode="auto">
          <a:xfrm>
            <a:off x="6820266" y="4646613"/>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55" name="Text Box 164"/>
          <p:cNvSpPr txBox="1">
            <a:spLocks noChangeArrowheads="1"/>
          </p:cNvSpPr>
          <p:nvPr/>
        </p:nvSpPr>
        <p:spPr bwMode="auto">
          <a:xfrm>
            <a:off x="6830618" y="4921251"/>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56" name="Line 165"/>
          <p:cNvSpPr>
            <a:spLocks noChangeShapeType="1"/>
          </p:cNvSpPr>
          <p:nvPr/>
        </p:nvSpPr>
        <p:spPr bwMode="auto">
          <a:xfrm>
            <a:off x="6896466" y="52546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7" name="Line 166"/>
          <p:cNvSpPr>
            <a:spLocks noChangeShapeType="1"/>
          </p:cNvSpPr>
          <p:nvPr/>
        </p:nvSpPr>
        <p:spPr bwMode="auto">
          <a:xfrm>
            <a:off x="6896466" y="52546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8" name="Line 167"/>
          <p:cNvSpPr>
            <a:spLocks noChangeShapeType="1"/>
          </p:cNvSpPr>
          <p:nvPr/>
        </p:nvSpPr>
        <p:spPr bwMode="auto">
          <a:xfrm flipV="1">
            <a:off x="6896466" y="52546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9" name="Line 168"/>
          <p:cNvSpPr>
            <a:spLocks noChangeShapeType="1"/>
          </p:cNvSpPr>
          <p:nvPr/>
        </p:nvSpPr>
        <p:spPr bwMode="auto">
          <a:xfrm>
            <a:off x="6896466" y="5559426"/>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0" name="Line 169"/>
          <p:cNvSpPr>
            <a:spLocks noChangeShapeType="1"/>
          </p:cNvSpPr>
          <p:nvPr/>
        </p:nvSpPr>
        <p:spPr bwMode="auto">
          <a:xfrm flipV="1">
            <a:off x="7353666" y="52546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1" name="Line 170"/>
          <p:cNvSpPr>
            <a:spLocks noChangeShapeType="1"/>
          </p:cNvSpPr>
          <p:nvPr/>
        </p:nvSpPr>
        <p:spPr bwMode="auto">
          <a:xfrm flipV="1">
            <a:off x="7810866" y="5254626"/>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2" name="Text Box 171"/>
          <p:cNvSpPr txBox="1">
            <a:spLocks noChangeArrowheads="1"/>
          </p:cNvSpPr>
          <p:nvPr/>
        </p:nvSpPr>
        <p:spPr bwMode="auto">
          <a:xfrm>
            <a:off x="6820266" y="5224463"/>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363" name="Text Box 172"/>
          <p:cNvSpPr txBox="1">
            <a:spLocks noChangeArrowheads="1"/>
          </p:cNvSpPr>
          <p:nvPr/>
        </p:nvSpPr>
        <p:spPr bwMode="auto">
          <a:xfrm>
            <a:off x="6820266" y="5256213"/>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smtClean="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366" name="Text Box 177"/>
          <p:cNvSpPr txBox="1">
            <a:spLocks noChangeArrowheads="1"/>
          </p:cNvSpPr>
          <p:nvPr/>
        </p:nvSpPr>
        <p:spPr bwMode="auto">
          <a:xfrm>
            <a:off x="6439266" y="5561013"/>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lowcost</a:t>
            </a:r>
            <a:r>
              <a:rPr kumimoji="1" lang="en-US" altLang="zh-CN" sz="1400" b="1" dirty="0">
                <a:latin typeface="Times New Roman" panose="02020603050405020304" pitchFamily="18" charset="0"/>
                <a:ea typeface="华文楷体" panose="02010600040101010101" pitchFamily="2" charset="-122"/>
              </a:rPr>
              <a:t>  </a:t>
            </a:r>
            <a:r>
              <a:rPr kumimoji="1" lang="en-US" altLang="zh-CN" sz="1400" b="1" dirty="0" err="1">
                <a:latin typeface="Times New Roman" panose="02020603050405020304" pitchFamily="18" charset="0"/>
                <a:ea typeface="华文楷体" panose="02010600040101010101" pitchFamily="2" charset="-122"/>
              </a:rPr>
              <a:t>adjvex</a:t>
            </a:r>
            <a:endParaRPr kumimoji="1" lang="en-US" altLang="zh-CN" sz="1200" b="1" dirty="0">
              <a:latin typeface="Times New Roman" panose="02020603050405020304" pitchFamily="18" charset="0"/>
              <a:ea typeface="华文楷体" panose="02010600040101010101" pitchFamily="2" charset="-122"/>
            </a:endParaRPr>
          </a:p>
        </p:txBody>
      </p:sp>
      <p:sp>
        <p:nvSpPr>
          <p:cNvPr id="367" name="Text Box 178"/>
          <p:cNvSpPr txBox="1">
            <a:spLocks noChangeArrowheads="1"/>
          </p:cNvSpPr>
          <p:nvPr/>
        </p:nvSpPr>
        <p:spPr bwMode="auto">
          <a:xfrm>
            <a:off x="6515466" y="3503613"/>
            <a:ext cx="1981200" cy="3048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数组：</a:t>
            </a:r>
            <a:r>
              <a:rPr kumimoji="1" lang="en-US" altLang="zh-CN" sz="1400" b="1" dirty="0" err="1">
                <a:latin typeface="Times New Roman" panose="02020603050405020304" pitchFamily="18" charset="0"/>
                <a:ea typeface="华文楷体" panose="02010600040101010101" pitchFamily="2" charset="-122"/>
              </a:rPr>
              <a:t>closedge</a:t>
            </a:r>
            <a:r>
              <a:rPr kumimoji="1" lang="en-US" altLang="zh-CN" sz="1400" b="1" dirty="0">
                <a:latin typeface="Times New Roman" panose="02020603050405020304" pitchFamily="18" charset="0"/>
                <a:ea typeface="华文楷体" panose="02010600040101010101" pitchFamily="2" charset="-122"/>
              </a:rPr>
              <a:t>[ 6 ]</a:t>
            </a:r>
            <a:endParaRPr kumimoji="1" lang="en-US" altLang="zh-CN" sz="1200" b="1" dirty="0">
              <a:latin typeface="Times New Roman" panose="02020603050405020304" pitchFamily="18" charset="0"/>
              <a:ea typeface="华文楷体" panose="02010600040101010101" pitchFamily="2" charset="-122"/>
            </a:endParaRPr>
          </a:p>
        </p:txBody>
      </p:sp>
      <p:sp>
        <p:nvSpPr>
          <p:cNvPr id="368" name="Text Box 179"/>
          <p:cNvSpPr txBox="1">
            <a:spLocks noChangeArrowheads="1"/>
          </p:cNvSpPr>
          <p:nvPr/>
        </p:nvSpPr>
        <p:spPr bwMode="auto">
          <a:xfrm>
            <a:off x="6641969" y="3884613"/>
            <a:ext cx="304800" cy="21971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2</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3</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4</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5</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6</a:t>
            </a: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2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553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5301" name="Rectangle 3"/>
          <p:cNvSpPr>
            <a:spLocks noChangeArrowheads="1"/>
          </p:cNvSpPr>
          <p:nvPr/>
        </p:nvSpPr>
        <p:spPr bwMode="auto">
          <a:xfrm>
            <a:off x="838200" y="12192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Verdana" panose="020B0604030504040204" pitchFamily="34" charset="0"/>
                <a:ea typeface="华文楷体" panose="02010600040101010101" pitchFamily="2" charset="-122"/>
              </a:rPr>
              <a:t>[</a:t>
            </a:r>
            <a:r>
              <a:rPr lang="zh-CN" altLang="en-US" sz="2400" b="1" dirty="0">
                <a:solidFill>
                  <a:srgbClr val="996600"/>
                </a:solidFill>
                <a:latin typeface="Verdana" panose="020B0604030504040204" pitchFamily="34" charset="0"/>
                <a:ea typeface="华文楷体" panose="02010600040101010101" pitchFamily="2" charset="-122"/>
              </a:rPr>
              <a:t>算法步骤</a:t>
            </a:r>
            <a:r>
              <a:rPr lang="en-US" altLang="zh-CN" sz="2400" b="1" dirty="0">
                <a:solidFill>
                  <a:srgbClr val="996600"/>
                </a:solidFill>
                <a:latin typeface="Verdana" panose="020B0604030504040204" pitchFamily="34" charset="0"/>
                <a:ea typeface="华文楷体" panose="02010600040101010101" pitchFamily="2" charset="-122"/>
              </a:rPr>
              <a:t>]</a:t>
            </a:r>
            <a:endParaRPr lang="en-US" altLang="zh-CN" sz="2400" b="1" dirty="0">
              <a:solidFill>
                <a:srgbClr val="996600"/>
              </a:solidFill>
              <a:latin typeface="Verdana" panose="020B0604030504040204" pitchFamily="34" charset="0"/>
              <a:ea typeface="华文楷体" panose="02010600040101010101" pitchFamily="2" charset="-122"/>
            </a:endParaRPr>
          </a:p>
        </p:txBody>
      </p:sp>
      <p:sp>
        <p:nvSpPr>
          <p:cNvPr id="55302" name="Rectangle 4"/>
          <p:cNvSpPr>
            <a:spLocks noGrp="1" noChangeArrowheads="1"/>
          </p:cNvSpPr>
          <p:nvPr>
            <p:ph type="body" idx="1"/>
          </p:nvPr>
        </p:nvSpPr>
        <p:spPr>
          <a:xfrm>
            <a:off x="684213" y="1676400"/>
            <a:ext cx="8001000" cy="5181600"/>
          </a:xfrm>
          <a:noFill/>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初始化</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[v](v=1..n)                                 O(n)</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重复</a:t>
            </a:r>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次以下操作：</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2.1)</a:t>
            </a:r>
            <a:r>
              <a:rPr lang="zh-CN" altLang="en-US" sz="2400" dirty="0" smtClean="0">
                <a:ea typeface="华文楷体" panose="02010600040101010101" pitchFamily="2" charset="-122"/>
              </a:rPr>
              <a:t>在</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[v](v=1..n)</a:t>
            </a:r>
            <a:r>
              <a:rPr lang="zh-CN" altLang="en-US" sz="2400" dirty="0" smtClean="0">
                <a:ea typeface="华文楷体" panose="02010600040101010101" pitchFamily="2" charset="-122"/>
              </a:rPr>
              <a:t>中</a:t>
            </a:r>
            <a:r>
              <a:rPr lang="zh-CN" altLang="zh-CN" sz="2400" dirty="0" smtClean="0">
                <a:ea typeface="华文楷体" panose="02010600040101010101" pitchFamily="2" charset="-122"/>
              </a:rPr>
              <a:t>选择最小且非0的  </a:t>
            </a:r>
            <a:r>
              <a:rPr lang="en-US" altLang="zh-CN" sz="2400" dirty="0" err="1" smtClean="0">
                <a:ea typeface="华文楷体" panose="02010600040101010101" pitchFamily="2" charset="-122"/>
              </a:rPr>
              <a:t>lowcost</a:t>
            </a:r>
            <a:r>
              <a:rPr lang="zh-CN" altLang="en-US" sz="2400" dirty="0" smtClean="0">
                <a:ea typeface="华文楷体" panose="02010600040101010101" pitchFamily="2" charset="-122"/>
              </a:rPr>
              <a:t>，记录其</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值</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设为</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和相应的</a:t>
            </a:r>
            <a:r>
              <a:rPr lang="en-US" altLang="zh-CN" sz="2400" dirty="0" smtClean="0">
                <a:ea typeface="华文楷体" panose="02010600040101010101" pitchFamily="2" charset="-122"/>
              </a:rPr>
              <a:t>vex</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O(n</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2.2)</a:t>
            </a:r>
            <a:r>
              <a:rPr lang="zh-CN" altLang="en-US" sz="2400" dirty="0" smtClean="0">
                <a:ea typeface="华文楷体" panose="02010600040101010101" pitchFamily="2" charset="-122"/>
              </a:rPr>
              <a:t>输出该边</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vex,k</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O(n)</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2.3)</a:t>
            </a:r>
            <a:r>
              <a:rPr lang="zh-CN" altLang="en-US" sz="2400" dirty="0" smtClean="0">
                <a:ea typeface="华文楷体" panose="02010600040101010101" pitchFamily="2" charset="-122"/>
              </a:rPr>
              <a:t>顶点</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并入</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集：</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[k].</a:t>
            </a:r>
            <a:r>
              <a:rPr lang="en-US" altLang="zh-CN" sz="2400" dirty="0" err="1" smtClean="0">
                <a:ea typeface="华文楷体" panose="02010600040101010101" pitchFamily="2" charset="-122"/>
              </a:rPr>
              <a:t>lowcost</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O(n)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2.4)</a:t>
            </a:r>
            <a:r>
              <a:rPr lang="zh-CN" altLang="en-US" sz="2400" dirty="0" smtClean="0">
                <a:ea typeface="华文楷体" panose="02010600040101010101" pitchFamily="2" charset="-122"/>
              </a:rPr>
              <a:t>调整候选边集</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[v](v=1..n)</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O(n</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zh-CN" sz="2400" dirty="0" smtClean="0">
                <a:ea typeface="华文楷体" panose="02010600040101010101" pitchFamily="2" charset="-122"/>
              </a:rPr>
              <a:t>若</a:t>
            </a:r>
            <a:r>
              <a:rPr lang="en-US" altLang="zh-CN" sz="2400" dirty="0" err="1" smtClean="0">
                <a:ea typeface="华文楷体" panose="02010600040101010101" pitchFamily="2" charset="-122"/>
              </a:rPr>
              <a:t>gn</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k,v</a:t>
            </a:r>
            <a:r>
              <a:rPr lang="en-US" altLang="zh-CN" sz="2400" dirty="0" smtClean="0">
                <a:ea typeface="华文楷体" panose="02010600040101010101" pitchFamily="2" charset="-122"/>
              </a:rPr>
              <a:t>] &lt; </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[v].</a:t>
            </a:r>
            <a:r>
              <a:rPr lang="en-US" altLang="zh-CN" sz="2400" dirty="0" err="1" smtClean="0">
                <a:ea typeface="华文楷体" panose="02010600040101010101" pitchFamily="2" charset="-122"/>
              </a:rPr>
              <a:t>lowcost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则更改</a:t>
            </a:r>
            <a:r>
              <a:rPr lang="en-US" altLang="zh-CN" sz="2400" dirty="0" err="1" smtClean="0">
                <a:ea typeface="华文楷体" panose="02010600040101010101" pitchFamily="2" charset="-122"/>
              </a:rPr>
              <a:t>closedge</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vex=k, </a:t>
            </a:r>
            <a:r>
              <a:rPr lang="en-US" altLang="zh-CN" sz="2400" dirty="0" err="1" smtClean="0">
                <a:ea typeface="华文楷体" panose="02010600040101010101" pitchFamily="2" charset="-122"/>
              </a:rPr>
              <a:t>lowcost</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gn</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k,v</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O(n</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996600"/>
                </a:solidFill>
                <a:latin typeface="Verdana" panose="020B0604030504040204" pitchFamily="34" charset="0"/>
                <a:ea typeface="华文楷体" panose="02010600040101010101" pitchFamily="2" charset="-122"/>
              </a:rPr>
              <a:t>[</a:t>
            </a:r>
            <a:r>
              <a:rPr lang="zh-CN" altLang="en-US" sz="2400" b="1" dirty="0" smtClean="0">
                <a:solidFill>
                  <a:srgbClr val="996600"/>
                </a:solidFill>
                <a:latin typeface="Verdana" panose="020B0604030504040204" pitchFamily="34" charset="0"/>
                <a:ea typeface="华文楷体" panose="02010600040101010101" pitchFamily="2" charset="-122"/>
              </a:rPr>
              <a:t>算法特点</a:t>
            </a:r>
            <a:r>
              <a:rPr lang="en-US" altLang="zh-CN" sz="2400" b="1" dirty="0" smtClean="0">
                <a:solidFill>
                  <a:srgbClr val="996600"/>
                </a:solidFill>
                <a:latin typeface="Verdana" panose="020B0604030504040204" pitchFamily="34" charset="0"/>
                <a:ea typeface="华文楷体" panose="02010600040101010101" pitchFamily="2" charset="-122"/>
              </a:rPr>
              <a:t>]</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适用于稠密图</a:t>
            </a:r>
            <a:endParaRPr lang="zh-CN" altLang="en-US" sz="2400" dirty="0" smtClean="0">
              <a:ea typeface="华文楷体" panose="02010600040101010101" pitchFamily="2" charset="-122"/>
            </a:endParaRPr>
          </a:p>
        </p:txBody>
      </p:sp>
      <p:sp>
        <p:nvSpPr>
          <p:cNvPr id="55303" name="Line 5"/>
          <p:cNvSpPr>
            <a:spLocks noChangeShapeType="1"/>
          </p:cNvSpPr>
          <p:nvPr/>
        </p:nvSpPr>
        <p:spPr bwMode="auto">
          <a:xfrm flipV="1">
            <a:off x="609600" y="5562600"/>
            <a:ext cx="76962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3494" name="Text Box 6"/>
          <p:cNvSpPr txBox="1">
            <a:spLocks noChangeArrowheads="1"/>
          </p:cNvSpPr>
          <p:nvPr/>
        </p:nvSpPr>
        <p:spPr bwMode="auto">
          <a:xfrm>
            <a:off x="4721225" y="6064250"/>
            <a:ext cx="4041775" cy="6413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思考：若采用邻接表存储，</a:t>
            </a:r>
            <a:r>
              <a:rPr lang="en-US" altLang="zh-CN" sz="1800" b="1" dirty="0">
                <a:solidFill>
                  <a:schemeClr val="accent2"/>
                </a:solidFill>
                <a:latin typeface="Times New Roman" panose="02020603050405020304" pitchFamily="18" charset="0"/>
                <a:ea typeface="华文楷体" panose="02010600040101010101" pitchFamily="2" charset="-122"/>
              </a:rPr>
              <a:t>Prime</a:t>
            </a:r>
            <a:r>
              <a:rPr lang="zh-CN" altLang="en-US" sz="1800" b="1" dirty="0">
                <a:solidFill>
                  <a:schemeClr val="accent2"/>
                </a:solidFill>
                <a:latin typeface="Times New Roman" panose="02020603050405020304" pitchFamily="18" charset="0"/>
                <a:ea typeface="华文楷体" panose="02010600040101010101" pitchFamily="2" charset="-122"/>
              </a:rPr>
              <a:t>算法</a:t>
            </a:r>
            <a:endParaRPr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时间复杂度为多少？</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4"/>
                                        </p:tgtEl>
                                        <p:attrNameLst>
                                          <p:attrName>style.visibility</p:attrName>
                                        </p:attrNameLst>
                                      </p:cBhvr>
                                      <p:to>
                                        <p:strVal val="visible"/>
                                      </p:to>
                                    </p:set>
                                    <p:anim calcmode="lin" valueType="num">
                                      <p:cBhvr additive="base">
                                        <p:cTn id="7" dur="500" fill="hold"/>
                                        <p:tgtEl>
                                          <p:spTgt spid="63494"/>
                                        </p:tgtEl>
                                        <p:attrNameLst>
                                          <p:attrName>ppt_x</p:attrName>
                                        </p:attrNameLst>
                                      </p:cBhvr>
                                      <p:tavLst>
                                        <p:tav tm="0">
                                          <p:val>
                                            <p:strVal val="#ppt_x"/>
                                          </p:val>
                                        </p:tav>
                                        <p:tav tm="100000">
                                          <p:val>
                                            <p:strVal val="#ppt_x"/>
                                          </p:val>
                                        </p:tav>
                                      </p:tavLst>
                                    </p:anim>
                                    <p:anim calcmode="lin" valueType="num">
                                      <p:cBhvr additive="base">
                                        <p:cTn id="8" dur="500" fill="hold"/>
                                        <p:tgtEl>
                                          <p:spTgt spid="634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19100" y="1096930"/>
            <a:ext cx="8229600" cy="5761070"/>
          </a:xfrm>
          <a:ln>
            <a:solidFill>
              <a:schemeClr val="accent1"/>
            </a:solidFill>
          </a:ln>
        </p:spPr>
        <p:txBody>
          <a:bodyPr/>
          <a:lstStyle/>
          <a:p>
            <a:pPr marL="0" indent="0">
              <a:buNone/>
            </a:pPr>
            <a:r>
              <a:rPr lang="en-US" altLang="zh-CN" sz="1250" b="1" dirty="0">
                <a:solidFill>
                  <a:srgbClr val="C00000"/>
                </a:solidFill>
                <a:ea typeface="华文楷体" panose="02010600040101010101" pitchFamily="2" charset="-122"/>
              </a:rPr>
              <a:t>[</a:t>
            </a:r>
            <a:r>
              <a:rPr lang="en-US" altLang="zh-CN" sz="1250" b="1" dirty="0" smtClean="0">
                <a:solidFill>
                  <a:srgbClr val="C00000"/>
                </a:solidFill>
                <a:ea typeface="华文楷体" panose="02010600040101010101" pitchFamily="2" charset="-122"/>
              </a:rPr>
              <a:t>Prim</a:t>
            </a:r>
            <a:r>
              <a:rPr lang="zh-CN" altLang="en-US" sz="1250" b="1" dirty="0" smtClean="0">
                <a:solidFill>
                  <a:srgbClr val="C00000"/>
                </a:solidFill>
                <a:ea typeface="华文楷体" panose="02010600040101010101" pitchFamily="2" charset="-122"/>
              </a:rPr>
              <a:t>算法的实现</a:t>
            </a:r>
            <a:r>
              <a:rPr lang="en-US" altLang="zh-CN" sz="1250" b="1" dirty="0" smtClean="0">
                <a:solidFill>
                  <a:srgbClr val="C00000"/>
                </a:solidFill>
                <a:ea typeface="华文楷体" panose="02010600040101010101" pitchFamily="2" charset="-122"/>
              </a:rPr>
              <a:t>-</a:t>
            </a:r>
            <a:r>
              <a:rPr lang="zh-CN" altLang="en-US" sz="1250" b="1" dirty="0" smtClean="0">
                <a:solidFill>
                  <a:srgbClr val="C00000"/>
                </a:solidFill>
                <a:ea typeface="华文楷体" panose="02010600040101010101" pitchFamily="2" charset="-122"/>
              </a:rPr>
              <a:t>邻接矩阵</a:t>
            </a:r>
            <a:r>
              <a:rPr lang="en-US" altLang="zh-CN" sz="1250" b="1" dirty="0" smtClean="0">
                <a:solidFill>
                  <a:srgbClr val="C00000"/>
                </a:solidFill>
                <a:ea typeface="华文楷体" panose="02010600040101010101" pitchFamily="2" charset="-122"/>
              </a:rPr>
              <a:t>]</a:t>
            </a:r>
            <a:endParaRPr lang="en-US" altLang="zh-CN" sz="1250" b="1" dirty="0" smtClean="0">
              <a:solidFill>
                <a:srgbClr val="C00000"/>
              </a:solidFill>
              <a:ea typeface="华文楷体" panose="02010600040101010101" pitchFamily="2" charset="-122"/>
            </a:endParaRPr>
          </a:p>
          <a:p>
            <a:pPr marL="0" indent="0">
              <a:buNone/>
            </a:pPr>
            <a:r>
              <a:rPr lang="en-US" altLang="zh-CN" sz="1250" dirty="0" smtClean="0">
                <a:ea typeface="华文楷体" panose="02010600040101010101" pitchFamily="2" charset="-122"/>
              </a:rPr>
              <a:t>Void Prim(</a:t>
            </a:r>
            <a:r>
              <a:rPr lang="en-US" altLang="zh-CN" sz="1250" dirty="0" err="1" smtClean="0">
                <a:ea typeface="华文楷体" panose="02010600040101010101" pitchFamily="2" charset="-122"/>
              </a:rPr>
              <a:t>Mgraph</a:t>
            </a:r>
            <a:r>
              <a:rPr lang="en-US" altLang="zh-CN" sz="1250" dirty="0" smtClean="0">
                <a:ea typeface="华文楷体" panose="02010600040101010101" pitchFamily="2" charset="-122"/>
              </a:rPr>
              <a:t> g, </a:t>
            </a:r>
            <a:r>
              <a:rPr lang="en-US" altLang="zh-CN" sz="1250" dirty="0" err="1" smtClean="0">
                <a:ea typeface="华文楷体" panose="02010600040101010101" pitchFamily="2" charset="-122"/>
              </a:rPr>
              <a:t>int</a:t>
            </a:r>
            <a:r>
              <a:rPr lang="en-US" altLang="zh-CN" sz="1250" dirty="0" smtClean="0">
                <a:ea typeface="华文楷体" panose="02010600040101010101" pitchFamily="2" charset="-122"/>
              </a:rPr>
              <a:t> v)</a:t>
            </a:r>
            <a:endParaRPr lang="en-US" altLang="zh-CN" sz="1250" dirty="0" smtClean="0">
              <a:ea typeface="华文楷体" panose="02010600040101010101" pitchFamily="2" charset="-122"/>
            </a:endParaRPr>
          </a:p>
          <a:p>
            <a:pPr marL="0" indent="0">
              <a:buNone/>
            </a:pPr>
            <a:r>
              <a:rPr lang="en-US" altLang="zh-CN" sz="1250" dirty="0" smtClean="0">
                <a:ea typeface="华文楷体" panose="02010600040101010101" pitchFamily="2" charset="-122"/>
              </a:rPr>
              <a:t>{</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a:ea typeface="华文楷体" panose="02010600040101010101" pitchFamily="2" charset="-122"/>
              </a:rPr>
              <a:t>EdgeInfo</a:t>
            </a:r>
            <a:r>
              <a:rPr lang="en-US" altLang="zh-CN" sz="1250" dirty="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[1,..,MAXV];</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int</a:t>
            </a:r>
            <a:r>
              <a:rPr lang="en-US" altLang="zh-CN" sz="1250" dirty="0" smtClean="0">
                <a:ea typeface="华文楷体" panose="02010600040101010101" pitchFamily="2" charset="-122"/>
              </a:rPr>
              <a:t> </a:t>
            </a:r>
            <a:r>
              <a:rPr lang="en-US" altLang="zh-CN" sz="1250" dirty="0" err="1">
                <a:ea typeface="华文楷体" panose="02010600040101010101" pitchFamily="2" charset="-122"/>
              </a:rPr>
              <a:t>i</a:t>
            </a:r>
            <a:r>
              <a:rPr lang="en-US" altLang="zh-CN" sz="1250" dirty="0" smtClean="0">
                <a:ea typeface="华文楷体" panose="02010600040101010101" pitchFamily="2" charset="-122"/>
              </a:rPr>
              <a:t>, j, k, min;</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for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 =1;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&lt;=</a:t>
            </a:r>
            <a:r>
              <a:rPr lang="en-US" altLang="zh-CN" sz="1250" dirty="0" err="1" smtClean="0">
                <a:ea typeface="华文楷体" panose="02010600040101010101" pitchFamily="2" charset="-122"/>
              </a:rPr>
              <a:t>g.n</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 {</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lowcost</a:t>
            </a:r>
            <a:r>
              <a:rPr lang="en-US" altLang="zh-CN" sz="1250" dirty="0" smtClean="0">
                <a:ea typeface="华文楷体" panose="02010600040101010101" pitchFamily="2" charset="-122"/>
              </a:rPr>
              <a:t> = </a:t>
            </a:r>
            <a:r>
              <a:rPr lang="en-US" altLang="zh-CN" sz="1250" dirty="0" err="1" smtClean="0">
                <a:ea typeface="华文楷体" panose="02010600040101010101" pitchFamily="2" charset="-122"/>
              </a:rPr>
              <a:t>g.edges</a:t>
            </a:r>
            <a:r>
              <a:rPr lang="en-US" altLang="zh-CN" sz="1250" dirty="0" smtClean="0">
                <a:ea typeface="华文楷体" panose="02010600040101010101" pitchFamily="2" charset="-122"/>
              </a:rPr>
              <a:t>[v].[</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adjvex</a:t>
            </a:r>
            <a:r>
              <a:rPr lang="en-US" altLang="zh-CN" sz="1250" dirty="0" smtClean="0">
                <a:ea typeface="华文楷体" panose="02010600040101010101" pitchFamily="2" charset="-122"/>
              </a:rPr>
              <a:t> = v;</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for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=2;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&lt;=</a:t>
            </a:r>
            <a:r>
              <a:rPr lang="en-US" altLang="zh-CN" sz="1250" dirty="0" err="1" smtClean="0">
                <a:ea typeface="华文楷体" panose="02010600040101010101" pitchFamily="2" charset="-122"/>
              </a:rPr>
              <a:t>g.n</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i</a:t>
            </a:r>
            <a:r>
              <a:rPr lang="en-US" altLang="zh-CN" sz="1250" dirty="0" smtClean="0">
                <a:ea typeface="华文楷体" panose="02010600040101010101" pitchFamily="2" charset="-122"/>
              </a:rPr>
              <a:t>++) {   //</a:t>
            </a:r>
            <a:r>
              <a:rPr lang="zh-CN" altLang="en-US" sz="1250" dirty="0" smtClean="0">
                <a:ea typeface="华文楷体" panose="02010600040101010101" pitchFamily="2" charset="-122"/>
              </a:rPr>
              <a:t>找出</a:t>
            </a:r>
            <a:r>
              <a:rPr lang="en-US" altLang="zh-CN" sz="1250" dirty="0" smtClean="0">
                <a:ea typeface="华文楷体" panose="02010600040101010101" pitchFamily="2" charset="-122"/>
              </a:rPr>
              <a:t>n-1</a:t>
            </a:r>
            <a:r>
              <a:rPr lang="zh-CN" altLang="en-US" sz="1250" dirty="0" smtClean="0">
                <a:ea typeface="华文楷体" panose="02010600040101010101" pitchFamily="2" charset="-122"/>
              </a:rPr>
              <a:t>个顶点；</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min = INF;//INF</a:t>
            </a:r>
            <a:r>
              <a:rPr lang="zh-CN" altLang="en-US" sz="1250" dirty="0" smtClean="0">
                <a:ea typeface="华文楷体" panose="02010600040101010101" pitchFamily="2" charset="-122"/>
              </a:rPr>
              <a:t>表示理论上的最大值，无穷</a:t>
            </a:r>
            <a:endParaRPr lang="zh-CN" altLang="en-US" sz="1250" dirty="0">
              <a:ea typeface="华文楷体" panose="02010600040101010101" pitchFamily="2" charset="-122"/>
            </a:endParaRPr>
          </a:p>
          <a:p>
            <a:pPr marL="0" indent="0">
              <a:buNone/>
            </a:pPr>
            <a:r>
              <a:rPr lang="en-US" altLang="zh-CN" sz="1250" dirty="0" smtClean="0">
                <a:ea typeface="华文楷体" panose="02010600040101010101" pitchFamily="2" charset="-122"/>
              </a:rPr>
              <a:t>        for (j=1; j&lt;=</a:t>
            </a:r>
            <a:r>
              <a:rPr lang="en-US" altLang="zh-CN" sz="1250" dirty="0" err="1" smtClean="0">
                <a:ea typeface="华文楷体" panose="02010600040101010101" pitchFamily="2" charset="-122"/>
              </a:rPr>
              <a:t>g.n</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j++</a:t>
            </a:r>
            <a:r>
              <a:rPr lang="en-US" altLang="zh-CN" sz="1250" dirty="0" smtClean="0">
                <a:ea typeface="华文楷体" panose="02010600040101010101" pitchFamily="2" charset="-122"/>
              </a:rPr>
              <a:t>) //</a:t>
            </a:r>
            <a:r>
              <a:rPr lang="zh-CN" altLang="en-US" sz="1250" dirty="0" smtClean="0">
                <a:ea typeface="华文楷体" panose="02010600040101010101" pitchFamily="2" charset="-122"/>
              </a:rPr>
              <a:t>在</a:t>
            </a:r>
            <a:r>
              <a:rPr lang="en-US" altLang="zh-CN" sz="1250" dirty="0" smtClean="0">
                <a:ea typeface="华文楷体" panose="02010600040101010101" pitchFamily="2" charset="-122"/>
              </a:rPr>
              <a:t>V-U</a:t>
            </a:r>
            <a:r>
              <a:rPr lang="zh-CN" altLang="en-US" sz="1250" dirty="0" smtClean="0">
                <a:ea typeface="华文楷体" panose="02010600040101010101" pitchFamily="2" charset="-122"/>
              </a:rPr>
              <a:t>中寻找离</a:t>
            </a:r>
            <a:r>
              <a:rPr lang="en-US" altLang="zh-CN" sz="1250" dirty="0" smtClean="0">
                <a:ea typeface="华文楷体" panose="02010600040101010101" pitchFamily="2" charset="-122"/>
              </a:rPr>
              <a:t>U</a:t>
            </a:r>
            <a:r>
              <a:rPr lang="zh-CN" altLang="en-US" sz="1250" dirty="0" smtClean="0">
                <a:ea typeface="华文楷体" panose="02010600040101010101" pitchFamily="2" charset="-122"/>
              </a:rPr>
              <a:t>最近的顶点</a:t>
            </a:r>
            <a:r>
              <a:rPr lang="en-US" altLang="zh-CN" sz="1250" dirty="0" smtClean="0">
                <a:ea typeface="华文楷体" panose="02010600040101010101" pitchFamily="2" charset="-122"/>
              </a:rPr>
              <a:t>k</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if(</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[j].</a:t>
            </a:r>
            <a:r>
              <a:rPr lang="en-US" altLang="zh-CN" sz="1250" dirty="0" err="1" smtClean="0">
                <a:ea typeface="华文楷体" panose="02010600040101010101" pitchFamily="2" charset="-122"/>
              </a:rPr>
              <a:t>lowcost</a:t>
            </a:r>
            <a:r>
              <a:rPr lang="en-US" altLang="zh-CN" sz="1250" dirty="0" smtClean="0">
                <a:ea typeface="华文楷体" panose="02010600040101010101" pitchFamily="2" charset="-122"/>
              </a:rPr>
              <a:t> != 0 &amp; </a:t>
            </a:r>
            <a:r>
              <a:rPr lang="en-US" altLang="zh-CN" sz="1250" dirty="0" err="1">
                <a:ea typeface="华文楷体" panose="02010600040101010101" pitchFamily="2" charset="-122"/>
              </a:rPr>
              <a:t>closedge</a:t>
            </a:r>
            <a:r>
              <a:rPr lang="en-US" altLang="zh-CN" sz="1250" dirty="0">
                <a:ea typeface="华文楷体" panose="02010600040101010101" pitchFamily="2" charset="-122"/>
              </a:rPr>
              <a:t>[j].</a:t>
            </a:r>
            <a:r>
              <a:rPr lang="en-US" altLang="zh-CN" sz="1250" dirty="0" err="1">
                <a:ea typeface="华文楷体" panose="02010600040101010101" pitchFamily="2" charset="-122"/>
              </a:rPr>
              <a:t>lowcost</a:t>
            </a:r>
            <a:r>
              <a:rPr lang="en-US" altLang="zh-CN" sz="1250" dirty="0">
                <a:ea typeface="华文楷体" panose="02010600040101010101" pitchFamily="2" charset="-122"/>
              </a:rPr>
              <a:t> </a:t>
            </a:r>
            <a:r>
              <a:rPr lang="en-US" altLang="zh-CN" sz="1250" dirty="0" smtClean="0">
                <a:ea typeface="华文楷体" panose="02010600040101010101" pitchFamily="2" charset="-122"/>
              </a:rPr>
              <a:t>&lt; min ){</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min =</a:t>
            </a:r>
            <a:r>
              <a:rPr lang="en-US" altLang="zh-CN" sz="1250" dirty="0">
                <a:ea typeface="华文楷体" panose="02010600040101010101" pitchFamily="2" charset="-122"/>
              </a:rPr>
              <a:t> </a:t>
            </a:r>
            <a:r>
              <a:rPr lang="en-US" altLang="zh-CN" sz="1250" dirty="0" err="1">
                <a:ea typeface="华文楷体" panose="02010600040101010101" pitchFamily="2" charset="-122"/>
              </a:rPr>
              <a:t>closedge</a:t>
            </a:r>
            <a:r>
              <a:rPr lang="en-US" altLang="zh-CN" sz="1250" dirty="0">
                <a:ea typeface="华文楷体" panose="02010600040101010101" pitchFamily="2" charset="-122"/>
              </a:rPr>
              <a:t>[j].</a:t>
            </a:r>
            <a:r>
              <a:rPr lang="en-US" altLang="zh-CN" sz="1250" dirty="0" err="1" smtClean="0">
                <a:ea typeface="华文楷体" panose="02010600040101010101" pitchFamily="2" charset="-122"/>
              </a:rPr>
              <a:t>lowcost</a:t>
            </a:r>
            <a:r>
              <a:rPr lang="en-US" altLang="zh-CN" sz="1250" dirty="0" smtClean="0">
                <a:ea typeface="华文楷体" panose="02010600040101010101" pitchFamily="2" charset="-122"/>
              </a:rPr>
              <a:t>;</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k = j;</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 // end if</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printf</a:t>
            </a:r>
            <a:r>
              <a:rPr lang="en-US" altLang="zh-CN" sz="1250" dirty="0" smtClean="0">
                <a:ea typeface="华文楷体" panose="02010600040101010101" pitchFamily="2" charset="-122"/>
              </a:rPr>
              <a:t>(“</a:t>
            </a:r>
            <a:r>
              <a:rPr lang="zh-CN" altLang="en-US" sz="1250" dirty="0" smtClean="0">
                <a:ea typeface="华文楷体" panose="02010600040101010101" pitchFamily="2" charset="-122"/>
              </a:rPr>
              <a:t>边</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d.%d</a:t>
            </a:r>
            <a:r>
              <a:rPr lang="en-US" altLang="zh-CN" sz="1250" dirty="0" smtClean="0">
                <a:ea typeface="华文楷体" panose="02010600040101010101" pitchFamily="2" charset="-122"/>
              </a:rPr>
              <a:t>)</a:t>
            </a:r>
            <a:r>
              <a:rPr lang="zh-CN" altLang="en-US" sz="1250" dirty="0" smtClean="0">
                <a:ea typeface="华文楷体" panose="02010600040101010101" pitchFamily="2" charset="-122"/>
              </a:rPr>
              <a:t>权为</a:t>
            </a:r>
            <a:r>
              <a:rPr lang="en-US" altLang="zh-CN" sz="1250" dirty="0" smtClean="0">
                <a:ea typeface="华文楷体" panose="02010600040101010101" pitchFamily="2" charset="-122"/>
              </a:rPr>
              <a:t>%d\n”,</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[k].</a:t>
            </a:r>
            <a:r>
              <a:rPr lang="en-US" altLang="zh-CN" sz="1250" dirty="0" err="1" smtClean="0">
                <a:ea typeface="华文楷体" panose="02010600040101010101" pitchFamily="2" charset="-122"/>
              </a:rPr>
              <a:t>adjvex,k</a:t>
            </a:r>
            <a:r>
              <a:rPr lang="en-US" altLang="zh-CN" sz="1250" dirty="0" smtClean="0">
                <a:ea typeface="华文楷体" panose="02010600040101010101" pitchFamily="2" charset="-122"/>
              </a:rPr>
              <a:t>,</a:t>
            </a:r>
            <a:r>
              <a:rPr lang="en-US" altLang="zh-CN" sz="1250" dirty="0">
                <a:ea typeface="华文楷体" panose="02010600040101010101" pitchFamily="2" charset="-122"/>
              </a:rPr>
              <a:t> </a:t>
            </a:r>
            <a:r>
              <a:rPr lang="en-US" altLang="zh-CN" sz="1250" dirty="0" err="1">
                <a:ea typeface="华文楷体" panose="02010600040101010101" pitchFamily="2" charset="-122"/>
              </a:rPr>
              <a:t>closedge</a:t>
            </a:r>
            <a:r>
              <a:rPr lang="en-US" altLang="zh-CN" sz="1250" dirty="0">
                <a:ea typeface="华文楷体" panose="02010600040101010101" pitchFamily="2" charset="-122"/>
              </a:rPr>
              <a:t>[k</a:t>
            </a:r>
            <a:r>
              <a:rPr lang="en-US" altLang="zh-CN" sz="1250" dirty="0" smtClean="0">
                <a:ea typeface="华文楷体" panose="02010600040101010101" pitchFamily="2" charset="-122"/>
              </a:rPr>
              <a:t>].</a:t>
            </a:r>
            <a:r>
              <a:rPr lang="en-US" altLang="zh-CN" sz="1250" dirty="0" err="1" smtClean="0">
                <a:ea typeface="华文楷体" panose="02010600040101010101" pitchFamily="2" charset="-122"/>
              </a:rPr>
              <a:t>lowcost</a:t>
            </a:r>
            <a:r>
              <a:rPr lang="en-US" altLang="zh-CN" sz="1250" dirty="0" smtClean="0">
                <a:ea typeface="华文楷体" panose="02010600040101010101" pitchFamily="2" charset="-122"/>
              </a:rPr>
              <a:t>);</a:t>
            </a:r>
            <a:endParaRPr lang="en-US" altLang="zh-CN" sz="1250" dirty="0" smtClean="0">
              <a:ea typeface="华文楷体" panose="02010600040101010101" pitchFamily="2" charset="-122"/>
            </a:endParaRPr>
          </a:p>
          <a:p>
            <a:pPr marL="0" indent="0">
              <a:buNone/>
            </a:pP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[k].</a:t>
            </a:r>
            <a:r>
              <a:rPr lang="en-US" altLang="zh-CN" sz="1250" dirty="0" err="1" smtClean="0">
                <a:ea typeface="华文楷体" panose="02010600040101010101" pitchFamily="2" charset="-122"/>
              </a:rPr>
              <a:t>lowcost</a:t>
            </a:r>
            <a:r>
              <a:rPr lang="en-US" altLang="zh-CN" sz="1250" dirty="0" smtClean="0">
                <a:ea typeface="华文楷体" panose="02010600040101010101" pitchFamily="2" charset="-122"/>
              </a:rPr>
              <a:t> =0;//</a:t>
            </a:r>
            <a:r>
              <a:rPr lang="zh-CN" altLang="en-US" sz="1250" dirty="0" smtClean="0">
                <a:ea typeface="华文楷体" panose="02010600040101010101" pitchFamily="2" charset="-122"/>
              </a:rPr>
              <a:t>标记顶点</a:t>
            </a:r>
            <a:r>
              <a:rPr lang="en-US" altLang="zh-CN" sz="1250" dirty="0" smtClean="0">
                <a:ea typeface="华文楷体" panose="02010600040101010101" pitchFamily="2" charset="-122"/>
              </a:rPr>
              <a:t>k</a:t>
            </a:r>
            <a:r>
              <a:rPr lang="zh-CN" altLang="en-US" sz="1250" dirty="0" smtClean="0">
                <a:ea typeface="华文楷体" panose="02010600040101010101" pitchFamily="2" charset="-122"/>
              </a:rPr>
              <a:t>加入</a:t>
            </a:r>
            <a:r>
              <a:rPr lang="en-US" altLang="zh-CN" sz="1250" dirty="0" smtClean="0">
                <a:ea typeface="华文楷体" panose="02010600040101010101" pitchFamily="2" charset="-122"/>
              </a:rPr>
              <a:t>U</a:t>
            </a:r>
            <a:r>
              <a:rPr lang="zh-CN" altLang="en-US" sz="1250" dirty="0" smtClean="0">
                <a:ea typeface="华文楷体" panose="02010600040101010101" pitchFamily="2" charset="-122"/>
              </a:rPr>
              <a:t>集合</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for (j=1; j</a:t>
            </a:r>
            <a:r>
              <a:rPr lang="en-US" altLang="zh-CN" sz="1250" dirty="0">
                <a:ea typeface="华文楷体" panose="02010600040101010101" pitchFamily="2" charset="-122"/>
              </a:rPr>
              <a:t> &lt;=</a:t>
            </a:r>
            <a:r>
              <a:rPr lang="en-US" altLang="zh-CN" sz="1250" dirty="0" err="1">
                <a:ea typeface="华文楷体" panose="02010600040101010101" pitchFamily="2" charset="-122"/>
              </a:rPr>
              <a:t>g.n</a:t>
            </a:r>
            <a:r>
              <a:rPr lang="en-US" altLang="zh-CN" sz="1250" dirty="0">
                <a:ea typeface="华文楷体" panose="02010600040101010101" pitchFamily="2" charset="-122"/>
              </a:rPr>
              <a:t>; </a:t>
            </a:r>
            <a:r>
              <a:rPr lang="en-US" altLang="zh-CN" sz="1250" dirty="0" err="1">
                <a:ea typeface="华文楷体" panose="02010600040101010101" pitchFamily="2" charset="-122"/>
              </a:rPr>
              <a:t>j</a:t>
            </a:r>
            <a:r>
              <a:rPr lang="en-US" altLang="zh-CN" sz="1250" dirty="0" err="1" smtClean="0">
                <a:ea typeface="华文楷体" panose="02010600040101010101" pitchFamily="2" charset="-122"/>
              </a:rPr>
              <a:t>++</a:t>
            </a:r>
            <a:r>
              <a:rPr lang="en-US" altLang="zh-CN" sz="1250" dirty="0" smtClean="0">
                <a:ea typeface="华文楷体" panose="02010600040101010101" pitchFamily="2" charset="-122"/>
              </a:rPr>
              <a:t>)</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if (</a:t>
            </a:r>
            <a:r>
              <a:rPr lang="en-US" altLang="zh-CN" sz="1250" dirty="0" err="1" smtClean="0">
                <a:ea typeface="华文楷体" panose="02010600040101010101" pitchFamily="2" charset="-122"/>
              </a:rPr>
              <a:t>g.edges</a:t>
            </a:r>
            <a:r>
              <a:rPr lang="en-US" altLang="zh-CN" sz="1250" dirty="0" smtClean="0">
                <a:ea typeface="华文楷体" panose="02010600040101010101" pitchFamily="2" charset="-122"/>
              </a:rPr>
              <a:t>[k][j]!= 0 &amp;&amp;</a:t>
            </a:r>
            <a:r>
              <a:rPr lang="en-US" altLang="zh-CN" sz="1250" dirty="0">
                <a:ea typeface="华文楷体" panose="02010600040101010101" pitchFamily="2" charset="-122"/>
              </a:rPr>
              <a:t> </a:t>
            </a:r>
            <a:r>
              <a:rPr lang="en-US" altLang="zh-CN" sz="1250" dirty="0" err="1">
                <a:ea typeface="华文楷体" panose="02010600040101010101" pitchFamily="2" charset="-122"/>
              </a:rPr>
              <a:t>g.edges</a:t>
            </a:r>
            <a:r>
              <a:rPr lang="en-US" altLang="zh-CN" sz="1250" dirty="0">
                <a:ea typeface="华文楷体" panose="02010600040101010101" pitchFamily="2" charset="-122"/>
              </a:rPr>
              <a:t>[k][j</a:t>
            </a:r>
            <a:r>
              <a:rPr lang="en-US" altLang="zh-CN" sz="1250" dirty="0" smtClean="0">
                <a:ea typeface="华文楷体" panose="02010600040101010101" pitchFamily="2" charset="-122"/>
              </a:rPr>
              <a:t>]&lt; </a:t>
            </a:r>
            <a:r>
              <a:rPr lang="en-US" altLang="zh-CN" sz="1250" dirty="0" err="1">
                <a:ea typeface="华文楷体" panose="02010600040101010101" pitchFamily="2" charset="-122"/>
              </a:rPr>
              <a:t>closedge</a:t>
            </a:r>
            <a:r>
              <a:rPr lang="en-US" altLang="zh-CN" sz="1250" dirty="0">
                <a:ea typeface="华文楷体" panose="02010600040101010101" pitchFamily="2" charset="-122"/>
              </a:rPr>
              <a:t>[j].</a:t>
            </a:r>
            <a:r>
              <a:rPr lang="en-US" altLang="zh-CN" sz="1250" dirty="0" err="1">
                <a:ea typeface="华文楷体" panose="02010600040101010101" pitchFamily="2" charset="-122"/>
              </a:rPr>
              <a:t>lowcost</a:t>
            </a:r>
            <a:r>
              <a:rPr lang="en-US" altLang="zh-CN" sz="1250" dirty="0" smtClean="0">
                <a:ea typeface="华文楷体" panose="02010600040101010101" pitchFamily="2" charset="-122"/>
              </a:rPr>
              <a:t>){</a:t>
            </a:r>
            <a:r>
              <a:rPr lang="en-US" altLang="zh-CN" sz="1250" dirty="0">
                <a:ea typeface="华文楷体" panose="02010600040101010101" pitchFamily="2" charset="-122"/>
              </a:rPr>
              <a:t>//</a:t>
            </a:r>
            <a:r>
              <a:rPr lang="zh-CN" altLang="en-US" sz="1250" dirty="0">
                <a:ea typeface="华文楷体" panose="02010600040101010101" pitchFamily="2" charset="-122"/>
              </a:rPr>
              <a:t>仅仅</a:t>
            </a:r>
            <a:r>
              <a:rPr lang="zh-CN" altLang="en-US" sz="1250" dirty="0" smtClean="0">
                <a:ea typeface="华文楷体" panose="02010600040101010101" pitchFamily="2" charset="-122"/>
              </a:rPr>
              <a:t>考虑</a:t>
            </a:r>
            <a:r>
              <a:rPr lang="en-US" altLang="zh-CN" sz="1250" dirty="0" smtClean="0">
                <a:ea typeface="华文楷体" panose="02010600040101010101" pitchFamily="2" charset="-122"/>
              </a:rPr>
              <a:t>V-U</a:t>
            </a:r>
            <a:r>
              <a:rPr lang="zh-CN" altLang="en-US" sz="1250" dirty="0" smtClean="0">
                <a:ea typeface="华文楷体" panose="02010600040101010101" pitchFamily="2" charset="-122"/>
              </a:rPr>
              <a:t>集合中的顶点</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[j</a:t>
            </a:r>
            <a:r>
              <a:rPr lang="en-US" altLang="zh-CN" sz="1250" dirty="0">
                <a:ea typeface="华文楷体" panose="02010600040101010101" pitchFamily="2" charset="-122"/>
              </a:rPr>
              <a:t>].</a:t>
            </a:r>
            <a:r>
              <a:rPr lang="en-US" altLang="zh-CN" sz="1250" dirty="0" err="1">
                <a:ea typeface="华文楷体" panose="02010600040101010101" pitchFamily="2" charset="-122"/>
              </a:rPr>
              <a:t>lowcost</a:t>
            </a:r>
            <a:r>
              <a:rPr lang="en-US" altLang="zh-CN" sz="1250" dirty="0" smtClean="0">
                <a:ea typeface="华文楷体" panose="02010600040101010101" pitchFamily="2" charset="-122"/>
              </a:rPr>
              <a:t> = </a:t>
            </a:r>
            <a:r>
              <a:rPr lang="en-US" altLang="zh-CN" sz="1250" dirty="0" err="1">
                <a:ea typeface="华文楷体" panose="02010600040101010101" pitchFamily="2" charset="-122"/>
              </a:rPr>
              <a:t>g.edges</a:t>
            </a:r>
            <a:r>
              <a:rPr lang="en-US" altLang="zh-CN" sz="1250" dirty="0">
                <a:ea typeface="华文楷体" panose="02010600040101010101" pitchFamily="2" charset="-122"/>
              </a:rPr>
              <a:t>[k][j</a:t>
            </a:r>
            <a:r>
              <a:rPr lang="en-US" altLang="zh-CN" sz="1250" dirty="0" smtClean="0">
                <a:ea typeface="华文楷体" panose="02010600040101010101" pitchFamily="2" charset="-122"/>
              </a:rPr>
              <a:t>]; //</a:t>
            </a:r>
            <a:r>
              <a:rPr lang="zh-CN" altLang="en-US" sz="1250" dirty="0" smtClean="0">
                <a:ea typeface="华文楷体" panose="02010600040101010101" pitchFamily="2" charset="-122"/>
              </a:rPr>
              <a:t>修改</a:t>
            </a:r>
            <a:r>
              <a:rPr lang="en-US" altLang="zh-CN" sz="1250" dirty="0" err="1" smtClean="0">
                <a:ea typeface="华文楷体" panose="02010600040101010101" pitchFamily="2" charset="-122"/>
              </a:rPr>
              <a:t>closedge</a:t>
            </a:r>
            <a:r>
              <a:rPr lang="zh-CN" altLang="en-US" sz="1250" dirty="0" smtClean="0">
                <a:ea typeface="华文楷体" panose="02010600040101010101" pitchFamily="2" charset="-122"/>
              </a:rPr>
              <a:t>数组</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err="1" smtClean="0">
                <a:ea typeface="华文楷体" panose="02010600040101010101" pitchFamily="2" charset="-122"/>
              </a:rPr>
              <a:t>closedge</a:t>
            </a:r>
            <a:r>
              <a:rPr lang="en-US" altLang="zh-CN" sz="1250" dirty="0" smtClean="0">
                <a:ea typeface="华文楷体" panose="02010600040101010101" pitchFamily="2" charset="-122"/>
              </a:rPr>
              <a:t>[j].</a:t>
            </a:r>
            <a:r>
              <a:rPr lang="en-US" altLang="zh-CN" sz="1250" dirty="0" err="1">
                <a:ea typeface="华文楷体" panose="02010600040101010101" pitchFamily="2" charset="-122"/>
              </a:rPr>
              <a:t>adjvex</a:t>
            </a:r>
            <a:r>
              <a:rPr lang="en-US" altLang="zh-CN" sz="1250" dirty="0">
                <a:ea typeface="华文楷体" panose="02010600040101010101" pitchFamily="2" charset="-122"/>
              </a:rPr>
              <a:t> = </a:t>
            </a:r>
            <a:r>
              <a:rPr lang="en-US" altLang="zh-CN" sz="1250" dirty="0" smtClean="0">
                <a:ea typeface="华文楷体" panose="02010600040101010101" pitchFamily="2" charset="-122"/>
              </a:rPr>
              <a:t>k; </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a:ea typeface="华文楷体" panose="02010600040101010101" pitchFamily="2" charset="-122"/>
              </a:rPr>
              <a:t>} </a:t>
            </a:r>
            <a:r>
              <a:rPr lang="en-US" altLang="zh-CN" sz="1250" dirty="0" smtClean="0">
                <a:ea typeface="华文楷体" panose="02010600040101010101" pitchFamily="2" charset="-122"/>
              </a:rPr>
              <a:t>// </a:t>
            </a:r>
            <a:r>
              <a:rPr lang="en-US" altLang="zh-CN" sz="1250" dirty="0">
                <a:ea typeface="华文楷体" panose="02010600040101010101" pitchFamily="2" charset="-122"/>
              </a:rPr>
              <a:t>end </a:t>
            </a:r>
            <a:r>
              <a:rPr lang="en-US" altLang="zh-CN" sz="1250" dirty="0" smtClean="0">
                <a:ea typeface="华文楷体" panose="02010600040101010101" pitchFamily="2" charset="-122"/>
              </a:rPr>
              <a:t>if</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 </a:t>
            </a:r>
            <a:r>
              <a:rPr lang="en-US" altLang="zh-CN" sz="1250" dirty="0" smtClean="0">
                <a:ea typeface="华文楷体" panose="02010600040101010101" pitchFamily="2" charset="-122"/>
              </a:rPr>
              <a:t>   } // end </a:t>
            </a:r>
            <a:r>
              <a:rPr lang="en-US" altLang="zh-CN" sz="1250" dirty="0">
                <a:ea typeface="华文楷体" panose="02010600040101010101" pitchFamily="2" charset="-122"/>
              </a:rPr>
              <a:t>for (</a:t>
            </a:r>
            <a:r>
              <a:rPr lang="en-US" altLang="zh-CN" sz="1250" dirty="0" err="1">
                <a:ea typeface="华文楷体" panose="02010600040101010101" pitchFamily="2" charset="-122"/>
              </a:rPr>
              <a:t>i</a:t>
            </a:r>
            <a:r>
              <a:rPr lang="en-US" altLang="zh-CN" sz="1250" dirty="0">
                <a:ea typeface="华文楷体" panose="02010600040101010101" pitchFamily="2" charset="-122"/>
              </a:rPr>
              <a:t>=2; </a:t>
            </a:r>
            <a:r>
              <a:rPr lang="en-US" altLang="zh-CN" sz="1250" dirty="0" err="1">
                <a:ea typeface="华文楷体" panose="02010600040101010101" pitchFamily="2" charset="-122"/>
              </a:rPr>
              <a:t>i</a:t>
            </a:r>
            <a:r>
              <a:rPr lang="en-US" altLang="zh-CN" sz="1250" dirty="0">
                <a:ea typeface="华文楷体" panose="02010600040101010101" pitchFamily="2" charset="-122"/>
              </a:rPr>
              <a:t>&lt;=</a:t>
            </a:r>
            <a:r>
              <a:rPr lang="en-US" altLang="zh-CN" sz="1250" dirty="0" err="1">
                <a:ea typeface="华文楷体" panose="02010600040101010101" pitchFamily="2" charset="-122"/>
              </a:rPr>
              <a:t>g.n</a:t>
            </a:r>
            <a:r>
              <a:rPr lang="en-US" altLang="zh-CN" sz="1250" dirty="0">
                <a:ea typeface="华文楷体" panose="02010600040101010101" pitchFamily="2" charset="-122"/>
              </a:rPr>
              <a:t>; </a:t>
            </a:r>
            <a:r>
              <a:rPr lang="en-US" altLang="zh-CN" sz="1250" dirty="0" err="1">
                <a:ea typeface="华文楷体" panose="02010600040101010101" pitchFamily="2" charset="-122"/>
              </a:rPr>
              <a:t>i</a:t>
            </a:r>
            <a:r>
              <a:rPr lang="en-US" altLang="zh-CN" sz="1250" dirty="0">
                <a:ea typeface="华文楷体" panose="02010600040101010101" pitchFamily="2" charset="-122"/>
              </a:rPr>
              <a:t>++) </a:t>
            </a:r>
            <a:endParaRPr lang="en-US" altLang="zh-CN" sz="1250" dirty="0" smtClean="0">
              <a:ea typeface="华文楷体" panose="02010600040101010101" pitchFamily="2" charset="-122"/>
            </a:endParaRPr>
          </a:p>
          <a:p>
            <a:pPr marL="0" indent="0">
              <a:buNone/>
            </a:pPr>
            <a:r>
              <a:rPr lang="en-US" altLang="zh-CN" sz="1250" dirty="0">
                <a:ea typeface="华文楷体" panose="02010600040101010101" pitchFamily="2" charset="-122"/>
              </a:rPr>
              <a:t>}</a:t>
            </a:r>
            <a:endParaRPr lang="zh-CN" altLang="en-US" sz="125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页脚占位符 3"/>
          <p:cNvSpPr>
            <a:spLocks noGrp="1"/>
          </p:cNvSpPr>
          <p:nvPr>
            <p:ph type="ftr" sz="quarter" idx="10"/>
          </p:nvPr>
        </p:nvSpPr>
        <p:spPr/>
        <p:txBody>
          <a:bodyPr/>
          <a:lstStyle/>
          <a:p>
            <a:pPr>
              <a:defRPr/>
            </a:pPr>
            <a:r>
              <a:rPr lang="en-US" altLang="zh-CN"/>
              <a:t>BUPT SCST</a:t>
            </a:r>
            <a:endParaRPr lang="en-US" altLang="zh-CN"/>
          </a:p>
        </p:txBody>
      </p:sp>
      <p:sp>
        <p:nvSpPr>
          <p:cNvPr id="131" name="日期占位符 5"/>
          <p:cNvSpPr>
            <a:spLocks noGrp="1"/>
          </p:cNvSpPr>
          <p:nvPr>
            <p:ph type="dt" sz="quarter" idx="12"/>
          </p:nvPr>
        </p:nvSpPr>
        <p:spPr/>
        <p:txBody>
          <a:bodyPr/>
          <a:lstStyle/>
          <a:p>
            <a:pPr>
              <a:defRPr/>
            </a:pPr>
            <a:r>
              <a:rPr lang="en-US" altLang="zh-CN"/>
              <a:t>BUPT</a:t>
            </a:r>
            <a:endParaRPr lang="en-US" altLang="zh-CN"/>
          </a:p>
        </p:txBody>
      </p:sp>
      <p:sp>
        <p:nvSpPr>
          <p:cNvPr id="563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632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en-US" altLang="zh-CN" sz="2400" b="1" dirty="0" err="1" smtClean="0">
                <a:solidFill>
                  <a:srgbClr val="996600"/>
                </a:solidFill>
                <a:ea typeface="华文楷体" panose="02010600040101010101" pitchFamily="2" charset="-122"/>
              </a:rPr>
              <a:t>Kruskal</a:t>
            </a:r>
            <a:r>
              <a:rPr lang="zh-CN" altLang="en-US" sz="2400" b="1" dirty="0" smtClean="0">
                <a:solidFill>
                  <a:srgbClr val="996600"/>
                </a:solidFill>
                <a:ea typeface="华文楷体" panose="02010600040101010101" pitchFamily="2" charset="-122"/>
              </a:rPr>
              <a:t>算法</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p:txBody>
      </p:sp>
      <p:sp>
        <p:nvSpPr>
          <p:cNvPr id="56326" name="Rectangle 4"/>
          <p:cNvSpPr>
            <a:spLocks noChangeArrowheads="1"/>
          </p:cNvSpPr>
          <p:nvPr/>
        </p:nvSpPr>
        <p:spPr bwMode="auto">
          <a:xfrm>
            <a:off x="381000" y="1600200"/>
            <a:ext cx="7772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rgbClr val="996600"/>
                </a:solidFill>
                <a:latin typeface="Times New Roman" panose="02020603050405020304" pitchFamily="18" charset="0"/>
                <a:ea typeface="华文楷体" panose="02010600040101010101" pitchFamily="2" charset="-122"/>
              </a:rPr>
              <a:t>[</a:t>
            </a:r>
            <a:r>
              <a:rPr lang="zh-CN" altLang="en-US" sz="2400" b="1" dirty="0">
                <a:solidFill>
                  <a:srgbClr val="996600"/>
                </a:solidFill>
                <a:latin typeface="Times New Roman" panose="02020603050405020304" pitchFamily="18" charset="0"/>
                <a:ea typeface="华文楷体" panose="02010600040101010101" pitchFamily="2" charset="-122"/>
              </a:rPr>
              <a:t>示例</a:t>
            </a:r>
            <a:r>
              <a:rPr lang="en-US" altLang="zh-CN" sz="2400" b="1" dirty="0">
                <a:solidFill>
                  <a:srgbClr val="996600"/>
                </a:solidFill>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     n=6</a:t>
            </a:r>
            <a:endParaRPr lang="en-US" altLang="zh-CN" sz="2400" dirty="0">
              <a:latin typeface="Times New Roman" panose="02020603050405020304" pitchFamily="18" charset="0"/>
              <a:ea typeface="华文楷体" panose="02010600040101010101" pitchFamily="2" charset="-122"/>
            </a:endParaRPr>
          </a:p>
        </p:txBody>
      </p:sp>
      <p:sp>
        <p:nvSpPr>
          <p:cNvPr id="56327" name="Oval 5"/>
          <p:cNvSpPr>
            <a:spLocks noChangeArrowheads="1"/>
          </p:cNvSpPr>
          <p:nvPr/>
        </p:nvSpPr>
        <p:spPr bwMode="auto">
          <a:xfrm>
            <a:off x="1524000" y="2209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28" name="Oval 6"/>
          <p:cNvSpPr>
            <a:spLocks noChangeArrowheads="1"/>
          </p:cNvSpPr>
          <p:nvPr/>
        </p:nvSpPr>
        <p:spPr bwMode="auto">
          <a:xfrm>
            <a:off x="838200" y="2743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29" name="Oval 7"/>
          <p:cNvSpPr>
            <a:spLocks noChangeArrowheads="1"/>
          </p:cNvSpPr>
          <p:nvPr/>
        </p:nvSpPr>
        <p:spPr bwMode="auto">
          <a:xfrm>
            <a:off x="2209800" y="2667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30" name="Oval 8"/>
          <p:cNvSpPr>
            <a:spLocks noChangeArrowheads="1"/>
          </p:cNvSpPr>
          <p:nvPr/>
        </p:nvSpPr>
        <p:spPr bwMode="auto">
          <a:xfrm>
            <a:off x="1600200" y="3276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31" name="Oval 9"/>
          <p:cNvSpPr>
            <a:spLocks noChangeArrowheads="1"/>
          </p:cNvSpPr>
          <p:nvPr/>
        </p:nvSpPr>
        <p:spPr bwMode="auto">
          <a:xfrm>
            <a:off x="838200" y="3810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32" name="Oval 10"/>
          <p:cNvSpPr>
            <a:spLocks noChangeArrowheads="1"/>
          </p:cNvSpPr>
          <p:nvPr/>
        </p:nvSpPr>
        <p:spPr bwMode="auto">
          <a:xfrm>
            <a:off x="2209800" y="3810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33" name="Line 11"/>
          <p:cNvSpPr>
            <a:spLocks noChangeShapeType="1"/>
          </p:cNvSpPr>
          <p:nvPr/>
        </p:nvSpPr>
        <p:spPr bwMode="auto">
          <a:xfrm flipV="1">
            <a:off x="1066800" y="2438400"/>
            <a:ext cx="4572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4" name="Line 12"/>
          <p:cNvSpPr>
            <a:spLocks noChangeShapeType="1"/>
          </p:cNvSpPr>
          <p:nvPr/>
        </p:nvSpPr>
        <p:spPr bwMode="auto">
          <a:xfrm>
            <a:off x="1905000" y="2514600"/>
            <a:ext cx="4572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5" name="Line 13"/>
          <p:cNvSpPr>
            <a:spLocks noChangeShapeType="1"/>
          </p:cNvSpPr>
          <p:nvPr/>
        </p:nvSpPr>
        <p:spPr bwMode="auto">
          <a:xfrm>
            <a:off x="1066800" y="3124200"/>
            <a:ext cx="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6" name="Line 14"/>
          <p:cNvSpPr>
            <a:spLocks noChangeShapeType="1"/>
          </p:cNvSpPr>
          <p:nvPr/>
        </p:nvSpPr>
        <p:spPr bwMode="auto">
          <a:xfrm>
            <a:off x="1219200" y="4114800"/>
            <a:ext cx="990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7" name="Line 15"/>
          <p:cNvSpPr>
            <a:spLocks noChangeShapeType="1"/>
          </p:cNvSpPr>
          <p:nvPr/>
        </p:nvSpPr>
        <p:spPr bwMode="auto">
          <a:xfrm>
            <a:off x="2438400" y="30480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8" name="Line 16"/>
          <p:cNvSpPr>
            <a:spLocks noChangeShapeType="1"/>
          </p:cNvSpPr>
          <p:nvPr/>
        </p:nvSpPr>
        <p:spPr bwMode="auto">
          <a:xfrm>
            <a:off x="1752600" y="25908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9" name="Line 17"/>
          <p:cNvSpPr>
            <a:spLocks noChangeShapeType="1"/>
          </p:cNvSpPr>
          <p:nvPr/>
        </p:nvSpPr>
        <p:spPr bwMode="auto">
          <a:xfrm>
            <a:off x="1219200" y="3048000"/>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40" name="Line 18"/>
          <p:cNvSpPr>
            <a:spLocks noChangeShapeType="1"/>
          </p:cNvSpPr>
          <p:nvPr/>
        </p:nvSpPr>
        <p:spPr bwMode="auto">
          <a:xfrm flipV="1">
            <a:off x="1981200" y="3048000"/>
            <a:ext cx="3048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41" name="Line 19"/>
          <p:cNvSpPr>
            <a:spLocks noChangeShapeType="1"/>
          </p:cNvSpPr>
          <p:nvPr/>
        </p:nvSpPr>
        <p:spPr bwMode="auto">
          <a:xfrm flipH="1">
            <a:off x="1219200" y="3581400"/>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42" name="Line 20"/>
          <p:cNvSpPr>
            <a:spLocks noChangeShapeType="1"/>
          </p:cNvSpPr>
          <p:nvPr/>
        </p:nvSpPr>
        <p:spPr bwMode="auto">
          <a:xfrm>
            <a:off x="1981200" y="3581400"/>
            <a:ext cx="228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43" name="Text Box 21"/>
          <p:cNvSpPr txBox="1">
            <a:spLocks noChangeArrowheads="1"/>
          </p:cNvSpPr>
          <p:nvPr/>
        </p:nvSpPr>
        <p:spPr bwMode="auto">
          <a:xfrm>
            <a:off x="1524000" y="2209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44" name="Text Box 22"/>
          <p:cNvSpPr txBox="1">
            <a:spLocks noChangeArrowheads="1"/>
          </p:cNvSpPr>
          <p:nvPr/>
        </p:nvSpPr>
        <p:spPr bwMode="auto">
          <a:xfrm>
            <a:off x="838200" y="2743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345" name="Text Box 23"/>
          <p:cNvSpPr txBox="1">
            <a:spLocks noChangeArrowheads="1"/>
          </p:cNvSpPr>
          <p:nvPr/>
        </p:nvSpPr>
        <p:spPr bwMode="auto">
          <a:xfrm>
            <a:off x="1600200" y="3276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346" name="Text Box 24"/>
          <p:cNvSpPr txBox="1">
            <a:spLocks noChangeArrowheads="1"/>
          </p:cNvSpPr>
          <p:nvPr/>
        </p:nvSpPr>
        <p:spPr bwMode="auto">
          <a:xfrm>
            <a:off x="2209800" y="2667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347" name="Text Box 25"/>
          <p:cNvSpPr txBox="1">
            <a:spLocks noChangeArrowheads="1"/>
          </p:cNvSpPr>
          <p:nvPr/>
        </p:nvSpPr>
        <p:spPr bwMode="auto">
          <a:xfrm>
            <a:off x="914400" y="3810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48" name="Text Box 26"/>
          <p:cNvSpPr txBox="1">
            <a:spLocks noChangeArrowheads="1"/>
          </p:cNvSpPr>
          <p:nvPr/>
        </p:nvSpPr>
        <p:spPr bwMode="auto">
          <a:xfrm>
            <a:off x="2209800" y="3810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49" name="Text Box 27"/>
          <p:cNvSpPr txBox="1">
            <a:spLocks noChangeArrowheads="1"/>
          </p:cNvSpPr>
          <p:nvPr/>
        </p:nvSpPr>
        <p:spPr bwMode="auto">
          <a:xfrm>
            <a:off x="990600" y="228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50" name="Text Box 28"/>
          <p:cNvSpPr txBox="1">
            <a:spLocks noChangeArrowheads="1"/>
          </p:cNvSpPr>
          <p:nvPr/>
        </p:nvSpPr>
        <p:spPr bwMode="auto">
          <a:xfrm>
            <a:off x="1981200" y="2286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51" name="Text Box 29"/>
          <p:cNvSpPr txBox="1">
            <a:spLocks noChangeArrowheads="1"/>
          </p:cNvSpPr>
          <p:nvPr/>
        </p:nvSpPr>
        <p:spPr bwMode="auto">
          <a:xfrm>
            <a:off x="1752600" y="2743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52" name="Text Box 30"/>
          <p:cNvSpPr txBox="1">
            <a:spLocks noChangeArrowheads="1"/>
          </p:cNvSpPr>
          <p:nvPr/>
        </p:nvSpPr>
        <p:spPr bwMode="auto">
          <a:xfrm>
            <a:off x="1295400" y="2971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53" name="Text Box 31"/>
          <p:cNvSpPr txBox="1">
            <a:spLocks noChangeArrowheads="1"/>
          </p:cNvSpPr>
          <p:nvPr/>
        </p:nvSpPr>
        <p:spPr bwMode="auto">
          <a:xfrm>
            <a:off x="2057400" y="3048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54" name="Text Box 32"/>
          <p:cNvSpPr txBox="1">
            <a:spLocks noChangeArrowheads="1"/>
          </p:cNvSpPr>
          <p:nvPr/>
        </p:nvSpPr>
        <p:spPr bwMode="auto">
          <a:xfrm>
            <a:off x="762000" y="3124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355" name="Text Box 33"/>
          <p:cNvSpPr txBox="1">
            <a:spLocks noChangeArrowheads="1"/>
          </p:cNvSpPr>
          <p:nvPr/>
        </p:nvSpPr>
        <p:spPr bwMode="auto">
          <a:xfrm>
            <a:off x="1143000" y="3429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56" name="Text Box 34"/>
          <p:cNvSpPr txBox="1">
            <a:spLocks noChangeArrowheads="1"/>
          </p:cNvSpPr>
          <p:nvPr/>
        </p:nvSpPr>
        <p:spPr bwMode="auto">
          <a:xfrm>
            <a:off x="1600200" y="3733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57" name="Text Box 35"/>
          <p:cNvSpPr txBox="1">
            <a:spLocks noChangeArrowheads="1"/>
          </p:cNvSpPr>
          <p:nvPr/>
        </p:nvSpPr>
        <p:spPr bwMode="auto">
          <a:xfrm>
            <a:off x="1905000" y="35814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358" name="Text Box 36"/>
          <p:cNvSpPr txBox="1">
            <a:spLocks noChangeArrowheads="1"/>
          </p:cNvSpPr>
          <p:nvPr/>
        </p:nvSpPr>
        <p:spPr bwMode="auto">
          <a:xfrm>
            <a:off x="2438400" y="3124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359" name="Oval 37"/>
          <p:cNvSpPr>
            <a:spLocks noChangeArrowheads="1"/>
          </p:cNvSpPr>
          <p:nvPr/>
        </p:nvSpPr>
        <p:spPr bwMode="auto">
          <a:xfrm>
            <a:off x="3962400" y="2209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0" name="Oval 38"/>
          <p:cNvSpPr>
            <a:spLocks noChangeArrowheads="1"/>
          </p:cNvSpPr>
          <p:nvPr/>
        </p:nvSpPr>
        <p:spPr bwMode="auto">
          <a:xfrm>
            <a:off x="3276600" y="2743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1" name="Oval 39"/>
          <p:cNvSpPr>
            <a:spLocks noChangeArrowheads="1"/>
          </p:cNvSpPr>
          <p:nvPr/>
        </p:nvSpPr>
        <p:spPr bwMode="auto">
          <a:xfrm>
            <a:off x="4648200" y="2667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2" name="Oval 40"/>
          <p:cNvSpPr>
            <a:spLocks noChangeArrowheads="1"/>
          </p:cNvSpPr>
          <p:nvPr/>
        </p:nvSpPr>
        <p:spPr bwMode="auto">
          <a:xfrm>
            <a:off x="4038600" y="3276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3" name="Oval 41"/>
          <p:cNvSpPr>
            <a:spLocks noChangeArrowheads="1"/>
          </p:cNvSpPr>
          <p:nvPr/>
        </p:nvSpPr>
        <p:spPr bwMode="auto">
          <a:xfrm>
            <a:off x="3276600" y="3810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4" name="Oval 42"/>
          <p:cNvSpPr>
            <a:spLocks noChangeArrowheads="1"/>
          </p:cNvSpPr>
          <p:nvPr/>
        </p:nvSpPr>
        <p:spPr bwMode="auto">
          <a:xfrm>
            <a:off x="4648200" y="3810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65" name="Line 43"/>
          <p:cNvSpPr>
            <a:spLocks noChangeShapeType="1"/>
          </p:cNvSpPr>
          <p:nvPr/>
        </p:nvSpPr>
        <p:spPr bwMode="auto">
          <a:xfrm>
            <a:off x="4191000" y="25908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66" name="Text Box 44"/>
          <p:cNvSpPr txBox="1">
            <a:spLocks noChangeArrowheads="1"/>
          </p:cNvSpPr>
          <p:nvPr/>
        </p:nvSpPr>
        <p:spPr bwMode="auto">
          <a:xfrm>
            <a:off x="3962400" y="2209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67" name="Text Box 45"/>
          <p:cNvSpPr txBox="1">
            <a:spLocks noChangeArrowheads="1"/>
          </p:cNvSpPr>
          <p:nvPr/>
        </p:nvSpPr>
        <p:spPr bwMode="auto">
          <a:xfrm>
            <a:off x="3276600" y="2743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368" name="Text Box 46"/>
          <p:cNvSpPr txBox="1">
            <a:spLocks noChangeArrowheads="1"/>
          </p:cNvSpPr>
          <p:nvPr/>
        </p:nvSpPr>
        <p:spPr bwMode="auto">
          <a:xfrm>
            <a:off x="4038600" y="3276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369" name="Text Box 47"/>
          <p:cNvSpPr txBox="1">
            <a:spLocks noChangeArrowheads="1"/>
          </p:cNvSpPr>
          <p:nvPr/>
        </p:nvSpPr>
        <p:spPr bwMode="auto">
          <a:xfrm>
            <a:off x="4724400" y="2667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370" name="Text Box 48"/>
          <p:cNvSpPr txBox="1">
            <a:spLocks noChangeArrowheads="1"/>
          </p:cNvSpPr>
          <p:nvPr/>
        </p:nvSpPr>
        <p:spPr bwMode="auto">
          <a:xfrm>
            <a:off x="3276600" y="3810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71" name="Text Box 49"/>
          <p:cNvSpPr txBox="1">
            <a:spLocks noChangeArrowheads="1"/>
          </p:cNvSpPr>
          <p:nvPr/>
        </p:nvSpPr>
        <p:spPr bwMode="auto">
          <a:xfrm>
            <a:off x="4648200" y="3810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72" name="Text Box 50"/>
          <p:cNvSpPr txBox="1">
            <a:spLocks noChangeArrowheads="1"/>
          </p:cNvSpPr>
          <p:nvPr/>
        </p:nvSpPr>
        <p:spPr bwMode="auto">
          <a:xfrm>
            <a:off x="4191000" y="2743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73" name="Oval 51"/>
          <p:cNvSpPr>
            <a:spLocks noChangeArrowheads="1"/>
          </p:cNvSpPr>
          <p:nvPr/>
        </p:nvSpPr>
        <p:spPr bwMode="auto">
          <a:xfrm>
            <a:off x="1447800" y="4419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4" name="Oval 52"/>
          <p:cNvSpPr>
            <a:spLocks noChangeArrowheads="1"/>
          </p:cNvSpPr>
          <p:nvPr/>
        </p:nvSpPr>
        <p:spPr bwMode="auto">
          <a:xfrm>
            <a:off x="762000" y="4953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5" name="Oval 53"/>
          <p:cNvSpPr>
            <a:spLocks noChangeArrowheads="1"/>
          </p:cNvSpPr>
          <p:nvPr/>
        </p:nvSpPr>
        <p:spPr bwMode="auto">
          <a:xfrm>
            <a:off x="2133600" y="4876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6" name="Oval 54"/>
          <p:cNvSpPr>
            <a:spLocks noChangeArrowheads="1"/>
          </p:cNvSpPr>
          <p:nvPr/>
        </p:nvSpPr>
        <p:spPr bwMode="auto">
          <a:xfrm>
            <a:off x="1524000" y="54864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7" name="Oval 55"/>
          <p:cNvSpPr>
            <a:spLocks noChangeArrowheads="1"/>
          </p:cNvSpPr>
          <p:nvPr/>
        </p:nvSpPr>
        <p:spPr bwMode="auto">
          <a:xfrm>
            <a:off x="762000" y="6019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8" name="Oval 56"/>
          <p:cNvSpPr>
            <a:spLocks noChangeArrowheads="1"/>
          </p:cNvSpPr>
          <p:nvPr/>
        </p:nvSpPr>
        <p:spPr bwMode="auto">
          <a:xfrm>
            <a:off x="2133600" y="6019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79" name="Line 57"/>
          <p:cNvSpPr>
            <a:spLocks noChangeShapeType="1"/>
          </p:cNvSpPr>
          <p:nvPr/>
        </p:nvSpPr>
        <p:spPr bwMode="auto">
          <a:xfrm>
            <a:off x="990600" y="5334000"/>
            <a:ext cx="0" cy="685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80" name="Line 58"/>
          <p:cNvSpPr>
            <a:spLocks noChangeShapeType="1"/>
          </p:cNvSpPr>
          <p:nvPr/>
        </p:nvSpPr>
        <p:spPr bwMode="auto">
          <a:xfrm>
            <a:off x="2362200" y="52578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81" name="Line 59"/>
          <p:cNvSpPr>
            <a:spLocks noChangeShapeType="1"/>
          </p:cNvSpPr>
          <p:nvPr/>
        </p:nvSpPr>
        <p:spPr bwMode="auto">
          <a:xfrm>
            <a:off x="1676400" y="48006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82" name="Text Box 60"/>
          <p:cNvSpPr txBox="1">
            <a:spLocks noChangeArrowheads="1"/>
          </p:cNvSpPr>
          <p:nvPr/>
        </p:nvSpPr>
        <p:spPr bwMode="auto">
          <a:xfrm>
            <a:off x="1447800" y="4419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83" name="Text Box 61"/>
          <p:cNvSpPr txBox="1">
            <a:spLocks noChangeArrowheads="1"/>
          </p:cNvSpPr>
          <p:nvPr/>
        </p:nvSpPr>
        <p:spPr bwMode="auto">
          <a:xfrm>
            <a:off x="838200" y="4953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384" name="Text Box 62"/>
          <p:cNvSpPr txBox="1">
            <a:spLocks noChangeArrowheads="1"/>
          </p:cNvSpPr>
          <p:nvPr/>
        </p:nvSpPr>
        <p:spPr bwMode="auto">
          <a:xfrm>
            <a:off x="1524000" y="5486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385" name="Text Box 63"/>
          <p:cNvSpPr txBox="1">
            <a:spLocks noChangeArrowheads="1"/>
          </p:cNvSpPr>
          <p:nvPr/>
        </p:nvSpPr>
        <p:spPr bwMode="auto">
          <a:xfrm>
            <a:off x="2133600" y="4876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386" name="Text Box 64"/>
          <p:cNvSpPr txBox="1">
            <a:spLocks noChangeArrowheads="1"/>
          </p:cNvSpPr>
          <p:nvPr/>
        </p:nvSpPr>
        <p:spPr bwMode="auto">
          <a:xfrm>
            <a:off x="838200" y="6019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387" name="Text Box 65"/>
          <p:cNvSpPr txBox="1">
            <a:spLocks noChangeArrowheads="1"/>
          </p:cNvSpPr>
          <p:nvPr/>
        </p:nvSpPr>
        <p:spPr bwMode="auto">
          <a:xfrm>
            <a:off x="2133600" y="5943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388" name="Text Box 66"/>
          <p:cNvSpPr txBox="1">
            <a:spLocks noChangeArrowheads="1"/>
          </p:cNvSpPr>
          <p:nvPr/>
        </p:nvSpPr>
        <p:spPr bwMode="auto">
          <a:xfrm>
            <a:off x="1676400" y="4953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389" name="Text Box 67"/>
          <p:cNvSpPr txBox="1">
            <a:spLocks noChangeArrowheads="1"/>
          </p:cNvSpPr>
          <p:nvPr/>
        </p:nvSpPr>
        <p:spPr bwMode="auto">
          <a:xfrm>
            <a:off x="685800" y="5334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390" name="Text Box 68"/>
          <p:cNvSpPr txBox="1">
            <a:spLocks noChangeArrowheads="1"/>
          </p:cNvSpPr>
          <p:nvPr/>
        </p:nvSpPr>
        <p:spPr bwMode="auto">
          <a:xfrm>
            <a:off x="2362200" y="5334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391" name="Oval 69"/>
          <p:cNvSpPr>
            <a:spLocks noChangeArrowheads="1"/>
          </p:cNvSpPr>
          <p:nvPr/>
        </p:nvSpPr>
        <p:spPr bwMode="auto">
          <a:xfrm>
            <a:off x="6858000" y="2362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2" name="Oval 70"/>
          <p:cNvSpPr>
            <a:spLocks noChangeArrowheads="1"/>
          </p:cNvSpPr>
          <p:nvPr/>
        </p:nvSpPr>
        <p:spPr bwMode="auto">
          <a:xfrm>
            <a:off x="6172200" y="2895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3" name="Oval 71"/>
          <p:cNvSpPr>
            <a:spLocks noChangeArrowheads="1"/>
          </p:cNvSpPr>
          <p:nvPr/>
        </p:nvSpPr>
        <p:spPr bwMode="auto">
          <a:xfrm>
            <a:off x="7543800" y="28194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4" name="Oval 72"/>
          <p:cNvSpPr>
            <a:spLocks noChangeArrowheads="1"/>
          </p:cNvSpPr>
          <p:nvPr/>
        </p:nvSpPr>
        <p:spPr bwMode="auto">
          <a:xfrm>
            <a:off x="6934200" y="3429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5" name="Oval 73"/>
          <p:cNvSpPr>
            <a:spLocks noChangeArrowheads="1"/>
          </p:cNvSpPr>
          <p:nvPr/>
        </p:nvSpPr>
        <p:spPr bwMode="auto">
          <a:xfrm>
            <a:off x="6172200" y="3886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6" name="Oval 74"/>
          <p:cNvSpPr>
            <a:spLocks noChangeArrowheads="1"/>
          </p:cNvSpPr>
          <p:nvPr/>
        </p:nvSpPr>
        <p:spPr bwMode="auto">
          <a:xfrm>
            <a:off x="7620000" y="3886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397" name="Line 75"/>
          <p:cNvSpPr>
            <a:spLocks noChangeShapeType="1"/>
          </p:cNvSpPr>
          <p:nvPr/>
        </p:nvSpPr>
        <p:spPr bwMode="auto">
          <a:xfrm>
            <a:off x="7772400" y="3200400"/>
            <a:ext cx="0" cy="685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98" name="Line 76"/>
          <p:cNvSpPr>
            <a:spLocks noChangeShapeType="1"/>
          </p:cNvSpPr>
          <p:nvPr/>
        </p:nvSpPr>
        <p:spPr bwMode="auto">
          <a:xfrm>
            <a:off x="7086600" y="27432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99" name="Text Box 77"/>
          <p:cNvSpPr txBox="1">
            <a:spLocks noChangeArrowheads="1"/>
          </p:cNvSpPr>
          <p:nvPr/>
        </p:nvSpPr>
        <p:spPr bwMode="auto">
          <a:xfrm>
            <a:off x="6858000" y="2362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00" name="Text Box 78"/>
          <p:cNvSpPr txBox="1">
            <a:spLocks noChangeArrowheads="1"/>
          </p:cNvSpPr>
          <p:nvPr/>
        </p:nvSpPr>
        <p:spPr bwMode="auto">
          <a:xfrm>
            <a:off x="6248400" y="2895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01" name="Text Box 79"/>
          <p:cNvSpPr txBox="1">
            <a:spLocks noChangeArrowheads="1"/>
          </p:cNvSpPr>
          <p:nvPr/>
        </p:nvSpPr>
        <p:spPr bwMode="auto">
          <a:xfrm>
            <a:off x="6934200" y="3429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402" name="Text Box 80"/>
          <p:cNvSpPr txBox="1">
            <a:spLocks noChangeArrowheads="1"/>
          </p:cNvSpPr>
          <p:nvPr/>
        </p:nvSpPr>
        <p:spPr bwMode="auto">
          <a:xfrm>
            <a:off x="7620000" y="2819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403" name="Text Box 81"/>
          <p:cNvSpPr txBox="1">
            <a:spLocks noChangeArrowheads="1"/>
          </p:cNvSpPr>
          <p:nvPr/>
        </p:nvSpPr>
        <p:spPr bwMode="auto">
          <a:xfrm>
            <a:off x="6172200" y="3886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404" name="Text Box 82"/>
          <p:cNvSpPr txBox="1">
            <a:spLocks noChangeArrowheads="1"/>
          </p:cNvSpPr>
          <p:nvPr/>
        </p:nvSpPr>
        <p:spPr bwMode="auto">
          <a:xfrm>
            <a:off x="7696200" y="3886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405" name="Text Box 83"/>
          <p:cNvSpPr txBox="1">
            <a:spLocks noChangeArrowheads="1"/>
          </p:cNvSpPr>
          <p:nvPr/>
        </p:nvSpPr>
        <p:spPr bwMode="auto">
          <a:xfrm>
            <a:off x="7086600" y="2895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06" name="Text Box 84"/>
          <p:cNvSpPr txBox="1">
            <a:spLocks noChangeArrowheads="1"/>
          </p:cNvSpPr>
          <p:nvPr/>
        </p:nvSpPr>
        <p:spPr bwMode="auto">
          <a:xfrm>
            <a:off x="7772400" y="3276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07" name="Oval 85"/>
          <p:cNvSpPr>
            <a:spLocks noChangeArrowheads="1"/>
          </p:cNvSpPr>
          <p:nvPr/>
        </p:nvSpPr>
        <p:spPr bwMode="auto">
          <a:xfrm>
            <a:off x="4114800" y="4419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08" name="Oval 86"/>
          <p:cNvSpPr>
            <a:spLocks noChangeArrowheads="1"/>
          </p:cNvSpPr>
          <p:nvPr/>
        </p:nvSpPr>
        <p:spPr bwMode="auto">
          <a:xfrm>
            <a:off x="3352800" y="4876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09" name="Oval 87"/>
          <p:cNvSpPr>
            <a:spLocks noChangeArrowheads="1"/>
          </p:cNvSpPr>
          <p:nvPr/>
        </p:nvSpPr>
        <p:spPr bwMode="auto">
          <a:xfrm>
            <a:off x="4724400" y="4800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10" name="Oval 88"/>
          <p:cNvSpPr>
            <a:spLocks noChangeArrowheads="1"/>
          </p:cNvSpPr>
          <p:nvPr/>
        </p:nvSpPr>
        <p:spPr bwMode="auto">
          <a:xfrm>
            <a:off x="4114800" y="5410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11" name="Oval 89"/>
          <p:cNvSpPr>
            <a:spLocks noChangeArrowheads="1"/>
          </p:cNvSpPr>
          <p:nvPr/>
        </p:nvSpPr>
        <p:spPr bwMode="auto">
          <a:xfrm>
            <a:off x="3352800" y="5943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12" name="Oval 90"/>
          <p:cNvSpPr>
            <a:spLocks noChangeArrowheads="1"/>
          </p:cNvSpPr>
          <p:nvPr/>
        </p:nvSpPr>
        <p:spPr bwMode="auto">
          <a:xfrm>
            <a:off x="4724400" y="5943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13" name="Line 91"/>
          <p:cNvSpPr>
            <a:spLocks noChangeShapeType="1"/>
          </p:cNvSpPr>
          <p:nvPr/>
        </p:nvSpPr>
        <p:spPr bwMode="auto">
          <a:xfrm>
            <a:off x="3581400" y="5257800"/>
            <a:ext cx="0" cy="685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14" name="Line 92"/>
          <p:cNvSpPr>
            <a:spLocks noChangeShapeType="1"/>
          </p:cNvSpPr>
          <p:nvPr/>
        </p:nvSpPr>
        <p:spPr bwMode="auto">
          <a:xfrm>
            <a:off x="4953000" y="51816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15" name="Line 93"/>
          <p:cNvSpPr>
            <a:spLocks noChangeShapeType="1"/>
          </p:cNvSpPr>
          <p:nvPr/>
        </p:nvSpPr>
        <p:spPr bwMode="auto">
          <a:xfrm>
            <a:off x="4267200" y="4800600"/>
            <a:ext cx="0" cy="685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16" name="Line 94"/>
          <p:cNvSpPr>
            <a:spLocks noChangeShapeType="1"/>
          </p:cNvSpPr>
          <p:nvPr/>
        </p:nvSpPr>
        <p:spPr bwMode="auto">
          <a:xfrm>
            <a:off x="4495800" y="5715000"/>
            <a:ext cx="228600" cy="304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17" name="Text Box 95"/>
          <p:cNvSpPr txBox="1">
            <a:spLocks noChangeArrowheads="1"/>
          </p:cNvSpPr>
          <p:nvPr/>
        </p:nvSpPr>
        <p:spPr bwMode="auto">
          <a:xfrm>
            <a:off x="4191000" y="4419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18" name="Text Box 96"/>
          <p:cNvSpPr txBox="1">
            <a:spLocks noChangeArrowheads="1"/>
          </p:cNvSpPr>
          <p:nvPr/>
        </p:nvSpPr>
        <p:spPr bwMode="auto">
          <a:xfrm>
            <a:off x="3429000" y="4876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19" name="Text Box 97"/>
          <p:cNvSpPr txBox="1">
            <a:spLocks noChangeArrowheads="1"/>
          </p:cNvSpPr>
          <p:nvPr/>
        </p:nvSpPr>
        <p:spPr bwMode="auto">
          <a:xfrm>
            <a:off x="4114800" y="5410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420" name="Text Box 98"/>
          <p:cNvSpPr txBox="1">
            <a:spLocks noChangeArrowheads="1"/>
          </p:cNvSpPr>
          <p:nvPr/>
        </p:nvSpPr>
        <p:spPr bwMode="auto">
          <a:xfrm>
            <a:off x="4800600" y="4800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421" name="Text Box 99"/>
          <p:cNvSpPr txBox="1">
            <a:spLocks noChangeArrowheads="1"/>
          </p:cNvSpPr>
          <p:nvPr/>
        </p:nvSpPr>
        <p:spPr bwMode="auto">
          <a:xfrm>
            <a:off x="3429000" y="5943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422" name="Text Box 100"/>
          <p:cNvSpPr txBox="1">
            <a:spLocks noChangeArrowheads="1"/>
          </p:cNvSpPr>
          <p:nvPr/>
        </p:nvSpPr>
        <p:spPr bwMode="auto">
          <a:xfrm>
            <a:off x="4724400" y="5943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423" name="Text Box 101"/>
          <p:cNvSpPr txBox="1">
            <a:spLocks noChangeArrowheads="1"/>
          </p:cNvSpPr>
          <p:nvPr/>
        </p:nvSpPr>
        <p:spPr bwMode="auto">
          <a:xfrm>
            <a:off x="4267200" y="4876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24" name="Text Box 102"/>
          <p:cNvSpPr txBox="1">
            <a:spLocks noChangeArrowheads="1"/>
          </p:cNvSpPr>
          <p:nvPr/>
        </p:nvSpPr>
        <p:spPr bwMode="auto">
          <a:xfrm>
            <a:off x="3276600" y="5257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425" name="Text Box 103"/>
          <p:cNvSpPr txBox="1">
            <a:spLocks noChangeArrowheads="1"/>
          </p:cNvSpPr>
          <p:nvPr/>
        </p:nvSpPr>
        <p:spPr bwMode="auto">
          <a:xfrm>
            <a:off x="4419600" y="5715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426" name="Text Box 104"/>
          <p:cNvSpPr txBox="1">
            <a:spLocks noChangeArrowheads="1"/>
          </p:cNvSpPr>
          <p:nvPr/>
        </p:nvSpPr>
        <p:spPr bwMode="auto">
          <a:xfrm>
            <a:off x="4953000" y="5257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27" name="Oval 105"/>
          <p:cNvSpPr>
            <a:spLocks noChangeArrowheads="1"/>
          </p:cNvSpPr>
          <p:nvPr/>
        </p:nvSpPr>
        <p:spPr bwMode="auto">
          <a:xfrm>
            <a:off x="6705600" y="44958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28" name="Oval 106"/>
          <p:cNvSpPr>
            <a:spLocks noChangeArrowheads="1"/>
          </p:cNvSpPr>
          <p:nvPr/>
        </p:nvSpPr>
        <p:spPr bwMode="auto">
          <a:xfrm>
            <a:off x="6019800" y="50292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29" name="Oval 107"/>
          <p:cNvSpPr>
            <a:spLocks noChangeArrowheads="1"/>
          </p:cNvSpPr>
          <p:nvPr/>
        </p:nvSpPr>
        <p:spPr bwMode="auto">
          <a:xfrm>
            <a:off x="7391400" y="4953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30" name="Oval 108"/>
          <p:cNvSpPr>
            <a:spLocks noChangeArrowheads="1"/>
          </p:cNvSpPr>
          <p:nvPr/>
        </p:nvSpPr>
        <p:spPr bwMode="auto">
          <a:xfrm>
            <a:off x="6781800" y="55626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31" name="Oval 109"/>
          <p:cNvSpPr>
            <a:spLocks noChangeArrowheads="1"/>
          </p:cNvSpPr>
          <p:nvPr/>
        </p:nvSpPr>
        <p:spPr bwMode="auto">
          <a:xfrm>
            <a:off x="6019800" y="6096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32" name="Oval 110"/>
          <p:cNvSpPr>
            <a:spLocks noChangeArrowheads="1"/>
          </p:cNvSpPr>
          <p:nvPr/>
        </p:nvSpPr>
        <p:spPr bwMode="auto">
          <a:xfrm>
            <a:off x="7391400" y="6096000"/>
            <a:ext cx="381000" cy="3810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6433" name="Line 111"/>
          <p:cNvSpPr>
            <a:spLocks noChangeShapeType="1"/>
          </p:cNvSpPr>
          <p:nvPr/>
        </p:nvSpPr>
        <p:spPr bwMode="auto">
          <a:xfrm>
            <a:off x="6248400" y="5410200"/>
            <a:ext cx="0" cy="685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34" name="Line 112"/>
          <p:cNvSpPr>
            <a:spLocks noChangeShapeType="1"/>
          </p:cNvSpPr>
          <p:nvPr/>
        </p:nvSpPr>
        <p:spPr bwMode="auto">
          <a:xfrm>
            <a:off x="7620000" y="53340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35" name="Line 113"/>
          <p:cNvSpPr>
            <a:spLocks noChangeShapeType="1"/>
          </p:cNvSpPr>
          <p:nvPr/>
        </p:nvSpPr>
        <p:spPr bwMode="auto">
          <a:xfrm>
            <a:off x="6934200" y="4876800"/>
            <a:ext cx="0" cy="762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36" name="Line 114"/>
          <p:cNvSpPr>
            <a:spLocks noChangeShapeType="1"/>
          </p:cNvSpPr>
          <p:nvPr/>
        </p:nvSpPr>
        <p:spPr bwMode="auto">
          <a:xfrm>
            <a:off x="6400800" y="5334000"/>
            <a:ext cx="381000" cy="3810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37" name="Line 115"/>
          <p:cNvSpPr>
            <a:spLocks noChangeShapeType="1"/>
          </p:cNvSpPr>
          <p:nvPr/>
        </p:nvSpPr>
        <p:spPr bwMode="auto">
          <a:xfrm>
            <a:off x="7162800" y="5867400"/>
            <a:ext cx="228600" cy="30480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38" name="Text Box 116"/>
          <p:cNvSpPr txBox="1">
            <a:spLocks noChangeArrowheads="1"/>
          </p:cNvSpPr>
          <p:nvPr/>
        </p:nvSpPr>
        <p:spPr bwMode="auto">
          <a:xfrm>
            <a:off x="6705600" y="4495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39" name="Text Box 117"/>
          <p:cNvSpPr txBox="1">
            <a:spLocks noChangeArrowheads="1"/>
          </p:cNvSpPr>
          <p:nvPr/>
        </p:nvSpPr>
        <p:spPr bwMode="auto">
          <a:xfrm>
            <a:off x="6096000" y="5029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40" name="Text Box 118"/>
          <p:cNvSpPr txBox="1">
            <a:spLocks noChangeArrowheads="1"/>
          </p:cNvSpPr>
          <p:nvPr/>
        </p:nvSpPr>
        <p:spPr bwMode="auto">
          <a:xfrm>
            <a:off x="6781800" y="5562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441" name="Text Box 119"/>
          <p:cNvSpPr txBox="1">
            <a:spLocks noChangeArrowheads="1"/>
          </p:cNvSpPr>
          <p:nvPr/>
        </p:nvSpPr>
        <p:spPr bwMode="auto">
          <a:xfrm>
            <a:off x="7391400" y="4953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442" name="Text Box 120"/>
          <p:cNvSpPr txBox="1">
            <a:spLocks noChangeArrowheads="1"/>
          </p:cNvSpPr>
          <p:nvPr/>
        </p:nvSpPr>
        <p:spPr bwMode="auto">
          <a:xfrm>
            <a:off x="6096000" y="609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443" name="Text Box 121"/>
          <p:cNvSpPr txBox="1">
            <a:spLocks noChangeArrowheads="1"/>
          </p:cNvSpPr>
          <p:nvPr/>
        </p:nvSpPr>
        <p:spPr bwMode="auto">
          <a:xfrm>
            <a:off x="7467600" y="609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56444" name="Text Box 122"/>
          <p:cNvSpPr txBox="1">
            <a:spLocks noChangeArrowheads="1"/>
          </p:cNvSpPr>
          <p:nvPr/>
        </p:nvSpPr>
        <p:spPr bwMode="auto">
          <a:xfrm>
            <a:off x="6934200" y="5029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56445" name="Text Box 123"/>
          <p:cNvSpPr txBox="1">
            <a:spLocks noChangeArrowheads="1"/>
          </p:cNvSpPr>
          <p:nvPr/>
        </p:nvSpPr>
        <p:spPr bwMode="auto">
          <a:xfrm>
            <a:off x="6400800" y="5181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56446" name="Text Box 124"/>
          <p:cNvSpPr txBox="1">
            <a:spLocks noChangeArrowheads="1"/>
          </p:cNvSpPr>
          <p:nvPr/>
        </p:nvSpPr>
        <p:spPr bwMode="auto">
          <a:xfrm>
            <a:off x="5943600" y="541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56447" name="Text Box 125"/>
          <p:cNvSpPr txBox="1">
            <a:spLocks noChangeArrowheads="1"/>
          </p:cNvSpPr>
          <p:nvPr/>
        </p:nvSpPr>
        <p:spPr bwMode="auto">
          <a:xfrm>
            <a:off x="7086600" y="5943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56448" name="Text Box 126"/>
          <p:cNvSpPr txBox="1">
            <a:spLocks noChangeArrowheads="1"/>
          </p:cNvSpPr>
          <p:nvPr/>
        </p:nvSpPr>
        <p:spPr bwMode="auto">
          <a:xfrm>
            <a:off x="7620000" y="5410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56449" name="Line 127"/>
          <p:cNvSpPr>
            <a:spLocks noChangeShapeType="1"/>
          </p:cNvSpPr>
          <p:nvPr/>
        </p:nvSpPr>
        <p:spPr bwMode="auto">
          <a:xfrm>
            <a:off x="457200" y="4343400"/>
            <a:ext cx="7848600" cy="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50" name="Line 128"/>
          <p:cNvSpPr>
            <a:spLocks noChangeShapeType="1"/>
          </p:cNvSpPr>
          <p:nvPr/>
        </p:nvSpPr>
        <p:spPr bwMode="auto">
          <a:xfrm>
            <a:off x="2971800" y="1981200"/>
            <a:ext cx="0" cy="441960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451" name="Line 129"/>
          <p:cNvSpPr>
            <a:spLocks noChangeShapeType="1"/>
          </p:cNvSpPr>
          <p:nvPr/>
        </p:nvSpPr>
        <p:spPr bwMode="auto">
          <a:xfrm>
            <a:off x="5638800" y="1981200"/>
            <a:ext cx="0" cy="441960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 name="文本框 1"/>
          <p:cNvSpPr txBox="1"/>
          <p:nvPr/>
        </p:nvSpPr>
        <p:spPr>
          <a:xfrm>
            <a:off x="2819401" y="1270209"/>
            <a:ext cx="6019800" cy="707886"/>
          </a:xfrm>
          <a:prstGeom prst="rect">
            <a:avLst/>
          </a:prstGeom>
          <a:noFill/>
          <a:ln>
            <a:solidFill>
              <a:schemeClr val="accent1"/>
            </a:solidFill>
          </a:ln>
        </p:spPr>
        <p:txBody>
          <a:bodyPr wrap="square" rtlCol="0">
            <a:spAutoFit/>
          </a:bodyPr>
          <a:lstStyle/>
          <a:p>
            <a:r>
              <a:rPr lang="en-US" altLang="zh-CN" sz="2000" dirty="0" err="1">
                <a:latin typeface="Times New Roman" panose="02020603050405020304" pitchFamily="18" charset="0"/>
                <a:ea typeface="华文楷体" panose="02010600040101010101" pitchFamily="2" charset="-122"/>
              </a:rPr>
              <a:t>Kruskal</a:t>
            </a:r>
            <a:r>
              <a:rPr lang="zh-CN" altLang="en-US" sz="2000" dirty="0">
                <a:latin typeface="Times New Roman" panose="02020603050405020304" pitchFamily="18" charset="0"/>
                <a:ea typeface="华文楷体" panose="02010600040101010101" pitchFamily="2" charset="-122"/>
              </a:rPr>
              <a:t>算法找轻边</a:t>
            </a:r>
            <a:r>
              <a:rPr lang="en-US" altLang="zh-CN" sz="2000" dirty="0">
                <a:latin typeface="Times New Roman" panose="02020603050405020304" pitchFamily="18" charset="0"/>
                <a:ea typeface="华文楷体" panose="02010600040101010101" pitchFamily="2" charset="-122"/>
              </a:rPr>
              <a:t>/</a:t>
            </a:r>
            <a:r>
              <a:rPr lang="zh-CN" altLang="en-US" sz="2000" dirty="0">
                <a:latin typeface="Times New Roman" panose="02020603050405020304" pitchFamily="18" charset="0"/>
                <a:ea typeface="华文楷体" panose="02010600040101010101" pitchFamily="2" charset="-122"/>
              </a:rPr>
              <a:t>安全边的</a:t>
            </a:r>
            <a:r>
              <a:rPr lang="zh-CN" altLang="en-US" sz="2000" b="1" dirty="0">
                <a:solidFill>
                  <a:srgbClr val="FF0000"/>
                </a:solidFill>
                <a:latin typeface="Times New Roman" panose="02020603050405020304" pitchFamily="18" charset="0"/>
                <a:ea typeface="华文楷体" panose="02010600040101010101" pitchFamily="2" charset="-122"/>
              </a:rPr>
              <a:t>贪心策略</a:t>
            </a:r>
            <a:r>
              <a:rPr lang="zh-CN" altLang="en-US" sz="2000" dirty="0" smtClean="0">
                <a:latin typeface="Times New Roman" panose="02020603050405020304" pitchFamily="18" charset="0"/>
                <a:ea typeface="华文楷体" panose="02010600040101010101" pitchFamily="2" charset="-122"/>
              </a:rPr>
              <a:t>是</a:t>
            </a:r>
            <a:r>
              <a:rPr lang="en-US" altLang="zh-CN" sz="2000" dirty="0" smtClean="0">
                <a:latin typeface="Times New Roman" panose="02020603050405020304" pitchFamily="18" charset="0"/>
                <a:ea typeface="华文楷体" panose="02010600040101010101" pitchFamily="2" charset="-122"/>
              </a:rPr>
              <a:t>:</a:t>
            </a:r>
            <a:r>
              <a:rPr lang="zh-CN" altLang="en-US" sz="2000" dirty="0" smtClean="0">
                <a:latin typeface="Times New Roman" panose="02020603050405020304" pitchFamily="18" charset="0"/>
                <a:ea typeface="华文楷体" panose="02010600040101010101" pitchFamily="2" charset="-122"/>
              </a:rPr>
              <a:t>在所有能连接森林中两棵不同树的边中选择权重</a:t>
            </a:r>
            <a:r>
              <a:rPr lang="zh-CN" altLang="en-US" sz="2000" dirty="0">
                <a:latin typeface="Times New Roman" panose="02020603050405020304" pitchFamily="18" charset="0"/>
                <a:ea typeface="华文楷体" panose="02010600040101010101" pitchFamily="2" charset="-122"/>
              </a:rPr>
              <a:t>最小的边</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u,v</a:t>
            </a:r>
            <a:r>
              <a:rPr lang="en-US" altLang="zh-CN" sz="2000" dirty="0">
                <a:latin typeface="Times New Roman" panose="02020603050405020304" pitchFamily="18" charset="0"/>
                <a:ea typeface="华文楷体" panose="02010600040101010101" pitchFamily="2" charset="-122"/>
              </a:rPr>
              <a:t>)</a:t>
            </a:r>
            <a:endParaRPr lang="zh-CN" altLang="en-US" sz="20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573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7349" name="Rectangle 3"/>
          <p:cNvSpPr>
            <a:spLocks noChangeArrowheads="1"/>
          </p:cNvSpPr>
          <p:nvPr/>
        </p:nvSpPr>
        <p:spPr bwMode="auto">
          <a:xfrm>
            <a:off x="609600" y="9144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Verdana" panose="020B0604030504040204" pitchFamily="34" charset="0"/>
                <a:ea typeface="华文楷体" panose="02010600040101010101" pitchFamily="2" charset="-122"/>
              </a:rPr>
              <a:t>[</a:t>
            </a:r>
            <a:r>
              <a:rPr lang="zh-CN" altLang="en-US" sz="2400" b="1" dirty="0">
                <a:solidFill>
                  <a:srgbClr val="996600"/>
                </a:solidFill>
                <a:latin typeface="Verdana" panose="020B0604030504040204" pitchFamily="34" charset="0"/>
                <a:ea typeface="华文楷体" panose="02010600040101010101" pitchFamily="2" charset="-122"/>
              </a:rPr>
              <a:t>算法步骤</a:t>
            </a:r>
            <a:r>
              <a:rPr lang="en-US" altLang="zh-CN" sz="2400" b="1" dirty="0">
                <a:solidFill>
                  <a:srgbClr val="996600"/>
                </a:solidFill>
                <a:latin typeface="Verdana" panose="020B0604030504040204" pitchFamily="34" charset="0"/>
                <a:ea typeface="华文楷体" panose="02010600040101010101" pitchFamily="2" charset="-122"/>
              </a:rPr>
              <a:t>]</a:t>
            </a:r>
            <a:endParaRPr lang="en-US" altLang="zh-CN" sz="2400" b="1" dirty="0">
              <a:solidFill>
                <a:srgbClr val="996600"/>
              </a:solidFill>
              <a:latin typeface="Verdana" panose="020B0604030504040204" pitchFamily="34" charset="0"/>
              <a:ea typeface="华文楷体" panose="02010600040101010101" pitchFamily="2" charset="-122"/>
            </a:endParaRPr>
          </a:p>
        </p:txBody>
      </p:sp>
      <p:sp>
        <p:nvSpPr>
          <p:cNvPr id="57350" name="Rectangle 4"/>
          <p:cNvSpPr>
            <a:spLocks noGrp="1" noChangeArrowheads="1"/>
          </p:cNvSpPr>
          <p:nvPr>
            <p:ph type="body" idx="1"/>
          </p:nvPr>
        </p:nvSpPr>
        <p:spPr>
          <a:xfrm>
            <a:off x="609600" y="1676400"/>
            <a:ext cx="8077200" cy="4724400"/>
          </a:xfrm>
          <a:noFill/>
        </p:spPr>
        <p:txBody>
          <a:bodyPr/>
          <a:lstStyle/>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初始化</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：顶点集</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所有顶点，每个独立的顶点作为一棵树，边集</a:t>
            </a:r>
            <a:r>
              <a:rPr lang="en-US" altLang="zh-CN" sz="2400" dirty="0" smtClean="0">
                <a:ea typeface="华文楷体" panose="02010600040101010101" pitchFamily="2" charset="-122"/>
              </a:rPr>
              <a:t>=ø</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O(n)</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依权值递增序对图</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的边排序，结果为</a:t>
            </a:r>
            <a:r>
              <a:rPr lang="en-US" altLang="zh-CN" sz="2400" dirty="0" smtClean="0">
                <a:ea typeface="华文楷体" panose="02010600040101010101" pitchFamily="2" charset="-122"/>
              </a:rPr>
              <a:t>E[1..e]    O(</a:t>
            </a:r>
            <a:r>
              <a:rPr lang="en-US" altLang="zh-CN" sz="2400" dirty="0" err="1" smtClean="0">
                <a:ea typeface="华文楷体" panose="02010600040101010101" pitchFamily="2" charset="-122"/>
              </a:rPr>
              <a:t>elge</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3) </a:t>
            </a:r>
            <a:r>
              <a:rPr lang="zh-CN" altLang="en-US" sz="2400" dirty="0" smtClean="0">
                <a:ea typeface="华文楷体" panose="02010600040101010101" pitchFamily="2" charset="-122"/>
              </a:rPr>
              <a:t>依次检测</a:t>
            </a:r>
            <a:r>
              <a:rPr lang="en-US" altLang="zh-CN" sz="2400" dirty="0" smtClean="0">
                <a:ea typeface="华文楷体" panose="02010600040101010101" pitchFamily="2" charset="-122"/>
              </a:rPr>
              <a:t>E</a:t>
            </a:r>
            <a:r>
              <a:rPr lang="zh-CN" altLang="en-US" sz="2400" dirty="0" smtClean="0">
                <a:ea typeface="华文楷体" panose="02010600040101010101" pitchFamily="2" charset="-122"/>
              </a:rPr>
              <a:t>中的各边</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u,v</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O(</a:t>
            </a:r>
            <a:r>
              <a:rPr lang="en-US" altLang="zh-CN" sz="2400" dirty="0" err="1" smtClean="0">
                <a:ea typeface="华文楷体" panose="02010600040101010101" pitchFamily="2" charset="-122"/>
              </a:rPr>
              <a:t>elge</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3.1) </a:t>
            </a:r>
            <a:r>
              <a:rPr lang="zh-CN" altLang="en-US" sz="2400" dirty="0" smtClean="0">
                <a:ea typeface="华文楷体" panose="02010600040101010101" pitchFamily="2" charset="-122"/>
              </a:rPr>
              <a:t>若</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分属于</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中两棵不同的树，则将该边加入</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，并合并</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分属的两棵树</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3.2) </a:t>
            </a:r>
            <a:r>
              <a:rPr lang="zh-CN" altLang="en-US" sz="2400" dirty="0" smtClean="0">
                <a:ea typeface="华文楷体" panose="02010600040101010101" pitchFamily="2" charset="-122"/>
              </a:rPr>
              <a:t>若</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中所有顶点尚未属于一棵树，转</a:t>
            </a:r>
            <a:r>
              <a:rPr lang="en-US" altLang="zh-CN" sz="2400" dirty="0" smtClean="0">
                <a:ea typeface="华文楷体" panose="02010600040101010101" pitchFamily="2" charset="-122"/>
              </a:rPr>
              <a:t>3)</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 [</a:t>
            </a:r>
            <a:r>
              <a:rPr lang="zh-CN" altLang="en-US" sz="2400" b="1" dirty="0" smtClean="0">
                <a:solidFill>
                  <a:schemeClr val="accent2"/>
                </a:solidFill>
                <a:ea typeface="华文楷体" panose="02010600040101010101" pitchFamily="2" charset="-122"/>
              </a:rPr>
              <a:t>算法特点</a:t>
            </a:r>
            <a:r>
              <a:rPr lang="en-US" altLang="zh-CN" sz="2400" b="1" dirty="0" smtClean="0">
                <a:solidFill>
                  <a:schemeClr val="accent2"/>
                </a:solidFill>
                <a:ea typeface="华文楷体" panose="02010600040101010101" pitchFamily="2" charset="-122"/>
              </a:rPr>
              <a:t>]</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适用于稀疏图</a:t>
            </a:r>
            <a:endParaRPr lang="zh-CN" altLang="en-US" sz="2400" dirty="0" smtClean="0">
              <a:ea typeface="华文楷体" panose="02010600040101010101" pitchFamily="2" charset="-122"/>
            </a:endParaRPr>
          </a:p>
        </p:txBody>
      </p:sp>
      <p:sp>
        <p:nvSpPr>
          <p:cNvPr id="57351" name="Line 5"/>
          <p:cNvSpPr>
            <a:spLocks noChangeShapeType="1"/>
          </p:cNvSpPr>
          <p:nvPr/>
        </p:nvSpPr>
        <p:spPr bwMode="auto">
          <a:xfrm>
            <a:off x="762000" y="4419600"/>
            <a:ext cx="75438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52" name="Text Box 6"/>
          <p:cNvSpPr txBox="1">
            <a:spLocks noChangeArrowheads="1"/>
          </p:cNvSpPr>
          <p:nvPr/>
        </p:nvSpPr>
        <p:spPr bwMode="auto">
          <a:xfrm>
            <a:off x="7086600" y="4876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chemeClr val="accent2"/>
                </a:solidFill>
                <a:latin typeface="Times New Roman" panose="02020603050405020304" pitchFamily="18" charset="0"/>
                <a:ea typeface="华文楷体" panose="02010600040101010101" pitchFamily="2" charset="-122"/>
              </a:rPr>
              <a:t>O(</a:t>
            </a:r>
            <a:r>
              <a:rPr kumimoji="1" lang="en-US" altLang="zh-CN" sz="2400" b="1" dirty="0" err="1">
                <a:solidFill>
                  <a:schemeClr val="accent2"/>
                </a:solidFill>
                <a:latin typeface="Times New Roman" panose="02020603050405020304" pitchFamily="18" charset="0"/>
                <a:ea typeface="华文楷体" panose="02010600040101010101" pitchFamily="2" charset="-122"/>
              </a:rPr>
              <a:t>elge</a:t>
            </a:r>
            <a:r>
              <a:rPr kumimoji="1" lang="en-US" altLang="zh-CN" sz="2400" b="1" dirty="0">
                <a:solidFill>
                  <a:schemeClr val="accent2"/>
                </a:solidFill>
                <a:latin typeface="Times New Roman" panose="02020603050405020304" pitchFamily="18" charset="0"/>
                <a:ea typeface="华文楷体" panose="02010600040101010101" pitchFamily="2" charset="-122"/>
              </a:rPr>
              <a:t>)</a:t>
            </a:r>
            <a:endParaRPr kumimoji="1" lang="en-US" altLang="zh-CN" sz="2800" dirty="0">
              <a:solidFill>
                <a:schemeClr val="accent1"/>
              </a:solidFill>
              <a:latin typeface="Times New Roman" panose="02020603050405020304" pitchFamily="18" charset="0"/>
              <a:ea typeface="华文楷体" panose="02010600040101010101" pitchFamily="2" charset="-122"/>
            </a:endParaRPr>
          </a:p>
        </p:txBody>
      </p:sp>
      <p:sp>
        <p:nvSpPr>
          <p:cNvPr id="2" name="文本框 1"/>
          <p:cNvSpPr txBox="1"/>
          <p:nvPr/>
        </p:nvSpPr>
        <p:spPr>
          <a:xfrm>
            <a:off x="2057400" y="5334000"/>
            <a:ext cx="3877985" cy="923330"/>
          </a:xfrm>
          <a:prstGeom prst="rect">
            <a:avLst/>
          </a:prstGeom>
          <a:noFill/>
          <a:ln>
            <a:solidFill>
              <a:schemeClr val="accent1"/>
            </a:solidFill>
          </a:ln>
        </p:spPr>
        <p:txBody>
          <a:bodyPr wrap="none" rtlCol="0">
            <a:spAutoFit/>
          </a:bodyPr>
          <a:lstStyle/>
          <a:p>
            <a:r>
              <a:rPr lang="en-US" altLang="zh-CN" dirty="0" err="1" smtClean="0">
                <a:latin typeface="Times New Roman" panose="02020603050405020304" pitchFamily="18" charset="0"/>
                <a:ea typeface="华文楷体" panose="02010600040101010101" pitchFamily="2" charset="-122"/>
              </a:rPr>
              <a:t>kruskal</a:t>
            </a:r>
            <a:r>
              <a:rPr lang="zh-CN" altLang="en-US" dirty="0" smtClean="0">
                <a:latin typeface="Times New Roman" panose="02020603050405020304" pitchFamily="18" charset="0"/>
                <a:ea typeface="华文楷体" panose="02010600040101010101" pitchFamily="2" charset="-122"/>
              </a:rPr>
              <a:t>算法中要解决的关键问题：</a:t>
            </a:r>
            <a:endParaRPr lang="en-US" altLang="zh-CN" dirty="0" smtClean="0">
              <a:latin typeface="Times New Roman" panose="02020603050405020304" pitchFamily="18" charset="0"/>
              <a:ea typeface="华文楷体" panose="02010600040101010101" pitchFamily="2" charset="-122"/>
            </a:endParaRPr>
          </a:p>
          <a:p>
            <a:r>
              <a:rPr lang="zh-CN" altLang="en-US" dirty="0" smtClean="0">
                <a:latin typeface="宋体" panose="02010600030101010101" pitchFamily="2" charset="-122"/>
              </a:rPr>
              <a:t>①</a:t>
            </a:r>
            <a:r>
              <a:rPr lang="zh-CN" altLang="en-US" dirty="0" smtClean="0">
                <a:latin typeface="Times New Roman" panose="02020603050405020304" pitchFamily="18" charset="0"/>
                <a:ea typeface="华文楷体" panose="02010600040101010101" pitchFamily="2" charset="-122"/>
              </a:rPr>
              <a:t>如何为所有边排序：小根堆</a:t>
            </a:r>
            <a:endParaRPr lang="en-US" altLang="zh-CN" dirty="0" smtClean="0">
              <a:latin typeface="Times New Roman" panose="02020603050405020304" pitchFamily="18" charset="0"/>
              <a:ea typeface="华文楷体" panose="02010600040101010101" pitchFamily="2" charset="-122"/>
            </a:endParaRPr>
          </a:p>
          <a:p>
            <a:r>
              <a:rPr lang="zh-CN" altLang="en-US" dirty="0">
                <a:latin typeface="宋体" panose="02010600030101010101" pitchFamily="2" charset="-122"/>
              </a:rPr>
              <a:t>②</a:t>
            </a:r>
            <a:r>
              <a:rPr lang="zh-CN" altLang="en-US" dirty="0" smtClean="0">
                <a:latin typeface="Times New Roman" panose="02020603050405020304" pitchFamily="18" charset="0"/>
                <a:ea typeface="华文楷体" panose="02010600040101010101" pitchFamily="2" charset="-122"/>
              </a:rPr>
              <a:t>如何把两棵树合并成一棵：并查集</a:t>
            </a:r>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BUPT SCST</a:t>
            </a:r>
            <a:endParaRPr lang="en-US" altLang="zh-CN"/>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593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758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en-US" altLang="zh-CN" sz="2400" b="1" dirty="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利用小根堆和并查集来实现</a:t>
            </a:r>
            <a:r>
              <a:rPr lang="en-US" altLang="zh-CN" sz="2400" b="1" dirty="0" err="1" smtClean="0">
                <a:solidFill>
                  <a:schemeClr val="accent2"/>
                </a:solidFill>
                <a:ea typeface="华文楷体" panose="02010600040101010101" pitchFamily="2" charset="-122"/>
              </a:rPr>
              <a:t>kruskal</a:t>
            </a:r>
            <a:r>
              <a:rPr lang="zh-CN" altLang="en-US" sz="2400" b="1" dirty="0" smtClean="0">
                <a:solidFill>
                  <a:schemeClr val="accent2"/>
                </a:solidFill>
                <a:ea typeface="华文楷体" panose="02010600040101010101" pitchFamily="2" charset="-122"/>
              </a:rPr>
              <a:t>算法</a:t>
            </a:r>
            <a:r>
              <a:rPr lang="en-US" altLang="zh-CN" sz="2400" b="1" dirty="0" smtClean="0">
                <a:solidFill>
                  <a:schemeClr val="accent2"/>
                </a:solidFill>
                <a:ea typeface="华文楷体" panose="02010600040101010101" pitchFamily="2" charset="-122"/>
              </a:rPr>
              <a:t>]</a:t>
            </a:r>
            <a:endParaRPr lang="zh-CN" altLang="en-US" sz="2400" b="1" dirty="0" smtClean="0">
              <a:solidFill>
                <a:schemeClr val="accent2"/>
              </a:solidFill>
              <a:ea typeface="华文楷体" panose="02010600040101010101" pitchFamily="2" charset="-122"/>
            </a:endParaRPr>
          </a:p>
          <a:p>
            <a:pPr marL="0" indent="0" eaLnBrk="1" hangingPunct="1">
              <a:lnSpc>
                <a:spcPct val="90000"/>
              </a:lnSpc>
              <a:buNone/>
              <a:defRPr/>
            </a:pPr>
            <a:r>
              <a:rPr lang="zh-CN" altLang="en-US" sz="2400" dirty="0" smtClean="0">
                <a:ea typeface="宋体" panose="02010600030101010101" pitchFamily="2" charset="-122"/>
                <a:cs typeface="Times New Roman" panose="02020603050405020304" pitchFamily="18" charset="0"/>
              </a:rPr>
              <a:t>①</a:t>
            </a:r>
            <a:r>
              <a:rPr lang="zh-CN" altLang="en-US" sz="2400" dirty="0" smtClean="0">
                <a:ea typeface="华文楷体" panose="02010600040101010101" pitchFamily="2" charset="-122"/>
              </a:rPr>
              <a:t>首先，利用小根堆来存放</a:t>
            </a:r>
            <a:r>
              <a:rPr lang="en-US" altLang="zh-CN" sz="2400" dirty="0" smtClean="0">
                <a:ea typeface="华文楷体" panose="02010600040101010101" pitchFamily="2" charset="-122"/>
              </a:rPr>
              <a:t>E</a:t>
            </a:r>
            <a:r>
              <a:rPr lang="zh-CN" altLang="en-US" sz="2400" dirty="0" smtClean="0">
                <a:ea typeface="华文楷体" panose="02010600040101010101" pitchFamily="2" charset="-122"/>
              </a:rPr>
              <a:t>中的所有的边</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堆中每个结点的格式为</a:t>
            </a:r>
            <a:endParaRPr lang="zh-CN" altLang="en-US" sz="2400" dirty="0" smtClean="0">
              <a:ea typeface="华文楷体" panose="02010600040101010101" pitchFamily="2" charset="-122"/>
            </a:endParaRPr>
          </a:p>
          <a:p>
            <a:pPr eaLnBrk="1" hangingPunct="1">
              <a:lnSpc>
                <a:spcPct val="90000"/>
              </a:lnSpc>
              <a:defRPr/>
            </a:pPr>
            <a:endParaRPr lang="zh-CN" altLang="en-US" sz="2400" dirty="0" smtClean="0">
              <a:ea typeface="华文楷体" panose="02010600040101010101" pitchFamily="2" charset="-122"/>
            </a:endParaRPr>
          </a:p>
          <a:p>
            <a:pPr eaLnBrk="1" hangingPunct="1">
              <a:lnSpc>
                <a:spcPct val="90000"/>
              </a:lnSpc>
              <a:defRPr/>
            </a:pPr>
            <a:endParaRPr lang="zh-CN" altLang="en-US" sz="2400" dirty="0" smtClean="0">
              <a:ea typeface="华文楷体" panose="02010600040101010101" pitchFamily="2" charset="-122"/>
            </a:endParaRPr>
          </a:p>
          <a:p>
            <a:pPr eaLnBrk="1" hangingPunct="1">
              <a:lnSpc>
                <a:spcPct val="90000"/>
              </a:lnSpc>
              <a:defRPr/>
            </a:pPr>
            <a:endParaRPr lang="zh-CN" altLang="en-US" sz="2400" dirty="0" smtClean="0">
              <a:ea typeface="华文楷体" panose="02010600040101010101" pitchFamily="2" charset="-122"/>
            </a:endParaRPr>
          </a:p>
          <a:p>
            <a:pPr marL="0" indent="0" eaLnBrk="1" hangingPunct="1">
              <a:lnSpc>
                <a:spcPct val="90000"/>
              </a:lnSpc>
              <a:buNone/>
              <a:defRPr/>
            </a:pPr>
            <a:r>
              <a:rPr lang="zh-CN" altLang="en-US" sz="2400" dirty="0" smtClean="0">
                <a:ea typeface="华文楷体" panose="02010600040101010101" pitchFamily="2" charset="-122"/>
                <a:cs typeface="Times New Roman" panose="02020603050405020304" pitchFamily="18" charset="0"/>
              </a:rPr>
              <a:t>②</a:t>
            </a:r>
            <a:r>
              <a:rPr lang="zh-CN" altLang="en-US" sz="2400" dirty="0" smtClean="0">
                <a:ea typeface="华文楷体" panose="02010600040101010101" pitchFamily="2" charset="-122"/>
              </a:rPr>
              <a:t>在构造最小生成树的过程中，小根堆中存放剩余的边，并且利用并查集的运算检查依附于一条边的两个顶点 </a:t>
            </a:r>
            <a:r>
              <a:rPr lang="en-US" altLang="zh-CN" sz="2400" dirty="0" smtClean="0">
                <a:ea typeface="华文楷体" panose="02010600040101010101" pitchFamily="2" charset="-122"/>
              </a:rPr>
              <a:t>tail</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head </a:t>
            </a:r>
            <a:r>
              <a:rPr lang="zh-CN" altLang="en-US" sz="2400" dirty="0" smtClean="0">
                <a:ea typeface="华文楷体" panose="02010600040101010101" pitchFamily="2" charset="-122"/>
              </a:rPr>
              <a:t>是否在同一个连通分量 </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即并查集的同一个子集合</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上</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是则舍去这条边；否则将此边加入 </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，同时将这两个顶点放在同一个连通分量上。随着各边逐步加入到最小生成树的边集合中，各连通分量也在逐步合并，直到形成一个连通分量为止。</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defRPr/>
            </a:pPr>
            <a:endParaRPr lang="zh-CN" altLang="en-US" sz="2800" b="1" dirty="0" smtClean="0">
              <a:effectLst>
                <a:outerShdw blurRad="38100" dist="38100" dir="2700000" algn="tl">
                  <a:srgbClr val="C0C0C0"/>
                </a:outerShdw>
              </a:effectLst>
              <a:latin typeface="Times New Roman" panose="02020603050405020304" pitchFamily="18" charset="0"/>
              <a:ea typeface="楷体_GB2312" pitchFamily="49" charset="-122"/>
            </a:endParaRPr>
          </a:p>
          <a:p>
            <a:pPr eaLnBrk="1" hangingPunct="1">
              <a:lnSpc>
                <a:spcPct val="90000"/>
              </a:lnSpc>
              <a:buFont typeface="Wingdings" panose="05000000000000000000" pitchFamily="2" charset="2"/>
              <a:buNone/>
              <a:defRPr/>
            </a:pPr>
            <a:endParaRPr lang="en-US" altLang="zh-CN" sz="2800" b="1" dirty="0" smtClean="0">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59398" name="Rectangle 4"/>
          <p:cNvSpPr>
            <a:spLocks noChangeArrowheads="1"/>
          </p:cNvSpPr>
          <p:nvPr/>
        </p:nvSpPr>
        <p:spPr bwMode="auto">
          <a:xfrm>
            <a:off x="1600200" y="2438400"/>
            <a:ext cx="7010400" cy="533400"/>
          </a:xfrm>
          <a:prstGeom prst="rect">
            <a:avLst/>
          </a:prstGeom>
          <a:solidFill>
            <a:srgbClr val="CCFFFF"/>
          </a:solidFill>
          <a:ln w="2857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800" b="1" i="1" dirty="0">
                <a:latin typeface="Times New Roman" panose="02020603050405020304" pitchFamily="18" charset="0"/>
                <a:ea typeface="隶书" panose="02010509060101010101" pitchFamily="49" charset="-122"/>
              </a:rPr>
              <a:t>       tail               head         </a:t>
            </a:r>
            <a:r>
              <a:rPr kumimoji="1" lang="en-US" altLang="zh-CN" sz="2800" b="1" i="1" dirty="0" smtClean="0">
                <a:latin typeface="Times New Roman" panose="02020603050405020304" pitchFamily="18" charset="0"/>
                <a:ea typeface="隶书" panose="02010509060101010101" pitchFamily="49" charset="-122"/>
              </a:rPr>
              <a:t>         </a:t>
            </a:r>
            <a:r>
              <a:rPr kumimoji="1" lang="en-US" altLang="zh-CN" sz="2800" b="1" i="1" dirty="0">
                <a:latin typeface="Times New Roman" panose="02020603050405020304" pitchFamily="18" charset="0"/>
                <a:ea typeface="隶书" panose="02010509060101010101" pitchFamily="49" charset="-122"/>
              </a:rPr>
              <a:t>cost</a:t>
            </a:r>
            <a:r>
              <a:rPr kumimoji="1" lang="en-US" altLang="zh-CN" sz="2800" b="1" dirty="0">
                <a:latin typeface="Times New Roman" panose="02020603050405020304" pitchFamily="18" charset="0"/>
                <a:ea typeface="隶书" panose="02010509060101010101" pitchFamily="49" charset="-122"/>
              </a:rPr>
              <a:t> </a:t>
            </a:r>
            <a:endParaRPr kumimoji="1" lang="en-US" altLang="zh-CN" sz="2800" b="1" dirty="0">
              <a:latin typeface="Times New Roman" panose="02020603050405020304" pitchFamily="18" charset="0"/>
              <a:ea typeface="隶书" panose="02010509060101010101" pitchFamily="49" charset="-122"/>
            </a:endParaRPr>
          </a:p>
        </p:txBody>
      </p:sp>
      <p:sp>
        <p:nvSpPr>
          <p:cNvPr id="59399" name="Text Box 5"/>
          <p:cNvSpPr txBox="1">
            <a:spLocks noChangeArrowheads="1"/>
          </p:cNvSpPr>
          <p:nvPr/>
        </p:nvSpPr>
        <p:spPr bwMode="auto">
          <a:xfrm>
            <a:off x="2133600" y="3001963"/>
            <a:ext cx="566693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en-US" sz="2400" b="1" dirty="0">
                <a:latin typeface="Times New Roman" panose="02020603050405020304" pitchFamily="18" charset="0"/>
                <a:ea typeface="隶书" panose="02010509060101010101" pitchFamily="49" charset="-122"/>
              </a:rPr>
              <a:t>边的两个顶点位置          </a:t>
            </a:r>
            <a:r>
              <a:rPr kumimoji="1" lang="zh-CN" altLang="en-US" sz="2400" b="1" dirty="0" smtClean="0">
                <a:latin typeface="Times New Roman" panose="02020603050405020304" pitchFamily="18" charset="0"/>
                <a:ea typeface="隶书" panose="02010509060101010101" pitchFamily="49" charset="-122"/>
              </a:rPr>
              <a:t>            边</a:t>
            </a:r>
            <a:r>
              <a:rPr kumimoji="1" lang="zh-CN" altLang="en-US" sz="2400" b="1" dirty="0">
                <a:latin typeface="Times New Roman" panose="02020603050405020304" pitchFamily="18" charset="0"/>
                <a:ea typeface="隶书" panose="02010509060101010101" pitchFamily="49" charset="-122"/>
              </a:rPr>
              <a:t>的权值</a:t>
            </a:r>
            <a:endParaRPr kumimoji="1" lang="zh-CN" altLang="en-US" sz="2400" b="1" dirty="0">
              <a:latin typeface="Times New Roman" panose="02020603050405020304" pitchFamily="18" charset="0"/>
              <a:ea typeface="隶书" panose="02010509060101010101" pitchFamily="49" charset="-122"/>
            </a:endParaRPr>
          </a:p>
        </p:txBody>
      </p:sp>
      <p:sp>
        <p:nvSpPr>
          <p:cNvPr id="59400" name="Line 6"/>
          <p:cNvSpPr>
            <a:spLocks noChangeShapeType="1"/>
          </p:cNvSpPr>
          <p:nvPr/>
        </p:nvSpPr>
        <p:spPr bwMode="auto">
          <a:xfrm>
            <a:off x="3810000" y="2438400"/>
            <a:ext cx="0" cy="5334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01" name="Line 7"/>
          <p:cNvSpPr>
            <a:spLocks noChangeShapeType="1"/>
          </p:cNvSpPr>
          <p:nvPr/>
        </p:nvSpPr>
        <p:spPr bwMode="auto">
          <a:xfrm>
            <a:off x="6172200" y="2438400"/>
            <a:ext cx="0" cy="5334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604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pic>
        <p:nvPicPr>
          <p:cNvPr id="6042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6200"/>
            <a:ext cx="9163050" cy="3352800"/>
          </a:xfrm>
          <a:prstGeom prst="rect">
            <a:avLst/>
          </a:prstGeom>
          <a:solidFill>
            <a:srgbClr val="CCFFFF"/>
          </a:solidFill>
          <a:ln w="15875">
            <a:solidFill>
              <a:srgbClr val="FF0000"/>
            </a:solidFill>
            <a:miter lim="800000"/>
            <a:headEnd/>
            <a:tailEnd/>
          </a:ln>
        </p:spPr>
      </p:pic>
      <p:pic>
        <p:nvPicPr>
          <p:cNvPr id="6042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52800"/>
            <a:ext cx="9163050" cy="3276600"/>
          </a:xfrm>
          <a:prstGeom prst="rect">
            <a:avLst/>
          </a:prstGeom>
          <a:solidFill>
            <a:srgbClr val="CCFFFF"/>
          </a:solidFill>
          <a:ln w="15875">
            <a:solidFill>
              <a:srgbClr val="FF0000"/>
            </a:solid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14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1445" name="Rectangle 3"/>
          <p:cNvSpPr>
            <a:spLocks noGrp="1" noChangeArrowheads="1"/>
          </p:cNvSpPr>
          <p:nvPr>
            <p:ph type="body" idx="1"/>
          </p:nvPr>
        </p:nvSpPr>
        <p:spPr>
          <a:xfrm>
            <a:off x="457200" y="1152525"/>
            <a:ext cx="8229600" cy="5553075"/>
          </a:xfrm>
          <a:ln>
            <a:solidFill>
              <a:schemeClr val="accent1"/>
            </a:solidFill>
          </a:ln>
        </p:spPr>
        <p:txBody>
          <a:bodyPr/>
          <a:lstStyle/>
          <a:p>
            <a:pPr eaLnBrk="1" hangingPunct="1">
              <a:lnSpc>
                <a:spcPct val="90000"/>
              </a:lnSpc>
              <a:buFont typeface="Wingdings" panose="05000000000000000000" pitchFamily="2" charset="2"/>
              <a:buNone/>
            </a:pPr>
            <a:r>
              <a:rPr kumimoji="1" lang="en-US" altLang="zh-CN" sz="1300" b="1" dirty="0" smtClean="0">
                <a:solidFill>
                  <a:srgbClr val="C00000"/>
                </a:solidFill>
                <a:ea typeface="华文楷体" panose="02010600040101010101" pitchFamily="2" charset="-122"/>
              </a:rPr>
              <a:t>[</a:t>
            </a:r>
            <a:r>
              <a:rPr kumimoji="1" lang="en-US" altLang="zh-CN" sz="1300" b="1" dirty="0" err="1" smtClean="0">
                <a:solidFill>
                  <a:srgbClr val="C00000"/>
                </a:solidFill>
                <a:ea typeface="华文楷体" panose="02010600040101010101" pitchFamily="2" charset="-122"/>
              </a:rPr>
              <a:t>kruskal</a:t>
            </a:r>
            <a:r>
              <a:rPr kumimoji="1" lang="zh-CN" altLang="en-US" sz="1300" b="1" dirty="0" smtClean="0">
                <a:solidFill>
                  <a:srgbClr val="C00000"/>
                </a:solidFill>
                <a:ea typeface="华文楷体" panose="02010600040101010101" pitchFamily="2" charset="-122"/>
              </a:rPr>
              <a:t>参考算法</a:t>
            </a:r>
            <a:r>
              <a:rPr kumimoji="1" lang="en-US" altLang="zh-CN" sz="1300" b="1" dirty="0" smtClean="0">
                <a:solidFill>
                  <a:srgbClr val="C00000"/>
                </a:solidFill>
                <a:ea typeface="华文楷体" panose="02010600040101010101" pitchFamily="2" charset="-122"/>
              </a:rPr>
              <a:t>]</a:t>
            </a:r>
            <a:endParaRPr kumimoji="1" lang="en-US" altLang="zh-CN" sz="1300" b="1" dirty="0" smtClean="0">
              <a:solidFill>
                <a:srgbClr val="C00000"/>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b="1" dirty="0" smtClean="0">
                <a:solidFill>
                  <a:schemeClr val="tx2"/>
                </a:solidFill>
                <a:ea typeface="华文楷体" panose="02010600040101010101" pitchFamily="2" charset="-122"/>
              </a:rPr>
              <a:t>void</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Graph</a:t>
            </a:r>
            <a:r>
              <a:rPr kumimoji="1" lang="en-US" altLang="zh-CN" sz="1300" b="1" dirty="0" smtClean="0">
                <a:solidFill>
                  <a:schemeClr val="tx2"/>
                </a:solidFill>
                <a:ea typeface="华文楷体" panose="02010600040101010101" pitchFamily="2" charset="-122"/>
              </a:rPr>
              <a:t>&lt;string</a:t>
            </a:r>
            <a:r>
              <a:rPr kumimoji="1" lang="en-US" altLang="zh-CN"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float&gt;::</a:t>
            </a:r>
            <a:endParaRPr kumimoji="1" lang="en-US" altLang="zh-CN" sz="1300" b="1"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i="1" dirty="0" err="1" smtClean="0">
                <a:solidFill>
                  <a:schemeClr val="tx2"/>
                </a:solidFill>
                <a:ea typeface="华文楷体" panose="02010600040101010101" pitchFamily="2" charset="-122"/>
              </a:rPr>
              <a:t>Kruskal</a:t>
            </a:r>
            <a:r>
              <a:rPr kumimoji="1" lang="en-US" altLang="zh-CN" sz="1300" dirty="0" smtClean="0">
                <a:solidFill>
                  <a:schemeClr val="tx2"/>
                </a:solidFill>
                <a:ea typeface="华文楷体" panose="02010600040101010101" pitchFamily="2" charset="-122"/>
              </a:rPr>
              <a:t> ( </a:t>
            </a:r>
            <a:r>
              <a:rPr kumimoji="1" lang="en-US" altLang="zh-CN" sz="1300" i="1" dirty="0" err="1" smtClean="0">
                <a:solidFill>
                  <a:schemeClr val="tx2"/>
                </a:solidFill>
                <a:ea typeface="华文楷体" panose="02010600040101010101" pitchFamily="2" charset="-122"/>
              </a:rPr>
              <a:t>MinSpanTree</a:t>
            </a:r>
            <a:r>
              <a:rPr kumimoji="1" lang="en-US" altLang="zh-CN"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&amp;</a:t>
            </a:r>
            <a:r>
              <a:rPr kumimoji="1" lang="en-US" altLang="zh-CN" sz="1300" i="1" dirty="0" smtClean="0">
                <a:solidFill>
                  <a:schemeClr val="tx2"/>
                </a:solidFill>
                <a:ea typeface="华文楷体" panose="02010600040101010101" pitchFamily="2" charset="-122"/>
              </a:rPr>
              <a:t>T</a:t>
            </a:r>
            <a:r>
              <a:rPr kumimoji="1" lang="en-US" altLang="zh-CN" sz="1300" dirty="0" smtClean="0">
                <a:solidFill>
                  <a:schemeClr val="tx2"/>
                </a:solidFill>
                <a:ea typeface="华文楷体" panose="02010600040101010101" pitchFamily="2" charset="-122"/>
              </a:rPr>
              <a:t> ) </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endParaRPr kumimoji="1" lang="en-US" altLang="zh-CN"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dirty="0" smtClean="0">
                <a:solidFill>
                  <a:schemeClr val="tx2"/>
                </a:solidFill>
                <a:ea typeface="华文楷体" panose="02010600040101010101" pitchFamily="2" charset="-122"/>
              </a:rPr>
              <a:t>    </a:t>
            </a:r>
            <a:r>
              <a:rPr kumimoji="1" lang="en-US" altLang="zh-CN" sz="1300" i="1" u="sng" dirty="0" err="1" smtClean="0">
                <a:solidFill>
                  <a:schemeClr val="tx2"/>
                </a:solidFill>
                <a:ea typeface="华文楷体" panose="02010600040101010101" pitchFamily="2" charset="-122"/>
              </a:rPr>
              <a:t>MSTEdgeNode</a:t>
            </a:r>
            <a:r>
              <a:rPr kumimoji="1" lang="en-US" altLang="zh-CN" sz="1300" i="1" u="sng" dirty="0" smtClean="0">
                <a:solidFill>
                  <a:schemeClr val="tx2"/>
                </a:solidFill>
                <a:ea typeface="华文楷体" panose="02010600040101010101" pitchFamily="2" charset="-122"/>
              </a:rPr>
              <a:t>  e</a:t>
            </a:r>
            <a:r>
              <a:rPr kumimoji="1" lang="en-US" altLang="zh-CN" sz="1300" b="1" dirty="0" smtClean="0">
                <a:solidFill>
                  <a:schemeClr val="tx2"/>
                </a:solidFill>
                <a:ea typeface="华文楷体" panose="02010600040101010101" pitchFamily="2" charset="-122"/>
              </a:rPr>
              <a:t>;                     </a:t>
            </a:r>
            <a:r>
              <a:rPr kumimoji="1" lang="en-US" altLang="zh-CN" sz="1300" b="1" dirty="0" smtClean="0">
                <a:ea typeface="华文楷体" panose="02010600040101010101" pitchFamily="2" charset="-122"/>
              </a:rPr>
              <a:t>//</a:t>
            </a:r>
            <a:r>
              <a:rPr kumimoji="1" lang="zh-CN" altLang="zh-CN" sz="1300" b="1" dirty="0" smtClean="0">
                <a:ea typeface="华文楷体" panose="02010600040101010101" pitchFamily="2" charset="-122"/>
              </a:rPr>
              <a:t>边结点辅助单元</a:t>
            </a:r>
            <a:endParaRPr kumimoji="1" lang="zh-CN" altLang="zh-CN" sz="1300" b="1" dirty="0" smtClean="0">
              <a:ea typeface="华文楷体" panose="02010600040101010101" pitchFamily="2" charset="-122"/>
            </a:endParaRPr>
          </a:p>
          <a:p>
            <a:pPr eaLnBrk="1" hangingPunct="1">
              <a:lnSpc>
                <a:spcPct val="90000"/>
              </a:lnSpc>
              <a:buFont typeface="Wingdings" panose="05000000000000000000" pitchFamily="2" charset="2"/>
              <a:buNone/>
            </a:pPr>
            <a:r>
              <a:rPr kumimoji="1" lang="zh-CN" altLang="zh-CN" sz="1300" b="1" dirty="0" smtClean="0">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MinHeap</a:t>
            </a:r>
            <a:r>
              <a:rPr kumimoji="1" lang="en-US" altLang="zh-CN" sz="1300" u="sng" dirty="0" smtClean="0">
                <a:solidFill>
                  <a:schemeClr val="tx2"/>
                </a:solidFill>
                <a:ea typeface="华文楷体" panose="02010600040101010101" pitchFamily="2" charset="-122"/>
              </a:rPr>
              <a:t>&lt;</a:t>
            </a:r>
            <a:r>
              <a:rPr kumimoji="1" lang="en-US" altLang="zh-CN" sz="1300" i="1" u="sng" dirty="0" err="1" smtClean="0">
                <a:solidFill>
                  <a:schemeClr val="tx2"/>
                </a:solidFill>
                <a:ea typeface="华文楷体" panose="02010600040101010101" pitchFamily="2" charset="-122"/>
              </a:rPr>
              <a:t>MstEdgeNode</a:t>
            </a:r>
            <a:r>
              <a:rPr kumimoji="1" lang="en-US" altLang="zh-CN" sz="1300" u="sng" dirty="0" smtClean="0">
                <a:solidFill>
                  <a:schemeClr val="tx2"/>
                </a:solidFill>
                <a:ea typeface="华文楷体" panose="02010600040101010101" pitchFamily="2" charset="-122"/>
              </a:rPr>
              <a:t>&gt;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H</a:t>
            </a:r>
            <a:r>
              <a:rPr kumimoji="1" lang="en-US" altLang="zh-CN" sz="1300" dirty="0" smtClean="0">
                <a:solidFill>
                  <a:schemeClr val="tx2"/>
                </a:solidFill>
                <a:ea typeface="华文楷体" panose="02010600040101010101" pitchFamily="2" charset="-122"/>
              </a:rPr>
              <a:t>(</a:t>
            </a:r>
            <a:r>
              <a:rPr kumimoji="1" lang="en-US" altLang="zh-CN" sz="1300" i="1" dirty="0" err="1" smtClean="0">
                <a:solidFill>
                  <a:schemeClr val="tx2"/>
                </a:solidFill>
                <a:ea typeface="华文楷体" panose="02010600040101010101" pitchFamily="2" charset="-122"/>
              </a:rPr>
              <a:t>CurrentEdges</a:t>
            </a:r>
            <a:r>
              <a:rPr kumimoji="1" lang="en-US" altLang="zh-CN" sz="1300" dirty="0" smtClean="0">
                <a:solidFill>
                  <a:schemeClr val="tx2"/>
                </a:solidFill>
                <a:ea typeface="华文楷体" panose="02010600040101010101" pitchFamily="2" charset="-122"/>
              </a:rPr>
              <a:t>)</a:t>
            </a:r>
            <a:r>
              <a:rPr kumimoji="1" lang="en-US" altLang="zh-CN" sz="1300" b="1" dirty="0" smtClean="0">
                <a:solidFill>
                  <a:schemeClr val="tx2"/>
                </a:solidFill>
                <a:ea typeface="华文楷体" panose="02010600040101010101" pitchFamily="2" charset="-122"/>
              </a:rPr>
              <a:t>;</a:t>
            </a:r>
            <a:endParaRPr kumimoji="1" lang="en-US" altLang="zh-CN" sz="1300" b="1"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 </a:t>
            </a:r>
            <a:r>
              <a:rPr kumimoji="1" lang="en-US" altLang="zh-CN" sz="1300" b="1" dirty="0" err="1" smtClean="0">
                <a:solidFill>
                  <a:schemeClr val="tx2"/>
                </a:solidFill>
                <a:ea typeface="华文楷体" panose="02010600040101010101" pitchFamily="2" charset="-122"/>
              </a:rPr>
              <a:t>int</a:t>
            </a:r>
            <a:r>
              <a:rPr kumimoji="1" lang="en-US" altLang="zh-CN" sz="1300" b="1" dirty="0" smtClean="0">
                <a:solidFill>
                  <a:schemeClr val="tx2"/>
                </a:solidFill>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NumVertices</a:t>
            </a:r>
            <a:r>
              <a:rPr kumimoji="1" lang="en-US" altLang="zh-CN" sz="1300" i="1" dirty="0" smtClean="0">
                <a:solidFill>
                  <a:schemeClr val="tx2"/>
                </a:solidFill>
                <a:ea typeface="华文楷体" panose="02010600040101010101" pitchFamily="2" charset="-122"/>
              </a:rPr>
              <a:t> = </a:t>
            </a:r>
            <a:r>
              <a:rPr kumimoji="1" lang="en-US" altLang="zh-CN" sz="1300" i="1" dirty="0" err="1" smtClean="0">
                <a:solidFill>
                  <a:schemeClr val="tx2"/>
                </a:solidFill>
                <a:ea typeface="华文楷体" panose="02010600040101010101" pitchFamily="2" charset="-122"/>
              </a:rPr>
              <a:t>VerticesList.last</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b="1" dirty="0" smtClean="0">
                <a:ea typeface="华文楷体" panose="02010600040101010101" pitchFamily="2" charset="-122"/>
              </a:rPr>
              <a:t>//</a:t>
            </a:r>
            <a:r>
              <a:rPr kumimoji="1" lang="zh-CN" altLang="zh-CN" sz="1300" b="1" dirty="0" smtClean="0">
                <a:ea typeface="华文楷体" panose="02010600040101010101" pitchFamily="2" charset="-122"/>
              </a:rPr>
              <a:t>顶点个数</a:t>
            </a:r>
            <a:endParaRPr kumimoji="1" lang="zh-CN" altLang="en-US"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zh-CN" altLang="en-US" sz="1300" dirty="0" smtClean="0">
                <a:solidFill>
                  <a:schemeClr val="tx2"/>
                </a:solidFill>
                <a:ea typeface="华文楷体" panose="02010600040101010101" pitchFamily="2" charset="-122"/>
              </a:rPr>
              <a:t>    </a:t>
            </a:r>
            <a:r>
              <a:rPr kumimoji="1" lang="en-US" altLang="zh-CN" sz="1300" i="1" u="sng" dirty="0" err="1" smtClean="0">
                <a:solidFill>
                  <a:schemeClr val="tx2"/>
                </a:solidFill>
                <a:ea typeface="华文楷体" panose="02010600040101010101" pitchFamily="2" charset="-122"/>
              </a:rPr>
              <a:t>UFSets</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F </a:t>
            </a:r>
            <a:r>
              <a:rPr kumimoji="1" lang="en-US" altLang="zh-CN" sz="1300" dirty="0" smtClean="0">
                <a:solidFill>
                  <a:schemeClr val="tx2"/>
                </a:solidFill>
                <a:ea typeface="华文楷体" panose="02010600040101010101" pitchFamily="2" charset="-122"/>
              </a:rPr>
              <a:t>(</a:t>
            </a:r>
            <a:r>
              <a:rPr kumimoji="1" lang="en-US" altLang="zh-CN" sz="1300" i="1" dirty="0" err="1" smtClean="0">
                <a:solidFill>
                  <a:schemeClr val="tx2"/>
                </a:solidFill>
                <a:ea typeface="华文楷体" panose="02010600040101010101" pitchFamily="2" charset="-122"/>
              </a:rPr>
              <a:t>NumVertices</a:t>
            </a:r>
            <a:r>
              <a:rPr kumimoji="1" lang="en-US" altLang="zh-CN" sz="1300" dirty="0" smtClean="0">
                <a:solidFill>
                  <a:schemeClr val="tx2"/>
                </a:solidFill>
                <a:ea typeface="华文楷体" panose="02010600040101010101" pitchFamily="2" charset="-122"/>
              </a:rPr>
              <a:t>)</a:t>
            </a:r>
            <a:r>
              <a:rPr kumimoji="1" lang="en-US" altLang="zh-CN" sz="1300" b="1" dirty="0" smtClean="0">
                <a:solidFill>
                  <a:schemeClr val="tx2"/>
                </a:solidFill>
                <a:ea typeface="华文楷体" panose="02010600040101010101" pitchFamily="2" charset="-122"/>
              </a:rPr>
              <a:t>;         </a:t>
            </a:r>
            <a:r>
              <a:rPr kumimoji="1" lang="en-US" altLang="zh-CN" sz="1300" b="1" dirty="0" smtClean="0">
                <a:ea typeface="华文楷体" panose="02010600040101010101" pitchFamily="2" charset="-122"/>
              </a:rPr>
              <a:t>//</a:t>
            </a:r>
            <a:r>
              <a:rPr kumimoji="1" lang="zh-CN" altLang="en-US" sz="1300" b="1" dirty="0" smtClean="0">
                <a:ea typeface="华文楷体" panose="02010600040101010101" pitchFamily="2" charset="-122"/>
              </a:rPr>
              <a:t>并查集</a:t>
            </a:r>
            <a:r>
              <a:rPr kumimoji="1" lang="en-US" altLang="zh-CN" sz="1300" b="1" i="1" dirty="0" smtClean="0">
                <a:solidFill>
                  <a:schemeClr val="tx2"/>
                </a:solidFill>
                <a:ea typeface="华文楷体" panose="02010600040101010101" pitchFamily="2" charset="-122"/>
              </a:rPr>
              <a:t>F </a:t>
            </a:r>
            <a:r>
              <a:rPr kumimoji="1" lang="zh-CN" altLang="en-US" sz="1300" b="1" dirty="0" smtClean="0">
                <a:ea typeface="华文楷体" panose="02010600040101010101" pitchFamily="2" charset="-122"/>
              </a:rPr>
              <a:t>并初始化</a:t>
            </a:r>
            <a:endParaRPr kumimoji="1" lang="zh-CN" altLang="en-US"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zh-CN" altLang="en-US" sz="1300" b="1"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for</a:t>
            </a:r>
            <a:r>
              <a:rPr kumimoji="1" lang="en-US" altLang="zh-CN"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 </a:t>
            </a:r>
            <a:r>
              <a:rPr kumimoji="1" lang="en-US" altLang="zh-CN" sz="1300" b="1" dirty="0" err="1" smtClean="0">
                <a:solidFill>
                  <a:schemeClr val="tx2"/>
                </a:solidFill>
                <a:ea typeface="华文楷体" panose="02010600040101010101" pitchFamily="2" charset="-122"/>
              </a:rPr>
              <a:t>int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u </a:t>
            </a:r>
            <a:r>
              <a:rPr kumimoji="1" lang="en-US" altLang="zh-CN" sz="1300" dirty="0" smtClean="0">
                <a:solidFill>
                  <a:schemeClr val="tx2"/>
                </a:solidFill>
                <a:ea typeface="华文楷体" panose="02010600040101010101" pitchFamily="2" charset="-122"/>
              </a:rPr>
              <a:t>= 0</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u </a:t>
            </a:r>
            <a:r>
              <a:rPr kumimoji="1" lang="en-US" altLang="zh-CN" sz="1300" dirty="0" smtClean="0">
                <a:solidFill>
                  <a:schemeClr val="tx2"/>
                </a:solidFill>
                <a:ea typeface="华文楷体" panose="02010600040101010101" pitchFamily="2" charset="-122"/>
              </a:rPr>
              <a:t>&lt; </a:t>
            </a:r>
            <a:r>
              <a:rPr kumimoji="1" lang="en-US" altLang="zh-CN" sz="1300" i="1" dirty="0" err="1" smtClean="0">
                <a:solidFill>
                  <a:schemeClr val="tx2"/>
                </a:solidFill>
                <a:ea typeface="华文楷体" panose="02010600040101010101" pitchFamily="2" charset="-122"/>
              </a:rPr>
              <a:t>NumVertices</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u</a:t>
            </a:r>
            <a:r>
              <a:rPr kumimoji="1" lang="en-US" altLang="zh-CN" sz="1300" dirty="0" smtClean="0">
                <a:solidFill>
                  <a:schemeClr val="tx2"/>
                </a:solidFill>
                <a:ea typeface="华文楷体" panose="02010600040101010101" pitchFamily="2" charset="-122"/>
              </a:rPr>
              <a:t>++ ) </a:t>
            </a:r>
            <a:r>
              <a:rPr kumimoji="1" lang="en-US" altLang="zh-CN" sz="1300" b="1" dirty="0" smtClean="0">
                <a:ea typeface="华文楷体" panose="02010600040101010101" pitchFamily="2" charset="-122"/>
              </a:rPr>
              <a:t>//</a:t>
            </a:r>
            <a:r>
              <a:rPr kumimoji="1" lang="zh-CN" altLang="en-US" sz="1300" b="1" dirty="0" smtClean="0">
                <a:ea typeface="华文楷体" panose="02010600040101010101" pitchFamily="2" charset="-122"/>
              </a:rPr>
              <a:t>邻接矩阵</a:t>
            </a:r>
            <a:endParaRPr kumimoji="1" lang="zh-CN" altLang="en-US"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zh-CN" altLang="en-US"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for</a:t>
            </a:r>
            <a:r>
              <a:rPr kumimoji="1" lang="en-US" altLang="zh-CN" sz="1300" dirty="0" smtClean="0">
                <a:solidFill>
                  <a:schemeClr val="tx2"/>
                </a:solidFill>
                <a:ea typeface="华文楷体" panose="02010600040101010101" pitchFamily="2" charset="-122"/>
              </a:rPr>
              <a:t> ( </a:t>
            </a:r>
            <a:r>
              <a:rPr kumimoji="1" lang="en-US" altLang="zh-CN" sz="1300" b="1" dirty="0" err="1" smtClean="0">
                <a:solidFill>
                  <a:schemeClr val="tx2"/>
                </a:solidFill>
                <a:ea typeface="华文楷体" panose="02010600040101010101" pitchFamily="2" charset="-122"/>
              </a:rPr>
              <a:t>int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v </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i</a:t>
            </a:r>
            <a:r>
              <a:rPr kumimoji="1" lang="en-US" altLang="zh-CN" sz="1300" dirty="0" smtClean="0">
                <a:solidFill>
                  <a:schemeClr val="tx2"/>
                </a:solidFill>
                <a:ea typeface="华文楷体" panose="02010600040101010101" pitchFamily="2" charset="-122"/>
              </a:rPr>
              <a:t>+1</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v </a:t>
            </a:r>
            <a:r>
              <a:rPr kumimoji="1" lang="en-US" altLang="zh-CN" sz="1300" dirty="0" smtClean="0">
                <a:solidFill>
                  <a:schemeClr val="tx2"/>
                </a:solidFill>
                <a:ea typeface="华文楷体" panose="02010600040101010101" pitchFamily="2" charset="-122"/>
              </a:rPr>
              <a:t>&lt; </a:t>
            </a:r>
            <a:r>
              <a:rPr kumimoji="1" lang="en-US" altLang="zh-CN" sz="1300" i="1" dirty="0" err="1" smtClean="0">
                <a:solidFill>
                  <a:schemeClr val="tx2"/>
                </a:solidFill>
                <a:ea typeface="华文楷体" panose="02010600040101010101" pitchFamily="2" charset="-122"/>
              </a:rPr>
              <a:t>NumVertices</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v</a:t>
            </a:r>
            <a:r>
              <a:rPr kumimoji="1" lang="en-US" altLang="zh-CN" sz="1300" dirty="0" smtClean="0">
                <a:solidFill>
                  <a:schemeClr val="tx2"/>
                </a:solidFill>
                <a:ea typeface="华文楷体" panose="02010600040101010101" pitchFamily="2" charset="-122"/>
              </a:rPr>
              <a:t>++ )</a:t>
            </a:r>
            <a:endParaRPr kumimoji="1" lang="en-US" altLang="zh-CN"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if</a:t>
            </a:r>
            <a:r>
              <a:rPr kumimoji="1" lang="en-US" altLang="zh-CN" sz="1300" dirty="0" smtClean="0">
                <a:solidFill>
                  <a:schemeClr val="tx2"/>
                </a:solidFill>
                <a:ea typeface="华文楷体" panose="02010600040101010101" pitchFamily="2" charset="-122"/>
              </a:rPr>
              <a:t> ( </a:t>
            </a:r>
            <a:r>
              <a:rPr kumimoji="1" lang="en-US" altLang="zh-CN" sz="1300" i="1" dirty="0" smtClean="0">
                <a:solidFill>
                  <a:schemeClr val="tx2"/>
                </a:solidFill>
                <a:ea typeface="华文楷体" panose="02010600040101010101" pitchFamily="2" charset="-122"/>
              </a:rPr>
              <a:t>Edge</a:t>
            </a:r>
            <a:r>
              <a:rPr kumimoji="1" lang="en-US" altLang="zh-CN" sz="1300" dirty="0" smtClean="0">
                <a:solidFill>
                  <a:schemeClr val="tx2"/>
                </a:solidFill>
                <a:ea typeface="华文楷体" panose="02010600040101010101" pitchFamily="2" charset="-122"/>
              </a:rPr>
              <a:t>[</a:t>
            </a:r>
            <a:r>
              <a:rPr kumimoji="1" lang="en-US" altLang="zh-CN" sz="1300" i="1" dirty="0" smtClean="0">
                <a:solidFill>
                  <a:schemeClr val="tx2"/>
                </a:solidFill>
                <a:ea typeface="华文楷体" panose="02010600040101010101" pitchFamily="2" charset="-122"/>
              </a:rPr>
              <a:t>u</a:t>
            </a:r>
            <a:r>
              <a:rPr kumimoji="1" lang="en-US" altLang="zh-CN" sz="1300" dirty="0" smtClean="0">
                <a:solidFill>
                  <a:schemeClr val="tx2"/>
                </a:solidFill>
                <a:ea typeface="华文楷体" panose="02010600040101010101" pitchFamily="2" charset="-122"/>
              </a:rPr>
              <a:t>][</a:t>
            </a:r>
            <a:r>
              <a:rPr kumimoji="1" lang="en-US" altLang="zh-CN" sz="1300" i="1" dirty="0" smtClean="0">
                <a:solidFill>
                  <a:schemeClr val="tx2"/>
                </a:solidFill>
                <a:ea typeface="华文楷体" panose="02010600040101010101" pitchFamily="2" charset="-122"/>
              </a:rPr>
              <a:t>v</a:t>
            </a:r>
            <a:r>
              <a:rPr kumimoji="1" lang="en-US" altLang="zh-CN" sz="1300" dirty="0" smtClean="0">
                <a:solidFill>
                  <a:schemeClr val="tx2"/>
                </a:solidFill>
                <a:ea typeface="华文楷体" panose="02010600040101010101" pitchFamily="2" charset="-122"/>
              </a:rPr>
              <a:t>] != </a:t>
            </a:r>
            <a:r>
              <a:rPr kumimoji="1" lang="en-US" altLang="zh-CN" sz="1300" b="1" dirty="0" smtClean="0">
                <a:solidFill>
                  <a:schemeClr val="tx2"/>
                </a:solidFill>
                <a:ea typeface="华文楷体" panose="02010600040101010101" pitchFamily="2" charset="-122"/>
              </a:rPr>
              <a:t>MAXINT</a:t>
            </a:r>
            <a:r>
              <a:rPr kumimoji="1" lang="en-US" altLang="zh-CN" sz="1300" dirty="0" smtClean="0">
                <a:solidFill>
                  <a:schemeClr val="tx2"/>
                </a:solidFill>
                <a:ea typeface="华文楷体" panose="02010600040101010101" pitchFamily="2" charset="-122"/>
              </a:rPr>
              <a:t> ) </a:t>
            </a:r>
            <a:r>
              <a:rPr kumimoji="1" lang="en-US" altLang="zh-CN" sz="1300" b="1" dirty="0" smtClean="0">
                <a:solidFill>
                  <a:schemeClr val="tx2"/>
                </a:solidFill>
                <a:ea typeface="华文楷体" panose="02010600040101010101" pitchFamily="2" charset="-122"/>
              </a:rPr>
              <a:t>{  </a:t>
            </a:r>
            <a:r>
              <a:rPr kumimoji="1" lang="en-US" altLang="zh-CN" sz="1300" b="1" dirty="0" smtClean="0">
                <a:ea typeface="华文楷体" panose="02010600040101010101" pitchFamily="2" charset="-122"/>
              </a:rPr>
              <a:t>//</a:t>
            </a:r>
            <a:r>
              <a:rPr kumimoji="1" lang="zh-CN" altLang="en-US" sz="1300" b="1" dirty="0" smtClean="0">
                <a:ea typeface="华文楷体" panose="02010600040101010101" pitchFamily="2" charset="-122"/>
              </a:rPr>
              <a:t>检出所有边</a:t>
            </a:r>
            <a:endParaRPr kumimoji="1" lang="zh-CN" altLang="en-US"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zh-CN" altLang="en-US" sz="1300" dirty="0" smtClean="0">
                <a:solidFill>
                  <a:schemeClr val="tx2"/>
                </a:solidFill>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e.tail</a:t>
            </a:r>
            <a:r>
              <a:rPr kumimoji="1" lang="en-US" altLang="zh-CN" sz="1300" dirty="0" smtClean="0">
                <a:solidFill>
                  <a:schemeClr val="tx2"/>
                </a:solidFill>
                <a:ea typeface="华文楷体" panose="02010600040101010101" pitchFamily="2" charset="-122"/>
              </a:rPr>
              <a:t> = </a:t>
            </a:r>
            <a:r>
              <a:rPr kumimoji="1" lang="en-US" altLang="zh-CN" sz="1300" i="1" dirty="0" smtClean="0">
                <a:solidFill>
                  <a:schemeClr val="tx2"/>
                </a:solidFill>
                <a:ea typeface="华文楷体" panose="02010600040101010101" pitchFamily="2" charset="-122"/>
              </a:rPr>
              <a:t>u</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e.head</a:t>
            </a:r>
            <a:r>
              <a:rPr kumimoji="1" lang="en-US" altLang="zh-CN" sz="1300" dirty="0" smtClean="0">
                <a:solidFill>
                  <a:schemeClr val="tx2"/>
                </a:solidFill>
                <a:ea typeface="华文楷体" panose="02010600040101010101" pitchFamily="2" charset="-122"/>
              </a:rPr>
              <a:t> = </a:t>
            </a:r>
            <a:r>
              <a:rPr kumimoji="1" lang="en-US" altLang="zh-CN" sz="1300" i="1" dirty="0" smtClean="0">
                <a:solidFill>
                  <a:schemeClr val="tx2"/>
                </a:solidFill>
                <a:ea typeface="华文楷体" panose="02010600040101010101" pitchFamily="2" charset="-122"/>
              </a:rPr>
              <a:t>v</a:t>
            </a:r>
            <a:r>
              <a:rPr kumimoji="1" lang="en-US" altLang="zh-CN" sz="1300" b="1" dirty="0" smtClean="0">
                <a:solidFill>
                  <a:schemeClr val="tx2"/>
                </a:solidFill>
                <a:ea typeface="华文楷体" panose="02010600040101010101" pitchFamily="2" charset="-122"/>
              </a:rPr>
              <a:t>;</a:t>
            </a:r>
            <a:endParaRPr kumimoji="1" lang="en-US" altLang="zh-CN" sz="1300" b="1"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en-US" altLang="zh-CN" sz="1300" b="1" dirty="0" smtClean="0">
                <a:solidFill>
                  <a:schemeClr val="tx2"/>
                </a:solidFill>
                <a:ea typeface="华文楷体" panose="02010600040101010101" pitchFamily="2" charset="-122"/>
              </a:rPr>
              <a:t>	      </a:t>
            </a:r>
            <a:r>
              <a:rPr kumimoji="1" lang="en-US" altLang="zh-CN" sz="1300" dirty="0" smtClean="0">
                <a:solidFill>
                  <a:schemeClr val="tx2"/>
                </a:solidFill>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e.cost</a:t>
            </a:r>
            <a:r>
              <a:rPr kumimoji="1" lang="en-US" altLang="zh-CN" sz="1300" dirty="0" smtClean="0">
                <a:solidFill>
                  <a:schemeClr val="tx2"/>
                </a:solidFill>
                <a:ea typeface="华文楷体" panose="02010600040101010101" pitchFamily="2" charset="-122"/>
              </a:rPr>
              <a:t> = </a:t>
            </a:r>
            <a:r>
              <a:rPr kumimoji="1" lang="en-US" altLang="zh-CN" sz="1300" i="1" dirty="0" smtClean="0">
                <a:solidFill>
                  <a:schemeClr val="tx2"/>
                </a:solidFill>
                <a:ea typeface="华文楷体" panose="02010600040101010101" pitchFamily="2" charset="-122"/>
              </a:rPr>
              <a:t>w</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r>
              <a:rPr kumimoji="1" lang="en-US" altLang="zh-CN" sz="1300" i="1" dirty="0" err="1" smtClean="0">
                <a:solidFill>
                  <a:schemeClr val="tx2"/>
                </a:solidFill>
                <a:ea typeface="华文楷体" panose="02010600040101010101" pitchFamily="2" charset="-122"/>
              </a:rPr>
              <a:t>H.Insert</a:t>
            </a:r>
            <a:r>
              <a:rPr kumimoji="1" lang="en-US" altLang="zh-CN" sz="1300" dirty="0" smtClean="0">
                <a:solidFill>
                  <a:schemeClr val="tx2"/>
                </a:solidFill>
                <a:ea typeface="华文楷体" panose="02010600040101010101" pitchFamily="2" charset="-122"/>
              </a:rPr>
              <a:t> (</a:t>
            </a:r>
            <a:r>
              <a:rPr kumimoji="1" lang="en-US" altLang="zh-CN" sz="1300" i="1" dirty="0" smtClean="0">
                <a:solidFill>
                  <a:schemeClr val="tx2"/>
                </a:solidFill>
                <a:ea typeface="华文楷体" panose="02010600040101010101" pitchFamily="2" charset="-122"/>
              </a:rPr>
              <a:t>e</a:t>
            </a:r>
            <a:r>
              <a:rPr kumimoji="1" lang="en-US" altLang="zh-CN" sz="1300" dirty="0" smtClean="0">
                <a:solidFill>
                  <a:schemeClr val="tx2"/>
                </a:solidFill>
                <a:ea typeface="华文楷体" panose="02010600040101010101" pitchFamily="2" charset="-122"/>
              </a:rPr>
              <a:t>)</a:t>
            </a:r>
            <a:r>
              <a:rPr kumimoji="1" lang="en-US" altLang="zh-CN" sz="1300" b="1" dirty="0" smtClean="0">
                <a:solidFill>
                  <a:schemeClr val="tx2"/>
                </a:solidFill>
                <a:ea typeface="华文楷体" panose="02010600040101010101" pitchFamily="2" charset="-122"/>
              </a:rPr>
              <a:t>;        </a:t>
            </a:r>
            <a:r>
              <a:rPr kumimoji="1" lang="en-US" altLang="zh-CN" sz="1300" b="1" dirty="0" smtClean="0">
                <a:ea typeface="华文楷体" panose="02010600040101010101" pitchFamily="2" charset="-122"/>
              </a:rPr>
              <a:t>//</a:t>
            </a:r>
            <a:r>
              <a:rPr kumimoji="1" lang="zh-CN" altLang="en-US" sz="1300" b="1" dirty="0" smtClean="0">
                <a:ea typeface="华文楷体" panose="02010600040101010101" pitchFamily="2" charset="-122"/>
              </a:rPr>
              <a:t>插入最小堆</a:t>
            </a:r>
            <a:endParaRPr kumimoji="1" lang="zh-CN" altLang="en-US" sz="1300"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r>
              <a:rPr kumimoji="1" lang="zh-CN" altLang="en-US" sz="1300" b="1" dirty="0" smtClean="0">
                <a:solidFill>
                  <a:schemeClr val="tx2"/>
                </a:solidFill>
                <a:ea typeface="华文楷体" panose="02010600040101010101" pitchFamily="2" charset="-122"/>
              </a:rPr>
              <a:t>	   </a:t>
            </a:r>
            <a:r>
              <a:rPr kumimoji="1" lang="en-US" altLang="zh-CN" sz="1300" b="1" dirty="0" smtClean="0">
                <a:solidFill>
                  <a:schemeClr val="tx2"/>
                </a:solidFill>
                <a:ea typeface="华文楷体" panose="02010600040101010101" pitchFamily="2" charset="-122"/>
              </a:rPr>
              <a:t>}</a:t>
            </a:r>
            <a:r>
              <a:rPr kumimoji="1" lang="en-US" altLang="zh-CN" sz="1300" dirty="0" smtClean="0">
                <a:solidFill>
                  <a:schemeClr val="tx2"/>
                </a:solidFill>
                <a:ea typeface="华文楷体" panose="02010600040101010101" pitchFamily="2" charset="-122"/>
              </a:rPr>
              <a:t>    </a:t>
            </a:r>
            <a:endParaRPr kumimoji="1" lang="en-US" altLang="zh-CN" sz="1300" dirty="0" smtClean="0">
              <a:solidFill>
                <a:schemeClr val="tx2"/>
              </a:solidFill>
              <a:ea typeface="华文楷体" panose="02010600040101010101" pitchFamily="2" charset="-122"/>
            </a:endParaRPr>
          </a:p>
          <a:p>
            <a:pPr eaLnBrk="1" hangingPunct="1">
              <a:lnSpc>
                <a:spcPct val="90000"/>
              </a:lnSpc>
              <a:buNone/>
            </a:pPr>
            <a:r>
              <a:rPr kumimoji="1" lang="en-US" altLang="zh-CN" sz="1300" b="1" dirty="0" err="1">
                <a:solidFill>
                  <a:schemeClr val="tx2"/>
                </a:solidFill>
                <a:ea typeface="华文楷体" panose="02010600040101010101" pitchFamily="2" charset="-122"/>
              </a:rPr>
              <a:t>int</a:t>
            </a:r>
            <a:r>
              <a:rPr kumimoji="1" lang="en-US" altLang="zh-CN" sz="1300"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count</a:t>
            </a:r>
            <a:r>
              <a:rPr kumimoji="1" lang="en-US" altLang="zh-CN" sz="1300" dirty="0">
                <a:solidFill>
                  <a:schemeClr val="tx2"/>
                </a:solidFill>
                <a:ea typeface="华文楷体" panose="02010600040101010101" pitchFamily="2" charset="-122"/>
              </a:rPr>
              <a:t> = 1</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最小生成树加入边数的计数</a:t>
            </a:r>
            <a:endParaRPr kumimoji="1" lang="zh-CN" altLang="en-US" sz="1300" dirty="0">
              <a:solidFill>
                <a:schemeClr val="tx2"/>
              </a:solidFill>
              <a:ea typeface="华文楷体" panose="02010600040101010101" pitchFamily="2" charset="-122"/>
            </a:endParaRPr>
          </a:p>
          <a:p>
            <a:pPr eaLnBrk="1" hangingPunct="1">
              <a:lnSpc>
                <a:spcPct val="90000"/>
              </a:lnSpc>
              <a:buNone/>
            </a:pPr>
            <a:r>
              <a:rPr kumimoji="1" lang="zh-CN" altLang="en-US"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while</a:t>
            </a:r>
            <a:r>
              <a:rPr kumimoji="1" lang="en-US" altLang="zh-CN" sz="1300" dirty="0">
                <a:solidFill>
                  <a:schemeClr val="tx2"/>
                </a:solidFill>
                <a:ea typeface="华文楷体" panose="02010600040101010101" pitchFamily="2" charset="-122"/>
              </a:rPr>
              <a:t> ( </a:t>
            </a:r>
            <a:r>
              <a:rPr kumimoji="1" lang="en-US" altLang="zh-CN" sz="1300" i="1" dirty="0">
                <a:solidFill>
                  <a:schemeClr val="tx2"/>
                </a:solidFill>
                <a:ea typeface="华文楷体" panose="02010600040101010101" pitchFamily="2" charset="-122"/>
              </a:rPr>
              <a:t>count</a:t>
            </a:r>
            <a:r>
              <a:rPr kumimoji="1" lang="en-US" altLang="zh-CN" sz="1300" dirty="0">
                <a:solidFill>
                  <a:schemeClr val="tx2"/>
                </a:solidFill>
                <a:ea typeface="华文楷体" panose="02010600040101010101" pitchFamily="2" charset="-122"/>
              </a:rPr>
              <a:t> &lt; </a:t>
            </a:r>
            <a:r>
              <a:rPr kumimoji="1" lang="en-US" altLang="zh-CN" sz="1300" i="1" dirty="0" err="1">
                <a:solidFill>
                  <a:schemeClr val="tx2"/>
                </a:solidFill>
                <a:ea typeface="华文楷体" panose="02010600040101010101" pitchFamily="2" charset="-122"/>
              </a:rPr>
              <a:t>NumVertices</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   //</a:t>
            </a:r>
            <a:endParaRPr kumimoji="1" lang="en-US" altLang="zh-CN" sz="1300" dirty="0">
              <a:solidFill>
                <a:schemeClr val="tx2"/>
              </a:solidFill>
              <a:ea typeface="华文楷体" panose="02010600040101010101" pitchFamily="2" charset="-122"/>
            </a:endParaRPr>
          </a:p>
          <a:p>
            <a:pPr eaLnBrk="1" hangingPunct="1">
              <a:lnSpc>
                <a:spcPct val="90000"/>
              </a:lnSpc>
              <a:buNone/>
            </a:pPr>
            <a:r>
              <a:rPr kumimoji="1" lang="en-US" altLang="zh-CN" sz="1300"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e</a:t>
            </a:r>
            <a:r>
              <a:rPr kumimoji="1" lang="en-US" altLang="zh-CN" sz="1300" dirty="0">
                <a:solidFill>
                  <a:schemeClr val="tx2"/>
                </a:solidFill>
                <a:ea typeface="华文楷体" panose="02010600040101010101" pitchFamily="2" charset="-122"/>
              </a:rPr>
              <a:t> = </a:t>
            </a:r>
            <a:r>
              <a:rPr kumimoji="1" lang="en-US" altLang="zh-CN" sz="1300" i="1" dirty="0" err="1">
                <a:solidFill>
                  <a:schemeClr val="tx2"/>
                </a:solidFill>
                <a:ea typeface="华文楷体" panose="02010600040101010101" pitchFamily="2" charset="-122"/>
              </a:rPr>
              <a:t>H.RemoveMin</a:t>
            </a:r>
            <a:r>
              <a:rPr kumimoji="1" lang="en-US" altLang="zh-CN" sz="1300" dirty="0">
                <a:solidFill>
                  <a:schemeClr val="tx2"/>
                </a:solidFill>
                <a:ea typeface="华文楷体" panose="02010600040101010101" pitchFamily="2" charset="-122"/>
              </a:rPr>
              <a:t> ( )</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从堆中退出一条边</a:t>
            </a:r>
            <a:endParaRPr kumimoji="1" lang="zh-CN" altLang="en-US" sz="1300" dirty="0">
              <a:solidFill>
                <a:schemeClr val="tx2"/>
              </a:solidFill>
              <a:ea typeface="华文楷体" panose="02010600040101010101" pitchFamily="2" charset="-122"/>
            </a:endParaRPr>
          </a:p>
          <a:p>
            <a:pPr eaLnBrk="1" hangingPunct="1">
              <a:lnSpc>
                <a:spcPct val="90000"/>
              </a:lnSpc>
              <a:buNone/>
            </a:pPr>
            <a:r>
              <a:rPr kumimoji="1" lang="zh-CN" altLang="en-US" sz="1300" i="1"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u</a:t>
            </a:r>
            <a:r>
              <a:rPr kumimoji="1" lang="en-US" altLang="zh-CN" sz="1300"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 </a:t>
            </a:r>
            <a:r>
              <a:rPr kumimoji="1" lang="en-US" altLang="zh-CN" sz="1300" i="1" dirty="0" err="1">
                <a:solidFill>
                  <a:schemeClr val="tx2"/>
                </a:solidFill>
                <a:ea typeface="华文楷体" panose="02010600040101010101" pitchFamily="2" charset="-122"/>
              </a:rPr>
              <a:t>F.Find</a:t>
            </a:r>
            <a:r>
              <a:rPr kumimoji="1" lang="en-US" altLang="zh-CN" sz="1300" dirty="0">
                <a:solidFill>
                  <a:schemeClr val="tx2"/>
                </a:solidFill>
                <a:ea typeface="华文楷体" panose="02010600040101010101" pitchFamily="2" charset="-122"/>
              </a:rPr>
              <a:t> ( </a:t>
            </a:r>
            <a:r>
              <a:rPr kumimoji="1" lang="en-US" altLang="zh-CN" sz="1300" i="1" dirty="0" err="1">
                <a:solidFill>
                  <a:schemeClr val="tx2"/>
                </a:solidFill>
                <a:ea typeface="华文楷体" panose="02010600040101010101" pitchFamily="2" charset="-122"/>
              </a:rPr>
              <a:t>e.tail</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检测两端点的根</a:t>
            </a:r>
            <a:endParaRPr kumimoji="1" lang="zh-CN" altLang="en-US" sz="1300" b="1" dirty="0">
              <a:solidFill>
                <a:schemeClr val="tx2"/>
              </a:solidFill>
              <a:ea typeface="华文楷体" panose="02010600040101010101" pitchFamily="2" charset="-122"/>
            </a:endParaRPr>
          </a:p>
          <a:p>
            <a:pPr eaLnBrk="1" hangingPunct="1">
              <a:lnSpc>
                <a:spcPct val="90000"/>
              </a:lnSpc>
              <a:buNone/>
            </a:pPr>
            <a:r>
              <a:rPr kumimoji="1" lang="zh-CN" altLang="en-US" sz="1300" b="1"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v</a:t>
            </a:r>
            <a:r>
              <a:rPr kumimoji="1" lang="en-US" altLang="zh-CN" sz="1300" dirty="0">
                <a:solidFill>
                  <a:schemeClr val="tx2"/>
                </a:solidFill>
                <a:ea typeface="华文楷体" panose="02010600040101010101" pitchFamily="2" charset="-122"/>
              </a:rPr>
              <a:t> = </a:t>
            </a:r>
            <a:r>
              <a:rPr kumimoji="1" lang="en-US" altLang="zh-CN" sz="1300" i="1" dirty="0" err="1">
                <a:solidFill>
                  <a:schemeClr val="tx2"/>
                </a:solidFill>
                <a:ea typeface="华文楷体" panose="02010600040101010101" pitchFamily="2" charset="-122"/>
              </a:rPr>
              <a:t>F.Find</a:t>
            </a:r>
            <a:r>
              <a:rPr kumimoji="1" lang="en-US" altLang="zh-CN" sz="1300" dirty="0">
                <a:solidFill>
                  <a:schemeClr val="tx2"/>
                </a:solidFill>
                <a:ea typeface="华文楷体" panose="02010600040101010101" pitchFamily="2" charset="-122"/>
              </a:rPr>
              <a:t> ( </a:t>
            </a:r>
            <a:r>
              <a:rPr kumimoji="1" lang="en-US" altLang="zh-CN" sz="1300" i="1" dirty="0" err="1">
                <a:solidFill>
                  <a:schemeClr val="tx2"/>
                </a:solidFill>
                <a:ea typeface="华文楷体" panose="02010600040101010101" pitchFamily="2" charset="-122"/>
              </a:rPr>
              <a:t>e.head</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a:t>
            </a:r>
            <a:endParaRPr kumimoji="1" lang="en-US" altLang="zh-CN" sz="1300" dirty="0">
              <a:solidFill>
                <a:schemeClr val="tx2"/>
              </a:solidFill>
              <a:ea typeface="华文楷体" panose="02010600040101010101" pitchFamily="2" charset="-122"/>
            </a:endParaRPr>
          </a:p>
          <a:p>
            <a:pPr eaLnBrk="1" hangingPunct="1">
              <a:lnSpc>
                <a:spcPct val="90000"/>
              </a:lnSpc>
              <a:buNone/>
            </a:pP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if</a:t>
            </a:r>
            <a:r>
              <a:rPr kumimoji="1" lang="en-US" altLang="zh-CN" sz="1300" dirty="0">
                <a:solidFill>
                  <a:schemeClr val="tx2"/>
                </a:solidFill>
                <a:ea typeface="华文楷体" panose="02010600040101010101" pitchFamily="2" charset="-122"/>
              </a:rPr>
              <a:t> ( </a:t>
            </a:r>
            <a:r>
              <a:rPr kumimoji="1" lang="en-US" altLang="zh-CN" sz="1300" i="1" dirty="0">
                <a:solidFill>
                  <a:schemeClr val="tx2"/>
                </a:solidFill>
                <a:ea typeface="华文楷体" panose="02010600040101010101" pitchFamily="2" charset="-122"/>
              </a:rPr>
              <a:t>u</a:t>
            </a:r>
            <a:r>
              <a:rPr kumimoji="1" lang="en-US" altLang="zh-CN" sz="1300" dirty="0">
                <a:solidFill>
                  <a:schemeClr val="tx2"/>
                </a:solidFill>
                <a:ea typeface="华文楷体" panose="02010600040101010101" pitchFamily="2" charset="-122"/>
              </a:rPr>
              <a:t> != </a:t>
            </a:r>
            <a:r>
              <a:rPr kumimoji="1" lang="en-US" altLang="zh-CN" sz="1300" i="1" dirty="0">
                <a:solidFill>
                  <a:schemeClr val="tx2"/>
                </a:solidFill>
                <a:ea typeface="华文楷体" panose="02010600040101010101" pitchFamily="2" charset="-122"/>
              </a:rPr>
              <a:t>v </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根不同</a:t>
            </a:r>
            <a:r>
              <a:rPr kumimoji="1" lang="en-US" altLang="zh-CN" sz="1300" b="1" dirty="0">
                <a:ea typeface="华文楷体" panose="02010600040101010101" pitchFamily="2" charset="-122"/>
              </a:rPr>
              <a:t>, </a:t>
            </a:r>
            <a:r>
              <a:rPr kumimoji="1" lang="zh-CN" altLang="en-US" sz="1300" b="1" dirty="0">
                <a:ea typeface="华文楷体" panose="02010600040101010101" pitchFamily="2" charset="-122"/>
              </a:rPr>
              <a:t>不在同一连通分量上</a:t>
            </a:r>
            <a:endParaRPr kumimoji="1" lang="zh-CN" altLang="en-US" sz="1300" dirty="0">
              <a:solidFill>
                <a:schemeClr val="tx2"/>
              </a:solidFill>
              <a:ea typeface="华文楷体" panose="02010600040101010101" pitchFamily="2" charset="-122"/>
            </a:endParaRPr>
          </a:p>
          <a:p>
            <a:pPr eaLnBrk="1" hangingPunct="1">
              <a:lnSpc>
                <a:spcPct val="90000"/>
              </a:lnSpc>
              <a:buNone/>
            </a:pPr>
            <a:r>
              <a:rPr kumimoji="1" lang="zh-CN" altLang="en-US" sz="1300" dirty="0">
                <a:solidFill>
                  <a:schemeClr val="tx2"/>
                </a:solidFill>
                <a:ea typeface="华文楷体" panose="02010600040101010101" pitchFamily="2" charset="-122"/>
              </a:rPr>
              <a:t>	   </a:t>
            </a:r>
            <a:r>
              <a:rPr kumimoji="1" lang="en-US" altLang="zh-CN" sz="1300" i="1" dirty="0" err="1">
                <a:solidFill>
                  <a:schemeClr val="tx2"/>
                </a:solidFill>
                <a:ea typeface="华文楷体" panose="02010600040101010101" pitchFamily="2" charset="-122"/>
              </a:rPr>
              <a:t>F.Union</a:t>
            </a:r>
            <a:r>
              <a:rPr kumimoji="1" lang="en-US" altLang="zh-CN" sz="1300" dirty="0">
                <a:solidFill>
                  <a:schemeClr val="tx2"/>
                </a:solidFill>
                <a:ea typeface="华文楷体" panose="02010600040101010101" pitchFamily="2" charset="-122"/>
              </a:rPr>
              <a:t> ( </a:t>
            </a:r>
            <a:r>
              <a:rPr kumimoji="1" lang="en-US" altLang="zh-CN" sz="1300" i="1" dirty="0">
                <a:solidFill>
                  <a:schemeClr val="tx2"/>
                </a:solidFill>
                <a:ea typeface="华文楷体" panose="02010600040101010101" pitchFamily="2" charset="-122"/>
              </a:rPr>
              <a:t>u</a:t>
            </a:r>
            <a:r>
              <a:rPr kumimoji="1" lang="en-US" altLang="zh-CN" sz="1300" dirty="0">
                <a:solidFill>
                  <a:schemeClr val="tx2"/>
                </a:solidFill>
                <a:ea typeface="华文楷体" panose="02010600040101010101" pitchFamily="2" charset="-122"/>
              </a:rPr>
              <a:t>, </a:t>
            </a:r>
            <a:r>
              <a:rPr kumimoji="1" lang="en-US" altLang="zh-CN" sz="1300" i="1" dirty="0">
                <a:solidFill>
                  <a:schemeClr val="tx2"/>
                </a:solidFill>
                <a:ea typeface="华文楷体" panose="02010600040101010101" pitchFamily="2" charset="-122"/>
              </a:rPr>
              <a:t>v</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合并</a:t>
            </a:r>
            <a:endParaRPr kumimoji="1" lang="zh-CN" altLang="en-US" sz="1300" b="1" dirty="0">
              <a:solidFill>
                <a:schemeClr val="tx2"/>
              </a:solidFill>
              <a:ea typeface="华文楷体" panose="02010600040101010101" pitchFamily="2" charset="-122"/>
            </a:endParaRPr>
          </a:p>
          <a:p>
            <a:pPr eaLnBrk="1" hangingPunct="1">
              <a:lnSpc>
                <a:spcPct val="90000"/>
              </a:lnSpc>
              <a:buNone/>
            </a:pPr>
            <a:r>
              <a:rPr kumimoji="1" lang="zh-CN" altLang="en-US" sz="1300" b="1" dirty="0">
                <a:solidFill>
                  <a:schemeClr val="tx2"/>
                </a:solidFill>
                <a:ea typeface="华文楷体" panose="02010600040101010101" pitchFamily="2" charset="-122"/>
              </a:rPr>
              <a:t>          </a:t>
            </a:r>
            <a:r>
              <a:rPr kumimoji="1" lang="zh-CN" altLang="en-US" sz="1300" dirty="0">
                <a:solidFill>
                  <a:schemeClr val="tx2"/>
                </a:solidFill>
                <a:ea typeface="华文楷体" panose="02010600040101010101" pitchFamily="2" charset="-122"/>
              </a:rPr>
              <a:t>  </a:t>
            </a:r>
            <a:r>
              <a:rPr kumimoji="1" lang="en-US" altLang="zh-CN" sz="1300" i="1" u="sng" dirty="0" err="1">
                <a:solidFill>
                  <a:schemeClr val="tx2"/>
                </a:solidFill>
                <a:ea typeface="华文楷体" panose="02010600040101010101" pitchFamily="2" charset="-122"/>
              </a:rPr>
              <a:t>T.Insert</a:t>
            </a:r>
            <a:r>
              <a:rPr kumimoji="1" lang="en-US" altLang="zh-CN" sz="1300" i="1" u="sng" dirty="0">
                <a:solidFill>
                  <a:schemeClr val="tx2"/>
                </a:solidFill>
                <a:ea typeface="华文楷体" panose="02010600040101010101" pitchFamily="2" charset="-122"/>
              </a:rPr>
              <a:t> </a:t>
            </a:r>
            <a:r>
              <a:rPr kumimoji="1" lang="en-US" altLang="zh-CN" sz="1300" u="sng" dirty="0">
                <a:solidFill>
                  <a:schemeClr val="tx2"/>
                </a:solidFill>
                <a:ea typeface="华文楷体" panose="02010600040101010101" pitchFamily="2" charset="-122"/>
              </a:rPr>
              <a:t>( </a:t>
            </a:r>
            <a:r>
              <a:rPr kumimoji="1" lang="en-US" altLang="zh-CN" sz="1300" i="1" u="sng" dirty="0">
                <a:solidFill>
                  <a:schemeClr val="tx2"/>
                </a:solidFill>
                <a:ea typeface="华文楷体" panose="02010600040101010101" pitchFamily="2" charset="-122"/>
              </a:rPr>
              <a:t>e </a:t>
            </a:r>
            <a:r>
              <a:rPr kumimoji="1" lang="en-US" altLang="zh-CN" sz="1300" u="sng" dirty="0">
                <a:solidFill>
                  <a:schemeClr val="tx2"/>
                </a:solidFill>
                <a:ea typeface="华文楷体" panose="02010600040101010101" pitchFamily="2" charset="-122"/>
              </a:rPr>
              <a:t>)</a:t>
            </a:r>
            <a:r>
              <a:rPr kumimoji="1" lang="en-US" altLang="zh-CN" sz="1300" b="1" u="sng" dirty="0">
                <a:solidFill>
                  <a:schemeClr val="tx2"/>
                </a:solidFill>
                <a:ea typeface="华文楷体" panose="02010600040101010101" pitchFamily="2" charset="-122"/>
              </a:rPr>
              <a:t>;</a:t>
            </a:r>
            <a:r>
              <a:rPr kumimoji="1" lang="en-US" altLang="zh-CN" sz="1300" dirty="0">
                <a:solidFill>
                  <a:schemeClr val="tx2"/>
                </a:solidFill>
                <a:ea typeface="华文楷体" panose="02010600040101010101" pitchFamily="2" charset="-122"/>
              </a:rPr>
              <a:t>  </a:t>
            </a:r>
            <a:r>
              <a:rPr kumimoji="1" lang="en-US" altLang="zh-CN" sz="1300" b="1" dirty="0">
                <a:solidFill>
                  <a:schemeClr val="tx2"/>
                </a:solidFill>
                <a:ea typeface="华文楷体" panose="02010600040101010101" pitchFamily="2" charset="-122"/>
              </a:rPr>
              <a:t>   </a:t>
            </a:r>
            <a:r>
              <a:rPr kumimoji="1" lang="en-US" altLang="zh-CN" sz="1300" b="1" dirty="0">
                <a:ea typeface="华文楷体" panose="02010600040101010101" pitchFamily="2" charset="-122"/>
              </a:rPr>
              <a:t>//</a:t>
            </a:r>
            <a:r>
              <a:rPr kumimoji="1" lang="zh-CN" altLang="en-US" sz="1300" b="1" dirty="0">
                <a:ea typeface="华文楷体" panose="02010600040101010101" pitchFamily="2" charset="-122"/>
              </a:rPr>
              <a:t>该边存入最小生成树 </a:t>
            </a:r>
            <a:r>
              <a:rPr kumimoji="1" lang="en-US" altLang="zh-CN" sz="1300" b="1" i="1" dirty="0">
                <a:solidFill>
                  <a:srgbClr val="FF3300"/>
                </a:solidFill>
                <a:ea typeface="华文楷体" panose="02010600040101010101" pitchFamily="2" charset="-122"/>
              </a:rPr>
              <a:t>T </a:t>
            </a:r>
            <a:r>
              <a:rPr kumimoji="1" lang="zh-CN" altLang="en-US" sz="1300" b="1" dirty="0">
                <a:ea typeface="华文楷体" panose="02010600040101010101" pitchFamily="2" charset="-122"/>
              </a:rPr>
              <a:t>中</a:t>
            </a:r>
            <a:endParaRPr kumimoji="1" lang="zh-CN" altLang="en-US" sz="1300" b="1" dirty="0">
              <a:ea typeface="华文楷体" panose="02010600040101010101" pitchFamily="2" charset="-122"/>
            </a:endParaRPr>
          </a:p>
          <a:p>
            <a:pPr eaLnBrk="1" hangingPunct="1">
              <a:lnSpc>
                <a:spcPct val="90000"/>
              </a:lnSpc>
              <a:buNone/>
            </a:pPr>
            <a:r>
              <a:rPr kumimoji="1" lang="zh-CN" altLang="en-US" sz="1300" b="1" dirty="0">
                <a:ea typeface="华文楷体" panose="02010600040101010101" pitchFamily="2" charset="-122"/>
              </a:rPr>
              <a:t>            </a:t>
            </a:r>
            <a:r>
              <a:rPr kumimoji="1" lang="en-US" altLang="zh-CN" sz="1300" i="1" dirty="0">
                <a:solidFill>
                  <a:schemeClr val="tx2"/>
                </a:solidFill>
                <a:ea typeface="华文楷体" panose="02010600040101010101" pitchFamily="2" charset="-122"/>
              </a:rPr>
              <a:t>count</a:t>
            </a:r>
            <a:r>
              <a:rPr kumimoji="1" lang="en-US" altLang="zh-CN" sz="1300" b="1" dirty="0">
                <a:solidFill>
                  <a:schemeClr val="tx2"/>
                </a:solidFill>
                <a:ea typeface="华文楷体" panose="02010600040101010101" pitchFamily="2" charset="-122"/>
              </a:rPr>
              <a:t>++;</a:t>
            </a:r>
            <a:endParaRPr kumimoji="1" lang="en-US" altLang="zh-CN" sz="1300" dirty="0">
              <a:solidFill>
                <a:schemeClr val="tx2"/>
              </a:solidFill>
              <a:ea typeface="华文楷体" panose="02010600040101010101" pitchFamily="2" charset="-122"/>
            </a:endParaRPr>
          </a:p>
          <a:p>
            <a:pPr eaLnBrk="1" hangingPunct="1">
              <a:lnSpc>
                <a:spcPct val="90000"/>
              </a:lnSpc>
              <a:buNone/>
            </a:pPr>
            <a:r>
              <a:rPr kumimoji="1" lang="en-US" altLang="zh-CN" sz="1300" b="1" dirty="0">
                <a:solidFill>
                  <a:schemeClr val="tx2"/>
                </a:solidFill>
                <a:ea typeface="华文楷体" panose="02010600040101010101" pitchFamily="2" charset="-122"/>
              </a:rPr>
              <a:t>         }</a:t>
            </a:r>
            <a:endParaRPr kumimoji="1" lang="en-US" altLang="zh-CN" sz="1300" b="1" dirty="0">
              <a:solidFill>
                <a:schemeClr val="tx2"/>
              </a:solidFill>
              <a:ea typeface="华文楷体" panose="02010600040101010101" pitchFamily="2" charset="-122"/>
            </a:endParaRPr>
          </a:p>
          <a:p>
            <a:pPr eaLnBrk="1" hangingPunct="1">
              <a:lnSpc>
                <a:spcPct val="90000"/>
              </a:lnSpc>
              <a:buNone/>
            </a:pPr>
            <a:r>
              <a:rPr kumimoji="1" lang="en-US" altLang="zh-CN" sz="1300" b="1" dirty="0">
                <a:solidFill>
                  <a:schemeClr val="tx2"/>
                </a:solidFill>
                <a:ea typeface="华文楷体" panose="02010600040101010101" pitchFamily="2" charset="-122"/>
              </a:rPr>
              <a:t>    }</a:t>
            </a:r>
            <a:endParaRPr kumimoji="1" lang="en-US" altLang="zh-CN" sz="1300" b="1" dirty="0">
              <a:solidFill>
                <a:schemeClr val="tx2"/>
              </a:solidFill>
              <a:ea typeface="华文楷体" panose="02010600040101010101" pitchFamily="2" charset="-122"/>
            </a:endParaRPr>
          </a:p>
          <a:p>
            <a:pPr eaLnBrk="1" hangingPunct="1">
              <a:lnSpc>
                <a:spcPct val="90000"/>
              </a:lnSpc>
              <a:buNone/>
            </a:pPr>
            <a:r>
              <a:rPr kumimoji="1" lang="en-US" altLang="zh-CN" sz="1300" b="1" dirty="0">
                <a:solidFill>
                  <a:schemeClr val="tx2"/>
                </a:solidFill>
                <a:ea typeface="华文楷体" panose="02010600040101010101" pitchFamily="2" charset="-122"/>
              </a:rPr>
              <a:t>}</a:t>
            </a:r>
            <a:endParaRPr kumimoji="1" lang="en-US" altLang="zh-CN" sz="1300" b="1" dirty="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endParaRPr kumimoji="1" lang="en-US" altLang="zh-CN" sz="1300" b="1" dirty="0" smtClean="0">
              <a:solidFill>
                <a:schemeClr val="tx2"/>
              </a:solidFill>
              <a:ea typeface="华文楷体" panose="02010600040101010101" pitchFamily="2" charset="-122"/>
            </a:endParaRPr>
          </a:p>
          <a:p>
            <a:pPr eaLnBrk="1" hangingPunct="1">
              <a:lnSpc>
                <a:spcPct val="90000"/>
              </a:lnSpc>
              <a:buFont typeface="Wingdings" panose="05000000000000000000" pitchFamily="2" charset="2"/>
              <a:buNone/>
            </a:pPr>
            <a:endParaRPr lang="en-US" altLang="zh-CN" sz="13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349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mc:AlternateContent xmlns:mc="http://schemas.openxmlformats.org/markup-compatibility/2006">
        <mc:Choice xmlns:a14="http://schemas.microsoft.com/office/drawing/2010/main" Requires="a14">
          <p:sp>
            <p:nvSpPr>
              <p:cNvPr id="71683" name="Rectangle 3"/>
              <p:cNvSpPr>
                <a:spLocks noGrp="1" noChangeArrowheads="1"/>
              </p:cNvSpPr>
              <p:nvPr>
                <p:ph type="body" idx="1"/>
              </p:nvPr>
            </p:nvSpPr>
            <p:spPr>
              <a:xfrm>
                <a:off x="335132" y="1371600"/>
                <a:ext cx="8229600" cy="4257675"/>
              </a:xfrm>
              <a:ln>
                <a:solidFill>
                  <a:schemeClr val="accent1"/>
                </a:solidFill>
              </a:ln>
            </p:spPr>
            <p:txBody>
              <a:bodyPr/>
              <a:lstStyle/>
              <a:p>
                <a:pPr eaLnBrk="1" hangingPunct="1">
                  <a:lnSpc>
                    <a:spcPct val="110000"/>
                  </a:lnSpc>
                  <a:spcBef>
                    <a:spcPct val="0"/>
                  </a:spcBef>
                  <a:buFont typeface="Wingdings" panose="05000000000000000000" pitchFamily="2" charset="2"/>
                  <a:buNone/>
                  <a:defRPr/>
                </a:pPr>
                <a:r>
                  <a:rPr lang="en-US" altLang="zh-CN" sz="2400" b="1" dirty="0" smtClean="0">
                    <a:solidFill>
                      <a:srgbClr val="C00000"/>
                    </a:solidFill>
                    <a:ea typeface="华文楷体" panose="02010600040101010101" pitchFamily="2" charset="-122"/>
                  </a:rPr>
                  <a:t>[</a:t>
                </a:r>
                <a:r>
                  <a:rPr lang="en-US" altLang="zh-CN" sz="2400" b="1" dirty="0" err="1" smtClean="0">
                    <a:solidFill>
                      <a:srgbClr val="C00000"/>
                    </a:solidFill>
                    <a:ea typeface="华文楷体" panose="02010600040101010101" pitchFamily="2" charset="-122"/>
                  </a:rPr>
                  <a:t>kruskal</a:t>
                </a:r>
                <a:r>
                  <a:rPr lang="zh-CN" altLang="en-US" sz="2400" b="1" dirty="0" smtClean="0">
                    <a:solidFill>
                      <a:srgbClr val="C00000"/>
                    </a:solidFill>
                    <a:ea typeface="华文楷体" panose="02010600040101010101" pitchFamily="2" charset="-122"/>
                  </a:rPr>
                  <a:t>算法</a:t>
                </a:r>
                <a:r>
                  <a:rPr lang="zh-CN" altLang="en-US" sz="2400" b="1" dirty="0">
                    <a:solidFill>
                      <a:srgbClr val="C00000"/>
                    </a:solidFill>
                    <a:ea typeface="华文楷体" panose="02010600040101010101" pitchFamily="2" charset="-122"/>
                  </a:rPr>
                  <a:t>时间</a:t>
                </a:r>
                <a:r>
                  <a:rPr lang="zh-CN" altLang="en-US" sz="2400" b="1" dirty="0" smtClean="0">
                    <a:solidFill>
                      <a:srgbClr val="C00000"/>
                    </a:solidFill>
                    <a:ea typeface="华文楷体" panose="02010600040101010101" pitchFamily="2" charset="-122"/>
                  </a:rPr>
                  <a:t>性能分析</a:t>
                </a:r>
                <a:r>
                  <a:rPr lang="en-US" altLang="zh-CN" sz="2400" b="1" dirty="0" smtClean="0">
                    <a:solidFill>
                      <a:srgbClr val="C00000"/>
                    </a:solidFill>
                    <a:ea typeface="华文楷体" panose="02010600040101010101" pitchFamily="2" charset="-122"/>
                  </a:rPr>
                  <a:t>]</a:t>
                </a:r>
                <a:endParaRPr lang="en-US" altLang="zh-CN" sz="2400" b="1" dirty="0" smtClean="0">
                  <a:solidFill>
                    <a:srgbClr val="C00000"/>
                  </a:solidFill>
                  <a:ea typeface="华文楷体" panose="02010600040101010101" pitchFamily="2" charset="-122"/>
                </a:endParaRPr>
              </a:p>
              <a:p>
                <a:pPr eaLnBrk="1" hangingPunct="1">
                  <a:lnSpc>
                    <a:spcPct val="110000"/>
                  </a:lnSpc>
                  <a:spcBef>
                    <a:spcPct val="0"/>
                  </a:spcBef>
                  <a:buFont typeface="Wingdings" panose="05000000000000000000" pitchFamily="2" charset="2"/>
                  <a:buNone/>
                  <a:defRPr/>
                </a:pPr>
                <a:r>
                  <a:rPr lang="zh-CN" altLang="en-US" sz="2400" dirty="0" smtClean="0">
                    <a:latin typeface="宋体" panose="02010600030101010101" pitchFamily="2" charset="-122"/>
                    <a:ea typeface="宋体" panose="02010600030101010101" pitchFamily="2" charset="-122"/>
                  </a:rPr>
                  <a:t>①</a:t>
                </a:r>
                <a:r>
                  <a:rPr lang="zh-CN" altLang="en-US" sz="2400" dirty="0" smtClean="0">
                    <a:ea typeface="华文楷体" panose="02010600040101010101" pitchFamily="2" charset="-122"/>
                  </a:rPr>
                  <a:t>在建立最小堆时需要检测邻接矩阵，计算的时间代价为 </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n</a:t>
                </a:r>
                <a:r>
                  <a:rPr lang="en-US" altLang="zh-CN" sz="2400" baseline="30000" dirty="0" smtClean="0">
                    <a:solidFill>
                      <a:schemeClr val="tx2"/>
                    </a:solidFill>
                    <a:ea typeface="华文楷体" panose="02010600040101010101" pitchFamily="2" charset="-122"/>
                  </a:rPr>
                  <a:t>2</a:t>
                </a:r>
                <a:r>
                  <a:rPr lang="en-US" altLang="zh-CN" sz="2400" dirty="0" smtClean="0">
                    <a:solidFill>
                      <a:schemeClr val="tx2"/>
                    </a:solidFill>
                    <a:ea typeface="华文楷体" panose="02010600040101010101" pitchFamily="2" charset="-122"/>
                  </a:rPr>
                  <a:t>)</a:t>
                </a:r>
                <a:r>
                  <a:rPr lang="zh-CN" altLang="en-US" sz="2400" dirty="0" smtClean="0">
                    <a:ea typeface="华文楷体" panose="02010600040101010101" pitchFamily="2" charset="-122"/>
                  </a:rPr>
                  <a:t>。且做了 </a:t>
                </a:r>
                <a:r>
                  <a:rPr lang="en-US" altLang="zh-CN" sz="2400" i="1" dirty="0" smtClean="0">
                    <a:ea typeface="华文楷体" panose="02010600040101010101" pitchFamily="2" charset="-122"/>
                  </a:rPr>
                  <a:t>e</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次堆插入操作</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每次插入调用了一个堆调整算法</a:t>
                </a:r>
                <a:r>
                  <a:rPr lang="en-US" altLang="zh-CN" sz="2400" i="1" dirty="0" err="1" smtClean="0">
                    <a:solidFill>
                      <a:srgbClr val="008080"/>
                    </a:solidFill>
                    <a:ea typeface="华文楷体" panose="02010600040101010101" pitchFamily="2" charset="-122"/>
                  </a:rPr>
                  <a:t>SiftUp</a:t>
                </a:r>
                <a:r>
                  <a:rPr lang="en-US" altLang="zh-CN" sz="2400" dirty="0" smtClean="0">
                    <a:solidFill>
                      <a:srgbClr val="008080"/>
                    </a:solidFill>
                    <a:ea typeface="华文楷体" panose="02010600040101010101" pitchFamily="2" charset="-122"/>
                  </a:rPr>
                  <a:t>( )</a:t>
                </a:r>
                <a:r>
                  <a:rPr lang="zh-CN" altLang="en-US" sz="2400" dirty="0" smtClean="0">
                    <a:ea typeface="华文楷体" panose="02010600040101010101" pitchFamily="2" charset="-122"/>
                  </a:rPr>
                  <a:t>算法</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因此堆插入需要的时间代价为 </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110000"/>
                  </a:lnSpc>
                  <a:spcBef>
                    <a:spcPct val="0"/>
                  </a:spcBef>
                  <a:buNone/>
                  <a:defRPr/>
                </a:pPr>
                <a:r>
                  <a:rPr lang="zh-CN" altLang="en-US" sz="2400" dirty="0">
                    <a:latin typeface="宋体" panose="02010600030101010101" pitchFamily="2" charset="-122"/>
                    <a:ea typeface="宋体" panose="02010600030101010101" pitchFamily="2" charset="-122"/>
                  </a:rPr>
                  <a:t>②</a:t>
                </a:r>
                <a:r>
                  <a:rPr lang="zh-CN" altLang="en-US" sz="2400" dirty="0" smtClean="0">
                    <a:ea typeface="华文楷体" panose="02010600040101010101" pitchFamily="2" charset="-122"/>
                  </a:rPr>
                  <a:t>在构造最小生成树时，最多调用了 </a:t>
                </a:r>
                <a:r>
                  <a:rPr lang="en-US" altLang="zh-CN" sz="2400" i="1" dirty="0" smtClean="0">
                    <a:ea typeface="华文楷体" panose="02010600040101010101" pitchFamily="2" charset="-122"/>
                  </a:rPr>
                  <a:t>e </a:t>
                </a:r>
                <a:r>
                  <a:rPr lang="zh-CN" altLang="en-US" sz="2400" dirty="0" smtClean="0">
                    <a:ea typeface="华文楷体" panose="02010600040101010101" pitchFamily="2" charset="-122"/>
                  </a:rPr>
                  <a:t>次出堆操作</a:t>
                </a:r>
                <a:r>
                  <a:rPr lang="en-US" altLang="zh-CN" sz="2400" i="1" dirty="0" err="1" smtClean="0">
                    <a:solidFill>
                      <a:srgbClr val="008080"/>
                    </a:solidFill>
                    <a:ea typeface="华文楷体" panose="02010600040101010101" pitchFamily="2" charset="-122"/>
                  </a:rPr>
                  <a:t>RemoveMin</a:t>
                </a:r>
                <a:r>
                  <a:rPr lang="en-US" altLang="zh-CN" sz="2400" dirty="0" smtClean="0">
                    <a:solidFill>
                      <a:srgbClr val="008080"/>
                    </a:solidFill>
                    <a:ea typeface="华文楷体" panose="02010600040101010101" pitchFamily="2" charset="-122"/>
                  </a:rPr>
                  <a:t>(</a:t>
                </a:r>
                <a:r>
                  <a:rPr lang="en-US" altLang="zh-CN" sz="2400" dirty="0" smtClean="0">
                    <a:ea typeface="华文楷体" panose="02010600040101010101" pitchFamily="2" charset="-122"/>
                  </a:rPr>
                  <a:t> </a:t>
                </a:r>
                <a:r>
                  <a:rPr lang="en-US" altLang="zh-CN" sz="2400" dirty="0" smtClean="0">
                    <a:solidFill>
                      <a:srgbClr val="008080"/>
                    </a:solidFill>
                    <a:ea typeface="华文楷体" panose="02010600040101010101" pitchFamily="2" charset="-122"/>
                  </a:rPr>
                  <a:t>)</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2</a:t>
                </a:r>
                <a:r>
                  <a:rPr lang="en-US" altLang="zh-CN" sz="2400" i="1" dirty="0" smtClean="0">
                    <a:ea typeface="华文楷体" panose="02010600040101010101" pitchFamily="2" charset="-122"/>
                  </a:rPr>
                  <a:t>e </a:t>
                </a:r>
                <a:r>
                  <a:rPr lang="zh-CN" altLang="en-US" sz="2400" dirty="0" smtClean="0">
                    <a:ea typeface="华文楷体" panose="02010600040101010101" pitchFamily="2" charset="-122"/>
                  </a:rPr>
                  <a:t>次并查集的</a:t>
                </a:r>
                <a:r>
                  <a:rPr lang="en-US" altLang="zh-CN" sz="2400" i="1" dirty="0" smtClean="0">
                    <a:solidFill>
                      <a:srgbClr val="008080"/>
                    </a:solidFill>
                    <a:ea typeface="华文楷体" panose="02010600040101010101" pitchFamily="2" charset="-122"/>
                  </a:rPr>
                  <a:t>Find</a:t>
                </a:r>
                <a:r>
                  <a:rPr lang="en-US" altLang="zh-CN" sz="2400" dirty="0" smtClean="0">
                    <a:solidFill>
                      <a:srgbClr val="008080"/>
                    </a:solidFill>
                    <a:ea typeface="华文楷体" panose="02010600040101010101" pitchFamily="2" charset="-122"/>
                  </a:rPr>
                  <a:t>( )</a:t>
                </a:r>
                <a:r>
                  <a:rPr lang="zh-CN" altLang="en-US" sz="2400" dirty="0" smtClean="0">
                    <a:ea typeface="华文楷体" panose="02010600040101010101" pitchFamily="2" charset="-122"/>
                  </a:rPr>
                  <a:t>操作，</a:t>
                </a:r>
                <a:r>
                  <a:rPr lang="en-US" altLang="zh-CN" sz="2400" i="1" dirty="0" smtClean="0">
                    <a:ea typeface="华文楷体" panose="02010600040101010101" pitchFamily="2" charset="-122"/>
                  </a:rPr>
                  <a:t>n</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次</a:t>
                </a:r>
                <a:r>
                  <a:rPr lang="en-US" altLang="zh-CN" sz="2400" i="1" dirty="0" smtClean="0">
                    <a:solidFill>
                      <a:srgbClr val="008080"/>
                    </a:solidFill>
                    <a:ea typeface="华文楷体" panose="02010600040101010101" pitchFamily="2" charset="-122"/>
                  </a:rPr>
                  <a:t>Union</a:t>
                </a:r>
                <a:r>
                  <a:rPr lang="en-US" altLang="zh-CN" sz="2400" dirty="0" smtClean="0">
                    <a:solidFill>
                      <a:srgbClr val="008080"/>
                    </a:solidFill>
                    <a:ea typeface="华文楷体" panose="02010600040101010101" pitchFamily="2" charset="-122"/>
                  </a:rPr>
                  <a:t>( )</a:t>
                </a:r>
                <a:r>
                  <a:rPr lang="zh-CN" altLang="en-US" sz="2400" dirty="0" smtClean="0">
                    <a:ea typeface="华文楷体" panose="02010600040101010101" pitchFamily="2" charset="-122"/>
                  </a:rPr>
                  <a:t>操作，计算时间分别为</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a:t>
                </a:r>
                <a:r>
                  <a:rPr lang="zh-CN" altLang="en-US" sz="2400" dirty="0" smtClean="0">
                    <a:ea typeface="华文楷体" panose="02010600040101010101" pitchFamily="2" charset="-122"/>
                  </a:rPr>
                  <a:t>，</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n</a:t>
                </a:r>
                <a:r>
                  <a:rPr lang="en-US" altLang="zh-CN" sz="2400" dirty="0" smtClean="0">
                    <a:solidFill>
                      <a:schemeClr val="tx2"/>
                    </a:solidFill>
                    <a:ea typeface="华文楷体" panose="02010600040101010101" pitchFamily="2" charset="-122"/>
                  </a:rPr>
                  <a:t>)</a:t>
                </a:r>
                <a:r>
                  <a:rPr lang="zh-CN" altLang="en-US" sz="2400" dirty="0" smtClean="0">
                    <a:ea typeface="华文楷体" panose="02010600040101010101" pitchFamily="2" charset="-122"/>
                  </a:rPr>
                  <a:t>和</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n</a:t>
                </a:r>
                <a:r>
                  <a:rPr lang="en-US" altLang="zh-CN" sz="2400" dirty="0" smtClean="0">
                    <a:solidFill>
                      <a:schemeClr val="tx2"/>
                    </a:solidFill>
                    <a:ea typeface="华文楷体" panose="02010600040101010101" pitchFamily="2" charset="-122"/>
                  </a:rPr>
                  <a: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110000"/>
                  </a:lnSpc>
                  <a:spcBef>
                    <a:spcPct val="0"/>
                  </a:spcBef>
                  <a:buNone/>
                  <a:defRPr/>
                </a:pPr>
                <a:r>
                  <a:rPr lang="zh-CN" altLang="en-US" sz="2400" dirty="0" smtClean="0">
                    <a:latin typeface="宋体" panose="02010600030101010101" pitchFamily="2" charset="-122"/>
                    <a:ea typeface="宋体" panose="02010600030101010101" pitchFamily="2" charset="-122"/>
                  </a:rPr>
                  <a:t>③</a:t>
                </a:r>
                <a:r>
                  <a:rPr lang="zh-CN" altLang="en-US" sz="2400" dirty="0" smtClean="0">
                    <a:ea typeface="华文楷体" panose="02010600040101010101" pitchFamily="2" charset="-122"/>
                  </a:rPr>
                  <a:t>对于无向连通图</a:t>
                </a:r>
                <a:r>
                  <a:rPr lang="zh-CN" altLang="en-US" sz="2400" dirty="0">
                    <a:ea typeface="华文楷体" panose="02010600040101010101" pitchFamily="2" charset="-122"/>
                  </a:rPr>
                  <a:t>而言</a:t>
                </a:r>
                <a:r>
                  <a:rPr lang="en-US" altLang="zh-CN" sz="2400" dirty="0" smtClean="0">
                    <a:ea typeface="华文楷体" panose="02010600040101010101" pitchFamily="2" charset="-122"/>
                  </a:rPr>
                  <a:t>e</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a14:m>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因此总的计算时间为 </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 + </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n</a:t>
                </a:r>
                <a:r>
                  <a:rPr lang="en-US" altLang="zh-CN" sz="2400" dirty="0" smtClean="0">
                    <a:solidFill>
                      <a:schemeClr val="tx2"/>
                    </a:solidFill>
                    <a:ea typeface="华文楷体" panose="02010600040101010101" pitchFamily="2" charset="-122"/>
                  </a:rPr>
                  <a:t> +</a:t>
                </a:r>
                <a:r>
                  <a:rPr lang="en-US" altLang="zh-CN" sz="2400" i="1" dirty="0" smtClean="0">
                    <a:solidFill>
                      <a:schemeClr val="tx2"/>
                    </a:solidFill>
                    <a:ea typeface="华文楷体" panose="02010600040101010101" pitchFamily="2" charset="-122"/>
                  </a:rPr>
                  <a:t> n</a:t>
                </a:r>
                <a:r>
                  <a:rPr lang="en-US" altLang="zh-CN" sz="2400" dirty="0">
                    <a:solidFill>
                      <a:schemeClr val="tx2"/>
                    </a:solidFill>
                    <a:ea typeface="华文楷体" panose="02010600040101010101" pitchFamily="2" charset="-122"/>
                  </a:rPr>
                  <a:t>)=</a:t>
                </a:r>
                <a:r>
                  <a:rPr lang="en-US" altLang="zh-CN" sz="2400" dirty="0" smtClean="0">
                    <a:solidFill>
                      <a:schemeClr val="tx2"/>
                    </a:solidFill>
                    <a:ea typeface="华文楷体" panose="02010600040101010101" pitchFamily="2" charset="-122"/>
                  </a:rPr>
                  <a:t>O(</a:t>
                </a:r>
                <a:r>
                  <a:rPr lang="en-US" altLang="zh-CN" sz="2400" i="1" dirty="0" smtClean="0">
                    <a:solidFill>
                      <a:schemeClr val="tx2"/>
                    </a:solidFill>
                    <a:ea typeface="华文楷体" panose="02010600040101010101" pitchFamily="2" charset="-122"/>
                  </a:rPr>
                  <a:t>e</a:t>
                </a:r>
                <a:r>
                  <a:rPr lang="en-US" altLang="zh-CN" sz="2400" dirty="0" smtClean="0">
                    <a:solidFill>
                      <a:schemeClr val="tx2"/>
                    </a:solidFill>
                    <a:ea typeface="华文楷体" panose="02010600040101010101" pitchFamily="2" charset="-122"/>
                  </a:rPr>
                  <a:t>log</a:t>
                </a:r>
                <a:r>
                  <a:rPr lang="en-US" altLang="zh-CN" sz="2400" baseline="-25000" dirty="0" smtClean="0">
                    <a:solidFill>
                      <a:schemeClr val="tx2"/>
                    </a:solidFill>
                    <a:ea typeface="华文楷体" panose="02010600040101010101" pitchFamily="2" charset="-122"/>
                  </a:rPr>
                  <a:t>2</a:t>
                </a:r>
                <a:r>
                  <a:rPr lang="en-US" altLang="zh-CN" sz="2400" i="1" dirty="0" smtClean="0">
                    <a:solidFill>
                      <a:schemeClr val="tx2"/>
                    </a:solidFill>
                    <a:ea typeface="华文楷体" panose="02010600040101010101" pitchFamily="2" charset="-122"/>
                  </a:rPr>
                  <a:t>e</a:t>
                </a:r>
                <a:r>
                  <a:rPr lang="en-US" altLang="zh-CN" sz="2400" dirty="0">
                    <a:solidFill>
                      <a:schemeClr val="tx2"/>
                    </a:solidFill>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defRPr/>
                </a:pPr>
                <a:endParaRPr lang="en-US" altLang="zh-CN" sz="2400" dirty="0" smtClean="0">
                  <a:ea typeface="华文楷体" panose="02010600040101010101" pitchFamily="2" charset="-122"/>
                </a:endParaRPr>
              </a:p>
            </p:txBody>
          </p:sp>
        </mc:Choice>
        <mc:Fallback>
          <p:sp>
            <p:nvSpPr>
              <p:cNvPr id="71683" name="Rectangle 3"/>
              <p:cNvSpPr>
                <a:spLocks noRot="1" noChangeAspect="1" noMove="1" noResize="1" noEditPoints="1" noAdjustHandles="1" noChangeArrowheads="1" noChangeShapeType="1" noTextEdit="1"/>
              </p:cNvSpPr>
              <p:nvPr>
                <p:ph type="body" idx="1"/>
              </p:nvPr>
            </p:nvSpPr>
            <p:spPr>
              <a:xfrm>
                <a:off x="335132" y="1371600"/>
                <a:ext cx="8229600" cy="4257675"/>
              </a:xfrm>
              <a:blipFill rotWithShape="1">
                <a:blip r:embed="rId1"/>
                <a:stretch>
                  <a:fillRect l="-60" t="-119" r="-56" b="-5787"/>
                </a:stretch>
              </a:blipFill>
              <a:ln>
                <a:solidFill>
                  <a:schemeClr val="accent1"/>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451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270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000" b="1" dirty="0">
                <a:solidFill>
                  <a:srgbClr val="C00000"/>
                </a:solidFill>
                <a:ea typeface="华文楷体" panose="02010600040101010101" pitchFamily="2" charset="-122"/>
              </a:rPr>
              <a:t>[</a:t>
            </a:r>
            <a:r>
              <a:rPr lang="en-US" altLang="zh-CN" sz="2000" b="1" dirty="0" err="1" smtClean="0">
                <a:solidFill>
                  <a:srgbClr val="C00000"/>
                </a:solidFill>
                <a:ea typeface="华文楷体" panose="02010600040101010101" pitchFamily="2" charset="-122"/>
              </a:rPr>
              <a:t>Kruskal</a:t>
            </a:r>
            <a:r>
              <a:rPr lang="zh-CN" altLang="en-US" sz="2000" b="1" dirty="0" smtClean="0">
                <a:solidFill>
                  <a:srgbClr val="C00000"/>
                </a:solidFill>
                <a:ea typeface="华文楷体" panose="02010600040101010101" pitchFamily="2" charset="-122"/>
              </a:rPr>
              <a:t>算法的修改</a:t>
            </a:r>
            <a:r>
              <a:rPr lang="en-US" altLang="zh-CN" sz="2000" b="1" dirty="0" smtClean="0">
                <a:solidFill>
                  <a:srgbClr val="C00000"/>
                </a:solidFill>
                <a:ea typeface="华文楷体" panose="02010600040101010101" pitchFamily="2" charset="-122"/>
              </a:rPr>
              <a:t>]</a:t>
            </a:r>
            <a:endParaRPr lang="en-US" altLang="zh-CN" sz="2000" b="1" dirty="0" smtClean="0">
              <a:solidFill>
                <a:srgbClr val="C00000"/>
              </a:solidFill>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用</a:t>
            </a:r>
            <a:r>
              <a:rPr lang="zh-CN" altLang="en-US" sz="2000" dirty="0">
                <a:ea typeface="华文楷体" panose="02010600040101010101" pitchFamily="2" charset="-122"/>
              </a:rPr>
              <a:t>“破圈法”求解带权连通无向图的一棵最小代价生成树。所谓“破圈法”就是“任取一圈（环），去掉圈上权最大的</a:t>
            </a:r>
            <a:r>
              <a:rPr lang="zh-CN" altLang="en-US" sz="2000" dirty="0" smtClean="0">
                <a:ea typeface="华文楷体" panose="02010600040101010101" pitchFamily="2" charset="-122"/>
              </a:rPr>
              <a:t>边”，</a:t>
            </a:r>
            <a:r>
              <a:rPr lang="zh-CN" altLang="en-US" sz="2000" dirty="0">
                <a:ea typeface="华文楷体" panose="02010600040101010101" pitchFamily="2" charset="-122"/>
              </a:rPr>
              <a:t>反复执行这一步骤，直到没有圈为止</a:t>
            </a:r>
            <a:r>
              <a:rPr lang="zh-CN" altLang="en-US" sz="2000" dirty="0" smtClean="0">
                <a:ea typeface="华文楷体" panose="02010600040101010101" pitchFamily="2" charset="-122"/>
              </a:rPr>
              <a:t>。 </a:t>
            </a:r>
            <a:r>
              <a:rPr lang="zh-CN" altLang="en-US" sz="2000" b="1" dirty="0" smtClean="0">
                <a:solidFill>
                  <a:srgbClr val="C00000"/>
                </a:solidFill>
                <a:ea typeface="华文楷体" panose="02010600040101010101" pitchFamily="2" charset="-122"/>
              </a:rPr>
              <a:t>算法重点在于如何将边排序以及如何判定环。  </a:t>
            </a:r>
            <a:endParaRPr lang="en-US" altLang="zh-CN" sz="2000" b="1" dirty="0" smtClean="0">
              <a:solidFill>
                <a:srgbClr val="C00000"/>
              </a:solidFill>
              <a:ea typeface="华文楷体" panose="02010600040101010101" pitchFamily="2" charset="-122"/>
            </a:endParaRPr>
          </a:p>
          <a:p>
            <a:pPr eaLnBrk="1" hangingPunct="1">
              <a:lnSpc>
                <a:spcPct val="80000"/>
              </a:lnSpc>
              <a:buFont typeface="Wingdings" panose="05000000000000000000" pitchFamily="2" charset="2"/>
              <a:buNone/>
            </a:pPr>
            <a:endParaRPr lang="en-US" altLang="zh-CN" sz="2000" b="1" dirty="0" smtClean="0">
              <a:ea typeface="华文楷体" panose="02010600040101010101" pitchFamily="2" charset="-122"/>
            </a:endParaRPr>
          </a:p>
        </p:txBody>
      </p:sp>
      <p:sp>
        <p:nvSpPr>
          <p:cNvPr id="2" name="文本框 1"/>
          <p:cNvSpPr txBox="1"/>
          <p:nvPr/>
        </p:nvSpPr>
        <p:spPr>
          <a:xfrm>
            <a:off x="685800" y="2819400"/>
            <a:ext cx="7620000" cy="2308324"/>
          </a:xfrm>
          <a:prstGeom prst="rect">
            <a:avLst/>
          </a:prstGeom>
          <a:noFill/>
          <a:ln>
            <a:solidFill>
              <a:schemeClr val="accent1"/>
            </a:solidFill>
          </a:ln>
        </p:spPr>
        <p:txBody>
          <a:bodyPr wrap="square" rtlCol="0">
            <a:spAutoFit/>
          </a:bodyPr>
          <a:lstStyle/>
          <a:p>
            <a:pPr eaLnBrk="1" hangingPunct="1">
              <a:lnSpc>
                <a:spcPct val="80000"/>
              </a:lnSpc>
              <a:buNone/>
            </a:pPr>
            <a:r>
              <a:rPr lang="en-US" altLang="zh-CN" b="1" dirty="0" smtClean="0">
                <a:solidFill>
                  <a:srgbClr val="C00000"/>
                </a:solidFill>
                <a:latin typeface="Times New Roman" panose="02020603050405020304" pitchFamily="18" charset="0"/>
                <a:ea typeface="华文楷体" panose="02010600040101010101" pitchFamily="2" charset="-122"/>
              </a:rPr>
              <a:t>[</a:t>
            </a:r>
            <a:r>
              <a:rPr lang="zh-CN" altLang="en-US" b="1" dirty="0" smtClean="0">
                <a:solidFill>
                  <a:srgbClr val="C00000"/>
                </a:solidFill>
                <a:latin typeface="Times New Roman" panose="02020603050405020304" pitchFamily="18" charset="0"/>
                <a:ea typeface="华文楷体" panose="02010600040101010101" pitchFamily="2" charset="-122"/>
              </a:rPr>
              <a:t>算法描述</a:t>
            </a:r>
            <a:r>
              <a:rPr lang="en-US" altLang="zh-CN" b="1" dirty="0" smtClean="0">
                <a:solidFill>
                  <a:srgbClr val="C00000"/>
                </a:solidFill>
                <a:latin typeface="Times New Roman" panose="02020603050405020304" pitchFamily="18" charset="0"/>
                <a:ea typeface="华文楷体" panose="02010600040101010101" pitchFamily="2" charset="-122"/>
              </a:rPr>
              <a:t>]</a:t>
            </a:r>
            <a:endParaRPr lang="en-US" altLang="zh-CN" b="1" dirty="0" smtClean="0">
              <a:solidFill>
                <a:srgbClr val="C00000"/>
              </a:solidFill>
              <a:latin typeface="Times New Roman" panose="02020603050405020304" pitchFamily="18" charset="0"/>
              <a:ea typeface="华文楷体" panose="02010600040101010101" pitchFamily="2" charset="-122"/>
            </a:endParaRPr>
          </a:p>
          <a:p>
            <a:pPr eaLnBrk="1" hangingPunct="1">
              <a:lnSpc>
                <a:spcPct val="80000"/>
              </a:lnSpc>
              <a:buNone/>
            </a:pPr>
            <a:endParaRPr lang="en-US" altLang="zh-CN" dirty="0" smtClean="0">
              <a:latin typeface="Times New Roman" panose="02020603050405020304" pitchFamily="18" charset="0"/>
              <a:ea typeface="华文楷体" panose="02010600040101010101" pitchFamily="2" charset="-122"/>
            </a:endParaRPr>
          </a:p>
          <a:p>
            <a:pPr eaLnBrk="1" hangingPunct="1">
              <a:lnSpc>
                <a:spcPct val="80000"/>
              </a:lnSpc>
              <a:buNone/>
            </a:pPr>
            <a:r>
              <a:rPr lang="zh-CN" altLang="zh-CN" dirty="0">
                <a:latin typeface="Times New Roman" panose="02020603050405020304" pitchFamily="18" charset="0"/>
                <a:ea typeface="华文楷体" panose="02010600040101010101" pitchFamily="2" charset="-122"/>
              </a:rPr>
              <a:t>①</a:t>
            </a:r>
            <a:r>
              <a:rPr lang="zh-CN" altLang="en-US" dirty="0" smtClean="0">
                <a:latin typeface="Times New Roman" panose="02020603050405020304" pitchFamily="18" charset="0"/>
                <a:ea typeface="华文楷体" panose="02010600040101010101" pitchFamily="2" charset="-122"/>
              </a:rPr>
              <a:t>将</a:t>
            </a:r>
            <a:r>
              <a:rPr lang="zh-CN" altLang="en-US" dirty="0">
                <a:latin typeface="Times New Roman" panose="02020603050405020304" pitchFamily="18" charset="0"/>
                <a:ea typeface="华文楷体" panose="02010600040101010101" pitchFamily="2" charset="-122"/>
              </a:rPr>
              <a:t>图中所有边按权重从大到小排序为（</a:t>
            </a:r>
            <a:r>
              <a:rPr lang="en-US" altLang="zh-CN" dirty="0">
                <a:latin typeface="Times New Roman" panose="02020603050405020304" pitchFamily="18" charset="0"/>
                <a:ea typeface="华文楷体" panose="02010600040101010101" pitchFamily="2" charset="-122"/>
              </a:rPr>
              <a:t>e1,e2,…,</a:t>
            </a:r>
            <a:r>
              <a:rPr lang="en-US" altLang="zh-CN" dirty="0" err="1">
                <a:latin typeface="Times New Roman" panose="02020603050405020304" pitchFamily="18" charset="0"/>
                <a:ea typeface="华文楷体" panose="02010600040101010101" pitchFamily="2" charset="-122"/>
              </a:rPr>
              <a:t>em</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zh-CN" altLang="en-US" dirty="0" smtClean="0">
                <a:latin typeface="宋体" panose="02010600030101010101" pitchFamily="2" charset="-122"/>
              </a:rPr>
              <a:t>②</a:t>
            </a:r>
            <a:r>
              <a:rPr lang="zh-CN" altLang="en-US" dirty="0" smtClean="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=1</a:t>
            </a:r>
            <a:endParaRPr lang="en-US" altLang="zh-CN"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smtClean="0">
                <a:latin typeface="宋体" panose="02010600030101010101" pitchFamily="2" charset="-122"/>
              </a:rPr>
              <a:t>③</a:t>
            </a:r>
            <a:r>
              <a:rPr lang="en-US" altLang="zh-CN" dirty="0" smtClean="0">
                <a:latin typeface="Times New Roman" panose="02020603050405020304" pitchFamily="18" charset="0"/>
                <a:ea typeface="华文楷体" panose="02010600040101010101" pitchFamily="2" charset="-122"/>
              </a:rPr>
              <a:t>while (</a:t>
            </a:r>
            <a:r>
              <a:rPr lang="en-US" altLang="zh-CN" dirty="0" err="1" smtClean="0">
                <a:latin typeface="Times New Roman" panose="02020603050405020304" pitchFamily="18" charset="0"/>
                <a:ea typeface="华文楷体" panose="02010600040101010101" pitchFamily="2" charset="-122"/>
              </a:rPr>
              <a:t>i</a:t>
            </a:r>
            <a:r>
              <a:rPr lang="zh-CN" altLang="en-US" dirty="0" smtClean="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&lt; </a:t>
            </a:r>
            <a:r>
              <a:rPr lang="zh-CN" altLang="en-US" dirty="0" smtClean="0">
                <a:latin typeface="Times New Roman" panose="02020603050405020304" pitchFamily="18" charset="0"/>
                <a:ea typeface="华文楷体" panose="02010600040101010101" pitchFamily="2" charset="-122"/>
              </a:rPr>
              <a:t>顶点</a:t>
            </a:r>
            <a:r>
              <a:rPr lang="zh-CN" altLang="en-US" dirty="0">
                <a:latin typeface="Times New Roman" panose="02020603050405020304" pitchFamily="18" charset="0"/>
                <a:ea typeface="华文楷体" panose="02010600040101010101" pitchFamily="2" charset="-122"/>
              </a:rPr>
              <a:t>数</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en-US" altLang="zh-CN"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       </a:t>
            </a:r>
            <a:r>
              <a:rPr lang="zh-CN" altLang="en-US" dirty="0">
                <a:latin typeface="Times New Roman" panose="02020603050405020304" pitchFamily="18" charset="0"/>
                <a:ea typeface="华文楷体" panose="02010600040101010101" pitchFamily="2" charset="-122"/>
              </a:rPr>
              <a:t>从图中删去</a:t>
            </a:r>
            <a:r>
              <a:rPr lang="en-US" altLang="zh-CN" dirty="0" err="1">
                <a:latin typeface="Times New Roman" panose="02020603050405020304" pitchFamily="18" charset="0"/>
                <a:ea typeface="华文楷体" panose="02010600040101010101" pitchFamily="2" charset="-122"/>
              </a:rPr>
              <a:t>ei</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       </a:t>
            </a:r>
            <a:r>
              <a:rPr lang="zh-CN" altLang="en-US" dirty="0">
                <a:latin typeface="Times New Roman" panose="02020603050405020304" pitchFamily="18" charset="0"/>
                <a:ea typeface="华文楷体" panose="02010600040101010101" pitchFamily="2" charset="-122"/>
              </a:rPr>
              <a:t>若图不再连通，则恢复</a:t>
            </a:r>
            <a:r>
              <a:rPr lang="en-US" altLang="zh-CN" dirty="0" err="1">
                <a:latin typeface="Times New Roman" panose="02020603050405020304" pitchFamily="18" charset="0"/>
                <a:ea typeface="华文楷体" panose="02010600040101010101" pitchFamily="2" charset="-122"/>
              </a:rPr>
              <a:t>ei</a:t>
            </a: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       </a:t>
            </a:r>
            <a:r>
              <a:rPr lang="en-US" altLang="zh-CN" dirty="0" err="1">
                <a:latin typeface="Times New Roman" panose="02020603050405020304" pitchFamily="18" charset="0"/>
                <a:ea typeface="华文楷体" panose="02010600040101010101" pitchFamily="2" charset="-122"/>
              </a:rPr>
              <a:t>i</a:t>
            </a:r>
            <a:r>
              <a:rPr lang="en-US" altLang="zh-CN" dirty="0">
                <a:latin typeface="Times New Roman" panose="02020603050405020304" pitchFamily="18" charset="0"/>
                <a:ea typeface="华文楷体" panose="02010600040101010101" pitchFamily="2" charset="-122"/>
              </a:rPr>
              <a:t>=i+1</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页脚占位符 3"/>
          <p:cNvSpPr>
            <a:spLocks noGrp="1"/>
          </p:cNvSpPr>
          <p:nvPr>
            <p:ph type="ftr" sz="quarter" idx="10"/>
          </p:nvPr>
        </p:nvSpPr>
        <p:spPr/>
        <p:txBody>
          <a:bodyPr/>
          <a:lstStyle/>
          <a:p>
            <a:pPr>
              <a:defRPr/>
            </a:pPr>
            <a:r>
              <a:rPr lang="en-US" altLang="zh-CN"/>
              <a:t>BUPT SCST</a:t>
            </a:r>
            <a:endParaRPr lang="en-US" altLang="zh-CN"/>
          </a:p>
        </p:txBody>
      </p:sp>
      <p:sp>
        <p:nvSpPr>
          <p:cNvPr id="59" name="日期占位符 5"/>
          <p:cNvSpPr>
            <a:spLocks noGrp="1"/>
          </p:cNvSpPr>
          <p:nvPr>
            <p:ph type="dt" sz="quarter" idx="12"/>
          </p:nvPr>
        </p:nvSpPr>
        <p:spPr/>
        <p:txBody>
          <a:bodyPr/>
          <a:lstStyle/>
          <a:p>
            <a:pPr>
              <a:defRPr/>
            </a:pPr>
            <a:r>
              <a:rPr lang="en-US" altLang="zh-CN"/>
              <a:t>BUPT</a:t>
            </a:r>
            <a:endParaRPr lang="en-US" altLang="zh-CN"/>
          </a:p>
        </p:txBody>
      </p:sp>
      <p:sp>
        <p:nvSpPr>
          <p:cNvPr id="67588"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7.5 </a:t>
            </a:r>
            <a:r>
              <a:rPr lang="zh-CN" altLang="en-US" sz="2800" dirty="0" smtClean="0">
                <a:ea typeface="华文楷体" panose="02010600040101010101" pitchFamily="2" charset="-122"/>
              </a:rPr>
              <a:t>有向无环图的应用</a:t>
            </a:r>
            <a:endParaRPr lang="zh-CN" altLang="en-US" sz="2800" dirty="0" smtClean="0">
              <a:ea typeface="华文楷体" panose="02010600040101010101" pitchFamily="2" charset="-122"/>
            </a:endParaRPr>
          </a:p>
        </p:txBody>
      </p:sp>
      <p:sp>
        <p:nvSpPr>
          <p:cNvPr id="67589" name="Rectangle 3"/>
          <p:cNvSpPr>
            <a:spLocks noChangeArrowheads="1"/>
          </p:cNvSpPr>
          <p:nvPr/>
        </p:nvSpPr>
        <p:spPr bwMode="auto">
          <a:xfrm>
            <a:off x="76200" y="1116013"/>
            <a:ext cx="5638800"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1</a:t>
            </a:r>
            <a:r>
              <a:rPr kumimoji="1" lang="zh-CN" altLang="en-US" sz="2400" dirty="0">
                <a:solidFill>
                  <a:schemeClr val="accent2"/>
                </a:solidFill>
                <a:latin typeface="Times New Roman" panose="02020603050405020304" pitchFamily="18" charset="0"/>
                <a:ea typeface="华文楷体" panose="02010600040101010101" pitchFamily="2" charset="-122"/>
              </a:rPr>
              <a:t>、何为有向无环图（</a:t>
            </a:r>
            <a:r>
              <a:rPr kumimoji="1" lang="en-US" altLang="zh-CN" sz="2400" dirty="0">
                <a:solidFill>
                  <a:schemeClr val="accent2"/>
                </a:solidFill>
                <a:latin typeface="Times New Roman" panose="02020603050405020304" pitchFamily="18" charset="0"/>
                <a:ea typeface="华文楷体" panose="02010600040101010101" pitchFamily="2" charset="-122"/>
              </a:rPr>
              <a:t>DAG </a:t>
            </a:r>
            <a:r>
              <a:rPr kumimoji="1" lang="zh-CN" altLang="zh-CN" sz="2400" dirty="0">
                <a:solidFill>
                  <a:schemeClr val="accent2"/>
                </a:solidFill>
                <a:latin typeface="Times New Roman" panose="02020603050405020304" pitchFamily="18" charset="0"/>
                <a:ea typeface="华文楷体" panose="02010600040101010101" pitchFamily="2" charset="-122"/>
              </a:rPr>
              <a:t>图</a:t>
            </a:r>
            <a:r>
              <a:rPr kumimoji="1" lang="zh-CN" altLang="en-US" sz="2400" dirty="0">
                <a:solidFill>
                  <a:schemeClr val="accent2"/>
                </a:solidFill>
                <a:latin typeface="Times New Roman" panose="02020603050405020304" pitchFamily="18" charset="0"/>
                <a:ea typeface="华文楷体" panose="02010600040101010101" pitchFamily="2" charset="-122"/>
              </a:rPr>
              <a:t>）</a:t>
            </a:r>
            <a:endParaRPr kumimoji="1" lang="zh-CN" altLang="en-US" sz="2400" dirty="0">
              <a:solidFill>
                <a:schemeClr val="accent2"/>
              </a:solidFill>
              <a:latin typeface="Times New Roman" panose="02020603050405020304" pitchFamily="18" charset="0"/>
              <a:ea typeface="华文楷体" panose="02010600040101010101" pitchFamily="2" charset="-122"/>
            </a:endParaRPr>
          </a:p>
        </p:txBody>
      </p:sp>
      <p:sp>
        <p:nvSpPr>
          <p:cNvPr id="67590" name="Text Box 4"/>
          <p:cNvSpPr txBox="1">
            <a:spLocks noChangeArrowheads="1"/>
          </p:cNvSpPr>
          <p:nvPr/>
        </p:nvSpPr>
        <p:spPr bwMode="auto">
          <a:xfrm>
            <a:off x="76200" y="1492250"/>
            <a:ext cx="2895600"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  </a:t>
            </a:r>
            <a:r>
              <a:rPr lang="en-US" altLang="zh-CN" sz="2400" b="1" dirty="0">
                <a:solidFill>
                  <a:srgbClr val="996600"/>
                </a:solidFill>
                <a:latin typeface="Times New Roman" panose="02020603050405020304" pitchFamily="18" charset="0"/>
                <a:ea typeface="华文楷体" panose="02010600040101010101" pitchFamily="2" charset="-122"/>
              </a:rPr>
              <a:t>[</a:t>
            </a:r>
            <a:r>
              <a:rPr lang="zh-CN" altLang="en-US" sz="2400" b="1" dirty="0">
                <a:solidFill>
                  <a:srgbClr val="996600"/>
                </a:solidFill>
                <a:latin typeface="Times New Roman" panose="02020603050405020304" pitchFamily="18" charset="0"/>
                <a:ea typeface="华文楷体" panose="02010600040101010101" pitchFamily="2" charset="-122"/>
              </a:rPr>
              <a:t>实例</a:t>
            </a:r>
            <a:r>
              <a:rPr lang="en-US" altLang="zh-CN" sz="2400" b="1" dirty="0">
                <a:solidFill>
                  <a:srgbClr val="996600"/>
                </a:solidFill>
                <a:latin typeface="Times New Roman" panose="02020603050405020304" pitchFamily="18" charset="0"/>
                <a:ea typeface="华文楷体" panose="02010600040101010101" pitchFamily="2" charset="-122"/>
              </a:rPr>
              <a:t>]</a:t>
            </a:r>
            <a:endParaRPr lang="en-US" altLang="zh-CN" sz="2400" b="1" dirty="0">
              <a:solidFill>
                <a:srgbClr val="996600"/>
              </a:solidFill>
              <a:latin typeface="Times New Roman" panose="02020603050405020304" pitchFamily="18" charset="0"/>
              <a:ea typeface="华文楷体" panose="02010600040101010101" pitchFamily="2" charset="-122"/>
            </a:endParaRPr>
          </a:p>
        </p:txBody>
      </p:sp>
      <p:sp>
        <p:nvSpPr>
          <p:cNvPr id="67592" name="Oval 6"/>
          <p:cNvSpPr>
            <a:spLocks noChangeArrowheads="1"/>
          </p:cNvSpPr>
          <p:nvPr/>
        </p:nvSpPr>
        <p:spPr bwMode="auto">
          <a:xfrm>
            <a:off x="2209800" y="160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67593" name="Line 7"/>
          <p:cNvSpPr>
            <a:spLocks noChangeShapeType="1"/>
          </p:cNvSpPr>
          <p:nvPr/>
        </p:nvSpPr>
        <p:spPr bwMode="auto">
          <a:xfrm flipH="1">
            <a:off x="1981200" y="19050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4" name="Oval 8"/>
          <p:cNvSpPr>
            <a:spLocks noChangeArrowheads="1"/>
          </p:cNvSpPr>
          <p:nvPr/>
        </p:nvSpPr>
        <p:spPr bwMode="auto">
          <a:xfrm>
            <a:off x="1676400" y="236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67595" name="Line 9"/>
          <p:cNvSpPr>
            <a:spLocks noChangeShapeType="1"/>
          </p:cNvSpPr>
          <p:nvPr/>
        </p:nvSpPr>
        <p:spPr bwMode="auto">
          <a:xfrm flipV="1">
            <a:off x="1524000" y="2743200"/>
            <a:ext cx="228600" cy="4572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6" name="Line 10"/>
          <p:cNvSpPr>
            <a:spLocks noChangeShapeType="1"/>
          </p:cNvSpPr>
          <p:nvPr/>
        </p:nvSpPr>
        <p:spPr bwMode="auto">
          <a:xfrm flipH="1" flipV="1">
            <a:off x="2438400" y="1981200"/>
            <a:ext cx="0" cy="3810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7" name="Oval 11"/>
          <p:cNvSpPr>
            <a:spLocks noChangeArrowheads="1"/>
          </p:cNvSpPr>
          <p:nvPr/>
        </p:nvSpPr>
        <p:spPr bwMode="auto">
          <a:xfrm>
            <a:off x="2209800" y="236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67598" name="Oval 12"/>
          <p:cNvSpPr>
            <a:spLocks noChangeArrowheads="1"/>
          </p:cNvSpPr>
          <p:nvPr/>
        </p:nvSpPr>
        <p:spPr bwMode="auto">
          <a:xfrm>
            <a:off x="2743200" y="236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67599" name="Oval 13"/>
          <p:cNvSpPr>
            <a:spLocks noChangeArrowheads="1"/>
          </p:cNvSpPr>
          <p:nvPr/>
        </p:nvSpPr>
        <p:spPr bwMode="auto">
          <a:xfrm>
            <a:off x="12192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67600" name="Line 14"/>
          <p:cNvSpPr>
            <a:spLocks noChangeShapeType="1"/>
          </p:cNvSpPr>
          <p:nvPr/>
        </p:nvSpPr>
        <p:spPr bwMode="auto">
          <a:xfrm>
            <a:off x="2590800" y="1905000"/>
            <a:ext cx="304800" cy="4572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1" name="Line 15"/>
          <p:cNvSpPr>
            <a:spLocks noChangeShapeType="1"/>
          </p:cNvSpPr>
          <p:nvPr/>
        </p:nvSpPr>
        <p:spPr bwMode="auto">
          <a:xfrm flipH="1" flipV="1">
            <a:off x="1981200" y="2743200"/>
            <a:ext cx="0" cy="4572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2" name="Oval 16"/>
          <p:cNvSpPr>
            <a:spLocks noChangeArrowheads="1"/>
          </p:cNvSpPr>
          <p:nvPr/>
        </p:nvSpPr>
        <p:spPr bwMode="auto">
          <a:xfrm>
            <a:off x="17526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67603" name="Oval 17"/>
          <p:cNvSpPr>
            <a:spLocks noChangeArrowheads="1"/>
          </p:cNvSpPr>
          <p:nvPr/>
        </p:nvSpPr>
        <p:spPr bwMode="auto">
          <a:xfrm>
            <a:off x="22860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67604" name="Line 18"/>
          <p:cNvSpPr>
            <a:spLocks noChangeShapeType="1"/>
          </p:cNvSpPr>
          <p:nvPr/>
        </p:nvSpPr>
        <p:spPr bwMode="auto">
          <a:xfrm>
            <a:off x="2057400" y="2667000"/>
            <a:ext cx="3810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5" name="Oval 19"/>
          <p:cNvSpPr>
            <a:spLocks noChangeArrowheads="1"/>
          </p:cNvSpPr>
          <p:nvPr/>
        </p:nvSpPr>
        <p:spPr bwMode="auto">
          <a:xfrm>
            <a:off x="4572000" y="1752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67606" name="Line 20"/>
          <p:cNvSpPr>
            <a:spLocks noChangeShapeType="1"/>
          </p:cNvSpPr>
          <p:nvPr/>
        </p:nvSpPr>
        <p:spPr bwMode="auto">
          <a:xfrm flipH="1">
            <a:off x="4343400" y="20574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7" name="Oval 21"/>
          <p:cNvSpPr>
            <a:spLocks noChangeArrowheads="1"/>
          </p:cNvSpPr>
          <p:nvPr/>
        </p:nvSpPr>
        <p:spPr bwMode="auto">
          <a:xfrm>
            <a:off x="4038600" y="251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67608" name="Line 22"/>
          <p:cNvSpPr>
            <a:spLocks noChangeShapeType="1"/>
          </p:cNvSpPr>
          <p:nvPr/>
        </p:nvSpPr>
        <p:spPr bwMode="auto">
          <a:xfrm flipV="1">
            <a:off x="3886200" y="2895600"/>
            <a:ext cx="228600" cy="4572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9" name="Line 23"/>
          <p:cNvSpPr>
            <a:spLocks noChangeShapeType="1"/>
          </p:cNvSpPr>
          <p:nvPr/>
        </p:nvSpPr>
        <p:spPr bwMode="auto">
          <a:xfrm flipH="1" flipV="1">
            <a:off x="4800600" y="2133600"/>
            <a:ext cx="0" cy="3810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0" name="Oval 24"/>
          <p:cNvSpPr>
            <a:spLocks noChangeArrowheads="1"/>
          </p:cNvSpPr>
          <p:nvPr/>
        </p:nvSpPr>
        <p:spPr bwMode="auto">
          <a:xfrm>
            <a:off x="4572000" y="251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67611" name="Oval 25"/>
          <p:cNvSpPr>
            <a:spLocks noChangeArrowheads="1"/>
          </p:cNvSpPr>
          <p:nvPr/>
        </p:nvSpPr>
        <p:spPr bwMode="auto">
          <a:xfrm>
            <a:off x="5105400" y="251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67612" name="Oval 26"/>
          <p:cNvSpPr>
            <a:spLocks noChangeArrowheads="1"/>
          </p:cNvSpPr>
          <p:nvPr/>
        </p:nvSpPr>
        <p:spPr bwMode="auto">
          <a:xfrm>
            <a:off x="3581400" y="3352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67613" name="Line 27"/>
          <p:cNvSpPr>
            <a:spLocks noChangeShapeType="1"/>
          </p:cNvSpPr>
          <p:nvPr/>
        </p:nvSpPr>
        <p:spPr bwMode="auto">
          <a:xfrm>
            <a:off x="4953000" y="2057400"/>
            <a:ext cx="304800" cy="4572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4" name="Line 28"/>
          <p:cNvSpPr>
            <a:spLocks noChangeShapeType="1"/>
          </p:cNvSpPr>
          <p:nvPr/>
        </p:nvSpPr>
        <p:spPr bwMode="auto">
          <a:xfrm flipH="1" flipV="1">
            <a:off x="4343400" y="2895600"/>
            <a:ext cx="0" cy="4572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5" name="Oval 29"/>
          <p:cNvSpPr>
            <a:spLocks noChangeArrowheads="1"/>
          </p:cNvSpPr>
          <p:nvPr/>
        </p:nvSpPr>
        <p:spPr bwMode="auto">
          <a:xfrm>
            <a:off x="4114800" y="3352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67616" name="Oval 30"/>
          <p:cNvSpPr>
            <a:spLocks noChangeArrowheads="1"/>
          </p:cNvSpPr>
          <p:nvPr/>
        </p:nvSpPr>
        <p:spPr bwMode="auto">
          <a:xfrm>
            <a:off x="4648200" y="3352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67617" name="Line 31"/>
          <p:cNvSpPr>
            <a:spLocks noChangeShapeType="1"/>
          </p:cNvSpPr>
          <p:nvPr/>
        </p:nvSpPr>
        <p:spPr bwMode="auto">
          <a:xfrm>
            <a:off x="4419600" y="2819400"/>
            <a:ext cx="3810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8" name="Line 32"/>
          <p:cNvSpPr>
            <a:spLocks noChangeShapeType="1"/>
          </p:cNvSpPr>
          <p:nvPr/>
        </p:nvSpPr>
        <p:spPr bwMode="auto">
          <a:xfrm flipH="1">
            <a:off x="4953000" y="28956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9" name="Oval 33"/>
          <p:cNvSpPr>
            <a:spLocks noChangeArrowheads="1"/>
          </p:cNvSpPr>
          <p:nvPr/>
        </p:nvSpPr>
        <p:spPr bwMode="auto">
          <a:xfrm>
            <a:off x="7010400" y="1828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67620" name="Line 34"/>
          <p:cNvSpPr>
            <a:spLocks noChangeShapeType="1"/>
          </p:cNvSpPr>
          <p:nvPr/>
        </p:nvSpPr>
        <p:spPr bwMode="auto">
          <a:xfrm flipH="1">
            <a:off x="6781800" y="21336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21" name="Oval 35"/>
          <p:cNvSpPr>
            <a:spLocks noChangeArrowheads="1"/>
          </p:cNvSpPr>
          <p:nvPr/>
        </p:nvSpPr>
        <p:spPr bwMode="auto">
          <a:xfrm>
            <a:off x="6477000" y="2590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E</a:t>
            </a:r>
            <a:endParaRPr kumimoji="1" lang="en-US" altLang="zh-CN" sz="1600" b="1" u="sng" dirty="0">
              <a:latin typeface="Times New Roman" panose="02020603050405020304" pitchFamily="18" charset="0"/>
              <a:ea typeface="华文楷体" panose="02010600040101010101" pitchFamily="2" charset="-122"/>
            </a:endParaRPr>
          </a:p>
        </p:txBody>
      </p:sp>
      <p:sp>
        <p:nvSpPr>
          <p:cNvPr id="67622" name="Line 36"/>
          <p:cNvSpPr>
            <a:spLocks noChangeShapeType="1"/>
          </p:cNvSpPr>
          <p:nvPr/>
        </p:nvSpPr>
        <p:spPr bwMode="auto">
          <a:xfrm flipV="1">
            <a:off x="6324600" y="2971800"/>
            <a:ext cx="228600" cy="4572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23" name="Line 37"/>
          <p:cNvSpPr>
            <a:spLocks noChangeShapeType="1"/>
          </p:cNvSpPr>
          <p:nvPr/>
        </p:nvSpPr>
        <p:spPr bwMode="auto">
          <a:xfrm flipH="1" flipV="1">
            <a:off x="7239000" y="2209800"/>
            <a:ext cx="0" cy="3810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24" name="Oval 38"/>
          <p:cNvSpPr>
            <a:spLocks noChangeArrowheads="1"/>
          </p:cNvSpPr>
          <p:nvPr/>
        </p:nvSpPr>
        <p:spPr bwMode="auto">
          <a:xfrm>
            <a:off x="7010400" y="2590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F</a:t>
            </a:r>
            <a:endParaRPr kumimoji="1" lang="en-US" altLang="zh-CN" sz="1600" b="1" u="sng" dirty="0">
              <a:latin typeface="Times New Roman" panose="02020603050405020304" pitchFamily="18" charset="0"/>
              <a:ea typeface="华文楷体" panose="02010600040101010101" pitchFamily="2" charset="-122"/>
            </a:endParaRPr>
          </a:p>
        </p:txBody>
      </p:sp>
      <p:sp>
        <p:nvSpPr>
          <p:cNvPr id="67625" name="Oval 39"/>
          <p:cNvSpPr>
            <a:spLocks noChangeArrowheads="1"/>
          </p:cNvSpPr>
          <p:nvPr/>
        </p:nvSpPr>
        <p:spPr bwMode="auto">
          <a:xfrm>
            <a:off x="7543800" y="2590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G</a:t>
            </a:r>
            <a:endParaRPr kumimoji="1" lang="en-US" altLang="zh-CN" sz="1600" b="1" u="sng" dirty="0">
              <a:latin typeface="Times New Roman" panose="02020603050405020304" pitchFamily="18" charset="0"/>
              <a:ea typeface="华文楷体" panose="02010600040101010101" pitchFamily="2" charset="-122"/>
            </a:endParaRPr>
          </a:p>
        </p:txBody>
      </p:sp>
      <p:sp>
        <p:nvSpPr>
          <p:cNvPr id="67626" name="Oval 40"/>
          <p:cNvSpPr>
            <a:spLocks noChangeArrowheads="1"/>
          </p:cNvSpPr>
          <p:nvPr/>
        </p:nvSpPr>
        <p:spPr bwMode="auto">
          <a:xfrm>
            <a:off x="6019800" y="3429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L</a:t>
            </a:r>
            <a:endParaRPr kumimoji="1" lang="en-US" altLang="zh-CN" sz="1600" b="1" u="sng" dirty="0">
              <a:latin typeface="Times New Roman" panose="02020603050405020304" pitchFamily="18" charset="0"/>
              <a:ea typeface="华文楷体" panose="02010600040101010101" pitchFamily="2" charset="-122"/>
            </a:endParaRPr>
          </a:p>
        </p:txBody>
      </p:sp>
      <p:sp>
        <p:nvSpPr>
          <p:cNvPr id="67627" name="Line 41"/>
          <p:cNvSpPr>
            <a:spLocks noChangeShapeType="1"/>
          </p:cNvSpPr>
          <p:nvPr/>
        </p:nvSpPr>
        <p:spPr bwMode="auto">
          <a:xfrm>
            <a:off x="7391400" y="2133600"/>
            <a:ext cx="304800" cy="4572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28" name="Line 42"/>
          <p:cNvSpPr>
            <a:spLocks noChangeShapeType="1"/>
          </p:cNvSpPr>
          <p:nvPr/>
        </p:nvSpPr>
        <p:spPr bwMode="auto">
          <a:xfrm flipH="1" flipV="1">
            <a:off x="6781800" y="2971800"/>
            <a:ext cx="0" cy="45720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29" name="Oval 43"/>
          <p:cNvSpPr>
            <a:spLocks noChangeArrowheads="1"/>
          </p:cNvSpPr>
          <p:nvPr/>
        </p:nvSpPr>
        <p:spPr bwMode="auto">
          <a:xfrm>
            <a:off x="6553200" y="3429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H</a:t>
            </a:r>
            <a:endParaRPr kumimoji="1" lang="en-US" altLang="zh-CN" sz="1600" b="1" u="sng" dirty="0">
              <a:latin typeface="Times New Roman" panose="02020603050405020304" pitchFamily="18" charset="0"/>
              <a:ea typeface="华文楷体" panose="02010600040101010101" pitchFamily="2" charset="-122"/>
            </a:endParaRPr>
          </a:p>
        </p:txBody>
      </p:sp>
      <p:sp>
        <p:nvSpPr>
          <p:cNvPr id="67630" name="Oval 44"/>
          <p:cNvSpPr>
            <a:spLocks noChangeArrowheads="1"/>
          </p:cNvSpPr>
          <p:nvPr/>
        </p:nvSpPr>
        <p:spPr bwMode="auto">
          <a:xfrm>
            <a:off x="7086600" y="3429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I</a:t>
            </a:r>
            <a:endParaRPr kumimoji="1" lang="en-US" altLang="zh-CN" sz="1600" b="1" u="sng" dirty="0">
              <a:latin typeface="Times New Roman" panose="02020603050405020304" pitchFamily="18" charset="0"/>
              <a:ea typeface="华文楷体" panose="02010600040101010101" pitchFamily="2" charset="-122"/>
            </a:endParaRPr>
          </a:p>
        </p:txBody>
      </p:sp>
      <p:sp>
        <p:nvSpPr>
          <p:cNvPr id="67631" name="Line 45"/>
          <p:cNvSpPr>
            <a:spLocks noChangeShapeType="1"/>
          </p:cNvSpPr>
          <p:nvPr/>
        </p:nvSpPr>
        <p:spPr bwMode="auto">
          <a:xfrm>
            <a:off x="6858000" y="2895600"/>
            <a:ext cx="3810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32" name="Line 46"/>
          <p:cNvSpPr>
            <a:spLocks noChangeShapeType="1"/>
          </p:cNvSpPr>
          <p:nvPr/>
        </p:nvSpPr>
        <p:spPr bwMode="auto">
          <a:xfrm flipH="1">
            <a:off x="7391400" y="2971800"/>
            <a:ext cx="304800" cy="4572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33" name="Text Box 47"/>
          <p:cNvSpPr txBox="1">
            <a:spLocks noChangeArrowheads="1"/>
          </p:cNvSpPr>
          <p:nvPr/>
        </p:nvSpPr>
        <p:spPr bwMode="auto">
          <a:xfrm>
            <a:off x="1295400" y="3810000"/>
            <a:ext cx="18288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有向树</a:t>
            </a:r>
            <a:endParaRPr kumimoji="1" lang="zh-CN" altLang="en-US" sz="1200" b="1" dirty="0">
              <a:latin typeface="Times New Roman" panose="02020603050405020304" pitchFamily="18" charset="0"/>
              <a:ea typeface="华文楷体" panose="02010600040101010101" pitchFamily="2" charset="-122"/>
            </a:endParaRPr>
          </a:p>
        </p:txBody>
      </p:sp>
      <p:sp>
        <p:nvSpPr>
          <p:cNvPr id="67634" name="Text Box 48"/>
          <p:cNvSpPr txBox="1">
            <a:spLocks noChangeArrowheads="1"/>
          </p:cNvSpPr>
          <p:nvPr/>
        </p:nvSpPr>
        <p:spPr bwMode="auto">
          <a:xfrm>
            <a:off x="3352800" y="3886200"/>
            <a:ext cx="18288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DAG</a:t>
            </a:r>
            <a:r>
              <a:rPr kumimoji="1" lang="zh-CN" altLang="en-US" sz="1600" b="1" dirty="0">
                <a:latin typeface="Times New Roman" panose="02020603050405020304" pitchFamily="18" charset="0"/>
                <a:ea typeface="华文楷体" panose="02010600040101010101" pitchFamily="2" charset="-122"/>
              </a:rPr>
              <a:t>图</a:t>
            </a:r>
            <a:endParaRPr kumimoji="1" lang="zh-CN" altLang="en-US" sz="1200" b="1" dirty="0">
              <a:latin typeface="Times New Roman" panose="02020603050405020304" pitchFamily="18" charset="0"/>
              <a:ea typeface="华文楷体" panose="02010600040101010101" pitchFamily="2" charset="-122"/>
            </a:endParaRPr>
          </a:p>
        </p:txBody>
      </p:sp>
      <p:sp>
        <p:nvSpPr>
          <p:cNvPr id="67635" name="Text Box 49"/>
          <p:cNvSpPr txBox="1">
            <a:spLocks noChangeArrowheads="1"/>
          </p:cNvSpPr>
          <p:nvPr/>
        </p:nvSpPr>
        <p:spPr bwMode="auto">
          <a:xfrm>
            <a:off x="6096000" y="3886200"/>
            <a:ext cx="18288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zh-CN" sz="1600" b="1" dirty="0">
                <a:latin typeface="Times New Roman" panose="02020603050405020304" pitchFamily="18" charset="0"/>
                <a:ea typeface="华文楷体" panose="02010600040101010101" pitchFamily="2" charset="-122"/>
              </a:rPr>
              <a:t>有向图（含环）</a:t>
            </a:r>
            <a:endParaRPr kumimoji="1" lang="zh-CN" altLang="en-US" sz="1200" b="1" dirty="0">
              <a:latin typeface="Times New Roman" panose="02020603050405020304" pitchFamily="18" charset="0"/>
              <a:ea typeface="华文楷体" panose="02010600040101010101" pitchFamily="2" charset="-122"/>
            </a:endParaRPr>
          </a:p>
        </p:txBody>
      </p:sp>
      <p:sp>
        <p:nvSpPr>
          <p:cNvPr id="67636" name="Text Box 50"/>
          <p:cNvSpPr txBox="1">
            <a:spLocks noChangeArrowheads="1"/>
          </p:cNvSpPr>
          <p:nvPr/>
        </p:nvSpPr>
        <p:spPr bwMode="auto">
          <a:xfrm>
            <a:off x="152400" y="4262437"/>
            <a:ext cx="8610600" cy="2308324"/>
          </a:xfrm>
          <a:prstGeom prst="rect">
            <a:avLst/>
          </a:prstGeom>
          <a:noFill/>
          <a:ln w="9525">
            <a:solidFill>
              <a:schemeClr val="accent1"/>
            </a:solidFill>
            <a:miter lim="800000"/>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lang="en-US" altLang="zh-CN" sz="2400" b="1" dirty="0">
                <a:solidFill>
                  <a:srgbClr val="996600"/>
                </a:solidFill>
                <a:latin typeface="Times New Roman" panose="02020603050405020304" pitchFamily="18" charset="0"/>
                <a:ea typeface="华文楷体" panose="02010600040101010101" pitchFamily="2" charset="-122"/>
              </a:rPr>
              <a:t>[</a:t>
            </a:r>
            <a:r>
              <a:rPr lang="zh-CN" altLang="en-US" sz="2400" b="1" dirty="0">
                <a:solidFill>
                  <a:srgbClr val="996600"/>
                </a:solidFill>
                <a:latin typeface="Times New Roman" panose="02020603050405020304" pitchFamily="18" charset="0"/>
                <a:ea typeface="华文楷体" panose="02010600040101010101" pitchFamily="2" charset="-122"/>
              </a:rPr>
              <a:t>用途</a:t>
            </a:r>
            <a:r>
              <a:rPr lang="en-US" altLang="zh-CN" sz="2400" b="1" dirty="0">
                <a:solidFill>
                  <a:srgbClr val="996600"/>
                </a:solidFill>
                <a:latin typeface="Times New Roman" panose="02020603050405020304" pitchFamily="18" charset="0"/>
                <a:ea typeface="华文楷体" panose="02010600040101010101" pitchFamily="2" charset="-122"/>
              </a:rPr>
              <a:t>]</a:t>
            </a:r>
            <a:r>
              <a:rPr kumimoji="1" lang="zh-CN" altLang="en-US" sz="1600" b="1" dirty="0">
                <a:solidFill>
                  <a:schemeClr val="accent1"/>
                </a:solidFill>
                <a:latin typeface="Times New Roman" panose="02020603050405020304" pitchFamily="18" charset="0"/>
                <a:ea typeface="华文楷体" panose="02010600040101010101" pitchFamily="2" charset="-122"/>
              </a:rPr>
              <a:t>：</a:t>
            </a:r>
            <a:r>
              <a:rPr kumimoji="1" lang="zh-CN" altLang="en-US" sz="2400" b="1" dirty="0">
                <a:solidFill>
                  <a:schemeClr val="accent1"/>
                </a:solidFill>
                <a:latin typeface="Times New Roman" panose="02020603050405020304" pitchFamily="18" charset="0"/>
                <a:ea typeface="华文楷体" panose="02010600040101010101" pitchFamily="2" charset="-122"/>
              </a:rPr>
              <a:t>描述工程项目或系统进行的工具</a:t>
            </a:r>
            <a:endParaRPr kumimoji="1" lang="zh-CN" altLang="en-US" sz="2400" b="1" dirty="0">
              <a:solidFill>
                <a:schemeClr val="accent1"/>
              </a:solidFill>
              <a:latin typeface="Times New Roman" panose="02020603050405020304" pitchFamily="18" charset="0"/>
              <a:ea typeface="华文楷体" panose="02010600040101010101" pitchFamily="2" charset="-122"/>
            </a:endParaRPr>
          </a:p>
          <a:p>
            <a:pPr lvl="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AOV </a:t>
            </a:r>
            <a:r>
              <a:rPr kumimoji="1" lang="zh-CN" altLang="zh-CN" sz="2400" dirty="0">
                <a:latin typeface="Times New Roman" panose="02020603050405020304" pitchFamily="18" charset="0"/>
                <a:ea typeface="华文楷体" panose="02010600040101010101" pitchFamily="2" charset="-122"/>
              </a:rPr>
              <a:t>网络：定义</a:t>
            </a:r>
            <a:r>
              <a:rPr kumimoji="1" lang="zh-CN" altLang="en-US" sz="2400" dirty="0">
                <a:latin typeface="Times New Roman" panose="02020603050405020304" pitchFamily="18" charset="0"/>
                <a:ea typeface="华文楷体" panose="02010600040101010101" pitchFamily="2" charset="-122"/>
              </a:rPr>
              <a:t>顶</a:t>
            </a:r>
            <a:r>
              <a:rPr kumimoji="1" lang="zh-CN" altLang="zh-CN" sz="2400" dirty="0">
                <a:latin typeface="Times New Roman" panose="02020603050405020304" pitchFamily="18" charset="0"/>
                <a:ea typeface="华文楷体" panose="02010600040101010101" pitchFamily="2" charset="-122"/>
              </a:rPr>
              <a:t>点为活动，有向边的指向表示活动执行的次序。	</a:t>
            </a:r>
            <a:endParaRPr kumimoji="1" lang="zh-CN" altLang="en-US" sz="2400" dirty="0">
              <a:latin typeface="Times New Roman" panose="02020603050405020304" pitchFamily="18" charset="0"/>
              <a:ea typeface="华文楷体" panose="02010600040101010101" pitchFamily="2" charset="-122"/>
            </a:endParaRPr>
          </a:p>
          <a:p>
            <a:pPr lvl="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AOE</a:t>
            </a:r>
            <a:r>
              <a:rPr kumimoji="1" lang="zh-CN" altLang="zh-CN" sz="2400" dirty="0">
                <a:latin typeface="Times New Roman" panose="02020603050405020304" pitchFamily="18" charset="0"/>
                <a:ea typeface="华文楷体" panose="02010600040101010101" pitchFamily="2" charset="-122"/>
              </a:rPr>
              <a:t>网络：定义</a:t>
            </a:r>
            <a:r>
              <a:rPr kumimoji="1" lang="zh-CN" altLang="en-US" sz="2400" dirty="0">
                <a:latin typeface="Times New Roman" panose="02020603050405020304" pitchFamily="18" charset="0"/>
                <a:ea typeface="华文楷体" panose="02010600040101010101" pitchFamily="2" charset="-122"/>
              </a:rPr>
              <a:t>顶</a:t>
            </a:r>
            <a:r>
              <a:rPr kumimoji="1" lang="zh-CN" altLang="zh-CN" sz="2400" dirty="0">
                <a:latin typeface="Times New Roman" panose="02020603050405020304" pitchFamily="18" charset="0"/>
                <a:ea typeface="华文楷体" panose="02010600040101010101" pitchFamily="2" charset="-122"/>
              </a:rPr>
              <a:t>点为事件，单位是时刻。有向边定义为活动，它的权值定义为活动进行所需要的时间</a:t>
            </a:r>
            <a:r>
              <a:rPr kumimoji="1" lang="zh-CN" altLang="zh-CN" sz="2400" b="1" dirty="0">
                <a:latin typeface="Times New Roman" panose="02020603050405020304" pitchFamily="18" charset="0"/>
                <a:ea typeface="华文楷体" panose="02010600040101010101" pitchFamily="2" charset="-122"/>
              </a:rPr>
              <a:t>。</a:t>
            </a:r>
            <a:endParaRPr kumimoji="1" lang="zh-CN" altLang="en-US" sz="2400" b="1" dirty="0">
              <a:latin typeface="Times New Roman" panose="02020603050405020304" pitchFamily="18" charset="0"/>
              <a:ea typeface="华文楷体" panose="02010600040101010101" pitchFamily="2" charset="-122"/>
            </a:endParaRPr>
          </a:p>
        </p:txBody>
      </p:sp>
      <p:sp>
        <p:nvSpPr>
          <p:cNvPr id="67637" name="Oval 51"/>
          <p:cNvSpPr>
            <a:spLocks noChangeArrowheads="1"/>
          </p:cNvSpPr>
          <p:nvPr/>
        </p:nvSpPr>
        <p:spPr bwMode="auto">
          <a:xfrm>
            <a:off x="2895600" y="5265204"/>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67638" name="Oval 52"/>
          <p:cNvSpPr>
            <a:spLocks noChangeArrowheads="1"/>
          </p:cNvSpPr>
          <p:nvPr/>
        </p:nvSpPr>
        <p:spPr bwMode="auto">
          <a:xfrm>
            <a:off x="4267200" y="5265204"/>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67639" name="Line 53"/>
          <p:cNvSpPr>
            <a:spLocks noChangeShapeType="1"/>
          </p:cNvSpPr>
          <p:nvPr/>
        </p:nvSpPr>
        <p:spPr bwMode="auto">
          <a:xfrm flipH="1" flipV="1">
            <a:off x="3352800" y="5417604"/>
            <a:ext cx="914400" cy="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40" name="Oval 54"/>
          <p:cNvSpPr>
            <a:spLocks noChangeArrowheads="1"/>
          </p:cNvSpPr>
          <p:nvPr/>
        </p:nvSpPr>
        <p:spPr bwMode="auto">
          <a:xfrm>
            <a:off x="6700421" y="6138754"/>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67641" name="Oval 55"/>
          <p:cNvSpPr>
            <a:spLocks noChangeArrowheads="1"/>
          </p:cNvSpPr>
          <p:nvPr/>
        </p:nvSpPr>
        <p:spPr bwMode="auto">
          <a:xfrm>
            <a:off x="8072021" y="6138754"/>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dirty="0">
              <a:latin typeface="Times New Roman" panose="02020603050405020304" pitchFamily="18" charset="0"/>
              <a:ea typeface="华文楷体" panose="02010600040101010101" pitchFamily="2" charset="-122"/>
            </a:endParaRPr>
          </a:p>
        </p:txBody>
      </p:sp>
      <p:sp>
        <p:nvSpPr>
          <p:cNvPr id="67642" name="Line 56"/>
          <p:cNvSpPr>
            <a:spLocks noChangeShapeType="1"/>
          </p:cNvSpPr>
          <p:nvPr/>
        </p:nvSpPr>
        <p:spPr bwMode="auto">
          <a:xfrm flipH="1" flipV="1">
            <a:off x="7157621" y="6322904"/>
            <a:ext cx="914400" cy="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43" name="Text Box 57"/>
          <p:cNvSpPr txBox="1">
            <a:spLocks noChangeArrowheads="1"/>
          </p:cNvSpPr>
          <p:nvPr/>
        </p:nvSpPr>
        <p:spPr bwMode="auto">
          <a:xfrm>
            <a:off x="7310021" y="5986354"/>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10</a:t>
            </a:r>
            <a:endParaRPr kumimoji="1" lang="en-US" altLang="zh-CN" sz="12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686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8613" name="Rectangle 3"/>
          <p:cNvSpPr>
            <a:spLocks noGrp="1" noChangeArrowheads="1"/>
          </p:cNvSpPr>
          <p:nvPr>
            <p:ph type="body" idx="1"/>
          </p:nvPr>
        </p:nvSpPr>
        <p:spPr/>
        <p:txBody>
          <a:bodyPr/>
          <a:lstStyle/>
          <a:p>
            <a:pPr eaLnBrk="1" hangingPunct="1"/>
            <a:r>
              <a:rPr lang="zh-CN" altLang="en-US" dirty="0" smtClean="0">
                <a:ea typeface="华文楷体" panose="02010600040101010101" pitchFamily="2" charset="-122"/>
              </a:rPr>
              <a:t>思考：有向无环图以邻接矩阵存储，按照何种规律对顶点进行编号就能使其邻接矩阵成为下三角矩阵？</a:t>
            </a:r>
            <a:endParaRPr lang="zh-CN" altLang="en-US" dirty="0" smtClean="0">
              <a:ea typeface="华文楷体" panose="02010600040101010101" pitchFamily="2" charset="-122"/>
            </a:endParaRPr>
          </a:p>
        </p:txBody>
      </p:sp>
      <p:sp>
        <p:nvSpPr>
          <p:cNvPr id="77828" name="Text Box 4"/>
          <p:cNvSpPr txBox="1">
            <a:spLocks noChangeArrowheads="1"/>
          </p:cNvSpPr>
          <p:nvPr/>
        </p:nvSpPr>
        <p:spPr bwMode="auto">
          <a:xfrm>
            <a:off x="1066800" y="3048000"/>
            <a:ext cx="7010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dirty="0">
                <a:solidFill>
                  <a:schemeClr val="accent2"/>
                </a:solidFill>
                <a:latin typeface="Times New Roman" panose="02020603050405020304" pitchFamily="18" charset="0"/>
                <a:ea typeface="华文楷体" panose="02010600040101010101" pitchFamily="2" charset="-122"/>
              </a:rPr>
              <a:t>编号规则：让弧尾顶点的编号大于弧头顶点的编号。 </a:t>
            </a:r>
            <a:endParaRPr kumimoji="1" lang="zh-CN" altLang="en-US"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 calcmode="lin" valueType="num">
                                      <p:cBhvr additive="base">
                                        <p:cTn id="7" dur="500" fill="hold"/>
                                        <p:tgtEl>
                                          <p:spTgt spid="77828"/>
                                        </p:tgtEl>
                                        <p:attrNameLst>
                                          <p:attrName>ppt_x</p:attrName>
                                        </p:attrNameLst>
                                      </p:cBhvr>
                                      <p:tavLst>
                                        <p:tav tm="0">
                                          <p:val>
                                            <p:strVal val="#ppt_x"/>
                                          </p:val>
                                        </p:tav>
                                        <p:tav tm="100000">
                                          <p:val>
                                            <p:strVal val="#ppt_x"/>
                                          </p:val>
                                        </p:tav>
                                      </p:tavLst>
                                    </p:anim>
                                    <p:anim calcmode="lin" valueType="num">
                                      <p:cBhvr additive="base">
                                        <p:cTn id="8" dur="500" fill="hold"/>
                                        <p:tgtEl>
                                          <p:spTgt spid="778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页脚占位符 3"/>
          <p:cNvSpPr>
            <a:spLocks noGrp="1"/>
          </p:cNvSpPr>
          <p:nvPr>
            <p:ph type="ftr" sz="quarter" idx="10"/>
          </p:nvPr>
        </p:nvSpPr>
        <p:spPr/>
        <p:txBody>
          <a:bodyPr/>
          <a:lstStyle/>
          <a:p>
            <a:pPr>
              <a:defRPr/>
            </a:pPr>
            <a:r>
              <a:rPr lang="en-US" altLang="zh-CN"/>
              <a:t>BUPT SCST</a:t>
            </a:r>
            <a:endParaRPr lang="en-US" altLang="zh-CN"/>
          </a:p>
        </p:txBody>
      </p:sp>
      <p:sp>
        <p:nvSpPr>
          <p:cNvPr id="32" name="日期占位符 5"/>
          <p:cNvSpPr>
            <a:spLocks noGrp="1"/>
          </p:cNvSpPr>
          <p:nvPr>
            <p:ph type="dt" sz="quarter" idx="12"/>
          </p:nvPr>
        </p:nvSpPr>
        <p:spPr/>
        <p:txBody>
          <a:bodyPr/>
          <a:lstStyle/>
          <a:p>
            <a:pPr>
              <a:defRPr/>
            </a:pPr>
            <a:r>
              <a:rPr lang="en-US" altLang="zh-CN"/>
              <a:t>BUPT</a:t>
            </a:r>
            <a:endParaRPr lang="en-US" altLang="zh-CN"/>
          </a:p>
        </p:txBody>
      </p:sp>
      <p:sp>
        <p:nvSpPr>
          <p:cNvPr id="696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9637"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2 </a:t>
            </a:r>
            <a:r>
              <a:rPr lang="zh-CN" altLang="en-US" sz="2400" b="1" dirty="0" smtClean="0">
                <a:solidFill>
                  <a:srgbClr val="800000"/>
                </a:solidFill>
                <a:ea typeface="华文楷体" panose="02010600040101010101" pitchFamily="2" charset="-122"/>
              </a:rPr>
              <a:t>拓扑排序</a:t>
            </a:r>
            <a:endParaRPr lang="zh-CN" altLang="en-US" sz="2400" b="1" dirty="0" smtClean="0">
              <a:solidFill>
                <a:srgbClr val="800000"/>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问题目标</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当一个任务可以划分问若干个子任务</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子活动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子事件，其中的任何子任务可能又以另外的一些子任务作为先决条件时，如何排定子任务的执行顺序，达到整体任务的完成。</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示例</a:t>
            </a:r>
            <a:r>
              <a:rPr lang="en-US" altLang="zh-CN" sz="2400" b="1" dirty="0" smtClean="0">
                <a:solidFill>
                  <a:srgbClr val="996600"/>
                </a:solidFill>
                <a:ea typeface="华文楷体" panose="02010600040101010101" pitchFamily="2" charset="-122"/>
              </a:rPr>
              <a:t>]</a:t>
            </a:r>
            <a:endParaRPr lang="en-US" altLang="zh-CN" sz="2400" dirty="0" smtClean="0">
              <a:solidFill>
                <a:srgbClr val="996600"/>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p:txBody>
      </p:sp>
      <p:sp>
        <p:nvSpPr>
          <p:cNvPr id="69638" name="Oval 4"/>
          <p:cNvSpPr>
            <a:spLocks noChangeArrowheads="1"/>
          </p:cNvSpPr>
          <p:nvPr/>
        </p:nvSpPr>
        <p:spPr bwMode="auto">
          <a:xfrm>
            <a:off x="1828800" y="3429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69639" name="Line 5"/>
          <p:cNvSpPr>
            <a:spLocks noChangeShapeType="1"/>
          </p:cNvSpPr>
          <p:nvPr/>
        </p:nvSpPr>
        <p:spPr bwMode="auto">
          <a:xfrm flipH="1">
            <a:off x="1524000" y="37338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40" name="Oval 6"/>
          <p:cNvSpPr>
            <a:spLocks noChangeArrowheads="1"/>
          </p:cNvSpPr>
          <p:nvPr/>
        </p:nvSpPr>
        <p:spPr bwMode="auto">
          <a:xfrm>
            <a:off x="12192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69641" name="Line 7"/>
          <p:cNvSpPr>
            <a:spLocks noChangeShapeType="1"/>
          </p:cNvSpPr>
          <p:nvPr/>
        </p:nvSpPr>
        <p:spPr bwMode="auto">
          <a:xfrm flipV="1">
            <a:off x="914400" y="4495800"/>
            <a:ext cx="381000" cy="5334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42" name="Oval 8"/>
          <p:cNvSpPr>
            <a:spLocks noChangeArrowheads="1"/>
          </p:cNvSpPr>
          <p:nvPr/>
        </p:nvSpPr>
        <p:spPr bwMode="auto">
          <a:xfrm>
            <a:off x="25146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69643" name="Oval 9"/>
          <p:cNvSpPr>
            <a:spLocks noChangeArrowheads="1"/>
          </p:cNvSpPr>
          <p:nvPr/>
        </p:nvSpPr>
        <p:spPr bwMode="auto">
          <a:xfrm>
            <a:off x="609600" y="5029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69644" name="Line 10"/>
          <p:cNvSpPr>
            <a:spLocks noChangeShapeType="1"/>
          </p:cNvSpPr>
          <p:nvPr/>
        </p:nvSpPr>
        <p:spPr bwMode="auto">
          <a:xfrm>
            <a:off x="2209800" y="3733800"/>
            <a:ext cx="381000" cy="5334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45" name="Oval 11"/>
          <p:cNvSpPr>
            <a:spLocks noChangeArrowheads="1"/>
          </p:cNvSpPr>
          <p:nvPr/>
        </p:nvSpPr>
        <p:spPr bwMode="auto">
          <a:xfrm>
            <a:off x="1447800" y="5029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69646" name="Oval 12"/>
          <p:cNvSpPr>
            <a:spLocks noChangeArrowheads="1"/>
          </p:cNvSpPr>
          <p:nvPr/>
        </p:nvSpPr>
        <p:spPr bwMode="auto">
          <a:xfrm>
            <a:off x="2133600" y="5486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69647" name="Line 13"/>
          <p:cNvSpPr>
            <a:spLocks noChangeShapeType="1"/>
          </p:cNvSpPr>
          <p:nvPr/>
        </p:nvSpPr>
        <p:spPr bwMode="auto">
          <a:xfrm>
            <a:off x="1524000" y="4572000"/>
            <a:ext cx="1524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48" name="Line 14"/>
          <p:cNvSpPr>
            <a:spLocks noChangeShapeType="1"/>
          </p:cNvSpPr>
          <p:nvPr/>
        </p:nvSpPr>
        <p:spPr bwMode="auto">
          <a:xfrm flipH="1">
            <a:off x="2362200" y="4572000"/>
            <a:ext cx="304800" cy="914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49" name="Oval 15"/>
          <p:cNvSpPr>
            <a:spLocks noChangeArrowheads="1"/>
          </p:cNvSpPr>
          <p:nvPr/>
        </p:nvSpPr>
        <p:spPr bwMode="auto">
          <a:xfrm>
            <a:off x="2895600" y="5029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69650" name="Line 16"/>
          <p:cNvSpPr>
            <a:spLocks noChangeShapeType="1"/>
          </p:cNvSpPr>
          <p:nvPr/>
        </p:nvSpPr>
        <p:spPr bwMode="auto">
          <a:xfrm>
            <a:off x="2819400" y="4572000"/>
            <a:ext cx="2286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51" name="Line 17"/>
          <p:cNvSpPr>
            <a:spLocks noChangeShapeType="1"/>
          </p:cNvSpPr>
          <p:nvPr/>
        </p:nvSpPr>
        <p:spPr bwMode="auto">
          <a:xfrm flipH="1">
            <a:off x="1828800" y="4495800"/>
            <a:ext cx="762000" cy="6096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52" name="Line 18"/>
          <p:cNvSpPr>
            <a:spLocks noChangeShapeType="1"/>
          </p:cNvSpPr>
          <p:nvPr/>
        </p:nvSpPr>
        <p:spPr bwMode="auto">
          <a:xfrm flipH="1">
            <a:off x="990600" y="5257800"/>
            <a:ext cx="4572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53" name="Line 19"/>
          <p:cNvSpPr>
            <a:spLocks noChangeShapeType="1"/>
          </p:cNvSpPr>
          <p:nvPr/>
        </p:nvSpPr>
        <p:spPr bwMode="auto">
          <a:xfrm flipH="1">
            <a:off x="838200" y="5410200"/>
            <a:ext cx="1524000" cy="533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54" name="Line 20"/>
          <p:cNvSpPr>
            <a:spLocks noChangeShapeType="1"/>
          </p:cNvSpPr>
          <p:nvPr/>
        </p:nvSpPr>
        <p:spPr bwMode="auto">
          <a:xfrm>
            <a:off x="2362200" y="5410200"/>
            <a:ext cx="762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655" name="Line 21"/>
          <p:cNvSpPr>
            <a:spLocks noChangeShapeType="1"/>
          </p:cNvSpPr>
          <p:nvPr/>
        </p:nvSpPr>
        <p:spPr bwMode="auto">
          <a:xfrm flipH="1" flipV="1">
            <a:off x="914400" y="5410200"/>
            <a:ext cx="1219200" cy="3048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1" name="Oval 23"/>
          <p:cNvSpPr>
            <a:spLocks noChangeArrowheads="1"/>
          </p:cNvSpPr>
          <p:nvPr/>
        </p:nvSpPr>
        <p:spPr bwMode="auto">
          <a:xfrm>
            <a:off x="41910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2" name="Oval 24"/>
          <p:cNvSpPr>
            <a:spLocks noChangeArrowheads="1"/>
          </p:cNvSpPr>
          <p:nvPr/>
        </p:nvSpPr>
        <p:spPr bwMode="auto">
          <a:xfrm>
            <a:off x="48768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3" name="Oval 25"/>
          <p:cNvSpPr>
            <a:spLocks noChangeArrowheads="1"/>
          </p:cNvSpPr>
          <p:nvPr/>
        </p:nvSpPr>
        <p:spPr bwMode="auto">
          <a:xfrm>
            <a:off x="54864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4" name="Oval 26"/>
          <p:cNvSpPr>
            <a:spLocks noChangeArrowheads="1"/>
          </p:cNvSpPr>
          <p:nvPr/>
        </p:nvSpPr>
        <p:spPr bwMode="auto">
          <a:xfrm>
            <a:off x="61722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5" name="Oval 27"/>
          <p:cNvSpPr>
            <a:spLocks noChangeArrowheads="1"/>
          </p:cNvSpPr>
          <p:nvPr/>
        </p:nvSpPr>
        <p:spPr bwMode="auto">
          <a:xfrm>
            <a:off x="68580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6" name="Oval 28"/>
          <p:cNvSpPr>
            <a:spLocks noChangeArrowheads="1"/>
          </p:cNvSpPr>
          <p:nvPr/>
        </p:nvSpPr>
        <p:spPr bwMode="auto">
          <a:xfrm>
            <a:off x="75438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78877" name="Oval 29"/>
          <p:cNvSpPr>
            <a:spLocks noChangeArrowheads="1"/>
          </p:cNvSpPr>
          <p:nvPr/>
        </p:nvSpPr>
        <p:spPr bwMode="auto">
          <a:xfrm>
            <a:off x="82296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69664" name="Text Box 30"/>
          <p:cNvSpPr txBox="1">
            <a:spLocks noChangeArrowheads="1"/>
          </p:cNvSpPr>
          <p:nvPr/>
        </p:nvSpPr>
        <p:spPr bwMode="auto">
          <a:xfrm>
            <a:off x="136525" y="6211888"/>
            <a:ext cx="90604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2400" b="1" dirty="0">
                <a:solidFill>
                  <a:srgbClr val="FF3300"/>
                </a:solidFill>
                <a:latin typeface="Times New Roman" panose="02020603050405020304" pitchFamily="18" charset="0"/>
                <a:ea typeface="华文楷体" panose="02010600040101010101" pitchFamily="2" charset="-122"/>
              </a:rPr>
              <a:t>AOV</a:t>
            </a:r>
            <a:r>
              <a:rPr kumimoji="1" lang="zh-CN" altLang="zh-CN" sz="2400" b="1" dirty="0">
                <a:solidFill>
                  <a:srgbClr val="FF3300"/>
                </a:solidFill>
                <a:latin typeface="Times New Roman" panose="02020603050405020304" pitchFamily="18" charset="0"/>
                <a:ea typeface="华文楷体" panose="02010600040101010101" pitchFamily="2" charset="-122"/>
              </a:rPr>
              <a:t>网</a:t>
            </a:r>
            <a:r>
              <a:rPr kumimoji="1" lang="en-US" altLang="zh-CN" sz="2400" dirty="0">
                <a:latin typeface="Times New Roman" panose="02020603050405020304" pitchFamily="18" charset="0"/>
                <a:ea typeface="华文楷体" panose="02010600040101010101" pitchFamily="2" charset="-122"/>
              </a:rPr>
              <a:t>(</a:t>
            </a:r>
            <a:r>
              <a:rPr kumimoji="1" lang="zh-CN" altLang="en-US" sz="2400" dirty="0">
                <a:latin typeface="Times New Roman" panose="02020603050405020304" pitchFamily="18" charset="0"/>
                <a:ea typeface="华文楷体" panose="02010600040101010101" pitchFamily="2" charset="-122"/>
              </a:rPr>
              <a:t>顶点活动网络</a:t>
            </a:r>
            <a:r>
              <a:rPr kumimoji="1" lang="en-US" altLang="zh-CN" sz="2400" dirty="0">
                <a:latin typeface="Times New Roman" panose="02020603050405020304" pitchFamily="18" charset="0"/>
                <a:ea typeface="华文楷体" panose="02010600040101010101" pitchFamily="2" charset="-122"/>
              </a:rPr>
              <a:t>)—</a:t>
            </a:r>
            <a:r>
              <a:rPr kumimoji="1" lang="zh-CN" altLang="en-US" sz="2400" dirty="0">
                <a:latin typeface="Times New Roman" panose="02020603050405020304" pitchFamily="18" charset="0"/>
                <a:ea typeface="华文楷体" panose="02010600040101010101" pitchFamily="2" charset="-122"/>
              </a:rPr>
              <a:t>顶点表示活动，弧表示活动间的优先关系</a:t>
            </a:r>
            <a:endParaRPr kumimoji="1" lang="zh-CN" altLang="en-US" sz="2400" dirty="0">
              <a:latin typeface="Times New Roman" panose="02020603050405020304" pitchFamily="18" charset="0"/>
              <a:ea typeface="华文楷体" panose="02010600040101010101" pitchFamily="2" charset="-122"/>
            </a:endParaRPr>
          </a:p>
        </p:txBody>
      </p:sp>
      <p:sp>
        <p:nvSpPr>
          <p:cNvPr id="2" name="文本框 1"/>
          <p:cNvSpPr txBox="1"/>
          <p:nvPr/>
        </p:nvSpPr>
        <p:spPr>
          <a:xfrm>
            <a:off x="3379802" y="2962182"/>
            <a:ext cx="2297097" cy="2585323"/>
          </a:xfrm>
          <a:prstGeom prst="rect">
            <a:avLst/>
          </a:prstGeom>
          <a:noFill/>
          <a:ln>
            <a:solidFill>
              <a:schemeClr val="accent1"/>
            </a:solidFill>
          </a:ln>
        </p:spPr>
        <p:txBody>
          <a:bodyPr wrap="square" rtlCol="0">
            <a:spAutoFit/>
          </a:bodyPr>
          <a:lstStyle/>
          <a:p>
            <a:r>
              <a:rPr lang="zh-CN" altLang="en-US" b="1" dirty="0">
                <a:latin typeface="Times New Roman" panose="02020603050405020304" pitchFamily="18" charset="0"/>
                <a:ea typeface="华文楷体" panose="02010600040101010101" pitchFamily="2" charset="-122"/>
              </a:rPr>
              <a:t>课程之间的依赖关系</a:t>
            </a:r>
            <a:r>
              <a:rPr lang="zh-CN" altLang="zh-CN" dirty="0">
                <a:latin typeface="Times New Roman" panose="02020603050405020304" pitchFamily="18" charset="0"/>
                <a:ea typeface="华文楷体" panose="02010600040101010101" pitchFamily="2" charset="-122"/>
              </a:rPr>
              <a:t>其中，1代表数学， 2代表程序设计，3代表离散数 学，4代表汇编程序设计，5代表数据结构，6代表结构程序设计, 7代表编译原理。</a:t>
            </a:r>
            <a:r>
              <a:rPr kumimoji="1" lang="zh-CN" altLang="zh-CN" b="1" dirty="0">
                <a:solidFill>
                  <a:schemeClr val="folHlink"/>
                </a:solidFill>
                <a:latin typeface="Times New Roman" panose="02020603050405020304" pitchFamily="18" charset="0"/>
                <a:ea typeface="华文楷体" panose="02010600040101010101" pitchFamily="2" charset="-122"/>
              </a:rPr>
              <a:t> </a:t>
            </a:r>
            <a:endParaRPr kumimoji="1" lang="zh-CN" altLang="zh-CN" b="1" dirty="0">
              <a:solidFill>
                <a:schemeClr val="folHlink"/>
              </a:solidFill>
              <a:latin typeface="Times New Roman" panose="02020603050405020304" pitchFamily="18" charset="0"/>
              <a:ea typeface="华文楷体" panose="02010600040101010101" pitchFamily="2" charset="-122"/>
            </a:endParaRPr>
          </a:p>
          <a:p>
            <a:endParaRPr lang="zh-CN" altLang="en-US" dirty="0"/>
          </a:p>
        </p:txBody>
      </p:sp>
      <p:sp>
        <p:nvSpPr>
          <p:cNvPr id="4" name="文本框 3"/>
          <p:cNvSpPr txBox="1"/>
          <p:nvPr/>
        </p:nvSpPr>
        <p:spPr>
          <a:xfrm>
            <a:off x="5925845" y="2964103"/>
            <a:ext cx="2760955" cy="2246769"/>
          </a:xfrm>
          <a:prstGeom prst="rect">
            <a:avLst/>
          </a:prstGeom>
          <a:noFill/>
          <a:ln>
            <a:solidFill>
              <a:schemeClr val="accent1"/>
            </a:solidFill>
          </a:ln>
        </p:spPr>
        <p:txBody>
          <a:bodyPr wrap="square" rtlCol="0">
            <a:spAutoFit/>
          </a:bodyPr>
          <a:lstStyle/>
          <a:p>
            <a:r>
              <a:rPr lang="zh-CN" altLang="en-US" sz="2000" b="1" dirty="0">
                <a:solidFill>
                  <a:srgbClr val="C00000"/>
                </a:solidFill>
                <a:latin typeface="Times New Roman" panose="02020603050405020304" pitchFamily="18" charset="0"/>
                <a:ea typeface="华文楷体" panose="02010600040101010101" pitchFamily="2" charset="-122"/>
              </a:rPr>
              <a:t>拓扑序列</a:t>
            </a:r>
            <a:r>
              <a:rPr lang="zh-CN" altLang="en-US" sz="2000" dirty="0">
                <a:latin typeface="Times New Roman" panose="02020603050405020304" pitchFamily="18" charset="0"/>
                <a:ea typeface="华文楷体" panose="02010600040101010101" pitchFamily="2" charset="-122"/>
              </a:rPr>
              <a:t>：对有向无环图</a:t>
            </a:r>
            <a:r>
              <a:rPr lang="en-US" altLang="zh-CN" sz="2000" dirty="0">
                <a:latin typeface="Times New Roman" panose="02020603050405020304" pitchFamily="18" charset="0"/>
                <a:ea typeface="华文楷体" panose="02010600040101010101" pitchFamily="2" charset="-122"/>
              </a:rPr>
              <a:t>G</a:t>
            </a:r>
            <a:r>
              <a:rPr lang="zh-CN" altLang="en-US" sz="2000" dirty="0">
                <a:latin typeface="Times New Roman" panose="02020603050405020304" pitchFamily="18" charset="0"/>
                <a:ea typeface="华文楷体" panose="02010600040101010101" pitchFamily="2" charset="-122"/>
              </a:rPr>
              <a:t>，其拓扑序列是</a:t>
            </a:r>
            <a:r>
              <a:rPr lang="en-US" altLang="zh-CN" sz="2000" dirty="0">
                <a:latin typeface="Times New Roman" panose="02020603050405020304" pitchFamily="18" charset="0"/>
                <a:ea typeface="华文楷体" panose="02010600040101010101" pitchFamily="2" charset="-122"/>
              </a:rPr>
              <a:t>G</a:t>
            </a:r>
            <a:r>
              <a:rPr lang="zh-CN" altLang="en-US" sz="2000" dirty="0">
                <a:latin typeface="Times New Roman" panose="02020603050405020304" pitchFamily="18" charset="0"/>
                <a:ea typeface="华文楷体" panose="02010600040101010101" pitchFamily="2" charset="-122"/>
              </a:rPr>
              <a:t>中所有顶点的一种线性次序。该次序满足：若</a:t>
            </a:r>
            <a:r>
              <a:rPr lang="en-US" altLang="zh-CN" sz="2000" dirty="0">
                <a:latin typeface="Times New Roman" panose="02020603050405020304" pitchFamily="18" charset="0"/>
                <a:ea typeface="华文楷体" panose="02010600040101010101" pitchFamily="2" charset="-122"/>
              </a:rPr>
              <a:t>G</a:t>
            </a:r>
            <a:r>
              <a:rPr lang="zh-CN" altLang="en-US" sz="2000" dirty="0">
                <a:latin typeface="Times New Roman" panose="02020603050405020304" pitchFamily="18" charset="0"/>
                <a:ea typeface="华文楷体" panose="02010600040101010101" pitchFamily="2" charset="-122"/>
              </a:rPr>
              <a:t>中包含弧</a:t>
            </a:r>
            <a:r>
              <a:rPr lang="en-US" altLang="zh-CN" sz="2000" dirty="0">
                <a:latin typeface="Times New Roman" panose="02020603050405020304" pitchFamily="18" charset="0"/>
                <a:ea typeface="华文楷体" panose="02010600040101010101" pitchFamily="2" charset="-122"/>
              </a:rPr>
              <a:t>&lt;</a:t>
            </a:r>
            <a:r>
              <a:rPr lang="en-US" altLang="zh-CN" sz="2000" dirty="0" err="1">
                <a:latin typeface="Times New Roman" panose="02020603050405020304" pitchFamily="18" charset="0"/>
                <a:ea typeface="华文楷体" panose="02010600040101010101" pitchFamily="2" charset="-122"/>
              </a:rPr>
              <a:t>u,v</a:t>
            </a:r>
            <a:r>
              <a:rPr lang="en-US" altLang="zh-CN" sz="2000" dirty="0">
                <a:latin typeface="Times New Roman" panose="02020603050405020304" pitchFamily="18" charset="0"/>
                <a:ea typeface="华文楷体" panose="02010600040101010101" pitchFamily="2" charset="-122"/>
              </a:rPr>
              <a:t>&gt;</a:t>
            </a:r>
            <a:r>
              <a:rPr lang="zh-CN" altLang="en-US" sz="2000" dirty="0">
                <a:latin typeface="Times New Roman" panose="02020603050405020304" pitchFamily="18" charset="0"/>
                <a:ea typeface="华文楷体" panose="02010600040101010101" pitchFamily="2" charset="-122"/>
              </a:rPr>
              <a:t>，则结点</a:t>
            </a:r>
            <a:r>
              <a:rPr lang="en-US" altLang="zh-CN" sz="2000" dirty="0">
                <a:latin typeface="Times New Roman" panose="02020603050405020304" pitchFamily="18" charset="0"/>
                <a:ea typeface="华文楷体" panose="02010600040101010101" pitchFamily="2" charset="-122"/>
              </a:rPr>
              <a:t>u</a:t>
            </a:r>
            <a:r>
              <a:rPr lang="zh-CN" altLang="en-US" sz="2000" dirty="0">
                <a:latin typeface="Times New Roman" panose="02020603050405020304" pitchFamily="18" charset="0"/>
                <a:ea typeface="华文楷体" panose="02010600040101010101" pitchFamily="2" charset="-122"/>
              </a:rPr>
              <a:t>在拓扑序列中必定位于顶点</a:t>
            </a:r>
            <a:r>
              <a:rPr lang="en-US" altLang="zh-CN" sz="2000" dirty="0">
                <a:latin typeface="Times New Roman" panose="02020603050405020304" pitchFamily="18" charset="0"/>
                <a:ea typeface="华文楷体" panose="02010600040101010101" pitchFamily="2" charset="-122"/>
              </a:rPr>
              <a:t>v</a:t>
            </a:r>
            <a:r>
              <a:rPr lang="zh-CN" altLang="en-US" sz="2000" dirty="0">
                <a:latin typeface="Times New Roman" panose="02020603050405020304" pitchFamily="18" charset="0"/>
                <a:ea typeface="华文楷体" panose="02010600040101010101" pitchFamily="2" charset="-122"/>
              </a:rPr>
              <a:t>的前面。</a:t>
            </a:r>
            <a:endParaRPr lang="zh-CN" altLang="en-US" sz="20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71"/>
                                        </p:tgtEl>
                                        <p:attrNameLst>
                                          <p:attrName>style.visibility</p:attrName>
                                        </p:attrNameLst>
                                      </p:cBhvr>
                                      <p:to>
                                        <p:strVal val="visible"/>
                                      </p:to>
                                    </p:set>
                                    <p:animEffect transition="in" filter="dissolve">
                                      <p:cBhvr>
                                        <p:cTn id="7" dur="500"/>
                                        <p:tgtEl>
                                          <p:spTgt spid="78871"/>
                                        </p:tgtEl>
                                      </p:cBhvr>
                                    </p:animEffect>
                                  </p:childTnLst>
                                  <p:subTnLst>
                                    <p:audio>
                                      <p:cMediaNode>
                                        <p:cTn display="0" masterRel="sameClick">
                                          <p:stCondLst>
                                            <p:cond evt="begin" delay="0">
                                              <p:tn val="5"/>
                                            </p:cond>
                                          </p:stCondLst>
                                          <p:endCondLst>
                                            <p:cond evt="onStopAudio" delay="0">
                                              <p:tgtEl>
                                                <p:sldTgt/>
                                              </p:tgtEl>
                                            </p:cond>
                                          </p:endCondLst>
                                        </p:cTn>
                                        <p:tgtEl>
                                          <p:sndTgt r:embed="rId1" name="REMINDER.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8872"/>
                                        </p:tgtEl>
                                        <p:attrNameLst>
                                          <p:attrName>style.visibility</p:attrName>
                                        </p:attrNameLst>
                                      </p:cBhvr>
                                      <p:to>
                                        <p:strVal val="visible"/>
                                      </p:to>
                                    </p:set>
                                    <p:animEffect transition="in" filter="dissolve">
                                      <p:cBhvr>
                                        <p:cTn id="12" dur="500"/>
                                        <p:tgtEl>
                                          <p:spTgt spid="78872"/>
                                        </p:tgtEl>
                                      </p:cBhvr>
                                    </p:animEffect>
                                  </p:childTnLst>
                                  <p:subTnLst>
                                    <p:audio>
                                      <p:cMediaNode>
                                        <p:cTn display="0" masterRel="sameClick">
                                          <p:stCondLst>
                                            <p:cond evt="begin" delay="0">
                                              <p:tn val="10"/>
                                            </p:cond>
                                          </p:stCondLst>
                                          <p:endCondLst>
                                            <p:cond evt="onStopAudio" delay="0">
                                              <p:tgtEl>
                                                <p:sldTgt/>
                                              </p:tgtEl>
                                            </p:cond>
                                          </p:endCondLst>
                                        </p:cTn>
                                        <p:tgtEl>
                                          <p:sndTgt r:embed="rId1" name="REMINDER.WAV"/>
                                        </p:tgtEl>
                                      </p:cMediaNode>
                                    </p:audio>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8873"/>
                                        </p:tgtEl>
                                        <p:attrNameLst>
                                          <p:attrName>style.visibility</p:attrName>
                                        </p:attrNameLst>
                                      </p:cBhvr>
                                      <p:to>
                                        <p:strVal val="visible"/>
                                      </p:to>
                                    </p:set>
                                    <p:animEffect transition="in" filter="dissolve">
                                      <p:cBhvr>
                                        <p:cTn id="17" dur="500"/>
                                        <p:tgtEl>
                                          <p:spTgt spid="78873"/>
                                        </p:tgtEl>
                                      </p:cBhvr>
                                    </p:animEffect>
                                  </p:childTnLst>
                                  <p:subTnLst>
                                    <p:audio>
                                      <p:cMediaNode>
                                        <p:cTn display="0" masterRel="sameClick">
                                          <p:stCondLst>
                                            <p:cond evt="begin" delay="0">
                                              <p:tn val="15"/>
                                            </p:cond>
                                          </p:stCondLst>
                                          <p:endCondLst>
                                            <p:cond evt="onStopAudio" delay="0">
                                              <p:tgtEl>
                                                <p:sldTgt/>
                                              </p:tgtEl>
                                            </p:cond>
                                          </p:endCondLst>
                                        </p:cTn>
                                        <p:tgtEl>
                                          <p:sndTgt r:embed="rId1" name="REMINDER.WAV"/>
                                        </p:tgtEl>
                                      </p:cMediaNode>
                                    </p:audio>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8874"/>
                                        </p:tgtEl>
                                        <p:attrNameLst>
                                          <p:attrName>style.visibility</p:attrName>
                                        </p:attrNameLst>
                                      </p:cBhvr>
                                      <p:to>
                                        <p:strVal val="visible"/>
                                      </p:to>
                                    </p:set>
                                    <p:animEffect transition="in" filter="dissolve">
                                      <p:cBhvr>
                                        <p:cTn id="22" dur="500"/>
                                        <p:tgtEl>
                                          <p:spTgt spid="78874"/>
                                        </p:tgtEl>
                                      </p:cBhvr>
                                    </p:animEffect>
                                  </p:childTnLst>
                                  <p:subTnLst>
                                    <p:audio>
                                      <p:cMediaNode>
                                        <p:cTn display="0" masterRel="sameClick">
                                          <p:stCondLst>
                                            <p:cond evt="begin" delay="0">
                                              <p:tn val="20"/>
                                            </p:cond>
                                          </p:stCondLst>
                                          <p:endCondLst>
                                            <p:cond evt="onStopAudio" delay="0">
                                              <p:tgtEl>
                                                <p:sldTgt/>
                                              </p:tgtEl>
                                            </p:cond>
                                          </p:endCondLst>
                                        </p:cTn>
                                        <p:tgtEl>
                                          <p:sndTgt r:embed="rId1" name="REMINDER.WAV"/>
                                        </p:tgtEl>
                                      </p:cMediaNode>
                                    </p:audio>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8875"/>
                                        </p:tgtEl>
                                        <p:attrNameLst>
                                          <p:attrName>style.visibility</p:attrName>
                                        </p:attrNameLst>
                                      </p:cBhvr>
                                      <p:to>
                                        <p:strVal val="visible"/>
                                      </p:to>
                                    </p:set>
                                    <p:animEffect transition="in" filter="dissolve">
                                      <p:cBhvr>
                                        <p:cTn id="27" dur="500"/>
                                        <p:tgtEl>
                                          <p:spTgt spid="78875"/>
                                        </p:tgtEl>
                                      </p:cBhvr>
                                    </p:animEffect>
                                  </p:childTnLst>
                                  <p:subTnLst>
                                    <p:audio>
                                      <p:cMediaNode>
                                        <p:cTn display="0" masterRel="sameClick">
                                          <p:stCondLst>
                                            <p:cond evt="begin" delay="0">
                                              <p:tn val="25"/>
                                            </p:cond>
                                          </p:stCondLst>
                                          <p:endCondLst>
                                            <p:cond evt="onStopAudio" delay="0">
                                              <p:tgtEl>
                                                <p:sldTgt/>
                                              </p:tgtEl>
                                            </p:cond>
                                          </p:endCondLst>
                                        </p:cTn>
                                        <p:tgtEl>
                                          <p:sndTgt r:embed="rId1" name="REMINDER.WAV"/>
                                        </p:tgtEl>
                                      </p:cMediaNode>
                                    </p:audio>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8876"/>
                                        </p:tgtEl>
                                        <p:attrNameLst>
                                          <p:attrName>style.visibility</p:attrName>
                                        </p:attrNameLst>
                                      </p:cBhvr>
                                      <p:to>
                                        <p:strVal val="visible"/>
                                      </p:to>
                                    </p:set>
                                    <p:animEffect transition="in" filter="dissolve">
                                      <p:cBhvr>
                                        <p:cTn id="32" dur="500"/>
                                        <p:tgtEl>
                                          <p:spTgt spid="78876"/>
                                        </p:tgtEl>
                                      </p:cBhvr>
                                    </p:animEffect>
                                  </p:childTnLst>
                                  <p:subTnLst>
                                    <p:audio>
                                      <p:cMediaNode>
                                        <p:cTn display="0" masterRel="sameClick">
                                          <p:stCondLst>
                                            <p:cond evt="begin" delay="0">
                                              <p:tn val="30"/>
                                            </p:cond>
                                          </p:stCondLst>
                                          <p:endCondLst>
                                            <p:cond evt="onStopAudio" delay="0">
                                              <p:tgtEl>
                                                <p:sldTgt/>
                                              </p:tgtEl>
                                            </p:cond>
                                          </p:endCondLst>
                                        </p:cTn>
                                        <p:tgtEl>
                                          <p:sndTgt r:embed="rId1" name="REMINDER.WAV"/>
                                        </p:tgtEl>
                                      </p:cMediaNode>
                                    </p:audio>
                                  </p:sub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8877"/>
                                        </p:tgtEl>
                                        <p:attrNameLst>
                                          <p:attrName>style.visibility</p:attrName>
                                        </p:attrNameLst>
                                      </p:cBhvr>
                                      <p:to>
                                        <p:strVal val="visible"/>
                                      </p:to>
                                    </p:set>
                                    <p:animEffect transition="in" filter="dissolve">
                                      <p:cBhvr>
                                        <p:cTn id="37" dur="500"/>
                                        <p:tgtEl>
                                          <p:spTgt spid="78877"/>
                                        </p:tgtEl>
                                      </p:cBhvr>
                                    </p:animEffect>
                                  </p:childTnLst>
                                  <p:subTnLst>
                                    <p:audio>
                                      <p:cMediaNode>
                                        <p:cTn display="0" masterRel="sameClick">
                                          <p:stCondLst>
                                            <p:cond evt="begin" delay="0">
                                              <p:tn val="35"/>
                                            </p:cond>
                                          </p:stCondLst>
                                          <p:endCondLst>
                                            <p:cond evt="onStopAudio" delay="0">
                                              <p:tgtEl>
                                                <p:sldTgt/>
                                              </p:tgtEl>
                                            </p:cond>
                                          </p:endCondLst>
                                        </p:cTn>
                                        <p:tgtEl>
                                          <p:sndTgt r:embed="rId1" name="REMIND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71" grpId="0" animBg="1" autoUpdateAnimBg="0"/>
      <p:bldP spid="78872" grpId="0" animBg="1" autoUpdateAnimBg="0"/>
      <p:bldP spid="78873" grpId="0" animBg="1" autoUpdateAnimBg="0"/>
      <p:bldP spid="78874" grpId="0" animBg="1" autoUpdateAnimBg="0"/>
      <p:bldP spid="78875" grpId="0" animBg="1" autoUpdateAnimBg="0"/>
      <p:bldP spid="78876" grpId="0" animBg="1" autoUpdateAnimBg="0"/>
      <p:bldP spid="78877"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706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0661" name="Rectangle 3"/>
          <p:cNvSpPr>
            <a:spLocks noChangeArrowheads="1"/>
          </p:cNvSpPr>
          <p:nvPr/>
        </p:nvSpPr>
        <p:spPr bwMode="auto">
          <a:xfrm>
            <a:off x="685800" y="9906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Verdana" panose="020B0604030504040204" pitchFamily="34" charset="0"/>
                <a:ea typeface="华文楷体" panose="02010600040101010101" pitchFamily="2" charset="-122"/>
              </a:rPr>
              <a:t>2.1 </a:t>
            </a:r>
            <a:r>
              <a:rPr lang="zh-CN" altLang="en-US" sz="2400" b="1" dirty="0">
                <a:solidFill>
                  <a:srgbClr val="996600"/>
                </a:solidFill>
                <a:latin typeface="Verdana" panose="020B0604030504040204" pitchFamily="34" charset="0"/>
                <a:ea typeface="华文楷体" panose="02010600040101010101" pitchFamily="2" charset="-122"/>
              </a:rPr>
              <a:t>无前趋的顶点优先算法</a:t>
            </a:r>
            <a:endParaRPr lang="zh-CN" altLang="en-US" sz="2400" b="1" dirty="0">
              <a:solidFill>
                <a:srgbClr val="996600"/>
              </a:solidFill>
              <a:latin typeface="Verdana" panose="020B0604030504040204" pitchFamily="34" charset="0"/>
              <a:ea typeface="华文楷体" panose="02010600040101010101" pitchFamily="2" charset="-122"/>
            </a:endParaRPr>
          </a:p>
        </p:txBody>
      </p:sp>
      <p:sp>
        <p:nvSpPr>
          <p:cNvPr id="70662" name="Rectangle 4"/>
          <p:cNvSpPr>
            <a:spLocks noGrp="1" noChangeArrowheads="1"/>
          </p:cNvSpPr>
          <p:nvPr>
            <p:ph type="body" idx="1"/>
          </p:nvPr>
        </p:nvSpPr>
        <p:spPr>
          <a:xfrm>
            <a:off x="685800" y="1676400"/>
            <a:ext cx="8001000" cy="4800600"/>
          </a:xfrm>
          <a:noFill/>
        </p:spPr>
        <p:txBody>
          <a:bodyPr/>
          <a:lstStyle/>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算法原理</a:t>
            </a:r>
            <a:r>
              <a:rPr lang="en-US" altLang="zh-CN" sz="2400" b="1" dirty="0" smtClean="0">
                <a:solidFill>
                  <a:schemeClr val="accent2"/>
                </a:solidFill>
                <a:ea typeface="华文楷体" panose="02010600040101010101" pitchFamily="2" charset="-122"/>
              </a:rPr>
              <a:t>]</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在一个拓扑序列中，每个顶点必定出现在它的所有前趋顶点之后。</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算法思想</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1. </a:t>
            </a:r>
            <a:r>
              <a:rPr lang="zh-CN" altLang="en-US" sz="2400" dirty="0" smtClean="0">
                <a:ea typeface="华文楷体" panose="02010600040101010101" pitchFamily="2" charset="-122"/>
              </a:rPr>
              <a:t>选择一个入度为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无前趋的顶点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，输出它</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删去该顶点及其关联的所有出边</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重复上述两步，直至图中不再有入度为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的顶点为止。</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若所有顶点均被输出，则排序成功，</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否则图中存在有向环。</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若该有向图不是无环图，则不存在拓扑排序。可以来判断一个有向图是否存在回路。</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页脚占位符 3"/>
          <p:cNvSpPr>
            <a:spLocks noGrp="1"/>
          </p:cNvSpPr>
          <p:nvPr>
            <p:ph type="ftr" sz="quarter" idx="10"/>
          </p:nvPr>
        </p:nvSpPr>
        <p:spPr/>
        <p:txBody>
          <a:bodyPr/>
          <a:lstStyle/>
          <a:p>
            <a:pPr>
              <a:defRPr/>
            </a:pPr>
            <a:r>
              <a:rPr lang="en-US" altLang="zh-CN"/>
              <a:t>BUPT SCST</a:t>
            </a:r>
            <a:endParaRPr lang="en-US" altLang="zh-CN"/>
          </a:p>
        </p:txBody>
      </p:sp>
      <p:sp>
        <p:nvSpPr>
          <p:cNvPr id="53" name="日期占位符 5"/>
          <p:cNvSpPr>
            <a:spLocks noGrp="1"/>
          </p:cNvSpPr>
          <p:nvPr>
            <p:ph type="dt" sz="quarter" idx="12"/>
          </p:nvPr>
        </p:nvSpPr>
        <p:spPr/>
        <p:txBody>
          <a:bodyPr/>
          <a:lstStyle/>
          <a:p>
            <a:pPr>
              <a:defRPr/>
            </a:pPr>
            <a:r>
              <a:rPr lang="en-US" altLang="zh-CN"/>
              <a:t>BUPT</a:t>
            </a:r>
            <a:endParaRPr lang="en-US" altLang="zh-CN"/>
          </a:p>
        </p:txBody>
      </p:sp>
      <p:sp>
        <p:nvSpPr>
          <p:cNvPr id="7168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1685" name="Rectangle 3"/>
          <p:cNvSpPr>
            <a:spLocks noChangeArrowheads="1"/>
          </p:cNvSpPr>
          <p:nvPr/>
        </p:nvSpPr>
        <p:spPr bwMode="auto">
          <a:xfrm>
            <a:off x="685800" y="10668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solidFill>
                  <a:srgbClr val="996600"/>
                </a:solidFill>
                <a:latin typeface="Verdana" panose="020B0604030504040204" pitchFamily="34" charset="0"/>
                <a:ea typeface="华文楷体" panose="02010600040101010101" pitchFamily="2" charset="-122"/>
              </a:rPr>
              <a:t>[</a:t>
            </a:r>
            <a:r>
              <a:rPr lang="zh-CN" altLang="en-US" sz="2400" dirty="0">
                <a:solidFill>
                  <a:srgbClr val="996600"/>
                </a:solidFill>
                <a:latin typeface="Verdana" panose="020B0604030504040204" pitchFamily="34" charset="0"/>
                <a:ea typeface="华文楷体" panose="02010600040101010101" pitchFamily="2" charset="-122"/>
              </a:rPr>
              <a:t>例</a:t>
            </a:r>
            <a:r>
              <a:rPr lang="en-US" altLang="zh-CN" sz="2400" dirty="0">
                <a:solidFill>
                  <a:srgbClr val="996600"/>
                </a:solidFill>
                <a:latin typeface="Verdana" panose="020B0604030504040204" pitchFamily="34" charset="0"/>
                <a:ea typeface="华文楷体" panose="02010600040101010101" pitchFamily="2" charset="-122"/>
              </a:rPr>
              <a:t>]</a:t>
            </a:r>
            <a:endParaRPr lang="en-US" altLang="zh-CN" sz="2400" b="1" dirty="0">
              <a:solidFill>
                <a:srgbClr val="996600"/>
              </a:solidFill>
              <a:latin typeface="Verdana" panose="020B0604030504040204" pitchFamily="34" charset="0"/>
              <a:ea typeface="华文楷体" panose="02010600040101010101" pitchFamily="2" charset="-122"/>
            </a:endParaRPr>
          </a:p>
        </p:txBody>
      </p:sp>
      <p:sp>
        <p:nvSpPr>
          <p:cNvPr id="71686" name="Rectangle 4"/>
          <p:cNvSpPr>
            <a:spLocks noGrp="1" noChangeArrowheads="1"/>
          </p:cNvSpPr>
          <p:nvPr>
            <p:ph type="body" idx="1"/>
          </p:nvPr>
        </p:nvSpPr>
        <p:spPr>
          <a:xfrm>
            <a:off x="838200" y="1600200"/>
            <a:ext cx="7772400" cy="4800600"/>
          </a:xfrm>
          <a:noFill/>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 </a:t>
            </a:r>
            <a:endParaRPr lang="en-US" altLang="zh-CN" dirty="0" smtClean="0">
              <a:ea typeface="华文楷体" panose="02010600040101010101" pitchFamily="2" charset="-122"/>
            </a:endParaRPr>
          </a:p>
        </p:txBody>
      </p:sp>
      <p:sp>
        <p:nvSpPr>
          <p:cNvPr id="71687" name="Oval 5"/>
          <p:cNvSpPr>
            <a:spLocks noChangeArrowheads="1"/>
          </p:cNvSpPr>
          <p:nvPr/>
        </p:nvSpPr>
        <p:spPr bwMode="auto">
          <a:xfrm>
            <a:off x="2438400" y="4038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88" name="Text Box 6"/>
          <p:cNvSpPr txBox="1">
            <a:spLocks noChangeArrowheads="1"/>
          </p:cNvSpPr>
          <p:nvPr/>
        </p:nvSpPr>
        <p:spPr bwMode="auto">
          <a:xfrm>
            <a:off x="2438400" y="4038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71689" name="Oval 7"/>
          <p:cNvSpPr>
            <a:spLocks noChangeArrowheads="1"/>
          </p:cNvSpPr>
          <p:nvPr/>
        </p:nvSpPr>
        <p:spPr bwMode="auto">
          <a:xfrm>
            <a:off x="1676400" y="48768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0" name="Oval 8"/>
          <p:cNvSpPr>
            <a:spLocks noChangeArrowheads="1"/>
          </p:cNvSpPr>
          <p:nvPr/>
        </p:nvSpPr>
        <p:spPr bwMode="auto">
          <a:xfrm>
            <a:off x="2590800" y="5181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1" name="Line 9"/>
          <p:cNvSpPr>
            <a:spLocks noChangeShapeType="1"/>
          </p:cNvSpPr>
          <p:nvPr/>
        </p:nvSpPr>
        <p:spPr bwMode="auto">
          <a:xfrm>
            <a:off x="2133600" y="51054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692" name="Text Box 10"/>
          <p:cNvSpPr txBox="1">
            <a:spLocks noChangeArrowheads="1"/>
          </p:cNvSpPr>
          <p:nvPr/>
        </p:nvSpPr>
        <p:spPr bwMode="auto">
          <a:xfrm>
            <a:off x="1676400" y="4876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1693" name="Text Box 11"/>
          <p:cNvSpPr txBox="1">
            <a:spLocks noChangeArrowheads="1"/>
          </p:cNvSpPr>
          <p:nvPr/>
        </p:nvSpPr>
        <p:spPr bwMode="auto">
          <a:xfrm>
            <a:off x="2590800" y="5181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1694" name="Text Box 12"/>
          <p:cNvSpPr txBox="1">
            <a:spLocks noChangeArrowheads="1"/>
          </p:cNvSpPr>
          <p:nvPr/>
        </p:nvSpPr>
        <p:spPr bwMode="auto">
          <a:xfrm>
            <a:off x="1447800" y="55626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1695" name="Oval 13"/>
          <p:cNvSpPr>
            <a:spLocks noChangeArrowheads="1"/>
          </p:cNvSpPr>
          <p:nvPr/>
        </p:nvSpPr>
        <p:spPr bwMode="auto">
          <a:xfrm>
            <a:off x="1524000" y="1752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6" name="Oval 14"/>
          <p:cNvSpPr>
            <a:spLocks noChangeArrowheads="1"/>
          </p:cNvSpPr>
          <p:nvPr/>
        </p:nvSpPr>
        <p:spPr bwMode="auto">
          <a:xfrm>
            <a:off x="3124200" y="1752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7" name="Oval 15"/>
          <p:cNvSpPr>
            <a:spLocks noChangeArrowheads="1"/>
          </p:cNvSpPr>
          <p:nvPr/>
        </p:nvSpPr>
        <p:spPr bwMode="auto">
          <a:xfrm>
            <a:off x="1447800" y="2895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8" name="Oval 16"/>
          <p:cNvSpPr>
            <a:spLocks noChangeArrowheads="1"/>
          </p:cNvSpPr>
          <p:nvPr/>
        </p:nvSpPr>
        <p:spPr bwMode="auto">
          <a:xfrm>
            <a:off x="2362200" y="2667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699" name="Oval 17"/>
          <p:cNvSpPr>
            <a:spLocks noChangeArrowheads="1"/>
          </p:cNvSpPr>
          <p:nvPr/>
        </p:nvSpPr>
        <p:spPr bwMode="auto">
          <a:xfrm>
            <a:off x="3276600" y="2895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00" name="Line 18"/>
          <p:cNvSpPr>
            <a:spLocks noChangeShapeType="1"/>
          </p:cNvSpPr>
          <p:nvPr/>
        </p:nvSpPr>
        <p:spPr bwMode="auto">
          <a:xfrm>
            <a:off x="1981200" y="1981200"/>
            <a:ext cx="1143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01" name="Line 19"/>
          <p:cNvSpPr>
            <a:spLocks noChangeShapeType="1"/>
          </p:cNvSpPr>
          <p:nvPr/>
        </p:nvSpPr>
        <p:spPr bwMode="auto">
          <a:xfrm flipV="1">
            <a:off x="1752600" y="2133600"/>
            <a:ext cx="14478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02" name="Line 20"/>
          <p:cNvSpPr>
            <a:spLocks noChangeShapeType="1"/>
          </p:cNvSpPr>
          <p:nvPr/>
        </p:nvSpPr>
        <p:spPr bwMode="auto">
          <a:xfrm flipV="1">
            <a:off x="1905000" y="28956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03" name="Line 21"/>
          <p:cNvSpPr>
            <a:spLocks noChangeShapeType="1"/>
          </p:cNvSpPr>
          <p:nvPr/>
        </p:nvSpPr>
        <p:spPr bwMode="auto">
          <a:xfrm>
            <a:off x="2819400" y="28194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04" name="Line 22"/>
          <p:cNvSpPr>
            <a:spLocks noChangeShapeType="1"/>
          </p:cNvSpPr>
          <p:nvPr/>
        </p:nvSpPr>
        <p:spPr bwMode="auto">
          <a:xfrm>
            <a:off x="1905000" y="3200400"/>
            <a:ext cx="1371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05" name="Text Box 23"/>
          <p:cNvSpPr txBox="1">
            <a:spLocks noChangeArrowheads="1"/>
          </p:cNvSpPr>
          <p:nvPr/>
        </p:nvSpPr>
        <p:spPr bwMode="auto">
          <a:xfrm>
            <a:off x="1524000" y="1752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1706" name="Text Box 24"/>
          <p:cNvSpPr txBox="1">
            <a:spLocks noChangeArrowheads="1"/>
          </p:cNvSpPr>
          <p:nvPr/>
        </p:nvSpPr>
        <p:spPr bwMode="auto">
          <a:xfrm>
            <a:off x="1447800" y="2895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1707" name="Text Box 25"/>
          <p:cNvSpPr txBox="1">
            <a:spLocks noChangeArrowheads="1"/>
          </p:cNvSpPr>
          <p:nvPr/>
        </p:nvSpPr>
        <p:spPr bwMode="auto">
          <a:xfrm>
            <a:off x="2362200" y="2667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1708" name="Text Box 26"/>
          <p:cNvSpPr txBox="1">
            <a:spLocks noChangeArrowheads="1"/>
          </p:cNvSpPr>
          <p:nvPr/>
        </p:nvSpPr>
        <p:spPr bwMode="auto">
          <a:xfrm>
            <a:off x="3276600" y="2895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1709" name="Text Box 27"/>
          <p:cNvSpPr txBox="1">
            <a:spLocks noChangeArrowheads="1"/>
          </p:cNvSpPr>
          <p:nvPr/>
        </p:nvSpPr>
        <p:spPr bwMode="auto">
          <a:xfrm>
            <a:off x="3124200" y="1752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71710" name="Text Box 28"/>
          <p:cNvSpPr txBox="1">
            <a:spLocks noChangeArrowheads="1"/>
          </p:cNvSpPr>
          <p:nvPr/>
        </p:nvSpPr>
        <p:spPr bwMode="auto">
          <a:xfrm>
            <a:off x="2209800" y="3276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a:t>
            </a:r>
            <a:endParaRPr kumimoji="1" lang="en-US" altLang="zh-CN" sz="2400" dirty="0">
              <a:solidFill>
                <a:srgbClr val="996600"/>
              </a:solidFill>
              <a:latin typeface="Times New Roman" panose="02020603050405020304" pitchFamily="18" charset="0"/>
              <a:ea typeface="华文楷体" panose="02010600040101010101" pitchFamily="2" charset="-122"/>
            </a:endParaRPr>
          </a:p>
        </p:txBody>
      </p:sp>
      <p:sp>
        <p:nvSpPr>
          <p:cNvPr id="71711" name="Oval 29"/>
          <p:cNvSpPr>
            <a:spLocks noChangeArrowheads="1"/>
          </p:cNvSpPr>
          <p:nvPr/>
        </p:nvSpPr>
        <p:spPr bwMode="auto">
          <a:xfrm>
            <a:off x="6019800" y="1752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12" name="Oval 30"/>
          <p:cNvSpPr>
            <a:spLocks noChangeArrowheads="1"/>
          </p:cNvSpPr>
          <p:nvPr/>
        </p:nvSpPr>
        <p:spPr bwMode="auto">
          <a:xfrm>
            <a:off x="4343400" y="2895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13" name="Oval 31"/>
          <p:cNvSpPr>
            <a:spLocks noChangeArrowheads="1"/>
          </p:cNvSpPr>
          <p:nvPr/>
        </p:nvSpPr>
        <p:spPr bwMode="auto">
          <a:xfrm>
            <a:off x="5257800" y="2667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14" name="Oval 32"/>
          <p:cNvSpPr>
            <a:spLocks noChangeArrowheads="1"/>
          </p:cNvSpPr>
          <p:nvPr/>
        </p:nvSpPr>
        <p:spPr bwMode="auto">
          <a:xfrm>
            <a:off x="6172200" y="2895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15" name="Line 33"/>
          <p:cNvSpPr>
            <a:spLocks noChangeShapeType="1"/>
          </p:cNvSpPr>
          <p:nvPr/>
        </p:nvSpPr>
        <p:spPr bwMode="auto">
          <a:xfrm flipV="1">
            <a:off x="4648200" y="2133600"/>
            <a:ext cx="14478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16" name="Line 34"/>
          <p:cNvSpPr>
            <a:spLocks noChangeShapeType="1"/>
          </p:cNvSpPr>
          <p:nvPr/>
        </p:nvSpPr>
        <p:spPr bwMode="auto">
          <a:xfrm flipV="1">
            <a:off x="4800600" y="28956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17" name="Line 35"/>
          <p:cNvSpPr>
            <a:spLocks noChangeShapeType="1"/>
          </p:cNvSpPr>
          <p:nvPr/>
        </p:nvSpPr>
        <p:spPr bwMode="auto">
          <a:xfrm>
            <a:off x="5715000" y="28194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18" name="Line 36"/>
          <p:cNvSpPr>
            <a:spLocks noChangeShapeType="1"/>
          </p:cNvSpPr>
          <p:nvPr/>
        </p:nvSpPr>
        <p:spPr bwMode="auto">
          <a:xfrm>
            <a:off x="4800600" y="3200400"/>
            <a:ext cx="1371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19" name="Text Box 37"/>
          <p:cNvSpPr txBox="1">
            <a:spLocks noChangeArrowheads="1"/>
          </p:cNvSpPr>
          <p:nvPr/>
        </p:nvSpPr>
        <p:spPr bwMode="auto">
          <a:xfrm>
            <a:off x="4343400" y="2895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1720" name="Text Box 38"/>
          <p:cNvSpPr txBox="1">
            <a:spLocks noChangeArrowheads="1"/>
          </p:cNvSpPr>
          <p:nvPr/>
        </p:nvSpPr>
        <p:spPr bwMode="auto">
          <a:xfrm>
            <a:off x="5257800" y="2667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1721" name="Text Box 39"/>
          <p:cNvSpPr txBox="1">
            <a:spLocks noChangeArrowheads="1"/>
          </p:cNvSpPr>
          <p:nvPr/>
        </p:nvSpPr>
        <p:spPr bwMode="auto">
          <a:xfrm>
            <a:off x="6172200" y="2895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1722" name="Text Box 40"/>
          <p:cNvSpPr txBox="1">
            <a:spLocks noChangeArrowheads="1"/>
          </p:cNvSpPr>
          <p:nvPr/>
        </p:nvSpPr>
        <p:spPr bwMode="auto">
          <a:xfrm>
            <a:off x="6019800" y="1752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71723" name="Text Box 41"/>
          <p:cNvSpPr txBox="1">
            <a:spLocks noChangeArrowheads="1"/>
          </p:cNvSpPr>
          <p:nvPr/>
        </p:nvSpPr>
        <p:spPr bwMode="auto">
          <a:xfrm>
            <a:off x="5029200" y="3276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1"/>
              </a:solidFill>
              <a:latin typeface="Times New Roman" panose="02020603050405020304" pitchFamily="18" charset="0"/>
              <a:ea typeface="华文楷体" panose="02010600040101010101" pitchFamily="2" charset="-122"/>
            </a:endParaRPr>
          </a:p>
        </p:txBody>
      </p:sp>
      <p:sp>
        <p:nvSpPr>
          <p:cNvPr id="71724" name="Oval 42"/>
          <p:cNvSpPr>
            <a:spLocks noChangeArrowheads="1"/>
          </p:cNvSpPr>
          <p:nvPr/>
        </p:nvSpPr>
        <p:spPr bwMode="auto">
          <a:xfrm>
            <a:off x="3962400" y="48768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25" name="Oval 43"/>
          <p:cNvSpPr>
            <a:spLocks noChangeArrowheads="1"/>
          </p:cNvSpPr>
          <p:nvPr/>
        </p:nvSpPr>
        <p:spPr bwMode="auto">
          <a:xfrm>
            <a:off x="4876800" y="51054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26" name="Line 44"/>
          <p:cNvSpPr>
            <a:spLocks noChangeShapeType="1"/>
          </p:cNvSpPr>
          <p:nvPr/>
        </p:nvSpPr>
        <p:spPr bwMode="auto">
          <a:xfrm>
            <a:off x="4419600" y="50292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727" name="Text Box 45"/>
          <p:cNvSpPr txBox="1">
            <a:spLocks noChangeArrowheads="1"/>
          </p:cNvSpPr>
          <p:nvPr/>
        </p:nvSpPr>
        <p:spPr bwMode="auto">
          <a:xfrm>
            <a:off x="3962400" y="4876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1728" name="Text Box 46"/>
          <p:cNvSpPr txBox="1">
            <a:spLocks noChangeArrowheads="1"/>
          </p:cNvSpPr>
          <p:nvPr/>
        </p:nvSpPr>
        <p:spPr bwMode="auto">
          <a:xfrm>
            <a:off x="4876800" y="5105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1729" name="Text Box 47"/>
          <p:cNvSpPr txBox="1">
            <a:spLocks noChangeArrowheads="1"/>
          </p:cNvSpPr>
          <p:nvPr/>
        </p:nvSpPr>
        <p:spPr bwMode="auto">
          <a:xfrm>
            <a:off x="3733800" y="54864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1730" name="Oval 48"/>
          <p:cNvSpPr>
            <a:spLocks noChangeArrowheads="1"/>
          </p:cNvSpPr>
          <p:nvPr/>
        </p:nvSpPr>
        <p:spPr bwMode="auto">
          <a:xfrm>
            <a:off x="6858000" y="510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1731" name="Text Box 49"/>
          <p:cNvSpPr txBox="1">
            <a:spLocks noChangeArrowheads="1"/>
          </p:cNvSpPr>
          <p:nvPr/>
        </p:nvSpPr>
        <p:spPr bwMode="auto">
          <a:xfrm>
            <a:off x="6934200" y="5105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1732" name="Text Box 50"/>
          <p:cNvSpPr txBox="1">
            <a:spLocks noChangeArrowheads="1"/>
          </p:cNvSpPr>
          <p:nvPr/>
        </p:nvSpPr>
        <p:spPr bwMode="auto">
          <a:xfrm>
            <a:off x="6324600" y="54864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a:t>
            </a:r>
            <a:r>
              <a:rPr kumimoji="1" lang="en-US" altLang="zh-CN" sz="2400" dirty="0">
                <a:solidFill>
                  <a:srgbClr val="996600"/>
                </a:solidFill>
                <a:latin typeface="Times New Roman" panose="02020603050405020304" pitchFamily="18" charset="0"/>
                <a:ea typeface="华文楷体" panose="02010600040101010101" pitchFamily="2" charset="-122"/>
              </a:rPr>
              <a:t> 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1733" name="Text Box 51"/>
          <p:cNvSpPr txBox="1">
            <a:spLocks noChangeArrowheads="1"/>
          </p:cNvSpPr>
          <p:nvPr/>
        </p:nvSpPr>
        <p:spPr bwMode="auto">
          <a:xfrm>
            <a:off x="2209800" y="609600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a:solidFill>
                  <a:schemeClr val="accent2"/>
                </a:solidFill>
                <a:latin typeface="Times New Roman" panose="02020603050405020304" pitchFamily="18" charset="0"/>
                <a:ea typeface="楷体_GB2312" pitchFamily="49" charset="-122"/>
              </a:rPr>
              <a:t>有向无环图的拓扑序列不唯一</a:t>
            </a:r>
            <a:endParaRPr kumimoji="1" lang="zh-CN" altLang="en-US" sz="2400">
              <a:solidFill>
                <a:schemeClr val="accent2"/>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BUPT SCST</a:t>
            </a:r>
            <a:endParaRPr lang="en-US" altLang="zh-CN"/>
          </a:p>
        </p:txBody>
      </p:sp>
      <p:sp>
        <p:nvSpPr>
          <p:cNvPr id="33" name="日期占位符 5"/>
          <p:cNvSpPr>
            <a:spLocks noGrp="1"/>
          </p:cNvSpPr>
          <p:nvPr>
            <p:ph type="dt" sz="quarter" idx="12"/>
          </p:nvPr>
        </p:nvSpPr>
        <p:spPr/>
        <p:txBody>
          <a:bodyPr/>
          <a:lstStyle/>
          <a:p>
            <a:pPr>
              <a:defRPr/>
            </a:pPr>
            <a:r>
              <a:rPr lang="en-US" altLang="zh-CN"/>
              <a:t>BUPT</a:t>
            </a:r>
            <a:endParaRPr lang="en-US" altLang="zh-CN"/>
          </a:p>
        </p:txBody>
      </p:sp>
      <p:sp>
        <p:nvSpPr>
          <p:cNvPr id="727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2709" name="Text Box 3"/>
          <p:cNvSpPr txBox="1">
            <a:spLocks noChangeArrowheads="1"/>
          </p:cNvSpPr>
          <p:nvPr/>
        </p:nvSpPr>
        <p:spPr bwMode="auto">
          <a:xfrm>
            <a:off x="0" y="1074753"/>
            <a:ext cx="3962400"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en-US" altLang="zh-CN" sz="2400" b="1" dirty="0">
                <a:solidFill>
                  <a:schemeClr val="accent2"/>
                </a:solidFill>
                <a:latin typeface="Times New Roman" panose="02020603050405020304" pitchFamily="18" charset="0"/>
                <a:ea typeface="华文楷体" panose="02010600040101010101" pitchFamily="2" charset="-122"/>
              </a:rPr>
              <a:t>[</a:t>
            </a:r>
            <a:r>
              <a:rPr kumimoji="1" lang="zh-CN" altLang="en-US" sz="2400" b="1" dirty="0">
                <a:solidFill>
                  <a:schemeClr val="accent2"/>
                </a:solidFill>
                <a:latin typeface="Times New Roman" panose="02020603050405020304" pitchFamily="18" charset="0"/>
                <a:ea typeface="华文楷体" panose="02010600040101010101" pitchFamily="2" charset="-122"/>
              </a:rPr>
              <a:t>算法（使用邻接矩阵）</a:t>
            </a:r>
            <a:r>
              <a:rPr kumimoji="1" lang="en-US" altLang="zh-CN" sz="2400" b="1" dirty="0">
                <a:solidFill>
                  <a:schemeClr val="accent2"/>
                </a:solidFill>
                <a:latin typeface="Times New Roman" panose="02020603050405020304" pitchFamily="18" charset="0"/>
                <a:ea typeface="华文楷体" panose="02010600040101010101" pitchFamily="2" charset="-122"/>
              </a:rPr>
              <a:t>]</a:t>
            </a:r>
            <a:endParaRPr kumimoji="1" lang="en-US" altLang="zh-CN" sz="1600" b="1" dirty="0">
              <a:solidFill>
                <a:schemeClr val="accent2"/>
              </a:solidFill>
              <a:latin typeface="Times New Roman" panose="02020603050405020304" pitchFamily="18" charset="0"/>
              <a:ea typeface="华文楷体" panose="02010600040101010101" pitchFamily="2" charset="-122"/>
            </a:endParaRPr>
          </a:p>
        </p:txBody>
      </p:sp>
      <p:sp>
        <p:nvSpPr>
          <p:cNvPr id="72710" name="Oval 4"/>
          <p:cNvSpPr>
            <a:spLocks noChangeArrowheads="1"/>
          </p:cNvSpPr>
          <p:nvPr/>
        </p:nvSpPr>
        <p:spPr bwMode="auto">
          <a:xfrm>
            <a:off x="2286000" y="137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1" name="Line 5"/>
          <p:cNvSpPr>
            <a:spLocks noChangeShapeType="1"/>
          </p:cNvSpPr>
          <p:nvPr/>
        </p:nvSpPr>
        <p:spPr bwMode="auto">
          <a:xfrm flipH="1">
            <a:off x="1981200" y="167640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12" name="Oval 6"/>
          <p:cNvSpPr>
            <a:spLocks noChangeArrowheads="1"/>
          </p:cNvSpPr>
          <p:nvPr/>
        </p:nvSpPr>
        <p:spPr bwMode="auto">
          <a:xfrm>
            <a:off x="16764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3" name="Line 7"/>
          <p:cNvSpPr>
            <a:spLocks noChangeShapeType="1"/>
          </p:cNvSpPr>
          <p:nvPr/>
        </p:nvSpPr>
        <p:spPr bwMode="auto">
          <a:xfrm flipV="1">
            <a:off x="1371600" y="2438400"/>
            <a:ext cx="381000" cy="5334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14" name="Oval 8"/>
          <p:cNvSpPr>
            <a:spLocks noChangeArrowheads="1"/>
          </p:cNvSpPr>
          <p:nvPr/>
        </p:nvSpPr>
        <p:spPr bwMode="auto">
          <a:xfrm>
            <a:off x="29718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5" name="Oval 9"/>
          <p:cNvSpPr>
            <a:spLocks noChangeArrowheads="1"/>
          </p:cNvSpPr>
          <p:nvPr/>
        </p:nvSpPr>
        <p:spPr bwMode="auto">
          <a:xfrm>
            <a:off x="990600" y="2971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6" name="Line 10"/>
          <p:cNvSpPr>
            <a:spLocks noChangeShapeType="1"/>
          </p:cNvSpPr>
          <p:nvPr/>
        </p:nvSpPr>
        <p:spPr bwMode="auto">
          <a:xfrm>
            <a:off x="2667000" y="1676400"/>
            <a:ext cx="381000" cy="5334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17" name="Oval 11"/>
          <p:cNvSpPr>
            <a:spLocks noChangeArrowheads="1"/>
          </p:cNvSpPr>
          <p:nvPr/>
        </p:nvSpPr>
        <p:spPr bwMode="auto">
          <a:xfrm>
            <a:off x="1905000" y="2971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8" name="Oval 12"/>
          <p:cNvSpPr>
            <a:spLocks noChangeArrowheads="1"/>
          </p:cNvSpPr>
          <p:nvPr/>
        </p:nvSpPr>
        <p:spPr bwMode="auto">
          <a:xfrm>
            <a:off x="2590800" y="3429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72719" name="Line 13"/>
          <p:cNvSpPr>
            <a:spLocks noChangeShapeType="1"/>
          </p:cNvSpPr>
          <p:nvPr/>
        </p:nvSpPr>
        <p:spPr bwMode="auto">
          <a:xfrm>
            <a:off x="1981200" y="2514600"/>
            <a:ext cx="1524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0" name="Line 14"/>
          <p:cNvSpPr>
            <a:spLocks noChangeShapeType="1"/>
          </p:cNvSpPr>
          <p:nvPr/>
        </p:nvSpPr>
        <p:spPr bwMode="auto">
          <a:xfrm flipH="1">
            <a:off x="2819400" y="2514600"/>
            <a:ext cx="304800" cy="914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1" name="Oval 15"/>
          <p:cNvSpPr>
            <a:spLocks noChangeArrowheads="1"/>
          </p:cNvSpPr>
          <p:nvPr/>
        </p:nvSpPr>
        <p:spPr bwMode="auto">
          <a:xfrm>
            <a:off x="3352800" y="2971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72722" name="Line 16"/>
          <p:cNvSpPr>
            <a:spLocks noChangeShapeType="1"/>
          </p:cNvSpPr>
          <p:nvPr/>
        </p:nvSpPr>
        <p:spPr bwMode="auto">
          <a:xfrm>
            <a:off x="3276600" y="2514600"/>
            <a:ext cx="2286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3" name="Line 17"/>
          <p:cNvSpPr>
            <a:spLocks noChangeShapeType="1"/>
          </p:cNvSpPr>
          <p:nvPr/>
        </p:nvSpPr>
        <p:spPr bwMode="auto">
          <a:xfrm flipH="1">
            <a:off x="2286000" y="2438400"/>
            <a:ext cx="762000" cy="6096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4" name="Line 18"/>
          <p:cNvSpPr>
            <a:spLocks noChangeShapeType="1"/>
          </p:cNvSpPr>
          <p:nvPr/>
        </p:nvSpPr>
        <p:spPr bwMode="auto">
          <a:xfrm flipH="1">
            <a:off x="1447800" y="3200400"/>
            <a:ext cx="4572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5" name="Line 19"/>
          <p:cNvSpPr>
            <a:spLocks noChangeShapeType="1"/>
          </p:cNvSpPr>
          <p:nvPr/>
        </p:nvSpPr>
        <p:spPr bwMode="auto">
          <a:xfrm flipH="1">
            <a:off x="1219200" y="3886200"/>
            <a:ext cx="1524000" cy="533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6" name="Line 20"/>
          <p:cNvSpPr>
            <a:spLocks noChangeShapeType="1"/>
          </p:cNvSpPr>
          <p:nvPr/>
        </p:nvSpPr>
        <p:spPr bwMode="auto">
          <a:xfrm>
            <a:off x="2819400" y="3352800"/>
            <a:ext cx="762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7" name="Line 21"/>
          <p:cNvSpPr>
            <a:spLocks noChangeShapeType="1"/>
          </p:cNvSpPr>
          <p:nvPr/>
        </p:nvSpPr>
        <p:spPr bwMode="auto">
          <a:xfrm flipH="1" flipV="1">
            <a:off x="1371600" y="3352800"/>
            <a:ext cx="1219200" cy="3048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728" name="AutoShape 22"/>
          <p:cNvSpPr>
            <a:spLocks noChangeArrowheads="1"/>
          </p:cNvSpPr>
          <p:nvPr/>
        </p:nvSpPr>
        <p:spPr bwMode="auto">
          <a:xfrm>
            <a:off x="1066800" y="4114800"/>
            <a:ext cx="2362200" cy="2743200"/>
          </a:xfrm>
          <a:prstGeom prst="bracketPair">
            <a:avLst>
              <a:gd name="adj" fmla="val 16667"/>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2729" name="Text Box 23"/>
          <p:cNvSpPr txBox="1">
            <a:spLocks noChangeArrowheads="1"/>
          </p:cNvSpPr>
          <p:nvPr/>
        </p:nvSpPr>
        <p:spPr bwMode="auto">
          <a:xfrm>
            <a:off x="1371600" y="4114800"/>
            <a:ext cx="2133600" cy="25368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1  1  0  0  0  0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0  0  0  1  1  1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0  0  0  1  0  1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0  0  0  0  0  0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0  0  0  0  0  1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0  0  0  0  0  1 </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a:t>
            </a:r>
            <a:r>
              <a:rPr kumimoji="1" lang="en-US" altLang="zh-CN" sz="1600" b="1" dirty="0">
                <a:latin typeface="Times New Roman" panose="02020603050405020304" pitchFamily="18" charset="0"/>
                <a:ea typeface="华文楷体" panose="02010600040101010101" pitchFamily="2" charset="-122"/>
              </a:rPr>
              <a:t>  0  0  0  0  0  0</a:t>
            </a:r>
            <a:endParaRPr kumimoji="1" lang="en-US" altLang="zh-CN" sz="1600" b="1" dirty="0">
              <a:latin typeface="Times New Roman" panose="02020603050405020304" pitchFamily="18" charset="0"/>
              <a:ea typeface="华文楷体" panose="02010600040101010101" pitchFamily="2" charset="-122"/>
            </a:endParaRPr>
          </a:p>
        </p:txBody>
      </p:sp>
      <p:sp>
        <p:nvSpPr>
          <p:cNvPr id="72730" name="Text Box 24"/>
          <p:cNvSpPr txBox="1">
            <a:spLocks noChangeArrowheads="1"/>
          </p:cNvSpPr>
          <p:nvPr/>
        </p:nvSpPr>
        <p:spPr bwMode="auto">
          <a:xfrm>
            <a:off x="533400" y="4106863"/>
            <a:ext cx="457200" cy="29035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600" b="1" dirty="0">
              <a:latin typeface="Times New Roman" panose="02020603050405020304" pitchFamily="18" charset="0"/>
              <a:ea typeface="华文楷体" panose="02010600040101010101" pitchFamily="2" charset="-122"/>
            </a:endParaRPr>
          </a:p>
        </p:txBody>
      </p:sp>
      <p:sp>
        <p:nvSpPr>
          <p:cNvPr id="72731" name="Text Box 25"/>
          <p:cNvSpPr txBox="1">
            <a:spLocks noChangeArrowheads="1"/>
          </p:cNvSpPr>
          <p:nvPr/>
        </p:nvSpPr>
        <p:spPr bwMode="auto">
          <a:xfrm>
            <a:off x="1066800" y="3810000"/>
            <a:ext cx="1981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    1   2  3  4  5  6  7</a:t>
            </a:r>
            <a:endParaRPr kumimoji="1" lang="en-US" altLang="zh-CN" sz="1600" b="1" dirty="0">
              <a:latin typeface="Times New Roman" panose="02020603050405020304" pitchFamily="18" charset="0"/>
              <a:ea typeface="华文楷体" panose="02010600040101010101" pitchFamily="2" charset="-122"/>
            </a:endParaRPr>
          </a:p>
        </p:txBody>
      </p:sp>
      <p:sp>
        <p:nvSpPr>
          <p:cNvPr id="72732" name="Text Box 26"/>
          <p:cNvSpPr txBox="1">
            <a:spLocks noChangeArrowheads="1"/>
          </p:cNvSpPr>
          <p:nvPr/>
        </p:nvSpPr>
        <p:spPr bwMode="auto">
          <a:xfrm>
            <a:off x="4724400" y="1562100"/>
            <a:ext cx="4114800" cy="1815882"/>
          </a:xfrm>
          <a:prstGeom prst="rect">
            <a:avLst/>
          </a:prstGeom>
          <a:solidFill>
            <a:srgbClr val="CCFFFF"/>
          </a:solidFill>
          <a:ln w="9525">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算法的执行步骤：</a:t>
            </a:r>
            <a:endParaRPr kumimoji="1" lang="zh-CN" altLang="en-US" sz="1600" b="1"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1</a:t>
            </a:r>
            <a:r>
              <a:rPr kumimoji="1" lang="zh-CN" altLang="en-US" sz="1600" dirty="0">
                <a:latin typeface="Times New Roman" panose="02020603050405020304" pitchFamily="18" charset="0"/>
                <a:ea typeface="华文楷体" panose="02010600040101010101" pitchFamily="2" charset="-122"/>
              </a:rPr>
              <a:t>、找到全为零的第 </a:t>
            </a:r>
            <a:r>
              <a:rPr kumimoji="1" lang="en-US" altLang="zh-CN" sz="1600" dirty="0">
                <a:latin typeface="Times New Roman" panose="02020603050405020304" pitchFamily="18" charset="0"/>
                <a:ea typeface="华文楷体" panose="02010600040101010101" pitchFamily="2" charset="-122"/>
              </a:rPr>
              <a:t>j  </a:t>
            </a:r>
            <a:r>
              <a:rPr kumimoji="1" lang="zh-CN" altLang="zh-CN" sz="1600" dirty="0">
                <a:latin typeface="Times New Roman" panose="02020603050405020304" pitchFamily="18" charset="0"/>
                <a:ea typeface="华文楷体" panose="02010600040101010101" pitchFamily="2" charset="-122"/>
              </a:rPr>
              <a:t>列，输出  </a:t>
            </a:r>
            <a:r>
              <a:rPr kumimoji="1" lang="en-US" altLang="zh-CN" sz="1600" dirty="0">
                <a:latin typeface="Times New Roman" panose="02020603050405020304" pitchFamily="18" charset="0"/>
                <a:ea typeface="华文楷体" panose="02010600040101010101" pitchFamily="2" charset="-122"/>
              </a:rPr>
              <a:t>j</a:t>
            </a:r>
            <a:endParaRPr kumimoji="1" lang="en-US" altLang="zh-CN" sz="1600"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2</a:t>
            </a:r>
            <a:r>
              <a:rPr kumimoji="1" lang="zh-CN" altLang="en-US" sz="1600" dirty="0">
                <a:latin typeface="Times New Roman" panose="02020603050405020304" pitchFamily="18" charset="0"/>
                <a:ea typeface="华文楷体" panose="02010600040101010101" pitchFamily="2" charset="-122"/>
              </a:rPr>
              <a:t>、将第 </a:t>
            </a:r>
            <a:r>
              <a:rPr kumimoji="1" lang="en-US" altLang="zh-CN" sz="1600" dirty="0">
                <a:latin typeface="Times New Roman" panose="02020603050405020304" pitchFamily="18" charset="0"/>
                <a:ea typeface="华文楷体" panose="02010600040101010101" pitchFamily="2" charset="-122"/>
              </a:rPr>
              <a:t>j  </a:t>
            </a:r>
            <a:r>
              <a:rPr kumimoji="1" lang="zh-CN" altLang="zh-CN" sz="1600" dirty="0">
                <a:latin typeface="Times New Roman" panose="02020603050405020304" pitchFamily="18" charset="0"/>
                <a:ea typeface="华文楷体" panose="02010600040101010101" pitchFamily="2" charset="-122"/>
              </a:rPr>
              <a:t>行的</a:t>
            </a:r>
            <a:r>
              <a:rPr kumimoji="1" lang="zh-CN" altLang="en-US" sz="1600" dirty="0">
                <a:latin typeface="Times New Roman" panose="02020603050405020304" pitchFamily="18" charset="0"/>
                <a:ea typeface="华文楷体" panose="02010600040101010101" pitchFamily="2" charset="-122"/>
              </a:rPr>
              <a:t>全部元素置为零</a:t>
            </a:r>
            <a:endParaRPr kumimoji="1" lang="zh-CN" altLang="en-US" sz="16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3</a:t>
            </a:r>
            <a:r>
              <a:rPr kumimoji="1" lang="zh-CN" altLang="en-US" sz="1600" dirty="0" smtClean="0">
                <a:latin typeface="Times New Roman" panose="02020603050405020304" pitchFamily="18" charset="0"/>
                <a:ea typeface="华文楷体" panose="02010600040101010101" pitchFamily="2" charset="-122"/>
              </a:rPr>
              <a:t>、反复</a:t>
            </a:r>
            <a:r>
              <a:rPr kumimoji="1" lang="zh-CN" altLang="en-US" sz="1600" dirty="0">
                <a:latin typeface="Times New Roman" panose="02020603050405020304" pitchFamily="18" charset="0"/>
                <a:ea typeface="华文楷体" panose="02010600040101010101" pitchFamily="2" charset="-122"/>
              </a:rPr>
              <a:t>执行 </a:t>
            </a:r>
            <a:r>
              <a:rPr kumimoji="1" lang="en-US" altLang="zh-CN" sz="1600" dirty="0" smtClean="0">
                <a:latin typeface="Times New Roman" panose="02020603050405020304" pitchFamily="18" charset="0"/>
                <a:ea typeface="华文楷体" panose="02010600040101010101" pitchFamily="2" charset="-122"/>
              </a:rPr>
              <a:t>1</a:t>
            </a:r>
            <a:r>
              <a:rPr kumimoji="1" lang="zh-CN" altLang="en-US" sz="1600" dirty="0" smtClean="0">
                <a:latin typeface="Times New Roman" panose="02020603050405020304" pitchFamily="18" charset="0"/>
                <a:ea typeface="华文楷体" panose="02010600040101010101" pitchFamily="2" charset="-122"/>
              </a:rPr>
              <a:t>和</a:t>
            </a:r>
            <a:r>
              <a:rPr kumimoji="1" lang="en-US" altLang="zh-CN" sz="1600" dirty="0" smtClean="0">
                <a:latin typeface="Times New Roman" panose="02020603050405020304" pitchFamily="18" charset="0"/>
                <a:ea typeface="华文楷体" panose="02010600040101010101" pitchFamily="2" charset="-122"/>
              </a:rPr>
              <a:t>2</a:t>
            </a:r>
            <a:r>
              <a:rPr kumimoji="1" lang="zh-CN" altLang="en-US" sz="1600" dirty="0" smtClean="0">
                <a:latin typeface="Times New Roman" panose="02020603050405020304" pitchFamily="18" charset="0"/>
                <a:ea typeface="华文楷体" panose="02010600040101010101" pitchFamily="2" charset="-122"/>
              </a:rPr>
              <a:t>步</a:t>
            </a:r>
            <a:r>
              <a:rPr kumimoji="1" lang="zh-CN" altLang="en-US" sz="1600" dirty="0">
                <a:latin typeface="Times New Roman" panose="02020603050405020304" pitchFamily="18" charset="0"/>
                <a:ea typeface="华文楷体" panose="02010600040101010101" pitchFamily="2" charset="-122"/>
              </a:rPr>
              <a:t>到</a:t>
            </a:r>
            <a:r>
              <a:rPr kumimoji="1" lang="zh-CN" altLang="en-US" sz="1600" dirty="0" smtClean="0">
                <a:latin typeface="Times New Roman" panose="02020603050405020304" pitchFamily="18" charset="0"/>
                <a:ea typeface="华文楷体" panose="02010600040101010101" pitchFamily="2" charset="-122"/>
              </a:rPr>
              <a:t>所有</a:t>
            </a:r>
            <a:r>
              <a:rPr kumimoji="1" lang="zh-CN" altLang="en-US" sz="1600" dirty="0">
                <a:latin typeface="Times New Roman" panose="02020603050405020304" pitchFamily="18" charset="0"/>
                <a:ea typeface="华文楷体" panose="02010600040101010101" pitchFamily="2" charset="-122"/>
              </a:rPr>
              <a:t>元素输出完毕。</a:t>
            </a:r>
            <a:endParaRPr kumimoji="1" lang="zh-CN" altLang="en-US" sz="1600" dirty="0">
              <a:latin typeface="Times New Roman" panose="02020603050405020304" pitchFamily="18" charset="0"/>
              <a:ea typeface="华文楷体" panose="02010600040101010101" pitchFamily="2" charset="-122"/>
            </a:endParaRPr>
          </a:p>
          <a:p>
            <a:pPr algn="ctr">
              <a:spcBef>
                <a:spcPct val="50000"/>
              </a:spcBef>
              <a:buClrTx/>
              <a:buFontTx/>
              <a:buNone/>
            </a:pPr>
            <a:endParaRPr kumimoji="1" lang="en-US" altLang="zh-CN" sz="1600" b="1" dirty="0">
              <a:latin typeface="Times New Roman" panose="02020603050405020304" pitchFamily="18" charset="0"/>
              <a:ea typeface="华文楷体" panose="02010600040101010101" pitchFamily="2" charset="-122"/>
            </a:endParaRPr>
          </a:p>
        </p:txBody>
      </p:sp>
      <p:sp>
        <p:nvSpPr>
          <p:cNvPr id="72733" name="AutoShape 27"/>
          <p:cNvSpPr>
            <a:spLocks noChangeArrowheads="1"/>
          </p:cNvSpPr>
          <p:nvPr/>
        </p:nvSpPr>
        <p:spPr bwMode="auto">
          <a:xfrm>
            <a:off x="3733800" y="4114800"/>
            <a:ext cx="2362200" cy="2743200"/>
          </a:xfrm>
          <a:prstGeom prst="bracketPair">
            <a:avLst>
              <a:gd name="adj" fmla="val 16667"/>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2734" name="Text Box 28"/>
          <p:cNvSpPr txBox="1">
            <a:spLocks noChangeArrowheads="1"/>
          </p:cNvSpPr>
          <p:nvPr/>
        </p:nvSpPr>
        <p:spPr bwMode="auto">
          <a:xfrm>
            <a:off x="4038600" y="4114800"/>
            <a:ext cx="2133600" cy="25368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600" b="1" dirty="0">
                <a:solidFill>
                  <a:schemeClr val="folHlink"/>
                </a:solidFill>
                <a:latin typeface="Times New Roman" panose="02020603050405020304" pitchFamily="18" charset="0"/>
                <a:ea typeface="华文楷体" panose="02010600040101010101" pitchFamily="2" charset="-122"/>
              </a:rPr>
              <a:t>0  0  0  0  0  0  0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0  0  0  0  1  1  1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0  0  0  0  1  0  1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0  0  0  0  0  0  0</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0  0  0  0  0  0  1</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0  0  0  0  0  0  1 </a:t>
            </a:r>
            <a:endParaRPr kumimoji="1" lang="en-US" altLang="zh-CN" sz="16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0  0  0  0  0  0  0</a:t>
            </a:r>
            <a:endParaRPr kumimoji="1" lang="en-US" altLang="zh-CN" sz="1600" b="1" dirty="0">
              <a:latin typeface="Times New Roman" panose="02020603050405020304" pitchFamily="18" charset="0"/>
              <a:ea typeface="华文楷体" panose="02010600040101010101" pitchFamily="2" charset="-122"/>
            </a:endParaRPr>
          </a:p>
        </p:txBody>
      </p:sp>
      <p:sp>
        <p:nvSpPr>
          <p:cNvPr id="72735" name="AutoShape 29"/>
          <p:cNvSpPr>
            <a:spLocks noChangeArrowheads="1"/>
          </p:cNvSpPr>
          <p:nvPr/>
        </p:nvSpPr>
        <p:spPr bwMode="auto">
          <a:xfrm>
            <a:off x="3429000" y="5257800"/>
            <a:ext cx="304800" cy="76200"/>
          </a:xfrm>
          <a:prstGeom prst="rightArrow">
            <a:avLst>
              <a:gd name="adj1" fmla="val 50000"/>
              <a:gd name="adj2" fmla="val 10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2736" name="AutoShape 30"/>
          <p:cNvSpPr>
            <a:spLocks noChangeArrowheads="1"/>
          </p:cNvSpPr>
          <p:nvPr/>
        </p:nvSpPr>
        <p:spPr bwMode="auto">
          <a:xfrm>
            <a:off x="6096000" y="5257800"/>
            <a:ext cx="304800" cy="76200"/>
          </a:xfrm>
          <a:prstGeom prst="rightArrow">
            <a:avLst>
              <a:gd name="adj1" fmla="val 50000"/>
              <a:gd name="adj2" fmla="val 10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2737" name="Text Box 31"/>
          <p:cNvSpPr txBox="1">
            <a:spLocks noChangeArrowheads="1"/>
          </p:cNvSpPr>
          <p:nvPr/>
        </p:nvSpPr>
        <p:spPr bwMode="auto">
          <a:xfrm>
            <a:off x="6461125" y="5127625"/>
            <a:ext cx="155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b="1" dirty="0">
                <a:solidFill>
                  <a:schemeClr val="accent2"/>
                </a:solidFill>
                <a:latin typeface="Times New Roman" panose="02020603050405020304" pitchFamily="18" charset="0"/>
                <a:ea typeface="华文楷体" panose="02010600040101010101" pitchFamily="2" charset="-122"/>
              </a:rPr>
              <a:t>。。。。。。</a:t>
            </a:r>
            <a:endParaRPr lang="zh-CN" altLang="en-US" sz="18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页脚占位符 3"/>
          <p:cNvSpPr>
            <a:spLocks noGrp="1"/>
          </p:cNvSpPr>
          <p:nvPr>
            <p:ph type="ftr" sz="quarter" idx="10"/>
          </p:nvPr>
        </p:nvSpPr>
        <p:spPr/>
        <p:txBody>
          <a:bodyPr/>
          <a:lstStyle/>
          <a:p>
            <a:pPr>
              <a:defRPr/>
            </a:pPr>
            <a:r>
              <a:rPr lang="en-US" altLang="zh-CN"/>
              <a:t>BUPT SCST</a:t>
            </a:r>
            <a:endParaRPr lang="en-US" altLang="zh-CN"/>
          </a:p>
        </p:txBody>
      </p:sp>
      <p:sp>
        <p:nvSpPr>
          <p:cNvPr id="194" name="日期占位符 5"/>
          <p:cNvSpPr>
            <a:spLocks noGrp="1"/>
          </p:cNvSpPr>
          <p:nvPr>
            <p:ph type="dt" sz="quarter" idx="12"/>
          </p:nvPr>
        </p:nvSpPr>
        <p:spPr/>
        <p:txBody>
          <a:bodyPr/>
          <a:lstStyle/>
          <a:p>
            <a:pPr>
              <a:defRPr/>
            </a:pPr>
            <a:r>
              <a:rPr lang="en-US" altLang="zh-CN"/>
              <a:t>BUPT</a:t>
            </a:r>
            <a:endParaRPr lang="en-US" altLang="zh-CN"/>
          </a:p>
        </p:txBody>
      </p:sp>
      <p:sp>
        <p:nvSpPr>
          <p:cNvPr id="7373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3733" name="Text Box 3"/>
          <p:cNvSpPr txBox="1">
            <a:spLocks noChangeArrowheads="1"/>
          </p:cNvSpPr>
          <p:nvPr/>
        </p:nvSpPr>
        <p:spPr bwMode="auto">
          <a:xfrm>
            <a:off x="228600" y="1219200"/>
            <a:ext cx="3505200" cy="457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zh-CN" altLang="en-US" sz="2400" b="1" dirty="0">
                <a:solidFill>
                  <a:schemeClr val="accent2"/>
                </a:solidFill>
                <a:latin typeface="Times New Roman" panose="02020603050405020304" pitchFamily="18" charset="0"/>
                <a:ea typeface="华文楷体" panose="02010600040101010101" pitchFamily="2" charset="-122"/>
              </a:rPr>
              <a:t>算法（使用邻接表）</a:t>
            </a:r>
            <a:endParaRPr kumimoji="1" lang="zh-CN" altLang="en-US" sz="1600" b="1" dirty="0">
              <a:solidFill>
                <a:schemeClr val="folHlink"/>
              </a:solidFill>
              <a:latin typeface="Times New Roman" panose="02020603050405020304" pitchFamily="18" charset="0"/>
              <a:ea typeface="华文楷体" panose="02010600040101010101" pitchFamily="2" charset="-122"/>
            </a:endParaRPr>
          </a:p>
        </p:txBody>
      </p:sp>
      <p:sp>
        <p:nvSpPr>
          <p:cNvPr id="73734" name="Oval 4"/>
          <p:cNvSpPr>
            <a:spLocks noChangeArrowheads="1"/>
          </p:cNvSpPr>
          <p:nvPr/>
        </p:nvSpPr>
        <p:spPr bwMode="auto">
          <a:xfrm>
            <a:off x="2514600" y="1581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73735" name="Line 5"/>
          <p:cNvSpPr>
            <a:spLocks noChangeShapeType="1"/>
          </p:cNvSpPr>
          <p:nvPr/>
        </p:nvSpPr>
        <p:spPr bwMode="auto">
          <a:xfrm flipH="1">
            <a:off x="2209800" y="1885950"/>
            <a:ext cx="3048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36" name="Oval 6"/>
          <p:cNvSpPr>
            <a:spLocks noChangeArrowheads="1"/>
          </p:cNvSpPr>
          <p:nvPr/>
        </p:nvSpPr>
        <p:spPr bwMode="auto">
          <a:xfrm>
            <a:off x="1905000" y="2343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73737" name="Line 7"/>
          <p:cNvSpPr>
            <a:spLocks noChangeShapeType="1"/>
          </p:cNvSpPr>
          <p:nvPr/>
        </p:nvSpPr>
        <p:spPr bwMode="auto">
          <a:xfrm flipV="1">
            <a:off x="1600200" y="2647950"/>
            <a:ext cx="381000" cy="5334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38" name="Oval 8"/>
          <p:cNvSpPr>
            <a:spLocks noChangeArrowheads="1"/>
          </p:cNvSpPr>
          <p:nvPr/>
        </p:nvSpPr>
        <p:spPr bwMode="auto">
          <a:xfrm>
            <a:off x="3200400" y="2343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73739" name="Oval 9"/>
          <p:cNvSpPr>
            <a:spLocks noChangeArrowheads="1"/>
          </p:cNvSpPr>
          <p:nvPr/>
        </p:nvSpPr>
        <p:spPr bwMode="auto">
          <a:xfrm>
            <a:off x="1219200" y="31813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u="sng" dirty="0">
              <a:latin typeface="Times New Roman" panose="02020603050405020304" pitchFamily="18" charset="0"/>
              <a:ea typeface="华文楷体" panose="02010600040101010101" pitchFamily="2" charset="-122"/>
            </a:endParaRPr>
          </a:p>
        </p:txBody>
      </p:sp>
      <p:sp>
        <p:nvSpPr>
          <p:cNvPr id="73740" name="Line 10"/>
          <p:cNvSpPr>
            <a:spLocks noChangeShapeType="1"/>
          </p:cNvSpPr>
          <p:nvPr/>
        </p:nvSpPr>
        <p:spPr bwMode="auto">
          <a:xfrm>
            <a:off x="2895600" y="1885950"/>
            <a:ext cx="381000" cy="5334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1" name="Oval 11"/>
          <p:cNvSpPr>
            <a:spLocks noChangeArrowheads="1"/>
          </p:cNvSpPr>
          <p:nvPr/>
        </p:nvSpPr>
        <p:spPr bwMode="auto">
          <a:xfrm>
            <a:off x="2133600" y="31813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73742" name="Oval 12"/>
          <p:cNvSpPr>
            <a:spLocks noChangeArrowheads="1"/>
          </p:cNvSpPr>
          <p:nvPr/>
        </p:nvSpPr>
        <p:spPr bwMode="auto">
          <a:xfrm>
            <a:off x="2819400" y="36385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73743" name="Line 13"/>
          <p:cNvSpPr>
            <a:spLocks noChangeShapeType="1"/>
          </p:cNvSpPr>
          <p:nvPr/>
        </p:nvSpPr>
        <p:spPr bwMode="auto">
          <a:xfrm>
            <a:off x="2209800" y="2724150"/>
            <a:ext cx="1524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4" name="Line 14"/>
          <p:cNvSpPr>
            <a:spLocks noChangeShapeType="1"/>
          </p:cNvSpPr>
          <p:nvPr/>
        </p:nvSpPr>
        <p:spPr bwMode="auto">
          <a:xfrm flipH="1">
            <a:off x="3048000" y="2724150"/>
            <a:ext cx="304800" cy="914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5" name="Oval 15"/>
          <p:cNvSpPr>
            <a:spLocks noChangeArrowheads="1"/>
          </p:cNvSpPr>
          <p:nvPr/>
        </p:nvSpPr>
        <p:spPr bwMode="auto">
          <a:xfrm>
            <a:off x="3581400" y="31813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73746" name="Line 16"/>
          <p:cNvSpPr>
            <a:spLocks noChangeShapeType="1"/>
          </p:cNvSpPr>
          <p:nvPr/>
        </p:nvSpPr>
        <p:spPr bwMode="auto">
          <a:xfrm>
            <a:off x="3505200" y="2724150"/>
            <a:ext cx="228600" cy="4572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7" name="Line 17"/>
          <p:cNvSpPr>
            <a:spLocks noChangeShapeType="1"/>
          </p:cNvSpPr>
          <p:nvPr/>
        </p:nvSpPr>
        <p:spPr bwMode="auto">
          <a:xfrm flipH="1">
            <a:off x="2514600" y="2647950"/>
            <a:ext cx="762000" cy="6096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8" name="Line 18"/>
          <p:cNvSpPr>
            <a:spLocks noChangeShapeType="1"/>
          </p:cNvSpPr>
          <p:nvPr/>
        </p:nvSpPr>
        <p:spPr bwMode="auto">
          <a:xfrm flipH="1">
            <a:off x="1676400" y="3409950"/>
            <a:ext cx="4572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49" name="Line 19"/>
          <p:cNvSpPr>
            <a:spLocks noChangeShapeType="1"/>
          </p:cNvSpPr>
          <p:nvPr/>
        </p:nvSpPr>
        <p:spPr bwMode="auto">
          <a:xfrm>
            <a:off x="3048000" y="3562350"/>
            <a:ext cx="762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0" name="Line 20"/>
          <p:cNvSpPr>
            <a:spLocks noChangeShapeType="1"/>
          </p:cNvSpPr>
          <p:nvPr/>
        </p:nvSpPr>
        <p:spPr bwMode="auto">
          <a:xfrm flipH="1" flipV="1">
            <a:off x="1600200" y="3562350"/>
            <a:ext cx="1219200" cy="3048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1" name="Text Box 21"/>
          <p:cNvSpPr txBox="1">
            <a:spLocks noChangeArrowheads="1"/>
          </p:cNvSpPr>
          <p:nvPr/>
        </p:nvSpPr>
        <p:spPr bwMode="auto">
          <a:xfrm>
            <a:off x="4495800" y="1143000"/>
            <a:ext cx="4114800" cy="3402013"/>
          </a:xfrm>
          <a:prstGeom prst="rect">
            <a:avLst/>
          </a:prstGeom>
          <a:solidFill>
            <a:srgbClr val="CCFFFF"/>
          </a:solidFill>
          <a:ln w="9525">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算法的执行步骤：</a:t>
            </a:r>
            <a:endParaRPr kumimoji="1" lang="zh-CN" altLang="en-US" sz="1600" b="1"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1</a:t>
            </a:r>
            <a:r>
              <a:rPr kumimoji="1" lang="zh-CN" altLang="en-US" sz="1600" dirty="0">
                <a:latin typeface="Times New Roman" panose="02020603050405020304" pitchFamily="18" charset="0"/>
                <a:ea typeface="华文楷体" panose="02010600040101010101" pitchFamily="2" charset="-122"/>
              </a:rPr>
              <a:t>、用一个数组记录每个结点的入度。将入度为零的结点进栈。</a:t>
            </a:r>
            <a:endParaRPr kumimoji="1" lang="zh-CN" altLang="en-US" sz="1600"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2</a:t>
            </a:r>
            <a:r>
              <a:rPr kumimoji="1" lang="zh-CN" altLang="en-US" sz="1600" dirty="0">
                <a:latin typeface="Times New Roman" panose="02020603050405020304" pitchFamily="18" charset="0"/>
                <a:ea typeface="华文楷体" panose="02010600040101010101" pitchFamily="2" charset="-122"/>
              </a:rPr>
              <a:t>、将栈中入度为零的结点</a:t>
            </a:r>
            <a:r>
              <a:rPr kumimoji="1" lang="en-US" altLang="zh-CN" sz="1600" dirty="0">
                <a:latin typeface="Times New Roman" panose="02020603050405020304" pitchFamily="18" charset="0"/>
                <a:ea typeface="华文楷体" panose="02010600040101010101" pitchFamily="2" charset="-122"/>
              </a:rPr>
              <a:t>V</a:t>
            </a:r>
            <a:r>
              <a:rPr kumimoji="1" lang="zh-CN" altLang="en-US" sz="1600" dirty="0">
                <a:latin typeface="Times New Roman" panose="02020603050405020304" pitchFamily="18" charset="0"/>
                <a:ea typeface="华文楷体" panose="02010600040101010101" pitchFamily="2" charset="-122"/>
              </a:rPr>
              <a:t>输出。</a:t>
            </a:r>
            <a:endParaRPr kumimoji="1" lang="zh-CN" altLang="en-US" sz="1600"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3</a:t>
            </a:r>
            <a:r>
              <a:rPr kumimoji="1" lang="zh-CN" altLang="en-US" sz="1600" dirty="0">
                <a:latin typeface="Times New Roman" panose="02020603050405020304" pitchFamily="18" charset="0"/>
                <a:ea typeface="华文楷体" panose="02010600040101010101" pitchFamily="2" charset="-122"/>
              </a:rPr>
              <a:t>、根据邻接表找到结点</a:t>
            </a:r>
            <a:r>
              <a:rPr kumimoji="1" lang="en-US" altLang="zh-CN" sz="1600" dirty="0">
                <a:latin typeface="Times New Roman" panose="02020603050405020304" pitchFamily="18" charset="0"/>
                <a:ea typeface="华文楷体" panose="02010600040101010101" pitchFamily="2" charset="-122"/>
              </a:rPr>
              <a:t>V</a:t>
            </a:r>
            <a:r>
              <a:rPr kumimoji="1" lang="zh-CN" altLang="zh-CN" sz="1600" dirty="0">
                <a:latin typeface="Times New Roman" panose="02020603050405020304" pitchFamily="18" charset="0"/>
                <a:ea typeface="华文楷体" panose="02010600040101010101" pitchFamily="2" charset="-122"/>
              </a:rPr>
              <a:t>的所有的邻接结点，并将这些邻接结点的入度减一。如果某一结点的入度变为零，则进栈。</a:t>
            </a:r>
            <a:endParaRPr kumimoji="1" lang="zh-CN" altLang="zh-CN" sz="1600" dirty="0">
              <a:latin typeface="Times New Roman" panose="02020603050405020304" pitchFamily="18" charset="0"/>
              <a:ea typeface="华文楷体" panose="02010600040101010101" pitchFamily="2" charset="-122"/>
            </a:endParaRPr>
          </a:p>
          <a:p>
            <a:pPr algn="just">
              <a:spcBef>
                <a:spcPct val="50000"/>
              </a:spcBef>
              <a:buClrTx/>
              <a:buFontTx/>
              <a:buNone/>
            </a:pPr>
            <a:r>
              <a:rPr kumimoji="1" lang="en-US" altLang="zh-CN" sz="1600" dirty="0">
                <a:latin typeface="Times New Roman" panose="02020603050405020304" pitchFamily="18" charset="0"/>
                <a:ea typeface="华文楷体" panose="02010600040101010101" pitchFamily="2" charset="-122"/>
              </a:rPr>
              <a:t>4</a:t>
            </a:r>
            <a:r>
              <a:rPr kumimoji="1" lang="zh-CN" altLang="en-US" sz="1600" dirty="0">
                <a:latin typeface="Times New Roman" panose="02020603050405020304" pitchFamily="18" charset="0"/>
                <a:ea typeface="华文楷体" panose="02010600040101010101" pitchFamily="2" charset="-122"/>
              </a:rPr>
              <a:t>、反复执行 </a:t>
            </a:r>
            <a:r>
              <a:rPr kumimoji="1" lang="en-US" altLang="zh-CN" sz="1600" dirty="0">
                <a:latin typeface="Times New Roman" panose="02020603050405020304" pitchFamily="18" charset="0"/>
                <a:ea typeface="华文楷体" panose="02010600040101010101" pitchFamily="2" charset="-122"/>
              </a:rPr>
              <a:t>2</a:t>
            </a:r>
            <a:r>
              <a:rPr kumimoji="1" lang="zh-CN" altLang="en-US" sz="1600" dirty="0">
                <a:latin typeface="Times New Roman" panose="02020603050405020304" pitchFamily="18" charset="0"/>
                <a:ea typeface="华文楷体" panose="02010600040101010101" pitchFamily="2" charset="-122"/>
              </a:rPr>
              <a:t>、</a:t>
            </a:r>
            <a:r>
              <a:rPr kumimoji="1" lang="en-US" altLang="zh-CN" sz="1600" dirty="0">
                <a:latin typeface="Times New Roman" panose="02020603050405020304" pitchFamily="18" charset="0"/>
                <a:ea typeface="华文楷体" panose="02010600040101010101" pitchFamily="2" charset="-122"/>
              </a:rPr>
              <a:t>3</a:t>
            </a:r>
            <a:r>
              <a:rPr kumimoji="1" lang="zh-CN" altLang="en-US" sz="1600" dirty="0">
                <a:latin typeface="Times New Roman" panose="02020603050405020304" pitchFamily="18" charset="0"/>
                <a:ea typeface="华文楷体" panose="02010600040101010101" pitchFamily="2" charset="-122"/>
              </a:rPr>
              <a:t>；直至栈空为止。		</a:t>
            </a:r>
            <a:r>
              <a:rPr kumimoji="1" lang="en-US" altLang="zh-CN" sz="1600" dirty="0">
                <a:latin typeface="Times New Roman" panose="02020603050405020304" pitchFamily="18" charset="0"/>
                <a:ea typeface="华文楷体" panose="02010600040101010101" pitchFamily="2" charset="-122"/>
              </a:rPr>
              <a:t>…………………</a:t>
            </a:r>
            <a:endParaRPr kumimoji="1" lang="en-US" altLang="zh-CN" sz="16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600" dirty="0" smtClean="0">
                <a:latin typeface="Times New Roman" panose="02020603050405020304" pitchFamily="18" charset="0"/>
                <a:ea typeface="华文楷体" panose="02010600040101010101" pitchFamily="2" charset="-122"/>
              </a:rPr>
              <a:t>执行</a:t>
            </a:r>
            <a:r>
              <a:rPr kumimoji="1" lang="zh-CN" altLang="en-US" sz="1600" dirty="0">
                <a:latin typeface="Times New Roman" panose="02020603050405020304" pitchFamily="18" charset="0"/>
                <a:ea typeface="华文楷体" panose="02010600040101010101" pitchFamily="2" charset="-122"/>
              </a:rPr>
              <a:t>结束，如果输出结点数等于图的结点总数，则有向图有环，否则有向图有环。</a:t>
            </a:r>
            <a:endParaRPr kumimoji="1" lang="zh-CN" altLang="en-US" sz="1600" dirty="0">
              <a:latin typeface="Times New Roman" panose="02020603050405020304" pitchFamily="18" charset="0"/>
              <a:ea typeface="华文楷体" panose="02010600040101010101" pitchFamily="2" charset="-122"/>
            </a:endParaRPr>
          </a:p>
        </p:txBody>
      </p:sp>
      <p:sp>
        <p:nvSpPr>
          <p:cNvPr id="73752" name="Line 22"/>
          <p:cNvSpPr>
            <a:spLocks noChangeShapeType="1"/>
          </p:cNvSpPr>
          <p:nvPr/>
        </p:nvSpPr>
        <p:spPr bwMode="auto">
          <a:xfrm>
            <a:off x="2667000" y="49339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3" name="Line 23"/>
          <p:cNvSpPr>
            <a:spLocks noChangeShapeType="1"/>
          </p:cNvSpPr>
          <p:nvPr/>
        </p:nvSpPr>
        <p:spPr bwMode="auto">
          <a:xfrm flipV="1">
            <a:off x="2667000" y="4933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4" name="Line 24"/>
          <p:cNvSpPr>
            <a:spLocks noChangeShapeType="1"/>
          </p:cNvSpPr>
          <p:nvPr/>
        </p:nvSpPr>
        <p:spPr bwMode="auto">
          <a:xfrm>
            <a:off x="2667000" y="51625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5" name="Line 25"/>
          <p:cNvSpPr>
            <a:spLocks noChangeShapeType="1"/>
          </p:cNvSpPr>
          <p:nvPr/>
        </p:nvSpPr>
        <p:spPr bwMode="auto">
          <a:xfrm flipV="1">
            <a:off x="3124200" y="4933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6" name="Line 26"/>
          <p:cNvSpPr>
            <a:spLocks noChangeShapeType="1"/>
          </p:cNvSpPr>
          <p:nvPr/>
        </p:nvSpPr>
        <p:spPr bwMode="auto">
          <a:xfrm flipV="1">
            <a:off x="3581400" y="4933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7" name="Text Box 27"/>
          <p:cNvSpPr txBox="1">
            <a:spLocks noChangeArrowheads="1"/>
          </p:cNvSpPr>
          <p:nvPr/>
        </p:nvSpPr>
        <p:spPr bwMode="auto">
          <a:xfrm>
            <a:off x="2667000" y="48577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73758" name="Line 28"/>
          <p:cNvSpPr>
            <a:spLocks noChangeShapeType="1"/>
          </p:cNvSpPr>
          <p:nvPr/>
        </p:nvSpPr>
        <p:spPr bwMode="auto">
          <a:xfrm>
            <a:off x="2667000" y="51625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59" name="Line 29"/>
          <p:cNvSpPr>
            <a:spLocks noChangeShapeType="1"/>
          </p:cNvSpPr>
          <p:nvPr/>
        </p:nvSpPr>
        <p:spPr bwMode="auto">
          <a:xfrm flipV="1">
            <a:off x="2667000" y="51625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0" name="Line 30"/>
          <p:cNvSpPr>
            <a:spLocks noChangeShapeType="1"/>
          </p:cNvSpPr>
          <p:nvPr/>
        </p:nvSpPr>
        <p:spPr bwMode="auto">
          <a:xfrm>
            <a:off x="2667000" y="53911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1" name="Line 31"/>
          <p:cNvSpPr>
            <a:spLocks noChangeShapeType="1"/>
          </p:cNvSpPr>
          <p:nvPr/>
        </p:nvSpPr>
        <p:spPr bwMode="auto">
          <a:xfrm flipV="1">
            <a:off x="3124200" y="51625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2" name="Line 32"/>
          <p:cNvSpPr>
            <a:spLocks noChangeShapeType="1"/>
          </p:cNvSpPr>
          <p:nvPr/>
        </p:nvSpPr>
        <p:spPr bwMode="auto">
          <a:xfrm flipV="1">
            <a:off x="3581400" y="51625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3" name="Text Box 33"/>
          <p:cNvSpPr txBox="1">
            <a:spLocks noChangeArrowheads="1"/>
          </p:cNvSpPr>
          <p:nvPr/>
        </p:nvSpPr>
        <p:spPr bwMode="auto">
          <a:xfrm>
            <a:off x="2667000" y="50863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73764" name="Line 34"/>
          <p:cNvSpPr>
            <a:spLocks noChangeShapeType="1"/>
          </p:cNvSpPr>
          <p:nvPr/>
        </p:nvSpPr>
        <p:spPr bwMode="auto">
          <a:xfrm>
            <a:off x="3962400" y="4826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5" name="Line 35"/>
          <p:cNvSpPr>
            <a:spLocks noChangeShapeType="1"/>
          </p:cNvSpPr>
          <p:nvPr/>
        </p:nvSpPr>
        <p:spPr bwMode="auto">
          <a:xfrm flipV="1">
            <a:off x="3962400" y="4826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6" name="Line 36"/>
          <p:cNvSpPr>
            <a:spLocks noChangeShapeType="1"/>
          </p:cNvSpPr>
          <p:nvPr/>
        </p:nvSpPr>
        <p:spPr bwMode="auto">
          <a:xfrm>
            <a:off x="3962400" y="5054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7" name="Line 37"/>
          <p:cNvSpPr>
            <a:spLocks noChangeShapeType="1"/>
          </p:cNvSpPr>
          <p:nvPr/>
        </p:nvSpPr>
        <p:spPr bwMode="auto">
          <a:xfrm flipV="1">
            <a:off x="4419600" y="4826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8" name="Line 38"/>
          <p:cNvSpPr>
            <a:spLocks noChangeShapeType="1"/>
          </p:cNvSpPr>
          <p:nvPr/>
        </p:nvSpPr>
        <p:spPr bwMode="auto">
          <a:xfrm flipV="1">
            <a:off x="4876800" y="4826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69" name="Text Box 39"/>
          <p:cNvSpPr txBox="1">
            <a:spLocks noChangeArrowheads="1"/>
          </p:cNvSpPr>
          <p:nvPr/>
        </p:nvSpPr>
        <p:spPr bwMode="auto">
          <a:xfrm>
            <a:off x="3962400" y="4749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73770" name="Line 40"/>
          <p:cNvSpPr>
            <a:spLocks noChangeShapeType="1"/>
          </p:cNvSpPr>
          <p:nvPr/>
        </p:nvSpPr>
        <p:spPr bwMode="auto">
          <a:xfrm>
            <a:off x="5334000" y="48577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1" name="Line 41"/>
          <p:cNvSpPr>
            <a:spLocks noChangeShapeType="1"/>
          </p:cNvSpPr>
          <p:nvPr/>
        </p:nvSpPr>
        <p:spPr bwMode="auto">
          <a:xfrm flipV="1">
            <a:off x="53340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2" name="Line 42"/>
          <p:cNvSpPr>
            <a:spLocks noChangeShapeType="1"/>
          </p:cNvSpPr>
          <p:nvPr/>
        </p:nvSpPr>
        <p:spPr bwMode="auto">
          <a:xfrm>
            <a:off x="5334000" y="50863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3" name="Line 43"/>
          <p:cNvSpPr>
            <a:spLocks noChangeShapeType="1"/>
          </p:cNvSpPr>
          <p:nvPr/>
        </p:nvSpPr>
        <p:spPr bwMode="auto">
          <a:xfrm flipV="1">
            <a:off x="57912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4" name="Line 44"/>
          <p:cNvSpPr>
            <a:spLocks noChangeShapeType="1"/>
          </p:cNvSpPr>
          <p:nvPr/>
        </p:nvSpPr>
        <p:spPr bwMode="auto">
          <a:xfrm flipV="1">
            <a:off x="62484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5" name="Text Box 45"/>
          <p:cNvSpPr txBox="1">
            <a:spLocks noChangeArrowheads="1"/>
          </p:cNvSpPr>
          <p:nvPr/>
        </p:nvSpPr>
        <p:spPr bwMode="auto">
          <a:xfrm>
            <a:off x="5334000" y="47815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73776" name="Text Box 46"/>
          <p:cNvSpPr txBox="1">
            <a:spLocks noChangeArrowheads="1"/>
          </p:cNvSpPr>
          <p:nvPr/>
        </p:nvSpPr>
        <p:spPr bwMode="auto">
          <a:xfrm>
            <a:off x="2286000" y="4857750"/>
            <a:ext cx="228600" cy="20145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1234567</a:t>
            </a:r>
            <a:endParaRPr kumimoji="1" lang="en-US" altLang="zh-CN" sz="1800" b="1" dirty="0">
              <a:latin typeface="Times New Roman" panose="02020603050405020304" pitchFamily="18" charset="0"/>
              <a:ea typeface="华文楷体" panose="02010600040101010101" pitchFamily="2" charset="-122"/>
            </a:endParaRPr>
          </a:p>
        </p:txBody>
      </p:sp>
      <p:sp>
        <p:nvSpPr>
          <p:cNvPr id="73777" name="Line 47"/>
          <p:cNvSpPr>
            <a:spLocks noChangeShapeType="1"/>
          </p:cNvSpPr>
          <p:nvPr/>
        </p:nvSpPr>
        <p:spPr bwMode="auto">
          <a:xfrm flipV="1">
            <a:off x="3352800" y="50101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8" name="Line 48"/>
          <p:cNvSpPr>
            <a:spLocks noChangeShapeType="1"/>
          </p:cNvSpPr>
          <p:nvPr/>
        </p:nvSpPr>
        <p:spPr bwMode="auto">
          <a:xfrm flipV="1">
            <a:off x="4724400" y="50101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79" name="Text Box 49"/>
          <p:cNvSpPr txBox="1">
            <a:spLocks noChangeArrowheads="1"/>
          </p:cNvSpPr>
          <p:nvPr/>
        </p:nvSpPr>
        <p:spPr bwMode="auto">
          <a:xfrm>
            <a:off x="5867400" y="48577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780" name="Line 50"/>
          <p:cNvSpPr>
            <a:spLocks noChangeShapeType="1"/>
          </p:cNvSpPr>
          <p:nvPr/>
        </p:nvSpPr>
        <p:spPr bwMode="auto">
          <a:xfrm>
            <a:off x="3962400" y="51752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1" name="Line 51"/>
          <p:cNvSpPr>
            <a:spLocks noChangeShapeType="1"/>
          </p:cNvSpPr>
          <p:nvPr/>
        </p:nvSpPr>
        <p:spPr bwMode="auto">
          <a:xfrm flipV="1">
            <a:off x="3962400" y="51752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2" name="Line 52"/>
          <p:cNvSpPr>
            <a:spLocks noChangeShapeType="1"/>
          </p:cNvSpPr>
          <p:nvPr/>
        </p:nvSpPr>
        <p:spPr bwMode="auto">
          <a:xfrm>
            <a:off x="3962400" y="54038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3" name="Line 53"/>
          <p:cNvSpPr>
            <a:spLocks noChangeShapeType="1"/>
          </p:cNvSpPr>
          <p:nvPr/>
        </p:nvSpPr>
        <p:spPr bwMode="auto">
          <a:xfrm flipV="1">
            <a:off x="4419600" y="51752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4" name="Line 54"/>
          <p:cNvSpPr>
            <a:spLocks noChangeShapeType="1"/>
          </p:cNvSpPr>
          <p:nvPr/>
        </p:nvSpPr>
        <p:spPr bwMode="auto">
          <a:xfrm flipV="1">
            <a:off x="4876800" y="51752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5" name="Text Box 55"/>
          <p:cNvSpPr txBox="1">
            <a:spLocks noChangeArrowheads="1"/>
          </p:cNvSpPr>
          <p:nvPr/>
        </p:nvSpPr>
        <p:spPr bwMode="auto">
          <a:xfrm>
            <a:off x="3962400" y="50990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73786" name="Line 56"/>
          <p:cNvSpPr>
            <a:spLocks noChangeShapeType="1"/>
          </p:cNvSpPr>
          <p:nvPr/>
        </p:nvSpPr>
        <p:spPr bwMode="auto">
          <a:xfrm>
            <a:off x="5334000" y="52070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7" name="Line 57"/>
          <p:cNvSpPr>
            <a:spLocks noChangeShapeType="1"/>
          </p:cNvSpPr>
          <p:nvPr/>
        </p:nvSpPr>
        <p:spPr bwMode="auto">
          <a:xfrm flipV="1">
            <a:off x="5334000" y="520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8" name="Line 58"/>
          <p:cNvSpPr>
            <a:spLocks noChangeShapeType="1"/>
          </p:cNvSpPr>
          <p:nvPr/>
        </p:nvSpPr>
        <p:spPr bwMode="auto">
          <a:xfrm>
            <a:off x="5334000" y="54356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89" name="Line 59"/>
          <p:cNvSpPr>
            <a:spLocks noChangeShapeType="1"/>
          </p:cNvSpPr>
          <p:nvPr/>
        </p:nvSpPr>
        <p:spPr bwMode="auto">
          <a:xfrm flipV="1">
            <a:off x="5791200" y="520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0" name="Line 60"/>
          <p:cNvSpPr>
            <a:spLocks noChangeShapeType="1"/>
          </p:cNvSpPr>
          <p:nvPr/>
        </p:nvSpPr>
        <p:spPr bwMode="auto">
          <a:xfrm flipV="1">
            <a:off x="6248400" y="52070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1" name="Text Box 61"/>
          <p:cNvSpPr txBox="1">
            <a:spLocks noChangeArrowheads="1"/>
          </p:cNvSpPr>
          <p:nvPr/>
        </p:nvSpPr>
        <p:spPr bwMode="auto">
          <a:xfrm>
            <a:off x="5334000" y="51308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73792" name="Line 62"/>
          <p:cNvSpPr>
            <a:spLocks noChangeShapeType="1"/>
          </p:cNvSpPr>
          <p:nvPr/>
        </p:nvSpPr>
        <p:spPr bwMode="auto">
          <a:xfrm flipV="1">
            <a:off x="4724400" y="53594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3" name="Line 63"/>
          <p:cNvSpPr>
            <a:spLocks noChangeShapeType="1"/>
          </p:cNvSpPr>
          <p:nvPr/>
        </p:nvSpPr>
        <p:spPr bwMode="auto">
          <a:xfrm>
            <a:off x="3962400" y="54800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4" name="Line 64"/>
          <p:cNvSpPr>
            <a:spLocks noChangeShapeType="1"/>
          </p:cNvSpPr>
          <p:nvPr/>
        </p:nvSpPr>
        <p:spPr bwMode="auto">
          <a:xfrm flipV="1">
            <a:off x="3962400" y="54800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5" name="Line 65"/>
          <p:cNvSpPr>
            <a:spLocks noChangeShapeType="1"/>
          </p:cNvSpPr>
          <p:nvPr/>
        </p:nvSpPr>
        <p:spPr bwMode="auto">
          <a:xfrm>
            <a:off x="3962400" y="57086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6" name="Line 66"/>
          <p:cNvSpPr>
            <a:spLocks noChangeShapeType="1"/>
          </p:cNvSpPr>
          <p:nvPr/>
        </p:nvSpPr>
        <p:spPr bwMode="auto">
          <a:xfrm flipV="1">
            <a:off x="4419600" y="54800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7" name="Line 67"/>
          <p:cNvSpPr>
            <a:spLocks noChangeShapeType="1"/>
          </p:cNvSpPr>
          <p:nvPr/>
        </p:nvSpPr>
        <p:spPr bwMode="auto">
          <a:xfrm flipV="1">
            <a:off x="4876800" y="54800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798" name="Text Box 68"/>
          <p:cNvSpPr txBox="1">
            <a:spLocks noChangeArrowheads="1"/>
          </p:cNvSpPr>
          <p:nvPr/>
        </p:nvSpPr>
        <p:spPr bwMode="auto">
          <a:xfrm>
            <a:off x="3962400" y="54038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73799" name="Line 69"/>
          <p:cNvSpPr>
            <a:spLocks noChangeShapeType="1"/>
          </p:cNvSpPr>
          <p:nvPr/>
        </p:nvSpPr>
        <p:spPr bwMode="auto">
          <a:xfrm>
            <a:off x="5334000" y="5511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0" name="Line 70"/>
          <p:cNvSpPr>
            <a:spLocks noChangeShapeType="1"/>
          </p:cNvSpPr>
          <p:nvPr/>
        </p:nvSpPr>
        <p:spPr bwMode="auto">
          <a:xfrm flipV="1">
            <a:off x="5334000" y="5511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1" name="Line 71"/>
          <p:cNvSpPr>
            <a:spLocks noChangeShapeType="1"/>
          </p:cNvSpPr>
          <p:nvPr/>
        </p:nvSpPr>
        <p:spPr bwMode="auto">
          <a:xfrm>
            <a:off x="5334000" y="57404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2" name="Line 72"/>
          <p:cNvSpPr>
            <a:spLocks noChangeShapeType="1"/>
          </p:cNvSpPr>
          <p:nvPr/>
        </p:nvSpPr>
        <p:spPr bwMode="auto">
          <a:xfrm flipV="1">
            <a:off x="5791200" y="5511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3" name="Line 73"/>
          <p:cNvSpPr>
            <a:spLocks noChangeShapeType="1"/>
          </p:cNvSpPr>
          <p:nvPr/>
        </p:nvSpPr>
        <p:spPr bwMode="auto">
          <a:xfrm flipV="1">
            <a:off x="6248400" y="55118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4" name="Text Box 74"/>
          <p:cNvSpPr txBox="1">
            <a:spLocks noChangeArrowheads="1"/>
          </p:cNvSpPr>
          <p:nvPr/>
        </p:nvSpPr>
        <p:spPr bwMode="auto">
          <a:xfrm>
            <a:off x="5334000" y="54356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73805" name="Line 75"/>
          <p:cNvSpPr>
            <a:spLocks noChangeShapeType="1"/>
          </p:cNvSpPr>
          <p:nvPr/>
        </p:nvSpPr>
        <p:spPr bwMode="auto">
          <a:xfrm flipV="1">
            <a:off x="4724400" y="566420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6" name="Line 76"/>
          <p:cNvSpPr>
            <a:spLocks noChangeShapeType="1"/>
          </p:cNvSpPr>
          <p:nvPr/>
        </p:nvSpPr>
        <p:spPr bwMode="auto">
          <a:xfrm>
            <a:off x="6781800" y="5237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7" name="Line 77"/>
          <p:cNvSpPr>
            <a:spLocks noChangeShapeType="1"/>
          </p:cNvSpPr>
          <p:nvPr/>
        </p:nvSpPr>
        <p:spPr bwMode="auto">
          <a:xfrm flipV="1">
            <a:off x="6781800" y="523716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8" name="Line 78"/>
          <p:cNvSpPr>
            <a:spLocks noChangeShapeType="1"/>
          </p:cNvSpPr>
          <p:nvPr/>
        </p:nvSpPr>
        <p:spPr bwMode="auto">
          <a:xfrm>
            <a:off x="6781800" y="54657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09" name="Line 79"/>
          <p:cNvSpPr>
            <a:spLocks noChangeShapeType="1"/>
          </p:cNvSpPr>
          <p:nvPr/>
        </p:nvSpPr>
        <p:spPr bwMode="auto">
          <a:xfrm flipV="1">
            <a:off x="7239000" y="523716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0" name="Line 80"/>
          <p:cNvSpPr>
            <a:spLocks noChangeShapeType="1"/>
          </p:cNvSpPr>
          <p:nvPr/>
        </p:nvSpPr>
        <p:spPr bwMode="auto">
          <a:xfrm flipV="1">
            <a:off x="7696200" y="5237163"/>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1" name="Line 81"/>
          <p:cNvSpPr>
            <a:spLocks noChangeShapeType="1"/>
          </p:cNvSpPr>
          <p:nvPr/>
        </p:nvSpPr>
        <p:spPr bwMode="auto">
          <a:xfrm>
            <a:off x="2667000" y="53911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2" name="Line 82"/>
          <p:cNvSpPr>
            <a:spLocks noChangeShapeType="1"/>
          </p:cNvSpPr>
          <p:nvPr/>
        </p:nvSpPr>
        <p:spPr bwMode="auto">
          <a:xfrm flipV="1">
            <a:off x="2667000" y="53911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3" name="Line 83"/>
          <p:cNvSpPr>
            <a:spLocks noChangeShapeType="1"/>
          </p:cNvSpPr>
          <p:nvPr/>
        </p:nvSpPr>
        <p:spPr bwMode="auto">
          <a:xfrm>
            <a:off x="2667000" y="56959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4" name="Line 84"/>
          <p:cNvSpPr>
            <a:spLocks noChangeShapeType="1"/>
          </p:cNvSpPr>
          <p:nvPr/>
        </p:nvSpPr>
        <p:spPr bwMode="auto">
          <a:xfrm flipV="1">
            <a:off x="3124200" y="53911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5" name="Line 85"/>
          <p:cNvSpPr>
            <a:spLocks noChangeShapeType="1"/>
          </p:cNvSpPr>
          <p:nvPr/>
        </p:nvSpPr>
        <p:spPr bwMode="auto">
          <a:xfrm flipV="1">
            <a:off x="3581400" y="53911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6" name="Line 86"/>
          <p:cNvSpPr>
            <a:spLocks noChangeShapeType="1"/>
          </p:cNvSpPr>
          <p:nvPr/>
        </p:nvSpPr>
        <p:spPr bwMode="auto">
          <a:xfrm>
            <a:off x="2667000" y="56943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7" name="Line 87"/>
          <p:cNvSpPr>
            <a:spLocks noChangeShapeType="1"/>
          </p:cNvSpPr>
          <p:nvPr/>
        </p:nvSpPr>
        <p:spPr bwMode="auto">
          <a:xfrm flipV="1">
            <a:off x="2667000" y="5694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8" name="Line 88"/>
          <p:cNvSpPr>
            <a:spLocks noChangeShapeType="1"/>
          </p:cNvSpPr>
          <p:nvPr/>
        </p:nvSpPr>
        <p:spPr bwMode="auto">
          <a:xfrm>
            <a:off x="2667000" y="5999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19" name="Line 89"/>
          <p:cNvSpPr>
            <a:spLocks noChangeShapeType="1"/>
          </p:cNvSpPr>
          <p:nvPr/>
        </p:nvSpPr>
        <p:spPr bwMode="auto">
          <a:xfrm flipV="1">
            <a:off x="3124200" y="5694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0" name="Line 90"/>
          <p:cNvSpPr>
            <a:spLocks noChangeShapeType="1"/>
          </p:cNvSpPr>
          <p:nvPr/>
        </p:nvSpPr>
        <p:spPr bwMode="auto">
          <a:xfrm flipV="1">
            <a:off x="3581400" y="56943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1" name="Line 91"/>
          <p:cNvSpPr>
            <a:spLocks noChangeShapeType="1"/>
          </p:cNvSpPr>
          <p:nvPr/>
        </p:nvSpPr>
        <p:spPr bwMode="auto">
          <a:xfrm>
            <a:off x="2667000" y="59991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2" name="Line 92"/>
          <p:cNvSpPr>
            <a:spLocks noChangeShapeType="1"/>
          </p:cNvSpPr>
          <p:nvPr/>
        </p:nvSpPr>
        <p:spPr bwMode="auto">
          <a:xfrm flipV="1">
            <a:off x="2667000" y="5999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3" name="Line 93"/>
          <p:cNvSpPr>
            <a:spLocks noChangeShapeType="1"/>
          </p:cNvSpPr>
          <p:nvPr/>
        </p:nvSpPr>
        <p:spPr bwMode="auto">
          <a:xfrm>
            <a:off x="2667000" y="63039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4" name="Line 94"/>
          <p:cNvSpPr>
            <a:spLocks noChangeShapeType="1"/>
          </p:cNvSpPr>
          <p:nvPr/>
        </p:nvSpPr>
        <p:spPr bwMode="auto">
          <a:xfrm flipV="1">
            <a:off x="3124200" y="5999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5" name="Line 95"/>
          <p:cNvSpPr>
            <a:spLocks noChangeShapeType="1"/>
          </p:cNvSpPr>
          <p:nvPr/>
        </p:nvSpPr>
        <p:spPr bwMode="auto">
          <a:xfrm flipV="1">
            <a:off x="3581400" y="5999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26" name="Text Box 96"/>
          <p:cNvSpPr txBox="1">
            <a:spLocks noChangeArrowheads="1"/>
          </p:cNvSpPr>
          <p:nvPr/>
        </p:nvSpPr>
        <p:spPr bwMode="auto">
          <a:xfrm>
            <a:off x="2590800" y="53911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73827" name="Text Box 97"/>
          <p:cNvSpPr txBox="1">
            <a:spLocks noChangeArrowheads="1"/>
          </p:cNvSpPr>
          <p:nvPr/>
        </p:nvSpPr>
        <p:spPr bwMode="auto">
          <a:xfrm>
            <a:off x="2590800" y="56959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73828" name="Text Box 98"/>
          <p:cNvSpPr txBox="1">
            <a:spLocks noChangeArrowheads="1"/>
          </p:cNvSpPr>
          <p:nvPr/>
        </p:nvSpPr>
        <p:spPr bwMode="auto">
          <a:xfrm>
            <a:off x="2590800" y="5969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73829" name="Line 99"/>
          <p:cNvSpPr>
            <a:spLocks noChangeShapeType="1"/>
          </p:cNvSpPr>
          <p:nvPr/>
        </p:nvSpPr>
        <p:spPr bwMode="auto">
          <a:xfrm flipV="1">
            <a:off x="3352800" y="62293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0" name="Line 100"/>
          <p:cNvSpPr>
            <a:spLocks noChangeShapeType="1"/>
          </p:cNvSpPr>
          <p:nvPr/>
        </p:nvSpPr>
        <p:spPr bwMode="auto">
          <a:xfrm flipV="1">
            <a:off x="3352800" y="55435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1" name="Line 101"/>
          <p:cNvSpPr>
            <a:spLocks noChangeShapeType="1"/>
          </p:cNvSpPr>
          <p:nvPr/>
        </p:nvSpPr>
        <p:spPr bwMode="auto">
          <a:xfrm flipV="1">
            <a:off x="3352800" y="52387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2" name="Line 102"/>
          <p:cNvSpPr>
            <a:spLocks noChangeShapeType="1"/>
          </p:cNvSpPr>
          <p:nvPr/>
        </p:nvSpPr>
        <p:spPr bwMode="auto">
          <a:xfrm flipV="1">
            <a:off x="6172200" y="53149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3" name="Text Box 103"/>
          <p:cNvSpPr txBox="1">
            <a:spLocks noChangeArrowheads="1"/>
          </p:cNvSpPr>
          <p:nvPr/>
        </p:nvSpPr>
        <p:spPr bwMode="auto">
          <a:xfrm>
            <a:off x="6781800" y="51625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73834" name="Text Box 104"/>
          <p:cNvSpPr txBox="1">
            <a:spLocks noChangeArrowheads="1"/>
          </p:cNvSpPr>
          <p:nvPr/>
        </p:nvSpPr>
        <p:spPr bwMode="auto">
          <a:xfrm>
            <a:off x="7315200" y="52387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35" name="Text Box 105"/>
          <p:cNvSpPr txBox="1">
            <a:spLocks noChangeArrowheads="1"/>
          </p:cNvSpPr>
          <p:nvPr/>
        </p:nvSpPr>
        <p:spPr bwMode="auto">
          <a:xfrm>
            <a:off x="5867400" y="55435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36" name="Text Box 106"/>
          <p:cNvSpPr txBox="1">
            <a:spLocks noChangeArrowheads="1"/>
          </p:cNvSpPr>
          <p:nvPr/>
        </p:nvSpPr>
        <p:spPr bwMode="auto">
          <a:xfrm>
            <a:off x="4495800" y="60769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37" name="Line 107"/>
          <p:cNvSpPr>
            <a:spLocks noChangeShapeType="1"/>
          </p:cNvSpPr>
          <p:nvPr/>
        </p:nvSpPr>
        <p:spPr bwMode="auto">
          <a:xfrm>
            <a:off x="2667000" y="63055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8" name="Line 108"/>
          <p:cNvSpPr>
            <a:spLocks noChangeShapeType="1"/>
          </p:cNvSpPr>
          <p:nvPr/>
        </p:nvSpPr>
        <p:spPr bwMode="auto">
          <a:xfrm>
            <a:off x="2667000" y="63039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39" name="Line 109"/>
          <p:cNvSpPr>
            <a:spLocks noChangeShapeType="1"/>
          </p:cNvSpPr>
          <p:nvPr/>
        </p:nvSpPr>
        <p:spPr bwMode="auto">
          <a:xfrm flipV="1">
            <a:off x="2667000" y="6303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0" name="Line 110"/>
          <p:cNvSpPr>
            <a:spLocks noChangeShapeType="1"/>
          </p:cNvSpPr>
          <p:nvPr/>
        </p:nvSpPr>
        <p:spPr bwMode="auto">
          <a:xfrm>
            <a:off x="2667000" y="66087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1" name="Line 111"/>
          <p:cNvSpPr>
            <a:spLocks noChangeShapeType="1"/>
          </p:cNvSpPr>
          <p:nvPr/>
        </p:nvSpPr>
        <p:spPr bwMode="auto">
          <a:xfrm flipV="1">
            <a:off x="3124200" y="6303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2" name="Line 112"/>
          <p:cNvSpPr>
            <a:spLocks noChangeShapeType="1"/>
          </p:cNvSpPr>
          <p:nvPr/>
        </p:nvSpPr>
        <p:spPr bwMode="auto">
          <a:xfrm flipV="1">
            <a:off x="3581400" y="6303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3" name="Line 113"/>
          <p:cNvSpPr>
            <a:spLocks noChangeShapeType="1"/>
          </p:cNvSpPr>
          <p:nvPr/>
        </p:nvSpPr>
        <p:spPr bwMode="auto">
          <a:xfrm>
            <a:off x="2667000" y="66087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4" name="Line 114"/>
          <p:cNvSpPr>
            <a:spLocks noChangeShapeType="1"/>
          </p:cNvSpPr>
          <p:nvPr/>
        </p:nvSpPr>
        <p:spPr bwMode="auto">
          <a:xfrm flipV="1">
            <a:off x="2667000" y="6608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5" name="Line 115"/>
          <p:cNvSpPr>
            <a:spLocks noChangeShapeType="1"/>
          </p:cNvSpPr>
          <p:nvPr/>
        </p:nvSpPr>
        <p:spPr bwMode="auto">
          <a:xfrm>
            <a:off x="2667000" y="6913563"/>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6" name="Line 116"/>
          <p:cNvSpPr>
            <a:spLocks noChangeShapeType="1"/>
          </p:cNvSpPr>
          <p:nvPr/>
        </p:nvSpPr>
        <p:spPr bwMode="auto">
          <a:xfrm flipV="1">
            <a:off x="3124200" y="6608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7" name="Line 117"/>
          <p:cNvSpPr>
            <a:spLocks noChangeShapeType="1"/>
          </p:cNvSpPr>
          <p:nvPr/>
        </p:nvSpPr>
        <p:spPr bwMode="auto">
          <a:xfrm flipV="1">
            <a:off x="3581400" y="6608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48" name="Text Box 118"/>
          <p:cNvSpPr txBox="1">
            <a:spLocks noChangeArrowheads="1"/>
          </p:cNvSpPr>
          <p:nvPr/>
        </p:nvSpPr>
        <p:spPr bwMode="auto">
          <a:xfrm>
            <a:off x="2590800" y="6305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73849" name="Text Box 119"/>
          <p:cNvSpPr txBox="1">
            <a:spLocks noChangeArrowheads="1"/>
          </p:cNvSpPr>
          <p:nvPr/>
        </p:nvSpPr>
        <p:spPr bwMode="auto">
          <a:xfrm>
            <a:off x="2590800" y="6578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73850" name="Line 120"/>
          <p:cNvSpPr>
            <a:spLocks noChangeShapeType="1"/>
          </p:cNvSpPr>
          <p:nvPr/>
        </p:nvSpPr>
        <p:spPr bwMode="auto">
          <a:xfrm flipV="1">
            <a:off x="3352800" y="6534150"/>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1" name="Line 121"/>
          <p:cNvSpPr>
            <a:spLocks noChangeShapeType="1"/>
          </p:cNvSpPr>
          <p:nvPr/>
        </p:nvSpPr>
        <p:spPr bwMode="auto">
          <a:xfrm>
            <a:off x="3962400" y="60896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2" name="Line 122"/>
          <p:cNvSpPr>
            <a:spLocks noChangeShapeType="1"/>
          </p:cNvSpPr>
          <p:nvPr/>
        </p:nvSpPr>
        <p:spPr bwMode="auto">
          <a:xfrm flipV="1">
            <a:off x="3962400" y="6089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3" name="Line 123"/>
          <p:cNvSpPr>
            <a:spLocks noChangeShapeType="1"/>
          </p:cNvSpPr>
          <p:nvPr/>
        </p:nvSpPr>
        <p:spPr bwMode="auto">
          <a:xfrm>
            <a:off x="3962400" y="631825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4" name="Line 124"/>
          <p:cNvSpPr>
            <a:spLocks noChangeShapeType="1"/>
          </p:cNvSpPr>
          <p:nvPr/>
        </p:nvSpPr>
        <p:spPr bwMode="auto">
          <a:xfrm flipV="1">
            <a:off x="4419600" y="60896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5" name="Text Box 125"/>
          <p:cNvSpPr txBox="1">
            <a:spLocks noChangeArrowheads="1"/>
          </p:cNvSpPr>
          <p:nvPr/>
        </p:nvSpPr>
        <p:spPr bwMode="auto">
          <a:xfrm>
            <a:off x="3962400" y="60134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73856" name="Line 126"/>
          <p:cNvSpPr>
            <a:spLocks noChangeShapeType="1"/>
          </p:cNvSpPr>
          <p:nvPr/>
        </p:nvSpPr>
        <p:spPr bwMode="auto">
          <a:xfrm>
            <a:off x="3962400" y="64262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7" name="Line 127"/>
          <p:cNvSpPr>
            <a:spLocks noChangeShapeType="1"/>
          </p:cNvSpPr>
          <p:nvPr/>
        </p:nvSpPr>
        <p:spPr bwMode="auto">
          <a:xfrm>
            <a:off x="3962400" y="6654800"/>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8" name="Line 128"/>
          <p:cNvSpPr>
            <a:spLocks noChangeShapeType="1"/>
          </p:cNvSpPr>
          <p:nvPr/>
        </p:nvSpPr>
        <p:spPr bwMode="auto">
          <a:xfrm flipV="1">
            <a:off x="4419600" y="6426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59" name="Line 129"/>
          <p:cNvSpPr>
            <a:spLocks noChangeShapeType="1"/>
          </p:cNvSpPr>
          <p:nvPr/>
        </p:nvSpPr>
        <p:spPr bwMode="auto">
          <a:xfrm flipV="1">
            <a:off x="4876800" y="642620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60" name="Text Box 130"/>
          <p:cNvSpPr txBox="1">
            <a:spLocks noChangeArrowheads="1"/>
          </p:cNvSpPr>
          <p:nvPr/>
        </p:nvSpPr>
        <p:spPr bwMode="auto">
          <a:xfrm>
            <a:off x="3962400" y="635000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73861" name="Text Box 131"/>
          <p:cNvSpPr txBox="1">
            <a:spLocks noChangeArrowheads="1"/>
          </p:cNvSpPr>
          <p:nvPr/>
        </p:nvSpPr>
        <p:spPr bwMode="auto">
          <a:xfrm>
            <a:off x="6019800" y="52387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62" name="Text Box 132"/>
          <p:cNvSpPr txBox="1">
            <a:spLocks noChangeArrowheads="1"/>
          </p:cNvSpPr>
          <p:nvPr/>
        </p:nvSpPr>
        <p:spPr bwMode="auto">
          <a:xfrm>
            <a:off x="4419600" y="64579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63" name="Text Box 133"/>
          <p:cNvSpPr txBox="1">
            <a:spLocks noChangeArrowheads="1"/>
          </p:cNvSpPr>
          <p:nvPr/>
        </p:nvSpPr>
        <p:spPr bwMode="auto">
          <a:xfrm>
            <a:off x="3200400" y="56959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64" name="Text Box 134"/>
          <p:cNvSpPr txBox="1">
            <a:spLocks noChangeArrowheads="1"/>
          </p:cNvSpPr>
          <p:nvPr/>
        </p:nvSpPr>
        <p:spPr bwMode="auto">
          <a:xfrm>
            <a:off x="3124200" y="6610350"/>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73865" name="Line 135"/>
          <p:cNvSpPr>
            <a:spLocks noChangeShapeType="1"/>
          </p:cNvSpPr>
          <p:nvPr/>
        </p:nvSpPr>
        <p:spPr bwMode="auto">
          <a:xfrm flipV="1">
            <a:off x="4876800" y="6076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66" name="Line 136"/>
          <p:cNvSpPr>
            <a:spLocks noChangeShapeType="1"/>
          </p:cNvSpPr>
          <p:nvPr/>
        </p:nvSpPr>
        <p:spPr bwMode="auto">
          <a:xfrm flipV="1">
            <a:off x="3962400" y="64579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67" name="Line 137"/>
          <p:cNvSpPr>
            <a:spLocks noChangeShapeType="1"/>
          </p:cNvSpPr>
          <p:nvPr/>
        </p:nvSpPr>
        <p:spPr bwMode="auto">
          <a:xfrm flipV="1">
            <a:off x="12954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68" name="Line 138"/>
          <p:cNvSpPr>
            <a:spLocks noChangeShapeType="1"/>
          </p:cNvSpPr>
          <p:nvPr/>
        </p:nvSpPr>
        <p:spPr bwMode="auto">
          <a:xfrm flipV="1">
            <a:off x="17526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69" name="Text Box 139"/>
          <p:cNvSpPr txBox="1">
            <a:spLocks noChangeArrowheads="1"/>
          </p:cNvSpPr>
          <p:nvPr/>
        </p:nvSpPr>
        <p:spPr bwMode="auto">
          <a:xfrm>
            <a:off x="1295400" y="47815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0</a:t>
            </a:r>
            <a:endParaRPr kumimoji="1" lang="en-US" altLang="zh-CN" sz="1600" b="1" dirty="0">
              <a:latin typeface="Times New Roman" panose="02020603050405020304" pitchFamily="18" charset="0"/>
              <a:ea typeface="华文楷体" panose="02010600040101010101" pitchFamily="2" charset="-122"/>
            </a:endParaRPr>
          </a:p>
        </p:txBody>
      </p:sp>
      <p:sp>
        <p:nvSpPr>
          <p:cNvPr id="73870" name="Line 140"/>
          <p:cNvSpPr>
            <a:spLocks noChangeShapeType="1"/>
          </p:cNvSpPr>
          <p:nvPr/>
        </p:nvSpPr>
        <p:spPr bwMode="auto">
          <a:xfrm flipV="1">
            <a:off x="1295400" y="5086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1" name="Line 141"/>
          <p:cNvSpPr>
            <a:spLocks noChangeShapeType="1"/>
          </p:cNvSpPr>
          <p:nvPr/>
        </p:nvSpPr>
        <p:spPr bwMode="auto">
          <a:xfrm flipV="1">
            <a:off x="1752600" y="5086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2" name="Text Box 142"/>
          <p:cNvSpPr txBox="1">
            <a:spLocks noChangeArrowheads="1"/>
          </p:cNvSpPr>
          <p:nvPr/>
        </p:nvSpPr>
        <p:spPr bwMode="auto">
          <a:xfrm>
            <a:off x="1295400" y="5010150"/>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73873" name="Text Box 143"/>
          <p:cNvSpPr txBox="1">
            <a:spLocks noChangeArrowheads="1"/>
          </p:cNvSpPr>
          <p:nvPr/>
        </p:nvSpPr>
        <p:spPr bwMode="auto">
          <a:xfrm>
            <a:off x="914400" y="4800600"/>
            <a:ext cx="228600" cy="20145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1234567</a:t>
            </a:r>
            <a:endParaRPr kumimoji="1" lang="en-US" altLang="zh-CN" sz="1800" b="1" dirty="0">
              <a:latin typeface="Times New Roman" panose="02020603050405020304" pitchFamily="18" charset="0"/>
              <a:ea typeface="华文楷体" panose="02010600040101010101" pitchFamily="2" charset="-122"/>
            </a:endParaRPr>
          </a:p>
        </p:txBody>
      </p:sp>
      <p:sp>
        <p:nvSpPr>
          <p:cNvPr id="73874" name="Line 144"/>
          <p:cNvSpPr>
            <a:spLocks noChangeShapeType="1"/>
          </p:cNvSpPr>
          <p:nvPr/>
        </p:nvSpPr>
        <p:spPr bwMode="auto">
          <a:xfrm flipV="1">
            <a:off x="1295400" y="53149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5" name="Line 145"/>
          <p:cNvSpPr>
            <a:spLocks noChangeShapeType="1"/>
          </p:cNvSpPr>
          <p:nvPr/>
        </p:nvSpPr>
        <p:spPr bwMode="auto">
          <a:xfrm flipV="1">
            <a:off x="1752600" y="53149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6" name="Line 146"/>
          <p:cNvSpPr>
            <a:spLocks noChangeShapeType="1"/>
          </p:cNvSpPr>
          <p:nvPr/>
        </p:nvSpPr>
        <p:spPr bwMode="auto">
          <a:xfrm flipV="1">
            <a:off x="1295400" y="5618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7" name="Line 147"/>
          <p:cNvSpPr>
            <a:spLocks noChangeShapeType="1"/>
          </p:cNvSpPr>
          <p:nvPr/>
        </p:nvSpPr>
        <p:spPr bwMode="auto">
          <a:xfrm flipV="1">
            <a:off x="1752600" y="5618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8" name="Line 148"/>
          <p:cNvSpPr>
            <a:spLocks noChangeShapeType="1"/>
          </p:cNvSpPr>
          <p:nvPr/>
        </p:nvSpPr>
        <p:spPr bwMode="auto">
          <a:xfrm flipV="1">
            <a:off x="1295400" y="5922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79" name="Line 149"/>
          <p:cNvSpPr>
            <a:spLocks noChangeShapeType="1"/>
          </p:cNvSpPr>
          <p:nvPr/>
        </p:nvSpPr>
        <p:spPr bwMode="auto">
          <a:xfrm flipV="1">
            <a:off x="1752600" y="5922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80" name="Text Box 150"/>
          <p:cNvSpPr txBox="1">
            <a:spLocks noChangeArrowheads="1"/>
          </p:cNvSpPr>
          <p:nvPr/>
        </p:nvSpPr>
        <p:spPr bwMode="auto">
          <a:xfrm>
            <a:off x="1219200" y="53149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73881" name="Text Box 151"/>
          <p:cNvSpPr txBox="1">
            <a:spLocks noChangeArrowheads="1"/>
          </p:cNvSpPr>
          <p:nvPr/>
        </p:nvSpPr>
        <p:spPr bwMode="auto">
          <a:xfrm>
            <a:off x="1219200" y="56197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73882" name="Text Box 152"/>
          <p:cNvSpPr txBox="1">
            <a:spLocks noChangeArrowheads="1"/>
          </p:cNvSpPr>
          <p:nvPr/>
        </p:nvSpPr>
        <p:spPr bwMode="auto">
          <a:xfrm>
            <a:off x="1219200" y="5892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73883" name="Line 153"/>
          <p:cNvSpPr>
            <a:spLocks noChangeShapeType="1"/>
          </p:cNvSpPr>
          <p:nvPr/>
        </p:nvSpPr>
        <p:spPr bwMode="auto">
          <a:xfrm flipV="1">
            <a:off x="1295400" y="6227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84" name="Line 154"/>
          <p:cNvSpPr>
            <a:spLocks noChangeShapeType="1"/>
          </p:cNvSpPr>
          <p:nvPr/>
        </p:nvSpPr>
        <p:spPr bwMode="auto">
          <a:xfrm flipV="1">
            <a:off x="1752600" y="6227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85" name="Line 155"/>
          <p:cNvSpPr>
            <a:spLocks noChangeShapeType="1"/>
          </p:cNvSpPr>
          <p:nvPr/>
        </p:nvSpPr>
        <p:spPr bwMode="auto">
          <a:xfrm flipV="1">
            <a:off x="1295400" y="6532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86" name="Line 156"/>
          <p:cNvSpPr>
            <a:spLocks noChangeShapeType="1"/>
          </p:cNvSpPr>
          <p:nvPr/>
        </p:nvSpPr>
        <p:spPr bwMode="auto">
          <a:xfrm flipV="1">
            <a:off x="1752600" y="6532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87" name="Text Box 157"/>
          <p:cNvSpPr txBox="1">
            <a:spLocks noChangeArrowheads="1"/>
          </p:cNvSpPr>
          <p:nvPr/>
        </p:nvSpPr>
        <p:spPr bwMode="auto">
          <a:xfrm>
            <a:off x="1219200" y="6229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73888" name="Text Box 158"/>
          <p:cNvSpPr txBox="1">
            <a:spLocks noChangeArrowheads="1"/>
          </p:cNvSpPr>
          <p:nvPr/>
        </p:nvSpPr>
        <p:spPr bwMode="auto">
          <a:xfrm>
            <a:off x="1219200" y="65024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73889" name="Line 159"/>
          <p:cNvSpPr>
            <a:spLocks noChangeShapeType="1"/>
          </p:cNvSpPr>
          <p:nvPr/>
        </p:nvSpPr>
        <p:spPr bwMode="auto">
          <a:xfrm>
            <a:off x="1295400" y="48577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0" name="Line 160"/>
          <p:cNvSpPr>
            <a:spLocks noChangeShapeType="1"/>
          </p:cNvSpPr>
          <p:nvPr/>
        </p:nvSpPr>
        <p:spPr bwMode="auto">
          <a:xfrm>
            <a:off x="1295400" y="53149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1" name="Line 161"/>
          <p:cNvSpPr>
            <a:spLocks noChangeShapeType="1"/>
          </p:cNvSpPr>
          <p:nvPr/>
        </p:nvSpPr>
        <p:spPr bwMode="auto">
          <a:xfrm>
            <a:off x="1295400" y="56197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2" name="Line 162"/>
          <p:cNvSpPr>
            <a:spLocks noChangeShapeType="1"/>
          </p:cNvSpPr>
          <p:nvPr/>
        </p:nvSpPr>
        <p:spPr bwMode="auto">
          <a:xfrm>
            <a:off x="1295400" y="59245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3" name="Line 163"/>
          <p:cNvSpPr>
            <a:spLocks noChangeShapeType="1"/>
          </p:cNvSpPr>
          <p:nvPr/>
        </p:nvSpPr>
        <p:spPr bwMode="auto">
          <a:xfrm>
            <a:off x="1295400" y="62293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4" name="Line 164"/>
          <p:cNvSpPr>
            <a:spLocks noChangeShapeType="1"/>
          </p:cNvSpPr>
          <p:nvPr/>
        </p:nvSpPr>
        <p:spPr bwMode="auto">
          <a:xfrm>
            <a:off x="1295400" y="65341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5" name="Line 165"/>
          <p:cNvSpPr>
            <a:spLocks noChangeShapeType="1"/>
          </p:cNvSpPr>
          <p:nvPr/>
        </p:nvSpPr>
        <p:spPr bwMode="auto">
          <a:xfrm>
            <a:off x="1295400" y="68389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6" name="Line 166"/>
          <p:cNvSpPr>
            <a:spLocks noChangeShapeType="1"/>
          </p:cNvSpPr>
          <p:nvPr/>
        </p:nvSpPr>
        <p:spPr bwMode="auto">
          <a:xfrm>
            <a:off x="1295400" y="50863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7" name="Text Box 167"/>
          <p:cNvSpPr txBox="1">
            <a:spLocks noChangeArrowheads="1"/>
          </p:cNvSpPr>
          <p:nvPr/>
        </p:nvSpPr>
        <p:spPr bwMode="auto">
          <a:xfrm>
            <a:off x="990600" y="4552950"/>
            <a:ext cx="1143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err="1">
                <a:latin typeface="Times New Roman" panose="02020603050405020304" pitchFamily="18" charset="0"/>
                <a:ea typeface="华文楷体" panose="02010600040101010101" pitchFamily="2" charset="-122"/>
              </a:rPr>
              <a:t>indegree</a:t>
            </a:r>
            <a:endParaRPr kumimoji="1" lang="en-US" altLang="zh-CN" sz="1600" b="1" dirty="0">
              <a:latin typeface="Times New Roman" panose="02020603050405020304" pitchFamily="18" charset="0"/>
              <a:ea typeface="华文楷体" panose="02010600040101010101" pitchFamily="2" charset="-122"/>
            </a:endParaRPr>
          </a:p>
        </p:txBody>
      </p:sp>
      <p:sp>
        <p:nvSpPr>
          <p:cNvPr id="73898" name="Line 168"/>
          <p:cNvSpPr>
            <a:spLocks noChangeShapeType="1"/>
          </p:cNvSpPr>
          <p:nvPr/>
        </p:nvSpPr>
        <p:spPr bwMode="auto">
          <a:xfrm flipV="1">
            <a:off x="3810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899" name="Line 169"/>
          <p:cNvSpPr>
            <a:spLocks noChangeShapeType="1"/>
          </p:cNvSpPr>
          <p:nvPr/>
        </p:nvSpPr>
        <p:spPr bwMode="auto">
          <a:xfrm flipV="1">
            <a:off x="838200" y="48577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0" name="Line 170"/>
          <p:cNvSpPr>
            <a:spLocks noChangeShapeType="1"/>
          </p:cNvSpPr>
          <p:nvPr/>
        </p:nvSpPr>
        <p:spPr bwMode="auto">
          <a:xfrm flipV="1">
            <a:off x="381000" y="5086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1" name="Line 171"/>
          <p:cNvSpPr>
            <a:spLocks noChangeShapeType="1"/>
          </p:cNvSpPr>
          <p:nvPr/>
        </p:nvSpPr>
        <p:spPr bwMode="auto">
          <a:xfrm flipV="1">
            <a:off x="838200" y="5086350"/>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2" name="Line 172"/>
          <p:cNvSpPr>
            <a:spLocks noChangeShapeType="1"/>
          </p:cNvSpPr>
          <p:nvPr/>
        </p:nvSpPr>
        <p:spPr bwMode="auto">
          <a:xfrm flipV="1">
            <a:off x="381000" y="53149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3" name="Line 173"/>
          <p:cNvSpPr>
            <a:spLocks noChangeShapeType="1"/>
          </p:cNvSpPr>
          <p:nvPr/>
        </p:nvSpPr>
        <p:spPr bwMode="auto">
          <a:xfrm flipV="1">
            <a:off x="838200" y="531495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4" name="Line 174"/>
          <p:cNvSpPr>
            <a:spLocks noChangeShapeType="1"/>
          </p:cNvSpPr>
          <p:nvPr/>
        </p:nvSpPr>
        <p:spPr bwMode="auto">
          <a:xfrm flipV="1">
            <a:off x="381000" y="5618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5" name="Line 175"/>
          <p:cNvSpPr>
            <a:spLocks noChangeShapeType="1"/>
          </p:cNvSpPr>
          <p:nvPr/>
        </p:nvSpPr>
        <p:spPr bwMode="auto">
          <a:xfrm flipV="1">
            <a:off x="838200" y="56181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6" name="Line 176"/>
          <p:cNvSpPr>
            <a:spLocks noChangeShapeType="1"/>
          </p:cNvSpPr>
          <p:nvPr/>
        </p:nvSpPr>
        <p:spPr bwMode="auto">
          <a:xfrm flipV="1">
            <a:off x="381000" y="5922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7" name="Line 177"/>
          <p:cNvSpPr>
            <a:spLocks noChangeShapeType="1"/>
          </p:cNvSpPr>
          <p:nvPr/>
        </p:nvSpPr>
        <p:spPr bwMode="auto">
          <a:xfrm flipV="1">
            <a:off x="838200" y="59229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8" name="Line 178"/>
          <p:cNvSpPr>
            <a:spLocks noChangeShapeType="1"/>
          </p:cNvSpPr>
          <p:nvPr/>
        </p:nvSpPr>
        <p:spPr bwMode="auto">
          <a:xfrm flipV="1">
            <a:off x="381000" y="6227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09" name="Line 179"/>
          <p:cNvSpPr>
            <a:spLocks noChangeShapeType="1"/>
          </p:cNvSpPr>
          <p:nvPr/>
        </p:nvSpPr>
        <p:spPr bwMode="auto">
          <a:xfrm flipV="1">
            <a:off x="838200" y="62277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0" name="Line 180"/>
          <p:cNvSpPr>
            <a:spLocks noChangeShapeType="1"/>
          </p:cNvSpPr>
          <p:nvPr/>
        </p:nvSpPr>
        <p:spPr bwMode="auto">
          <a:xfrm flipV="1">
            <a:off x="381000" y="6532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1" name="Line 181"/>
          <p:cNvSpPr>
            <a:spLocks noChangeShapeType="1"/>
          </p:cNvSpPr>
          <p:nvPr/>
        </p:nvSpPr>
        <p:spPr bwMode="auto">
          <a:xfrm flipV="1">
            <a:off x="838200" y="6532563"/>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2" name="Line 182"/>
          <p:cNvSpPr>
            <a:spLocks noChangeShapeType="1"/>
          </p:cNvSpPr>
          <p:nvPr/>
        </p:nvSpPr>
        <p:spPr bwMode="auto">
          <a:xfrm>
            <a:off x="381000" y="48577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3" name="Line 183"/>
          <p:cNvSpPr>
            <a:spLocks noChangeShapeType="1"/>
          </p:cNvSpPr>
          <p:nvPr/>
        </p:nvSpPr>
        <p:spPr bwMode="auto">
          <a:xfrm>
            <a:off x="381000" y="53149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4" name="Line 184"/>
          <p:cNvSpPr>
            <a:spLocks noChangeShapeType="1"/>
          </p:cNvSpPr>
          <p:nvPr/>
        </p:nvSpPr>
        <p:spPr bwMode="auto">
          <a:xfrm>
            <a:off x="381000" y="56197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5" name="Line 185"/>
          <p:cNvSpPr>
            <a:spLocks noChangeShapeType="1"/>
          </p:cNvSpPr>
          <p:nvPr/>
        </p:nvSpPr>
        <p:spPr bwMode="auto">
          <a:xfrm>
            <a:off x="381000" y="59245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6" name="Line 186"/>
          <p:cNvSpPr>
            <a:spLocks noChangeShapeType="1"/>
          </p:cNvSpPr>
          <p:nvPr/>
        </p:nvSpPr>
        <p:spPr bwMode="auto">
          <a:xfrm>
            <a:off x="381000" y="62293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7" name="Line 187"/>
          <p:cNvSpPr>
            <a:spLocks noChangeShapeType="1"/>
          </p:cNvSpPr>
          <p:nvPr/>
        </p:nvSpPr>
        <p:spPr bwMode="auto">
          <a:xfrm>
            <a:off x="381000" y="65341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8" name="Line 188"/>
          <p:cNvSpPr>
            <a:spLocks noChangeShapeType="1"/>
          </p:cNvSpPr>
          <p:nvPr/>
        </p:nvSpPr>
        <p:spPr bwMode="auto">
          <a:xfrm>
            <a:off x="381000" y="68389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19" name="Line 189"/>
          <p:cNvSpPr>
            <a:spLocks noChangeShapeType="1"/>
          </p:cNvSpPr>
          <p:nvPr/>
        </p:nvSpPr>
        <p:spPr bwMode="auto">
          <a:xfrm>
            <a:off x="381000" y="5086350"/>
            <a:ext cx="4572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920" name="Text Box 190"/>
          <p:cNvSpPr txBox="1">
            <a:spLocks noChangeArrowheads="1"/>
          </p:cNvSpPr>
          <p:nvPr/>
        </p:nvSpPr>
        <p:spPr bwMode="auto">
          <a:xfrm>
            <a:off x="385763" y="6518275"/>
            <a:ext cx="296862"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solidFill>
                  <a:schemeClr val="accent2"/>
                </a:solidFill>
                <a:latin typeface="Times New Roman" panose="02020603050405020304" pitchFamily="18" charset="0"/>
                <a:ea typeface="华文楷体" panose="02010600040101010101" pitchFamily="2" charset="-122"/>
              </a:rPr>
              <a:t>1</a:t>
            </a:r>
            <a:endParaRPr kumimoji="1" lang="en-US" altLang="zh-CN" sz="1600" b="1" dirty="0">
              <a:solidFill>
                <a:schemeClr val="accent2"/>
              </a:solidFill>
              <a:latin typeface="Times New Roman" panose="02020603050405020304" pitchFamily="18" charset="0"/>
              <a:ea typeface="华文楷体" panose="02010600040101010101" pitchFamily="2" charset="-122"/>
            </a:endParaRPr>
          </a:p>
        </p:txBody>
      </p:sp>
      <p:sp>
        <p:nvSpPr>
          <p:cNvPr id="73921" name="Text Box 191"/>
          <p:cNvSpPr txBox="1">
            <a:spLocks noChangeArrowheads="1"/>
          </p:cNvSpPr>
          <p:nvPr/>
        </p:nvSpPr>
        <p:spPr bwMode="auto">
          <a:xfrm>
            <a:off x="228600" y="4476750"/>
            <a:ext cx="4572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600" b="1" dirty="0">
              <a:latin typeface="Times New Roman" panose="02020603050405020304" pitchFamily="18" charset="0"/>
              <a:ea typeface="华文楷体" panose="02010600040101010101" pitchFamily="2" charset="-122"/>
            </a:endParaRPr>
          </a:p>
        </p:txBody>
      </p:sp>
      <p:sp>
        <p:nvSpPr>
          <p:cNvPr id="73922" name="Text Box 192"/>
          <p:cNvSpPr txBox="1">
            <a:spLocks noChangeArrowheads="1"/>
          </p:cNvSpPr>
          <p:nvPr/>
        </p:nvSpPr>
        <p:spPr bwMode="auto">
          <a:xfrm>
            <a:off x="0" y="4476750"/>
            <a:ext cx="1219200" cy="33855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zh-CN" altLang="en-US" sz="1600" b="1" dirty="0" smtClean="0">
                <a:latin typeface="Times New Roman" panose="02020603050405020304" pitchFamily="18" charset="0"/>
                <a:ea typeface="华文楷体" panose="02010600040101010101" pitchFamily="2" charset="-122"/>
              </a:rPr>
              <a:t>栈（队列）</a:t>
            </a:r>
            <a:endParaRPr kumimoji="1" lang="zh-CN" altLang="en-US" sz="16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747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4757" name="Text Box 3"/>
          <p:cNvSpPr txBox="1">
            <a:spLocks noChangeArrowheads="1"/>
          </p:cNvSpPr>
          <p:nvPr/>
        </p:nvSpPr>
        <p:spPr bwMode="auto">
          <a:xfrm>
            <a:off x="536574" y="764024"/>
            <a:ext cx="7235825" cy="6093976"/>
          </a:xfrm>
          <a:prstGeom prst="rect">
            <a:avLst/>
          </a:prstGeom>
          <a:solidFill>
            <a:srgbClr val="CCFFFF"/>
          </a:solidFill>
          <a:ln w="9525">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a:t>
            </a:r>
            <a:r>
              <a:rPr kumimoji="1" lang="zh-CN" altLang="en-US" sz="1200" dirty="0">
                <a:latin typeface="Times New Roman" panose="02020603050405020304" pitchFamily="18" charset="0"/>
                <a:ea typeface="华文楷体" panose="02010600040101010101" pitchFamily="2" charset="-122"/>
              </a:rPr>
              <a:t>邻接表存储</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smtClean="0">
                <a:latin typeface="Times New Roman" panose="02020603050405020304" pitchFamily="18" charset="0"/>
                <a:ea typeface="华文楷体" panose="02010600040101010101" pitchFamily="2" charset="-122"/>
              </a:rPr>
              <a:t>bool  </a:t>
            </a:r>
            <a:r>
              <a:rPr kumimoji="1" lang="en-US" altLang="zh-CN" sz="1200" dirty="0" err="1" smtClean="0">
                <a:latin typeface="Times New Roman" panose="02020603050405020304" pitchFamily="18" charset="0"/>
                <a:ea typeface="华文楷体" panose="02010600040101010101" pitchFamily="2" charset="-122"/>
              </a:rPr>
              <a:t>Topologicalsort</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Agraph</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a:t>
            </a:r>
            <a:r>
              <a:rPr kumimoji="1" lang="en-US" altLang="zh-CN" sz="1200" dirty="0" smtClean="0">
                <a:latin typeface="Times New Roman" panose="02020603050405020304" pitchFamily="18" charset="0"/>
                <a:ea typeface="华文楷体" panose="02010600040101010101" pitchFamily="2" charset="-122"/>
              </a:rPr>
              <a:t>G) //</a:t>
            </a:r>
            <a:r>
              <a:rPr kumimoji="1" lang="zh-CN" altLang="en-US" sz="1200" dirty="0" smtClean="0">
                <a:latin typeface="Times New Roman" panose="02020603050405020304" pitchFamily="18" charset="0"/>
                <a:ea typeface="华文楷体" panose="02010600040101010101" pitchFamily="2" charset="-122"/>
              </a:rPr>
              <a:t>有拓扑序列，打印拓扑序列，返回</a:t>
            </a:r>
            <a:r>
              <a:rPr kumimoji="1" lang="en-US" altLang="zh-CN" sz="1200" dirty="0" smtClean="0">
                <a:latin typeface="Times New Roman" panose="02020603050405020304" pitchFamily="18" charset="0"/>
                <a:ea typeface="华文楷体" panose="02010600040101010101" pitchFamily="2" charset="-122"/>
              </a:rPr>
              <a:t>TRUE,</a:t>
            </a:r>
            <a:r>
              <a:rPr kumimoji="1" lang="zh-CN" altLang="en-US" sz="1200" dirty="0" smtClean="0">
                <a:latin typeface="Times New Roman" panose="02020603050405020304" pitchFamily="18" charset="0"/>
                <a:ea typeface="华文楷体" panose="02010600040101010101" pitchFamily="2" charset="-122"/>
              </a:rPr>
              <a:t>否则返回</a:t>
            </a:r>
            <a:r>
              <a:rPr kumimoji="1" lang="en-US" altLang="zh-CN" sz="1200" dirty="0" smtClean="0">
                <a:latin typeface="Times New Roman" panose="02020603050405020304" pitchFamily="18" charset="0"/>
                <a:ea typeface="华文楷体" panose="02010600040101010101" pitchFamily="2" charset="-122"/>
              </a:rPr>
              <a:t>FALSE.</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findinDegree</a:t>
            </a:r>
            <a:r>
              <a:rPr kumimoji="1" lang="en-US" altLang="zh-CN" sz="1200" dirty="0" smtClean="0">
                <a:latin typeface="Times New Roman" panose="02020603050405020304" pitchFamily="18" charset="0"/>
                <a:ea typeface="华文楷体" panose="02010600040101010101" pitchFamily="2" charset="-122"/>
              </a:rPr>
              <a:t>(G</a:t>
            </a:r>
            <a:r>
              <a:rPr kumimoji="1" lang="zh-CN" altLang="en-US" sz="1200" dirty="0">
                <a:latin typeface="Times New Roman" panose="02020603050405020304" pitchFamily="18" charset="0"/>
                <a:ea typeface="华文楷体" panose="02010600040101010101" pitchFamily="2" charset="-122"/>
              </a:rPr>
              <a:t>，</a:t>
            </a:r>
            <a:r>
              <a:rPr kumimoji="1" lang="en-US" altLang="zh-CN" sz="1200" dirty="0" err="1" smtClean="0">
                <a:latin typeface="Times New Roman" panose="02020603050405020304" pitchFamily="18" charset="0"/>
                <a:ea typeface="华文楷体" panose="02010600040101010101" pitchFamily="2" charset="-122"/>
              </a:rPr>
              <a:t>indegree</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计算每个结点的入度，用</a:t>
            </a:r>
            <a:r>
              <a:rPr kumimoji="1" lang="en-US" altLang="zh-CN" sz="1200" dirty="0" err="1" smtClean="0">
                <a:latin typeface="Times New Roman" panose="02020603050405020304" pitchFamily="18" charset="0"/>
                <a:ea typeface="华文楷体" panose="02010600040101010101" pitchFamily="2" charset="-122"/>
              </a:rPr>
              <a:t>indegree</a:t>
            </a:r>
            <a:r>
              <a:rPr kumimoji="1" lang="zh-CN" altLang="en-US" sz="1200" dirty="0" smtClean="0">
                <a:latin typeface="Times New Roman" panose="02020603050405020304" pitchFamily="18" charset="0"/>
                <a:ea typeface="华文楷体" panose="02010600040101010101" pitchFamily="2" charset="-122"/>
              </a:rPr>
              <a:t>数组返回。</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Initstack</a:t>
            </a:r>
            <a:r>
              <a:rPr kumimoji="1" lang="en-US" altLang="zh-CN" sz="1200" dirty="0" smtClean="0">
                <a:latin typeface="Times New Roman" panose="02020603050405020304" pitchFamily="18" charset="0"/>
                <a:ea typeface="华文楷体" panose="02010600040101010101" pitchFamily="2" charset="-122"/>
              </a:rPr>
              <a:t>(S); //</a:t>
            </a:r>
            <a:r>
              <a:rPr kumimoji="1" lang="zh-CN" altLang="en-US" sz="1200" dirty="0" smtClean="0">
                <a:latin typeface="Times New Roman" panose="02020603050405020304" pitchFamily="18" charset="0"/>
                <a:ea typeface="华文楷体" panose="02010600040101010101" pitchFamily="2" charset="-122"/>
              </a:rPr>
              <a:t>栈</a:t>
            </a:r>
            <a:r>
              <a:rPr kumimoji="1" lang="en-US" altLang="zh-CN" sz="1200" dirty="0" smtClean="0">
                <a:latin typeface="Times New Roman" panose="02020603050405020304" pitchFamily="18" charset="0"/>
                <a:ea typeface="华文楷体" panose="02010600040101010101" pitchFamily="2" charset="-122"/>
              </a:rPr>
              <a:t>S</a:t>
            </a:r>
            <a:r>
              <a:rPr kumimoji="1" lang="zh-CN" altLang="en-US" sz="1200" dirty="0" smtClean="0">
                <a:latin typeface="Times New Roman" panose="02020603050405020304" pitchFamily="18" charset="0"/>
                <a:ea typeface="华文楷体" panose="02010600040101010101" pitchFamily="2" charset="-122"/>
              </a:rPr>
              <a:t>初始化操作</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for(</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 1; </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&lt;= </a:t>
            </a:r>
            <a:r>
              <a:rPr kumimoji="1" lang="en-US" altLang="zh-CN" sz="1200" dirty="0" err="1" smtClean="0">
                <a:latin typeface="Times New Roman" panose="02020603050405020304" pitchFamily="18" charset="0"/>
                <a:ea typeface="华文楷体" panose="02010600040101010101" pitchFamily="2" charset="-122"/>
              </a:rPr>
              <a:t>G.n</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if (</a:t>
            </a:r>
            <a:r>
              <a:rPr kumimoji="1" lang="en-US" altLang="zh-CN" sz="1200" dirty="0" err="1" smtClean="0">
                <a:latin typeface="Times New Roman" panose="02020603050405020304" pitchFamily="18" charset="0"/>
                <a:ea typeface="华文楷体" panose="02010600040101010101" pitchFamily="2" charset="-122"/>
              </a:rPr>
              <a:t>indegree</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]==0) Push(S, </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a:latin typeface="Times New Roman" panose="02020603050405020304" pitchFamily="18" charset="0"/>
                <a:ea typeface="华文楷体" panose="02010600040101010101" pitchFamily="2" charset="-122"/>
              </a:rPr>
              <a:t>顶</a:t>
            </a:r>
            <a:r>
              <a:rPr kumimoji="1" lang="zh-CN" altLang="en-US" sz="1200" dirty="0" smtClean="0">
                <a:latin typeface="Times New Roman" panose="02020603050405020304" pitchFamily="18" charset="0"/>
                <a:ea typeface="华文楷体" panose="02010600040101010101" pitchFamily="2" charset="-122"/>
              </a:rPr>
              <a:t>点</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入度为</a:t>
            </a:r>
            <a:r>
              <a:rPr kumimoji="1" lang="en-US" altLang="zh-CN" sz="1200" dirty="0" smtClean="0">
                <a:latin typeface="Times New Roman" panose="02020603050405020304" pitchFamily="18" charset="0"/>
                <a:ea typeface="华文楷体" panose="02010600040101010101" pitchFamily="2" charset="-122"/>
              </a:rPr>
              <a:t>0</a:t>
            </a:r>
            <a:r>
              <a:rPr kumimoji="1" lang="zh-CN" altLang="en-US" sz="1200" dirty="0" smtClean="0">
                <a:latin typeface="Times New Roman" panose="02020603050405020304" pitchFamily="18" charset="0"/>
                <a:ea typeface="华文楷体" panose="02010600040101010101" pitchFamily="2" charset="-122"/>
              </a:rPr>
              <a:t>，入栈</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count = 0;</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while </a:t>
            </a:r>
            <a:r>
              <a:rPr kumimoji="1" lang="en-US" altLang="zh-CN" sz="1200" dirty="0" smtClean="0">
                <a:latin typeface="Times New Roman" panose="02020603050405020304" pitchFamily="18" charset="0"/>
                <a:ea typeface="华文楷体" panose="02010600040101010101" pitchFamily="2" charset="-122"/>
              </a:rPr>
              <a:t>(!</a:t>
            </a:r>
            <a:r>
              <a:rPr kumimoji="1" lang="en-US" altLang="zh-CN" sz="1200" dirty="0" err="1" smtClean="0">
                <a:latin typeface="Times New Roman" panose="02020603050405020304" pitchFamily="18" charset="0"/>
                <a:ea typeface="华文楷体" panose="02010600040101010101" pitchFamily="2" charset="-122"/>
              </a:rPr>
              <a:t>StackEmpty</a:t>
            </a:r>
            <a:r>
              <a:rPr kumimoji="1" lang="en-US" altLang="zh-CN" sz="1200" dirty="0" smtClean="0">
                <a:latin typeface="Times New Roman" panose="02020603050405020304" pitchFamily="18" charset="0"/>
                <a:ea typeface="华文楷体" panose="02010600040101010101" pitchFamily="2" charset="-122"/>
              </a:rPr>
              <a:t>(S)) //</a:t>
            </a:r>
            <a:r>
              <a:rPr kumimoji="1" lang="zh-CN" altLang="en-US" sz="1200" dirty="0" smtClean="0">
                <a:latin typeface="Times New Roman" panose="02020603050405020304" pitchFamily="18" charset="0"/>
                <a:ea typeface="华文楷体" panose="02010600040101010101" pitchFamily="2" charset="-122"/>
              </a:rPr>
              <a:t>栈不空</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Pop(S, </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栈顶元素出栈，用</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保存栈顶元素；</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Printf</a:t>
            </a:r>
            <a:r>
              <a:rPr kumimoji="1" lang="en-US" altLang="zh-CN" sz="1200" dirty="0" smtClean="0">
                <a:latin typeface="Times New Roman" panose="02020603050405020304" pitchFamily="18" charset="0"/>
                <a:ea typeface="华文楷体" panose="02010600040101010101" pitchFamily="2" charset="-122"/>
              </a:rPr>
              <a:t>(</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adjlist</a:t>
            </a:r>
            <a:r>
              <a:rPr kumimoji="1" lang="en-US" altLang="zh-CN" sz="1200" dirty="0">
                <a:latin typeface="Times New Roman" panose="02020603050405020304" pitchFamily="18" charset="0"/>
                <a:ea typeface="华文楷体" panose="02010600040101010101" pitchFamily="2" charset="-122"/>
              </a:rPr>
              <a:t>[</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Data); //</a:t>
            </a:r>
            <a:r>
              <a:rPr kumimoji="1" lang="zh-CN" altLang="en-US" sz="1200" dirty="0" smtClean="0">
                <a:latin typeface="Times New Roman" panose="02020603050405020304" pitchFamily="18" charset="0"/>
                <a:ea typeface="华文楷体" panose="02010600040101010101" pitchFamily="2" charset="-122"/>
              </a:rPr>
              <a:t>打印</a:t>
            </a:r>
            <a:r>
              <a:rPr kumimoji="1" lang="zh-CN" altLang="en-US" sz="1200" dirty="0">
                <a:latin typeface="Times New Roman" panose="02020603050405020304" pitchFamily="18" charset="0"/>
                <a:ea typeface="华文楷体" panose="02010600040101010101" pitchFamily="2" charset="-122"/>
              </a:rPr>
              <a:t>顶点</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的值；若无环，打印的就是拓扑序列</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count</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拓扑序列中元素个数加</a:t>
            </a:r>
            <a:r>
              <a:rPr kumimoji="1" lang="en-US" altLang="zh-CN" sz="1200" dirty="0" smtClean="0">
                <a:latin typeface="Times New Roman" panose="02020603050405020304" pitchFamily="18" charset="0"/>
                <a:ea typeface="华文楷体" panose="02010600040101010101" pitchFamily="2" charset="-122"/>
              </a:rPr>
              <a:t>1</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for </a:t>
            </a:r>
            <a:r>
              <a:rPr kumimoji="1" lang="en-US" altLang="zh-CN" sz="1200" dirty="0">
                <a:latin typeface="Times New Roman" panose="02020603050405020304" pitchFamily="18" charset="0"/>
                <a:ea typeface="华文楷体" panose="02010600040101010101" pitchFamily="2" charset="-122"/>
              </a:rPr>
              <a:t>(p=G-&gt;</a:t>
            </a:r>
            <a:r>
              <a:rPr kumimoji="1" lang="en-US" altLang="zh-CN" sz="1200" dirty="0" err="1">
                <a:latin typeface="Times New Roman" panose="02020603050405020304" pitchFamily="18" charset="0"/>
                <a:ea typeface="华文楷体" panose="02010600040101010101" pitchFamily="2" charset="-122"/>
              </a:rPr>
              <a:t>adjlist</a:t>
            </a:r>
            <a:r>
              <a:rPr kumimoji="1" lang="en-US" altLang="zh-CN" sz="1200" dirty="0">
                <a:latin typeface="Times New Roman" panose="02020603050405020304" pitchFamily="18" charset="0"/>
                <a:ea typeface="华文楷体" panose="02010600040101010101" pitchFamily="2" charset="-122"/>
              </a:rPr>
              <a:t>[</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a:t>
            </a:r>
            <a:r>
              <a:rPr kumimoji="1" lang="en-US" altLang="zh-CN" sz="1200" dirty="0" err="1">
                <a:latin typeface="Times New Roman" panose="02020603050405020304" pitchFamily="18" charset="0"/>
                <a:ea typeface="华文楷体" panose="02010600040101010101" pitchFamily="2" charset="-122"/>
              </a:rPr>
              <a:t>firstarc</a:t>
            </a:r>
            <a:r>
              <a:rPr kumimoji="1" lang="en-US" altLang="zh-CN" sz="1200" dirty="0">
                <a:latin typeface="Times New Roman" panose="02020603050405020304" pitchFamily="18" charset="0"/>
                <a:ea typeface="华文楷体" panose="02010600040101010101" pitchFamily="2" charset="-122"/>
              </a:rPr>
              <a:t>; p; p=p-&gt;</a:t>
            </a:r>
            <a:r>
              <a:rPr kumimoji="1" lang="en-US" altLang="zh-CN" sz="1200" dirty="0" err="1" smtClean="0">
                <a:latin typeface="Times New Roman" panose="02020603050405020304" pitchFamily="18" charset="0"/>
                <a:ea typeface="华文楷体" panose="02010600040101010101" pitchFamily="2" charset="-122"/>
              </a:rPr>
              <a:t>nextarc</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寻找顶点</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的邻接顶点</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k= p-&gt;</a:t>
            </a:r>
            <a:r>
              <a:rPr kumimoji="1" lang="en-US" altLang="zh-CN" sz="1200" dirty="0" err="1" smtClean="0">
                <a:latin typeface="Times New Roman" panose="02020603050405020304" pitchFamily="18" charset="0"/>
                <a:ea typeface="华文楷体" panose="02010600040101010101" pitchFamily="2" charset="-122"/>
              </a:rPr>
              <a:t>adjvex</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顶点</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的邻接顶点</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if ((- </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indegree</a:t>
            </a:r>
            <a:r>
              <a:rPr kumimoji="1" lang="en-US" altLang="zh-CN" sz="1200" dirty="0">
                <a:latin typeface="Times New Roman" panose="02020603050405020304" pitchFamily="18" charset="0"/>
                <a:ea typeface="华文楷体" panose="02010600040101010101" pitchFamily="2" charset="-122"/>
              </a:rPr>
              <a:t> [ k </a:t>
            </a:r>
            <a:r>
              <a:rPr kumimoji="1" lang="en-US" altLang="zh-CN" sz="1200" dirty="0" smtClean="0">
                <a:latin typeface="Times New Roman" panose="02020603050405020304" pitchFamily="18" charset="0"/>
                <a:ea typeface="华文楷体" panose="02010600040101010101" pitchFamily="2" charset="-122"/>
              </a:rPr>
              <a:t>]) ==0) Push(S</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k); //</a:t>
            </a:r>
            <a:r>
              <a:rPr kumimoji="1" lang="zh-CN" altLang="en-US" sz="1200" dirty="0" smtClean="0">
                <a:latin typeface="Times New Roman" panose="02020603050405020304" pitchFamily="18" charset="0"/>
                <a:ea typeface="华文楷体" panose="02010600040101010101" pitchFamily="2" charset="-122"/>
              </a:rPr>
              <a:t>顶点</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入度</a:t>
            </a:r>
            <a:r>
              <a:rPr kumimoji="1" lang="en-US" altLang="zh-CN" sz="1200" dirty="0" smtClean="0">
                <a:latin typeface="Times New Roman" panose="02020603050405020304" pitchFamily="18" charset="0"/>
                <a:ea typeface="华文楷体" panose="02010600040101010101" pitchFamily="2" charset="-122"/>
              </a:rPr>
              <a:t>-1</a:t>
            </a:r>
            <a:r>
              <a:rPr kumimoji="1" lang="zh-CN" altLang="en-US" sz="1200" dirty="0" smtClean="0">
                <a:latin typeface="Times New Roman" panose="02020603050405020304" pitchFamily="18" charset="0"/>
                <a:ea typeface="华文楷体" panose="02010600040101010101" pitchFamily="2" charset="-122"/>
              </a:rPr>
              <a:t>之后若</a:t>
            </a:r>
            <a:r>
              <a:rPr kumimoji="1" lang="en-US" altLang="zh-CN" sz="1200" dirty="0" smtClean="0">
                <a:latin typeface="Times New Roman" panose="02020603050405020304" pitchFamily="18" charset="0"/>
                <a:ea typeface="华文楷体" panose="02010600040101010101" pitchFamily="2" charset="-122"/>
              </a:rPr>
              <a:t>==0</a:t>
            </a:r>
            <a:r>
              <a:rPr kumimoji="1" lang="zh-CN" altLang="en-US" sz="1200" dirty="0" smtClean="0">
                <a:latin typeface="Times New Roman" panose="02020603050405020304" pitchFamily="18" charset="0"/>
                <a:ea typeface="华文楷体" panose="02010600040101010101" pitchFamily="2" charset="-122"/>
              </a:rPr>
              <a:t>，则</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入栈；</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if </a:t>
            </a:r>
            <a:r>
              <a:rPr kumimoji="1" lang="en-US" altLang="zh-CN" sz="1200" dirty="0" smtClean="0">
                <a:latin typeface="Times New Roman" panose="02020603050405020304" pitchFamily="18" charset="0"/>
                <a:ea typeface="华文楷体" panose="02010600040101010101" pitchFamily="2" charset="-122"/>
              </a:rPr>
              <a:t>(count </a:t>
            </a:r>
            <a:r>
              <a:rPr kumimoji="1" lang="en-US" altLang="zh-CN" sz="1200" dirty="0">
                <a:latin typeface="Times New Roman" panose="02020603050405020304" pitchFamily="18" charset="0"/>
                <a:ea typeface="华文楷体" panose="02010600040101010101" pitchFamily="2" charset="-122"/>
              </a:rPr>
              <a:t>&lt; </a:t>
            </a:r>
            <a:r>
              <a:rPr kumimoji="1" lang="en-US" altLang="zh-CN" sz="1200" dirty="0" err="1" smtClean="0">
                <a:latin typeface="Times New Roman" panose="02020603050405020304" pitchFamily="18" charset="0"/>
                <a:ea typeface="华文楷体" panose="02010600040101010101" pitchFamily="2" charset="-122"/>
              </a:rPr>
              <a:t>G.n</a:t>
            </a:r>
            <a:r>
              <a:rPr kumimoji="1" lang="en-US" altLang="zh-CN" sz="1200" dirty="0" smtClean="0">
                <a:latin typeface="Times New Roman" panose="02020603050405020304" pitchFamily="18" charset="0"/>
                <a:ea typeface="华文楷体" panose="02010600040101010101" pitchFamily="2" charset="-122"/>
              </a:rPr>
              <a:t>) return FALSE; //</a:t>
            </a:r>
            <a:r>
              <a:rPr kumimoji="1" lang="zh-CN" altLang="en-US" sz="1200" dirty="0" smtClean="0">
                <a:latin typeface="Times New Roman" panose="02020603050405020304" pitchFamily="18" charset="0"/>
                <a:ea typeface="华文楷体" panose="02010600040101010101" pitchFamily="2" charset="-122"/>
              </a:rPr>
              <a:t>栈空，但输出</a:t>
            </a:r>
            <a:r>
              <a:rPr kumimoji="1" lang="zh-CN" altLang="en-US" sz="1200" dirty="0">
                <a:latin typeface="Times New Roman" panose="02020603050405020304" pitchFamily="18" charset="0"/>
                <a:ea typeface="华文楷体" panose="02010600040101010101" pitchFamily="2" charset="-122"/>
              </a:rPr>
              <a:t>顶</a:t>
            </a:r>
            <a:r>
              <a:rPr kumimoji="1" lang="zh-CN" altLang="en-US" sz="1200" dirty="0" smtClean="0">
                <a:latin typeface="Times New Roman" panose="02020603050405020304" pitchFamily="18" charset="0"/>
                <a:ea typeface="华文楷体" panose="02010600040101010101" pitchFamily="2" charset="-122"/>
              </a:rPr>
              <a:t>点数不等于</a:t>
            </a:r>
            <a:r>
              <a:rPr kumimoji="1" lang="en-US" altLang="zh-CN" sz="1200" dirty="0" err="1" smtClean="0">
                <a:latin typeface="Times New Roman" panose="02020603050405020304" pitchFamily="18" charset="0"/>
                <a:ea typeface="华文楷体" panose="02010600040101010101" pitchFamily="2" charset="-122"/>
              </a:rPr>
              <a:t>G.n</a:t>
            </a:r>
            <a:r>
              <a:rPr kumimoji="1" lang="zh-CN" altLang="en-US" sz="1200" dirty="0" smtClean="0">
                <a:latin typeface="Times New Roman" panose="02020603050405020304" pitchFamily="18" charset="0"/>
                <a:ea typeface="华文楷体" panose="02010600040101010101" pitchFamily="2" charset="-122"/>
              </a:rPr>
              <a:t>，有环；</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else </a:t>
            </a:r>
            <a:r>
              <a:rPr kumimoji="1" lang="en-US" altLang="zh-CN" sz="1200" dirty="0">
                <a:latin typeface="Times New Roman" panose="02020603050405020304" pitchFamily="18" charset="0"/>
                <a:ea typeface="华文楷体" panose="02010600040101010101" pitchFamily="2" charset="-122"/>
              </a:rPr>
              <a:t>return </a:t>
            </a:r>
            <a:r>
              <a:rPr kumimoji="1" lang="en-US" altLang="zh-CN" sz="1200" dirty="0" smtClean="0">
                <a:latin typeface="Times New Roman" panose="02020603050405020304" pitchFamily="18" charset="0"/>
                <a:ea typeface="华文楷体" panose="02010600040101010101" pitchFamily="2" charset="-122"/>
              </a:rPr>
              <a:t>TRUE;</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smtClean="0">
                <a:latin typeface="Times New Roman" panose="02020603050405020304" pitchFamily="18" charset="0"/>
                <a:ea typeface="华文楷体" panose="02010600040101010101" pitchFamily="2" charset="-122"/>
              </a:rPr>
              <a:t>}</a:t>
            </a:r>
            <a:endParaRPr kumimoji="1" lang="en-US" altLang="zh-CN" sz="12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7" name="图片 6"/>
          <p:cNvPicPr>
            <a:picLocks noChangeAspect="1"/>
          </p:cNvPicPr>
          <p:nvPr/>
        </p:nvPicPr>
        <p:blipFill>
          <a:blip r:embed="rId1"/>
          <a:stretch>
            <a:fillRect/>
          </a:stretch>
        </p:blipFill>
        <p:spPr>
          <a:xfrm>
            <a:off x="5649896" y="1034470"/>
            <a:ext cx="1621218" cy="2348493"/>
          </a:xfrm>
          <a:prstGeom prst="rect">
            <a:avLst/>
          </a:prstGeom>
        </p:spPr>
      </p:pic>
      <p:sp>
        <p:nvSpPr>
          <p:cNvPr id="8" name="Line 22"/>
          <p:cNvSpPr>
            <a:spLocks noChangeShapeType="1"/>
          </p:cNvSpPr>
          <p:nvPr/>
        </p:nvSpPr>
        <p:spPr bwMode="auto">
          <a:xfrm>
            <a:off x="533400" y="13437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 name="Line 23"/>
          <p:cNvSpPr>
            <a:spLocks noChangeShapeType="1"/>
          </p:cNvSpPr>
          <p:nvPr/>
        </p:nvSpPr>
        <p:spPr bwMode="auto">
          <a:xfrm flipV="1">
            <a:off x="533400" y="13437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 name="Line 24"/>
          <p:cNvSpPr>
            <a:spLocks noChangeShapeType="1"/>
          </p:cNvSpPr>
          <p:nvPr/>
        </p:nvSpPr>
        <p:spPr bwMode="auto">
          <a:xfrm>
            <a:off x="533400" y="15723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 name="Line 25"/>
          <p:cNvSpPr>
            <a:spLocks noChangeShapeType="1"/>
          </p:cNvSpPr>
          <p:nvPr/>
        </p:nvSpPr>
        <p:spPr bwMode="auto">
          <a:xfrm flipV="1">
            <a:off x="990600" y="13437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 name="Line 26"/>
          <p:cNvSpPr>
            <a:spLocks noChangeShapeType="1"/>
          </p:cNvSpPr>
          <p:nvPr/>
        </p:nvSpPr>
        <p:spPr bwMode="auto">
          <a:xfrm flipV="1">
            <a:off x="1447800" y="13437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3" name="Text Box 27"/>
          <p:cNvSpPr txBox="1">
            <a:spLocks noChangeArrowheads="1"/>
          </p:cNvSpPr>
          <p:nvPr/>
        </p:nvSpPr>
        <p:spPr bwMode="auto">
          <a:xfrm>
            <a:off x="533400" y="12675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1</a:t>
            </a:r>
            <a:endParaRPr kumimoji="1" lang="en-US" altLang="zh-CN" sz="1600" b="1" dirty="0">
              <a:latin typeface="Times New Roman" panose="02020603050405020304" pitchFamily="18" charset="0"/>
              <a:ea typeface="华文楷体" panose="02010600040101010101" pitchFamily="2" charset="-122"/>
            </a:endParaRPr>
          </a:p>
        </p:txBody>
      </p:sp>
      <p:sp>
        <p:nvSpPr>
          <p:cNvPr id="14" name="Line 28"/>
          <p:cNvSpPr>
            <a:spLocks noChangeShapeType="1"/>
          </p:cNvSpPr>
          <p:nvPr/>
        </p:nvSpPr>
        <p:spPr bwMode="auto">
          <a:xfrm>
            <a:off x="533400" y="15723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 name="Line 29"/>
          <p:cNvSpPr>
            <a:spLocks noChangeShapeType="1"/>
          </p:cNvSpPr>
          <p:nvPr/>
        </p:nvSpPr>
        <p:spPr bwMode="auto">
          <a:xfrm flipV="1">
            <a:off x="533400" y="15723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 name="Line 30"/>
          <p:cNvSpPr>
            <a:spLocks noChangeShapeType="1"/>
          </p:cNvSpPr>
          <p:nvPr/>
        </p:nvSpPr>
        <p:spPr bwMode="auto">
          <a:xfrm>
            <a:off x="533400" y="18009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 name="Line 31"/>
          <p:cNvSpPr>
            <a:spLocks noChangeShapeType="1"/>
          </p:cNvSpPr>
          <p:nvPr/>
        </p:nvSpPr>
        <p:spPr bwMode="auto">
          <a:xfrm flipV="1">
            <a:off x="990600" y="15723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 name="Line 32"/>
          <p:cNvSpPr>
            <a:spLocks noChangeShapeType="1"/>
          </p:cNvSpPr>
          <p:nvPr/>
        </p:nvSpPr>
        <p:spPr bwMode="auto">
          <a:xfrm flipV="1">
            <a:off x="1447800" y="15723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 name="Text Box 33"/>
          <p:cNvSpPr txBox="1">
            <a:spLocks noChangeArrowheads="1"/>
          </p:cNvSpPr>
          <p:nvPr/>
        </p:nvSpPr>
        <p:spPr bwMode="auto">
          <a:xfrm>
            <a:off x="533400" y="14961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0" name="Line 34"/>
          <p:cNvSpPr>
            <a:spLocks noChangeShapeType="1"/>
          </p:cNvSpPr>
          <p:nvPr/>
        </p:nvSpPr>
        <p:spPr bwMode="auto">
          <a:xfrm>
            <a:off x="1828800" y="12357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 name="Line 35"/>
          <p:cNvSpPr>
            <a:spLocks noChangeShapeType="1"/>
          </p:cNvSpPr>
          <p:nvPr/>
        </p:nvSpPr>
        <p:spPr bwMode="auto">
          <a:xfrm flipV="1">
            <a:off x="1828800" y="1235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2" name="Line 36"/>
          <p:cNvSpPr>
            <a:spLocks noChangeShapeType="1"/>
          </p:cNvSpPr>
          <p:nvPr/>
        </p:nvSpPr>
        <p:spPr bwMode="auto">
          <a:xfrm>
            <a:off x="1828800" y="14643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3" name="Line 37"/>
          <p:cNvSpPr>
            <a:spLocks noChangeShapeType="1"/>
          </p:cNvSpPr>
          <p:nvPr/>
        </p:nvSpPr>
        <p:spPr bwMode="auto">
          <a:xfrm flipV="1">
            <a:off x="2286000" y="1235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 name="Line 38"/>
          <p:cNvSpPr>
            <a:spLocks noChangeShapeType="1"/>
          </p:cNvSpPr>
          <p:nvPr/>
        </p:nvSpPr>
        <p:spPr bwMode="auto">
          <a:xfrm flipV="1">
            <a:off x="2743200" y="1235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5" name="Text Box 39"/>
          <p:cNvSpPr txBox="1">
            <a:spLocks noChangeArrowheads="1"/>
          </p:cNvSpPr>
          <p:nvPr/>
        </p:nvSpPr>
        <p:spPr bwMode="auto">
          <a:xfrm>
            <a:off x="1828800" y="115956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2</a:t>
            </a:r>
            <a:endParaRPr kumimoji="1" lang="en-US" altLang="zh-CN" sz="1600" b="1" dirty="0">
              <a:latin typeface="Times New Roman" panose="02020603050405020304" pitchFamily="18" charset="0"/>
              <a:ea typeface="华文楷体" panose="02010600040101010101" pitchFamily="2" charset="-122"/>
            </a:endParaRPr>
          </a:p>
        </p:txBody>
      </p:sp>
      <p:sp>
        <p:nvSpPr>
          <p:cNvPr id="26" name="Line 40"/>
          <p:cNvSpPr>
            <a:spLocks noChangeShapeType="1"/>
          </p:cNvSpPr>
          <p:nvPr/>
        </p:nvSpPr>
        <p:spPr bwMode="auto">
          <a:xfrm>
            <a:off x="3200400" y="12675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7" name="Line 41"/>
          <p:cNvSpPr>
            <a:spLocks noChangeShapeType="1"/>
          </p:cNvSpPr>
          <p:nvPr/>
        </p:nvSpPr>
        <p:spPr bwMode="auto">
          <a:xfrm flipV="1">
            <a:off x="3200400" y="12675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8" name="Line 42"/>
          <p:cNvSpPr>
            <a:spLocks noChangeShapeType="1"/>
          </p:cNvSpPr>
          <p:nvPr/>
        </p:nvSpPr>
        <p:spPr bwMode="auto">
          <a:xfrm>
            <a:off x="3200400" y="14961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9" name="Line 43"/>
          <p:cNvSpPr>
            <a:spLocks noChangeShapeType="1"/>
          </p:cNvSpPr>
          <p:nvPr/>
        </p:nvSpPr>
        <p:spPr bwMode="auto">
          <a:xfrm flipV="1">
            <a:off x="3657600" y="12675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0" name="Line 44"/>
          <p:cNvSpPr>
            <a:spLocks noChangeShapeType="1"/>
          </p:cNvSpPr>
          <p:nvPr/>
        </p:nvSpPr>
        <p:spPr bwMode="auto">
          <a:xfrm flipV="1">
            <a:off x="4114800" y="12675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 name="Text Box 45"/>
          <p:cNvSpPr txBox="1">
            <a:spLocks noChangeArrowheads="1"/>
          </p:cNvSpPr>
          <p:nvPr/>
        </p:nvSpPr>
        <p:spPr bwMode="auto">
          <a:xfrm>
            <a:off x="3200400" y="11913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32" name="Text Box 46"/>
          <p:cNvSpPr txBox="1">
            <a:spLocks noChangeArrowheads="1"/>
          </p:cNvSpPr>
          <p:nvPr/>
        </p:nvSpPr>
        <p:spPr bwMode="auto">
          <a:xfrm>
            <a:off x="152400" y="1267519"/>
            <a:ext cx="228600" cy="20145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800" b="1" dirty="0">
                <a:latin typeface="Times New Roman" panose="02020603050405020304" pitchFamily="18" charset="0"/>
                <a:ea typeface="华文楷体" panose="02010600040101010101" pitchFamily="2" charset="-122"/>
              </a:rPr>
              <a:t>1234567</a:t>
            </a:r>
            <a:endParaRPr kumimoji="1" lang="en-US" altLang="zh-CN" sz="1800" b="1" dirty="0">
              <a:latin typeface="Times New Roman" panose="02020603050405020304" pitchFamily="18" charset="0"/>
              <a:ea typeface="华文楷体" panose="02010600040101010101" pitchFamily="2" charset="-122"/>
            </a:endParaRPr>
          </a:p>
        </p:txBody>
      </p:sp>
      <p:sp>
        <p:nvSpPr>
          <p:cNvPr id="33" name="Line 47"/>
          <p:cNvSpPr>
            <a:spLocks noChangeShapeType="1"/>
          </p:cNvSpPr>
          <p:nvPr/>
        </p:nvSpPr>
        <p:spPr bwMode="auto">
          <a:xfrm flipV="1">
            <a:off x="1219200" y="14199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 name="Line 48"/>
          <p:cNvSpPr>
            <a:spLocks noChangeShapeType="1"/>
          </p:cNvSpPr>
          <p:nvPr/>
        </p:nvSpPr>
        <p:spPr bwMode="auto">
          <a:xfrm flipV="1">
            <a:off x="2590800" y="14199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5" name="Text Box 49"/>
          <p:cNvSpPr txBox="1">
            <a:spLocks noChangeArrowheads="1"/>
          </p:cNvSpPr>
          <p:nvPr/>
        </p:nvSpPr>
        <p:spPr bwMode="auto">
          <a:xfrm>
            <a:off x="3733800" y="12675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36" name="Line 50"/>
          <p:cNvSpPr>
            <a:spLocks noChangeShapeType="1"/>
          </p:cNvSpPr>
          <p:nvPr/>
        </p:nvSpPr>
        <p:spPr bwMode="auto">
          <a:xfrm>
            <a:off x="1828800" y="15850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7" name="Line 51"/>
          <p:cNvSpPr>
            <a:spLocks noChangeShapeType="1"/>
          </p:cNvSpPr>
          <p:nvPr/>
        </p:nvSpPr>
        <p:spPr bwMode="auto">
          <a:xfrm flipV="1">
            <a:off x="1828800" y="15850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 name="Line 52"/>
          <p:cNvSpPr>
            <a:spLocks noChangeShapeType="1"/>
          </p:cNvSpPr>
          <p:nvPr/>
        </p:nvSpPr>
        <p:spPr bwMode="auto">
          <a:xfrm>
            <a:off x="1828800" y="18136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 name="Line 53"/>
          <p:cNvSpPr>
            <a:spLocks noChangeShapeType="1"/>
          </p:cNvSpPr>
          <p:nvPr/>
        </p:nvSpPr>
        <p:spPr bwMode="auto">
          <a:xfrm flipV="1">
            <a:off x="2286000" y="15850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 name="Line 54"/>
          <p:cNvSpPr>
            <a:spLocks noChangeShapeType="1"/>
          </p:cNvSpPr>
          <p:nvPr/>
        </p:nvSpPr>
        <p:spPr bwMode="auto">
          <a:xfrm flipV="1">
            <a:off x="2743200" y="15850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 name="Text Box 55"/>
          <p:cNvSpPr txBox="1">
            <a:spLocks noChangeArrowheads="1"/>
          </p:cNvSpPr>
          <p:nvPr/>
        </p:nvSpPr>
        <p:spPr bwMode="auto">
          <a:xfrm>
            <a:off x="1828800" y="15088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42" name="Line 56"/>
          <p:cNvSpPr>
            <a:spLocks noChangeShapeType="1"/>
          </p:cNvSpPr>
          <p:nvPr/>
        </p:nvSpPr>
        <p:spPr bwMode="auto">
          <a:xfrm>
            <a:off x="3200400" y="16167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 name="Line 57"/>
          <p:cNvSpPr>
            <a:spLocks noChangeShapeType="1"/>
          </p:cNvSpPr>
          <p:nvPr/>
        </p:nvSpPr>
        <p:spPr bwMode="auto">
          <a:xfrm flipV="1">
            <a:off x="3200400" y="1616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 name="Line 58"/>
          <p:cNvSpPr>
            <a:spLocks noChangeShapeType="1"/>
          </p:cNvSpPr>
          <p:nvPr/>
        </p:nvSpPr>
        <p:spPr bwMode="auto">
          <a:xfrm>
            <a:off x="3200400" y="18453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5" name="Line 59"/>
          <p:cNvSpPr>
            <a:spLocks noChangeShapeType="1"/>
          </p:cNvSpPr>
          <p:nvPr/>
        </p:nvSpPr>
        <p:spPr bwMode="auto">
          <a:xfrm flipV="1">
            <a:off x="3657600" y="1616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 name="Line 60"/>
          <p:cNvSpPr>
            <a:spLocks noChangeShapeType="1"/>
          </p:cNvSpPr>
          <p:nvPr/>
        </p:nvSpPr>
        <p:spPr bwMode="auto">
          <a:xfrm flipV="1">
            <a:off x="4114800" y="16167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 name="Text Box 61"/>
          <p:cNvSpPr txBox="1">
            <a:spLocks noChangeArrowheads="1"/>
          </p:cNvSpPr>
          <p:nvPr/>
        </p:nvSpPr>
        <p:spPr bwMode="auto">
          <a:xfrm>
            <a:off x="3200400" y="154056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48" name="Line 62"/>
          <p:cNvSpPr>
            <a:spLocks noChangeShapeType="1"/>
          </p:cNvSpPr>
          <p:nvPr/>
        </p:nvSpPr>
        <p:spPr bwMode="auto">
          <a:xfrm flipV="1">
            <a:off x="2590800" y="176916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 name="Line 63"/>
          <p:cNvSpPr>
            <a:spLocks noChangeShapeType="1"/>
          </p:cNvSpPr>
          <p:nvPr/>
        </p:nvSpPr>
        <p:spPr bwMode="auto">
          <a:xfrm>
            <a:off x="1828800" y="18898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0" name="Line 64"/>
          <p:cNvSpPr>
            <a:spLocks noChangeShapeType="1"/>
          </p:cNvSpPr>
          <p:nvPr/>
        </p:nvSpPr>
        <p:spPr bwMode="auto">
          <a:xfrm flipV="1">
            <a:off x="1828800" y="18898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1" name="Line 65"/>
          <p:cNvSpPr>
            <a:spLocks noChangeShapeType="1"/>
          </p:cNvSpPr>
          <p:nvPr/>
        </p:nvSpPr>
        <p:spPr bwMode="auto">
          <a:xfrm>
            <a:off x="1828800" y="21184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2" name="Line 66"/>
          <p:cNvSpPr>
            <a:spLocks noChangeShapeType="1"/>
          </p:cNvSpPr>
          <p:nvPr/>
        </p:nvSpPr>
        <p:spPr bwMode="auto">
          <a:xfrm flipV="1">
            <a:off x="2286000" y="18898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3" name="Line 67"/>
          <p:cNvSpPr>
            <a:spLocks noChangeShapeType="1"/>
          </p:cNvSpPr>
          <p:nvPr/>
        </p:nvSpPr>
        <p:spPr bwMode="auto">
          <a:xfrm flipV="1">
            <a:off x="2743200" y="18898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 name="Text Box 68"/>
          <p:cNvSpPr txBox="1">
            <a:spLocks noChangeArrowheads="1"/>
          </p:cNvSpPr>
          <p:nvPr/>
        </p:nvSpPr>
        <p:spPr bwMode="auto">
          <a:xfrm>
            <a:off x="1828800" y="18136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55" name="Line 69"/>
          <p:cNvSpPr>
            <a:spLocks noChangeShapeType="1"/>
          </p:cNvSpPr>
          <p:nvPr/>
        </p:nvSpPr>
        <p:spPr bwMode="auto">
          <a:xfrm>
            <a:off x="3200400" y="19215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 name="Line 70"/>
          <p:cNvSpPr>
            <a:spLocks noChangeShapeType="1"/>
          </p:cNvSpPr>
          <p:nvPr/>
        </p:nvSpPr>
        <p:spPr bwMode="auto">
          <a:xfrm flipV="1">
            <a:off x="3200400" y="19215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 name="Line 71"/>
          <p:cNvSpPr>
            <a:spLocks noChangeShapeType="1"/>
          </p:cNvSpPr>
          <p:nvPr/>
        </p:nvSpPr>
        <p:spPr bwMode="auto">
          <a:xfrm>
            <a:off x="3200400" y="21501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8" name="Line 72"/>
          <p:cNvSpPr>
            <a:spLocks noChangeShapeType="1"/>
          </p:cNvSpPr>
          <p:nvPr/>
        </p:nvSpPr>
        <p:spPr bwMode="auto">
          <a:xfrm flipV="1">
            <a:off x="3657600" y="19215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 name="Line 73"/>
          <p:cNvSpPr>
            <a:spLocks noChangeShapeType="1"/>
          </p:cNvSpPr>
          <p:nvPr/>
        </p:nvSpPr>
        <p:spPr bwMode="auto">
          <a:xfrm flipV="1">
            <a:off x="4114800" y="19215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0" name="Text Box 74"/>
          <p:cNvSpPr txBox="1">
            <a:spLocks noChangeArrowheads="1"/>
          </p:cNvSpPr>
          <p:nvPr/>
        </p:nvSpPr>
        <p:spPr bwMode="auto">
          <a:xfrm>
            <a:off x="3200400" y="184536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61" name="Line 75"/>
          <p:cNvSpPr>
            <a:spLocks noChangeShapeType="1"/>
          </p:cNvSpPr>
          <p:nvPr/>
        </p:nvSpPr>
        <p:spPr bwMode="auto">
          <a:xfrm flipV="1">
            <a:off x="2590800" y="207396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2" name="Line 76"/>
          <p:cNvSpPr>
            <a:spLocks noChangeShapeType="1"/>
          </p:cNvSpPr>
          <p:nvPr/>
        </p:nvSpPr>
        <p:spPr bwMode="auto">
          <a:xfrm>
            <a:off x="4648200" y="16469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3" name="Line 77"/>
          <p:cNvSpPr>
            <a:spLocks noChangeShapeType="1"/>
          </p:cNvSpPr>
          <p:nvPr/>
        </p:nvSpPr>
        <p:spPr bwMode="auto">
          <a:xfrm flipV="1">
            <a:off x="4648200" y="1646932"/>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 name="Line 78"/>
          <p:cNvSpPr>
            <a:spLocks noChangeShapeType="1"/>
          </p:cNvSpPr>
          <p:nvPr/>
        </p:nvSpPr>
        <p:spPr bwMode="auto">
          <a:xfrm>
            <a:off x="4648200" y="18755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5" name="Line 79"/>
          <p:cNvSpPr>
            <a:spLocks noChangeShapeType="1"/>
          </p:cNvSpPr>
          <p:nvPr/>
        </p:nvSpPr>
        <p:spPr bwMode="auto">
          <a:xfrm flipV="1">
            <a:off x="5105400" y="1646932"/>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6" name="Line 80"/>
          <p:cNvSpPr>
            <a:spLocks noChangeShapeType="1"/>
          </p:cNvSpPr>
          <p:nvPr/>
        </p:nvSpPr>
        <p:spPr bwMode="auto">
          <a:xfrm flipV="1">
            <a:off x="5562600" y="1646932"/>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 name="Line 81"/>
          <p:cNvSpPr>
            <a:spLocks noChangeShapeType="1"/>
          </p:cNvSpPr>
          <p:nvPr/>
        </p:nvSpPr>
        <p:spPr bwMode="auto">
          <a:xfrm>
            <a:off x="533400" y="18009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8" name="Line 82"/>
          <p:cNvSpPr>
            <a:spLocks noChangeShapeType="1"/>
          </p:cNvSpPr>
          <p:nvPr/>
        </p:nvSpPr>
        <p:spPr bwMode="auto">
          <a:xfrm flipV="1">
            <a:off x="533400" y="180091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9" name="Line 83"/>
          <p:cNvSpPr>
            <a:spLocks noChangeShapeType="1"/>
          </p:cNvSpPr>
          <p:nvPr/>
        </p:nvSpPr>
        <p:spPr bwMode="auto">
          <a:xfrm>
            <a:off x="533400" y="21057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 name="Line 84"/>
          <p:cNvSpPr>
            <a:spLocks noChangeShapeType="1"/>
          </p:cNvSpPr>
          <p:nvPr/>
        </p:nvSpPr>
        <p:spPr bwMode="auto">
          <a:xfrm flipV="1">
            <a:off x="990600" y="180091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1" name="Line 85"/>
          <p:cNvSpPr>
            <a:spLocks noChangeShapeType="1"/>
          </p:cNvSpPr>
          <p:nvPr/>
        </p:nvSpPr>
        <p:spPr bwMode="auto">
          <a:xfrm flipV="1">
            <a:off x="1447800" y="1800919"/>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2" name="Line 86"/>
          <p:cNvSpPr>
            <a:spLocks noChangeShapeType="1"/>
          </p:cNvSpPr>
          <p:nvPr/>
        </p:nvSpPr>
        <p:spPr bwMode="auto">
          <a:xfrm>
            <a:off x="533400" y="21041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3" name="Line 87"/>
          <p:cNvSpPr>
            <a:spLocks noChangeShapeType="1"/>
          </p:cNvSpPr>
          <p:nvPr/>
        </p:nvSpPr>
        <p:spPr bwMode="auto">
          <a:xfrm flipV="1">
            <a:off x="533400" y="21041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 name="Line 88"/>
          <p:cNvSpPr>
            <a:spLocks noChangeShapeType="1"/>
          </p:cNvSpPr>
          <p:nvPr/>
        </p:nvSpPr>
        <p:spPr bwMode="auto">
          <a:xfrm>
            <a:off x="533400" y="24089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 name="Line 89"/>
          <p:cNvSpPr>
            <a:spLocks noChangeShapeType="1"/>
          </p:cNvSpPr>
          <p:nvPr/>
        </p:nvSpPr>
        <p:spPr bwMode="auto">
          <a:xfrm flipV="1">
            <a:off x="990600" y="21041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 name="Line 90"/>
          <p:cNvSpPr>
            <a:spLocks noChangeShapeType="1"/>
          </p:cNvSpPr>
          <p:nvPr/>
        </p:nvSpPr>
        <p:spPr bwMode="auto">
          <a:xfrm flipV="1">
            <a:off x="1447800" y="21041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 name="Line 91"/>
          <p:cNvSpPr>
            <a:spLocks noChangeShapeType="1"/>
          </p:cNvSpPr>
          <p:nvPr/>
        </p:nvSpPr>
        <p:spPr bwMode="auto">
          <a:xfrm>
            <a:off x="533400" y="24089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 name="Line 92"/>
          <p:cNvSpPr>
            <a:spLocks noChangeShapeType="1"/>
          </p:cNvSpPr>
          <p:nvPr/>
        </p:nvSpPr>
        <p:spPr bwMode="auto">
          <a:xfrm flipV="1">
            <a:off x="533400" y="24089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9" name="Line 93"/>
          <p:cNvSpPr>
            <a:spLocks noChangeShapeType="1"/>
          </p:cNvSpPr>
          <p:nvPr/>
        </p:nvSpPr>
        <p:spPr bwMode="auto">
          <a:xfrm>
            <a:off x="533400" y="27137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 name="Line 94"/>
          <p:cNvSpPr>
            <a:spLocks noChangeShapeType="1"/>
          </p:cNvSpPr>
          <p:nvPr/>
        </p:nvSpPr>
        <p:spPr bwMode="auto">
          <a:xfrm flipV="1">
            <a:off x="990600" y="24089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 name="Line 95"/>
          <p:cNvSpPr>
            <a:spLocks noChangeShapeType="1"/>
          </p:cNvSpPr>
          <p:nvPr/>
        </p:nvSpPr>
        <p:spPr bwMode="auto">
          <a:xfrm flipV="1">
            <a:off x="1447800" y="24089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 name="Text Box 96"/>
          <p:cNvSpPr txBox="1">
            <a:spLocks noChangeArrowheads="1"/>
          </p:cNvSpPr>
          <p:nvPr/>
        </p:nvSpPr>
        <p:spPr bwMode="auto">
          <a:xfrm>
            <a:off x="457200" y="1800919"/>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3</a:t>
            </a:r>
            <a:endParaRPr kumimoji="1" lang="en-US" altLang="zh-CN" sz="1600" b="1" dirty="0">
              <a:latin typeface="Times New Roman" panose="02020603050405020304" pitchFamily="18" charset="0"/>
              <a:ea typeface="华文楷体" panose="02010600040101010101" pitchFamily="2" charset="-122"/>
            </a:endParaRPr>
          </a:p>
        </p:txBody>
      </p:sp>
      <p:sp>
        <p:nvSpPr>
          <p:cNvPr id="83" name="Text Box 97"/>
          <p:cNvSpPr txBox="1">
            <a:spLocks noChangeArrowheads="1"/>
          </p:cNvSpPr>
          <p:nvPr/>
        </p:nvSpPr>
        <p:spPr bwMode="auto">
          <a:xfrm>
            <a:off x="457200" y="2105719"/>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4</a:t>
            </a:r>
            <a:endParaRPr kumimoji="1" lang="en-US" altLang="zh-CN" sz="1600" b="1" dirty="0">
              <a:latin typeface="Times New Roman" panose="02020603050405020304" pitchFamily="18" charset="0"/>
              <a:ea typeface="华文楷体" panose="02010600040101010101" pitchFamily="2" charset="-122"/>
            </a:endParaRPr>
          </a:p>
        </p:txBody>
      </p:sp>
      <p:sp>
        <p:nvSpPr>
          <p:cNvPr id="84" name="Text Box 98"/>
          <p:cNvSpPr txBox="1">
            <a:spLocks noChangeArrowheads="1"/>
          </p:cNvSpPr>
          <p:nvPr/>
        </p:nvSpPr>
        <p:spPr bwMode="auto">
          <a:xfrm>
            <a:off x="457200" y="2378769"/>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5</a:t>
            </a:r>
            <a:endParaRPr kumimoji="1" lang="en-US" altLang="zh-CN" sz="1600" b="1" dirty="0">
              <a:latin typeface="Times New Roman" panose="02020603050405020304" pitchFamily="18" charset="0"/>
              <a:ea typeface="华文楷体" panose="02010600040101010101" pitchFamily="2" charset="-122"/>
            </a:endParaRPr>
          </a:p>
        </p:txBody>
      </p:sp>
      <p:sp>
        <p:nvSpPr>
          <p:cNvPr id="85" name="Line 99"/>
          <p:cNvSpPr>
            <a:spLocks noChangeShapeType="1"/>
          </p:cNvSpPr>
          <p:nvPr/>
        </p:nvSpPr>
        <p:spPr bwMode="auto">
          <a:xfrm flipV="1">
            <a:off x="1219200" y="26391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6" name="Line 100"/>
          <p:cNvSpPr>
            <a:spLocks noChangeShapeType="1"/>
          </p:cNvSpPr>
          <p:nvPr/>
        </p:nvSpPr>
        <p:spPr bwMode="auto">
          <a:xfrm flipV="1">
            <a:off x="1219200" y="19533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 name="Line 101"/>
          <p:cNvSpPr>
            <a:spLocks noChangeShapeType="1"/>
          </p:cNvSpPr>
          <p:nvPr/>
        </p:nvSpPr>
        <p:spPr bwMode="auto">
          <a:xfrm flipV="1">
            <a:off x="1219200" y="16485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8" name="Line 102"/>
          <p:cNvSpPr>
            <a:spLocks noChangeShapeType="1"/>
          </p:cNvSpPr>
          <p:nvPr/>
        </p:nvSpPr>
        <p:spPr bwMode="auto">
          <a:xfrm flipV="1">
            <a:off x="4038600" y="17247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9" name="Text Box 103"/>
          <p:cNvSpPr txBox="1">
            <a:spLocks noChangeArrowheads="1"/>
          </p:cNvSpPr>
          <p:nvPr/>
        </p:nvSpPr>
        <p:spPr bwMode="auto">
          <a:xfrm>
            <a:off x="4648200" y="15723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90" name="Text Box 104"/>
          <p:cNvSpPr txBox="1">
            <a:spLocks noChangeArrowheads="1"/>
          </p:cNvSpPr>
          <p:nvPr/>
        </p:nvSpPr>
        <p:spPr bwMode="auto">
          <a:xfrm>
            <a:off x="5181600" y="16485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91" name="Text Box 105"/>
          <p:cNvSpPr txBox="1">
            <a:spLocks noChangeArrowheads="1"/>
          </p:cNvSpPr>
          <p:nvPr/>
        </p:nvSpPr>
        <p:spPr bwMode="auto">
          <a:xfrm>
            <a:off x="3733800" y="19533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92" name="Text Box 106"/>
          <p:cNvSpPr txBox="1">
            <a:spLocks noChangeArrowheads="1"/>
          </p:cNvSpPr>
          <p:nvPr/>
        </p:nvSpPr>
        <p:spPr bwMode="auto">
          <a:xfrm>
            <a:off x="2362200" y="24867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93" name="Line 107"/>
          <p:cNvSpPr>
            <a:spLocks noChangeShapeType="1"/>
          </p:cNvSpPr>
          <p:nvPr/>
        </p:nvSpPr>
        <p:spPr bwMode="auto">
          <a:xfrm>
            <a:off x="533400" y="27153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 name="Line 108"/>
          <p:cNvSpPr>
            <a:spLocks noChangeShapeType="1"/>
          </p:cNvSpPr>
          <p:nvPr/>
        </p:nvSpPr>
        <p:spPr bwMode="auto">
          <a:xfrm>
            <a:off x="533400" y="27137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5" name="Line 109"/>
          <p:cNvSpPr>
            <a:spLocks noChangeShapeType="1"/>
          </p:cNvSpPr>
          <p:nvPr/>
        </p:nvSpPr>
        <p:spPr bwMode="auto">
          <a:xfrm flipV="1">
            <a:off x="533400" y="27137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6" name="Line 110"/>
          <p:cNvSpPr>
            <a:spLocks noChangeShapeType="1"/>
          </p:cNvSpPr>
          <p:nvPr/>
        </p:nvSpPr>
        <p:spPr bwMode="auto">
          <a:xfrm>
            <a:off x="533400" y="30185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7" name="Line 111"/>
          <p:cNvSpPr>
            <a:spLocks noChangeShapeType="1"/>
          </p:cNvSpPr>
          <p:nvPr/>
        </p:nvSpPr>
        <p:spPr bwMode="auto">
          <a:xfrm flipV="1">
            <a:off x="990600" y="27137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8" name="Line 112"/>
          <p:cNvSpPr>
            <a:spLocks noChangeShapeType="1"/>
          </p:cNvSpPr>
          <p:nvPr/>
        </p:nvSpPr>
        <p:spPr bwMode="auto">
          <a:xfrm flipV="1">
            <a:off x="1447800" y="27137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9" name="Line 113"/>
          <p:cNvSpPr>
            <a:spLocks noChangeShapeType="1"/>
          </p:cNvSpPr>
          <p:nvPr/>
        </p:nvSpPr>
        <p:spPr bwMode="auto">
          <a:xfrm>
            <a:off x="533400" y="30185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0" name="Line 114"/>
          <p:cNvSpPr>
            <a:spLocks noChangeShapeType="1"/>
          </p:cNvSpPr>
          <p:nvPr/>
        </p:nvSpPr>
        <p:spPr bwMode="auto">
          <a:xfrm flipV="1">
            <a:off x="533400" y="30185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1" name="Line 115"/>
          <p:cNvSpPr>
            <a:spLocks noChangeShapeType="1"/>
          </p:cNvSpPr>
          <p:nvPr/>
        </p:nvSpPr>
        <p:spPr bwMode="auto">
          <a:xfrm>
            <a:off x="533400" y="3323332"/>
            <a:ext cx="914400" cy="15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 name="Line 116"/>
          <p:cNvSpPr>
            <a:spLocks noChangeShapeType="1"/>
          </p:cNvSpPr>
          <p:nvPr/>
        </p:nvSpPr>
        <p:spPr bwMode="auto">
          <a:xfrm flipV="1">
            <a:off x="990600" y="30185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 name="Line 117"/>
          <p:cNvSpPr>
            <a:spLocks noChangeShapeType="1"/>
          </p:cNvSpPr>
          <p:nvPr/>
        </p:nvSpPr>
        <p:spPr bwMode="auto">
          <a:xfrm flipV="1">
            <a:off x="1447800" y="3018532"/>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4" name="Text Box 118"/>
          <p:cNvSpPr txBox="1">
            <a:spLocks noChangeArrowheads="1"/>
          </p:cNvSpPr>
          <p:nvPr/>
        </p:nvSpPr>
        <p:spPr bwMode="auto">
          <a:xfrm>
            <a:off x="457200" y="2715319"/>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6</a:t>
            </a:r>
            <a:endParaRPr kumimoji="1" lang="en-US" altLang="zh-CN" sz="1600" b="1" dirty="0">
              <a:latin typeface="Times New Roman" panose="02020603050405020304" pitchFamily="18" charset="0"/>
              <a:ea typeface="华文楷体" panose="02010600040101010101" pitchFamily="2" charset="-122"/>
            </a:endParaRPr>
          </a:p>
        </p:txBody>
      </p:sp>
      <p:sp>
        <p:nvSpPr>
          <p:cNvPr id="105" name="Text Box 119"/>
          <p:cNvSpPr txBox="1">
            <a:spLocks noChangeArrowheads="1"/>
          </p:cNvSpPr>
          <p:nvPr/>
        </p:nvSpPr>
        <p:spPr bwMode="auto">
          <a:xfrm>
            <a:off x="457200" y="2988369"/>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106" name="Line 120"/>
          <p:cNvSpPr>
            <a:spLocks noChangeShapeType="1"/>
          </p:cNvSpPr>
          <p:nvPr/>
        </p:nvSpPr>
        <p:spPr bwMode="auto">
          <a:xfrm flipV="1">
            <a:off x="1219200" y="2943919"/>
            <a:ext cx="6096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7" name="Line 121"/>
          <p:cNvSpPr>
            <a:spLocks noChangeShapeType="1"/>
          </p:cNvSpPr>
          <p:nvPr/>
        </p:nvSpPr>
        <p:spPr bwMode="auto">
          <a:xfrm>
            <a:off x="1828800" y="24994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8" name="Line 122"/>
          <p:cNvSpPr>
            <a:spLocks noChangeShapeType="1"/>
          </p:cNvSpPr>
          <p:nvPr/>
        </p:nvSpPr>
        <p:spPr bwMode="auto">
          <a:xfrm flipV="1">
            <a:off x="1828800" y="24994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9" name="Line 123"/>
          <p:cNvSpPr>
            <a:spLocks noChangeShapeType="1"/>
          </p:cNvSpPr>
          <p:nvPr/>
        </p:nvSpPr>
        <p:spPr bwMode="auto">
          <a:xfrm>
            <a:off x="1828800" y="272801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0" name="Line 124"/>
          <p:cNvSpPr>
            <a:spLocks noChangeShapeType="1"/>
          </p:cNvSpPr>
          <p:nvPr/>
        </p:nvSpPr>
        <p:spPr bwMode="auto">
          <a:xfrm flipV="1">
            <a:off x="2286000" y="24994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1" name="Text Box 125"/>
          <p:cNvSpPr txBox="1">
            <a:spLocks noChangeArrowheads="1"/>
          </p:cNvSpPr>
          <p:nvPr/>
        </p:nvSpPr>
        <p:spPr bwMode="auto">
          <a:xfrm>
            <a:off x="1828800" y="242321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112" name="Line 126"/>
          <p:cNvSpPr>
            <a:spLocks noChangeShapeType="1"/>
          </p:cNvSpPr>
          <p:nvPr/>
        </p:nvSpPr>
        <p:spPr bwMode="auto">
          <a:xfrm>
            <a:off x="1828800" y="28359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3" name="Line 127"/>
          <p:cNvSpPr>
            <a:spLocks noChangeShapeType="1"/>
          </p:cNvSpPr>
          <p:nvPr/>
        </p:nvSpPr>
        <p:spPr bwMode="auto">
          <a:xfrm>
            <a:off x="1828800" y="3064569"/>
            <a:ext cx="9144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4" name="Line 128"/>
          <p:cNvSpPr>
            <a:spLocks noChangeShapeType="1"/>
          </p:cNvSpPr>
          <p:nvPr/>
        </p:nvSpPr>
        <p:spPr bwMode="auto">
          <a:xfrm flipV="1">
            <a:off x="2286000" y="28359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5" name="Line 129"/>
          <p:cNvSpPr>
            <a:spLocks noChangeShapeType="1"/>
          </p:cNvSpPr>
          <p:nvPr/>
        </p:nvSpPr>
        <p:spPr bwMode="auto">
          <a:xfrm flipV="1">
            <a:off x="2743200" y="283596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16" name="Text Box 130"/>
          <p:cNvSpPr txBox="1">
            <a:spLocks noChangeArrowheads="1"/>
          </p:cNvSpPr>
          <p:nvPr/>
        </p:nvSpPr>
        <p:spPr bwMode="auto">
          <a:xfrm>
            <a:off x="1828800" y="2759769"/>
            <a:ext cx="381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Times New Roman" panose="02020603050405020304" pitchFamily="18" charset="0"/>
                <a:ea typeface="华文楷体" panose="02010600040101010101" pitchFamily="2" charset="-122"/>
              </a:rPr>
              <a:t>7</a:t>
            </a:r>
            <a:endParaRPr kumimoji="1" lang="en-US" altLang="zh-CN" sz="1600" b="1" dirty="0">
              <a:latin typeface="Times New Roman" panose="02020603050405020304" pitchFamily="18" charset="0"/>
              <a:ea typeface="华文楷体" panose="02010600040101010101" pitchFamily="2" charset="-122"/>
            </a:endParaRPr>
          </a:p>
        </p:txBody>
      </p:sp>
      <p:sp>
        <p:nvSpPr>
          <p:cNvPr id="117" name="Text Box 131"/>
          <p:cNvSpPr txBox="1">
            <a:spLocks noChangeArrowheads="1"/>
          </p:cNvSpPr>
          <p:nvPr/>
        </p:nvSpPr>
        <p:spPr bwMode="auto">
          <a:xfrm>
            <a:off x="3886200" y="16485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18" name="Text Box 132"/>
          <p:cNvSpPr txBox="1">
            <a:spLocks noChangeArrowheads="1"/>
          </p:cNvSpPr>
          <p:nvPr/>
        </p:nvSpPr>
        <p:spPr bwMode="auto">
          <a:xfrm>
            <a:off x="2286000" y="28677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19" name="Text Box 133"/>
          <p:cNvSpPr txBox="1">
            <a:spLocks noChangeArrowheads="1"/>
          </p:cNvSpPr>
          <p:nvPr/>
        </p:nvSpPr>
        <p:spPr bwMode="auto">
          <a:xfrm>
            <a:off x="1066800" y="21057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20" name="Text Box 134"/>
          <p:cNvSpPr txBox="1">
            <a:spLocks noChangeArrowheads="1"/>
          </p:cNvSpPr>
          <p:nvPr/>
        </p:nvSpPr>
        <p:spPr bwMode="auto">
          <a:xfrm>
            <a:off x="990600" y="3020119"/>
            <a:ext cx="685800" cy="2143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800" b="1" dirty="0">
                <a:latin typeface="Times New Roman" panose="02020603050405020304" pitchFamily="18" charset="0"/>
                <a:ea typeface="华文楷体" panose="02010600040101010101" pitchFamily="2" charset="-122"/>
              </a:rPr>
              <a:t>null</a:t>
            </a:r>
            <a:endParaRPr kumimoji="1" lang="en-US" altLang="zh-CN" sz="1600" b="1" dirty="0">
              <a:latin typeface="Times New Roman" panose="02020603050405020304" pitchFamily="18" charset="0"/>
              <a:ea typeface="华文楷体" panose="02010600040101010101" pitchFamily="2" charset="-122"/>
            </a:endParaRPr>
          </a:p>
        </p:txBody>
      </p:sp>
      <p:sp>
        <p:nvSpPr>
          <p:cNvPr id="121" name="Line 135"/>
          <p:cNvSpPr>
            <a:spLocks noChangeShapeType="1"/>
          </p:cNvSpPr>
          <p:nvPr/>
        </p:nvSpPr>
        <p:spPr bwMode="auto">
          <a:xfrm flipV="1">
            <a:off x="2743200" y="24867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2" name="Line 136"/>
          <p:cNvSpPr>
            <a:spLocks noChangeShapeType="1"/>
          </p:cNvSpPr>
          <p:nvPr/>
        </p:nvSpPr>
        <p:spPr bwMode="auto">
          <a:xfrm flipV="1">
            <a:off x="1828800" y="2867719"/>
            <a:ext cx="0" cy="228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cxnSp>
        <p:nvCxnSpPr>
          <p:cNvPr id="124" name="直接连接符 123"/>
          <p:cNvCxnSpPr/>
          <p:nvPr/>
        </p:nvCxnSpPr>
        <p:spPr>
          <a:xfrm>
            <a:off x="5649896" y="1066800"/>
            <a:ext cx="0" cy="2362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6" name="直接连接符 125"/>
          <p:cNvCxnSpPr/>
          <p:nvPr/>
        </p:nvCxnSpPr>
        <p:spPr>
          <a:xfrm>
            <a:off x="76200" y="34290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29" name="图片 128"/>
          <p:cNvPicPr>
            <a:picLocks noChangeAspect="1"/>
          </p:cNvPicPr>
          <p:nvPr/>
        </p:nvPicPr>
        <p:blipFill>
          <a:blip r:embed="rId2"/>
          <a:stretch>
            <a:fillRect/>
          </a:stretch>
        </p:blipFill>
        <p:spPr>
          <a:xfrm>
            <a:off x="7482071" y="1101434"/>
            <a:ext cx="1533827" cy="2221898"/>
          </a:xfrm>
          <a:prstGeom prst="rect">
            <a:avLst/>
          </a:prstGeom>
        </p:spPr>
      </p:pic>
      <p:cxnSp>
        <p:nvCxnSpPr>
          <p:cNvPr id="130" name="直接连接符 129"/>
          <p:cNvCxnSpPr/>
          <p:nvPr/>
        </p:nvCxnSpPr>
        <p:spPr>
          <a:xfrm>
            <a:off x="7391400" y="1101434"/>
            <a:ext cx="0" cy="2362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2" name="直接连接符 131"/>
          <p:cNvCxnSpPr/>
          <p:nvPr/>
        </p:nvCxnSpPr>
        <p:spPr>
          <a:xfrm flipH="1">
            <a:off x="1585905" y="3458593"/>
            <a:ext cx="5178" cy="339436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4" name="图片 133"/>
          <p:cNvPicPr>
            <a:picLocks noChangeAspect="1"/>
          </p:cNvPicPr>
          <p:nvPr/>
        </p:nvPicPr>
        <p:blipFill>
          <a:blip r:embed="rId3"/>
          <a:stretch>
            <a:fillRect/>
          </a:stretch>
        </p:blipFill>
        <p:spPr>
          <a:xfrm>
            <a:off x="14288" y="3585770"/>
            <a:ext cx="1505333" cy="2180623"/>
          </a:xfrm>
          <a:prstGeom prst="rect">
            <a:avLst/>
          </a:prstGeom>
        </p:spPr>
      </p:pic>
      <p:pic>
        <p:nvPicPr>
          <p:cNvPr id="135" name="图片 134"/>
          <p:cNvPicPr>
            <a:picLocks noChangeAspect="1"/>
          </p:cNvPicPr>
          <p:nvPr/>
        </p:nvPicPr>
        <p:blipFill>
          <a:blip r:embed="rId4"/>
          <a:stretch>
            <a:fillRect/>
          </a:stretch>
        </p:blipFill>
        <p:spPr>
          <a:xfrm>
            <a:off x="1636506" y="3623569"/>
            <a:ext cx="1551454" cy="2247433"/>
          </a:xfrm>
          <a:prstGeom prst="rect">
            <a:avLst/>
          </a:prstGeom>
        </p:spPr>
      </p:pic>
      <p:cxnSp>
        <p:nvCxnSpPr>
          <p:cNvPr id="136" name="直接连接符 135"/>
          <p:cNvCxnSpPr/>
          <p:nvPr/>
        </p:nvCxnSpPr>
        <p:spPr>
          <a:xfrm flipH="1">
            <a:off x="3243911" y="3443287"/>
            <a:ext cx="5178" cy="339436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7" name="图片 136"/>
          <p:cNvPicPr>
            <a:picLocks noChangeAspect="1"/>
          </p:cNvPicPr>
          <p:nvPr/>
        </p:nvPicPr>
        <p:blipFill>
          <a:blip r:embed="rId5"/>
          <a:stretch>
            <a:fillRect/>
          </a:stretch>
        </p:blipFill>
        <p:spPr>
          <a:xfrm>
            <a:off x="3233383" y="3691820"/>
            <a:ext cx="1504339" cy="2179182"/>
          </a:xfrm>
          <a:prstGeom prst="rect">
            <a:avLst/>
          </a:prstGeom>
        </p:spPr>
      </p:pic>
      <p:cxnSp>
        <p:nvCxnSpPr>
          <p:cNvPr id="138" name="直接连接符 137"/>
          <p:cNvCxnSpPr/>
          <p:nvPr/>
        </p:nvCxnSpPr>
        <p:spPr>
          <a:xfrm flipH="1">
            <a:off x="4830055" y="3458593"/>
            <a:ext cx="5178" cy="339436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9" name="图片 138"/>
          <p:cNvPicPr>
            <a:picLocks noChangeAspect="1"/>
          </p:cNvPicPr>
          <p:nvPr/>
        </p:nvPicPr>
        <p:blipFill>
          <a:blip r:embed="rId6"/>
          <a:stretch>
            <a:fillRect/>
          </a:stretch>
        </p:blipFill>
        <p:spPr>
          <a:xfrm>
            <a:off x="4819697" y="3666284"/>
            <a:ext cx="1479649" cy="2143417"/>
          </a:xfrm>
          <a:prstGeom prst="rect">
            <a:avLst/>
          </a:prstGeom>
        </p:spPr>
      </p:pic>
      <p:cxnSp>
        <p:nvCxnSpPr>
          <p:cNvPr id="140" name="直接连接符 139"/>
          <p:cNvCxnSpPr/>
          <p:nvPr/>
        </p:nvCxnSpPr>
        <p:spPr>
          <a:xfrm flipH="1">
            <a:off x="6411021" y="3432096"/>
            <a:ext cx="5178" cy="339436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5" name="直接连接符 144"/>
          <p:cNvCxnSpPr/>
          <p:nvPr/>
        </p:nvCxnSpPr>
        <p:spPr>
          <a:xfrm>
            <a:off x="6411021" y="5257800"/>
            <a:ext cx="10710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7482071" y="4747285"/>
            <a:ext cx="0" cy="510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7482071" y="4737992"/>
            <a:ext cx="1661929" cy="0"/>
          </a:xfrm>
          <a:prstGeom prst="line">
            <a:avLst/>
          </a:prstGeom>
        </p:spPr>
        <p:style>
          <a:lnRef idx="1">
            <a:schemeClr val="accent1"/>
          </a:lnRef>
          <a:fillRef idx="0">
            <a:schemeClr val="accent1"/>
          </a:fillRef>
          <a:effectRef idx="0">
            <a:schemeClr val="accent1"/>
          </a:effectRef>
          <a:fontRef idx="minor">
            <a:schemeClr val="tx1"/>
          </a:fontRef>
        </p:style>
      </p:cxnSp>
      <p:pic>
        <p:nvPicPr>
          <p:cNvPr id="150" name="图片 149"/>
          <p:cNvPicPr>
            <a:picLocks noChangeAspect="1"/>
          </p:cNvPicPr>
          <p:nvPr/>
        </p:nvPicPr>
        <p:blipFill>
          <a:blip r:embed="rId7"/>
          <a:stretch>
            <a:fillRect/>
          </a:stretch>
        </p:blipFill>
        <p:spPr>
          <a:xfrm>
            <a:off x="6350147" y="3293819"/>
            <a:ext cx="1253309" cy="1815541"/>
          </a:xfrm>
          <a:prstGeom prst="rect">
            <a:avLst/>
          </a:prstGeom>
        </p:spPr>
      </p:pic>
      <p:pic>
        <p:nvPicPr>
          <p:cNvPr id="151" name="图片 150"/>
          <p:cNvPicPr>
            <a:picLocks noChangeAspect="1"/>
          </p:cNvPicPr>
          <p:nvPr/>
        </p:nvPicPr>
        <p:blipFill>
          <a:blip r:embed="rId8"/>
          <a:stretch>
            <a:fillRect/>
          </a:stretch>
        </p:blipFill>
        <p:spPr>
          <a:xfrm>
            <a:off x="7537185" y="4711793"/>
            <a:ext cx="1319799" cy="1911858"/>
          </a:xfrm>
          <a:prstGeom prst="rect">
            <a:avLst/>
          </a:prstGeom>
        </p:spPr>
      </p:pic>
      <p:sp>
        <p:nvSpPr>
          <p:cNvPr id="152" name="文本框 151"/>
          <p:cNvSpPr txBox="1"/>
          <p:nvPr/>
        </p:nvSpPr>
        <p:spPr>
          <a:xfrm>
            <a:off x="8432654" y="2988369"/>
            <a:ext cx="312906"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53" name="文本框 152"/>
          <p:cNvSpPr txBox="1"/>
          <p:nvPr/>
        </p:nvSpPr>
        <p:spPr>
          <a:xfrm>
            <a:off x="454048" y="5947971"/>
            <a:ext cx="505267" cy="369332"/>
          </a:xfrm>
          <a:prstGeom prst="rect">
            <a:avLst/>
          </a:prstGeom>
          <a:noFill/>
        </p:spPr>
        <p:txBody>
          <a:bodyPr wrap="none" rtlCol="0">
            <a:spAutoFit/>
          </a:bodyPr>
          <a:lstStyle/>
          <a:p>
            <a:r>
              <a:rPr lang="en-US" altLang="zh-CN" b="1" dirty="0" smtClean="0">
                <a:solidFill>
                  <a:srgbClr val="FF0000"/>
                </a:solidFill>
              </a:rPr>
              <a:t>1</a:t>
            </a:r>
            <a:r>
              <a:rPr lang="en-US" altLang="zh-CN" b="1" dirty="0">
                <a:solidFill>
                  <a:srgbClr val="FF0000"/>
                </a:solidFill>
              </a:rPr>
              <a:t>,</a:t>
            </a:r>
            <a:r>
              <a:rPr lang="en-US" altLang="zh-CN" b="1" dirty="0" smtClean="0">
                <a:solidFill>
                  <a:srgbClr val="FF0000"/>
                </a:solidFill>
              </a:rPr>
              <a:t>3</a:t>
            </a:r>
            <a:endParaRPr lang="zh-CN" altLang="en-US" b="1" dirty="0">
              <a:solidFill>
                <a:srgbClr val="FF0000"/>
              </a:solidFill>
            </a:endParaRPr>
          </a:p>
        </p:txBody>
      </p:sp>
      <p:sp>
        <p:nvSpPr>
          <p:cNvPr id="154" name="文本框 153"/>
          <p:cNvSpPr txBox="1"/>
          <p:nvPr/>
        </p:nvSpPr>
        <p:spPr>
          <a:xfrm>
            <a:off x="1922230" y="5953042"/>
            <a:ext cx="697627" cy="369332"/>
          </a:xfrm>
          <a:prstGeom prst="rect">
            <a:avLst/>
          </a:prstGeom>
          <a:noFill/>
        </p:spPr>
        <p:txBody>
          <a:bodyPr wrap="none" rtlCol="0">
            <a:spAutoFit/>
          </a:bodyPr>
          <a:lstStyle/>
          <a:p>
            <a:r>
              <a:rPr lang="en-US" altLang="zh-CN" b="1" dirty="0" smtClean="0">
                <a:solidFill>
                  <a:srgbClr val="FF0000"/>
                </a:solidFill>
              </a:rPr>
              <a:t>1,3,2</a:t>
            </a:r>
            <a:endParaRPr lang="zh-CN" altLang="en-US" b="1" dirty="0">
              <a:solidFill>
                <a:srgbClr val="FF0000"/>
              </a:solidFill>
            </a:endParaRPr>
          </a:p>
        </p:txBody>
      </p:sp>
      <p:sp>
        <p:nvSpPr>
          <p:cNvPr id="155" name="文本框 154"/>
          <p:cNvSpPr txBox="1"/>
          <p:nvPr/>
        </p:nvSpPr>
        <p:spPr>
          <a:xfrm>
            <a:off x="3433211" y="5987245"/>
            <a:ext cx="889987" cy="369332"/>
          </a:xfrm>
          <a:prstGeom prst="rect">
            <a:avLst/>
          </a:prstGeom>
          <a:noFill/>
        </p:spPr>
        <p:txBody>
          <a:bodyPr wrap="none" rtlCol="0">
            <a:spAutoFit/>
          </a:bodyPr>
          <a:lstStyle/>
          <a:p>
            <a:r>
              <a:rPr lang="en-US" altLang="zh-CN" b="1" dirty="0" smtClean="0">
                <a:solidFill>
                  <a:srgbClr val="FF0000"/>
                </a:solidFill>
              </a:rPr>
              <a:t>1,3,2,6</a:t>
            </a:r>
            <a:endParaRPr lang="zh-CN" altLang="en-US" b="1" dirty="0">
              <a:solidFill>
                <a:srgbClr val="FF0000"/>
              </a:solidFill>
            </a:endParaRPr>
          </a:p>
        </p:txBody>
      </p:sp>
      <p:sp>
        <p:nvSpPr>
          <p:cNvPr id="156" name="文本框 155"/>
          <p:cNvSpPr txBox="1"/>
          <p:nvPr/>
        </p:nvSpPr>
        <p:spPr>
          <a:xfrm>
            <a:off x="4930606" y="5981398"/>
            <a:ext cx="1082348" cy="369332"/>
          </a:xfrm>
          <a:prstGeom prst="rect">
            <a:avLst/>
          </a:prstGeom>
          <a:noFill/>
        </p:spPr>
        <p:txBody>
          <a:bodyPr wrap="none" rtlCol="0">
            <a:spAutoFit/>
          </a:bodyPr>
          <a:lstStyle/>
          <a:p>
            <a:r>
              <a:rPr lang="en-US" altLang="zh-CN" b="1" dirty="0" smtClean="0">
                <a:solidFill>
                  <a:srgbClr val="FF0000"/>
                </a:solidFill>
              </a:rPr>
              <a:t>1,3,2,6,5</a:t>
            </a:r>
            <a:endParaRPr lang="zh-CN" altLang="en-US" b="1" dirty="0">
              <a:solidFill>
                <a:srgbClr val="FF0000"/>
              </a:solidFill>
            </a:endParaRPr>
          </a:p>
        </p:txBody>
      </p:sp>
      <p:sp>
        <p:nvSpPr>
          <p:cNvPr id="157" name="文本框 156"/>
          <p:cNvSpPr txBox="1"/>
          <p:nvPr/>
        </p:nvSpPr>
        <p:spPr>
          <a:xfrm>
            <a:off x="7664330" y="3773350"/>
            <a:ext cx="1274708" cy="369332"/>
          </a:xfrm>
          <a:prstGeom prst="rect">
            <a:avLst/>
          </a:prstGeom>
          <a:noFill/>
        </p:spPr>
        <p:txBody>
          <a:bodyPr wrap="none" rtlCol="0">
            <a:spAutoFit/>
          </a:bodyPr>
          <a:lstStyle/>
          <a:p>
            <a:r>
              <a:rPr lang="en-US" altLang="zh-CN" b="1" dirty="0" smtClean="0">
                <a:solidFill>
                  <a:srgbClr val="FF0000"/>
                </a:solidFill>
              </a:rPr>
              <a:t>1,3,2,6,5,7</a:t>
            </a:r>
            <a:endParaRPr lang="zh-CN" altLang="en-US" b="1" dirty="0">
              <a:solidFill>
                <a:srgbClr val="FF0000"/>
              </a:solidFill>
            </a:endParaRPr>
          </a:p>
        </p:txBody>
      </p:sp>
      <p:sp>
        <p:nvSpPr>
          <p:cNvPr id="158" name="文本框 157"/>
          <p:cNvSpPr txBox="1"/>
          <p:nvPr/>
        </p:nvSpPr>
        <p:spPr>
          <a:xfrm>
            <a:off x="6374735" y="6444825"/>
            <a:ext cx="1467068" cy="369332"/>
          </a:xfrm>
          <a:prstGeom prst="rect">
            <a:avLst/>
          </a:prstGeom>
          <a:noFill/>
        </p:spPr>
        <p:txBody>
          <a:bodyPr wrap="none" rtlCol="0">
            <a:spAutoFit/>
          </a:bodyPr>
          <a:lstStyle/>
          <a:p>
            <a:r>
              <a:rPr lang="en-US" altLang="zh-CN" b="1" dirty="0" smtClean="0">
                <a:solidFill>
                  <a:srgbClr val="FF0000"/>
                </a:solidFill>
              </a:rPr>
              <a:t>1,3,2,6,5,7,4</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757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5781" name="Rectangle 3"/>
          <p:cNvSpPr>
            <a:spLocks noChangeArrowheads="1"/>
          </p:cNvSpPr>
          <p:nvPr/>
        </p:nvSpPr>
        <p:spPr bwMode="auto">
          <a:xfrm>
            <a:off x="685800" y="10668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Verdana" panose="020B0604030504040204" pitchFamily="34" charset="0"/>
                <a:ea typeface="华文楷体" panose="02010600040101010101" pitchFamily="2" charset="-122"/>
              </a:rPr>
              <a:t>2.2 </a:t>
            </a:r>
            <a:r>
              <a:rPr lang="zh-CN" altLang="en-US" sz="2400" b="1" dirty="0">
                <a:solidFill>
                  <a:srgbClr val="996600"/>
                </a:solidFill>
                <a:latin typeface="Verdana" panose="020B0604030504040204" pitchFamily="34" charset="0"/>
                <a:ea typeface="华文楷体" panose="02010600040101010101" pitchFamily="2" charset="-122"/>
              </a:rPr>
              <a:t>无后继的顶点优先</a:t>
            </a:r>
            <a:endParaRPr lang="zh-CN" altLang="en-US" sz="2400" b="1" dirty="0">
              <a:solidFill>
                <a:srgbClr val="996600"/>
              </a:solidFill>
              <a:latin typeface="Verdana" panose="020B0604030504040204" pitchFamily="34" charset="0"/>
              <a:ea typeface="华文楷体" panose="02010600040101010101" pitchFamily="2" charset="-122"/>
            </a:endParaRPr>
          </a:p>
        </p:txBody>
      </p:sp>
      <p:sp>
        <p:nvSpPr>
          <p:cNvPr id="75782" name="Rectangle 4"/>
          <p:cNvSpPr>
            <a:spLocks noGrp="1" noChangeArrowheads="1"/>
          </p:cNvSpPr>
          <p:nvPr>
            <p:ph type="body" idx="1"/>
          </p:nvPr>
        </p:nvSpPr>
        <p:spPr>
          <a:xfrm>
            <a:off x="685800" y="1676400"/>
            <a:ext cx="7772400" cy="4876800"/>
          </a:xfrm>
          <a:noFill/>
        </p:spPr>
        <p:txBody>
          <a:bodyPr/>
          <a:lstStyle/>
          <a:p>
            <a:pPr eaLnBrk="1" hangingPunct="1">
              <a:lnSpc>
                <a:spcPct val="80000"/>
              </a:lnSpc>
              <a:buFont typeface="Wingdings" panose="05000000000000000000" pitchFamily="2" charset="2"/>
              <a:buNone/>
            </a:pPr>
            <a:r>
              <a:rPr lang="en-US" altLang="zh-CN" sz="2400" b="1" dirty="0" smtClean="0">
                <a:solidFill>
                  <a:srgbClr val="996600"/>
                </a:solidFill>
                <a:latin typeface="Verdana" panose="020B0604030504040204" pitchFamily="34" charset="0"/>
                <a:ea typeface="华文楷体" panose="02010600040101010101" pitchFamily="2" charset="-122"/>
              </a:rPr>
              <a:t>[</a:t>
            </a:r>
            <a:r>
              <a:rPr lang="zh-CN" altLang="en-US" sz="2400" b="1" dirty="0" smtClean="0">
                <a:solidFill>
                  <a:srgbClr val="996600"/>
                </a:solidFill>
                <a:latin typeface="Verdana" panose="020B0604030504040204" pitchFamily="34" charset="0"/>
                <a:ea typeface="华文楷体" panose="02010600040101010101" pitchFamily="2" charset="-122"/>
              </a:rPr>
              <a:t>算法原理</a:t>
            </a:r>
            <a:r>
              <a:rPr lang="en-US" altLang="zh-CN" sz="2400" b="1" dirty="0" smtClean="0">
                <a:solidFill>
                  <a:srgbClr val="996600"/>
                </a:solidFill>
                <a:latin typeface="Verdana" panose="020B0604030504040204" pitchFamily="34" charset="0"/>
                <a:ea typeface="华文楷体" panose="02010600040101010101" pitchFamily="2" charset="-122"/>
              </a:rPr>
              <a:t>]</a:t>
            </a:r>
            <a:r>
              <a:rPr lang="en-US" altLang="zh-CN" sz="2400" b="1" dirty="0" smtClean="0">
                <a:ea typeface="华文楷体" panose="02010600040101010101" pitchFamily="2" charset="-122"/>
              </a:rPr>
              <a:t>   </a:t>
            </a:r>
            <a:endParaRPr lang="en-US" altLang="zh-CN" sz="2400" b="1"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在一个拓扑序列中，每个顶点必定出现在它的所有后继顶点之前。</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rgbClr val="996600"/>
                </a:solidFill>
                <a:latin typeface="Verdana" panose="020B0604030504040204" pitchFamily="34" charset="0"/>
                <a:ea typeface="华文楷体" panose="02010600040101010101" pitchFamily="2" charset="-122"/>
              </a:rPr>
              <a:t>[</a:t>
            </a:r>
            <a:r>
              <a:rPr lang="zh-CN" altLang="en-US" sz="2400" b="1" dirty="0" smtClean="0">
                <a:solidFill>
                  <a:srgbClr val="996600"/>
                </a:solidFill>
                <a:latin typeface="Verdana" panose="020B0604030504040204" pitchFamily="34" charset="0"/>
                <a:ea typeface="华文楷体" panose="02010600040101010101" pitchFamily="2" charset="-122"/>
              </a:rPr>
              <a:t>方法一   算法思想</a:t>
            </a:r>
            <a:r>
              <a:rPr lang="en-US" altLang="zh-CN" sz="2400" b="1" dirty="0" smtClean="0">
                <a:solidFill>
                  <a:srgbClr val="996600"/>
                </a:solidFill>
                <a:latin typeface="Verdana" panose="020B0604030504040204" pitchFamily="34" charset="0"/>
                <a:ea typeface="华文楷体" panose="02010600040101010101" pitchFamily="2" charset="-122"/>
              </a:rPr>
              <a:t>]</a:t>
            </a:r>
            <a:endParaRPr lang="en-US" altLang="zh-CN" sz="2400" b="1" dirty="0" smtClean="0">
              <a:solidFill>
                <a:srgbClr val="996600"/>
              </a:solidFill>
              <a:latin typeface="Verdana" panose="020B0604030504040204" pitchFamily="34"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（按逆拓扑次序生成顶点序列）</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1. </a:t>
            </a:r>
            <a:r>
              <a:rPr lang="zh-CN" altLang="en-US" sz="2400" dirty="0" smtClean="0">
                <a:ea typeface="华文楷体" panose="02010600040101010101" pitchFamily="2" charset="-122"/>
              </a:rPr>
              <a:t>选择一个出度为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无后继的顶点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，输出它</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删去该顶点及其关联的所有入边</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重复上述两步，直至图中不再有出度为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的顶点为止。</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若所有顶点均被输出，则排序成功，</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否则图中存在有向环。</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页脚占位符 3"/>
          <p:cNvSpPr>
            <a:spLocks noGrp="1"/>
          </p:cNvSpPr>
          <p:nvPr>
            <p:ph type="ftr" sz="quarter" idx="10"/>
          </p:nvPr>
        </p:nvSpPr>
        <p:spPr/>
        <p:txBody>
          <a:bodyPr/>
          <a:lstStyle/>
          <a:p>
            <a:pPr>
              <a:defRPr/>
            </a:pPr>
            <a:r>
              <a:rPr lang="en-US" altLang="zh-CN"/>
              <a:t>BUPT SCST</a:t>
            </a:r>
            <a:endParaRPr lang="en-US" altLang="zh-CN"/>
          </a:p>
        </p:txBody>
      </p:sp>
      <p:sp>
        <p:nvSpPr>
          <p:cNvPr id="51" name="日期占位符 5"/>
          <p:cNvSpPr>
            <a:spLocks noGrp="1"/>
          </p:cNvSpPr>
          <p:nvPr>
            <p:ph type="dt" sz="quarter" idx="12"/>
          </p:nvPr>
        </p:nvSpPr>
        <p:spPr/>
        <p:txBody>
          <a:bodyPr/>
          <a:lstStyle/>
          <a:p>
            <a:pPr>
              <a:defRPr/>
            </a:pPr>
            <a:r>
              <a:rPr lang="en-US" altLang="zh-CN"/>
              <a:t>BUPT</a:t>
            </a:r>
            <a:endParaRPr lang="en-US" altLang="zh-CN"/>
          </a:p>
        </p:txBody>
      </p:sp>
      <p:sp>
        <p:nvSpPr>
          <p:cNvPr id="768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6805" name="Rectangle 3"/>
          <p:cNvSpPr>
            <a:spLocks noChangeArrowheads="1"/>
          </p:cNvSpPr>
          <p:nvPr/>
        </p:nvSpPr>
        <p:spPr bwMode="auto">
          <a:xfrm>
            <a:off x="685800" y="12192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solidFill>
                  <a:srgbClr val="996600"/>
                </a:solidFill>
                <a:latin typeface="Verdana" panose="020B0604030504040204" pitchFamily="34" charset="0"/>
                <a:ea typeface="华文楷体" panose="02010600040101010101" pitchFamily="2" charset="-122"/>
              </a:rPr>
              <a:t>[</a:t>
            </a:r>
            <a:r>
              <a:rPr lang="zh-CN" altLang="en-US" sz="2400" dirty="0">
                <a:solidFill>
                  <a:srgbClr val="996600"/>
                </a:solidFill>
                <a:latin typeface="Verdana" panose="020B0604030504040204" pitchFamily="34" charset="0"/>
                <a:ea typeface="华文楷体" panose="02010600040101010101" pitchFamily="2" charset="-122"/>
              </a:rPr>
              <a:t>例</a:t>
            </a:r>
            <a:r>
              <a:rPr lang="en-US" altLang="zh-CN" sz="2400" dirty="0">
                <a:solidFill>
                  <a:srgbClr val="996600"/>
                </a:solidFill>
                <a:latin typeface="Verdana" panose="020B0604030504040204" pitchFamily="34" charset="0"/>
                <a:ea typeface="华文楷体" panose="02010600040101010101" pitchFamily="2" charset="-122"/>
              </a:rPr>
              <a:t>]</a:t>
            </a:r>
            <a:endParaRPr lang="en-US" altLang="zh-CN" sz="2400" b="1" dirty="0">
              <a:solidFill>
                <a:srgbClr val="996600"/>
              </a:solidFill>
              <a:latin typeface="Verdana" panose="020B0604030504040204" pitchFamily="34" charset="0"/>
              <a:ea typeface="华文楷体" panose="02010600040101010101" pitchFamily="2" charset="-122"/>
            </a:endParaRPr>
          </a:p>
        </p:txBody>
      </p:sp>
      <p:sp>
        <p:nvSpPr>
          <p:cNvPr id="76806" name="Rectangle 4"/>
          <p:cNvSpPr>
            <a:spLocks noGrp="1" noChangeArrowheads="1"/>
          </p:cNvSpPr>
          <p:nvPr>
            <p:ph type="body" idx="1"/>
          </p:nvPr>
        </p:nvSpPr>
        <p:spPr>
          <a:xfrm>
            <a:off x="838200" y="1524000"/>
            <a:ext cx="7772400" cy="4800600"/>
          </a:xfrm>
          <a:noFill/>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 </a:t>
            </a:r>
            <a:endParaRPr lang="en-US" altLang="zh-CN" dirty="0" smtClean="0">
              <a:ea typeface="华文楷体" panose="02010600040101010101" pitchFamily="2" charset="-122"/>
            </a:endParaRPr>
          </a:p>
        </p:txBody>
      </p:sp>
      <p:sp>
        <p:nvSpPr>
          <p:cNvPr id="76807" name="Oval 5"/>
          <p:cNvSpPr>
            <a:spLocks noChangeArrowheads="1"/>
          </p:cNvSpPr>
          <p:nvPr/>
        </p:nvSpPr>
        <p:spPr bwMode="auto">
          <a:xfrm>
            <a:off x="1676400" y="42672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08" name="Text Box 6"/>
          <p:cNvSpPr txBox="1">
            <a:spLocks noChangeArrowheads="1"/>
          </p:cNvSpPr>
          <p:nvPr/>
        </p:nvSpPr>
        <p:spPr bwMode="auto">
          <a:xfrm>
            <a:off x="1752600" y="4267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6809" name="Oval 7"/>
          <p:cNvSpPr>
            <a:spLocks noChangeArrowheads="1"/>
          </p:cNvSpPr>
          <p:nvPr/>
        </p:nvSpPr>
        <p:spPr bwMode="auto">
          <a:xfrm>
            <a:off x="2133600" y="51054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0" name="Oval 8"/>
          <p:cNvSpPr>
            <a:spLocks noChangeArrowheads="1"/>
          </p:cNvSpPr>
          <p:nvPr/>
        </p:nvSpPr>
        <p:spPr bwMode="auto">
          <a:xfrm>
            <a:off x="1295400" y="54102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1" name="Text Box 9"/>
          <p:cNvSpPr txBox="1">
            <a:spLocks noChangeArrowheads="1"/>
          </p:cNvSpPr>
          <p:nvPr/>
        </p:nvSpPr>
        <p:spPr bwMode="auto">
          <a:xfrm>
            <a:off x="2133600" y="5105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6812" name="Text Box 10"/>
          <p:cNvSpPr txBox="1">
            <a:spLocks noChangeArrowheads="1"/>
          </p:cNvSpPr>
          <p:nvPr/>
        </p:nvSpPr>
        <p:spPr bwMode="auto">
          <a:xfrm>
            <a:off x="1371600" y="5334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6813" name="Text Box 11"/>
          <p:cNvSpPr txBox="1">
            <a:spLocks noChangeArrowheads="1"/>
          </p:cNvSpPr>
          <p:nvPr/>
        </p:nvSpPr>
        <p:spPr bwMode="auto">
          <a:xfrm>
            <a:off x="1447800" y="58674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6814" name="Oval 12"/>
          <p:cNvSpPr>
            <a:spLocks noChangeArrowheads="1"/>
          </p:cNvSpPr>
          <p:nvPr/>
        </p:nvSpPr>
        <p:spPr bwMode="auto">
          <a:xfrm>
            <a:off x="1524000" y="20574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5" name="Oval 13"/>
          <p:cNvSpPr>
            <a:spLocks noChangeArrowheads="1"/>
          </p:cNvSpPr>
          <p:nvPr/>
        </p:nvSpPr>
        <p:spPr bwMode="auto">
          <a:xfrm>
            <a:off x="3124200" y="20574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6" name="Oval 14"/>
          <p:cNvSpPr>
            <a:spLocks noChangeArrowheads="1"/>
          </p:cNvSpPr>
          <p:nvPr/>
        </p:nvSpPr>
        <p:spPr bwMode="auto">
          <a:xfrm>
            <a:off x="1447800" y="32004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7" name="Oval 15"/>
          <p:cNvSpPr>
            <a:spLocks noChangeArrowheads="1"/>
          </p:cNvSpPr>
          <p:nvPr/>
        </p:nvSpPr>
        <p:spPr bwMode="auto">
          <a:xfrm>
            <a:off x="2362200" y="29718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8" name="Oval 16"/>
          <p:cNvSpPr>
            <a:spLocks noChangeArrowheads="1"/>
          </p:cNvSpPr>
          <p:nvPr/>
        </p:nvSpPr>
        <p:spPr bwMode="auto">
          <a:xfrm>
            <a:off x="3276600" y="32004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19" name="Line 17"/>
          <p:cNvSpPr>
            <a:spLocks noChangeShapeType="1"/>
          </p:cNvSpPr>
          <p:nvPr/>
        </p:nvSpPr>
        <p:spPr bwMode="auto">
          <a:xfrm>
            <a:off x="1981200" y="2286000"/>
            <a:ext cx="1143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20" name="Line 18"/>
          <p:cNvSpPr>
            <a:spLocks noChangeShapeType="1"/>
          </p:cNvSpPr>
          <p:nvPr/>
        </p:nvSpPr>
        <p:spPr bwMode="auto">
          <a:xfrm flipV="1">
            <a:off x="1752600" y="2438400"/>
            <a:ext cx="14478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21" name="Line 19"/>
          <p:cNvSpPr>
            <a:spLocks noChangeShapeType="1"/>
          </p:cNvSpPr>
          <p:nvPr/>
        </p:nvSpPr>
        <p:spPr bwMode="auto">
          <a:xfrm flipV="1">
            <a:off x="1905000" y="32004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22" name="Line 20"/>
          <p:cNvSpPr>
            <a:spLocks noChangeShapeType="1"/>
          </p:cNvSpPr>
          <p:nvPr/>
        </p:nvSpPr>
        <p:spPr bwMode="auto">
          <a:xfrm>
            <a:off x="2819400" y="31242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23" name="Line 21"/>
          <p:cNvSpPr>
            <a:spLocks noChangeShapeType="1"/>
          </p:cNvSpPr>
          <p:nvPr/>
        </p:nvSpPr>
        <p:spPr bwMode="auto">
          <a:xfrm>
            <a:off x="1905000" y="3505200"/>
            <a:ext cx="1371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24" name="Text Box 22"/>
          <p:cNvSpPr txBox="1">
            <a:spLocks noChangeArrowheads="1"/>
          </p:cNvSpPr>
          <p:nvPr/>
        </p:nvSpPr>
        <p:spPr bwMode="auto">
          <a:xfrm>
            <a:off x="1524000" y="2057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6825" name="Text Box 23"/>
          <p:cNvSpPr txBox="1">
            <a:spLocks noChangeArrowheads="1"/>
          </p:cNvSpPr>
          <p:nvPr/>
        </p:nvSpPr>
        <p:spPr bwMode="auto">
          <a:xfrm>
            <a:off x="1447800" y="3200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6826" name="Text Box 24"/>
          <p:cNvSpPr txBox="1">
            <a:spLocks noChangeArrowheads="1"/>
          </p:cNvSpPr>
          <p:nvPr/>
        </p:nvSpPr>
        <p:spPr bwMode="auto">
          <a:xfrm>
            <a:off x="2362200" y="2971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6827" name="Text Box 25"/>
          <p:cNvSpPr txBox="1">
            <a:spLocks noChangeArrowheads="1"/>
          </p:cNvSpPr>
          <p:nvPr/>
        </p:nvSpPr>
        <p:spPr bwMode="auto">
          <a:xfrm>
            <a:off x="3276600" y="3200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6828" name="Text Box 26"/>
          <p:cNvSpPr txBox="1">
            <a:spLocks noChangeArrowheads="1"/>
          </p:cNvSpPr>
          <p:nvPr/>
        </p:nvSpPr>
        <p:spPr bwMode="auto">
          <a:xfrm>
            <a:off x="3124200" y="2057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76829" name="Text Box 27"/>
          <p:cNvSpPr txBox="1">
            <a:spLocks noChangeArrowheads="1"/>
          </p:cNvSpPr>
          <p:nvPr/>
        </p:nvSpPr>
        <p:spPr bwMode="auto">
          <a:xfrm>
            <a:off x="2209800" y="35814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a:t>
            </a:r>
            <a:endParaRPr kumimoji="1" lang="en-US" altLang="zh-CN" sz="2400" dirty="0">
              <a:solidFill>
                <a:srgbClr val="996600"/>
              </a:solidFill>
              <a:latin typeface="Times New Roman" panose="02020603050405020304" pitchFamily="18" charset="0"/>
              <a:ea typeface="华文楷体" panose="02010600040101010101" pitchFamily="2" charset="-122"/>
            </a:endParaRPr>
          </a:p>
        </p:txBody>
      </p:sp>
      <p:sp>
        <p:nvSpPr>
          <p:cNvPr id="76830" name="Oval 28"/>
          <p:cNvSpPr>
            <a:spLocks noChangeArrowheads="1"/>
          </p:cNvSpPr>
          <p:nvPr/>
        </p:nvSpPr>
        <p:spPr bwMode="auto">
          <a:xfrm>
            <a:off x="4572000" y="2133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31" name="Oval 29"/>
          <p:cNvSpPr>
            <a:spLocks noChangeArrowheads="1"/>
          </p:cNvSpPr>
          <p:nvPr/>
        </p:nvSpPr>
        <p:spPr bwMode="auto">
          <a:xfrm>
            <a:off x="4343400" y="32004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32" name="Oval 30"/>
          <p:cNvSpPr>
            <a:spLocks noChangeArrowheads="1"/>
          </p:cNvSpPr>
          <p:nvPr/>
        </p:nvSpPr>
        <p:spPr bwMode="auto">
          <a:xfrm>
            <a:off x="5257800" y="29718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33" name="Oval 31"/>
          <p:cNvSpPr>
            <a:spLocks noChangeArrowheads="1"/>
          </p:cNvSpPr>
          <p:nvPr/>
        </p:nvSpPr>
        <p:spPr bwMode="auto">
          <a:xfrm>
            <a:off x="6172200" y="32004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34" name="Line 32"/>
          <p:cNvSpPr>
            <a:spLocks noChangeShapeType="1"/>
          </p:cNvSpPr>
          <p:nvPr/>
        </p:nvSpPr>
        <p:spPr bwMode="auto">
          <a:xfrm flipV="1">
            <a:off x="4800600" y="32004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35" name="Line 33"/>
          <p:cNvSpPr>
            <a:spLocks noChangeShapeType="1"/>
          </p:cNvSpPr>
          <p:nvPr/>
        </p:nvSpPr>
        <p:spPr bwMode="auto">
          <a:xfrm>
            <a:off x="5715000" y="3124200"/>
            <a:ext cx="457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36" name="Line 34"/>
          <p:cNvSpPr>
            <a:spLocks noChangeShapeType="1"/>
          </p:cNvSpPr>
          <p:nvPr/>
        </p:nvSpPr>
        <p:spPr bwMode="auto">
          <a:xfrm>
            <a:off x="4800600" y="3505200"/>
            <a:ext cx="1371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37" name="Text Box 35"/>
          <p:cNvSpPr txBox="1">
            <a:spLocks noChangeArrowheads="1"/>
          </p:cNvSpPr>
          <p:nvPr/>
        </p:nvSpPr>
        <p:spPr bwMode="auto">
          <a:xfrm>
            <a:off x="4343400" y="3200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6838" name="Text Box 36"/>
          <p:cNvSpPr txBox="1">
            <a:spLocks noChangeArrowheads="1"/>
          </p:cNvSpPr>
          <p:nvPr/>
        </p:nvSpPr>
        <p:spPr bwMode="auto">
          <a:xfrm>
            <a:off x="5257800" y="2971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6839" name="Text Box 37"/>
          <p:cNvSpPr txBox="1">
            <a:spLocks noChangeArrowheads="1"/>
          </p:cNvSpPr>
          <p:nvPr/>
        </p:nvSpPr>
        <p:spPr bwMode="auto">
          <a:xfrm>
            <a:off x="6172200" y="3200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6840" name="Text Box 38"/>
          <p:cNvSpPr txBox="1">
            <a:spLocks noChangeArrowheads="1"/>
          </p:cNvSpPr>
          <p:nvPr/>
        </p:nvSpPr>
        <p:spPr bwMode="auto">
          <a:xfrm>
            <a:off x="4572000" y="2057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6841" name="Text Box 39"/>
          <p:cNvSpPr txBox="1">
            <a:spLocks noChangeArrowheads="1"/>
          </p:cNvSpPr>
          <p:nvPr/>
        </p:nvSpPr>
        <p:spPr bwMode="auto">
          <a:xfrm>
            <a:off x="5029200" y="35814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6842" name="Oval 40"/>
          <p:cNvSpPr>
            <a:spLocks noChangeArrowheads="1"/>
          </p:cNvSpPr>
          <p:nvPr/>
        </p:nvSpPr>
        <p:spPr bwMode="auto">
          <a:xfrm>
            <a:off x="3962400" y="51816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43" name="Oval 41"/>
          <p:cNvSpPr>
            <a:spLocks noChangeArrowheads="1"/>
          </p:cNvSpPr>
          <p:nvPr/>
        </p:nvSpPr>
        <p:spPr bwMode="auto">
          <a:xfrm>
            <a:off x="4419600" y="4267200"/>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44" name="Text Box 42"/>
          <p:cNvSpPr txBox="1">
            <a:spLocks noChangeArrowheads="1"/>
          </p:cNvSpPr>
          <p:nvPr/>
        </p:nvSpPr>
        <p:spPr bwMode="auto">
          <a:xfrm>
            <a:off x="3962400" y="5181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6845" name="Text Box 43"/>
          <p:cNvSpPr txBox="1">
            <a:spLocks noChangeArrowheads="1"/>
          </p:cNvSpPr>
          <p:nvPr/>
        </p:nvSpPr>
        <p:spPr bwMode="auto">
          <a:xfrm>
            <a:off x="4419600" y="4191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6846" name="Text Box 44"/>
          <p:cNvSpPr txBox="1">
            <a:spLocks noChangeArrowheads="1"/>
          </p:cNvSpPr>
          <p:nvPr/>
        </p:nvSpPr>
        <p:spPr bwMode="auto">
          <a:xfrm>
            <a:off x="3733800" y="57912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6847" name="Oval 45"/>
          <p:cNvSpPr>
            <a:spLocks noChangeArrowheads="1"/>
          </p:cNvSpPr>
          <p:nvPr/>
        </p:nvSpPr>
        <p:spPr bwMode="auto">
          <a:xfrm>
            <a:off x="6553200" y="42672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48" name="Text Box 46"/>
          <p:cNvSpPr txBox="1">
            <a:spLocks noChangeArrowheads="1"/>
          </p:cNvSpPr>
          <p:nvPr/>
        </p:nvSpPr>
        <p:spPr bwMode="auto">
          <a:xfrm>
            <a:off x="6629400" y="4267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6849" name="Text Box 47"/>
          <p:cNvSpPr txBox="1">
            <a:spLocks noChangeArrowheads="1"/>
          </p:cNvSpPr>
          <p:nvPr/>
        </p:nvSpPr>
        <p:spPr bwMode="auto">
          <a:xfrm>
            <a:off x="6324600" y="57912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5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a:t>
            </a:r>
            <a:r>
              <a:rPr kumimoji="1" lang="en-US" altLang="zh-CN" sz="2400" dirty="0">
                <a:solidFill>
                  <a:srgbClr val="996600"/>
                </a:solidFill>
                <a:latin typeface="Times New Roman" panose="02020603050405020304" pitchFamily="18" charset="0"/>
                <a:ea typeface="华文楷体" panose="02010600040101010101" pitchFamily="2" charset="-122"/>
              </a:rPr>
              <a:t> 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6850" name="Line 48"/>
          <p:cNvSpPr>
            <a:spLocks noChangeShapeType="1"/>
          </p:cNvSpPr>
          <p:nvPr/>
        </p:nvSpPr>
        <p:spPr bwMode="auto">
          <a:xfrm flipV="1">
            <a:off x="1752600" y="5334000"/>
            <a:ext cx="3810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51" name="Line 49"/>
          <p:cNvSpPr>
            <a:spLocks noChangeShapeType="1"/>
          </p:cNvSpPr>
          <p:nvPr/>
        </p:nvSpPr>
        <p:spPr bwMode="auto">
          <a:xfrm flipH="1">
            <a:off x="6477000" y="6324600"/>
            <a:ext cx="1447800" cy="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BUPT SCST</a:t>
            </a:r>
            <a:endParaRPr lang="en-US" altLang="zh-CN"/>
          </a:p>
        </p:txBody>
      </p:sp>
      <p:sp>
        <p:nvSpPr>
          <p:cNvPr id="44" name="日期占位符 5"/>
          <p:cNvSpPr>
            <a:spLocks noGrp="1"/>
          </p:cNvSpPr>
          <p:nvPr>
            <p:ph type="dt" sz="quarter" idx="12"/>
          </p:nvPr>
        </p:nvSpPr>
        <p:spPr/>
        <p:txBody>
          <a:bodyPr/>
          <a:lstStyle/>
          <a:p>
            <a:pPr>
              <a:defRPr/>
            </a:pPr>
            <a:r>
              <a:rPr lang="en-US" altLang="zh-CN"/>
              <a:t>BUPT</a:t>
            </a:r>
            <a:endParaRPr lang="en-US" altLang="zh-CN"/>
          </a:p>
        </p:txBody>
      </p:sp>
      <p:sp>
        <p:nvSpPr>
          <p:cNvPr id="778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7829" name="Rectangle 3"/>
          <p:cNvSpPr>
            <a:spLocks noChangeArrowheads="1"/>
          </p:cNvSpPr>
          <p:nvPr/>
        </p:nvSpPr>
        <p:spPr bwMode="auto">
          <a:xfrm>
            <a:off x="685800" y="1156495"/>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996600"/>
                </a:solidFill>
                <a:latin typeface="Verdana" panose="020B0604030504040204" pitchFamily="34" charset="0"/>
                <a:ea typeface="华文楷体" panose="02010600040101010101" pitchFamily="2" charset="-122"/>
              </a:rPr>
              <a:t>[</a:t>
            </a:r>
            <a:r>
              <a:rPr lang="zh-CN" altLang="en-US" sz="2400" b="1" dirty="0">
                <a:solidFill>
                  <a:srgbClr val="996600"/>
                </a:solidFill>
                <a:latin typeface="Verdana" panose="020B0604030504040204" pitchFamily="34" charset="0"/>
                <a:ea typeface="华文楷体" panose="02010600040101010101" pitchFamily="2" charset="-122"/>
              </a:rPr>
              <a:t>方法二  算法思想</a:t>
            </a:r>
            <a:r>
              <a:rPr lang="en-US" altLang="zh-CN" sz="2400" b="1" dirty="0">
                <a:solidFill>
                  <a:srgbClr val="996600"/>
                </a:solidFill>
                <a:latin typeface="Verdana" panose="020B0604030504040204" pitchFamily="34" charset="0"/>
                <a:ea typeface="华文楷体" panose="02010600040101010101" pitchFamily="2" charset="-122"/>
              </a:rPr>
              <a:t>]</a:t>
            </a:r>
            <a:br>
              <a:rPr lang="en-US" altLang="zh-CN" sz="2400" b="1" dirty="0">
                <a:solidFill>
                  <a:srgbClr val="996600"/>
                </a:solidFill>
                <a:latin typeface="Verdana" panose="020B0604030504040204" pitchFamily="34" charset="0"/>
                <a:ea typeface="华文楷体" panose="02010600040101010101" pitchFamily="2" charset="-122"/>
              </a:rPr>
            </a:br>
            <a:endParaRPr lang="en-US" altLang="zh-CN" sz="2400" b="1" dirty="0">
              <a:solidFill>
                <a:srgbClr val="996600"/>
              </a:solidFill>
              <a:latin typeface="Verdana" panose="020B0604030504040204" pitchFamily="34" charset="0"/>
              <a:ea typeface="华文楷体" panose="02010600040101010101" pitchFamily="2" charset="-122"/>
            </a:endParaRPr>
          </a:p>
        </p:txBody>
      </p:sp>
      <p:sp>
        <p:nvSpPr>
          <p:cNvPr id="77830" name="Rectangle 4"/>
          <p:cNvSpPr>
            <a:spLocks noGrp="1" noChangeArrowheads="1"/>
          </p:cNvSpPr>
          <p:nvPr>
            <p:ph type="body" idx="1"/>
          </p:nvPr>
        </p:nvSpPr>
        <p:spPr>
          <a:xfrm>
            <a:off x="685800" y="1828800"/>
            <a:ext cx="8077200" cy="4572000"/>
          </a:xfrm>
          <a:noFill/>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    </a:t>
            </a:r>
            <a:r>
              <a:rPr lang="zh-CN" altLang="en-US" sz="2400" dirty="0" smtClean="0">
                <a:ea typeface="华文楷体" panose="02010600040101010101" pitchFamily="2" charset="-122"/>
              </a:rPr>
              <a:t>（利用深度优先遍历）</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访问顶点</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，并记录</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已被访问</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依次从</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的未访问的邻接点出发，深度优先</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拓扑排序图</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（递归返回时）输出顶点</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（此时</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相当于无后继的顶点）</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996600"/>
                </a:solidFill>
                <a:latin typeface="Verdana" panose="020B0604030504040204" pitchFamily="34" charset="0"/>
                <a:ea typeface="华文楷体" panose="02010600040101010101" pitchFamily="2" charset="-122"/>
              </a:rPr>
              <a:t>[</a:t>
            </a:r>
            <a:r>
              <a:rPr lang="zh-CN" altLang="en-US" sz="2400" b="1" dirty="0" smtClean="0">
                <a:solidFill>
                  <a:srgbClr val="996600"/>
                </a:solidFill>
                <a:latin typeface="Verdana" panose="020B0604030504040204" pitchFamily="34" charset="0"/>
                <a:ea typeface="华文楷体" panose="02010600040101010101" pitchFamily="2" charset="-122"/>
              </a:rPr>
              <a:t>方法二适用范围</a:t>
            </a:r>
            <a:r>
              <a:rPr lang="en-US" altLang="zh-CN" sz="2400" b="1" dirty="0" smtClean="0">
                <a:solidFill>
                  <a:srgbClr val="996600"/>
                </a:solidFill>
                <a:latin typeface="Verdana" panose="020B0604030504040204" pitchFamily="34" charset="0"/>
                <a:ea typeface="华文楷体" panose="02010600040101010101" pitchFamily="2" charset="-122"/>
              </a:rPr>
              <a:t>]</a:t>
            </a:r>
            <a:endParaRPr lang="en-US" altLang="zh-CN" sz="2400" b="1" dirty="0" smtClean="0">
              <a:solidFill>
                <a:srgbClr val="996600"/>
              </a:solidFill>
              <a:latin typeface="Verdana" panose="020B0604030504040204" pitchFamily="34" charset="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有向无环图</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（此算法不能检测出有向环，得到虚假拓扑序列）</a:t>
            </a:r>
            <a:endParaRPr lang="zh-CN" altLang="en-US" sz="2400" dirty="0" smtClean="0">
              <a:ea typeface="华文楷体" panose="02010600040101010101" pitchFamily="2" charset="-122"/>
            </a:endParaRPr>
          </a:p>
        </p:txBody>
      </p:sp>
      <p:sp>
        <p:nvSpPr>
          <p:cNvPr id="77831" name="Text Box 5"/>
          <p:cNvSpPr txBox="1">
            <a:spLocks noChangeArrowheads="1"/>
          </p:cNvSpPr>
          <p:nvPr/>
        </p:nvSpPr>
        <p:spPr bwMode="auto">
          <a:xfrm>
            <a:off x="4191000" y="3962400"/>
            <a:ext cx="457200"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v</a:t>
            </a:r>
            <a:r>
              <a:rPr kumimoji="1" lang="en-US" altLang="zh-CN" sz="24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7832" name="Text Box 6"/>
          <p:cNvSpPr txBox="1">
            <a:spLocks noChangeArrowheads="1"/>
          </p:cNvSpPr>
          <p:nvPr/>
        </p:nvSpPr>
        <p:spPr bwMode="auto">
          <a:xfrm>
            <a:off x="5105400" y="3962400"/>
            <a:ext cx="838200"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v</a:t>
            </a:r>
            <a:r>
              <a:rPr kumimoji="1" lang="en-US" altLang="zh-CN" sz="24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7833" name="Line 7"/>
          <p:cNvSpPr>
            <a:spLocks noChangeShapeType="1"/>
          </p:cNvSpPr>
          <p:nvPr/>
        </p:nvSpPr>
        <p:spPr bwMode="auto">
          <a:xfrm>
            <a:off x="4572000" y="4495800"/>
            <a:ext cx="0" cy="3810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34" name="Line 8"/>
          <p:cNvSpPr>
            <a:spLocks noChangeShapeType="1"/>
          </p:cNvSpPr>
          <p:nvPr/>
        </p:nvSpPr>
        <p:spPr bwMode="auto">
          <a:xfrm flipV="1">
            <a:off x="4572000" y="4495800"/>
            <a:ext cx="457200" cy="457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35" name="Line 9"/>
          <p:cNvSpPr>
            <a:spLocks noChangeShapeType="1"/>
          </p:cNvSpPr>
          <p:nvPr/>
        </p:nvSpPr>
        <p:spPr bwMode="auto">
          <a:xfrm flipH="1" flipV="1">
            <a:off x="4572000" y="4953000"/>
            <a:ext cx="533400" cy="457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36" name="Line 10"/>
          <p:cNvSpPr>
            <a:spLocks noChangeShapeType="1"/>
          </p:cNvSpPr>
          <p:nvPr/>
        </p:nvSpPr>
        <p:spPr bwMode="auto">
          <a:xfrm flipH="1">
            <a:off x="4572000" y="5181600"/>
            <a:ext cx="0" cy="3810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37" name="Text Box 11"/>
          <p:cNvSpPr txBox="1">
            <a:spLocks noChangeArrowheads="1"/>
          </p:cNvSpPr>
          <p:nvPr/>
        </p:nvSpPr>
        <p:spPr bwMode="auto">
          <a:xfrm>
            <a:off x="5334000" y="5257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7838" name="Text Box 12"/>
          <p:cNvSpPr txBox="1">
            <a:spLocks noChangeArrowheads="1"/>
          </p:cNvSpPr>
          <p:nvPr/>
        </p:nvSpPr>
        <p:spPr bwMode="auto">
          <a:xfrm>
            <a:off x="4495800" y="5334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7839" name="Oval 13"/>
          <p:cNvSpPr>
            <a:spLocks noChangeArrowheads="1"/>
          </p:cNvSpPr>
          <p:nvPr/>
        </p:nvSpPr>
        <p:spPr bwMode="auto">
          <a:xfrm>
            <a:off x="6096000" y="1752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7840" name="Oval 14"/>
          <p:cNvSpPr>
            <a:spLocks noChangeArrowheads="1"/>
          </p:cNvSpPr>
          <p:nvPr/>
        </p:nvSpPr>
        <p:spPr bwMode="auto">
          <a:xfrm>
            <a:off x="6858000" y="1295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7841" name="Oval 15"/>
          <p:cNvSpPr>
            <a:spLocks noChangeArrowheads="1"/>
          </p:cNvSpPr>
          <p:nvPr/>
        </p:nvSpPr>
        <p:spPr bwMode="auto">
          <a:xfrm>
            <a:off x="6934200" y="2209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7842" name="Oval 16"/>
          <p:cNvSpPr>
            <a:spLocks noChangeArrowheads="1"/>
          </p:cNvSpPr>
          <p:nvPr/>
        </p:nvSpPr>
        <p:spPr bwMode="auto">
          <a:xfrm>
            <a:off x="7848600" y="1676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7843" name="Text Box 17"/>
          <p:cNvSpPr txBox="1">
            <a:spLocks noChangeArrowheads="1"/>
          </p:cNvSpPr>
          <p:nvPr/>
        </p:nvSpPr>
        <p:spPr bwMode="auto">
          <a:xfrm>
            <a:off x="6096000" y="1676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7844" name="Text Box 18"/>
          <p:cNvSpPr txBox="1">
            <a:spLocks noChangeArrowheads="1"/>
          </p:cNvSpPr>
          <p:nvPr/>
        </p:nvSpPr>
        <p:spPr bwMode="auto">
          <a:xfrm>
            <a:off x="6858000" y="1219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7845" name="Text Box 19"/>
          <p:cNvSpPr txBox="1">
            <a:spLocks noChangeArrowheads="1"/>
          </p:cNvSpPr>
          <p:nvPr/>
        </p:nvSpPr>
        <p:spPr bwMode="auto">
          <a:xfrm>
            <a:off x="6781800" y="2514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endParaRPr kumimoji="1" lang="zh-CN" altLang="zh-CN" sz="2400" dirty="0">
              <a:latin typeface="Times New Roman" panose="02020603050405020304" pitchFamily="18" charset="0"/>
              <a:ea typeface="华文楷体" panose="02010600040101010101" pitchFamily="2" charset="-122"/>
            </a:endParaRPr>
          </a:p>
        </p:txBody>
      </p:sp>
      <p:sp>
        <p:nvSpPr>
          <p:cNvPr id="77846" name="Text Box 20"/>
          <p:cNvSpPr txBox="1">
            <a:spLocks noChangeArrowheads="1"/>
          </p:cNvSpPr>
          <p:nvPr/>
        </p:nvSpPr>
        <p:spPr bwMode="auto">
          <a:xfrm>
            <a:off x="7467600" y="2209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endParaRPr kumimoji="1" lang="zh-CN" altLang="zh-CN" sz="2400" dirty="0">
              <a:latin typeface="Times New Roman" panose="02020603050405020304" pitchFamily="18" charset="0"/>
              <a:ea typeface="华文楷体" panose="02010600040101010101" pitchFamily="2" charset="-122"/>
            </a:endParaRPr>
          </a:p>
        </p:txBody>
      </p:sp>
      <p:sp>
        <p:nvSpPr>
          <p:cNvPr id="77847" name="Text Box 21"/>
          <p:cNvSpPr txBox="1">
            <a:spLocks noChangeArrowheads="1"/>
          </p:cNvSpPr>
          <p:nvPr/>
        </p:nvSpPr>
        <p:spPr bwMode="auto">
          <a:xfrm>
            <a:off x="6934200"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3</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7848" name="Text Box 22"/>
          <p:cNvSpPr txBox="1">
            <a:spLocks noChangeArrowheads="1"/>
          </p:cNvSpPr>
          <p:nvPr/>
        </p:nvSpPr>
        <p:spPr bwMode="auto">
          <a:xfrm>
            <a:off x="7848600" y="1600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v</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77849" name="Line 23"/>
          <p:cNvSpPr>
            <a:spLocks noChangeShapeType="1"/>
          </p:cNvSpPr>
          <p:nvPr/>
        </p:nvSpPr>
        <p:spPr bwMode="auto">
          <a:xfrm flipV="1">
            <a:off x="6400800" y="1524000"/>
            <a:ext cx="45720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0" name="Line 24"/>
          <p:cNvSpPr>
            <a:spLocks noChangeShapeType="1"/>
          </p:cNvSpPr>
          <p:nvPr/>
        </p:nvSpPr>
        <p:spPr bwMode="auto">
          <a:xfrm>
            <a:off x="6400800" y="2133600"/>
            <a:ext cx="53340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1" name="Line 25"/>
          <p:cNvSpPr>
            <a:spLocks noChangeShapeType="1"/>
          </p:cNvSpPr>
          <p:nvPr/>
        </p:nvSpPr>
        <p:spPr bwMode="auto">
          <a:xfrm>
            <a:off x="7239000" y="1524000"/>
            <a:ext cx="68580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2" name="Line 26"/>
          <p:cNvSpPr>
            <a:spLocks noChangeShapeType="1"/>
          </p:cNvSpPr>
          <p:nvPr/>
        </p:nvSpPr>
        <p:spPr bwMode="auto">
          <a:xfrm flipV="1">
            <a:off x="7315200" y="2057400"/>
            <a:ext cx="6858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3" name="Line 27"/>
          <p:cNvSpPr>
            <a:spLocks noChangeShapeType="1"/>
          </p:cNvSpPr>
          <p:nvPr/>
        </p:nvSpPr>
        <p:spPr bwMode="auto">
          <a:xfrm flipH="1">
            <a:off x="6477000" y="1905000"/>
            <a:ext cx="1371600" cy="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4" name="Line 28"/>
          <p:cNvSpPr>
            <a:spLocks noChangeShapeType="1"/>
          </p:cNvSpPr>
          <p:nvPr/>
        </p:nvSpPr>
        <p:spPr bwMode="auto">
          <a:xfrm>
            <a:off x="5486400" y="4495800"/>
            <a:ext cx="0" cy="3048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5" name="Text Box 29"/>
          <p:cNvSpPr txBox="1">
            <a:spLocks noChangeArrowheads="1"/>
          </p:cNvSpPr>
          <p:nvPr/>
        </p:nvSpPr>
        <p:spPr bwMode="auto">
          <a:xfrm>
            <a:off x="5943600" y="3962400"/>
            <a:ext cx="685800"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v</a:t>
            </a:r>
            <a:r>
              <a:rPr kumimoji="1" lang="en-US" altLang="zh-CN" sz="2400" baseline="-25000" dirty="0">
                <a:solidFill>
                  <a:schemeClr val="accent2"/>
                </a:solidFill>
                <a:latin typeface="Times New Roman" panose="02020603050405020304" pitchFamily="18" charset="0"/>
                <a:ea typeface="华文楷体" panose="02010600040101010101" pitchFamily="2" charset="-122"/>
              </a:rPr>
              <a:t>4</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7856" name="Line 30"/>
          <p:cNvSpPr>
            <a:spLocks noChangeShapeType="1"/>
          </p:cNvSpPr>
          <p:nvPr/>
        </p:nvSpPr>
        <p:spPr bwMode="auto">
          <a:xfrm flipV="1">
            <a:off x="5486400" y="4419600"/>
            <a:ext cx="533400" cy="457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7" name="Line 31"/>
          <p:cNvSpPr>
            <a:spLocks noChangeShapeType="1"/>
          </p:cNvSpPr>
          <p:nvPr/>
        </p:nvSpPr>
        <p:spPr bwMode="auto">
          <a:xfrm>
            <a:off x="6324600" y="4419600"/>
            <a:ext cx="0" cy="9144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58" name="Text Box 32"/>
          <p:cNvSpPr txBox="1">
            <a:spLocks noChangeArrowheads="1"/>
          </p:cNvSpPr>
          <p:nvPr/>
        </p:nvSpPr>
        <p:spPr bwMode="auto">
          <a:xfrm>
            <a:off x="6172200" y="5257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7859" name="Line 33"/>
          <p:cNvSpPr>
            <a:spLocks noChangeShapeType="1"/>
          </p:cNvSpPr>
          <p:nvPr/>
        </p:nvSpPr>
        <p:spPr bwMode="auto">
          <a:xfrm flipH="1" flipV="1">
            <a:off x="5486400" y="5029200"/>
            <a:ext cx="533400" cy="457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60" name="Line 34"/>
          <p:cNvSpPr>
            <a:spLocks noChangeShapeType="1"/>
          </p:cNvSpPr>
          <p:nvPr/>
        </p:nvSpPr>
        <p:spPr bwMode="auto">
          <a:xfrm>
            <a:off x="5486400" y="5029200"/>
            <a:ext cx="0" cy="3048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61" name="Line 35"/>
          <p:cNvSpPr>
            <a:spLocks noChangeShapeType="1"/>
          </p:cNvSpPr>
          <p:nvPr/>
        </p:nvSpPr>
        <p:spPr bwMode="auto">
          <a:xfrm flipV="1">
            <a:off x="4572000" y="4343400"/>
            <a:ext cx="2362200" cy="7620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62" name="Text Box 36"/>
          <p:cNvSpPr txBox="1">
            <a:spLocks noChangeArrowheads="1"/>
          </p:cNvSpPr>
          <p:nvPr/>
        </p:nvSpPr>
        <p:spPr bwMode="auto">
          <a:xfrm>
            <a:off x="6858000" y="3962400"/>
            <a:ext cx="6858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v</a:t>
            </a:r>
            <a:r>
              <a:rPr kumimoji="1" lang="en-US" altLang="zh-CN" sz="2400" baseline="-25000" dirty="0">
                <a:solidFill>
                  <a:schemeClr val="accent2"/>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1)</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2)</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baseline="-25000" dirty="0">
                <a:solidFill>
                  <a:schemeClr val="accent2"/>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kumimoji="1" lang="en-US" altLang="zh-CN" sz="2400" dirty="0">
              <a:latin typeface="Times New Roman" panose="02020603050405020304" pitchFamily="18" charset="0"/>
              <a:ea typeface="华文楷体" panose="02010600040101010101" pitchFamily="2" charset="-122"/>
            </a:endParaRPr>
          </a:p>
        </p:txBody>
      </p:sp>
      <p:sp>
        <p:nvSpPr>
          <p:cNvPr id="77863" name="Text Box 37"/>
          <p:cNvSpPr txBox="1">
            <a:spLocks noChangeArrowheads="1"/>
          </p:cNvSpPr>
          <p:nvPr/>
        </p:nvSpPr>
        <p:spPr bwMode="auto">
          <a:xfrm>
            <a:off x="7086600" y="5257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a:t>
            </a:r>
            <a:endParaRPr kumimoji="1" lang="en-US" altLang="zh-CN" sz="2400" baseline="-25000" dirty="0">
              <a:solidFill>
                <a:schemeClr val="accent2"/>
              </a:solidFill>
              <a:latin typeface="Times New Roman" panose="02020603050405020304" pitchFamily="18" charset="0"/>
              <a:ea typeface="华文楷体" panose="02010600040101010101" pitchFamily="2" charset="-122"/>
            </a:endParaRPr>
          </a:p>
        </p:txBody>
      </p:sp>
      <p:sp>
        <p:nvSpPr>
          <p:cNvPr id="77864" name="Line 38"/>
          <p:cNvSpPr>
            <a:spLocks noChangeShapeType="1"/>
          </p:cNvSpPr>
          <p:nvPr/>
        </p:nvSpPr>
        <p:spPr bwMode="auto">
          <a:xfrm>
            <a:off x="7315200" y="4495800"/>
            <a:ext cx="0" cy="8382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65" name="Line 39"/>
          <p:cNvSpPr>
            <a:spLocks noChangeShapeType="1"/>
          </p:cNvSpPr>
          <p:nvPr/>
        </p:nvSpPr>
        <p:spPr bwMode="auto">
          <a:xfrm flipH="1" flipV="1">
            <a:off x="4572000" y="5105400"/>
            <a:ext cx="2362200" cy="304800"/>
          </a:xfrm>
          <a:prstGeom prst="line">
            <a:avLst/>
          </a:prstGeom>
          <a:noFill/>
          <a:ln w="952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7866" name="Text Box 40"/>
          <p:cNvSpPr txBox="1">
            <a:spLocks noChangeArrowheads="1"/>
          </p:cNvSpPr>
          <p:nvPr/>
        </p:nvSpPr>
        <p:spPr bwMode="auto">
          <a:xfrm>
            <a:off x="7543800" y="44958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4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2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3 </a:t>
            </a:r>
            <a:r>
              <a:rPr kumimoji="1" lang="en-US" altLang="zh-CN" sz="2400" dirty="0">
                <a:solidFill>
                  <a:srgbClr val="996600"/>
                </a:solidFill>
                <a:latin typeface="Times New Roman" panose="02020603050405020304" pitchFamily="18" charset="0"/>
                <a:ea typeface="华文楷体" panose="02010600040101010101" pitchFamily="2" charset="-122"/>
              </a:rPr>
              <a:t>v</a:t>
            </a:r>
            <a:r>
              <a:rPr kumimoji="1" lang="en-US" altLang="zh-CN" sz="2400" baseline="-25000" dirty="0">
                <a:solidFill>
                  <a:srgbClr val="996600"/>
                </a:solidFill>
                <a:latin typeface="Times New Roman" panose="02020603050405020304" pitchFamily="18" charset="0"/>
                <a:ea typeface="华文楷体" panose="02010600040101010101" pitchFamily="2" charset="-122"/>
              </a:rPr>
              <a:t>1</a:t>
            </a:r>
            <a:endParaRPr kumimoji="1" lang="en-US" altLang="zh-CN" sz="2400" baseline="-25000" dirty="0">
              <a:solidFill>
                <a:srgbClr val="996600"/>
              </a:solidFill>
              <a:latin typeface="Times New Roman" panose="02020603050405020304" pitchFamily="18" charset="0"/>
              <a:ea typeface="华文楷体" panose="02010600040101010101" pitchFamily="2" charset="-122"/>
            </a:endParaRPr>
          </a:p>
        </p:txBody>
      </p:sp>
      <p:sp>
        <p:nvSpPr>
          <p:cNvPr id="77867" name="Line 41"/>
          <p:cNvSpPr>
            <a:spLocks noChangeShapeType="1"/>
          </p:cNvSpPr>
          <p:nvPr/>
        </p:nvSpPr>
        <p:spPr bwMode="auto">
          <a:xfrm flipH="1">
            <a:off x="7696200" y="5029200"/>
            <a:ext cx="990600" cy="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82" name="Text Box 42"/>
          <p:cNvSpPr txBox="1">
            <a:spLocks noChangeArrowheads="1"/>
          </p:cNvSpPr>
          <p:nvPr/>
        </p:nvSpPr>
        <p:spPr bwMode="auto">
          <a:xfrm>
            <a:off x="457200" y="4191000"/>
            <a:ext cx="2819400"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1800" b="1" dirty="0">
                <a:solidFill>
                  <a:schemeClr val="accent2"/>
                </a:solidFill>
                <a:latin typeface="Times New Roman" panose="02020603050405020304" pitchFamily="18" charset="0"/>
                <a:ea typeface="华文楷体" panose="02010600040101010101" pitchFamily="2" charset="-122"/>
              </a:rPr>
              <a:t>结论：用</a:t>
            </a:r>
            <a:r>
              <a:rPr kumimoji="1" lang="en-US" altLang="zh-CN" sz="1800" b="1" dirty="0">
                <a:solidFill>
                  <a:schemeClr val="accent2"/>
                </a:solidFill>
                <a:latin typeface="Times New Roman" panose="02020603050405020304" pitchFamily="18" charset="0"/>
                <a:ea typeface="华文楷体" panose="02010600040101010101" pitchFamily="2" charset="-122"/>
              </a:rPr>
              <a:t>DFS</a:t>
            </a:r>
            <a:r>
              <a:rPr kumimoji="1" lang="zh-CN" altLang="en-US" sz="1800" b="1" dirty="0">
                <a:solidFill>
                  <a:schemeClr val="accent2"/>
                </a:solidFill>
                <a:latin typeface="Times New Roman" panose="02020603050405020304" pitchFamily="18" charset="0"/>
                <a:ea typeface="华文楷体" panose="02010600040101010101" pitchFamily="2" charset="-122"/>
              </a:rPr>
              <a:t>遍历一个无环有向图，并在</a:t>
            </a:r>
            <a:r>
              <a:rPr kumimoji="1" lang="en-US" altLang="zh-CN" sz="1800" b="1" dirty="0">
                <a:solidFill>
                  <a:schemeClr val="accent2"/>
                </a:solidFill>
                <a:latin typeface="Times New Roman" panose="02020603050405020304" pitchFamily="18" charset="0"/>
                <a:ea typeface="华文楷体" panose="02010600040101010101" pitchFamily="2" charset="-122"/>
              </a:rPr>
              <a:t>DFS</a:t>
            </a:r>
            <a:r>
              <a:rPr kumimoji="1" lang="zh-CN" altLang="en-US" sz="1800" b="1" dirty="0">
                <a:solidFill>
                  <a:schemeClr val="accent2"/>
                </a:solidFill>
                <a:latin typeface="Times New Roman" panose="02020603050405020304" pitchFamily="18" charset="0"/>
                <a:ea typeface="华文楷体" panose="02010600040101010101" pitchFamily="2" charset="-122"/>
              </a:rPr>
              <a:t>算法退栈返回时打印相应的顶点，则输出的顶点序列是 逆拓扑序列</a:t>
            </a:r>
            <a:endParaRPr kumimoji="1" lang="zh-CN" altLang="en-US" sz="1800" b="1"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kumimoji="1" lang="en-US" altLang="zh-CN" sz="18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82"/>
                                        </p:tgtEl>
                                        <p:attrNameLst>
                                          <p:attrName>style.visibility</p:attrName>
                                        </p:attrNameLst>
                                      </p:cBhvr>
                                      <p:to>
                                        <p:strVal val="visible"/>
                                      </p:to>
                                    </p:set>
                                    <p:anim calcmode="lin" valueType="num">
                                      <p:cBhvr additive="base">
                                        <p:cTn id="7" dur="500" fill="hold"/>
                                        <p:tgtEl>
                                          <p:spTgt spid="87082"/>
                                        </p:tgtEl>
                                        <p:attrNameLst>
                                          <p:attrName>ppt_x</p:attrName>
                                        </p:attrNameLst>
                                      </p:cBhvr>
                                      <p:tavLst>
                                        <p:tav tm="0">
                                          <p:val>
                                            <p:strVal val="#ppt_x"/>
                                          </p:val>
                                        </p:tav>
                                        <p:tav tm="100000">
                                          <p:val>
                                            <p:strVal val="#ppt_x"/>
                                          </p:val>
                                        </p:tav>
                                      </p:tavLst>
                                    </p:anim>
                                    <p:anim calcmode="lin" valueType="num">
                                      <p:cBhvr additive="base">
                                        <p:cTn id="8" dur="500" fill="hold"/>
                                        <p:tgtEl>
                                          <p:spTgt spid="870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8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a:t>BUPT SCST</a:t>
            </a:r>
            <a:endParaRPr lang="en-US" altLang="zh-CN"/>
          </a:p>
        </p:txBody>
      </p:sp>
      <p:sp>
        <p:nvSpPr>
          <p:cNvPr id="47" name="日期占位符 5"/>
          <p:cNvSpPr>
            <a:spLocks noGrp="1"/>
          </p:cNvSpPr>
          <p:nvPr>
            <p:ph type="dt" sz="quarter" idx="12"/>
          </p:nvPr>
        </p:nvSpPr>
        <p:spPr/>
        <p:txBody>
          <a:bodyPr/>
          <a:lstStyle/>
          <a:p>
            <a:pPr>
              <a:defRPr/>
            </a:pPr>
            <a:r>
              <a:rPr lang="en-US" altLang="zh-CN"/>
              <a:t>BUPT</a:t>
            </a:r>
            <a:endParaRPr lang="en-US" altLang="zh-CN"/>
          </a:p>
        </p:txBody>
      </p:sp>
      <p:sp>
        <p:nvSpPr>
          <p:cNvPr id="788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885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3 </a:t>
            </a:r>
            <a:r>
              <a:rPr lang="zh-CN" altLang="en-US" sz="2400" b="1" dirty="0" smtClean="0">
                <a:solidFill>
                  <a:schemeClr val="accent2"/>
                </a:solidFill>
                <a:ea typeface="华文楷体" panose="02010600040101010101" pitchFamily="2" charset="-122"/>
              </a:rPr>
              <a:t>关键路径</a:t>
            </a:r>
            <a:endParaRPr lang="zh-CN" altLang="en-US" sz="24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问题目标</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当一个任务</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工程可以划分问若干个子任务</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子活动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子工程，其中的任何子任务可能又以另外的一些子任务作为先决条件</a:t>
            </a:r>
            <a:endParaRPr lang="zh-CN" altLang="en-US" sz="2400" dirty="0" smtClean="0">
              <a:ea typeface="华文楷体" panose="02010600040101010101" pitchFamily="2" charset="-122"/>
            </a:endParaRPr>
          </a:p>
          <a:p>
            <a:pPr lvl="3" eaLnBrk="1" hangingPunct="1">
              <a:lnSpc>
                <a:spcPct val="90000"/>
              </a:lnSpc>
              <a:buFontTx/>
              <a:buNone/>
            </a:pPr>
            <a:r>
              <a:rPr lang="zh-CN" altLang="en-US" sz="2400" dirty="0" smtClean="0">
                <a:ea typeface="华文楷体" panose="02010600040101010101" pitchFamily="2" charset="-122"/>
              </a:rPr>
              <a:t>整个工程至少需要多少时间</a:t>
            </a:r>
            <a:endParaRPr lang="zh-CN" altLang="en-US" sz="2400" dirty="0" smtClean="0">
              <a:ea typeface="华文楷体" panose="02010600040101010101" pitchFamily="2" charset="-122"/>
            </a:endParaRPr>
          </a:p>
          <a:p>
            <a:pPr lvl="3" eaLnBrk="1" hangingPunct="1">
              <a:lnSpc>
                <a:spcPct val="90000"/>
              </a:lnSpc>
              <a:buFontTx/>
              <a:buNone/>
            </a:pPr>
            <a:r>
              <a:rPr lang="zh-CN" altLang="en-US" sz="2400" dirty="0" smtClean="0">
                <a:ea typeface="华文楷体" panose="02010600040101010101" pitchFamily="2" charset="-122"/>
              </a:rPr>
              <a:t>哪些活动是影响进度的关键</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FF3300"/>
                </a:solidFill>
                <a:ea typeface="华文楷体" panose="02010600040101010101" pitchFamily="2" charset="-122"/>
              </a:rPr>
              <a:t>AOE</a:t>
            </a:r>
            <a:r>
              <a:rPr lang="zh-CN" altLang="zh-CN" sz="2400" b="1" dirty="0" smtClean="0">
                <a:solidFill>
                  <a:srgbClr val="FF3300"/>
                </a:solidFill>
                <a:ea typeface="华文楷体" panose="02010600040101010101" pitchFamily="2" charset="-122"/>
              </a:rPr>
              <a:t>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边活动网络</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顶点表示事件，弧表示活动</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[AOE</a:t>
            </a:r>
            <a:r>
              <a:rPr lang="zh-CN" altLang="zh-CN" sz="2400" b="1" dirty="0" smtClean="0">
                <a:solidFill>
                  <a:srgbClr val="996600"/>
                </a:solidFill>
                <a:ea typeface="华文楷体" panose="02010600040101010101" pitchFamily="2" charset="-122"/>
              </a:rPr>
              <a:t>网的性质]</a:t>
            </a:r>
            <a:endParaRPr lang="zh-CN" altLang="zh-CN" sz="2400" b="1" dirty="0" smtClean="0">
              <a:solidFill>
                <a:srgbClr val="996600"/>
              </a:solidFill>
              <a:ea typeface="华文楷体" panose="02010600040101010101" pitchFamily="2" charset="-122"/>
            </a:endParaRPr>
          </a:p>
          <a:p>
            <a:pPr lvl="1" eaLnBrk="1" hangingPunct="1">
              <a:lnSpc>
                <a:spcPct val="90000"/>
              </a:lnSpc>
            </a:pPr>
            <a:r>
              <a:rPr lang="zh-CN" altLang="en-US" sz="2400" dirty="0" smtClean="0">
                <a:ea typeface="华文楷体" panose="02010600040101010101" pitchFamily="2" charset="-122"/>
              </a:rPr>
              <a:t>进入</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的活动都结束， </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所代表的事件才能发生</a:t>
            </a:r>
            <a:endParaRPr lang="zh-CN" altLang="en-US" sz="2400" dirty="0" smtClean="0">
              <a:ea typeface="华文楷体" panose="02010600040101010101" pitchFamily="2" charset="-122"/>
            </a:endParaRPr>
          </a:p>
          <a:p>
            <a:pPr lvl="1" eaLnBrk="1" hangingPunct="1">
              <a:lnSpc>
                <a:spcPct val="90000"/>
              </a:lnSpc>
            </a:pPr>
            <a:r>
              <a:rPr lang="zh-CN" altLang="en-US" sz="2400" dirty="0" smtClean="0">
                <a:ea typeface="华文楷体" panose="02010600040101010101" pitchFamily="2" charset="-122"/>
              </a:rPr>
              <a:t>顶点</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所代表的事件发生，从</a:t>
            </a:r>
            <a:r>
              <a:rPr lang="en-US" altLang="zh-CN" sz="2400" dirty="0" smtClean="0">
                <a:ea typeface="华文楷体" panose="02010600040101010101" pitchFamily="2" charset="-122"/>
              </a:rPr>
              <a:t>V</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出发的活动才能开始</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grpSp>
        <p:nvGrpSpPr>
          <p:cNvPr id="88068" name="Group 4"/>
          <p:cNvGrpSpPr/>
          <p:nvPr/>
        </p:nvGrpSpPr>
        <p:grpSpPr bwMode="auto">
          <a:xfrm>
            <a:off x="2895600" y="1143000"/>
            <a:ext cx="5791200" cy="3429000"/>
            <a:chOff x="1680" y="1680"/>
            <a:chExt cx="3648" cy="2160"/>
          </a:xfrm>
        </p:grpSpPr>
        <p:sp>
          <p:nvSpPr>
            <p:cNvPr id="78855" name="Rectangle 5"/>
            <p:cNvSpPr>
              <a:spLocks noChangeArrowheads="1"/>
            </p:cNvSpPr>
            <p:nvPr/>
          </p:nvSpPr>
          <p:spPr bwMode="auto">
            <a:xfrm>
              <a:off x="1680" y="1680"/>
              <a:ext cx="3648" cy="216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56" name="Oval 6"/>
            <p:cNvSpPr>
              <a:spLocks noChangeArrowheads="1"/>
            </p:cNvSpPr>
            <p:nvPr/>
          </p:nvSpPr>
          <p:spPr bwMode="auto">
            <a:xfrm>
              <a:off x="1872" y="230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57" name="Text Box 7"/>
            <p:cNvSpPr txBox="1">
              <a:spLocks noChangeArrowheads="1"/>
            </p:cNvSpPr>
            <p:nvPr/>
          </p:nvSpPr>
          <p:spPr bwMode="auto">
            <a:xfrm>
              <a:off x="1872" y="225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78858" name="Oval 8"/>
            <p:cNvSpPr>
              <a:spLocks noChangeArrowheads="1"/>
            </p:cNvSpPr>
            <p:nvPr/>
          </p:nvSpPr>
          <p:spPr bwMode="auto">
            <a:xfrm>
              <a:off x="2736" y="1920"/>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59" name="Text Box 9"/>
            <p:cNvSpPr txBox="1">
              <a:spLocks noChangeArrowheads="1"/>
            </p:cNvSpPr>
            <p:nvPr/>
          </p:nvSpPr>
          <p:spPr bwMode="auto">
            <a:xfrm>
              <a:off x="2736" y="187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78860" name="Oval 10"/>
            <p:cNvSpPr>
              <a:spLocks noChangeArrowheads="1"/>
            </p:cNvSpPr>
            <p:nvPr/>
          </p:nvSpPr>
          <p:spPr bwMode="auto">
            <a:xfrm>
              <a:off x="2736" y="278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61" name="Text Box 11"/>
            <p:cNvSpPr txBox="1">
              <a:spLocks noChangeArrowheads="1"/>
            </p:cNvSpPr>
            <p:nvPr/>
          </p:nvSpPr>
          <p:spPr bwMode="auto">
            <a:xfrm>
              <a:off x="2736" y="273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78862" name="Oval 12"/>
            <p:cNvSpPr>
              <a:spLocks noChangeArrowheads="1"/>
            </p:cNvSpPr>
            <p:nvPr/>
          </p:nvSpPr>
          <p:spPr bwMode="auto">
            <a:xfrm>
              <a:off x="2736" y="326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63" name="Text Box 13"/>
            <p:cNvSpPr txBox="1">
              <a:spLocks noChangeArrowheads="1"/>
            </p:cNvSpPr>
            <p:nvPr/>
          </p:nvSpPr>
          <p:spPr bwMode="auto">
            <a:xfrm>
              <a:off x="2736" y="321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78864" name="Oval 14"/>
            <p:cNvSpPr>
              <a:spLocks noChangeArrowheads="1"/>
            </p:cNvSpPr>
            <p:nvPr/>
          </p:nvSpPr>
          <p:spPr bwMode="auto">
            <a:xfrm>
              <a:off x="3552" y="235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65" name="Text Box 15"/>
            <p:cNvSpPr txBox="1">
              <a:spLocks noChangeArrowheads="1"/>
            </p:cNvSpPr>
            <p:nvPr/>
          </p:nvSpPr>
          <p:spPr bwMode="auto">
            <a:xfrm>
              <a:off x="3552"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78866" name="Oval 16"/>
            <p:cNvSpPr>
              <a:spLocks noChangeArrowheads="1"/>
            </p:cNvSpPr>
            <p:nvPr/>
          </p:nvSpPr>
          <p:spPr bwMode="auto">
            <a:xfrm>
              <a:off x="3600" y="326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67" name="Text Box 17"/>
            <p:cNvSpPr txBox="1">
              <a:spLocks noChangeArrowheads="1"/>
            </p:cNvSpPr>
            <p:nvPr/>
          </p:nvSpPr>
          <p:spPr bwMode="auto">
            <a:xfrm>
              <a:off x="3600" y="321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78868" name="Oval 18"/>
            <p:cNvSpPr>
              <a:spLocks noChangeArrowheads="1"/>
            </p:cNvSpPr>
            <p:nvPr/>
          </p:nvSpPr>
          <p:spPr bwMode="auto">
            <a:xfrm>
              <a:off x="4176" y="187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69" name="Text Box 19"/>
            <p:cNvSpPr txBox="1">
              <a:spLocks noChangeArrowheads="1"/>
            </p:cNvSpPr>
            <p:nvPr/>
          </p:nvSpPr>
          <p:spPr bwMode="auto">
            <a:xfrm>
              <a:off x="4176" y="182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7</a:t>
              </a:r>
              <a:endParaRPr kumimoji="1" lang="en-US" altLang="zh-CN" sz="2400" dirty="0">
                <a:latin typeface="Times New Roman" panose="02020603050405020304" pitchFamily="18" charset="0"/>
                <a:ea typeface="华文楷体" panose="02010600040101010101" pitchFamily="2" charset="-122"/>
              </a:endParaRPr>
            </a:p>
          </p:txBody>
        </p:sp>
        <p:sp>
          <p:nvSpPr>
            <p:cNvPr id="78870" name="Oval 20"/>
            <p:cNvSpPr>
              <a:spLocks noChangeArrowheads="1"/>
            </p:cNvSpPr>
            <p:nvPr/>
          </p:nvSpPr>
          <p:spPr bwMode="auto">
            <a:xfrm>
              <a:off x="4224" y="278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71" name="Text Box 21"/>
            <p:cNvSpPr txBox="1">
              <a:spLocks noChangeArrowheads="1"/>
            </p:cNvSpPr>
            <p:nvPr/>
          </p:nvSpPr>
          <p:spPr bwMode="auto">
            <a:xfrm>
              <a:off x="4224" y="273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8</a:t>
              </a:r>
              <a:endParaRPr kumimoji="1" lang="en-US" altLang="zh-CN" sz="2400" dirty="0">
                <a:latin typeface="Times New Roman" panose="02020603050405020304" pitchFamily="18" charset="0"/>
                <a:ea typeface="华文楷体" panose="02010600040101010101" pitchFamily="2" charset="-122"/>
              </a:endParaRPr>
            </a:p>
          </p:txBody>
        </p:sp>
        <p:sp>
          <p:nvSpPr>
            <p:cNvPr id="78872" name="Oval 22"/>
            <p:cNvSpPr>
              <a:spLocks noChangeArrowheads="1"/>
            </p:cNvSpPr>
            <p:nvPr/>
          </p:nvSpPr>
          <p:spPr bwMode="auto">
            <a:xfrm>
              <a:off x="4848" y="235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8873" name="Text Box 23"/>
            <p:cNvSpPr txBox="1">
              <a:spLocks noChangeArrowheads="1"/>
            </p:cNvSpPr>
            <p:nvPr/>
          </p:nvSpPr>
          <p:spPr bwMode="auto">
            <a:xfrm>
              <a:off x="4848"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9</a:t>
              </a:r>
              <a:endParaRPr kumimoji="1" lang="en-US" altLang="zh-CN" sz="2400" dirty="0">
                <a:latin typeface="Times New Roman" panose="02020603050405020304" pitchFamily="18" charset="0"/>
                <a:ea typeface="华文楷体" panose="02010600040101010101" pitchFamily="2" charset="-122"/>
              </a:endParaRPr>
            </a:p>
          </p:txBody>
        </p:sp>
        <p:sp>
          <p:nvSpPr>
            <p:cNvPr id="78874" name="Line 24"/>
            <p:cNvSpPr>
              <a:spLocks noChangeShapeType="1"/>
            </p:cNvSpPr>
            <p:nvPr/>
          </p:nvSpPr>
          <p:spPr bwMode="auto">
            <a:xfrm flipV="1">
              <a:off x="2112" y="2016"/>
              <a:ext cx="624"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5" name="Line 25"/>
            <p:cNvSpPr>
              <a:spLocks noChangeShapeType="1"/>
            </p:cNvSpPr>
            <p:nvPr/>
          </p:nvSpPr>
          <p:spPr bwMode="auto">
            <a:xfrm>
              <a:off x="2064" y="2496"/>
              <a:ext cx="672"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6" name="Line 26"/>
            <p:cNvSpPr>
              <a:spLocks noChangeShapeType="1"/>
            </p:cNvSpPr>
            <p:nvPr/>
          </p:nvSpPr>
          <p:spPr bwMode="auto">
            <a:xfrm>
              <a:off x="2064" y="2496"/>
              <a:ext cx="672" cy="9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7" name="Line 27"/>
            <p:cNvSpPr>
              <a:spLocks noChangeShapeType="1"/>
            </p:cNvSpPr>
            <p:nvPr/>
          </p:nvSpPr>
          <p:spPr bwMode="auto">
            <a:xfrm>
              <a:off x="2976" y="2016"/>
              <a:ext cx="672"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8" name="Line 28"/>
            <p:cNvSpPr>
              <a:spLocks noChangeShapeType="1"/>
            </p:cNvSpPr>
            <p:nvPr/>
          </p:nvSpPr>
          <p:spPr bwMode="auto">
            <a:xfrm flipV="1">
              <a:off x="2976" y="2496"/>
              <a:ext cx="576"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79" name="Line 29"/>
            <p:cNvSpPr>
              <a:spLocks noChangeShapeType="1"/>
            </p:cNvSpPr>
            <p:nvPr/>
          </p:nvSpPr>
          <p:spPr bwMode="auto">
            <a:xfrm>
              <a:off x="2976" y="3360"/>
              <a:ext cx="624"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0" name="Line 30"/>
            <p:cNvSpPr>
              <a:spLocks noChangeShapeType="1"/>
            </p:cNvSpPr>
            <p:nvPr/>
          </p:nvSpPr>
          <p:spPr bwMode="auto">
            <a:xfrm flipV="1">
              <a:off x="3744" y="2016"/>
              <a:ext cx="432"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1" name="Line 31"/>
            <p:cNvSpPr>
              <a:spLocks noChangeShapeType="1"/>
            </p:cNvSpPr>
            <p:nvPr/>
          </p:nvSpPr>
          <p:spPr bwMode="auto">
            <a:xfrm>
              <a:off x="3792" y="2496"/>
              <a:ext cx="432"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2" name="Line 32"/>
            <p:cNvSpPr>
              <a:spLocks noChangeShapeType="1"/>
            </p:cNvSpPr>
            <p:nvPr/>
          </p:nvSpPr>
          <p:spPr bwMode="auto">
            <a:xfrm flipV="1">
              <a:off x="3840" y="3024"/>
              <a:ext cx="528"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3" name="Line 33"/>
            <p:cNvSpPr>
              <a:spLocks noChangeShapeType="1"/>
            </p:cNvSpPr>
            <p:nvPr/>
          </p:nvSpPr>
          <p:spPr bwMode="auto">
            <a:xfrm>
              <a:off x="4416" y="1968"/>
              <a:ext cx="576"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4" name="Line 34"/>
            <p:cNvSpPr>
              <a:spLocks noChangeShapeType="1"/>
            </p:cNvSpPr>
            <p:nvPr/>
          </p:nvSpPr>
          <p:spPr bwMode="auto">
            <a:xfrm flipV="1">
              <a:off x="4464" y="2592"/>
              <a:ext cx="432" cy="2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8885" name="Text Box 35"/>
            <p:cNvSpPr txBox="1">
              <a:spLocks noChangeArrowheads="1"/>
            </p:cNvSpPr>
            <p:nvPr/>
          </p:nvSpPr>
          <p:spPr bwMode="auto">
            <a:xfrm>
              <a:off x="2064" y="201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a:t>
              </a:r>
              <a:r>
                <a:rPr kumimoji="1" lang="en-US" altLang="zh-CN" sz="2000" dirty="0">
                  <a:latin typeface="Times New Roman" panose="02020603050405020304" pitchFamily="18" charset="0"/>
                  <a:ea typeface="华文楷体" panose="02010600040101010101" pitchFamily="2" charset="-122"/>
                </a:rPr>
                <a:t>=6</a:t>
              </a:r>
              <a:endParaRPr kumimoji="1" lang="en-US" altLang="zh-CN" sz="2000" dirty="0">
                <a:latin typeface="Times New Roman" panose="02020603050405020304" pitchFamily="18" charset="0"/>
                <a:ea typeface="华文楷体" panose="02010600040101010101" pitchFamily="2" charset="-122"/>
              </a:endParaRPr>
            </a:p>
          </p:txBody>
        </p:sp>
        <p:sp>
          <p:nvSpPr>
            <p:cNvPr id="78886" name="Text Box 36"/>
            <p:cNvSpPr txBox="1">
              <a:spLocks noChangeArrowheads="1"/>
            </p:cNvSpPr>
            <p:nvPr/>
          </p:nvSpPr>
          <p:spPr bwMode="auto">
            <a:xfrm>
              <a:off x="2352" y="249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2</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sp>
          <p:nvSpPr>
            <p:cNvPr id="78887" name="Text Box 37"/>
            <p:cNvSpPr txBox="1">
              <a:spLocks noChangeArrowheads="1"/>
            </p:cNvSpPr>
            <p:nvPr/>
          </p:nvSpPr>
          <p:spPr bwMode="auto">
            <a:xfrm>
              <a:off x="2112" y="297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3</a:t>
              </a:r>
              <a:r>
                <a:rPr kumimoji="1" lang="en-US" altLang="zh-CN" sz="2000" dirty="0">
                  <a:latin typeface="Times New Roman" panose="02020603050405020304" pitchFamily="18" charset="0"/>
                  <a:ea typeface="华文楷体" panose="02010600040101010101" pitchFamily="2" charset="-122"/>
                </a:rPr>
                <a:t>=5</a:t>
              </a:r>
              <a:endParaRPr kumimoji="1" lang="en-US" altLang="zh-CN" sz="2000" dirty="0">
                <a:latin typeface="Times New Roman" panose="02020603050405020304" pitchFamily="18" charset="0"/>
                <a:ea typeface="华文楷体" panose="02010600040101010101" pitchFamily="2" charset="-122"/>
              </a:endParaRPr>
            </a:p>
          </p:txBody>
        </p:sp>
        <p:sp>
          <p:nvSpPr>
            <p:cNvPr id="78888" name="Text Box 38"/>
            <p:cNvSpPr txBox="1">
              <a:spLocks noChangeArrowheads="1"/>
            </p:cNvSpPr>
            <p:nvPr/>
          </p:nvSpPr>
          <p:spPr bwMode="auto">
            <a:xfrm>
              <a:off x="2976" y="211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4</a:t>
              </a:r>
              <a:r>
                <a:rPr kumimoji="1" lang="en-US" altLang="zh-CN" sz="2000" dirty="0">
                  <a:latin typeface="Times New Roman" panose="02020603050405020304" pitchFamily="18" charset="0"/>
                  <a:ea typeface="华文楷体" panose="02010600040101010101" pitchFamily="2" charset="-122"/>
                </a:rPr>
                <a:t>=1</a:t>
              </a:r>
              <a:endParaRPr kumimoji="1" lang="en-US" altLang="zh-CN" sz="2000" dirty="0">
                <a:latin typeface="Times New Roman" panose="02020603050405020304" pitchFamily="18" charset="0"/>
                <a:ea typeface="华文楷体" panose="02010600040101010101" pitchFamily="2" charset="-122"/>
              </a:endParaRPr>
            </a:p>
          </p:txBody>
        </p:sp>
        <p:sp>
          <p:nvSpPr>
            <p:cNvPr id="78889" name="Text Box 39"/>
            <p:cNvSpPr txBox="1">
              <a:spLocks noChangeArrowheads="1"/>
            </p:cNvSpPr>
            <p:nvPr/>
          </p:nvSpPr>
          <p:spPr bwMode="auto">
            <a:xfrm>
              <a:off x="2976" y="244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5</a:t>
              </a:r>
              <a:r>
                <a:rPr kumimoji="1" lang="en-US" altLang="zh-CN" sz="2000" dirty="0">
                  <a:latin typeface="Times New Roman" panose="02020603050405020304" pitchFamily="18" charset="0"/>
                  <a:ea typeface="华文楷体" panose="02010600040101010101" pitchFamily="2" charset="-122"/>
                </a:rPr>
                <a:t>=1</a:t>
              </a:r>
              <a:endParaRPr kumimoji="1" lang="en-US" altLang="zh-CN" sz="2000" dirty="0">
                <a:latin typeface="Times New Roman" panose="02020603050405020304" pitchFamily="18" charset="0"/>
                <a:ea typeface="华文楷体" panose="02010600040101010101" pitchFamily="2" charset="-122"/>
              </a:endParaRPr>
            </a:p>
          </p:txBody>
        </p:sp>
        <p:sp>
          <p:nvSpPr>
            <p:cNvPr id="78890" name="Text Box 40"/>
            <p:cNvSpPr txBox="1">
              <a:spLocks noChangeArrowheads="1"/>
            </p:cNvSpPr>
            <p:nvPr/>
          </p:nvSpPr>
          <p:spPr bwMode="auto">
            <a:xfrm>
              <a:off x="3024" y="312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6</a:t>
              </a:r>
              <a:r>
                <a:rPr kumimoji="1" lang="en-US" altLang="zh-CN" sz="2000" dirty="0">
                  <a:latin typeface="Times New Roman" panose="02020603050405020304" pitchFamily="18" charset="0"/>
                  <a:ea typeface="华文楷体" panose="02010600040101010101" pitchFamily="2" charset="-122"/>
                </a:rPr>
                <a:t>=2</a:t>
              </a:r>
              <a:endParaRPr kumimoji="1" lang="en-US" altLang="zh-CN" sz="2000" dirty="0">
                <a:latin typeface="Times New Roman" panose="02020603050405020304" pitchFamily="18" charset="0"/>
                <a:ea typeface="华文楷体" panose="02010600040101010101" pitchFamily="2" charset="-122"/>
              </a:endParaRPr>
            </a:p>
          </p:txBody>
        </p:sp>
        <p:sp>
          <p:nvSpPr>
            <p:cNvPr id="78891" name="Text Box 41"/>
            <p:cNvSpPr txBox="1">
              <a:spLocks noChangeArrowheads="1"/>
            </p:cNvSpPr>
            <p:nvPr/>
          </p:nvSpPr>
          <p:spPr bwMode="auto">
            <a:xfrm>
              <a:off x="3648" y="196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7</a:t>
              </a:r>
              <a:r>
                <a:rPr kumimoji="1" lang="en-US" altLang="zh-CN" sz="2000" dirty="0">
                  <a:latin typeface="Times New Roman" panose="02020603050405020304" pitchFamily="18" charset="0"/>
                  <a:ea typeface="华文楷体" panose="02010600040101010101" pitchFamily="2" charset="-122"/>
                </a:rPr>
                <a:t>=9</a:t>
              </a:r>
              <a:endParaRPr kumimoji="1" lang="en-US" altLang="zh-CN" sz="2000" dirty="0">
                <a:latin typeface="Times New Roman" panose="02020603050405020304" pitchFamily="18" charset="0"/>
                <a:ea typeface="华文楷体" panose="02010600040101010101" pitchFamily="2" charset="-122"/>
              </a:endParaRPr>
            </a:p>
          </p:txBody>
        </p:sp>
        <p:sp>
          <p:nvSpPr>
            <p:cNvPr id="78892" name="Text Box 42"/>
            <p:cNvSpPr txBox="1">
              <a:spLocks noChangeArrowheads="1"/>
            </p:cNvSpPr>
            <p:nvPr/>
          </p:nvSpPr>
          <p:spPr bwMode="auto">
            <a:xfrm>
              <a:off x="3648" y="264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8</a:t>
              </a:r>
              <a:r>
                <a:rPr kumimoji="1" lang="en-US" altLang="zh-CN" sz="2000" dirty="0">
                  <a:latin typeface="Times New Roman" panose="02020603050405020304" pitchFamily="18" charset="0"/>
                  <a:ea typeface="华文楷体" panose="02010600040101010101" pitchFamily="2" charset="-122"/>
                </a:rPr>
                <a:t>=7</a:t>
              </a:r>
              <a:endParaRPr kumimoji="1" lang="en-US" altLang="zh-CN" sz="2000" dirty="0">
                <a:latin typeface="Times New Roman" panose="02020603050405020304" pitchFamily="18" charset="0"/>
                <a:ea typeface="华文楷体" panose="02010600040101010101" pitchFamily="2" charset="-122"/>
              </a:endParaRPr>
            </a:p>
          </p:txBody>
        </p:sp>
        <p:sp>
          <p:nvSpPr>
            <p:cNvPr id="78893" name="Text Box 43"/>
            <p:cNvSpPr txBox="1">
              <a:spLocks noChangeArrowheads="1"/>
            </p:cNvSpPr>
            <p:nvPr/>
          </p:nvSpPr>
          <p:spPr bwMode="auto">
            <a:xfrm>
              <a:off x="3984" y="316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9</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sp>
          <p:nvSpPr>
            <p:cNvPr id="78894" name="Text Box 44"/>
            <p:cNvSpPr txBox="1">
              <a:spLocks noChangeArrowheads="1"/>
            </p:cNvSpPr>
            <p:nvPr/>
          </p:nvSpPr>
          <p:spPr bwMode="auto">
            <a:xfrm>
              <a:off x="4320" y="211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10</a:t>
              </a:r>
              <a:r>
                <a:rPr kumimoji="1" lang="en-US" altLang="zh-CN" sz="2000" dirty="0">
                  <a:latin typeface="Times New Roman" panose="02020603050405020304" pitchFamily="18" charset="0"/>
                  <a:ea typeface="华文楷体" panose="02010600040101010101" pitchFamily="2" charset="-122"/>
                </a:rPr>
                <a:t>=2</a:t>
              </a:r>
              <a:endParaRPr kumimoji="1" lang="en-US" altLang="zh-CN" sz="2000" dirty="0">
                <a:latin typeface="Times New Roman" panose="02020603050405020304" pitchFamily="18" charset="0"/>
                <a:ea typeface="华文楷体" panose="02010600040101010101" pitchFamily="2" charset="-122"/>
              </a:endParaRPr>
            </a:p>
          </p:txBody>
        </p:sp>
        <p:sp>
          <p:nvSpPr>
            <p:cNvPr id="78895" name="Text Box 45"/>
            <p:cNvSpPr txBox="1">
              <a:spLocks noChangeArrowheads="1"/>
            </p:cNvSpPr>
            <p:nvPr/>
          </p:nvSpPr>
          <p:spPr bwMode="auto">
            <a:xfrm>
              <a:off x="4560" y="26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11</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additive="base">
                                        <p:cTn id="7" dur="500" fill="hold"/>
                                        <p:tgtEl>
                                          <p:spTgt spid="88068"/>
                                        </p:tgtEl>
                                        <p:attrNameLst>
                                          <p:attrName>ppt_x</p:attrName>
                                        </p:attrNameLst>
                                      </p:cBhvr>
                                      <p:tavLst>
                                        <p:tav tm="0">
                                          <p:val>
                                            <p:strVal val="1+#ppt_w/2"/>
                                          </p:val>
                                        </p:tav>
                                        <p:tav tm="100000">
                                          <p:val>
                                            <p:strVal val="#ppt_x"/>
                                          </p:val>
                                        </p:tav>
                                      </p:tavLst>
                                    </p:anim>
                                    <p:anim calcmode="lin" valueType="num">
                                      <p:cBhvr additive="base">
                                        <p:cTn id="8" dur="500" fill="hold"/>
                                        <p:tgtEl>
                                          <p:spTgt spid="880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页脚占位符 3"/>
          <p:cNvSpPr>
            <a:spLocks noGrp="1"/>
          </p:cNvSpPr>
          <p:nvPr>
            <p:ph type="ftr" sz="quarter" idx="10"/>
          </p:nvPr>
        </p:nvSpPr>
        <p:spPr/>
        <p:txBody>
          <a:bodyPr/>
          <a:lstStyle/>
          <a:p>
            <a:pPr>
              <a:defRPr/>
            </a:pPr>
            <a:r>
              <a:rPr lang="en-US" altLang="zh-CN"/>
              <a:t>BUPT SCST</a:t>
            </a:r>
            <a:endParaRPr lang="en-US" altLang="zh-CN"/>
          </a:p>
        </p:txBody>
      </p:sp>
      <p:sp>
        <p:nvSpPr>
          <p:cNvPr id="14" name="日期占位符 5"/>
          <p:cNvSpPr>
            <a:spLocks noGrp="1"/>
          </p:cNvSpPr>
          <p:nvPr>
            <p:ph type="dt" sz="quarter" idx="12"/>
          </p:nvPr>
        </p:nvSpPr>
        <p:spPr/>
        <p:txBody>
          <a:bodyPr/>
          <a:lstStyle/>
          <a:p>
            <a:pPr>
              <a:defRPr/>
            </a:pPr>
            <a:r>
              <a:rPr lang="en-US" altLang="zh-CN"/>
              <a:t>BUPT</a:t>
            </a:r>
            <a:endParaRPr lang="en-US" altLang="zh-CN"/>
          </a:p>
        </p:txBody>
      </p:sp>
      <p:sp>
        <p:nvSpPr>
          <p:cNvPr id="798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987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相关概念和术语</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源点   </a:t>
            </a:r>
            <a:r>
              <a:rPr lang="zh-CN" altLang="en-US" sz="2400" dirty="0" smtClean="0">
                <a:ea typeface="华文楷体" panose="02010600040101010101" pitchFamily="2" charset="-122"/>
              </a:rPr>
              <a:t>入度为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的顶点，即工程的开始点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汇点   </a:t>
            </a:r>
            <a:r>
              <a:rPr lang="zh-CN" altLang="en-US" sz="2400" dirty="0" smtClean="0">
                <a:ea typeface="华文楷体" panose="02010600040101010101" pitchFamily="2" charset="-122"/>
              </a:rPr>
              <a:t>出度为</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的顶点，即工程的完成点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关键路径   </a:t>
            </a:r>
            <a:r>
              <a:rPr lang="zh-CN" altLang="en-US" sz="2400" dirty="0" smtClean="0">
                <a:ea typeface="华文楷体" panose="02010600040101010101" pitchFamily="2" charset="-122"/>
              </a:rPr>
              <a:t>从源点到汇点的最长路径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关键路径长度</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最短工期</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关键活动   </a:t>
            </a:r>
            <a:r>
              <a:rPr lang="zh-CN" altLang="en-US" sz="2400" dirty="0" smtClean="0">
                <a:ea typeface="华文楷体" panose="02010600040101010101" pitchFamily="2" charset="-122"/>
              </a:rPr>
              <a:t>关键路径上的活动</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关键活动的加快可以缩短工期</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确定关键路径时涉及的几个变量</a:t>
            </a:r>
            <a:r>
              <a:rPr lang="en-US" altLang="zh-CN" sz="2400" b="1" dirty="0" smtClean="0">
                <a:solidFill>
                  <a:srgbClr val="996600"/>
                </a:solidFill>
                <a:ea typeface="华文楷体" panose="02010600040101010101" pitchFamily="2" charset="-122"/>
              </a:rPr>
              <a:t>]</a:t>
            </a:r>
            <a:endParaRPr lang="en-US" altLang="zh-CN" sz="2400"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b="1" dirty="0" smtClean="0">
                <a:solidFill>
                  <a:schemeClr val="accent2"/>
                </a:solidFill>
                <a:ea typeface="华文楷体" panose="02010600040101010101" pitchFamily="2" charset="-122"/>
              </a:rPr>
              <a:t>e(</a:t>
            </a:r>
            <a:r>
              <a:rPr lang="en-US" altLang="zh-CN" sz="2400" b="1" dirty="0" err="1" smtClean="0">
                <a:solidFill>
                  <a:schemeClr val="accent2"/>
                </a:solidFill>
                <a:ea typeface="华文楷体" panose="02010600040101010101" pitchFamily="2" charset="-122"/>
              </a:rPr>
              <a:t>i</a:t>
            </a:r>
            <a:r>
              <a:rPr lang="en-US" altLang="zh-CN" sz="2400" b="1" dirty="0" smtClean="0">
                <a:solidFill>
                  <a:schemeClr val="accent2"/>
                </a:solidFill>
                <a:ea typeface="华文楷体" panose="02010600040101010101" pitchFamily="2" charset="-122"/>
              </a:rPr>
              <a:t>)</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活动</a:t>
            </a:r>
            <a:r>
              <a:rPr lang="en-US" altLang="zh-CN" sz="2400" dirty="0" err="1" smtClean="0">
                <a:ea typeface="华文楷体" panose="02010600040101010101" pitchFamily="2" charset="-122"/>
              </a:rPr>
              <a:t>a</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的最早开始时间</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en-US" sz="2400" dirty="0" smtClean="0"/>
              <a:t>    </a:t>
            </a:r>
            <a:r>
              <a:rPr lang="en-US" altLang="zh-CN" sz="2400" b="1" dirty="0" smtClean="0">
                <a:solidFill>
                  <a:schemeClr val="accent2"/>
                </a:solidFill>
                <a:ea typeface="华文楷体" panose="02010600040101010101" pitchFamily="2" charset="-122"/>
              </a:rPr>
              <a:t>l(</a:t>
            </a:r>
            <a:r>
              <a:rPr lang="en-US" altLang="zh-CN" sz="2400" b="1" dirty="0" err="1" smtClean="0">
                <a:solidFill>
                  <a:schemeClr val="accent2"/>
                </a:solidFill>
                <a:ea typeface="华文楷体" panose="02010600040101010101" pitchFamily="2" charset="-122"/>
              </a:rPr>
              <a:t>i</a:t>
            </a:r>
            <a:r>
              <a:rPr lang="en-US" altLang="zh-CN" sz="2400" b="1" dirty="0" smtClean="0">
                <a:solidFill>
                  <a:schemeClr val="accent2"/>
                </a:solidFill>
                <a:ea typeface="华文楷体" panose="02010600040101010101" pitchFamily="2" charset="-122"/>
              </a:rPr>
              <a:t>)</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活动</a:t>
            </a:r>
            <a:r>
              <a:rPr lang="en-US" altLang="zh-CN" sz="2400" dirty="0" err="1" smtClean="0">
                <a:ea typeface="华文楷体" panose="02010600040101010101" pitchFamily="2" charset="-122"/>
              </a:rPr>
              <a:t>a</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的最迟开始时间</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en-US" sz="2400" dirty="0" smtClean="0"/>
              <a:t>    </a:t>
            </a:r>
            <a:r>
              <a:rPr lang="en-US" altLang="zh-CN" sz="2400" b="1" dirty="0" err="1" smtClean="0">
                <a:solidFill>
                  <a:schemeClr val="accent2"/>
                </a:solidFill>
                <a:ea typeface="华文楷体" panose="02010600040101010101" pitchFamily="2" charset="-122"/>
              </a:rPr>
              <a:t>ve</a:t>
            </a:r>
            <a:r>
              <a:rPr lang="en-US" altLang="zh-CN" sz="2400" b="1" dirty="0" smtClean="0">
                <a:solidFill>
                  <a:schemeClr val="accent2"/>
                </a:solidFill>
                <a:ea typeface="华文楷体" panose="02010600040101010101" pitchFamily="2" charset="-122"/>
              </a:rPr>
              <a:t>(j)</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事件</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的最早发生时间</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en-US" sz="2400" dirty="0" smtClean="0"/>
              <a:t>    </a:t>
            </a:r>
            <a:r>
              <a:rPr lang="en-US" altLang="zh-CN" sz="2400" b="1" dirty="0" err="1" smtClean="0">
                <a:solidFill>
                  <a:schemeClr val="accent2"/>
                </a:solidFill>
                <a:ea typeface="华文楷体" panose="02010600040101010101" pitchFamily="2" charset="-122"/>
              </a:rPr>
              <a:t>vl</a:t>
            </a:r>
            <a:r>
              <a:rPr lang="en-US" altLang="zh-CN" sz="2400" b="1" dirty="0" smtClean="0">
                <a:solidFill>
                  <a:schemeClr val="accent2"/>
                </a:solidFill>
                <a:ea typeface="华文楷体" panose="02010600040101010101" pitchFamily="2" charset="-122"/>
              </a:rPr>
              <a:t>(j)</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事件</a:t>
            </a:r>
            <a:r>
              <a:rPr lang="en-US" altLang="zh-CN" sz="2400" dirty="0" err="1" smtClean="0">
                <a:ea typeface="华文楷体" panose="02010600040101010101" pitchFamily="2" charset="-122"/>
              </a:rPr>
              <a:t>v</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的最迟发生时间</a:t>
            </a:r>
            <a:endParaRPr lang="zh-CN" altLang="en-US" sz="2400" dirty="0" smtClean="0">
              <a:ea typeface="华文楷体" panose="02010600040101010101" pitchFamily="2" charset="-122"/>
            </a:endParaRPr>
          </a:p>
        </p:txBody>
      </p:sp>
      <p:sp>
        <p:nvSpPr>
          <p:cNvPr id="79878" name="Oval 4"/>
          <p:cNvSpPr>
            <a:spLocks noChangeArrowheads="1"/>
          </p:cNvSpPr>
          <p:nvPr/>
        </p:nvSpPr>
        <p:spPr bwMode="auto">
          <a:xfrm>
            <a:off x="5638800" y="48529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9879" name="Oval 5"/>
          <p:cNvSpPr>
            <a:spLocks noChangeArrowheads="1"/>
          </p:cNvSpPr>
          <p:nvPr/>
        </p:nvSpPr>
        <p:spPr bwMode="auto">
          <a:xfrm>
            <a:off x="7543800" y="47767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9880" name="Line 6"/>
          <p:cNvSpPr>
            <a:spLocks noChangeShapeType="1"/>
          </p:cNvSpPr>
          <p:nvPr/>
        </p:nvSpPr>
        <p:spPr bwMode="auto">
          <a:xfrm>
            <a:off x="6019800" y="5005388"/>
            <a:ext cx="1524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9881" name="Text Box 7"/>
          <p:cNvSpPr txBox="1">
            <a:spLocks noChangeArrowheads="1"/>
          </p:cNvSpPr>
          <p:nvPr/>
        </p:nvSpPr>
        <p:spPr bwMode="auto">
          <a:xfrm>
            <a:off x="6553200" y="462438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dirty="0" err="1">
                <a:latin typeface="Times New Roman" panose="02020603050405020304" pitchFamily="18" charset="0"/>
                <a:ea typeface="华文楷体" panose="02010600040101010101" pitchFamily="2" charset="-122"/>
              </a:rPr>
              <a:t>a</a:t>
            </a:r>
            <a:r>
              <a:rPr kumimoji="1" lang="en-US" altLang="zh-CN" sz="1800" baseline="-25000" dirty="0" err="1">
                <a:latin typeface="Times New Roman" panose="02020603050405020304" pitchFamily="18" charset="0"/>
                <a:ea typeface="华文楷体" panose="02010600040101010101" pitchFamily="2" charset="-122"/>
              </a:rPr>
              <a:t>i</a:t>
            </a:r>
            <a:endParaRPr kumimoji="1" lang="en-US" altLang="zh-CN" sz="1800" baseline="-25000" dirty="0">
              <a:latin typeface="Times New Roman" panose="02020603050405020304" pitchFamily="18" charset="0"/>
              <a:ea typeface="华文楷体" panose="02010600040101010101" pitchFamily="2" charset="-122"/>
            </a:endParaRPr>
          </a:p>
        </p:txBody>
      </p:sp>
      <p:sp>
        <p:nvSpPr>
          <p:cNvPr id="79882" name="Text Box 8"/>
          <p:cNvSpPr txBox="1">
            <a:spLocks noChangeArrowheads="1"/>
          </p:cNvSpPr>
          <p:nvPr/>
        </p:nvSpPr>
        <p:spPr bwMode="auto">
          <a:xfrm>
            <a:off x="6172200" y="4929188"/>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err="1">
                <a:latin typeface="Times New Roman" panose="02020603050405020304" pitchFamily="18" charset="0"/>
                <a:ea typeface="华文楷体" panose="02010600040101010101" pitchFamily="2" charset="-122"/>
              </a:rPr>
              <a:t>dut</a:t>
            </a:r>
            <a:r>
              <a:rPr kumimoji="1" lang="en-US" altLang="zh-CN" sz="2000" dirty="0">
                <a:latin typeface="Times New Roman" panose="02020603050405020304" pitchFamily="18" charset="0"/>
                <a:ea typeface="华文楷体" panose="02010600040101010101" pitchFamily="2" charset="-122"/>
              </a:rPr>
              <a:t>(&lt;</a:t>
            </a:r>
            <a:r>
              <a:rPr kumimoji="1" lang="en-US" altLang="zh-CN" sz="2000" dirty="0" err="1">
                <a:latin typeface="Times New Roman" panose="02020603050405020304" pitchFamily="18" charset="0"/>
                <a:ea typeface="华文楷体" panose="02010600040101010101" pitchFamily="2" charset="-122"/>
              </a:rPr>
              <a:t>j,k</a:t>
            </a:r>
            <a:r>
              <a:rPr kumimoji="1" lang="en-US" altLang="zh-CN" sz="2000" dirty="0">
                <a:latin typeface="Times New Roman" panose="02020603050405020304" pitchFamily="18" charset="0"/>
                <a:ea typeface="华文楷体" panose="02010600040101010101" pitchFamily="2" charset="-122"/>
              </a:rPr>
              <a:t>&gt;)</a:t>
            </a:r>
            <a:endParaRPr kumimoji="1" lang="en-US" altLang="zh-CN" sz="2000" dirty="0">
              <a:latin typeface="Times New Roman" panose="02020603050405020304" pitchFamily="18" charset="0"/>
              <a:ea typeface="华文楷体" panose="02010600040101010101" pitchFamily="2" charset="-122"/>
            </a:endParaRPr>
          </a:p>
        </p:txBody>
      </p:sp>
      <p:sp>
        <p:nvSpPr>
          <p:cNvPr id="79883" name="Text Box 9"/>
          <p:cNvSpPr txBox="1">
            <a:spLocks noChangeArrowheads="1"/>
          </p:cNvSpPr>
          <p:nvPr/>
        </p:nvSpPr>
        <p:spPr bwMode="auto">
          <a:xfrm>
            <a:off x="5715000" y="47767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79884" name="Text Box 10"/>
          <p:cNvSpPr txBox="1">
            <a:spLocks noChangeArrowheads="1"/>
          </p:cNvSpPr>
          <p:nvPr/>
        </p:nvSpPr>
        <p:spPr bwMode="auto">
          <a:xfrm>
            <a:off x="7543800" y="47005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endParaRPr kumimoji="1" lang="en-US" altLang="zh-CN" sz="2400" dirty="0">
              <a:latin typeface="Times New Roman" panose="02020603050405020304" pitchFamily="18" charset="0"/>
              <a:ea typeface="华文楷体" panose="02010600040101010101" pitchFamily="2" charset="-122"/>
            </a:endParaRPr>
          </a:p>
        </p:txBody>
      </p:sp>
      <p:sp>
        <p:nvSpPr>
          <p:cNvPr id="79885" name="Text Box 11"/>
          <p:cNvSpPr txBox="1">
            <a:spLocks noChangeArrowheads="1"/>
          </p:cNvSpPr>
          <p:nvPr/>
        </p:nvSpPr>
        <p:spPr bwMode="auto">
          <a:xfrm>
            <a:off x="5562600" y="5462588"/>
            <a:ext cx="2819400" cy="1014412"/>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e(</a:t>
            </a:r>
            <a:r>
              <a:rPr kumimoji="1" lang="en-US" altLang="zh-CN" sz="2400" dirty="0" err="1">
                <a:latin typeface="Times New Roman" panose="02020603050405020304" pitchFamily="18" charset="0"/>
                <a:ea typeface="华文楷体" panose="02010600040101010101" pitchFamily="2" charset="-122"/>
              </a:rPr>
              <a:t>i</a:t>
            </a:r>
            <a:r>
              <a:rPr kumimoji="1" lang="en-US" altLang="zh-CN" sz="2400" dirty="0">
                <a:latin typeface="Times New Roman" panose="02020603050405020304" pitchFamily="18" charset="0"/>
                <a:ea typeface="华文楷体" panose="02010600040101010101" pitchFamily="2" charset="-122"/>
              </a:rPr>
              <a:t>)=</a:t>
            </a:r>
            <a:r>
              <a:rPr kumimoji="1" lang="en-US" altLang="zh-CN" sz="2400" dirty="0" err="1">
                <a:latin typeface="Times New Roman" panose="02020603050405020304" pitchFamily="18" charset="0"/>
                <a:ea typeface="华文楷体" panose="02010600040101010101" pitchFamily="2" charset="-122"/>
              </a:rPr>
              <a:t>ve</a:t>
            </a: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l(</a:t>
            </a:r>
            <a:r>
              <a:rPr kumimoji="1" lang="en-US" altLang="zh-CN" sz="2400" dirty="0" err="1">
                <a:latin typeface="Times New Roman" panose="02020603050405020304" pitchFamily="18" charset="0"/>
                <a:ea typeface="华文楷体" panose="02010600040101010101" pitchFamily="2" charset="-122"/>
              </a:rPr>
              <a:t>i</a:t>
            </a:r>
            <a:r>
              <a:rPr kumimoji="1" lang="en-US" altLang="zh-CN" sz="2400" dirty="0">
                <a:latin typeface="Times New Roman" panose="02020603050405020304" pitchFamily="18" charset="0"/>
                <a:ea typeface="华文楷体" panose="02010600040101010101" pitchFamily="2" charset="-122"/>
              </a:rPr>
              <a:t>)=</a:t>
            </a:r>
            <a:r>
              <a:rPr kumimoji="1" lang="en-US" altLang="zh-CN" sz="2400" dirty="0" err="1">
                <a:latin typeface="Times New Roman" panose="02020603050405020304" pitchFamily="18" charset="0"/>
                <a:ea typeface="华文楷体" panose="02010600040101010101" pitchFamily="2" charset="-122"/>
              </a:rPr>
              <a:t>vl</a:t>
            </a:r>
            <a:r>
              <a:rPr kumimoji="1" lang="en-US" altLang="zh-CN" sz="2400" dirty="0">
                <a:latin typeface="Times New Roman" panose="02020603050405020304" pitchFamily="18" charset="0"/>
                <a:ea typeface="华文楷体" panose="02010600040101010101" pitchFamily="2" charset="-122"/>
              </a:rPr>
              <a:t>(k)-</a:t>
            </a:r>
            <a:r>
              <a:rPr kumimoji="1" lang="en-US" altLang="zh-CN" sz="2400" dirty="0" err="1">
                <a:latin typeface="Times New Roman" panose="02020603050405020304" pitchFamily="18" charset="0"/>
                <a:ea typeface="华文楷体" panose="02010600040101010101" pitchFamily="2" charset="-122"/>
              </a:rPr>
              <a:t>dut</a:t>
            </a:r>
            <a:r>
              <a:rPr kumimoji="1" lang="en-US" altLang="zh-CN" sz="2400" dirty="0">
                <a:latin typeface="Times New Roman" panose="02020603050405020304" pitchFamily="18" charset="0"/>
                <a:ea typeface="华文楷体" panose="02010600040101010101" pitchFamily="2" charset="-122"/>
              </a:rPr>
              <a:t>(&lt;</a:t>
            </a:r>
            <a:r>
              <a:rPr kumimoji="1" lang="en-US" altLang="zh-CN" sz="2400" dirty="0" err="1">
                <a:latin typeface="Times New Roman" panose="02020603050405020304" pitchFamily="18" charset="0"/>
                <a:ea typeface="华文楷体" panose="02010600040101010101" pitchFamily="2" charset="-122"/>
              </a:rPr>
              <a:t>j,k</a:t>
            </a:r>
            <a:r>
              <a:rPr kumimoji="1" lang="en-US" altLang="zh-CN" sz="2400" dirty="0">
                <a:latin typeface="Times New Roman" panose="02020603050405020304" pitchFamily="18" charset="0"/>
                <a:ea typeface="华文楷体" panose="02010600040101010101" pitchFamily="2" charset="-122"/>
              </a:rPr>
              <a:t>&gt;)</a:t>
            </a:r>
            <a:endParaRPr kumimoji="1" lang="en-US" altLang="zh-CN" sz="2400" dirty="0">
              <a:latin typeface="Times New Roman" panose="02020603050405020304" pitchFamily="18" charset="0"/>
              <a:ea typeface="华文楷体" panose="02010600040101010101" pitchFamily="2" charset="-122"/>
            </a:endParaRPr>
          </a:p>
        </p:txBody>
      </p:sp>
      <p:sp>
        <p:nvSpPr>
          <p:cNvPr id="79886" name="Text Box 12"/>
          <p:cNvSpPr txBox="1">
            <a:spLocks noChangeArrowheads="1"/>
          </p:cNvSpPr>
          <p:nvPr/>
        </p:nvSpPr>
        <p:spPr bwMode="auto">
          <a:xfrm>
            <a:off x="4876800" y="33528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e(</a:t>
            </a:r>
            <a:r>
              <a:rPr kumimoji="1" lang="en-US" altLang="zh-CN" sz="2400" dirty="0" err="1">
                <a:solidFill>
                  <a:schemeClr val="accent2"/>
                </a:solidFill>
                <a:latin typeface="Times New Roman" panose="02020603050405020304" pitchFamily="18" charset="0"/>
                <a:ea typeface="华文楷体" panose="02010600040101010101" pitchFamily="2" charset="-122"/>
              </a:rPr>
              <a:t>i</a:t>
            </a:r>
            <a:r>
              <a:rPr kumimoji="1" lang="en-US" altLang="zh-CN" sz="2400" dirty="0">
                <a:solidFill>
                  <a:schemeClr val="accent2"/>
                </a:solidFill>
                <a:latin typeface="Times New Roman" panose="02020603050405020304" pitchFamily="18" charset="0"/>
                <a:ea typeface="华文楷体" panose="02010600040101010101" pitchFamily="2" charset="-122"/>
              </a:rPr>
              <a:t>)=l(</a:t>
            </a:r>
            <a:r>
              <a:rPr kumimoji="1" lang="en-US" altLang="zh-CN" sz="2400" dirty="0" err="1">
                <a:solidFill>
                  <a:schemeClr val="accent2"/>
                </a:solidFill>
                <a:latin typeface="Times New Roman" panose="02020603050405020304" pitchFamily="18" charset="0"/>
                <a:ea typeface="华文楷体" panose="02010600040101010101" pitchFamily="2" charset="-122"/>
              </a:rPr>
              <a:t>i</a:t>
            </a:r>
            <a:r>
              <a:rPr kumimoji="1" lang="en-US" altLang="zh-CN" sz="2400" dirty="0">
                <a:solidFill>
                  <a:schemeClr val="accent2"/>
                </a:solidFill>
                <a:latin typeface="Times New Roman" panose="02020603050405020304" pitchFamily="18" charset="0"/>
                <a:ea typeface="华文楷体" panose="02010600040101010101" pitchFamily="2" charset="-122"/>
              </a:rPr>
              <a:t>)</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页脚占位符 3"/>
          <p:cNvSpPr>
            <a:spLocks noGrp="1"/>
          </p:cNvSpPr>
          <p:nvPr>
            <p:ph type="ftr" sz="quarter" idx="10"/>
          </p:nvPr>
        </p:nvSpPr>
        <p:spPr/>
        <p:txBody>
          <a:bodyPr/>
          <a:lstStyle/>
          <a:p>
            <a:pPr>
              <a:defRPr/>
            </a:pPr>
            <a:r>
              <a:rPr lang="en-US" altLang="zh-CN"/>
              <a:t>BUPT SCST</a:t>
            </a:r>
            <a:endParaRPr lang="en-US" altLang="zh-CN"/>
          </a:p>
        </p:txBody>
      </p:sp>
      <p:sp>
        <p:nvSpPr>
          <p:cNvPr id="27" name="日期占位符 5"/>
          <p:cNvSpPr>
            <a:spLocks noGrp="1"/>
          </p:cNvSpPr>
          <p:nvPr>
            <p:ph type="dt" sz="quarter" idx="12"/>
          </p:nvPr>
        </p:nvSpPr>
        <p:spPr/>
        <p:txBody>
          <a:bodyPr/>
          <a:lstStyle/>
          <a:p>
            <a:pPr>
              <a:defRPr/>
            </a:pPr>
            <a:r>
              <a:rPr lang="en-US" altLang="zh-CN"/>
              <a:t>BUPT</a:t>
            </a:r>
            <a:endParaRPr lang="en-US" altLang="zh-CN"/>
          </a:p>
        </p:txBody>
      </p:sp>
      <p:sp>
        <p:nvSpPr>
          <p:cNvPr id="809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090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关键路径的确定</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996600"/>
                </a:solidFill>
                <a:ea typeface="华文楷体" panose="02010600040101010101" pitchFamily="2" charset="-122"/>
              </a:rPr>
              <a:t>1) </a:t>
            </a:r>
            <a:r>
              <a:rPr lang="zh-CN" altLang="en-US" sz="2400" b="1" dirty="0" smtClean="0">
                <a:solidFill>
                  <a:srgbClr val="996600"/>
                </a:solidFill>
                <a:ea typeface="华文楷体" panose="02010600040101010101" pitchFamily="2" charset="-122"/>
              </a:rPr>
              <a:t>求事件</a:t>
            </a:r>
            <a:r>
              <a:rPr lang="en-US" altLang="zh-CN" sz="2400" b="1" dirty="0" err="1" smtClean="0">
                <a:solidFill>
                  <a:srgbClr val="996600"/>
                </a:solidFill>
                <a:ea typeface="华文楷体" panose="02010600040101010101" pitchFamily="2" charset="-122"/>
              </a:rPr>
              <a:t>v</a:t>
            </a:r>
            <a:r>
              <a:rPr lang="en-US" altLang="zh-CN" sz="2400" b="1" baseline="-25000" dirty="0" err="1" smtClean="0">
                <a:solidFill>
                  <a:srgbClr val="996600"/>
                </a:solidFill>
                <a:ea typeface="华文楷体" panose="02010600040101010101" pitchFamily="2" charset="-122"/>
              </a:rPr>
              <a:t>j</a:t>
            </a:r>
            <a:r>
              <a:rPr lang="zh-CN" altLang="en-US" sz="2400" b="1" dirty="0" smtClean="0">
                <a:solidFill>
                  <a:srgbClr val="996600"/>
                </a:solidFill>
                <a:ea typeface="华文楷体" panose="02010600040101010101" pitchFamily="2" charset="-122"/>
              </a:rPr>
              <a:t>的最早发生时间</a:t>
            </a:r>
            <a:r>
              <a:rPr lang="en-US" altLang="zh-CN" sz="2400" b="1" dirty="0" err="1" smtClean="0">
                <a:solidFill>
                  <a:srgbClr val="996600"/>
                </a:solidFill>
                <a:ea typeface="华文楷体" panose="02010600040101010101" pitchFamily="2" charset="-122"/>
              </a:rPr>
              <a:t>ve</a:t>
            </a:r>
            <a:r>
              <a:rPr lang="en-US" altLang="zh-CN" sz="2400" b="1" dirty="0" smtClean="0">
                <a:solidFill>
                  <a:srgbClr val="996600"/>
                </a:solidFill>
                <a:ea typeface="华文楷体" panose="02010600040101010101" pitchFamily="2" charset="-122"/>
              </a:rPr>
              <a:t>(j)</a:t>
            </a:r>
            <a:endParaRPr lang="en-US" altLang="zh-CN" sz="2400" b="1" dirty="0" smtClean="0">
              <a:solidFill>
                <a:srgbClr val="99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(1)=0</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(j)=max{</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dut</a:t>
            </a:r>
            <a:r>
              <a:rPr lang="en-US" altLang="zh-CN" sz="2400" dirty="0" smtClean="0">
                <a:ea typeface="华文楷体" panose="02010600040101010101" pitchFamily="2" charset="-122"/>
              </a:rPr>
              <a:t>(&lt;</a:t>
            </a:r>
            <a:r>
              <a:rPr lang="en-US" altLang="zh-CN" sz="2400" dirty="0" err="1" smtClean="0">
                <a:ea typeface="华文楷体" panose="02010600040101010101" pitchFamily="2" charset="-122"/>
              </a:rPr>
              <a:t>i,j</a:t>
            </a:r>
            <a:r>
              <a:rPr lang="en-US" altLang="zh-CN" sz="2400" dirty="0" smtClean="0">
                <a:ea typeface="华文楷体" panose="02010600040101010101" pitchFamily="2" charset="-122"/>
              </a:rPr>
              <a:t>&gt;)}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err="1" smtClean="0">
                <a:ea typeface="华文楷体" panose="02010600040101010101" pitchFamily="2" charset="-122"/>
                <a:sym typeface="Symbol" panose="05050102010706020507" pitchFamily="18" charset="2"/>
              </a:rPr>
              <a:t>j</a:t>
            </a:r>
            <a:r>
              <a:rPr lang="zh-CN" altLang="zh-CN" sz="2400" dirty="0" smtClean="0">
                <a:ea typeface="华文楷体" panose="02010600040101010101" pitchFamily="2" charset="-122"/>
                <a:sym typeface="Symbol" panose="05050102010706020507" pitchFamily="18" charset="2"/>
              </a:rPr>
              <a:t>的前驱</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算法思想</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：在求拓扑排序的过程中进行。</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辅助数据结构</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(1..n)  </a:t>
            </a:r>
            <a:r>
              <a:rPr lang="en-US" altLang="zh-CN" sz="2400" dirty="0" smtClean="0">
                <a:solidFill>
                  <a:schemeClr val="accent2"/>
                </a:solidFill>
                <a:ea typeface="华文楷体" panose="02010600040101010101" pitchFamily="2" charset="-122"/>
              </a:rPr>
              <a:t>{n</a:t>
            </a:r>
            <a:r>
              <a:rPr lang="zh-CN" altLang="zh-CN" sz="2400" dirty="0" smtClean="0">
                <a:solidFill>
                  <a:schemeClr val="accent2"/>
                </a:solidFill>
                <a:ea typeface="华文楷体" panose="02010600040101010101" pitchFamily="2" charset="-122"/>
              </a:rPr>
              <a:t>为顶点个数}</a:t>
            </a:r>
            <a:endParaRPr lang="zh-CN" altLang="zh-CN" sz="2400" dirty="0" smtClean="0">
              <a:solidFill>
                <a:schemeClr val="accent1"/>
              </a:solidFill>
              <a:ea typeface="华文楷体" panose="02010600040101010101" pitchFamily="2" charset="-122"/>
            </a:endParaRPr>
          </a:p>
          <a:p>
            <a:pPr eaLnBrk="1" hangingPunct="1">
              <a:lnSpc>
                <a:spcPct val="90000"/>
              </a:lnSpc>
              <a:buFont typeface="Wingdings" panose="05000000000000000000" pitchFamily="2" charset="2"/>
              <a:buNone/>
            </a:pPr>
            <a:r>
              <a:rPr lang="zh-CN" altLang="zh-CN" sz="2400" dirty="0" smtClean="0">
                <a:solidFill>
                  <a:schemeClr val="accent1"/>
                </a:solidFill>
                <a:ea typeface="华文楷体" panose="02010600040101010101" pitchFamily="2" charset="-122"/>
              </a:rPr>
              <a:t>         </a:t>
            </a:r>
            <a:r>
              <a:rPr lang="zh-CN" altLang="zh-CN" sz="2400" dirty="0" smtClean="0">
                <a:ea typeface="华文楷体" panose="02010600040101010101" pitchFamily="2" charset="-122"/>
              </a:rPr>
              <a:t>1)初值</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[j]=0  1</a:t>
            </a:r>
            <a:r>
              <a:rPr lang="en-US" altLang="zh-CN" sz="2400" dirty="0" smtClean="0">
                <a:ea typeface="华文楷体" panose="02010600040101010101" pitchFamily="2" charset="-122"/>
                <a:sym typeface="Symbol" panose="05050102010706020507" pitchFamily="18" charset="2"/>
              </a:rPr>
              <a:t>jn</a:t>
            </a:r>
            <a:endParaRPr lang="en-US"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2) </a:t>
            </a:r>
            <a:r>
              <a:rPr lang="zh-CN" altLang="en-US" sz="2400" dirty="0" smtClean="0">
                <a:ea typeface="华文楷体" panose="02010600040101010101" pitchFamily="2" charset="-122"/>
                <a:sym typeface="Symbol" panose="05050102010706020507" pitchFamily="18" charset="2"/>
              </a:rPr>
              <a:t>每输出一个无前驱的顶点</a:t>
            </a:r>
            <a:r>
              <a:rPr lang="en-US" altLang="zh-CN" sz="2400" dirty="0" smtClean="0">
                <a:ea typeface="华文楷体" panose="02010600040101010101" pitchFamily="2" charset="-122"/>
                <a:sym typeface="Symbol" panose="05050102010706020507" pitchFamily="18" charset="2"/>
              </a:rPr>
              <a:t>j</a:t>
            </a:r>
            <a:r>
              <a:rPr lang="zh-CN" altLang="en-US" sz="2400" dirty="0" smtClean="0">
                <a:ea typeface="华文楷体" panose="02010600040101010101" pitchFamily="2" charset="-122"/>
                <a:sym typeface="Symbol" panose="05050102010706020507" pitchFamily="18" charset="2"/>
              </a:rPr>
              <a:t>后，修正</a:t>
            </a:r>
            <a:r>
              <a:rPr lang="en-US" altLang="zh-CN" sz="2400" dirty="0" smtClean="0">
                <a:ea typeface="华文楷体" panose="02010600040101010101" pitchFamily="2" charset="-122"/>
                <a:sym typeface="Symbol" panose="05050102010706020507" pitchFamily="18" charset="2"/>
              </a:rPr>
              <a:t>j</a:t>
            </a:r>
            <a:r>
              <a:rPr lang="zh-CN" altLang="en-US" sz="2400" dirty="0" smtClean="0">
                <a:ea typeface="华文楷体" panose="02010600040101010101" pitchFamily="2" charset="-122"/>
                <a:sym typeface="Symbol" panose="05050102010706020507" pitchFamily="18" charset="2"/>
              </a:rPr>
              <a:t>的所有后继结点</a:t>
            </a:r>
            <a:r>
              <a:rPr lang="en-US" altLang="zh-CN" sz="2400" dirty="0" smtClean="0">
                <a:ea typeface="华文楷体" panose="02010600040101010101" pitchFamily="2" charset="-122"/>
                <a:sym typeface="Symbol" panose="05050102010706020507" pitchFamily="18" charset="2"/>
              </a:rPr>
              <a:t>k</a:t>
            </a:r>
            <a:r>
              <a:rPr lang="zh-CN" altLang="en-US" sz="2400" dirty="0" smtClean="0">
                <a:ea typeface="华文楷体" panose="02010600040101010101" pitchFamily="2" charset="-122"/>
                <a:sym typeface="Symbol" panose="05050102010706020507" pitchFamily="18" charset="2"/>
              </a:rPr>
              <a:t>的</a:t>
            </a:r>
            <a:r>
              <a:rPr lang="en-US" altLang="zh-CN" sz="2400" dirty="0" err="1" smtClean="0">
                <a:ea typeface="华文楷体" panose="02010600040101010101" pitchFamily="2" charset="-122"/>
                <a:sym typeface="Symbol" panose="05050102010706020507" pitchFamily="18" charset="2"/>
              </a:rPr>
              <a:t>ve</a:t>
            </a:r>
            <a:r>
              <a:rPr lang="en-US" altLang="zh-CN" sz="2400" dirty="0" smtClean="0">
                <a:ea typeface="华文楷体" panose="02010600040101010101" pitchFamily="2" charset="-122"/>
                <a:sym typeface="Symbol" panose="05050102010706020507" pitchFamily="18" charset="2"/>
              </a:rPr>
              <a:t>[k]:   </a:t>
            </a:r>
            <a:r>
              <a:rPr lang="en-US" altLang="zh-CN" sz="2400" dirty="0" err="1" smtClean="0">
                <a:ea typeface="华文楷体" panose="02010600040101010101" pitchFamily="2" charset="-122"/>
                <a:sym typeface="Symbol" panose="05050102010706020507" pitchFamily="18" charset="2"/>
              </a:rPr>
              <a:t>ve</a:t>
            </a:r>
            <a:r>
              <a:rPr lang="en-US" altLang="zh-CN" sz="2400" dirty="0" smtClean="0">
                <a:ea typeface="华文楷体" panose="02010600040101010101" pitchFamily="2" charset="-122"/>
                <a:sym typeface="Symbol" panose="05050102010706020507" pitchFamily="18" charset="2"/>
              </a:rPr>
              <a:t>[k]=max{</a:t>
            </a:r>
            <a:r>
              <a:rPr lang="en-US" altLang="zh-CN" sz="2400" dirty="0" err="1" smtClean="0">
                <a:ea typeface="华文楷体" panose="02010600040101010101" pitchFamily="2" charset="-122"/>
                <a:sym typeface="Symbol" panose="05050102010706020507" pitchFamily="18" charset="2"/>
              </a:rPr>
              <a:t>ve</a:t>
            </a:r>
            <a:r>
              <a:rPr lang="en-US" altLang="zh-CN" sz="2400" dirty="0" smtClean="0">
                <a:ea typeface="华文楷体" panose="02010600040101010101" pitchFamily="2" charset="-122"/>
                <a:sym typeface="Symbol" panose="05050102010706020507" pitchFamily="18" charset="2"/>
              </a:rPr>
              <a:t>[k], </a:t>
            </a:r>
            <a:r>
              <a:rPr lang="en-US" altLang="zh-CN" sz="2400" dirty="0" err="1" smtClean="0">
                <a:ea typeface="华文楷体" panose="02010600040101010101" pitchFamily="2" charset="-122"/>
                <a:sym typeface="Symbol" panose="05050102010706020507" pitchFamily="18" charset="2"/>
              </a:rPr>
              <a:t>ve</a:t>
            </a:r>
            <a:r>
              <a:rPr lang="en-US" altLang="zh-CN" sz="2400" dirty="0" smtClean="0">
                <a:ea typeface="华文楷体" panose="02010600040101010101" pitchFamily="2" charset="-122"/>
                <a:sym typeface="Symbol" panose="05050102010706020507" pitchFamily="18" charset="2"/>
              </a:rPr>
              <a:t>[j]+</a:t>
            </a:r>
            <a:r>
              <a:rPr lang="en-US" altLang="zh-CN" sz="2400" dirty="0" err="1" smtClean="0">
                <a:ea typeface="华文楷体" panose="02010600040101010101" pitchFamily="2" charset="-122"/>
                <a:sym typeface="Symbol" panose="05050102010706020507" pitchFamily="18" charset="2"/>
              </a:rPr>
              <a:t>dut</a:t>
            </a:r>
            <a:r>
              <a:rPr lang="en-US" altLang="zh-CN" sz="2400" dirty="0" smtClean="0">
                <a:ea typeface="华文楷体" panose="02010600040101010101" pitchFamily="2" charset="-122"/>
                <a:sym typeface="Symbol" panose="05050102010706020507" pitchFamily="18" charset="2"/>
              </a:rPr>
              <a:t>(&lt;</a:t>
            </a:r>
            <a:r>
              <a:rPr lang="en-US" altLang="zh-CN" sz="2400" dirty="0" err="1" smtClean="0">
                <a:ea typeface="华文楷体" panose="02010600040101010101" pitchFamily="2" charset="-122"/>
                <a:sym typeface="Symbol" panose="05050102010706020507" pitchFamily="18" charset="2"/>
              </a:rPr>
              <a:t>j,k</a:t>
            </a:r>
            <a:r>
              <a:rPr lang="en-US" altLang="zh-CN" sz="2400" dirty="0" smtClean="0">
                <a:ea typeface="华文楷体" panose="02010600040101010101" pitchFamily="2" charset="-122"/>
                <a:sym typeface="Symbol" panose="05050102010706020507" pitchFamily="18" charset="2"/>
              </a:rPr>
              <a:t>&gt;)}</a:t>
            </a:r>
            <a:endParaRPr lang="en-US" altLang="zh-CN" sz="2400" dirty="0" smtClean="0">
              <a:ea typeface="华文楷体" panose="02010600040101010101" pitchFamily="2" charset="-122"/>
              <a:sym typeface="Symbol" panose="05050102010706020507" pitchFamily="18" charset="2"/>
            </a:endParaRPr>
          </a:p>
        </p:txBody>
      </p:sp>
      <p:sp>
        <p:nvSpPr>
          <p:cNvPr id="80902" name="AutoShape 4"/>
          <p:cNvSpPr/>
          <p:nvPr/>
        </p:nvSpPr>
        <p:spPr bwMode="auto">
          <a:xfrm>
            <a:off x="838200" y="1981200"/>
            <a:ext cx="228600" cy="762000"/>
          </a:xfrm>
          <a:prstGeom prst="leftBrace">
            <a:avLst>
              <a:gd name="adj1" fmla="val 2777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03" name="Oval 5"/>
          <p:cNvSpPr>
            <a:spLocks noChangeArrowheads="1"/>
          </p:cNvSpPr>
          <p:nvPr/>
        </p:nvSpPr>
        <p:spPr bwMode="auto">
          <a:xfrm>
            <a:off x="5867400" y="16002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04" name="Oval 6"/>
          <p:cNvSpPr>
            <a:spLocks noChangeArrowheads="1"/>
          </p:cNvSpPr>
          <p:nvPr/>
        </p:nvSpPr>
        <p:spPr bwMode="auto">
          <a:xfrm>
            <a:off x="5867400" y="21336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05" name="Oval 7"/>
          <p:cNvSpPr>
            <a:spLocks noChangeArrowheads="1"/>
          </p:cNvSpPr>
          <p:nvPr/>
        </p:nvSpPr>
        <p:spPr bwMode="auto">
          <a:xfrm>
            <a:off x="7620000" y="20574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06" name="Text Box 8"/>
          <p:cNvSpPr txBox="1">
            <a:spLocks noChangeArrowheads="1"/>
          </p:cNvSpPr>
          <p:nvPr/>
        </p:nvSpPr>
        <p:spPr bwMode="auto">
          <a:xfrm>
            <a:off x="5943600" y="2438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t>
            </a:r>
            <a:endParaRPr kumimoji="1" lang="en-US" altLang="zh-CN" sz="2400" dirty="0">
              <a:latin typeface="Times New Roman" panose="02020603050405020304" pitchFamily="18" charset="0"/>
              <a:ea typeface="华文楷体" panose="02010600040101010101" pitchFamily="2" charset="-122"/>
            </a:endParaRPr>
          </a:p>
        </p:txBody>
      </p:sp>
      <p:sp>
        <p:nvSpPr>
          <p:cNvPr id="80907" name="Line 9"/>
          <p:cNvSpPr>
            <a:spLocks noChangeShapeType="1"/>
          </p:cNvSpPr>
          <p:nvPr/>
        </p:nvSpPr>
        <p:spPr bwMode="auto">
          <a:xfrm>
            <a:off x="6324600" y="1828800"/>
            <a:ext cx="12954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908" name="Text Box 10"/>
          <p:cNvSpPr txBox="1">
            <a:spLocks noChangeArrowheads="1"/>
          </p:cNvSpPr>
          <p:nvPr/>
        </p:nvSpPr>
        <p:spPr bwMode="auto">
          <a:xfrm>
            <a:off x="7696200" y="20574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80909" name="Text Box 11"/>
          <p:cNvSpPr txBox="1">
            <a:spLocks noChangeArrowheads="1"/>
          </p:cNvSpPr>
          <p:nvPr/>
        </p:nvSpPr>
        <p:spPr bwMode="auto">
          <a:xfrm>
            <a:off x="5943600" y="1600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i</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80910" name="Text Box 12"/>
          <p:cNvSpPr txBox="1">
            <a:spLocks noChangeArrowheads="1"/>
          </p:cNvSpPr>
          <p:nvPr/>
        </p:nvSpPr>
        <p:spPr bwMode="auto">
          <a:xfrm>
            <a:off x="5943600"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i</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0911" name="Line 13"/>
          <p:cNvSpPr>
            <a:spLocks noChangeShapeType="1"/>
          </p:cNvSpPr>
          <p:nvPr/>
        </p:nvSpPr>
        <p:spPr bwMode="auto">
          <a:xfrm>
            <a:off x="6324600" y="2362200"/>
            <a:ext cx="1295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912" name="Line 14"/>
          <p:cNvSpPr>
            <a:spLocks noChangeShapeType="1"/>
          </p:cNvSpPr>
          <p:nvPr/>
        </p:nvSpPr>
        <p:spPr bwMode="auto">
          <a:xfrm flipV="1">
            <a:off x="6400800" y="2438400"/>
            <a:ext cx="12954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913" name="Oval 15"/>
          <p:cNvSpPr>
            <a:spLocks noChangeArrowheads="1"/>
          </p:cNvSpPr>
          <p:nvPr/>
        </p:nvSpPr>
        <p:spPr bwMode="auto">
          <a:xfrm>
            <a:off x="6096000" y="5715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14" name="Oval 16"/>
          <p:cNvSpPr>
            <a:spLocks noChangeArrowheads="1"/>
          </p:cNvSpPr>
          <p:nvPr/>
        </p:nvSpPr>
        <p:spPr bwMode="auto">
          <a:xfrm>
            <a:off x="7086600" y="5257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15" name="Oval 17"/>
          <p:cNvSpPr>
            <a:spLocks noChangeArrowheads="1"/>
          </p:cNvSpPr>
          <p:nvPr/>
        </p:nvSpPr>
        <p:spPr bwMode="auto">
          <a:xfrm>
            <a:off x="7162800" y="5715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0916" name="Text Box 18"/>
          <p:cNvSpPr txBox="1">
            <a:spLocks noChangeArrowheads="1"/>
          </p:cNvSpPr>
          <p:nvPr/>
        </p:nvSpPr>
        <p:spPr bwMode="auto">
          <a:xfrm>
            <a:off x="6172200" y="5638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80917" name="Text Box 19"/>
          <p:cNvSpPr txBox="1">
            <a:spLocks noChangeArrowheads="1"/>
          </p:cNvSpPr>
          <p:nvPr/>
        </p:nvSpPr>
        <p:spPr bwMode="auto">
          <a:xfrm>
            <a:off x="7086600" y="5181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80918" name="Text Box 20"/>
          <p:cNvSpPr txBox="1">
            <a:spLocks noChangeArrowheads="1"/>
          </p:cNvSpPr>
          <p:nvPr/>
        </p:nvSpPr>
        <p:spPr bwMode="auto">
          <a:xfrm>
            <a:off x="7162800" y="5638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0919" name="Text Box 21"/>
          <p:cNvSpPr txBox="1">
            <a:spLocks noChangeArrowheads="1"/>
          </p:cNvSpPr>
          <p:nvPr/>
        </p:nvSpPr>
        <p:spPr bwMode="auto">
          <a:xfrm>
            <a:off x="7162800" y="594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t>
            </a:r>
            <a:endParaRPr kumimoji="1" lang="en-US" altLang="zh-CN" sz="2400" dirty="0">
              <a:latin typeface="Times New Roman" panose="02020603050405020304" pitchFamily="18" charset="0"/>
              <a:ea typeface="华文楷体" panose="02010600040101010101" pitchFamily="2" charset="-122"/>
            </a:endParaRPr>
          </a:p>
        </p:txBody>
      </p:sp>
      <p:sp>
        <p:nvSpPr>
          <p:cNvPr id="80920" name="Line 22"/>
          <p:cNvSpPr>
            <a:spLocks noChangeShapeType="1"/>
          </p:cNvSpPr>
          <p:nvPr/>
        </p:nvSpPr>
        <p:spPr bwMode="auto">
          <a:xfrm flipV="1">
            <a:off x="6477000" y="5486400"/>
            <a:ext cx="6096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921" name="Line 23"/>
          <p:cNvSpPr>
            <a:spLocks noChangeShapeType="1"/>
          </p:cNvSpPr>
          <p:nvPr/>
        </p:nvSpPr>
        <p:spPr bwMode="auto">
          <a:xfrm flipV="1">
            <a:off x="6477000" y="5943600"/>
            <a:ext cx="685800" cy="76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0922" name="Text Box 24"/>
          <p:cNvSpPr txBox="1">
            <a:spLocks noChangeArrowheads="1"/>
          </p:cNvSpPr>
          <p:nvPr/>
        </p:nvSpPr>
        <p:spPr bwMode="auto">
          <a:xfrm>
            <a:off x="5867400" y="53340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latin typeface="Times New Roman" panose="02020603050405020304" pitchFamily="18" charset="0"/>
                <a:ea typeface="华文楷体" panose="02010600040101010101" pitchFamily="2" charset="-122"/>
              </a:rPr>
              <a:t>ve</a:t>
            </a: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80923" name="Line 25"/>
          <p:cNvSpPr>
            <a:spLocks noChangeShapeType="1"/>
          </p:cNvSpPr>
          <p:nvPr/>
        </p:nvSpPr>
        <p:spPr bwMode="auto">
          <a:xfrm>
            <a:off x="6400800" y="6096000"/>
            <a:ext cx="76200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页脚占位符 3"/>
          <p:cNvSpPr>
            <a:spLocks noGrp="1"/>
          </p:cNvSpPr>
          <p:nvPr>
            <p:ph type="ftr" sz="quarter" idx="10"/>
          </p:nvPr>
        </p:nvSpPr>
        <p:spPr/>
        <p:txBody>
          <a:bodyPr/>
          <a:lstStyle/>
          <a:p>
            <a:pPr>
              <a:defRPr/>
            </a:pPr>
            <a:r>
              <a:rPr lang="en-US" altLang="zh-CN"/>
              <a:t>BUPT SCST</a:t>
            </a:r>
            <a:endParaRPr lang="en-US" altLang="zh-CN"/>
          </a:p>
        </p:txBody>
      </p:sp>
      <p:sp>
        <p:nvSpPr>
          <p:cNvPr id="76" name="日期占位符 5"/>
          <p:cNvSpPr>
            <a:spLocks noGrp="1"/>
          </p:cNvSpPr>
          <p:nvPr>
            <p:ph type="dt" sz="quarter" idx="12"/>
          </p:nvPr>
        </p:nvSpPr>
        <p:spPr/>
        <p:txBody>
          <a:bodyPr/>
          <a:lstStyle/>
          <a:p>
            <a:pPr>
              <a:defRPr/>
            </a:pPr>
            <a:r>
              <a:rPr lang="en-US" altLang="zh-CN"/>
              <a:t>BUPT</a:t>
            </a:r>
            <a:endParaRPr lang="en-US" altLang="zh-CN"/>
          </a:p>
        </p:txBody>
      </p:sp>
      <p:sp>
        <p:nvSpPr>
          <p:cNvPr id="819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1925" name="Oval 3"/>
          <p:cNvSpPr>
            <a:spLocks noChangeArrowheads="1"/>
          </p:cNvSpPr>
          <p:nvPr/>
        </p:nvSpPr>
        <p:spPr bwMode="auto">
          <a:xfrm>
            <a:off x="2133600" y="2438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81926" name="Line 4"/>
          <p:cNvSpPr>
            <a:spLocks noChangeShapeType="1"/>
          </p:cNvSpPr>
          <p:nvPr/>
        </p:nvSpPr>
        <p:spPr bwMode="auto">
          <a:xfrm>
            <a:off x="3429000" y="1828800"/>
            <a:ext cx="990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27" name="Oval 5"/>
          <p:cNvSpPr>
            <a:spLocks noChangeArrowheads="1"/>
          </p:cNvSpPr>
          <p:nvPr/>
        </p:nvSpPr>
        <p:spPr bwMode="auto">
          <a:xfrm>
            <a:off x="2971800" y="251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81928" name="Line 6"/>
          <p:cNvSpPr>
            <a:spLocks noChangeShapeType="1"/>
          </p:cNvSpPr>
          <p:nvPr/>
        </p:nvSpPr>
        <p:spPr bwMode="auto">
          <a:xfrm flipH="1">
            <a:off x="3429000" y="2819400"/>
            <a:ext cx="1828800" cy="7620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29" name="Oval 7"/>
          <p:cNvSpPr>
            <a:spLocks noChangeArrowheads="1"/>
          </p:cNvSpPr>
          <p:nvPr/>
        </p:nvSpPr>
        <p:spPr bwMode="auto">
          <a:xfrm>
            <a:off x="2971800" y="1676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81930" name="Line 8"/>
          <p:cNvSpPr>
            <a:spLocks noChangeShapeType="1"/>
          </p:cNvSpPr>
          <p:nvPr/>
        </p:nvSpPr>
        <p:spPr bwMode="auto">
          <a:xfrm>
            <a:off x="2438400" y="2819400"/>
            <a:ext cx="533400" cy="6858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1" name="Oval 9"/>
          <p:cNvSpPr>
            <a:spLocks noChangeArrowheads="1"/>
          </p:cNvSpPr>
          <p:nvPr/>
        </p:nvSpPr>
        <p:spPr bwMode="auto">
          <a:xfrm>
            <a:off x="4419600" y="160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81932" name="Oval 10"/>
          <p:cNvSpPr>
            <a:spLocks noChangeArrowheads="1"/>
          </p:cNvSpPr>
          <p:nvPr/>
        </p:nvSpPr>
        <p:spPr bwMode="auto">
          <a:xfrm>
            <a:off x="5181600" y="251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81933" name="Line 11"/>
          <p:cNvSpPr>
            <a:spLocks noChangeShapeType="1"/>
          </p:cNvSpPr>
          <p:nvPr/>
        </p:nvSpPr>
        <p:spPr bwMode="auto">
          <a:xfrm>
            <a:off x="2590800" y="2667000"/>
            <a:ext cx="3810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4" name="Line 12"/>
          <p:cNvSpPr>
            <a:spLocks noChangeShapeType="1"/>
          </p:cNvSpPr>
          <p:nvPr/>
        </p:nvSpPr>
        <p:spPr bwMode="auto">
          <a:xfrm flipH="1">
            <a:off x="3200400" y="20574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5" name="Oval 13"/>
          <p:cNvSpPr>
            <a:spLocks noChangeArrowheads="1"/>
          </p:cNvSpPr>
          <p:nvPr/>
        </p:nvSpPr>
        <p:spPr bwMode="auto">
          <a:xfrm>
            <a:off x="2971800" y="3352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81936" name="Line 14"/>
          <p:cNvSpPr>
            <a:spLocks noChangeShapeType="1"/>
          </p:cNvSpPr>
          <p:nvPr/>
        </p:nvSpPr>
        <p:spPr bwMode="auto">
          <a:xfrm>
            <a:off x="3429000" y="2667000"/>
            <a:ext cx="17526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7" name="Line 15"/>
          <p:cNvSpPr>
            <a:spLocks noChangeShapeType="1"/>
          </p:cNvSpPr>
          <p:nvPr/>
        </p:nvSpPr>
        <p:spPr bwMode="auto">
          <a:xfrm flipV="1">
            <a:off x="2514600" y="1981200"/>
            <a:ext cx="5334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8" name="Line 16"/>
          <p:cNvSpPr>
            <a:spLocks noChangeShapeType="1"/>
          </p:cNvSpPr>
          <p:nvPr/>
        </p:nvSpPr>
        <p:spPr bwMode="auto">
          <a:xfrm>
            <a:off x="4724400" y="1981200"/>
            <a:ext cx="5334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39" name="Line 17"/>
          <p:cNvSpPr>
            <a:spLocks noChangeShapeType="1"/>
          </p:cNvSpPr>
          <p:nvPr/>
        </p:nvSpPr>
        <p:spPr bwMode="auto">
          <a:xfrm>
            <a:off x="3352800" y="5518150"/>
            <a:ext cx="762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40" name="Line 18"/>
          <p:cNvSpPr>
            <a:spLocks noChangeShapeType="1"/>
          </p:cNvSpPr>
          <p:nvPr/>
        </p:nvSpPr>
        <p:spPr bwMode="auto">
          <a:xfrm flipV="1">
            <a:off x="3352800" y="1905000"/>
            <a:ext cx="1143000" cy="15240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41" name="Line 19"/>
          <p:cNvSpPr>
            <a:spLocks noChangeShapeType="1"/>
          </p:cNvSpPr>
          <p:nvPr/>
        </p:nvSpPr>
        <p:spPr bwMode="auto">
          <a:xfrm flipH="1">
            <a:off x="3200400" y="28956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42" name="Text Box 20"/>
          <p:cNvSpPr txBox="1">
            <a:spLocks noChangeArrowheads="1"/>
          </p:cNvSpPr>
          <p:nvPr/>
        </p:nvSpPr>
        <p:spPr bwMode="auto">
          <a:xfrm>
            <a:off x="2438400" y="198120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3</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81943" name="Text Box 21"/>
          <p:cNvSpPr txBox="1">
            <a:spLocks noChangeArrowheads="1"/>
          </p:cNvSpPr>
          <p:nvPr/>
        </p:nvSpPr>
        <p:spPr bwMode="auto">
          <a:xfrm>
            <a:off x="3048000" y="213360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1944" name="Text Box 22"/>
          <p:cNvSpPr txBox="1">
            <a:spLocks noChangeArrowheads="1"/>
          </p:cNvSpPr>
          <p:nvPr/>
        </p:nvSpPr>
        <p:spPr bwMode="auto">
          <a:xfrm>
            <a:off x="1905000" y="2209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45" name="Text Box 23"/>
          <p:cNvSpPr txBox="1">
            <a:spLocks noChangeArrowheads="1"/>
          </p:cNvSpPr>
          <p:nvPr/>
        </p:nvSpPr>
        <p:spPr bwMode="auto">
          <a:xfrm>
            <a:off x="4724400" y="1981200"/>
            <a:ext cx="5334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1946" name="Oval 24"/>
          <p:cNvSpPr>
            <a:spLocks noChangeArrowheads="1"/>
          </p:cNvSpPr>
          <p:nvPr/>
        </p:nvSpPr>
        <p:spPr bwMode="auto">
          <a:xfrm>
            <a:off x="2133600" y="46799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91161" name="Line 25"/>
          <p:cNvSpPr>
            <a:spLocks noChangeShapeType="1"/>
          </p:cNvSpPr>
          <p:nvPr/>
        </p:nvSpPr>
        <p:spPr bwMode="auto">
          <a:xfrm>
            <a:off x="3429000" y="4070350"/>
            <a:ext cx="990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48" name="Oval 26"/>
          <p:cNvSpPr>
            <a:spLocks noChangeArrowheads="1"/>
          </p:cNvSpPr>
          <p:nvPr/>
        </p:nvSpPr>
        <p:spPr bwMode="auto">
          <a:xfrm>
            <a:off x="2971800" y="4756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91163" name="Line 27"/>
          <p:cNvSpPr>
            <a:spLocks noChangeShapeType="1"/>
          </p:cNvSpPr>
          <p:nvPr/>
        </p:nvSpPr>
        <p:spPr bwMode="auto">
          <a:xfrm flipH="1">
            <a:off x="3429000" y="5060950"/>
            <a:ext cx="1828800" cy="7620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50" name="Oval 28"/>
          <p:cNvSpPr>
            <a:spLocks noChangeArrowheads="1"/>
          </p:cNvSpPr>
          <p:nvPr/>
        </p:nvSpPr>
        <p:spPr bwMode="auto">
          <a:xfrm>
            <a:off x="2971800" y="39179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91165" name="Line 29"/>
          <p:cNvSpPr>
            <a:spLocks noChangeShapeType="1"/>
          </p:cNvSpPr>
          <p:nvPr/>
        </p:nvSpPr>
        <p:spPr bwMode="auto">
          <a:xfrm>
            <a:off x="2438400" y="5060950"/>
            <a:ext cx="533400" cy="6858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52" name="Oval 30"/>
          <p:cNvSpPr>
            <a:spLocks noChangeArrowheads="1"/>
          </p:cNvSpPr>
          <p:nvPr/>
        </p:nvSpPr>
        <p:spPr bwMode="auto">
          <a:xfrm>
            <a:off x="4419600" y="38417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81953" name="Oval 31"/>
          <p:cNvSpPr>
            <a:spLocks noChangeArrowheads="1"/>
          </p:cNvSpPr>
          <p:nvPr/>
        </p:nvSpPr>
        <p:spPr bwMode="auto">
          <a:xfrm>
            <a:off x="5181600" y="4756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91168" name="Line 32"/>
          <p:cNvSpPr>
            <a:spLocks noChangeShapeType="1"/>
          </p:cNvSpPr>
          <p:nvPr/>
        </p:nvSpPr>
        <p:spPr bwMode="auto">
          <a:xfrm>
            <a:off x="2590800" y="4908550"/>
            <a:ext cx="3810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69" name="Line 33"/>
          <p:cNvSpPr>
            <a:spLocks noChangeShapeType="1"/>
          </p:cNvSpPr>
          <p:nvPr/>
        </p:nvSpPr>
        <p:spPr bwMode="auto">
          <a:xfrm flipH="1">
            <a:off x="3200400" y="429895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56" name="Oval 34"/>
          <p:cNvSpPr>
            <a:spLocks noChangeArrowheads="1"/>
          </p:cNvSpPr>
          <p:nvPr/>
        </p:nvSpPr>
        <p:spPr bwMode="auto">
          <a:xfrm>
            <a:off x="2971800" y="55943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91171" name="Line 35"/>
          <p:cNvSpPr>
            <a:spLocks noChangeShapeType="1"/>
          </p:cNvSpPr>
          <p:nvPr/>
        </p:nvSpPr>
        <p:spPr bwMode="auto">
          <a:xfrm>
            <a:off x="3429000" y="4908550"/>
            <a:ext cx="17526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72" name="Line 36"/>
          <p:cNvSpPr>
            <a:spLocks noChangeShapeType="1"/>
          </p:cNvSpPr>
          <p:nvPr/>
        </p:nvSpPr>
        <p:spPr bwMode="auto">
          <a:xfrm flipV="1">
            <a:off x="2514600" y="4222750"/>
            <a:ext cx="5334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73" name="Line 37"/>
          <p:cNvSpPr>
            <a:spLocks noChangeShapeType="1"/>
          </p:cNvSpPr>
          <p:nvPr/>
        </p:nvSpPr>
        <p:spPr bwMode="auto">
          <a:xfrm>
            <a:off x="4724400" y="4222750"/>
            <a:ext cx="5334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74" name="Line 38"/>
          <p:cNvSpPr>
            <a:spLocks noChangeShapeType="1"/>
          </p:cNvSpPr>
          <p:nvPr/>
        </p:nvSpPr>
        <p:spPr bwMode="auto">
          <a:xfrm flipV="1">
            <a:off x="3352800" y="4146550"/>
            <a:ext cx="1143000" cy="15240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75" name="Line 39"/>
          <p:cNvSpPr>
            <a:spLocks noChangeShapeType="1"/>
          </p:cNvSpPr>
          <p:nvPr/>
        </p:nvSpPr>
        <p:spPr bwMode="auto">
          <a:xfrm flipH="1">
            <a:off x="3200400" y="513715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1962" name="Text Box 40"/>
          <p:cNvSpPr txBox="1">
            <a:spLocks noChangeArrowheads="1"/>
          </p:cNvSpPr>
          <p:nvPr/>
        </p:nvSpPr>
        <p:spPr bwMode="auto">
          <a:xfrm>
            <a:off x="2438400" y="422275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3</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81963" name="Text Box 41"/>
          <p:cNvSpPr txBox="1">
            <a:spLocks noChangeArrowheads="1"/>
          </p:cNvSpPr>
          <p:nvPr/>
        </p:nvSpPr>
        <p:spPr bwMode="auto">
          <a:xfrm>
            <a:off x="2819400" y="437515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1964" name="Text Box 42"/>
          <p:cNvSpPr txBox="1">
            <a:spLocks noChangeArrowheads="1"/>
          </p:cNvSpPr>
          <p:nvPr/>
        </p:nvSpPr>
        <p:spPr bwMode="auto">
          <a:xfrm>
            <a:off x="4724400" y="4222750"/>
            <a:ext cx="5334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91179" name="Text Box 43"/>
          <p:cNvSpPr txBox="1">
            <a:spLocks noChangeArrowheads="1"/>
          </p:cNvSpPr>
          <p:nvPr/>
        </p:nvSpPr>
        <p:spPr bwMode="auto">
          <a:xfrm>
            <a:off x="3124200" y="3657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1966" name="Text Box 44"/>
          <p:cNvSpPr txBox="1">
            <a:spLocks noChangeArrowheads="1"/>
          </p:cNvSpPr>
          <p:nvPr/>
        </p:nvSpPr>
        <p:spPr bwMode="auto">
          <a:xfrm>
            <a:off x="3962400" y="1905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1967" name="Text Box 45"/>
          <p:cNvSpPr txBox="1">
            <a:spLocks noChangeArrowheads="1"/>
          </p:cNvSpPr>
          <p:nvPr/>
        </p:nvSpPr>
        <p:spPr bwMode="auto">
          <a:xfrm>
            <a:off x="3962400" y="3765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1968" name="Text Box 46"/>
          <p:cNvSpPr txBox="1">
            <a:spLocks noChangeArrowheads="1"/>
          </p:cNvSpPr>
          <p:nvPr/>
        </p:nvSpPr>
        <p:spPr bwMode="auto">
          <a:xfrm>
            <a:off x="4648200" y="2667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1969" name="Text Box 47"/>
          <p:cNvSpPr txBox="1">
            <a:spLocks noChangeArrowheads="1"/>
          </p:cNvSpPr>
          <p:nvPr/>
        </p:nvSpPr>
        <p:spPr bwMode="auto">
          <a:xfrm>
            <a:off x="4648200" y="4908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1970" name="Text Box 48"/>
          <p:cNvSpPr txBox="1">
            <a:spLocks noChangeArrowheads="1"/>
          </p:cNvSpPr>
          <p:nvPr/>
        </p:nvSpPr>
        <p:spPr bwMode="auto">
          <a:xfrm>
            <a:off x="3962400" y="4146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1971" name="Text Box 49"/>
          <p:cNvSpPr txBox="1">
            <a:spLocks noChangeArrowheads="1"/>
          </p:cNvSpPr>
          <p:nvPr/>
        </p:nvSpPr>
        <p:spPr bwMode="auto">
          <a:xfrm>
            <a:off x="4038600" y="1905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91186" name="Text Box 50"/>
          <p:cNvSpPr txBox="1">
            <a:spLocks noChangeArrowheads="1"/>
          </p:cNvSpPr>
          <p:nvPr/>
        </p:nvSpPr>
        <p:spPr bwMode="auto">
          <a:xfrm>
            <a:off x="3124200" y="4527550"/>
            <a:ext cx="7620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 3</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1187" name="Text Box 51"/>
          <p:cNvSpPr txBox="1">
            <a:spLocks noChangeArrowheads="1"/>
          </p:cNvSpPr>
          <p:nvPr/>
        </p:nvSpPr>
        <p:spPr bwMode="auto">
          <a:xfrm>
            <a:off x="3200400" y="58674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5</a:t>
            </a:r>
            <a:r>
              <a:rPr kumimoji="1" lang="zh-CN" altLang="en-US" sz="1600" b="1" dirty="0">
                <a:solidFill>
                  <a:schemeClr val="accent1"/>
                </a:solidFill>
                <a:latin typeface="Times New Roman" panose="02020603050405020304" pitchFamily="18" charset="0"/>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1188" name="Text Box 52"/>
          <p:cNvSpPr txBox="1">
            <a:spLocks noChangeArrowheads="1"/>
          </p:cNvSpPr>
          <p:nvPr/>
        </p:nvSpPr>
        <p:spPr bwMode="auto">
          <a:xfrm>
            <a:off x="4724400" y="3657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3</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1189" name="Text Box 53"/>
          <p:cNvSpPr txBox="1">
            <a:spLocks noChangeArrowheads="1"/>
          </p:cNvSpPr>
          <p:nvPr/>
        </p:nvSpPr>
        <p:spPr bwMode="auto">
          <a:xfrm>
            <a:off x="3352800" y="45275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 3</a:t>
            </a:r>
            <a:endParaRPr kumimoji="1" lang="en-US" altLang="zh-CN" sz="1600" b="1" dirty="0">
              <a:latin typeface="Botanical" pitchFamily="2" charset="2"/>
              <a:ea typeface="华文楷体" panose="02010600040101010101" pitchFamily="2" charset="-122"/>
            </a:endParaRPr>
          </a:p>
        </p:txBody>
      </p:sp>
      <p:sp>
        <p:nvSpPr>
          <p:cNvPr id="91190" name="Text Box 54"/>
          <p:cNvSpPr txBox="1">
            <a:spLocks noChangeArrowheads="1"/>
          </p:cNvSpPr>
          <p:nvPr/>
        </p:nvSpPr>
        <p:spPr bwMode="auto">
          <a:xfrm>
            <a:off x="5257800" y="4495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5</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solidFill>
                <a:schemeClr val="accent1"/>
              </a:solidFill>
              <a:latin typeface="Botanical" pitchFamily="2" charset="2"/>
              <a:ea typeface="华文楷体" panose="02010600040101010101" pitchFamily="2" charset="-122"/>
            </a:endParaRPr>
          </a:p>
        </p:txBody>
      </p:sp>
      <p:sp>
        <p:nvSpPr>
          <p:cNvPr id="91191" name="Text Box 55"/>
          <p:cNvSpPr txBox="1">
            <a:spLocks noChangeArrowheads="1"/>
          </p:cNvSpPr>
          <p:nvPr/>
        </p:nvSpPr>
        <p:spPr bwMode="auto">
          <a:xfrm>
            <a:off x="3352800" y="58674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91192" name="Text Box 56"/>
          <p:cNvSpPr txBox="1">
            <a:spLocks noChangeArrowheads="1"/>
          </p:cNvSpPr>
          <p:nvPr/>
        </p:nvSpPr>
        <p:spPr bwMode="auto">
          <a:xfrm>
            <a:off x="4876800" y="3657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6</a:t>
            </a:r>
            <a:endParaRPr kumimoji="1" lang="en-US" altLang="zh-CN" sz="1600" b="1" dirty="0">
              <a:latin typeface="Botanical" pitchFamily="2" charset="2"/>
              <a:ea typeface="华文楷体" panose="02010600040101010101" pitchFamily="2" charset="-122"/>
            </a:endParaRPr>
          </a:p>
        </p:txBody>
      </p:sp>
      <p:sp>
        <p:nvSpPr>
          <p:cNvPr id="91193" name="Text Box 57"/>
          <p:cNvSpPr txBox="1">
            <a:spLocks noChangeArrowheads="1"/>
          </p:cNvSpPr>
          <p:nvPr/>
        </p:nvSpPr>
        <p:spPr bwMode="auto">
          <a:xfrm>
            <a:off x="5486400" y="4495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7</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solidFill>
                <a:schemeClr val="accent1"/>
              </a:solidFill>
              <a:latin typeface="Botanical" pitchFamily="2" charset="2"/>
              <a:ea typeface="华文楷体" panose="02010600040101010101" pitchFamily="2" charset="-122"/>
            </a:endParaRPr>
          </a:p>
        </p:txBody>
      </p:sp>
      <p:sp>
        <p:nvSpPr>
          <p:cNvPr id="91194" name="Text Box 58"/>
          <p:cNvSpPr txBox="1">
            <a:spLocks noChangeArrowheads="1"/>
          </p:cNvSpPr>
          <p:nvPr/>
        </p:nvSpPr>
        <p:spPr bwMode="auto">
          <a:xfrm>
            <a:off x="5562600" y="4495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8</a:t>
            </a:r>
            <a:endParaRPr kumimoji="1" lang="en-US" altLang="zh-CN" sz="1600" b="1" dirty="0">
              <a:solidFill>
                <a:schemeClr val="accent1"/>
              </a:solidFill>
              <a:latin typeface="Botanical" pitchFamily="2" charset="2"/>
              <a:ea typeface="华文楷体" panose="02010600040101010101" pitchFamily="2" charset="-122"/>
            </a:endParaRPr>
          </a:p>
        </p:txBody>
      </p:sp>
      <p:sp>
        <p:nvSpPr>
          <p:cNvPr id="81981" name="Text Box 59"/>
          <p:cNvSpPr txBox="1">
            <a:spLocks noChangeArrowheads="1"/>
          </p:cNvSpPr>
          <p:nvPr/>
        </p:nvSpPr>
        <p:spPr bwMode="auto">
          <a:xfrm>
            <a:off x="2057400" y="6216650"/>
            <a:ext cx="2057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正向拓扑排序：</a:t>
            </a:r>
            <a:endParaRPr kumimoji="1" lang="zh-CN" altLang="en-US" sz="1600" b="1" dirty="0">
              <a:latin typeface="Times New Roman" panose="02020603050405020304" pitchFamily="18" charset="0"/>
              <a:ea typeface="华文楷体" panose="02010600040101010101" pitchFamily="2" charset="-122"/>
            </a:endParaRPr>
          </a:p>
        </p:txBody>
      </p:sp>
      <p:sp>
        <p:nvSpPr>
          <p:cNvPr id="81982" name="Text Box 60"/>
          <p:cNvSpPr txBox="1">
            <a:spLocks noChangeArrowheads="1"/>
          </p:cNvSpPr>
          <p:nvPr/>
        </p:nvSpPr>
        <p:spPr bwMode="auto">
          <a:xfrm>
            <a:off x="2743200" y="1447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3" name="Text Box 61"/>
          <p:cNvSpPr txBox="1">
            <a:spLocks noChangeArrowheads="1"/>
          </p:cNvSpPr>
          <p:nvPr/>
        </p:nvSpPr>
        <p:spPr bwMode="auto">
          <a:xfrm>
            <a:off x="2743200" y="22542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4" name="Text Box 62"/>
          <p:cNvSpPr txBox="1">
            <a:spLocks noChangeArrowheads="1"/>
          </p:cNvSpPr>
          <p:nvPr/>
        </p:nvSpPr>
        <p:spPr bwMode="auto">
          <a:xfrm>
            <a:off x="2819400" y="30924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5" name="Text Box 63"/>
          <p:cNvSpPr txBox="1">
            <a:spLocks noChangeArrowheads="1"/>
          </p:cNvSpPr>
          <p:nvPr/>
        </p:nvSpPr>
        <p:spPr bwMode="auto">
          <a:xfrm>
            <a:off x="4114800" y="1447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6" name="Text Box 64"/>
          <p:cNvSpPr txBox="1">
            <a:spLocks noChangeArrowheads="1"/>
          </p:cNvSpPr>
          <p:nvPr/>
        </p:nvSpPr>
        <p:spPr bwMode="auto">
          <a:xfrm>
            <a:off x="5334000" y="2286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7" name="Text Box 65"/>
          <p:cNvSpPr txBox="1">
            <a:spLocks noChangeArrowheads="1"/>
          </p:cNvSpPr>
          <p:nvPr/>
        </p:nvSpPr>
        <p:spPr bwMode="auto">
          <a:xfrm>
            <a:off x="2057400" y="4419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81988" name="Oval 66"/>
          <p:cNvSpPr>
            <a:spLocks noChangeArrowheads="1"/>
          </p:cNvSpPr>
          <p:nvPr/>
        </p:nvSpPr>
        <p:spPr bwMode="auto">
          <a:xfrm>
            <a:off x="38862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81989" name="Oval 67"/>
          <p:cNvSpPr>
            <a:spLocks noChangeArrowheads="1"/>
          </p:cNvSpPr>
          <p:nvPr/>
        </p:nvSpPr>
        <p:spPr bwMode="auto">
          <a:xfrm>
            <a:off x="46482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81990" name="Oval 68"/>
          <p:cNvSpPr>
            <a:spLocks noChangeArrowheads="1"/>
          </p:cNvSpPr>
          <p:nvPr/>
        </p:nvSpPr>
        <p:spPr bwMode="auto">
          <a:xfrm>
            <a:off x="53340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81991" name="Oval 69"/>
          <p:cNvSpPr>
            <a:spLocks noChangeArrowheads="1"/>
          </p:cNvSpPr>
          <p:nvPr/>
        </p:nvSpPr>
        <p:spPr bwMode="auto">
          <a:xfrm>
            <a:off x="60198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81992" name="Oval 70"/>
          <p:cNvSpPr>
            <a:spLocks noChangeArrowheads="1"/>
          </p:cNvSpPr>
          <p:nvPr/>
        </p:nvSpPr>
        <p:spPr bwMode="auto">
          <a:xfrm>
            <a:off x="67056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81993" name="Oval 71"/>
          <p:cNvSpPr>
            <a:spLocks noChangeArrowheads="1"/>
          </p:cNvSpPr>
          <p:nvPr/>
        </p:nvSpPr>
        <p:spPr bwMode="auto">
          <a:xfrm>
            <a:off x="7391400" y="6172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81994" name="Text Box 72"/>
          <p:cNvSpPr txBox="1">
            <a:spLocks noChangeArrowheads="1"/>
          </p:cNvSpPr>
          <p:nvPr/>
        </p:nvSpPr>
        <p:spPr bwMode="auto">
          <a:xfrm>
            <a:off x="212725" y="1165225"/>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zh-CN" sz="1800" dirty="0">
              <a:latin typeface="Times New Roman" panose="02020603050405020304" pitchFamily="18" charset="0"/>
              <a:ea typeface="华文楷体" panose="02010600040101010101" pitchFamily="2" charset="-122"/>
            </a:endParaRPr>
          </a:p>
        </p:txBody>
      </p:sp>
      <p:sp>
        <p:nvSpPr>
          <p:cNvPr id="81995" name="Text Box 73"/>
          <p:cNvSpPr txBox="1">
            <a:spLocks noChangeArrowheads="1"/>
          </p:cNvSpPr>
          <p:nvPr/>
        </p:nvSpPr>
        <p:spPr bwMode="auto">
          <a:xfrm>
            <a:off x="212725" y="1239838"/>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dirty="0">
                <a:solidFill>
                  <a:schemeClr val="accent2"/>
                </a:solidFill>
                <a:latin typeface="Times New Roman" panose="02020603050405020304" pitchFamily="18" charset="0"/>
                <a:ea typeface="华文楷体" panose="02010600040101010101" pitchFamily="2" charset="-122"/>
              </a:rPr>
              <a:t>实例</a:t>
            </a:r>
            <a:endParaRPr lang="zh-CN" altLang="en-US" sz="2400" b="1" dirty="0">
              <a:solidFill>
                <a:schemeClr val="accent2"/>
              </a:solidFill>
              <a:latin typeface="Times New Roman" panose="02020603050405020304" pitchFamily="18" charset="0"/>
              <a:ea typeface="华文楷体" panose="02010600040101010101" pitchFamily="2" charset="-122"/>
            </a:endParaRPr>
          </a:p>
        </p:txBody>
      </p:sp>
      <p:sp>
        <p:nvSpPr>
          <p:cNvPr id="91210" name="Text Box 74"/>
          <p:cNvSpPr txBox="1">
            <a:spLocks noChangeArrowheads="1"/>
          </p:cNvSpPr>
          <p:nvPr/>
        </p:nvSpPr>
        <p:spPr bwMode="auto">
          <a:xfrm>
            <a:off x="6308725" y="2706688"/>
            <a:ext cx="12031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(1)=0</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(2)=1</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(3)=3</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(4)=5</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(5)=6</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Ve</a:t>
            </a:r>
            <a:r>
              <a:rPr lang="en-US" altLang="zh-CN" sz="2400" b="1" dirty="0">
                <a:solidFill>
                  <a:schemeClr val="accent2"/>
                </a:solidFill>
                <a:latin typeface="Times New Roman" panose="02020603050405020304" pitchFamily="18" charset="0"/>
                <a:ea typeface="华文楷体" panose="02010600040101010101" pitchFamily="2" charset="-122"/>
              </a:rPr>
              <a:t>(6)=8</a:t>
            </a:r>
            <a:endParaRPr lang="en-US" altLang="zh-CN" sz="24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1172"/>
                                        </p:tgtEl>
                                        <p:attrNameLst>
                                          <p:attrName>style.visibility</p:attrName>
                                        </p:attrNameLst>
                                      </p:cBhvr>
                                      <p:to>
                                        <p:strVal val="visible"/>
                                      </p:to>
                                    </p:set>
                                    <p:animEffect transition="in" filter="box(out)">
                                      <p:cBhvr>
                                        <p:cTn id="7" dur="500"/>
                                        <p:tgtEl>
                                          <p:spTgt spid="91172"/>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par>
                          <p:cTn id="8" fill="hold">
                            <p:stCondLst>
                              <p:cond delay="500"/>
                            </p:stCondLst>
                            <p:childTnLst>
                              <p:par>
                                <p:cTn id="9" presetID="22" presetClass="entr" presetSubtype="1" fill="hold" grpId="0" nodeType="afterEffect">
                                  <p:stCondLst>
                                    <p:cond delay="1000"/>
                                  </p:stCondLst>
                                  <p:iterate type="lt">
                                    <p:tmPct val="100000"/>
                                  </p:iterate>
                                  <p:childTnLst>
                                    <p:set>
                                      <p:cBhvr>
                                        <p:cTn id="10" dur="1" fill="hold">
                                          <p:stCondLst>
                                            <p:cond delay="0"/>
                                          </p:stCondLst>
                                        </p:cTn>
                                        <p:tgtEl>
                                          <p:spTgt spid="91179">
                                            <p:txEl>
                                              <p:pRg st="0" end="0"/>
                                            </p:txEl>
                                          </p:spTgt>
                                        </p:tgtEl>
                                        <p:attrNameLst>
                                          <p:attrName>style.visibility</p:attrName>
                                        </p:attrNameLst>
                                      </p:cBhvr>
                                      <p:to>
                                        <p:strVal val="visible"/>
                                      </p:to>
                                    </p:set>
                                    <p:animEffect transition="in" filter="wipe(up)">
                                      <p:cBhvr>
                                        <p:cTn id="11" dur="75"/>
                                        <p:tgtEl>
                                          <p:spTgt spid="91179">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2" name="TYPE.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91168"/>
                                        </p:tgtEl>
                                        <p:attrNameLst>
                                          <p:attrName>style.visibility</p:attrName>
                                        </p:attrNameLst>
                                      </p:cBhvr>
                                      <p:to>
                                        <p:strVal val="visible"/>
                                      </p:to>
                                    </p:set>
                                    <p:animEffect transition="in" filter="box(out)">
                                      <p:cBhvr>
                                        <p:cTn id="16" dur="500"/>
                                        <p:tgtEl>
                                          <p:spTgt spid="91168"/>
                                        </p:tgtEl>
                                      </p:cBhvr>
                                    </p:animEffect>
                                  </p:childTnLst>
                                  <p:subTnLst>
                                    <p:audio>
                                      <p:cMediaNode>
                                        <p:cTn display="0" masterRel="sameClick">
                                          <p:stCondLst>
                                            <p:cond evt="begin" delay="0">
                                              <p:tn val="14"/>
                                            </p:cond>
                                          </p:stCondLst>
                                          <p:endCondLst>
                                            <p:cond evt="onStopAudio" delay="0">
                                              <p:tgtEl>
                                                <p:sldTgt/>
                                              </p:tgtEl>
                                            </p:cond>
                                          </p:endCondLst>
                                        </p:cTn>
                                        <p:tgtEl>
                                          <p:sndTgt r:embed="rId1" name="CAMERA.WAV"/>
                                        </p:tgtEl>
                                      </p:cMediaNode>
                                    </p:audio>
                                  </p:subTnLst>
                                </p:cTn>
                              </p:par>
                            </p:childTnLst>
                          </p:cTn>
                        </p:par>
                        <p:par>
                          <p:cTn id="17" fill="hold">
                            <p:stCondLst>
                              <p:cond delay="500"/>
                            </p:stCondLst>
                            <p:childTnLst>
                              <p:par>
                                <p:cTn id="18" presetID="22" presetClass="entr" presetSubtype="1" fill="hold" grpId="0" nodeType="afterEffect">
                                  <p:stCondLst>
                                    <p:cond delay="1000"/>
                                  </p:stCondLst>
                                  <p:iterate type="lt">
                                    <p:tmPct val="100000"/>
                                  </p:iterate>
                                  <p:childTnLst>
                                    <p:set>
                                      <p:cBhvr>
                                        <p:cTn id="19" dur="1" fill="hold">
                                          <p:stCondLst>
                                            <p:cond delay="0"/>
                                          </p:stCondLst>
                                        </p:cTn>
                                        <p:tgtEl>
                                          <p:spTgt spid="91186">
                                            <p:txEl>
                                              <p:pRg st="0" end="0"/>
                                            </p:txEl>
                                          </p:spTgt>
                                        </p:tgtEl>
                                        <p:attrNameLst>
                                          <p:attrName>style.visibility</p:attrName>
                                        </p:attrNameLst>
                                      </p:cBhvr>
                                      <p:to>
                                        <p:strVal val="visible"/>
                                      </p:to>
                                    </p:set>
                                    <p:animEffect transition="in" filter="wipe(up)">
                                      <p:cBhvr>
                                        <p:cTn id="20" dur="75"/>
                                        <p:tgtEl>
                                          <p:spTgt spid="91186">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91165"/>
                                        </p:tgtEl>
                                        <p:attrNameLst>
                                          <p:attrName>style.visibility</p:attrName>
                                        </p:attrNameLst>
                                      </p:cBhvr>
                                      <p:to>
                                        <p:strVal val="visible"/>
                                      </p:to>
                                    </p:set>
                                    <p:animEffect transition="in" filter="box(out)">
                                      <p:cBhvr>
                                        <p:cTn id="25" dur="500"/>
                                        <p:tgtEl>
                                          <p:spTgt spid="91165"/>
                                        </p:tgtEl>
                                      </p:cBhvr>
                                    </p:animEffect>
                                  </p:childTnLst>
                                  <p:subTnLst>
                                    <p:audio>
                                      <p:cMediaNode>
                                        <p:cTn display="0" masterRel="sameClick">
                                          <p:stCondLst>
                                            <p:cond evt="begin" delay="0">
                                              <p:tn val="23"/>
                                            </p:cond>
                                          </p:stCondLst>
                                          <p:endCondLst>
                                            <p:cond evt="onStopAudio" delay="0">
                                              <p:tgtEl>
                                                <p:sldTgt/>
                                              </p:tgtEl>
                                            </p:cond>
                                          </p:endCondLst>
                                        </p:cTn>
                                        <p:tgtEl>
                                          <p:sndTgt r:embed="rId1" name="CAMERA.WAV"/>
                                        </p:tgtEl>
                                      </p:cMediaNode>
                                    </p:audio>
                                  </p:subTnLst>
                                </p:cTn>
                              </p:par>
                            </p:childTnLst>
                          </p:cTn>
                        </p:par>
                        <p:par>
                          <p:cTn id="26" fill="hold">
                            <p:stCondLst>
                              <p:cond delay="500"/>
                            </p:stCondLst>
                            <p:childTnLst>
                              <p:par>
                                <p:cTn id="27" presetID="22" presetClass="entr" presetSubtype="1" fill="hold" grpId="0" nodeType="afterEffect">
                                  <p:stCondLst>
                                    <p:cond delay="1000"/>
                                  </p:stCondLst>
                                  <p:iterate type="lt">
                                    <p:tmPct val="100000"/>
                                  </p:iterate>
                                  <p:childTnLst>
                                    <p:set>
                                      <p:cBhvr>
                                        <p:cTn id="28" dur="1" fill="hold">
                                          <p:stCondLst>
                                            <p:cond delay="0"/>
                                          </p:stCondLst>
                                        </p:cTn>
                                        <p:tgtEl>
                                          <p:spTgt spid="91187">
                                            <p:txEl>
                                              <p:pRg st="0" end="0"/>
                                            </p:txEl>
                                          </p:spTgt>
                                        </p:tgtEl>
                                        <p:attrNameLst>
                                          <p:attrName>style.visibility</p:attrName>
                                        </p:attrNameLst>
                                      </p:cBhvr>
                                      <p:to>
                                        <p:strVal val="visible"/>
                                      </p:to>
                                    </p:set>
                                    <p:animEffect transition="in" filter="wipe(up)">
                                      <p:cBhvr>
                                        <p:cTn id="29" dur="75"/>
                                        <p:tgtEl>
                                          <p:spTgt spid="91187">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TYPE.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91161"/>
                                        </p:tgtEl>
                                        <p:attrNameLst>
                                          <p:attrName>style.visibility</p:attrName>
                                        </p:attrNameLst>
                                      </p:cBhvr>
                                      <p:to>
                                        <p:strVal val="visible"/>
                                      </p:to>
                                    </p:set>
                                    <p:animEffect transition="in" filter="box(out)">
                                      <p:cBhvr>
                                        <p:cTn id="34" dur="500"/>
                                        <p:tgtEl>
                                          <p:spTgt spid="91161"/>
                                        </p:tgtEl>
                                      </p:cBhvr>
                                    </p:animEffect>
                                  </p:childTnLst>
                                  <p:subTnLst>
                                    <p:audio>
                                      <p:cMediaNode>
                                        <p:cTn display="0" masterRel="sameClick">
                                          <p:stCondLst>
                                            <p:cond evt="begin" delay="0">
                                              <p:tn val="32"/>
                                            </p:cond>
                                          </p:stCondLst>
                                          <p:endCondLst>
                                            <p:cond evt="onStopAudio" delay="0">
                                              <p:tgtEl>
                                                <p:sldTgt/>
                                              </p:tgtEl>
                                            </p:cond>
                                          </p:endCondLst>
                                        </p:cTn>
                                        <p:tgtEl>
                                          <p:sndTgt r:embed="rId1" name="CAMERA.WAV"/>
                                        </p:tgtEl>
                                      </p:cMediaNode>
                                    </p:audio>
                                  </p:subTnLst>
                                </p:cTn>
                              </p:par>
                            </p:childTnLst>
                          </p:cTn>
                        </p:par>
                        <p:par>
                          <p:cTn id="35" fill="hold">
                            <p:stCondLst>
                              <p:cond delay="500"/>
                            </p:stCondLst>
                            <p:childTnLst>
                              <p:par>
                                <p:cTn id="36" presetID="22" presetClass="entr" presetSubtype="1" fill="hold" grpId="0" nodeType="afterEffect">
                                  <p:stCondLst>
                                    <p:cond delay="1000"/>
                                  </p:stCondLst>
                                  <p:iterate type="lt">
                                    <p:tmPct val="100000"/>
                                  </p:iterate>
                                  <p:childTnLst>
                                    <p:set>
                                      <p:cBhvr>
                                        <p:cTn id="37" dur="1" fill="hold">
                                          <p:stCondLst>
                                            <p:cond delay="0"/>
                                          </p:stCondLst>
                                        </p:cTn>
                                        <p:tgtEl>
                                          <p:spTgt spid="91188">
                                            <p:txEl>
                                              <p:pRg st="0" end="0"/>
                                            </p:txEl>
                                          </p:spTgt>
                                        </p:tgtEl>
                                        <p:attrNameLst>
                                          <p:attrName>style.visibility</p:attrName>
                                        </p:attrNameLst>
                                      </p:cBhvr>
                                      <p:to>
                                        <p:strVal val="visible"/>
                                      </p:to>
                                    </p:set>
                                    <p:animEffect transition="in" filter="wipe(up)">
                                      <p:cBhvr>
                                        <p:cTn id="38" dur="75"/>
                                        <p:tgtEl>
                                          <p:spTgt spid="91188">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TYPE.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91169"/>
                                        </p:tgtEl>
                                        <p:attrNameLst>
                                          <p:attrName>style.visibility</p:attrName>
                                        </p:attrNameLst>
                                      </p:cBhvr>
                                      <p:to>
                                        <p:strVal val="visible"/>
                                      </p:to>
                                    </p:set>
                                    <p:animEffect transition="in" filter="box(out)">
                                      <p:cBhvr>
                                        <p:cTn id="43" dur="500"/>
                                        <p:tgtEl>
                                          <p:spTgt spid="91169"/>
                                        </p:tgtEl>
                                      </p:cBhvr>
                                    </p:animEffect>
                                  </p:childTnLst>
                                  <p:subTnLst>
                                    <p:audio>
                                      <p:cMediaNode>
                                        <p:cTn display="0" masterRel="sameClick">
                                          <p:stCondLst>
                                            <p:cond evt="begin" delay="0">
                                              <p:tn val="41"/>
                                            </p:cond>
                                          </p:stCondLst>
                                          <p:endCondLst>
                                            <p:cond evt="onStopAudio" delay="0">
                                              <p:tgtEl>
                                                <p:sldTgt/>
                                              </p:tgtEl>
                                            </p:cond>
                                          </p:endCondLst>
                                        </p:cTn>
                                        <p:tgtEl>
                                          <p:sndTgt r:embed="rId1" name="CAMERA.WAV"/>
                                        </p:tgtEl>
                                      </p:cMediaNode>
                                    </p:audio>
                                  </p:subTnLst>
                                </p:cTn>
                              </p:par>
                            </p:childTnLst>
                          </p:cTn>
                        </p:par>
                        <p:par>
                          <p:cTn id="44" fill="hold">
                            <p:stCondLst>
                              <p:cond delay="500"/>
                            </p:stCondLst>
                            <p:childTnLst>
                              <p:par>
                                <p:cTn id="45" presetID="22" presetClass="entr" presetSubtype="1" fill="hold" grpId="0" nodeType="afterEffect">
                                  <p:stCondLst>
                                    <p:cond delay="1000"/>
                                  </p:stCondLst>
                                  <p:iterate type="lt">
                                    <p:tmPct val="100000"/>
                                  </p:iterate>
                                  <p:childTnLst>
                                    <p:set>
                                      <p:cBhvr>
                                        <p:cTn id="46" dur="1" fill="hold">
                                          <p:stCondLst>
                                            <p:cond delay="0"/>
                                          </p:stCondLst>
                                        </p:cTn>
                                        <p:tgtEl>
                                          <p:spTgt spid="91189">
                                            <p:txEl>
                                              <p:pRg st="0" end="0"/>
                                            </p:txEl>
                                          </p:spTgt>
                                        </p:tgtEl>
                                        <p:attrNameLst>
                                          <p:attrName>style.visibility</p:attrName>
                                        </p:attrNameLst>
                                      </p:cBhvr>
                                      <p:to>
                                        <p:strVal val="visible"/>
                                      </p:to>
                                    </p:set>
                                    <p:animEffect transition="in" filter="wipe(up)">
                                      <p:cBhvr>
                                        <p:cTn id="47" dur="75"/>
                                        <p:tgtEl>
                                          <p:spTgt spid="91189">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91171"/>
                                        </p:tgtEl>
                                        <p:attrNameLst>
                                          <p:attrName>style.visibility</p:attrName>
                                        </p:attrNameLst>
                                      </p:cBhvr>
                                      <p:to>
                                        <p:strVal val="visible"/>
                                      </p:to>
                                    </p:set>
                                    <p:animEffect transition="in" filter="box(out)">
                                      <p:cBhvr>
                                        <p:cTn id="52" dur="500"/>
                                        <p:tgtEl>
                                          <p:spTgt spid="91171"/>
                                        </p:tgtEl>
                                      </p:cBhvr>
                                    </p:animEffect>
                                  </p:childTnLst>
                                  <p:subTnLst>
                                    <p:audio>
                                      <p:cMediaNode>
                                        <p:cTn display="0" masterRel="sameClick">
                                          <p:stCondLst>
                                            <p:cond evt="begin" delay="0">
                                              <p:tn val="50"/>
                                            </p:cond>
                                          </p:stCondLst>
                                          <p:endCondLst>
                                            <p:cond evt="onStopAudio" delay="0">
                                              <p:tgtEl>
                                                <p:sldTgt/>
                                              </p:tgtEl>
                                            </p:cond>
                                          </p:endCondLst>
                                        </p:cTn>
                                        <p:tgtEl>
                                          <p:sndTgt r:embed="rId1" name="CAMERA.WAV"/>
                                        </p:tgtEl>
                                      </p:cMediaNode>
                                    </p:audio>
                                  </p:subTnLst>
                                </p:cTn>
                              </p:par>
                            </p:childTnLst>
                          </p:cTn>
                        </p:par>
                        <p:par>
                          <p:cTn id="53" fill="hold">
                            <p:stCondLst>
                              <p:cond delay="500"/>
                            </p:stCondLst>
                            <p:childTnLst>
                              <p:par>
                                <p:cTn id="54" presetID="22" presetClass="entr" presetSubtype="1" fill="hold" grpId="0" nodeType="afterEffect">
                                  <p:stCondLst>
                                    <p:cond delay="1000"/>
                                  </p:stCondLst>
                                  <p:iterate type="lt">
                                    <p:tmPct val="100000"/>
                                  </p:iterate>
                                  <p:childTnLst>
                                    <p:set>
                                      <p:cBhvr>
                                        <p:cTn id="55" dur="1" fill="hold">
                                          <p:stCondLst>
                                            <p:cond delay="0"/>
                                          </p:stCondLst>
                                        </p:cTn>
                                        <p:tgtEl>
                                          <p:spTgt spid="91190">
                                            <p:txEl>
                                              <p:pRg st="0" end="0"/>
                                            </p:txEl>
                                          </p:spTgt>
                                        </p:tgtEl>
                                        <p:attrNameLst>
                                          <p:attrName>style.visibility</p:attrName>
                                        </p:attrNameLst>
                                      </p:cBhvr>
                                      <p:to>
                                        <p:strVal val="visible"/>
                                      </p:to>
                                    </p:set>
                                    <p:animEffect transition="in" filter="wipe(up)">
                                      <p:cBhvr>
                                        <p:cTn id="56" dur="75"/>
                                        <p:tgtEl>
                                          <p:spTgt spid="91190">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TYPE.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91175"/>
                                        </p:tgtEl>
                                        <p:attrNameLst>
                                          <p:attrName>style.visibility</p:attrName>
                                        </p:attrNameLst>
                                      </p:cBhvr>
                                      <p:to>
                                        <p:strVal val="visible"/>
                                      </p:to>
                                    </p:set>
                                    <p:animEffect transition="in" filter="box(out)">
                                      <p:cBhvr>
                                        <p:cTn id="61" dur="500"/>
                                        <p:tgtEl>
                                          <p:spTgt spid="91175"/>
                                        </p:tgtEl>
                                      </p:cBhvr>
                                    </p:animEffect>
                                  </p:childTnLst>
                                  <p:subTnLst>
                                    <p:audio>
                                      <p:cMediaNode>
                                        <p:cTn display="0" masterRel="sameClick">
                                          <p:stCondLst>
                                            <p:cond evt="begin" delay="0">
                                              <p:tn val="59"/>
                                            </p:cond>
                                          </p:stCondLst>
                                          <p:endCondLst>
                                            <p:cond evt="onStopAudio" delay="0">
                                              <p:tgtEl>
                                                <p:sldTgt/>
                                              </p:tgtEl>
                                            </p:cond>
                                          </p:endCondLst>
                                        </p:cTn>
                                        <p:tgtEl>
                                          <p:sndTgt r:embed="rId1" name="CAMERA.WAV"/>
                                        </p:tgtEl>
                                      </p:cMediaNode>
                                    </p:audio>
                                  </p:subTnLst>
                                </p:cTn>
                              </p:par>
                            </p:childTnLst>
                          </p:cTn>
                        </p:par>
                        <p:par>
                          <p:cTn id="62" fill="hold">
                            <p:stCondLst>
                              <p:cond delay="500"/>
                            </p:stCondLst>
                            <p:childTnLst>
                              <p:par>
                                <p:cTn id="63" presetID="22" presetClass="entr" presetSubtype="1" fill="hold" grpId="0" nodeType="afterEffect">
                                  <p:stCondLst>
                                    <p:cond delay="1000"/>
                                  </p:stCondLst>
                                  <p:iterate type="lt">
                                    <p:tmPct val="100000"/>
                                  </p:iterate>
                                  <p:childTnLst>
                                    <p:set>
                                      <p:cBhvr>
                                        <p:cTn id="64" dur="1" fill="hold">
                                          <p:stCondLst>
                                            <p:cond delay="0"/>
                                          </p:stCondLst>
                                        </p:cTn>
                                        <p:tgtEl>
                                          <p:spTgt spid="91191">
                                            <p:txEl>
                                              <p:pRg st="0" end="0"/>
                                            </p:txEl>
                                          </p:spTgt>
                                        </p:tgtEl>
                                        <p:attrNameLst>
                                          <p:attrName>style.visibility</p:attrName>
                                        </p:attrNameLst>
                                      </p:cBhvr>
                                      <p:to>
                                        <p:strVal val="visible"/>
                                      </p:to>
                                    </p:set>
                                    <p:animEffect transition="in" filter="wipe(up)">
                                      <p:cBhvr>
                                        <p:cTn id="65" dur="75"/>
                                        <p:tgtEl>
                                          <p:spTgt spid="91191">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2" name="TYPE.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91174"/>
                                        </p:tgtEl>
                                        <p:attrNameLst>
                                          <p:attrName>style.visibility</p:attrName>
                                        </p:attrNameLst>
                                      </p:cBhvr>
                                      <p:to>
                                        <p:strVal val="visible"/>
                                      </p:to>
                                    </p:set>
                                    <p:animEffect transition="in" filter="box(out)">
                                      <p:cBhvr>
                                        <p:cTn id="70" dur="500"/>
                                        <p:tgtEl>
                                          <p:spTgt spid="91174"/>
                                        </p:tgtEl>
                                      </p:cBhvr>
                                    </p:animEffect>
                                  </p:childTnLst>
                                  <p:subTnLst>
                                    <p:audio>
                                      <p:cMediaNode>
                                        <p:cTn display="0" masterRel="sameClick">
                                          <p:stCondLst>
                                            <p:cond evt="begin" delay="0">
                                              <p:tn val="68"/>
                                            </p:cond>
                                          </p:stCondLst>
                                          <p:endCondLst>
                                            <p:cond evt="onStopAudio" delay="0">
                                              <p:tgtEl>
                                                <p:sldTgt/>
                                              </p:tgtEl>
                                            </p:cond>
                                          </p:endCondLst>
                                        </p:cTn>
                                        <p:tgtEl>
                                          <p:sndTgt r:embed="rId1" name="CAMERA.WAV"/>
                                        </p:tgtEl>
                                      </p:cMediaNode>
                                    </p:audio>
                                  </p:subTnLst>
                                </p:cTn>
                              </p:par>
                            </p:childTnLst>
                          </p:cTn>
                        </p:par>
                        <p:par>
                          <p:cTn id="71" fill="hold">
                            <p:stCondLst>
                              <p:cond delay="500"/>
                            </p:stCondLst>
                            <p:childTnLst>
                              <p:par>
                                <p:cTn id="72" presetID="22" presetClass="entr" presetSubtype="1" fill="hold" grpId="0" nodeType="afterEffect">
                                  <p:stCondLst>
                                    <p:cond delay="1000"/>
                                  </p:stCondLst>
                                  <p:iterate type="lt">
                                    <p:tmPct val="100000"/>
                                  </p:iterate>
                                  <p:childTnLst>
                                    <p:set>
                                      <p:cBhvr>
                                        <p:cTn id="73" dur="1" fill="hold">
                                          <p:stCondLst>
                                            <p:cond delay="0"/>
                                          </p:stCondLst>
                                        </p:cTn>
                                        <p:tgtEl>
                                          <p:spTgt spid="91192">
                                            <p:txEl>
                                              <p:pRg st="0" end="0"/>
                                            </p:txEl>
                                          </p:spTgt>
                                        </p:tgtEl>
                                        <p:attrNameLst>
                                          <p:attrName>style.visibility</p:attrName>
                                        </p:attrNameLst>
                                      </p:cBhvr>
                                      <p:to>
                                        <p:strVal val="visible"/>
                                      </p:to>
                                    </p:set>
                                    <p:animEffect transition="in" filter="wipe(up)">
                                      <p:cBhvr>
                                        <p:cTn id="74" dur="75"/>
                                        <p:tgtEl>
                                          <p:spTgt spid="91192">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2" name="TYPE.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91163"/>
                                        </p:tgtEl>
                                        <p:attrNameLst>
                                          <p:attrName>style.visibility</p:attrName>
                                        </p:attrNameLst>
                                      </p:cBhvr>
                                      <p:to>
                                        <p:strVal val="visible"/>
                                      </p:to>
                                    </p:set>
                                    <p:animEffect transition="in" filter="box(out)">
                                      <p:cBhvr>
                                        <p:cTn id="79" dur="500"/>
                                        <p:tgtEl>
                                          <p:spTgt spid="91163"/>
                                        </p:tgtEl>
                                      </p:cBhvr>
                                    </p:animEffect>
                                  </p:childTnLst>
                                  <p:subTnLst>
                                    <p:audio>
                                      <p:cMediaNode>
                                        <p:cTn display="0" masterRel="sameClick">
                                          <p:stCondLst>
                                            <p:cond evt="begin" delay="0">
                                              <p:tn val="77"/>
                                            </p:cond>
                                          </p:stCondLst>
                                          <p:endCondLst>
                                            <p:cond evt="onStopAudio" delay="0">
                                              <p:tgtEl>
                                                <p:sldTgt/>
                                              </p:tgtEl>
                                            </p:cond>
                                          </p:endCondLst>
                                        </p:cTn>
                                        <p:tgtEl>
                                          <p:sndTgt r:embed="rId1" name="CAMERA.WAV"/>
                                        </p:tgtEl>
                                      </p:cMediaNode>
                                    </p:audio>
                                  </p:subTnLst>
                                </p:cTn>
                              </p:par>
                            </p:childTnLst>
                          </p:cTn>
                        </p:par>
                        <p:par>
                          <p:cTn id="80" fill="hold">
                            <p:stCondLst>
                              <p:cond delay="500"/>
                            </p:stCondLst>
                            <p:childTnLst>
                              <p:par>
                                <p:cTn id="81" presetID="22" presetClass="entr" presetSubtype="1" fill="hold" grpId="0" nodeType="afterEffect">
                                  <p:stCondLst>
                                    <p:cond delay="1000"/>
                                  </p:stCondLst>
                                  <p:iterate type="lt">
                                    <p:tmPct val="100000"/>
                                  </p:iterate>
                                  <p:childTnLst>
                                    <p:set>
                                      <p:cBhvr>
                                        <p:cTn id="82" dur="1" fill="hold">
                                          <p:stCondLst>
                                            <p:cond delay="0"/>
                                          </p:stCondLst>
                                        </p:cTn>
                                        <p:tgtEl>
                                          <p:spTgt spid="91193">
                                            <p:txEl>
                                              <p:pRg st="0" end="0"/>
                                            </p:txEl>
                                          </p:spTgt>
                                        </p:tgtEl>
                                        <p:attrNameLst>
                                          <p:attrName>style.visibility</p:attrName>
                                        </p:attrNameLst>
                                      </p:cBhvr>
                                      <p:to>
                                        <p:strVal val="visible"/>
                                      </p:to>
                                    </p:set>
                                    <p:animEffect transition="in" filter="wipe(up)">
                                      <p:cBhvr>
                                        <p:cTn id="83" dur="75"/>
                                        <p:tgtEl>
                                          <p:spTgt spid="91193">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2" name="TYPE.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91173"/>
                                        </p:tgtEl>
                                        <p:attrNameLst>
                                          <p:attrName>style.visibility</p:attrName>
                                        </p:attrNameLst>
                                      </p:cBhvr>
                                      <p:to>
                                        <p:strVal val="visible"/>
                                      </p:to>
                                    </p:set>
                                    <p:animEffect transition="in" filter="box(out)">
                                      <p:cBhvr>
                                        <p:cTn id="88" dur="500"/>
                                        <p:tgtEl>
                                          <p:spTgt spid="91173"/>
                                        </p:tgtEl>
                                      </p:cBhvr>
                                    </p:animEffect>
                                  </p:childTnLst>
                                  <p:subTnLst>
                                    <p:audio>
                                      <p:cMediaNode>
                                        <p:cTn display="0" masterRel="sameClick">
                                          <p:stCondLst>
                                            <p:cond evt="begin" delay="0">
                                              <p:tn val="86"/>
                                            </p:cond>
                                          </p:stCondLst>
                                          <p:endCondLst>
                                            <p:cond evt="onStopAudio" delay="0">
                                              <p:tgtEl>
                                                <p:sldTgt/>
                                              </p:tgtEl>
                                            </p:cond>
                                          </p:endCondLst>
                                        </p:cTn>
                                        <p:tgtEl>
                                          <p:sndTgt r:embed="rId1" name="CAMERA.WAV"/>
                                        </p:tgtEl>
                                      </p:cMediaNode>
                                    </p:audio>
                                  </p:subTnLst>
                                </p:cTn>
                              </p:par>
                            </p:childTnLst>
                          </p:cTn>
                        </p:par>
                        <p:par>
                          <p:cTn id="89" fill="hold">
                            <p:stCondLst>
                              <p:cond delay="500"/>
                            </p:stCondLst>
                            <p:childTnLst>
                              <p:par>
                                <p:cTn id="90" presetID="22" presetClass="entr" presetSubtype="1" fill="hold" grpId="0" nodeType="afterEffect">
                                  <p:stCondLst>
                                    <p:cond delay="1000"/>
                                  </p:stCondLst>
                                  <p:iterate type="lt">
                                    <p:tmPct val="100000"/>
                                  </p:iterate>
                                  <p:childTnLst>
                                    <p:set>
                                      <p:cBhvr>
                                        <p:cTn id="91" dur="1" fill="hold">
                                          <p:stCondLst>
                                            <p:cond delay="0"/>
                                          </p:stCondLst>
                                        </p:cTn>
                                        <p:tgtEl>
                                          <p:spTgt spid="91194">
                                            <p:txEl>
                                              <p:pRg st="0" end="0"/>
                                            </p:txEl>
                                          </p:spTgt>
                                        </p:tgtEl>
                                        <p:attrNameLst>
                                          <p:attrName>style.visibility</p:attrName>
                                        </p:attrNameLst>
                                      </p:cBhvr>
                                      <p:to>
                                        <p:strVal val="visible"/>
                                      </p:to>
                                    </p:set>
                                    <p:animEffect transition="in" filter="wipe(up)">
                                      <p:cBhvr>
                                        <p:cTn id="92" dur="75"/>
                                        <p:tgtEl>
                                          <p:spTgt spid="91194">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TYPE.WAV"/>
                                        </p:tgtEl>
                                      </p:cMediaNode>
                                    </p:audio>
                                  </p:sub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91210"/>
                                        </p:tgtEl>
                                        <p:attrNameLst>
                                          <p:attrName>style.visibility</p:attrName>
                                        </p:attrNameLst>
                                      </p:cBhvr>
                                      <p:to>
                                        <p:strVal val="visible"/>
                                      </p:to>
                                    </p:set>
                                    <p:animEffect transition="in" filter="blinds(horizontal)">
                                      <p:cBhvr>
                                        <p:cTn id="97" dur="500"/>
                                        <p:tgtEl>
                                          <p:spTgt spid="91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79" grpId="0" advAuto="1000" autoUpdateAnimBg="0" build="p"/>
      <p:bldP spid="91186" grpId="0" advAuto="1000" autoUpdateAnimBg="0" build="p"/>
      <p:bldP spid="91187" grpId="0" advAuto="1000" autoUpdateAnimBg="0" build="p"/>
      <p:bldP spid="91188" grpId="0" advAuto="1000" autoUpdateAnimBg="0" build="p"/>
      <p:bldP spid="91189" grpId="0" advAuto="1000" autoUpdateAnimBg="0" build="p"/>
      <p:bldP spid="91190" grpId="0" advAuto="1000" autoUpdateAnimBg="0" build="p"/>
      <p:bldP spid="91191" grpId="0" advAuto="1000" autoUpdateAnimBg="0" build="p"/>
      <p:bldP spid="91192" grpId="0" advAuto="1000" autoUpdateAnimBg="0" build="p"/>
      <p:bldP spid="91193" grpId="0" advAuto="1000" autoUpdateAnimBg="0" build="p"/>
      <p:bldP spid="91194" grpId="0" advAuto="1000" autoUpdateAnimBg="0" build="p"/>
      <p:bldP spid="9121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747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4757" name="Text Box 3"/>
          <p:cNvSpPr txBox="1">
            <a:spLocks noChangeArrowheads="1"/>
          </p:cNvSpPr>
          <p:nvPr/>
        </p:nvSpPr>
        <p:spPr bwMode="auto">
          <a:xfrm>
            <a:off x="14288" y="179694"/>
            <a:ext cx="9115424" cy="6647974"/>
          </a:xfrm>
          <a:prstGeom prst="rect">
            <a:avLst/>
          </a:prstGeom>
          <a:solidFill>
            <a:srgbClr val="CCFFFF"/>
          </a:solidFill>
          <a:ln w="9525">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bool  </a:t>
            </a:r>
            <a:r>
              <a:rPr kumimoji="1" lang="en-US" altLang="zh-CN" sz="1200" dirty="0" err="1">
                <a:latin typeface="Times New Roman" panose="02020603050405020304" pitchFamily="18" charset="0"/>
                <a:ea typeface="华文楷体" panose="02010600040101010101" pitchFamily="2" charset="-122"/>
              </a:rPr>
              <a:t>Topologicalsort</a:t>
            </a:r>
            <a:r>
              <a:rPr kumimoji="1" lang="en-US" altLang="zh-CN" sz="1200" dirty="0">
                <a:latin typeface="Times New Roman" panose="02020603050405020304" pitchFamily="18" charset="0"/>
                <a:ea typeface="华文楷体" panose="02010600040101010101" pitchFamily="2" charset="-122"/>
              </a:rPr>
              <a:t>(</a:t>
            </a:r>
            <a:r>
              <a:rPr kumimoji="1" lang="zh-CN" altLang="en-US" sz="1200" dirty="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Agraph</a:t>
            </a:r>
            <a:r>
              <a:rPr kumimoji="1" lang="en-US" altLang="zh-CN" sz="1200" dirty="0">
                <a:latin typeface="Times New Roman" panose="02020603050405020304" pitchFamily="18" charset="0"/>
                <a:ea typeface="华文楷体" panose="02010600040101010101" pitchFamily="2" charset="-122"/>
              </a:rPr>
              <a:t> </a:t>
            </a:r>
            <a:r>
              <a:rPr kumimoji="1" lang="zh-CN" altLang="en-US" sz="1200" dirty="0">
                <a:latin typeface="Times New Roman" panose="02020603050405020304" pitchFamily="18" charset="0"/>
                <a:ea typeface="华文楷体" panose="02010600040101010101" pitchFamily="2" charset="-122"/>
              </a:rPr>
              <a:t>*</a:t>
            </a:r>
            <a:r>
              <a:rPr kumimoji="1" lang="en-US" altLang="zh-CN" sz="1200" dirty="0" smtClean="0">
                <a:latin typeface="Times New Roman" panose="02020603050405020304" pitchFamily="18" charset="0"/>
                <a:ea typeface="华文楷体" panose="02010600040101010101" pitchFamily="2" charset="-122"/>
              </a:rPr>
              <a:t>G,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int</a:t>
            </a:r>
            <a:r>
              <a:rPr kumimoji="1" lang="en-US" altLang="zh-CN" sz="1200" b="1" dirty="0" smtClean="0">
                <a:solidFill>
                  <a:srgbClr val="FF0000"/>
                </a:solidFill>
                <a:latin typeface="Times New Roman" panose="02020603050405020304" pitchFamily="18" charset="0"/>
                <a:ea typeface="华文楷体" panose="02010600040101010101" pitchFamily="2" charset="-122"/>
              </a:rPr>
              <a:t> &amp;</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修改求拓扑序列算法，实现求</a:t>
            </a:r>
            <a:r>
              <a:rPr kumimoji="1" lang="en-US" altLang="zh-CN" sz="1200" dirty="0" err="1" smtClean="0">
                <a:latin typeface="Times New Roman" panose="02020603050405020304" pitchFamily="18" charset="0"/>
                <a:ea typeface="华文楷体" panose="02010600040101010101" pitchFamily="2" charset="-122"/>
              </a:rPr>
              <a:t>ve</a:t>
            </a:r>
            <a:r>
              <a:rPr kumimoji="1" lang="zh-CN" altLang="en-US" sz="1200" dirty="0" smtClean="0">
                <a:latin typeface="Times New Roman" panose="02020603050405020304" pitchFamily="18" charset="0"/>
                <a:ea typeface="华文楷体" panose="02010600040101010101" pitchFamily="2" charset="-122"/>
              </a:rPr>
              <a:t>值</a:t>
            </a:r>
            <a:r>
              <a:rPr kumimoji="1" lang="en-US" altLang="zh-CN" sz="1200" dirty="0" smtClean="0">
                <a:latin typeface="Times New Roman" panose="02020603050405020304" pitchFamily="18" charset="0"/>
                <a:ea typeface="华文楷体" panose="02010600040101010101" pitchFamily="2" charset="-122"/>
              </a:rPr>
              <a:t>.</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findinDegree</a:t>
            </a:r>
            <a:r>
              <a:rPr kumimoji="1" lang="en-US" altLang="zh-CN" sz="1200" dirty="0" smtClean="0">
                <a:latin typeface="Times New Roman" panose="02020603050405020304" pitchFamily="18" charset="0"/>
                <a:ea typeface="华文楷体" panose="02010600040101010101" pitchFamily="2" charset="-122"/>
              </a:rPr>
              <a:t>(G</a:t>
            </a:r>
            <a:r>
              <a:rPr kumimoji="1" lang="zh-CN" altLang="en-US" sz="1200" dirty="0">
                <a:latin typeface="Times New Roman" panose="02020603050405020304" pitchFamily="18" charset="0"/>
                <a:ea typeface="华文楷体" panose="02010600040101010101" pitchFamily="2" charset="-122"/>
              </a:rPr>
              <a:t>，</a:t>
            </a:r>
            <a:r>
              <a:rPr kumimoji="1" lang="en-US" altLang="zh-CN" sz="1200" dirty="0" err="1" smtClean="0">
                <a:latin typeface="Times New Roman" panose="02020603050405020304" pitchFamily="18" charset="0"/>
                <a:ea typeface="华文楷体" panose="02010600040101010101" pitchFamily="2" charset="-122"/>
              </a:rPr>
              <a:t>indegree</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计算每个结点的入度，用</a:t>
            </a:r>
            <a:r>
              <a:rPr kumimoji="1" lang="en-US" altLang="zh-CN" sz="1200" dirty="0" err="1" smtClean="0">
                <a:latin typeface="Times New Roman" panose="02020603050405020304" pitchFamily="18" charset="0"/>
                <a:ea typeface="华文楷体" panose="02010600040101010101" pitchFamily="2" charset="-122"/>
              </a:rPr>
              <a:t>indegree</a:t>
            </a:r>
            <a:r>
              <a:rPr kumimoji="1" lang="zh-CN" altLang="en-US" sz="1200" dirty="0" smtClean="0">
                <a:latin typeface="Times New Roman" panose="02020603050405020304" pitchFamily="18" charset="0"/>
                <a:ea typeface="华文楷体" panose="02010600040101010101" pitchFamily="2" charset="-122"/>
              </a:rPr>
              <a:t>数组返回。</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Initstack</a:t>
            </a:r>
            <a:r>
              <a:rPr kumimoji="1" lang="en-US" altLang="zh-CN" sz="1200" dirty="0" smtClean="0">
                <a:latin typeface="Times New Roman" panose="02020603050405020304" pitchFamily="18" charset="0"/>
                <a:ea typeface="华文楷体" panose="02010600040101010101" pitchFamily="2" charset="-122"/>
              </a:rPr>
              <a:t>(S); //</a:t>
            </a:r>
            <a:r>
              <a:rPr kumimoji="1" lang="zh-CN" altLang="en-US" sz="1200" dirty="0" smtClean="0">
                <a:latin typeface="Times New Roman" panose="02020603050405020304" pitchFamily="18" charset="0"/>
                <a:ea typeface="华文楷体" panose="02010600040101010101" pitchFamily="2" charset="-122"/>
              </a:rPr>
              <a:t>栈</a:t>
            </a:r>
            <a:r>
              <a:rPr kumimoji="1" lang="en-US" altLang="zh-CN" sz="1200" dirty="0" smtClean="0">
                <a:latin typeface="Times New Roman" panose="02020603050405020304" pitchFamily="18" charset="0"/>
                <a:ea typeface="华文楷体" panose="02010600040101010101" pitchFamily="2" charset="-122"/>
              </a:rPr>
              <a:t>S</a:t>
            </a:r>
            <a:r>
              <a:rPr kumimoji="1" lang="zh-CN" altLang="en-US" sz="1200" dirty="0" smtClean="0">
                <a:latin typeface="Times New Roman" panose="02020603050405020304" pitchFamily="18" charset="0"/>
                <a:ea typeface="华文楷体" panose="02010600040101010101" pitchFamily="2" charset="-122"/>
              </a:rPr>
              <a:t>初始化操作</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for(</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 1; </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&lt;= </a:t>
            </a:r>
            <a:r>
              <a:rPr kumimoji="1" lang="en-US" altLang="zh-CN" sz="1200" dirty="0" err="1" smtClean="0">
                <a:latin typeface="Times New Roman" panose="02020603050405020304" pitchFamily="18" charset="0"/>
                <a:ea typeface="华文楷体" panose="02010600040101010101" pitchFamily="2" charset="-122"/>
              </a:rPr>
              <a:t>G.n</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if (</a:t>
            </a:r>
            <a:r>
              <a:rPr kumimoji="1" lang="en-US" altLang="zh-CN" sz="1200" dirty="0" err="1" smtClean="0">
                <a:latin typeface="Times New Roman" panose="02020603050405020304" pitchFamily="18" charset="0"/>
                <a:ea typeface="华文楷体" panose="02010600040101010101" pitchFamily="2" charset="-122"/>
              </a:rPr>
              <a:t>indegree</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i</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]==0) Push(S, </a:t>
            </a:r>
            <a:r>
              <a:rPr kumimoji="1" lang="en-US" altLang="zh-CN" sz="1200" dirty="0" err="1" smtClean="0">
                <a:latin typeface="Times New Roman" panose="02020603050405020304" pitchFamily="18" charset="0"/>
                <a:ea typeface="华文楷体" panose="02010600040101010101" pitchFamily="2" charset="-122"/>
              </a:rPr>
              <a:t>i</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a:latin typeface="Times New Roman" panose="02020603050405020304" pitchFamily="18" charset="0"/>
                <a:ea typeface="华文楷体" panose="02010600040101010101" pitchFamily="2" charset="-122"/>
              </a:rPr>
              <a:t>顶</a:t>
            </a:r>
            <a:r>
              <a:rPr kumimoji="1" lang="zh-CN" altLang="en-US" sz="1200" dirty="0" smtClean="0">
                <a:latin typeface="Times New Roman" panose="02020603050405020304" pitchFamily="18" charset="0"/>
                <a:ea typeface="华文楷体" panose="02010600040101010101" pitchFamily="2" charset="-122"/>
              </a:rPr>
              <a:t>点</a:t>
            </a:r>
            <a:r>
              <a:rPr kumimoji="1" lang="en-US" altLang="zh-CN" sz="1200" dirty="0" err="1" smtClean="0">
                <a:latin typeface="Times New Roman" panose="02020603050405020304" pitchFamily="18" charset="0"/>
                <a:ea typeface="华文楷体" panose="02010600040101010101" pitchFamily="2" charset="-122"/>
              </a:rPr>
              <a:t>i</a:t>
            </a:r>
            <a:r>
              <a:rPr kumimoji="1" lang="zh-CN" altLang="en-US" sz="1200" dirty="0" smtClean="0">
                <a:latin typeface="Times New Roman" panose="02020603050405020304" pitchFamily="18" charset="0"/>
                <a:ea typeface="华文楷体" panose="02010600040101010101" pitchFamily="2" charset="-122"/>
              </a:rPr>
              <a:t>入度为</a:t>
            </a:r>
            <a:r>
              <a:rPr kumimoji="1" lang="en-US" altLang="zh-CN" sz="1200" dirty="0" smtClean="0">
                <a:latin typeface="Times New Roman" panose="02020603050405020304" pitchFamily="18" charset="0"/>
                <a:ea typeface="华文楷体" panose="02010600040101010101" pitchFamily="2" charset="-122"/>
              </a:rPr>
              <a:t>0</a:t>
            </a:r>
            <a:r>
              <a:rPr kumimoji="1" lang="zh-CN" altLang="en-US" sz="1200" dirty="0" smtClean="0">
                <a:latin typeface="Times New Roman" panose="02020603050405020304" pitchFamily="18" charset="0"/>
                <a:ea typeface="华文楷体" panose="02010600040101010101" pitchFamily="2" charset="-122"/>
              </a:rPr>
              <a:t>，入栈</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i</a:t>
            </a:r>
            <a:r>
              <a:rPr kumimoji="1" lang="en-US" altLang="zh-CN" sz="1200" b="1" dirty="0" smtClean="0">
                <a:solidFill>
                  <a:srgbClr val="FF0000"/>
                </a:solidFill>
                <a:latin typeface="Times New Roman" panose="02020603050405020304" pitchFamily="18" charset="0"/>
                <a:ea typeface="华文楷体" panose="02010600040101010101" pitchFamily="2" charset="-122"/>
              </a:rPr>
              <a:t>] </a:t>
            </a:r>
            <a:r>
              <a:rPr kumimoji="1" lang="en-US" altLang="zh-CN" sz="1200" b="1" dirty="0">
                <a:solidFill>
                  <a:srgbClr val="FF0000"/>
                </a:solidFill>
                <a:latin typeface="Times New Roman" panose="02020603050405020304" pitchFamily="18" charset="0"/>
                <a:ea typeface="华文楷体" panose="02010600040101010101" pitchFamily="2" charset="-122"/>
              </a:rPr>
              <a:t>= 0; </a:t>
            </a:r>
            <a:r>
              <a:rPr kumimoji="1" lang="en-US" altLang="zh-CN" sz="1200" dirty="0">
                <a:latin typeface="Times New Roman" panose="02020603050405020304" pitchFamily="18" charset="0"/>
                <a:ea typeface="华文楷体" panose="02010600040101010101" pitchFamily="2" charset="-122"/>
              </a:rPr>
              <a:t>//</a:t>
            </a:r>
            <a:r>
              <a:rPr kumimoji="1" lang="en-US" altLang="zh-CN" sz="1200" dirty="0" err="1">
                <a:latin typeface="Times New Roman" panose="02020603050405020304" pitchFamily="18" charset="0"/>
                <a:ea typeface="华文楷体" panose="02010600040101010101" pitchFamily="2" charset="-122"/>
              </a:rPr>
              <a:t>ve</a:t>
            </a:r>
            <a:r>
              <a:rPr kumimoji="1" lang="zh-CN" altLang="en-US" sz="1200" dirty="0">
                <a:latin typeface="Times New Roman" panose="02020603050405020304" pitchFamily="18" charset="0"/>
                <a:ea typeface="华文楷体" panose="02010600040101010101" pitchFamily="2" charset="-122"/>
              </a:rPr>
              <a:t>数组初始化为</a:t>
            </a:r>
            <a:r>
              <a:rPr kumimoji="1" lang="en-US" altLang="zh-CN" sz="1200" dirty="0" smtClean="0">
                <a:latin typeface="Times New Roman" panose="02020603050405020304" pitchFamily="18" charset="0"/>
                <a:ea typeface="华文楷体" panose="02010600040101010101" pitchFamily="2" charset="-122"/>
              </a:rPr>
              <a:t>0</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smtClean="0">
                <a:latin typeface="Times New Roman" panose="02020603050405020304" pitchFamily="18" charset="0"/>
                <a:ea typeface="华文楷体" panose="02010600040101010101" pitchFamily="2" charset="-122"/>
              </a:rPr>
              <a:t>int</a:t>
            </a:r>
            <a:r>
              <a:rPr kumimoji="1" lang="en-US" altLang="zh-CN" sz="1200" dirty="0" smtClean="0">
                <a:latin typeface="Times New Roman" panose="02020603050405020304" pitchFamily="18" charset="0"/>
                <a:ea typeface="华文楷体" panose="02010600040101010101" pitchFamily="2" charset="-122"/>
              </a:rPr>
              <a:t> count </a:t>
            </a:r>
            <a:r>
              <a:rPr kumimoji="1" lang="en-US" altLang="zh-CN" sz="1200" dirty="0">
                <a:latin typeface="Times New Roman" panose="02020603050405020304" pitchFamily="18" charset="0"/>
                <a:ea typeface="华文楷体" panose="02010600040101010101" pitchFamily="2" charset="-122"/>
              </a:rPr>
              <a:t>= 0</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while (!</a:t>
            </a:r>
            <a:r>
              <a:rPr kumimoji="1" lang="en-US" altLang="zh-CN" sz="1200" dirty="0" err="1" smtClean="0">
                <a:latin typeface="Times New Roman" panose="02020603050405020304" pitchFamily="18" charset="0"/>
                <a:ea typeface="华文楷体" panose="02010600040101010101" pitchFamily="2" charset="-122"/>
              </a:rPr>
              <a:t>StackEmpty</a:t>
            </a:r>
            <a:r>
              <a:rPr kumimoji="1" lang="en-US" altLang="zh-CN" sz="1200" dirty="0" smtClean="0">
                <a:latin typeface="Times New Roman" panose="02020603050405020304" pitchFamily="18" charset="0"/>
                <a:ea typeface="华文楷体" panose="02010600040101010101" pitchFamily="2" charset="-122"/>
              </a:rPr>
              <a:t>(S)) //</a:t>
            </a:r>
            <a:r>
              <a:rPr kumimoji="1" lang="zh-CN" altLang="en-US" sz="1200" dirty="0" smtClean="0">
                <a:latin typeface="Times New Roman" panose="02020603050405020304" pitchFamily="18" charset="0"/>
                <a:ea typeface="华文楷体" panose="02010600040101010101" pitchFamily="2" charset="-122"/>
              </a:rPr>
              <a:t>栈不空</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en-US"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Pop(</a:t>
            </a:r>
            <a:r>
              <a:rPr kumimoji="1" lang="en-US" altLang="zh-CN" sz="1200" dirty="0" err="1" smtClean="0">
                <a:latin typeface="Times New Roman" panose="02020603050405020304" pitchFamily="18" charset="0"/>
                <a:ea typeface="华文楷体" panose="02010600040101010101" pitchFamily="2" charset="-122"/>
              </a:rPr>
              <a:t>S,j</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栈顶元素出栈，用</a:t>
            </a:r>
            <a:r>
              <a:rPr kumimoji="1" lang="en-US" altLang="zh-CN" sz="1200" dirty="0" smtClean="0">
                <a:latin typeface="Times New Roman" panose="02020603050405020304" pitchFamily="18" charset="0"/>
                <a:ea typeface="华文楷体" panose="02010600040101010101" pitchFamily="2" charset="-122"/>
              </a:rPr>
              <a:t>j</a:t>
            </a:r>
            <a:r>
              <a:rPr kumimoji="1" lang="zh-CN" altLang="en-US" sz="1200" dirty="0" smtClean="0">
                <a:latin typeface="Times New Roman" panose="02020603050405020304" pitchFamily="18" charset="0"/>
                <a:ea typeface="华文楷体" panose="02010600040101010101" pitchFamily="2" charset="-122"/>
              </a:rPr>
              <a:t>保存栈顶元素；</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count</a:t>
            </a:r>
            <a:r>
              <a:rPr kumimoji="1" lang="en-US" altLang="zh-CN" sz="1200" dirty="0" smtClean="0">
                <a:latin typeface="Times New Roman" panose="02020603050405020304" pitchFamily="18" charset="0"/>
                <a:ea typeface="华文楷体" panose="02010600040101010101" pitchFamily="2" charset="-122"/>
              </a:rPr>
              <a:t>; //</a:t>
            </a:r>
            <a:r>
              <a:rPr kumimoji="1" lang="zh-CN" altLang="en-US" sz="1200" dirty="0" smtClean="0">
                <a:latin typeface="Times New Roman" panose="02020603050405020304" pitchFamily="18" charset="0"/>
                <a:ea typeface="华文楷体" panose="02010600040101010101" pitchFamily="2" charset="-122"/>
              </a:rPr>
              <a:t>拓扑序列中元素个数加</a:t>
            </a:r>
            <a:r>
              <a:rPr kumimoji="1" lang="en-US" altLang="zh-CN" sz="1200" dirty="0" smtClean="0">
                <a:latin typeface="Times New Roman" panose="02020603050405020304" pitchFamily="18" charset="0"/>
                <a:ea typeface="华文楷体" panose="02010600040101010101" pitchFamily="2" charset="-122"/>
              </a:rPr>
              <a:t>1</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for </a:t>
            </a:r>
            <a:r>
              <a:rPr kumimoji="1" lang="en-US" altLang="zh-CN" sz="1200" dirty="0">
                <a:latin typeface="Times New Roman" panose="02020603050405020304" pitchFamily="18" charset="0"/>
                <a:ea typeface="华文楷体" panose="02010600040101010101" pitchFamily="2" charset="-122"/>
              </a:rPr>
              <a:t>(p=G-&gt;</a:t>
            </a:r>
            <a:r>
              <a:rPr kumimoji="1" lang="en-US" altLang="zh-CN" sz="1200" dirty="0" err="1" smtClean="0">
                <a:latin typeface="Times New Roman" panose="02020603050405020304" pitchFamily="18" charset="0"/>
                <a:ea typeface="华文楷体" panose="02010600040101010101" pitchFamily="2" charset="-122"/>
              </a:rPr>
              <a:t>adjlist</a:t>
            </a:r>
            <a:r>
              <a:rPr kumimoji="1" lang="en-US" altLang="zh-CN" sz="1200" dirty="0" smtClean="0">
                <a:latin typeface="Times New Roman" panose="02020603050405020304" pitchFamily="18" charset="0"/>
                <a:ea typeface="华文楷体" panose="02010600040101010101" pitchFamily="2" charset="-122"/>
              </a:rPr>
              <a:t>[j].</a:t>
            </a:r>
            <a:r>
              <a:rPr kumimoji="1" lang="en-US" altLang="zh-CN" sz="1200" dirty="0" err="1">
                <a:latin typeface="Times New Roman" panose="02020603050405020304" pitchFamily="18" charset="0"/>
                <a:ea typeface="华文楷体" panose="02010600040101010101" pitchFamily="2" charset="-122"/>
              </a:rPr>
              <a:t>firstarc</a:t>
            </a:r>
            <a:r>
              <a:rPr kumimoji="1" lang="en-US" altLang="zh-CN" sz="1200" dirty="0">
                <a:latin typeface="Times New Roman" panose="02020603050405020304" pitchFamily="18" charset="0"/>
                <a:ea typeface="华文楷体" panose="02010600040101010101" pitchFamily="2" charset="-122"/>
              </a:rPr>
              <a:t>; p; p=p-&gt;</a:t>
            </a:r>
            <a:r>
              <a:rPr kumimoji="1" lang="en-US" altLang="zh-CN" sz="1200" dirty="0" err="1" smtClean="0">
                <a:latin typeface="Times New Roman" panose="02020603050405020304" pitchFamily="18" charset="0"/>
                <a:ea typeface="华文楷体" panose="02010600040101010101" pitchFamily="2" charset="-122"/>
              </a:rPr>
              <a:t>nextarc</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寻找顶点</a:t>
            </a:r>
            <a:r>
              <a:rPr kumimoji="1" lang="en-US" altLang="zh-CN" sz="1200" dirty="0" smtClean="0">
                <a:latin typeface="Times New Roman" panose="02020603050405020304" pitchFamily="18" charset="0"/>
                <a:ea typeface="华文楷体" panose="02010600040101010101" pitchFamily="2" charset="-122"/>
              </a:rPr>
              <a:t>j</a:t>
            </a:r>
            <a:r>
              <a:rPr kumimoji="1" lang="zh-CN" altLang="en-US" sz="1200" dirty="0" smtClean="0">
                <a:latin typeface="Times New Roman" panose="02020603050405020304" pitchFamily="18" charset="0"/>
                <a:ea typeface="华文楷体" panose="02010600040101010101" pitchFamily="2" charset="-122"/>
              </a:rPr>
              <a:t>的邻接顶点</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k= p-&gt;</a:t>
            </a:r>
            <a:r>
              <a:rPr kumimoji="1" lang="en-US" altLang="zh-CN" sz="1200" dirty="0" err="1" smtClean="0">
                <a:latin typeface="Times New Roman" panose="02020603050405020304" pitchFamily="18" charset="0"/>
                <a:ea typeface="华文楷体" panose="02010600040101010101" pitchFamily="2" charset="-122"/>
              </a:rPr>
              <a:t>adjvex</a:t>
            </a:r>
            <a:r>
              <a:rPr kumimoji="1" lang="en-US" altLang="zh-CN" sz="1200" dirty="0" smtClean="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顶点</a:t>
            </a:r>
            <a:r>
              <a:rPr kumimoji="1" lang="en-US" altLang="zh-CN" sz="1200" dirty="0" smtClean="0">
                <a:latin typeface="Times New Roman" panose="02020603050405020304" pitchFamily="18" charset="0"/>
                <a:ea typeface="华文楷体" panose="02010600040101010101" pitchFamily="2" charset="-122"/>
              </a:rPr>
              <a:t>j</a:t>
            </a:r>
            <a:r>
              <a:rPr kumimoji="1" lang="zh-CN" altLang="en-US" sz="1200" dirty="0" smtClean="0">
                <a:latin typeface="Times New Roman" panose="02020603050405020304" pitchFamily="18" charset="0"/>
                <a:ea typeface="华文楷体" panose="02010600040101010101" pitchFamily="2" charset="-122"/>
              </a:rPr>
              <a:t>的邻接顶点</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if ((- </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err="1">
                <a:latin typeface="Times New Roman" panose="02020603050405020304" pitchFamily="18" charset="0"/>
                <a:ea typeface="华文楷体" panose="02010600040101010101" pitchFamily="2" charset="-122"/>
              </a:rPr>
              <a:t>indegree</a:t>
            </a:r>
            <a:r>
              <a:rPr kumimoji="1" lang="en-US" altLang="zh-CN" sz="1200" dirty="0">
                <a:latin typeface="Times New Roman" panose="02020603050405020304" pitchFamily="18" charset="0"/>
                <a:ea typeface="华文楷体" panose="02010600040101010101" pitchFamily="2" charset="-122"/>
              </a:rPr>
              <a:t> [ k </a:t>
            </a:r>
            <a:r>
              <a:rPr kumimoji="1" lang="en-US" altLang="zh-CN" sz="1200" dirty="0" smtClean="0">
                <a:latin typeface="Times New Roman" panose="02020603050405020304" pitchFamily="18" charset="0"/>
                <a:ea typeface="华文楷体" panose="02010600040101010101" pitchFamily="2" charset="-122"/>
              </a:rPr>
              <a:t>]) ==0) Push(S</a:t>
            </a: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k); //</a:t>
            </a:r>
            <a:r>
              <a:rPr kumimoji="1" lang="zh-CN" altLang="en-US" sz="1200" dirty="0" smtClean="0">
                <a:latin typeface="Times New Roman" panose="02020603050405020304" pitchFamily="18" charset="0"/>
                <a:ea typeface="华文楷体" panose="02010600040101010101" pitchFamily="2" charset="-122"/>
              </a:rPr>
              <a:t>顶点</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入度</a:t>
            </a:r>
            <a:r>
              <a:rPr kumimoji="1" lang="en-US" altLang="zh-CN" sz="1200" dirty="0" smtClean="0">
                <a:latin typeface="Times New Roman" panose="02020603050405020304" pitchFamily="18" charset="0"/>
                <a:ea typeface="华文楷体" panose="02010600040101010101" pitchFamily="2" charset="-122"/>
              </a:rPr>
              <a:t>-1</a:t>
            </a:r>
            <a:r>
              <a:rPr kumimoji="1" lang="zh-CN" altLang="en-US" sz="1200" dirty="0" smtClean="0">
                <a:latin typeface="Times New Roman" panose="02020603050405020304" pitchFamily="18" charset="0"/>
                <a:ea typeface="华文楷体" panose="02010600040101010101" pitchFamily="2" charset="-122"/>
              </a:rPr>
              <a:t>之后若</a:t>
            </a:r>
            <a:r>
              <a:rPr kumimoji="1" lang="en-US" altLang="zh-CN" sz="1200" dirty="0" smtClean="0">
                <a:latin typeface="Times New Roman" panose="02020603050405020304" pitchFamily="18" charset="0"/>
                <a:ea typeface="华文楷体" panose="02010600040101010101" pitchFamily="2" charset="-122"/>
              </a:rPr>
              <a:t>==0</a:t>
            </a:r>
            <a:r>
              <a:rPr kumimoji="1" lang="zh-CN" altLang="en-US" sz="1200" dirty="0" smtClean="0">
                <a:latin typeface="Times New Roman" panose="02020603050405020304" pitchFamily="18" charset="0"/>
                <a:ea typeface="华文楷体" panose="02010600040101010101" pitchFamily="2" charset="-122"/>
              </a:rPr>
              <a:t>，则</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smtClean="0">
                <a:latin typeface="Times New Roman" panose="02020603050405020304" pitchFamily="18" charset="0"/>
                <a:ea typeface="华文楷体" panose="02010600040101010101" pitchFamily="2" charset="-122"/>
              </a:rPr>
              <a:t>入栈；</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b="1" dirty="0" smtClean="0">
                <a:solidFill>
                  <a:srgbClr val="FF0000"/>
                </a:solidFill>
                <a:latin typeface="Times New Roman" panose="02020603050405020304" pitchFamily="18" charset="0"/>
                <a:ea typeface="华文楷体" panose="02010600040101010101" pitchFamily="2" charset="-122"/>
              </a:rPr>
              <a:t>if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[j]+ </a:t>
            </a:r>
            <a:r>
              <a:rPr kumimoji="1" lang="en-US" altLang="zh-CN" sz="1200" b="1" dirty="0">
                <a:solidFill>
                  <a:srgbClr val="FF0000"/>
                </a:solidFill>
                <a:latin typeface="Times New Roman" panose="02020603050405020304" pitchFamily="18" charset="0"/>
                <a:ea typeface="华文楷体" panose="02010600040101010101" pitchFamily="2" charset="-122"/>
              </a:rPr>
              <a:t>p-&gt;</a:t>
            </a:r>
            <a:r>
              <a:rPr kumimoji="1" lang="en-US" altLang="zh-CN" sz="1200" b="1" dirty="0" smtClean="0">
                <a:solidFill>
                  <a:srgbClr val="FF0000"/>
                </a:solidFill>
                <a:latin typeface="Times New Roman" panose="02020603050405020304" pitchFamily="18" charset="0"/>
                <a:ea typeface="华文楷体" panose="02010600040101010101" pitchFamily="2" charset="-122"/>
              </a:rPr>
              <a:t>weight &gt;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[k]) </a:t>
            </a:r>
            <a:r>
              <a:rPr kumimoji="1" lang="zh-CN" altLang="en-US" sz="1200" b="1" dirty="0" smtClean="0">
                <a:solidFill>
                  <a:srgbClr val="FF0000"/>
                </a:solidFill>
                <a:latin typeface="Times New Roman" panose="02020603050405020304" pitchFamily="18" charset="0"/>
                <a:ea typeface="华文楷体" panose="02010600040101010101" pitchFamily="2" charset="-122"/>
              </a:rPr>
              <a:t>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[k]  </a:t>
            </a:r>
            <a:r>
              <a:rPr kumimoji="1" lang="en-US" altLang="zh-CN" sz="1200" b="1" dirty="0">
                <a:solidFill>
                  <a:srgbClr val="FF0000"/>
                </a:solidFill>
                <a:latin typeface="Times New Roman" panose="02020603050405020304" pitchFamily="18" charset="0"/>
                <a:ea typeface="华文楷体" panose="02010600040101010101" pitchFamily="2" charset="-122"/>
              </a:rPr>
              <a:t>= </a:t>
            </a:r>
            <a:r>
              <a:rPr kumimoji="1" lang="en-US" altLang="zh-CN" sz="1200" b="1" dirty="0" err="1" smtClean="0">
                <a:solidFill>
                  <a:srgbClr val="FF0000"/>
                </a:solidFill>
                <a:latin typeface="Times New Roman" panose="02020603050405020304" pitchFamily="18" charset="0"/>
                <a:ea typeface="华文楷体" panose="02010600040101010101" pitchFamily="2" charset="-122"/>
              </a:rPr>
              <a:t>ve</a:t>
            </a:r>
            <a:r>
              <a:rPr kumimoji="1" lang="en-US" altLang="zh-CN" sz="1200" b="1" dirty="0" smtClean="0">
                <a:solidFill>
                  <a:srgbClr val="FF0000"/>
                </a:solidFill>
                <a:latin typeface="Times New Roman" panose="02020603050405020304" pitchFamily="18" charset="0"/>
                <a:ea typeface="华文楷体" panose="02010600040101010101" pitchFamily="2" charset="-122"/>
              </a:rPr>
              <a:t>[j] </a:t>
            </a:r>
            <a:r>
              <a:rPr kumimoji="1" lang="en-US" altLang="zh-CN" sz="1200" b="1" dirty="0">
                <a:solidFill>
                  <a:srgbClr val="FF0000"/>
                </a:solidFill>
                <a:latin typeface="Times New Roman" panose="02020603050405020304" pitchFamily="18" charset="0"/>
                <a:ea typeface="华文楷体" panose="02010600040101010101" pitchFamily="2" charset="-122"/>
              </a:rPr>
              <a:t>+ p-&gt;weight; </a:t>
            </a:r>
            <a:r>
              <a:rPr kumimoji="1" lang="en-US" altLang="zh-CN" sz="1200" dirty="0">
                <a:latin typeface="Times New Roman" panose="02020603050405020304" pitchFamily="18" charset="0"/>
                <a:ea typeface="华文楷体" panose="02010600040101010101" pitchFamily="2" charset="-122"/>
              </a:rPr>
              <a:t>//</a:t>
            </a:r>
            <a:r>
              <a:rPr kumimoji="1" lang="zh-CN" altLang="en-US" sz="1200" dirty="0" smtClean="0">
                <a:latin typeface="Times New Roman" panose="02020603050405020304" pitchFamily="18" charset="0"/>
                <a:ea typeface="华文楷体" panose="02010600040101010101" pitchFamily="2" charset="-122"/>
              </a:rPr>
              <a:t>更新顶点</a:t>
            </a:r>
            <a:r>
              <a:rPr kumimoji="1" lang="en-US" altLang="zh-CN" sz="1200" dirty="0" smtClean="0">
                <a:latin typeface="Times New Roman" panose="02020603050405020304" pitchFamily="18" charset="0"/>
                <a:ea typeface="华文楷体" panose="02010600040101010101" pitchFamily="2" charset="-122"/>
              </a:rPr>
              <a:t>k</a:t>
            </a:r>
            <a:r>
              <a:rPr kumimoji="1" lang="zh-CN" altLang="en-US" sz="1200" dirty="0">
                <a:latin typeface="Times New Roman" panose="02020603050405020304" pitchFamily="18" charset="0"/>
                <a:ea typeface="华文楷体" panose="02010600040101010101" pitchFamily="2" charset="-122"/>
              </a:rPr>
              <a:t>的</a:t>
            </a:r>
            <a:r>
              <a:rPr kumimoji="1" lang="en-US" altLang="zh-CN" sz="1200" dirty="0" err="1">
                <a:latin typeface="Times New Roman" panose="02020603050405020304" pitchFamily="18" charset="0"/>
                <a:ea typeface="华文楷体" panose="02010600040101010101" pitchFamily="2" charset="-122"/>
              </a:rPr>
              <a:t>ve</a:t>
            </a:r>
            <a:r>
              <a:rPr kumimoji="1" lang="zh-CN" altLang="en-US" sz="1200" dirty="0">
                <a:latin typeface="Times New Roman" panose="02020603050405020304" pitchFamily="18" charset="0"/>
                <a:ea typeface="华文楷体" panose="02010600040101010101" pitchFamily="2" charset="-122"/>
              </a:rPr>
              <a:t>值</a:t>
            </a:r>
            <a:endParaRPr kumimoji="1" lang="zh-CN" altLang="en-US" sz="1200" dirty="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a:t>
            </a:r>
            <a:endParaRPr kumimoji="1" lang="en-US" altLang="zh-CN" sz="1200" dirty="0" smtClean="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a:latin typeface="Times New Roman" panose="02020603050405020304" pitchFamily="18" charset="0"/>
                <a:ea typeface="华文楷体" panose="02010600040101010101" pitchFamily="2" charset="-122"/>
              </a:rPr>
              <a:t> </a:t>
            </a:r>
            <a:r>
              <a:rPr kumimoji="1" lang="en-US" altLang="zh-CN" sz="1200" dirty="0" smtClean="0">
                <a:latin typeface="Times New Roman" panose="02020603050405020304" pitchFamily="18" charset="0"/>
                <a:ea typeface="华文楷体" panose="02010600040101010101" pitchFamily="2" charset="-122"/>
              </a:rPr>
              <a:t>   </a:t>
            </a:r>
            <a:r>
              <a:rPr kumimoji="1" lang="en-US" altLang="zh-CN" sz="1200" dirty="0">
                <a:latin typeface="Times New Roman" panose="02020603050405020304" pitchFamily="18" charset="0"/>
                <a:ea typeface="华文楷体" panose="02010600040101010101" pitchFamily="2" charset="-122"/>
              </a:rPr>
              <a:t>if </a:t>
            </a:r>
            <a:r>
              <a:rPr kumimoji="1" lang="en-US" altLang="zh-CN" sz="1200" dirty="0" smtClean="0">
                <a:latin typeface="Times New Roman" panose="02020603050405020304" pitchFamily="18" charset="0"/>
                <a:ea typeface="华文楷体" panose="02010600040101010101" pitchFamily="2" charset="-122"/>
              </a:rPr>
              <a:t>(count </a:t>
            </a:r>
            <a:r>
              <a:rPr kumimoji="1" lang="en-US" altLang="zh-CN" sz="1200" dirty="0">
                <a:latin typeface="Times New Roman" panose="02020603050405020304" pitchFamily="18" charset="0"/>
                <a:ea typeface="华文楷体" panose="02010600040101010101" pitchFamily="2" charset="-122"/>
              </a:rPr>
              <a:t>&lt; </a:t>
            </a:r>
            <a:r>
              <a:rPr kumimoji="1" lang="en-US" altLang="zh-CN" sz="1200" dirty="0" err="1" smtClean="0">
                <a:latin typeface="Times New Roman" panose="02020603050405020304" pitchFamily="18" charset="0"/>
                <a:ea typeface="华文楷体" panose="02010600040101010101" pitchFamily="2" charset="-122"/>
              </a:rPr>
              <a:t>G.n</a:t>
            </a:r>
            <a:r>
              <a:rPr kumimoji="1" lang="en-US" altLang="zh-CN" sz="1200" dirty="0" smtClean="0">
                <a:latin typeface="Times New Roman" panose="02020603050405020304" pitchFamily="18" charset="0"/>
                <a:ea typeface="华文楷体" panose="02010600040101010101" pitchFamily="2" charset="-122"/>
              </a:rPr>
              <a:t>) return FALSE; //</a:t>
            </a:r>
            <a:r>
              <a:rPr kumimoji="1" lang="zh-CN" altLang="en-US" sz="1200" dirty="0" smtClean="0">
                <a:latin typeface="Times New Roman" panose="02020603050405020304" pitchFamily="18" charset="0"/>
                <a:ea typeface="华文楷体" panose="02010600040101010101" pitchFamily="2" charset="-122"/>
              </a:rPr>
              <a:t>栈空，但输出</a:t>
            </a:r>
            <a:r>
              <a:rPr kumimoji="1" lang="zh-CN" altLang="en-US" sz="1200" dirty="0">
                <a:latin typeface="Times New Roman" panose="02020603050405020304" pitchFamily="18" charset="0"/>
                <a:ea typeface="华文楷体" panose="02010600040101010101" pitchFamily="2" charset="-122"/>
              </a:rPr>
              <a:t>顶</a:t>
            </a:r>
            <a:r>
              <a:rPr kumimoji="1" lang="zh-CN" altLang="en-US" sz="1200" dirty="0" smtClean="0">
                <a:latin typeface="Times New Roman" panose="02020603050405020304" pitchFamily="18" charset="0"/>
                <a:ea typeface="华文楷体" panose="02010600040101010101" pitchFamily="2" charset="-122"/>
              </a:rPr>
              <a:t>点数不等于</a:t>
            </a:r>
            <a:r>
              <a:rPr kumimoji="1" lang="en-US" altLang="zh-CN" sz="1200" dirty="0" err="1" smtClean="0">
                <a:latin typeface="Times New Roman" panose="02020603050405020304" pitchFamily="18" charset="0"/>
                <a:ea typeface="华文楷体" panose="02010600040101010101" pitchFamily="2" charset="-122"/>
              </a:rPr>
              <a:t>G.n</a:t>
            </a:r>
            <a:r>
              <a:rPr kumimoji="1" lang="zh-CN" altLang="en-US" sz="1200" dirty="0" smtClean="0">
                <a:latin typeface="Times New Roman" panose="02020603050405020304" pitchFamily="18" charset="0"/>
                <a:ea typeface="华文楷体" panose="02010600040101010101" pitchFamily="2" charset="-122"/>
              </a:rPr>
              <a:t>，有环；</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None/>
            </a:pPr>
            <a:r>
              <a:rPr kumimoji="1" lang="en-US" altLang="zh-CN" sz="1200" dirty="0" smtClean="0">
                <a:latin typeface="Times New Roman" panose="02020603050405020304" pitchFamily="18" charset="0"/>
                <a:ea typeface="华文楷体" panose="02010600040101010101" pitchFamily="2" charset="-122"/>
              </a:rPr>
              <a:t>    else </a:t>
            </a:r>
            <a:r>
              <a:rPr kumimoji="1" lang="en-US" altLang="zh-CN" sz="1200" dirty="0">
                <a:latin typeface="Times New Roman" panose="02020603050405020304" pitchFamily="18" charset="0"/>
                <a:ea typeface="华文楷体" panose="02010600040101010101" pitchFamily="2" charset="-122"/>
              </a:rPr>
              <a:t>return </a:t>
            </a:r>
            <a:r>
              <a:rPr kumimoji="1" lang="en-US" altLang="zh-CN" sz="1200" dirty="0" smtClean="0">
                <a:latin typeface="Times New Roman" panose="02020603050405020304" pitchFamily="18" charset="0"/>
                <a:ea typeface="华文楷体" panose="02010600040101010101" pitchFamily="2" charset="-122"/>
              </a:rPr>
              <a:t>TRUE; //</a:t>
            </a:r>
            <a:r>
              <a:rPr kumimoji="1" lang="zh-CN" altLang="en-US" sz="1200" dirty="0" smtClean="0">
                <a:latin typeface="Times New Roman" panose="02020603050405020304" pitchFamily="18" charset="0"/>
                <a:ea typeface="华文楷体" panose="02010600040101010101" pitchFamily="2" charset="-122"/>
              </a:rPr>
              <a:t>无环，输出的就是拓扑序列</a:t>
            </a:r>
            <a:endParaRPr kumimoji="1" lang="en-US" altLang="zh-CN" sz="12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200" dirty="0" smtClean="0">
                <a:latin typeface="Times New Roman" panose="02020603050405020304" pitchFamily="18" charset="0"/>
                <a:ea typeface="华文楷体" panose="02010600040101010101" pitchFamily="2" charset="-122"/>
              </a:rPr>
              <a:t>}</a:t>
            </a:r>
            <a:endParaRPr kumimoji="1" lang="en-US" altLang="zh-CN" sz="12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页脚占位符 3"/>
          <p:cNvSpPr>
            <a:spLocks noGrp="1"/>
          </p:cNvSpPr>
          <p:nvPr>
            <p:ph type="ftr" sz="quarter" idx="10"/>
          </p:nvPr>
        </p:nvSpPr>
        <p:spPr/>
        <p:txBody>
          <a:bodyPr/>
          <a:lstStyle/>
          <a:p>
            <a:pPr>
              <a:defRPr/>
            </a:pPr>
            <a:r>
              <a:rPr lang="en-US" altLang="zh-CN"/>
              <a:t>BUPT SCST</a:t>
            </a:r>
            <a:endParaRPr lang="en-US" altLang="zh-CN"/>
          </a:p>
        </p:txBody>
      </p:sp>
      <p:sp>
        <p:nvSpPr>
          <p:cNvPr id="17" name="日期占位符 5"/>
          <p:cNvSpPr>
            <a:spLocks noGrp="1"/>
          </p:cNvSpPr>
          <p:nvPr>
            <p:ph type="dt" sz="quarter" idx="12"/>
          </p:nvPr>
        </p:nvSpPr>
        <p:spPr/>
        <p:txBody>
          <a:bodyPr/>
          <a:lstStyle/>
          <a:p>
            <a:pPr>
              <a:defRPr/>
            </a:pPr>
            <a:r>
              <a:rPr lang="en-US" altLang="zh-CN"/>
              <a:t>BUPT</a:t>
            </a:r>
            <a:endParaRPr lang="en-US" altLang="zh-CN"/>
          </a:p>
        </p:txBody>
      </p:sp>
      <p:sp>
        <p:nvSpPr>
          <p:cNvPr id="839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397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2) </a:t>
            </a:r>
            <a:r>
              <a:rPr lang="zh-CN" altLang="en-US" sz="2400" b="1" dirty="0" smtClean="0">
                <a:solidFill>
                  <a:srgbClr val="996600"/>
                </a:solidFill>
                <a:ea typeface="华文楷体" panose="02010600040101010101" pitchFamily="2" charset="-122"/>
              </a:rPr>
              <a:t>求事件</a:t>
            </a:r>
            <a:r>
              <a:rPr lang="en-US" altLang="zh-CN" sz="2400" b="1" dirty="0" err="1" smtClean="0">
                <a:solidFill>
                  <a:srgbClr val="996600"/>
                </a:solidFill>
                <a:ea typeface="华文楷体" panose="02010600040101010101" pitchFamily="2" charset="-122"/>
              </a:rPr>
              <a:t>v</a:t>
            </a:r>
            <a:r>
              <a:rPr lang="en-US" altLang="zh-CN" sz="2400" b="1" baseline="-25000" dirty="0" err="1" smtClean="0">
                <a:solidFill>
                  <a:srgbClr val="996600"/>
                </a:solidFill>
                <a:ea typeface="华文楷体" panose="02010600040101010101" pitchFamily="2" charset="-122"/>
              </a:rPr>
              <a:t>j</a:t>
            </a:r>
            <a:r>
              <a:rPr lang="zh-CN" altLang="en-US" sz="2400" b="1" dirty="0" smtClean="0">
                <a:solidFill>
                  <a:srgbClr val="996600"/>
                </a:solidFill>
                <a:ea typeface="华文楷体" panose="02010600040101010101" pitchFamily="2" charset="-122"/>
              </a:rPr>
              <a:t>的最迟发生时间</a:t>
            </a:r>
            <a:r>
              <a:rPr lang="en-US" altLang="zh-CN" sz="2400" b="1" dirty="0" err="1" smtClean="0">
                <a:solidFill>
                  <a:srgbClr val="996600"/>
                </a:solidFill>
                <a:ea typeface="华文楷体" panose="02010600040101010101" pitchFamily="2" charset="-122"/>
              </a:rPr>
              <a:t>vl</a:t>
            </a:r>
            <a:r>
              <a:rPr lang="en-US" altLang="zh-CN" sz="2400" b="1" dirty="0" smtClean="0">
                <a:solidFill>
                  <a:srgbClr val="996600"/>
                </a:solidFill>
                <a:ea typeface="华文楷体" panose="02010600040101010101" pitchFamily="2" charset="-122"/>
              </a:rPr>
              <a:t>(j)</a:t>
            </a:r>
            <a:endParaRPr lang="en-US" altLang="zh-CN"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(n)=</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(n)   </a:t>
            </a:r>
            <a:r>
              <a:rPr lang="en-US" altLang="zh-CN" sz="2400" dirty="0" smtClean="0">
                <a:solidFill>
                  <a:schemeClr val="accent2"/>
                </a:solidFill>
                <a:ea typeface="华文楷体" panose="02010600040101010101" pitchFamily="2" charset="-122"/>
              </a:rPr>
              <a:t>{</a:t>
            </a:r>
            <a:r>
              <a:rPr lang="zh-CN" altLang="zh-CN" sz="2400" dirty="0" smtClean="0">
                <a:solidFill>
                  <a:schemeClr val="accent2"/>
                </a:solidFill>
                <a:ea typeface="华文楷体" panose="02010600040101010101" pitchFamily="2" charset="-122"/>
              </a:rPr>
              <a:t>保证</a:t>
            </a:r>
            <a:r>
              <a:rPr lang="en-US" altLang="zh-CN" sz="2400" dirty="0" err="1" smtClean="0">
                <a:solidFill>
                  <a:schemeClr val="accent2"/>
                </a:solidFill>
                <a:ea typeface="华文楷体" panose="02010600040101010101" pitchFamily="2" charset="-122"/>
              </a:rPr>
              <a:t>ve</a:t>
            </a:r>
            <a:r>
              <a:rPr lang="en-US" altLang="zh-CN" sz="2400" dirty="0" smtClean="0">
                <a:solidFill>
                  <a:schemeClr val="accent2"/>
                </a:solidFill>
                <a:ea typeface="华文楷体" panose="02010600040101010101" pitchFamily="2" charset="-122"/>
              </a:rPr>
              <a:t>(n)</a:t>
            </a:r>
            <a:r>
              <a:rPr lang="zh-CN" altLang="zh-CN" sz="2400" dirty="0" smtClean="0">
                <a:solidFill>
                  <a:schemeClr val="accent2"/>
                </a:solidFill>
                <a:ea typeface="华文楷体" panose="02010600040101010101" pitchFamily="2" charset="-122"/>
              </a:rPr>
              <a:t>的前提下</a:t>
            </a:r>
            <a:r>
              <a:rPr lang="en-US" altLang="zh-CN" sz="2400" dirty="0" smtClean="0">
                <a:solidFill>
                  <a:schemeClr val="accent2"/>
                </a:solidFill>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(j)=min{</a:t>
            </a: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(k)- </a:t>
            </a:r>
            <a:r>
              <a:rPr lang="en-US" altLang="zh-CN" sz="2400" dirty="0" err="1" smtClean="0">
                <a:ea typeface="华文楷体" panose="02010600040101010101" pitchFamily="2" charset="-122"/>
              </a:rPr>
              <a:t>dut</a:t>
            </a:r>
            <a:r>
              <a:rPr lang="en-US" altLang="zh-CN" sz="2400" dirty="0" smtClean="0">
                <a:ea typeface="华文楷体" panose="02010600040101010101" pitchFamily="2" charset="-122"/>
              </a:rPr>
              <a:t>(&lt;</a:t>
            </a:r>
            <a:r>
              <a:rPr lang="en-US" altLang="zh-CN" sz="2400" dirty="0" err="1" smtClean="0">
                <a:ea typeface="华文楷体" panose="02010600040101010101" pitchFamily="2" charset="-122"/>
              </a:rPr>
              <a:t>j,k</a:t>
            </a:r>
            <a:r>
              <a:rPr lang="en-US" altLang="zh-CN" sz="2400" dirty="0" smtClean="0">
                <a:ea typeface="华文楷体" panose="02010600040101010101" pitchFamily="2" charset="-122"/>
              </a:rPr>
              <a:t>&gt;)}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k</a:t>
            </a:r>
            <a:r>
              <a:rPr lang="en-US" altLang="zh-CN" sz="2400" dirty="0" err="1" smtClean="0">
                <a:ea typeface="华文楷体" panose="02010600040101010101" pitchFamily="2" charset="-122"/>
                <a:sym typeface="Symbol" panose="05050102010706020507" pitchFamily="18" charset="2"/>
              </a:rPr>
              <a:t>j</a:t>
            </a:r>
            <a:r>
              <a:rPr lang="zh-CN" altLang="zh-CN" sz="2400" dirty="0" smtClean="0">
                <a:ea typeface="华文楷体" panose="02010600040101010101" pitchFamily="2" charset="-122"/>
                <a:sym typeface="Symbol" panose="05050102010706020507" pitchFamily="18" charset="2"/>
              </a:rPr>
              <a:t>的后继</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算法思想</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：按逆拓扑序列逐一计算。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辅助数据结构</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(1..n)  </a:t>
            </a:r>
            <a:r>
              <a:rPr lang="en-US" altLang="zh-CN" sz="2400" dirty="0" smtClean="0">
                <a:solidFill>
                  <a:schemeClr val="accent2"/>
                </a:solidFill>
                <a:ea typeface="华文楷体" panose="02010600040101010101" pitchFamily="2" charset="-122"/>
              </a:rPr>
              <a:t>{n</a:t>
            </a:r>
            <a:r>
              <a:rPr lang="zh-CN" altLang="zh-CN" sz="2400" dirty="0" smtClean="0">
                <a:solidFill>
                  <a:schemeClr val="accent2"/>
                </a:solidFill>
                <a:ea typeface="华文楷体" panose="02010600040101010101" pitchFamily="2" charset="-122"/>
              </a:rPr>
              <a:t>为顶点个数}</a:t>
            </a:r>
            <a:endParaRPr lang="zh-CN" altLang="zh-CN" sz="2400"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zh-CN" sz="2400" dirty="0" smtClean="0">
                <a:solidFill>
                  <a:schemeClr val="accent1"/>
                </a:solidFill>
                <a:ea typeface="华文楷体" panose="02010600040101010101" pitchFamily="2" charset="-122"/>
              </a:rPr>
              <a:t>                                         </a:t>
            </a:r>
            <a:r>
              <a:rPr lang="zh-CN" altLang="zh-CN" sz="2400" dirty="0" smtClean="0">
                <a:ea typeface="华文楷体" panose="02010600040101010101" pitchFamily="2" charset="-122"/>
              </a:rPr>
              <a:t>栈</a:t>
            </a:r>
            <a:r>
              <a:rPr lang="en-US" altLang="zh-CN" sz="2400" dirty="0" smtClean="0">
                <a:ea typeface="华文楷体" panose="02010600040101010101" pitchFamily="2" charset="-122"/>
              </a:rPr>
              <a:t>s—</a:t>
            </a:r>
            <a:r>
              <a:rPr lang="zh-CN" altLang="zh-CN" sz="2400" dirty="0" smtClean="0">
                <a:ea typeface="华文楷体" panose="02010600040101010101" pitchFamily="2" charset="-122"/>
              </a:rPr>
              <a:t>记录拓扑有序序列</a:t>
            </a:r>
            <a:endParaRPr lang="zh-CN" altLang="zh-CN" sz="2400" dirty="0" smtClean="0">
              <a:ea typeface="华文楷体" panose="02010600040101010101" pitchFamily="2" charset="-122"/>
            </a:endParaRPr>
          </a:p>
          <a:p>
            <a:pPr eaLnBrk="1" hangingPunct="1">
              <a:buFont typeface="Wingdings" panose="05000000000000000000" pitchFamily="2" charset="2"/>
              <a:buNone/>
            </a:pPr>
            <a:r>
              <a:rPr lang="zh-CN" altLang="zh-CN" sz="2400" dirty="0" smtClean="0">
                <a:ea typeface="华文楷体" panose="02010600040101010101" pitchFamily="2" charset="-122"/>
              </a:rPr>
              <a:t>                原理：拓扑序列  。。。</a:t>
            </a:r>
            <a:r>
              <a:rPr lang="en-US" altLang="zh-CN" sz="2400" dirty="0" smtClean="0">
                <a:ea typeface="华文楷体" panose="02010600040101010101" pitchFamily="2" charset="-122"/>
              </a:rPr>
              <a:t>j  </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zh-CN" sz="2400" dirty="0" smtClean="0">
                <a:ea typeface="华文楷体" panose="02010600040101010101" pitchFamily="2" charset="-122"/>
              </a:rPr>
              <a:t>含</a:t>
            </a:r>
            <a:r>
              <a:rPr lang="en-US" altLang="zh-CN" sz="2400" dirty="0" smtClean="0">
                <a:ea typeface="华文楷体" panose="02010600040101010101" pitchFamily="2" charset="-122"/>
              </a:rPr>
              <a:t>j</a:t>
            </a:r>
            <a:r>
              <a:rPr lang="zh-CN" altLang="zh-CN" sz="2400" dirty="0" smtClean="0">
                <a:ea typeface="华文楷体" panose="02010600040101010101" pitchFamily="2" charset="-122"/>
              </a:rPr>
              <a:t>的所有后继</a:t>
            </a:r>
            <a:endParaRPr lang="zh-CN"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b="1" dirty="0" smtClean="0">
              <a:solidFill>
                <a:srgbClr val="996600"/>
              </a:solidFill>
              <a:ea typeface="华文楷体" panose="02010600040101010101" pitchFamily="2" charset="-122"/>
            </a:endParaRPr>
          </a:p>
        </p:txBody>
      </p:sp>
      <p:sp>
        <p:nvSpPr>
          <p:cNvPr id="83974" name="AutoShape 4"/>
          <p:cNvSpPr/>
          <p:nvPr/>
        </p:nvSpPr>
        <p:spPr bwMode="auto">
          <a:xfrm>
            <a:off x="228600" y="1600200"/>
            <a:ext cx="228600" cy="914400"/>
          </a:xfrm>
          <a:prstGeom prst="leftBrace">
            <a:avLst>
              <a:gd name="adj1" fmla="val 3333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3975" name="Oval 5"/>
          <p:cNvSpPr>
            <a:spLocks noChangeArrowheads="1"/>
          </p:cNvSpPr>
          <p:nvPr/>
        </p:nvSpPr>
        <p:spPr bwMode="auto">
          <a:xfrm>
            <a:off x="5486400" y="1752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3976" name="Oval 6"/>
          <p:cNvSpPr>
            <a:spLocks noChangeArrowheads="1"/>
          </p:cNvSpPr>
          <p:nvPr/>
        </p:nvSpPr>
        <p:spPr bwMode="auto">
          <a:xfrm>
            <a:off x="6629400" y="1371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3977" name="Oval 7"/>
          <p:cNvSpPr>
            <a:spLocks noChangeArrowheads="1"/>
          </p:cNvSpPr>
          <p:nvPr/>
        </p:nvSpPr>
        <p:spPr bwMode="auto">
          <a:xfrm>
            <a:off x="6629400" y="1905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3978" name="Text Box 8"/>
          <p:cNvSpPr txBox="1">
            <a:spLocks noChangeArrowheads="1"/>
          </p:cNvSpPr>
          <p:nvPr/>
        </p:nvSpPr>
        <p:spPr bwMode="auto">
          <a:xfrm>
            <a:off x="6629400" y="1295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3979" name="Text Box 9"/>
          <p:cNvSpPr txBox="1">
            <a:spLocks noChangeArrowheads="1"/>
          </p:cNvSpPr>
          <p:nvPr/>
        </p:nvSpPr>
        <p:spPr bwMode="auto">
          <a:xfrm>
            <a:off x="5562600" y="1676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83980" name="Text Box 10"/>
          <p:cNvSpPr txBox="1">
            <a:spLocks noChangeArrowheads="1"/>
          </p:cNvSpPr>
          <p:nvPr/>
        </p:nvSpPr>
        <p:spPr bwMode="auto">
          <a:xfrm>
            <a:off x="6629400" y="1828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r>
              <a:rPr kumimoji="1" lang="en-US" altLang="zh-CN" sz="2400" baseline="-25000" dirty="0">
                <a:latin typeface="Times New Roman" panose="02020603050405020304" pitchFamily="18" charset="0"/>
                <a:ea typeface="华文楷体" panose="02010600040101010101" pitchFamily="2" charset="-122"/>
              </a:rPr>
              <a:t>2</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3981" name="Line 11"/>
          <p:cNvSpPr>
            <a:spLocks noChangeShapeType="1"/>
          </p:cNvSpPr>
          <p:nvPr/>
        </p:nvSpPr>
        <p:spPr bwMode="auto">
          <a:xfrm flipV="1">
            <a:off x="5867400" y="1524000"/>
            <a:ext cx="7620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3982" name="Line 12"/>
          <p:cNvSpPr>
            <a:spLocks noChangeShapeType="1"/>
          </p:cNvSpPr>
          <p:nvPr/>
        </p:nvSpPr>
        <p:spPr bwMode="auto">
          <a:xfrm>
            <a:off x="5867400" y="1981200"/>
            <a:ext cx="7620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3983" name="Line 13"/>
          <p:cNvSpPr>
            <a:spLocks noChangeShapeType="1"/>
          </p:cNvSpPr>
          <p:nvPr/>
        </p:nvSpPr>
        <p:spPr bwMode="auto">
          <a:xfrm>
            <a:off x="5791200" y="2133600"/>
            <a:ext cx="7620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3984" name="Text Box 14"/>
          <p:cNvSpPr txBox="1">
            <a:spLocks noChangeArrowheads="1"/>
          </p:cNvSpPr>
          <p:nvPr/>
        </p:nvSpPr>
        <p:spPr bwMode="auto">
          <a:xfrm>
            <a:off x="6477000" y="2209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t>
            </a:r>
            <a:endParaRPr kumimoji="1" lang="en-US" altLang="zh-CN" sz="2400" dirty="0">
              <a:latin typeface="Times New Roman" panose="02020603050405020304" pitchFamily="18" charset="0"/>
              <a:ea typeface="华文楷体" panose="02010600040101010101" pitchFamily="2" charset="-122"/>
            </a:endParaRPr>
          </a:p>
        </p:txBody>
      </p:sp>
      <p:sp>
        <p:nvSpPr>
          <p:cNvPr id="83985" name="Line 15"/>
          <p:cNvSpPr>
            <a:spLocks noChangeShapeType="1"/>
          </p:cNvSpPr>
          <p:nvPr/>
        </p:nvSpPr>
        <p:spPr bwMode="auto">
          <a:xfrm>
            <a:off x="5105400" y="4267200"/>
            <a:ext cx="0" cy="83820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页脚占位符 3"/>
          <p:cNvSpPr>
            <a:spLocks noGrp="1"/>
          </p:cNvSpPr>
          <p:nvPr>
            <p:ph type="ftr" sz="quarter" idx="10"/>
          </p:nvPr>
        </p:nvSpPr>
        <p:spPr/>
        <p:txBody>
          <a:bodyPr/>
          <a:lstStyle/>
          <a:p>
            <a:pPr>
              <a:defRPr/>
            </a:pPr>
            <a:r>
              <a:rPr lang="en-US" altLang="zh-CN"/>
              <a:t>BUPT SCST</a:t>
            </a:r>
            <a:endParaRPr lang="en-US" altLang="zh-CN"/>
          </a:p>
        </p:txBody>
      </p:sp>
      <p:sp>
        <p:nvSpPr>
          <p:cNvPr id="69" name="日期占位符 5"/>
          <p:cNvSpPr>
            <a:spLocks noGrp="1"/>
          </p:cNvSpPr>
          <p:nvPr>
            <p:ph type="dt" sz="quarter" idx="12"/>
          </p:nvPr>
        </p:nvSpPr>
        <p:spPr/>
        <p:txBody>
          <a:bodyPr/>
          <a:lstStyle/>
          <a:p>
            <a:pPr>
              <a:defRPr/>
            </a:pPr>
            <a:r>
              <a:rPr lang="en-US" altLang="zh-CN"/>
              <a:t>BUPT</a:t>
            </a:r>
            <a:endParaRPr lang="en-US" altLang="zh-CN"/>
          </a:p>
        </p:txBody>
      </p:sp>
      <p:sp>
        <p:nvSpPr>
          <p:cNvPr id="84996" name="Rectangle 2"/>
          <p:cNvSpPr>
            <a:spLocks noGrp="1" noChangeArrowheads="1"/>
          </p:cNvSpPr>
          <p:nvPr>
            <p:ph type="title"/>
          </p:nvPr>
        </p:nvSpPr>
        <p:spPr>
          <a:xfrm>
            <a:off x="152400" y="152400"/>
            <a:ext cx="8458200" cy="563563"/>
          </a:xfrm>
        </p:spPr>
        <p:txBody>
          <a:bodyPr/>
          <a:lstStyle/>
          <a:p>
            <a:pPr eaLnBrk="1" hangingPunct="1"/>
            <a:endParaRPr lang="zh-CN" altLang="zh-CN" sz="2800" dirty="0" smtClean="0">
              <a:ea typeface="华文楷体" panose="02010600040101010101" pitchFamily="2" charset="-122"/>
            </a:endParaRPr>
          </a:p>
        </p:txBody>
      </p:sp>
      <p:sp>
        <p:nvSpPr>
          <p:cNvPr id="84997" name="Oval 3"/>
          <p:cNvSpPr>
            <a:spLocks noChangeArrowheads="1"/>
          </p:cNvSpPr>
          <p:nvPr/>
        </p:nvSpPr>
        <p:spPr bwMode="auto">
          <a:xfrm>
            <a:off x="695325" y="205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84998" name="Line 4"/>
          <p:cNvSpPr>
            <a:spLocks noChangeShapeType="1"/>
          </p:cNvSpPr>
          <p:nvPr/>
        </p:nvSpPr>
        <p:spPr bwMode="auto">
          <a:xfrm>
            <a:off x="1990725" y="1447800"/>
            <a:ext cx="990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4999" name="Oval 5"/>
          <p:cNvSpPr>
            <a:spLocks noChangeArrowheads="1"/>
          </p:cNvSpPr>
          <p:nvPr/>
        </p:nvSpPr>
        <p:spPr bwMode="auto">
          <a:xfrm>
            <a:off x="1533525"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85000" name="Line 6"/>
          <p:cNvSpPr>
            <a:spLocks noChangeShapeType="1"/>
          </p:cNvSpPr>
          <p:nvPr/>
        </p:nvSpPr>
        <p:spPr bwMode="auto">
          <a:xfrm flipH="1">
            <a:off x="1990725" y="2438400"/>
            <a:ext cx="1828800" cy="7620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1" name="Oval 7"/>
          <p:cNvSpPr>
            <a:spLocks noChangeArrowheads="1"/>
          </p:cNvSpPr>
          <p:nvPr/>
        </p:nvSpPr>
        <p:spPr bwMode="auto">
          <a:xfrm>
            <a:off x="1533525" y="1295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85002" name="Line 8"/>
          <p:cNvSpPr>
            <a:spLocks noChangeShapeType="1"/>
          </p:cNvSpPr>
          <p:nvPr/>
        </p:nvSpPr>
        <p:spPr bwMode="auto">
          <a:xfrm>
            <a:off x="1000125" y="2438400"/>
            <a:ext cx="533400" cy="6858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3" name="Oval 9"/>
          <p:cNvSpPr>
            <a:spLocks noChangeArrowheads="1"/>
          </p:cNvSpPr>
          <p:nvPr/>
        </p:nvSpPr>
        <p:spPr bwMode="auto">
          <a:xfrm>
            <a:off x="3743325"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85004" name="Line 10"/>
          <p:cNvSpPr>
            <a:spLocks noChangeShapeType="1"/>
          </p:cNvSpPr>
          <p:nvPr/>
        </p:nvSpPr>
        <p:spPr bwMode="auto">
          <a:xfrm>
            <a:off x="1152525" y="2286000"/>
            <a:ext cx="3810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5" name="Line 11"/>
          <p:cNvSpPr>
            <a:spLocks noChangeShapeType="1"/>
          </p:cNvSpPr>
          <p:nvPr/>
        </p:nvSpPr>
        <p:spPr bwMode="auto">
          <a:xfrm flipH="1">
            <a:off x="1762125" y="16002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6" name="Oval 12"/>
          <p:cNvSpPr>
            <a:spLocks noChangeArrowheads="1"/>
          </p:cNvSpPr>
          <p:nvPr/>
        </p:nvSpPr>
        <p:spPr bwMode="auto">
          <a:xfrm>
            <a:off x="1533525" y="2971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85007" name="Line 13"/>
          <p:cNvSpPr>
            <a:spLocks noChangeShapeType="1"/>
          </p:cNvSpPr>
          <p:nvPr/>
        </p:nvSpPr>
        <p:spPr bwMode="auto">
          <a:xfrm>
            <a:off x="1990725" y="2286000"/>
            <a:ext cx="17526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8" name="Line 14"/>
          <p:cNvSpPr>
            <a:spLocks noChangeShapeType="1"/>
          </p:cNvSpPr>
          <p:nvPr/>
        </p:nvSpPr>
        <p:spPr bwMode="auto">
          <a:xfrm flipV="1">
            <a:off x="1076325" y="1600200"/>
            <a:ext cx="5334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09" name="Line 15"/>
          <p:cNvSpPr>
            <a:spLocks noChangeShapeType="1"/>
          </p:cNvSpPr>
          <p:nvPr/>
        </p:nvSpPr>
        <p:spPr bwMode="auto">
          <a:xfrm>
            <a:off x="3286125" y="1600200"/>
            <a:ext cx="5334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10" name="Line 16"/>
          <p:cNvSpPr>
            <a:spLocks noChangeShapeType="1"/>
          </p:cNvSpPr>
          <p:nvPr/>
        </p:nvSpPr>
        <p:spPr bwMode="auto">
          <a:xfrm flipV="1">
            <a:off x="1914525" y="1524000"/>
            <a:ext cx="1143000" cy="15240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11" name="Line 17"/>
          <p:cNvSpPr>
            <a:spLocks noChangeShapeType="1"/>
          </p:cNvSpPr>
          <p:nvPr/>
        </p:nvSpPr>
        <p:spPr bwMode="auto">
          <a:xfrm flipH="1">
            <a:off x="1762125" y="24384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12" name="Text Box 18"/>
          <p:cNvSpPr txBox="1">
            <a:spLocks noChangeArrowheads="1"/>
          </p:cNvSpPr>
          <p:nvPr/>
        </p:nvSpPr>
        <p:spPr bwMode="auto">
          <a:xfrm>
            <a:off x="1000125" y="160020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3</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85013" name="Text Box 19"/>
          <p:cNvSpPr txBox="1">
            <a:spLocks noChangeArrowheads="1"/>
          </p:cNvSpPr>
          <p:nvPr/>
        </p:nvSpPr>
        <p:spPr bwMode="auto">
          <a:xfrm>
            <a:off x="1609725" y="175260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5014" name="Text Box 20"/>
          <p:cNvSpPr txBox="1">
            <a:spLocks noChangeArrowheads="1"/>
          </p:cNvSpPr>
          <p:nvPr/>
        </p:nvSpPr>
        <p:spPr bwMode="auto">
          <a:xfrm>
            <a:off x="3286125" y="1600200"/>
            <a:ext cx="5334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5015" name="Text Box 21"/>
          <p:cNvSpPr txBox="1">
            <a:spLocks noChangeArrowheads="1"/>
          </p:cNvSpPr>
          <p:nvPr/>
        </p:nvSpPr>
        <p:spPr bwMode="auto">
          <a:xfrm>
            <a:off x="3209925" y="2286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5016" name="Text Box 22"/>
          <p:cNvSpPr txBox="1">
            <a:spLocks noChangeArrowheads="1"/>
          </p:cNvSpPr>
          <p:nvPr/>
        </p:nvSpPr>
        <p:spPr bwMode="auto">
          <a:xfrm>
            <a:off x="2600325" y="1524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94231" name="Text Box 23"/>
          <p:cNvSpPr txBox="1">
            <a:spLocks noChangeArrowheads="1"/>
          </p:cNvSpPr>
          <p:nvPr/>
        </p:nvSpPr>
        <p:spPr bwMode="auto">
          <a:xfrm>
            <a:off x="1838325" y="5334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6</a:t>
            </a:r>
            <a:r>
              <a:rPr kumimoji="1" lang="zh-CN" altLang="en-US" sz="1600" b="1" dirty="0">
                <a:solidFill>
                  <a:schemeClr val="accent1"/>
                </a:solidFill>
                <a:latin typeface="Times New Roman" panose="02020603050405020304" pitchFamily="18" charset="0"/>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4232" name="Text Box 24"/>
          <p:cNvSpPr txBox="1">
            <a:spLocks noChangeArrowheads="1"/>
          </p:cNvSpPr>
          <p:nvPr/>
        </p:nvSpPr>
        <p:spPr bwMode="auto">
          <a:xfrm>
            <a:off x="1990725" y="5334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Times New Roman" panose="02020603050405020304" pitchFamily="18" charset="0"/>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94233" name="Text Box 25"/>
          <p:cNvSpPr txBox="1">
            <a:spLocks noChangeArrowheads="1"/>
          </p:cNvSpPr>
          <p:nvPr/>
        </p:nvSpPr>
        <p:spPr bwMode="auto">
          <a:xfrm>
            <a:off x="3209925" y="3276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6</a:t>
            </a:r>
            <a:endParaRPr kumimoji="1" lang="en-US" altLang="zh-CN" sz="1600" b="1" dirty="0">
              <a:latin typeface="Botanical" pitchFamily="2" charset="2"/>
              <a:ea typeface="华文楷体" panose="02010600040101010101" pitchFamily="2" charset="-122"/>
            </a:endParaRPr>
          </a:p>
        </p:txBody>
      </p:sp>
      <p:sp>
        <p:nvSpPr>
          <p:cNvPr id="85020" name="Text Box 26"/>
          <p:cNvSpPr txBox="1">
            <a:spLocks noChangeArrowheads="1"/>
          </p:cNvSpPr>
          <p:nvPr/>
        </p:nvSpPr>
        <p:spPr bwMode="auto">
          <a:xfrm>
            <a:off x="4048125" y="4191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8</a:t>
            </a:r>
            <a:endParaRPr kumimoji="1" lang="en-US" altLang="zh-CN" sz="1600" b="1" dirty="0">
              <a:solidFill>
                <a:schemeClr val="accent1"/>
              </a:solidFill>
              <a:latin typeface="Botanical" pitchFamily="2" charset="2"/>
              <a:ea typeface="华文楷体" panose="02010600040101010101" pitchFamily="2" charset="-122"/>
            </a:endParaRPr>
          </a:p>
        </p:txBody>
      </p:sp>
      <p:sp>
        <p:nvSpPr>
          <p:cNvPr id="85021" name="Text Box 27"/>
          <p:cNvSpPr txBox="1">
            <a:spLocks noChangeArrowheads="1"/>
          </p:cNvSpPr>
          <p:nvPr/>
        </p:nvSpPr>
        <p:spPr bwMode="auto">
          <a:xfrm>
            <a:off x="9525" y="5715000"/>
            <a:ext cx="2057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逆向拓扑排序：</a:t>
            </a:r>
            <a:endParaRPr kumimoji="1" lang="zh-CN" altLang="en-US" sz="1600" b="1" dirty="0">
              <a:latin typeface="Times New Roman" panose="02020603050405020304" pitchFamily="18" charset="0"/>
              <a:ea typeface="华文楷体" panose="02010600040101010101" pitchFamily="2" charset="-122"/>
            </a:endParaRPr>
          </a:p>
        </p:txBody>
      </p:sp>
      <p:sp>
        <p:nvSpPr>
          <p:cNvPr id="85022" name="Text Box 28"/>
          <p:cNvSpPr txBox="1">
            <a:spLocks noChangeArrowheads="1"/>
          </p:cNvSpPr>
          <p:nvPr/>
        </p:nvSpPr>
        <p:spPr bwMode="auto">
          <a:xfrm>
            <a:off x="3819525" y="18732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8</a:t>
            </a:r>
            <a:endParaRPr kumimoji="1" lang="en-US" altLang="zh-CN" sz="1600" b="1" dirty="0">
              <a:latin typeface="Botanical" pitchFamily="2" charset="2"/>
              <a:ea typeface="华文楷体" panose="02010600040101010101" pitchFamily="2" charset="-122"/>
            </a:endParaRPr>
          </a:p>
        </p:txBody>
      </p:sp>
      <p:sp>
        <p:nvSpPr>
          <p:cNvPr id="85023" name="Oval 29"/>
          <p:cNvSpPr>
            <a:spLocks noChangeArrowheads="1"/>
          </p:cNvSpPr>
          <p:nvPr/>
        </p:nvSpPr>
        <p:spPr bwMode="auto">
          <a:xfrm>
            <a:off x="695325" y="42227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94238" name="Line 30"/>
          <p:cNvSpPr>
            <a:spLocks noChangeShapeType="1"/>
          </p:cNvSpPr>
          <p:nvPr/>
        </p:nvSpPr>
        <p:spPr bwMode="auto">
          <a:xfrm>
            <a:off x="1990725" y="3613150"/>
            <a:ext cx="990600" cy="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25" name="Oval 31"/>
          <p:cNvSpPr>
            <a:spLocks noChangeArrowheads="1"/>
          </p:cNvSpPr>
          <p:nvPr/>
        </p:nvSpPr>
        <p:spPr bwMode="auto">
          <a:xfrm>
            <a:off x="1533525" y="42989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94240" name="Line 32"/>
          <p:cNvSpPr>
            <a:spLocks noChangeShapeType="1"/>
          </p:cNvSpPr>
          <p:nvPr/>
        </p:nvSpPr>
        <p:spPr bwMode="auto">
          <a:xfrm flipH="1">
            <a:off x="1990725" y="4603750"/>
            <a:ext cx="1828800" cy="76200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27" name="Oval 33"/>
          <p:cNvSpPr>
            <a:spLocks noChangeArrowheads="1"/>
          </p:cNvSpPr>
          <p:nvPr/>
        </p:nvSpPr>
        <p:spPr bwMode="auto">
          <a:xfrm>
            <a:off x="1533525" y="34607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94242" name="Line 34"/>
          <p:cNvSpPr>
            <a:spLocks noChangeShapeType="1"/>
          </p:cNvSpPr>
          <p:nvPr/>
        </p:nvSpPr>
        <p:spPr bwMode="auto">
          <a:xfrm>
            <a:off x="1000125" y="4603750"/>
            <a:ext cx="533400" cy="68580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29" name="Oval 35"/>
          <p:cNvSpPr>
            <a:spLocks noChangeArrowheads="1"/>
          </p:cNvSpPr>
          <p:nvPr/>
        </p:nvSpPr>
        <p:spPr bwMode="auto">
          <a:xfrm>
            <a:off x="2981325" y="33845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85030" name="Oval 36"/>
          <p:cNvSpPr>
            <a:spLocks noChangeArrowheads="1"/>
          </p:cNvSpPr>
          <p:nvPr/>
        </p:nvSpPr>
        <p:spPr bwMode="auto">
          <a:xfrm>
            <a:off x="3743325" y="42989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94245" name="Line 37"/>
          <p:cNvSpPr>
            <a:spLocks noChangeShapeType="1"/>
          </p:cNvSpPr>
          <p:nvPr/>
        </p:nvSpPr>
        <p:spPr bwMode="auto">
          <a:xfrm>
            <a:off x="1152525" y="4451350"/>
            <a:ext cx="3810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246" name="Line 38"/>
          <p:cNvSpPr>
            <a:spLocks noChangeShapeType="1"/>
          </p:cNvSpPr>
          <p:nvPr/>
        </p:nvSpPr>
        <p:spPr bwMode="auto">
          <a:xfrm flipH="1">
            <a:off x="1762125" y="38100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33" name="Oval 39"/>
          <p:cNvSpPr>
            <a:spLocks noChangeArrowheads="1"/>
          </p:cNvSpPr>
          <p:nvPr/>
        </p:nvSpPr>
        <p:spPr bwMode="auto">
          <a:xfrm>
            <a:off x="1533525" y="513715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94248" name="Line 40"/>
          <p:cNvSpPr>
            <a:spLocks noChangeShapeType="1"/>
          </p:cNvSpPr>
          <p:nvPr/>
        </p:nvSpPr>
        <p:spPr bwMode="auto">
          <a:xfrm>
            <a:off x="1990725" y="4451350"/>
            <a:ext cx="1752600" cy="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249" name="Line 41"/>
          <p:cNvSpPr>
            <a:spLocks noChangeShapeType="1"/>
          </p:cNvSpPr>
          <p:nvPr/>
        </p:nvSpPr>
        <p:spPr bwMode="auto">
          <a:xfrm flipV="1">
            <a:off x="1076325" y="3765550"/>
            <a:ext cx="533400" cy="4572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250" name="Line 42"/>
          <p:cNvSpPr>
            <a:spLocks noChangeShapeType="1"/>
          </p:cNvSpPr>
          <p:nvPr/>
        </p:nvSpPr>
        <p:spPr bwMode="auto">
          <a:xfrm>
            <a:off x="3286125" y="3765550"/>
            <a:ext cx="533400" cy="5334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251" name="Line 43"/>
          <p:cNvSpPr>
            <a:spLocks noChangeShapeType="1"/>
          </p:cNvSpPr>
          <p:nvPr/>
        </p:nvSpPr>
        <p:spPr bwMode="auto">
          <a:xfrm flipV="1">
            <a:off x="1914525" y="3689350"/>
            <a:ext cx="1143000" cy="1524000"/>
          </a:xfrm>
          <a:prstGeom prst="line">
            <a:avLst/>
          </a:prstGeom>
          <a:noFill/>
          <a:ln w="1905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4252" name="Line 44"/>
          <p:cNvSpPr>
            <a:spLocks noChangeShapeType="1"/>
          </p:cNvSpPr>
          <p:nvPr/>
        </p:nvSpPr>
        <p:spPr bwMode="auto">
          <a:xfrm flipH="1">
            <a:off x="1762125" y="4648200"/>
            <a:ext cx="0" cy="533400"/>
          </a:xfrm>
          <a:prstGeom prst="line">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5039" name="Text Box 45"/>
          <p:cNvSpPr txBox="1">
            <a:spLocks noChangeArrowheads="1"/>
          </p:cNvSpPr>
          <p:nvPr/>
        </p:nvSpPr>
        <p:spPr bwMode="auto">
          <a:xfrm>
            <a:off x="1000125" y="376555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3</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5</a:t>
            </a:r>
            <a:endParaRPr kumimoji="1" lang="en-US" altLang="zh-CN" sz="1600" b="1" dirty="0">
              <a:latin typeface="Botanical" pitchFamily="2" charset="2"/>
              <a:ea typeface="华文楷体" panose="02010600040101010101" pitchFamily="2" charset="-122"/>
            </a:endParaRPr>
          </a:p>
        </p:txBody>
      </p:sp>
      <p:sp>
        <p:nvSpPr>
          <p:cNvPr id="85040" name="Text Box 46"/>
          <p:cNvSpPr txBox="1">
            <a:spLocks noChangeArrowheads="1"/>
          </p:cNvSpPr>
          <p:nvPr/>
        </p:nvSpPr>
        <p:spPr bwMode="auto">
          <a:xfrm>
            <a:off x="1609725" y="3917950"/>
            <a:ext cx="533400" cy="1069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85041" name="Text Box 47"/>
          <p:cNvSpPr txBox="1">
            <a:spLocks noChangeArrowheads="1"/>
          </p:cNvSpPr>
          <p:nvPr/>
        </p:nvSpPr>
        <p:spPr bwMode="auto">
          <a:xfrm>
            <a:off x="3286125" y="3765550"/>
            <a:ext cx="533400" cy="7032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华文楷体" panose="02010600040101010101" pitchFamily="2" charset="-122"/>
              <a:ea typeface="华文楷体" panose="02010600040101010101" pitchFamily="2" charset="-122"/>
            </a:endParaRPr>
          </a:p>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5042" name="Text Box 48"/>
          <p:cNvSpPr txBox="1">
            <a:spLocks noChangeArrowheads="1"/>
          </p:cNvSpPr>
          <p:nvPr/>
        </p:nvSpPr>
        <p:spPr bwMode="auto">
          <a:xfrm>
            <a:off x="2295525" y="3308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5043" name="Text Box 49"/>
          <p:cNvSpPr txBox="1">
            <a:spLocks noChangeArrowheads="1"/>
          </p:cNvSpPr>
          <p:nvPr/>
        </p:nvSpPr>
        <p:spPr bwMode="auto">
          <a:xfrm>
            <a:off x="3209925" y="4451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2</a:t>
            </a:r>
            <a:endParaRPr kumimoji="1" lang="en-US" altLang="zh-CN" sz="1600" b="1" dirty="0">
              <a:latin typeface="Botanical" pitchFamily="2" charset="2"/>
              <a:ea typeface="华文楷体" panose="02010600040101010101" pitchFamily="2" charset="-122"/>
            </a:endParaRPr>
          </a:p>
        </p:txBody>
      </p:sp>
      <p:sp>
        <p:nvSpPr>
          <p:cNvPr id="85044" name="Text Box 50"/>
          <p:cNvSpPr txBox="1">
            <a:spLocks noChangeArrowheads="1"/>
          </p:cNvSpPr>
          <p:nvPr/>
        </p:nvSpPr>
        <p:spPr bwMode="auto">
          <a:xfrm>
            <a:off x="2600325" y="368935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latin typeface="华文楷体" panose="02010600040101010101" pitchFamily="2" charset="-122"/>
                <a:ea typeface="华文楷体" panose="02010600040101010101" pitchFamily="2" charset="-122"/>
              </a:rPr>
              <a:t>1</a:t>
            </a:r>
            <a:endParaRPr kumimoji="1" lang="en-US" altLang="zh-CN" sz="1600" b="1" dirty="0">
              <a:latin typeface="Botanical" pitchFamily="2" charset="2"/>
              <a:ea typeface="华文楷体" panose="02010600040101010101" pitchFamily="2" charset="-122"/>
            </a:endParaRPr>
          </a:p>
        </p:txBody>
      </p:sp>
      <p:sp>
        <p:nvSpPr>
          <p:cNvPr id="94259" name="Text Box 51"/>
          <p:cNvSpPr txBox="1">
            <a:spLocks noChangeArrowheads="1"/>
          </p:cNvSpPr>
          <p:nvPr/>
        </p:nvSpPr>
        <p:spPr bwMode="auto">
          <a:xfrm>
            <a:off x="1838325" y="4114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6</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4260" name="Text Box 52"/>
          <p:cNvSpPr txBox="1">
            <a:spLocks noChangeArrowheads="1"/>
          </p:cNvSpPr>
          <p:nvPr/>
        </p:nvSpPr>
        <p:spPr bwMode="auto">
          <a:xfrm>
            <a:off x="1838325" y="3276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4</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4261" name="Text Box 53"/>
          <p:cNvSpPr txBox="1">
            <a:spLocks noChangeArrowheads="1"/>
          </p:cNvSpPr>
          <p:nvPr/>
        </p:nvSpPr>
        <p:spPr bwMode="auto">
          <a:xfrm>
            <a:off x="1990725" y="41148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4</a:t>
            </a:r>
            <a:endParaRPr kumimoji="1" lang="en-US" altLang="zh-CN" sz="1600" b="1" dirty="0">
              <a:latin typeface="Botanical" pitchFamily="2" charset="2"/>
              <a:ea typeface="华文楷体" panose="02010600040101010101" pitchFamily="2" charset="-122"/>
            </a:endParaRPr>
          </a:p>
        </p:txBody>
      </p:sp>
      <p:sp>
        <p:nvSpPr>
          <p:cNvPr id="94262" name="Text Box 54"/>
          <p:cNvSpPr txBox="1">
            <a:spLocks noChangeArrowheads="1"/>
          </p:cNvSpPr>
          <p:nvPr/>
        </p:nvSpPr>
        <p:spPr bwMode="auto">
          <a:xfrm>
            <a:off x="9525" y="4191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4263" name="Text Box 55"/>
          <p:cNvSpPr txBox="1">
            <a:spLocks noChangeArrowheads="1"/>
          </p:cNvSpPr>
          <p:nvPr/>
        </p:nvSpPr>
        <p:spPr bwMode="auto">
          <a:xfrm>
            <a:off x="238125" y="4191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r>
              <a:rPr kumimoji="1" lang="zh-CN" altLang="en-US" sz="1600" b="1" dirty="0">
                <a:solidFill>
                  <a:schemeClr val="accent1"/>
                </a:solidFill>
                <a:latin typeface="华文楷体" panose="02010600040101010101" pitchFamily="2" charset="-122"/>
                <a:ea typeface="华文楷体" panose="02010600040101010101" pitchFamily="2" charset="-122"/>
              </a:rPr>
              <a:t>、</a:t>
            </a:r>
            <a:endParaRPr kumimoji="1" lang="zh-CN" altLang="en-US" sz="1600" b="1" dirty="0">
              <a:latin typeface="Botanical" pitchFamily="2" charset="2"/>
              <a:ea typeface="华文楷体" panose="02010600040101010101" pitchFamily="2" charset="-122"/>
            </a:endParaRPr>
          </a:p>
        </p:txBody>
      </p:sp>
      <p:sp>
        <p:nvSpPr>
          <p:cNvPr id="94264" name="Text Box 56"/>
          <p:cNvSpPr txBox="1">
            <a:spLocks noChangeArrowheads="1"/>
          </p:cNvSpPr>
          <p:nvPr/>
        </p:nvSpPr>
        <p:spPr bwMode="auto">
          <a:xfrm>
            <a:off x="390525" y="41910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0</a:t>
            </a:r>
            <a:endParaRPr kumimoji="1" lang="en-US" altLang="zh-CN" sz="1600" b="1" dirty="0">
              <a:latin typeface="Botanical" pitchFamily="2" charset="2"/>
              <a:ea typeface="华文楷体" panose="02010600040101010101" pitchFamily="2" charset="-122"/>
            </a:endParaRPr>
          </a:p>
        </p:txBody>
      </p:sp>
      <p:sp>
        <p:nvSpPr>
          <p:cNvPr id="94265" name="Text Box 57"/>
          <p:cNvSpPr txBox="1">
            <a:spLocks noChangeArrowheads="1"/>
          </p:cNvSpPr>
          <p:nvPr/>
        </p:nvSpPr>
        <p:spPr bwMode="auto">
          <a:xfrm>
            <a:off x="2066925" y="3276600"/>
            <a:ext cx="533400" cy="336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r>
              <a:rPr kumimoji="1" lang="en-US" altLang="zh-CN" sz="1600" b="1" dirty="0">
                <a:solidFill>
                  <a:schemeClr val="accent1"/>
                </a:solidFill>
                <a:latin typeface="华文楷体" panose="02010600040101010101" pitchFamily="2" charset="-122"/>
                <a:ea typeface="华文楷体" panose="02010600040101010101" pitchFamily="2" charset="-122"/>
              </a:rPr>
              <a:t>3</a:t>
            </a:r>
            <a:endParaRPr kumimoji="1" lang="en-US" altLang="zh-CN" sz="1600" b="1" dirty="0">
              <a:latin typeface="Botanical" pitchFamily="2" charset="2"/>
              <a:ea typeface="华文楷体" panose="02010600040101010101" pitchFamily="2" charset="-122"/>
            </a:endParaRPr>
          </a:p>
        </p:txBody>
      </p:sp>
      <p:sp>
        <p:nvSpPr>
          <p:cNvPr id="85052" name="Text Box 58"/>
          <p:cNvSpPr txBox="1">
            <a:spLocks noChangeArrowheads="1"/>
          </p:cNvSpPr>
          <p:nvPr/>
        </p:nvSpPr>
        <p:spPr bwMode="auto">
          <a:xfrm>
            <a:off x="193675" y="1239838"/>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dirty="0">
                <a:solidFill>
                  <a:schemeClr val="accent2"/>
                </a:solidFill>
                <a:latin typeface="Times New Roman" panose="02020603050405020304" pitchFamily="18" charset="0"/>
                <a:ea typeface="华文楷体" panose="02010600040101010101" pitchFamily="2" charset="-122"/>
              </a:rPr>
              <a:t>实例</a:t>
            </a:r>
            <a:endParaRPr lang="zh-CN" altLang="en-US" sz="2400" b="1" dirty="0">
              <a:solidFill>
                <a:schemeClr val="accent2"/>
              </a:solidFill>
              <a:latin typeface="Times New Roman" panose="02020603050405020304" pitchFamily="18" charset="0"/>
              <a:ea typeface="华文楷体" panose="02010600040101010101" pitchFamily="2" charset="-122"/>
            </a:endParaRPr>
          </a:p>
        </p:txBody>
      </p:sp>
      <p:sp>
        <p:nvSpPr>
          <p:cNvPr id="85053" name="Oval 59"/>
          <p:cNvSpPr>
            <a:spLocks noChangeArrowheads="1"/>
          </p:cNvSpPr>
          <p:nvPr/>
        </p:nvSpPr>
        <p:spPr bwMode="auto">
          <a:xfrm>
            <a:off x="2981325" y="1219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94268" name="Text Box 60"/>
          <p:cNvSpPr txBox="1">
            <a:spLocks noChangeArrowheads="1"/>
          </p:cNvSpPr>
          <p:nvPr/>
        </p:nvSpPr>
        <p:spPr bwMode="auto">
          <a:xfrm>
            <a:off x="4191000" y="1831975"/>
            <a:ext cx="122020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(1)=0</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(2)=3</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(3)=4</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(4)=5</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(5)=6</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err="1">
                <a:solidFill>
                  <a:schemeClr val="accent2"/>
                </a:solidFill>
                <a:latin typeface="Times New Roman" panose="02020603050405020304" pitchFamily="18" charset="0"/>
                <a:ea typeface="华文楷体" panose="02010600040101010101" pitchFamily="2" charset="-122"/>
              </a:rPr>
              <a:t>Vl</a:t>
            </a:r>
            <a:r>
              <a:rPr lang="en-US" altLang="zh-CN" sz="2400" b="1" dirty="0">
                <a:solidFill>
                  <a:schemeClr val="accent2"/>
                </a:solidFill>
                <a:latin typeface="Times New Roman" panose="02020603050405020304" pitchFamily="18" charset="0"/>
                <a:ea typeface="华文楷体" panose="02010600040101010101" pitchFamily="2" charset="-122"/>
              </a:rPr>
              <a:t>(6)=8</a:t>
            </a:r>
            <a:endParaRPr lang="en-US" altLang="zh-CN" sz="2400" b="1" dirty="0">
              <a:solidFill>
                <a:schemeClr val="accent2"/>
              </a:solidFill>
              <a:latin typeface="Times New Roman" panose="02020603050405020304" pitchFamily="18" charset="0"/>
              <a:ea typeface="华文楷体" panose="02010600040101010101" pitchFamily="2" charset="-122"/>
            </a:endParaRPr>
          </a:p>
        </p:txBody>
      </p:sp>
      <p:sp>
        <p:nvSpPr>
          <p:cNvPr id="85055" name="Oval 61"/>
          <p:cNvSpPr>
            <a:spLocks noChangeArrowheads="1"/>
          </p:cNvSpPr>
          <p:nvPr/>
        </p:nvSpPr>
        <p:spPr bwMode="auto">
          <a:xfrm>
            <a:off x="46577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1</a:t>
            </a:r>
            <a:endParaRPr kumimoji="1" lang="en-US" altLang="zh-CN" sz="1600" b="1" u="sng" dirty="0">
              <a:latin typeface="Times New Roman" panose="02020603050405020304" pitchFamily="18" charset="0"/>
              <a:ea typeface="华文楷体" panose="02010600040101010101" pitchFamily="2" charset="-122"/>
            </a:endParaRPr>
          </a:p>
        </p:txBody>
      </p:sp>
      <p:sp>
        <p:nvSpPr>
          <p:cNvPr id="85056" name="Oval 62"/>
          <p:cNvSpPr>
            <a:spLocks noChangeArrowheads="1"/>
          </p:cNvSpPr>
          <p:nvPr/>
        </p:nvSpPr>
        <p:spPr bwMode="auto">
          <a:xfrm>
            <a:off x="40481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2</a:t>
            </a:r>
            <a:endParaRPr kumimoji="1" lang="en-US" altLang="zh-CN" sz="1600" b="1" u="sng" dirty="0">
              <a:latin typeface="Times New Roman" panose="02020603050405020304" pitchFamily="18" charset="0"/>
              <a:ea typeface="华文楷体" panose="02010600040101010101" pitchFamily="2" charset="-122"/>
            </a:endParaRPr>
          </a:p>
        </p:txBody>
      </p:sp>
      <p:sp>
        <p:nvSpPr>
          <p:cNvPr id="85057" name="Oval 63"/>
          <p:cNvSpPr>
            <a:spLocks noChangeArrowheads="1"/>
          </p:cNvSpPr>
          <p:nvPr/>
        </p:nvSpPr>
        <p:spPr bwMode="auto">
          <a:xfrm>
            <a:off x="34385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3</a:t>
            </a:r>
            <a:endParaRPr kumimoji="1" lang="en-US" altLang="zh-CN" sz="1600" b="1" u="sng" dirty="0">
              <a:latin typeface="Times New Roman" panose="02020603050405020304" pitchFamily="18" charset="0"/>
              <a:ea typeface="华文楷体" panose="02010600040101010101" pitchFamily="2" charset="-122"/>
            </a:endParaRPr>
          </a:p>
        </p:txBody>
      </p:sp>
      <p:sp>
        <p:nvSpPr>
          <p:cNvPr id="85058" name="Oval 64"/>
          <p:cNvSpPr>
            <a:spLocks noChangeArrowheads="1"/>
          </p:cNvSpPr>
          <p:nvPr/>
        </p:nvSpPr>
        <p:spPr bwMode="auto">
          <a:xfrm>
            <a:off x="28289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4</a:t>
            </a:r>
            <a:endParaRPr kumimoji="1" lang="en-US" altLang="zh-CN" sz="1600" b="1" u="sng" dirty="0">
              <a:latin typeface="Times New Roman" panose="02020603050405020304" pitchFamily="18" charset="0"/>
              <a:ea typeface="华文楷体" panose="02010600040101010101" pitchFamily="2" charset="-122"/>
            </a:endParaRPr>
          </a:p>
        </p:txBody>
      </p:sp>
      <p:sp>
        <p:nvSpPr>
          <p:cNvPr id="85059" name="Oval 65"/>
          <p:cNvSpPr>
            <a:spLocks noChangeArrowheads="1"/>
          </p:cNvSpPr>
          <p:nvPr/>
        </p:nvSpPr>
        <p:spPr bwMode="auto">
          <a:xfrm>
            <a:off x="22193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5</a:t>
            </a:r>
            <a:endParaRPr kumimoji="1" lang="en-US" altLang="zh-CN" sz="1600" b="1" u="sng" dirty="0">
              <a:latin typeface="Times New Roman" panose="02020603050405020304" pitchFamily="18" charset="0"/>
              <a:ea typeface="华文楷体" panose="02010600040101010101" pitchFamily="2" charset="-122"/>
            </a:endParaRPr>
          </a:p>
        </p:txBody>
      </p:sp>
      <p:sp>
        <p:nvSpPr>
          <p:cNvPr id="85060" name="Oval 66"/>
          <p:cNvSpPr>
            <a:spLocks noChangeArrowheads="1"/>
          </p:cNvSpPr>
          <p:nvPr/>
        </p:nvSpPr>
        <p:spPr bwMode="auto">
          <a:xfrm>
            <a:off x="1609725"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V</a:t>
            </a:r>
            <a:r>
              <a:rPr kumimoji="1" lang="en-US" altLang="zh-CN" sz="800" b="1" dirty="0">
                <a:latin typeface="Times New Roman" panose="02020603050405020304" pitchFamily="18" charset="0"/>
                <a:ea typeface="华文楷体" panose="02010600040101010101" pitchFamily="2" charset="-122"/>
              </a:rPr>
              <a:t>6</a:t>
            </a:r>
            <a:endParaRPr kumimoji="1" lang="en-US" altLang="zh-CN" sz="1600" b="1" u="sng" dirty="0">
              <a:latin typeface="Times New Roman" panose="02020603050405020304" pitchFamily="18" charset="0"/>
              <a:ea typeface="华文楷体" panose="02010600040101010101" pitchFamily="2" charset="-122"/>
            </a:endParaRPr>
          </a:p>
        </p:txBody>
      </p:sp>
      <p:sp>
        <p:nvSpPr>
          <p:cNvPr id="85061" name="Text Box 67"/>
          <p:cNvSpPr txBox="1">
            <a:spLocks noChangeArrowheads="1"/>
          </p:cNvSpPr>
          <p:nvPr/>
        </p:nvSpPr>
        <p:spPr bwMode="auto">
          <a:xfrm>
            <a:off x="5486400" y="1600200"/>
            <a:ext cx="3352800" cy="3079750"/>
          </a:xfrm>
          <a:prstGeom prst="rect">
            <a:avLst/>
          </a:prstGeom>
          <a:solidFill>
            <a:srgbClr val="CCFFFF"/>
          </a:solidFill>
          <a:ln w="9525" algn="ctr">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利用逆向拓扑排序算法求事件结点的最迟发生时间的执行步骤：</a:t>
            </a:r>
            <a:endParaRPr kumimoji="1" lang="zh-CN" altLang="en-US"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a:latin typeface="Times New Roman" panose="02020603050405020304" pitchFamily="18" charset="0"/>
                <a:ea typeface="华文楷体" panose="02010600040101010101" pitchFamily="2" charset="-122"/>
              </a:rPr>
              <a:t>1</a:t>
            </a:r>
            <a:r>
              <a:rPr kumimoji="1" lang="zh-CN" altLang="en-US" sz="1400" dirty="0">
                <a:latin typeface="Times New Roman" panose="02020603050405020304" pitchFamily="18" charset="0"/>
                <a:ea typeface="华文楷体" panose="02010600040101010101" pitchFamily="2" charset="-122"/>
              </a:rPr>
              <a:t>、设每个结点的最迟发生时间为汇点的最早发生时间。</a:t>
            </a:r>
            <a:endParaRPr kumimoji="1" lang="zh-CN" altLang="en-US"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a:latin typeface="Times New Roman" panose="02020603050405020304" pitchFamily="18" charset="0"/>
                <a:ea typeface="华文楷体" panose="02010600040101010101" pitchFamily="2" charset="-122"/>
              </a:rPr>
              <a:t>2</a:t>
            </a:r>
            <a:r>
              <a:rPr kumimoji="1" lang="zh-CN" altLang="en-US" sz="1400" dirty="0">
                <a:latin typeface="Times New Roman" panose="02020603050405020304" pitchFamily="18" charset="0"/>
                <a:ea typeface="华文楷体" panose="02010600040101010101" pitchFamily="2" charset="-122"/>
              </a:rPr>
              <a:t>、将栈中的结点</a:t>
            </a:r>
            <a:r>
              <a:rPr kumimoji="1" lang="en-US" altLang="zh-CN" sz="1400" dirty="0">
                <a:latin typeface="Times New Roman" panose="02020603050405020304" pitchFamily="18" charset="0"/>
                <a:ea typeface="华文楷体" panose="02010600040101010101" pitchFamily="2" charset="-122"/>
              </a:rPr>
              <a:t>V</a:t>
            </a:r>
            <a:r>
              <a:rPr kumimoji="1" lang="zh-CN" altLang="zh-CN" sz="1400" dirty="0">
                <a:latin typeface="Times New Roman" panose="02020603050405020304" pitchFamily="18" charset="0"/>
                <a:ea typeface="华文楷体" panose="02010600040101010101" pitchFamily="2" charset="-122"/>
              </a:rPr>
              <a:t>取出</a:t>
            </a:r>
            <a:r>
              <a:rPr kumimoji="1" lang="zh-CN" altLang="en-US" sz="1400" dirty="0">
                <a:latin typeface="Times New Roman" panose="02020603050405020304" pitchFamily="18" charset="0"/>
                <a:ea typeface="华文楷体" panose="02010600040101010101" pitchFamily="2" charset="-122"/>
              </a:rPr>
              <a:t>。</a:t>
            </a:r>
            <a:endParaRPr kumimoji="1" lang="zh-CN" altLang="en-US"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a:latin typeface="Times New Roman" panose="02020603050405020304" pitchFamily="18" charset="0"/>
                <a:ea typeface="华文楷体" panose="02010600040101010101" pitchFamily="2" charset="-122"/>
              </a:rPr>
              <a:t>3</a:t>
            </a:r>
            <a:r>
              <a:rPr kumimoji="1" lang="zh-CN" altLang="en-US" sz="1400" dirty="0">
                <a:latin typeface="Times New Roman" panose="02020603050405020304" pitchFamily="18" charset="0"/>
                <a:ea typeface="华文楷体" panose="02010600040101010101" pitchFamily="2" charset="-122"/>
              </a:rPr>
              <a:t>、根据逆邻接表找到结点</a:t>
            </a:r>
            <a:r>
              <a:rPr kumimoji="1" lang="en-US" altLang="zh-CN" sz="1400" dirty="0">
                <a:latin typeface="Times New Roman" panose="02020603050405020304" pitchFamily="18" charset="0"/>
                <a:ea typeface="华文楷体" panose="02010600040101010101" pitchFamily="2" charset="-122"/>
              </a:rPr>
              <a:t>V</a:t>
            </a:r>
            <a:r>
              <a:rPr kumimoji="1" lang="zh-CN" altLang="zh-CN" sz="1400" dirty="0">
                <a:latin typeface="Times New Roman" panose="02020603050405020304" pitchFamily="18" charset="0"/>
                <a:ea typeface="华文楷体" panose="02010600040101010101" pitchFamily="2" charset="-122"/>
              </a:rPr>
              <a:t>的所有的起始结点，将结点</a:t>
            </a:r>
            <a:r>
              <a:rPr kumimoji="1" lang="en-US" altLang="zh-CN" sz="1400" dirty="0">
                <a:latin typeface="Times New Roman" panose="02020603050405020304" pitchFamily="18" charset="0"/>
                <a:ea typeface="华文楷体" panose="02010600040101010101" pitchFamily="2" charset="-122"/>
              </a:rPr>
              <a:t>V</a:t>
            </a:r>
            <a:r>
              <a:rPr kumimoji="1" lang="zh-CN" altLang="zh-CN" sz="1400" dirty="0">
                <a:latin typeface="Times New Roman" panose="02020603050405020304" pitchFamily="18" charset="0"/>
                <a:ea typeface="华文楷体" panose="02010600040101010101" pitchFamily="2" charset="-122"/>
              </a:rPr>
              <a:t>的最迟发生时间 - 活动的权值得到的差同起始结点的原最迟发生时间进行比较；如果该值小，则用该值取代原最迟发生时间。</a:t>
            </a:r>
            <a:endParaRPr kumimoji="1" lang="zh-CN" altLang="zh-CN" sz="1400"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dirty="0">
                <a:latin typeface="Times New Roman" panose="02020603050405020304" pitchFamily="18" charset="0"/>
                <a:ea typeface="华文楷体" panose="02010600040101010101" pitchFamily="2" charset="-122"/>
              </a:rPr>
              <a:t>4</a:t>
            </a:r>
            <a:r>
              <a:rPr kumimoji="1" lang="zh-CN" altLang="en-US" sz="1400" dirty="0">
                <a:latin typeface="Times New Roman" panose="02020603050405020304" pitchFamily="18" charset="0"/>
                <a:ea typeface="华文楷体" panose="02010600040101010101" pitchFamily="2" charset="-122"/>
              </a:rPr>
              <a:t>、反复执行 </a:t>
            </a:r>
            <a:r>
              <a:rPr kumimoji="1" lang="en-US" altLang="zh-CN" sz="1400" dirty="0">
                <a:latin typeface="Times New Roman" panose="02020603050405020304" pitchFamily="18" charset="0"/>
                <a:ea typeface="华文楷体" panose="02010600040101010101" pitchFamily="2" charset="-122"/>
              </a:rPr>
              <a:t>2</a:t>
            </a:r>
            <a:r>
              <a:rPr kumimoji="1" lang="zh-CN" altLang="en-US" sz="1400" dirty="0">
                <a:latin typeface="Times New Roman" panose="02020603050405020304" pitchFamily="18" charset="0"/>
                <a:ea typeface="华文楷体" panose="02010600040101010101" pitchFamily="2" charset="-122"/>
              </a:rPr>
              <a:t>、</a:t>
            </a:r>
            <a:r>
              <a:rPr kumimoji="1" lang="en-US" altLang="zh-CN" sz="1400" dirty="0">
                <a:latin typeface="Times New Roman" panose="02020603050405020304" pitchFamily="18" charset="0"/>
                <a:ea typeface="华文楷体" panose="02010600040101010101" pitchFamily="2" charset="-122"/>
              </a:rPr>
              <a:t>3</a:t>
            </a:r>
            <a:r>
              <a:rPr kumimoji="1" lang="zh-CN" altLang="en-US" sz="1400" dirty="0">
                <a:latin typeface="Times New Roman" panose="02020603050405020304" pitchFamily="18" charset="0"/>
                <a:ea typeface="华文楷体" panose="02010600040101010101" pitchFamily="2" charset="-122"/>
              </a:rPr>
              <a:t>；直至栈空为止。</a:t>
            </a:r>
            <a:r>
              <a:rPr kumimoji="1" lang="zh-CN" altLang="en-US" sz="1400" b="1" dirty="0">
                <a:latin typeface="Times New Roman" panose="02020603050405020304" pitchFamily="18" charset="0"/>
                <a:ea typeface="华文楷体" panose="02010600040101010101" pitchFamily="2" charset="-122"/>
              </a:rPr>
              <a:t>		</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4250"/>
                                        </p:tgtEl>
                                        <p:attrNameLst>
                                          <p:attrName>style.visibility</p:attrName>
                                        </p:attrNameLst>
                                      </p:cBhvr>
                                      <p:to>
                                        <p:strVal val="visible"/>
                                      </p:to>
                                    </p:set>
                                    <p:animEffect transition="in" filter="box(out)">
                                      <p:cBhvr>
                                        <p:cTn id="7" dur="500"/>
                                        <p:tgtEl>
                                          <p:spTgt spid="94250"/>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par>
                          <p:cTn id="8" fill="hold">
                            <p:stCondLst>
                              <p:cond delay="500"/>
                            </p:stCondLst>
                            <p:childTnLst>
                              <p:par>
                                <p:cTn id="9" presetID="22" presetClass="entr" presetSubtype="1" fill="hold" grpId="0" nodeType="afterEffect">
                                  <p:stCondLst>
                                    <p:cond delay="1000"/>
                                  </p:stCondLst>
                                  <p:iterate type="lt">
                                    <p:tmPct val="100000"/>
                                  </p:iterate>
                                  <p:childTnLst>
                                    <p:set>
                                      <p:cBhvr>
                                        <p:cTn id="10" dur="1" fill="hold">
                                          <p:stCondLst>
                                            <p:cond delay="0"/>
                                          </p:stCondLst>
                                        </p:cTn>
                                        <p:tgtEl>
                                          <p:spTgt spid="94233">
                                            <p:txEl>
                                              <p:pRg st="0" end="0"/>
                                            </p:txEl>
                                          </p:spTgt>
                                        </p:tgtEl>
                                        <p:attrNameLst>
                                          <p:attrName>style.visibility</p:attrName>
                                        </p:attrNameLst>
                                      </p:cBhvr>
                                      <p:to>
                                        <p:strVal val="visible"/>
                                      </p:to>
                                    </p:set>
                                    <p:animEffect transition="in" filter="wipe(up)">
                                      <p:cBhvr>
                                        <p:cTn id="11" dur="75"/>
                                        <p:tgtEl>
                                          <p:spTgt spid="94233">
                                            <p:txEl>
                                              <p:pRg st="0" end="0"/>
                                            </p:txEl>
                                          </p:spTgt>
                                        </p:tgtEl>
                                      </p:cBhvr>
                                    </p:animEffect>
                                  </p:childTnLst>
                                  <p:subTnLst>
                                    <p:audio>
                                      <p:cMediaNode>
                                        <p:cTn display="0" masterRel="sameClick">
                                          <p:stCondLst>
                                            <p:cond evt="begin" delay="0">
                                              <p:tn val="9"/>
                                            </p:cond>
                                          </p:stCondLst>
                                          <p:endCondLst>
                                            <p:cond evt="onStopAudio" delay="0">
                                              <p:tgtEl>
                                                <p:sldTgt/>
                                              </p:tgtEl>
                                            </p:cond>
                                          </p:endCondLst>
                                        </p:cTn>
                                        <p:tgtEl>
                                          <p:sndTgt r:embed="rId2" name="TYPE.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94248"/>
                                        </p:tgtEl>
                                        <p:attrNameLst>
                                          <p:attrName>style.visibility</p:attrName>
                                        </p:attrNameLst>
                                      </p:cBhvr>
                                      <p:to>
                                        <p:strVal val="visible"/>
                                      </p:to>
                                    </p:set>
                                    <p:animEffect transition="in" filter="box(out)">
                                      <p:cBhvr>
                                        <p:cTn id="16" dur="500"/>
                                        <p:tgtEl>
                                          <p:spTgt spid="94248"/>
                                        </p:tgtEl>
                                      </p:cBhvr>
                                    </p:animEffect>
                                  </p:childTnLst>
                                  <p:subTnLst>
                                    <p:audio>
                                      <p:cMediaNode>
                                        <p:cTn display="0" masterRel="sameClick">
                                          <p:stCondLst>
                                            <p:cond evt="begin" delay="0">
                                              <p:tn val="14"/>
                                            </p:cond>
                                          </p:stCondLst>
                                          <p:endCondLst>
                                            <p:cond evt="onStopAudio" delay="0">
                                              <p:tgtEl>
                                                <p:sldTgt/>
                                              </p:tgtEl>
                                            </p:cond>
                                          </p:endCondLst>
                                        </p:cTn>
                                        <p:tgtEl>
                                          <p:sndTgt r:embed="rId1" name="CAMERA.WAV"/>
                                        </p:tgtEl>
                                      </p:cMediaNode>
                                    </p:audio>
                                  </p:subTnLst>
                                </p:cTn>
                              </p:par>
                            </p:childTnLst>
                          </p:cTn>
                        </p:par>
                        <p:par>
                          <p:cTn id="17" fill="hold">
                            <p:stCondLst>
                              <p:cond delay="500"/>
                            </p:stCondLst>
                            <p:childTnLst>
                              <p:par>
                                <p:cTn id="18" presetID="22" presetClass="entr" presetSubtype="1" fill="hold" grpId="0" nodeType="afterEffect">
                                  <p:stCondLst>
                                    <p:cond delay="1000"/>
                                  </p:stCondLst>
                                  <p:iterate type="lt">
                                    <p:tmPct val="100000"/>
                                  </p:iterate>
                                  <p:childTnLst>
                                    <p:set>
                                      <p:cBhvr>
                                        <p:cTn id="19" dur="1" fill="hold">
                                          <p:stCondLst>
                                            <p:cond delay="0"/>
                                          </p:stCondLst>
                                        </p:cTn>
                                        <p:tgtEl>
                                          <p:spTgt spid="94259">
                                            <p:txEl>
                                              <p:pRg st="0" end="0"/>
                                            </p:txEl>
                                          </p:spTgt>
                                        </p:tgtEl>
                                        <p:attrNameLst>
                                          <p:attrName>style.visibility</p:attrName>
                                        </p:attrNameLst>
                                      </p:cBhvr>
                                      <p:to>
                                        <p:strVal val="visible"/>
                                      </p:to>
                                    </p:set>
                                    <p:animEffect transition="in" filter="wipe(up)">
                                      <p:cBhvr>
                                        <p:cTn id="20" dur="75"/>
                                        <p:tgtEl>
                                          <p:spTgt spid="94259">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TYPE.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94240"/>
                                        </p:tgtEl>
                                        <p:attrNameLst>
                                          <p:attrName>style.visibility</p:attrName>
                                        </p:attrNameLst>
                                      </p:cBhvr>
                                      <p:to>
                                        <p:strVal val="visible"/>
                                      </p:to>
                                    </p:set>
                                    <p:animEffect transition="in" filter="box(out)">
                                      <p:cBhvr>
                                        <p:cTn id="25" dur="500"/>
                                        <p:tgtEl>
                                          <p:spTgt spid="94240"/>
                                        </p:tgtEl>
                                      </p:cBhvr>
                                    </p:animEffect>
                                  </p:childTnLst>
                                  <p:subTnLst>
                                    <p:audio>
                                      <p:cMediaNode>
                                        <p:cTn display="0" masterRel="sameClick">
                                          <p:stCondLst>
                                            <p:cond evt="begin" delay="0">
                                              <p:tn val="23"/>
                                            </p:cond>
                                          </p:stCondLst>
                                          <p:endCondLst>
                                            <p:cond evt="onStopAudio" delay="0">
                                              <p:tgtEl>
                                                <p:sldTgt/>
                                              </p:tgtEl>
                                            </p:cond>
                                          </p:endCondLst>
                                        </p:cTn>
                                        <p:tgtEl>
                                          <p:sndTgt r:embed="rId1" name="CAMERA.WAV"/>
                                        </p:tgtEl>
                                      </p:cMediaNode>
                                    </p:audio>
                                  </p:subTnLst>
                                </p:cTn>
                              </p:par>
                            </p:childTnLst>
                          </p:cTn>
                        </p:par>
                        <p:par>
                          <p:cTn id="26" fill="hold">
                            <p:stCondLst>
                              <p:cond delay="500"/>
                            </p:stCondLst>
                            <p:childTnLst>
                              <p:par>
                                <p:cTn id="27" presetID="22" presetClass="entr" presetSubtype="1" fill="hold" grpId="0" nodeType="afterEffect">
                                  <p:stCondLst>
                                    <p:cond delay="1000"/>
                                  </p:stCondLst>
                                  <p:iterate type="lt">
                                    <p:tmPct val="100000"/>
                                  </p:iterate>
                                  <p:childTnLst>
                                    <p:set>
                                      <p:cBhvr>
                                        <p:cTn id="28" dur="1" fill="hold">
                                          <p:stCondLst>
                                            <p:cond delay="0"/>
                                          </p:stCondLst>
                                        </p:cTn>
                                        <p:tgtEl>
                                          <p:spTgt spid="94231">
                                            <p:txEl>
                                              <p:pRg st="0" end="0"/>
                                            </p:txEl>
                                          </p:spTgt>
                                        </p:tgtEl>
                                        <p:attrNameLst>
                                          <p:attrName>style.visibility</p:attrName>
                                        </p:attrNameLst>
                                      </p:cBhvr>
                                      <p:to>
                                        <p:strVal val="visible"/>
                                      </p:to>
                                    </p:set>
                                    <p:animEffect transition="in" filter="wipe(up)">
                                      <p:cBhvr>
                                        <p:cTn id="29" dur="75"/>
                                        <p:tgtEl>
                                          <p:spTgt spid="94231">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TYPE.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94238"/>
                                        </p:tgtEl>
                                        <p:attrNameLst>
                                          <p:attrName>style.visibility</p:attrName>
                                        </p:attrNameLst>
                                      </p:cBhvr>
                                      <p:to>
                                        <p:strVal val="visible"/>
                                      </p:to>
                                    </p:set>
                                    <p:animEffect transition="in" filter="box(out)">
                                      <p:cBhvr>
                                        <p:cTn id="34" dur="500"/>
                                        <p:tgtEl>
                                          <p:spTgt spid="94238"/>
                                        </p:tgtEl>
                                      </p:cBhvr>
                                    </p:animEffect>
                                  </p:childTnLst>
                                  <p:subTnLst>
                                    <p:audio>
                                      <p:cMediaNode>
                                        <p:cTn display="0" masterRel="sameClick">
                                          <p:stCondLst>
                                            <p:cond evt="begin" delay="0">
                                              <p:tn val="32"/>
                                            </p:cond>
                                          </p:stCondLst>
                                          <p:endCondLst>
                                            <p:cond evt="onStopAudio" delay="0">
                                              <p:tgtEl>
                                                <p:sldTgt/>
                                              </p:tgtEl>
                                            </p:cond>
                                          </p:endCondLst>
                                        </p:cTn>
                                        <p:tgtEl>
                                          <p:sndTgt r:embed="rId1" name="CAMERA.WAV"/>
                                        </p:tgtEl>
                                      </p:cMediaNode>
                                    </p:audio>
                                  </p:subTnLst>
                                </p:cTn>
                              </p:par>
                            </p:childTnLst>
                          </p:cTn>
                        </p:par>
                        <p:par>
                          <p:cTn id="35" fill="hold">
                            <p:stCondLst>
                              <p:cond delay="500"/>
                            </p:stCondLst>
                            <p:childTnLst>
                              <p:par>
                                <p:cTn id="36" presetID="22" presetClass="entr" presetSubtype="1" fill="hold" grpId="0" nodeType="afterEffect">
                                  <p:stCondLst>
                                    <p:cond delay="1000"/>
                                  </p:stCondLst>
                                  <p:iterate type="lt">
                                    <p:tmPct val="100000"/>
                                  </p:iterate>
                                  <p:childTnLst>
                                    <p:set>
                                      <p:cBhvr>
                                        <p:cTn id="37" dur="1" fill="hold">
                                          <p:stCondLst>
                                            <p:cond delay="0"/>
                                          </p:stCondLst>
                                        </p:cTn>
                                        <p:tgtEl>
                                          <p:spTgt spid="94260">
                                            <p:txEl>
                                              <p:pRg st="0" end="0"/>
                                            </p:txEl>
                                          </p:spTgt>
                                        </p:tgtEl>
                                        <p:attrNameLst>
                                          <p:attrName>style.visibility</p:attrName>
                                        </p:attrNameLst>
                                      </p:cBhvr>
                                      <p:to>
                                        <p:strVal val="visible"/>
                                      </p:to>
                                    </p:set>
                                    <p:animEffect transition="in" filter="wipe(up)">
                                      <p:cBhvr>
                                        <p:cTn id="38" dur="75"/>
                                        <p:tgtEl>
                                          <p:spTgt spid="94260">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TYPE.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94251"/>
                                        </p:tgtEl>
                                        <p:attrNameLst>
                                          <p:attrName>style.visibility</p:attrName>
                                        </p:attrNameLst>
                                      </p:cBhvr>
                                      <p:to>
                                        <p:strVal val="visible"/>
                                      </p:to>
                                    </p:set>
                                    <p:animEffect transition="in" filter="box(out)">
                                      <p:cBhvr>
                                        <p:cTn id="43" dur="500"/>
                                        <p:tgtEl>
                                          <p:spTgt spid="94251"/>
                                        </p:tgtEl>
                                      </p:cBhvr>
                                    </p:animEffect>
                                  </p:childTnLst>
                                  <p:subTnLst>
                                    <p:audio>
                                      <p:cMediaNode>
                                        <p:cTn display="0" masterRel="sameClick">
                                          <p:stCondLst>
                                            <p:cond evt="begin" delay="0">
                                              <p:tn val="41"/>
                                            </p:cond>
                                          </p:stCondLst>
                                          <p:endCondLst>
                                            <p:cond evt="onStopAudio" delay="0">
                                              <p:tgtEl>
                                                <p:sldTgt/>
                                              </p:tgtEl>
                                            </p:cond>
                                          </p:endCondLst>
                                        </p:cTn>
                                        <p:tgtEl>
                                          <p:sndTgt r:embed="rId1" name="CAMERA.WAV"/>
                                        </p:tgtEl>
                                      </p:cMediaNode>
                                    </p:audio>
                                  </p:subTnLst>
                                </p:cTn>
                              </p:par>
                            </p:childTnLst>
                          </p:cTn>
                        </p:par>
                        <p:par>
                          <p:cTn id="44" fill="hold">
                            <p:stCondLst>
                              <p:cond delay="500"/>
                            </p:stCondLst>
                            <p:childTnLst>
                              <p:par>
                                <p:cTn id="45" presetID="22" presetClass="entr" presetSubtype="1" fill="hold" grpId="0" nodeType="afterEffect">
                                  <p:stCondLst>
                                    <p:cond delay="1000"/>
                                  </p:stCondLst>
                                  <p:iterate type="lt">
                                    <p:tmPct val="100000"/>
                                  </p:iterate>
                                  <p:childTnLst>
                                    <p:set>
                                      <p:cBhvr>
                                        <p:cTn id="46" dur="1" fill="hold">
                                          <p:stCondLst>
                                            <p:cond delay="0"/>
                                          </p:stCondLst>
                                        </p:cTn>
                                        <p:tgtEl>
                                          <p:spTgt spid="94232">
                                            <p:txEl>
                                              <p:pRg st="0" end="0"/>
                                            </p:txEl>
                                          </p:spTgt>
                                        </p:tgtEl>
                                        <p:attrNameLst>
                                          <p:attrName>style.visibility</p:attrName>
                                        </p:attrNameLst>
                                      </p:cBhvr>
                                      <p:to>
                                        <p:strVal val="visible"/>
                                      </p:to>
                                    </p:set>
                                    <p:animEffect transition="in" filter="wipe(up)">
                                      <p:cBhvr>
                                        <p:cTn id="47" dur="75"/>
                                        <p:tgtEl>
                                          <p:spTgt spid="94232">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94252"/>
                                        </p:tgtEl>
                                        <p:attrNameLst>
                                          <p:attrName>style.visibility</p:attrName>
                                        </p:attrNameLst>
                                      </p:cBhvr>
                                      <p:to>
                                        <p:strVal val="visible"/>
                                      </p:to>
                                    </p:set>
                                    <p:animEffect transition="in" filter="box(out)">
                                      <p:cBhvr>
                                        <p:cTn id="52" dur="500"/>
                                        <p:tgtEl>
                                          <p:spTgt spid="94252"/>
                                        </p:tgtEl>
                                      </p:cBhvr>
                                    </p:animEffect>
                                  </p:childTnLst>
                                  <p:subTnLst>
                                    <p:audio>
                                      <p:cMediaNode>
                                        <p:cTn display="0" masterRel="sameClick">
                                          <p:stCondLst>
                                            <p:cond evt="begin" delay="0">
                                              <p:tn val="50"/>
                                            </p:cond>
                                          </p:stCondLst>
                                          <p:endCondLst>
                                            <p:cond evt="onStopAudio" delay="0">
                                              <p:tgtEl>
                                                <p:sldTgt/>
                                              </p:tgtEl>
                                            </p:cond>
                                          </p:endCondLst>
                                        </p:cTn>
                                        <p:tgtEl>
                                          <p:sndTgt r:embed="rId1" name="CAMERA.WAV"/>
                                        </p:tgtEl>
                                      </p:cMediaNode>
                                    </p:audio>
                                  </p:subTnLst>
                                </p:cTn>
                              </p:par>
                            </p:childTnLst>
                          </p:cTn>
                        </p:par>
                        <p:par>
                          <p:cTn id="53" fill="hold">
                            <p:stCondLst>
                              <p:cond delay="500"/>
                            </p:stCondLst>
                            <p:childTnLst>
                              <p:par>
                                <p:cTn id="54" presetID="22" presetClass="entr" presetSubtype="1" fill="hold" grpId="0" nodeType="afterEffect">
                                  <p:stCondLst>
                                    <p:cond delay="1000"/>
                                  </p:stCondLst>
                                  <p:iterate type="lt">
                                    <p:tmPct val="100000"/>
                                  </p:iterate>
                                  <p:childTnLst>
                                    <p:set>
                                      <p:cBhvr>
                                        <p:cTn id="55" dur="1" fill="hold">
                                          <p:stCondLst>
                                            <p:cond delay="0"/>
                                          </p:stCondLst>
                                        </p:cTn>
                                        <p:tgtEl>
                                          <p:spTgt spid="94261">
                                            <p:txEl>
                                              <p:pRg st="0" end="0"/>
                                            </p:txEl>
                                          </p:spTgt>
                                        </p:tgtEl>
                                        <p:attrNameLst>
                                          <p:attrName>style.visibility</p:attrName>
                                        </p:attrNameLst>
                                      </p:cBhvr>
                                      <p:to>
                                        <p:strVal val="visible"/>
                                      </p:to>
                                    </p:set>
                                    <p:animEffect transition="in" filter="wipe(up)">
                                      <p:cBhvr>
                                        <p:cTn id="56" dur="75"/>
                                        <p:tgtEl>
                                          <p:spTgt spid="94261">
                                            <p:txEl>
                                              <p:pRg st="0" end="0"/>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2" name="TYPE.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94242"/>
                                        </p:tgtEl>
                                        <p:attrNameLst>
                                          <p:attrName>style.visibility</p:attrName>
                                        </p:attrNameLst>
                                      </p:cBhvr>
                                      <p:to>
                                        <p:strVal val="visible"/>
                                      </p:to>
                                    </p:set>
                                    <p:animEffect transition="in" filter="box(out)">
                                      <p:cBhvr>
                                        <p:cTn id="61" dur="500"/>
                                        <p:tgtEl>
                                          <p:spTgt spid="94242"/>
                                        </p:tgtEl>
                                      </p:cBhvr>
                                    </p:animEffect>
                                  </p:childTnLst>
                                  <p:subTnLst>
                                    <p:audio>
                                      <p:cMediaNode>
                                        <p:cTn display="0" masterRel="sameClick">
                                          <p:stCondLst>
                                            <p:cond evt="begin" delay="0">
                                              <p:tn val="59"/>
                                            </p:cond>
                                          </p:stCondLst>
                                          <p:endCondLst>
                                            <p:cond evt="onStopAudio" delay="0">
                                              <p:tgtEl>
                                                <p:sldTgt/>
                                              </p:tgtEl>
                                            </p:cond>
                                          </p:endCondLst>
                                        </p:cTn>
                                        <p:tgtEl>
                                          <p:sndTgt r:embed="rId1" name="CAMERA.WAV"/>
                                        </p:tgtEl>
                                      </p:cMediaNode>
                                    </p:audio>
                                  </p:subTnLst>
                                </p:cTn>
                              </p:par>
                            </p:childTnLst>
                          </p:cTn>
                        </p:par>
                        <p:par>
                          <p:cTn id="62" fill="hold">
                            <p:stCondLst>
                              <p:cond delay="500"/>
                            </p:stCondLst>
                            <p:childTnLst>
                              <p:par>
                                <p:cTn id="63" presetID="22" presetClass="entr" presetSubtype="1" fill="hold" grpId="0" nodeType="afterEffect">
                                  <p:stCondLst>
                                    <p:cond delay="1000"/>
                                  </p:stCondLst>
                                  <p:iterate type="lt">
                                    <p:tmPct val="100000"/>
                                  </p:iterate>
                                  <p:childTnLst>
                                    <p:set>
                                      <p:cBhvr>
                                        <p:cTn id="64" dur="1" fill="hold">
                                          <p:stCondLst>
                                            <p:cond delay="0"/>
                                          </p:stCondLst>
                                        </p:cTn>
                                        <p:tgtEl>
                                          <p:spTgt spid="94262">
                                            <p:txEl>
                                              <p:pRg st="0" end="0"/>
                                            </p:txEl>
                                          </p:spTgt>
                                        </p:tgtEl>
                                        <p:attrNameLst>
                                          <p:attrName>style.visibility</p:attrName>
                                        </p:attrNameLst>
                                      </p:cBhvr>
                                      <p:to>
                                        <p:strVal val="visible"/>
                                      </p:to>
                                    </p:set>
                                    <p:animEffect transition="in" filter="wipe(up)">
                                      <p:cBhvr>
                                        <p:cTn id="65" dur="75"/>
                                        <p:tgtEl>
                                          <p:spTgt spid="94262">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2" name="TYPE.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32" fill="hold" nodeType="clickEffect">
                                  <p:stCondLst>
                                    <p:cond delay="0"/>
                                  </p:stCondLst>
                                  <p:childTnLst>
                                    <p:set>
                                      <p:cBhvr>
                                        <p:cTn id="69" dur="1" fill="hold">
                                          <p:stCondLst>
                                            <p:cond delay="0"/>
                                          </p:stCondLst>
                                        </p:cTn>
                                        <p:tgtEl>
                                          <p:spTgt spid="94245"/>
                                        </p:tgtEl>
                                        <p:attrNameLst>
                                          <p:attrName>style.visibility</p:attrName>
                                        </p:attrNameLst>
                                      </p:cBhvr>
                                      <p:to>
                                        <p:strVal val="visible"/>
                                      </p:to>
                                    </p:set>
                                    <p:animEffect transition="in" filter="box(out)">
                                      <p:cBhvr>
                                        <p:cTn id="70" dur="500"/>
                                        <p:tgtEl>
                                          <p:spTgt spid="94245"/>
                                        </p:tgtEl>
                                      </p:cBhvr>
                                    </p:animEffect>
                                  </p:childTnLst>
                                  <p:subTnLst>
                                    <p:audio>
                                      <p:cMediaNode>
                                        <p:cTn display="0" masterRel="sameClick">
                                          <p:stCondLst>
                                            <p:cond evt="begin" delay="0">
                                              <p:tn val="68"/>
                                            </p:cond>
                                          </p:stCondLst>
                                          <p:endCondLst>
                                            <p:cond evt="onStopAudio" delay="0">
                                              <p:tgtEl>
                                                <p:sldTgt/>
                                              </p:tgtEl>
                                            </p:cond>
                                          </p:endCondLst>
                                        </p:cTn>
                                        <p:tgtEl>
                                          <p:sndTgt r:embed="rId1" name="CAMERA.WAV"/>
                                        </p:tgtEl>
                                      </p:cMediaNode>
                                    </p:audio>
                                  </p:subTnLst>
                                </p:cTn>
                              </p:par>
                            </p:childTnLst>
                          </p:cTn>
                        </p:par>
                        <p:par>
                          <p:cTn id="71" fill="hold">
                            <p:stCondLst>
                              <p:cond delay="500"/>
                            </p:stCondLst>
                            <p:childTnLst>
                              <p:par>
                                <p:cTn id="72" presetID="22" presetClass="entr" presetSubtype="1" fill="hold" grpId="0" nodeType="afterEffect">
                                  <p:stCondLst>
                                    <p:cond delay="1000"/>
                                  </p:stCondLst>
                                  <p:iterate type="lt">
                                    <p:tmPct val="100000"/>
                                  </p:iterate>
                                  <p:childTnLst>
                                    <p:set>
                                      <p:cBhvr>
                                        <p:cTn id="73" dur="1" fill="hold">
                                          <p:stCondLst>
                                            <p:cond delay="0"/>
                                          </p:stCondLst>
                                        </p:cTn>
                                        <p:tgtEl>
                                          <p:spTgt spid="94263">
                                            <p:txEl>
                                              <p:pRg st="0" end="0"/>
                                            </p:txEl>
                                          </p:spTgt>
                                        </p:tgtEl>
                                        <p:attrNameLst>
                                          <p:attrName>style.visibility</p:attrName>
                                        </p:attrNameLst>
                                      </p:cBhvr>
                                      <p:to>
                                        <p:strVal val="visible"/>
                                      </p:to>
                                    </p:set>
                                    <p:animEffect transition="in" filter="wipe(up)">
                                      <p:cBhvr>
                                        <p:cTn id="74" dur="75"/>
                                        <p:tgtEl>
                                          <p:spTgt spid="94263">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2" name="TYPE.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94246"/>
                                        </p:tgtEl>
                                        <p:attrNameLst>
                                          <p:attrName>style.visibility</p:attrName>
                                        </p:attrNameLst>
                                      </p:cBhvr>
                                      <p:to>
                                        <p:strVal val="visible"/>
                                      </p:to>
                                    </p:set>
                                    <p:animEffect transition="in" filter="box(out)">
                                      <p:cBhvr>
                                        <p:cTn id="79" dur="500"/>
                                        <p:tgtEl>
                                          <p:spTgt spid="94246"/>
                                        </p:tgtEl>
                                      </p:cBhvr>
                                    </p:animEffect>
                                  </p:childTnLst>
                                  <p:subTnLst>
                                    <p:audio>
                                      <p:cMediaNode>
                                        <p:cTn display="0" masterRel="sameClick">
                                          <p:stCondLst>
                                            <p:cond evt="begin" delay="0">
                                              <p:tn val="77"/>
                                            </p:cond>
                                          </p:stCondLst>
                                          <p:endCondLst>
                                            <p:cond evt="onStopAudio" delay="0">
                                              <p:tgtEl>
                                                <p:sldTgt/>
                                              </p:tgtEl>
                                            </p:cond>
                                          </p:endCondLst>
                                        </p:cTn>
                                        <p:tgtEl>
                                          <p:sndTgt r:embed="rId1" name="CAMERA.WAV"/>
                                        </p:tgtEl>
                                      </p:cMediaNode>
                                    </p:audio>
                                  </p:subTnLst>
                                </p:cTn>
                              </p:par>
                            </p:childTnLst>
                          </p:cTn>
                        </p:par>
                        <p:par>
                          <p:cTn id="80" fill="hold">
                            <p:stCondLst>
                              <p:cond delay="500"/>
                            </p:stCondLst>
                            <p:childTnLst>
                              <p:par>
                                <p:cTn id="81" presetID="22" presetClass="entr" presetSubtype="1" fill="hold" grpId="0" nodeType="afterEffect">
                                  <p:stCondLst>
                                    <p:cond delay="1000"/>
                                  </p:stCondLst>
                                  <p:iterate type="lt">
                                    <p:tmPct val="100000"/>
                                  </p:iterate>
                                  <p:childTnLst>
                                    <p:set>
                                      <p:cBhvr>
                                        <p:cTn id="82" dur="1" fill="hold">
                                          <p:stCondLst>
                                            <p:cond delay="0"/>
                                          </p:stCondLst>
                                        </p:cTn>
                                        <p:tgtEl>
                                          <p:spTgt spid="94265">
                                            <p:txEl>
                                              <p:pRg st="0" end="0"/>
                                            </p:txEl>
                                          </p:spTgt>
                                        </p:tgtEl>
                                        <p:attrNameLst>
                                          <p:attrName>style.visibility</p:attrName>
                                        </p:attrNameLst>
                                      </p:cBhvr>
                                      <p:to>
                                        <p:strVal val="visible"/>
                                      </p:to>
                                    </p:set>
                                    <p:animEffect transition="in" filter="wipe(up)">
                                      <p:cBhvr>
                                        <p:cTn id="83" dur="75"/>
                                        <p:tgtEl>
                                          <p:spTgt spid="94265">
                                            <p:txEl>
                                              <p:pRg st="0" end="0"/>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2" name="TYPE.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94249"/>
                                        </p:tgtEl>
                                        <p:attrNameLst>
                                          <p:attrName>style.visibility</p:attrName>
                                        </p:attrNameLst>
                                      </p:cBhvr>
                                      <p:to>
                                        <p:strVal val="visible"/>
                                      </p:to>
                                    </p:set>
                                    <p:animEffect transition="in" filter="box(out)">
                                      <p:cBhvr>
                                        <p:cTn id="88" dur="500"/>
                                        <p:tgtEl>
                                          <p:spTgt spid="94249"/>
                                        </p:tgtEl>
                                      </p:cBhvr>
                                    </p:animEffect>
                                  </p:childTnLst>
                                  <p:subTnLst>
                                    <p:audio>
                                      <p:cMediaNode>
                                        <p:cTn display="0" masterRel="sameClick">
                                          <p:stCondLst>
                                            <p:cond evt="begin" delay="0">
                                              <p:tn val="86"/>
                                            </p:cond>
                                          </p:stCondLst>
                                          <p:endCondLst>
                                            <p:cond evt="onStopAudio" delay="0">
                                              <p:tgtEl>
                                                <p:sldTgt/>
                                              </p:tgtEl>
                                            </p:cond>
                                          </p:endCondLst>
                                        </p:cTn>
                                        <p:tgtEl>
                                          <p:sndTgt r:embed="rId1" name="CAMERA.WAV"/>
                                        </p:tgtEl>
                                      </p:cMediaNode>
                                    </p:audio>
                                  </p:subTnLst>
                                </p:cTn>
                              </p:par>
                            </p:childTnLst>
                          </p:cTn>
                        </p:par>
                        <p:par>
                          <p:cTn id="89" fill="hold">
                            <p:stCondLst>
                              <p:cond delay="500"/>
                            </p:stCondLst>
                            <p:childTnLst>
                              <p:par>
                                <p:cTn id="90" presetID="22" presetClass="entr" presetSubtype="1" fill="hold" grpId="0" nodeType="afterEffect">
                                  <p:stCondLst>
                                    <p:cond delay="1000"/>
                                  </p:stCondLst>
                                  <p:iterate type="lt">
                                    <p:tmPct val="100000"/>
                                  </p:iterate>
                                  <p:childTnLst>
                                    <p:set>
                                      <p:cBhvr>
                                        <p:cTn id="91" dur="1" fill="hold">
                                          <p:stCondLst>
                                            <p:cond delay="0"/>
                                          </p:stCondLst>
                                        </p:cTn>
                                        <p:tgtEl>
                                          <p:spTgt spid="94264">
                                            <p:txEl>
                                              <p:pRg st="0" end="0"/>
                                            </p:txEl>
                                          </p:spTgt>
                                        </p:tgtEl>
                                        <p:attrNameLst>
                                          <p:attrName>style.visibility</p:attrName>
                                        </p:attrNameLst>
                                      </p:cBhvr>
                                      <p:to>
                                        <p:strVal val="visible"/>
                                      </p:to>
                                    </p:set>
                                    <p:animEffect transition="in" filter="wipe(up)">
                                      <p:cBhvr>
                                        <p:cTn id="92" dur="75"/>
                                        <p:tgtEl>
                                          <p:spTgt spid="94264">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TYPE.WAV"/>
                                        </p:tgtEl>
                                      </p:cMediaNode>
                                    </p:audio>
                                  </p:sub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94268"/>
                                        </p:tgtEl>
                                        <p:attrNameLst>
                                          <p:attrName>style.visibility</p:attrName>
                                        </p:attrNameLst>
                                      </p:cBhvr>
                                      <p:to>
                                        <p:strVal val="visible"/>
                                      </p:to>
                                    </p:set>
                                    <p:animEffect transition="in" filter="blinds(horizontal)">
                                      <p:cBhvr>
                                        <p:cTn id="97" dur="500"/>
                                        <p:tgtEl>
                                          <p:spTgt spid="94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31" grpId="0" advAuto="1000" autoUpdateAnimBg="0" build="p"/>
      <p:bldP spid="94232" grpId="0" advAuto="1000" autoUpdateAnimBg="0" build="p"/>
      <p:bldP spid="94233" grpId="0" advAuto="1000" autoUpdateAnimBg="0" build="p"/>
      <p:bldP spid="94259" grpId="0" advAuto="1000" autoUpdateAnimBg="0" build="p"/>
      <p:bldP spid="94260" grpId="0" advAuto="1000" autoUpdateAnimBg="0" build="p"/>
      <p:bldP spid="94261" grpId="0" advAuto="1000" autoUpdateAnimBg="0" build="p"/>
      <p:bldP spid="94262" grpId="0" advAuto="1000" autoUpdateAnimBg="0" build="p"/>
      <p:bldP spid="94263" grpId="0" advAuto="1000" autoUpdateAnimBg="0" build="p"/>
      <p:bldP spid="94264" grpId="0" advAuto="1000" autoUpdateAnimBg="0" build="p"/>
      <p:bldP spid="94265" grpId="0" advAuto="1000" autoUpdateAnimBg="0" build="p"/>
      <p:bldP spid="9426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页脚占位符 3"/>
          <p:cNvSpPr>
            <a:spLocks noGrp="1"/>
          </p:cNvSpPr>
          <p:nvPr>
            <p:ph type="ftr" sz="quarter" idx="10"/>
          </p:nvPr>
        </p:nvSpPr>
        <p:spPr/>
        <p:txBody>
          <a:bodyPr/>
          <a:lstStyle/>
          <a:p>
            <a:pPr>
              <a:defRPr/>
            </a:pPr>
            <a:r>
              <a:rPr lang="en-US" altLang="zh-CN"/>
              <a:t>BUPT SCST</a:t>
            </a:r>
            <a:endParaRPr lang="en-US" altLang="zh-CN"/>
          </a:p>
        </p:txBody>
      </p:sp>
      <p:sp>
        <p:nvSpPr>
          <p:cNvPr id="12" name="日期占位符 5"/>
          <p:cNvSpPr>
            <a:spLocks noGrp="1"/>
          </p:cNvSpPr>
          <p:nvPr>
            <p:ph type="dt" sz="quarter" idx="12"/>
          </p:nvPr>
        </p:nvSpPr>
        <p:spPr/>
        <p:txBody>
          <a:bodyPr/>
          <a:lstStyle/>
          <a:p>
            <a:pPr>
              <a:defRPr/>
            </a:pPr>
            <a:r>
              <a:rPr lang="en-US" altLang="zh-CN"/>
              <a:t>BUPT</a:t>
            </a:r>
            <a:endParaRPr lang="en-US" altLang="zh-CN"/>
          </a:p>
        </p:txBody>
      </p:sp>
      <p:sp>
        <p:nvSpPr>
          <p:cNvPr id="860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602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3) </a:t>
            </a:r>
            <a:r>
              <a:rPr lang="zh-CN" altLang="en-US" sz="2400" b="1" dirty="0" smtClean="0">
                <a:solidFill>
                  <a:srgbClr val="996600"/>
                </a:solidFill>
                <a:ea typeface="华文楷体" panose="02010600040101010101" pitchFamily="2" charset="-122"/>
              </a:rPr>
              <a:t>求活动</a:t>
            </a:r>
            <a:r>
              <a:rPr lang="en-US" altLang="zh-CN" sz="2400" b="1" dirty="0" err="1" smtClean="0">
                <a:solidFill>
                  <a:srgbClr val="996600"/>
                </a:solidFill>
                <a:ea typeface="华文楷体" panose="02010600040101010101" pitchFamily="2" charset="-122"/>
              </a:rPr>
              <a:t>a</a:t>
            </a:r>
            <a:r>
              <a:rPr lang="en-US" altLang="zh-CN" sz="2400" b="1" baseline="-25000" dirty="0" err="1" smtClean="0">
                <a:solidFill>
                  <a:srgbClr val="996600"/>
                </a:solidFill>
                <a:ea typeface="华文楷体" panose="02010600040101010101" pitchFamily="2" charset="-122"/>
              </a:rPr>
              <a:t>i</a:t>
            </a:r>
            <a:r>
              <a:rPr lang="zh-CN" altLang="en-US" sz="2400" b="1" dirty="0" smtClean="0">
                <a:solidFill>
                  <a:srgbClr val="996600"/>
                </a:solidFill>
                <a:ea typeface="华文楷体" panose="02010600040101010101" pitchFamily="2" charset="-122"/>
              </a:rPr>
              <a:t>的最早开始时间</a:t>
            </a:r>
            <a:r>
              <a:rPr lang="en-US" altLang="zh-CN" sz="2400" b="1" dirty="0" smtClean="0">
                <a:solidFill>
                  <a:srgbClr val="996600"/>
                </a:solidFill>
                <a:ea typeface="华文楷体" panose="02010600040101010101" pitchFamily="2" charset="-122"/>
              </a:rPr>
              <a:t>e(</a:t>
            </a:r>
            <a:r>
              <a:rPr lang="en-US" altLang="zh-CN" sz="2400" b="1" dirty="0" err="1" smtClean="0">
                <a:solidFill>
                  <a:srgbClr val="996600"/>
                </a:solidFill>
                <a:ea typeface="华文楷体" panose="02010600040101010101" pitchFamily="2" charset="-122"/>
              </a:rPr>
              <a:t>i</a:t>
            </a:r>
            <a:r>
              <a:rPr lang="en-US" altLang="zh-CN" sz="2400" b="1" dirty="0" smtClean="0">
                <a:solidFill>
                  <a:srgbClr val="996600"/>
                </a:solidFill>
                <a:ea typeface="华文楷体" panose="02010600040101010101" pitchFamily="2" charset="-122"/>
              </a:rPr>
              <a:t>)</a:t>
            </a:r>
            <a:r>
              <a:rPr lang="zh-CN" altLang="zh-CN" sz="2400" b="1" dirty="0" smtClean="0">
                <a:solidFill>
                  <a:srgbClr val="996600"/>
                </a:solidFill>
                <a:ea typeface="华文楷体" panose="02010600040101010101" pitchFamily="2" charset="-122"/>
              </a:rPr>
              <a:t>和</a:t>
            </a:r>
            <a:r>
              <a:rPr lang="zh-CN" altLang="en-US" sz="2400" b="1" dirty="0" smtClean="0">
                <a:solidFill>
                  <a:srgbClr val="996600"/>
                </a:solidFill>
                <a:ea typeface="华文楷体" panose="02010600040101010101" pitchFamily="2" charset="-122"/>
              </a:rPr>
              <a:t>最迟开始时间</a:t>
            </a:r>
            <a:r>
              <a:rPr lang="en-US" altLang="zh-CN" sz="2400" b="1" dirty="0" smtClean="0">
                <a:solidFill>
                  <a:srgbClr val="996600"/>
                </a:solidFill>
                <a:ea typeface="华文楷体" panose="02010600040101010101" pitchFamily="2" charset="-122"/>
              </a:rPr>
              <a:t>l(</a:t>
            </a:r>
            <a:r>
              <a:rPr lang="en-US" altLang="zh-CN" sz="2400" b="1" dirty="0" err="1" smtClean="0">
                <a:solidFill>
                  <a:srgbClr val="996600"/>
                </a:solidFill>
                <a:ea typeface="华文楷体" panose="02010600040101010101" pitchFamily="2" charset="-122"/>
              </a:rPr>
              <a:t>i</a:t>
            </a:r>
            <a:r>
              <a:rPr lang="en-US" altLang="zh-CN" sz="2400" b="1" dirty="0" smtClean="0">
                <a:solidFill>
                  <a:srgbClr val="996600"/>
                </a:solidFill>
                <a:ea typeface="华文楷体" panose="02010600040101010101" pitchFamily="2" charset="-122"/>
              </a:rPr>
              <a:t>)</a:t>
            </a:r>
            <a:br>
              <a:rPr lang="en-US" altLang="zh-CN" sz="2400" b="1" dirty="0" smtClean="0">
                <a:solidFill>
                  <a:srgbClr val="996600"/>
                </a:solidFill>
                <a:ea typeface="华文楷体" panose="02010600040101010101" pitchFamily="2" charset="-122"/>
              </a:rPr>
            </a:br>
            <a:r>
              <a:rPr lang="en-US" altLang="zh-CN" sz="2400" b="1" dirty="0" smtClean="0">
                <a:solidFill>
                  <a:srgbClr val="996600"/>
                </a:solidFill>
                <a:ea typeface="华文楷体" panose="02010600040101010101" pitchFamily="2" charset="-122"/>
              </a:rPr>
              <a:t>     </a:t>
            </a:r>
            <a:r>
              <a:rPr lang="zh-CN" altLang="en-US" sz="2400" b="1" dirty="0" smtClean="0">
                <a:solidFill>
                  <a:srgbClr val="996600"/>
                </a:solidFill>
                <a:ea typeface="华文楷体" panose="02010600040101010101" pitchFamily="2" charset="-122"/>
              </a:rPr>
              <a:t>确定关键活动</a:t>
            </a:r>
            <a:r>
              <a:rPr lang="en-US" altLang="zh-CN" sz="2400" b="1" dirty="0" smtClean="0">
                <a:solidFill>
                  <a:srgbClr val="996600"/>
                </a:solidFill>
                <a:ea typeface="华文楷体" panose="02010600040101010101" pitchFamily="2" charset="-122"/>
              </a:rPr>
              <a:t>e(</a:t>
            </a:r>
            <a:r>
              <a:rPr lang="en-US" altLang="zh-CN" sz="2400" b="1" dirty="0" err="1" smtClean="0">
                <a:solidFill>
                  <a:srgbClr val="996600"/>
                </a:solidFill>
                <a:ea typeface="华文楷体" panose="02010600040101010101" pitchFamily="2" charset="-122"/>
              </a:rPr>
              <a:t>i</a:t>
            </a:r>
            <a:r>
              <a:rPr lang="en-US" altLang="zh-CN" sz="2400" b="1" dirty="0" smtClean="0">
                <a:solidFill>
                  <a:srgbClr val="996600"/>
                </a:solidFill>
                <a:ea typeface="华文楷体" panose="02010600040101010101" pitchFamily="2" charset="-122"/>
              </a:rPr>
              <a:t>)=l(</a:t>
            </a:r>
            <a:r>
              <a:rPr lang="en-US" altLang="zh-CN" sz="2400" b="1" dirty="0" err="1" smtClean="0">
                <a:solidFill>
                  <a:srgbClr val="996600"/>
                </a:solidFill>
                <a:ea typeface="华文楷体" panose="02010600040101010101" pitchFamily="2" charset="-122"/>
              </a:rPr>
              <a:t>i</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spcBef>
                <a:spcPct val="50000"/>
              </a:spcBef>
              <a:buFont typeface="Wingdings" panose="05000000000000000000" pitchFamily="2" charset="2"/>
              <a:buNone/>
            </a:pPr>
            <a:r>
              <a:rPr lang="en-US" altLang="zh-CN" sz="2400" dirty="0" smtClean="0">
                <a:ea typeface="华文楷体" panose="02010600040101010101" pitchFamily="2" charset="-122"/>
              </a:rPr>
              <a:t>           e(</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(j)</a:t>
            </a:r>
            <a:endParaRPr lang="en-US" altLang="zh-CN" sz="2400" dirty="0" smtClean="0">
              <a:ea typeface="华文楷体" panose="02010600040101010101" pitchFamily="2" charset="-122"/>
            </a:endParaRPr>
          </a:p>
          <a:p>
            <a:pPr eaLnBrk="1" hangingPunct="1">
              <a:spcBef>
                <a:spcPct val="50000"/>
              </a:spcBef>
              <a:buFont typeface="Wingdings" panose="05000000000000000000" pitchFamily="2" charset="2"/>
              <a:buNone/>
            </a:pPr>
            <a:r>
              <a:rPr lang="en-US" altLang="zh-CN" sz="2400" dirty="0" smtClean="0">
                <a:ea typeface="华文楷体" panose="02010600040101010101" pitchFamily="2" charset="-122"/>
              </a:rPr>
              <a:t>            l(</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(k)-</a:t>
            </a:r>
            <a:r>
              <a:rPr lang="en-US" altLang="zh-CN" sz="2400" dirty="0" err="1" smtClean="0">
                <a:ea typeface="华文楷体" panose="02010600040101010101" pitchFamily="2" charset="-122"/>
              </a:rPr>
              <a:t>dut</a:t>
            </a:r>
            <a:r>
              <a:rPr lang="en-US" altLang="zh-CN" sz="2400" dirty="0" smtClean="0">
                <a:ea typeface="华文楷体" panose="02010600040101010101" pitchFamily="2" charset="-122"/>
              </a:rPr>
              <a:t>(&lt;</a:t>
            </a:r>
            <a:r>
              <a:rPr lang="en-US" altLang="zh-CN" sz="2400" dirty="0" err="1" smtClean="0">
                <a:ea typeface="华文楷体" panose="02010600040101010101" pitchFamily="2" charset="-122"/>
              </a:rPr>
              <a:t>j,k</a:t>
            </a:r>
            <a:r>
              <a:rPr lang="en-US" altLang="zh-CN" sz="2400" dirty="0" smtClean="0">
                <a:ea typeface="华文楷体" panose="02010600040101010101" pitchFamily="2" charset="-122"/>
              </a:rPr>
              <a:t>&gt;)</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endParaRPr lang="en-US" altLang="zh-CN" sz="2400" b="1" dirty="0" smtClean="0">
              <a:solidFill>
                <a:srgbClr val="996600"/>
              </a:solidFill>
              <a:ea typeface="华文楷体" panose="02010600040101010101" pitchFamily="2" charset="-122"/>
            </a:endParaRPr>
          </a:p>
        </p:txBody>
      </p:sp>
      <p:sp>
        <p:nvSpPr>
          <p:cNvPr id="86022" name="AutoShape 4"/>
          <p:cNvSpPr/>
          <p:nvPr/>
        </p:nvSpPr>
        <p:spPr bwMode="auto">
          <a:xfrm>
            <a:off x="1143000" y="2209800"/>
            <a:ext cx="304800" cy="838200"/>
          </a:xfrm>
          <a:prstGeom prst="leftBrace">
            <a:avLst>
              <a:gd name="adj1" fmla="val 2291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6023" name="Oval 5"/>
          <p:cNvSpPr>
            <a:spLocks noChangeArrowheads="1"/>
          </p:cNvSpPr>
          <p:nvPr/>
        </p:nvSpPr>
        <p:spPr bwMode="auto">
          <a:xfrm>
            <a:off x="2209800" y="3810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6024" name="Oval 6"/>
          <p:cNvSpPr>
            <a:spLocks noChangeArrowheads="1"/>
          </p:cNvSpPr>
          <p:nvPr/>
        </p:nvSpPr>
        <p:spPr bwMode="auto">
          <a:xfrm>
            <a:off x="3581400" y="3810000"/>
            <a:ext cx="457200" cy="4572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6025" name="Line 7"/>
          <p:cNvSpPr>
            <a:spLocks noChangeShapeType="1"/>
          </p:cNvSpPr>
          <p:nvPr/>
        </p:nvSpPr>
        <p:spPr bwMode="auto">
          <a:xfrm>
            <a:off x="2667000" y="4038600"/>
            <a:ext cx="914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6026" name="Text Box 8"/>
          <p:cNvSpPr txBox="1">
            <a:spLocks noChangeArrowheads="1"/>
          </p:cNvSpPr>
          <p:nvPr/>
        </p:nvSpPr>
        <p:spPr bwMode="auto">
          <a:xfrm>
            <a:off x="2286000" y="38100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j</a:t>
            </a:r>
            <a:endParaRPr kumimoji="1" lang="en-US" altLang="zh-CN" sz="2400" dirty="0">
              <a:latin typeface="Times New Roman" panose="02020603050405020304" pitchFamily="18" charset="0"/>
              <a:ea typeface="华文楷体" panose="02010600040101010101" pitchFamily="2" charset="-122"/>
            </a:endParaRPr>
          </a:p>
        </p:txBody>
      </p:sp>
      <p:sp>
        <p:nvSpPr>
          <p:cNvPr id="86027" name="Text Box 9"/>
          <p:cNvSpPr txBox="1">
            <a:spLocks noChangeArrowheads="1"/>
          </p:cNvSpPr>
          <p:nvPr/>
        </p:nvSpPr>
        <p:spPr bwMode="auto">
          <a:xfrm>
            <a:off x="3657600" y="3810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k</a:t>
            </a:r>
            <a:endParaRPr kumimoji="1" lang="en-US" altLang="zh-CN" sz="2400" dirty="0">
              <a:latin typeface="Times New Roman" panose="02020603050405020304" pitchFamily="18" charset="0"/>
              <a:ea typeface="华文楷体" panose="02010600040101010101" pitchFamily="2" charset="-122"/>
            </a:endParaRPr>
          </a:p>
        </p:txBody>
      </p:sp>
      <p:sp>
        <p:nvSpPr>
          <p:cNvPr id="86028" name="Text Box 10"/>
          <p:cNvSpPr txBox="1">
            <a:spLocks noChangeArrowheads="1"/>
          </p:cNvSpPr>
          <p:nvPr/>
        </p:nvSpPr>
        <p:spPr bwMode="auto">
          <a:xfrm>
            <a:off x="2895600" y="3581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err="1">
                <a:latin typeface="Times New Roman" panose="02020603050405020304" pitchFamily="18" charset="0"/>
                <a:ea typeface="华文楷体" panose="02010600040101010101" pitchFamily="2" charset="-122"/>
              </a:rPr>
              <a:t>a</a:t>
            </a:r>
            <a:r>
              <a:rPr kumimoji="1" lang="en-US" altLang="zh-CN" sz="2400" baseline="-25000" dirty="0" err="1">
                <a:latin typeface="Times New Roman" panose="02020603050405020304" pitchFamily="18" charset="0"/>
                <a:ea typeface="华文楷体" panose="02010600040101010101" pitchFamily="2" charset="-122"/>
              </a:rPr>
              <a:t>i</a:t>
            </a:r>
            <a:endParaRPr kumimoji="1"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页脚占位符 3"/>
          <p:cNvSpPr>
            <a:spLocks noGrp="1"/>
          </p:cNvSpPr>
          <p:nvPr>
            <p:ph type="ftr" sz="quarter" idx="10"/>
          </p:nvPr>
        </p:nvSpPr>
        <p:spPr/>
        <p:txBody>
          <a:bodyPr/>
          <a:lstStyle/>
          <a:p>
            <a:pPr>
              <a:defRPr/>
            </a:pPr>
            <a:r>
              <a:rPr lang="en-US" altLang="zh-CN"/>
              <a:t>BUPT SCST</a:t>
            </a:r>
            <a:endParaRPr lang="en-US" altLang="zh-CN"/>
          </a:p>
        </p:txBody>
      </p:sp>
      <p:sp>
        <p:nvSpPr>
          <p:cNvPr id="76" name="日期占位符 5"/>
          <p:cNvSpPr>
            <a:spLocks noGrp="1"/>
          </p:cNvSpPr>
          <p:nvPr>
            <p:ph type="dt" sz="quarter" idx="12"/>
          </p:nvPr>
        </p:nvSpPr>
        <p:spPr/>
        <p:txBody>
          <a:bodyPr/>
          <a:lstStyle/>
          <a:p>
            <a:pPr>
              <a:defRPr/>
            </a:pPr>
            <a:r>
              <a:rPr lang="en-US" altLang="zh-CN"/>
              <a:t>BUPT</a:t>
            </a:r>
            <a:endParaRPr lang="en-US" altLang="zh-CN"/>
          </a:p>
        </p:txBody>
      </p:sp>
      <p:sp>
        <p:nvSpPr>
          <p:cNvPr id="870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7045" name="Rectangle 3"/>
          <p:cNvSpPr>
            <a:spLocks noGrp="1" noChangeArrowheads="1"/>
          </p:cNvSpPr>
          <p:nvPr>
            <p:ph type="body" idx="1"/>
          </p:nvPr>
        </p:nvSpPr>
        <p:spPr>
          <a:xfrm>
            <a:off x="457200" y="1066800"/>
            <a:ext cx="8229600" cy="5248275"/>
          </a:xfrm>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1600" dirty="0" smtClean="0">
                <a:solidFill>
                  <a:schemeClr val="accent2"/>
                </a:solidFill>
                <a:ea typeface="华文楷体" panose="02010600040101010101" pitchFamily="2" charset="-122"/>
                <a:sym typeface="Symbol" panose="05050102010706020507" pitchFamily="18" charset="2"/>
              </a:rPr>
              <a:t>j          1    2    3    4    5    6    7    8    9</a:t>
            </a:r>
            <a:endParaRPr lang="en-US" altLang="zh-CN" sz="1600" dirty="0" smtClean="0">
              <a:solidFill>
                <a:schemeClr val="accent2"/>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1600" dirty="0" err="1" smtClean="0">
                <a:solidFill>
                  <a:schemeClr val="accent2"/>
                </a:solidFill>
                <a:ea typeface="华文楷体" panose="02010600040101010101" pitchFamily="2" charset="-122"/>
                <a:sym typeface="Symbol" panose="05050102010706020507" pitchFamily="18" charset="2"/>
              </a:rPr>
              <a:t>ve</a:t>
            </a:r>
            <a:r>
              <a:rPr lang="en-US" altLang="zh-CN" sz="1600" dirty="0" smtClean="0">
                <a:solidFill>
                  <a:schemeClr val="accent2"/>
                </a:solidFill>
                <a:ea typeface="华文楷体" panose="02010600040101010101" pitchFamily="2" charset="-122"/>
                <a:sym typeface="Symbol" panose="05050102010706020507" pitchFamily="18" charset="2"/>
              </a:rPr>
              <a:t>(j)     0    6    4    5    7    7   16  14  18</a:t>
            </a:r>
            <a:endParaRPr lang="en-US" altLang="zh-CN" sz="1600" dirty="0" smtClean="0">
              <a:solidFill>
                <a:schemeClr val="accent2"/>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1600" dirty="0" smtClean="0">
                <a:solidFill>
                  <a:schemeClr val="accent2"/>
                </a:solidFill>
                <a:ea typeface="华文楷体" panose="02010600040101010101" pitchFamily="2" charset="-122"/>
              </a:rPr>
              <a:t> </a:t>
            </a:r>
            <a:r>
              <a:rPr lang="en-US" altLang="zh-CN" sz="1600" dirty="0" err="1" smtClean="0">
                <a:solidFill>
                  <a:schemeClr val="accent2"/>
                </a:solidFill>
                <a:ea typeface="华文楷体" panose="02010600040101010101" pitchFamily="2" charset="-122"/>
              </a:rPr>
              <a:t>vl</a:t>
            </a:r>
            <a:r>
              <a:rPr lang="en-US" altLang="zh-CN" sz="1600" dirty="0" smtClean="0">
                <a:solidFill>
                  <a:schemeClr val="accent2"/>
                </a:solidFill>
                <a:ea typeface="华文楷体" panose="02010600040101010101" pitchFamily="2" charset="-122"/>
              </a:rPr>
              <a:t>(j)     0    6    6    8    7   10  16  14  18</a:t>
            </a:r>
            <a:endParaRPr lang="en-US" altLang="zh-CN" sz="1600" dirty="0" smtClean="0">
              <a:solidFill>
                <a:schemeClr val="accent1"/>
              </a:solidFill>
              <a:ea typeface="华文楷体" panose="02010600040101010101" pitchFamily="2" charset="-122"/>
            </a:endParaRPr>
          </a:p>
          <a:p>
            <a:pPr eaLnBrk="1" hangingPunct="1">
              <a:buFont typeface="Wingdings" panose="05000000000000000000" pitchFamily="2" charset="2"/>
              <a:buNone/>
            </a:pPr>
            <a:endParaRPr lang="en-US" altLang="zh-CN" sz="1600" dirty="0" smtClean="0">
              <a:solidFill>
                <a:schemeClr val="accent1"/>
              </a:solidFill>
              <a:ea typeface="华文楷体" panose="02010600040101010101" pitchFamily="2" charset="-122"/>
            </a:endParaRPr>
          </a:p>
          <a:p>
            <a:pPr eaLnBrk="1" hangingPunct="1">
              <a:spcBef>
                <a:spcPct val="50000"/>
              </a:spcBef>
              <a:buFont typeface="Wingdings" panose="05000000000000000000" pitchFamily="2" charset="2"/>
              <a:buNone/>
            </a:pPr>
            <a:r>
              <a:rPr lang="en-US" altLang="zh-CN" sz="1600" dirty="0" smtClean="0">
                <a:solidFill>
                  <a:schemeClr val="accent2"/>
                </a:solidFill>
                <a:ea typeface="华文楷体" panose="02010600040101010101" pitchFamily="2" charset="-122"/>
                <a:sym typeface="Symbol" panose="05050102010706020507" pitchFamily="18" charset="2"/>
              </a:rPr>
              <a:t>  </a:t>
            </a:r>
            <a:r>
              <a:rPr lang="en-US" altLang="zh-CN" sz="1600" dirty="0" err="1" smtClean="0">
                <a:solidFill>
                  <a:schemeClr val="accent2"/>
                </a:solidFill>
                <a:ea typeface="华文楷体" panose="02010600040101010101" pitchFamily="2" charset="-122"/>
                <a:sym typeface="Symbol" panose="05050102010706020507" pitchFamily="18" charset="2"/>
              </a:rPr>
              <a:t>i</a:t>
            </a:r>
            <a:r>
              <a:rPr lang="en-US" altLang="zh-CN" sz="1600" dirty="0" smtClean="0">
                <a:solidFill>
                  <a:schemeClr val="accent2"/>
                </a:solidFill>
                <a:ea typeface="华文楷体" panose="02010600040101010101" pitchFamily="2" charset="-122"/>
                <a:sym typeface="Symbol" panose="05050102010706020507" pitchFamily="18" charset="2"/>
              </a:rPr>
              <a:t>      </a:t>
            </a:r>
            <a:r>
              <a:rPr lang="en-US" altLang="zh-CN" sz="1600" b="1" dirty="0" smtClean="0">
                <a:ea typeface="华文楷体" panose="02010600040101010101" pitchFamily="2" charset="-122"/>
                <a:sym typeface="Symbol" panose="05050102010706020507" pitchFamily="18" charset="2"/>
              </a:rPr>
              <a:t>1</a:t>
            </a:r>
            <a:r>
              <a:rPr lang="en-US" altLang="zh-CN" sz="1600" dirty="0" smtClean="0">
                <a:solidFill>
                  <a:srgbClr val="FF3300"/>
                </a:solidFill>
                <a:ea typeface="华文楷体" panose="02010600040101010101" pitchFamily="2" charset="-122"/>
                <a:sym typeface="Symbol" panose="05050102010706020507" pitchFamily="18" charset="2"/>
              </a:rPr>
              <a:t> </a:t>
            </a:r>
            <a:r>
              <a:rPr lang="en-US" altLang="zh-CN" sz="1600" dirty="0" smtClean="0">
                <a:solidFill>
                  <a:schemeClr val="accent2"/>
                </a:solidFill>
                <a:ea typeface="华文楷体" panose="02010600040101010101" pitchFamily="2" charset="-122"/>
                <a:sym typeface="Symbol" panose="05050102010706020507" pitchFamily="18" charset="2"/>
              </a:rPr>
              <a:t>   2    3    </a:t>
            </a:r>
            <a:r>
              <a:rPr lang="en-US" altLang="zh-CN" sz="1600" b="1" dirty="0" smtClean="0">
                <a:ea typeface="华文楷体" panose="02010600040101010101" pitchFamily="2" charset="-122"/>
                <a:sym typeface="Symbol" panose="05050102010706020507" pitchFamily="18" charset="2"/>
              </a:rPr>
              <a:t>4</a:t>
            </a:r>
            <a:r>
              <a:rPr lang="en-US" altLang="zh-CN" sz="1600" dirty="0" smtClean="0">
                <a:solidFill>
                  <a:srgbClr val="FF3300"/>
                </a:solidFill>
                <a:ea typeface="华文楷体" panose="02010600040101010101" pitchFamily="2" charset="-122"/>
                <a:sym typeface="Symbol" panose="05050102010706020507" pitchFamily="18" charset="2"/>
              </a:rPr>
              <a:t> </a:t>
            </a:r>
            <a:r>
              <a:rPr lang="en-US" altLang="zh-CN" sz="1600" dirty="0" smtClean="0">
                <a:solidFill>
                  <a:schemeClr val="accent2"/>
                </a:solidFill>
                <a:ea typeface="华文楷体" panose="02010600040101010101" pitchFamily="2" charset="-122"/>
                <a:sym typeface="Symbol" panose="05050102010706020507" pitchFamily="18" charset="2"/>
              </a:rPr>
              <a:t>   5    6    </a:t>
            </a:r>
            <a:r>
              <a:rPr lang="en-US" altLang="zh-CN" sz="1600" b="1" dirty="0" smtClean="0">
                <a:ea typeface="华文楷体" panose="02010600040101010101" pitchFamily="2" charset="-122"/>
                <a:sym typeface="Symbol" panose="05050102010706020507" pitchFamily="18" charset="2"/>
              </a:rPr>
              <a:t>7</a:t>
            </a:r>
            <a:r>
              <a:rPr lang="en-US" altLang="zh-CN" sz="1600" b="1" dirty="0" smtClean="0">
                <a:solidFill>
                  <a:srgbClr val="996600"/>
                </a:solidFill>
                <a:ea typeface="华文楷体" panose="02010600040101010101" pitchFamily="2" charset="-122"/>
                <a:sym typeface="Symbol" panose="05050102010706020507" pitchFamily="18" charset="2"/>
              </a:rPr>
              <a:t>    </a:t>
            </a:r>
            <a:r>
              <a:rPr lang="en-US" altLang="zh-CN" sz="1600" b="1" dirty="0" smtClean="0">
                <a:ea typeface="华文楷体" panose="02010600040101010101" pitchFamily="2" charset="-122"/>
                <a:sym typeface="Symbol" panose="05050102010706020507" pitchFamily="18" charset="2"/>
              </a:rPr>
              <a:t>8</a:t>
            </a:r>
            <a:r>
              <a:rPr lang="en-US" altLang="zh-CN" sz="1600" dirty="0" smtClean="0">
                <a:solidFill>
                  <a:schemeClr val="accent2"/>
                </a:solidFill>
                <a:ea typeface="华文楷体" panose="02010600040101010101" pitchFamily="2" charset="-122"/>
                <a:sym typeface="Symbol" panose="05050102010706020507" pitchFamily="18" charset="2"/>
              </a:rPr>
              <a:t>    9    </a:t>
            </a:r>
            <a:r>
              <a:rPr lang="en-US" altLang="zh-CN" sz="1600" b="1" dirty="0" smtClean="0">
                <a:ea typeface="华文楷体" panose="02010600040101010101" pitchFamily="2" charset="-122"/>
                <a:sym typeface="Symbol" panose="05050102010706020507" pitchFamily="18" charset="2"/>
              </a:rPr>
              <a:t>10</a:t>
            </a:r>
            <a:r>
              <a:rPr lang="en-US" altLang="zh-CN" sz="1600" b="1" dirty="0" smtClean="0">
                <a:solidFill>
                  <a:srgbClr val="996600"/>
                </a:solidFill>
                <a:ea typeface="华文楷体" panose="02010600040101010101" pitchFamily="2" charset="-122"/>
                <a:sym typeface="Symbol" panose="05050102010706020507" pitchFamily="18" charset="2"/>
              </a:rPr>
              <a:t>    </a:t>
            </a:r>
            <a:r>
              <a:rPr lang="en-US" altLang="zh-CN" sz="1600" b="1" dirty="0" smtClean="0">
                <a:ea typeface="华文楷体" panose="02010600040101010101" pitchFamily="2" charset="-122"/>
                <a:sym typeface="Symbol" panose="05050102010706020507" pitchFamily="18" charset="2"/>
              </a:rPr>
              <a:t>11</a:t>
            </a:r>
            <a:endParaRPr lang="en-US" altLang="zh-CN" sz="1600" b="1" dirty="0" smtClean="0">
              <a:ea typeface="华文楷体" panose="02010600040101010101" pitchFamily="2" charset="-122"/>
              <a:sym typeface="Symbol" panose="05050102010706020507" pitchFamily="18" charset="2"/>
            </a:endParaRPr>
          </a:p>
          <a:p>
            <a:pPr eaLnBrk="1" hangingPunct="1">
              <a:spcBef>
                <a:spcPct val="50000"/>
              </a:spcBef>
              <a:buFont typeface="Wingdings" panose="05000000000000000000" pitchFamily="2" charset="2"/>
              <a:buNone/>
            </a:pPr>
            <a:r>
              <a:rPr lang="en-US" altLang="zh-CN" sz="1600" dirty="0" smtClean="0">
                <a:solidFill>
                  <a:schemeClr val="accent2"/>
                </a:solidFill>
                <a:ea typeface="华文楷体" panose="02010600040101010101" pitchFamily="2" charset="-122"/>
              </a:rPr>
              <a:t>e(</a:t>
            </a:r>
            <a:r>
              <a:rPr lang="en-US" altLang="zh-CN" sz="1600" dirty="0" err="1" smtClean="0">
                <a:solidFill>
                  <a:schemeClr val="accent2"/>
                </a:solidFill>
                <a:ea typeface="华文楷体" panose="02010600040101010101" pitchFamily="2" charset="-122"/>
              </a:rPr>
              <a:t>i</a:t>
            </a:r>
            <a:r>
              <a:rPr lang="en-US" altLang="zh-CN" sz="1600" dirty="0" smtClean="0">
                <a:solidFill>
                  <a:schemeClr val="accent2"/>
                </a:solidFill>
                <a:ea typeface="华文楷体" panose="02010600040101010101" pitchFamily="2" charset="-122"/>
              </a:rPr>
              <a:t>)    </a:t>
            </a:r>
            <a:r>
              <a:rPr lang="en-US" altLang="zh-CN" sz="1600" dirty="0" smtClean="0">
                <a:solidFill>
                  <a:srgbClr val="996600"/>
                </a:solidFill>
                <a:ea typeface="华文楷体" panose="02010600040101010101" pitchFamily="2" charset="-122"/>
              </a:rPr>
              <a:t>0</a:t>
            </a:r>
            <a:r>
              <a:rPr lang="en-US" altLang="zh-CN" sz="1600" dirty="0" smtClean="0">
                <a:solidFill>
                  <a:schemeClr val="accent2"/>
                </a:solidFill>
                <a:ea typeface="华文楷体" panose="02010600040101010101" pitchFamily="2" charset="-122"/>
              </a:rPr>
              <a:t>    0    0   </a:t>
            </a:r>
            <a:r>
              <a:rPr lang="en-US" altLang="zh-CN" sz="1600" dirty="0" smtClean="0">
                <a:solidFill>
                  <a:srgbClr val="996600"/>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6</a:t>
            </a:r>
            <a:r>
              <a:rPr lang="en-US" altLang="zh-CN" sz="1600" dirty="0" smtClean="0">
                <a:solidFill>
                  <a:srgbClr val="996600"/>
                </a:solidFill>
                <a:ea typeface="华文楷体" panose="02010600040101010101" pitchFamily="2" charset="-122"/>
              </a:rPr>
              <a:t>  </a:t>
            </a:r>
            <a:r>
              <a:rPr lang="en-US" altLang="zh-CN" sz="1600" dirty="0" smtClean="0">
                <a:solidFill>
                  <a:schemeClr val="accent2"/>
                </a:solidFill>
                <a:ea typeface="华文楷体" panose="02010600040101010101" pitchFamily="2" charset="-122"/>
              </a:rPr>
              <a:t>  4    5    </a:t>
            </a:r>
            <a:r>
              <a:rPr lang="en-US" altLang="zh-CN" sz="1600" b="1" dirty="0" smtClean="0">
                <a:solidFill>
                  <a:srgbClr val="996600"/>
                </a:solidFill>
                <a:ea typeface="华文楷体" panose="02010600040101010101" pitchFamily="2" charset="-122"/>
              </a:rPr>
              <a:t>7</a:t>
            </a:r>
            <a:r>
              <a:rPr lang="en-US" altLang="zh-CN" sz="1600" dirty="0" smtClean="0">
                <a:solidFill>
                  <a:schemeClr val="accent2"/>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7</a:t>
            </a:r>
            <a:r>
              <a:rPr lang="en-US" altLang="zh-CN" sz="1600" dirty="0" smtClean="0">
                <a:solidFill>
                  <a:schemeClr val="accent2"/>
                </a:solidFill>
                <a:ea typeface="华文楷体" panose="02010600040101010101" pitchFamily="2" charset="-122"/>
              </a:rPr>
              <a:t>    7    </a:t>
            </a:r>
            <a:r>
              <a:rPr lang="en-US" altLang="zh-CN" sz="1600" b="1" dirty="0" smtClean="0">
                <a:solidFill>
                  <a:srgbClr val="996600"/>
                </a:solidFill>
                <a:ea typeface="华文楷体" panose="02010600040101010101" pitchFamily="2" charset="-122"/>
              </a:rPr>
              <a:t>16</a:t>
            </a:r>
            <a:r>
              <a:rPr lang="en-US" altLang="zh-CN" sz="1600" dirty="0" smtClean="0">
                <a:solidFill>
                  <a:schemeClr val="accent2"/>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14</a:t>
            </a:r>
            <a:endParaRPr lang="en-US" altLang="zh-CN" sz="16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1600" dirty="0" smtClean="0">
                <a:solidFill>
                  <a:schemeClr val="accent2"/>
                </a:solidFill>
                <a:ea typeface="华文楷体" panose="02010600040101010101" pitchFamily="2" charset="-122"/>
              </a:rPr>
              <a:t>l(</a:t>
            </a:r>
            <a:r>
              <a:rPr lang="en-US" altLang="zh-CN" sz="1600" dirty="0" err="1" smtClean="0">
                <a:solidFill>
                  <a:schemeClr val="accent2"/>
                </a:solidFill>
                <a:ea typeface="华文楷体" panose="02010600040101010101" pitchFamily="2" charset="-122"/>
              </a:rPr>
              <a:t>i</a:t>
            </a:r>
            <a:r>
              <a:rPr lang="en-US" altLang="zh-CN" sz="1600" dirty="0" smtClean="0">
                <a:solidFill>
                  <a:schemeClr val="accent2"/>
                </a:solidFill>
                <a:ea typeface="华文楷体" panose="02010600040101010101" pitchFamily="2" charset="-122"/>
              </a:rPr>
              <a:t>)     </a:t>
            </a:r>
            <a:r>
              <a:rPr lang="en-US" altLang="zh-CN" sz="1600" dirty="0" smtClean="0">
                <a:solidFill>
                  <a:srgbClr val="996600"/>
                </a:solidFill>
                <a:ea typeface="华文楷体" panose="02010600040101010101" pitchFamily="2" charset="-122"/>
              </a:rPr>
              <a:t>0</a:t>
            </a:r>
            <a:r>
              <a:rPr lang="en-US" altLang="zh-CN" sz="1600" dirty="0" smtClean="0">
                <a:solidFill>
                  <a:schemeClr val="accent2"/>
                </a:solidFill>
                <a:ea typeface="华文楷体" panose="02010600040101010101" pitchFamily="2" charset="-122"/>
              </a:rPr>
              <a:t>    2    3   </a:t>
            </a:r>
            <a:r>
              <a:rPr lang="en-US" altLang="zh-CN" sz="1600" dirty="0" smtClean="0">
                <a:solidFill>
                  <a:srgbClr val="996600"/>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6</a:t>
            </a:r>
            <a:r>
              <a:rPr lang="en-US" altLang="zh-CN" sz="1600" dirty="0" smtClean="0">
                <a:solidFill>
                  <a:srgbClr val="996600"/>
                </a:solidFill>
                <a:ea typeface="华文楷体" panose="02010600040101010101" pitchFamily="2" charset="-122"/>
              </a:rPr>
              <a:t>  </a:t>
            </a:r>
            <a:r>
              <a:rPr lang="en-US" altLang="zh-CN" sz="1600" dirty="0" smtClean="0">
                <a:solidFill>
                  <a:schemeClr val="accent2"/>
                </a:solidFill>
                <a:ea typeface="华文楷体" panose="02010600040101010101" pitchFamily="2" charset="-122"/>
              </a:rPr>
              <a:t>  6    8    </a:t>
            </a:r>
            <a:r>
              <a:rPr lang="en-US" altLang="zh-CN" sz="1600" b="1" dirty="0" smtClean="0">
                <a:solidFill>
                  <a:srgbClr val="996600"/>
                </a:solidFill>
                <a:ea typeface="华文楷体" panose="02010600040101010101" pitchFamily="2" charset="-122"/>
              </a:rPr>
              <a:t>7</a:t>
            </a:r>
            <a:r>
              <a:rPr lang="en-US" altLang="zh-CN" sz="1600" dirty="0" smtClean="0">
                <a:solidFill>
                  <a:schemeClr val="accent2"/>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7</a:t>
            </a:r>
            <a:r>
              <a:rPr lang="en-US" altLang="zh-CN" sz="1600" dirty="0" smtClean="0">
                <a:solidFill>
                  <a:schemeClr val="accent2"/>
                </a:solidFill>
                <a:ea typeface="华文楷体" panose="02010600040101010101" pitchFamily="2" charset="-122"/>
              </a:rPr>
              <a:t>    10  </a:t>
            </a:r>
            <a:r>
              <a:rPr lang="en-US" altLang="zh-CN" sz="1600" b="1" dirty="0" smtClean="0">
                <a:solidFill>
                  <a:srgbClr val="996600"/>
                </a:solidFill>
                <a:ea typeface="华文楷体" panose="02010600040101010101" pitchFamily="2" charset="-122"/>
              </a:rPr>
              <a:t>16</a:t>
            </a:r>
            <a:r>
              <a:rPr lang="en-US" altLang="zh-CN" sz="1600" dirty="0" smtClean="0">
                <a:solidFill>
                  <a:schemeClr val="accent2"/>
                </a:solidFill>
                <a:ea typeface="华文楷体" panose="02010600040101010101" pitchFamily="2" charset="-122"/>
              </a:rPr>
              <a:t>    </a:t>
            </a:r>
            <a:r>
              <a:rPr lang="en-US" altLang="zh-CN" sz="1600" b="1" dirty="0" smtClean="0">
                <a:solidFill>
                  <a:srgbClr val="996600"/>
                </a:solidFill>
                <a:ea typeface="华文楷体" panose="02010600040101010101" pitchFamily="2" charset="-122"/>
              </a:rPr>
              <a:t>14</a:t>
            </a:r>
            <a:endParaRPr lang="en-US" altLang="zh-CN" sz="16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en-US" altLang="zh-CN" sz="1600" dirty="0" smtClean="0">
              <a:ea typeface="华文楷体" panose="02010600040101010101" pitchFamily="2" charset="-122"/>
            </a:endParaRPr>
          </a:p>
        </p:txBody>
      </p:sp>
      <p:grpSp>
        <p:nvGrpSpPr>
          <p:cNvPr id="87046" name="Group 4"/>
          <p:cNvGrpSpPr/>
          <p:nvPr/>
        </p:nvGrpSpPr>
        <p:grpSpPr bwMode="auto">
          <a:xfrm>
            <a:off x="304800" y="3429000"/>
            <a:ext cx="5791200" cy="3429000"/>
            <a:chOff x="1680" y="1680"/>
            <a:chExt cx="3648" cy="2160"/>
          </a:xfrm>
        </p:grpSpPr>
        <p:sp>
          <p:nvSpPr>
            <p:cNvPr id="87076" name="Rectangle 5"/>
            <p:cNvSpPr>
              <a:spLocks noChangeArrowheads="1"/>
            </p:cNvSpPr>
            <p:nvPr/>
          </p:nvSpPr>
          <p:spPr bwMode="auto">
            <a:xfrm>
              <a:off x="1680" y="1680"/>
              <a:ext cx="3648" cy="216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77" name="Oval 6"/>
            <p:cNvSpPr>
              <a:spLocks noChangeArrowheads="1"/>
            </p:cNvSpPr>
            <p:nvPr/>
          </p:nvSpPr>
          <p:spPr bwMode="auto">
            <a:xfrm>
              <a:off x="1872" y="230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78" name="Text Box 7"/>
            <p:cNvSpPr txBox="1">
              <a:spLocks noChangeArrowheads="1"/>
            </p:cNvSpPr>
            <p:nvPr/>
          </p:nvSpPr>
          <p:spPr bwMode="auto">
            <a:xfrm>
              <a:off x="1872" y="225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87079" name="Oval 8"/>
            <p:cNvSpPr>
              <a:spLocks noChangeArrowheads="1"/>
            </p:cNvSpPr>
            <p:nvPr/>
          </p:nvSpPr>
          <p:spPr bwMode="auto">
            <a:xfrm>
              <a:off x="2736" y="1920"/>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80" name="Text Box 9"/>
            <p:cNvSpPr txBox="1">
              <a:spLocks noChangeArrowheads="1"/>
            </p:cNvSpPr>
            <p:nvPr/>
          </p:nvSpPr>
          <p:spPr bwMode="auto">
            <a:xfrm>
              <a:off x="2736" y="187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87081" name="Oval 10"/>
            <p:cNvSpPr>
              <a:spLocks noChangeArrowheads="1"/>
            </p:cNvSpPr>
            <p:nvPr/>
          </p:nvSpPr>
          <p:spPr bwMode="auto">
            <a:xfrm>
              <a:off x="2736" y="278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82" name="Text Box 11"/>
            <p:cNvSpPr txBox="1">
              <a:spLocks noChangeArrowheads="1"/>
            </p:cNvSpPr>
            <p:nvPr/>
          </p:nvSpPr>
          <p:spPr bwMode="auto">
            <a:xfrm>
              <a:off x="2736" y="273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87083" name="Oval 12"/>
            <p:cNvSpPr>
              <a:spLocks noChangeArrowheads="1"/>
            </p:cNvSpPr>
            <p:nvPr/>
          </p:nvSpPr>
          <p:spPr bwMode="auto">
            <a:xfrm>
              <a:off x="2736" y="326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84" name="Text Box 13"/>
            <p:cNvSpPr txBox="1">
              <a:spLocks noChangeArrowheads="1"/>
            </p:cNvSpPr>
            <p:nvPr/>
          </p:nvSpPr>
          <p:spPr bwMode="auto">
            <a:xfrm>
              <a:off x="2736" y="321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87085" name="Oval 14"/>
            <p:cNvSpPr>
              <a:spLocks noChangeArrowheads="1"/>
            </p:cNvSpPr>
            <p:nvPr/>
          </p:nvSpPr>
          <p:spPr bwMode="auto">
            <a:xfrm>
              <a:off x="3552" y="235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86" name="Text Box 15"/>
            <p:cNvSpPr txBox="1">
              <a:spLocks noChangeArrowheads="1"/>
            </p:cNvSpPr>
            <p:nvPr/>
          </p:nvSpPr>
          <p:spPr bwMode="auto">
            <a:xfrm>
              <a:off x="3552"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87087" name="Oval 16"/>
            <p:cNvSpPr>
              <a:spLocks noChangeArrowheads="1"/>
            </p:cNvSpPr>
            <p:nvPr/>
          </p:nvSpPr>
          <p:spPr bwMode="auto">
            <a:xfrm>
              <a:off x="3600" y="326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88" name="Text Box 17"/>
            <p:cNvSpPr txBox="1">
              <a:spLocks noChangeArrowheads="1"/>
            </p:cNvSpPr>
            <p:nvPr/>
          </p:nvSpPr>
          <p:spPr bwMode="auto">
            <a:xfrm>
              <a:off x="3600" y="321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87089" name="Oval 18"/>
            <p:cNvSpPr>
              <a:spLocks noChangeArrowheads="1"/>
            </p:cNvSpPr>
            <p:nvPr/>
          </p:nvSpPr>
          <p:spPr bwMode="auto">
            <a:xfrm>
              <a:off x="4176" y="187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90" name="Text Box 19"/>
            <p:cNvSpPr txBox="1">
              <a:spLocks noChangeArrowheads="1"/>
            </p:cNvSpPr>
            <p:nvPr/>
          </p:nvSpPr>
          <p:spPr bwMode="auto">
            <a:xfrm>
              <a:off x="4176" y="182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7</a:t>
              </a:r>
              <a:endParaRPr kumimoji="1" lang="en-US" altLang="zh-CN" sz="2400" dirty="0">
                <a:latin typeface="Times New Roman" panose="02020603050405020304" pitchFamily="18" charset="0"/>
                <a:ea typeface="华文楷体" panose="02010600040101010101" pitchFamily="2" charset="-122"/>
              </a:endParaRPr>
            </a:p>
          </p:txBody>
        </p:sp>
        <p:sp>
          <p:nvSpPr>
            <p:cNvPr id="87091" name="Oval 20"/>
            <p:cNvSpPr>
              <a:spLocks noChangeArrowheads="1"/>
            </p:cNvSpPr>
            <p:nvPr/>
          </p:nvSpPr>
          <p:spPr bwMode="auto">
            <a:xfrm>
              <a:off x="4224" y="2784"/>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92" name="Text Box 21"/>
            <p:cNvSpPr txBox="1">
              <a:spLocks noChangeArrowheads="1"/>
            </p:cNvSpPr>
            <p:nvPr/>
          </p:nvSpPr>
          <p:spPr bwMode="auto">
            <a:xfrm>
              <a:off x="4224" y="273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8</a:t>
              </a:r>
              <a:endParaRPr kumimoji="1" lang="en-US" altLang="zh-CN" sz="2400" dirty="0">
                <a:latin typeface="Times New Roman" panose="02020603050405020304" pitchFamily="18" charset="0"/>
                <a:ea typeface="华文楷体" panose="02010600040101010101" pitchFamily="2" charset="-122"/>
              </a:endParaRPr>
            </a:p>
          </p:txBody>
        </p:sp>
        <p:sp>
          <p:nvSpPr>
            <p:cNvPr id="87093" name="Oval 22"/>
            <p:cNvSpPr>
              <a:spLocks noChangeArrowheads="1"/>
            </p:cNvSpPr>
            <p:nvPr/>
          </p:nvSpPr>
          <p:spPr bwMode="auto">
            <a:xfrm>
              <a:off x="4848" y="2352"/>
              <a:ext cx="240" cy="24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94" name="Text Box 23"/>
            <p:cNvSpPr txBox="1">
              <a:spLocks noChangeArrowheads="1"/>
            </p:cNvSpPr>
            <p:nvPr/>
          </p:nvSpPr>
          <p:spPr bwMode="auto">
            <a:xfrm>
              <a:off x="4848"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9</a:t>
              </a:r>
              <a:endParaRPr kumimoji="1" lang="en-US" altLang="zh-CN" sz="2400" dirty="0">
                <a:latin typeface="Times New Roman" panose="02020603050405020304" pitchFamily="18" charset="0"/>
                <a:ea typeface="华文楷体" panose="02010600040101010101" pitchFamily="2" charset="-122"/>
              </a:endParaRPr>
            </a:p>
          </p:txBody>
        </p:sp>
        <p:sp>
          <p:nvSpPr>
            <p:cNvPr id="87095" name="Line 24"/>
            <p:cNvSpPr>
              <a:spLocks noChangeShapeType="1"/>
            </p:cNvSpPr>
            <p:nvPr/>
          </p:nvSpPr>
          <p:spPr bwMode="auto">
            <a:xfrm flipV="1">
              <a:off x="2112" y="2016"/>
              <a:ext cx="624"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96" name="Line 25"/>
            <p:cNvSpPr>
              <a:spLocks noChangeShapeType="1"/>
            </p:cNvSpPr>
            <p:nvPr/>
          </p:nvSpPr>
          <p:spPr bwMode="auto">
            <a:xfrm>
              <a:off x="2064" y="2496"/>
              <a:ext cx="672"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97" name="Line 26"/>
            <p:cNvSpPr>
              <a:spLocks noChangeShapeType="1"/>
            </p:cNvSpPr>
            <p:nvPr/>
          </p:nvSpPr>
          <p:spPr bwMode="auto">
            <a:xfrm>
              <a:off x="2064" y="2496"/>
              <a:ext cx="672" cy="9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98" name="Line 27"/>
            <p:cNvSpPr>
              <a:spLocks noChangeShapeType="1"/>
            </p:cNvSpPr>
            <p:nvPr/>
          </p:nvSpPr>
          <p:spPr bwMode="auto">
            <a:xfrm>
              <a:off x="2976" y="2016"/>
              <a:ext cx="672"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99" name="Line 28"/>
            <p:cNvSpPr>
              <a:spLocks noChangeShapeType="1"/>
            </p:cNvSpPr>
            <p:nvPr/>
          </p:nvSpPr>
          <p:spPr bwMode="auto">
            <a:xfrm flipV="1">
              <a:off x="2976" y="2496"/>
              <a:ext cx="576"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0" name="Line 29"/>
            <p:cNvSpPr>
              <a:spLocks noChangeShapeType="1"/>
            </p:cNvSpPr>
            <p:nvPr/>
          </p:nvSpPr>
          <p:spPr bwMode="auto">
            <a:xfrm>
              <a:off x="2976" y="3360"/>
              <a:ext cx="624"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1" name="Line 30"/>
            <p:cNvSpPr>
              <a:spLocks noChangeShapeType="1"/>
            </p:cNvSpPr>
            <p:nvPr/>
          </p:nvSpPr>
          <p:spPr bwMode="auto">
            <a:xfrm flipV="1">
              <a:off x="3744" y="2016"/>
              <a:ext cx="432"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2" name="Line 31"/>
            <p:cNvSpPr>
              <a:spLocks noChangeShapeType="1"/>
            </p:cNvSpPr>
            <p:nvPr/>
          </p:nvSpPr>
          <p:spPr bwMode="auto">
            <a:xfrm>
              <a:off x="3792" y="2496"/>
              <a:ext cx="432"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3" name="Line 32"/>
            <p:cNvSpPr>
              <a:spLocks noChangeShapeType="1"/>
            </p:cNvSpPr>
            <p:nvPr/>
          </p:nvSpPr>
          <p:spPr bwMode="auto">
            <a:xfrm flipV="1">
              <a:off x="3840" y="3024"/>
              <a:ext cx="528"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4" name="Line 33"/>
            <p:cNvSpPr>
              <a:spLocks noChangeShapeType="1"/>
            </p:cNvSpPr>
            <p:nvPr/>
          </p:nvSpPr>
          <p:spPr bwMode="auto">
            <a:xfrm>
              <a:off x="4416" y="1968"/>
              <a:ext cx="576"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5" name="Line 34"/>
            <p:cNvSpPr>
              <a:spLocks noChangeShapeType="1"/>
            </p:cNvSpPr>
            <p:nvPr/>
          </p:nvSpPr>
          <p:spPr bwMode="auto">
            <a:xfrm flipV="1">
              <a:off x="4464" y="2592"/>
              <a:ext cx="432" cy="2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106" name="Text Box 35"/>
            <p:cNvSpPr txBox="1">
              <a:spLocks noChangeArrowheads="1"/>
            </p:cNvSpPr>
            <p:nvPr/>
          </p:nvSpPr>
          <p:spPr bwMode="auto">
            <a:xfrm>
              <a:off x="2064" y="201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a:t>
              </a:r>
              <a:r>
                <a:rPr kumimoji="1" lang="en-US" altLang="zh-CN" sz="2000" dirty="0">
                  <a:latin typeface="Times New Roman" panose="02020603050405020304" pitchFamily="18" charset="0"/>
                  <a:ea typeface="华文楷体" panose="02010600040101010101" pitchFamily="2" charset="-122"/>
                </a:rPr>
                <a:t>=6</a:t>
              </a:r>
              <a:endParaRPr kumimoji="1" lang="en-US" altLang="zh-CN" sz="2000" dirty="0">
                <a:latin typeface="Times New Roman" panose="02020603050405020304" pitchFamily="18" charset="0"/>
                <a:ea typeface="华文楷体" panose="02010600040101010101" pitchFamily="2" charset="-122"/>
              </a:endParaRPr>
            </a:p>
          </p:txBody>
        </p:sp>
        <p:sp>
          <p:nvSpPr>
            <p:cNvPr id="87107" name="Text Box 36"/>
            <p:cNvSpPr txBox="1">
              <a:spLocks noChangeArrowheads="1"/>
            </p:cNvSpPr>
            <p:nvPr/>
          </p:nvSpPr>
          <p:spPr bwMode="auto">
            <a:xfrm>
              <a:off x="2352" y="249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2</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sp>
          <p:nvSpPr>
            <p:cNvPr id="87108" name="Text Box 37"/>
            <p:cNvSpPr txBox="1">
              <a:spLocks noChangeArrowheads="1"/>
            </p:cNvSpPr>
            <p:nvPr/>
          </p:nvSpPr>
          <p:spPr bwMode="auto">
            <a:xfrm>
              <a:off x="2112" y="297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3</a:t>
              </a:r>
              <a:r>
                <a:rPr kumimoji="1" lang="en-US" altLang="zh-CN" sz="2000" dirty="0">
                  <a:latin typeface="Times New Roman" panose="02020603050405020304" pitchFamily="18" charset="0"/>
                  <a:ea typeface="华文楷体" panose="02010600040101010101" pitchFamily="2" charset="-122"/>
                </a:rPr>
                <a:t>=5</a:t>
              </a:r>
              <a:endParaRPr kumimoji="1" lang="en-US" altLang="zh-CN" sz="2000" dirty="0">
                <a:latin typeface="Times New Roman" panose="02020603050405020304" pitchFamily="18" charset="0"/>
                <a:ea typeface="华文楷体" panose="02010600040101010101" pitchFamily="2" charset="-122"/>
              </a:endParaRPr>
            </a:p>
          </p:txBody>
        </p:sp>
        <p:sp>
          <p:nvSpPr>
            <p:cNvPr id="87109" name="Text Box 38"/>
            <p:cNvSpPr txBox="1">
              <a:spLocks noChangeArrowheads="1"/>
            </p:cNvSpPr>
            <p:nvPr/>
          </p:nvSpPr>
          <p:spPr bwMode="auto">
            <a:xfrm>
              <a:off x="2976" y="211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4</a:t>
              </a:r>
              <a:r>
                <a:rPr kumimoji="1" lang="en-US" altLang="zh-CN" sz="2000" dirty="0">
                  <a:latin typeface="Times New Roman" panose="02020603050405020304" pitchFamily="18" charset="0"/>
                  <a:ea typeface="华文楷体" panose="02010600040101010101" pitchFamily="2" charset="-122"/>
                </a:rPr>
                <a:t>=1</a:t>
              </a:r>
              <a:endParaRPr kumimoji="1" lang="en-US" altLang="zh-CN" sz="2000" dirty="0">
                <a:latin typeface="Times New Roman" panose="02020603050405020304" pitchFamily="18" charset="0"/>
                <a:ea typeface="华文楷体" panose="02010600040101010101" pitchFamily="2" charset="-122"/>
              </a:endParaRPr>
            </a:p>
          </p:txBody>
        </p:sp>
        <p:sp>
          <p:nvSpPr>
            <p:cNvPr id="87110" name="Text Box 39"/>
            <p:cNvSpPr txBox="1">
              <a:spLocks noChangeArrowheads="1"/>
            </p:cNvSpPr>
            <p:nvPr/>
          </p:nvSpPr>
          <p:spPr bwMode="auto">
            <a:xfrm>
              <a:off x="2976" y="244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5</a:t>
              </a:r>
              <a:r>
                <a:rPr kumimoji="1" lang="en-US" altLang="zh-CN" sz="2000" dirty="0">
                  <a:latin typeface="Times New Roman" panose="02020603050405020304" pitchFamily="18" charset="0"/>
                  <a:ea typeface="华文楷体" panose="02010600040101010101" pitchFamily="2" charset="-122"/>
                </a:rPr>
                <a:t>=1</a:t>
              </a:r>
              <a:endParaRPr kumimoji="1" lang="en-US" altLang="zh-CN" sz="2000" dirty="0">
                <a:latin typeface="Times New Roman" panose="02020603050405020304" pitchFamily="18" charset="0"/>
                <a:ea typeface="华文楷体" panose="02010600040101010101" pitchFamily="2" charset="-122"/>
              </a:endParaRPr>
            </a:p>
          </p:txBody>
        </p:sp>
        <p:sp>
          <p:nvSpPr>
            <p:cNvPr id="87111" name="Text Box 40"/>
            <p:cNvSpPr txBox="1">
              <a:spLocks noChangeArrowheads="1"/>
            </p:cNvSpPr>
            <p:nvPr/>
          </p:nvSpPr>
          <p:spPr bwMode="auto">
            <a:xfrm>
              <a:off x="3024" y="312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6</a:t>
              </a:r>
              <a:r>
                <a:rPr kumimoji="1" lang="en-US" altLang="zh-CN" sz="2000" dirty="0">
                  <a:latin typeface="Times New Roman" panose="02020603050405020304" pitchFamily="18" charset="0"/>
                  <a:ea typeface="华文楷体" panose="02010600040101010101" pitchFamily="2" charset="-122"/>
                </a:rPr>
                <a:t>=2</a:t>
              </a:r>
              <a:endParaRPr kumimoji="1" lang="en-US" altLang="zh-CN" sz="2000" dirty="0">
                <a:latin typeface="Times New Roman" panose="02020603050405020304" pitchFamily="18" charset="0"/>
                <a:ea typeface="华文楷体" panose="02010600040101010101" pitchFamily="2" charset="-122"/>
              </a:endParaRPr>
            </a:p>
          </p:txBody>
        </p:sp>
        <p:sp>
          <p:nvSpPr>
            <p:cNvPr id="87112" name="Text Box 41"/>
            <p:cNvSpPr txBox="1">
              <a:spLocks noChangeArrowheads="1"/>
            </p:cNvSpPr>
            <p:nvPr/>
          </p:nvSpPr>
          <p:spPr bwMode="auto">
            <a:xfrm>
              <a:off x="3648" y="196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7</a:t>
              </a:r>
              <a:r>
                <a:rPr kumimoji="1" lang="en-US" altLang="zh-CN" sz="2000" dirty="0">
                  <a:latin typeface="Times New Roman" panose="02020603050405020304" pitchFamily="18" charset="0"/>
                  <a:ea typeface="华文楷体" panose="02010600040101010101" pitchFamily="2" charset="-122"/>
                </a:rPr>
                <a:t>=9</a:t>
              </a:r>
              <a:endParaRPr kumimoji="1" lang="en-US" altLang="zh-CN" sz="2000" dirty="0">
                <a:latin typeface="Times New Roman" panose="02020603050405020304" pitchFamily="18" charset="0"/>
                <a:ea typeface="华文楷体" panose="02010600040101010101" pitchFamily="2" charset="-122"/>
              </a:endParaRPr>
            </a:p>
          </p:txBody>
        </p:sp>
        <p:sp>
          <p:nvSpPr>
            <p:cNvPr id="87113" name="Text Box 42"/>
            <p:cNvSpPr txBox="1">
              <a:spLocks noChangeArrowheads="1"/>
            </p:cNvSpPr>
            <p:nvPr/>
          </p:nvSpPr>
          <p:spPr bwMode="auto">
            <a:xfrm>
              <a:off x="3648" y="264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8</a:t>
              </a:r>
              <a:r>
                <a:rPr kumimoji="1" lang="en-US" altLang="zh-CN" sz="2000" dirty="0">
                  <a:latin typeface="Times New Roman" panose="02020603050405020304" pitchFamily="18" charset="0"/>
                  <a:ea typeface="华文楷体" panose="02010600040101010101" pitchFamily="2" charset="-122"/>
                </a:rPr>
                <a:t>=7</a:t>
              </a:r>
              <a:endParaRPr kumimoji="1" lang="en-US" altLang="zh-CN" sz="2000" dirty="0">
                <a:latin typeface="Times New Roman" panose="02020603050405020304" pitchFamily="18" charset="0"/>
                <a:ea typeface="华文楷体" panose="02010600040101010101" pitchFamily="2" charset="-122"/>
              </a:endParaRPr>
            </a:p>
          </p:txBody>
        </p:sp>
        <p:sp>
          <p:nvSpPr>
            <p:cNvPr id="87114" name="Text Box 43"/>
            <p:cNvSpPr txBox="1">
              <a:spLocks noChangeArrowheads="1"/>
            </p:cNvSpPr>
            <p:nvPr/>
          </p:nvSpPr>
          <p:spPr bwMode="auto">
            <a:xfrm>
              <a:off x="3984" y="316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9</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sp>
          <p:nvSpPr>
            <p:cNvPr id="87115" name="Text Box 44"/>
            <p:cNvSpPr txBox="1">
              <a:spLocks noChangeArrowheads="1"/>
            </p:cNvSpPr>
            <p:nvPr/>
          </p:nvSpPr>
          <p:spPr bwMode="auto">
            <a:xfrm>
              <a:off x="4320" y="211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10</a:t>
              </a:r>
              <a:r>
                <a:rPr kumimoji="1" lang="en-US" altLang="zh-CN" sz="2000" dirty="0">
                  <a:latin typeface="Times New Roman" panose="02020603050405020304" pitchFamily="18" charset="0"/>
                  <a:ea typeface="华文楷体" panose="02010600040101010101" pitchFamily="2" charset="-122"/>
                </a:rPr>
                <a:t>=2</a:t>
              </a:r>
              <a:endParaRPr kumimoji="1" lang="en-US" altLang="zh-CN" sz="2000" dirty="0">
                <a:latin typeface="Times New Roman" panose="02020603050405020304" pitchFamily="18" charset="0"/>
                <a:ea typeface="华文楷体" panose="02010600040101010101" pitchFamily="2" charset="-122"/>
              </a:endParaRPr>
            </a:p>
          </p:txBody>
        </p:sp>
        <p:sp>
          <p:nvSpPr>
            <p:cNvPr id="87116" name="Text Box 45"/>
            <p:cNvSpPr txBox="1">
              <a:spLocks noChangeArrowheads="1"/>
            </p:cNvSpPr>
            <p:nvPr/>
          </p:nvSpPr>
          <p:spPr bwMode="auto">
            <a:xfrm>
              <a:off x="4560" y="26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000" dirty="0">
                  <a:latin typeface="Times New Roman" panose="02020603050405020304" pitchFamily="18" charset="0"/>
                  <a:ea typeface="华文楷体" panose="02010600040101010101" pitchFamily="2" charset="-122"/>
                </a:rPr>
                <a:t>a</a:t>
              </a:r>
              <a:r>
                <a:rPr kumimoji="1" lang="en-US" altLang="zh-CN" sz="2000" baseline="-25000" dirty="0">
                  <a:latin typeface="Times New Roman" panose="02020603050405020304" pitchFamily="18" charset="0"/>
                  <a:ea typeface="华文楷体" panose="02010600040101010101" pitchFamily="2" charset="-122"/>
                </a:rPr>
                <a:t>11</a:t>
              </a:r>
              <a:r>
                <a:rPr kumimoji="1" lang="en-US" altLang="zh-CN" sz="2000" dirty="0">
                  <a:latin typeface="Times New Roman" panose="02020603050405020304" pitchFamily="18" charset="0"/>
                  <a:ea typeface="华文楷体" panose="02010600040101010101" pitchFamily="2" charset="-122"/>
                </a:rPr>
                <a:t>=4</a:t>
              </a:r>
              <a:endParaRPr kumimoji="1" lang="en-US" altLang="zh-CN" sz="2000" dirty="0">
                <a:latin typeface="Times New Roman" panose="02020603050405020304" pitchFamily="18" charset="0"/>
                <a:ea typeface="华文楷体" panose="02010600040101010101" pitchFamily="2" charset="-122"/>
              </a:endParaRPr>
            </a:p>
          </p:txBody>
        </p:sp>
      </p:grpSp>
      <p:sp>
        <p:nvSpPr>
          <p:cNvPr id="87047" name="Rectangle 46"/>
          <p:cNvSpPr>
            <a:spLocks noChangeArrowheads="1"/>
          </p:cNvSpPr>
          <p:nvPr/>
        </p:nvSpPr>
        <p:spPr bwMode="auto">
          <a:xfrm>
            <a:off x="1066800" y="1219200"/>
            <a:ext cx="3276600" cy="914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48" name="Rectangle 47"/>
          <p:cNvSpPr>
            <a:spLocks noChangeArrowheads="1"/>
          </p:cNvSpPr>
          <p:nvPr/>
        </p:nvSpPr>
        <p:spPr bwMode="auto">
          <a:xfrm>
            <a:off x="990600" y="2438400"/>
            <a:ext cx="3962400" cy="914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49" name="Text Box 48"/>
          <p:cNvSpPr txBox="1">
            <a:spLocks noChangeArrowheads="1"/>
          </p:cNvSpPr>
          <p:nvPr/>
        </p:nvSpPr>
        <p:spPr bwMode="auto">
          <a:xfrm>
            <a:off x="6858000" y="4267200"/>
            <a:ext cx="18288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solidFill>
                  <a:schemeClr val="accent2"/>
                </a:solidFill>
                <a:latin typeface="Times New Roman" panose="02020603050405020304" pitchFamily="18" charset="0"/>
                <a:ea typeface="华文楷体" panose="02010600040101010101" pitchFamily="2" charset="-122"/>
              </a:rPr>
              <a:t>两条关键路径</a:t>
            </a:r>
            <a:endParaRPr kumimoji="1" lang="zh-CN" altLang="en-US" sz="2000" dirty="0">
              <a:solidFill>
                <a:schemeClr val="accent2"/>
              </a:solidFill>
              <a:latin typeface="Times New Roman" panose="02020603050405020304" pitchFamily="18" charset="0"/>
              <a:ea typeface="华文楷体" panose="02010600040101010101" pitchFamily="2" charset="-122"/>
            </a:endParaRPr>
          </a:p>
          <a:p>
            <a:pPr eaLnBrk="1" hangingPunct="1">
              <a:spcBef>
                <a:spcPct val="50000"/>
              </a:spcBef>
              <a:buClrTx/>
              <a:buFontTx/>
              <a:buNone/>
            </a:pPr>
            <a:r>
              <a:rPr kumimoji="1" lang="zh-CN" altLang="en-US" sz="2000" dirty="0">
                <a:solidFill>
                  <a:schemeClr val="accent2"/>
                </a:solidFill>
                <a:latin typeface="Times New Roman" panose="02020603050405020304" pitchFamily="18" charset="0"/>
                <a:ea typeface="华文楷体" panose="02010600040101010101" pitchFamily="2" charset="-122"/>
              </a:rPr>
              <a:t>最短工期：</a:t>
            </a:r>
            <a:r>
              <a:rPr kumimoji="1" lang="en-US" altLang="zh-CN" sz="2000" dirty="0">
                <a:solidFill>
                  <a:schemeClr val="accent2"/>
                </a:solidFill>
                <a:latin typeface="Times New Roman" panose="02020603050405020304" pitchFamily="18" charset="0"/>
                <a:ea typeface="华文楷体" panose="02010600040101010101" pitchFamily="2" charset="-122"/>
              </a:rPr>
              <a:t>18</a:t>
            </a:r>
            <a:endParaRPr kumimoji="1" lang="en-US" altLang="zh-CN" sz="2000" dirty="0">
              <a:solidFill>
                <a:schemeClr val="accent2"/>
              </a:solidFill>
              <a:latin typeface="Times New Roman" panose="02020603050405020304" pitchFamily="18" charset="0"/>
              <a:ea typeface="华文楷体" panose="02010600040101010101" pitchFamily="2" charset="-122"/>
            </a:endParaRPr>
          </a:p>
        </p:txBody>
      </p:sp>
      <p:sp>
        <p:nvSpPr>
          <p:cNvPr id="87050" name="Oval 49"/>
          <p:cNvSpPr>
            <a:spLocks noChangeArrowheads="1"/>
          </p:cNvSpPr>
          <p:nvPr/>
        </p:nvSpPr>
        <p:spPr bwMode="auto">
          <a:xfrm>
            <a:off x="6019800" y="26670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1" name="Oval 50"/>
          <p:cNvSpPr>
            <a:spLocks noChangeArrowheads="1"/>
          </p:cNvSpPr>
          <p:nvPr/>
        </p:nvSpPr>
        <p:spPr bwMode="auto">
          <a:xfrm>
            <a:off x="6477000" y="21336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2" name="Oval 51"/>
          <p:cNvSpPr>
            <a:spLocks noChangeArrowheads="1"/>
          </p:cNvSpPr>
          <p:nvPr/>
        </p:nvSpPr>
        <p:spPr bwMode="auto">
          <a:xfrm>
            <a:off x="6553200" y="29718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3" name="Oval 52"/>
          <p:cNvSpPr>
            <a:spLocks noChangeArrowheads="1"/>
          </p:cNvSpPr>
          <p:nvPr/>
        </p:nvSpPr>
        <p:spPr bwMode="auto">
          <a:xfrm>
            <a:off x="6629400" y="35814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4" name="Oval 53"/>
          <p:cNvSpPr>
            <a:spLocks noChangeArrowheads="1"/>
          </p:cNvSpPr>
          <p:nvPr/>
        </p:nvSpPr>
        <p:spPr bwMode="auto">
          <a:xfrm>
            <a:off x="7010400" y="25146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5" name="Oval 54"/>
          <p:cNvSpPr>
            <a:spLocks noChangeArrowheads="1"/>
          </p:cNvSpPr>
          <p:nvPr/>
        </p:nvSpPr>
        <p:spPr bwMode="auto">
          <a:xfrm>
            <a:off x="7391400" y="35814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6" name="Oval 55"/>
          <p:cNvSpPr>
            <a:spLocks noChangeArrowheads="1"/>
          </p:cNvSpPr>
          <p:nvPr/>
        </p:nvSpPr>
        <p:spPr bwMode="auto">
          <a:xfrm>
            <a:off x="7467600" y="20574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7" name="Oval 56"/>
          <p:cNvSpPr>
            <a:spLocks noChangeArrowheads="1"/>
          </p:cNvSpPr>
          <p:nvPr/>
        </p:nvSpPr>
        <p:spPr bwMode="auto">
          <a:xfrm>
            <a:off x="7543800" y="28956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8" name="Oval 57"/>
          <p:cNvSpPr>
            <a:spLocks noChangeArrowheads="1"/>
          </p:cNvSpPr>
          <p:nvPr/>
        </p:nvSpPr>
        <p:spPr bwMode="auto">
          <a:xfrm>
            <a:off x="8077200" y="2438400"/>
            <a:ext cx="228600" cy="2286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7059" name="Line 58"/>
          <p:cNvSpPr>
            <a:spLocks noChangeShapeType="1"/>
          </p:cNvSpPr>
          <p:nvPr/>
        </p:nvSpPr>
        <p:spPr bwMode="auto">
          <a:xfrm flipV="1">
            <a:off x="6172200" y="2286000"/>
            <a:ext cx="304800" cy="3810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0" name="Line 59"/>
          <p:cNvSpPr>
            <a:spLocks noChangeShapeType="1"/>
          </p:cNvSpPr>
          <p:nvPr/>
        </p:nvSpPr>
        <p:spPr bwMode="auto">
          <a:xfrm>
            <a:off x="6172200" y="2895600"/>
            <a:ext cx="3810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1" name="Line 60"/>
          <p:cNvSpPr>
            <a:spLocks noChangeShapeType="1"/>
          </p:cNvSpPr>
          <p:nvPr/>
        </p:nvSpPr>
        <p:spPr bwMode="auto">
          <a:xfrm>
            <a:off x="6096000" y="2895600"/>
            <a:ext cx="6096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2" name="Line 61"/>
          <p:cNvSpPr>
            <a:spLocks noChangeShapeType="1"/>
          </p:cNvSpPr>
          <p:nvPr/>
        </p:nvSpPr>
        <p:spPr bwMode="auto">
          <a:xfrm>
            <a:off x="6705600" y="2209800"/>
            <a:ext cx="381000" cy="3048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3" name="Line 62"/>
          <p:cNvSpPr>
            <a:spLocks noChangeShapeType="1"/>
          </p:cNvSpPr>
          <p:nvPr/>
        </p:nvSpPr>
        <p:spPr bwMode="auto">
          <a:xfrm flipV="1">
            <a:off x="6781800" y="2743200"/>
            <a:ext cx="2286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4" name="Line 63"/>
          <p:cNvSpPr>
            <a:spLocks noChangeShapeType="1"/>
          </p:cNvSpPr>
          <p:nvPr/>
        </p:nvSpPr>
        <p:spPr bwMode="auto">
          <a:xfrm>
            <a:off x="6858000" y="3657600"/>
            <a:ext cx="533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5" name="Line 64"/>
          <p:cNvSpPr>
            <a:spLocks noChangeShapeType="1"/>
          </p:cNvSpPr>
          <p:nvPr/>
        </p:nvSpPr>
        <p:spPr bwMode="auto">
          <a:xfrm flipV="1">
            <a:off x="7543800" y="3124200"/>
            <a:ext cx="1524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6" name="Line 65"/>
          <p:cNvSpPr>
            <a:spLocks noChangeShapeType="1"/>
          </p:cNvSpPr>
          <p:nvPr/>
        </p:nvSpPr>
        <p:spPr bwMode="auto">
          <a:xfrm flipV="1">
            <a:off x="7162800" y="2209800"/>
            <a:ext cx="304800" cy="3048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7" name="Line 66"/>
          <p:cNvSpPr>
            <a:spLocks noChangeShapeType="1"/>
          </p:cNvSpPr>
          <p:nvPr/>
        </p:nvSpPr>
        <p:spPr bwMode="auto">
          <a:xfrm>
            <a:off x="7696200" y="2209800"/>
            <a:ext cx="457200" cy="2286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8" name="Line 67"/>
          <p:cNvSpPr>
            <a:spLocks noChangeShapeType="1"/>
          </p:cNvSpPr>
          <p:nvPr/>
        </p:nvSpPr>
        <p:spPr bwMode="auto">
          <a:xfrm>
            <a:off x="7239000" y="2667000"/>
            <a:ext cx="381000" cy="2286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69" name="Line 68"/>
          <p:cNvSpPr>
            <a:spLocks noChangeShapeType="1"/>
          </p:cNvSpPr>
          <p:nvPr/>
        </p:nvSpPr>
        <p:spPr bwMode="auto">
          <a:xfrm flipV="1">
            <a:off x="7772400" y="2667000"/>
            <a:ext cx="381000" cy="30480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7070" name="Text Box 69"/>
          <p:cNvSpPr txBox="1">
            <a:spLocks noChangeArrowheads="1"/>
          </p:cNvSpPr>
          <p:nvPr/>
        </p:nvSpPr>
        <p:spPr bwMode="auto">
          <a:xfrm>
            <a:off x="5943600"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1</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7071" name="Text Box 70"/>
          <p:cNvSpPr txBox="1">
            <a:spLocks noChangeArrowheads="1"/>
          </p:cNvSpPr>
          <p:nvPr/>
        </p:nvSpPr>
        <p:spPr bwMode="auto">
          <a:xfrm>
            <a:off x="6705600" y="1905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4</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7072" name="Text Box 71"/>
          <p:cNvSpPr txBox="1">
            <a:spLocks noChangeArrowheads="1"/>
          </p:cNvSpPr>
          <p:nvPr/>
        </p:nvSpPr>
        <p:spPr bwMode="auto">
          <a:xfrm>
            <a:off x="7086600" y="1828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7</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7073" name="Text Box 72"/>
          <p:cNvSpPr txBox="1">
            <a:spLocks noChangeArrowheads="1"/>
          </p:cNvSpPr>
          <p:nvPr/>
        </p:nvSpPr>
        <p:spPr bwMode="auto">
          <a:xfrm>
            <a:off x="7086600" y="259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8</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7074" name="Text Box 73"/>
          <p:cNvSpPr txBox="1">
            <a:spLocks noChangeArrowheads="1"/>
          </p:cNvSpPr>
          <p:nvPr/>
        </p:nvSpPr>
        <p:spPr bwMode="auto">
          <a:xfrm>
            <a:off x="7696200" y="1905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10</a:t>
            </a:r>
            <a:endParaRPr kumimoji="1" lang="en-US" altLang="zh-CN" sz="2400" baseline="-25000" dirty="0">
              <a:latin typeface="Times New Roman" panose="02020603050405020304" pitchFamily="18" charset="0"/>
              <a:ea typeface="华文楷体" panose="02010600040101010101" pitchFamily="2" charset="-122"/>
            </a:endParaRPr>
          </a:p>
        </p:txBody>
      </p:sp>
      <p:sp>
        <p:nvSpPr>
          <p:cNvPr id="87075" name="Text Box 74"/>
          <p:cNvSpPr txBox="1">
            <a:spLocks noChangeArrowheads="1"/>
          </p:cNvSpPr>
          <p:nvPr/>
        </p:nvSpPr>
        <p:spPr bwMode="auto">
          <a:xfrm>
            <a:off x="7772400" y="27432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a</a:t>
            </a:r>
            <a:r>
              <a:rPr kumimoji="1" lang="en-US" altLang="zh-CN" sz="2400" baseline="-25000" dirty="0">
                <a:latin typeface="Times New Roman" panose="02020603050405020304" pitchFamily="18" charset="0"/>
                <a:ea typeface="华文楷体" panose="02010600040101010101" pitchFamily="2" charset="-122"/>
              </a:rPr>
              <a:t>11</a:t>
            </a:r>
            <a:endParaRPr kumimoji="1" lang="en-US" altLang="zh-CN" sz="2400" baseline="-250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80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8069" name="Rectangle 3"/>
          <p:cNvSpPr>
            <a:spLocks noGrp="1" noChangeArrowheads="1"/>
          </p:cNvSpPr>
          <p:nvPr>
            <p:ph type="body" idx="1"/>
          </p:nvPr>
        </p:nvSpPr>
        <p:spPr>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996600"/>
                </a:solidFill>
                <a:ea typeface="华文楷体" panose="02010600040101010101" pitchFamily="2" charset="-122"/>
              </a:rPr>
              <a:t>[</a:t>
            </a:r>
            <a:r>
              <a:rPr lang="zh-CN" altLang="en-US" sz="2400" b="1" dirty="0" smtClean="0">
                <a:solidFill>
                  <a:srgbClr val="996600"/>
                </a:solidFill>
                <a:ea typeface="华文楷体" panose="02010600040101010101" pitchFamily="2" charset="-122"/>
              </a:rPr>
              <a:t>求关键路径算法步骤</a:t>
            </a:r>
            <a:r>
              <a:rPr lang="en-US" altLang="zh-CN" sz="2400" b="1" dirty="0" smtClean="0">
                <a:solidFill>
                  <a:srgbClr val="996600"/>
                </a:solidFill>
                <a:ea typeface="华文楷体" panose="02010600040101010101" pitchFamily="2" charset="-122"/>
              </a:rPr>
              <a:t>]</a:t>
            </a:r>
            <a:endParaRPr lang="en-US" altLang="zh-CN" sz="2400" b="1" dirty="0" smtClean="0">
              <a:solidFill>
                <a:srgbClr val="99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主数据结构：图</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邻接矩阵或邻接表</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辅助：</a:t>
            </a:r>
            <a:r>
              <a:rPr lang="en-US" altLang="zh-CN" sz="2400" dirty="0" err="1" smtClean="0">
                <a:ea typeface="华文楷体" panose="02010600040101010101" pitchFamily="2" charset="-122"/>
              </a:rPr>
              <a:t>ve</a:t>
            </a:r>
            <a:r>
              <a:rPr lang="en-US" altLang="zh-CN" sz="2400" dirty="0" smtClean="0">
                <a:ea typeface="华文楷体" panose="02010600040101010101" pitchFamily="2" charset="-122"/>
              </a:rPr>
              <a:t>(1..n), </a:t>
            </a:r>
            <a:r>
              <a:rPr lang="en-US" altLang="zh-CN" sz="2400" dirty="0" err="1" smtClean="0">
                <a:ea typeface="华文楷体" panose="02010600040101010101" pitchFamily="2" charset="-122"/>
              </a:rPr>
              <a:t>vl</a:t>
            </a:r>
            <a:r>
              <a:rPr lang="en-US" altLang="zh-CN" sz="2400" dirty="0" smtClean="0">
                <a:ea typeface="华文楷体" panose="02010600040101010101" pitchFamily="2" charset="-122"/>
              </a:rPr>
              <a:t>(1..n), e(1..m), l(1..m)</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smtClean="0">
                <a:solidFill>
                  <a:schemeClr val="accent2"/>
                </a:solidFill>
                <a:latin typeface="楷体_GB2312" pitchFamily="49" charset="-122"/>
                <a:ea typeface="楷体_GB2312" pitchFamily="49" charset="-122"/>
              </a:rPr>
              <a:t>{n</a:t>
            </a:r>
            <a:r>
              <a:rPr lang="zh-CN" altLang="en-US" sz="2400" dirty="0" smtClean="0">
                <a:solidFill>
                  <a:schemeClr val="accent2"/>
                </a:solidFill>
                <a:latin typeface="楷体_GB2312" pitchFamily="49" charset="-122"/>
                <a:ea typeface="楷体_GB2312" pitchFamily="49" charset="-122"/>
              </a:rPr>
              <a:t>为图的顶点数目；</a:t>
            </a:r>
            <a:r>
              <a:rPr lang="en-US" altLang="zh-CN" sz="2400" dirty="0" smtClean="0">
                <a:solidFill>
                  <a:schemeClr val="accent2"/>
                </a:solidFill>
                <a:latin typeface="楷体_GB2312" pitchFamily="49" charset="-122"/>
                <a:ea typeface="楷体_GB2312" pitchFamily="49" charset="-122"/>
              </a:rPr>
              <a:t>m</a:t>
            </a:r>
            <a:r>
              <a:rPr lang="zh-CN" altLang="en-US" sz="2400" dirty="0" smtClean="0">
                <a:solidFill>
                  <a:schemeClr val="accent2"/>
                </a:solidFill>
                <a:latin typeface="楷体_GB2312" pitchFamily="49" charset="-122"/>
                <a:ea typeface="楷体_GB2312" pitchFamily="49" charset="-122"/>
              </a:rPr>
              <a:t>为图的弧数目</a:t>
            </a:r>
            <a:r>
              <a:rPr lang="en-US" altLang="zh-CN" sz="2400" dirty="0" smtClean="0">
                <a:solidFill>
                  <a:schemeClr val="accent2"/>
                </a:solidFill>
                <a:latin typeface="楷体_GB2312" pitchFamily="49" charset="-122"/>
                <a:ea typeface="楷体_GB2312" pitchFamily="49" charset="-122"/>
              </a:rPr>
              <a:t>}</a:t>
            </a:r>
            <a:endParaRPr lang="en-US" altLang="zh-CN" sz="2400" dirty="0" smtClean="0">
              <a:latin typeface="楷体_GB2312" pitchFamily="49" charset="-122"/>
              <a:ea typeface="楷体_GB2312" pitchFamily="49"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s—</a:t>
            </a:r>
            <a:r>
              <a:rPr lang="zh-CN" altLang="en-US" sz="2400" dirty="0" smtClean="0">
                <a:ea typeface="华文楷体" panose="02010600040101010101" pitchFamily="2" charset="-122"/>
              </a:rPr>
              <a:t>存储拓扑排序的顶点序列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输入所有弧的信息，建立</a:t>
            </a:r>
            <a:r>
              <a:rPr lang="en-US" altLang="zh-CN" sz="2400" dirty="0" smtClean="0">
                <a:ea typeface="华文楷体" panose="02010600040101010101" pitchFamily="2" charset="-122"/>
              </a:rPr>
              <a:t>AOE</a:t>
            </a:r>
            <a:r>
              <a:rPr lang="zh-CN" altLang="en-US" sz="2400" dirty="0" smtClean="0">
                <a:ea typeface="华文楷体" panose="02010600040101010101" pitchFamily="2" charset="-122"/>
              </a:rPr>
              <a:t>网的存储结构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求拓扑排序的顶点序列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每求得一个顶点</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，则使</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入栈</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，并调整</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的所有后继的</a:t>
            </a:r>
            <a:r>
              <a:rPr lang="en-US" altLang="zh-CN" sz="2400" dirty="0" err="1" smtClean="0">
                <a:ea typeface="华文楷体" panose="02010600040101010101" pitchFamily="2" charset="-122"/>
              </a:rPr>
              <a:t>ve</a:t>
            </a:r>
            <a:r>
              <a:rPr lang="zh-CN" altLang="en-US" sz="2400" dirty="0" smtClean="0">
                <a:ea typeface="华文楷体" panose="02010600040101010101" pitchFamily="2" charset="-122"/>
              </a:rPr>
              <a:t>值</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按栈</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的从栈顶到栈底的顺序求顶点的</a:t>
            </a:r>
            <a:r>
              <a:rPr lang="en-US" altLang="zh-CN" sz="2400" dirty="0" err="1" smtClean="0">
                <a:ea typeface="华文楷体" panose="02010600040101010101" pitchFamily="2" charset="-122"/>
              </a:rPr>
              <a:t>vl</a:t>
            </a:r>
            <a:r>
              <a:rPr lang="zh-CN" altLang="en-US" sz="2400" dirty="0" smtClean="0">
                <a:ea typeface="华文楷体" panose="02010600040101010101" pitchFamily="2" charset="-122"/>
              </a:rPr>
              <a:t>值</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求每个活动</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a:t>
            </a:r>
            <a:r>
              <a:rPr lang="en-US" altLang="zh-CN" sz="2400" dirty="0" smtClean="0">
                <a:ea typeface="华文楷体" panose="02010600040101010101" pitchFamily="2" charset="-122"/>
              </a:rPr>
              <a:t>e(</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和</a:t>
            </a:r>
            <a:r>
              <a:rPr lang="en-US" altLang="zh-CN" sz="2400" dirty="0" smtClean="0">
                <a:ea typeface="华文楷体" panose="02010600040101010101" pitchFamily="2" charset="-122"/>
              </a:rPr>
              <a:t>l(</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值，确定关键路径</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ea typeface="华文楷体" panose="02010600040101010101" pitchFamily="2" charset="-122"/>
              </a:rPr>
              <a:t>7.6 </a:t>
            </a:r>
            <a:r>
              <a:rPr lang="zh-CN" altLang="en-US" dirty="0">
                <a:ea typeface="华文楷体" panose="02010600040101010101" pitchFamily="2" charset="-122"/>
              </a:rPr>
              <a:t>最短路径</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9059" y="1119495"/>
                <a:ext cx="8839200" cy="3300105"/>
              </a:xfrm>
              <a:ln>
                <a:solidFill>
                  <a:schemeClr val="accent1"/>
                </a:solidFill>
              </a:ln>
            </p:spPr>
            <p:txBody>
              <a:bodyPr/>
              <a:lstStyle/>
              <a:p>
                <a:pPr marL="0" indent="0">
                  <a:buNone/>
                </a:pPr>
                <a:r>
                  <a:rPr lang="en-US" altLang="zh-CN" sz="2000" b="1" dirty="0" smtClean="0">
                    <a:solidFill>
                      <a:srgbClr val="996600"/>
                    </a:solidFill>
                    <a:ea typeface="华文楷体" panose="02010600040101010101" pitchFamily="2" charset="-122"/>
                  </a:rPr>
                  <a:t>[</a:t>
                </a:r>
                <a:r>
                  <a:rPr lang="zh-CN" altLang="en-US" sz="2000" b="1" dirty="0">
                    <a:solidFill>
                      <a:srgbClr val="996600"/>
                    </a:solidFill>
                    <a:ea typeface="华文楷体" panose="02010600040101010101" pitchFamily="2" charset="-122"/>
                  </a:rPr>
                  <a:t>定义</a:t>
                </a:r>
                <a:r>
                  <a:rPr lang="en-US" altLang="zh-CN" sz="2000" b="1" dirty="0">
                    <a:solidFill>
                      <a:srgbClr val="996600"/>
                    </a:solidFill>
                    <a:ea typeface="华文楷体" panose="02010600040101010101" pitchFamily="2" charset="-122"/>
                  </a:rPr>
                  <a:t>]</a:t>
                </a:r>
                <a:endParaRPr lang="en-US" altLang="zh-CN" sz="2000" b="1" dirty="0">
                  <a:solidFill>
                    <a:srgbClr val="996600"/>
                  </a:solidFill>
                  <a:ea typeface="华文楷体" panose="02010600040101010101" pitchFamily="2" charset="-122"/>
                </a:endParaRPr>
              </a:p>
              <a:p>
                <a:pPr marL="0" indent="0">
                  <a:buNone/>
                </a:pPr>
                <a:r>
                  <a:rPr lang="zh-CN" altLang="en-US" sz="1800" dirty="0" smtClean="0">
                    <a:ea typeface="华文楷体" panose="02010600040101010101" pitchFamily="2" charset="-122"/>
                  </a:rPr>
                  <a:t>给定带权有向图</a:t>
                </a:r>
                <a:r>
                  <a:rPr lang="en-US" altLang="zh-CN" sz="1800" dirty="0" smtClean="0">
                    <a:ea typeface="华文楷体" panose="02010600040101010101" pitchFamily="2" charset="-122"/>
                  </a:rPr>
                  <a:t>G=(V,E)</a:t>
                </a:r>
                <a:r>
                  <a:rPr lang="zh-CN" altLang="en-US" sz="1800" dirty="0" smtClean="0">
                    <a:ea typeface="华文楷体" panose="02010600040101010101" pitchFamily="2" charset="-122"/>
                  </a:rPr>
                  <a:t>和权重函数</a:t>
                </a:r>
                <a:r>
                  <a:rPr lang="en-US" altLang="zh-CN" sz="1800" dirty="0" smtClean="0">
                    <a:ea typeface="华文楷体" panose="02010600040101010101" pitchFamily="2" charset="-122"/>
                  </a:rPr>
                  <a:t>w:</a:t>
                </a:r>
                <a14:m>
                  <m:oMath xmlns:m="http://schemas.openxmlformats.org/officeDocument/2006/math">
                    <m:r>
                      <a:rPr lang="en-US" altLang="zh-CN" sz="1800" b="0" i="1" smtClean="0">
                        <a:latin typeface="Cambria Math" panose="02040503050406030204" pitchFamily="18" charset="0"/>
                      </a:rPr>
                      <m:t>𝐸</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𝑅</m:t>
                    </m:r>
                    <m:r>
                      <a:rPr lang="zh-CN" altLang="en-US" sz="1800" i="1">
                        <a:latin typeface="Cambria Math" panose="02040503050406030204" pitchFamily="18" charset="0"/>
                        <a:ea typeface="Cambria Math" panose="02040503050406030204" pitchFamily="18" charset="0"/>
                      </a:rPr>
                      <m:t>，</m:t>
                    </m:r>
                  </m:oMath>
                </a14:m>
                <a:r>
                  <a:rPr lang="zh-CN" altLang="en-US" sz="1800" dirty="0" smtClean="0">
                    <a:ea typeface="华文楷体" panose="02010600040101010101" pitchFamily="2" charset="-122"/>
                  </a:rPr>
                  <a:t>该</a:t>
                </a:r>
                <a:r>
                  <a:rPr lang="zh-CN" altLang="en-US" sz="1800" dirty="0">
                    <a:ea typeface="华文楷体" panose="02010600040101010101" pitchFamily="2" charset="-122"/>
                  </a:rPr>
                  <a:t>权重</a:t>
                </a:r>
                <a:r>
                  <a:rPr lang="zh-CN" altLang="en-US" sz="1800" dirty="0" smtClean="0">
                    <a:ea typeface="华文楷体" panose="02010600040101010101" pitchFamily="2" charset="-122"/>
                  </a:rPr>
                  <a:t>函数将每条边映射到实数值的权重上。图中一条路径</a:t>
                </a:r>
                <a:r>
                  <a:rPr lang="en-US" altLang="zh-CN" sz="1800" dirty="0" smtClean="0">
                    <a:ea typeface="华文楷体" panose="02010600040101010101" pitchFamily="2" charset="-122"/>
                  </a:rPr>
                  <a:t>p=&lt;v</a:t>
                </a:r>
                <a:r>
                  <a:rPr lang="en-US" altLang="zh-CN" sz="1800" baseline="-25000" dirty="0" smtClean="0">
                    <a:ea typeface="华文楷体" panose="02010600040101010101" pitchFamily="2" charset="-122"/>
                  </a:rPr>
                  <a:t>0</a:t>
                </a:r>
                <a:r>
                  <a:rPr lang="en-US" altLang="zh-CN" sz="1800" dirty="0" smtClean="0">
                    <a:ea typeface="华文楷体" panose="02010600040101010101" pitchFamily="2" charset="-122"/>
                  </a:rPr>
                  <a:t>,v</a:t>
                </a:r>
                <a:r>
                  <a:rPr lang="en-US" altLang="zh-CN" sz="1800" baseline="-25000" dirty="0">
                    <a:ea typeface="华文楷体" panose="02010600040101010101" pitchFamily="2" charset="-122"/>
                  </a:rPr>
                  <a:t>1</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k</a:t>
                </a:r>
                <a:r>
                  <a:rPr lang="en-US" altLang="zh-CN" sz="1800" dirty="0" smtClean="0">
                    <a:ea typeface="华文楷体" panose="02010600040101010101" pitchFamily="2" charset="-122"/>
                  </a:rPr>
                  <a:t>&gt;</a:t>
                </a:r>
                <a:r>
                  <a:rPr lang="zh-CN" altLang="en-US" sz="1800" dirty="0" smtClean="0">
                    <a:ea typeface="华文楷体" panose="02010600040101010101" pitchFamily="2" charset="-122"/>
                  </a:rPr>
                  <a:t>的权重</a:t>
                </a:r>
                <a:r>
                  <a:rPr lang="en-US" altLang="zh-CN" sz="1800" dirty="0" smtClean="0">
                    <a:ea typeface="华文楷体" panose="02010600040101010101" pitchFamily="2" charset="-122"/>
                  </a:rPr>
                  <a:t>w(p)</a:t>
                </a:r>
                <a:r>
                  <a:rPr lang="zh-CN" altLang="en-US" sz="1800" dirty="0" smtClean="0">
                    <a:ea typeface="华文楷体" panose="02010600040101010101" pitchFamily="2" charset="-122"/>
                  </a:rPr>
                  <a:t>是所有边的权重之和</a:t>
                </a:r>
                <a14:m>
                  <m:oMath xmlns:m="http://schemas.openxmlformats.org/officeDocument/2006/math">
                    <m:r>
                      <a:rPr lang="en-US" altLang="zh-CN" sz="1800" b="0" i="1" smtClean="0">
                        <a:latin typeface="Cambria Math" panose="02040503050406030204" pitchFamily="18" charset="0"/>
                        <a:ea typeface="华文楷体" panose="02010600040101010101" pitchFamily="2" charset="-122"/>
                      </a:rPr>
                      <m:t>𝑤</m:t>
                    </m:r>
                    <m:d>
                      <m:dPr>
                        <m:ctrlPr>
                          <a:rPr lang="en-US" altLang="zh-CN" sz="1800" b="0" i="1" smtClean="0">
                            <a:latin typeface="Cambria Math" panose="02040503050406030204" pitchFamily="18" charset="0"/>
                            <a:ea typeface="华文楷体" panose="02010600040101010101" pitchFamily="2" charset="-122"/>
                          </a:rPr>
                        </m:ctrlPr>
                      </m:dPr>
                      <m:e>
                        <m:r>
                          <a:rPr lang="en-US" altLang="zh-CN" sz="1800" b="0" i="1" smtClean="0">
                            <a:latin typeface="Cambria Math" panose="02040503050406030204" pitchFamily="18" charset="0"/>
                            <a:ea typeface="华文楷体" panose="02010600040101010101" pitchFamily="2" charset="-122"/>
                          </a:rPr>
                          <m:t>𝑝</m:t>
                        </m:r>
                      </m:e>
                    </m:d>
                    <m:r>
                      <a:rPr lang="en-US" altLang="zh-CN" sz="1800" b="0" i="1" smtClean="0">
                        <a:latin typeface="Cambria Math" panose="02040503050406030204" pitchFamily="18" charset="0"/>
                        <a:ea typeface="华文楷体" panose="02010600040101010101" pitchFamily="2" charset="-122"/>
                      </a:rPr>
                      <m:t>=</m:t>
                    </m:r>
                    <m:nary>
                      <m:naryPr>
                        <m:chr m:val="∑"/>
                        <m:ctrlPr>
                          <a:rPr lang="en-US" altLang="zh-CN" sz="1800" b="0" i="1" smtClean="0">
                            <a:latin typeface="Cambria Math" panose="02040503050406030204" pitchFamily="18" charset="0"/>
                            <a:ea typeface="华文楷体" panose="02010600040101010101" pitchFamily="2" charset="-122"/>
                          </a:rPr>
                        </m:ctrlPr>
                      </m:naryPr>
                      <m:sub>
                        <m:r>
                          <m:rPr>
                            <m:brk m:alnAt="23"/>
                          </m:rPr>
                          <a:rPr lang="en-US" altLang="zh-CN" sz="1800" b="0" i="1" smtClean="0">
                            <a:latin typeface="Cambria Math" panose="02040503050406030204" pitchFamily="18" charset="0"/>
                            <a:ea typeface="华文楷体" panose="02010600040101010101" pitchFamily="2" charset="-122"/>
                          </a:rPr>
                          <m:t>𝑖</m:t>
                        </m:r>
                        <m:r>
                          <a:rPr lang="en-US" altLang="zh-CN" sz="1800" b="0" i="1" smtClean="0">
                            <a:latin typeface="Cambria Math" panose="02040503050406030204" pitchFamily="18" charset="0"/>
                            <a:ea typeface="华文楷体" panose="02010600040101010101" pitchFamily="2" charset="-122"/>
                          </a:rPr>
                          <m:t>=</m:t>
                        </m:r>
                        <m:r>
                          <a:rPr lang="en-US" altLang="zh-CN" sz="1800" b="0" i="1" smtClean="0">
                            <a:latin typeface="Cambria Math" panose="02040503050406030204" pitchFamily="18" charset="0"/>
                            <a:ea typeface="华文楷体" panose="02010600040101010101" pitchFamily="2" charset="-122"/>
                          </a:rPr>
                          <m:t>1</m:t>
                        </m:r>
                      </m:sub>
                      <m:sup>
                        <m:r>
                          <a:rPr lang="en-US" altLang="zh-CN" sz="1800" b="0" i="1" smtClean="0">
                            <a:latin typeface="Cambria Math" panose="02040503050406030204" pitchFamily="18" charset="0"/>
                            <a:ea typeface="华文楷体" panose="02010600040101010101" pitchFamily="2" charset="-122"/>
                          </a:rPr>
                          <m:t>𝑘</m:t>
                        </m:r>
                      </m:sup>
                      <m:e>
                        <m:r>
                          <a:rPr lang="en-US" altLang="zh-CN" sz="1800" b="0" i="1" smtClean="0">
                            <a:latin typeface="Cambria Math" panose="02040503050406030204" pitchFamily="18" charset="0"/>
                            <a:ea typeface="华文楷体" panose="02010600040101010101" pitchFamily="2" charset="-122"/>
                          </a:rPr>
                          <m:t>𝑤</m:t>
                        </m:r>
                        <m:r>
                          <a:rPr lang="en-US" altLang="zh-CN" sz="1800" b="0" i="1" smtClean="0">
                            <a:latin typeface="Cambria Math" panose="02040503050406030204" pitchFamily="18" charset="0"/>
                            <a:ea typeface="华文楷体" panose="02010600040101010101" pitchFamily="2" charset="-122"/>
                          </a:rPr>
                          <m:t>(</m:t>
                        </m:r>
                        <m:sSub>
                          <m:sSubPr>
                            <m:ctrlPr>
                              <a:rPr lang="en-US" altLang="zh-CN" sz="1800" b="0" i="1" smtClean="0">
                                <a:latin typeface="Cambria Math" panose="02040503050406030204" pitchFamily="18" charset="0"/>
                                <a:ea typeface="华文楷体" panose="02010600040101010101" pitchFamily="2" charset="-122"/>
                              </a:rPr>
                            </m:ctrlPr>
                          </m:sSubPr>
                          <m:e>
                            <m:r>
                              <a:rPr lang="en-US" altLang="zh-CN" sz="1800" b="0" i="1" smtClean="0">
                                <a:latin typeface="Cambria Math" panose="02040503050406030204" pitchFamily="18" charset="0"/>
                                <a:ea typeface="华文楷体" panose="02010600040101010101" pitchFamily="2" charset="-122"/>
                              </a:rPr>
                              <m:t>𝑣</m:t>
                            </m:r>
                          </m:e>
                          <m:sub>
                            <m:r>
                              <a:rPr lang="en-US" altLang="zh-CN" sz="1800" b="0" i="1" smtClean="0">
                                <a:latin typeface="Cambria Math" panose="02040503050406030204" pitchFamily="18" charset="0"/>
                                <a:ea typeface="华文楷体" panose="02010600040101010101" pitchFamily="2" charset="-122"/>
                              </a:rPr>
                              <m:t>𝑖</m:t>
                            </m:r>
                            <m:r>
                              <a:rPr lang="en-US" altLang="zh-CN" sz="1800" b="0" i="1" smtClean="0">
                                <a:latin typeface="Cambria Math" panose="02040503050406030204" pitchFamily="18" charset="0"/>
                                <a:ea typeface="华文楷体" panose="02010600040101010101" pitchFamily="2" charset="-122"/>
                              </a:rPr>
                              <m:t>−</m:t>
                            </m:r>
                            <m:r>
                              <a:rPr lang="en-US" altLang="zh-CN" sz="1800" b="0" i="1" smtClean="0">
                                <a:latin typeface="Cambria Math" panose="02040503050406030204" pitchFamily="18" charset="0"/>
                                <a:ea typeface="华文楷体" panose="02010600040101010101" pitchFamily="2" charset="-122"/>
                              </a:rPr>
                              <m:t>1</m:t>
                            </m:r>
                          </m:sub>
                        </m:sSub>
                        <m:r>
                          <a:rPr lang="en-US" altLang="zh-CN" sz="1800" b="0" i="1" smtClean="0">
                            <a:latin typeface="Cambria Math" panose="02040503050406030204" pitchFamily="18" charset="0"/>
                            <a:ea typeface="华文楷体" panose="02010600040101010101" pitchFamily="2" charset="-122"/>
                          </a:rPr>
                          <m:t>,</m:t>
                        </m:r>
                        <m:sSub>
                          <m:sSubPr>
                            <m:ctrlPr>
                              <a:rPr lang="en-US" altLang="zh-CN" sz="1800" b="0" i="1" smtClean="0">
                                <a:latin typeface="Cambria Math" panose="02040503050406030204" pitchFamily="18" charset="0"/>
                                <a:ea typeface="华文楷体" panose="02010600040101010101" pitchFamily="2" charset="-122"/>
                              </a:rPr>
                            </m:ctrlPr>
                          </m:sSubPr>
                          <m:e>
                            <m:r>
                              <a:rPr lang="en-US" altLang="zh-CN" sz="1800" b="0" i="1" smtClean="0">
                                <a:latin typeface="Cambria Math" panose="02040503050406030204" pitchFamily="18" charset="0"/>
                                <a:ea typeface="华文楷体" panose="02010600040101010101" pitchFamily="2" charset="-122"/>
                              </a:rPr>
                              <m:t>𝑣</m:t>
                            </m:r>
                          </m:e>
                          <m:sub>
                            <m:r>
                              <a:rPr lang="en-US" altLang="zh-CN" sz="1800" b="0" i="1" smtClean="0">
                                <a:latin typeface="Cambria Math" panose="02040503050406030204" pitchFamily="18" charset="0"/>
                                <a:ea typeface="华文楷体" panose="02010600040101010101" pitchFamily="2" charset="-122"/>
                              </a:rPr>
                              <m:t>𝑖</m:t>
                            </m:r>
                          </m:sub>
                        </m:sSub>
                        <m:r>
                          <a:rPr lang="en-US" altLang="zh-CN" sz="1800" b="0" i="1" smtClean="0">
                            <a:latin typeface="Cambria Math" panose="02040503050406030204" pitchFamily="18" charset="0"/>
                            <a:ea typeface="华文楷体" panose="02010600040101010101" pitchFamily="2" charset="-122"/>
                          </a:rPr>
                          <m:t>)</m:t>
                        </m:r>
                      </m:e>
                    </m:nary>
                    <m:r>
                      <a:rPr lang="zh-CN" altLang="en-US" sz="1800" i="1">
                        <a:latin typeface="Cambria Math" panose="02040503050406030204" pitchFamily="18" charset="0"/>
                        <a:ea typeface="华文楷体" panose="02010600040101010101" pitchFamily="2" charset="-122"/>
                      </a:rPr>
                      <m:t>。</m:t>
                    </m:r>
                  </m:oMath>
                </a14:m>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顶点</a:t>
                </a:r>
                <a:r>
                  <a:rPr lang="en-US" altLang="zh-CN" sz="1800" dirty="0" smtClean="0">
                    <a:ea typeface="华文楷体" panose="02010600040101010101" pitchFamily="2" charset="-122"/>
                  </a:rPr>
                  <a:t>u</a:t>
                </a:r>
                <a:r>
                  <a:rPr lang="zh-CN" altLang="en-US" sz="1800" dirty="0" smtClean="0">
                    <a:ea typeface="华文楷体" panose="02010600040101010101" pitchFamily="2" charset="-122"/>
                  </a:rPr>
                  <a:t>到</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a:t>
                </a:r>
                <a:r>
                  <a:rPr lang="zh-CN" altLang="en-US" sz="1800" b="1" dirty="0" smtClean="0">
                    <a:solidFill>
                      <a:srgbClr val="C00000"/>
                    </a:solidFill>
                    <a:ea typeface="华文楷体" panose="02010600040101010101" pitchFamily="2" charset="-122"/>
                  </a:rPr>
                  <a:t>最短路径</a:t>
                </a:r>
                <a14:m>
                  <m:oMath xmlns:m="http://schemas.openxmlformats.org/officeDocument/2006/math">
                    <m:r>
                      <a:rPr lang="zh-CN" altLang="en-US" sz="1800" i="1">
                        <a:latin typeface="Cambria Math" panose="02040503050406030204" pitchFamily="18" charset="0"/>
                        <a:ea typeface="华文楷体" panose="02010600040101010101" pitchFamily="2" charset="-122"/>
                      </a:rPr>
                      <m:t>𝛿</m:t>
                    </m:r>
                    <m:d>
                      <m:dPr>
                        <m:ctrlPr>
                          <a:rPr lang="en-US" altLang="zh-CN" sz="1800" i="1">
                            <a:latin typeface="Cambria Math" panose="02040503050406030204" pitchFamily="18" charset="0"/>
                            <a:ea typeface="华文楷体" panose="02010600040101010101" pitchFamily="2" charset="-122"/>
                          </a:rPr>
                        </m:ctrlPr>
                      </m:dPr>
                      <m:e>
                        <m:r>
                          <a:rPr lang="en-US" altLang="zh-CN" sz="1800" i="1">
                            <a:latin typeface="Cambria Math" panose="02040503050406030204" pitchFamily="18" charset="0"/>
                            <a:ea typeface="华文楷体" panose="02010600040101010101" pitchFamily="2" charset="-122"/>
                          </a:rPr>
                          <m:t>𝑢</m:t>
                        </m:r>
                        <m:r>
                          <a:rPr lang="en-US" altLang="zh-CN" sz="1800" i="1">
                            <a:latin typeface="Cambria Math" panose="02040503050406030204" pitchFamily="18" charset="0"/>
                            <a:ea typeface="华文楷体" panose="02010600040101010101" pitchFamily="2" charset="-122"/>
                          </a:rPr>
                          <m:t>,</m:t>
                        </m:r>
                        <m:r>
                          <a:rPr lang="en-US" altLang="zh-CN" sz="1800" i="1">
                            <a:latin typeface="Cambria Math" panose="02040503050406030204" pitchFamily="18" charset="0"/>
                            <a:ea typeface="华文楷体" panose="02010600040101010101" pitchFamily="2" charset="-122"/>
                          </a:rPr>
                          <m:t>𝑣</m:t>
                        </m:r>
                      </m:e>
                    </m:d>
                    <m:r>
                      <a:rPr lang="zh-CN" altLang="en-US" sz="1800" b="1" i="1" dirty="0" smtClean="0">
                        <a:solidFill>
                          <a:schemeClr val="tx1"/>
                        </a:solidFill>
                        <a:latin typeface="Cambria Math" panose="02040503050406030204" pitchFamily="18" charset="0"/>
                        <a:ea typeface="华文楷体" panose="02010600040101010101" pitchFamily="2" charset="-122"/>
                      </a:rPr>
                      <m:t>：</m:t>
                    </m:r>
                    <m:r>
                      <a:rPr lang="zh-CN" altLang="en-US" sz="1800" i="1" smtClean="0">
                        <a:latin typeface="Cambria Math" panose="02040503050406030204" pitchFamily="18" charset="0"/>
                        <a:ea typeface="华文楷体" panose="02010600040101010101" pitchFamily="2" charset="-122"/>
                      </a:rPr>
                      <m:t>𝛿</m:t>
                    </m:r>
                    <m:d>
                      <m:dPr>
                        <m:ctrlPr>
                          <a:rPr lang="en-US" altLang="zh-CN" sz="1800" b="0" i="1" smtClean="0">
                            <a:latin typeface="Cambria Math" panose="02040503050406030204" pitchFamily="18" charset="0"/>
                            <a:ea typeface="华文楷体" panose="02010600040101010101" pitchFamily="2" charset="-122"/>
                          </a:rPr>
                        </m:ctrlPr>
                      </m:dPr>
                      <m:e>
                        <m:r>
                          <a:rPr lang="en-US" altLang="zh-CN" sz="1800" b="0" i="1" smtClean="0">
                            <a:latin typeface="Cambria Math" panose="02040503050406030204" pitchFamily="18" charset="0"/>
                            <a:ea typeface="华文楷体" panose="02010600040101010101" pitchFamily="2" charset="-122"/>
                          </a:rPr>
                          <m:t>𝑢</m:t>
                        </m:r>
                        <m:r>
                          <a:rPr lang="en-US" altLang="zh-CN" sz="1800" b="0" i="1" smtClean="0">
                            <a:latin typeface="Cambria Math" panose="02040503050406030204" pitchFamily="18" charset="0"/>
                            <a:ea typeface="华文楷体" panose="02010600040101010101" pitchFamily="2" charset="-122"/>
                          </a:rPr>
                          <m:t>,</m:t>
                        </m:r>
                        <m:r>
                          <a:rPr lang="en-US" altLang="zh-CN" sz="1800" b="0" i="1" smtClean="0">
                            <a:latin typeface="Cambria Math" panose="02040503050406030204" pitchFamily="18" charset="0"/>
                            <a:ea typeface="华文楷体" panose="02010600040101010101" pitchFamily="2" charset="-122"/>
                          </a:rPr>
                          <m:t>𝑣</m:t>
                        </m:r>
                      </m:e>
                    </m:d>
                    <m:r>
                      <a:rPr lang="en-US" altLang="zh-CN" sz="1800" b="0" i="1" smtClean="0">
                        <a:latin typeface="Cambria Math" panose="02040503050406030204" pitchFamily="18" charset="0"/>
                        <a:ea typeface="华文楷体" panose="02010600040101010101" pitchFamily="2" charset="-122"/>
                      </a:rPr>
                      <m:t>=</m:t>
                    </m:r>
                    <m:d>
                      <m:dPr>
                        <m:begChr m:val="{"/>
                        <m:endChr m:val=""/>
                        <m:ctrlPr>
                          <a:rPr lang="en-US" altLang="zh-CN" sz="1800" b="0" i="1" smtClean="0">
                            <a:latin typeface="Cambria Math" panose="02040503050406030204" pitchFamily="18" charset="0"/>
                            <a:ea typeface="华文楷体" panose="02010600040101010101" pitchFamily="2" charset="-122"/>
                          </a:rPr>
                        </m:ctrlPr>
                      </m:dPr>
                      <m:e>
                        <m:eqArr>
                          <m:eqArrPr>
                            <m:ctrlPr>
                              <a:rPr lang="en-US" altLang="zh-CN" sz="1800" b="0" i="1" smtClean="0">
                                <a:latin typeface="Cambria Math" panose="02040503050406030204" pitchFamily="18" charset="0"/>
                                <a:ea typeface="华文楷体" panose="02010600040101010101" pitchFamily="2" charset="-122"/>
                              </a:rPr>
                            </m:ctrlPr>
                          </m:eqArrPr>
                          <m:e>
                            <m:func>
                              <m:funcPr>
                                <m:ctrlPr>
                                  <a:rPr lang="en-US" altLang="zh-CN" sz="1800" b="0" i="1" smtClean="0">
                                    <a:latin typeface="Cambria Math" panose="02040503050406030204" pitchFamily="18" charset="0"/>
                                    <a:ea typeface="华文楷体" panose="02010600040101010101" pitchFamily="2" charset="-122"/>
                                  </a:rPr>
                                </m:ctrlPr>
                              </m:funcPr>
                              <m:fName>
                                <m:r>
                                  <m:rPr>
                                    <m:sty m:val="p"/>
                                  </m:rPr>
                                  <a:rPr lang="en-US" altLang="zh-CN" sz="1800" b="0" i="0" smtClean="0">
                                    <a:latin typeface="Cambria Math" panose="02040503050406030204" pitchFamily="18" charset="0"/>
                                    <a:ea typeface="华文楷体" panose="02010600040101010101" pitchFamily="2" charset="-122"/>
                                  </a:rPr>
                                  <m:t>min</m:t>
                                </m:r>
                              </m:fName>
                              <m:e>
                                <m:d>
                                  <m:dPr>
                                    <m:begChr m:val="{"/>
                                    <m:endChr m:val="}"/>
                                    <m:ctrlPr>
                                      <a:rPr lang="en-US" altLang="zh-CN" sz="1800" b="0" i="1" smtClean="0">
                                        <a:latin typeface="Cambria Math" panose="02040503050406030204" pitchFamily="18" charset="0"/>
                                        <a:ea typeface="华文楷体" panose="02010600040101010101" pitchFamily="2" charset="-122"/>
                                      </a:rPr>
                                    </m:ctrlPr>
                                  </m:dPr>
                                  <m:e>
                                    <m:r>
                                      <a:rPr lang="en-US" altLang="zh-CN" sz="1800" b="0" i="1" smtClean="0">
                                        <a:latin typeface="Cambria Math" panose="02040503050406030204" pitchFamily="18" charset="0"/>
                                        <a:ea typeface="华文楷体" panose="02010600040101010101" pitchFamily="2" charset="-122"/>
                                      </a:rPr>
                                      <m:t>𝑤</m:t>
                                    </m:r>
                                    <m:d>
                                      <m:dPr>
                                        <m:ctrlPr>
                                          <a:rPr lang="en-US" altLang="zh-CN" sz="1800" b="0" i="1" smtClean="0">
                                            <a:latin typeface="Cambria Math" panose="02040503050406030204" pitchFamily="18" charset="0"/>
                                            <a:ea typeface="华文楷体" panose="02010600040101010101" pitchFamily="2" charset="-122"/>
                                          </a:rPr>
                                        </m:ctrlPr>
                                      </m:dPr>
                                      <m:e>
                                        <m:r>
                                          <a:rPr lang="en-US" altLang="zh-CN" sz="1800" b="0" i="1" smtClean="0">
                                            <a:latin typeface="Cambria Math" panose="02040503050406030204" pitchFamily="18" charset="0"/>
                                            <a:ea typeface="华文楷体" panose="02010600040101010101" pitchFamily="2" charset="-122"/>
                                          </a:rPr>
                                          <m:t>𝑝</m:t>
                                        </m:r>
                                      </m:e>
                                    </m:d>
                                    <m:r>
                                      <a:rPr lang="en-US" altLang="zh-CN" sz="1800" b="0" i="1" smtClean="0">
                                        <a:latin typeface="Cambria Math" panose="02040503050406030204" pitchFamily="18" charset="0"/>
                                        <a:ea typeface="华文楷体" panose="02010600040101010101" pitchFamily="2" charset="-122"/>
                                      </a:rPr>
                                      <m:t>:</m:t>
                                    </m:r>
                                    <m:r>
                                      <a:rPr lang="en-US" altLang="zh-CN" sz="1800" b="0" i="1" smtClean="0">
                                        <a:latin typeface="Cambria Math" panose="02040503050406030204" pitchFamily="18" charset="0"/>
                                        <a:ea typeface="华文楷体" panose="02010600040101010101" pitchFamily="2" charset="-122"/>
                                      </a:rPr>
                                      <m:t>𝑢</m:t>
                                    </m:r>
                                    <m:groupChr>
                                      <m:groupChrPr>
                                        <m:chr m:val="→"/>
                                        <m:vertJc m:val="bot"/>
                                        <m:ctrlPr>
                                          <a:rPr lang="en-US" altLang="zh-CN" sz="1800" b="0" i="1" smtClean="0">
                                            <a:latin typeface="Cambria Math" panose="02040503050406030204" pitchFamily="18" charset="0"/>
                                            <a:ea typeface="华文楷体" panose="02010600040101010101" pitchFamily="2" charset="-122"/>
                                          </a:rPr>
                                        </m:ctrlPr>
                                      </m:groupChrPr>
                                      <m:e>
                                        <m:r>
                                          <m:rPr>
                                            <m:brk m:alnAt="2"/>
                                          </m:rPr>
                                          <a:rPr lang="en-US" altLang="zh-CN" sz="1800" b="0" i="1" smtClean="0">
                                            <a:latin typeface="Cambria Math" panose="02040503050406030204" pitchFamily="18" charset="0"/>
                                            <a:ea typeface="华文楷体" panose="02010600040101010101" pitchFamily="2" charset="-122"/>
                                          </a:rPr>
                                          <m:t>𝑝</m:t>
                                        </m:r>
                                      </m:e>
                                    </m:groupChr>
                                    <m:r>
                                      <a:rPr lang="en-US" altLang="zh-CN" sz="1800" b="0" i="1" smtClean="0">
                                        <a:latin typeface="Cambria Math" panose="02040503050406030204" pitchFamily="18" charset="0"/>
                                        <a:ea typeface="华文楷体" panose="02010600040101010101" pitchFamily="2" charset="-122"/>
                                      </a:rPr>
                                      <m:t>𝑣</m:t>
                                    </m:r>
                                  </m:e>
                                </m:d>
                                <m:r>
                                  <a:rPr lang="en-US" altLang="zh-CN" sz="1800" b="0" i="1" smtClean="0">
                                    <a:latin typeface="Cambria Math" panose="02040503050406030204" pitchFamily="18" charset="0"/>
                                    <a:ea typeface="华文楷体" panose="02010600040101010101" pitchFamily="2" charset="-122"/>
                                  </a:rPr>
                                  <m:t>,</m:t>
                                </m:r>
                                <m:r>
                                  <a:rPr lang="zh-CN" altLang="en-US" sz="1800" i="1" smtClean="0">
                                    <a:latin typeface="Cambria Math" panose="02040503050406030204" pitchFamily="18" charset="0"/>
                                    <a:ea typeface="华文楷体" panose="02010600040101010101" pitchFamily="2" charset="-122"/>
                                  </a:rPr>
                                  <m:t>存在</m:t>
                                </m:r>
                                <m:r>
                                  <m:rPr>
                                    <m:sty m:val="p"/>
                                  </m:rPr>
                                  <a:rPr lang="en-US" altLang="zh-CN" sz="1800" i="1">
                                    <a:latin typeface="Cambria Math" panose="02040503050406030204" pitchFamily="18" charset="0"/>
                                    <a:ea typeface="华文楷体" panose="02010600040101010101" pitchFamily="2" charset="-122"/>
                                  </a:rPr>
                                  <m:t>u</m:t>
                                </m:r>
                                <m:r>
                                  <a:rPr lang="zh-CN" altLang="en-US" sz="1800" i="1" smtClean="0">
                                    <a:latin typeface="Cambria Math" panose="02040503050406030204" pitchFamily="18" charset="0"/>
                                    <a:ea typeface="华文楷体" panose="02010600040101010101" pitchFamily="2" charset="-122"/>
                                  </a:rPr>
                                  <m:t>到</m:t>
                                </m:r>
                                <m:r>
                                  <m:rPr>
                                    <m:sty m:val="p"/>
                                  </m:rPr>
                                  <a:rPr lang="en-US" altLang="zh-CN" sz="1800" i="1">
                                    <a:latin typeface="Cambria Math" panose="02040503050406030204" pitchFamily="18" charset="0"/>
                                    <a:ea typeface="华文楷体" panose="02010600040101010101" pitchFamily="2" charset="-122"/>
                                  </a:rPr>
                                  <m:t>v</m:t>
                                </m:r>
                                <m:r>
                                  <a:rPr lang="zh-CN" altLang="en-US" sz="1800" i="1" smtClean="0">
                                    <a:latin typeface="Cambria Math" panose="02040503050406030204" pitchFamily="18" charset="0"/>
                                    <a:ea typeface="华文楷体" panose="02010600040101010101" pitchFamily="2" charset="-122"/>
                                  </a:rPr>
                                  <m:t>的</m:t>
                                </m:r>
                                <m:r>
                                  <a:rPr lang="zh-CN" altLang="en-US" sz="1800" i="1">
                                    <a:latin typeface="Cambria Math" panose="02040503050406030204" pitchFamily="18" charset="0"/>
                                    <a:ea typeface="华文楷体" panose="02010600040101010101" pitchFamily="2" charset="-122"/>
                                  </a:rPr>
                                  <m:t>路径</m:t>
                                </m:r>
                              </m:e>
                            </m:func>
                          </m:e>
                          <m:e>
                            <m:r>
                              <a:rPr lang="en-US" altLang="zh-CN" sz="1800" b="0" i="1" smtClean="0">
                                <a:latin typeface="Cambria Math" panose="02040503050406030204" pitchFamily="18" charset="0"/>
                                <a:ea typeface="Cambria Math" panose="02040503050406030204" pitchFamily="18" charset="0"/>
                              </a:rPr>
                              <m:t>∞</m:t>
                            </m:r>
                          </m:e>
                        </m:eqArr>
                      </m:e>
                    </m:d>
                  </m:oMath>
                </a14:m>
                <a:endParaRPr lang="en-US" altLang="zh-CN" sz="1800" dirty="0" smtClean="0">
                  <a:ea typeface="华文楷体" panose="02010600040101010101" pitchFamily="2" charset="-122"/>
                </a:endParaRPr>
              </a:p>
              <a:p>
                <a:pPr marL="0" indent="0">
                  <a:buNone/>
                </a:pPr>
                <a:r>
                  <a:rPr lang="zh-CN" altLang="en-US" sz="1800" b="1" dirty="0" smtClean="0">
                    <a:solidFill>
                      <a:srgbClr val="C00000"/>
                    </a:solidFill>
                    <a:ea typeface="华文楷体" panose="02010600040101010101" pitchFamily="2" charset="-122"/>
                  </a:rPr>
                  <a:t>单源点最短路径</a:t>
                </a:r>
                <a:r>
                  <a:rPr lang="zh-CN" altLang="en-US" sz="1800" dirty="0" smtClean="0">
                    <a:ea typeface="华文楷体" panose="02010600040101010101" pitchFamily="2" charset="-122"/>
                  </a:rPr>
                  <a:t>：给定一个有向图</a:t>
                </a:r>
                <a:r>
                  <a:rPr lang="en-US" altLang="zh-CN" sz="1800" dirty="0">
                    <a:ea typeface="华文楷体" panose="02010600040101010101" pitchFamily="2" charset="-122"/>
                  </a:rPr>
                  <a:t>G=(V,E</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，求给定源点</a:t>
                </a:r>
                <a14:m>
                  <m:oMath xmlns:m="http://schemas.openxmlformats.org/officeDocument/2006/math">
                    <m:r>
                      <m:rPr>
                        <m:sty m:val="p"/>
                      </m:rPr>
                      <a:rPr lang="en-US" altLang="zh-CN" sz="1800" i="1" dirty="0">
                        <a:latin typeface="Cambria Math" panose="02040503050406030204" pitchFamily="18" charset="0"/>
                        <a:ea typeface="华文楷体" panose="02010600040101010101" pitchFamily="2" charset="-122"/>
                      </a:rPr>
                      <m:t>s</m:t>
                    </m:r>
                    <m:r>
                      <a:rPr lang="en-US" altLang="zh-CN" sz="180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ea typeface="Cambria Math" panose="02040503050406030204" pitchFamily="18" charset="0"/>
                      </a:rPr>
                      <m:t>𝑉</m:t>
                    </m:r>
                    <m:r>
                      <a:rPr lang="zh-CN" altLang="en-US" sz="1800" i="1" dirty="0">
                        <a:latin typeface="Cambria Math" panose="02040503050406030204" pitchFamily="18" charset="0"/>
                        <a:ea typeface="Cambria Math" panose="02040503050406030204" pitchFamily="18" charset="0"/>
                      </a:rPr>
                      <m:t>到</m:t>
                    </m:r>
                  </m:oMath>
                </a14:m>
                <a:r>
                  <a:rPr lang="zh-CN" altLang="en-US" sz="1800" dirty="0" smtClean="0">
                    <a:ea typeface="华文楷体" panose="02010600040101010101" pitchFamily="2" charset="-122"/>
                  </a:rPr>
                  <a:t>每个顶点</a:t>
                </a:r>
                <a14:m>
                  <m:oMath xmlns:m="http://schemas.openxmlformats.org/officeDocument/2006/math">
                    <m:r>
                      <m:rPr>
                        <m:sty m:val="p"/>
                      </m:rPr>
                      <a:rPr lang="en-US" altLang="zh-CN" sz="1800" i="1" dirty="0">
                        <a:latin typeface="Cambria Math" panose="02040503050406030204" pitchFamily="18" charset="0"/>
                        <a:ea typeface="华文楷体" panose="02010600040101010101" pitchFamily="2" charset="-122"/>
                      </a:rPr>
                      <m:t>v</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ea typeface="Cambria Math" panose="02040503050406030204" pitchFamily="18" charset="0"/>
                      </a:rPr>
                      <m:t>𝑉</m:t>
                    </m:r>
                  </m:oMath>
                </a14:m>
                <a:r>
                  <a:rPr lang="zh-CN" altLang="en-US" sz="1800" dirty="0" smtClean="0">
                    <a:ea typeface="华文楷体" panose="02010600040101010101" pitchFamily="2" charset="-122"/>
                  </a:rPr>
                  <a:t>的最短路径。</a:t>
                </a:r>
                <a:endParaRPr lang="en-US" altLang="zh-CN" sz="1800" dirty="0" smtClean="0">
                  <a:ea typeface="华文楷体" panose="02010600040101010101" pitchFamily="2" charset="-122"/>
                </a:endParaRPr>
              </a:p>
              <a:p>
                <a:pPr marL="0" indent="0">
                  <a:buNone/>
                </a:pPr>
                <a:r>
                  <a:rPr lang="zh-CN" altLang="en-US" sz="1800" b="1" dirty="0">
                    <a:solidFill>
                      <a:srgbClr val="C00000"/>
                    </a:solidFill>
                    <a:ea typeface="华文楷体" panose="02010600040101010101" pitchFamily="2" charset="-122"/>
                  </a:rPr>
                  <a:t>最</a:t>
                </a:r>
                <a:r>
                  <a:rPr lang="zh-CN" altLang="en-US" sz="1800" b="1" dirty="0" smtClean="0">
                    <a:solidFill>
                      <a:srgbClr val="C00000"/>
                    </a:solidFill>
                    <a:ea typeface="华文楷体" panose="02010600040101010101" pitchFamily="2" charset="-122"/>
                  </a:rPr>
                  <a:t>短路径的最优子结构</a:t>
                </a:r>
                <a:r>
                  <a:rPr lang="zh-CN" altLang="en-US" sz="1800" dirty="0" smtClean="0">
                    <a:ea typeface="华文楷体" panose="02010600040101010101" pitchFamily="2" charset="-122"/>
                  </a:rPr>
                  <a:t>：两个顶点之间的最短路径包含着其他的最短路径。最短路径算法通常依赖于此性质。</a:t>
                </a:r>
                <a:endParaRPr lang="en-US" altLang="zh-CN" sz="1800" dirty="0" smtClean="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9059" y="1119495"/>
                <a:ext cx="8839200" cy="3300105"/>
              </a:xfrm>
              <a:blipFill rotWithShape="1">
                <a:blip r:embed="rId1"/>
                <a:stretch>
                  <a:fillRect l="-59" t="-154" r="-48" b="-135"/>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49059" y="4495800"/>
                <a:ext cx="9018741" cy="2397451"/>
              </a:xfrm>
              <a:prstGeom prst="rect">
                <a:avLst/>
              </a:prstGeom>
              <a:noFill/>
              <a:ln>
                <a:solidFill>
                  <a:schemeClr val="accent1"/>
                </a:solidFill>
              </a:ln>
            </p:spPr>
            <p:txBody>
              <a:bodyPr wrap="square" rtlCol="0">
                <a:spAutoFit/>
              </a:bodyPr>
              <a:lstStyle/>
              <a:p>
                <a:pPr marL="0" indent="0">
                  <a:buNone/>
                </a:pPr>
                <a:r>
                  <a:rPr lang="zh-CN" altLang="en-US" b="1" dirty="0" smtClean="0">
                    <a:solidFill>
                      <a:srgbClr val="C00000"/>
                    </a:solidFill>
                    <a:ea typeface="华文楷体" panose="02010600040101010101" pitchFamily="2" charset="-122"/>
                  </a:rPr>
                  <a:t>引理</a:t>
                </a:r>
                <a:r>
                  <a:rPr lang="en-US" altLang="zh-CN" b="1" dirty="0">
                    <a:solidFill>
                      <a:srgbClr val="C00000"/>
                    </a:solidFill>
                    <a:ea typeface="华文楷体" panose="02010600040101010101" pitchFamily="2" charset="-122"/>
                  </a:rPr>
                  <a:t>1-</a:t>
                </a:r>
                <a:r>
                  <a:rPr lang="zh-CN" altLang="en-US" b="1" dirty="0">
                    <a:solidFill>
                      <a:srgbClr val="C00000"/>
                    </a:solidFill>
                    <a:ea typeface="华文楷体" panose="02010600040101010101" pitchFamily="2" charset="-122"/>
                  </a:rPr>
                  <a:t>最短路径的子路径也是最短路径</a:t>
                </a:r>
                <a:r>
                  <a:rPr lang="zh-CN" altLang="en-US" dirty="0">
                    <a:ea typeface="华文楷体" panose="02010600040101010101" pitchFamily="2" charset="-122"/>
                  </a:rPr>
                  <a:t>：给定带权有向图</a:t>
                </a:r>
                <a:r>
                  <a:rPr lang="en-US" altLang="zh-CN" dirty="0">
                    <a:ea typeface="华文楷体" panose="02010600040101010101" pitchFamily="2" charset="-122"/>
                  </a:rPr>
                  <a:t>G=(V,E)</a:t>
                </a:r>
                <a:r>
                  <a:rPr lang="zh-CN" altLang="en-US" dirty="0">
                    <a:ea typeface="华文楷体" panose="02010600040101010101" pitchFamily="2" charset="-122"/>
                  </a:rPr>
                  <a:t>和权重函数</a:t>
                </a:r>
                <a:r>
                  <a:rPr lang="en-US" altLang="zh-CN" dirty="0">
                    <a:ea typeface="华文楷体" panose="02010600040101010101" pitchFamily="2" charset="-122"/>
                  </a:rPr>
                  <a:t>w:</a:t>
                </a:r>
                <a14:m>
                  <m:oMath xmlns:m="http://schemas.openxmlformats.org/officeDocument/2006/math">
                    <m:r>
                      <a:rPr lang="en-US" altLang="zh-CN">
                        <a:latin typeface="Cambria Math" panose="02040503050406030204" pitchFamily="18" charset="0"/>
                        <a:ea typeface="华文楷体" panose="02010600040101010101" pitchFamily="2" charset="-122"/>
                      </a:rPr>
                      <m:t>𝐸</m:t>
                    </m:r>
                    <m:r>
                      <a:rPr lang="en-US" altLang="zh-CN">
                        <a:latin typeface="Cambria Math" panose="02040503050406030204" pitchFamily="18" charset="0"/>
                        <a:ea typeface="华文楷体" panose="02010600040101010101" pitchFamily="2" charset="-122"/>
                      </a:rPr>
                      <m:t>→</m:t>
                    </m:r>
                    <m:r>
                      <a:rPr lang="en-US" altLang="zh-CN" i="1">
                        <a:latin typeface="Cambria Math" panose="02040503050406030204" pitchFamily="18" charset="0"/>
                        <a:ea typeface="Cambria Math" panose="02040503050406030204" pitchFamily="18" charset="0"/>
                      </a:rPr>
                      <m:t>𝑅</m:t>
                    </m:r>
                    <m:r>
                      <a:rPr lang="zh-CN" altLang="en-US">
                        <a:latin typeface="Cambria Math" panose="02040503050406030204" pitchFamily="18" charset="0"/>
                        <a:ea typeface="华文楷体" panose="02010600040101010101" pitchFamily="2" charset="-122"/>
                      </a:rPr>
                      <m:t>，设</m:t>
                    </m:r>
                  </m:oMath>
                </a14:m>
                <a:r>
                  <a:rPr lang="en-US" altLang="zh-CN" dirty="0">
                    <a:ea typeface="华文楷体" panose="02010600040101010101" pitchFamily="2" charset="-122"/>
                  </a:rPr>
                  <a:t>p=&lt;v</a:t>
                </a:r>
                <a:r>
                  <a:rPr lang="en-US" altLang="zh-CN" baseline="-25000" dirty="0">
                    <a:ea typeface="华文楷体" panose="02010600040101010101" pitchFamily="2" charset="-122"/>
                  </a:rPr>
                  <a:t>0</a:t>
                </a:r>
                <a:r>
                  <a:rPr lang="en-US" altLang="zh-CN" dirty="0">
                    <a:ea typeface="华文楷体" panose="02010600040101010101" pitchFamily="2" charset="-122"/>
                  </a:rPr>
                  <a:t>,v</a:t>
                </a:r>
                <a:r>
                  <a:rPr lang="en-US" altLang="zh-CN" baseline="-25000" dirty="0">
                    <a:ea typeface="华文楷体" panose="02010600040101010101" pitchFamily="2" charset="-122"/>
                  </a:rPr>
                  <a:t>1</a:t>
                </a:r>
                <a:r>
                  <a:rPr lang="en-US" altLang="zh-CN" dirty="0">
                    <a:ea typeface="华文楷体" panose="02010600040101010101" pitchFamily="2" charset="-122"/>
                  </a:rPr>
                  <a:t>,…</a:t>
                </a:r>
                <a:r>
                  <a:rPr lang="en-US" altLang="zh-CN" dirty="0" err="1">
                    <a:ea typeface="华文楷体" panose="02010600040101010101" pitchFamily="2" charset="-122"/>
                  </a:rPr>
                  <a:t>v</a:t>
                </a:r>
                <a:r>
                  <a:rPr lang="en-US" altLang="zh-CN" baseline="-25000" dirty="0" err="1">
                    <a:ea typeface="华文楷体" panose="02010600040101010101" pitchFamily="2" charset="-122"/>
                  </a:rPr>
                  <a:t>k</a:t>
                </a:r>
                <a:r>
                  <a:rPr lang="en-US" altLang="zh-CN" dirty="0">
                    <a:ea typeface="华文楷体" panose="02010600040101010101" pitchFamily="2" charset="-122"/>
                  </a:rPr>
                  <a:t>&gt;</a:t>
                </a:r>
                <a:r>
                  <a:rPr lang="zh-CN" altLang="en-US" dirty="0">
                    <a:ea typeface="华文楷体" panose="02010600040101010101" pitchFamily="2" charset="-122"/>
                  </a:rPr>
                  <a:t>为从顶点</a:t>
                </a:r>
                <a:r>
                  <a:rPr lang="en-US" altLang="zh-CN" dirty="0">
                    <a:ea typeface="华文楷体" panose="02010600040101010101" pitchFamily="2" charset="-122"/>
                  </a:rPr>
                  <a:t>v</a:t>
                </a:r>
                <a:r>
                  <a:rPr lang="en-US" altLang="zh-CN" baseline="-25000" dirty="0">
                    <a:ea typeface="华文楷体" panose="02010600040101010101" pitchFamily="2" charset="-122"/>
                  </a:rPr>
                  <a:t>0</a:t>
                </a:r>
                <a:r>
                  <a:rPr lang="zh-CN" altLang="en-US" dirty="0">
                    <a:ea typeface="华文楷体" panose="02010600040101010101" pitchFamily="2" charset="-122"/>
                  </a:rPr>
                  <a:t>到</a:t>
                </a:r>
                <a:r>
                  <a:rPr lang="en-US" altLang="zh-CN" dirty="0" err="1">
                    <a:ea typeface="华文楷体" panose="02010600040101010101" pitchFamily="2" charset="-122"/>
                  </a:rPr>
                  <a:t>v</a:t>
                </a:r>
                <a:r>
                  <a:rPr lang="en-US" altLang="zh-CN" baseline="-25000" dirty="0" err="1">
                    <a:ea typeface="华文楷体" panose="02010600040101010101" pitchFamily="2" charset="-122"/>
                  </a:rPr>
                  <a:t>k</a:t>
                </a:r>
                <a:r>
                  <a:rPr lang="zh-CN" altLang="en-US" dirty="0">
                    <a:ea typeface="华文楷体" panose="02010600040101010101" pitchFamily="2" charset="-122"/>
                  </a:rPr>
                  <a:t>的最短路径，且对</a:t>
                </a:r>
                <a14:m>
                  <m:oMath xmlns:m="http://schemas.openxmlformats.org/officeDocument/2006/math">
                    <m:r>
                      <a:rPr lang="zh-CN" altLang="en-US" i="1">
                        <a:latin typeface="Cambria Math" panose="02040503050406030204" pitchFamily="18" charset="0"/>
                        <a:ea typeface="华文楷体" panose="02010600040101010101" pitchFamily="2" charset="-122"/>
                      </a:rPr>
                      <m:t>∀</m:t>
                    </m:r>
                    <m:r>
                      <a:rPr lang="en-US" altLang="zh-CN" i="1">
                        <a:latin typeface="Cambria Math" panose="02040503050406030204" pitchFamily="18" charset="0"/>
                        <a:ea typeface="华文楷体" panose="02010600040101010101" pitchFamily="2" charset="-122"/>
                      </a:rPr>
                      <m:t>𝑖</m:t>
                    </m:r>
                  </m:oMath>
                </a14:m>
                <a:r>
                  <a:rPr lang="en-US" altLang="zh-CN" dirty="0">
                    <a:ea typeface="华文楷体" panose="02010600040101010101" pitchFamily="2" charset="-122"/>
                  </a:rPr>
                  <a:t>,j, </a:t>
                </a:r>
                <a14:m>
                  <m:oMath xmlns:m="http://schemas.openxmlformats.org/officeDocument/2006/math">
                    <m:r>
                      <a:rPr lang="en-US" altLang="zh-CN">
                        <a:latin typeface="Cambria Math" panose="02040503050406030204" pitchFamily="18" charset="0"/>
                        <a:ea typeface="华文楷体" panose="02010600040101010101" pitchFamily="2" charset="-122"/>
                      </a:rPr>
                      <m:t>0</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𝑖</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𝑗</m:t>
                    </m:r>
                    <m:r>
                      <a:rPr lang="en-US" altLang="zh-CN">
                        <a:latin typeface="Cambria Math" panose="02040503050406030204" pitchFamily="18" charset="0"/>
                        <a:ea typeface="华文楷体" panose="02010600040101010101" pitchFamily="2" charset="-122"/>
                      </a:rPr>
                      <m:t>≤</m:t>
                    </m:r>
                    <m:r>
                      <a:rPr lang="en-US" altLang="zh-CN">
                        <a:latin typeface="Cambria Math" panose="02040503050406030204" pitchFamily="18" charset="0"/>
                        <a:ea typeface="华文楷体" panose="02010600040101010101" pitchFamily="2" charset="-122"/>
                      </a:rPr>
                      <m:t>𝑘</m:t>
                    </m:r>
                    <m:r>
                      <a:rPr lang="en-US" altLang="zh-CN" b="0" i="0" smtClean="0">
                        <a:latin typeface="Cambria Math" panose="02040503050406030204" pitchFamily="18" charset="0"/>
                        <a:ea typeface="华文楷体" panose="02010600040101010101" pitchFamily="2" charset="-122"/>
                      </a:rPr>
                      <m:t> </m:t>
                    </m:r>
                  </m:oMath>
                </a14:m>
                <a:r>
                  <a:rPr lang="en-US" altLang="zh-CN" dirty="0" smtClean="0">
                    <a:ea typeface="华文楷体" panose="02010600040101010101" pitchFamily="2" charset="-122"/>
                  </a:rPr>
                  <a:t>p</a:t>
                </a:r>
                <a:r>
                  <a:rPr lang="en-US" altLang="zh-CN" baseline="-25000" dirty="0" smtClean="0">
                    <a:ea typeface="华文楷体" panose="02010600040101010101" pitchFamily="2" charset="-122"/>
                  </a:rPr>
                  <a:t>ij</a:t>
                </a:r>
                <a:r>
                  <a:rPr lang="en-US" altLang="zh-CN" dirty="0">
                    <a:ea typeface="华文楷体" panose="02010600040101010101" pitchFamily="2" charset="-122"/>
                  </a:rPr>
                  <a:t>=&lt;v</a:t>
                </a:r>
                <a:r>
                  <a:rPr lang="en-US" altLang="zh-CN" baseline="-25000" dirty="0">
                    <a:ea typeface="华文楷体" panose="02010600040101010101" pitchFamily="2" charset="-122"/>
                  </a:rPr>
                  <a:t>i</a:t>
                </a:r>
                <a:r>
                  <a:rPr lang="en-US" altLang="zh-CN" dirty="0">
                    <a:ea typeface="华文楷体" panose="02010600040101010101" pitchFamily="2" charset="-122"/>
                  </a:rPr>
                  <a:t>,v</a:t>
                </a:r>
                <a:r>
                  <a:rPr lang="en-US" altLang="zh-CN" baseline="-25000" dirty="0">
                    <a:ea typeface="华文楷体" panose="02010600040101010101" pitchFamily="2" charset="-122"/>
                  </a:rPr>
                  <a:t>i+1</a:t>
                </a:r>
                <a:r>
                  <a:rPr lang="en-US" altLang="zh-CN" dirty="0">
                    <a:ea typeface="华文楷体" panose="02010600040101010101" pitchFamily="2" charset="-122"/>
                  </a:rPr>
                  <a:t>,…</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en-US" altLang="zh-CN" dirty="0">
                    <a:ea typeface="华文楷体" panose="02010600040101010101" pitchFamily="2" charset="-122"/>
                  </a:rPr>
                  <a:t>&gt;</a:t>
                </a:r>
                <a:r>
                  <a:rPr lang="zh-CN" altLang="en-US" dirty="0">
                    <a:ea typeface="华文楷体" panose="02010600040101010101" pitchFamily="2" charset="-122"/>
                  </a:rPr>
                  <a:t>为路径</a:t>
                </a:r>
                <a:r>
                  <a:rPr lang="en-US" altLang="zh-CN" dirty="0">
                    <a:ea typeface="华文楷体" panose="02010600040101010101" pitchFamily="2" charset="-122"/>
                  </a:rPr>
                  <a:t>p</a:t>
                </a:r>
                <a:r>
                  <a:rPr lang="zh-CN" altLang="en-US" dirty="0">
                    <a:ea typeface="华文楷体" panose="02010600040101010101" pitchFamily="2" charset="-122"/>
                  </a:rPr>
                  <a:t>中从顶点</a:t>
                </a:r>
                <a:r>
                  <a:rPr lang="en-US" altLang="zh-CN" dirty="0">
                    <a:ea typeface="华文楷体" panose="02010600040101010101" pitchFamily="2" charset="-122"/>
                  </a:rPr>
                  <a:t>v</a:t>
                </a:r>
                <a:r>
                  <a:rPr lang="en-US" altLang="zh-CN" baseline="-25000" dirty="0">
                    <a:ea typeface="华文楷体" panose="02010600040101010101" pitchFamily="2" charset="-122"/>
                  </a:rPr>
                  <a:t>i</a:t>
                </a:r>
                <a:r>
                  <a:rPr lang="zh-CN" altLang="en-US" dirty="0">
                    <a:ea typeface="华文楷体" panose="02010600040101010101" pitchFamily="2" charset="-122"/>
                  </a:rPr>
                  <a:t>到</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zh-CN" altLang="en-US" dirty="0">
                    <a:ea typeface="华文楷体" panose="02010600040101010101" pitchFamily="2" charset="-122"/>
                  </a:rPr>
                  <a:t>的子路径。</a:t>
                </a:r>
                <a:endParaRPr lang="en-US" altLang="zh-CN" dirty="0">
                  <a:ea typeface="华文楷体" panose="02010600040101010101" pitchFamily="2" charset="-122"/>
                </a:endParaRPr>
              </a:p>
              <a:p>
                <a:pPr marL="0" indent="0">
                  <a:buNone/>
                </a:pPr>
                <a:r>
                  <a:rPr lang="zh-CN" altLang="en-US" dirty="0">
                    <a:solidFill>
                      <a:srgbClr val="C00000"/>
                    </a:solidFill>
                    <a:ea typeface="华文楷体" panose="02010600040101010101" pitchFamily="2" charset="-122"/>
                  </a:rPr>
                  <a:t>证明</a:t>
                </a:r>
                <a:r>
                  <a:rPr lang="zh-CN" altLang="en-US" dirty="0">
                    <a:ea typeface="华文楷体" panose="02010600040101010101" pitchFamily="2" charset="-122"/>
                  </a:rPr>
                  <a:t>：将路径</a:t>
                </a:r>
                <a:r>
                  <a:rPr lang="en-US" altLang="zh-CN" dirty="0">
                    <a:ea typeface="华文楷体" panose="02010600040101010101" pitchFamily="2" charset="-122"/>
                  </a:rPr>
                  <a:t>p</a:t>
                </a:r>
                <a:r>
                  <a:rPr lang="zh-CN" altLang="en-US" dirty="0">
                    <a:ea typeface="华文楷体" panose="02010600040101010101" pitchFamily="2" charset="-122"/>
                  </a:rPr>
                  <a:t>分解为</a:t>
                </a:r>
                <a:r>
                  <a:rPr lang="en-US" altLang="zh-CN" dirty="0">
                    <a:ea typeface="华文楷体" panose="02010600040101010101" pitchFamily="2" charset="-122"/>
                  </a:rPr>
                  <a:t>v</a:t>
                </a:r>
                <a:r>
                  <a:rPr lang="en-US" altLang="zh-CN" baseline="-25000" dirty="0">
                    <a:ea typeface="华文楷体" panose="02010600040101010101" pitchFamily="2" charset="-122"/>
                  </a:rPr>
                  <a:t>0</a:t>
                </a:r>
                <a14:m>
                  <m:oMath xmlns:m="http://schemas.openxmlformats.org/officeDocument/2006/math">
                    <m:groupChr>
                      <m:groupChrPr>
                        <m:chr m:val="→"/>
                        <m:vertJc m:val="bot"/>
                        <m:ctrlPr>
                          <a:rPr lang="en-US" altLang="zh-CN" i="1">
                            <a:latin typeface="Cambria Math" panose="02040503050406030204" pitchFamily="18" charset="0"/>
                            <a:ea typeface="华文楷体" panose="02010600040101010101" pitchFamily="2" charset="-122"/>
                          </a:rPr>
                        </m:ctrlPr>
                      </m:groupChr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0</m:t>
                        </m:r>
                        <m:r>
                          <m:rPr>
                            <m:sty m:val="p"/>
                          </m:rPr>
                          <a:rPr lang="en-US" altLang="zh-CN" i="1" baseline="-25000">
                            <a:latin typeface="Cambria Math" panose="02040503050406030204" pitchFamily="18" charset="0"/>
                            <a:ea typeface="华文楷体" panose="02010600040101010101" pitchFamily="2" charset="-122"/>
                          </a:rPr>
                          <m:t>i</m:t>
                        </m:r>
                      </m:e>
                    </m:groupChr>
                    <m:r>
                      <m:rPr>
                        <m:nor/>
                      </m:rPr>
                      <a:rPr lang="en-US" altLang="zh-CN" dirty="0">
                        <a:latin typeface="Cambria Math" panose="02040503050406030204" pitchFamily="18" charset="0"/>
                        <a:ea typeface="华文楷体" panose="02010600040101010101" pitchFamily="2" charset="-122"/>
                      </a:rPr>
                      <m:t>v</m:t>
                    </m:r>
                    <m:r>
                      <m:rPr>
                        <m:nor/>
                      </m:rPr>
                      <a:rPr lang="en-US" altLang="zh-CN" baseline="-25000" dirty="0">
                        <a:latin typeface="Cambria Math" panose="02040503050406030204" pitchFamily="18" charset="0"/>
                        <a:ea typeface="华文楷体" panose="02010600040101010101" pitchFamily="2" charset="-122"/>
                      </a:rPr>
                      <m:t>i</m:t>
                    </m:r>
                    <m:groupChr>
                      <m:groupChrPr>
                        <m:chr m:val="→"/>
                        <m:vertJc m:val="bot"/>
                        <m:ctrlPr>
                          <a:rPr lang="en-US" altLang="zh-CN" i="1">
                            <a:latin typeface="Cambria Math" panose="02040503050406030204" pitchFamily="18" charset="0"/>
                            <a:ea typeface="华文楷体" panose="02010600040101010101" pitchFamily="2" charset="-122"/>
                          </a:rPr>
                        </m:ctrlPr>
                      </m:groupChrPr>
                      <m:e>
                        <m:r>
                          <m:rPr>
                            <m:brk m:alnAt="2"/>
                          </m:rPr>
                          <a:rPr lang="en-US" altLang="zh-CN" i="1">
                            <a:latin typeface="Cambria Math" panose="02040503050406030204" pitchFamily="18" charset="0"/>
                            <a:ea typeface="华文楷体" panose="02010600040101010101" pitchFamily="2" charset="-122"/>
                          </a:rPr>
                          <m:t>𝑝</m:t>
                        </m:r>
                        <m:r>
                          <m:rPr>
                            <m:sty m:val="p"/>
                          </m:rPr>
                          <a:rPr lang="en-US" altLang="zh-CN" i="1" baseline="-25000">
                            <a:latin typeface="Cambria Math" panose="02040503050406030204" pitchFamily="18" charset="0"/>
                            <a:ea typeface="华文楷体" panose="02010600040101010101" pitchFamily="2" charset="-122"/>
                          </a:rPr>
                          <m:t>ij</m:t>
                        </m:r>
                      </m:e>
                    </m:groupChr>
                    <m:r>
                      <m:rPr>
                        <m:nor/>
                      </m:rPr>
                      <a:rPr lang="en-US" altLang="zh-CN" dirty="0">
                        <a:latin typeface="Cambria Math" panose="02040503050406030204" pitchFamily="18" charset="0"/>
                        <a:ea typeface="华文楷体" panose="02010600040101010101" pitchFamily="2" charset="-122"/>
                      </a:rPr>
                      <m:t>v</m:t>
                    </m:r>
                    <m:r>
                      <m:rPr>
                        <m:nor/>
                      </m:rPr>
                      <a:rPr lang="en-US" altLang="zh-CN" baseline="-25000" dirty="0">
                        <a:latin typeface="Cambria Math" panose="02040503050406030204" pitchFamily="18" charset="0"/>
                        <a:ea typeface="华文楷体" panose="02010600040101010101" pitchFamily="2" charset="-122"/>
                      </a:rPr>
                      <m:t>j</m:t>
                    </m:r>
                    <m:groupChr>
                      <m:groupChrPr>
                        <m:chr m:val="→"/>
                        <m:vertJc m:val="bot"/>
                        <m:ctrlPr>
                          <a:rPr lang="en-US" altLang="zh-CN" i="1">
                            <a:latin typeface="Cambria Math" panose="02040503050406030204" pitchFamily="18" charset="0"/>
                            <a:ea typeface="华文楷体" panose="02010600040101010101" pitchFamily="2" charset="-122"/>
                          </a:rPr>
                        </m:ctrlPr>
                      </m:groupChrPr>
                      <m:e>
                        <m:r>
                          <m:rPr>
                            <m:brk m:alnAt="2"/>
                          </m:rPr>
                          <a:rPr lang="en-US" altLang="zh-CN" i="1">
                            <a:latin typeface="Cambria Math" panose="02040503050406030204" pitchFamily="18" charset="0"/>
                            <a:ea typeface="华文楷体" panose="02010600040101010101" pitchFamily="2" charset="-122"/>
                          </a:rPr>
                          <m:t>𝑝</m:t>
                        </m:r>
                        <m:r>
                          <m:rPr>
                            <m:sty m:val="p"/>
                          </m:rPr>
                          <a:rPr lang="en-US" altLang="zh-CN" i="1" baseline="-25000">
                            <a:latin typeface="Cambria Math" panose="02040503050406030204" pitchFamily="18" charset="0"/>
                            <a:ea typeface="华文楷体" panose="02010600040101010101" pitchFamily="2" charset="-122"/>
                          </a:rPr>
                          <m:t>jk</m:t>
                        </m:r>
                      </m:e>
                    </m:groupChr>
                  </m:oMath>
                </a14:m>
                <a:r>
                  <a:rPr lang="en-US" altLang="zh-CN" dirty="0">
                    <a:ea typeface="华文楷体" panose="02010600040101010101" pitchFamily="2" charset="-122"/>
                  </a:rPr>
                  <a:t> </a:t>
                </a:r>
                <a:r>
                  <a:rPr lang="en-US" altLang="zh-CN" dirty="0" err="1">
                    <a:ea typeface="华文楷体" panose="02010600040101010101" pitchFamily="2" charset="-122"/>
                  </a:rPr>
                  <a:t>v</a:t>
                </a:r>
                <a:r>
                  <a:rPr lang="en-US" altLang="zh-CN" baseline="-25000" dirty="0" err="1">
                    <a:ea typeface="华文楷体" panose="02010600040101010101" pitchFamily="2" charset="-122"/>
                  </a:rPr>
                  <a:t>k</a:t>
                </a:r>
                <a:r>
                  <a:rPr lang="en-US" altLang="zh-CN" baseline="-25000" dirty="0">
                    <a:ea typeface="华文楷体" panose="02010600040101010101" pitchFamily="2" charset="-122"/>
                  </a:rPr>
                  <a:t> </a:t>
                </a:r>
                <a:r>
                  <a:rPr lang="zh-CN" altLang="en-US" dirty="0">
                    <a:ea typeface="华文楷体" panose="02010600040101010101" pitchFamily="2" charset="-122"/>
                  </a:rPr>
                  <a:t>，则</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a:rPr lang="en-US" altLang="zh-CN" i="1">
                            <a:latin typeface="Cambria Math" panose="02040503050406030204" pitchFamily="18" charset="0"/>
                            <a:ea typeface="华文楷体" panose="02010600040101010101" pitchFamily="2" charset="-122"/>
                          </a:rPr>
                          <m:t>𝑝</m:t>
                        </m:r>
                      </m:e>
                    </m:d>
                    <m:r>
                      <a:rPr lang="en-US" altLang="zh-CN" i="1">
                        <a:latin typeface="Cambria Math" panose="02040503050406030204" pitchFamily="18" charset="0"/>
                        <a:ea typeface="华文楷体" panose="02010600040101010101" pitchFamily="2" charset="-122"/>
                      </a:rPr>
                      <m:t>=</m:t>
                    </m:r>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0</m:t>
                        </m:r>
                        <m:r>
                          <m:rPr>
                            <m:sty m:val="p"/>
                          </m:rPr>
                          <a:rPr lang="en-US" altLang="zh-CN" i="1" baseline="-25000">
                            <a:latin typeface="Cambria Math" panose="02040503050406030204" pitchFamily="18" charset="0"/>
                            <a:ea typeface="华文楷体" panose="02010600040101010101" pitchFamily="2" charset="-122"/>
                          </a:rPr>
                          <m:t>i</m:t>
                        </m:r>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𝑖𝑗</m:t>
                        </m:r>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𝑗𝑘</m:t>
                        </m:r>
                      </m:e>
                    </m:d>
                    <m:r>
                      <a:rPr lang="zh-CN" altLang="en-US" i="1" baseline="-25000">
                        <a:latin typeface="Cambria Math" panose="02040503050406030204" pitchFamily="18" charset="0"/>
                        <a:ea typeface="华文楷体" panose="02010600040101010101" pitchFamily="2" charset="-122"/>
                      </a:rPr>
                      <m:t>。</m:t>
                    </m:r>
                  </m:oMath>
                </a14:m>
                <a:r>
                  <a:rPr lang="zh-CN" altLang="en-US" dirty="0">
                    <a:ea typeface="华文楷体" panose="02010600040101010101" pitchFamily="2" charset="-122"/>
                  </a:rPr>
                  <a:t>现假设存在一条顶点</a:t>
                </a:r>
                <a:r>
                  <a:rPr lang="en-US" altLang="zh-CN" dirty="0">
                    <a:ea typeface="华文楷体" panose="02010600040101010101" pitchFamily="2" charset="-122"/>
                  </a:rPr>
                  <a:t>v</a:t>
                </a:r>
                <a:r>
                  <a:rPr lang="en-US" altLang="zh-CN" baseline="-25000" dirty="0">
                    <a:ea typeface="华文楷体" panose="02010600040101010101" pitchFamily="2" charset="-122"/>
                  </a:rPr>
                  <a:t>i</a:t>
                </a:r>
                <a:r>
                  <a:rPr lang="zh-CN" altLang="en-US" dirty="0">
                    <a:ea typeface="华文楷体" panose="02010600040101010101" pitchFamily="2" charset="-122"/>
                  </a:rPr>
                  <a:t>到</a:t>
                </a:r>
                <a:r>
                  <a:rPr lang="en-US" altLang="zh-CN" dirty="0" err="1">
                    <a:ea typeface="华文楷体" panose="02010600040101010101" pitchFamily="2" charset="-122"/>
                  </a:rPr>
                  <a:t>v</a:t>
                </a:r>
                <a:r>
                  <a:rPr lang="en-US" altLang="zh-CN" baseline="-25000" dirty="0" err="1">
                    <a:ea typeface="华文楷体" panose="02010600040101010101" pitchFamily="2" charset="-122"/>
                  </a:rPr>
                  <a:t>j</a:t>
                </a:r>
                <a:r>
                  <a:rPr lang="zh-CN" altLang="en-US" dirty="0">
                    <a:ea typeface="华文楷体" panose="02010600040101010101" pitchFamily="2" charset="-122"/>
                  </a:rPr>
                  <a:t>的路径</a:t>
                </a:r>
                <a14:m>
                  <m:oMath xmlns:m="http://schemas.openxmlformats.org/officeDocument/2006/math">
                    <m:sSubSup>
                      <m:sSubSupPr>
                        <m:ctrlPr>
                          <a:rPr lang="en-US" altLang="zh-CN" i="1">
                            <a:latin typeface="Cambria Math" panose="02040503050406030204" pitchFamily="18" charset="0"/>
                            <a:ea typeface="华文楷体" panose="02010600040101010101" pitchFamily="2" charset="-122"/>
                          </a:rPr>
                        </m:ctrlPr>
                      </m:sSubSupPr>
                      <m:e>
                        <m:r>
                          <m:rPr>
                            <m:sty m:val="p"/>
                          </m:rPr>
                          <a:rPr lang="en-US" altLang="zh-CN" i="1">
                            <a:latin typeface="Cambria Math" panose="02040503050406030204" pitchFamily="18" charset="0"/>
                            <a:ea typeface="华文楷体" panose="02010600040101010101" pitchFamily="2" charset="-122"/>
                          </a:rPr>
                          <m:t>p</m:t>
                        </m:r>
                      </m:e>
                      <m:sub>
                        <m:r>
                          <m:rPr>
                            <m:sty m:val="p"/>
                          </m:rPr>
                          <a:rPr lang="en-US" altLang="zh-CN" i="1">
                            <a:latin typeface="Cambria Math" panose="02040503050406030204" pitchFamily="18" charset="0"/>
                            <a:ea typeface="华文楷体" panose="02010600040101010101" pitchFamily="2" charset="-122"/>
                          </a:rPr>
                          <m:t>ij</m:t>
                        </m:r>
                      </m:sub>
                      <m:sup>
                        <m:r>
                          <a:rPr lang="en-US" altLang="zh-CN" i="1">
                            <a:latin typeface="Cambria Math" panose="02040503050406030204" pitchFamily="18" charset="0"/>
                            <a:ea typeface="华文楷体" panose="02010600040101010101" pitchFamily="2" charset="-122"/>
                          </a:rPr>
                          <m:t>′</m:t>
                        </m:r>
                      </m:sup>
                    </m:sSubSup>
                  </m:oMath>
                </a14:m>
                <a:r>
                  <a:rPr lang="zh-CN" altLang="en-US" dirty="0">
                    <a:ea typeface="华文楷体" panose="02010600040101010101" pitchFamily="2" charset="-122"/>
                  </a:rPr>
                  <a:t>，使得</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sSubSup>
                          <m:sSubSupPr>
                            <m:ctrlPr>
                              <a:rPr lang="en-US" altLang="zh-CN" i="1">
                                <a:latin typeface="Cambria Math" panose="02040503050406030204" pitchFamily="18" charset="0"/>
                                <a:ea typeface="华文楷体" panose="02010600040101010101" pitchFamily="2" charset="-122"/>
                              </a:rPr>
                            </m:ctrlPr>
                          </m:sSubSupPr>
                          <m:e>
                            <m:r>
                              <m:rPr>
                                <m:sty m:val="p"/>
                              </m:rPr>
                              <a:rPr lang="en-US" altLang="zh-CN" i="1">
                                <a:latin typeface="Cambria Math" panose="02040503050406030204" pitchFamily="18" charset="0"/>
                                <a:ea typeface="华文楷体" panose="02010600040101010101" pitchFamily="2" charset="-122"/>
                              </a:rPr>
                              <m:t>p</m:t>
                            </m:r>
                          </m:e>
                          <m:sub>
                            <m:r>
                              <m:rPr>
                                <m:sty m:val="p"/>
                              </m:rPr>
                              <a:rPr lang="en-US" altLang="zh-CN" i="1">
                                <a:latin typeface="Cambria Math" panose="02040503050406030204" pitchFamily="18" charset="0"/>
                                <a:ea typeface="华文楷体" panose="02010600040101010101" pitchFamily="2" charset="-122"/>
                              </a:rPr>
                              <m:t>ij</m:t>
                            </m:r>
                          </m:sub>
                          <m:sup>
                            <m:r>
                              <a:rPr lang="en-US" altLang="zh-CN" i="1">
                                <a:latin typeface="Cambria Math" panose="02040503050406030204" pitchFamily="18" charset="0"/>
                                <a:ea typeface="华文楷体" panose="02010600040101010101" pitchFamily="2" charset="-122"/>
                              </a:rPr>
                              <m:t>′</m:t>
                            </m:r>
                          </m:sup>
                        </m:sSubSup>
                      </m:e>
                    </m:d>
                  </m:oMath>
                </a14:m>
                <a:r>
                  <a:rPr lang="en-US" altLang="zh-CN" dirty="0">
                    <a:ea typeface="华文楷体" panose="02010600040101010101" pitchFamily="2" charset="-122"/>
                  </a:rPr>
                  <a:t>&lt;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𝑖𝑗</m:t>
                        </m:r>
                      </m:e>
                    </m:d>
                    <m:r>
                      <a:rPr lang="zh-CN" altLang="en-US" i="1" baseline="-25000">
                        <a:latin typeface="Cambria Math" panose="02040503050406030204" pitchFamily="18" charset="0"/>
                        <a:ea typeface="华文楷体" panose="02010600040101010101" pitchFamily="2" charset="-122"/>
                      </a:rPr>
                      <m:t>，</m:t>
                    </m:r>
                  </m:oMath>
                </a14:m>
                <a:r>
                  <a:rPr lang="zh-CN" altLang="en-US" dirty="0">
                    <a:ea typeface="华文楷体" panose="02010600040101010101" pitchFamily="2" charset="-122"/>
                  </a:rPr>
                  <a:t>则</a:t>
                </a:r>
                <a:r>
                  <a:rPr lang="en-US" altLang="zh-CN" dirty="0">
                    <a:ea typeface="华文楷体" panose="02010600040101010101" pitchFamily="2" charset="-122"/>
                  </a:rPr>
                  <a:t>v</a:t>
                </a:r>
                <a:r>
                  <a:rPr lang="en-US" altLang="zh-CN" baseline="-25000" dirty="0">
                    <a:ea typeface="华文楷体" panose="02010600040101010101" pitchFamily="2" charset="-122"/>
                  </a:rPr>
                  <a:t>0</a:t>
                </a:r>
                <a14:m>
                  <m:oMath xmlns:m="http://schemas.openxmlformats.org/officeDocument/2006/math">
                    <m:groupChr>
                      <m:groupChrPr>
                        <m:chr m:val="→"/>
                        <m:vertJc m:val="bot"/>
                        <m:ctrlPr>
                          <a:rPr lang="en-US" altLang="zh-CN" i="1">
                            <a:latin typeface="Cambria Math" panose="02040503050406030204" pitchFamily="18" charset="0"/>
                            <a:ea typeface="华文楷体" panose="02010600040101010101" pitchFamily="2" charset="-122"/>
                          </a:rPr>
                        </m:ctrlPr>
                      </m:groupChr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0</m:t>
                        </m:r>
                        <m:r>
                          <m:rPr>
                            <m:sty m:val="p"/>
                          </m:rPr>
                          <a:rPr lang="en-US" altLang="zh-CN" i="1" baseline="-25000">
                            <a:latin typeface="Cambria Math" panose="02040503050406030204" pitchFamily="18" charset="0"/>
                            <a:ea typeface="华文楷体" panose="02010600040101010101" pitchFamily="2" charset="-122"/>
                          </a:rPr>
                          <m:t>i</m:t>
                        </m:r>
                      </m:e>
                    </m:groupChr>
                    <m:r>
                      <m:rPr>
                        <m:nor/>
                      </m:rPr>
                      <a:rPr lang="en-US" altLang="zh-CN" dirty="0">
                        <a:latin typeface="Cambria Math" panose="02040503050406030204" pitchFamily="18" charset="0"/>
                        <a:ea typeface="华文楷体" panose="02010600040101010101" pitchFamily="2" charset="-122"/>
                      </a:rPr>
                      <m:t>v</m:t>
                    </m:r>
                    <m:r>
                      <m:rPr>
                        <m:nor/>
                      </m:rPr>
                      <a:rPr lang="en-US" altLang="zh-CN" baseline="-25000" dirty="0">
                        <a:latin typeface="Cambria Math" panose="02040503050406030204" pitchFamily="18" charset="0"/>
                        <a:ea typeface="华文楷体" panose="02010600040101010101" pitchFamily="2" charset="-122"/>
                      </a:rPr>
                      <m:t>i</m:t>
                    </m:r>
                    <m:groupChr>
                      <m:groupChrPr>
                        <m:chr m:val="→"/>
                        <m:vertJc m:val="bot"/>
                        <m:ctrlPr>
                          <a:rPr lang="en-US" altLang="zh-CN" i="1">
                            <a:latin typeface="Cambria Math" panose="02040503050406030204" pitchFamily="18" charset="0"/>
                            <a:ea typeface="华文楷体" panose="02010600040101010101" pitchFamily="2" charset="-122"/>
                          </a:rPr>
                        </m:ctrlPr>
                      </m:groupChrPr>
                      <m:e>
                        <m:sSubSup>
                          <m:sSubSupPr>
                            <m:ctrlPr>
                              <a:rPr lang="en-US" altLang="zh-CN" i="1">
                                <a:latin typeface="Cambria Math" panose="02040503050406030204" pitchFamily="18" charset="0"/>
                                <a:ea typeface="华文楷体" panose="02010600040101010101" pitchFamily="2" charset="-122"/>
                              </a:rPr>
                            </m:ctrlPr>
                          </m:sSubSupPr>
                          <m:e>
                            <m:r>
                              <m:rPr>
                                <m:sty m:val="p"/>
                              </m:rPr>
                              <a:rPr lang="en-US" altLang="zh-CN" i="1">
                                <a:latin typeface="Cambria Math" panose="02040503050406030204" pitchFamily="18" charset="0"/>
                                <a:ea typeface="华文楷体" panose="02010600040101010101" pitchFamily="2" charset="-122"/>
                              </a:rPr>
                              <m:t>p</m:t>
                            </m:r>
                          </m:e>
                          <m:sub>
                            <m:r>
                              <m:rPr>
                                <m:sty m:val="p"/>
                              </m:rPr>
                              <a:rPr lang="en-US" altLang="zh-CN" i="1">
                                <a:latin typeface="Cambria Math" panose="02040503050406030204" pitchFamily="18" charset="0"/>
                                <a:ea typeface="华文楷体" panose="02010600040101010101" pitchFamily="2" charset="-122"/>
                              </a:rPr>
                              <m:t>ij</m:t>
                            </m:r>
                          </m:sub>
                          <m:sup>
                            <m:r>
                              <a:rPr lang="en-US" altLang="zh-CN" i="1">
                                <a:latin typeface="Cambria Math" panose="02040503050406030204" pitchFamily="18" charset="0"/>
                                <a:ea typeface="华文楷体" panose="02010600040101010101" pitchFamily="2" charset="-122"/>
                              </a:rPr>
                              <m:t>′</m:t>
                            </m:r>
                          </m:sup>
                        </m:sSubSup>
                      </m:e>
                    </m:groupChr>
                    <m:r>
                      <m:rPr>
                        <m:nor/>
                      </m:rPr>
                      <a:rPr lang="en-US" altLang="zh-CN" dirty="0">
                        <a:latin typeface="Cambria Math" panose="02040503050406030204" pitchFamily="18" charset="0"/>
                        <a:ea typeface="华文楷体" panose="02010600040101010101" pitchFamily="2" charset="-122"/>
                      </a:rPr>
                      <m:t>v</m:t>
                    </m:r>
                    <m:r>
                      <m:rPr>
                        <m:nor/>
                      </m:rPr>
                      <a:rPr lang="en-US" altLang="zh-CN" baseline="-25000" dirty="0">
                        <a:latin typeface="Cambria Math" panose="02040503050406030204" pitchFamily="18" charset="0"/>
                        <a:ea typeface="华文楷体" panose="02010600040101010101" pitchFamily="2" charset="-122"/>
                      </a:rPr>
                      <m:t>j</m:t>
                    </m:r>
                    <m:groupChr>
                      <m:groupChrPr>
                        <m:chr m:val="→"/>
                        <m:vertJc m:val="bot"/>
                        <m:ctrlPr>
                          <a:rPr lang="en-US" altLang="zh-CN" i="1">
                            <a:latin typeface="Cambria Math" panose="02040503050406030204" pitchFamily="18" charset="0"/>
                            <a:ea typeface="华文楷体" panose="02010600040101010101" pitchFamily="2" charset="-122"/>
                          </a:rPr>
                        </m:ctrlPr>
                      </m:groupChrPr>
                      <m:e>
                        <m:r>
                          <m:rPr>
                            <m:brk m:alnAt="2"/>
                          </m:rPr>
                          <a:rPr lang="en-US" altLang="zh-CN" i="1">
                            <a:latin typeface="Cambria Math" panose="02040503050406030204" pitchFamily="18" charset="0"/>
                            <a:ea typeface="华文楷体" panose="02010600040101010101" pitchFamily="2" charset="-122"/>
                          </a:rPr>
                          <m:t>𝑝</m:t>
                        </m:r>
                        <m:r>
                          <m:rPr>
                            <m:sty m:val="p"/>
                          </m:rPr>
                          <a:rPr lang="en-US" altLang="zh-CN" i="1" baseline="-25000">
                            <a:latin typeface="Cambria Math" panose="02040503050406030204" pitchFamily="18" charset="0"/>
                            <a:ea typeface="华文楷体" panose="02010600040101010101" pitchFamily="2" charset="-122"/>
                          </a:rPr>
                          <m:t>jk</m:t>
                        </m:r>
                      </m:e>
                    </m:groupChr>
                  </m:oMath>
                </a14:m>
                <a:r>
                  <a:rPr lang="en-US" altLang="zh-CN" dirty="0">
                    <a:ea typeface="华文楷体" panose="02010600040101010101" pitchFamily="2" charset="-122"/>
                  </a:rPr>
                  <a:t> </a:t>
                </a:r>
                <a:r>
                  <a:rPr lang="en-US" altLang="zh-CN" dirty="0" err="1">
                    <a:ea typeface="华文楷体" panose="02010600040101010101" pitchFamily="2" charset="-122"/>
                  </a:rPr>
                  <a:t>v</a:t>
                </a:r>
                <a:r>
                  <a:rPr lang="en-US" altLang="zh-CN" baseline="-25000" dirty="0" err="1">
                    <a:ea typeface="华文楷体" panose="02010600040101010101" pitchFamily="2" charset="-122"/>
                  </a:rPr>
                  <a:t>k</a:t>
                </a:r>
                <a:r>
                  <a:rPr lang="zh-CN" altLang="en-US" dirty="0">
                    <a:ea typeface="华文楷体" panose="02010600040101010101" pitchFamily="2" charset="-122"/>
                  </a:rPr>
                  <a:t>的路径权重为</a:t>
                </a:r>
                <a:r>
                  <a:rPr lang="en-US" altLang="zh-CN" dirty="0">
                    <a:ea typeface="华文楷体" panose="02010600040101010101" pitchFamily="2" charset="-122"/>
                  </a:rPr>
                  <a:t> </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0</m:t>
                        </m:r>
                        <m:r>
                          <m:rPr>
                            <m:sty m:val="p"/>
                          </m:rPr>
                          <a:rPr lang="en-US" altLang="zh-CN" i="1" baseline="-25000">
                            <a:latin typeface="Cambria Math" panose="02040503050406030204" pitchFamily="18" charset="0"/>
                            <a:ea typeface="华文楷体" panose="02010600040101010101" pitchFamily="2" charset="-122"/>
                          </a:rPr>
                          <m:t>i</m:t>
                        </m:r>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sSubSup>
                          <m:sSubSupPr>
                            <m:ctrlPr>
                              <a:rPr lang="en-US" altLang="zh-CN" i="1">
                                <a:latin typeface="Cambria Math" panose="02040503050406030204" pitchFamily="18" charset="0"/>
                                <a:ea typeface="华文楷体" panose="02010600040101010101" pitchFamily="2" charset="-122"/>
                              </a:rPr>
                            </m:ctrlPr>
                          </m:sSubSupPr>
                          <m:e>
                            <m:r>
                              <m:rPr>
                                <m:sty m:val="p"/>
                              </m:rPr>
                              <a:rPr lang="en-US" altLang="zh-CN" i="1">
                                <a:latin typeface="Cambria Math" panose="02040503050406030204" pitchFamily="18" charset="0"/>
                                <a:ea typeface="华文楷体" panose="02010600040101010101" pitchFamily="2" charset="-122"/>
                              </a:rPr>
                              <m:t>p</m:t>
                            </m:r>
                          </m:e>
                          <m:sub>
                            <m:r>
                              <m:rPr>
                                <m:sty m:val="p"/>
                              </m:rPr>
                              <a:rPr lang="en-US" altLang="zh-CN" i="1">
                                <a:latin typeface="Cambria Math" panose="02040503050406030204" pitchFamily="18" charset="0"/>
                                <a:ea typeface="华文楷体" panose="02010600040101010101" pitchFamily="2" charset="-122"/>
                              </a:rPr>
                              <m:t>ij</m:t>
                            </m:r>
                          </m:sub>
                          <m:sup>
                            <m:r>
                              <a:rPr lang="en-US" altLang="zh-CN" i="1">
                                <a:latin typeface="Cambria Math" panose="02040503050406030204" pitchFamily="18" charset="0"/>
                                <a:ea typeface="华文楷体" panose="02010600040101010101" pitchFamily="2" charset="-122"/>
                              </a:rPr>
                              <m:t>′</m:t>
                            </m:r>
                          </m:sup>
                        </m:sSubSup>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𝑗𝑘</m:t>
                        </m:r>
                      </m:e>
                    </m:d>
                  </m:oMath>
                </a14:m>
                <a:r>
                  <a:rPr lang="en-US" altLang="zh-CN" dirty="0">
                    <a:ea typeface="华文楷体" panose="02010600040101010101" pitchFamily="2" charset="-122"/>
                  </a:rPr>
                  <a:t>&lt;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0</m:t>
                        </m:r>
                        <m:r>
                          <m:rPr>
                            <m:sty m:val="p"/>
                          </m:rPr>
                          <a:rPr lang="en-US" altLang="zh-CN" i="1" baseline="-25000">
                            <a:latin typeface="Cambria Math" panose="02040503050406030204" pitchFamily="18" charset="0"/>
                            <a:ea typeface="华文楷体" panose="02010600040101010101" pitchFamily="2" charset="-122"/>
                          </a:rPr>
                          <m:t>i</m:t>
                        </m:r>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𝑖𝑗</m:t>
                        </m:r>
                      </m:e>
                    </m:d>
                  </m:oMath>
                </a14:m>
                <a:r>
                  <a:rPr lang="en-US" altLang="zh-CN" dirty="0">
                    <a:ea typeface="华文楷体" panose="02010600040101010101" pitchFamily="2" charset="-122"/>
                  </a:rPr>
                  <a:t>+</a:t>
                </a:r>
                <a14:m>
                  <m:oMath xmlns:m="http://schemas.openxmlformats.org/officeDocument/2006/math">
                    <m:r>
                      <a:rPr lang="en-US" altLang="zh-CN" i="1">
                        <a:latin typeface="Cambria Math" panose="02040503050406030204" pitchFamily="18" charset="0"/>
                        <a:ea typeface="华文楷体" panose="02010600040101010101" pitchFamily="2" charset="-122"/>
                      </a:rPr>
                      <m:t>𝑤</m:t>
                    </m:r>
                    <m:d>
                      <m:dPr>
                        <m:ctrlPr>
                          <a:rPr lang="en-US" altLang="zh-CN" i="1">
                            <a:latin typeface="Cambria Math" panose="02040503050406030204" pitchFamily="18" charset="0"/>
                            <a:ea typeface="华文楷体" panose="02010600040101010101" pitchFamily="2" charset="-122"/>
                          </a:rPr>
                        </m:ctrlPr>
                      </m:dPr>
                      <m:e>
                        <m:r>
                          <m:rPr>
                            <m:brk m:alnAt="2"/>
                          </m:rPr>
                          <a:rPr lang="en-US" altLang="zh-CN" i="1">
                            <a:latin typeface="Cambria Math" panose="02040503050406030204" pitchFamily="18" charset="0"/>
                            <a:ea typeface="华文楷体" panose="02010600040101010101" pitchFamily="2" charset="-122"/>
                          </a:rPr>
                          <m:t>𝑝</m:t>
                        </m:r>
                        <m:r>
                          <a:rPr lang="en-US" altLang="zh-CN" i="1" baseline="-25000">
                            <a:latin typeface="Cambria Math" panose="02040503050406030204" pitchFamily="18" charset="0"/>
                            <a:ea typeface="华文楷体" panose="02010600040101010101" pitchFamily="2" charset="-122"/>
                          </a:rPr>
                          <m:t>𝑗𝑘</m:t>
                        </m:r>
                      </m:e>
                    </m:d>
                    <m:r>
                      <a:rPr lang="zh-CN" altLang="en-US" i="1">
                        <a:latin typeface="Cambria Math" panose="02040503050406030204" pitchFamily="18" charset="0"/>
                        <a:ea typeface="华文楷体" panose="02010600040101010101" pitchFamily="2" charset="-122"/>
                      </a:rPr>
                      <m:t>的</m:t>
                    </m:r>
                  </m:oMath>
                </a14:m>
                <a:r>
                  <a:rPr lang="zh-CN" altLang="en-US" dirty="0">
                    <a:ea typeface="华文楷体" panose="02010600040101010101" pitchFamily="2" charset="-122"/>
                  </a:rPr>
                  <a:t>路径，是一条比</a:t>
                </a:r>
                <a:r>
                  <a:rPr lang="en-US" altLang="zh-CN" dirty="0">
                    <a:ea typeface="华文楷体" panose="02010600040101010101" pitchFamily="2" charset="-122"/>
                  </a:rPr>
                  <a:t>p</a:t>
                </a:r>
                <a:r>
                  <a:rPr lang="zh-CN" altLang="en-US" dirty="0">
                    <a:ea typeface="华文楷体" panose="02010600040101010101" pitchFamily="2" charset="-122"/>
                  </a:rPr>
                  <a:t>更短的路径，与</a:t>
                </a:r>
                <a:r>
                  <a:rPr lang="en-US" altLang="zh-CN" dirty="0">
                    <a:ea typeface="华文楷体" panose="02010600040101010101" pitchFamily="2" charset="-122"/>
                  </a:rPr>
                  <a:t>p</a:t>
                </a:r>
                <a:r>
                  <a:rPr lang="zh-CN" altLang="en-US" dirty="0">
                    <a:ea typeface="华文楷体" panose="02010600040101010101" pitchFamily="2" charset="-122"/>
                  </a:rPr>
                  <a:t>是最短路径的假设矛盾</a:t>
                </a:r>
                <a:r>
                  <a:rPr lang="zh-CN" altLang="en-US" dirty="0" smtClean="0">
                    <a:ea typeface="华文楷体" panose="02010600040101010101" pitchFamily="2" charset="-122"/>
                  </a:rPr>
                  <a:t>。</a:t>
                </a:r>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49059" y="4495800"/>
                <a:ext cx="9018741" cy="2397451"/>
              </a:xfrm>
              <a:prstGeom prst="rect">
                <a:avLst/>
              </a:prstGeom>
              <a:blipFill rotWithShape="1">
                <a:blip r:embed="rId2"/>
                <a:stretch>
                  <a:fillRect l="-58" t="-212" r="-49" b="-198"/>
                </a:stretch>
              </a:blipFill>
              <a:ln>
                <a:solidFill>
                  <a:schemeClr val="accent1"/>
                </a:solidFill>
              </a:ln>
            </p:spPr>
            <p:txBody>
              <a:bodyPr/>
              <a:lstStyle/>
              <a:p>
                <a:r>
                  <a:rPr lang="zh-CN" altLang="en-US">
                    <a:noFill/>
                  </a:rPr>
                  <a:t> </a:t>
                </a:r>
              </a:p>
            </p:txBody>
          </p:sp>
        </mc:Fallback>
      </mc:AlternateContent>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04800" y="1139825"/>
            <a:ext cx="8534400" cy="5565775"/>
          </a:xfrm>
        </p:spPr>
        <p:txBody>
          <a:bodyPr/>
          <a:lstStyle/>
          <a:p>
            <a:pPr marL="0" indent="0">
              <a:buNone/>
            </a:pPr>
            <a:r>
              <a:rPr lang="en-US" altLang="zh-CN" sz="2000" b="1" dirty="0" smtClean="0">
                <a:solidFill>
                  <a:srgbClr val="FF0000"/>
                </a:solidFill>
                <a:ea typeface="华文楷体" panose="02010600040101010101" pitchFamily="2" charset="-122"/>
              </a:rPr>
              <a:t>[</a:t>
            </a:r>
            <a:r>
              <a:rPr lang="zh-CN" altLang="en-US" sz="2000" b="1" dirty="0" smtClean="0">
                <a:solidFill>
                  <a:srgbClr val="FF0000"/>
                </a:solidFill>
                <a:ea typeface="华文楷体" panose="02010600040101010101" pitchFamily="2" charset="-122"/>
              </a:rPr>
              <a:t>环路</a:t>
            </a:r>
            <a:r>
              <a:rPr lang="en-US" altLang="zh-CN" sz="2000" b="1" dirty="0" smtClean="0">
                <a:solidFill>
                  <a:srgbClr val="FF0000"/>
                </a:solidFill>
                <a:ea typeface="华文楷体" panose="02010600040101010101" pitchFamily="2" charset="-122"/>
              </a:rPr>
              <a:t>]</a:t>
            </a:r>
            <a:endParaRPr lang="en-US" altLang="zh-CN" sz="2000" b="1" dirty="0" smtClean="0">
              <a:solidFill>
                <a:srgbClr val="FF0000"/>
              </a:solidFill>
              <a:ea typeface="华文楷体" panose="02010600040101010101" pitchFamily="2" charset="-122"/>
            </a:endParaRPr>
          </a:p>
          <a:p>
            <a:pPr marL="0" indent="0">
              <a:buNone/>
            </a:pPr>
            <a:r>
              <a:rPr lang="zh-CN" altLang="en-US" sz="2000" dirty="0">
                <a:ea typeface="华文楷体" panose="02010600040101010101" pitchFamily="2" charset="-122"/>
              </a:rPr>
              <a:t>最短路径不包含权值为正或负的环路。</a:t>
            </a:r>
            <a:endParaRPr lang="en-US" altLang="zh-CN" sz="2000" dirty="0">
              <a:ea typeface="华文楷体" panose="02010600040101010101" pitchFamily="2" charset="-122"/>
            </a:endParaRPr>
          </a:p>
          <a:p>
            <a:pPr marL="0" indent="0">
              <a:buNone/>
            </a:pPr>
            <a:r>
              <a:rPr lang="en-US" altLang="zh-CN" sz="2000" b="1" dirty="0" smtClean="0">
                <a:solidFill>
                  <a:srgbClr val="FF0000"/>
                </a:solidFill>
                <a:ea typeface="华文楷体" panose="02010600040101010101" pitchFamily="2" charset="-122"/>
              </a:rPr>
              <a:t>[</a:t>
            </a:r>
            <a:r>
              <a:rPr lang="zh-CN" altLang="en-US" sz="2000" b="1" dirty="0" smtClean="0">
                <a:solidFill>
                  <a:srgbClr val="FF0000"/>
                </a:solidFill>
                <a:ea typeface="华文楷体" panose="02010600040101010101" pitchFamily="2" charset="-122"/>
              </a:rPr>
              <a:t>单源点最短路径问题的变体</a:t>
            </a:r>
            <a:r>
              <a:rPr lang="en-US" altLang="zh-CN" sz="2000" b="1" dirty="0" smtClean="0">
                <a:solidFill>
                  <a:srgbClr val="FF0000"/>
                </a:solidFill>
                <a:ea typeface="华文楷体" panose="02010600040101010101" pitchFamily="2" charset="-122"/>
              </a:rPr>
              <a:t>]</a:t>
            </a:r>
            <a:endParaRPr lang="en-US" altLang="zh-CN" sz="2000" b="1" dirty="0" smtClean="0">
              <a:solidFill>
                <a:srgbClr val="FF0000"/>
              </a:solidFill>
              <a:ea typeface="华文楷体" panose="02010600040101010101" pitchFamily="2" charset="-122"/>
            </a:endParaRPr>
          </a:p>
          <a:p>
            <a:pPr>
              <a:buFont typeface="Wingdings" panose="05000000000000000000" pitchFamily="2" charset="2"/>
              <a:buChar char="n"/>
            </a:pPr>
            <a:r>
              <a:rPr lang="zh-CN" altLang="en-US" sz="2000" dirty="0">
                <a:solidFill>
                  <a:srgbClr val="FF0000"/>
                </a:solidFill>
                <a:ea typeface="华文楷体" panose="02010600040101010101" pitchFamily="2" charset="-122"/>
              </a:rPr>
              <a:t>单源点</a:t>
            </a:r>
            <a:r>
              <a:rPr lang="zh-CN" altLang="en-US" sz="2000" dirty="0" smtClean="0">
                <a:solidFill>
                  <a:srgbClr val="FF0000"/>
                </a:solidFill>
                <a:ea typeface="华文楷体" panose="02010600040101010101" pitchFamily="2" charset="-122"/>
              </a:rPr>
              <a:t>最短路径问题</a:t>
            </a:r>
            <a:endParaRPr lang="en-US" altLang="zh-CN" sz="2000" dirty="0" smtClean="0">
              <a:solidFill>
                <a:srgbClr val="FF0000"/>
              </a:solidFill>
              <a:ea typeface="华文楷体" panose="02010600040101010101" pitchFamily="2" charset="-122"/>
            </a:endParaRPr>
          </a:p>
          <a:p>
            <a:pPr>
              <a:buFont typeface="Wingdings" panose="05000000000000000000" pitchFamily="2" charset="2"/>
              <a:buChar char="ü"/>
            </a:pPr>
            <a:r>
              <a:rPr lang="en-US" altLang="zh-CN" sz="2000" dirty="0" smtClean="0">
                <a:ea typeface="华文楷体" panose="02010600040101010101" pitchFamily="2" charset="-122"/>
              </a:rPr>
              <a:t>Bellman-Ford</a:t>
            </a:r>
            <a:r>
              <a:rPr lang="zh-CN" altLang="en-US" sz="2000" dirty="0" smtClean="0">
                <a:ea typeface="华文楷体" panose="02010600040101010101" pitchFamily="2" charset="-122"/>
              </a:rPr>
              <a:t>算法</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边的权值可为负，但不包含权值为负的环路。返回</a:t>
            </a:r>
            <a:r>
              <a:rPr lang="zh-CN" altLang="en-US" sz="2000" dirty="0">
                <a:ea typeface="华文楷体" panose="02010600040101010101" pitchFamily="2" charset="-122"/>
              </a:rPr>
              <a:t>布尔</a:t>
            </a:r>
            <a:r>
              <a:rPr lang="zh-CN" altLang="en-US" sz="2000" dirty="0" smtClean="0">
                <a:ea typeface="华文楷体" panose="02010600040101010101" pitchFamily="2" charset="-122"/>
              </a:rPr>
              <a:t>值，如有负环路返回</a:t>
            </a:r>
            <a:r>
              <a:rPr lang="en-US" altLang="zh-CN" sz="2000" dirty="0" smtClean="0">
                <a:ea typeface="华文楷体" panose="02010600040101010101" pitchFamily="2" charset="-122"/>
              </a:rPr>
              <a:t>FALSE</a:t>
            </a:r>
            <a:r>
              <a:rPr lang="zh-CN" altLang="en-US" sz="2000" dirty="0" smtClean="0">
                <a:ea typeface="华文楷体" panose="02010600040101010101" pitchFamily="2" charset="-122"/>
              </a:rPr>
              <a:t>，表示无最短路径，否则求出最短路径</a:t>
            </a:r>
            <a:endParaRPr lang="en-US" altLang="zh-CN" sz="2000" dirty="0" smtClean="0">
              <a:ea typeface="华文楷体" panose="02010600040101010101" pitchFamily="2" charset="-122"/>
            </a:endParaRPr>
          </a:p>
          <a:p>
            <a:pPr>
              <a:buFont typeface="Wingdings" panose="05000000000000000000" pitchFamily="2" charset="2"/>
              <a:buChar char="ü"/>
            </a:pPr>
            <a:r>
              <a:rPr lang="en-US" altLang="zh-CN" sz="2000" dirty="0">
                <a:ea typeface="华文楷体" panose="02010600040101010101" pitchFamily="2" charset="-122"/>
              </a:rPr>
              <a:t>DAG-Shortest-Path</a:t>
            </a:r>
            <a:r>
              <a:rPr lang="zh-CN" altLang="en-US" sz="2000" dirty="0">
                <a:ea typeface="华文楷体" panose="02010600040101010101" pitchFamily="2" charset="-122"/>
              </a:rPr>
              <a:t>算法 </a:t>
            </a:r>
            <a:r>
              <a:rPr lang="en-US" altLang="zh-CN" sz="2000" dirty="0">
                <a:ea typeface="华文楷体" panose="02010600040101010101" pitchFamily="2" charset="-122"/>
              </a:rPr>
              <a:t>– </a:t>
            </a:r>
            <a:r>
              <a:rPr lang="zh-CN" altLang="en-US" sz="2000" dirty="0">
                <a:ea typeface="华文楷体" panose="02010600040101010101" pitchFamily="2" charset="-122"/>
              </a:rPr>
              <a:t>用于有向无环图</a:t>
            </a:r>
            <a:endParaRPr lang="en-US" altLang="zh-CN" sz="2000" dirty="0">
              <a:ea typeface="华文楷体" panose="02010600040101010101" pitchFamily="2" charset="-122"/>
            </a:endParaRPr>
          </a:p>
          <a:p>
            <a:pPr>
              <a:buFont typeface="Wingdings" panose="05000000000000000000" pitchFamily="2" charset="2"/>
              <a:buChar char="ü"/>
            </a:pPr>
            <a:r>
              <a:rPr lang="en-US" altLang="zh-CN" sz="2000" b="1" u="sng" dirty="0" err="1" smtClean="0">
                <a:solidFill>
                  <a:srgbClr val="C00000"/>
                </a:solidFill>
                <a:ea typeface="华文楷体" panose="02010600040101010101" pitchFamily="2" charset="-122"/>
              </a:rPr>
              <a:t>Dijkstra</a:t>
            </a:r>
            <a:r>
              <a:rPr lang="zh-CN" altLang="en-US" sz="2000" b="1" u="sng" dirty="0">
                <a:solidFill>
                  <a:srgbClr val="C00000"/>
                </a:solidFill>
                <a:ea typeface="华文楷体" panose="02010600040101010101" pitchFamily="2" charset="-122"/>
              </a:rPr>
              <a:t>算法</a:t>
            </a:r>
            <a:r>
              <a:rPr lang="en-US" altLang="zh-CN" sz="2000" dirty="0" smtClean="0">
                <a:ea typeface="华文楷体" panose="02010600040101010101" pitchFamily="2" charset="-122"/>
              </a:rPr>
              <a:t>-</a:t>
            </a:r>
            <a:r>
              <a:rPr lang="zh-CN" altLang="en-US" sz="2000" dirty="0">
                <a:ea typeface="华文楷体" panose="02010600040101010101" pitchFamily="2" charset="-122"/>
              </a:rPr>
              <a:t>边的权</a:t>
            </a:r>
            <a:r>
              <a:rPr lang="zh-CN" altLang="en-US" sz="2000" dirty="0" smtClean="0">
                <a:ea typeface="华文楷体" panose="02010600040101010101" pitchFamily="2" charset="-122"/>
              </a:rPr>
              <a:t>值不能为负</a:t>
            </a:r>
            <a:endParaRPr lang="en-US" altLang="zh-CN" sz="2000" dirty="0" smtClean="0">
              <a:ea typeface="华文楷体" panose="02010600040101010101" pitchFamily="2" charset="-122"/>
            </a:endParaRPr>
          </a:p>
          <a:p>
            <a:pPr>
              <a:buFont typeface="Wingdings" panose="05000000000000000000" pitchFamily="2" charset="2"/>
              <a:buChar char="n"/>
            </a:pPr>
            <a:r>
              <a:rPr lang="zh-CN" altLang="en-US" sz="2000" dirty="0" smtClean="0">
                <a:solidFill>
                  <a:srgbClr val="FF0000"/>
                </a:solidFill>
                <a:ea typeface="华文楷体" panose="02010600040101010101" pitchFamily="2" charset="-122"/>
              </a:rPr>
              <a:t>单目的地最短路径问题</a:t>
            </a:r>
            <a:r>
              <a:rPr lang="zh-CN" altLang="en-US" sz="2000" dirty="0" smtClean="0">
                <a:ea typeface="华文楷体" panose="02010600040101010101" pitchFamily="2" charset="-122"/>
              </a:rPr>
              <a:t>：求每个顶点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到给定目的顶点</a:t>
            </a:r>
            <a:r>
              <a:rPr lang="en-US" altLang="zh-CN" sz="2000" dirty="0" smtClean="0">
                <a:ea typeface="华文楷体" panose="02010600040101010101" pitchFamily="2" charset="-122"/>
              </a:rPr>
              <a:t>t</a:t>
            </a:r>
            <a:r>
              <a:rPr lang="zh-CN" altLang="en-US" sz="2000" dirty="0" smtClean="0">
                <a:ea typeface="华文楷体" panose="02010600040101010101" pitchFamily="2" charset="-122"/>
              </a:rPr>
              <a:t>的最短路径。将有向边指向翻转过来即单源点最短路径问题。</a:t>
            </a:r>
            <a:endParaRPr lang="en-US" altLang="zh-CN" sz="2000" dirty="0" smtClean="0">
              <a:ea typeface="华文楷体" panose="02010600040101010101" pitchFamily="2" charset="-122"/>
            </a:endParaRPr>
          </a:p>
          <a:p>
            <a:pPr>
              <a:buFont typeface="Wingdings" panose="05000000000000000000" pitchFamily="2" charset="2"/>
              <a:buChar char="n"/>
            </a:pPr>
            <a:r>
              <a:rPr lang="zh-CN" altLang="en-US" sz="2000" dirty="0">
                <a:solidFill>
                  <a:srgbClr val="FF0000"/>
                </a:solidFill>
                <a:ea typeface="华文楷体" panose="02010600040101010101" pitchFamily="2" charset="-122"/>
              </a:rPr>
              <a:t>单</a:t>
            </a:r>
            <a:r>
              <a:rPr lang="zh-CN" altLang="en-US" sz="2000" dirty="0" smtClean="0">
                <a:solidFill>
                  <a:srgbClr val="FF0000"/>
                </a:solidFill>
                <a:ea typeface="华文楷体" panose="02010600040101010101" pitchFamily="2" charset="-122"/>
              </a:rPr>
              <a:t>顶点对最短路径问题</a:t>
            </a:r>
            <a:r>
              <a:rPr lang="zh-CN" altLang="en-US" sz="2000" dirty="0" smtClean="0">
                <a:ea typeface="华文楷体" panose="02010600040101010101" pitchFamily="2" charset="-122"/>
              </a:rPr>
              <a:t>：求给定顶点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到给定顶点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的最短路径。即单源点最短路径的简化问题。</a:t>
            </a:r>
            <a:endParaRPr lang="en-US" altLang="zh-CN" sz="2000" dirty="0" smtClean="0">
              <a:ea typeface="华文楷体" panose="02010600040101010101" pitchFamily="2" charset="-122"/>
            </a:endParaRPr>
          </a:p>
          <a:p>
            <a:pPr>
              <a:buFont typeface="Wingdings" panose="05000000000000000000" pitchFamily="2" charset="2"/>
              <a:buChar char="n"/>
            </a:pPr>
            <a:r>
              <a:rPr lang="zh-CN" altLang="en-US" sz="2000" dirty="0" smtClean="0">
                <a:solidFill>
                  <a:srgbClr val="FF0000"/>
                </a:solidFill>
                <a:ea typeface="华文楷体" panose="02010600040101010101" pitchFamily="2" charset="-122"/>
              </a:rPr>
              <a:t>所有结点对的最短路径问题</a:t>
            </a:r>
            <a:r>
              <a:rPr lang="zh-CN" altLang="en-US" sz="2000" dirty="0" smtClean="0">
                <a:ea typeface="华文楷体" panose="02010600040101010101" pitchFamily="2" charset="-122"/>
              </a:rPr>
              <a:t>：对每对顶点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，求</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到</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的最短路径。即对每个顶点求</a:t>
            </a:r>
            <a:r>
              <a:rPr lang="zh-CN" altLang="en-US" sz="2000" dirty="0">
                <a:ea typeface="华文楷体" panose="02010600040101010101" pitchFamily="2" charset="-122"/>
              </a:rPr>
              <a:t>单源点最短</a:t>
            </a:r>
            <a:r>
              <a:rPr lang="zh-CN" altLang="en-US" sz="2000" dirty="0" smtClean="0">
                <a:ea typeface="华文楷体" panose="02010600040101010101" pitchFamily="2" charset="-122"/>
              </a:rPr>
              <a:t>路径。</a:t>
            </a:r>
            <a:endParaRPr lang="en-US" altLang="zh-CN" sz="2000" dirty="0" smtClean="0">
              <a:ea typeface="华文楷体" panose="02010600040101010101" pitchFamily="2" charset="-122"/>
            </a:endParaRPr>
          </a:p>
          <a:p>
            <a:pPr>
              <a:buFont typeface="Wingdings" panose="05000000000000000000" pitchFamily="2" charset="2"/>
              <a:buChar char="ü"/>
            </a:pPr>
            <a:r>
              <a:rPr lang="en-US" altLang="zh-CN" sz="2000" b="1" u="sng" dirty="0" smtClean="0">
                <a:solidFill>
                  <a:srgbClr val="C00000"/>
                </a:solidFill>
                <a:ea typeface="华文楷体" panose="02010600040101010101" pitchFamily="2" charset="-122"/>
              </a:rPr>
              <a:t>Floyd-</a:t>
            </a:r>
            <a:r>
              <a:rPr lang="en-US" altLang="zh-CN" sz="2000" b="1" u="sng" dirty="0" err="1" smtClean="0">
                <a:solidFill>
                  <a:srgbClr val="C00000"/>
                </a:solidFill>
                <a:ea typeface="华文楷体" panose="02010600040101010101" pitchFamily="2" charset="-122"/>
              </a:rPr>
              <a:t>warshall</a:t>
            </a:r>
            <a:r>
              <a:rPr lang="zh-CN" altLang="en-US" sz="2000" dirty="0" smtClean="0">
                <a:ea typeface="华文楷体" panose="02010600040101010101" pitchFamily="2" charset="-122"/>
              </a:rPr>
              <a:t>算法</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负权重边可以存着，但不能存着负权重环路。</a:t>
            </a:r>
            <a:endParaRPr lang="en-US" altLang="zh-CN" sz="2000" dirty="0" smtClean="0">
              <a:ea typeface="华文楷体" panose="02010600040101010101" pitchFamily="2" charset="-122"/>
            </a:endParaRPr>
          </a:p>
          <a:p>
            <a:pPr>
              <a:buFont typeface="Wingdings" panose="05000000000000000000" pitchFamily="2" charset="2"/>
              <a:buChar char="ü"/>
            </a:pPr>
            <a:r>
              <a:rPr lang="en-US" altLang="zh-CN" sz="2000" dirty="0" smtClean="0">
                <a:ea typeface="华文楷体" panose="02010600040101010101" pitchFamily="2" charset="-122"/>
              </a:rPr>
              <a:t>Johnson</a:t>
            </a:r>
            <a:r>
              <a:rPr lang="zh-CN" altLang="en-US" sz="2000" dirty="0" smtClean="0">
                <a:ea typeface="华文楷体" panose="02010600040101010101" pitchFamily="2" charset="-122"/>
              </a:rPr>
              <a:t>算法</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用于稀疏图，用</a:t>
            </a:r>
            <a:r>
              <a:rPr lang="en-US" altLang="zh-CN" sz="2000" dirty="0" err="1">
                <a:ea typeface="华文楷体" panose="02010600040101010101" pitchFamily="2" charset="-122"/>
              </a:rPr>
              <a:t>Dijkstra</a:t>
            </a:r>
            <a:r>
              <a:rPr lang="zh-CN" altLang="en-US" sz="2000" dirty="0" smtClean="0">
                <a:ea typeface="华文楷体" panose="02010600040101010101" pitchFamily="2" charset="-122"/>
              </a:rPr>
              <a:t>算法或</a:t>
            </a:r>
            <a:r>
              <a:rPr lang="en-US" altLang="zh-CN" sz="2000" dirty="0">
                <a:ea typeface="华文楷体" panose="02010600040101010101" pitchFamily="2" charset="-122"/>
              </a:rPr>
              <a:t>Bellman-Ford</a:t>
            </a:r>
            <a:r>
              <a:rPr lang="zh-CN" altLang="en-US" sz="2000" dirty="0" smtClean="0">
                <a:ea typeface="华文楷体" panose="02010600040101010101" pitchFamily="2" charset="-122"/>
              </a:rPr>
              <a:t>算法作为子程序</a:t>
            </a:r>
            <a:endParaRPr lang="en-US" altLang="zh-CN" sz="2000" dirty="0" smtClean="0">
              <a:ea typeface="华文楷体" panose="02010600040101010101" pitchFamily="2" charset="-122"/>
            </a:endParaRPr>
          </a:p>
          <a:p>
            <a:pPr marL="0" indent="0">
              <a:buNone/>
            </a:pP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152525"/>
                <a:ext cx="8229600" cy="3038475"/>
              </a:xfrm>
              <a:ln>
                <a:solidFill>
                  <a:schemeClr val="accent1"/>
                </a:solidFill>
              </a:ln>
            </p:spPr>
            <p:txBody>
              <a:bodyPr/>
              <a:lstStyle/>
              <a:p>
                <a:pPr marL="0" indent="0">
                  <a:buNone/>
                </a:pPr>
                <a:r>
                  <a:rPr lang="en-US" altLang="zh-CN" sz="2000" b="1" dirty="0" smtClean="0">
                    <a:solidFill>
                      <a:srgbClr val="C00000"/>
                    </a:solidFill>
                    <a:ea typeface="华文楷体" panose="02010600040101010101" pitchFamily="2" charset="-122"/>
                  </a:rPr>
                  <a:t>[</a:t>
                </a:r>
                <a:r>
                  <a:rPr lang="zh-CN" altLang="en-US" sz="2000" b="1" dirty="0">
                    <a:solidFill>
                      <a:srgbClr val="C00000"/>
                    </a:solidFill>
                    <a:ea typeface="华文楷体" panose="02010600040101010101" pitchFamily="2" charset="-122"/>
                  </a:rPr>
                  <a:t>最短路径的表示</a:t>
                </a:r>
                <a:r>
                  <a:rPr lang="en-US" altLang="zh-CN" sz="2000" b="1" dirty="0">
                    <a:solidFill>
                      <a:srgbClr val="C00000"/>
                    </a:solidFill>
                    <a:ea typeface="华文楷体" panose="02010600040101010101" pitchFamily="2" charset="-122"/>
                  </a:rPr>
                  <a:t>]</a:t>
                </a:r>
                <a:endParaRPr lang="en-US" altLang="zh-CN" sz="2000" b="1" dirty="0">
                  <a:solidFill>
                    <a:srgbClr val="C00000"/>
                  </a:solidFill>
                  <a:ea typeface="华文楷体" panose="02010600040101010101" pitchFamily="2" charset="-122"/>
                </a:endParaRPr>
              </a:p>
              <a:p>
                <a:pPr marL="0" indent="0">
                  <a:buNone/>
                </a:pPr>
                <a:r>
                  <a:rPr lang="zh-CN" altLang="en-US" sz="1800" dirty="0">
                    <a:ea typeface="华文楷体" panose="02010600040101010101" pitchFamily="2" charset="-122"/>
                  </a:rPr>
                  <a:t>给定带权有向图</a:t>
                </a:r>
                <a:r>
                  <a:rPr lang="en-US" altLang="zh-CN" sz="1800" dirty="0">
                    <a:ea typeface="华文楷体" panose="02010600040101010101" pitchFamily="2" charset="-122"/>
                  </a:rPr>
                  <a:t>G=(V,E</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，在最短路径算法中，每个顶点</a:t>
                </a:r>
                <a:r>
                  <a:rPr lang="en-US" altLang="zh-CN" sz="1800" dirty="0" smtClean="0">
                    <a:ea typeface="华文楷体" panose="02010600040101010101" pitchFamily="2" charset="-122"/>
                  </a:rPr>
                  <a:t>v</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维持一个</a:t>
                </a:r>
                <a:r>
                  <a:rPr lang="zh-CN" altLang="en-US" sz="1800" b="1" dirty="0" smtClean="0">
                    <a:solidFill>
                      <a:srgbClr val="C00000"/>
                    </a:solidFill>
                    <a:ea typeface="华文楷体" panose="02010600040101010101" pitchFamily="2" charset="-122"/>
                  </a:rPr>
                  <a:t>前驱顶点</a:t>
                </a:r>
                <a:r>
                  <a:rPr lang="en-US" altLang="zh-CN" sz="1800" dirty="0" smtClean="0">
                    <a:ea typeface="华文楷体" panose="02010600040101010101" pitchFamily="2" charset="-122"/>
                  </a:rPr>
                  <a:t>p [v]</a:t>
                </a:r>
                <a:r>
                  <a:rPr lang="zh-CN" altLang="en-US" sz="1800" dirty="0" smtClean="0">
                    <a:ea typeface="华文楷体" panose="02010600040101010101" pitchFamily="2" charset="-122"/>
                  </a:rPr>
                  <a:t>，</a:t>
                </a:r>
                <a:r>
                  <a:rPr lang="en-US" altLang="zh-CN" sz="1800" dirty="0" smtClean="0">
                    <a:ea typeface="华文楷体" panose="02010600040101010101" pitchFamily="2" charset="-122"/>
                  </a:rPr>
                  <a:t>p [v]</a:t>
                </a:r>
                <a:r>
                  <a:rPr lang="zh-CN" altLang="en-US" sz="1800" dirty="0" smtClean="0">
                    <a:ea typeface="华文楷体" panose="02010600040101010101" pitchFamily="2" charset="-122"/>
                  </a:rPr>
                  <a:t>可能是一个顶点也可能是空</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；将结点</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开始的前驱顶点链反转过来就是</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到</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的最短路径。</a:t>
                </a:r>
                <a:r>
                  <a:rPr lang="zh-CN" altLang="en-US" sz="1800" dirty="0">
                    <a:solidFill>
                      <a:schemeClr val="accent5">
                        <a:lumMod val="50000"/>
                      </a:schemeClr>
                    </a:solidFill>
                    <a:ea typeface="华文楷体" panose="02010600040101010101" pitchFamily="2" charset="-122"/>
                  </a:rPr>
                  <a:t>数组</a:t>
                </a:r>
                <a:r>
                  <a:rPr lang="en-US" altLang="zh-CN" sz="1800" dirty="0" err="1" smtClean="0">
                    <a:solidFill>
                      <a:schemeClr val="accent5">
                        <a:lumMod val="50000"/>
                      </a:schemeClr>
                    </a:solidFill>
                    <a:ea typeface="华文楷体" panose="02010600040101010101" pitchFamily="2" charset="-122"/>
                  </a:rPr>
                  <a:t>int</a:t>
                </a:r>
                <a:r>
                  <a:rPr lang="en-US" altLang="zh-CN" sz="1800" dirty="0" smtClean="0">
                    <a:solidFill>
                      <a:schemeClr val="accent5">
                        <a:lumMod val="50000"/>
                      </a:schemeClr>
                    </a:solidFill>
                    <a:ea typeface="华文楷体" panose="02010600040101010101" pitchFamily="2" charset="-122"/>
                  </a:rPr>
                  <a:t> p[MAXV]</a:t>
                </a:r>
                <a:r>
                  <a:rPr lang="zh-CN" altLang="en-US" sz="1800" dirty="0" smtClean="0">
                    <a:solidFill>
                      <a:schemeClr val="accent5">
                        <a:lumMod val="50000"/>
                      </a:schemeClr>
                    </a:solidFill>
                    <a:ea typeface="华文楷体" panose="02010600040101010101" pitchFamily="2" charset="-122"/>
                  </a:rPr>
                  <a:t>为全局变量，初值</a:t>
                </a:r>
                <a:r>
                  <a:rPr lang="en-US" altLang="zh-CN" sz="1800" dirty="0" smtClean="0">
                    <a:solidFill>
                      <a:schemeClr val="accent5">
                        <a:lumMod val="50000"/>
                      </a:schemeClr>
                    </a:solidFill>
                    <a:ea typeface="华文楷体" panose="02010600040101010101" pitchFamily="2" charset="-122"/>
                  </a:rPr>
                  <a:t>p[v]=-1</a:t>
                </a:r>
                <a:r>
                  <a:rPr lang="zh-CN" altLang="en-US" sz="1800" dirty="0" smtClean="0">
                    <a:solidFill>
                      <a:schemeClr val="accent5">
                        <a:lumMod val="50000"/>
                      </a:schemeClr>
                    </a:solidFill>
                    <a:ea typeface="华文楷体" panose="02010600040101010101" pitchFamily="2" charset="-122"/>
                  </a:rPr>
                  <a:t>。</a:t>
                </a:r>
                <a:endParaRPr lang="en-US" altLang="zh-CN" sz="1800" dirty="0" smtClean="0">
                  <a:solidFill>
                    <a:schemeClr val="accent5">
                      <a:lumMod val="50000"/>
                    </a:schemeClr>
                  </a:solidFill>
                  <a:ea typeface="华文楷体" panose="02010600040101010101" pitchFamily="2" charset="-122"/>
                </a:endParaRPr>
              </a:p>
              <a:p>
                <a:pPr marL="0" indent="0">
                  <a:buNone/>
                </a:pPr>
                <a:r>
                  <a:rPr lang="zh-CN" altLang="en-US" sz="1800" b="1" dirty="0" smtClean="0">
                    <a:solidFill>
                      <a:srgbClr val="C00000"/>
                    </a:solidFill>
                    <a:ea typeface="华文楷体" panose="02010600040101010101" pitchFamily="2" charset="-122"/>
                  </a:rPr>
                  <a:t>前驱子图</a:t>
                </a:r>
                <a:r>
                  <a:rPr lang="en-US" altLang="zh-CN" sz="1800" dirty="0" err="1" smtClean="0">
                    <a:ea typeface="华文楷体" panose="02010600040101010101" pitchFamily="2" charset="-122"/>
                  </a:rPr>
                  <a:t>G</a:t>
                </a:r>
                <a:r>
                  <a:rPr lang="en-US" altLang="zh-CN" sz="1800" baseline="-25000" dirty="0" err="1">
                    <a:ea typeface="华文楷体" panose="02010600040101010101" pitchFamily="2" charset="-122"/>
                  </a:rPr>
                  <a:t>p</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p</a:t>
                </a:r>
                <a:r>
                  <a:rPr lang="en-US" altLang="zh-CN" sz="1800" dirty="0" err="1" smtClean="0">
                    <a:ea typeface="华文楷体" panose="02010600040101010101" pitchFamily="2" charset="-122"/>
                  </a:rPr>
                  <a:t>,E</a:t>
                </a:r>
                <a:r>
                  <a:rPr lang="en-US" altLang="zh-CN" sz="1800" baseline="-25000" dirty="0" err="1">
                    <a:ea typeface="华文楷体" panose="02010600040101010101" pitchFamily="2" charset="-122"/>
                  </a:rPr>
                  <a:t>p</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是由</a:t>
                </a:r>
                <a:r>
                  <a:rPr lang="en-US" altLang="zh-CN" sz="1800" dirty="0" smtClean="0">
                    <a:ea typeface="华文楷体" panose="02010600040101010101" pitchFamily="2" charset="-122"/>
                  </a:rPr>
                  <a:t>p[v]</a:t>
                </a:r>
                <a:r>
                  <a:rPr lang="zh-CN" altLang="en-US" sz="1800" dirty="0" smtClean="0">
                    <a:ea typeface="华文楷体" panose="02010600040101010101" pitchFamily="2" charset="-122"/>
                  </a:rPr>
                  <a:t>生成的，其中</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是前驱顶点中不为</a:t>
                </a:r>
                <a:r>
                  <a:rPr lang="zh-CN" altLang="en-US" sz="1800" dirty="0">
                    <a:ea typeface="华文楷体" panose="02010600040101010101" pitchFamily="2" charset="-122"/>
                  </a:rPr>
                  <a:t>空</a:t>
                </a:r>
                <a:r>
                  <a:rPr lang="zh-CN" altLang="en-US" sz="1800" dirty="0" smtClean="0">
                    <a:ea typeface="华文楷体" panose="02010600040101010101" pitchFamily="2" charset="-122"/>
                  </a:rPr>
                  <a:t>的顶点集合加上源顶点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，即</a:t>
                </a:r>
                <a:r>
                  <a:rPr lang="en-US" altLang="zh-CN" sz="1800" dirty="0" err="1" smtClean="0">
                    <a:ea typeface="华文楷体" panose="02010600040101010101" pitchFamily="2" charset="-122"/>
                  </a:rPr>
                  <a:t>Vp</a:t>
                </a:r>
                <a:r>
                  <a:rPr lang="en-US" altLang="zh-CN" sz="1800" dirty="0" smtClean="0">
                    <a:ea typeface="华文楷体" panose="02010600040101010101" pitchFamily="2" charset="-122"/>
                  </a:rPr>
                  <a:t>={</a:t>
                </a:r>
                <a:r>
                  <a:rPr lang="en-US" altLang="zh-CN" sz="1800" dirty="0">
                    <a:ea typeface="华文楷体" panose="02010600040101010101" pitchFamily="2" charset="-122"/>
                  </a:rPr>
                  <a:t>v</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smtClean="0">
                    <a:ea typeface="华文楷体" panose="02010600040101010101" pitchFamily="2" charset="-122"/>
                  </a:rPr>
                  <a:t>V:p[v]</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smtClean="0">
                    <a:ea typeface="华文楷体" panose="02010600040101010101" pitchFamily="2" charset="-122"/>
                  </a:rPr>
                  <a:t>-1}</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a:t>
                </a:r>
                <a:r>
                  <a:rPr lang="en-US" altLang="zh-CN" sz="1800" dirty="0" smtClean="0">
                    <a:ea typeface="华文楷体" panose="02010600040101010101" pitchFamily="2" charset="-122"/>
                  </a:rPr>
                  <a:t>E</a:t>
                </a:r>
                <a:r>
                  <a:rPr lang="en-US" altLang="zh-CN" sz="1800" baseline="-25000" dirty="0">
                    <a:ea typeface="华文楷体" panose="02010600040101010101" pitchFamily="2" charset="-122"/>
                  </a:rPr>
                  <a:t>p</a:t>
                </a:r>
                <a:r>
                  <a:rPr lang="zh-CN" altLang="en-US" sz="1800" dirty="0" smtClean="0">
                    <a:ea typeface="华文楷体" panose="02010600040101010101" pitchFamily="2" charset="-122"/>
                  </a:rPr>
                  <a:t>由</a:t>
                </a:r>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中顶点通过</a:t>
                </a:r>
                <a:r>
                  <a:rPr lang="en-US" altLang="zh-CN" sz="1800" dirty="0" smtClean="0">
                    <a:ea typeface="华文楷体" panose="02010600040101010101" pitchFamily="2" charset="-122"/>
                  </a:rPr>
                  <a:t>p[v]</a:t>
                </a:r>
                <a:r>
                  <a:rPr lang="zh-CN" altLang="en-US" sz="1800" dirty="0" smtClean="0">
                    <a:ea typeface="华文楷体" panose="02010600040101010101" pitchFamily="2" charset="-122"/>
                  </a:rPr>
                  <a:t>产生的边的集合，即：</a:t>
                </a:r>
                <a:r>
                  <a:rPr lang="en-US" altLang="zh-CN" sz="1800" dirty="0" smtClean="0">
                    <a:ea typeface="华文楷体" panose="02010600040101010101" pitchFamily="2" charset="-122"/>
                  </a:rPr>
                  <a:t>E</a:t>
                </a:r>
                <a:r>
                  <a:rPr lang="en-US" altLang="zh-CN" sz="1800" baseline="-25000" dirty="0">
                    <a:ea typeface="华文楷体" panose="02010600040101010101" pitchFamily="2" charset="-122"/>
                  </a:rPr>
                  <a:t>p</a:t>
                </a:r>
                <a:r>
                  <a:rPr lang="en-US" altLang="zh-CN" sz="1800" dirty="0" smtClean="0">
                    <a:ea typeface="华文楷体" panose="02010600040101010101" pitchFamily="2" charset="-122"/>
                  </a:rPr>
                  <a:t>={&lt;p [v],v&gt;</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 </m:t>
                    </m:r>
                  </m:oMath>
                </a14:m>
                <a:r>
                  <a:rPr lang="en-US" altLang="zh-CN" sz="1800" dirty="0" smtClean="0">
                    <a:ea typeface="华文楷体" panose="02010600040101010101" pitchFamily="2" charset="-122"/>
                  </a:rPr>
                  <a:t>E:v</a:t>
                </a:r>
                <a:r>
                  <a:rPr lang="en-US" altLang="zh-CN" sz="1800" dirty="0">
                    <a:ea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Cambria Math" panose="02040503050406030204" pitchFamily="18" charset="0"/>
                      </a:rPr>
                      <m:t>∈</m:t>
                    </m:r>
                  </m:oMath>
                </a14:m>
                <a:r>
                  <a:rPr lang="en-US" altLang="zh-CN" sz="1800" dirty="0" err="1" smtClean="0">
                    <a:ea typeface="华文楷体" panose="02010600040101010101" pitchFamily="2" charset="-122"/>
                  </a:rPr>
                  <a:t>V</a:t>
                </a:r>
                <a:r>
                  <a:rPr lang="en-US" altLang="zh-CN" sz="1800" baseline="-25000" dirty="0" err="1">
                    <a:ea typeface="华文楷体" panose="02010600040101010101" pitchFamily="2" charset="-122"/>
                  </a:rPr>
                  <a:t>p</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在最短路径算法终止时，</a:t>
                </a:r>
                <a:r>
                  <a:rPr lang="en-US" altLang="zh-CN" sz="1800" dirty="0" err="1" smtClean="0">
                    <a:ea typeface="华文楷体" panose="02010600040101010101" pitchFamily="2" charset="-122"/>
                  </a:rPr>
                  <a:t>G</a:t>
                </a:r>
                <a:r>
                  <a:rPr lang="en-US" altLang="zh-CN" sz="1800" baseline="-25000" dirty="0" err="1">
                    <a:ea typeface="华文楷体" panose="02010600040101010101" pitchFamily="2" charset="-122"/>
                  </a:rPr>
                  <a:t>p</a:t>
                </a:r>
                <a:r>
                  <a:rPr lang="zh-CN" altLang="en-US" sz="1800" dirty="0" smtClean="0">
                    <a:ea typeface="华文楷体" panose="02010600040101010101" pitchFamily="2" charset="-122"/>
                  </a:rPr>
                  <a:t>是一棵根结点为源顶点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的</a:t>
                </a:r>
                <a:r>
                  <a:rPr lang="zh-CN" altLang="en-US" sz="1800" b="1" dirty="0" smtClean="0">
                    <a:solidFill>
                      <a:srgbClr val="C00000"/>
                    </a:solidFill>
                    <a:ea typeface="华文楷体" panose="02010600040101010101" pitchFamily="2" charset="-122"/>
                  </a:rPr>
                  <a:t>最短路径树</a:t>
                </a:r>
                <a:r>
                  <a:rPr lang="zh-CN" altLang="en-US" sz="1800" dirty="0" smtClean="0">
                    <a:ea typeface="华文楷体" panose="02010600040101010101" pitchFamily="2" charset="-122"/>
                  </a:rPr>
                  <a:t>，它包含：源顶点</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，以及</a:t>
                </a:r>
                <a:r>
                  <a:rPr lang="en-US" altLang="zh-CN" sz="1800" dirty="0" smtClean="0">
                    <a:ea typeface="华文楷体" panose="02010600040101010101" pitchFamily="2" charset="-122"/>
                  </a:rPr>
                  <a:t>s</a:t>
                </a:r>
                <a:r>
                  <a:rPr lang="zh-CN" altLang="en-US" sz="1800" dirty="0" smtClean="0">
                    <a:ea typeface="华文楷体" panose="02010600040101010101" pitchFamily="2" charset="-122"/>
                  </a:rPr>
                  <a:t>到每个可达顶点</a:t>
                </a:r>
                <a:r>
                  <a:rPr lang="en-US" altLang="zh-CN" sz="1800" dirty="0" smtClean="0">
                    <a:ea typeface="华文楷体" panose="02010600040101010101" pitchFamily="2" charset="-122"/>
                  </a:rPr>
                  <a:t>v</a:t>
                </a:r>
                <a:r>
                  <a:rPr lang="zh-CN" altLang="en-US" sz="1800" dirty="0" smtClean="0">
                    <a:ea typeface="华文楷体" panose="02010600040101010101" pitchFamily="2" charset="-122"/>
                  </a:rPr>
                  <a:t>的一条最短路径。</a:t>
                </a:r>
                <a:endParaRPr lang="en-US" altLang="zh-CN" sz="1800" dirty="0" smtClean="0">
                  <a:ea typeface="华文楷体" panose="02010600040101010101" pitchFamily="2" charset="-122"/>
                </a:endParaRPr>
              </a:p>
              <a:p>
                <a:pPr marL="0" indent="0">
                  <a:buNone/>
                </a:pPr>
                <a:r>
                  <a:rPr lang="zh-CN" altLang="en-US" sz="1800" dirty="0">
                    <a:solidFill>
                      <a:srgbClr val="C00000"/>
                    </a:solidFill>
                    <a:ea typeface="华文楷体" panose="02010600040101010101" pitchFamily="2" charset="-122"/>
                  </a:rPr>
                  <a:t>最</a:t>
                </a:r>
                <a:r>
                  <a:rPr lang="zh-CN" altLang="en-US" sz="1800" dirty="0" smtClean="0">
                    <a:solidFill>
                      <a:srgbClr val="C00000"/>
                    </a:solidFill>
                    <a:ea typeface="华文楷体" panose="02010600040101010101" pitchFamily="2" charset="-122"/>
                  </a:rPr>
                  <a:t>短路径可能不唯一，最短路径树也不唯一</a:t>
                </a:r>
                <a:r>
                  <a:rPr lang="zh-CN" altLang="en-US"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endParaRPr lang="en-US" altLang="zh-CN" sz="1800" dirty="0" smtClean="0">
                  <a:ea typeface="华文楷体" panose="02010600040101010101" pitchFamily="2" charset="-122"/>
                </a:endParaRPr>
              </a:p>
              <a:p>
                <a:pPr marL="0" indent="0">
                  <a:buNone/>
                </a:pPr>
                <a:endParaRPr lang="en-US" altLang="zh-CN" sz="2000" dirty="0" smtClean="0"/>
              </a:p>
              <a:p>
                <a:pPr marL="0" indent="0">
                  <a:buNone/>
                </a:pPr>
                <a:endParaRPr lang="zh-CN" altLang="en-US"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152525"/>
                <a:ext cx="8229600" cy="3038475"/>
              </a:xfrm>
              <a:blipFill rotWithShape="1">
                <a:blip r:embed="rId1"/>
                <a:stretch>
                  <a:fillRect l="-62" t="-167" r="-54" b="-34880"/>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p:pic>
        <p:nvPicPr>
          <p:cNvPr id="6" name="图片 5"/>
          <p:cNvPicPr>
            <a:picLocks noChangeAspect="1"/>
          </p:cNvPicPr>
          <p:nvPr/>
        </p:nvPicPr>
        <p:blipFill>
          <a:blip r:embed="rId2"/>
          <a:stretch>
            <a:fillRect/>
          </a:stretch>
        </p:blipFill>
        <p:spPr>
          <a:xfrm>
            <a:off x="51278" y="4530724"/>
            <a:ext cx="2683855" cy="2090738"/>
          </a:xfrm>
          <a:prstGeom prst="rect">
            <a:avLst/>
          </a:prstGeom>
        </p:spPr>
      </p:pic>
      <p:pic>
        <p:nvPicPr>
          <p:cNvPr id="7" name="图片 6"/>
          <p:cNvPicPr>
            <a:picLocks noChangeAspect="1"/>
          </p:cNvPicPr>
          <p:nvPr/>
        </p:nvPicPr>
        <p:blipFill>
          <a:blip r:embed="rId3"/>
          <a:stretch>
            <a:fillRect/>
          </a:stretch>
        </p:blipFill>
        <p:spPr>
          <a:xfrm>
            <a:off x="2852552" y="4442688"/>
            <a:ext cx="2781671" cy="2166937"/>
          </a:xfrm>
          <a:prstGeom prst="rect">
            <a:avLst/>
          </a:prstGeom>
        </p:spPr>
      </p:pic>
      <p:cxnSp>
        <p:nvCxnSpPr>
          <p:cNvPr id="9" name="直接连接符 8"/>
          <p:cNvCxnSpPr/>
          <p:nvPr/>
        </p:nvCxnSpPr>
        <p:spPr>
          <a:xfrm>
            <a:off x="2735133" y="4191000"/>
            <a:ext cx="0" cy="2667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直接连接符 9"/>
          <p:cNvCxnSpPr/>
          <p:nvPr/>
        </p:nvCxnSpPr>
        <p:spPr>
          <a:xfrm>
            <a:off x="5867400" y="4191000"/>
            <a:ext cx="0" cy="2667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1" name="图片 10"/>
          <p:cNvPicPr>
            <a:picLocks noChangeAspect="1"/>
          </p:cNvPicPr>
          <p:nvPr/>
        </p:nvPicPr>
        <p:blipFill>
          <a:blip r:embed="rId4"/>
          <a:stretch>
            <a:fillRect/>
          </a:stretch>
        </p:blipFill>
        <p:spPr>
          <a:xfrm>
            <a:off x="5984081" y="4568824"/>
            <a:ext cx="2586038" cy="2014538"/>
          </a:xfrm>
          <a:prstGeom prst="rect">
            <a:avLst/>
          </a:prstGeom>
        </p:spPr>
      </p:pic>
      <p:sp>
        <p:nvSpPr>
          <p:cNvPr id="12" name="文本框 11"/>
          <p:cNvSpPr txBox="1"/>
          <p:nvPr/>
        </p:nvSpPr>
        <p:spPr>
          <a:xfrm>
            <a:off x="5915948" y="4276724"/>
            <a:ext cx="3228052" cy="261610"/>
          </a:xfrm>
          <a:prstGeom prst="rect">
            <a:avLst/>
          </a:prstGeom>
          <a:noFill/>
          <a:ln>
            <a:solidFill>
              <a:srgbClr val="FFC000"/>
            </a:solidFill>
          </a:ln>
        </p:spPr>
        <p:txBody>
          <a:bodyPr wrap="square" rtlCol="0">
            <a:spAutoFit/>
          </a:bodyPr>
          <a:lstStyle/>
          <a:p>
            <a:r>
              <a:rPr lang="en-US" altLang="zh-CN" sz="1100" dirty="0" smtClean="0">
                <a:latin typeface="Times New Roman" panose="02020603050405020304" pitchFamily="18" charset="0"/>
                <a:ea typeface="华文楷体" panose="02010600040101010101" pitchFamily="2" charset="-122"/>
              </a:rPr>
              <a:t>s-t-y-x-z</a:t>
            </a:r>
            <a:r>
              <a:rPr lang="zh-CN" altLang="en-US" sz="1100" dirty="0" smtClean="0">
                <a:latin typeface="Times New Roman" panose="02020603050405020304" pitchFamily="18" charset="0"/>
                <a:ea typeface="华文楷体" panose="02010600040101010101" pitchFamily="2" charset="-122"/>
              </a:rPr>
              <a:t>是最短路径，则子路径</a:t>
            </a:r>
            <a:r>
              <a:rPr lang="en-US" altLang="zh-CN" sz="1100" dirty="0" smtClean="0">
                <a:latin typeface="Times New Roman" panose="02020603050405020304" pitchFamily="18" charset="0"/>
                <a:ea typeface="华文楷体" panose="02010600040101010101" pitchFamily="2" charset="-122"/>
              </a:rPr>
              <a:t>t-y-x</a:t>
            </a:r>
            <a:r>
              <a:rPr lang="zh-CN" altLang="en-US" sz="1100" dirty="0" smtClean="0">
                <a:latin typeface="Times New Roman" panose="02020603050405020304" pitchFamily="18" charset="0"/>
                <a:ea typeface="华文楷体" panose="02010600040101010101" pitchFamily="2" charset="-122"/>
              </a:rPr>
              <a:t>也是最短路径</a:t>
            </a:r>
            <a:endParaRPr lang="zh-CN" altLang="en-US" sz="11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14301" y="1152524"/>
            <a:ext cx="4610100" cy="5705475"/>
          </a:xfrm>
          <a:ln>
            <a:solidFill>
              <a:schemeClr val="accent1"/>
            </a:solidFill>
          </a:ln>
        </p:spPr>
        <p:txBody>
          <a:bodyPr/>
          <a:lstStyle/>
          <a:p>
            <a:pPr eaLnBrk="1" hangingPunct="1">
              <a:buClr>
                <a:srgbClr val="6699FF"/>
              </a:buClr>
              <a:buNone/>
            </a:pPr>
            <a:r>
              <a:rPr lang="en-US" altLang="zh-CN" sz="2000" b="1" dirty="0">
                <a:solidFill>
                  <a:srgbClr val="C00000"/>
                </a:solidFill>
                <a:ea typeface="华文楷体" panose="02010600040101010101" pitchFamily="2" charset="-122"/>
              </a:rPr>
              <a:t>[</a:t>
            </a:r>
            <a:r>
              <a:rPr lang="zh-CN" altLang="en-US" sz="2000" b="1" dirty="0">
                <a:solidFill>
                  <a:srgbClr val="C00000"/>
                </a:solidFill>
                <a:ea typeface="华文楷体" panose="02010600040101010101" pitchFamily="2" charset="-122"/>
              </a:rPr>
              <a:t>最短路径的原理</a:t>
            </a:r>
            <a:r>
              <a:rPr lang="en-US" altLang="zh-CN" sz="2000" b="1" dirty="0">
                <a:solidFill>
                  <a:srgbClr val="C00000"/>
                </a:solidFill>
                <a:ea typeface="华文楷体" panose="02010600040101010101" pitchFamily="2" charset="-122"/>
              </a:rPr>
              <a:t>-</a:t>
            </a:r>
            <a:r>
              <a:rPr lang="zh-CN" altLang="en-US" sz="2000" b="1" dirty="0">
                <a:solidFill>
                  <a:srgbClr val="C00000"/>
                </a:solidFill>
                <a:ea typeface="华文楷体" panose="02010600040101010101" pitchFamily="2" charset="-122"/>
              </a:rPr>
              <a:t>松弛操作</a:t>
            </a:r>
            <a:r>
              <a:rPr lang="en-US" altLang="zh-CN" sz="2000" b="1" dirty="0">
                <a:solidFill>
                  <a:srgbClr val="C00000"/>
                </a:solidFill>
                <a:ea typeface="华文楷体" panose="02010600040101010101" pitchFamily="2" charset="-122"/>
              </a:rPr>
              <a:t>]</a:t>
            </a:r>
            <a:endParaRPr lang="en-US" altLang="zh-CN" sz="2000" b="1" dirty="0">
              <a:solidFill>
                <a:srgbClr val="C00000"/>
              </a:solidFill>
              <a:ea typeface="华文楷体" panose="02010600040101010101" pitchFamily="2" charset="-122"/>
            </a:endParaRPr>
          </a:p>
          <a:p>
            <a:pPr lvl="0" eaLnBrk="1" hangingPunct="1">
              <a:buClr>
                <a:srgbClr val="6699FF"/>
              </a:buClr>
              <a:buNone/>
            </a:pPr>
            <a:r>
              <a:rPr lang="zh-CN" altLang="en-US" sz="2000" dirty="0" smtClean="0">
                <a:solidFill>
                  <a:srgbClr val="163794"/>
                </a:solidFill>
                <a:ea typeface="华文楷体" panose="02010600040101010101" pitchFamily="2" charset="-122"/>
              </a:rPr>
              <a:t>说明：在最短路径算法</a:t>
            </a:r>
            <a:r>
              <a:rPr lang="zh-CN" altLang="en-US" sz="2000" dirty="0">
                <a:solidFill>
                  <a:srgbClr val="163794"/>
                </a:solidFill>
                <a:ea typeface="华文楷体" panose="02010600040101010101" pitchFamily="2" charset="-122"/>
              </a:rPr>
              <a:t>运行过程</a:t>
            </a:r>
            <a:r>
              <a:rPr lang="zh-CN" altLang="en-US" sz="2000" dirty="0" smtClean="0">
                <a:solidFill>
                  <a:srgbClr val="163794"/>
                </a:solidFill>
                <a:ea typeface="华文楷体" panose="02010600040101010101" pitchFamily="2" charset="-122"/>
              </a:rPr>
              <a:t>通过</a:t>
            </a:r>
            <a:r>
              <a:rPr lang="en-US" altLang="zh-CN" sz="2000" dirty="0" smtClean="0">
                <a:solidFill>
                  <a:srgbClr val="163794"/>
                </a:solidFill>
                <a:ea typeface="华文楷体" panose="02010600040101010101" pitchFamily="2" charset="-122"/>
              </a:rPr>
              <a:t>2</a:t>
            </a:r>
            <a:r>
              <a:rPr lang="zh-CN" altLang="en-US" sz="2000" dirty="0" smtClean="0">
                <a:solidFill>
                  <a:srgbClr val="163794"/>
                </a:solidFill>
                <a:ea typeface="华文楷体" panose="02010600040101010101" pitchFamily="2" charset="-122"/>
              </a:rPr>
              <a:t>个</a:t>
            </a:r>
            <a:r>
              <a:rPr lang="zh-CN" altLang="en-US" sz="2000" dirty="0">
                <a:solidFill>
                  <a:srgbClr val="163794"/>
                </a:solidFill>
                <a:ea typeface="华文楷体" panose="02010600040101010101" pitchFamily="2" charset="-122"/>
              </a:rPr>
              <a:t>全局数组中每个结点</a:t>
            </a:r>
            <a:r>
              <a:rPr lang="zh-CN" altLang="en-US" sz="2000" dirty="0" smtClean="0">
                <a:solidFill>
                  <a:srgbClr val="163794"/>
                </a:solidFill>
                <a:ea typeface="华文楷体" panose="02010600040101010101" pitchFamily="2" charset="-122"/>
              </a:rPr>
              <a:t>维护</a:t>
            </a:r>
            <a:r>
              <a:rPr lang="en-US" altLang="zh-CN" sz="2000" dirty="0" smtClean="0">
                <a:solidFill>
                  <a:srgbClr val="163794"/>
                </a:solidFill>
                <a:ea typeface="华文楷体" panose="02010600040101010101" pitchFamily="2" charset="-122"/>
              </a:rPr>
              <a:t>2</a:t>
            </a:r>
            <a:r>
              <a:rPr lang="zh-CN" altLang="en-US" sz="2000" dirty="0" smtClean="0">
                <a:solidFill>
                  <a:srgbClr val="163794"/>
                </a:solidFill>
                <a:ea typeface="华文楷体" panose="02010600040101010101" pitchFamily="2" charset="-122"/>
              </a:rPr>
              <a:t>个</a:t>
            </a:r>
            <a:r>
              <a:rPr lang="zh-CN" altLang="en-US" sz="2000" dirty="0">
                <a:solidFill>
                  <a:srgbClr val="163794"/>
                </a:solidFill>
                <a:ea typeface="华文楷体" panose="02010600040101010101" pitchFamily="2" charset="-122"/>
              </a:rPr>
              <a:t>属性</a:t>
            </a:r>
            <a:r>
              <a:rPr lang="en-US" altLang="zh-CN" sz="2000" dirty="0">
                <a:solidFill>
                  <a:srgbClr val="163794"/>
                </a:solidFill>
                <a:ea typeface="华文楷体" panose="02010600040101010101" pitchFamily="2" charset="-122"/>
              </a:rPr>
              <a:t>:</a:t>
            </a:r>
            <a:endParaRPr lang="en-US" altLang="zh-CN" sz="2000" dirty="0">
              <a:solidFill>
                <a:srgbClr val="163794"/>
              </a:solidFill>
              <a:ea typeface="华文楷体" panose="02010600040101010101" pitchFamily="2" charset="-122"/>
            </a:endParaRPr>
          </a:p>
          <a:p>
            <a:pPr eaLnBrk="1" hangingPunct="1">
              <a:buClr>
                <a:srgbClr val="6699FF"/>
              </a:buClr>
              <a:buNone/>
            </a:pPr>
            <a:r>
              <a:rPr lang="en-US" altLang="zh-CN" sz="2000" dirty="0" smtClean="0">
                <a:solidFill>
                  <a:srgbClr val="163794"/>
                </a:solidFill>
                <a:ea typeface="华文楷体" panose="02010600040101010101" pitchFamily="2" charset="-122"/>
              </a:rPr>
              <a:t>①</a:t>
            </a:r>
            <a:r>
              <a:rPr lang="en-US" altLang="zh-CN" sz="2000" dirty="0" err="1">
                <a:solidFill>
                  <a:srgbClr val="163794"/>
                </a:solidFill>
                <a:ea typeface="华文楷体" panose="02010600040101010101" pitchFamily="2" charset="-122"/>
              </a:rPr>
              <a:t>int</a:t>
            </a:r>
            <a:r>
              <a:rPr lang="en-US" altLang="zh-CN" sz="2000" dirty="0">
                <a:solidFill>
                  <a:srgbClr val="163794"/>
                </a:solidFill>
                <a:ea typeface="华文楷体" panose="02010600040101010101" pitchFamily="2" charset="-122"/>
              </a:rPr>
              <a:t> </a:t>
            </a:r>
            <a:r>
              <a:rPr lang="en-US" altLang="zh-CN" sz="2000" dirty="0" smtClean="0">
                <a:solidFill>
                  <a:srgbClr val="163794"/>
                </a:solidFill>
                <a:ea typeface="华文楷体" panose="02010600040101010101" pitchFamily="2" charset="-122"/>
              </a:rPr>
              <a:t>d[1,..,MAXV</a:t>
            </a:r>
            <a:r>
              <a:rPr lang="en-US" altLang="zh-CN" sz="2000" dirty="0">
                <a:solidFill>
                  <a:srgbClr val="163794"/>
                </a:solidFill>
                <a:ea typeface="华文楷体" panose="02010600040101010101" pitchFamily="2" charset="-122"/>
              </a:rPr>
              <a:t>]; d[v]</a:t>
            </a:r>
            <a:r>
              <a:rPr lang="zh-CN" altLang="en-US" sz="2000" dirty="0">
                <a:solidFill>
                  <a:srgbClr val="163794"/>
                </a:solidFill>
                <a:ea typeface="华文楷体" panose="02010600040101010101" pitchFamily="2" charset="-122"/>
              </a:rPr>
              <a:t>记录通过当前从源顶点</a:t>
            </a:r>
            <a:r>
              <a:rPr lang="en-US" altLang="zh-CN" sz="2000" dirty="0">
                <a:solidFill>
                  <a:srgbClr val="163794"/>
                </a:solidFill>
                <a:ea typeface="华文楷体" panose="02010600040101010101" pitchFamily="2" charset="-122"/>
              </a:rPr>
              <a:t>s</a:t>
            </a:r>
            <a:r>
              <a:rPr lang="zh-CN" altLang="en-US" sz="2000" dirty="0">
                <a:solidFill>
                  <a:srgbClr val="163794"/>
                </a:solidFill>
                <a:ea typeface="华文楷体" panose="02010600040101010101" pitchFamily="2" charset="-122"/>
              </a:rPr>
              <a:t>出发到顶点</a:t>
            </a:r>
            <a:r>
              <a:rPr lang="en-US" altLang="zh-CN" sz="2000" dirty="0">
                <a:solidFill>
                  <a:srgbClr val="163794"/>
                </a:solidFill>
                <a:ea typeface="华文楷体" panose="02010600040101010101" pitchFamily="2" charset="-122"/>
              </a:rPr>
              <a:t>v</a:t>
            </a:r>
            <a:r>
              <a:rPr lang="zh-CN" altLang="en-US" sz="2000" dirty="0">
                <a:solidFill>
                  <a:srgbClr val="163794"/>
                </a:solidFill>
                <a:ea typeface="华文楷体" panose="02010600040101010101" pitchFamily="2" charset="-122"/>
              </a:rPr>
              <a:t>的最短路径</a:t>
            </a:r>
            <a:r>
              <a:rPr lang="zh-CN" altLang="en-US" sz="2000" dirty="0" smtClean="0">
                <a:solidFill>
                  <a:srgbClr val="163794"/>
                </a:solidFill>
                <a:ea typeface="华文楷体" panose="02010600040101010101" pitchFamily="2" charset="-122"/>
              </a:rPr>
              <a:t>估计，初值为无穷。</a:t>
            </a:r>
            <a:endParaRPr lang="en-US" altLang="zh-CN" sz="2000" dirty="0" smtClean="0">
              <a:solidFill>
                <a:srgbClr val="163794"/>
              </a:solidFill>
              <a:ea typeface="华文楷体" panose="02010600040101010101" pitchFamily="2" charset="-122"/>
            </a:endParaRPr>
          </a:p>
          <a:p>
            <a:pPr lvl="0" eaLnBrk="1" hangingPunct="1">
              <a:buClr>
                <a:srgbClr val="6699FF"/>
              </a:buClr>
              <a:buNone/>
            </a:pPr>
            <a:r>
              <a:rPr lang="en-US" altLang="zh-CN" sz="2000" dirty="0">
                <a:solidFill>
                  <a:srgbClr val="163794"/>
                </a:solidFill>
                <a:ea typeface="华文楷体" panose="02010600040101010101" pitchFamily="2" charset="-122"/>
              </a:rPr>
              <a:t>② </a:t>
            </a:r>
            <a:r>
              <a:rPr lang="en-US" altLang="zh-CN" sz="2000" dirty="0" err="1" smtClean="0">
                <a:solidFill>
                  <a:srgbClr val="163794"/>
                </a:solidFill>
                <a:ea typeface="华文楷体" panose="02010600040101010101" pitchFamily="2" charset="-122"/>
              </a:rPr>
              <a:t>int</a:t>
            </a:r>
            <a:r>
              <a:rPr lang="en-US" altLang="zh-CN" sz="2000" dirty="0" smtClean="0">
                <a:solidFill>
                  <a:srgbClr val="163794"/>
                </a:solidFill>
                <a:ea typeface="华文楷体" panose="02010600040101010101" pitchFamily="2" charset="-122"/>
              </a:rPr>
              <a:t> p[1,..,MAXV</a:t>
            </a:r>
            <a:r>
              <a:rPr lang="en-US" altLang="zh-CN" sz="2000" dirty="0">
                <a:solidFill>
                  <a:srgbClr val="163794"/>
                </a:solidFill>
                <a:ea typeface="华文楷体" panose="02010600040101010101" pitchFamily="2" charset="-122"/>
              </a:rPr>
              <a:t>]; </a:t>
            </a:r>
            <a:r>
              <a:rPr lang="en-US" altLang="zh-CN" sz="2000" dirty="0" smtClean="0">
                <a:solidFill>
                  <a:srgbClr val="163794"/>
                </a:solidFill>
                <a:ea typeface="华文楷体" panose="02010600040101010101" pitchFamily="2" charset="-122"/>
              </a:rPr>
              <a:t>p[v</a:t>
            </a:r>
            <a:r>
              <a:rPr lang="en-US" altLang="zh-CN" sz="2000" dirty="0">
                <a:solidFill>
                  <a:srgbClr val="163794"/>
                </a:solidFill>
                <a:ea typeface="华文楷体" panose="02010600040101010101" pitchFamily="2" charset="-122"/>
              </a:rPr>
              <a:t>]=u</a:t>
            </a:r>
            <a:r>
              <a:rPr lang="zh-CN" altLang="en-US" sz="2000" dirty="0">
                <a:solidFill>
                  <a:srgbClr val="163794"/>
                </a:solidFill>
                <a:ea typeface="华文楷体" panose="02010600040101010101" pitchFamily="2" charset="-122"/>
              </a:rPr>
              <a:t>；这表示顶点</a:t>
            </a:r>
            <a:r>
              <a:rPr lang="en-US" altLang="zh-CN" sz="2000" dirty="0">
                <a:solidFill>
                  <a:srgbClr val="163794"/>
                </a:solidFill>
                <a:ea typeface="华文楷体" panose="02010600040101010101" pitchFamily="2" charset="-122"/>
              </a:rPr>
              <a:t>u</a:t>
            </a:r>
            <a:r>
              <a:rPr lang="zh-CN" altLang="en-US" sz="2000" dirty="0">
                <a:solidFill>
                  <a:srgbClr val="163794"/>
                </a:solidFill>
                <a:ea typeface="华文楷体" panose="02010600040101010101" pitchFamily="2" charset="-122"/>
              </a:rPr>
              <a:t>是顶点</a:t>
            </a:r>
            <a:r>
              <a:rPr lang="en-US" altLang="zh-CN" sz="2000" dirty="0">
                <a:solidFill>
                  <a:srgbClr val="163794"/>
                </a:solidFill>
                <a:ea typeface="华文楷体" panose="02010600040101010101" pitchFamily="2" charset="-122"/>
              </a:rPr>
              <a:t>v</a:t>
            </a:r>
            <a:r>
              <a:rPr lang="zh-CN" altLang="en-US" sz="2000" dirty="0" smtClean="0">
                <a:solidFill>
                  <a:srgbClr val="163794"/>
                </a:solidFill>
                <a:ea typeface="华文楷体" panose="02010600040101010101" pitchFamily="2" charset="-122"/>
              </a:rPr>
              <a:t>在当前最</a:t>
            </a:r>
            <a:r>
              <a:rPr lang="zh-CN" altLang="en-US" sz="2000" dirty="0">
                <a:solidFill>
                  <a:srgbClr val="163794"/>
                </a:solidFill>
                <a:ea typeface="华文楷体" panose="02010600040101010101" pitchFamily="2" charset="-122"/>
              </a:rPr>
              <a:t>短路径估计</a:t>
            </a:r>
            <a:r>
              <a:rPr lang="zh-CN" altLang="en-US" sz="2000" dirty="0" smtClean="0">
                <a:solidFill>
                  <a:srgbClr val="163794"/>
                </a:solidFill>
                <a:ea typeface="华文楷体" panose="02010600040101010101" pitchFamily="2" charset="-122"/>
              </a:rPr>
              <a:t>的</a:t>
            </a:r>
            <a:r>
              <a:rPr lang="zh-CN" altLang="en-US" sz="2000" dirty="0">
                <a:solidFill>
                  <a:srgbClr val="163794"/>
                </a:solidFill>
                <a:ea typeface="华文楷体" panose="02010600040101010101" pitchFamily="2" charset="-122"/>
              </a:rPr>
              <a:t>前驱顶点</a:t>
            </a:r>
            <a:r>
              <a:rPr lang="zh-CN" altLang="en-US" sz="2000" dirty="0" smtClean="0">
                <a:solidFill>
                  <a:srgbClr val="163794"/>
                </a:solidFill>
                <a:ea typeface="华文楷体" panose="02010600040101010101" pitchFamily="2" charset="-122"/>
              </a:rPr>
              <a:t>；初值为</a:t>
            </a:r>
            <a:r>
              <a:rPr lang="en-US" altLang="zh-CN" sz="2000" dirty="0" smtClean="0">
                <a:solidFill>
                  <a:srgbClr val="163794"/>
                </a:solidFill>
                <a:ea typeface="华文楷体" panose="02010600040101010101" pitchFamily="2" charset="-122"/>
              </a:rPr>
              <a:t>-1</a:t>
            </a:r>
            <a:r>
              <a:rPr lang="zh-CN" altLang="en-US" sz="2000" dirty="0" smtClean="0">
                <a:solidFill>
                  <a:srgbClr val="163794"/>
                </a:solidFill>
                <a:ea typeface="华文楷体" panose="02010600040101010101" pitchFamily="2" charset="-122"/>
              </a:rPr>
              <a:t>表示无前驱顶点</a:t>
            </a:r>
            <a:endParaRPr lang="en-US" altLang="zh-CN" sz="2000" dirty="0">
              <a:solidFill>
                <a:srgbClr val="163794"/>
              </a:solidFill>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松弛操作</a:t>
            </a:r>
            <a:r>
              <a:rPr lang="en-US" altLang="zh-CN" sz="2000" dirty="0" smtClean="0">
                <a:solidFill>
                  <a:srgbClr val="C00000"/>
                </a:solidFill>
                <a:ea typeface="华文楷体" panose="02010600040101010101" pitchFamily="2" charset="-122"/>
              </a:rPr>
              <a:t>Relax</a:t>
            </a:r>
            <a:r>
              <a:rPr lang="zh-CN" altLang="en-US" sz="2000" dirty="0" smtClean="0">
                <a:solidFill>
                  <a:srgbClr val="C00000"/>
                </a:solidFill>
                <a:ea typeface="华文楷体" panose="02010600040101010101" pitchFamily="2" charset="-122"/>
              </a:rPr>
              <a:t>过程</a:t>
            </a:r>
            <a:r>
              <a:rPr lang="en-US" altLang="zh-CN" sz="2000" dirty="0" smtClean="0">
                <a:solidFill>
                  <a:srgbClr val="163794"/>
                </a:solidFill>
                <a:ea typeface="华文楷体" panose="02010600040101010101" pitchFamily="2" charset="-122"/>
              </a:rPr>
              <a:t>:</a:t>
            </a:r>
            <a:endParaRPr lang="en-US" altLang="zh-CN" sz="2000" dirty="0" smtClean="0">
              <a:solidFill>
                <a:srgbClr val="163794"/>
              </a:solidFill>
              <a:ea typeface="华文楷体" panose="02010600040101010101" pitchFamily="2" charset="-122"/>
            </a:endParaRPr>
          </a:p>
          <a:p>
            <a:pPr marL="0" indent="0">
              <a:buNone/>
            </a:pPr>
            <a:r>
              <a:rPr lang="en-US" altLang="zh-CN" sz="2000" dirty="0" smtClean="0">
                <a:solidFill>
                  <a:srgbClr val="C00000"/>
                </a:solidFill>
                <a:ea typeface="华文楷体" panose="02010600040101010101" pitchFamily="2" charset="-122"/>
              </a:rPr>
              <a:t>①</a:t>
            </a:r>
            <a:r>
              <a:rPr lang="zh-CN" altLang="en-US" sz="2000" dirty="0" smtClean="0">
                <a:solidFill>
                  <a:srgbClr val="163794"/>
                </a:solidFill>
                <a:ea typeface="华文楷体" panose="02010600040101010101" pitchFamily="2" charset="-122"/>
              </a:rPr>
              <a:t>比较大小：</a:t>
            </a:r>
            <a:r>
              <a:rPr lang="en-US" altLang="zh-CN" sz="2000" dirty="0" smtClean="0">
                <a:solidFill>
                  <a:srgbClr val="163794"/>
                </a:solidFill>
                <a:ea typeface="华文楷体" panose="02010600040101010101" pitchFamily="2" charset="-122"/>
              </a:rPr>
              <a:t>s</a:t>
            </a:r>
            <a:r>
              <a:rPr lang="zh-CN" altLang="en-US" sz="2000" dirty="0" smtClean="0">
                <a:solidFill>
                  <a:srgbClr val="163794"/>
                </a:solidFill>
                <a:ea typeface="华文楷体" panose="02010600040101010101" pitchFamily="2" charset="-122"/>
              </a:rPr>
              <a:t>到</a:t>
            </a:r>
            <a:r>
              <a:rPr lang="en-US" altLang="zh-CN" sz="2000" dirty="0" smtClean="0">
                <a:solidFill>
                  <a:srgbClr val="163794"/>
                </a:solidFill>
                <a:ea typeface="华文楷体" panose="02010600040101010101" pitchFamily="2" charset="-122"/>
              </a:rPr>
              <a:t>u</a:t>
            </a:r>
            <a:r>
              <a:rPr lang="zh-CN" altLang="en-US" sz="2000" dirty="0" smtClean="0">
                <a:solidFill>
                  <a:srgbClr val="163794"/>
                </a:solidFill>
                <a:ea typeface="华文楷体" panose="02010600040101010101" pitchFamily="2" charset="-122"/>
              </a:rPr>
              <a:t>之间的最短路径距离</a:t>
            </a:r>
            <a:r>
              <a:rPr lang="en-US" altLang="zh-CN" sz="2000" dirty="0" smtClean="0">
                <a:solidFill>
                  <a:srgbClr val="163794"/>
                </a:solidFill>
                <a:ea typeface="华文楷体" panose="02010600040101010101" pitchFamily="2" charset="-122"/>
              </a:rPr>
              <a:t>d[u]+&lt;</a:t>
            </a:r>
            <a:r>
              <a:rPr lang="en-US" altLang="zh-CN" sz="2000" dirty="0" err="1" smtClean="0">
                <a:solidFill>
                  <a:srgbClr val="163794"/>
                </a:solidFill>
                <a:ea typeface="华文楷体" panose="02010600040101010101" pitchFamily="2" charset="-122"/>
              </a:rPr>
              <a:t>u,v</a:t>
            </a:r>
            <a:r>
              <a:rPr lang="en-US" altLang="zh-CN" sz="2000" dirty="0" smtClean="0">
                <a:solidFill>
                  <a:srgbClr val="163794"/>
                </a:solidFill>
                <a:ea typeface="华文楷体" panose="02010600040101010101" pitchFamily="2" charset="-122"/>
              </a:rPr>
              <a:t>&gt;</a:t>
            </a:r>
            <a:r>
              <a:rPr lang="zh-CN" altLang="en-US" sz="2000" dirty="0" smtClean="0">
                <a:solidFill>
                  <a:srgbClr val="163794"/>
                </a:solidFill>
                <a:ea typeface="华文楷体" panose="02010600040101010101" pitchFamily="2" charset="-122"/>
              </a:rPr>
              <a:t>的权值</a:t>
            </a:r>
            <a:r>
              <a:rPr lang="en-US" altLang="zh-CN" sz="2000" dirty="0" smtClean="0">
                <a:solidFill>
                  <a:srgbClr val="163794"/>
                </a:solidFill>
                <a:ea typeface="华文楷体" panose="02010600040101010101" pitchFamily="2" charset="-122"/>
              </a:rPr>
              <a:t>weight</a:t>
            </a:r>
            <a:r>
              <a:rPr lang="zh-CN" altLang="en-US" sz="2000" dirty="0" smtClean="0">
                <a:solidFill>
                  <a:srgbClr val="163794"/>
                </a:solidFill>
                <a:ea typeface="华文楷体" panose="02010600040101010101" pitchFamily="2" charset="-122"/>
              </a:rPr>
              <a:t>之和与</a:t>
            </a:r>
            <a:r>
              <a:rPr lang="en-US" altLang="zh-CN" sz="2000" dirty="0" smtClean="0">
                <a:solidFill>
                  <a:srgbClr val="163794"/>
                </a:solidFill>
                <a:ea typeface="华文楷体" panose="02010600040101010101" pitchFamily="2" charset="-122"/>
              </a:rPr>
              <a:t>s</a:t>
            </a:r>
            <a:r>
              <a:rPr lang="zh-CN" altLang="en-US" sz="2000" dirty="0" smtClean="0">
                <a:solidFill>
                  <a:srgbClr val="163794"/>
                </a:solidFill>
                <a:ea typeface="华文楷体" panose="02010600040101010101" pitchFamily="2" charset="-122"/>
              </a:rPr>
              <a:t>到</a:t>
            </a:r>
            <a:r>
              <a:rPr lang="en-US" altLang="zh-CN" sz="2000" dirty="0" smtClean="0">
                <a:solidFill>
                  <a:srgbClr val="163794"/>
                </a:solidFill>
                <a:ea typeface="华文楷体" panose="02010600040101010101" pitchFamily="2" charset="-122"/>
              </a:rPr>
              <a:t>v</a:t>
            </a:r>
            <a:r>
              <a:rPr lang="zh-CN" altLang="en-US" sz="2000" dirty="0" smtClean="0">
                <a:solidFill>
                  <a:srgbClr val="163794"/>
                </a:solidFill>
                <a:ea typeface="华文楷体" panose="02010600040101010101" pitchFamily="2" charset="-122"/>
              </a:rPr>
              <a:t>之间</a:t>
            </a:r>
            <a:r>
              <a:rPr lang="zh-CN" altLang="en-US" sz="2000" dirty="0">
                <a:solidFill>
                  <a:srgbClr val="163794"/>
                </a:solidFill>
                <a:ea typeface="华文楷体" panose="02010600040101010101" pitchFamily="2" charset="-122"/>
              </a:rPr>
              <a:t>的最短</a:t>
            </a:r>
            <a:r>
              <a:rPr lang="zh-CN" altLang="en-US" sz="2000" dirty="0" smtClean="0">
                <a:solidFill>
                  <a:srgbClr val="163794"/>
                </a:solidFill>
                <a:ea typeface="华文楷体" panose="02010600040101010101" pitchFamily="2" charset="-122"/>
              </a:rPr>
              <a:t>路径估计</a:t>
            </a:r>
            <a:r>
              <a:rPr lang="en-US" altLang="zh-CN" sz="2000" dirty="0" smtClean="0">
                <a:solidFill>
                  <a:srgbClr val="163794"/>
                </a:solidFill>
                <a:ea typeface="华文楷体" panose="02010600040101010101" pitchFamily="2" charset="-122"/>
              </a:rPr>
              <a:t>d[v].</a:t>
            </a:r>
            <a:endParaRPr lang="en-US" altLang="zh-CN" sz="2000" dirty="0" smtClean="0">
              <a:solidFill>
                <a:srgbClr val="163794"/>
              </a:solidFill>
              <a:ea typeface="华文楷体" panose="02010600040101010101" pitchFamily="2" charset="-122"/>
            </a:endParaRPr>
          </a:p>
          <a:p>
            <a:pPr marL="0" indent="0">
              <a:buNone/>
            </a:pPr>
            <a:r>
              <a:rPr lang="en-US" altLang="zh-CN" sz="2000" dirty="0" smtClean="0">
                <a:solidFill>
                  <a:srgbClr val="C00000"/>
                </a:solidFill>
                <a:ea typeface="华文楷体" panose="02010600040101010101" pitchFamily="2" charset="-122"/>
              </a:rPr>
              <a:t>②</a:t>
            </a:r>
            <a:r>
              <a:rPr lang="zh-CN" altLang="en-US" sz="2000" dirty="0" smtClean="0">
                <a:solidFill>
                  <a:srgbClr val="163794"/>
                </a:solidFill>
                <a:ea typeface="华文楷体" panose="02010600040101010101" pitchFamily="2" charset="-122"/>
              </a:rPr>
              <a:t>若前者大，则</a:t>
            </a:r>
            <a:r>
              <a:rPr lang="zh-CN" altLang="en-US" sz="2000" dirty="0">
                <a:solidFill>
                  <a:srgbClr val="163794"/>
                </a:solidFill>
                <a:ea typeface="华文楷体" panose="02010600040101010101" pitchFamily="2" charset="-122"/>
              </a:rPr>
              <a:t>更新</a:t>
            </a:r>
            <a:r>
              <a:rPr lang="en-US" altLang="zh-CN" sz="2000" dirty="0" smtClean="0">
                <a:solidFill>
                  <a:srgbClr val="163794"/>
                </a:solidFill>
                <a:ea typeface="华文楷体" panose="02010600040101010101" pitchFamily="2" charset="-122"/>
              </a:rPr>
              <a:t>d[v]</a:t>
            </a:r>
            <a:r>
              <a:rPr lang="zh-CN" altLang="en-US" sz="2000" dirty="0" smtClean="0">
                <a:solidFill>
                  <a:srgbClr val="163794"/>
                </a:solidFill>
                <a:ea typeface="华文楷体" panose="02010600040101010101" pitchFamily="2" charset="-122"/>
              </a:rPr>
              <a:t>为</a:t>
            </a:r>
            <a:r>
              <a:rPr lang="en-US" altLang="zh-CN" sz="2000" dirty="0">
                <a:solidFill>
                  <a:srgbClr val="163794"/>
                </a:solidFill>
                <a:ea typeface="华文楷体" panose="02010600040101010101" pitchFamily="2" charset="-122"/>
              </a:rPr>
              <a:t>d[u</a:t>
            </a:r>
            <a:r>
              <a:rPr lang="en-US" altLang="zh-CN" sz="2000" dirty="0" smtClean="0">
                <a:solidFill>
                  <a:srgbClr val="163794"/>
                </a:solidFill>
                <a:ea typeface="华文楷体" panose="02010600040101010101" pitchFamily="2" charset="-122"/>
              </a:rPr>
              <a:t>]+</a:t>
            </a:r>
            <a:r>
              <a:rPr lang="en-US" altLang="zh-CN" sz="2000" dirty="0">
                <a:solidFill>
                  <a:srgbClr val="163794"/>
                </a:solidFill>
                <a:ea typeface="华文楷体" panose="02010600040101010101" pitchFamily="2" charset="-122"/>
              </a:rPr>
              <a:t> weight</a:t>
            </a:r>
            <a:r>
              <a:rPr lang="en-US" altLang="zh-CN" sz="2000" dirty="0" smtClean="0">
                <a:solidFill>
                  <a:srgbClr val="163794"/>
                </a:solidFill>
                <a:ea typeface="华文楷体" panose="02010600040101010101" pitchFamily="2" charset="-122"/>
              </a:rPr>
              <a:t>,</a:t>
            </a:r>
            <a:r>
              <a:rPr lang="en-US" altLang="zh-CN" sz="2000" dirty="0" smtClean="0">
                <a:ea typeface="华文楷体" panose="02010600040101010101" pitchFamily="2" charset="-122"/>
              </a:rPr>
              <a:t> p[v]</a:t>
            </a:r>
            <a:r>
              <a:rPr lang="zh-CN" altLang="en-US" sz="2000" dirty="0" smtClean="0">
                <a:ea typeface="华文楷体" panose="02010600040101010101" pitchFamily="2" charset="-122"/>
              </a:rPr>
              <a:t>更新为</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a:t>
            </a:r>
            <a:endParaRPr lang="en-US" altLang="zh-CN" sz="2000" dirty="0">
              <a:solidFill>
                <a:srgbClr val="163794"/>
              </a:solidFill>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mc:AlternateContent xmlns:mc="http://schemas.openxmlformats.org/markup-compatibility/2006">
        <mc:Choice xmlns:a14="http://schemas.microsoft.com/office/drawing/2010/main" Requires="a14">
          <p:sp>
            <p:nvSpPr>
              <p:cNvPr id="7" name="文本框 6"/>
              <p:cNvSpPr txBox="1"/>
              <p:nvPr/>
            </p:nvSpPr>
            <p:spPr>
              <a:xfrm>
                <a:off x="4816765" y="1100078"/>
                <a:ext cx="4255971" cy="2862322"/>
              </a:xfrm>
              <a:prstGeom prst="rect">
                <a:avLst/>
              </a:prstGeom>
              <a:noFill/>
              <a:ln>
                <a:solidFill>
                  <a:schemeClr val="accent1"/>
                </a:solidFill>
              </a:ln>
            </p:spPr>
            <p:txBody>
              <a:bodyPr wrap="square" rtlCol="0">
                <a:spAutoFit/>
              </a:bodyPr>
              <a:lstStyle/>
              <a:p>
                <a:pPr marL="0" indent="0">
                  <a:buNone/>
                </a:pPr>
                <a:r>
                  <a:rPr lang="zh-CN" altLang="en-US" dirty="0" smtClean="0">
                    <a:solidFill>
                      <a:srgbClr val="163794"/>
                    </a:solidFill>
                    <a:latin typeface="Times New Roman" panose="02020603050405020304" pitchFamily="18" charset="0"/>
                    <a:ea typeface="华文楷体" panose="02010600040101010101" pitchFamily="2" charset="-122"/>
                  </a:rPr>
                  <a:t>初始化属性</a:t>
                </a:r>
                <a:r>
                  <a:rPr lang="en-US" altLang="zh-CN" dirty="0">
                    <a:solidFill>
                      <a:srgbClr val="163794"/>
                    </a:solidFill>
                    <a:latin typeface="Times New Roman" panose="02020603050405020304" pitchFamily="18" charset="0"/>
                    <a:ea typeface="华文楷体" panose="02010600040101010101" pitchFamily="2" charset="-122"/>
                  </a:rPr>
                  <a:t>:</a:t>
                </a:r>
                <a:endParaRPr lang="en-US" altLang="zh-CN" dirty="0">
                  <a:solidFill>
                    <a:srgbClr val="163794"/>
                  </a:solidFill>
                  <a:latin typeface="Times New Roman" panose="02020603050405020304" pitchFamily="18" charset="0"/>
                  <a:ea typeface="华文楷体" panose="02010600040101010101" pitchFamily="2" charset="-122"/>
                </a:endParaRPr>
              </a:p>
              <a:p>
                <a:pPr marL="0" indent="0">
                  <a:buNone/>
                </a:pPr>
                <a:r>
                  <a:rPr lang="en-US" altLang="zh-CN" dirty="0">
                    <a:solidFill>
                      <a:srgbClr val="163794"/>
                    </a:solidFill>
                    <a:latin typeface="Times New Roman" panose="02020603050405020304" pitchFamily="18" charset="0"/>
                    <a:ea typeface="华文楷体" panose="02010600040101010101" pitchFamily="2" charset="-122"/>
                  </a:rPr>
                  <a:t>Initialize-Single-Source(Graph G, </a:t>
                </a:r>
                <a:r>
                  <a:rPr lang="en-US" altLang="zh-CN" dirty="0" err="1">
                    <a:solidFill>
                      <a:srgbClr val="163794"/>
                    </a:solidFill>
                    <a:latin typeface="Times New Roman" panose="02020603050405020304" pitchFamily="18" charset="0"/>
                    <a:ea typeface="华文楷体" panose="02010600040101010101" pitchFamily="2" charset="-122"/>
                  </a:rPr>
                  <a:t>int</a:t>
                </a:r>
                <a:r>
                  <a:rPr lang="en-US" altLang="zh-CN" dirty="0">
                    <a:solidFill>
                      <a:srgbClr val="163794"/>
                    </a:solidFill>
                    <a:latin typeface="Times New Roman" panose="02020603050405020304" pitchFamily="18" charset="0"/>
                    <a:ea typeface="华文楷体" panose="02010600040101010101" pitchFamily="2" charset="-122"/>
                  </a:rPr>
                  <a:t> s)//</a:t>
                </a:r>
                <a:r>
                  <a:rPr lang="zh-CN" altLang="en-US" dirty="0">
                    <a:solidFill>
                      <a:srgbClr val="163794"/>
                    </a:solidFill>
                    <a:latin typeface="Times New Roman" panose="02020603050405020304" pitchFamily="18" charset="0"/>
                    <a:ea typeface="华文楷体" panose="02010600040101010101" pitchFamily="2" charset="-122"/>
                  </a:rPr>
                  <a:t>源顶点</a:t>
                </a:r>
                <a:r>
                  <a:rPr lang="en-US" altLang="zh-CN" dirty="0">
                    <a:solidFill>
                      <a:srgbClr val="163794"/>
                    </a:solidFill>
                    <a:latin typeface="Times New Roman" panose="02020603050405020304" pitchFamily="18" charset="0"/>
                    <a:ea typeface="华文楷体" panose="02010600040101010101" pitchFamily="2" charset="-122"/>
                  </a:rPr>
                  <a:t>s</a:t>
                </a:r>
                <a:endParaRPr lang="en-US" altLang="zh-CN" dirty="0">
                  <a:solidFill>
                    <a:srgbClr val="163794"/>
                  </a:solidFill>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for (each v</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𝑉</m:t>
                    </m:r>
                  </m:oMath>
                </a14:m>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d[v] = INF; //</a:t>
                </a:r>
                <a:r>
                  <a:rPr lang="zh-CN" altLang="en-US" dirty="0" smtClean="0">
                    <a:latin typeface="Times New Roman" panose="02020603050405020304" pitchFamily="18" charset="0"/>
                    <a:ea typeface="华文楷体" panose="02010600040101010101" pitchFamily="2" charset="-122"/>
                  </a:rPr>
                  <a:t>无穷</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p[v] = -1; //</a:t>
                </a:r>
                <a:r>
                  <a:rPr lang="zh-CN" altLang="en-US" dirty="0" smtClean="0">
                    <a:latin typeface="Times New Roman" panose="02020603050405020304" pitchFamily="18" charset="0"/>
                    <a:ea typeface="华文楷体" panose="02010600040101010101" pitchFamily="2" charset="-122"/>
                  </a:rPr>
                  <a:t>表示无前驱顶点</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a:t>
                </a:r>
                <a:endParaRPr lang="en-US" altLang="zh-CN" dirty="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4816765" y="1100078"/>
                <a:ext cx="4255971" cy="2862322"/>
              </a:xfrm>
              <a:prstGeom prst="rect">
                <a:avLst/>
              </a:prstGeom>
              <a:blipFill rotWithShape="1">
                <a:blip r:embed="rId1"/>
                <a:stretch>
                  <a:fillRect l="-126" t="-186" r="-108" b="-155"/>
                </a:stretch>
              </a:blipFill>
              <a:ln>
                <a:solidFill>
                  <a:schemeClr val="accent1"/>
                </a:solidFill>
              </a:ln>
            </p:spPr>
            <p:txBody>
              <a:bodyPr/>
              <a:lstStyle/>
              <a:p>
                <a:r>
                  <a:rPr lang="zh-CN" altLang="en-US">
                    <a:noFill/>
                  </a:rPr>
                  <a:t> </a:t>
                </a:r>
              </a:p>
            </p:txBody>
          </p:sp>
        </mc:Fallback>
      </mc:AlternateContent>
      <p:sp>
        <p:nvSpPr>
          <p:cNvPr id="8" name="文本框 7"/>
          <p:cNvSpPr txBox="1"/>
          <p:nvPr/>
        </p:nvSpPr>
        <p:spPr>
          <a:xfrm>
            <a:off x="4724400" y="3839991"/>
            <a:ext cx="184731" cy="369332"/>
          </a:xfrm>
          <a:prstGeom prst="rect">
            <a:avLst/>
          </a:prstGeom>
          <a:noFill/>
        </p:spPr>
        <p:txBody>
          <a:bodyPr wrap="none" rtlCol="0">
            <a:spAutoFit/>
          </a:bodyPr>
          <a:lstStyle/>
          <a:p>
            <a:endParaRPr lang="zh-CN" altLang="en-US" dirty="0"/>
          </a:p>
        </p:txBody>
      </p:sp>
      <p:sp>
        <p:nvSpPr>
          <p:cNvPr id="9" name="文本框 8"/>
          <p:cNvSpPr txBox="1"/>
          <p:nvPr/>
        </p:nvSpPr>
        <p:spPr>
          <a:xfrm>
            <a:off x="4843637" y="4038600"/>
            <a:ext cx="4229099" cy="2616101"/>
          </a:xfrm>
          <a:prstGeom prst="rect">
            <a:avLst/>
          </a:prstGeom>
          <a:noFill/>
          <a:ln>
            <a:solidFill>
              <a:schemeClr val="accent1"/>
            </a:solidFill>
          </a:ln>
        </p:spPr>
        <p:txBody>
          <a:bodyPr wrap="square" rtlCol="0">
            <a:spAutoFit/>
          </a:bodyPr>
          <a:lstStyle/>
          <a:p>
            <a:r>
              <a:rPr lang="en-US" altLang="zh-CN" dirty="0" smtClean="0">
                <a:latin typeface="Times New Roman" panose="02020603050405020304" pitchFamily="18" charset="0"/>
                <a:ea typeface="华文楷体" panose="02010600040101010101" pitchFamily="2" charset="-122"/>
              </a:rPr>
              <a:t>void Relax(</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u, </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v, </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weight)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a:t>
            </a:r>
            <a:r>
              <a:rPr lang="en-US" altLang="zh-CN" dirty="0" smtClean="0">
                <a:solidFill>
                  <a:srgbClr val="163794"/>
                </a:solidFill>
                <a:ea typeface="华文楷体" panose="02010600040101010101" pitchFamily="2" charset="-122"/>
              </a:rPr>
              <a:t> </a:t>
            </a:r>
            <a:r>
              <a:rPr lang="zh-CN" altLang="en-US" dirty="0" smtClean="0">
                <a:solidFill>
                  <a:srgbClr val="163794"/>
                </a:solidFill>
                <a:ea typeface="华文楷体" panose="02010600040101010101" pitchFamily="2" charset="-122"/>
              </a:rPr>
              <a:t>有向边</a:t>
            </a:r>
            <a:r>
              <a:rPr lang="en-US" altLang="zh-CN" dirty="0" smtClean="0">
                <a:solidFill>
                  <a:srgbClr val="163794"/>
                </a:solidFill>
                <a:ea typeface="华文楷体" panose="02010600040101010101" pitchFamily="2" charset="-122"/>
              </a:rPr>
              <a:t>&lt;</a:t>
            </a:r>
            <a:r>
              <a:rPr lang="en-US" altLang="zh-CN" dirty="0" err="1" smtClean="0">
                <a:solidFill>
                  <a:srgbClr val="163794"/>
                </a:solidFill>
                <a:ea typeface="华文楷体" panose="02010600040101010101" pitchFamily="2" charset="-122"/>
              </a:rPr>
              <a:t>u,v</a:t>
            </a:r>
            <a:r>
              <a:rPr lang="en-US" altLang="zh-CN" dirty="0">
                <a:solidFill>
                  <a:srgbClr val="163794"/>
                </a:solidFill>
                <a:ea typeface="华文楷体" panose="02010600040101010101" pitchFamily="2" charset="-122"/>
              </a:rPr>
              <a:t>&gt;</a:t>
            </a:r>
            <a:r>
              <a:rPr lang="zh-CN" altLang="en-US" dirty="0">
                <a:solidFill>
                  <a:srgbClr val="163794"/>
                </a:solidFill>
                <a:ea typeface="华文楷体" panose="02010600040101010101" pitchFamily="2" charset="-122"/>
              </a:rPr>
              <a:t>的权值</a:t>
            </a:r>
            <a:r>
              <a:rPr lang="en-US" altLang="zh-CN" dirty="0">
                <a:solidFill>
                  <a:srgbClr val="163794"/>
                </a:solidFill>
                <a:ea typeface="华文楷体" panose="02010600040101010101" pitchFamily="2" charset="-122"/>
              </a:rPr>
              <a:t>weight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[d[v]&gt;d[u]+weight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d[v] = </a:t>
            </a:r>
            <a:r>
              <a:rPr lang="en-US" altLang="zh-CN" dirty="0">
                <a:latin typeface="Times New Roman" panose="02020603050405020304" pitchFamily="18" charset="0"/>
                <a:ea typeface="华文楷体" panose="02010600040101010101" pitchFamily="2" charset="-122"/>
              </a:rPr>
              <a:t>d[u]+</a:t>
            </a:r>
            <a:r>
              <a:rPr lang="en-US" altLang="zh-CN" dirty="0" smtClean="0">
                <a:latin typeface="Times New Roman" panose="02020603050405020304" pitchFamily="18" charset="0"/>
                <a:ea typeface="华文楷体" panose="02010600040101010101" pitchFamily="2" charset="-122"/>
              </a:rPr>
              <a:t>weight;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//s-&gt;v</a:t>
            </a:r>
            <a:r>
              <a:rPr lang="zh-CN" altLang="en-US" dirty="0" smtClean="0">
                <a:latin typeface="Times New Roman" panose="02020603050405020304" pitchFamily="18" charset="0"/>
                <a:ea typeface="华文楷体" panose="02010600040101010101" pitchFamily="2" charset="-122"/>
              </a:rPr>
              <a:t>最短路径估计更新</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p[v] = u;     //v</a:t>
            </a:r>
            <a:r>
              <a:rPr lang="zh-CN" altLang="en-US" dirty="0" smtClean="0">
                <a:latin typeface="Times New Roman" panose="02020603050405020304" pitchFamily="18" charset="0"/>
                <a:ea typeface="华文楷体" panose="02010600040101010101" pitchFamily="2" charset="-122"/>
              </a:rPr>
              <a:t>前驱顶点更新为</a:t>
            </a:r>
            <a:r>
              <a:rPr lang="en-US" altLang="zh-CN" dirty="0" smtClean="0">
                <a:latin typeface="Times New Roman" panose="02020603050405020304" pitchFamily="18" charset="0"/>
                <a:ea typeface="华文楷体" panose="02010600040101010101" pitchFamily="2" charset="-122"/>
              </a:rPr>
              <a:t>u</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    </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1"/>
          <a:stretch>
            <a:fillRect/>
          </a:stretch>
        </p:blipFill>
        <p:spPr>
          <a:xfrm>
            <a:off x="457200" y="1189037"/>
            <a:ext cx="2924175" cy="2562225"/>
          </a:xfrm>
          <a:prstGeom prst="rect">
            <a:avLst/>
          </a:prstGeom>
        </p:spPr>
      </p:pic>
      <p:pic>
        <p:nvPicPr>
          <p:cNvPr id="7" name="图片 6"/>
          <p:cNvPicPr>
            <a:picLocks noChangeAspect="1"/>
          </p:cNvPicPr>
          <p:nvPr/>
        </p:nvPicPr>
        <p:blipFill>
          <a:blip r:embed="rId2"/>
          <a:stretch>
            <a:fillRect/>
          </a:stretch>
        </p:blipFill>
        <p:spPr>
          <a:xfrm>
            <a:off x="4845049" y="1190209"/>
            <a:ext cx="2924175" cy="2562225"/>
          </a:xfrm>
          <a:prstGeom prst="rect">
            <a:avLst/>
          </a:prstGeom>
        </p:spPr>
      </p:pic>
      <p:cxnSp>
        <p:nvCxnSpPr>
          <p:cNvPr id="9" name="直接连接符 8"/>
          <p:cNvCxnSpPr/>
          <p:nvPr/>
        </p:nvCxnSpPr>
        <p:spPr>
          <a:xfrm>
            <a:off x="0" y="3886200"/>
            <a:ext cx="9144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文本框 2"/>
          <p:cNvSpPr txBox="1"/>
          <p:nvPr/>
        </p:nvSpPr>
        <p:spPr>
          <a:xfrm>
            <a:off x="228600" y="4089206"/>
            <a:ext cx="8534400" cy="2585323"/>
          </a:xfrm>
          <a:prstGeom prst="rect">
            <a:avLst/>
          </a:prstGeom>
          <a:noFill/>
          <a:ln>
            <a:solidFill>
              <a:schemeClr val="accent1"/>
            </a:solidFill>
          </a:ln>
        </p:spPr>
        <p:txBody>
          <a:bodyPr wrap="square" rtlCol="0">
            <a:spAutoFit/>
          </a:bodyPr>
          <a:lstStyle/>
          <a:p>
            <a:r>
              <a:rPr lang="zh-CN" altLang="en-US" dirty="0" smtClean="0">
                <a:solidFill>
                  <a:srgbClr val="C00000"/>
                </a:solidFill>
                <a:latin typeface="Times New Roman" panose="02020603050405020304" pitchFamily="18" charset="0"/>
                <a:ea typeface="华文楷体" panose="02010600040101010101" pitchFamily="2" charset="-122"/>
              </a:rPr>
              <a:t>单源点最</a:t>
            </a:r>
            <a:r>
              <a:rPr lang="zh-CN" altLang="en-US" dirty="0">
                <a:solidFill>
                  <a:srgbClr val="C00000"/>
                </a:solidFill>
                <a:latin typeface="Times New Roman" panose="02020603050405020304" pitchFamily="18" charset="0"/>
                <a:ea typeface="华文楷体" panose="02010600040101010101" pitchFamily="2" charset="-122"/>
              </a:rPr>
              <a:t>短路径算法</a:t>
            </a:r>
            <a:r>
              <a:rPr lang="zh-CN" altLang="en-US" dirty="0" smtClean="0">
                <a:solidFill>
                  <a:srgbClr val="C00000"/>
                </a:solidFill>
                <a:latin typeface="Times New Roman" panose="02020603050405020304" pitchFamily="18" charset="0"/>
                <a:ea typeface="华文楷体" panose="02010600040101010101" pitchFamily="2" charset="-122"/>
              </a:rPr>
              <a:t>的基本流程和特点</a:t>
            </a:r>
            <a:r>
              <a:rPr lang="zh-CN" altLang="en-US" dirty="0" smtClean="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1.</a:t>
            </a:r>
            <a:r>
              <a:rPr lang="zh-CN" altLang="en-US" dirty="0">
                <a:latin typeface="Times New Roman" panose="02020603050405020304" pitchFamily="18" charset="0"/>
                <a:ea typeface="华文楷体" panose="02010600040101010101" pitchFamily="2" charset="-122"/>
              </a:rPr>
              <a:t>先调用</a:t>
            </a:r>
            <a:r>
              <a:rPr lang="en-US" altLang="zh-CN" dirty="0">
                <a:latin typeface="Times New Roman" panose="02020603050405020304" pitchFamily="18" charset="0"/>
                <a:ea typeface="华文楷体" panose="02010600040101010101" pitchFamily="2" charset="-122"/>
              </a:rPr>
              <a:t>Initialize-Single-Source(G, s</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进行初始化。</a:t>
            </a:r>
            <a:endParaRPr lang="en-US" altLang="zh-CN" dirty="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2.</a:t>
            </a:r>
            <a:r>
              <a:rPr lang="zh-CN" altLang="en-US" dirty="0">
                <a:latin typeface="Times New Roman" panose="02020603050405020304" pitchFamily="18" charset="0"/>
                <a:ea typeface="华文楷体" panose="02010600040101010101" pitchFamily="2" charset="-122"/>
              </a:rPr>
              <a:t>重复调用</a:t>
            </a:r>
            <a:r>
              <a:rPr lang="en-US" altLang="zh-CN" dirty="0">
                <a:latin typeface="Times New Roman" panose="02020603050405020304" pitchFamily="18" charset="0"/>
                <a:ea typeface="华文楷体" panose="02010600040101010101" pitchFamily="2" charset="-122"/>
              </a:rPr>
              <a:t>Relax(</a:t>
            </a:r>
            <a:r>
              <a:rPr lang="en-US" altLang="zh-CN" dirty="0" err="1">
                <a:latin typeface="Times New Roman" panose="02020603050405020304" pitchFamily="18" charset="0"/>
                <a:ea typeface="华文楷体" panose="02010600040101010101" pitchFamily="2" charset="-122"/>
              </a:rPr>
              <a:t>u,v</a:t>
            </a:r>
            <a:r>
              <a:rPr lang="en-US" altLang="zh-CN" dirty="0">
                <a:latin typeface="Times New Roman" panose="02020603050405020304" pitchFamily="18" charset="0"/>
                <a:ea typeface="华文楷体" panose="02010600040101010101" pitchFamily="2" charset="-122"/>
              </a:rPr>
              <a:t>, weight)</a:t>
            </a:r>
            <a:r>
              <a:rPr lang="zh-CN" altLang="en-US" dirty="0">
                <a:latin typeface="Times New Roman" panose="02020603050405020304" pitchFamily="18" charset="0"/>
                <a:ea typeface="华文楷体" panose="02010600040101010101" pitchFamily="2" charset="-122"/>
              </a:rPr>
              <a:t>对边进行松弛，松弛操作是唯一导致最短路径估计</a:t>
            </a:r>
            <a:r>
              <a:rPr lang="en-US" altLang="zh-CN" dirty="0">
                <a:latin typeface="Times New Roman" panose="02020603050405020304" pitchFamily="18" charset="0"/>
                <a:ea typeface="华文楷体" panose="02010600040101010101" pitchFamily="2" charset="-122"/>
              </a:rPr>
              <a:t>d[v]</a:t>
            </a:r>
            <a:r>
              <a:rPr lang="zh-CN" altLang="en-US" dirty="0">
                <a:latin typeface="Times New Roman" panose="02020603050405020304" pitchFamily="18" charset="0"/>
                <a:ea typeface="华文楷体" panose="02010600040101010101" pitchFamily="2" charset="-122"/>
              </a:rPr>
              <a:t>和前驱顶点</a:t>
            </a:r>
            <a:r>
              <a:rPr lang="en-US" altLang="zh-CN" dirty="0">
                <a:latin typeface="Times New Roman" panose="02020603050405020304" pitchFamily="18" charset="0"/>
                <a:ea typeface="华文楷体" panose="02010600040101010101" pitchFamily="2" charset="-122"/>
              </a:rPr>
              <a:t>p[v]</a:t>
            </a:r>
            <a:r>
              <a:rPr lang="zh-CN" altLang="en-US" dirty="0">
                <a:latin typeface="Times New Roman" panose="02020603050405020304" pitchFamily="18" charset="0"/>
                <a:ea typeface="华文楷体" panose="02010600040101010101" pitchFamily="2" charset="-122"/>
              </a:rPr>
              <a:t>发生变化</a:t>
            </a:r>
            <a:r>
              <a:rPr lang="zh-CN" altLang="en-US" dirty="0" smtClean="0">
                <a:latin typeface="Times New Roman" panose="02020603050405020304" pitchFamily="18" charset="0"/>
                <a:ea typeface="华文楷体" panose="02010600040101010101" pitchFamily="2" charset="-122"/>
              </a:rPr>
              <a:t>的操作。</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3.</a:t>
            </a:r>
            <a:r>
              <a:rPr lang="zh-CN" altLang="en-US" dirty="0" smtClean="0">
                <a:latin typeface="Times New Roman" panose="02020603050405020304" pitchFamily="18" charset="0"/>
                <a:ea typeface="华文楷体" panose="02010600040101010101" pitchFamily="2" charset="-122"/>
              </a:rPr>
              <a:t>各单源点最短路径松弛算法不同之处在于对每条边松弛的次数和边的松弛顺序不一样。</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4.Dijstra</a:t>
            </a:r>
            <a:r>
              <a:rPr lang="zh-CN" altLang="en-US" dirty="0" smtClean="0">
                <a:latin typeface="Times New Roman" panose="02020603050405020304" pitchFamily="18" charset="0"/>
                <a:ea typeface="华文楷体" panose="02010600040101010101" pitchFamily="2" charset="-122"/>
              </a:rPr>
              <a:t>和</a:t>
            </a:r>
            <a:r>
              <a:rPr lang="zh-CN" altLang="en-US" dirty="0">
                <a:ea typeface="华文楷体" panose="02010600040101010101" pitchFamily="2" charset="-122"/>
              </a:rPr>
              <a:t>用于有向无环</a:t>
            </a:r>
            <a:r>
              <a:rPr lang="zh-CN" altLang="en-US" dirty="0" smtClean="0">
                <a:ea typeface="华文楷体" panose="02010600040101010101" pitchFamily="2" charset="-122"/>
              </a:rPr>
              <a:t>图的</a:t>
            </a:r>
            <a:r>
              <a:rPr lang="en-US" altLang="zh-CN" dirty="0" smtClean="0">
                <a:ea typeface="华文楷体" panose="02010600040101010101" pitchFamily="2" charset="-122"/>
              </a:rPr>
              <a:t>DAG-Shortest-Path</a:t>
            </a:r>
            <a:r>
              <a:rPr lang="zh-CN" altLang="en-US" dirty="0" smtClean="0">
                <a:ea typeface="华文楷体" panose="02010600040101010101" pitchFamily="2" charset="-122"/>
              </a:rPr>
              <a:t>算法只对每条边松弛一次。</a:t>
            </a:r>
            <a:endParaRPr lang="en-US" altLang="zh-CN" dirty="0" smtClean="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5.Bellman-Ford</a:t>
            </a:r>
            <a:r>
              <a:rPr lang="zh-CN" altLang="en-US" dirty="0" smtClean="0">
                <a:latin typeface="Times New Roman" panose="02020603050405020304" pitchFamily="18" charset="0"/>
                <a:ea typeface="华文楷体" panose="02010600040101010101" pitchFamily="2" charset="-122"/>
              </a:rPr>
              <a:t>算法对每条边松弛</a:t>
            </a:r>
            <a:r>
              <a:rPr lang="en-US" altLang="zh-CN" dirty="0" smtClean="0">
                <a:latin typeface="Times New Roman" panose="02020603050405020304" pitchFamily="18" charset="0"/>
                <a:ea typeface="华文楷体" panose="02010600040101010101" pitchFamily="2" charset="-122"/>
              </a:rPr>
              <a:t>n-1</a:t>
            </a:r>
            <a:r>
              <a:rPr lang="zh-CN" altLang="en-US" dirty="0" smtClean="0">
                <a:latin typeface="Times New Roman" panose="02020603050405020304" pitchFamily="18" charset="0"/>
                <a:ea typeface="华文楷体" panose="02010600040101010101" pitchFamily="2" charset="-122"/>
              </a:rPr>
              <a:t>次，</a:t>
            </a:r>
            <a:r>
              <a:rPr lang="en-US" altLang="zh-CN" dirty="0" smtClean="0">
                <a:latin typeface="Times New Roman" panose="02020603050405020304" pitchFamily="18" charset="0"/>
                <a:ea typeface="华文楷体" panose="02010600040101010101" pitchFamily="2" charset="-122"/>
              </a:rPr>
              <a:t>n=|V|</a:t>
            </a:r>
            <a:r>
              <a:rPr lang="zh-CN" altLang="en-US" dirty="0" smtClean="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endParaRPr lang="zh-CN" altLang="en-US" dirty="0"/>
          </a:p>
        </p:txBody>
      </p:sp>
      <p:cxnSp>
        <p:nvCxnSpPr>
          <p:cNvPr id="10" name="直接连接符 9"/>
          <p:cNvCxnSpPr/>
          <p:nvPr/>
        </p:nvCxnSpPr>
        <p:spPr>
          <a:xfrm>
            <a:off x="4343400" y="1066800"/>
            <a:ext cx="0" cy="28194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124200" y="1600200"/>
            <a:ext cx="646331" cy="369332"/>
          </a:xfrm>
          <a:prstGeom prst="rect">
            <a:avLst/>
          </a:prstGeom>
          <a:noFill/>
        </p:spPr>
        <p:txBody>
          <a:bodyPr wrap="none" rtlCol="0">
            <a:spAutoFit/>
          </a:bodyPr>
          <a:lstStyle/>
          <a:p>
            <a:r>
              <a:rPr lang="zh-CN" altLang="en-US" dirty="0" smtClean="0"/>
              <a:t>更新</a:t>
            </a:r>
            <a:endParaRPr lang="zh-CN" altLang="en-US" dirty="0"/>
          </a:p>
        </p:txBody>
      </p:sp>
      <p:sp>
        <p:nvSpPr>
          <p:cNvPr id="12" name="文本框 11"/>
          <p:cNvSpPr txBox="1"/>
          <p:nvPr/>
        </p:nvSpPr>
        <p:spPr>
          <a:xfrm>
            <a:off x="7769224" y="1570354"/>
            <a:ext cx="877163" cy="369332"/>
          </a:xfrm>
          <a:prstGeom prst="rect">
            <a:avLst/>
          </a:prstGeom>
          <a:noFill/>
        </p:spPr>
        <p:txBody>
          <a:bodyPr wrap="none" rtlCol="0">
            <a:spAutoFit/>
          </a:bodyPr>
          <a:lstStyle/>
          <a:p>
            <a:r>
              <a:rPr lang="zh-CN" altLang="en-US" dirty="0" smtClean="0"/>
              <a:t>不更新</a:t>
            </a:r>
            <a:endParaRPr lang="zh-CN" alt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en-US" altLang="zh-CN" sz="2000" b="1" dirty="0" smtClean="0">
                    <a:solidFill>
                      <a:srgbClr val="C00000"/>
                    </a:solidFill>
                    <a:ea typeface="华文楷体" panose="02010600040101010101" pitchFamily="2" charset="-122"/>
                  </a:rPr>
                  <a:t>[</a:t>
                </a:r>
                <a:r>
                  <a:rPr lang="zh-CN" altLang="en-US" sz="2000" b="1" dirty="0" smtClean="0">
                    <a:solidFill>
                      <a:srgbClr val="C00000"/>
                    </a:solidFill>
                    <a:ea typeface="华文楷体" panose="02010600040101010101" pitchFamily="2" charset="-122"/>
                  </a:rPr>
                  <a:t>最短路径与松弛操作性质</a:t>
                </a:r>
                <a:r>
                  <a:rPr lang="en-US" altLang="zh-CN" sz="2000" b="1" dirty="0" smtClean="0">
                    <a:solidFill>
                      <a:srgbClr val="C00000"/>
                    </a:solidFill>
                    <a:ea typeface="华文楷体" panose="02010600040101010101" pitchFamily="2" charset="-122"/>
                  </a:rPr>
                  <a:t>]</a:t>
                </a:r>
                <a:endParaRPr lang="en-US" altLang="zh-CN" sz="2000" b="1" dirty="0" smtClean="0">
                  <a:solidFill>
                    <a:srgbClr val="C00000"/>
                  </a:solidFill>
                  <a:ea typeface="华文楷体" panose="02010600040101010101" pitchFamily="2" charset="-122"/>
                </a:endParaRPr>
              </a:p>
              <a:p>
                <a:pPr marL="0" indent="0">
                  <a:buNone/>
                </a:pPr>
                <a:r>
                  <a:rPr lang="zh-CN" altLang="en-US" sz="2000" dirty="0" smtClean="0">
                    <a:solidFill>
                      <a:schemeClr val="accent2"/>
                    </a:solidFill>
                    <a:ea typeface="华文楷体" panose="02010600040101010101" pitchFamily="2" charset="-122"/>
                  </a:rPr>
                  <a:t>三角不等式性质</a:t>
                </a:r>
                <a:r>
                  <a:rPr lang="zh-CN" altLang="en-US" sz="2000" dirty="0" smtClean="0">
                    <a:ea typeface="华文楷体" panose="02010600040101010101" pitchFamily="2" charset="-122"/>
                  </a:rPr>
                  <a:t>：对任何边</a:t>
                </a:r>
                <a:r>
                  <a:rPr lang="en-US" altLang="zh-CN" sz="2000" dirty="0" smtClean="0">
                    <a:ea typeface="华文楷体" panose="02010600040101010101" pitchFamily="2" charset="-122"/>
                  </a:rPr>
                  <a:t>&lt;</a:t>
                </a:r>
                <a:r>
                  <a:rPr lang="en-US" altLang="zh-CN" sz="2000" dirty="0" err="1" smtClean="0">
                    <a:ea typeface="华文楷体" panose="02010600040101010101" pitchFamily="2" charset="-122"/>
                  </a:rPr>
                  <a:t>u,v</a:t>
                </a:r>
                <a:r>
                  <a:rPr lang="en-US" altLang="zh-CN" sz="2000" dirty="0" smtClean="0">
                    <a:ea typeface="华文楷体" panose="02010600040101010101" pitchFamily="2" charset="-122"/>
                  </a:rPr>
                  <a:t>&gt;</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smtClean="0">
                    <a:ea typeface="华文楷体" panose="02010600040101010101" pitchFamily="2" charset="-122"/>
                  </a:rPr>
                  <a:t>E</a:t>
                </a:r>
                <a:r>
                  <a:rPr lang="zh-CN" altLang="en-US" sz="2000" dirty="0" smtClean="0">
                    <a:ea typeface="华文楷体" panose="02010600040101010101" pitchFamily="2" charset="-122"/>
                  </a:rPr>
                  <a:t>其权值为</a:t>
                </a:r>
                <a:r>
                  <a:rPr lang="en-US" altLang="zh-CN" sz="2000" dirty="0">
                    <a:ea typeface="华文楷体" panose="02010600040101010101" pitchFamily="2" charset="-122"/>
                  </a:rPr>
                  <a:t>w(</a:t>
                </a:r>
                <a:r>
                  <a:rPr lang="en-US" altLang="zh-CN" sz="2000" dirty="0" err="1">
                    <a:ea typeface="华文楷体" panose="02010600040101010101" pitchFamily="2" charset="-122"/>
                  </a:rPr>
                  <a:t>u,v</a:t>
                </a:r>
                <a:r>
                  <a:rPr lang="en-US" altLang="zh-CN" sz="2000" dirty="0">
                    <a:ea typeface="华文楷体" panose="02010600040101010101" pitchFamily="2" charset="-122"/>
                  </a:rPr>
                  <a:t>) </a:t>
                </a:r>
                <a:r>
                  <a:rPr lang="zh-CN" altLang="en-US" sz="2000" dirty="0" smtClean="0">
                    <a:ea typeface="华文楷体" panose="02010600040101010101" pitchFamily="2" charset="-122"/>
                  </a:rPr>
                  <a:t>，则有</a:t>
                </a:r>
                <a14:m>
                  <m:oMath xmlns:m="http://schemas.openxmlformats.org/officeDocument/2006/math">
                    <m:r>
                      <a:rPr lang="zh-CN" altLang="en-US" sz="2000" i="1" smtClean="0">
                        <a:latin typeface="Cambria Math" panose="02040503050406030204" pitchFamily="18" charset="0"/>
                      </a:rPr>
                      <m:t>𝛿</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𝑣</m:t>
                        </m:r>
                      </m:e>
                    </m:d>
                    <m:r>
                      <a:rPr lang="en-US" altLang="zh-CN" sz="2000" b="0" i="1" smtClean="0">
                        <a:latin typeface="Cambria Math" panose="02040503050406030204" pitchFamily="18" charset="0"/>
                        <a:ea typeface="Cambria Math" panose="02040503050406030204" pitchFamily="18" charset="0"/>
                      </a:rPr>
                      <m:t>≤</m:t>
                    </m:r>
                    <m:r>
                      <a:rPr lang="zh-CN" altLang="en-US" sz="2000" i="1">
                        <a:latin typeface="Cambria Math" panose="02040503050406030204" pitchFamily="18" charset="0"/>
                      </a:rPr>
                      <m:t>𝛿</m:t>
                    </m:r>
                    <m:r>
                      <a:rPr lang="en-US" altLang="zh-CN" sz="2000" i="1">
                        <a:latin typeface="Cambria Math" panose="02040503050406030204" pitchFamily="18" charset="0"/>
                      </a:rPr>
                      <m:t>(</m:t>
                    </m:r>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b="0" i="1" smtClean="0">
                        <a:latin typeface="Cambria Math" panose="02040503050406030204" pitchFamily="18" charset="0"/>
                      </a:rPr>
                      <m:t>𝑢</m:t>
                    </m:r>
                    <m:r>
                      <a:rPr lang="en-US" altLang="zh-CN" sz="2000" i="1">
                        <a:latin typeface="Cambria Math" panose="02040503050406030204" pitchFamily="18" charset="0"/>
                      </a:rPr>
                      <m:t>)</m:t>
                    </m:r>
                  </m:oMath>
                </a14:m>
                <a:r>
                  <a:rPr lang="en-US" altLang="zh-CN" sz="2000" dirty="0" smtClean="0">
                    <a:ea typeface="华文楷体" panose="02010600040101010101" pitchFamily="2" charset="-122"/>
                  </a:rPr>
                  <a:t> + w(</a:t>
                </a:r>
                <a:r>
                  <a:rPr lang="en-US" altLang="zh-CN" sz="2000" dirty="0" err="1" smtClean="0">
                    <a:ea typeface="华文楷体" panose="02010600040101010101" pitchFamily="2" charset="-122"/>
                  </a:rPr>
                  <a:t>u,v</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上界性质</a:t>
                </a:r>
                <a:r>
                  <a:rPr lang="zh-CN" altLang="en-US" sz="2000" dirty="0" smtClean="0">
                    <a:ea typeface="华文楷体" panose="02010600040101010101" pitchFamily="2" charset="-122"/>
                  </a:rPr>
                  <a:t>：对源顶点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和任意顶点</a:t>
                </a:r>
                <a:r>
                  <a:rPr lang="en-US" altLang="zh-CN" sz="2000" dirty="0" smtClean="0">
                    <a:ea typeface="华文楷体" panose="02010600040101010101" pitchFamily="2" charset="-122"/>
                  </a:rPr>
                  <a:t>v</a:t>
                </a:r>
                <a:r>
                  <a:rPr lang="en-US" altLang="zh-CN" sz="2000" dirty="0" smtClean="0">
                    <a:ea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oMath>
                </a14:m>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，总有</a:t>
                </a:r>
                <a:r>
                  <a:rPr lang="en-US" altLang="zh-CN" sz="2000" dirty="0" smtClean="0">
                    <a:ea typeface="华文楷体" panose="02010600040101010101" pitchFamily="2" charset="-122"/>
                  </a:rPr>
                  <a:t>d[v]</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𝑣</m:t>
                        </m:r>
                      </m:e>
                    </m:d>
                  </m:oMath>
                </a14:m>
                <a:r>
                  <a:rPr lang="zh-CN" altLang="en-US" sz="2000" dirty="0" smtClean="0">
                    <a:ea typeface="华文楷体" panose="02010600040101010101" pitchFamily="2" charset="-122"/>
                  </a:rPr>
                  <a:t>，一旦</a:t>
                </a:r>
                <a:r>
                  <a:rPr lang="en-US" altLang="zh-CN" sz="2000" dirty="0">
                    <a:ea typeface="华文楷体" panose="02010600040101010101" pitchFamily="2" charset="-122"/>
                  </a:rPr>
                  <a:t>d[v</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到达</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𝑣</m:t>
                        </m:r>
                      </m:e>
                    </m:d>
                  </m:oMath>
                </a14:m>
                <a:r>
                  <a:rPr lang="zh-CN" altLang="en-US" sz="2000" dirty="0" smtClean="0">
                    <a:ea typeface="华文楷体" panose="02010600040101010101" pitchFamily="2" charset="-122"/>
                  </a:rPr>
                  <a:t>，则值不再变化。</a:t>
                </a:r>
                <a:endParaRPr lang="en-US" altLang="zh-CN" sz="2000" dirty="0" smtClean="0">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非路径性质</a:t>
                </a:r>
                <a:r>
                  <a:rPr lang="zh-CN" altLang="en-US" sz="2000" dirty="0" smtClean="0">
                    <a:ea typeface="华文楷体" panose="02010600040101010101" pitchFamily="2" charset="-122"/>
                  </a:rPr>
                  <a:t>：若顶点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到顶点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之间不存在路径，则总有</a:t>
                </a:r>
                <a:r>
                  <a:rPr lang="en-US" altLang="zh-CN" sz="2000" dirty="0">
                    <a:ea typeface="华文楷体" panose="02010600040101010101" pitchFamily="2" charset="-122"/>
                  </a:rPr>
                  <a:t>d[v</a:t>
                </a:r>
                <a:r>
                  <a:rPr lang="en-US" altLang="zh-CN" sz="2000" dirty="0" smtClean="0">
                    <a:ea typeface="华文楷体" panose="02010600040101010101" pitchFamily="2" charset="-122"/>
                  </a:rPr>
                  <a:t>]=</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𝑣</m:t>
                        </m:r>
                      </m:e>
                    </m:d>
                  </m:oMath>
                </a14:m>
                <a:r>
                  <a:rPr lang="en-US" altLang="zh-CN" sz="2000" dirty="0" smtClean="0">
                    <a:ea typeface="华文楷体" panose="02010600040101010101" pitchFamily="2" charset="-122"/>
                  </a:rPr>
                  <a:t>=</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m:t>
                    </m:r>
                    <m:r>
                      <a:rPr lang="zh-CN" altLang="en-US" sz="2000" i="1" dirty="0">
                        <a:latin typeface="Cambria Math" panose="02040503050406030204" pitchFamily="18" charset="0"/>
                        <a:ea typeface="Cambria Math" panose="02040503050406030204" pitchFamily="18" charset="0"/>
                      </a:rPr>
                      <m:t>。</m:t>
                    </m:r>
                  </m:oMath>
                </a14:m>
                <a:endParaRPr lang="en-US" altLang="zh-CN" sz="2000" dirty="0" smtClean="0">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收敛性质</a:t>
                </a:r>
                <a:r>
                  <a:rPr lang="zh-CN" altLang="en-US" sz="2000" dirty="0" smtClean="0">
                    <a:ea typeface="华文楷体" panose="02010600040101010101" pitchFamily="2" charset="-122"/>
                  </a:rPr>
                  <a:t>：对任意顶点</a:t>
                </a:r>
                <a:r>
                  <a:rPr lang="en-US" altLang="zh-CN" sz="2000" dirty="0" smtClean="0">
                    <a:ea typeface="华文楷体" panose="02010600040101010101" pitchFamily="2" charset="-122"/>
                  </a:rPr>
                  <a:t>u,</a:t>
                </a:r>
                <a:r>
                  <a:rPr lang="en-US" altLang="zh-CN" sz="2000" dirty="0">
                    <a:ea typeface="华文楷体" panose="02010600040101010101" pitchFamily="2" charset="-122"/>
                  </a:rPr>
                  <a:t> v</a:t>
                </a:r>
                <a:r>
                  <a:rPr lang="en-US" altLang="zh-CN" sz="2000" dirty="0">
                    <a:ea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oMath>
                </a14:m>
                <a:r>
                  <a:rPr lang="en-US" altLang="zh-CN" sz="2000" dirty="0">
                    <a:ea typeface="华文楷体" panose="02010600040101010101" pitchFamily="2" charset="-122"/>
                  </a:rPr>
                  <a:t>V</a:t>
                </a:r>
                <a:r>
                  <a:rPr lang="zh-CN" altLang="en-US" sz="2000" dirty="0" smtClean="0">
                    <a:ea typeface="华文楷体" panose="02010600040101010101" pitchFamily="2" charset="-122"/>
                  </a:rPr>
                  <a:t>，若</a:t>
                </a:r>
                <a:r>
                  <a:rPr lang="en-US" altLang="zh-CN" sz="2000" dirty="0" smtClean="0">
                    <a:ea typeface="华文楷体" panose="02010600040101010101" pitchFamily="2" charset="-122"/>
                  </a:rPr>
                  <a:t>s</a:t>
                </a:r>
                <a14:m>
                  <m:oMath xmlns:m="http://schemas.openxmlformats.org/officeDocument/2006/math">
                    <m:r>
                      <a:rPr lang="en-US" altLang="zh-CN" sz="2000" i="1" dirty="0" smtClean="0">
                        <a:latin typeface="Cambria Math" panose="02040503050406030204" pitchFamily="18" charset="0"/>
                      </a:rPr>
                      <m:t>~</m:t>
                    </m:r>
                    <m:r>
                      <a:rPr lang="en-US" altLang="zh-CN" sz="2000" b="0" i="1" dirty="0" smtClean="0">
                        <a:latin typeface="Cambria Math" panose="02040503050406030204" pitchFamily="18" charset="0"/>
                      </a:rPr>
                      <m:t>&gt;</m:t>
                    </m:r>
                    <m:r>
                      <m:rPr>
                        <m:sty m:val="p"/>
                      </m:rPr>
                      <a:rPr lang="en-US" altLang="zh-CN" sz="2000" b="0" i="0" dirty="0" smtClean="0">
                        <a:latin typeface="Cambria Math" panose="02040503050406030204" pitchFamily="18" charset="0"/>
                        <a:ea typeface="华文楷体" panose="02010600040101010101" pitchFamily="2" charset="-122"/>
                      </a:rPr>
                      <m:t>u</m:t>
                    </m:r>
                    <m:r>
                      <a:rPr lang="en-US" altLang="zh-CN" sz="2000" b="0" i="1" dirty="0" smtClean="0">
                        <a:latin typeface="Cambria Math" panose="02040503050406030204" pitchFamily="18" charset="0"/>
                        <a:ea typeface="Cambria Math" panose="02040503050406030204" pitchFamily="18" charset="0"/>
                      </a:rPr>
                      <m:t>→</m:t>
                    </m:r>
                  </m:oMath>
                </a14:m>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是</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到</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的一条最短路径，若</a:t>
                </a:r>
                <a:r>
                  <a:rPr lang="zh-CN" altLang="en-US" sz="2000" dirty="0">
                    <a:ea typeface="华文楷体" panose="02010600040101010101" pitchFamily="2" charset="-122"/>
                  </a:rPr>
                  <a:t>边</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u,v</a:t>
                </a:r>
                <a:r>
                  <a:rPr lang="en-US" altLang="zh-CN" sz="2000" dirty="0">
                    <a:ea typeface="华文楷体" panose="02010600040101010101" pitchFamily="2" charset="-122"/>
                  </a:rPr>
                  <a:t>)</a:t>
                </a:r>
                <a:r>
                  <a:rPr lang="zh-CN" altLang="en-US" sz="2000" dirty="0" smtClean="0">
                    <a:ea typeface="华文楷体" panose="02010600040101010101" pitchFamily="2" charset="-122"/>
                  </a:rPr>
                  <a:t>松弛操作前</a:t>
                </a:r>
                <a:r>
                  <a:rPr lang="en-US" altLang="zh-CN" sz="2000" dirty="0" smtClean="0">
                    <a:ea typeface="华文楷体" panose="02010600040101010101" pitchFamily="2" charset="-122"/>
                  </a:rPr>
                  <a:t>d[u]=</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m:rPr>
                            <m:sty m:val="p"/>
                          </m:rPr>
                          <a:rPr lang="en-US" altLang="zh-CN" sz="2000" i="1">
                            <a:latin typeface="Cambria Math" panose="02040503050406030204" pitchFamily="18" charset="0"/>
                          </a:rPr>
                          <m:t>u</m:t>
                        </m:r>
                      </m:e>
                    </m:d>
                  </m:oMath>
                </a14:m>
                <a:r>
                  <a:rPr lang="zh-CN" altLang="en-US" sz="2000" dirty="0" smtClean="0">
                    <a:ea typeface="华文楷体" panose="02010600040101010101" pitchFamily="2" charset="-122"/>
                  </a:rPr>
                  <a:t>，则进行松弛操作</a:t>
                </a:r>
                <a:r>
                  <a:rPr lang="en-US" altLang="zh-CN" sz="2000" dirty="0" smtClean="0">
                    <a:ea typeface="华文楷体" panose="02010600040101010101" pitchFamily="2" charset="-122"/>
                  </a:rPr>
                  <a:t>Relax(</a:t>
                </a:r>
                <a:r>
                  <a:rPr lang="en-US" altLang="zh-CN" sz="2000" dirty="0" err="1" smtClean="0">
                    <a:ea typeface="华文楷体" panose="02010600040101010101" pitchFamily="2" charset="-122"/>
                  </a:rPr>
                  <a:t>u,v,w</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u,v</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之后，</a:t>
                </a:r>
                <a:r>
                  <a:rPr lang="en-US" altLang="zh-CN" sz="2000" dirty="0">
                    <a:ea typeface="华文楷体" panose="02010600040101010101" pitchFamily="2" charset="-122"/>
                  </a:rPr>
                  <a:t>d[v]=</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𝑣</m:t>
                        </m:r>
                      </m:e>
                    </m:d>
                  </m:oMath>
                </a14:m>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路径松弛性质</a:t>
                </a:r>
                <a:r>
                  <a:rPr lang="zh-CN" altLang="en-US" sz="2000" dirty="0" smtClean="0">
                    <a:ea typeface="华文楷体" panose="02010600040101010101" pitchFamily="2" charset="-122"/>
                  </a:rPr>
                  <a:t>：若</a:t>
                </a:r>
                <a:r>
                  <a:rPr lang="en-US" altLang="zh-CN" sz="2000" dirty="0" smtClean="0">
                    <a:ea typeface="华文楷体" panose="02010600040101010101" pitchFamily="2" charset="-122"/>
                  </a:rPr>
                  <a:t>p=&lt;v</a:t>
                </a:r>
                <a:r>
                  <a:rPr lang="en-US" altLang="zh-CN" sz="2000" baseline="-25000" dirty="0" smtClean="0">
                    <a:ea typeface="华文楷体" panose="02010600040101010101" pitchFamily="2" charset="-122"/>
                  </a:rPr>
                  <a:t>0</a:t>
                </a:r>
                <a:r>
                  <a:rPr lang="en-US" altLang="zh-CN" sz="2000" dirty="0" smtClean="0">
                    <a:ea typeface="华文楷体" panose="02010600040101010101" pitchFamily="2" charset="-122"/>
                  </a:rPr>
                  <a:t>,v</a:t>
                </a:r>
                <a:r>
                  <a:rPr lang="en-US" altLang="zh-CN" sz="2000" baseline="-25000" dirty="0">
                    <a:ea typeface="华文楷体" panose="02010600040101010101" pitchFamily="2" charset="-122"/>
                  </a:rPr>
                  <a:t>1</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v</a:t>
                </a:r>
                <a:r>
                  <a:rPr lang="en-US" altLang="zh-CN" sz="2000" baseline="-25000" dirty="0" err="1">
                    <a:ea typeface="华文楷体" panose="02010600040101010101" pitchFamily="2" charset="-122"/>
                  </a:rPr>
                  <a:t>k</a:t>
                </a:r>
                <a:r>
                  <a:rPr lang="en-US" altLang="zh-CN" sz="2000" dirty="0" smtClean="0">
                    <a:ea typeface="华文楷体" panose="02010600040101010101" pitchFamily="2" charset="-122"/>
                  </a:rPr>
                  <a:t>&gt;</a:t>
                </a:r>
                <a:r>
                  <a:rPr lang="zh-CN" altLang="en-US" sz="2000" dirty="0" smtClean="0">
                    <a:ea typeface="华文楷体" panose="02010600040101010101" pitchFamily="2" charset="-122"/>
                  </a:rPr>
                  <a:t>是从源顶点</a:t>
                </a:r>
                <a:r>
                  <a:rPr lang="en-US" altLang="zh-CN" sz="2000" dirty="0">
                    <a:ea typeface="华文楷体" panose="02010600040101010101" pitchFamily="2" charset="-122"/>
                  </a:rPr>
                  <a:t>s=v</a:t>
                </a:r>
                <a:r>
                  <a:rPr lang="en-US" altLang="zh-CN" sz="2000" baseline="-25000" dirty="0">
                    <a:ea typeface="华文楷体" panose="02010600040101010101" pitchFamily="2" charset="-122"/>
                  </a:rPr>
                  <a:t>0</a:t>
                </a:r>
                <a:r>
                  <a:rPr lang="zh-CN" altLang="en-US" sz="2000" dirty="0" smtClean="0">
                    <a:ea typeface="华文楷体" panose="02010600040101010101" pitchFamily="2" charset="-122"/>
                  </a:rPr>
                  <a:t>到顶点</a:t>
                </a:r>
                <a:r>
                  <a:rPr lang="en-US" altLang="zh-CN" sz="2000" dirty="0" err="1">
                    <a:ea typeface="华文楷体" panose="02010600040101010101" pitchFamily="2" charset="-122"/>
                  </a:rPr>
                  <a:t>v</a:t>
                </a:r>
                <a:r>
                  <a:rPr lang="en-US" altLang="zh-CN" sz="2000" baseline="-25000" dirty="0" err="1">
                    <a:ea typeface="华文楷体" panose="02010600040101010101" pitchFamily="2" charset="-122"/>
                  </a:rPr>
                  <a:t>k</a:t>
                </a:r>
                <a:r>
                  <a:rPr lang="zh-CN" altLang="en-US" sz="2000" dirty="0" smtClean="0">
                    <a:ea typeface="华文楷体" panose="02010600040101010101" pitchFamily="2" charset="-122"/>
                  </a:rPr>
                  <a:t>的一条最短路径，且对</a:t>
                </a:r>
                <a:r>
                  <a:rPr lang="en-US" altLang="zh-CN" sz="2000" dirty="0" smtClean="0">
                    <a:ea typeface="华文楷体" panose="02010600040101010101" pitchFamily="2" charset="-122"/>
                  </a:rPr>
                  <a:t>p</a:t>
                </a:r>
                <a:r>
                  <a:rPr lang="zh-CN" altLang="en-US" sz="2000" dirty="0" smtClean="0">
                    <a:ea typeface="华文楷体" panose="02010600040101010101" pitchFamily="2" charset="-122"/>
                  </a:rPr>
                  <a:t>中边松弛顺序为</a:t>
                </a:r>
                <a:r>
                  <a:rPr lang="en-US" altLang="zh-CN" sz="2000" dirty="0" smtClean="0">
                    <a:ea typeface="华文楷体" panose="02010600040101010101" pitchFamily="2" charset="-122"/>
                  </a:rPr>
                  <a:t>&lt;v</a:t>
                </a:r>
                <a:r>
                  <a:rPr lang="en-US" altLang="zh-CN" sz="2000" baseline="-25000" dirty="0" smtClean="0">
                    <a:ea typeface="华文楷体" panose="02010600040101010101" pitchFamily="2" charset="-122"/>
                  </a:rPr>
                  <a:t>0</a:t>
                </a:r>
                <a:r>
                  <a:rPr lang="en-US" altLang="zh-CN" sz="2000" dirty="0" smtClean="0">
                    <a:ea typeface="华文楷体" panose="02010600040101010101" pitchFamily="2" charset="-122"/>
                  </a:rPr>
                  <a:t>,v</a:t>
                </a:r>
                <a:r>
                  <a:rPr lang="en-US" altLang="zh-CN" sz="2000" baseline="-25000" dirty="0" smtClean="0">
                    <a:ea typeface="华文楷体" panose="02010600040101010101" pitchFamily="2" charset="-122"/>
                  </a:rPr>
                  <a:t>1</a:t>
                </a:r>
                <a:r>
                  <a:rPr lang="en-US" altLang="zh-CN" sz="2000" dirty="0">
                    <a:ea typeface="华文楷体" panose="02010600040101010101" pitchFamily="2" charset="-122"/>
                  </a:rPr>
                  <a:t>&gt;, &lt;</a:t>
                </a:r>
                <a:r>
                  <a:rPr lang="en-US" altLang="zh-CN" sz="2000" dirty="0" smtClean="0">
                    <a:ea typeface="华文楷体" panose="02010600040101010101" pitchFamily="2" charset="-122"/>
                  </a:rPr>
                  <a:t>v</a:t>
                </a:r>
                <a:r>
                  <a:rPr lang="en-US" altLang="zh-CN" sz="2000" baseline="-25000" dirty="0" smtClean="0">
                    <a:ea typeface="华文楷体" panose="02010600040101010101" pitchFamily="2" charset="-122"/>
                  </a:rPr>
                  <a:t>1</a:t>
                </a:r>
                <a:r>
                  <a:rPr lang="en-US" altLang="zh-CN" sz="2000" dirty="0" smtClean="0">
                    <a:ea typeface="华文楷体" panose="02010600040101010101" pitchFamily="2" charset="-122"/>
                  </a:rPr>
                  <a:t>,v</a:t>
                </a:r>
                <a:r>
                  <a:rPr lang="en-US" altLang="zh-CN" sz="2000" baseline="-25000" dirty="0" smtClean="0">
                    <a:ea typeface="华文楷体" panose="02010600040101010101" pitchFamily="2" charset="-122"/>
                  </a:rPr>
                  <a:t>2</a:t>
                </a:r>
                <a:r>
                  <a:rPr lang="en-US" altLang="zh-CN" sz="2000" dirty="0" smtClean="0">
                    <a:ea typeface="华文楷体" panose="02010600040101010101" pitchFamily="2" charset="-122"/>
                  </a:rPr>
                  <a:t>&gt;,…</a:t>
                </a:r>
                <a:r>
                  <a:rPr lang="en-US" altLang="zh-CN" sz="2000" dirty="0">
                    <a:ea typeface="华文楷体" panose="02010600040101010101" pitchFamily="2" charset="-122"/>
                  </a:rPr>
                  <a:t>&lt;</a:t>
                </a:r>
                <a:r>
                  <a:rPr lang="en-US" altLang="zh-CN" sz="2000" dirty="0" smtClean="0">
                    <a:ea typeface="华文楷体" panose="02010600040101010101" pitchFamily="2" charset="-122"/>
                  </a:rPr>
                  <a:t>v</a:t>
                </a:r>
                <a:r>
                  <a:rPr lang="en-US" altLang="zh-CN" sz="2000" baseline="-25000" dirty="0" smtClean="0">
                    <a:ea typeface="华文楷体" panose="02010600040101010101" pitchFamily="2" charset="-122"/>
                  </a:rPr>
                  <a:t>k-1</a:t>
                </a:r>
                <a:r>
                  <a:rPr lang="en-US" altLang="zh-CN" sz="2000" dirty="0" smtClean="0">
                    <a:ea typeface="华文楷体" panose="02010600040101010101" pitchFamily="2" charset="-122"/>
                  </a:rPr>
                  <a:t>,v</a:t>
                </a:r>
                <a:r>
                  <a:rPr lang="en-US" altLang="zh-CN" sz="2000" baseline="-25000" dirty="0" smtClean="0">
                    <a:ea typeface="华文楷体" panose="02010600040101010101" pitchFamily="2" charset="-122"/>
                  </a:rPr>
                  <a:t>k</a:t>
                </a:r>
                <a:r>
                  <a:rPr lang="en-US" altLang="zh-CN" sz="2000" dirty="0" smtClean="0">
                    <a:ea typeface="华文楷体" panose="02010600040101010101" pitchFamily="2" charset="-122"/>
                  </a:rPr>
                  <a:t>&gt;</a:t>
                </a:r>
                <a:r>
                  <a:rPr lang="zh-CN" altLang="en-US" sz="2000" dirty="0" smtClean="0">
                    <a:ea typeface="华文楷体" panose="02010600040101010101" pitchFamily="2" charset="-122"/>
                  </a:rPr>
                  <a:t>；则</a:t>
                </a:r>
                <a:r>
                  <a:rPr lang="en-US" altLang="zh-CN" sz="2000" dirty="0" smtClean="0">
                    <a:ea typeface="华文楷体" panose="02010600040101010101" pitchFamily="2" charset="-122"/>
                  </a:rPr>
                  <a:t>d[</a:t>
                </a:r>
                <a:r>
                  <a:rPr lang="en-US" altLang="zh-CN" sz="2000" dirty="0" err="1">
                    <a:ea typeface="华文楷体" panose="02010600040101010101" pitchFamily="2" charset="-122"/>
                  </a:rPr>
                  <a:t>v</a:t>
                </a:r>
                <a:r>
                  <a:rPr lang="en-US" altLang="zh-CN" sz="2000" baseline="-25000" dirty="0" err="1">
                    <a:ea typeface="华文楷体" panose="02010600040101010101" pitchFamily="2" charset="-122"/>
                  </a:rPr>
                  <a:t>k</a:t>
                </a:r>
                <a:r>
                  <a:rPr lang="en-US" altLang="zh-CN" sz="2000" dirty="0" smtClean="0">
                    <a:ea typeface="华文楷体" panose="02010600040101010101" pitchFamily="2" charset="-122"/>
                  </a:rPr>
                  <a:t>]=</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m:rPr>
                            <m:nor/>
                          </m:rPr>
                          <a:rPr lang="en-US" altLang="zh-CN" sz="2000" dirty="0">
                            <a:latin typeface="Cambria Math" panose="02040503050406030204" pitchFamily="18" charset="0"/>
                            <a:ea typeface="华文楷体" panose="02010600040101010101" pitchFamily="2" charset="-122"/>
                          </a:rPr>
                          <m:t>v</m:t>
                        </m:r>
                        <m:r>
                          <m:rPr>
                            <m:nor/>
                          </m:rPr>
                          <a:rPr lang="en-US" altLang="zh-CN" sz="2000" baseline="-25000" dirty="0">
                            <a:latin typeface="Cambria Math" panose="02040503050406030204" pitchFamily="18" charset="0"/>
                            <a:ea typeface="华文楷体" panose="02010600040101010101" pitchFamily="2" charset="-122"/>
                          </a:rPr>
                          <m:t>k</m:t>
                        </m:r>
                      </m:e>
                    </m:d>
                  </m:oMath>
                </a14:m>
                <a:r>
                  <a:rPr lang="zh-CN" altLang="en-US" sz="2000" dirty="0" smtClean="0">
                    <a:ea typeface="华文楷体" panose="02010600040101010101" pitchFamily="2" charset="-122"/>
                  </a:rPr>
                  <a:t>。且该性质的成立与任何其他边的松弛操作无关；即使这些边的松弛操作穿插与</a:t>
                </a:r>
                <a:r>
                  <a:rPr lang="en-US" altLang="zh-CN" sz="2000" dirty="0" smtClean="0">
                    <a:ea typeface="华文楷体" panose="02010600040101010101" pitchFamily="2" charset="-122"/>
                  </a:rPr>
                  <a:t>p</a:t>
                </a:r>
                <a:r>
                  <a:rPr lang="zh-CN" altLang="en-US" sz="2000" dirty="0" smtClean="0">
                    <a:ea typeface="华文楷体" panose="02010600040101010101" pitchFamily="2" charset="-122"/>
                  </a:rPr>
                  <a:t>中边的松弛操作之间。</a:t>
                </a:r>
                <a:endParaRPr lang="en-US" altLang="zh-CN" sz="2000" dirty="0" smtClean="0">
                  <a:ea typeface="华文楷体" panose="02010600040101010101" pitchFamily="2" charset="-122"/>
                </a:endParaRPr>
              </a:p>
              <a:p>
                <a:pPr marL="0" indent="0">
                  <a:buNone/>
                </a:pPr>
                <a:r>
                  <a:rPr lang="zh-CN" altLang="en-US" sz="2000" dirty="0" smtClean="0">
                    <a:solidFill>
                      <a:srgbClr val="C00000"/>
                    </a:solidFill>
                    <a:ea typeface="华文楷体" panose="02010600040101010101" pitchFamily="2" charset="-122"/>
                  </a:rPr>
                  <a:t>前驱子图性质</a:t>
                </a:r>
                <a:r>
                  <a:rPr lang="zh-CN" altLang="en-US" sz="2000" dirty="0" smtClean="0">
                    <a:ea typeface="华文楷体" panose="02010600040101010101" pitchFamily="2" charset="-122"/>
                  </a:rPr>
                  <a:t>：对所有顶点</a:t>
                </a:r>
                <a:r>
                  <a:rPr lang="en-US" altLang="zh-CN" sz="2000" dirty="0">
                    <a:ea typeface="华文楷体" panose="02010600040101010101" pitchFamily="2" charset="-122"/>
                  </a:rPr>
                  <a:t>v</a:t>
                </a:r>
                <a:r>
                  <a:rPr lang="en-US" altLang="zh-CN" sz="2000" dirty="0">
                    <a:ea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oMath>
                </a14:m>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，一旦</a:t>
                </a:r>
                <a:r>
                  <a:rPr lang="en-US" altLang="zh-CN" sz="2000" dirty="0">
                    <a:ea typeface="华文楷体" panose="02010600040101010101" pitchFamily="2" charset="-122"/>
                  </a:rPr>
                  <a:t>d[v]=</a:t>
                </a:r>
                <a14:m>
                  <m:oMath xmlns:m="http://schemas.openxmlformats.org/officeDocument/2006/math">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r>
                          <a:rPr lang="en-US" altLang="zh-CN" sz="2000" i="1">
                            <a:latin typeface="Cambria Math" panose="02040503050406030204" pitchFamily="18" charset="0"/>
                          </a:rPr>
                          <m:t>,</m:t>
                        </m:r>
                        <m:r>
                          <a:rPr lang="en-US" altLang="zh-CN" sz="2000" i="1">
                            <a:latin typeface="Cambria Math" panose="02040503050406030204" pitchFamily="18" charset="0"/>
                          </a:rPr>
                          <m:t>𝑣</m:t>
                        </m:r>
                      </m:e>
                    </m:d>
                    <m:r>
                      <a:rPr lang="zh-CN" altLang="en-US" sz="2000" i="1">
                        <a:latin typeface="Cambria Math" panose="02040503050406030204" pitchFamily="18" charset="0"/>
                      </a:rPr>
                      <m:t>，</m:t>
                    </m:r>
                  </m:oMath>
                </a14:m>
                <a:r>
                  <a:rPr lang="zh-CN" altLang="en-US" sz="2000" dirty="0" smtClean="0">
                    <a:ea typeface="华文楷体" panose="02010600040101010101" pitchFamily="2" charset="-122"/>
                  </a:rPr>
                  <a:t>则</a:t>
                </a:r>
                <a:r>
                  <a:rPr lang="zh-CN" altLang="en-US" sz="2000" dirty="0">
                    <a:ea typeface="华文楷体" panose="02010600040101010101" pitchFamily="2" charset="-122"/>
                  </a:rPr>
                  <a:t>前驱</a:t>
                </a:r>
                <a:r>
                  <a:rPr lang="zh-CN" altLang="en-US" sz="2000" dirty="0" smtClean="0">
                    <a:ea typeface="华文楷体" panose="02010600040101010101" pitchFamily="2" charset="-122"/>
                  </a:rPr>
                  <a:t>子图</a:t>
                </a:r>
                <a:r>
                  <a:rPr lang="en-US" altLang="zh-CN" sz="2000" dirty="0" err="1">
                    <a:ea typeface="华文楷体" panose="02010600040101010101" pitchFamily="2" charset="-122"/>
                  </a:rPr>
                  <a:t>G</a:t>
                </a:r>
                <a:r>
                  <a:rPr lang="en-US" altLang="zh-CN" sz="2000" baseline="-25000" dirty="0" err="1">
                    <a:ea typeface="华文楷体" panose="02010600040101010101" pitchFamily="2" charset="-122"/>
                  </a:rPr>
                  <a:t>p</a:t>
                </a:r>
                <a:r>
                  <a:rPr lang="zh-CN" altLang="en-US" sz="2000" dirty="0" smtClean="0">
                    <a:ea typeface="华文楷体" panose="02010600040101010101" pitchFamily="2" charset="-122"/>
                  </a:rPr>
                  <a:t>是一颗根为源顶点</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的最短路径树。</a:t>
                </a:r>
                <a:endParaRPr lang="en-US" altLang="zh-CN" sz="2000" dirty="0">
                  <a:ea typeface="华文楷体" panose="02010600040101010101" pitchFamily="2" charset="-122"/>
                </a:endParaRPr>
              </a:p>
              <a:p>
                <a:pPr marL="0" indent="0">
                  <a:buNone/>
                </a:pPr>
                <a:endParaRPr lang="en-US" altLang="zh-CN" sz="2000" dirty="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en-US" altLang="zh-CN" sz="2000" dirty="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en-US" altLang="zh-CN" sz="2000" dirty="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zh-CN" altLang="en-US" sz="20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50708"/>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7.6.1 </a:t>
            </a:r>
            <a:r>
              <a:rPr lang="zh-CN" altLang="en-US" dirty="0" smtClean="0">
                <a:ea typeface="华文楷体" panose="02010600040101010101" pitchFamily="2" charset="-122"/>
              </a:rPr>
              <a:t>单源点最短路径算法</a:t>
            </a:r>
            <a:endParaRPr lang="zh-CN" altLang="en-US" dirty="0">
              <a:ea typeface="华文楷体" panose="02010600040101010101" pitchFamily="2" charset="-122"/>
            </a:endParaRPr>
          </a:p>
        </p:txBody>
      </p:sp>
      <p:sp>
        <p:nvSpPr>
          <p:cNvPr id="3" name="内容占位符 2"/>
          <p:cNvSpPr>
            <a:spLocks noGrp="1"/>
          </p:cNvSpPr>
          <p:nvPr>
            <p:ph idx="1"/>
          </p:nvPr>
        </p:nvSpPr>
        <p:spPr>
          <a:xfrm>
            <a:off x="419100" y="1134431"/>
            <a:ext cx="8229600" cy="5248275"/>
          </a:xfrm>
        </p:spPr>
        <p:txBody>
          <a:bodyPr/>
          <a:lstStyle/>
          <a:p>
            <a:pPr marL="0" indent="0">
              <a:buNone/>
            </a:pPr>
            <a:r>
              <a:rPr lang="zh-CN" altLang="en-US" sz="2000" dirty="0" smtClean="0">
                <a:ea typeface="华文楷体" panose="02010600040101010101" pitchFamily="2" charset="-122"/>
              </a:rPr>
              <a:t>用于解决一</a:t>
            </a:r>
            <a:r>
              <a:rPr lang="en-US" altLang="zh-CN" sz="2000" b="1" dirty="0">
                <a:solidFill>
                  <a:srgbClr val="C00000"/>
                </a:solidFill>
                <a:ea typeface="华文楷体" panose="02010600040101010101" pitchFamily="2" charset="-122"/>
              </a:rPr>
              <a:t>[Bellman-Ford</a:t>
            </a:r>
            <a:r>
              <a:rPr lang="zh-CN" altLang="en-US" sz="2000" b="1" dirty="0">
                <a:solidFill>
                  <a:srgbClr val="C00000"/>
                </a:solidFill>
                <a:ea typeface="华文楷体" panose="02010600040101010101" pitchFamily="2" charset="-122"/>
              </a:rPr>
              <a:t>算法</a:t>
            </a:r>
            <a:r>
              <a:rPr lang="en-US" altLang="zh-CN" sz="2000" b="1" dirty="0">
                <a:solidFill>
                  <a:srgbClr val="C00000"/>
                </a:solidFill>
                <a:ea typeface="华文楷体" panose="02010600040101010101" pitchFamily="2" charset="-122"/>
              </a:rPr>
              <a:t>] </a:t>
            </a:r>
            <a:r>
              <a:rPr lang="zh-CN" altLang="en-US" sz="2000" dirty="0">
                <a:solidFill>
                  <a:srgbClr val="C00000"/>
                </a:solidFill>
                <a:ea typeface="华文楷体" panose="02010600040101010101" pitchFamily="2" charset="-122"/>
              </a:rPr>
              <a:t>时间复杂度</a:t>
            </a:r>
            <a:r>
              <a:rPr lang="en-US" altLang="zh-CN" sz="2000" dirty="0">
                <a:solidFill>
                  <a:srgbClr val="C00000"/>
                </a:solidFill>
                <a:ea typeface="华文楷体" panose="02010600040101010101" pitchFamily="2" charset="-122"/>
              </a:rPr>
              <a:t>O(n*e)</a:t>
            </a:r>
            <a:endParaRPr lang="en-US" altLang="zh-CN" sz="2000" dirty="0">
              <a:ea typeface="华文楷体" panose="02010600040101010101" pitchFamily="2" charset="-122"/>
            </a:endParaRPr>
          </a:p>
          <a:p>
            <a:pPr marL="0" indent="0">
              <a:buNone/>
            </a:pPr>
            <a:r>
              <a:rPr lang="zh-CN" altLang="en-US" sz="2000" dirty="0" smtClean="0">
                <a:ea typeface="华文楷体" panose="02010600040101010101" pitchFamily="2" charset="-122"/>
              </a:rPr>
              <a:t>般情况下的最短路径问题，边可以是负值，但不能有负环。</a:t>
            </a:r>
            <a:endParaRPr lang="en-US" altLang="zh-CN" sz="2000" dirty="0" smtClean="0">
              <a:ea typeface="华文楷体" panose="02010600040101010101" pitchFamily="2" charset="-122"/>
            </a:endParaRPr>
          </a:p>
          <a:p>
            <a:pPr marL="0" indent="0">
              <a:buNone/>
            </a:pPr>
            <a:endParaRPr lang="en-US" altLang="zh-CN" sz="2000" dirty="0">
              <a:ea typeface="华文楷体" panose="02010600040101010101" pitchFamily="2" charset="-122"/>
            </a:endParaRPr>
          </a:p>
          <a:p>
            <a:pPr marL="0" indent="0">
              <a:buNone/>
            </a:pP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68803" y="1880592"/>
                <a:ext cx="4313576" cy="2862322"/>
              </a:xfrm>
              <a:prstGeom prst="rect">
                <a:avLst/>
              </a:prstGeom>
              <a:noFill/>
              <a:ln>
                <a:solidFill>
                  <a:schemeClr val="accent1"/>
                </a:solidFill>
              </a:ln>
            </p:spPr>
            <p:txBody>
              <a:bodyPr wrap="square" rtlCol="0">
                <a:spAutoFit/>
              </a:bodyPr>
              <a:lstStyle/>
              <a:p>
                <a:r>
                  <a:rPr lang="en-US" altLang="zh-CN" sz="1600" dirty="0" smtClean="0">
                    <a:ea typeface="华文楷体" panose="02010600040101010101" pitchFamily="2" charset="-122"/>
                  </a:rPr>
                  <a:t>bool Bellman-Ford(Graph G, function w, </a:t>
                </a:r>
                <a:r>
                  <a:rPr lang="en-US" altLang="zh-CN" sz="1600" dirty="0" err="1" smtClean="0">
                    <a:ea typeface="华文楷体" panose="02010600040101010101" pitchFamily="2" charset="-122"/>
                  </a:rPr>
                  <a:t>int</a:t>
                </a:r>
                <a:r>
                  <a:rPr lang="en-US" altLang="zh-CN" sz="1600" dirty="0" smtClean="0">
                    <a:ea typeface="华文楷体" panose="02010600040101010101" pitchFamily="2" charset="-122"/>
                  </a:rPr>
                  <a:t> s)</a:t>
                </a:r>
                <a:endParaRPr lang="en-US" altLang="zh-CN" sz="1600" dirty="0" smtClean="0">
                  <a:ea typeface="华文楷体" panose="02010600040101010101" pitchFamily="2" charset="-122"/>
                </a:endParaRPr>
              </a:p>
              <a:p>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Initialize-Single-Source(G</a:t>
                </a:r>
                <a:r>
                  <a:rPr lang="en-US" altLang="zh-CN" sz="1600" dirty="0">
                    <a:latin typeface="Times New Roman" panose="02020603050405020304" pitchFamily="18" charset="0"/>
                    <a:ea typeface="华文楷体" panose="02010600040101010101" pitchFamily="2" charset="-122"/>
                  </a:rPr>
                  <a:t>, s</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for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1;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&lt;=G.n-1;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a:t>
                </a:r>
                <a:r>
                  <a:rPr lang="en-US" altLang="zh-CN" sz="1600" dirty="0" smtClean="0">
                    <a:solidFill>
                      <a:srgbClr val="C00000"/>
                    </a:solidFill>
                    <a:ea typeface="华文楷体" panose="02010600040101010101" pitchFamily="2" charset="-122"/>
                  </a:rPr>
                  <a:t>O(n*e</a:t>
                </a:r>
                <a:r>
                  <a:rPr lang="en-US" altLang="zh-CN" sz="1600" dirty="0">
                    <a:solidFill>
                      <a:srgbClr val="C00000"/>
                    </a:solidFill>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for (each &lt;</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&gt;</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dirty="0" smtClean="0">
                    <a:latin typeface="Times New Roman" panose="02020603050405020304" pitchFamily="18" charset="0"/>
                    <a:ea typeface="华文楷体" panose="02010600040101010101" pitchFamily="2" charset="-122"/>
                  </a:rPr>
                  <a:t>E) //</a:t>
                </a:r>
                <a:r>
                  <a:rPr lang="zh-CN" altLang="en-US" sz="1600" dirty="0" smtClean="0">
                    <a:latin typeface="Times New Roman" panose="02020603050405020304" pitchFamily="18" charset="0"/>
                    <a:ea typeface="华文楷体" panose="02010600040101010101" pitchFamily="2" charset="-122"/>
                  </a:rPr>
                  <a:t>边按固定顺序松弛</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Relax(</a:t>
                </a:r>
                <a:r>
                  <a:rPr lang="en-US" altLang="zh-CN" sz="1600" dirty="0" err="1" smtClean="0">
                    <a:latin typeface="Times New Roman" panose="02020603050405020304" pitchFamily="18" charset="0"/>
                    <a:ea typeface="华文楷体" panose="02010600040101010101" pitchFamily="2" charset="-122"/>
                  </a:rPr>
                  <a:t>u,v,w</a:t>
                </a:r>
                <a:r>
                  <a:rPr lang="en-US" altLang="zh-CN" sz="1600" dirty="0" smtClean="0">
                    <a:latin typeface="Times New Roman" panose="02020603050405020304" pitchFamily="18" charset="0"/>
                    <a:ea typeface="华文楷体" panose="02010600040101010101" pitchFamily="2" charset="-122"/>
                  </a:rPr>
                  <a:t>(</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for </a:t>
                </a:r>
                <a:r>
                  <a:rPr lang="en-US" altLang="zh-CN" sz="1600" dirty="0">
                    <a:latin typeface="Times New Roman" panose="02020603050405020304" pitchFamily="18" charset="0"/>
                    <a:ea typeface="华文楷体" panose="02010600040101010101" pitchFamily="2" charset="-122"/>
                  </a:rPr>
                  <a:t>(each </a:t>
                </a:r>
                <a:r>
                  <a:rPr lang="en-US" altLang="zh-CN" sz="1600" dirty="0" smtClean="0">
                    <a:latin typeface="Times New Roman" panose="02020603050405020304" pitchFamily="18" charset="0"/>
                    <a:ea typeface="华文楷体" panose="02010600040101010101" pitchFamily="2" charset="-122"/>
                  </a:rPr>
                  <a:t>&lt;</a:t>
                </a:r>
                <a:r>
                  <a:rPr lang="en-US" altLang="zh-CN" sz="1600" dirty="0" err="1" smtClean="0">
                    <a:latin typeface="Times New Roman" panose="02020603050405020304" pitchFamily="18" charset="0"/>
                    <a:ea typeface="华文楷体" panose="02010600040101010101" pitchFamily="2" charset="-122"/>
                  </a:rPr>
                  <a:t>u,v</a:t>
                </a:r>
                <a:r>
                  <a:rPr lang="en-US" altLang="zh-CN" sz="1600" dirty="0">
                    <a:latin typeface="Times New Roman" panose="02020603050405020304" pitchFamily="18" charset="0"/>
                    <a:ea typeface="华文楷体" panose="02010600040101010101" pitchFamily="2" charset="-122"/>
                  </a:rPr>
                  <a:t>&gt;</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a:latin typeface="Times New Roman" panose="02020603050405020304" pitchFamily="18" charset="0"/>
                    <a:ea typeface="华文楷体" panose="02010600040101010101" pitchFamily="2" charset="-122"/>
                  </a:rPr>
                  <a:t>E</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if(d[v]&gt;d[u]+w(</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 //</a:t>
                </a:r>
                <a:r>
                  <a:rPr lang="zh-CN" altLang="en-US" sz="1600" dirty="0" smtClean="0">
                    <a:latin typeface="Times New Roman" panose="02020603050405020304" pitchFamily="18" charset="0"/>
                    <a:ea typeface="华文楷体" panose="02010600040101010101" pitchFamily="2" charset="-122"/>
                  </a:rPr>
                  <a:t>权重为负的环路</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return FALSE;</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return TRUE;</a:t>
                </a:r>
                <a:endParaRPr lang="en-US" altLang="zh-CN" sz="1600" dirty="0" smtClean="0">
                  <a:ea typeface="华文楷体" panose="02010600040101010101" pitchFamily="2" charset="-122"/>
                </a:endParaRPr>
              </a:p>
              <a:p>
                <a:r>
                  <a:rPr lang="en-US" altLang="zh-CN" sz="1600" dirty="0">
                    <a:ea typeface="华文楷体" panose="02010600040101010101" pitchFamily="2" charset="-122"/>
                  </a:rPr>
                  <a:t>}</a:t>
                </a:r>
                <a:endParaRPr lang="zh-CN" altLang="en-US" sz="1600" dirty="0"/>
              </a:p>
            </p:txBody>
          </p:sp>
        </mc:Choice>
        <mc:Fallback>
          <p:sp>
            <p:nvSpPr>
              <p:cNvPr id="6" name="文本框 5"/>
              <p:cNvSpPr txBox="1">
                <a:spLocks noRot="1" noChangeAspect="1" noMove="1" noResize="1" noEditPoints="1" noAdjustHandles="1" noChangeArrowheads="1" noChangeShapeType="1" noTextEdit="1"/>
              </p:cNvSpPr>
              <p:nvPr/>
            </p:nvSpPr>
            <p:spPr>
              <a:xfrm>
                <a:off x="68803" y="1880592"/>
                <a:ext cx="4313576" cy="2862322"/>
              </a:xfrm>
              <a:prstGeom prst="rect">
                <a:avLst/>
              </a:prstGeom>
              <a:blipFill rotWithShape="1">
                <a:blip r:embed="rId1"/>
                <a:stretch>
                  <a:fillRect l="-123" t="-168" r="-97" b="-152"/>
                </a:stretch>
              </a:blipFill>
              <a:ln>
                <a:solidFill>
                  <a:schemeClr val="accent1"/>
                </a:solidFill>
              </a:ln>
            </p:spPr>
            <p:txBody>
              <a:bodyPr/>
              <a:lstStyle/>
              <a:p>
                <a:r>
                  <a:rPr lang="zh-CN" altLang="en-US">
                    <a:noFill/>
                  </a:rPr>
                  <a:t> </a:t>
                </a:r>
              </a:p>
            </p:txBody>
          </p:sp>
        </mc:Fallback>
      </mc:AlternateContent>
      <p:pic>
        <p:nvPicPr>
          <p:cNvPr id="7" name="图片 6"/>
          <p:cNvPicPr>
            <a:picLocks noChangeAspect="1"/>
          </p:cNvPicPr>
          <p:nvPr/>
        </p:nvPicPr>
        <p:blipFill>
          <a:blip r:embed="rId2"/>
          <a:stretch>
            <a:fillRect/>
          </a:stretch>
        </p:blipFill>
        <p:spPr>
          <a:xfrm>
            <a:off x="4409012" y="2133600"/>
            <a:ext cx="2174564" cy="2057400"/>
          </a:xfrm>
          <a:prstGeom prst="rect">
            <a:avLst/>
          </a:prstGeom>
        </p:spPr>
      </p:pic>
      <p:pic>
        <p:nvPicPr>
          <p:cNvPr id="9" name="图片 8"/>
          <p:cNvPicPr>
            <a:picLocks noChangeAspect="1"/>
          </p:cNvPicPr>
          <p:nvPr/>
        </p:nvPicPr>
        <p:blipFill>
          <a:blip r:embed="rId3"/>
          <a:stretch>
            <a:fillRect/>
          </a:stretch>
        </p:blipFill>
        <p:spPr>
          <a:xfrm>
            <a:off x="6781800" y="2133600"/>
            <a:ext cx="2174564" cy="2057400"/>
          </a:xfrm>
          <a:prstGeom prst="rect">
            <a:avLst/>
          </a:prstGeom>
        </p:spPr>
      </p:pic>
      <p:pic>
        <p:nvPicPr>
          <p:cNvPr id="10" name="图片 9"/>
          <p:cNvPicPr>
            <a:picLocks noChangeAspect="1"/>
          </p:cNvPicPr>
          <p:nvPr/>
        </p:nvPicPr>
        <p:blipFill>
          <a:blip r:embed="rId4"/>
          <a:stretch>
            <a:fillRect/>
          </a:stretch>
        </p:blipFill>
        <p:spPr>
          <a:xfrm>
            <a:off x="90257" y="4666394"/>
            <a:ext cx="2278218" cy="2155469"/>
          </a:xfrm>
          <a:prstGeom prst="rect">
            <a:avLst/>
          </a:prstGeom>
        </p:spPr>
      </p:pic>
      <p:pic>
        <p:nvPicPr>
          <p:cNvPr id="11" name="图片 10"/>
          <p:cNvPicPr>
            <a:picLocks noChangeAspect="1"/>
          </p:cNvPicPr>
          <p:nvPr/>
        </p:nvPicPr>
        <p:blipFill>
          <a:blip r:embed="rId5"/>
          <a:stretch>
            <a:fillRect/>
          </a:stretch>
        </p:blipFill>
        <p:spPr>
          <a:xfrm>
            <a:off x="2496967" y="4663922"/>
            <a:ext cx="2283441" cy="2160411"/>
          </a:xfrm>
          <a:prstGeom prst="rect">
            <a:avLst/>
          </a:prstGeom>
        </p:spPr>
      </p:pic>
      <p:pic>
        <p:nvPicPr>
          <p:cNvPr id="12" name="图片 11"/>
          <p:cNvPicPr>
            <a:picLocks noChangeAspect="1"/>
          </p:cNvPicPr>
          <p:nvPr/>
        </p:nvPicPr>
        <p:blipFill>
          <a:blip r:embed="rId6"/>
          <a:stretch>
            <a:fillRect/>
          </a:stretch>
        </p:blipFill>
        <p:spPr>
          <a:xfrm>
            <a:off x="4908900" y="4744795"/>
            <a:ext cx="2112482" cy="1998663"/>
          </a:xfrm>
          <a:prstGeom prst="rect">
            <a:avLst/>
          </a:prstGeom>
        </p:spPr>
      </p:pic>
      <p:sp>
        <p:nvSpPr>
          <p:cNvPr id="13" name="文本框 12"/>
          <p:cNvSpPr txBox="1"/>
          <p:nvPr/>
        </p:nvSpPr>
        <p:spPr>
          <a:xfrm>
            <a:off x="7081103" y="4652668"/>
            <a:ext cx="1973803" cy="1938992"/>
          </a:xfrm>
          <a:prstGeom prst="rect">
            <a:avLst/>
          </a:prstGeom>
          <a:noFill/>
          <a:ln>
            <a:solidFill>
              <a:schemeClr val="accent1"/>
            </a:solidFill>
          </a:ln>
        </p:spPr>
        <p:txBody>
          <a:bodyPr wrap="square" rtlCol="0">
            <a:spAutoFit/>
          </a:bodyPr>
          <a:lstStyle/>
          <a:p>
            <a:r>
              <a:rPr lang="en-US" altLang="zh-CN" sz="1200" dirty="0" smtClean="0">
                <a:latin typeface="Times New Roman" panose="02020603050405020304" pitchFamily="18" charset="0"/>
                <a:ea typeface="华文楷体" panose="02010600040101010101" pitchFamily="2" charset="-122"/>
              </a:rPr>
              <a:t>1. </a:t>
            </a:r>
            <a:r>
              <a:rPr lang="zh-CN" altLang="en-US" sz="1200" dirty="0" smtClean="0">
                <a:latin typeface="Times New Roman" panose="02020603050405020304" pitchFamily="18" charset="0"/>
                <a:ea typeface="华文楷体" panose="02010600040101010101" pitchFamily="2" charset="-122"/>
              </a:rPr>
              <a:t>源顶点</a:t>
            </a:r>
            <a:r>
              <a:rPr lang="en-US" altLang="zh-CN" sz="1200" dirty="0" smtClean="0">
                <a:latin typeface="Times New Roman" panose="02020603050405020304" pitchFamily="18" charset="0"/>
                <a:ea typeface="华文楷体" panose="02010600040101010101" pitchFamily="2" charset="-122"/>
              </a:rPr>
              <a:t>s</a:t>
            </a:r>
            <a:r>
              <a:rPr lang="zh-CN" altLang="en-US" sz="1200" dirty="0" smtClean="0">
                <a:latin typeface="Times New Roman" panose="02020603050405020304" pitchFamily="18" charset="0"/>
                <a:ea typeface="华文楷体" panose="02010600040101010101" pitchFamily="2" charset="-122"/>
              </a:rPr>
              <a:t>，每个顶点</a:t>
            </a:r>
            <a:r>
              <a:rPr lang="en-US" altLang="zh-CN" sz="1200" dirty="0" smtClean="0">
                <a:latin typeface="Times New Roman" panose="02020603050405020304" pitchFamily="18" charset="0"/>
                <a:ea typeface="华文楷体" panose="02010600040101010101" pitchFamily="2" charset="-122"/>
              </a:rPr>
              <a:t>v</a:t>
            </a:r>
            <a:r>
              <a:rPr lang="zh-CN" altLang="en-US" sz="1200" dirty="0" smtClean="0">
                <a:latin typeface="Times New Roman" panose="02020603050405020304" pitchFamily="18" charset="0"/>
                <a:ea typeface="华文楷体" panose="02010600040101010101" pitchFamily="2" charset="-122"/>
              </a:rPr>
              <a:t>中的数值为当前的</a:t>
            </a:r>
            <a:r>
              <a:rPr lang="en-US" altLang="zh-CN" sz="1200" dirty="0" smtClean="0">
                <a:latin typeface="Times New Roman" panose="02020603050405020304" pitchFamily="18" charset="0"/>
                <a:ea typeface="华文楷体" panose="02010600040101010101" pitchFamily="2" charset="-122"/>
              </a:rPr>
              <a:t>d[v]</a:t>
            </a:r>
            <a:r>
              <a:rPr lang="zh-CN" altLang="en-US" sz="1200" dirty="0" smtClean="0">
                <a:latin typeface="Times New Roman" panose="02020603050405020304" pitchFamily="18" charset="0"/>
                <a:ea typeface="华文楷体" panose="02010600040101010101" pitchFamily="2" charset="-122"/>
              </a:rPr>
              <a:t>值，若</a:t>
            </a:r>
            <a:r>
              <a:rPr lang="en-US" altLang="zh-CN" sz="1200" dirty="0" smtClean="0">
                <a:latin typeface="Times New Roman" panose="02020603050405020304" pitchFamily="18" charset="0"/>
                <a:ea typeface="华文楷体" panose="02010600040101010101" pitchFamily="2" charset="-122"/>
              </a:rPr>
              <a:t>&lt;</a:t>
            </a:r>
            <a:r>
              <a:rPr lang="en-US" altLang="zh-CN" sz="1200" dirty="0" err="1" smtClean="0">
                <a:latin typeface="Times New Roman" panose="02020603050405020304" pitchFamily="18" charset="0"/>
                <a:ea typeface="华文楷体" panose="02010600040101010101" pitchFamily="2" charset="-122"/>
              </a:rPr>
              <a:t>u,v</a:t>
            </a:r>
            <a:r>
              <a:rPr lang="en-US" altLang="zh-CN" sz="1200" dirty="0" smtClean="0">
                <a:latin typeface="Times New Roman" panose="02020603050405020304" pitchFamily="18" charset="0"/>
                <a:ea typeface="华文楷体" panose="02010600040101010101" pitchFamily="2" charset="-122"/>
              </a:rPr>
              <a:t>&gt;</a:t>
            </a:r>
            <a:r>
              <a:rPr lang="zh-CN" altLang="en-US" sz="1200" dirty="0" smtClean="0">
                <a:latin typeface="Times New Roman" panose="02020603050405020304" pitchFamily="18" charset="0"/>
                <a:ea typeface="华文楷体" panose="02010600040101010101" pitchFamily="2" charset="-122"/>
              </a:rPr>
              <a:t>加红色，</a:t>
            </a:r>
            <a:r>
              <a:rPr lang="zh-CN" altLang="en-US" sz="1200" dirty="0">
                <a:latin typeface="Times New Roman" panose="02020603050405020304" pitchFamily="18" charset="0"/>
                <a:ea typeface="华文楷体" panose="02010600040101010101" pitchFamily="2" charset="-122"/>
              </a:rPr>
              <a:t>则</a:t>
            </a:r>
            <a:r>
              <a:rPr lang="en-US" altLang="zh-CN" sz="1200" dirty="0" smtClean="0">
                <a:latin typeface="Times New Roman" panose="02020603050405020304" pitchFamily="18" charset="0"/>
                <a:ea typeface="华文楷体" panose="02010600040101010101" pitchFamily="2" charset="-122"/>
              </a:rPr>
              <a:t>p[v]=u</a:t>
            </a:r>
            <a:r>
              <a:rPr lang="zh-CN" altLang="en-US" sz="1200" dirty="0" smtClean="0">
                <a:latin typeface="Times New Roman" panose="02020603050405020304" pitchFamily="18" charset="0"/>
                <a:ea typeface="华文楷体" panose="02010600040101010101" pitchFamily="2" charset="-122"/>
              </a:rPr>
              <a:t>。</a:t>
            </a:r>
            <a:endParaRPr lang="en-US" altLang="zh-CN" sz="1200" dirty="0" smtClean="0">
              <a:latin typeface="Times New Roman" panose="02020603050405020304" pitchFamily="18" charset="0"/>
              <a:ea typeface="华文楷体" panose="02010600040101010101" pitchFamily="2" charset="-122"/>
            </a:endParaRPr>
          </a:p>
          <a:p>
            <a:r>
              <a:rPr lang="en-US" altLang="zh-CN" sz="1200" dirty="0" smtClean="0">
                <a:latin typeface="Times New Roman" panose="02020603050405020304" pitchFamily="18" charset="0"/>
                <a:ea typeface="华文楷体" panose="02010600040101010101" pitchFamily="2" charset="-122"/>
              </a:rPr>
              <a:t>2. </a:t>
            </a:r>
            <a:r>
              <a:rPr lang="zh-CN" altLang="en-US" sz="1200" dirty="0" smtClean="0">
                <a:latin typeface="Times New Roman" panose="02020603050405020304" pitchFamily="18" charset="0"/>
                <a:ea typeface="华文楷体" panose="02010600040101010101" pitchFamily="2" charset="-122"/>
              </a:rPr>
              <a:t>共</a:t>
            </a:r>
            <a:r>
              <a:rPr lang="en-US" altLang="zh-CN" sz="1200" dirty="0" smtClean="0">
                <a:latin typeface="Times New Roman" panose="02020603050405020304" pitchFamily="18" charset="0"/>
                <a:ea typeface="华文楷体" panose="02010600040101010101" pitchFamily="2" charset="-122"/>
              </a:rPr>
              <a:t>n-1=4</a:t>
            </a:r>
            <a:r>
              <a:rPr lang="zh-CN" altLang="en-US" sz="1200" dirty="0" smtClean="0">
                <a:latin typeface="Times New Roman" panose="02020603050405020304" pitchFamily="18" charset="0"/>
                <a:ea typeface="华文楷体" panose="02010600040101010101" pitchFamily="2" charset="-122"/>
              </a:rPr>
              <a:t>轮松弛，每轮松弛顺序均为</a:t>
            </a:r>
            <a:r>
              <a:rPr lang="en-US" altLang="zh-CN" sz="1200" b="1" dirty="0" smtClean="0">
                <a:solidFill>
                  <a:srgbClr val="FF0000"/>
                </a:solidFill>
                <a:latin typeface="Times New Roman" panose="02020603050405020304" pitchFamily="18" charset="0"/>
                <a:ea typeface="华文楷体" panose="02010600040101010101" pitchFamily="2" charset="-122"/>
              </a:rPr>
              <a:t>&lt;</a:t>
            </a:r>
            <a:r>
              <a:rPr lang="en-US" altLang="zh-CN" sz="1200" b="1" dirty="0" err="1" smtClean="0">
                <a:solidFill>
                  <a:srgbClr val="FF0000"/>
                </a:solidFill>
                <a:latin typeface="Times New Roman" panose="02020603050405020304" pitchFamily="18" charset="0"/>
                <a:ea typeface="华文楷体" panose="02010600040101010101" pitchFamily="2" charset="-122"/>
              </a:rPr>
              <a:t>t,x</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t,y</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t,z</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y,x</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y,z</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z,x</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z,s</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s,t</a:t>
            </a:r>
            <a:r>
              <a:rPr lang="en-US" altLang="zh-CN" sz="1200" b="1" dirty="0" smtClean="0">
                <a:solidFill>
                  <a:srgbClr val="FF0000"/>
                </a:solidFill>
                <a:latin typeface="Times New Roman" panose="02020603050405020304" pitchFamily="18" charset="0"/>
                <a:ea typeface="华文楷体" panose="02010600040101010101" pitchFamily="2" charset="-122"/>
              </a:rPr>
              <a:t>&gt;, &lt;</a:t>
            </a:r>
            <a:r>
              <a:rPr lang="en-US" altLang="zh-CN" sz="1200" b="1" dirty="0" err="1" smtClean="0">
                <a:solidFill>
                  <a:srgbClr val="FF0000"/>
                </a:solidFill>
                <a:latin typeface="Times New Roman" panose="02020603050405020304" pitchFamily="18" charset="0"/>
                <a:ea typeface="华文楷体" panose="02010600040101010101" pitchFamily="2" charset="-122"/>
              </a:rPr>
              <a:t>s,y</a:t>
            </a:r>
            <a:r>
              <a:rPr lang="en-US" altLang="zh-CN" sz="1200" b="1" dirty="0" smtClean="0">
                <a:solidFill>
                  <a:srgbClr val="FF0000"/>
                </a:solidFill>
                <a:latin typeface="Times New Roman" panose="02020603050405020304" pitchFamily="18" charset="0"/>
                <a:ea typeface="华文楷体" panose="02010600040101010101" pitchFamily="2" charset="-122"/>
              </a:rPr>
              <a:t>&gt;</a:t>
            </a:r>
            <a:r>
              <a:rPr lang="zh-CN" altLang="en-US" sz="1200" dirty="0" smtClean="0">
                <a:latin typeface="Times New Roman" panose="02020603050405020304" pitchFamily="18" charset="0"/>
                <a:ea typeface="华文楷体" panose="02010600040101010101" pitchFamily="2" charset="-122"/>
              </a:rPr>
              <a:t>。</a:t>
            </a:r>
            <a:endParaRPr lang="en-US" altLang="zh-CN" sz="1200" dirty="0" smtClean="0">
              <a:latin typeface="Times New Roman" panose="02020603050405020304" pitchFamily="18" charset="0"/>
              <a:ea typeface="华文楷体" panose="02010600040101010101" pitchFamily="2" charset="-122"/>
            </a:endParaRPr>
          </a:p>
          <a:p>
            <a:r>
              <a:rPr lang="en-US" altLang="zh-CN" sz="1200" dirty="0" smtClean="0">
                <a:latin typeface="Times New Roman" panose="02020603050405020304" pitchFamily="18" charset="0"/>
                <a:ea typeface="华文楷体" panose="02010600040101010101" pitchFamily="2" charset="-122"/>
              </a:rPr>
              <a:t>3.(a)</a:t>
            </a:r>
            <a:r>
              <a:rPr lang="zh-CN" altLang="en-US" sz="1200" dirty="0" smtClean="0">
                <a:latin typeface="Times New Roman" panose="02020603050405020304" pitchFamily="18" charset="0"/>
                <a:ea typeface="华文楷体" panose="02010600040101010101" pitchFamily="2" charset="-122"/>
              </a:rPr>
              <a:t>第一轮松弛前；</a:t>
            </a:r>
            <a:r>
              <a:rPr lang="en-US" altLang="zh-CN" sz="1200" dirty="0" smtClean="0">
                <a:latin typeface="Times New Roman" panose="02020603050405020304" pitchFamily="18" charset="0"/>
                <a:ea typeface="华文楷体" panose="02010600040101010101" pitchFamily="2" charset="-122"/>
              </a:rPr>
              <a:t>(b-e)</a:t>
            </a:r>
            <a:r>
              <a:rPr lang="zh-CN" altLang="en-US" sz="1200" dirty="0" smtClean="0">
                <a:latin typeface="Times New Roman" panose="02020603050405020304" pitchFamily="18" charset="0"/>
                <a:ea typeface="华文楷体" panose="02010600040101010101" pitchFamily="2" charset="-122"/>
              </a:rPr>
              <a:t>每轮松弛后的场景。</a:t>
            </a:r>
            <a:r>
              <a:rPr lang="en-US" altLang="zh-CN" sz="1200" dirty="0" smtClean="0">
                <a:latin typeface="Times New Roman" panose="02020603050405020304" pitchFamily="18" charset="0"/>
                <a:ea typeface="华文楷体" panose="02010600040101010101" pitchFamily="2" charset="-122"/>
              </a:rPr>
              <a:t>(e)</a:t>
            </a:r>
            <a:r>
              <a:rPr lang="zh-CN" altLang="en-US" sz="1200" dirty="0" smtClean="0">
                <a:latin typeface="Times New Roman" panose="02020603050405020304" pitchFamily="18" charset="0"/>
                <a:ea typeface="华文楷体" panose="02010600040101010101" pitchFamily="2" charset="-122"/>
              </a:rPr>
              <a:t>最终场景。</a:t>
            </a:r>
            <a:endParaRPr lang="en-US" altLang="zh-CN" sz="1200" dirty="0" smtClean="0">
              <a:latin typeface="Times New Roman" panose="02020603050405020304" pitchFamily="18" charset="0"/>
              <a:ea typeface="华文楷体" panose="02010600040101010101" pitchFamily="2" charset="-122"/>
            </a:endParaRPr>
          </a:p>
        </p:txBody>
      </p:sp>
      <p:cxnSp>
        <p:nvCxnSpPr>
          <p:cNvPr id="15" name="直接连接符 14"/>
          <p:cNvCxnSpPr/>
          <p:nvPr/>
        </p:nvCxnSpPr>
        <p:spPr>
          <a:xfrm>
            <a:off x="6705600" y="1880592"/>
            <a:ext cx="0" cy="238660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直接连接符 16"/>
          <p:cNvCxnSpPr/>
          <p:nvPr/>
        </p:nvCxnSpPr>
        <p:spPr>
          <a:xfrm>
            <a:off x="4382379" y="4267200"/>
            <a:ext cx="4761621"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直接连接符 18"/>
          <p:cNvCxnSpPr/>
          <p:nvPr/>
        </p:nvCxnSpPr>
        <p:spPr>
          <a:xfrm>
            <a:off x="2379694" y="4681359"/>
            <a:ext cx="0" cy="217664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直接连接符 20"/>
          <p:cNvCxnSpPr/>
          <p:nvPr/>
        </p:nvCxnSpPr>
        <p:spPr>
          <a:xfrm flipH="1">
            <a:off x="4800600" y="4267200"/>
            <a:ext cx="20880" cy="25908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直接连接符 24"/>
          <p:cNvCxnSpPr/>
          <p:nvPr/>
        </p:nvCxnSpPr>
        <p:spPr>
          <a:xfrm>
            <a:off x="4382379" y="1880592"/>
            <a:ext cx="4761621"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81000" y="1215099"/>
                <a:ext cx="8229600" cy="5414301"/>
              </a:xfrm>
              <a:ln>
                <a:solidFill>
                  <a:schemeClr val="accent1"/>
                </a:solidFill>
              </a:ln>
            </p:spPr>
            <p:txBody>
              <a:bodyPr/>
              <a:lstStyle/>
              <a:p>
                <a:pPr marL="0" indent="0">
                  <a:buNone/>
                </a:pPr>
                <a:r>
                  <a:rPr lang="en-US" altLang="zh-CN" sz="2400" dirty="0">
                    <a:solidFill>
                      <a:srgbClr val="C00000"/>
                    </a:solidFill>
                    <a:ea typeface="华文楷体" panose="02010600040101010101" pitchFamily="2" charset="-122"/>
                  </a:rPr>
                  <a:t>[Bellman-Ford</a:t>
                </a:r>
                <a:r>
                  <a:rPr lang="zh-CN" altLang="en-US" sz="2400" dirty="0" smtClean="0">
                    <a:solidFill>
                      <a:srgbClr val="C00000"/>
                    </a:solidFill>
                    <a:ea typeface="华文楷体" panose="02010600040101010101" pitchFamily="2" charset="-122"/>
                  </a:rPr>
                  <a:t>算法结论</a:t>
                </a:r>
                <a:r>
                  <a:rPr lang="en-US" altLang="zh-CN" sz="2400" dirty="0" smtClean="0">
                    <a:solidFill>
                      <a:srgbClr val="C00000"/>
                    </a:solidFill>
                    <a:ea typeface="华文楷体" panose="02010600040101010101" pitchFamily="2" charset="-122"/>
                  </a:rPr>
                  <a:t>]</a:t>
                </a:r>
                <a:endParaRPr lang="en-US" altLang="zh-CN" sz="2400" dirty="0">
                  <a:solidFill>
                    <a:srgbClr val="C00000"/>
                  </a:solidFill>
                  <a:ea typeface="华文楷体" panose="02010600040101010101" pitchFamily="2" charset="-122"/>
                </a:endParaRPr>
              </a:p>
              <a:p>
                <a:pPr marL="0" indent="0">
                  <a:buNone/>
                </a:pPr>
                <a:r>
                  <a:rPr lang="zh-CN" altLang="en-US" sz="2400" dirty="0">
                    <a:solidFill>
                      <a:srgbClr val="C00000"/>
                    </a:solidFill>
                    <a:ea typeface="华文楷体" panose="02010600040101010101" pitchFamily="2" charset="-122"/>
                  </a:rPr>
                  <a:t>定理</a:t>
                </a:r>
                <a:r>
                  <a:rPr lang="en-US" altLang="zh-CN" sz="2400" dirty="0">
                    <a:solidFill>
                      <a:srgbClr val="C00000"/>
                    </a:solidFill>
                    <a:ea typeface="华文楷体" panose="02010600040101010101" pitchFamily="2" charset="-122"/>
                  </a:rPr>
                  <a:t>1</a:t>
                </a:r>
                <a:r>
                  <a:rPr lang="zh-CN" altLang="en-US" sz="2400" dirty="0">
                    <a:ea typeface="华文楷体" panose="02010600040101010101" pitchFamily="2" charset="-122"/>
                  </a:rPr>
                  <a:t>：给定带权有向图</a:t>
                </a:r>
                <a:r>
                  <a:rPr lang="en-US" altLang="zh-CN" sz="2400" dirty="0">
                    <a:ea typeface="华文楷体" panose="02010600040101010101" pitchFamily="2" charset="-122"/>
                  </a:rPr>
                  <a:t>G=(V,E)</a:t>
                </a:r>
                <a:r>
                  <a:rPr lang="zh-CN" altLang="en-US" sz="2400" dirty="0">
                    <a:ea typeface="华文楷体" panose="02010600040101010101" pitchFamily="2" charset="-122"/>
                  </a:rPr>
                  <a:t>和权重函数</a:t>
                </a:r>
                <a:r>
                  <a:rPr lang="en-US" altLang="zh-CN" sz="2400" dirty="0">
                    <a:ea typeface="华文楷体" panose="02010600040101010101" pitchFamily="2" charset="-122"/>
                  </a:rPr>
                  <a:t>w:</a:t>
                </a:r>
                <a14:m>
                  <m:oMath xmlns:m="http://schemas.openxmlformats.org/officeDocument/2006/math">
                    <m:r>
                      <a:rPr lang="en-US" altLang="zh-CN" sz="2400">
                        <a:latin typeface="Cambria Math" panose="02040503050406030204" pitchFamily="18" charset="0"/>
                        <a:ea typeface="华文楷体" panose="02010600040101010101" pitchFamily="2" charset="-122"/>
                      </a:rPr>
                      <m:t>𝐸</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𝑅</m:t>
                    </m:r>
                    <m:r>
                      <a:rPr lang="zh-CN" altLang="en-US" sz="2400">
                        <a:latin typeface="Cambria Math" panose="02040503050406030204" pitchFamily="18" charset="0"/>
                        <a:ea typeface="华文楷体" panose="02010600040101010101" pitchFamily="2" charset="-122"/>
                      </a:rPr>
                      <m:t>，</m:t>
                    </m:r>
                  </m:oMath>
                </a14:m>
                <a:r>
                  <a:rPr lang="zh-CN" altLang="en-US" sz="2400" dirty="0">
                    <a:ea typeface="华文楷体" panose="02010600040101010101" pitchFamily="2" charset="-122"/>
                  </a:rPr>
                  <a:t>假定图</a:t>
                </a:r>
                <a:r>
                  <a:rPr lang="en-US" altLang="zh-CN" sz="2400" dirty="0">
                    <a:ea typeface="华文楷体" panose="02010600040101010101" pitchFamily="2" charset="-122"/>
                  </a:rPr>
                  <a:t>G</a:t>
                </a:r>
                <a:r>
                  <a:rPr lang="zh-CN" altLang="en-US" sz="2400" dirty="0">
                    <a:ea typeface="华文楷体" panose="02010600040101010101" pitchFamily="2" charset="-122"/>
                  </a:rPr>
                  <a:t>不包含从源顶点</a:t>
                </a:r>
                <a:r>
                  <a:rPr lang="en-US" altLang="zh-CN" sz="2400" dirty="0">
                    <a:ea typeface="华文楷体" panose="02010600040101010101" pitchFamily="2" charset="-122"/>
                  </a:rPr>
                  <a:t>s</a:t>
                </a:r>
                <a:r>
                  <a:rPr lang="zh-CN" altLang="en-US" sz="2400" dirty="0">
                    <a:ea typeface="华文楷体" panose="02010600040101010101" pitchFamily="2" charset="-122"/>
                  </a:rPr>
                  <a:t>可达的权重为负的环路，则</a:t>
                </a:r>
                <a:r>
                  <a:rPr lang="en-US" altLang="zh-CN" sz="2400" dirty="0">
                    <a:ea typeface="华文楷体" panose="02010600040101010101" pitchFamily="2" charset="-122"/>
                  </a:rPr>
                  <a:t>Bellman-Ford</a:t>
                </a:r>
                <a:r>
                  <a:rPr lang="zh-CN" altLang="en-US" sz="2400" dirty="0" smtClean="0">
                    <a:ea typeface="华文楷体" panose="02010600040101010101" pitchFamily="2" charset="-122"/>
                  </a:rPr>
                  <a:t>算法第</a:t>
                </a:r>
                <a:r>
                  <a:rPr lang="en-US" altLang="zh-CN" sz="2400" dirty="0" smtClean="0">
                    <a:ea typeface="华文楷体" panose="02010600040101010101" pitchFamily="2" charset="-122"/>
                  </a:rPr>
                  <a:t>2-4</a:t>
                </a:r>
                <a:r>
                  <a:rPr lang="zh-CN" altLang="en-US" sz="2400" dirty="0" smtClean="0">
                    <a:ea typeface="华文楷体" panose="02010600040101010101" pitchFamily="2" charset="-122"/>
                  </a:rPr>
                  <a:t>行的双重</a:t>
                </a:r>
                <a:r>
                  <a:rPr lang="en-US" altLang="zh-CN" sz="2400" dirty="0" smtClean="0">
                    <a:ea typeface="华文楷体" panose="02010600040101010101" pitchFamily="2" charset="-122"/>
                  </a:rPr>
                  <a:t>for</a:t>
                </a:r>
                <a:r>
                  <a:rPr lang="zh-CN" altLang="en-US" sz="2400" dirty="0" smtClean="0">
                    <a:ea typeface="华文楷体" panose="02010600040101010101" pitchFamily="2" charset="-122"/>
                  </a:rPr>
                  <a:t>循环执行</a:t>
                </a:r>
                <a:r>
                  <a:rPr lang="en-US" altLang="zh-CN" sz="2400" dirty="0" smtClean="0">
                    <a:ea typeface="华文楷体" panose="02010600040101010101" pitchFamily="2" charset="-122"/>
                  </a:rPr>
                  <a:t>n-1</a:t>
                </a:r>
                <a:r>
                  <a:rPr lang="zh-CN" altLang="en-US" sz="2400" dirty="0" smtClean="0">
                    <a:ea typeface="华文楷体" panose="02010600040101010101" pitchFamily="2" charset="-122"/>
                  </a:rPr>
                  <a:t>次之后，对于所有源顶点</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可达的顶点</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，有</a:t>
                </a:r>
                <a:r>
                  <a:rPr lang="en-US" altLang="zh-CN" sz="2400" dirty="0">
                    <a:ea typeface="华文楷体" panose="02010600040101010101" pitchFamily="2" charset="-122"/>
                  </a:rPr>
                  <a:t>d[v]=</a:t>
                </a:r>
                <a14:m>
                  <m:oMath xmlns:m="http://schemas.openxmlformats.org/officeDocument/2006/math">
                    <m:r>
                      <a:rPr lang="zh-CN" altLang="en-US" sz="2400" i="1" smtClean="0">
                        <a:latin typeface="Cambria Math" panose="02040503050406030204" pitchFamily="18" charset="0"/>
                      </a:rPr>
                      <m:t>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𝑣</m:t>
                        </m:r>
                      </m:e>
                    </m:d>
                  </m:oMath>
                </a14:m>
                <a:r>
                  <a:rPr lang="zh-CN" altLang="en-US" sz="2400" dirty="0" smtClean="0">
                    <a:ea typeface="华文楷体" panose="02010600040101010101" pitchFamily="2" charset="-122"/>
                  </a:rPr>
                  <a:t>成立。</a:t>
                </a:r>
                <a:endParaRPr lang="en-US" altLang="zh-CN" sz="2400" dirty="0" smtClean="0">
                  <a:ea typeface="华文楷体" panose="02010600040101010101" pitchFamily="2" charset="-122"/>
                </a:endParaRPr>
              </a:p>
              <a:p>
                <a:pPr marL="0" indent="0">
                  <a:buNone/>
                </a:pPr>
                <a:r>
                  <a:rPr lang="zh-CN" altLang="en-US" sz="2400" dirty="0" smtClean="0">
                    <a:solidFill>
                      <a:srgbClr val="C00000"/>
                    </a:solidFill>
                    <a:ea typeface="华文楷体" panose="02010600040101010101" pitchFamily="2" charset="-122"/>
                  </a:rPr>
                  <a:t>定理</a:t>
                </a:r>
                <a:r>
                  <a:rPr lang="en-US" altLang="zh-CN" sz="2400" dirty="0" smtClean="0">
                    <a:solidFill>
                      <a:srgbClr val="C00000"/>
                    </a:solidFill>
                    <a:ea typeface="华文楷体" panose="02010600040101010101" pitchFamily="2" charset="-122"/>
                  </a:rPr>
                  <a:t>2</a:t>
                </a:r>
                <a:r>
                  <a:rPr lang="zh-CN" altLang="en-US" sz="2400" dirty="0" smtClean="0">
                    <a:ea typeface="华文楷体" panose="02010600040101010101" pitchFamily="2" charset="-122"/>
                  </a:rPr>
                  <a:t>：</a:t>
                </a:r>
                <a:r>
                  <a:rPr lang="zh-CN" altLang="en-US" sz="2400" dirty="0">
                    <a:ea typeface="华文楷体" panose="02010600040101010101" pitchFamily="2" charset="-122"/>
                  </a:rPr>
                  <a:t>给定带权有向图</a:t>
                </a:r>
                <a:r>
                  <a:rPr lang="en-US" altLang="zh-CN" sz="2400" dirty="0">
                    <a:ea typeface="华文楷体" panose="02010600040101010101" pitchFamily="2" charset="-122"/>
                  </a:rPr>
                  <a:t>G=(V,E)</a:t>
                </a:r>
                <a:r>
                  <a:rPr lang="zh-CN" altLang="en-US" sz="2400" dirty="0">
                    <a:ea typeface="华文楷体" panose="02010600040101010101" pitchFamily="2" charset="-122"/>
                  </a:rPr>
                  <a:t>和权重函数</a:t>
                </a:r>
                <a:r>
                  <a:rPr lang="en-US" altLang="zh-CN" sz="2400" dirty="0">
                    <a:ea typeface="华文楷体" panose="02010600040101010101" pitchFamily="2" charset="-122"/>
                  </a:rPr>
                  <a:t>w:</a:t>
                </a:r>
                <a14:m>
                  <m:oMath xmlns:m="http://schemas.openxmlformats.org/officeDocument/2006/math">
                    <m:r>
                      <a:rPr lang="en-US" altLang="zh-CN" sz="2400">
                        <a:latin typeface="Cambria Math" panose="02040503050406030204" pitchFamily="18" charset="0"/>
                        <a:ea typeface="华文楷体" panose="02010600040101010101" pitchFamily="2" charset="-122"/>
                      </a:rPr>
                      <m:t>𝐸</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𝑅</m:t>
                    </m:r>
                  </m:oMath>
                </a14:m>
                <a:r>
                  <a:rPr lang="zh-CN" altLang="en-US" sz="2400" dirty="0" smtClean="0">
                    <a:ea typeface="华文楷体" panose="02010600040101010101" pitchFamily="2" charset="-122"/>
                  </a:rPr>
                  <a:t>，</a:t>
                </a:r>
                <a:r>
                  <a:rPr lang="zh-CN" altLang="en-US" sz="2400" dirty="0">
                    <a:ea typeface="华文楷体" panose="02010600040101010101" pitchFamily="2" charset="-122"/>
                  </a:rPr>
                  <a:t>假定图</a:t>
                </a:r>
                <a:r>
                  <a:rPr lang="en-US" altLang="zh-CN" sz="2400" dirty="0">
                    <a:ea typeface="华文楷体" panose="02010600040101010101" pitchFamily="2" charset="-122"/>
                  </a:rPr>
                  <a:t>G</a:t>
                </a:r>
                <a:r>
                  <a:rPr lang="zh-CN" altLang="en-US" sz="2400" dirty="0">
                    <a:ea typeface="华文楷体" panose="02010600040101010101" pitchFamily="2" charset="-122"/>
                  </a:rPr>
                  <a:t>不包含从源顶点</a:t>
                </a:r>
                <a:r>
                  <a:rPr lang="en-US" altLang="zh-CN" sz="2400" dirty="0">
                    <a:ea typeface="华文楷体" panose="02010600040101010101" pitchFamily="2" charset="-122"/>
                  </a:rPr>
                  <a:t>s</a:t>
                </a:r>
                <a:r>
                  <a:rPr lang="zh-CN" altLang="en-US" sz="2400" dirty="0">
                    <a:ea typeface="华文楷体" panose="02010600040101010101" pitchFamily="2" charset="-122"/>
                  </a:rPr>
                  <a:t>可达的权重为负的环路，</a:t>
                </a:r>
                <a:r>
                  <a:rPr lang="zh-CN" altLang="en-US" sz="2400" dirty="0" smtClean="0">
                    <a:ea typeface="华文楷体" panose="02010600040101010101" pitchFamily="2" charset="-122"/>
                  </a:rPr>
                  <a:t>则对于任一顶点</a:t>
                </a:r>
                <a:r>
                  <a:rPr lang="en-US" altLang="zh-CN" sz="2400" dirty="0" smtClean="0">
                    <a:ea typeface="华文楷体" panose="02010600040101010101" pitchFamily="2" charset="-122"/>
                  </a:rPr>
                  <a:t>v</a:t>
                </a:r>
                <a:r>
                  <a:rPr lang="en-US" altLang="zh-CN" sz="2400" dirty="0" smtClean="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ea typeface="华文楷体" panose="02010600040101010101" pitchFamily="2" charset="-122"/>
                  </a:rPr>
                  <a:t>V</a:t>
                </a:r>
                <a:r>
                  <a:rPr lang="zh-CN" altLang="en-US" sz="2400" dirty="0">
                    <a:ea typeface="华文楷体" panose="02010600040101010101" pitchFamily="2" charset="-122"/>
                  </a:rPr>
                  <a:t>，</a:t>
                </a:r>
                <a:r>
                  <a:rPr lang="zh-CN" altLang="en-US" sz="2400" dirty="0" smtClean="0">
                    <a:ea typeface="华文楷体" panose="02010600040101010101" pitchFamily="2" charset="-122"/>
                  </a:rPr>
                  <a:t>存在一条从源顶点</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到</a:t>
                </a:r>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的路径，当且仅当</a:t>
                </a:r>
                <a:r>
                  <a:rPr lang="en-US" altLang="zh-CN" sz="2400" dirty="0">
                    <a:ea typeface="华文楷体" panose="02010600040101010101" pitchFamily="2" charset="-122"/>
                  </a:rPr>
                  <a:t>Bellman-Ford</a:t>
                </a:r>
                <a:r>
                  <a:rPr lang="zh-CN" altLang="en-US" sz="2400" dirty="0" smtClean="0">
                    <a:ea typeface="华文楷体" panose="02010600040101010101" pitchFamily="2" charset="-122"/>
                  </a:rPr>
                  <a:t>算法终止时</a:t>
                </a:r>
                <a:r>
                  <a:rPr lang="en-US" altLang="zh-CN" sz="2400" dirty="0">
                    <a:ea typeface="华文楷体" panose="02010600040101010101" pitchFamily="2" charset="-122"/>
                  </a:rPr>
                  <a:t>d[v</a:t>
                </a:r>
                <a:r>
                  <a:rPr lang="en-US" altLang="zh-CN" sz="2400" dirty="0" smtClean="0">
                    <a:ea typeface="华文楷体" panose="02010600040101010101" pitchFamily="2" charset="-122"/>
                  </a:rPr>
                  <a:t>]&lt;</a:t>
                </a:r>
                <a:r>
                  <a:rPr lang="en-US" altLang="zh-CN" sz="2400" dirty="0">
                    <a:ea typeface="Cambria Math" panose="02040503050406030204" pitchFamily="18" charset="0"/>
                  </a:rPr>
                  <a:t> </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m:t>
                    </m:r>
                    <m:r>
                      <a:rPr lang="zh-CN" altLang="en-US" sz="2400" i="1" dirty="0">
                        <a:latin typeface="Cambria Math" panose="02040503050406030204" pitchFamily="18" charset="0"/>
                        <a:ea typeface="Cambria Math" panose="02040503050406030204" pitchFamily="18" charset="0"/>
                      </a:rPr>
                      <m:t>。</m:t>
                    </m:r>
                  </m:oMath>
                </a14:m>
                <a:endParaRPr lang="en-US" altLang="zh-CN" sz="2400" dirty="0" smtClean="0">
                  <a:ea typeface="华文楷体" panose="02010600040101010101" pitchFamily="2" charset="-122"/>
                </a:endParaRPr>
              </a:p>
              <a:p>
                <a:pPr marL="0" indent="0">
                  <a:buNone/>
                </a:pPr>
                <a:r>
                  <a:rPr lang="zh-CN" altLang="en-US" sz="2400" dirty="0" smtClean="0">
                    <a:solidFill>
                      <a:srgbClr val="C00000"/>
                    </a:solidFill>
                    <a:ea typeface="华文楷体" panose="02010600040101010101" pitchFamily="2" charset="-122"/>
                  </a:rPr>
                  <a:t>定理</a:t>
                </a:r>
                <a:r>
                  <a:rPr lang="en-US" altLang="zh-CN" sz="2400" dirty="0" smtClean="0">
                    <a:solidFill>
                      <a:srgbClr val="C00000"/>
                    </a:solidFill>
                    <a:ea typeface="华文楷体" panose="02010600040101010101" pitchFamily="2" charset="-122"/>
                  </a:rPr>
                  <a:t>3</a:t>
                </a:r>
                <a:r>
                  <a:rPr lang="zh-CN" altLang="en-US" sz="2400" dirty="0" smtClean="0">
                    <a:ea typeface="华文楷体" panose="02010600040101010101" pitchFamily="2" charset="-122"/>
                  </a:rPr>
                  <a:t>：在给定</a:t>
                </a:r>
                <a:r>
                  <a:rPr lang="zh-CN" altLang="en-US" sz="2400" dirty="0">
                    <a:ea typeface="华文楷体" panose="02010600040101010101" pitchFamily="2" charset="-122"/>
                  </a:rPr>
                  <a:t>带权有向图</a:t>
                </a:r>
                <a:r>
                  <a:rPr lang="en-US" altLang="zh-CN" sz="2400" dirty="0">
                    <a:ea typeface="华文楷体" panose="02010600040101010101" pitchFamily="2" charset="-122"/>
                  </a:rPr>
                  <a:t>G=(V,E)</a:t>
                </a:r>
                <a:r>
                  <a:rPr lang="zh-CN" altLang="en-US" sz="2400" dirty="0">
                    <a:ea typeface="华文楷体" panose="02010600040101010101" pitchFamily="2" charset="-122"/>
                  </a:rPr>
                  <a:t>和权重函数</a:t>
                </a:r>
                <a:r>
                  <a:rPr lang="en-US" altLang="zh-CN" sz="2400" dirty="0">
                    <a:ea typeface="华文楷体" panose="02010600040101010101" pitchFamily="2" charset="-122"/>
                  </a:rPr>
                  <a:t>w:</a:t>
                </a:r>
                <a14:m>
                  <m:oMath xmlns:m="http://schemas.openxmlformats.org/officeDocument/2006/math">
                    <m:r>
                      <a:rPr lang="en-US" altLang="zh-CN" sz="2400">
                        <a:latin typeface="Cambria Math" panose="02040503050406030204" pitchFamily="18" charset="0"/>
                        <a:ea typeface="华文楷体" panose="02010600040101010101" pitchFamily="2" charset="-122"/>
                      </a:rPr>
                      <m:t>𝐸</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𝑅</m:t>
                    </m:r>
                  </m:oMath>
                </a14:m>
                <a:r>
                  <a:rPr lang="zh-CN" altLang="en-US" sz="2400" dirty="0" smtClean="0">
                    <a:ea typeface="华文楷体" panose="02010600040101010101" pitchFamily="2" charset="-122"/>
                  </a:rPr>
                  <a:t>上运行</a:t>
                </a:r>
                <a:r>
                  <a:rPr lang="en-US" altLang="zh-CN" sz="2400" dirty="0" smtClean="0">
                    <a:ea typeface="华文楷体" panose="02010600040101010101" pitchFamily="2" charset="-122"/>
                  </a:rPr>
                  <a:t>Bellman-Ford</a:t>
                </a:r>
                <a:r>
                  <a:rPr lang="zh-CN" altLang="en-US" sz="2400" dirty="0" smtClean="0">
                    <a:ea typeface="华文楷体" panose="02010600040101010101" pitchFamily="2" charset="-122"/>
                  </a:rPr>
                  <a:t>，</a:t>
                </a:r>
                <a:r>
                  <a:rPr lang="zh-CN" altLang="en-US" sz="2400" dirty="0">
                    <a:ea typeface="华文楷体" panose="02010600040101010101" pitchFamily="2" charset="-122"/>
                  </a:rPr>
                  <a:t>假定图</a:t>
                </a:r>
                <a:r>
                  <a:rPr lang="en-US" altLang="zh-CN" sz="2400" dirty="0">
                    <a:ea typeface="华文楷体" panose="02010600040101010101" pitchFamily="2" charset="-122"/>
                  </a:rPr>
                  <a:t>G</a:t>
                </a:r>
                <a:r>
                  <a:rPr lang="zh-CN" altLang="en-US" sz="2400" dirty="0">
                    <a:ea typeface="华文楷体" panose="02010600040101010101" pitchFamily="2" charset="-122"/>
                  </a:rPr>
                  <a:t>不包含从源顶点</a:t>
                </a:r>
                <a:r>
                  <a:rPr lang="en-US" altLang="zh-CN" sz="2400" dirty="0">
                    <a:ea typeface="华文楷体" panose="02010600040101010101" pitchFamily="2" charset="-122"/>
                  </a:rPr>
                  <a:t>s</a:t>
                </a:r>
                <a:r>
                  <a:rPr lang="zh-CN" altLang="en-US" sz="2400" dirty="0">
                    <a:ea typeface="华文楷体" panose="02010600040101010101" pitchFamily="2" charset="-122"/>
                  </a:rPr>
                  <a:t>可达的权重为负的环路</a:t>
                </a:r>
                <a:r>
                  <a:rPr lang="zh-CN" altLang="en-US" sz="2400" dirty="0" smtClean="0">
                    <a:ea typeface="华文楷体" panose="02010600040101010101" pitchFamily="2" charset="-122"/>
                  </a:rPr>
                  <a:t>，则算法将返回</a:t>
                </a:r>
                <a:r>
                  <a:rPr lang="en-US" altLang="zh-CN" sz="2400" dirty="0" smtClean="0">
                    <a:ea typeface="华文楷体" panose="02010600040101010101" pitchFamily="2" charset="-122"/>
                  </a:rPr>
                  <a:t>TRUE</a:t>
                </a:r>
                <a:r>
                  <a:rPr lang="zh-CN" altLang="en-US" sz="2400" dirty="0" smtClean="0">
                    <a:ea typeface="华文楷体" panose="02010600040101010101" pitchFamily="2" charset="-122"/>
                  </a:rPr>
                  <a:t>；且对于所有</a:t>
                </a:r>
                <a:r>
                  <a:rPr lang="en-US" altLang="zh-CN" sz="2400" dirty="0">
                    <a:ea typeface="华文楷体" panose="02010600040101010101" pitchFamily="2" charset="-122"/>
                  </a:rPr>
                  <a:t>v</a:t>
                </a:r>
                <a:r>
                  <a:rPr lang="en-US" altLang="zh-CN" sz="2400" dirty="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，前驱子图</a:t>
                </a:r>
                <a:r>
                  <a:rPr lang="en-US" altLang="zh-CN" sz="2400" dirty="0" err="1">
                    <a:ea typeface="华文楷体" panose="02010600040101010101" pitchFamily="2" charset="-122"/>
                  </a:rPr>
                  <a:t>G</a:t>
                </a:r>
                <a:r>
                  <a:rPr lang="en-US" altLang="zh-CN" sz="2400" baseline="-25000" dirty="0" err="1">
                    <a:ea typeface="华文楷体" panose="02010600040101010101" pitchFamily="2" charset="-122"/>
                  </a:rPr>
                  <a:t>p</a:t>
                </a:r>
                <a:r>
                  <a:rPr lang="zh-CN" altLang="en-US" sz="2400" dirty="0">
                    <a:ea typeface="华文楷体" panose="02010600040101010101" pitchFamily="2" charset="-122"/>
                  </a:rPr>
                  <a:t>是一颗根为源顶点</a:t>
                </a:r>
                <a:r>
                  <a:rPr lang="en-US" altLang="zh-CN" sz="2400" dirty="0">
                    <a:ea typeface="华文楷体" panose="02010600040101010101" pitchFamily="2" charset="-122"/>
                  </a:rPr>
                  <a:t>s</a:t>
                </a:r>
                <a:r>
                  <a:rPr lang="zh-CN" altLang="en-US" sz="2400" dirty="0">
                    <a:ea typeface="华文楷体" panose="02010600040101010101" pitchFamily="2" charset="-122"/>
                  </a:rPr>
                  <a:t>的最短路径树</a:t>
                </a:r>
                <a:r>
                  <a:rPr lang="zh-CN" altLang="en-US" sz="2400" dirty="0" smtClean="0">
                    <a:ea typeface="华文楷体" panose="02010600040101010101" pitchFamily="2" charset="-122"/>
                  </a:rPr>
                  <a:t>。如果图</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包含一条从源顶点</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可达的权重为负的环路，则算法返回</a:t>
                </a:r>
                <a:r>
                  <a:rPr lang="en-US" altLang="zh-CN" sz="2400" dirty="0" smtClean="0">
                    <a:ea typeface="华文楷体" panose="02010600040101010101" pitchFamily="2" charset="-122"/>
                  </a:rPr>
                  <a:t>FALSE</a:t>
                </a:r>
                <a:r>
                  <a:rPr lang="zh-CN" altLang="en-US"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None/>
                </a:pPr>
                <a:endParaRPr lang="zh-CN" altLang="en-US" sz="24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81000" y="1215099"/>
                <a:ext cx="8229600" cy="5414301"/>
              </a:xfrm>
              <a:blipFill rotWithShape="1">
                <a:blip r:embed="rId1"/>
                <a:stretch>
                  <a:fillRect l="-62" t="-88" r="-54" b="-7565"/>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04800" y="1089015"/>
            <a:ext cx="8229600" cy="5248275"/>
          </a:xfrm>
        </p:spPr>
        <p:txBody>
          <a:bodyPr/>
          <a:lstStyle/>
          <a:p>
            <a:pPr marL="0" indent="0">
              <a:buNone/>
            </a:pPr>
            <a:r>
              <a:rPr lang="en-US" altLang="zh-CN" sz="2000" b="1" dirty="0" smtClean="0">
                <a:solidFill>
                  <a:srgbClr val="C00000"/>
                </a:solidFill>
                <a:ea typeface="华文楷体" panose="02010600040101010101" pitchFamily="2" charset="-122"/>
              </a:rPr>
              <a:t>[</a:t>
            </a:r>
            <a:r>
              <a:rPr lang="en-US" altLang="zh-CN" sz="2000" b="1" dirty="0">
                <a:solidFill>
                  <a:srgbClr val="C00000"/>
                </a:solidFill>
                <a:ea typeface="华文楷体" panose="02010600040101010101" pitchFamily="2" charset="-122"/>
              </a:rPr>
              <a:t>DAG-Shortest-Path</a:t>
            </a:r>
            <a:r>
              <a:rPr lang="zh-CN" altLang="en-US" sz="2000" b="1" dirty="0">
                <a:solidFill>
                  <a:srgbClr val="C00000"/>
                </a:solidFill>
                <a:ea typeface="华文楷体" panose="02010600040101010101" pitchFamily="2" charset="-122"/>
              </a:rPr>
              <a:t>算法 </a:t>
            </a:r>
            <a:r>
              <a:rPr lang="en-US" altLang="zh-CN" sz="2000" b="1" dirty="0" smtClean="0">
                <a:solidFill>
                  <a:srgbClr val="C00000"/>
                </a:solidFill>
                <a:ea typeface="华文楷体" panose="02010600040101010101" pitchFamily="2" charset="-122"/>
              </a:rPr>
              <a:t>] </a:t>
            </a:r>
            <a:r>
              <a:rPr lang="zh-CN" altLang="en-US" sz="2000" dirty="0" smtClean="0">
                <a:solidFill>
                  <a:srgbClr val="C00000"/>
                </a:solidFill>
                <a:ea typeface="华文楷体" panose="02010600040101010101" pitchFamily="2" charset="-122"/>
              </a:rPr>
              <a:t>时间复杂度：</a:t>
            </a:r>
            <a:r>
              <a:rPr lang="en-US" altLang="zh-CN" sz="2000" dirty="0" smtClean="0">
                <a:solidFill>
                  <a:srgbClr val="C00000"/>
                </a:solidFill>
                <a:ea typeface="华文楷体" panose="02010600040101010101" pitchFamily="2" charset="-122"/>
              </a:rPr>
              <a:t>O(</a:t>
            </a:r>
            <a:r>
              <a:rPr lang="en-US" altLang="zh-CN" sz="2000" dirty="0" err="1" smtClean="0">
                <a:solidFill>
                  <a:srgbClr val="C00000"/>
                </a:solidFill>
                <a:ea typeface="华文楷体" panose="02010600040101010101" pitchFamily="2" charset="-122"/>
              </a:rPr>
              <a:t>n+e</a:t>
            </a:r>
            <a:r>
              <a:rPr lang="en-US" altLang="zh-CN" sz="2000" dirty="0" smtClean="0">
                <a:solidFill>
                  <a:srgbClr val="C00000"/>
                </a:solidFill>
                <a:ea typeface="华文楷体" panose="02010600040101010101" pitchFamily="2" charset="-122"/>
              </a:rPr>
              <a:t>)</a:t>
            </a:r>
            <a:endParaRPr lang="en-US" altLang="zh-CN" sz="2000" dirty="0">
              <a:solidFill>
                <a:srgbClr val="C00000"/>
              </a:solidFill>
              <a:ea typeface="华文楷体" panose="02010600040101010101" pitchFamily="2" charset="-122"/>
            </a:endParaRPr>
          </a:p>
          <a:p>
            <a:pPr marL="0" indent="0">
              <a:buNone/>
            </a:pPr>
            <a:r>
              <a:rPr lang="zh-CN" altLang="en-US" sz="2000" dirty="0" smtClean="0">
                <a:ea typeface="华文楷体" panose="02010600040101010101" pitchFamily="2" charset="-122"/>
              </a:rPr>
              <a:t>基本思想：按照</a:t>
            </a:r>
            <a:r>
              <a:rPr lang="zh-CN" altLang="en-US" sz="2000" b="1" dirty="0" smtClean="0">
                <a:solidFill>
                  <a:srgbClr val="C00000"/>
                </a:solidFill>
                <a:ea typeface="华文楷体" panose="02010600040101010101" pitchFamily="2" charset="-122"/>
              </a:rPr>
              <a:t>拓扑顺序</a:t>
            </a:r>
            <a:r>
              <a:rPr lang="zh-CN" altLang="en-US" sz="2000" dirty="0" smtClean="0">
                <a:ea typeface="华文楷体" panose="02010600040101010101" pitchFamily="2" charset="-122"/>
              </a:rPr>
              <a:t>对有向无环图</a:t>
            </a:r>
            <a:r>
              <a:rPr lang="en-US" altLang="zh-CN" sz="2000" dirty="0" smtClean="0">
                <a:ea typeface="华文楷体" panose="02010600040101010101" pitchFamily="2" charset="-122"/>
              </a:rPr>
              <a:t>G</a:t>
            </a:r>
            <a:r>
              <a:rPr lang="zh-CN" altLang="en-US" sz="2000" dirty="0" smtClean="0">
                <a:ea typeface="华文楷体" panose="02010600040101010101" pitchFamily="2" charset="-122"/>
              </a:rPr>
              <a:t>进行边的松弛操作。若</a:t>
            </a:r>
            <a:r>
              <a:rPr lang="en-US" altLang="zh-CN" sz="2000" dirty="0" smtClean="0">
                <a:ea typeface="华文楷体" panose="02010600040101010101" pitchFamily="2" charset="-122"/>
              </a:rPr>
              <a:t>&lt;</a:t>
            </a:r>
            <a:r>
              <a:rPr lang="en-US" altLang="zh-CN" sz="2000" dirty="0" err="1" smtClean="0">
                <a:ea typeface="华文楷体" panose="02010600040101010101" pitchFamily="2" charset="-122"/>
              </a:rPr>
              <a:t>u,v</a:t>
            </a:r>
            <a:r>
              <a:rPr lang="en-US" altLang="zh-CN" sz="2000" dirty="0" smtClean="0">
                <a:ea typeface="华文楷体" panose="02010600040101010101" pitchFamily="2" charset="-122"/>
              </a:rPr>
              <a:t>&gt;</a:t>
            </a:r>
            <a:r>
              <a:rPr lang="zh-CN" altLang="en-US" sz="2000" dirty="0" smtClean="0">
                <a:ea typeface="华文楷体" panose="02010600040101010101" pitchFamily="2" charset="-122"/>
              </a:rPr>
              <a:t>存在，则顶点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在拓扑序列中必位于顶点</a:t>
            </a:r>
            <a:r>
              <a:rPr lang="en-US" altLang="zh-CN" sz="2000" dirty="0" smtClean="0">
                <a:ea typeface="华文楷体" panose="02010600040101010101" pitchFamily="2" charset="-122"/>
              </a:rPr>
              <a:t>v</a:t>
            </a:r>
            <a:r>
              <a:rPr lang="zh-CN" altLang="en-US" sz="2000" dirty="0" smtClean="0">
                <a:ea typeface="华文楷体" panose="02010600040101010101" pitchFamily="2" charset="-122"/>
              </a:rPr>
              <a:t>之前，按拓扑序列顺序，每次对一个顶点的</a:t>
            </a:r>
            <a:r>
              <a:rPr lang="zh-CN" altLang="en-US" sz="2000" dirty="0" smtClean="0">
                <a:solidFill>
                  <a:srgbClr val="C00000"/>
                </a:solidFill>
                <a:ea typeface="华文楷体" panose="02010600040101010101" pitchFamily="2" charset="-122"/>
              </a:rPr>
              <a:t>出边</a:t>
            </a:r>
            <a:r>
              <a:rPr lang="zh-CN" altLang="en-US" sz="2000" dirty="0" smtClean="0">
                <a:ea typeface="华文楷体" panose="02010600040101010101" pitchFamily="2" charset="-122"/>
              </a:rPr>
              <a:t>进行松弛操作，这样每条边只需处理一次即可。</a:t>
            </a:r>
            <a:endParaRPr lang="en-US" altLang="zh-CN" sz="2000" dirty="0" smtClean="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mc:AlternateContent xmlns:mc="http://schemas.openxmlformats.org/markup-compatibility/2006">
        <mc:Choice xmlns:a14="http://schemas.microsoft.com/office/drawing/2010/main" Requires="a14">
          <p:sp>
            <p:nvSpPr>
              <p:cNvPr id="7" name="文本框 6"/>
              <p:cNvSpPr txBox="1"/>
              <p:nvPr/>
            </p:nvSpPr>
            <p:spPr>
              <a:xfrm>
                <a:off x="5918" y="2462147"/>
                <a:ext cx="4952999" cy="1815882"/>
              </a:xfrm>
              <a:prstGeom prst="rect">
                <a:avLst/>
              </a:prstGeom>
              <a:noFill/>
              <a:ln>
                <a:solidFill>
                  <a:schemeClr val="accent1"/>
                </a:solidFill>
              </a:ln>
            </p:spPr>
            <p:txBody>
              <a:bodyPr wrap="square" rtlCol="0">
                <a:spAutoFit/>
              </a:bodyPr>
              <a:lstStyle/>
              <a:p>
                <a:r>
                  <a:rPr lang="en-US" altLang="zh-CN" sz="1400" dirty="0">
                    <a:latin typeface="Times New Roman" panose="02020603050405020304" pitchFamily="18" charset="0"/>
                    <a:ea typeface="华文楷体" panose="02010600040101010101" pitchFamily="2" charset="-122"/>
                  </a:rPr>
                  <a:t>DAG-Shortest-Path(Graph G, function w, </a:t>
                </a:r>
                <a:r>
                  <a:rPr lang="en-US" altLang="zh-CN" sz="1400" dirty="0" err="1">
                    <a:latin typeface="Times New Roman" panose="02020603050405020304" pitchFamily="18" charset="0"/>
                    <a:ea typeface="华文楷体" panose="02010600040101010101" pitchFamily="2" charset="-122"/>
                  </a:rPr>
                  <a:t>int</a:t>
                </a:r>
                <a:r>
                  <a:rPr lang="en-US" altLang="zh-CN" sz="1400" dirty="0">
                    <a:latin typeface="Times New Roman" panose="02020603050405020304" pitchFamily="18" charset="0"/>
                    <a:ea typeface="华文楷体" panose="02010600040101010101" pitchFamily="2" charset="-122"/>
                  </a:rPr>
                  <a:t> s)</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a:t>
                </a:r>
                <a:r>
                  <a:rPr lang="en-US" altLang="zh-CN" sz="1400" dirty="0" err="1">
                    <a:latin typeface="Times New Roman" panose="02020603050405020304" pitchFamily="18" charset="0"/>
                    <a:ea typeface="华文楷体" panose="02010600040101010101" pitchFamily="2" charset="-122"/>
                  </a:rPr>
                  <a:t>Topologicsort</a:t>
                </a:r>
                <a:r>
                  <a:rPr lang="en-US" altLang="zh-CN" sz="1400" dirty="0">
                    <a:latin typeface="Times New Roman" panose="02020603050405020304" pitchFamily="18" charset="0"/>
                    <a:ea typeface="华文楷体" panose="02010600040101010101" pitchFamily="2" charset="-122"/>
                  </a:rPr>
                  <a:t>(G);//</a:t>
                </a:r>
                <a:r>
                  <a:rPr lang="zh-CN" altLang="en-US" sz="1400" dirty="0">
                    <a:latin typeface="Times New Roman" panose="02020603050405020304" pitchFamily="18" charset="0"/>
                    <a:ea typeface="华文楷体" panose="02010600040101010101" pitchFamily="2" charset="-122"/>
                  </a:rPr>
                  <a:t>对顶点进行拓扑排序</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Initialize-Single-Source(G, s); </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for (each </a:t>
                </a:r>
                <a:r>
                  <a:rPr lang="en-US" altLang="zh-CN" sz="1400" dirty="0" smtClean="0">
                    <a:latin typeface="Times New Roman" panose="02020603050405020304" pitchFamily="18" charset="0"/>
                    <a:ea typeface="华文楷体" panose="02010600040101010101" pitchFamily="2" charset="-122"/>
                  </a:rPr>
                  <a:t>u </a:t>
                </a:r>
                <a14:m>
                  <m:oMath xmlns:m="http://schemas.openxmlformats.org/officeDocument/2006/math">
                    <m:r>
                      <a:rPr lang="en-US" altLang="zh-CN" sz="1400">
                        <a:latin typeface="Cambria Math" panose="02040503050406030204" pitchFamily="18" charset="0"/>
                        <a:ea typeface="华文楷体" panose="02010600040101010101" pitchFamily="2" charset="-122"/>
                      </a:rPr>
                      <m:t>∈</m:t>
                    </m:r>
                  </m:oMath>
                </a14:m>
                <a:r>
                  <a:rPr lang="en-US" altLang="zh-CN" sz="1400" dirty="0">
                    <a:latin typeface="Times New Roman" panose="02020603050405020304" pitchFamily="18" charset="0"/>
                    <a:ea typeface="华文楷体" panose="02010600040101010101" pitchFamily="2" charset="-122"/>
                  </a:rPr>
                  <a:t>V </a:t>
                </a:r>
                <a:r>
                  <a:rPr lang="en-US" altLang="zh-CN" sz="1400" dirty="0" err="1">
                    <a:latin typeface="Times New Roman" panose="02020603050405020304" pitchFamily="18" charset="0"/>
                    <a:ea typeface="华文楷体" panose="02010600040101010101" pitchFamily="2" charset="-122"/>
                  </a:rPr>
                  <a:t>taked</a:t>
                </a:r>
                <a:r>
                  <a:rPr lang="en-US" altLang="zh-CN" sz="1400" dirty="0">
                    <a:latin typeface="Times New Roman" panose="02020603050405020304" pitchFamily="18" charset="0"/>
                    <a:ea typeface="华文楷体" panose="02010600040101010101" pitchFamily="2" charset="-122"/>
                  </a:rPr>
                  <a:t>  by </a:t>
                </a:r>
                <a:r>
                  <a:rPr lang="en-US" altLang="zh-CN" sz="1400" dirty="0" err="1">
                    <a:latin typeface="Times New Roman" panose="02020603050405020304" pitchFamily="18" charset="0"/>
                    <a:ea typeface="华文楷体" panose="02010600040101010101" pitchFamily="2" charset="-122"/>
                  </a:rPr>
                  <a:t>Topologicsort</a:t>
                </a:r>
                <a:r>
                  <a:rPr lang="en-US" altLang="zh-CN" sz="1400" dirty="0" smtClean="0">
                    <a:latin typeface="Times New Roman" panose="02020603050405020304" pitchFamily="18" charset="0"/>
                    <a:ea typeface="华文楷体" panose="02010600040101010101" pitchFamily="2" charset="-122"/>
                  </a:rPr>
                  <a:t>)//u</a:t>
                </a:r>
                <a:r>
                  <a:rPr lang="zh-CN" altLang="en-US" sz="1400" dirty="0" smtClean="0">
                    <a:latin typeface="Times New Roman" panose="02020603050405020304" pitchFamily="18" charset="0"/>
                    <a:ea typeface="华文楷体" panose="02010600040101010101" pitchFamily="2" charset="-122"/>
                  </a:rPr>
                  <a:t>按</a:t>
                </a:r>
                <a:r>
                  <a:rPr lang="zh-CN" altLang="en-US" sz="1400" dirty="0">
                    <a:latin typeface="Times New Roman" panose="02020603050405020304" pitchFamily="18" charset="0"/>
                    <a:ea typeface="华文楷体" panose="02010600040101010101" pitchFamily="2" charset="-122"/>
                  </a:rPr>
                  <a:t>拓扑顺序</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for (each &lt;</a:t>
                </a:r>
                <a:r>
                  <a:rPr lang="en-US" altLang="zh-CN" sz="1400" dirty="0" err="1">
                    <a:latin typeface="Times New Roman" panose="02020603050405020304" pitchFamily="18" charset="0"/>
                    <a:ea typeface="华文楷体" panose="02010600040101010101" pitchFamily="2" charset="-122"/>
                  </a:rPr>
                  <a:t>u,v</a:t>
                </a:r>
                <a:r>
                  <a:rPr lang="en-US" altLang="zh-CN" sz="1400" dirty="0">
                    <a:latin typeface="Times New Roman" panose="02020603050405020304" pitchFamily="18" charset="0"/>
                    <a:ea typeface="华文楷体" panose="02010600040101010101" pitchFamily="2" charset="-122"/>
                  </a:rPr>
                  <a:t>&gt; </a:t>
                </a:r>
                <a14:m>
                  <m:oMath xmlns:m="http://schemas.openxmlformats.org/officeDocument/2006/math">
                    <m:r>
                      <a:rPr lang="en-US" altLang="zh-CN" sz="1400">
                        <a:latin typeface="Cambria Math" panose="02040503050406030204" pitchFamily="18" charset="0"/>
                        <a:ea typeface="华文楷体" panose="02010600040101010101" pitchFamily="2" charset="-122"/>
                      </a:rPr>
                      <m:t>∈</m:t>
                    </m:r>
                  </m:oMath>
                </a14:m>
                <a:r>
                  <a:rPr lang="en-US" altLang="zh-CN" sz="1400" dirty="0">
                    <a:latin typeface="Times New Roman" panose="02020603050405020304" pitchFamily="18" charset="0"/>
                    <a:ea typeface="华文楷体" panose="02010600040101010101" pitchFamily="2" charset="-122"/>
                  </a:rPr>
                  <a:t>E) </a:t>
                </a:r>
                <a:r>
                  <a:rPr lang="en-US" altLang="zh-CN" sz="1400" dirty="0" smtClean="0">
                    <a:latin typeface="Times New Roman" panose="02020603050405020304" pitchFamily="18" charset="0"/>
                    <a:ea typeface="华文楷体" panose="02010600040101010101" pitchFamily="2" charset="-122"/>
                  </a:rPr>
                  <a:t>//v</a:t>
                </a:r>
                <a:r>
                  <a:rPr lang="zh-CN" altLang="en-US" sz="1400" dirty="0" smtClean="0">
                    <a:latin typeface="Times New Roman" panose="02020603050405020304" pitchFamily="18" charset="0"/>
                    <a:ea typeface="华文楷体" panose="02010600040101010101" pitchFamily="2" charset="-122"/>
                  </a:rPr>
                  <a:t>是</a:t>
                </a:r>
                <a:r>
                  <a:rPr lang="en-US" altLang="zh-CN" sz="1400" dirty="0" smtClean="0">
                    <a:latin typeface="Times New Roman" panose="02020603050405020304" pitchFamily="18" charset="0"/>
                    <a:ea typeface="华文楷体" panose="02010600040101010101" pitchFamily="2" charset="-122"/>
                  </a:rPr>
                  <a:t>u</a:t>
                </a:r>
                <a:r>
                  <a:rPr lang="zh-CN" altLang="en-US" sz="1400" dirty="0" smtClean="0">
                    <a:latin typeface="Times New Roman" panose="02020603050405020304" pitchFamily="18" charset="0"/>
                    <a:ea typeface="华文楷体" panose="02010600040101010101" pitchFamily="2" charset="-122"/>
                  </a:rPr>
                  <a:t>的</a:t>
                </a:r>
                <a:r>
                  <a:rPr lang="zh-CN" altLang="en-US" sz="1400" dirty="0">
                    <a:latin typeface="Times New Roman" panose="02020603050405020304" pitchFamily="18" charset="0"/>
                    <a:ea typeface="华文楷体" panose="02010600040101010101" pitchFamily="2" charset="-122"/>
                  </a:rPr>
                  <a:t>邻接顶点</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            relax(</a:t>
                </a:r>
                <a:r>
                  <a:rPr lang="en-US" altLang="zh-CN" sz="1400" dirty="0" err="1">
                    <a:latin typeface="Times New Roman" panose="02020603050405020304" pitchFamily="18" charset="0"/>
                    <a:ea typeface="华文楷体" panose="02010600040101010101" pitchFamily="2" charset="-122"/>
                  </a:rPr>
                  <a:t>u,v,w</a:t>
                </a:r>
                <a:r>
                  <a:rPr lang="en-US" altLang="zh-CN" sz="1400" dirty="0">
                    <a:latin typeface="Times New Roman" panose="02020603050405020304" pitchFamily="18" charset="0"/>
                    <a:ea typeface="华文楷体" panose="02010600040101010101" pitchFamily="2" charset="-122"/>
                  </a:rPr>
                  <a:t>(</a:t>
                </a:r>
                <a:r>
                  <a:rPr lang="en-US" altLang="zh-CN" sz="1400" dirty="0" err="1">
                    <a:latin typeface="Times New Roman" panose="02020603050405020304" pitchFamily="18" charset="0"/>
                    <a:ea typeface="华文楷体" panose="02010600040101010101" pitchFamily="2" charset="-122"/>
                  </a:rPr>
                  <a:t>u,v</a:t>
                </a:r>
                <a:r>
                  <a:rPr lang="en-US" altLang="zh-CN" sz="1400" dirty="0">
                    <a:latin typeface="Times New Roman" panose="02020603050405020304" pitchFamily="18" charset="0"/>
                    <a:ea typeface="华文楷体" panose="02010600040101010101" pitchFamily="2" charset="-122"/>
                  </a:rPr>
                  <a:t>));</a:t>
                </a:r>
                <a:endParaRPr lang="en-US" altLang="zh-CN" sz="1400" dirty="0">
                  <a:latin typeface="Times New Roman" panose="02020603050405020304" pitchFamily="18" charset="0"/>
                  <a:ea typeface="华文楷体" panose="02010600040101010101" pitchFamily="2" charset="-122"/>
                </a:endParaRPr>
              </a:p>
              <a:p>
                <a:r>
                  <a:rPr lang="en-US" altLang="zh-CN" sz="1400" dirty="0">
                    <a:latin typeface="Times New Roman" panose="02020603050405020304" pitchFamily="18" charset="0"/>
                    <a:ea typeface="华文楷体" panose="02010600040101010101" pitchFamily="2" charset="-122"/>
                  </a:rPr>
                  <a:t>}</a:t>
                </a:r>
                <a:endParaRPr lang="zh-CN" altLang="en-US" sz="1400" dirty="0">
                  <a:latin typeface="Times New Roman" panose="02020603050405020304" pitchFamily="18" charset="0"/>
                  <a:ea typeface="华文楷体" panose="0201060004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5918" y="2462147"/>
                <a:ext cx="4952999" cy="1815882"/>
              </a:xfrm>
              <a:prstGeom prst="rect">
                <a:avLst/>
              </a:prstGeom>
              <a:blipFill rotWithShape="1">
                <a:blip r:embed="rId1"/>
                <a:stretch>
                  <a:fillRect l="-107" t="-294" r="-86" b="-243"/>
                </a:stretch>
              </a:blipFill>
              <a:ln>
                <a:solidFill>
                  <a:schemeClr val="accent1"/>
                </a:solidFill>
              </a:ln>
            </p:spPr>
            <p:txBody>
              <a:bodyPr/>
              <a:lstStyle/>
              <a:p>
                <a:r>
                  <a:rPr lang="zh-CN" altLang="en-US">
                    <a:noFill/>
                  </a:rPr>
                  <a:t> </a:t>
                </a:r>
              </a:p>
            </p:txBody>
          </p:sp>
        </mc:Fallback>
      </mc:AlternateContent>
      <p:pic>
        <p:nvPicPr>
          <p:cNvPr id="9" name="图片 8"/>
          <p:cNvPicPr>
            <a:picLocks noChangeAspect="1"/>
          </p:cNvPicPr>
          <p:nvPr/>
        </p:nvPicPr>
        <p:blipFill>
          <a:blip r:embed="rId2"/>
          <a:stretch>
            <a:fillRect/>
          </a:stretch>
        </p:blipFill>
        <p:spPr>
          <a:xfrm>
            <a:off x="78590" y="4363754"/>
            <a:ext cx="2316892" cy="1180810"/>
          </a:xfrm>
          <a:prstGeom prst="rect">
            <a:avLst/>
          </a:prstGeom>
        </p:spPr>
      </p:pic>
      <p:pic>
        <p:nvPicPr>
          <p:cNvPr id="10" name="图片 9"/>
          <p:cNvPicPr>
            <a:picLocks noChangeAspect="1"/>
          </p:cNvPicPr>
          <p:nvPr/>
        </p:nvPicPr>
        <p:blipFill>
          <a:blip r:embed="rId3"/>
          <a:stretch>
            <a:fillRect/>
          </a:stretch>
        </p:blipFill>
        <p:spPr>
          <a:xfrm>
            <a:off x="78590" y="5535980"/>
            <a:ext cx="2362200" cy="1203901"/>
          </a:xfrm>
          <a:prstGeom prst="rect">
            <a:avLst/>
          </a:prstGeom>
        </p:spPr>
      </p:pic>
      <p:pic>
        <p:nvPicPr>
          <p:cNvPr id="11" name="图片 10"/>
          <p:cNvPicPr>
            <a:picLocks noChangeAspect="1"/>
          </p:cNvPicPr>
          <p:nvPr/>
        </p:nvPicPr>
        <p:blipFill>
          <a:blip r:embed="rId4"/>
          <a:stretch>
            <a:fillRect/>
          </a:stretch>
        </p:blipFill>
        <p:spPr>
          <a:xfrm>
            <a:off x="2543171" y="4278029"/>
            <a:ext cx="2438400" cy="1242737"/>
          </a:xfrm>
          <a:prstGeom prst="rect">
            <a:avLst/>
          </a:prstGeom>
        </p:spPr>
      </p:pic>
      <p:cxnSp>
        <p:nvCxnSpPr>
          <p:cNvPr id="14" name="直接连接符 13"/>
          <p:cNvCxnSpPr>
            <a:stCxn id="7" idx="2"/>
          </p:cNvCxnSpPr>
          <p:nvPr/>
        </p:nvCxnSpPr>
        <p:spPr>
          <a:xfrm flipH="1">
            <a:off x="2482417" y="4278029"/>
            <a:ext cx="1" cy="259140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直接连接符 15"/>
          <p:cNvCxnSpPr/>
          <p:nvPr/>
        </p:nvCxnSpPr>
        <p:spPr>
          <a:xfrm>
            <a:off x="0" y="5520766"/>
            <a:ext cx="4958917"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7" name="图片 16"/>
          <p:cNvPicPr>
            <a:picLocks noChangeAspect="1"/>
          </p:cNvPicPr>
          <p:nvPr/>
        </p:nvPicPr>
        <p:blipFill>
          <a:blip r:embed="rId5"/>
          <a:stretch>
            <a:fillRect/>
          </a:stretch>
        </p:blipFill>
        <p:spPr>
          <a:xfrm>
            <a:off x="2524045" y="5460069"/>
            <a:ext cx="2457526" cy="1279659"/>
          </a:xfrm>
          <a:prstGeom prst="rect">
            <a:avLst/>
          </a:prstGeom>
        </p:spPr>
      </p:pic>
      <p:pic>
        <p:nvPicPr>
          <p:cNvPr id="19" name="图片 18"/>
          <p:cNvPicPr>
            <a:picLocks noChangeAspect="1"/>
          </p:cNvPicPr>
          <p:nvPr/>
        </p:nvPicPr>
        <p:blipFill>
          <a:blip r:embed="rId6"/>
          <a:stretch>
            <a:fillRect/>
          </a:stretch>
        </p:blipFill>
        <p:spPr>
          <a:xfrm>
            <a:off x="5462891" y="2360185"/>
            <a:ext cx="2487758" cy="1295400"/>
          </a:xfrm>
          <a:prstGeom prst="rect">
            <a:avLst/>
          </a:prstGeom>
        </p:spPr>
      </p:pic>
      <p:cxnSp>
        <p:nvCxnSpPr>
          <p:cNvPr id="25" name="直接连接符 24"/>
          <p:cNvCxnSpPr/>
          <p:nvPr/>
        </p:nvCxnSpPr>
        <p:spPr>
          <a:xfrm>
            <a:off x="4958917" y="4278029"/>
            <a:ext cx="0" cy="257997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7" name="图片 26"/>
          <p:cNvPicPr>
            <a:picLocks noChangeAspect="1"/>
          </p:cNvPicPr>
          <p:nvPr/>
        </p:nvPicPr>
        <p:blipFill>
          <a:blip r:embed="rId7"/>
          <a:stretch>
            <a:fillRect/>
          </a:stretch>
        </p:blipFill>
        <p:spPr>
          <a:xfrm>
            <a:off x="5462891" y="3609949"/>
            <a:ext cx="2519677" cy="1312021"/>
          </a:xfrm>
          <a:prstGeom prst="rect">
            <a:avLst/>
          </a:prstGeom>
        </p:spPr>
      </p:pic>
      <p:pic>
        <p:nvPicPr>
          <p:cNvPr id="29" name="图片 28"/>
          <p:cNvPicPr>
            <a:picLocks noChangeAspect="1"/>
          </p:cNvPicPr>
          <p:nvPr/>
        </p:nvPicPr>
        <p:blipFill>
          <a:blip r:embed="rId8"/>
          <a:stretch>
            <a:fillRect/>
          </a:stretch>
        </p:blipFill>
        <p:spPr>
          <a:xfrm>
            <a:off x="5466589" y="4835544"/>
            <a:ext cx="2566988" cy="1336656"/>
          </a:xfrm>
          <a:prstGeom prst="rect">
            <a:avLst/>
          </a:prstGeom>
        </p:spPr>
      </p:pic>
      <p:cxnSp>
        <p:nvCxnSpPr>
          <p:cNvPr id="31" name="直接连接符 30"/>
          <p:cNvCxnSpPr/>
          <p:nvPr/>
        </p:nvCxnSpPr>
        <p:spPr>
          <a:xfrm>
            <a:off x="4958917" y="3592016"/>
            <a:ext cx="4185083" cy="272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接连接符 34"/>
          <p:cNvCxnSpPr>
            <a:stCxn id="11" idx="3"/>
          </p:cNvCxnSpPr>
          <p:nvPr/>
        </p:nvCxnSpPr>
        <p:spPr>
          <a:xfrm flipV="1">
            <a:off x="4981571" y="4880203"/>
            <a:ext cx="4162429" cy="1919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文本框 35"/>
          <p:cNvSpPr txBox="1"/>
          <p:nvPr/>
        </p:nvSpPr>
        <p:spPr>
          <a:xfrm>
            <a:off x="5023198" y="6113780"/>
            <a:ext cx="4032682" cy="738664"/>
          </a:xfrm>
          <a:prstGeom prst="rect">
            <a:avLst/>
          </a:prstGeom>
          <a:noFill/>
          <a:ln>
            <a:solidFill>
              <a:schemeClr val="accent1"/>
            </a:solidFill>
          </a:ln>
        </p:spPr>
        <p:txBody>
          <a:bodyPr wrap="square" rtlCol="0">
            <a:spAutoFit/>
          </a:bodyPr>
          <a:lstStyle/>
          <a:p>
            <a:r>
              <a:rPr lang="zh-CN" altLang="en-US" sz="1400" dirty="0" smtClean="0">
                <a:latin typeface="Times New Roman" panose="02020603050405020304" pitchFamily="18" charset="0"/>
                <a:ea typeface="华文楷体" panose="02010600040101010101" pitchFamily="2" charset="-122"/>
              </a:rPr>
              <a:t>源顶点</a:t>
            </a:r>
            <a:r>
              <a:rPr lang="en-US" altLang="zh-CN" sz="1400" dirty="0" smtClean="0">
                <a:latin typeface="Times New Roman" panose="02020603050405020304" pitchFamily="18" charset="0"/>
                <a:ea typeface="华文楷体" panose="02010600040101010101" pitchFamily="2" charset="-122"/>
              </a:rPr>
              <a:t>s</a:t>
            </a:r>
            <a:r>
              <a:rPr lang="zh-CN" altLang="en-US" sz="1400" dirty="0" smtClean="0">
                <a:latin typeface="Times New Roman" panose="02020603050405020304" pitchFamily="18" charset="0"/>
                <a:ea typeface="华文楷体" panose="02010600040101010101" pitchFamily="2" charset="-122"/>
              </a:rPr>
              <a:t>；顶点排列从左→右按拓扑顺序；</a:t>
            </a:r>
            <a:r>
              <a:rPr lang="en-US" altLang="zh-CN" sz="1400" dirty="0" smtClean="0">
                <a:latin typeface="Times New Roman" panose="02020603050405020304" pitchFamily="18" charset="0"/>
                <a:ea typeface="华文楷体" panose="02010600040101010101" pitchFamily="2" charset="-122"/>
              </a:rPr>
              <a:t>(a)for</a:t>
            </a:r>
            <a:r>
              <a:rPr lang="zh-CN" altLang="en-US" sz="1400" dirty="0" smtClean="0">
                <a:latin typeface="Times New Roman" panose="02020603050405020304" pitchFamily="18" charset="0"/>
                <a:ea typeface="华文楷体" panose="02010600040101010101" pitchFamily="2" charset="-122"/>
              </a:rPr>
              <a:t>循环开始前的场景；</a:t>
            </a:r>
            <a:r>
              <a:rPr lang="en-US" altLang="zh-CN" sz="1400" dirty="0" smtClean="0">
                <a:latin typeface="Times New Roman" panose="02020603050405020304" pitchFamily="18" charset="0"/>
                <a:ea typeface="华文楷体" panose="02010600040101010101" pitchFamily="2" charset="-122"/>
              </a:rPr>
              <a:t>(b-e)</a:t>
            </a:r>
            <a:r>
              <a:rPr lang="zh-CN" altLang="en-US" sz="1400" dirty="0" smtClean="0">
                <a:latin typeface="Times New Roman" panose="02020603050405020304" pitchFamily="18" charset="0"/>
                <a:ea typeface="华文楷体" panose="02010600040101010101" pitchFamily="2" charset="-122"/>
              </a:rPr>
              <a:t>每轮</a:t>
            </a:r>
            <a:r>
              <a:rPr lang="en-US" altLang="zh-CN" sz="1400" dirty="0" smtClean="0">
                <a:latin typeface="Times New Roman" panose="02020603050405020304" pitchFamily="18" charset="0"/>
                <a:ea typeface="华文楷体" panose="02010600040101010101" pitchFamily="2" charset="-122"/>
              </a:rPr>
              <a:t>for</a:t>
            </a:r>
            <a:r>
              <a:rPr lang="zh-CN" altLang="en-US" sz="1400" dirty="0" smtClean="0">
                <a:latin typeface="Times New Roman" panose="02020603050405020304" pitchFamily="18" charset="0"/>
                <a:ea typeface="华文楷体" panose="02010600040101010101" pitchFamily="2" charset="-122"/>
              </a:rPr>
              <a:t>循环后的场景；</a:t>
            </a:r>
            <a:r>
              <a:rPr lang="en-US" altLang="zh-CN" sz="1400" dirty="0" smtClean="0">
                <a:latin typeface="Times New Roman" panose="02020603050405020304" pitchFamily="18" charset="0"/>
                <a:ea typeface="华文楷体" panose="02010600040101010101" pitchFamily="2" charset="-122"/>
              </a:rPr>
              <a:t>(g)</a:t>
            </a:r>
            <a:r>
              <a:rPr lang="zh-CN" altLang="en-US" sz="1400" dirty="0" smtClean="0">
                <a:latin typeface="Times New Roman" panose="02020603050405020304" pitchFamily="18" charset="0"/>
                <a:ea typeface="华文楷体" panose="02010600040101010101" pitchFamily="2" charset="-122"/>
              </a:rPr>
              <a:t>最终场景。</a:t>
            </a:r>
            <a:endParaRPr lang="zh-CN" altLang="en-US" sz="1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ln>
                <a:solidFill>
                  <a:schemeClr val="accent1"/>
                </a:solidFill>
              </a:ln>
            </p:spPr>
            <p:txBody>
              <a:bodyPr/>
              <a:lstStyle/>
              <a:p>
                <a:pPr marL="0" indent="0">
                  <a:buNone/>
                </a:pPr>
                <a:r>
                  <a:rPr lang="en-US" altLang="zh-CN" sz="2400" dirty="0" smtClean="0">
                    <a:solidFill>
                      <a:srgbClr val="C00000"/>
                    </a:solidFill>
                    <a:ea typeface="华文楷体" panose="02010600040101010101" pitchFamily="2" charset="-122"/>
                  </a:rPr>
                  <a:t>[</a:t>
                </a:r>
                <a:r>
                  <a:rPr lang="en-US" altLang="zh-CN" sz="2400" dirty="0">
                    <a:solidFill>
                      <a:srgbClr val="C00000"/>
                    </a:solidFill>
                    <a:ea typeface="华文楷体" panose="02010600040101010101" pitchFamily="2" charset="-122"/>
                  </a:rPr>
                  <a:t>DAG-Shortest-Path</a:t>
                </a:r>
                <a:r>
                  <a:rPr lang="zh-CN" altLang="en-US" sz="2400" dirty="0" smtClean="0">
                    <a:solidFill>
                      <a:srgbClr val="C00000"/>
                    </a:solidFill>
                    <a:ea typeface="华文楷体" panose="02010600040101010101" pitchFamily="2" charset="-122"/>
                  </a:rPr>
                  <a:t>算法</a:t>
                </a:r>
                <a:r>
                  <a:rPr lang="zh-CN" altLang="en-US" sz="2400" dirty="0">
                    <a:solidFill>
                      <a:srgbClr val="C00000"/>
                    </a:solidFill>
                    <a:ea typeface="华文楷体" panose="02010600040101010101" pitchFamily="2" charset="-122"/>
                  </a:rPr>
                  <a:t>结论</a:t>
                </a:r>
                <a:r>
                  <a:rPr lang="en-US" altLang="zh-CN" sz="2400" dirty="0">
                    <a:solidFill>
                      <a:srgbClr val="C00000"/>
                    </a:solidFill>
                    <a:ea typeface="华文楷体" panose="02010600040101010101" pitchFamily="2" charset="-122"/>
                  </a:rPr>
                  <a:t>]</a:t>
                </a:r>
                <a:endParaRPr lang="en-US" altLang="zh-CN" sz="2400" dirty="0">
                  <a:solidFill>
                    <a:srgbClr val="C00000"/>
                  </a:solidFill>
                  <a:ea typeface="华文楷体" panose="02010600040101010101" pitchFamily="2" charset="-122"/>
                </a:endParaRPr>
              </a:p>
              <a:p>
                <a:pPr marL="0" indent="0">
                  <a:buNone/>
                </a:pPr>
                <a:r>
                  <a:rPr lang="zh-CN" altLang="en-US" sz="2400" dirty="0">
                    <a:solidFill>
                      <a:srgbClr val="C00000"/>
                    </a:solidFill>
                    <a:ea typeface="华文楷体" panose="02010600040101010101" pitchFamily="2" charset="-122"/>
                  </a:rPr>
                  <a:t>定理</a:t>
                </a:r>
                <a:r>
                  <a:rPr lang="en-US" altLang="zh-CN" sz="2400" dirty="0">
                    <a:solidFill>
                      <a:srgbClr val="C00000"/>
                    </a:solidFill>
                    <a:ea typeface="华文楷体" panose="02010600040101010101" pitchFamily="2" charset="-122"/>
                  </a:rPr>
                  <a:t>1</a:t>
                </a:r>
                <a:r>
                  <a:rPr lang="zh-CN" altLang="en-US" sz="2400" dirty="0">
                    <a:ea typeface="华文楷体" panose="02010600040101010101" pitchFamily="2" charset="-122"/>
                  </a:rPr>
                  <a:t>：给定带权</a:t>
                </a:r>
                <a:r>
                  <a:rPr lang="zh-CN" altLang="en-US" sz="2400" dirty="0" smtClean="0">
                    <a:ea typeface="华文楷体" panose="02010600040101010101" pitchFamily="2" charset="-122"/>
                  </a:rPr>
                  <a:t>有向</a:t>
                </a:r>
                <a:r>
                  <a:rPr lang="zh-CN" altLang="en-US" sz="2400" dirty="0">
                    <a:ea typeface="华文楷体" panose="02010600040101010101" pitchFamily="2" charset="-122"/>
                  </a:rPr>
                  <a:t>无环</a:t>
                </a:r>
                <a:r>
                  <a:rPr lang="zh-CN" altLang="en-US" sz="2400" dirty="0" smtClean="0">
                    <a:ea typeface="华文楷体" panose="02010600040101010101" pitchFamily="2" charset="-122"/>
                  </a:rPr>
                  <a:t>图</a:t>
                </a:r>
                <a:r>
                  <a:rPr lang="en-US" altLang="zh-CN" sz="2400" dirty="0">
                    <a:ea typeface="华文楷体" panose="02010600040101010101" pitchFamily="2" charset="-122"/>
                  </a:rPr>
                  <a:t>G=(V,E)</a:t>
                </a:r>
                <a:r>
                  <a:rPr lang="zh-CN" altLang="en-US" sz="2400" dirty="0">
                    <a:ea typeface="华文楷体" panose="02010600040101010101" pitchFamily="2" charset="-122"/>
                  </a:rPr>
                  <a:t>和权重函数</a:t>
                </a:r>
                <a:r>
                  <a:rPr lang="en-US" altLang="zh-CN" sz="2400" dirty="0">
                    <a:ea typeface="华文楷体" panose="02010600040101010101" pitchFamily="2" charset="-122"/>
                  </a:rPr>
                  <a:t>w:</a:t>
                </a:r>
                <a14:m>
                  <m:oMath xmlns:m="http://schemas.openxmlformats.org/officeDocument/2006/math">
                    <m:r>
                      <a:rPr lang="en-US" altLang="zh-CN" sz="2400">
                        <a:latin typeface="Cambria Math" panose="02040503050406030204" pitchFamily="18" charset="0"/>
                        <a:ea typeface="华文楷体" panose="02010600040101010101" pitchFamily="2" charset="-122"/>
                      </a:rPr>
                      <m:t>𝐸</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𝑅</m:t>
                    </m:r>
                    <m:r>
                      <a:rPr lang="zh-CN" altLang="en-US" sz="2400">
                        <a:latin typeface="Cambria Math" panose="02040503050406030204" pitchFamily="18" charset="0"/>
                        <a:ea typeface="华文楷体" panose="02010600040101010101" pitchFamily="2" charset="-122"/>
                      </a:rPr>
                      <m:t>，</m:t>
                    </m:r>
                  </m:oMath>
                </a14:m>
                <a:r>
                  <a:rPr lang="zh-CN" altLang="en-US" sz="2400" dirty="0" smtClean="0">
                    <a:ea typeface="华文楷体" panose="02010600040101010101" pitchFamily="2" charset="-122"/>
                  </a:rPr>
                  <a:t>假定源顶点为</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，则</a:t>
                </a:r>
                <a:r>
                  <a:rPr lang="zh-CN" altLang="en-US" sz="2400" dirty="0">
                    <a:ea typeface="华文楷体" panose="02010600040101010101" pitchFamily="2" charset="-122"/>
                  </a:rPr>
                  <a:t>在</a:t>
                </a:r>
                <a:r>
                  <a:rPr lang="en-US" altLang="zh-CN" sz="2400" dirty="0">
                    <a:ea typeface="华文楷体" panose="02010600040101010101" pitchFamily="2" charset="-122"/>
                  </a:rPr>
                  <a:t>DAG-Shortest-Path</a:t>
                </a:r>
                <a:r>
                  <a:rPr lang="zh-CN" altLang="en-US" sz="2400" dirty="0">
                    <a:ea typeface="华文楷体" panose="02010600040101010101" pitchFamily="2" charset="-122"/>
                  </a:rPr>
                  <a:t>算法终止</a:t>
                </a:r>
                <a:r>
                  <a:rPr lang="zh-CN" altLang="en-US" sz="2400" dirty="0" smtClean="0">
                    <a:ea typeface="华文楷体" panose="02010600040101010101" pitchFamily="2" charset="-122"/>
                  </a:rPr>
                  <a:t>时，对于所有顶点</a:t>
                </a:r>
                <a:r>
                  <a:rPr lang="en-US" altLang="zh-CN" sz="2400" dirty="0">
                    <a:ea typeface="华文楷体" panose="02010600040101010101" pitchFamily="2" charset="-122"/>
                  </a:rPr>
                  <a:t>v</a:t>
                </a:r>
                <a:r>
                  <a:rPr lang="en-US" altLang="zh-CN" sz="2400" dirty="0">
                    <a:ea typeface="Cambria Math"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smtClean="0">
                    <a:ea typeface="华文楷体" panose="02010600040101010101" pitchFamily="2" charset="-122"/>
                  </a:rPr>
                  <a:t>V</a:t>
                </a:r>
                <a:r>
                  <a:rPr lang="zh-CN" altLang="en-US" sz="2400" dirty="0" smtClean="0">
                    <a:ea typeface="华文楷体" panose="02010600040101010101" pitchFamily="2" charset="-122"/>
                  </a:rPr>
                  <a:t>，有：</a:t>
                </a:r>
                <a:r>
                  <a:rPr lang="en-US" altLang="zh-CN" sz="2400" dirty="0" smtClean="0">
                    <a:ea typeface="华文楷体" panose="02010600040101010101" pitchFamily="2" charset="-122"/>
                  </a:rPr>
                  <a:t>(1)</a:t>
                </a:r>
                <a:r>
                  <a:rPr lang="en-US" altLang="zh-CN" sz="2400" dirty="0">
                    <a:ea typeface="华文楷体" panose="02010600040101010101" pitchFamily="2" charset="-122"/>
                  </a:rPr>
                  <a:t> d[v]=</a:t>
                </a:r>
                <a14:m>
                  <m:oMath xmlns:m="http://schemas.openxmlformats.org/officeDocument/2006/math">
                    <m:r>
                      <a:rPr lang="zh-CN" altLang="en-US" sz="2400" i="1">
                        <a:latin typeface="Cambria Math" panose="02040503050406030204" pitchFamily="18" charset="0"/>
                      </a:rPr>
                      <m:t>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𝑠</m:t>
                        </m:r>
                        <m:r>
                          <a:rPr lang="en-US" altLang="zh-CN" sz="2400" i="1">
                            <a:latin typeface="Cambria Math" panose="02040503050406030204" pitchFamily="18" charset="0"/>
                          </a:rPr>
                          <m:t>,</m:t>
                        </m:r>
                        <m:r>
                          <a:rPr lang="en-US" altLang="zh-CN" sz="2400" i="1">
                            <a:latin typeface="Cambria Math" panose="02040503050406030204" pitchFamily="18" charset="0"/>
                          </a:rPr>
                          <m:t>𝑣</m:t>
                        </m:r>
                      </m:e>
                    </m:d>
                  </m:oMath>
                </a14:m>
                <a:r>
                  <a:rPr lang="zh-CN" altLang="en-US" sz="2400" dirty="0" smtClean="0">
                    <a:ea typeface="华文楷体" panose="02010600040101010101" pitchFamily="2" charset="-122"/>
                  </a:rPr>
                  <a:t>成立；</a:t>
                </a: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其前驱子图</a:t>
                </a:r>
                <a:r>
                  <a:rPr lang="en-US" altLang="zh-CN" sz="2400" dirty="0" err="1">
                    <a:ea typeface="华文楷体" panose="02010600040101010101" pitchFamily="2" charset="-122"/>
                  </a:rPr>
                  <a:t>G</a:t>
                </a:r>
                <a:r>
                  <a:rPr lang="en-US" altLang="zh-CN" sz="2400" baseline="-25000" dirty="0" err="1">
                    <a:ea typeface="华文楷体" panose="02010600040101010101" pitchFamily="2" charset="-122"/>
                  </a:rPr>
                  <a:t>p</a:t>
                </a:r>
                <a:r>
                  <a:rPr lang="zh-CN" altLang="en-US" sz="2400" dirty="0">
                    <a:ea typeface="华文楷体" panose="02010600040101010101" pitchFamily="2" charset="-122"/>
                  </a:rPr>
                  <a:t>是一颗根为源顶点</a:t>
                </a:r>
                <a:r>
                  <a:rPr lang="en-US" altLang="zh-CN" sz="2400" dirty="0">
                    <a:ea typeface="华文楷体" panose="02010600040101010101" pitchFamily="2" charset="-122"/>
                  </a:rPr>
                  <a:t>s</a:t>
                </a:r>
                <a:r>
                  <a:rPr lang="zh-CN" altLang="en-US" sz="2400" dirty="0">
                    <a:ea typeface="华文楷体" panose="02010600040101010101" pitchFamily="2" charset="-122"/>
                  </a:rPr>
                  <a:t>的最短路径树</a:t>
                </a:r>
                <a:r>
                  <a:rPr lang="zh-CN" altLang="en-US"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None/>
                </a:pPr>
                <a:r>
                  <a:rPr lang="zh-CN" altLang="en-US" sz="2400" dirty="0" smtClean="0">
                    <a:solidFill>
                      <a:srgbClr val="C00000"/>
                    </a:solidFill>
                    <a:ea typeface="华文楷体" panose="02010600040101010101" pitchFamily="2" charset="-122"/>
                  </a:rPr>
                  <a:t>定理</a:t>
                </a:r>
                <a:r>
                  <a:rPr lang="en-US" altLang="zh-CN" sz="2400" dirty="0" smtClean="0">
                    <a:solidFill>
                      <a:srgbClr val="C00000"/>
                    </a:solidFill>
                    <a:ea typeface="华文楷体" panose="02010600040101010101" pitchFamily="2" charset="-122"/>
                  </a:rPr>
                  <a:t>2</a:t>
                </a:r>
                <a:r>
                  <a:rPr lang="zh-CN" altLang="en-US" sz="2400" dirty="0" smtClean="0">
                    <a:ea typeface="华文楷体" panose="02010600040101010101" pitchFamily="2" charset="-122"/>
                  </a:rPr>
                  <a:t>：</a:t>
                </a:r>
                <a:r>
                  <a:rPr lang="zh-CN" altLang="en-US" sz="2400" dirty="0">
                    <a:ea typeface="华文楷体" panose="02010600040101010101" pitchFamily="2" charset="-122"/>
                  </a:rPr>
                  <a:t>给定带权有向无环图</a:t>
                </a:r>
                <a:r>
                  <a:rPr lang="en-US" altLang="zh-CN" sz="2400" dirty="0">
                    <a:ea typeface="华文楷体" panose="02010600040101010101" pitchFamily="2" charset="-122"/>
                  </a:rPr>
                  <a:t>G=(V,E)</a:t>
                </a:r>
                <a:r>
                  <a:rPr lang="zh-CN" altLang="en-US" sz="2400" dirty="0">
                    <a:ea typeface="华文楷体" panose="02010600040101010101" pitchFamily="2" charset="-122"/>
                  </a:rPr>
                  <a:t>和权重函数</a:t>
                </a:r>
                <a:r>
                  <a:rPr lang="en-US" altLang="zh-CN" sz="2400" dirty="0">
                    <a:ea typeface="华文楷体" panose="02010600040101010101" pitchFamily="2" charset="-122"/>
                  </a:rPr>
                  <a:t>w:</a:t>
                </a:r>
                <a14:m>
                  <m:oMath xmlns:m="http://schemas.openxmlformats.org/officeDocument/2006/math">
                    <m:r>
                      <a:rPr lang="en-US" altLang="zh-CN" sz="2400">
                        <a:latin typeface="Cambria Math" panose="02040503050406030204" pitchFamily="18" charset="0"/>
                        <a:ea typeface="华文楷体" panose="02010600040101010101" pitchFamily="2" charset="-122"/>
                      </a:rPr>
                      <m:t>𝐸</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𝑅</m:t>
                    </m:r>
                  </m:oMath>
                </a14:m>
                <a:r>
                  <a:rPr lang="zh-CN" altLang="en-US" sz="2400" dirty="0" smtClean="0">
                    <a:ea typeface="华文楷体" panose="02010600040101010101" pitchFamily="2" charset="-122"/>
                  </a:rPr>
                  <a:t>，若边无负数，</a:t>
                </a:r>
                <a:r>
                  <a:rPr lang="zh-CN" altLang="en-US" sz="2400" dirty="0">
                    <a:ea typeface="华文楷体" panose="02010600040101010101" pitchFamily="2" charset="-122"/>
                  </a:rPr>
                  <a:t>图</a:t>
                </a:r>
                <a:r>
                  <a:rPr lang="en-US" altLang="zh-CN" sz="2400" dirty="0">
                    <a:ea typeface="华文楷体" panose="02010600040101010101" pitchFamily="2" charset="-122"/>
                  </a:rPr>
                  <a:t>G</a:t>
                </a:r>
                <a:r>
                  <a:rPr lang="zh-CN" altLang="en-US" sz="2400" dirty="0">
                    <a:ea typeface="华文楷体" panose="02010600040101010101" pitchFamily="2" charset="-122"/>
                  </a:rPr>
                  <a:t>中边描述活动，边上权重表示活动所需时间，顶点表示事件；则可利用</a:t>
                </a:r>
                <a:r>
                  <a:rPr lang="en-US" altLang="zh-CN" sz="2400" dirty="0">
                    <a:ea typeface="华文楷体" panose="02010600040101010101" pitchFamily="2" charset="-122"/>
                  </a:rPr>
                  <a:t>DAG-Shortest-Path</a:t>
                </a:r>
                <a:r>
                  <a:rPr lang="zh-CN" altLang="en-US" sz="2400" dirty="0">
                    <a:ea typeface="华文楷体" panose="02010600040101010101" pitchFamily="2" charset="-122"/>
                  </a:rPr>
                  <a:t>算法</a:t>
                </a:r>
                <a:r>
                  <a:rPr lang="zh-CN" altLang="en-US" sz="2400" dirty="0">
                    <a:solidFill>
                      <a:srgbClr val="FF0000"/>
                    </a:solidFill>
                    <a:ea typeface="华文楷体" panose="02010600040101010101" pitchFamily="2" charset="-122"/>
                  </a:rPr>
                  <a:t>求关键路径</a:t>
                </a:r>
                <a:r>
                  <a:rPr lang="zh-CN" altLang="en-US" sz="2400" dirty="0" smtClean="0">
                    <a:ea typeface="华文楷体" panose="02010600040101010101" pitchFamily="2" charset="-122"/>
                  </a:rPr>
                  <a:t>，方法</a:t>
                </a:r>
                <a:r>
                  <a:rPr lang="zh-CN" altLang="en-US" sz="2400" dirty="0">
                    <a:ea typeface="华文楷体" panose="02010600040101010101" pitchFamily="2" charset="-122"/>
                  </a:rPr>
                  <a:t>为如下</a:t>
                </a:r>
                <a:r>
                  <a:rPr lang="zh-CN" altLang="en-US" sz="2400" dirty="0" smtClean="0">
                    <a:ea typeface="华文楷体" panose="02010600040101010101" pitchFamily="2" charset="-122"/>
                  </a:rPr>
                  <a:t>两种任一</a:t>
                </a:r>
                <a:r>
                  <a:rPr lang="en-US" altLang="zh-CN" sz="2400" dirty="0">
                    <a:ea typeface="华文楷体" panose="02010600040101010101" pitchFamily="2" charset="-122"/>
                  </a:rPr>
                  <a:t>:</a:t>
                </a:r>
                <a:endParaRPr lang="en-US" altLang="zh-CN" sz="2400" dirty="0">
                  <a:ea typeface="华文楷体" panose="02010600040101010101" pitchFamily="2" charset="-122"/>
                </a:endParaRPr>
              </a:p>
              <a:p>
                <a:pPr marL="0" indent="0">
                  <a:buNone/>
                </a:pPr>
                <a:r>
                  <a:rPr lang="en-US" altLang="zh-CN" sz="2400" dirty="0">
                    <a:ea typeface="华文楷体" panose="02010600040101010101" pitchFamily="2" charset="-122"/>
                  </a:rPr>
                  <a:t>(1) </a:t>
                </a:r>
                <a:r>
                  <a:rPr lang="zh-CN" altLang="en-US" sz="2400" dirty="0">
                    <a:ea typeface="华文楷体" panose="02010600040101010101" pitchFamily="2" charset="-122"/>
                  </a:rPr>
                  <a:t>将所有权重变为负数，然后运行</a:t>
                </a:r>
                <a:r>
                  <a:rPr lang="en-US" altLang="zh-CN" sz="2400" dirty="0">
                    <a:ea typeface="华文楷体" panose="02010600040101010101" pitchFamily="2" charset="-122"/>
                  </a:rPr>
                  <a:t>DAG-Shortest-Path</a:t>
                </a:r>
                <a:r>
                  <a:rPr lang="zh-CN" altLang="en-US" sz="2400" dirty="0">
                    <a:ea typeface="华文楷体" panose="02010600040101010101" pitchFamily="2" charset="-122"/>
                  </a:rPr>
                  <a:t>算法；</a:t>
                </a:r>
                <a:endParaRPr lang="en-US" altLang="zh-CN" sz="2400" dirty="0">
                  <a:ea typeface="华文楷体" panose="02010600040101010101" pitchFamily="2" charset="-122"/>
                </a:endParaRPr>
              </a:p>
              <a:p>
                <a:pPr marL="0" indent="0">
                  <a:buNone/>
                </a:pPr>
                <a:r>
                  <a:rPr lang="en-US" altLang="zh-CN" sz="2400" dirty="0">
                    <a:ea typeface="华文楷体" panose="02010600040101010101" pitchFamily="2" charset="-122"/>
                  </a:rPr>
                  <a:t>(2) </a:t>
                </a:r>
                <a:r>
                  <a:rPr lang="zh-CN" altLang="en-US" sz="2400" dirty="0">
                    <a:ea typeface="华文楷体" panose="02010600040101010101" pitchFamily="2" charset="-122"/>
                  </a:rPr>
                  <a:t>运行</a:t>
                </a:r>
                <a:r>
                  <a:rPr lang="en-US" altLang="zh-CN" sz="2400" dirty="0">
                    <a:ea typeface="华文楷体" panose="02010600040101010101" pitchFamily="2" charset="-122"/>
                  </a:rPr>
                  <a:t>DAG-Shortest-Path</a:t>
                </a:r>
                <a:r>
                  <a:rPr lang="zh-CN" altLang="en-US" sz="2400" dirty="0">
                    <a:ea typeface="华文楷体" panose="02010600040101010101" pitchFamily="2" charset="-122"/>
                  </a:rPr>
                  <a:t>算法，但做如下改动：</a:t>
                </a:r>
                <a:r>
                  <a:rPr lang="en-US" altLang="zh-CN" sz="2400" dirty="0">
                    <a:ea typeface="华文楷体" panose="02010600040101010101" pitchFamily="2" charset="-122"/>
                  </a:rPr>
                  <a:t> </a:t>
                </a:r>
                <a:r>
                  <a:rPr lang="zh-CN" altLang="en-US" sz="2400" dirty="0">
                    <a:ea typeface="华文楷体" panose="02010600040101010101" pitchFamily="2" charset="-122"/>
                  </a:rPr>
                  <a:t>在</a:t>
                </a:r>
                <a:r>
                  <a:rPr lang="en-US" altLang="zh-CN" sz="2400" dirty="0">
                    <a:ea typeface="华文楷体" panose="02010600040101010101" pitchFamily="2" charset="-122"/>
                  </a:rPr>
                  <a:t>Initialize-Single-Source(G, s)</a:t>
                </a:r>
                <a:r>
                  <a:rPr lang="zh-CN" altLang="en-US" sz="2400" dirty="0">
                    <a:ea typeface="华文楷体" panose="02010600040101010101" pitchFamily="2" charset="-122"/>
                  </a:rPr>
                  <a:t>算法中第二行</a:t>
                </a:r>
                <a:r>
                  <a:rPr lang="en-US" altLang="zh-CN" sz="2400" dirty="0">
                    <a:ea typeface="华文楷体" panose="02010600040101010101" pitchFamily="2" charset="-122"/>
                  </a:rPr>
                  <a:t>d[v] = </a:t>
                </a:r>
                <a14:m>
                  <m:oMath xmlns:m="http://schemas.openxmlformats.org/officeDocument/2006/math">
                    <m:r>
                      <a:rPr lang="en-US" altLang="zh-CN" sz="2400">
                        <a:latin typeface="Cambria Math" panose="02040503050406030204" pitchFamily="18" charset="0"/>
                        <a:ea typeface="华文楷体" panose="02010600040101010101" pitchFamily="2" charset="-122"/>
                      </a:rPr>
                      <m:t>∞</m:t>
                    </m:r>
                  </m:oMath>
                </a14:m>
                <a:r>
                  <a:rPr lang="en-US" altLang="zh-CN" sz="2400" dirty="0">
                    <a:ea typeface="华文楷体" panose="02010600040101010101" pitchFamily="2" charset="-122"/>
                  </a:rPr>
                  <a:t>; </a:t>
                </a:r>
                <a:r>
                  <a:rPr lang="zh-CN" altLang="en-US" sz="2400" dirty="0">
                    <a:ea typeface="华文楷体" panose="02010600040101010101" pitchFamily="2" charset="-122"/>
                  </a:rPr>
                  <a:t>改为</a:t>
                </a:r>
                <a:r>
                  <a:rPr lang="en-US" altLang="zh-CN" sz="2400" dirty="0">
                    <a:ea typeface="华文楷体" panose="02010600040101010101" pitchFamily="2" charset="-122"/>
                  </a:rPr>
                  <a:t>d[v] = -</a:t>
                </a:r>
                <a14:m>
                  <m:oMath xmlns:m="http://schemas.openxmlformats.org/officeDocument/2006/math">
                    <m:r>
                      <a:rPr lang="en-US" altLang="zh-CN" sz="2400">
                        <a:latin typeface="Cambria Math" panose="02040503050406030204" pitchFamily="18" charset="0"/>
                        <a:ea typeface="华文楷体" panose="02010600040101010101" pitchFamily="2" charset="-122"/>
                      </a:rPr>
                      <m:t>∞</m:t>
                    </m:r>
                  </m:oMath>
                </a14:m>
                <a:r>
                  <a:rPr lang="zh-CN" altLang="en-US" sz="2400">
                    <a:ea typeface="华文楷体" panose="02010600040101010101" pitchFamily="2" charset="-122"/>
                  </a:rPr>
                  <a:t>，</a:t>
                </a:r>
                <a:r>
                  <a:rPr lang="zh-CN" altLang="en-US" sz="2400" smtClean="0">
                    <a:ea typeface="华文楷体" panose="02010600040101010101" pitchFamily="2" charset="-122"/>
                  </a:rPr>
                  <a:t>即所有</a:t>
                </a:r>
                <a:r>
                  <a:rPr lang="en-US" altLang="zh-CN" sz="2400" dirty="0">
                    <a:ea typeface="华文楷体" panose="02010600040101010101" pitchFamily="2" charset="-122"/>
                  </a:rPr>
                  <a:t>d[v] </a:t>
                </a:r>
                <a:r>
                  <a:rPr lang="zh-CN" altLang="en-US" sz="2400" dirty="0">
                    <a:ea typeface="华文楷体" panose="02010600040101010101" pitchFamily="2" charset="-122"/>
                  </a:rPr>
                  <a:t>初值由</a:t>
                </a:r>
                <a:r>
                  <a:rPr lang="en-US" altLang="zh-CN" sz="2400" dirty="0">
                    <a:ea typeface="华文楷体" panose="02010600040101010101" pitchFamily="2" charset="-122"/>
                  </a:rPr>
                  <a:t>+ </a:t>
                </a:r>
                <a14:m>
                  <m:oMath xmlns:m="http://schemas.openxmlformats.org/officeDocument/2006/math">
                    <m:r>
                      <a:rPr lang="en-US" altLang="zh-CN" sz="2400">
                        <a:latin typeface="Cambria Math" panose="02040503050406030204" pitchFamily="18" charset="0"/>
                        <a:ea typeface="华文楷体" panose="02010600040101010101" pitchFamily="2" charset="-122"/>
                      </a:rPr>
                      <m:t>∞ </m:t>
                    </m:r>
                  </m:oMath>
                </a14:m>
                <a:r>
                  <a:rPr lang="zh-CN" altLang="en-US" sz="2400" dirty="0">
                    <a:ea typeface="华文楷体" panose="02010600040101010101" pitchFamily="2" charset="-122"/>
                  </a:rPr>
                  <a:t>→</a:t>
                </a:r>
                <a:r>
                  <a:rPr lang="en-US" altLang="zh-CN" sz="2400" dirty="0">
                    <a:ea typeface="华文楷体" panose="02010600040101010101" pitchFamily="2" charset="-122"/>
                  </a:rPr>
                  <a:t>- </a:t>
                </a:r>
                <a14:m>
                  <m:oMath xmlns:m="http://schemas.openxmlformats.org/officeDocument/2006/math">
                    <m:r>
                      <a:rPr lang="en-US" altLang="zh-CN" sz="2400">
                        <a:latin typeface="Cambria Math" panose="02040503050406030204" pitchFamily="18" charset="0"/>
                        <a:ea typeface="华文楷体" panose="02010600040101010101" pitchFamily="2" charset="-122"/>
                      </a:rPr>
                      <m:t>∞ </m:t>
                    </m:r>
                  </m:oMath>
                </a14:m>
                <a:r>
                  <a:rPr lang="zh-CN" altLang="en-US" sz="2400" dirty="0">
                    <a:ea typeface="华文楷体" panose="02010600040101010101" pitchFamily="2" charset="-122"/>
                  </a:rPr>
                  <a:t>。</a:t>
                </a:r>
                <a:endParaRPr lang="zh-CN" altLang="en-US" sz="24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62" t="-97" r="-54" b="-85"/>
                </a:stretch>
              </a:blipFill>
              <a:ln>
                <a:solidFill>
                  <a:schemeClr val="accent1"/>
                </a:solidFill>
              </a:ln>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04800" y="1152525"/>
            <a:ext cx="8686800" cy="5248275"/>
          </a:xfrm>
        </p:spPr>
        <p:txBody>
          <a:bodyPr/>
          <a:lstStyle/>
          <a:p>
            <a:pPr marL="0" indent="0">
              <a:buNone/>
            </a:pPr>
            <a:r>
              <a:rPr lang="en-US" altLang="zh-CN" sz="2000" b="1" dirty="0">
                <a:solidFill>
                  <a:srgbClr val="C00000"/>
                </a:solidFill>
                <a:ea typeface="华文楷体" panose="02010600040101010101" pitchFamily="2" charset="-122"/>
              </a:rPr>
              <a:t>[</a:t>
            </a:r>
            <a:r>
              <a:rPr lang="en-US" altLang="zh-CN" sz="2000" b="1" dirty="0" err="1">
                <a:solidFill>
                  <a:srgbClr val="C00000"/>
                </a:solidFill>
                <a:ea typeface="华文楷体" panose="02010600040101010101" pitchFamily="2" charset="-122"/>
              </a:rPr>
              <a:t>Dijstra</a:t>
            </a:r>
            <a:r>
              <a:rPr lang="zh-CN" altLang="en-US" sz="2000" b="1" u="sng" dirty="0">
                <a:solidFill>
                  <a:srgbClr val="C00000"/>
                </a:solidFill>
                <a:ea typeface="华文楷体" panose="02010600040101010101" pitchFamily="2" charset="-122"/>
              </a:rPr>
              <a:t>算法</a:t>
            </a:r>
            <a:r>
              <a:rPr lang="en-US" altLang="zh-CN" sz="2000" b="1" dirty="0">
                <a:solidFill>
                  <a:srgbClr val="C00000"/>
                </a:solidFill>
                <a:ea typeface="华文楷体" panose="02010600040101010101" pitchFamily="2" charset="-122"/>
              </a:rPr>
              <a:t>]</a:t>
            </a:r>
            <a:endParaRPr lang="en-US" altLang="zh-CN" sz="2000" b="1" dirty="0">
              <a:solidFill>
                <a:srgbClr val="C00000"/>
              </a:solidFill>
              <a:ea typeface="华文楷体" panose="02010600040101010101" pitchFamily="2" charset="-122"/>
            </a:endParaRPr>
          </a:p>
          <a:p>
            <a:pPr marL="0" indent="0">
              <a:buNone/>
            </a:pPr>
            <a:r>
              <a:rPr lang="en-US" altLang="zh-CN" sz="2000" dirty="0">
                <a:solidFill>
                  <a:srgbClr val="C00000"/>
                </a:solidFill>
                <a:ea typeface="华文楷体" panose="02010600040101010101" pitchFamily="2" charset="-122"/>
              </a:rPr>
              <a:t>[</a:t>
            </a:r>
            <a:r>
              <a:rPr lang="zh-CN" altLang="en-US" sz="2000" dirty="0" smtClean="0">
                <a:solidFill>
                  <a:srgbClr val="C00000"/>
                </a:solidFill>
                <a:ea typeface="华文楷体" panose="02010600040101010101" pitchFamily="2" charset="-122"/>
              </a:rPr>
              <a:t>预备</a:t>
            </a:r>
            <a:r>
              <a:rPr lang="zh-CN" altLang="en-US" sz="2000" dirty="0">
                <a:solidFill>
                  <a:srgbClr val="C00000"/>
                </a:solidFill>
                <a:ea typeface="华文楷体" panose="02010600040101010101" pitchFamily="2" charset="-122"/>
              </a:rPr>
              <a:t>知识</a:t>
            </a:r>
            <a:r>
              <a:rPr lang="en-US" altLang="zh-CN" sz="2000" dirty="0">
                <a:solidFill>
                  <a:srgbClr val="C00000"/>
                </a:solidFill>
                <a:ea typeface="华文楷体" panose="02010600040101010101" pitchFamily="2" charset="-122"/>
              </a:rPr>
              <a:t>-</a:t>
            </a:r>
            <a:r>
              <a:rPr lang="zh-CN" altLang="en-US" sz="2000" dirty="0">
                <a:solidFill>
                  <a:srgbClr val="C00000"/>
                </a:solidFill>
                <a:ea typeface="华文楷体" panose="02010600040101010101" pitchFamily="2" charset="-122"/>
              </a:rPr>
              <a:t>优先</a:t>
            </a:r>
            <a:r>
              <a:rPr lang="zh-CN" altLang="en-US" sz="2000" dirty="0" smtClean="0">
                <a:solidFill>
                  <a:srgbClr val="C00000"/>
                </a:solidFill>
                <a:ea typeface="华文楷体" panose="02010600040101010101" pitchFamily="2" charset="-122"/>
              </a:rPr>
              <a:t>队列</a:t>
            </a:r>
            <a:r>
              <a:rPr lang="en-US" altLang="zh-CN" sz="2000" dirty="0" smtClean="0">
                <a:solidFill>
                  <a:srgbClr val="C00000"/>
                </a:solidFill>
                <a:ea typeface="华文楷体" panose="02010600040101010101" pitchFamily="2" charset="-122"/>
              </a:rPr>
              <a:t>]</a:t>
            </a:r>
            <a:endParaRPr lang="en-US" altLang="zh-CN" sz="2000" dirty="0">
              <a:solidFill>
                <a:srgbClr val="C00000"/>
              </a:solidFill>
              <a:ea typeface="华文楷体" panose="02010600040101010101" pitchFamily="2" charset="-122"/>
            </a:endParaRPr>
          </a:p>
          <a:p>
            <a:pPr marL="0" indent="0">
              <a:buNone/>
            </a:pPr>
            <a:r>
              <a:rPr lang="zh-CN" altLang="en-US" sz="2000" dirty="0">
                <a:ea typeface="华文楷体" panose="02010600040101010101" pitchFamily="2" charset="-122"/>
              </a:rPr>
              <a:t>优先</a:t>
            </a:r>
            <a:r>
              <a:rPr lang="zh-CN" altLang="en-US" sz="2000" dirty="0" smtClean="0">
                <a:ea typeface="华文楷体" panose="02010600040101010101" pitchFamily="2" charset="-122"/>
              </a:rPr>
              <a:t>队列支持两个操作：</a:t>
            </a:r>
            <a:endParaRPr lang="en-US" altLang="zh-CN" sz="2000" dirty="0" smtClean="0">
              <a:ea typeface="华文楷体" panose="02010600040101010101" pitchFamily="2" charset="-122"/>
            </a:endParaRPr>
          </a:p>
          <a:p>
            <a:pPr>
              <a:buFont typeface="Wingdings" panose="05000000000000000000" pitchFamily="2" charset="2"/>
              <a:buChar char="ü"/>
            </a:pPr>
            <a:r>
              <a:rPr lang="zh-CN" altLang="en-US" sz="2000" dirty="0" smtClean="0">
                <a:ea typeface="华文楷体" panose="02010600040101010101" pitchFamily="2" charset="-122"/>
              </a:rPr>
              <a:t>插入操作</a:t>
            </a:r>
            <a:r>
              <a:rPr lang="en-US" altLang="zh-CN" sz="2000" dirty="0" smtClean="0">
                <a:ea typeface="华文楷体" panose="02010600040101010101" pitchFamily="2" charset="-122"/>
              </a:rPr>
              <a:t>Insert(H)</a:t>
            </a:r>
            <a:r>
              <a:rPr lang="zh-CN" altLang="en-US" sz="2000" dirty="0" smtClean="0">
                <a:ea typeface="华文楷体" panose="02010600040101010101" pitchFamily="2" charset="-122"/>
              </a:rPr>
              <a:t>：等价于</a:t>
            </a:r>
            <a:r>
              <a:rPr lang="en-US" altLang="zh-CN" sz="2000" dirty="0" err="1" smtClean="0">
                <a:ea typeface="华文楷体" panose="02010600040101010101" pitchFamily="2" charset="-122"/>
              </a:rPr>
              <a:t>Enqueue</a:t>
            </a:r>
            <a:r>
              <a:rPr lang="en-US" altLang="zh-CN" sz="2000" dirty="0">
                <a:ea typeface="华文楷体" panose="02010600040101010101" pitchFamily="2" charset="-122"/>
              </a:rPr>
              <a:t>(</a:t>
            </a:r>
            <a:r>
              <a:rPr lang="zh-CN" altLang="en-US" sz="2000" dirty="0">
                <a:ea typeface="华文楷体" panose="02010600040101010101" pitchFamily="2" charset="-122"/>
              </a:rPr>
              <a:t>入队</a:t>
            </a:r>
            <a:r>
              <a:rPr lang="en-US" altLang="zh-CN" sz="2000" dirty="0">
                <a:ea typeface="华文楷体" panose="02010600040101010101" pitchFamily="2" charset="-122"/>
              </a:rPr>
              <a:t>)</a:t>
            </a:r>
            <a:r>
              <a:rPr lang="zh-CN" altLang="en-US" sz="2000" dirty="0" smtClean="0">
                <a:ea typeface="华文楷体" panose="02010600040101010101" pitchFamily="2" charset="-122"/>
              </a:rPr>
              <a:t>操作；</a:t>
            </a:r>
            <a:endParaRPr lang="en-US" altLang="zh-CN" sz="2000" dirty="0" smtClean="0">
              <a:ea typeface="华文楷体" panose="02010600040101010101" pitchFamily="2" charset="-122"/>
            </a:endParaRPr>
          </a:p>
          <a:p>
            <a:pPr>
              <a:buFont typeface="Wingdings" panose="05000000000000000000" pitchFamily="2" charset="2"/>
              <a:buChar char="ü"/>
            </a:pPr>
            <a:r>
              <a:rPr lang="zh-CN" altLang="en-US" sz="2000" dirty="0" smtClean="0">
                <a:ea typeface="华文楷体" panose="02010600040101010101" pitchFamily="2" charset="-122"/>
              </a:rPr>
              <a:t>删除并返回队列</a:t>
            </a:r>
            <a:r>
              <a:rPr lang="en-US" altLang="zh-CN" sz="2000" dirty="0" smtClean="0">
                <a:ea typeface="华文楷体" panose="02010600040101010101" pitchFamily="2" charset="-122"/>
              </a:rPr>
              <a:t>H</a:t>
            </a:r>
            <a:r>
              <a:rPr lang="zh-CN" altLang="en-US" sz="2000" dirty="0" smtClean="0">
                <a:ea typeface="华文楷体" panose="02010600040101010101" pitchFamily="2" charset="-122"/>
              </a:rPr>
              <a:t>中关键字最小</a:t>
            </a:r>
            <a:r>
              <a:rPr lang="zh-CN" altLang="en-US" sz="2000" dirty="0">
                <a:ea typeface="华文楷体" panose="02010600040101010101" pitchFamily="2" charset="-122"/>
              </a:rPr>
              <a:t>者</a:t>
            </a:r>
            <a:r>
              <a:rPr lang="en-US" altLang="zh-CN" sz="2000" dirty="0" err="1">
                <a:ea typeface="华文楷体" panose="02010600040101010101" pitchFamily="2" charset="-122"/>
              </a:rPr>
              <a:t>DeleteMin</a:t>
            </a:r>
            <a:r>
              <a:rPr lang="en-US" altLang="zh-CN" sz="2000" dirty="0">
                <a:ea typeface="华文楷体" panose="02010600040101010101" pitchFamily="2" charset="-122"/>
              </a:rPr>
              <a:t>(H)</a:t>
            </a:r>
            <a:r>
              <a:rPr lang="zh-CN" altLang="en-US" sz="2000" dirty="0" smtClean="0">
                <a:ea typeface="华文楷体" panose="02010600040101010101" pitchFamily="2" charset="-122"/>
              </a:rPr>
              <a:t>操作，该操作替换了出</a:t>
            </a:r>
            <a:r>
              <a:rPr lang="zh-CN" altLang="en-US" sz="2000" dirty="0">
                <a:ea typeface="华文楷体" panose="02010600040101010101" pitchFamily="2" charset="-122"/>
              </a:rPr>
              <a:t>队操作。</a:t>
            </a:r>
            <a:endParaRPr lang="en-US" altLang="zh-CN" sz="2000" dirty="0">
              <a:ea typeface="华文楷体" panose="02010600040101010101" pitchFamily="2" charset="-122"/>
            </a:endParaRPr>
          </a:p>
          <a:p>
            <a:pPr marL="0" indent="0">
              <a:buNone/>
            </a:pPr>
            <a:r>
              <a:rPr lang="zh-CN" altLang="en-US" sz="2000" dirty="0">
                <a:ea typeface="华文楷体" panose="02010600040101010101" pitchFamily="2" charset="-122"/>
              </a:rPr>
              <a:t>优先队列应用于</a:t>
            </a:r>
            <a:r>
              <a:rPr lang="zh-CN" altLang="en-US" sz="2000" dirty="0" smtClean="0">
                <a:ea typeface="华文楷体" panose="02010600040101010101" pitchFamily="2" charset="-122"/>
              </a:rPr>
              <a:t>求包含最小关键字的数据</a:t>
            </a:r>
            <a:r>
              <a:rPr lang="zh-CN" altLang="en-US" sz="2000" dirty="0">
                <a:ea typeface="华文楷体" panose="02010600040101010101" pitchFamily="2" charset="-122"/>
              </a:rPr>
              <a:t>元素的</a:t>
            </a:r>
            <a:r>
              <a:rPr lang="zh-CN" altLang="en-US" sz="2000" dirty="0" smtClean="0">
                <a:ea typeface="华文楷体" panose="02010600040101010101" pitchFamily="2" charset="-122"/>
              </a:rPr>
              <a:t>场景；比如：多种</a:t>
            </a:r>
            <a:r>
              <a:rPr lang="zh-CN" altLang="en-US" sz="2000" dirty="0">
                <a:ea typeface="华文楷体" panose="02010600040101010101" pitchFamily="2" charset="-122"/>
              </a:rPr>
              <a:t>排序算法、操作系统、</a:t>
            </a:r>
            <a:r>
              <a:rPr lang="zh-CN" altLang="en-US" sz="2000" dirty="0" smtClean="0">
                <a:ea typeface="华文楷体" panose="02010600040101010101" pitchFamily="2" charset="-122"/>
              </a:rPr>
              <a:t>贪心</a:t>
            </a:r>
            <a:r>
              <a:rPr lang="en-US" altLang="zh-CN" sz="2000" dirty="0">
                <a:ea typeface="华文楷体" panose="02010600040101010101" pitchFamily="2" charset="-122"/>
              </a:rPr>
              <a:t>(</a:t>
            </a:r>
            <a:r>
              <a:rPr lang="zh-CN" altLang="en-US" sz="2000" dirty="0" smtClean="0">
                <a:ea typeface="华文楷体" panose="02010600040101010101" pitchFamily="2" charset="-122"/>
              </a:rPr>
              <a:t>婪</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算法</a:t>
            </a:r>
            <a:r>
              <a:rPr lang="zh-CN" altLang="en-US" sz="2000" dirty="0">
                <a:ea typeface="华文楷体" panose="02010600040101010101" pitchFamily="2" charset="-122"/>
              </a:rPr>
              <a:t>（反复求最小数据元素），和基于</a:t>
            </a:r>
            <a:r>
              <a:rPr lang="zh-CN" altLang="en-US" sz="2000" dirty="0" smtClean="0">
                <a:ea typeface="华文楷体" panose="02010600040101010101" pitchFamily="2" charset="-122"/>
              </a:rPr>
              <a:t>贪心思想的</a:t>
            </a:r>
            <a:r>
              <a:rPr lang="zh-CN" altLang="en-US" sz="2000" dirty="0">
                <a:ea typeface="华文楷体" panose="02010600040101010101" pitchFamily="2" charset="-122"/>
              </a:rPr>
              <a:t>所有其他算法。</a:t>
            </a:r>
            <a:endParaRPr lang="en-US" altLang="zh-CN" sz="2000" dirty="0">
              <a:ea typeface="华文楷体" panose="02010600040101010101" pitchFamily="2" charset="-122"/>
            </a:endParaRPr>
          </a:p>
          <a:p>
            <a:pPr marL="0" indent="0">
              <a:buNone/>
            </a:pPr>
            <a:endParaRPr lang="en-US" altLang="zh-CN" sz="2000" dirty="0" smtClean="0">
              <a:solidFill>
                <a:srgbClr val="C00000"/>
              </a:solidFill>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7" name="图片 6"/>
          <p:cNvPicPr>
            <a:picLocks noChangeAspect="1"/>
          </p:cNvPicPr>
          <p:nvPr/>
        </p:nvPicPr>
        <p:blipFill>
          <a:blip r:embed="rId1"/>
          <a:stretch>
            <a:fillRect/>
          </a:stretch>
        </p:blipFill>
        <p:spPr>
          <a:xfrm>
            <a:off x="1119188" y="4470199"/>
            <a:ext cx="6248400" cy="2143125"/>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26994" y="1042756"/>
                <a:ext cx="8458200" cy="5248275"/>
              </a:xfrm>
            </p:spPr>
            <p:txBody>
              <a:bodyPr/>
              <a:lstStyle/>
              <a:p>
                <a:pPr marL="0" indent="0">
                  <a:buNone/>
                </a:pPr>
                <a:r>
                  <a:rPr lang="en-US" altLang="zh-CN" sz="2000" dirty="0">
                    <a:solidFill>
                      <a:srgbClr val="C00000"/>
                    </a:solidFill>
                    <a:ea typeface="华文楷体" panose="02010600040101010101" pitchFamily="2" charset="-122"/>
                  </a:rPr>
                  <a:t>[</a:t>
                </a:r>
                <a:r>
                  <a:rPr lang="en-US" altLang="zh-CN" sz="2000" dirty="0" err="1">
                    <a:solidFill>
                      <a:srgbClr val="C00000"/>
                    </a:solidFill>
                    <a:ea typeface="华文楷体" panose="02010600040101010101" pitchFamily="2" charset="-122"/>
                  </a:rPr>
                  <a:t>Dijstra</a:t>
                </a:r>
                <a:r>
                  <a:rPr lang="zh-CN" altLang="en-US" sz="2000" dirty="0" smtClean="0">
                    <a:solidFill>
                      <a:srgbClr val="C00000"/>
                    </a:solidFill>
                    <a:ea typeface="华文楷体" panose="02010600040101010101" pitchFamily="2" charset="-122"/>
                  </a:rPr>
                  <a:t>算法基本原理</a:t>
                </a:r>
                <a:r>
                  <a:rPr lang="en-US" altLang="zh-CN" sz="2000" dirty="0" smtClean="0">
                    <a:solidFill>
                      <a:srgbClr val="C00000"/>
                    </a:solidFill>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说明</a:t>
                </a:r>
                <a:r>
                  <a:rPr lang="zh-CN" altLang="en-US" sz="2000" dirty="0">
                    <a:ea typeface="华文楷体" panose="02010600040101010101" pitchFamily="2" charset="-122"/>
                  </a:rPr>
                  <a:t>：</a:t>
                </a:r>
                <a:r>
                  <a:rPr lang="en-US" altLang="zh-CN" sz="2000" dirty="0">
                    <a:ea typeface="华文楷体" panose="02010600040101010101" pitchFamily="2" charset="-122"/>
                  </a:rPr>
                  <a:t> </a:t>
                </a:r>
                <a:r>
                  <a:rPr lang="en-US" altLang="zh-CN" sz="2000" dirty="0" err="1">
                    <a:ea typeface="华文楷体" panose="02010600040101010101" pitchFamily="2" charset="-122"/>
                  </a:rPr>
                  <a:t>Dijstra</a:t>
                </a:r>
                <a:r>
                  <a:rPr lang="zh-CN" altLang="en-US" sz="2000" dirty="0">
                    <a:ea typeface="华文楷体" panose="02010600040101010101" pitchFamily="2" charset="-122"/>
                  </a:rPr>
                  <a:t>算法要求边的权值为非负值。在算法运行过程中</a:t>
                </a:r>
                <a:r>
                  <a:rPr lang="zh-CN" altLang="en-US" sz="2000" dirty="0" smtClean="0">
                    <a:ea typeface="华文楷体" panose="02010600040101010101" pitchFamily="2" charset="-122"/>
                  </a:rPr>
                  <a:t>维护顶点</a:t>
                </a:r>
                <a:r>
                  <a:rPr lang="zh-CN" altLang="en-US" sz="2000" dirty="0">
                    <a:ea typeface="华文楷体" panose="02010600040101010101" pitchFamily="2" charset="-122"/>
                  </a:rPr>
                  <a:t>集合</a:t>
                </a:r>
                <a:r>
                  <a:rPr lang="en-US" altLang="zh-CN" sz="2000" dirty="0">
                    <a:ea typeface="华文楷体" panose="02010600040101010101" pitchFamily="2" charset="-122"/>
                  </a:rPr>
                  <a:t>S</a:t>
                </a:r>
                <a:r>
                  <a:rPr lang="zh-CN" altLang="en-US" sz="2000" dirty="0">
                    <a:ea typeface="华文楷体" panose="02010600040101010101" pitchFamily="2" charset="-122"/>
                  </a:rPr>
                  <a:t>，</a:t>
                </a:r>
                <a:r>
                  <a:rPr lang="en-US" altLang="zh-CN" sz="2000" dirty="0">
                    <a:ea typeface="华文楷体" panose="02010600040101010101" pitchFamily="2" charset="-122"/>
                  </a:rPr>
                  <a:t>S</a:t>
                </a:r>
                <a:r>
                  <a:rPr lang="zh-CN" altLang="en-US" sz="2000" dirty="0">
                    <a:ea typeface="华文楷体" panose="02010600040101010101" pitchFamily="2" charset="-122"/>
                  </a:rPr>
                  <a:t>的含义：从源顶点</a:t>
                </a:r>
                <a:r>
                  <a:rPr lang="en-US" altLang="zh-CN" sz="2000" dirty="0">
                    <a:ea typeface="华文楷体" panose="02010600040101010101" pitchFamily="2" charset="-122"/>
                  </a:rPr>
                  <a:t>s</a:t>
                </a:r>
                <a:r>
                  <a:rPr lang="zh-CN" altLang="en-US" sz="2000" dirty="0" smtClean="0">
                    <a:ea typeface="华文楷体" panose="02010600040101010101" pitchFamily="2" charset="-122"/>
                  </a:rPr>
                  <a:t>到每个顶点</a:t>
                </a:r>
                <a:r>
                  <a:rPr lang="en-US" altLang="zh-CN" sz="2000" dirty="0" smtClean="0">
                    <a:ea typeface="华文楷体" panose="02010600040101010101" pitchFamily="2" charset="-122"/>
                  </a:rPr>
                  <a:t>v(v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r>
                      <m:rPr>
                        <m:sty m:val="p"/>
                      </m:rPr>
                      <a:rPr lang="en-US" altLang="zh-CN" sz="2000">
                        <a:latin typeface="Cambria Math" panose="02040503050406030204" pitchFamily="18" charset="0"/>
                        <a:ea typeface="Cambria Math" panose="02040503050406030204" pitchFamily="18" charset="0"/>
                      </a:rPr>
                      <m:t>S</m:t>
                    </m:r>
                  </m:oMath>
                </a14:m>
                <a:r>
                  <a:rPr lang="en-US" altLang="zh-CN" sz="2000" dirty="0" smtClean="0">
                    <a:ea typeface="华文楷体" panose="02010600040101010101" pitchFamily="2" charset="-122"/>
                  </a:rPr>
                  <a:t>)</a:t>
                </a:r>
                <a:r>
                  <a:rPr lang="zh-CN" altLang="en-US" sz="2000" dirty="0">
                    <a:ea typeface="华文楷体" panose="02010600040101010101" pitchFamily="2" charset="-122"/>
                  </a:rPr>
                  <a:t>之间的最短路径已确定</a:t>
                </a:r>
                <a:r>
                  <a:rPr lang="zh-CN" altLang="en-US" sz="2000" dirty="0" smtClean="0">
                    <a:ea typeface="华文楷体" panose="02010600040101010101" pitchFamily="2" charset="-122"/>
                  </a:rPr>
                  <a:t>。</a:t>
                </a:r>
                <a:endParaRPr lang="en-US" altLang="zh-CN" sz="2000" dirty="0">
                  <a:ea typeface="华文楷体" panose="02010600040101010101" pitchFamily="2" charset="-122"/>
                </a:endParaRPr>
              </a:p>
              <a:p>
                <a:pPr marL="0" indent="0">
                  <a:buNone/>
                </a:pPr>
                <a:r>
                  <a:rPr lang="zh-CN" altLang="en-US" sz="2000" dirty="0">
                    <a:ea typeface="华文楷体" panose="02010600040101010101" pitchFamily="2" charset="-122"/>
                  </a:rPr>
                  <a:t>基本思想：</a:t>
                </a:r>
                <a:r>
                  <a:rPr lang="en-US" altLang="zh-CN" sz="2000" dirty="0">
                    <a:solidFill>
                      <a:srgbClr val="C00000"/>
                    </a:solidFill>
                    <a:ea typeface="华文楷体" panose="02010600040101010101" pitchFamily="2" charset="-122"/>
                  </a:rPr>
                  <a:t> </a:t>
                </a:r>
                <a:r>
                  <a:rPr lang="en-US" altLang="zh-CN" sz="2000" dirty="0" err="1">
                    <a:ea typeface="华文楷体" panose="02010600040101010101" pitchFamily="2" charset="-122"/>
                  </a:rPr>
                  <a:t>Dijstra</a:t>
                </a:r>
                <a:r>
                  <a:rPr lang="zh-CN" altLang="en-US" sz="2000" dirty="0">
                    <a:ea typeface="华文楷体" panose="02010600040101010101" pitchFamily="2" charset="-122"/>
                  </a:rPr>
                  <a:t>算法重复以下两步</a:t>
                </a:r>
                <a:r>
                  <a:rPr lang="zh-CN" altLang="en-US" sz="2000" dirty="0" smtClean="0">
                    <a:ea typeface="华文楷体" panose="02010600040101010101" pitchFamily="2" charset="-122"/>
                  </a:rPr>
                  <a:t>操作：</a:t>
                </a:r>
                <a:endParaRPr lang="en-US" altLang="zh-CN" sz="2000" dirty="0">
                  <a:ea typeface="华文楷体" panose="02010600040101010101" pitchFamily="2" charset="-122"/>
                </a:endParaRPr>
              </a:p>
              <a:p>
                <a:pPr marL="0" indent="0">
                  <a:buNone/>
                </a:pPr>
                <a:r>
                  <a:rPr lang="en-US" altLang="zh-CN" sz="2000" dirty="0" smtClean="0">
                    <a:ea typeface="华文楷体" panose="02010600040101010101" pitchFamily="2" charset="-122"/>
                  </a:rPr>
                  <a:t>(1) </a:t>
                </a:r>
                <a:r>
                  <a:rPr lang="zh-CN" altLang="en-US" sz="2000" dirty="0" smtClean="0">
                    <a:ea typeface="华文楷体" panose="02010600040101010101" pitchFamily="2" charset="-122"/>
                  </a:rPr>
                  <a:t>从</a:t>
                </a:r>
                <a:r>
                  <a:rPr lang="en-US" altLang="zh-CN" sz="2000" dirty="0">
                    <a:ea typeface="华文楷体" panose="02010600040101010101" pitchFamily="2" charset="-122"/>
                  </a:rPr>
                  <a:t>V-S</a:t>
                </a:r>
                <a:r>
                  <a:rPr lang="zh-CN" altLang="en-US" sz="2000" dirty="0">
                    <a:ea typeface="华文楷体" panose="02010600040101010101" pitchFamily="2" charset="-122"/>
                  </a:rPr>
                  <a:t>集合中寻找最短路径估计最小的顶点</a:t>
                </a:r>
                <a:r>
                  <a:rPr lang="en-US" altLang="zh-CN" sz="2000" dirty="0">
                    <a:ea typeface="华文楷体" panose="02010600040101010101" pitchFamily="2" charset="-122"/>
                  </a:rPr>
                  <a:t>u</a:t>
                </a:r>
                <a:r>
                  <a:rPr lang="zh-CN" altLang="en-US" sz="2000" dirty="0">
                    <a:ea typeface="华文楷体" panose="02010600040101010101" pitchFamily="2" charset="-122"/>
                  </a:rPr>
                  <a:t>，将顶点</a:t>
                </a:r>
                <a:r>
                  <a:rPr lang="en-US" altLang="zh-CN" sz="2000" dirty="0">
                    <a:ea typeface="华文楷体" panose="02010600040101010101" pitchFamily="2" charset="-122"/>
                  </a:rPr>
                  <a:t>u</a:t>
                </a:r>
                <a:r>
                  <a:rPr lang="zh-CN" altLang="en-US" sz="2000" dirty="0">
                    <a:ea typeface="华文楷体" panose="02010600040101010101" pitchFamily="2" charset="-122"/>
                  </a:rPr>
                  <a:t>加入到集合</a:t>
                </a:r>
                <a:r>
                  <a:rPr lang="en-US" altLang="zh-CN" sz="2000" dirty="0">
                    <a:ea typeface="华文楷体" panose="02010600040101010101" pitchFamily="2" charset="-122"/>
                  </a:rPr>
                  <a:t>S</a:t>
                </a:r>
                <a:r>
                  <a:rPr lang="zh-CN" altLang="en-US" sz="2000" dirty="0" smtClean="0">
                    <a:ea typeface="华文楷体" panose="02010600040101010101" pitchFamily="2" charset="-122"/>
                  </a:rPr>
                  <a:t>中。</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(2) </a:t>
                </a:r>
                <a:r>
                  <a:rPr lang="zh-CN" altLang="en-US" sz="2000" dirty="0" smtClean="0">
                    <a:ea typeface="华文楷体" panose="02010600040101010101" pitchFamily="2" charset="-122"/>
                  </a:rPr>
                  <a:t>对</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的所有出边</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跨接</a:t>
                </a:r>
                <a:r>
                  <a:rPr lang="en-US" altLang="zh-CN" sz="2000" dirty="0">
                    <a:ea typeface="华文楷体" panose="02010600040101010101" pitchFamily="2" charset="-122"/>
                  </a:rPr>
                  <a:t>S</a:t>
                </a:r>
                <a:r>
                  <a:rPr lang="zh-CN" altLang="en-US" sz="2000" dirty="0" smtClean="0">
                    <a:ea typeface="华文楷体" panose="02010600040101010101" pitchFamily="2" charset="-122"/>
                  </a:rPr>
                  <a:t>集合和</a:t>
                </a:r>
                <a:r>
                  <a:rPr lang="en-US" altLang="zh-CN" sz="2000" dirty="0" smtClean="0">
                    <a:ea typeface="华文楷体" panose="02010600040101010101" pitchFamily="2" charset="-122"/>
                  </a:rPr>
                  <a:t>V-S</a:t>
                </a:r>
                <a:r>
                  <a:rPr lang="zh-CN" altLang="en-US" sz="2000" dirty="0" smtClean="0">
                    <a:ea typeface="华文楷体" panose="02010600040101010101" pitchFamily="2" charset="-122"/>
                  </a:rPr>
                  <a:t>集合</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进行松弛操作；</a:t>
                </a:r>
                <a:r>
                  <a:rPr lang="en-US" altLang="zh-CN" sz="2000" dirty="0" smtClean="0">
                    <a:ea typeface="华文楷体" panose="02010600040101010101" pitchFamily="2" charset="-122"/>
                  </a:rPr>
                  <a:t> </a:t>
                </a:r>
                <a:r>
                  <a:rPr lang="en-US" altLang="zh-CN" sz="2000" dirty="0">
                    <a:ea typeface="华文楷体" panose="02010600040101010101" pitchFamily="2" charset="-122"/>
                  </a:rPr>
                  <a:t>V-S</a:t>
                </a:r>
                <a:r>
                  <a:rPr lang="zh-CN" altLang="en-US" sz="2000" dirty="0">
                    <a:ea typeface="华文楷体" panose="02010600040101010101" pitchFamily="2" charset="-122"/>
                  </a:rPr>
                  <a:t>集合即</a:t>
                </a:r>
                <a:r>
                  <a:rPr lang="zh-CN" altLang="en-US" sz="2000" dirty="0" smtClean="0">
                    <a:ea typeface="华文楷体" panose="02010600040101010101" pitchFamily="2" charset="-122"/>
                  </a:rPr>
                  <a:t>最小优先队列</a:t>
                </a:r>
                <a:r>
                  <a:rPr lang="en-US" altLang="zh-CN" sz="2000" dirty="0" smtClean="0">
                    <a:ea typeface="华文楷体" panose="02010600040101010101" pitchFamily="2" charset="-122"/>
                  </a:rPr>
                  <a:t>Q</a:t>
                </a:r>
                <a:r>
                  <a:rPr lang="zh-CN" altLang="en-US" sz="2000" dirty="0" smtClean="0">
                    <a:ea typeface="华文楷体" panose="02010600040101010101" pitchFamily="2" charset="-122"/>
                  </a:rPr>
                  <a:t>。</a:t>
                </a:r>
                <a:endParaRPr lang="zh-CN" altLang="en-US" sz="2000" dirty="0">
                  <a:ea typeface="华文楷体" panose="02010600040101010101" pitchFamily="2" charset="-122"/>
                </a:endParaRPr>
              </a:p>
              <a:p>
                <a:pPr marL="0" indent="0">
                  <a:buNone/>
                </a:pPr>
                <a:endParaRPr lang="zh-CN" altLang="en-US" sz="20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126994" y="1042756"/>
                <a:ext cx="8458200" cy="5248275"/>
              </a:xfrm>
              <a:blipFill rotWithShape="1">
                <a:blip r:embed="rId1"/>
                <a:stretch>
                  <a:fillRect l="-7" t="-2" r="7" b="2"/>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文本框 5"/>
              <p:cNvSpPr txBox="1"/>
              <p:nvPr/>
            </p:nvSpPr>
            <p:spPr>
              <a:xfrm>
                <a:off x="66811" y="3488591"/>
                <a:ext cx="6096000" cy="3293209"/>
              </a:xfrm>
              <a:prstGeom prst="rect">
                <a:avLst/>
              </a:prstGeom>
              <a:noFill/>
              <a:ln>
                <a:solidFill>
                  <a:schemeClr val="accent1"/>
                </a:solidFill>
              </a:ln>
            </p:spPr>
            <p:txBody>
              <a:bodyPr wrap="square" rtlCol="0">
                <a:spAutoFit/>
              </a:bodyPr>
              <a:lstStyle/>
              <a:p>
                <a:r>
                  <a:rPr lang="en-US" altLang="zh-CN" sz="1600" dirty="0" smtClean="0">
                    <a:latin typeface="Times New Roman" panose="02020603050405020304" pitchFamily="18" charset="0"/>
                    <a:ea typeface="华文楷体" panose="02010600040101010101" pitchFamily="2" charset="-122"/>
                  </a:rPr>
                  <a:t>Dijstra</a:t>
                </a:r>
                <a:r>
                  <a:rPr lang="en-US" altLang="zh-CN" sz="1600" dirty="0">
                    <a:latin typeface="Times New Roman" panose="02020603050405020304" pitchFamily="18" charset="0"/>
                    <a:ea typeface="华文楷体" panose="02010600040101010101" pitchFamily="2" charset="-122"/>
                  </a:rPr>
                  <a:t>(Gra</a:t>
                </a:r>
                <a:r>
                  <a:rPr lang="en-US" altLang="zh-CN" sz="1600" dirty="0" smtClean="0">
                    <a:latin typeface="Times New Roman" panose="02020603050405020304" pitchFamily="18" charset="0"/>
                    <a:ea typeface="华文楷体" panose="02010600040101010101" pitchFamily="2" charset="-122"/>
                  </a:rPr>
                  <a:t>ph </a:t>
                </a:r>
                <a:r>
                  <a:rPr lang="en-US" altLang="zh-CN" sz="1600" dirty="0">
                    <a:latin typeface="Times New Roman" panose="02020603050405020304" pitchFamily="18" charset="0"/>
                    <a:ea typeface="华文楷体" panose="02010600040101010101" pitchFamily="2" charset="-122"/>
                  </a:rPr>
                  <a:t>G, function w, </a:t>
                </a:r>
                <a:r>
                  <a:rPr lang="en-US" altLang="zh-CN" sz="1600" dirty="0" err="1">
                    <a:latin typeface="Times New Roman" panose="02020603050405020304" pitchFamily="18" charset="0"/>
                    <a:ea typeface="华文楷体" panose="02010600040101010101" pitchFamily="2" charset="-122"/>
                  </a:rPr>
                  <a:t>int</a:t>
                </a:r>
                <a:r>
                  <a:rPr lang="en-US" altLang="zh-CN" sz="1600" dirty="0">
                    <a:latin typeface="Times New Roman" panose="02020603050405020304" pitchFamily="18" charset="0"/>
                    <a:ea typeface="华文楷体" panose="02010600040101010101" pitchFamily="2" charset="-122"/>
                  </a:rPr>
                  <a:t> s</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a:t>
                </a:r>
                <a:r>
                  <a:rPr lang="en-US" altLang="zh-CN" sz="1600" dirty="0">
                    <a:latin typeface="Times New Roman" panose="02020603050405020304" pitchFamily="18" charset="0"/>
                    <a:ea typeface="华文楷体" panose="02010600040101010101" pitchFamily="2" charset="-122"/>
                  </a:rPr>
                  <a:t>Initialize-Single-Source(G, s); </a:t>
                </a:r>
                <a:endParaRPr lang="en-US" altLang="zh-CN" sz="1600" dirty="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S =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Q = V;</a:t>
                </a:r>
                <a:r>
                  <a:rPr lang="zh-CN" altLang="en-US" sz="1600" dirty="0" smtClean="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//Q</a:t>
                </a:r>
                <a:r>
                  <a:rPr lang="zh-CN" altLang="en-US" sz="1600" dirty="0" smtClean="0">
                    <a:latin typeface="Times New Roman" panose="02020603050405020304" pitchFamily="18" charset="0"/>
                    <a:ea typeface="华文楷体" panose="02010600040101010101" pitchFamily="2" charset="-122"/>
                  </a:rPr>
                  <a:t>为顶点的优先队列，关键字为每个顶点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的</a:t>
                </a:r>
                <a:r>
                  <a:rPr lang="en-US" altLang="zh-CN" sz="1600" dirty="0" smtClean="0">
                    <a:latin typeface="Times New Roman" panose="02020603050405020304" pitchFamily="18" charset="0"/>
                    <a:ea typeface="华文楷体" panose="02010600040101010101" pitchFamily="2" charset="-122"/>
                  </a:rPr>
                  <a:t>d[v]</a:t>
                </a:r>
                <a:r>
                  <a:rPr lang="zh-CN" altLang="en-US" sz="1600" dirty="0" smtClean="0">
                    <a:latin typeface="Times New Roman" panose="02020603050405020304" pitchFamily="18" charset="0"/>
                    <a:ea typeface="华文楷体" panose="02010600040101010101" pitchFamily="2" charset="-122"/>
                  </a:rPr>
                  <a:t>值。</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while (Q !=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smtClean="0">
                    <a:latin typeface="Times New Roman" panose="02020603050405020304" pitchFamily="18" charset="0"/>
                    <a:ea typeface="华文楷体" panose="02010600040101010101" pitchFamily="2" charset="-122"/>
                  </a:rPr>
                  <a:t>) //</a:t>
                </a:r>
                <a:r>
                  <a:rPr lang="zh-CN" altLang="en-US" sz="1600" dirty="0" smtClean="0">
                    <a:latin typeface="Times New Roman" panose="02020603050405020304" pitchFamily="18" charset="0"/>
                    <a:ea typeface="华文楷体" panose="02010600040101010101" pitchFamily="2" charset="-122"/>
                  </a:rPr>
                  <a:t>队列不为空，</a:t>
                </a:r>
                <a14:m>
                  <m:oMath xmlns:m="http://schemas.openxmlformats.org/officeDocument/2006/math">
                    <m:r>
                      <m:rPr>
                        <m:sty m:val="p"/>
                      </m:rPr>
                      <a:rPr lang="en-US" altLang="zh-CN" sz="1600" b="0" i="0" smtClean="0">
                        <a:solidFill>
                          <a:srgbClr val="C00000"/>
                        </a:solidFill>
                        <a:latin typeface="Cambria Math" panose="02040503050406030204" pitchFamily="18" charset="0"/>
                        <a:ea typeface="Cambria Math" panose="02040503050406030204" pitchFamily="18" charset="0"/>
                      </a:rPr>
                      <m:t>Q</m:t>
                    </m:r>
                    <m:r>
                      <a:rPr lang="en-US" altLang="zh-CN" sz="1600" i="1">
                        <a:solidFill>
                          <a:srgbClr val="C00000"/>
                        </a:solidFill>
                        <a:latin typeface="Cambria Math" panose="02040503050406030204" pitchFamily="18" charset="0"/>
                        <a:ea typeface="Cambria Math" panose="02040503050406030204" pitchFamily="18" charset="0"/>
                      </a:rPr>
                      <m:t>=</m:t>
                    </m:r>
                    <m:r>
                      <a:rPr lang="en-US" altLang="zh-CN" sz="1600" i="1" smtClean="0">
                        <a:solidFill>
                          <a:srgbClr val="C00000"/>
                        </a:solidFill>
                        <a:latin typeface="Cambria Math" panose="02040503050406030204" pitchFamily="18" charset="0"/>
                        <a:ea typeface="Cambria Math" panose="02040503050406030204" pitchFamily="18" charset="0"/>
                      </a:rPr>
                      <m:t>=</m:t>
                    </m:r>
                    <m:r>
                      <m:rPr>
                        <m:sty m:val="p"/>
                      </m:rPr>
                      <a:rPr lang="en-US" altLang="zh-CN" sz="1600">
                        <a:solidFill>
                          <a:srgbClr val="C00000"/>
                        </a:solidFill>
                        <a:latin typeface="Cambria Math" panose="02040503050406030204" pitchFamily="18" charset="0"/>
                        <a:ea typeface="Cambria Math" panose="02040503050406030204" pitchFamily="18" charset="0"/>
                      </a:rPr>
                      <m:t>V</m:t>
                    </m:r>
                    <m:r>
                      <a:rPr lang="en-US" altLang="zh-CN" sz="1600">
                        <a:solidFill>
                          <a:srgbClr val="C00000"/>
                        </a:solidFill>
                        <a:latin typeface="Cambria Math" panose="02040503050406030204" pitchFamily="18" charset="0"/>
                        <a:ea typeface="Cambria Math" panose="02040503050406030204" pitchFamily="18" charset="0"/>
                      </a:rPr>
                      <m:t>−</m:t>
                    </m:r>
                    <m:r>
                      <m:rPr>
                        <m:sty m:val="p"/>
                      </m:rPr>
                      <a:rPr lang="en-US" altLang="zh-CN" sz="1600">
                        <a:solidFill>
                          <a:srgbClr val="C00000"/>
                        </a:solidFill>
                        <a:latin typeface="Cambria Math" panose="02040503050406030204" pitchFamily="18" charset="0"/>
                        <a:ea typeface="Cambria Math" panose="02040503050406030204" pitchFamily="18" charset="0"/>
                      </a:rPr>
                      <m:t>S</m:t>
                    </m:r>
                  </m:oMath>
                </a14:m>
                <a:r>
                  <a:rPr lang="en-US" altLang="zh-CN" sz="1600" dirty="0">
                    <a:solidFill>
                      <a:srgbClr val="C00000"/>
                    </a:solidFill>
                    <a:latin typeface="Times New Roman" panose="02020603050405020304" pitchFamily="18" charset="0"/>
                    <a:ea typeface="华文楷体" panose="02010600040101010101" pitchFamily="2" charset="-122"/>
                  </a:rPr>
                  <a:t> </a:t>
                </a:r>
                <a:r>
                  <a:rPr lang="en-US" altLang="zh-CN" sz="1600" dirty="0" smtClean="0">
                    <a:solidFill>
                      <a:srgbClr val="C00000"/>
                    </a:solidFill>
                    <a:latin typeface="Times New Roman" panose="02020603050405020304" pitchFamily="18" charset="0"/>
                    <a:ea typeface="华文楷体" panose="02010600040101010101" pitchFamily="2" charset="-122"/>
                  </a:rPr>
                  <a:t>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u </a:t>
                </a:r>
                <a:r>
                  <a:rPr lang="en-US" altLang="zh-CN" sz="1600" dirty="0">
                    <a:latin typeface="Times New Roman" panose="02020603050405020304" pitchFamily="18" charset="0"/>
                    <a:ea typeface="华文楷体" panose="02010600040101010101" pitchFamily="2" charset="-122"/>
                  </a:rPr>
                  <a:t>= </a:t>
                </a:r>
                <a:r>
                  <a:rPr lang="en-US" altLang="zh-CN" sz="1600" dirty="0" err="1">
                    <a:latin typeface="Times New Roman" panose="02020603050405020304" pitchFamily="18" charset="0"/>
                    <a:ea typeface="华文楷体" panose="02010600040101010101" pitchFamily="2" charset="-122"/>
                  </a:rPr>
                  <a:t>DeleteMin</a:t>
                </a:r>
                <a:r>
                  <a:rPr lang="en-US" altLang="zh-CN" sz="1600" dirty="0">
                    <a:latin typeface="Times New Roman" panose="02020603050405020304" pitchFamily="18" charset="0"/>
                    <a:ea typeface="华文楷体" panose="02010600040101010101" pitchFamily="2" charset="-122"/>
                  </a:rPr>
                  <a:t>(Q) //u</a:t>
                </a:r>
                <a:r>
                  <a:rPr lang="zh-CN" altLang="en-US" sz="1600" dirty="0">
                    <a:latin typeface="Times New Roman" panose="02020603050405020304" pitchFamily="18" charset="0"/>
                    <a:ea typeface="华文楷体" panose="02010600040101010101" pitchFamily="2" charset="-122"/>
                  </a:rPr>
                  <a:t>的</a:t>
                </a:r>
                <a:r>
                  <a:rPr lang="en-US" altLang="zh-CN" sz="1600" dirty="0">
                    <a:latin typeface="Times New Roman" panose="02020603050405020304" pitchFamily="18" charset="0"/>
                    <a:ea typeface="华文楷体" panose="02010600040101010101" pitchFamily="2" charset="-122"/>
                  </a:rPr>
                  <a:t>d[u]</a:t>
                </a:r>
                <a:r>
                  <a:rPr lang="zh-CN" altLang="en-US" sz="1600" dirty="0">
                    <a:latin typeface="Times New Roman" panose="02020603050405020304" pitchFamily="18" charset="0"/>
                    <a:ea typeface="华文楷体" panose="02010600040101010101" pitchFamily="2" charset="-122"/>
                  </a:rPr>
                  <a:t>值</a:t>
                </a:r>
                <a:r>
                  <a:rPr lang="zh-CN" altLang="en-US" sz="1600" dirty="0" smtClean="0">
                    <a:ea typeface="华文楷体" panose="02010600040101010101" pitchFamily="2" charset="-122"/>
                  </a:rPr>
                  <a:t>最小，出队</a:t>
                </a:r>
                <a:endParaRPr lang="en-US" altLang="zh-CN" sz="1600" dirty="0" smtClean="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S = S</a:t>
                </a:r>
                <a14:m>
                  <m:oMath xmlns:m="http://schemas.openxmlformats.org/officeDocument/2006/math">
                    <m:r>
                      <a:rPr lang="en-US" altLang="zh-CN" sz="1600" b="0" i="0" smtClean="0">
                        <a:latin typeface="Cambria Math" panose="02040503050406030204" pitchFamily="18" charset="0"/>
                        <a:ea typeface="Cambria Math" panose="02040503050406030204" pitchFamily="18" charset="0"/>
                      </a:rPr>
                      <m:t> </m:t>
                    </m:r>
                    <m:r>
                      <a:rPr lang="en-US" altLang="zh-CN" sz="1600" i="1" smtClean="0">
                        <a:latin typeface="Cambria Math" panose="02040503050406030204" pitchFamily="18" charset="0"/>
                        <a:ea typeface="Cambria Math" panose="02040503050406030204" pitchFamily="18" charset="0"/>
                      </a:rPr>
                      <m:t>∪</m:t>
                    </m:r>
                  </m:oMath>
                </a14:m>
                <a:r>
                  <a:rPr lang="en-US" altLang="zh-CN" sz="1600" dirty="0" smtClean="0">
                    <a:latin typeface="Times New Roman" panose="02020603050405020304" pitchFamily="18" charset="0"/>
                    <a:ea typeface="华文楷体" panose="02010600040101010101" pitchFamily="2" charset="-122"/>
                  </a:rPr>
                  <a:t> {u};//</a:t>
                </a:r>
                <a:r>
                  <a:rPr lang="zh-CN" altLang="en-US" sz="1600" dirty="0" smtClean="0">
                    <a:latin typeface="Times New Roman" panose="02020603050405020304" pitchFamily="18" charset="0"/>
                    <a:ea typeface="华文楷体" panose="02010600040101010101" pitchFamily="2" charset="-122"/>
                  </a:rPr>
                  <a:t>出队后并入集合</a:t>
                </a:r>
                <a:r>
                  <a:rPr lang="en-US" altLang="zh-CN" sz="1600" dirty="0">
                    <a:latin typeface="Times New Roman" panose="02020603050405020304" pitchFamily="18" charset="0"/>
                    <a:ea typeface="华文楷体" panose="02010600040101010101" pitchFamily="2" charset="-122"/>
                  </a:rPr>
                  <a:t>S</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r>
                  <a:rPr lang="en-US" altLang="zh-CN" sz="1600" dirty="0">
                    <a:latin typeface="Times New Roman" panose="02020603050405020304" pitchFamily="18" charset="0"/>
                    <a:ea typeface="华文楷体" panose="02010600040101010101" pitchFamily="2" charset="-122"/>
                  </a:rPr>
                  <a:t>for (each &lt;</a:t>
                </a:r>
                <a:r>
                  <a:rPr lang="en-US" altLang="zh-CN" sz="1600" dirty="0" err="1">
                    <a:latin typeface="Times New Roman" panose="02020603050405020304" pitchFamily="18" charset="0"/>
                    <a:ea typeface="华文楷体" panose="02010600040101010101" pitchFamily="2" charset="-122"/>
                  </a:rPr>
                  <a:t>u,v</a:t>
                </a:r>
                <a:r>
                  <a:rPr lang="en-US" altLang="zh-CN" sz="1600" dirty="0">
                    <a:latin typeface="Times New Roman" panose="02020603050405020304" pitchFamily="18" charset="0"/>
                    <a:ea typeface="华文楷体" panose="02010600040101010101" pitchFamily="2" charset="-122"/>
                  </a:rPr>
                  <a:t>&gt; </a:t>
                </a:r>
                <a14:m>
                  <m:oMath xmlns:m="http://schemas.openxmlformats.org/officeDocument/2006/math">
                    <m:r>
                      <a:rPr lang="en-US" altLang="zh-CN" sz="1600">
                        <a:latin typeface="Cambria Math" panose="02040503050406030204" pitchFamily="18" charset="0"/>
                        <a:ea typeface="华文楷体" panose="02010600040101010101" pitchFamily="2" charset="-122"/>
                      </a:rPr>
                      <m:t>∈</m:t>
                    </m:r>
                  </m:oMath>
                </a14:m>
                <a:r>
                  <a:rPr lang="en-US" altLang="zh-CN" sz="1600" dirty="0" smtClean="0">
                    <a:latin typeface="Times New Roman" panose="02020603050405020304" pitchFamily="18" charset="0"/>
                    <a:ea typeface="华文楷体" panose="02010600040101010101" pitchFamily="2" charset="-122"/>
                  </a:rPr>
                  <a:t>E &amp;&amp; v</a:t>
                </a:r>
                <a:r>
                  <a:rPr lang="en-US" altLang="zh-CN" sz="1600" dirty="0">
                    <a:ea typeface="Cambria Math" panose="02040503050406030204" pitchFamily="18" charset="0"/>
                  </a:rPr>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r>
                      <m:rPr>
                        <m:sty m:val="p"/>
                      </m:rPr>
                      <a:rPr lang="en-US" altLang="zh-CN" sz="1600" b="0" i="0" smtClean="0">
                        <a:latin typeface="Cambria Math" panose="02040503050406030204" pitchFamily="18" charset="0"/>
                        <a:ea typeface="Cambria Math" panose="02040503050406030204" pitchFamily="18" charset="0"/>
                      </a:rPr>
                      <m:t>V</m:t>
                    </m:r>
                    <m:r>
                      <a:rPr lang="en-US" altLang="zh-CN" sz="1600" b="0" i="0" smtClean="0">
                        <a:latin typeface="Cambria Math" panose="02040503050406030204" pitchFamily="18" charset="0"/>
                        <a:ea typeface="Cambria Math" panose="02040503050406030204" pitchFamily="18" charset="0"/>
                      </a:rPr>
                      <m:t>−</m:t>
                    </m:r>
                    <m:r>
                      <m:rPr>
                        <m:sty m:val="p"/>
                      </m:rPr>
                      <a:rPr lang="en-US" altLang="zh-CN" sz="1600">
                        <a:latin typeface="Cambria Math" panose="02040503050406030204" pitchFamily="18" charset="0"/>
                        <a:ea typeface="Cambria Math" panose="02040503050406030204" pitchFamily="18" charset="0"/>
                      </a:rPr>
                      <m:t>S</m:t>
                    </m:r>
                  </m:oMath>
                </a14:m>
                <a:r>
                  <a:rPr lang="en-US" altLang="zh-CN" sz="1600" dirty="0" smtClean="0">
                    <a:latin typeface="Times New Roman" panose="02020603050405020304" pitchFamily="18" charset="0"/>
                    <a:ea typeface="华文楷体" panose="02010600040101010101" pitchFamily="2" charset="-122"/>
                  </a:rPr>
                  <a:t>) </a:t>
                </a:r>
                <a:r>
                  <a:rPr lang="en-US" altLang="zh-CN" sz="1600" dirty="0">
                    <a:latin typeface="Times New Roman" panose="02020603050405020304" pitchFamily="18" charset="0"/>
                    <a:ea typeface="华文楷体" panose="02010600040101010101" pitchFamily="2" charset="-122"/>
                  </a:rPr>
                  <a:t>//v</a:t>
                </a:r>
                <a:r>
                  <a:rPr lang="zh-CN" altLang="en-US" sz="1600" dirty="0">
                    <a:latin typeface="Times New Roman" panose="02020603050405020304" pitchFamily="18" charset="0"/>
                    <a:ea typeface="华文楷体" panose="02010600040101010101" pitchFamily="2" charset="-122"/>
                  </a:rPr>
                  <a:t>是</a:t>
                </a:r>
                <a:r>
                  <a:rPr lang="en-US" altLang="zh-CN" sz="1600" dirty="0">
                    <a:latin typeface="Times New Roman" panose="02020603050405020304" pitchFamily="18" charset="0"/>
                    <a:ea typeface="华文楷体" panose="02010600040101010101" pitchFamily="2" charset="-122"/>
                  </a:rPr>
                  <a:t>u</a:t>
                </a:r>
                <a:r>
                  <a:rPr lang="zh-CN" altLang="en-US" sz="1600" dirty="0">
                    <a:latin typeface="Times New Roman" panose="02020603050405020304" pitchFamily="18" charset="0"/>
                    <a:ea typeface="华文楷体" panose="02010600040101010101" pitchFamily="2" charset="-122"/>
                  </a:rPr>
                  <a:t>的邻接</a:t>
                </a:r>
                <a:r>
                  <a:rPr lang="zh-CN" altLang="en-US" sz="1600" dirty="0" smtClean="0">
                    <a:latin typeface="Times New Roman" panose="02020603050405020304" pitchFamily="18" charset="0"/>
                    <a:ea typeface="华文楷体" panose="02010600040101010101" pitchFamily="2" charset="-122"/>
                  </a:rPr>
                  <a:t>顶点</a:t>
                </a:r>
                <a:r>
                  <a:rPr lang="zh-CN" altLang="en-US" sz="1600" dirty="0">
                    <a:latin typeface="Times New Roman" panose="02020603050405020304" pitchFamily="18" charset="0"/>
                    <a:ea typeface="华文楷体" panose="02010600040101010101" pitchFamily="2" charset="-122"/>
                  </a:rPr>
                  <a:t>且</a:t>
                </a:r>
                <a:r>
                  <a:rPr lang="en-US" altLang="zh-CN" sz="1600" dirty="0">
                    <a:latin typeface="Times New Roman" panose="02020603050405020304" pitchFamily="18" charset="0"/>
                    <a:ea typeface="华文楷体" panose="02010600040101010101" pitchFamily="2" charset="-122"/>
                  </a:rPr>
                  <a:t>v</a:t>
                </a:r>
                <a:r>
                  <a:rPr lang="en-US" altLang="zh-CN" sz="1600" dirty="0">
                    <a:ea typeface="Cambria Math" panose="02040503050406030204" pitchFamily="18" charset="0"/>
                  </a:rPr>
                  <a:t>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r>
                      <m:rPr>
                        <m:sty m:val="p"/>
                      </m:rPr>
                      <a:rPr lang="en-US" altLang="zh-CN" sz="1600">
                        <a:latin typeface="Cambria Math" panose="02040503050406030204" pitchFamily="18" charset="0"/>
                        <a:ea typeface="Cambria Math" panose="02040503050406030204" pitchFamily="18" charset="0"/>
                      </a:rPr>
                      <m:t>V</m:t>
                    </m:r>
                    <m:r>
                      <a:rPr lang="en-US" altLang="zh-CN" sz="1600">
                        <a:latin typeface="Cambria Math" panose="02040503050406030204" pitchFamily="18" charset="0"/>
                        <a:ea typeface="Cambria Math" panose="02040503050406030204" pitchFamily="18" charset="0"/>
                      </a:rPr>
                      <m:t>−</m:t>
                    </m:r>
                    <m:r>
                      <m:rPr>
                        <m:sty m:val="p"/>
                      </m:rPr>
                      <a:rPr lang="en-US" altLang="zh-CN" sz="1600">
                        <a:latin typeface="Cambria Math" panose="02040503050406030204" pitchFamily="18" charset="0"/>
                        <a:ea typeface="Cambria Math" panose="02040503050406030204" pitchFamily="18" charset="0"/>
                      </a:rPr>
                      <m:t>S</m:t>
                    </m:r>
                  </m:oMath>
                </a14:m>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Relax(</a:t>
                </a:r>
                <a:r>
                  <a:rPr lang="en-US" altLang="zh-CN" sz="1600" dirty="0" err="1" smtClean="0">
                    <a:latin typeface="Times New Roman" panose="02020603050405020304" pitchFamily="18" charset="0"/>
                    <a:ea typeface="华文楷体" panose="02010600040101010101" pitchFamily="2" charset="-122"/>
                  </a:rPr>
                  <a:t>u,v,w</a:t>
                </a:r>
                <a:r>
                  <a:rPr lang="en-US" altLang="zh-CN" sz="1600" dirty="0" smtClean="0">
                    <a:latin typeface="Times New Roman" panose="02020603050405020304" pitchFamily="18" charset="0"/>
                    <a:ea typeface="华文楷体" panose="02010600040101010101" pitchFamily="2" charset="-122"/>
                  </a:rPr>
                  <a:t>(</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a:t>
                </a:r>
                <a:endParaRPr lang="en-US" altLang="zh-CN" sz="1600" dirty="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a:t>
                </a:r>
                <a:endParaRPr lang="zh-CN" altLang="en-US" sz="1600" dirty="0"/>
              </a:p>
            </p:txBody>
          </p:sp>
        </mc:Choice>
        <mc:Fallback>
          <p:sp>
            <p:nvSpPr>
              <p:cNvPr id="6" name="文本框 5"/>
              <p:cNvSpPr txBox="1">
                <a:spLocks noRot="1" noChangeAspect="1" noMove="1" noResize="1" noEditPoints="1" noAdjustHandles="1" noChangeArrowheads="1" noChangeShapeType="1" noTextEdit="1"/>
              </p:cNvSpPr>
              <p:nvPr/>
            </p:nvSpPr>
            <p:spPr>
              <a:xfrm>
                <a:off x="66811" y="3488591"/>
                <a:ext cx="6096000" cy="3293209"/>
              </a:xfrm>
              <a:prstGeom prst="rect">
                <a:avLst/>
              </a:prstGeom>
              <a:blipFill rotWithShape="1">
                <a:blip r:embed="rId2"/>
                <a:stretch>
                  <a:fillRect l="-86" t="-151" r="-71" b="-135"/>
                </a:stretch>
              </a:blipFill>
              <a:ln>
                <a:solidFill>
                  <a:schemeClr val="accent1"/>
                </a:solidFill>
              </a:ln>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6388223" y="3179057"/>
            <a:ext cx="2637809" cy="3374143"/>
          </a:xfrm>
          <a:prstGeom prst="rect">
            <a:avLst/>
          </a:prstGeom>
        </p:spPr>
      </p:pic>
      <p:sp>
        <p:nvSpPr>
          <p:cNvPr id="7" name="文本框 6"/>
          <p:cNvSpPr txBox="1"/>
          <p:nvPr/>
        </p:nvSpPr>
        <p:spPr>
          <a:xfrm>
            <a:off x="8353200" y="3813365"/>
            <a:ext cx="292177" cy="369332"/>
          </a:xfrm>
          <a:prstGeom prst="rect">
            <a:avLst/>
          </a:prstGeom>
          <a:noFill/>
        </p:spPr>
        <p:txBody>
          <a:bodyPr wrap="square" rtlCol="0">
            <a:spAutoFit/>
          </a:bodyPr>
          <a:lstStyle/>
          <a:p>
            <a:r>
              <a:rPr lang="en-US" altLang="zh-CN" dirty="0" smtClean="0">
                <a:solidFill>
                  <a:srgbClr val="C00000"/>
                </a:solidFill>
              </a:rPr>
              <a:t>Q</a:t>
            </a:r>
            <a:endParaRPr lang="zh-CN" altLang="en-US" dirty="0">
              <a:solidFill>
                <a:srgbClr val="C00000"/>
              </a:solidFill>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19100" y="1137606"/>
            <a:ext cx="8229600" cy="5248275"/>
          </a:xfrm>
        </p:spPr>
        <p:txBody>
          <a:bodyPr/>
          <a:lstStyle/>
          <a:p>
            <a:pPr marL="0" indent="0">
              <a:buNone/>
            </a:pPr>
            <a:r>
              <a:rPr lang="en-US" altLang="zh-CN" sz="2000" dirty="0">
                <a:solidFill>
                  <a:srgbClr val="C00000"/>
                </a:solidFill>
                <a:ea typeface="华文楷体" panose="02010600040101010101" pitchFamily="2" charset="-122"/>
              </a:rPr>
              <a:t>[</a:t>
            </a:r>
            <a:r>
              <a:rPr lang="en-US" altLang="zh-CN" sz="2000" dirty="0" err="1">
                <a:solidFill>
                  <a:srgbClr val="C00000"/>
                </a:solidFill>
                <a:ea typeface="华文楷体" panose="02010600040101010101" pitchFamily="2" charset="-122"/>
              </a:rPr>
              <a:t>Dijstra</a:t>
            </a:r>
            <a:r>
              <a:rPr lang="zh-CN" altLang="en-US" sz="2000" dirty="0">
                <a:solidFill>
                  <a:srgbClr val="C00000"/>
                </a:solidFill>
                <a:ea typeface="华文楷体" panose="02010600040101010101" pitchFamily="2" charset="-122"/>
              </a:rPr>
              <a:t>算法示例</a:t>
            </a:r>
            <a:r>
              <a:rPr lang="en-US" altLang="zh-CN" sz="2000" dirty="0">
                <a:solidFill>
                  <a:srgbClr val="C00000"/>
                </a:solidFill>
                <a:ea typeface="华文楷体" panose="02010600040101010101" pitchFamily="2" charset="-122"/>
              </a:rPr>
              <a:t>]</a:t>
            </a:r>
            <a:endParaRPr lang="zh-CN" altLang="en-US" sz="2000" dirty="0">
              <a:solidFill>
                <a:srgbClr val="C00000"/>
              </a:solidFill>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1"/>
          <a:stretch>
            <a:fillRect/>
          </a:stretch>
        </p:blipFill>
        <p:spPr>
          <a:xfrm>
            <a:off x="302581" y="1480305"/>
            <a:ext cx="2276475" cy="1919288"/>
          </a:xfrm>
          <a:prstGeom prst="rect">
            <a:avLst/>
          </a:prstGeom>
        </p:spPr>
      </p:pic>
      <p:pic>
        <p:nvPicPr>
          <p:cNvPr id="7" name="图片 6"/>
          <p:cNvPicPr>
            <a:picLocks noChangeAspect="1"/>
          </p:cNvPicPr>
          <p:nvPr/>
        </p:nvPicPr>
        <p:blipFill>
          <a:blip r:embed="rId2"/>
          <a:stretch>
            <a:fillRect/>
          </a:stretch>
        </p:blipFill>
        <p:spPr>
          <a:xfrm>
            <a:off x="3102931" y="1480305"/>
            <a:ext cx="2276476" cy="1919288"/>
          </a:xfrm>
          <a:prstGeom prst="rect">
            <a:avLst/>
          </a:prstGeom>
        </p:spPr>
      </p:pic>
      <p:pic>
        <p:nvPicPr>
          <p:cNvPr id="9" name="图片 8"/>
          <p:cNvPicPr>
            <a:picLocks noChangeAspect="1"/>
          </p:cNvPicPr>
          <p:nvPr/>
        </p:nvPicPr>
        <p:blipFill>
          <a:blip r:embed="rId3"/>
          <a:stretch>
            <a:fillRect/>
          </a:stretch>
        </p:blipFill>
        <p:spPr>
          <a:xfrm>
            <a:off x="5851264" y="1371600"/>
            <a:ext cx="2325579" cy="1960687"/>
          </a:xfrm>
          <a:prstGeom prst="rect">
            <a:avLst/>
          </a:prstGeom>
        </p:spPr>
      </p:pic>
      <p:pic>
        <p:nvPicPr>
          <p:cNvPr id="11" name="图片 10"/>
          <p:cNvPicPr>
            <a:picLocks noChangeAspect="1"/>
          </p:cNvPicPr>
          <p:nvPr/>
        </p:nvPicPr>
        <p:blipFill>
          <a:blip r:embed="rId4"/>
          <a:stretch>
            <a:fillRect/>
          </a:stretch>
        </p:blipFill>
        <p:spPr>
          <a:xfrm>
            <a:off x="246819" y="3470399"/>
            <a:ext cx="2325579" cy="1960687"/>
          </a:xfrm>
          <a:prstGeom prst="rect">
            <a:avLst/>
          </a:prstGeom>
        </p:spPr>
      </p:pic>
      <p:pic>
        <p:nvPicPr>
          <p:cNvPr id="12" name="图片 11"/>
          <p:cNvPicPr>
            <a:picLocks noChangeAspect="1"/>
          </p:cNvPicPr>
          <p:nvPr/>
        </p:nvPicPr>
        <p:blipFill>
          <a:blip r:embed="rId5"/>
          <a:stretch>
            <a:fillRect/>
          </a:stretch>
        </p:blipFill>
        <p:spPr>
          <a:xfrm>
            <a:off x="3052348" y="3482473"/>
            <a:ext cx="2325579" cy="1960687"/>
          </a:xfrm>
          <a:prstGeom prst="rect">
            <a:avLst/>
          </a:prstGeom>
        </p:spPr>
      </p:pic>
      <p:cxnSp>
        <p:nvCxnSpPr>
          <p:cNvPr id="15" name="直接连接符 14"/>
          <p:cNvCxnSpPr/>
          <p:nvPr/>
        </p:nvCxnSpPr>
        <p:spPr>
          <a:xfrm flipV="1">
            <a:off x="0" y="3332287"/>
            <a:ext cx="9144000" cy="2051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6" name="图片 15"/>
          <p:cNvPicPr>
            <a:picLocks noChangeAspect="1"/>
          </p:cNvPicPr>
          <p:nvPr/>
        </p:nvPicPr>
        <p:blipFill>
          <a:blip r:embed="rId6"/>
          <a:stretch>
            <a:fillRect/>
          </a:stretch>
        </p:blipFill>
        <p:spPr>
          <a:xfrm>
            <a:off x="5836943" y="3429000"/>
            <a:ext cx="2339900" cy="1972761"/>
          </a:xfrm>
          <a:prstGeom prst="rect">
            <a:avLst/>
          </a:prstGeom>
        </p:spPr>
      </p:pic>
      <p:cxnSp>
        <p:nvCxnSpPr>
          <p:cNvPr id="17" name="直接连接符 16"/>
          <p:cNvCxnSpPr/>
          <p:nvPr/>
        </p:nvCxnSpPr>
        <p:spPr>
          <a:xfrm>
            <a:off x="0" y="5443160"/>
            <a:ext cx="9144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直接连接符 20"/>
          <p:cNvCxnSpPr/>
          <p:nvPr/>
        </p:nvCxnSpPr>
        <p:spPr>
          <a:xfrm>
            <a:off x="2819400" y="1094165"/>
            <a:ext cx="0" cy="436106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直接连接符 21"/>
          <p:cNvCxnSpPr/>
          <p:nvPr/>
        </p:nvCxnSpPr>
        <p:spPr>
          <a:xfrm>
            <a:off x="5638800" y="1082091"/>
            <a:ext cx="0" cy="436106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p:cNvSpPr txBox="1"/>
          <p:nvPr/>
        </p:nvSpPr>
        <p:spPr>
          <a:xfrm>
            <a:off x="219446" y="5496633"/>
            <a:ext cx="7697941" cy="1323439"/>
          </a:xfrm>
          <a:prstGeom prst="rect">
            <a:avLst/>
          </a:prstGeom>
          <a:noFill/>
          <a:ln>
            <a:solidFill>
              <a:schemeClr val="accent1"/>
            </a:solidFill>
          </a:ln>
        </p:spPr>
        <p:txBody>
          <a:bodyPr wrap="none" rtlCol="0">
            <a:spAutoFit/>
          </a:bodyPr>
          <a:lstStyle/>
          <a:p>
            <a:pPr marL="342900" indent="-342900">
              <a:buAutoNum type="arabicParenBoth"/>
            </a:pPr>
            <a:r>
              <a:rPr lang="zh-CN" altLang="en-US" sz="1600" dirty="0" smtClean="0">
                <a:latin typeface="Times New Roman" panose="02020603050405020304" pitchFamily="18" charset="0"/>
                <a:ea typeface="华文楷体" panose="02010600040101010101" pitchFamily="2" charset="-122"/>
              </a:rPr>
              <a:t>源顶点</a:t>
            </a:r>
            <a:r>
              <a:rPr lang="en-US" altLang="zh-CN" sz="1600" dirty="0" smtClean="0">
                <a:latin typeface="Times New Roman" panose="02020603050405020304" pitchFamily="18" charset="0"/>
                <a:ea typeface="华文楷体" panose="02010600040101010101" pitchFamily="2" charset="-122"/>
              </a:rPr>
              <a:t>s</a:t>
            </a:r>
            <a:r>
              <a:rPr lang="zh-CN" altLang="en-US" sz="1600" dirty="0" smtClean="0">
                <a:latin typeface="Times New Roman" panose="02020603050405020304" pitchFamily="18" charset="0"/>
                <a:ea typeface="华文楷体" panose="02010600040101010101" pitchFamily="2" charset="-122"/>
              </a:rPr>
              <a:t>，每个顶点中的数值为该顶点的最短路径估计；</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(2) </a:t>
            </a:r>
            <a:r>
              <a:rPr lang="zh-CN" altLang="en-US" sz="1600" dirty="0" smtClean="0">
                <a:latin typeface="Times New Roman" panose="02020603050405020304" pitchFamily="18" charset="0"/>
                <a:ea typeface="华文楷体" panose="02010600040101010101" pitchFamily="2" charset="-122"/>
              </a:rPr>
              <a:t>红色边表示前驱关系，其起始顶点是终端顶点的前驱值</a:t>
            </a:r>
            <a:r>
              <a:rPr lang="en-US" altLang="zh-CN" sz="1600" dirty="0" smtClean="0">
                <a:latin typeface="Times New Roman" panose="02020603050405020304" pitchFamily="18" charset="0"/>
                <a:ea typeface="华文楷体" panose="02010600040101010101" pitchFamily="2" charset="-122"/>
              </a:rPr>
              <a:t>p[v]</a:t>
            </a:r>
            <a:r>
              <a:rPr lang="zh-CN" altLang="en-US"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(3) </a:t>
            </a:r>
            <a:r>
              <a:rPr lang="zh-CN" altLang="en-US" sz="1600" dirty="0" smtClean="0">
                <a:latin typeface="Times New Roman" panose="02020603050405020304" pitchFamily="18" charset="0"/>
                <a:ea typeface="华文楷体" panose="02010600040101010101" pitchFamily="2" charset="-122"/>
              </a:rPr>
              <a:t>黑色顶点属于集合</a:t>
            </a:r>
            <a:r>
              <a:rPr lang="en-US" altLang="zh-CN" sz="1600" dirty="0" smtClean="0">
                <a:latin typeface="Times New Roman" panose="02020603050405020304" pitchFamily="18" charset="0"/>
                <a:ea typeface="华文楷体" panose="02010600040101010101" pitchFamily="2" charset="-122"/>
              </a:rPr>
              <a:t>S</a:t>
            </a:r>
            <a:r>
              <a:rPr lang="zh-CN" altLang="en-US" sz="1600" dirty="0" smtClean="0">
                <a:latin typeface="Times New Roman" panose="02020603050405020304" pitchFamily="18" charset="0"/>
                <a:ea typeface="华文楷体" panose="02010600040101010101" pitchFamily="2" charset="-122"/>
              </a:rPr>
              <a:t>，白色顶点属于最小优先队列</a:t>
            </a:r>
            <a:r>
              <a:rPr lang="en-US" altLang="zh-CN" sz="1600" dirty="0" smtClean="0">
                <a:latin typeface="Times New Roman" panose="02020603050405020304" pitchFamily="18" charset="0"/>
                <a:ea typeface="华文楷体" panose="02010600040101010101" pitchFamily="2" charset="-122"/>
              </a:rPr>
              <a:t>Q=V-S</a:t>
            </a:r>
            <a:r>
              <a:rPr lang="zh-CN" altLang="en-US"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(4) </a:t>
            </a:r>
            <a:r>
              <a:rPr lang="zh-CN" altLang="en-US" sz="1600" dirty="0">
                <a:latin typeface="Times New Roman" panose="02020603050405020304" pitchFamily="18" charset="0"/>
                <a:ea typeface="华文楷体" panose="02010600040101010101" pitchFamily="2" charset="-122"/>
              </a:rPr>
              <a:t>加阴影的顶点</a:t>
            </a:r>
            <a:r>
              <a:rPr lang="zh-CN" altLang="en-US" sz="1600" dirty="0" smtClean="0">
                <a:latin typeface="Times New Roman" panose="02020603050405020304" pitchFamily="18" charset="0"/>
                <a:ea typeface="华文楷体" panose="02010600040101010101" pitchFamily="2" charset="-122"/>
              </a:rPr>
              <a:t>为最小优先队列中</a:t>
            </a:r>
            <a:r>
              <a:rPr lang="en-US" altLang="zh-CN" sz="1600" dirty="0" smtClean="0">
                <a:latin typeface="Times New Roman" panose="02020603050405020304" pitchFamily="18" charset="0"/>
                <a:ea typeface="华文楷体" panose="02010600040101010101" pitchFamily="2" charset="-122"/>
              </a:rPr>
              <a:t>d</a:t>
            </a:r>
            <a:r>
              <a:rPr lang="en-US" altLang="zh-CN" sz="1600" dirty="0">
                <a:latin typeface="Times New Roman" panose="02020603050405020304" pitchFamily="18" charset="0"/>
                <a:ea typeface="华文楷体" panose="02010600040101010101" pitchFamily="2" charset="-122"/>
              </a:rPr>
              <a:t>[]</a:t>
            </a:r>
            <a:r>
              <a:rPr lang="zh-CN" altLang="en-US" sz="1600" dirty="0">
                <a:latin typeface="Times New Roman" panose="02020603050405020304" pitchFamily="18" charset="0"/>
                <a:ea typeface="华文楷体" panose="02010600040101010101" pitchFamily="2" charset="-122"/>
              </a:rPr>
              <a:t>值最小的顶点</a:t>
            </a:r>
            <a:r>
              <a:rPr lang="zh-CN" altLang="en-US"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(5) (a)while</a:t>
            </a:r>
            <a:r>
              <a:rPr lang="zh-CN" altLang="en-US" sz="1600" dirty="0" smtClean="0">
                <a:latin typeface="Times New Roman" panose="02020603050405020304" pitchFamily="18" charset="0"/>
                <a:ea typeface="华文楷体" panose="02010600040101010101" pitchFamily="2" charset="-122"/>
              </a:rPr>
              <a:t>循环执行前场景；</a:t>
            </a:r>
            <a:r>
              <a:rPr lang="en-US" altLang="zh-CN" sz="1600" dirty="0" smtClean="0">
                <a:latin typeface="Times New Roman" panose="02020603050405020304" pitchFamily="18" charset="0"/>
                <a:ea typeface="华文楷体" panose="02010600040101010101" pitchFamily="2" charset="-122"/>
              </a:rPr>
              <a:t>(b-f)</a:t>
            </a:r>
            <a:r>
              <a:rPr lang="zh-CN" altLang="en-US" sz="1600" dirty="0" smtClean="0">
                <a:latin typeface="Times New Roman" panose="02020603050405020304" pitchFamily="18" charset="0"/>
                <a:ea typeface="华文楷体" panose="02010600040101010101" pitchFamily="2" charset="-122"/>
              </a:rPr>
              <a:t>每轮循环后的场景；</a:t>
            </a:r>
            <a:r>
              <a:rPr lang="en-US" altLang="zh-CN" sz="1600" dirty="0" smtClean="0">
                <a:latin typeface="Times New Roman" panose="02020603050405020304" pitchFamily="18" charset="0"/>
                <a:ea typeface="华文楷体" panose="02010600040101010101" pitchFamily="2" charset="-122"/>
              </a:rPr>
              <a:t>(f)</a:t>
            </a:r>
            <a:r>
              <a:rPr lang="zh-CN" altLang="en-US" sz="1600" dirty="0" smtClean="0">
                <a:latin typeface="Times New Roman" panose="02020603050405020304" pitchFamily="18" charset="0"/>
                <a:ea typeface="华文楷体" panose="02010600040101010101" pitchFamily="2" charset="-122"/>
              </a:rPr>
              <a:t>中的</a:t>
            </a:r>
            <a:r>
              <a:rPr lang="en-US" altLang="zh-CN" sz="1600" dirty="0" smtClean="0">
                <a:latin typeface="Times New Roman" panose="02020603050405020304" pitchFamily="18" charset="0"/>
                <a:ea typeface="华文楷体" panose="02010600040101010101" pitchFamily="2" charset="-122"/>
              </a:rPr>
              <a:t>d</a:t>
            </a:r>
            <a:r>
              <a:rPr lang="zh-CN" altLang="en-US" sz="1600" dirty="0" smtClean="0">
                <a:latin typeface="Times New Roman" panose="02020603050405020304" pitchFamily="18" charset="0"/>
                <a:ea typeface="华文楷体" panose="02010600040101010101" pitchFamily="2" charset="-122"/>
              </a:rPr>
              <a:t>值和</a:t>
            </a:r>
            <a:r>
              <a:rPr lang="en-US" altLang="zh-CN" sz="1600" dirty="0" smtClean="0">
                <a:latin typeface="Times New Roman" panose="02020603050405020304" pitchFamily="18" charset="0"/>
                <a:ea typeface="华文楷体" panose="02010600040101010101" pitchFamily="2" charset="-122"/>
              </a:rPr>
              <a:t>p</a:t>
            </a:r>
            <a:r>
              <a:rPr lang="zh-CN" altLang="en-US" sz="1600" dirty="0" smtClean="0">
                <a:latin typeface="Times New Roman" panose="02020603050405020304" pitchFamily="18" charset="0"/>
                <a:ea typeface="华文楷体" panose="02010600040101010101" pitchFamily="2" charset="-122"/>
              </a:rPr>
              <a:t>值都是最终值。</a:t>
            </a:r>
            <a:endParaRPr lang="zh-CN" altLang="en-US" sz="16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066800"/>
            <a:ext cx="8229600" cy="5248275"/>
          </a:xfrm>
        </p:spPr>
        <p:txBody>
          <a:bodyPr/>
          <a:lstStyle/>
          <a:p>
            <a:pPr marL="0" indent="0">
              <a:buNone/>
            </a:pPr>
            <a:r>
              <a:rPr lang="en-US" altLang="zh-CN" sz="2000" dirty="0">
                <a:solidFill>
                  <a:srgbClr val="C00000"/>
                </a:solidFill>
                <a:ea typeface="华文楷体" panose="02010600040101010101" pitchFamily="2" charset="-122"/>
              </a:rPr>
              <a:t>[</a:t>
            </a:r>
            <a:r>
              <a:rPr lang="en-US" altLang="zh-CN" sz="2000" dirty="0" err="1">
                <a:solidFill>
                  <a:srgbClr val="C00000"/>
                </a:solidFill>
                <a:ea typeface="华文楷体" panose="02010600040101010101" pitchFamily="2" charset="-122"/>
              </a:rPr>
              <a:t>Dijstra</a:t>
            </a:r>
            <a:r>
              <a:rPr lang="zh-CN" altLang="en-US" sz="2000" dirty="0" smtClean="0">
                <a:solidFill>
                  <a:srgbClr val="C00000"/>
                </a:solidFill>
                <a:ea typeface="华文楷体" panose="02010600040101010101" pitchFamily="2" charset="-122"/>
              </a:rPr>
              <a:t>算法实现</a:t>
            </a:r>
            <a:r>
              <a:rPr lang="en-US" altLang="zh-CN" sz="2000" dirty="0" smtClean="0">
                <a:solidFill>
                  <a:srgbClr val="C00000"/>
                </a:solidFill>
                <a:ea typeface="华文楷体" panose="02010600040101010101" pitchFamily="2" charset="-122"/>
              </a:rPr>
              <a:t>-</a:t>
            </a:r>
            <a:r>
              <a:rPr lang="zh-CN" altLang="en-US" sz="2000" dirty="0" smtClean="0">
                <a:solidFill>
                  <a:srgbClr val="C00000"/>
                </a:solidFill>
                <a:ea typeface="华文楷体" panose="02010600040101010101" pitchFamily="2" charset="-122"/>
              </a:rPr>
              <a:t>邻接矩阵</a:t>
            </a:r>
            <a:r>
              <a:rPr lang="en-US" altLang="zh-CN" sz="2000" dirty="0" smtClean="0">
                <a:solidFill>
                  <a:srgbClr val="C00000"/>
                </a:solidFill>
                <a:ea typeface="华文楷体" panose="02010600040101010101" pitchFamily="2" charset="-122"/>
              </a:rPr>
              <a:t>] </a:t>
            </a:r>
            <a:r>
              <a:rPr lang="zh-CN" altLang="en-US" sz="2000" dirty="0" smtClean="0">
                <a:solidFill>
                  <a:srgbClr val="C00000"/>
                </a:solidFill>
                <a:ea typeface="华文楷体" panose="02010600040101010101" pitchFamily="2" charset="-122"/>
              </a:rPr>
              <a:t>时间复杂度</a:t>
            </a:r>
            <a:r>
              <a:rPr lang="en-US" altLang="zh-CN" sz="2000" dirty="0">
                <a:solidFill>
                  <a:schemeClr val="accent2"/>
                </a:solidFill>
                <a:ea typeface="华文楷体" panose="02010600040101010101" pitchFamily="2" charset="-122"/>
              </a:rPr>
              <a:t>O(n</a:t>
            </a:r>
            <a:r>
              <a:rPr lang="en-US" altLang="zh-CN" sz="2000" baseline="30000" dirty="0">
                <a:solidFill>
                  <a:schemeClr val="accent2"/>
                </a:solidFill>
                <a:ea typeface="华文楷体" panose="02010600040101010101" pitchFamily="2" charset="-122"/>
              </a:rPr>
              <a:t>2</a:t>
            </a:r>
            <a:r>
              <a:rPr lang="en-US" altLang="zh-CN" sz="2000" dirty="0">
                <a:solidFill>
                  <a:schemeClr val="accent2"/>
                </a:solidFill>
                <a:ea typeface="华文楷体" panose="02010600040101010101" pitchFamily="2" charset="-122"/>
              </a:rPr>
              <a:t>)</a:t>
            </a:r>
            <a:endParaRPr lang="zh-CN" altLang="en-US" dirty="0"/>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mc:AlternateContent xmlns:mc="http://schemas.openxmlformats.org/markup-compatibility/2006">
        <mc:Choice xmlns:a14="http://schemas.microsoft.com/office/drawing/2010/main" Requires="a14">
          <p:sp>
            <p:nvSpPr>
              <p:cNvPr id="6" name="文本框 5"/>
              <p:cNvSpPr txBox="1"/>
              <p:nvPr/>
            </p:nvSpPr>
            <p:spPr>
              <a:xfrm>
                <a:off x="152400" y="1447800"/>
                <a:ext cx="5489773" cy="5262979"/>
              </a:xfrm>
              <a:prstGeom prst="rect">
                <a:avLst/>
              </a:prstGeom>
              <a:noFill/>
              <a:ln>
                <a:solidFill>
                  <a:schemeClr val="accent1"/>
                </a:solidFill>
              </a:ln>
            </p:spPr>
            <p:txBody>
              <a:bodyPr wrap="none" rtlCol="0">
                <a:spAutoFit/>
              </a:bodyPr>
              <a:lstStyle/>
              <a:p>
                <a:r>
                  <a:rPr lang="en-US" altLang="zh-CN" sz="1600" dirty="0" smtClean="0">
                    <a:latin typeface="Times New Roman" panose="02020603050405020304" pitchFamily="18" charset="0"/>
                    <a:ea typeface="华文楷体" panose="02010600040101010101" pitchFamily="2" charset="-122"/>
                  </a:rPr>
                  <a:t>Void </a:t>
                </a:r>
                <a:r>
                  <a:rPr lang="en-US" altLang="zh-CN" sz="1600" dirty="0" err="1" smtClean="0">
                    <a:latin typeface="Times New Roman" panose="02020603050405020304" pitchFamily="18" charset="0"/>
                    <a:ea typeface="华文楷体" panose="02010600040101010101" pitchFamily="2" charset="-122"/>
                  </a:rPr>
                  <a:t>Dijstra</a:t>
                </a:r>
                <a:r>
                  <a:rPr lang="en-US" altLang="zh-CN" sz="1600" dirty="0" smtClean="0">
                    <a:latin typeface="Times New Roman" panose="02020603050405020304" pitchFamily="18" charset="0"/>
                    <a:ea typeface="华文楷体" panose="02010600040101010101" pitchFamily="2" charset="-122"/>
                  </a:rPr>
                  <a:t>(</a:t>
                </a:r>
                <a:r>
                  <a:rPr lang="en-US" altLang="zh-CN" sz="1600" dirty="0" err="1" smtClean="0">
                    <a:latin typeface="Times New Roman" panose="02020603050405020304" pitchFamily="18" charset="0"/>
                    <a:ea typeface="华文楷体" panose="02010600040101010101" pitchFamily="2" charset="-122"/>
                  </a:rPr>
                  <a:t>Mgraph</a:t>
                </a:r>
                <a:r>
                  <a:rPr lang="en-US" altLang="zh-CN" sz="1600" dirty="0" smtClean="0">
                    <a:latin typeface="Times New Roman" panose="02020603050405020304" pitchFamily="18" charset="0"/>
                    <a:ea typeface="华文楷体" panose="02010600040101010101" pitchFamily="2" charset="-122"/>
                  </a:rPr>
                  <a:t> g, </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s) //</a:t>
                </a:r>
                <a:r>
                  <a:rPr lang="zh-CN" altLang="en-US" sz="1600" dirty="0" smtClean="0">
                    <a:latin typeface="Times New Roman" panose="02020603050405020304" pitchFamily="18" charset="0"/>
                    <a:ea typeface="华文楷体" panose="02010600040101010101" pitchFamily="2" charset="-122"/>
                  </a:rPr>
                  <a:t>求顶点</a:t>
                </a:r>
                <a:r>
                  <a:rPr lang="en-US" altLang="zh-CN" sz="1600" dirty="0" smtClean="0">
                    <a:latin typeface="Times New Roman" panose="02020603050405020304" pitchFamily="18" charset="0"/>
                    <a:ea typeface="华文楷体" panose="02010600040101010101" pitchFamily="2" charset="-122"/>
                  </a:rPr>
                  <a:t>s</a:t>
                </a:r>
                <a:r>
                  <a:rPr lang="zh-CN" altLang="en-US" sz="1600" dirty="0" smtClean="0">
                    <a:latin typeface="Times New Roman" panose="02020603050405020304" pitchFamily="18" charset="0"/>
                    <a:ea typeface="华文楷体" panose="02010600040101010101" pitchFamily="2" charset="-122"/>
                  </a:rPr>
                  <a:t>到其他顶点的最短路径</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S[1,..,MAXV]; //S</a:t>
                </a:r>
                <a:r>
                  <a:rPr lang="zh-CN" altLang="en-US" sz="1600" dirty="0" smtClean="0">
                    <a:latin typeface="Times New Roman" panose="02020603050405020304" pitchFamily="18" charset="0"/>
                    <a:ea typeface="华文楷体" panose="02010600040101010101" pitchFamily="2" charset="-122"/>
                  </a:rPr>
                  <a:t>数组存储集合</a:t>
                </a:r>
                <a:r>
                  <a:rPr lang="en-US" altLang="zh-CN" sz="1600" dirty="0" smtClean="0">
                    <a:latin typeface="Times New Roman" panose="02020603050405020304" pitchFamily="18" charset="0"/>
                    <a:ea typeface="华文楷体" panose="02010600040101010101" pitchFamily="2" charset="-122"/>
                  </a:rPr>
                  <a:t>S</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Q[1</a:t>
                </a:r>
                <a:r>
                  <a:rPr lang="en-US" altLang="zh-CN" sz="1600" dirty="0">
                    <a:latin typeface="Times New Roman" panose="02020603050405020304" pitchFamily="18" charset="0"/>
                    <a:ea typeface="华文楷体" panose="02010600040101010101" pitchFamily="2" charset="-122"/>
                  </a:rPr>
                  <a:t>,..,MAXV]; </a:t>
                </a:r>
                <a:r>
                  <a:rPr lang="en-US" altLang="zh-CN" sz="1600" dirty="0" smtClean="0">
                    <a:latin typeface="Times New Roman" panose="02020603050405020304" pitchFamily="18" charset="0"/>
                    <a:ea typeface="华文楷体" panose="02010600040101010101" pitchFamily="2" charset="-122"/>
                  </a:rPr>
                  <a:t>//Q</a:t>
                </a:r>
                <a:r>
                  <a:rPr lang="zh-CN" altLang="en-US" sz="1600" dirty="0" smtClean="0">
                    <a:latin typeface="Times New Roman" panose="02020603050405020304" pitchFamily="18" charset="0"/>
                    <a:ea typeface="华文楷体" panose="02010600040101010101" pitchFamily="2" charset="-122"/>
                  </a:rPr>
                  <a:t>数组存储优先队列</a:t>
                </a:r>
                <a:r>
                  <a:rPr lang="en-US" altLang="zh-CN" sz="1600" dirty="0" smtClean="0">
                    <a:latin typeface="Times New Roman" panose="02020603050405020304" pitchFamily="18" charset="0"/>
                    <a:ea typeface="华文楷体" panose="02010600040101010101" pitchFamily="2" charset="-122"/>
                  </a:rPr>
                  <a:t>Q</a:t>
                </a:r>
                <a:endParaRPr lang="en-US" altLang="zh-CN" sz="1600" dirty="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i,v,u</a:t>
                </a:r>
                <a:r>
                  <a:rPr lang="en-US" altLang="zh-CN" sz="1600" dirty="0" smtClean="0">
                    <a:latin typeface="Times New Roman" panose="02020603050405020304" pitchFamily="18" charset="0"/>
                    <a:ea typeface="华文楷体" panose="02010600040101010101" pitchFamily="2" charset="-122"/>
                  </a:rPr>
                  <a:t> =0;</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Initialize-Single-Source(g, </a:t>
                </a:r>
                <a:r>
                  <a:rPr lang="en-US" altLang="zh-CN" sz="1600" dirty="0">
                    <a:latin typeface="Times New Roman" panose="02020603050405020304" pitchFamily="18" charset="0"/>
                    <a:ea typeface="华文楷体" panose="02010600040101010101" pitchFamily="2" charset="-122"/>
                  </a:rPr>
                  <a:t>s); </a:t>
                </a:r>
                <a:r>
                  <a:rPr lang="en-US" altLang="zh-CN" sz="1600" dirty="0">
                    <a:solidFill>
                      <a:schemeClr val="accent2"/>
                    </a:solidFill>
                    <a:latin typeface="Times New Roman" panose="02020603050405020304" pitchFamily="18" charset="0"/>
                    <a:ea typeface="华文楷体" panose="02010600040101010101" pitchFamily="2" charset="-122"/>
                  </a:rPr>
                  <a:t>O(n)</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for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1;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&lt;=</a:t>
                </a:r>
                <a:r>
                  <a:rPr lang="en-US" altLang="zh-CN" sz="1600" dirty="0" err="1" smtClean="0">
                    <a:latin typeface="Times New Roman" panose="02020603050405020304" pitchFamily="18" charset="0"/>
                    <a:ea typeface="华文楷体" panose="02010600040101010101" pitchFamily="2" charset="-122"/>
                  </a:rPr>
                  <a:t>g.n</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   </a:t>
                </a:r>
                <a:r>
                  <a:rPr lang="en-US" altLang="zh-CN" sz="1600" dirty="0" smtClean="0">
                    <a:solidFill>
                      <a:schemeClr val="accent2"/>
                    </a:solidFill>
                    <a:latin typeface="Times New Roman" panose="02020603050405020304" pitchFamily="18" charset="0"/>
                    <a:ea typeface="华文楷体" panose="02010600040101010101" pitchFamily="2" charset="-122"/>
                  </a:rPr>
                  <a:t>O(n)</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S[</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 -1; Q[</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d[</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 </a:t>
                </a:r>
                <a:r>
                  <a:rPr lang="en-US" altLang="zh-CN" sz="1600" dirty="0" err="1" smtClean="0">
                    <a:latin typeface="Times New Roman" panose="02020603050405020304" pitchFamily="18" charset="0"/>
                    <a:ea typeface="华文楷体" panose="02010600040101010101" pitchFamily="2" charset="-122"/>
                  </a:rPr>
                  <a:t>g.edges</a:t>
                </a:r>
                <a:r>
                  <a:rPr lang="en-US" altLang="zh-CN" sz="1600" dirty="0" smtClean="0">
                    <a:latin typeface="Times New Roman" panose="02020603050405020304" pitchFamily="18" charset="0"/>
                    <a:ea typeface="华文楷体" panose="02010600040101010101" pitchFamily="2" charset="-122"/>
                  </a:rPr>
                  <a:t>[s][</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a:t>
                </a:r>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S=</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Q=V</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if (d[</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&lt; INF) p[</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 s;</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else p[</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=-1;</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 </a:t>
                </a:r>
                <a:r>
                  <a:rPr lang="en-US" altLang="zh-CN" sz="1600" dirty="0">
                    <a:latin typeface="Times New Roman" panose="02020603050405020304" pitchFamily="18" charset="0"/>
                    <a:ea typeface="华文楷体" panose="02010600040101010101" pitchFamily="2" charset="-122"/>
                  </a:rPr>
                  <a:t>//end for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while ( (u = </a:t>
                </a:r>
                <a:r>
                  <a:rPr lang="en-US" altLang="zh-CN" sz="1600" dirty="0" err="1" smtClean="0">
                    <a:latin typeface="Times New Roman" panose="02020603050405020304" pitchFamily="18" charset="0"/>
                    <a:ea typeface="华文楷体" panose="02010600040101010101" pitchFamily="2" charset="-122"/>
                  </a:rPr>
                  <a:t>DeleteMin</a:t>
                </a:r>
                <a:r>
                  <a:rPr lang="en-US" altLang="zh-CN" sz="1600" dirty="0" smtClean="0">
                    <a:latin typeface="Times New Roman" panose="02020603050405020304" pitchFamily="18" charset="0"/>
                    <a:ea typeface="华文楷体" panose="02010600040101010101" pitchFamily="2" charset="-122"/>
                  </a:rPr>
                  <a:t>(Q) ) != -1)  {</a:t>
                </a:r>
                <a:r>
                  <a:rPr lang="zh-CN" altLang="en-US" sz="1600" dirty="0" smtClean="0">
                    <a:latin typeface="Times New Roman" panose="02020603050405020304" pitchFamily="18" charset="0"/>
                    <a:ea typeface="华文楷体" panose="02010600040101010101" pitchFamily="2" charset="-122"/>
                  </a:rPr>
                  <a:t>   </a:t>
                </a:r>
                <a:r>
                  <a:rPr lang="en-US" altLang="zh-CN" sz="1600" dirty="0" smtClean="0">
                    <a:solidFill>
                      <a:schemeClr val="accent2"/>
                    </a:solidFill>
                    <a:latin typeface="Times New Roman" panose="02020603050405020304" pitchFamily="18" charset="0"/>
                    <a:ea typeface="华文楷体" panose="02010600040101010101" pitchFamily="2" charset="-122"/>
                  </a:rPr>
                  <a:t> O(n</a:t>
                </a:r>
                <a:r>
                  <a:rPr lang="en-US" altLang="zh-CN" sz="1600" baseline="30000" dirty="0" smtClean="0">
                    <a:solidFill>
                      <a:schemeClr val="accent2"/>
                    </a:solidFill>
                    <a:latin typeface="Times New Roman" panose="02020603050405020304" pitchFamily="18" charset="0"/>
                    <a:ea typeface="华文楷体" panose="02010600040101010101" pitchFamily="2" charset="-122"/>
                  </a:rPr>
                  <a:t>2</a:t>
                </a:r>
                <a:r>
                  <a:rPr lang="en-US" altLang="zh-CN" sz="1600" dirty="0" smtClean="0">
                    <a:solidFill>
                      <a:schemeClr val="accent2"/>
                    </a:solidFill>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//Q</a:t>
                </a:r>
                <a:r>
                  <a:rPr lang="zh-CN" altLang="en-US" sz="1600" dirty="0" smtClean="0">
                    <a:latin typeface="Times New Roman" panose="02020603050405020304" pitchFamily="18" charset="0"/>
                    <a:ea typeface="华文楷体" panose="02010600040101010101" pitchFamily="2" charset="-122"/>
                  </a:rPr>
                  <a:t>不为空</a:t>
                </a:r>
                <a:r>
                  <a:rPr lang="en-US" altLang="zh-CN" sz="1600" dirty="0" smtClean="0">
                    <a:latin typeface="Times New Roman" panose="02020603050405020304" pitchFamily="18" charset="0"/>
                    <a:ea typeface="华文楷体" panose="02010600040101010101" pitchFamily="2" charset="-122"/>
                  </a:rPr>
                  <a:t>(</a:t>
                </a:r>
                <a:r>
                  <a:rPr lang="zh-CN" altLang="en-US" sz="1600" dirty="0" smtClean="0">
                    <a:latin typeface="Times New Roman" panose="02020603050405020304" pitchFamily="18" charset="0"/>
                    <a:ea typeface="华文楷体" panose="02010600040101010101" pitchFamily="2" charset="-122"/>
                  </a:rPr>
                  <a:t>返回值不为</a:t>
                </a:r>
                <a:r>
                  <a:rPr lang="en-US" altLang="zh-CN" sz="1600" dirty="0" smtClean="0">
                    <a:latin typeface="Times New Roman" panose="02020603050405020304" pitchFamily="18" charset="0"/>
                    <a:ea typeface="华文楷体" panose="02010600040101010101" pitchFamily="2" charset="-122"/>
                  </a:rPr>
                  <a:t>-1)</a:t>
                </a:r>
                <a:r>
                  <a:rPr lang="zh-CN" altLang="en-US" sz="1600" dirty="0" smtClean="0">
                    <a:latin typeface="Times New Roman" panose="02020603050405020304" pitchFamily="18" charset="0"/>
                    <a:ea typeface="华文楷体" panose="02010600040101010101" pitchFamily="2" charset="-122"/>
                  </a:rPr>
                  <a:t>，即不是</a:t>
                </a:r>
                <a:r>
                  <a:rPr lang="en-US" altLang="zh-CN" sz="1600" dirty="0" smtClean="0">
                    <a:latin typeface="Times New Roman" panose="02020603050405020304" pitchFamily="18" charset="0"/>
                    <a:ea typeface="华文楷体" panose="02010600040101010101" pitchFamily="2" charset="-122"/>
                  </a:rPr>
                  <a:t>Q</a:t>
                </a:r>
                <a:r>
                  <a:rPr lang="zh-CN" altLang="en-US" sz="1600" dirty="0" smtClean="0">
                    <a:latin typeface="Times New Roman" panose="02020603050405020304" pitchFamily="18" charset="0"/>
                    <a:ea typeface="华文楷体" panose="02010600040101010101" pitchFamily="2" charset="-122"/>
                  </a:rPr>
                  <a:t>所有项都为</a:t>
                </a:r>
                <a:r>
                  <a:rPr lang="en-US" altLang="zh-CN" sz="1600" dirty="0" smtClean="0">
                    <a:latin typeface="Times New Roman" panose="02020603050405020304" pitchFamily="18" charset="0"/>
                    <a:ea typeface="华文楷体" panose="02010600040101010101" pitchFamily="2" charset="-122"/>
                  </a:rPr>
                  <a:t>-1,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r>
                  <a:rPr lang="zh-CN" altLang="en-US" sz="1600" dirty="0" smtClean="0">
                    <a:latin typeface="Times New Roman" panose="02020603050405020304" pitchFamily="18" charset="0"/>
                    <a:ea typeface="华文楷体" panose="02010600040101010101" pitchFamily="2" charset="-122"/>
                  </a:rPr>
                  <a:t>并取</a:t>
                </a:r>
                <a:r>
                  <a:rPr lang="en-US" altLang="zh-CN" sz="1600" dirty="0" smtClean="0">
                    <a:latin typeface="Times New Roman" panose="02020603050405020304" pitchFamily="18" charset="0"/>
                    <a:ea typeface="华文楷体" panose="02010600040101010101" pitchFamily="2" charset="-122"/>
                  </a:rPr>
                  <a:t>d[]</a:t>
                </a:r>
                <a:r>
                  <a:rPr lang="zh-CN" altLang="en-US" sz="1600" dirty="0" smtClean="0">
                    <a:latin typeface="Times New Roman" panose="02020603050405020304" pitchFamily="18" charset="0"/>
                    <a:ea typeface="华文楷体" panose="02010600040101010101" pitchFamily="2" charset="-122"/>
                  </a:rPr>
                  <a:t>值最小的</a:t>
                </a:r>
                <a:r>
                  <a:rPr lang="en-US" altLang="zh-CN" sz="1600" dirty="0" smtClean="0">
                    <a:latin typeface="Times New Roman" panose="02020603050405020304" pitchFamily="18" charset="0"/>
                    <a:ea typeface="华文楷体" panose="02010600040101010101" pitchFamily="2" charset="-122"/>
                  </a:rPr>
                  <a:t>u,</a:t>
                </a:r>
                <a:r>
                  <a:rPr lang="zh-CN" altLang="en-US" sz="1600" dirty="0" smtClean="0">
                    <a:latin typeface="Times New Roman" panose="02020603050405020304" pitchFamily="18" charset="0"/>
                    <a:ea typeface="华文楷体" panose="02010600040101010101" pitchFamily="2" charset="-122"/>
                  </a:rPr>
                  <a:t>从队列</a:t>
                </a:r>
                <a:r>
                  <a:rPr lang="en-US" altLang="zh-CN" sz="1600" dirty="0" smtClean="0">
                    <a:latin typeface="Times New Roman" panose="02020603050405020304" pitchFamily="18" charset="0"/>
                    <a:ea typeface="华文楷体" panose="02010600040101010101" pitchFamily="2" charset="-122"/>
                  </a:rPr>
                  <a:t>Q</a:t>
                </a:r>
                <a:r>
                  <a:rPr lang="zh-CN" altLang="en-US" sz="1600" dirty="0" smtClean="0">
                    <a:latin typeface="Times New Roman" panose="02020603050405020304" pitchFamily="18" charset="0"/>
                    <a:ea typeface="华文楷体" panose="02010600040101010101" pitchFamily="2" charset="-122"/>
                  </a:rPr>
                  <a:t>中删除并返回</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S[u] = 1; //</a:t>
                </a:r>
                <a:r>
                  <a:rPr lang="zh-CN" altLang="en-US" sz="1600" dirty="0" smtClean="0">
                    <a:latin typeface="Times New Roman" panose="02020603050405020304" pitchFamily="18" charset="0"/>
                    <a:ea typeface="华文楷体" panose="02010600040101010101" pitchFamily="2" charset="-122"/>
                  </a:rPr>
                  <a:t>顶点</a:t>
                </a:r>
                <a:r>
                  <a:rPr lang="en-US" altLang="zh-CN" sz="1600" dirty="0" smtClean="0">
                    <a:latin typeface="Times New Roman" panose="02020603050405020304" pitchFamily="18" charset="0"/>
                    <a:ea typeface="华文楷体" panose="02010600040101010101" pitchFamily="2" charset="-122"/>
                  </a:rPr>
                  <a:t>u</a:t>
                </a:r>
                <a:r>
                  <a:rPr lang="zh-CN" altLang="en-US" sz="1600" dirty="0" smtClean="0">
                    <a:latin typeface="Times New Roman" panose="02020603050405020304" pitchFamily="18" charset="0"/>
                    <a:ea typeface="华文楷体" panose="02010600040101010101" pitchFamily="2" charset="-122"/>
                  </a:rPr>
                  <a:t>加入集合</a:t>
                </a:r>
                <a:r>
                  <a:rPr lang="en-US" altLang="zh-CN" sz="1600" dirty="0" smtClean="0">
                    <a:latin typeface="Times New Roman" panose="02020603050405020304" pitchFamily="18" charset="0"/>
                    <a:ea typeface="华文楷体" panose="02010600040101010101" pitchFamily="2" charset="-122"/>
                  </a:rPr>
                  <a:t>S</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for(v=1;v&lt;=</a:t>
                </a:r>
                <a:r>
                  <a:rPr lang="en-US" altLang="zh-CN" sz="1600" dirty="0" err="1" smtClean="0">
                    <a:latin typeface="Times New Roman" panose="02020603050405020304" pitchFamily="18" charset="0"/>
                    <a:ea typeface="华文楷体" panose="02010600040101010101" pitchFamily="2" charset="-122"/>
                  </a:rPr>
                  <a:t>g.n</a:t>
                </a:r>
                <a:r>
                  <a:rPr lang="en-US" altLang="zh-CN" sz="1600" dirty="0" smtClean="0">
                    <a:latin typeface="Times New Roman" panose="02020603050405020304" pitchFamily="18" charset="0"/>
                    <a:ea typeface="华文楷体" panose="02010600040101010101" pitchFamily="2" charset="-122"/>
                  </a:rPr>
                  <a:t>; v++) { //</a:t>
                </a:r>
                <a:r>
                  <a:rPr lang="zh-CN" altLang="en-US" sz="1600" dirty="0" smtClean="0">
                    <a:latin typeface="Times New Roman" panose="02020603050405020304" pitchFamily="18" charset="0"/>
                    <a:ea typeface="华文楷体" panose="02010600040101010101" pitchFamily="2" charset="-122"/>
                  </a:rPr>
                  <a:t>取</a:t>
                </a:r>
                <a:r>
                  <a:rPr lang="en-US" altLang="zh-CN" sz="1600" dirty="0" smtClean="0">
                    <a:latin typeface="Times New Roman" panose="02020603050405020304" pitchFamily="18" charset="0"/>
                    <a:ea typeface="华文楷体" panose="02010600040101010101" pitchFamily="2" charset="-122"/>
                  </a:rPr>
                  <a:t>u</a:t>
                </a:r>
                <a:r>
                  <a:rPr lang="zh-CN" altLang="en-US" sz="1600" dirty="0">
                    <a:latin typeface="Times New Roman" panose="02020603050405020304" pitchFamily="18" charset="0"/>
                    <a:ea typeface="华文楷体" panose="02010600040101010101" pitchFamily="2" charset="-122"/>
                  </a:rPr>
                  <a:t>的邻接</a:t>
                </a:r>
                <a:r>
                  <a:rPr lang="zh-CN" altLang="en-US" sz="1600" dirty="0" smtClean="0">
                    <a:latin typeface="Times New Roman" panose="02020603050405020304" pitchFamily="18" charset="0"/>
                    <a:ea typeface="华文楷体" panose="02010600040101010101" pitchFamily="2" charset="-122"/>
                  </a:rPr>
                  <a:t>顶点</a:t>
                </a:r>
                <a:r>
                  <a:rPr lang="en-US" altLang="zh-CN" sz="1600" dirty="0" smtClean="0">
                    <a:latin typeface="Times New Roman" panose="02020603050405020304" pitchFamily="18" charset="0"/>
                    <a:ea typeface="华文楷体" panose="02010600040101010101" pitchFamily="2" charset="-122"/>
                  </a:rPr>
                  <a:t>v</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            if(S[v] == - 1) //</a:t>
                </a:r>
                <a:r>
                  <a:rPr lang="zh-CN" altLang="en-US" sz="1600" dirty="0" smtClean="0">
                    <a:latin typeface="Times New Roman" panose="02020603050405020304" pitchFamily="18" charset="0"/>
                    <a:ea typeface="华文楷体" panose="02010600040101010101" pitchFamily="2" charset="-122"/>
                  </a:rPr>
                  <a:t>若顶点</a:t>
                </a:r>
                <a:r>
                  <a:rPr lang="en-US" altLang="zh-CN" sz="1600" dirty="0" smtClean="0">
                    <a:latin typeface="Times New Roman" panose="02020603050405020304" pitchFamily="18" charset="0"/>
                    <a:ea typeface="华文楷体" panose="02010600040101010101" pitchFamily="2" charset="-122"/>
                  </a:rPr>
                  <a:t>v</a:t>
                </a:r>
                <a:r>
                  <a:rPr lang="zh-CN" altLang="en-US" sz="1600" dirty="0" smtClean="0">
                    <a:latin typeface="Times New Roman" panose="02020603050405020304" pitchFamily="18" charset="0"/>
                    <a:ea typeface="华文楷体" panose="02010600040101010101" pitchFamily="2" charset="-122"/>
                  </a:rPr>
                  <a:t>在</a:t>
                </a:r>
                <a:r>
                  <a:rPr lang="en-US" altLang="zh-CN" sz="1600" dirty="0" smtClean="0">
                    <a:latin typeface="Times New Roman" panose="02020603050405020304" pitchFamily="18" charset="0"/>
                    <a:ea typeface="华文楷体" panose="02010600040101010101" pitchFamily="2" charset="-122"/>
                  </a:rPr>
                  <a:t>V-S</a:t>
                </a:r>
                <a:r>
                  <a:rPr lang="zh-CN" altLang="en-US" sz="1600" dirty="0" smtClean="0">
                    <a:latin typeface="Times New Roman" panose="02020603050405020304" pitchFamily="18" charset="0"/>
                    <a:ea typeface="华文楷体" panose="02010600040101010101" pitchFamily="2" charset="-122"/>
                  </a:rPr>
                  <a:t>集合中；</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Relax(</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a:t>
                </a:r>
                <a:r>
                  <a:rPr lang="en-US" altLang="zh-CN" sz="1600" dirty="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g.edges</a:t>
                </a:r>
                <a:r>
                  <a:rPr lang="en-US" altLang="zh-CN" sz="1600" dirty="0" smtClean="0">
                    <a:latin typeface="Times New Roman" panose="02020603050405020304" pitchFamily="18" charset="0"/>
                    <a:ea typeface="华文楷体" panose="02010600040101010101" pitchFamily="2" charset="-122"/>
                  </a:rPr>
                  <a:t>[u][v]); //</a:t>
                </a:r>
                <a:r>
                  <a:rPr lang="zh-CN" altLang="en-US" sz="1600" dirty="0" smtClean="0">
                    <a:latin typeface="Times New Roman" panose="02020603050405020304" pitchFamily="18" charset="0"/>
                    <a:ea typeface="华文楷体" panose="02010600040101010101" pitchFamily="2" charset="-122"/>
                  </a:rPr>
                  <a:t>边</a:t>
                </a:r>
                <a:r>
                  <a:rPr lang="en-US" altLang="zh-CN" sz="1600" dirty="0" smtClean="0">
                    <a:latin typeface="Times New Roman" panose="02020603050405020304" pitchFamily="18" charset="0"/>
                    <a:ea typeface="华文楷体" panose="02010600040101010101" pitchFamily="2" charset="-122"/>
                  </a:rPr>
                  <a:t>&lt;</a:t>
                </a:r>
                <a:r>
                  <a:rPr lang="en-US" altLang="zh-CN" sz="1600" dirty="0" err="1" smtClean="0">
                    <a:latin typeface="Times New Roman" panose="02020603050405020304" pitchFamily="18" charset="0"/>
                    <a:ea typeface="华文楷体" panose="02010600040101010101" pitchFamily="2" charset="-122"/>
                  </a:rPr>
                  <a:t>u,v</a:t>
                </a:r>
                <a:r>
                  <a:rPr lang="en-US" altLang="zh-CN" sz="1600" dirty="0" smtClean="0">
                    <a:latin typeface="Times New Roman" panose="02020603050405020304" pitchFamily="18" charset="0"/>
                    <a:ea typeface="华文楷体" panose="02010600040101010101" pitchFamily="2" charset="-122"/>
                  </a:rPr>
                  <a:t>&gt;</a:t>
                </a:r>
                <a:r>
                  <a:rPr lang="zh-CN" altLang="en-US" sz="1600" dirty="0" smtClean="0">
                    <a:latin typeface="Times New Roman" panose="02020603050405020304" pitchFamily="18" charset="0"/>
                    <a:ea typeface="华文楷体" panose="02010600040101010101" pitchFamily="2" charset="-122"/>
                  </a:rPr>
                  <a:t>做松弛</a:t>
                </a:r>
                <a:r>
                  <a:rPr lang="zh-CN" altLang="en-US" sz="1600" dirty="0">
                    <a:latin typeface="Times New Roman" panose="02020603050405020304" pitchFamily="18" charset="0"/>
                    <a:ea typeface="华文楷体" panose="02010600040101010101" pitchFamily="2" charset="-122"/>
                  </a:rPr>
                  <a:t>操作</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 //end for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 //end while</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a:t>
                </a:r>
                <a:endParaRPr lang="zh-CN" altLang="en-US" sz="1600" dirty="0">
                  <a:latin typeface="Times New Roman" panose="02020603050405020304" pitchFamily="18" charset="0"/>
                  <a:ea typeface="华文楷体" panose="0201060004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152400" y="1447800"/>
                <a:ext cx="5489773" cy="5262979"/>
              </a:xfrm>
              <a:prstGeom prst="rect">
                <a:avLst/>
              </a:prstGeom>
              <a:blipFill rotWithShape="1">
                <a:blip r:embed="rId1"/>
                <a:stretch>
                  <a:fillRect l="-93" t="-97" r="-77" b="-83"/>
                </a:stretch>
              </a:blipFill>
              <a:ln>
                <a:solidFill>
                  <a:schemeClr val="accent1"/>
                </a:solidFill>
              </a:ln>
            </p:spPr>
            <p:txBody>
              <a:bodyPr/>
              <a:lstStyle/>
              <a:p>
                <a:r>
                  <a:rPr lang="zh-CN" altLang="en-US">
                    <a:noFill/>
                  </a:rPr>
                  <a:t> </a:t>
                </a:r>
              </a:p>
            </p:txBody>
          </p:sp>
        </mc:Fallback>
      </mc:AlternateContent>
      <p:sp>
        <p:nvSpPr>
          <p:cNvPr id="7" name="文本框 6"/>
          <p:cNvSpPr txBox="1"/>
          <p:nvPr/>
        </p:nvSpPr>
        <p:spPr>
          <a:xfrm>
            <a:off x="5908616" y="1676400"/>
            <a:ext cx="3082984" cy="2800767"/>
          </a:xfrm>
          <a:prstGeom prst="rect">
            <a:avLst/>
          </a:prstGeom>
          <a:solidFill>
            <a:srgbClr val="FFFF00"/>
          </a:solidFill>
        </p:spPr>
        <p:txBody>
          <a:bodyPr wrap="square" rtlCol="0">
            <a:spAutoFit/>
          </a:bodyPr>
          <a:lstStyle/>
          <a:p>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DeleteMin</a:t>
            </a:r>
            <a:r>
              <a:rPr lang="en-US" altLang="zh-CN" sz="1600" dirty="0" smtClean="0">
                <a:latin typeface="Times New Roman" panose="02020603050405020304" pitchFamily="18" charset="0"/>
                <a:ea typeface="华文楷体" panose="02010600040101010101" pitchFamily="2" charset="-122"/>
              </a:rPr>
              <a:t>(</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Q[])</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u =-1;</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for(</a:t>
            </a:r>
            <a:r>
              <a:rPr lang="en-US" altLang="zh-CN" sz="1600" dirty="0" err="1" smtClean="0">
                <a:latin typeface="Times New Roman" panose="02020603050405020304" pitchFamily="18" charset="0"/>
                <a:ea typeface="华文楷体" panose="02010600040101010101" pitchFamily="2" charset="-122"/>
              </a:rPr>
              <a:t>int</a:t>
            </a:r>
            <a:r>
              <a:rPr lang="en-US" altLang="zh-CN" sz="1600" dirty="0" smtClean="0">
                <a:latin typeface="Times New Roman" panose="02020603050405020304" pitchFamily="18" charset="0"/>
                <a:ea typeface="华文楷体" panose="02010600040101010101" pitchFamily="2" charset="-122"/>
              </a:rPr>
              <a:t>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=1;i&lt;=</a:t>
            </a:r>
            <a:r>
              <a:rPr lang="en-US" altLang="zh-CN" sz="1600" dirty="0" err="1" smtClean="0">
                <a:latin typeface="Times New Roman" panose="02020603050405020304" pitchFamily="18" charset="0"/>
                <a:ea typeface="华文楷体" panose="02010600040101010101" pitchFamily="2" charset="-122"/>
              </a:rPr>
              <a:t>MAXV;i</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if(d[</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 &lt;d[i+1]&amp;&amp; Q[</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]!=-1)</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u = </a:t>
            </a:r>
            <a:r>
              <a:rPr lang="en-US" altLang="zh-CN" sz="1600" dirty="0" err="1" smtClean="0">
                <a:latin typeface="Times New Roman" panose="02020603050405020304" pitchFamily="18" charset="0"/>
                <a:ea typeface="华文楷体" panose="02010600040101010101" pitchFamily="2" charset="-122"/>
              </a:rPr>
              <a:t>i</a:t>
            </a:r>
            <a:r>
              <a:rPr lang="en-US" altLang="zh-CN"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Q[u] = -1; //</a:t>
            </a:r>
            <a:r>
              <a:rPr lang="zh-CN" altLang="en-US" sz="1600" dirty="0" smtClean="0">
                <a:latin typeface="Times New Roman" panose="02020603050405020304" pitchFamily="18" charset="0"/>
                <a:ea typeface="华文楷体" panose="02010600040101010101" pitchFamily="2" charset="-122"/>
              </a:rPr>
              <a:t>从</a:t>
            </a:r>
            <a:r>
              <a:rPr lang="en-US" altLang="zh-CN" sz="1600" dirty="0" smtClean="0">
                <a:latin typeface="Times New Roman" panose="02020603050405020304" pitchFamily="18" charset="0"/>
                <a:ea typeface="华文楷体" panose="02010600040101010101" pitchFamily="2" charset="-122"/>
              </a:rPr>
              <a:t>Q</a:t>
            </a:r>
            <a:r>
              <a:rPr lang="zh-CN" altLang="en-US" sz="1600" dirty="0" smtClean="0">
                <a:latin typeface="Times New Roman" panose="02020603050405020304" pitchFamily="18" charset="0"/>
                <a:ea typeface="华文楷体" panose="02010600040101010101" pitchFamily="2" charset="-122"/>
              </a:rPr>
              <a:t>中删除</a:t>
            </a:r>
            <a:r>
              <a:rPr lang="en-US" altLang="zh-CN" sz="1600" dirty="0" smtClean="0">
                <a:latin typeface="Times New Roman" panose="02020603050405020304" pitchFamily="18" charset="0"/>
                <a:ea typeface="华文楷体" panose="02010600040101010101" pitchFamily="2" charset="-122"/>
              </a:rPr>
              <a:t>u</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 </a:t>
            </a:r>
            <a:r>
              <a:rPr lang="en-US" altLang="zh-CN" sz="1600" dirty="0" smtClean="0">
                <a:latin typeface="Times New Roman" panose="02020603050405020304" pitchFamily="18" charset="0"/>
                <a:ea typeface="华文楷体" panose="02010600040101010101" pitchFamily="2" charset="-122"/>
              </a:rPr>
              <a:t>   return u;</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a:latin typeface="Times New Roman" panose="02020603050405020304" pitchFamily="18" charset="0"/>
                <a:ea typeface="华文楷体" panose="02010600040101010101" pitchFamily="2" charset="-122"/>
              </a:rPr>
              <a:t>}</a:t>
            </a:r>
            <a:endParaRPr lang="zh-CN" altLang="en-US" sz="1600" dirty="0"/>
          </a:p>
        </p:txBody>
      </p:sp>
      <p:sp>
        <p:nvSpPr>
          <p:cNvPr id="8" name="文本框 7"/>
          <p:cNvSpPr txBox="1"/>
          <p:nvPr/>
        </p:nvSpPr>
        <p:spPr>
          <a:xfrm>
            <a:off x="5867400" y="4590137"/>
            <a:ext cx="3200400" cy="1754326"/>
          </a:xfrm>
          <a:prstGeom prst="rect">
            <a:avLst/>
          </a:prstGeom>
          <a:noFill/>
          <a:ln>
            <a:solidFill>
              <a:schemeClr val="accent1"/>
            </a:solidFill>
          </a:ln>
        </p:spPr>
        <p:txBody>
          <a:bodyPr wrap="square" rtlCol="0">
            <a:spAutoFit/>
          </a:bodyPr>
          <a:lstStyle/>
          <a:p>
            <a:r>
              <a:rPr lang="en-US" altLang="zh-CN" dirty="0" err="1">
                <a:latin typeface="Times New Roman" panose="02020603050405020304" pitchFamily="18" charset="0"/>
                <a:ea typeface="华文楷体" panose="02010600040101010101" pitchFamily="2" charset="-122"/>
              </a:rPr>
              <a:t>Dijstra</a:t>
            </a:r>
            <a:r>
              <a:rPr lang="zh-CN" altLang="en-US" dirty="0">
                <a:latin typeface="Times New Roman" panose="02020603050405020304" pitchFamily="18" charset="0"/>
                <a:ea typeface="华文楷体" panose="02010600040101010101" pitchFamily="2" charset="-122"/>
              </a:rPr>
              <a:t>算法时间复杂度取决于最小优先队列</a:t>
            </a:r>
            <a:r>
              <a:rPr lang="en-US" altLang="zh-CN" dirty="0">
                <a:latin typeface="Times New Roman" panose="02020603050405020304" pitchFamily="18" charset="0"/>
                <a:ea typeface="华文楷体" panose="02010600040101010101" pitchFamily="2" charset="-122"/>
              </a:rPr>
              <a:t>Q</a:t>
            </a:r>
            <a:r>
              <a:rPr lang="zh-CN" altLang="en-US" dirty="0">
                <a:latin typeface="Times New Roman" panose="02020603050405020304" pitchFamily="18" charset="0"/>
                <a:ea typeface="华文楷体" panose="02010600040101010101" pitchFamily="2" charset="-122"/>
              </a:rPr>
              <a:t>的</a:t>
            </a:r>
            <a:r>
              <a:rPr lang="zh-CN" altLang="en-US" dirty="0" smtClean="0">
                <a:latin typeface="Times New Roman" panose="02020603050405020304" pitchFamily="18" charset="0"/>
                <a:ea typeface="华文楷体" panose="02010600040101010101" pitchFamily="2" charset="-122"/>
              </a:rPr>
              <a:t>实现。</a:t>
            </a:r>
            <a:endParaRPr lang="en-US" altLang="zh-CN" dirty="0">
              <a:latin typeface="Times New Roman" panose="02020603050405020304" pitchFamily="18" charset="0"/>
              <a:ea typeface="华文楷体" panose="02010600040101010101" pitchFamily="2" charset="-122"/>
            </a:endParaRPr>
          </a:p>
          <a:p>
            <a:r>
              <a:rPr lang="zh-CN" altLang="en-US" dirty="0">
                <a:latin typeface="Times New Roman" panose="02020603050405020304" pitchFamily="18" charset="0"/>
                <a:ea typeface="华文楷体" panose="02010600040101010101" pitchFamily="2" charset="-122"/>
              </a:rPr>
              <a:t>若使用</a:t>
            </a:r>
            <a:r>
              <a:rPr lang="zh-CN" altLang="en-US" dirty="0">
                <a:solidFill>
                  <a:srgbClr val="C00000"/>
                </a:solidFill>
                <a:latin typeface="Times New Roman" panose="02020603050405020304" pitchFamily="18" charset="0"/>
                <a:ea typeface="华文楷体" panose="02010600040101010101" pitchFamily="2" charset="-122"/>
              </a:rPr>
              <a:t>斐波那契堆</a:t>
            </a:r>
            <a:r>
              <a:rPr lang="zh-CN" altLang="en-US" dirty="0">
                <a:latin typeface="Times New Roman" panose="02020603050405020304" pitchFamily="18" charset="0"/>
                <a:ea typeface="华文楷体" panose="02010600040101010101" pitchFamily="2" charset="-122"/>
              </a:rPr>
              <a:t>实现最小优先队列，则算法时间复杂度可改善到</a:t>
            </a:r>
            <a:r>
              <a:rPr lang="en-US" altLang="zh-CN" dirty="0">
                <a:latin typeface="Times New Roman" panose="02020603050405020304" pitchFamily="18" charset="0"/>
                <a:ea typeface="华文楷体" panose="02010600040101010101" pitchFamily="2" charset="-122"/>
              </a:rPr>
              <a:t>O(</a:t>
            </a:r>
            <a:r>
              <a:rPr lang="en-US" altLang="zh-CN" dirty="0" err="1">
                <a:latin typeface="Times New Roman" panose="02020603050405020304" pitchFamily="18" charset="0"/>
                <a:ea typeface="华文楷体" panose="02010600040101010101" pitchFamily="2" charset="-122"/>
              </a:rPr>
              <a:t>nlgn+e</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，对稀疏图而言，可明显提升运行速度。</a:t>
            </a:r>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04800" y="1152525"/>
                <a:ext cx="8382000" cy="5248275"/>
              </a:xfrm>
            </p:spPr>
            <p:txBody>
              <a:bodyPr/>
              <a:lstStyle/>
              <a:p>
                <a:pPr marL="0" indent="0">
                  <a:buNone/>
                </a:pPr>
                <a:r>
                  <a:rPr lang="en-US" altLang="zh-CN" sz="2400" dirty="0" smtClean="0">
                    <a:solidFill>
                      <a:srgbClr val="C00000"/>
                    </a:solidFill>
                    <a:ea typeface="华文楷体" panose="02010600040101010101" pitchFamily="2" charset="-122"/>
                  </a:rPr>
                  <a:t>[</a:t>
                </a:r>
                <a:r>
                  <a:rPr lang="en-US" altLang="zh-CN" sz="2400" dirty="0" err="1">
                    <a:solidFill>
                      <a:srgbClr val="C00000"/>
                    </a:solidFill>
                    <a:ea typeface="华文楷体" panose="02010600040101010101" pitchFamily="2" charset="-122"/>
                  </a:rPr>
                  <a:t>Dijstra</a:t>
                </a:r>
                <a:r>
                  <a:rPr lang="zh-CN" altLang="en-US" sz="2400" dirty="0" smtClean="0">
                    <a:solidFill>
                      <a:srgbClr val="C00000"/>
                    </a:solidFill>
                    <a:ea typeface="华文楷体" panose="02010600040101010101" pitchFamily="2" charset="-122"/>
                  </a:rPr>
                  <a:t>算法</a:t>
                </a:r>
                <a:r>
                  <a:rPr lang="zh-CN" altLang="en-US" sz="2400" dirty="0">
                    <a:solidFill>
                      <a:srgbClr val="C00000"/>
                    </a:solidFill>
                    <a:ea typeface="华文楷体" panose="02010600040101010101" pitchFamily="2" charset="-122"/>
                  </a:rPr>
                  <a:t>结论</a:t>
                </a:r>
                <a:r>
                  <a:rPr lang="en-US" altLang="zh-CN" sz="2400" dirty="0">
                    <a:solidFill>
                      <a:srgbClr val="C00000"/>
                    </a:solidFill>
                    <a:ea typeface="华文楷体" panose="02010600040101010101" pitchFamily="2" charset="-122"/>
                  </a:rPr>
                  <a:t>]</a:t>
                </a:r>
                <a:endParaRPr lang="en-US" altLang="zh-CN" sz="2400" dirty="0">
                  <a:solidFill>
                    <a:srgbClr val="C00000"/>
                  </a:solidFill>
                  <a:ea typeface="华文楷体" panose="02010600040101010101" pitchFamily="2" charset="-122"/>
                </a:endParaRPr>
              </a:p>
              <a:p>
                <a:pPr marL="0" indent="0">
                  <a:buNone/>
                </a:pPr>
                <a:r>
                  <a:rPr lang="zh-CN" altLang="en-US" sz="2400" dirty="0" smtClean="0">
                    <a:solidFill>
                      <a:srgbClr val="C00000"/>
                    </a:solidFill>
                    <a:ea typeface="华文楷体" panose="02010600040101010101" pitchFamily="2" charset="-122"/>
                  </a:rPr>
                  <a:t>定理</a:t>
                </a:r>
                <a:r>
                  <a:rPr lang="en-US" altLang="zh-CN" sz="2400" dirty="0" smtClean="0">
                    <a:solidFill>
                      <a:srgbClr val="C00000"/>
                    </a:solidFill>
                    <a:ea typeface="华文楷体" panose="02010600040101010101" pitchFamily="2" charset="-122"/>
                  </a:rPr>
                  <a:t>1</a:t>
                </a:r>
                <a:r>
                  <a:rPr lang="zh-CN" altLang="en-US" sz="2400" dirty="0" smtClean="0">
                    <a:ea typeface="华文楷体" panose="02010600040101010101" pitchFamily="2" charset="-122"/>
                  </a:rPr>
                  <a:t>：</a:t>
                </a:r>
                <a:r>
                  <a:rPr lang="en-US" altLang="zh-CN" sz="2400" dirty="0">
                    <a:solidFill>
                      <a:srgbClr val="C00000"/>
                    </a:solidFill>
                    <a:ea typeface="华文楷体" panose="02010600040101010101" pitchFamily="2" charset="-122"/>
                  </a:rPr>
                  <a:t> </a:t>
                </a:r>
                <a:r>
                  <a:rPr lang="zh-CN" altLang="en-US" sz="2400" dirty="0" smtClean="0">
                    <a:ea typeface="华文楷体" panose="02010600040101010101" pitchFamily="2" charset="-122"/>
                  </a:rPr>
                  <a:t>给定</a:t>
                </a:r>
                <a:r>
                  <a:rPr lang="zh-CN" altLang="en-US" sz="2400" dirty="0">
                    <a:ea typeface="华文楷体" panose="02010600040101010101" pitchFamily="2" charset="-122"/>
                  </a:rPr>
                  <a:t>带权有向无环图</a:t>
                </a:r>
                <a:r>
                  <a:rPr lang="en-US" altLang="zh-CN" sz="2400" dirty="0">
                    <a:ea typeface="华文楷体" panose="02010600040101010101" pitchFamily="2" charset="-122"/>
                  </a:rPr>
                  <a:t>G=(V,E</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a:t>
                </a:r>
                <a:r>
                  <a:rPr lang="zh-CN" altLang="en-US" sz="2400" dirty="0">
                    <a:ea typeface="华文楷体" panose="02010600040101010101" pitchFamily="2" charset="-122"/>
                  </a:rPr>
                  <a:t>若边无</a:t>
                </a:r>
                <a:r>
                  <a:rPr lang="zh-CN" altLang="en-US" sz="2400" dirty="0" smtClean="0">
                    <a:ea typeface="华文楷体" panose="02010600040101010101" pitchFamily="2" charset="-122"/>
                  </a:rPr>
                  <a:t>负权值；则对于所有</a:t>
                </a:r>
                <a:r>
                  <a:rPr lang="zh-CN" altLang="en-US" sz="2400" dirty="0">
                    <a:ea typeface="华文楷体" panose="02010600040101010101" pitchFamily="2" charset="-122"/>
                  </a:rPr>
                  <a:t>顶点</a:t>
                </a:r>
                <a:r>
                  <a:rPr lang="en-US" altLang="zh-CN" sz="2400" dirty="0">
                    <a:ea typeface="华文楷体" panose="02010600040101010101" pitchFamily="2" charset="-122"/>
                  </a:rPr>
                  <a:t>u(u </a:t>
                </a:r>
                <a14:m>
                  <m:oMath xmlns:m="http://schemas.openxmlformats.org/officeDocument/2006/math">
                    <m:r>
                      <a:rPr lang="en-US" altLang="zh-CN" sz="2400">
                        <a:latin typeface="Cambria Math" panose="02040503050406030204" pitchFamily="18" charset="0"/>
                        <a:ea typeface="华文楷体" panose="02010600040101010101" pitchFamily="2" charset="-122"/>
                      </a:rPr>
                      <m:t>∈</m:t>
                    </m:r>
                    <m:r>
                      <m:rPr>
                        <m:sty m:val="p"/>
                      </m:rPr>
                      <a:rPr lang="en-US" altLang="zh-CN" sz="2400" i="1">
                        <a:latin typeface="Cambria Math" panose="02040503050406030204" pitchFamily="18" charset="0"/>
                        <a:ea typeface="华文楷体" panose="02010600040101010101" pitchFamily="2" charset="-122"/>
                      </a:rPr>
                      <m:t>V</m:t>
                    </m:r>
                  </m:oMath>
                </a14:m>
                <a:r>
                  <a:rPr lang="en-US" altLang="zh-CN" sz="2400" dirty="0">
                    <a:ea typeface="华文楷体" panose="02010600040101010101" pitchFamily="2" charset="-122"/>
                  </a:rPr>
                  <a:t>) </a:t>
                </a:r>
                <a:r>
                  <a:rPr lang="zh-CN" altLang="en-US" sz="2400" dirty="0">
                    <a:ea typeface="华文楷体" panose="02010600040101010101" pitchFamily="2" charset="-122"/>
                  </a:rPr>
                  <a:t>，</a:t>
                </a:r>
                <a:r>
                  <a:rPr lang="en-US" altLang="zh-CN" sz="2400" dirty="0" err="1">
                    <a:ea typeface="华文楷体" panose="02010600040101010101" pitchFamily="2" charset="-122"/>
                  </a:rPr>
                  <a:t>Dijstra</a:t>
                </a:r>
                <a:r>
                  <a:rPr lang="zh-CN" altLang="en-US" sz="2400" dirty="0">
                    <a:ea typeface="华文楷体" panose="02010600040101010101" pitchFamily="2" charset="-122"/>
                  </a:rPr>
                  <a:t>算法终止时，有：</a:t>
                </a:r>
                <a:r>
                  <a:rPr lang="en-US" altLang="zh-CN" sz="2400" dirty="0">
                    <a:ea typeface="华文楷体" panose="02010600040101010101" pitchFamily="2" charset="-122"/>
                  </a:rPr>
                  <a:t>d[u]=</a:t>
                </a:r>
                <a14:m>
                  <m:oMath xmlns:m="http://schemas.openxmlformats.org/officeDocument/2006/math">
                    <m:r>
                      <a:rPr lang="zh-CN" altLang="en-US" sz="2400">
                        <a:latin typeface="Cambria Math" panose="02040503050406030204" pitchFamily="18" charset="0"/>
                        <a:ea typeface="华文楷体" panose="02010600040101010101" pitchFamily="2" charset="-122"/>
                      </a:rPr>
                      <m:t>𝛿</m:t>
                    </m:r>
                    <m:d>
                      <m:dPr>
                        <m:ctrlPr>
                          <a:rPr lang="en-US" altLang="zh-CN" sz="2400" i="1">
                            <a:latin typeface="Cambria Math" panose="02040503050406030204" pitchFamily="18" charset="0"/>
                            <a:ea typeface="华文楷体" panose="02010600040101010101" pitchFamily="2" charset="-122"/>
                          </a:rPr>
                        </m:ctrlPr>
                      </m:dPr>
                      <m:e>
                        <m:r>
                          <a:rPr lang="en-US" altLang="zh-CN" sz="2400">
                            <a:latin typeface="Cambria Math" panose="02040503050406030204" pitchFamily="18" charset="0"/>
                            <a:ea typeface="华文楷体" panose="02010600040101010101" pitchFamily="2" charset="-122"/>
                          </a:rPr>
                          <m:t>𝑠</m:t>
                        </m:r>
                        <m:r>
                          <a:rPr lang="en-US" altLang="zh-CN" sz="2400">
                            <a:latin typeface="Cambria Math" panose="02040503050406030204" pitchFamily="18" charset="0"/>
                            <a:ea typeface="华文楷体" panose="02010600040101010101" pitchFamily="2" charset="-122"/>
                          </a:rPr>
                          <m:t>,</m:t>
                        </m:r>
                        <m:r>
                          <a:rPr lang="en-US" altLang="zh-CN" sz="2400">
                            <a:latin typeface="Cambria Math" panose="02040503050406030204" pitchFamily="18" charset="0"/>
                            <a:ea typeface="华文楷体" panose="02010600040101010101" pitchFamily="2" charset="-122"/>
                          </a:rPr>
                          <m:t>𝑢</m:t>
                        </m:r>
                      </m:e>
                    </m:d>
                  </m:oMath>
                </a14:m>
                <a:r>
                  <a:rPr lang="zh-CN" altLang="en-US" sz="2400" dirty="0">
                    <a:ea typeface="华文楷体" panose="02010600040101010101" pitchFamily="2" charset="-122"/>
                  </a:rPr>
                  <a:t>成立</a:t>
                </a:r>
                <a:r>
                  <a:rPr lang="zh-CN" altLang="en-US"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None/>
                </a:pPr>
                <a:r>
                  <a:rPr lang="zh-CN" altLang="en-US" sz="2400" dirty="0" smtClean="0">
                    <a:solidFill>
                      <a:srgbClr val="C00000"/>
                    </a:solidFill>
                    <a:ea typeface="华文楷体" panose="02010600040101010101" pitchFamily="2" charset="-122"/>
                  </a:rPr>
                  <a:t>定理</a:t>
                </a:r>
                <a:r>
                  <a:rPr lang="en-US" altLang="zh-CN" sz="2400" dirty="0" smtClean="0">
                    <a:solidFill>
                      <a:srgbClr val="C00000"/>
                    </a:solidFill>
                    <a:ea typeface="华文楷体" panose="02010600040101010101" pitchFamily="2" charset="-122"/>
                  </a:rPr>
                  <a:t>2</a:t>
                </a:r>
                <a:r>
                  <a:rPr lang="zh-CN" altLang="en-US" sz="2400" dirty="0" smtClean="0">
                    <a:ea typeface="华文楷体" panose="02010600040101010101" pitchFamily="2" charset="-122"/>
                  </a:rPr>
                  <a:t>：若在</a:t>
                </a:r>
                <a:r>
                  <a:rPr lang="zh-CN" altLang="en-US" sz="2400" dirty="0">
                    <a:ea typeface="华文楷体" panose="02010600040101010101" pitchFamily="2" charset="-122"/>
                  </a:rPr>
                  <a:t>带权有向无环图</a:t>
                </a:r>
                <a:r>
                  <a:rPr lang="en-US" altLang="zh-CN" sz="2400" dirty="0">
                    <a:ea typeface="华文楷体" panose="02010600040101010101" pitchFamily="2" charset="-122"/>
                  </a:rPr>
                  <a:t>G=(V,E</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上运行</a:t>
                </a:r>
                <a:r>
                  <a:rPr lang="en-US" altLang="zh-CN" sz="2400" dirty="0" err="1">
                    <a:ea typeface="华文楷体" panose="02010600040101010101" pitchFamily="2" charset="-122"/>
                  </a:rPr>
                  <a:t>Dijstra</a:t>
                </a:r>
                <a:r>
                  <a:rPr lang="zh-CN" altLang="en-US" sz="2400" dirty="0" smtClean="0">
                    <a:ea typeface="华文楷体" panose="02010600040101010101" pitchFamily="2" charset="-122"/>
                  </a:rPr>
                  <a:t>算法，源顶点为</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，且边</a:t>
                </a:r>
                <a:r>
                  <a:rPr lang="zh-CN" altLang="en-US" sz="2400" dirty="0">
                    <a:ea typeface="华文楷体" panose="02010600040101010101" pitchFamily="2" charset="-122"/>
                  </a:rPr>
                  <a:t>无负权</a:t>
                </a:r>
                <a:r>
                  <a:rPr lang="zh-CN" altLang="en-US" sz="2400" dirty="0" smtClean="0">
                    <a:ea typeface="华文楷体" panose="02010600040101010101" pitchFamily="2" charset="-122"/>
                  </a:rPr>
                  <a:t>值；则算法终止时，</a:t>
                </a:r>
                <a:r>
                  <a:rPr lang="zh-CN" altLang="en-US" sz="2400" dirty="0">
                    <a:ea typeface="华文楷体" panose="02010600040101010101" pitchFamily="2" charset="-122"/>
                  </a:rPr>
                  <a:t>其前驱子图</a:t>
                </a:r>
                <a:r>
                  <a:rPr lang="en-US" altLang="zh-CN" sz="2400" dirty="0" err="1">
                    <a:ea typeface="华文楷体" panose="02010600040101010101" pitchFamily="2" charset="-122"/>
                  </a:rPr>
                  <a:t>G</a:t>
                </a:r>
                <a:r>
                  <a:rPr lang="en-US" altLang="zh-CN" sz="2400" baseline="-25000" dirty="0" err="1">
                    <a:ea typeface="华文楷体" panose="02010600040101010101" pitchFamily="2" charset="-122"/>
                  </a:rPr>
                  <a:t>p</a:t>
                </a:r>
                <a:r>
                  <a:rPr lang="zh-CN" altLang="en-US" sz="2400" dirty="0">
                    <a:ea typeface="华文楷体" panose="02010600040101010101" pitchFamily="2" charset="-122"/>
                  </a:rPr>
                  <a:t>是一颗根为源顶点</a:t>
                </a:r>
                <a:r>
                  <a:rPr lang="en-US" altLang="zh-CN" sz="2400" dirty="0">
                    <a:ea typeface="华文楷体" panose="02010600040101010101" pitchFamily="2" charset="-122"/>
                  </a:rPr>
                  <a:t>s</a:t>
                </a:r>
                <a:r>
                  <a:rPr lang="zh-CN" altLang="en-US" sz="2400" dirty="0">
                    <a:ea typeface="华文楷体" panose="02010600040101010101" pitchFamily="2" charset="-122"/>
                  </a:rPr>
                  <a:t>的最短路径树。</a:t>
                </a:r>
                <a:endParaRPr lang="en-US" altLang="zh-CN" sz="2400" dirty="0">
                  <a:ea typeface="华文楷体" panose="02010600040101010101" pitchFamily="2" charset="-122"/>
                </a:endParaRPr>
              </a:p>
              <a:p>
                <a:pPr marL="0" indent="0">
                  <a:buNone/>
                </a:pPr>
                <a:endParaRPr lang="zh-CN" altLang="en-US" sz="20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04800" y="1152525"/>
                <a:ext cx="8382000" cy="5248275"/>
              </a:xfrm>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2"/>
          <a:stretch>
            <a:fillRect/>
          </a:stretch>
        </p:blipFill>
        <p:spPr>
          <a:xfrm>
            <a:off x="2800532" y="3872399"/>
            <a:ext cx="6066881" cy="2605769"/>
          </a:xfrm>
          <a:prstGeom prst="rect">
            <a:avLst/>
          </a:prstGeom>
        </p:spPr>
      </p:pic>
      <p:sp>
        <p:nvSpPr>
          <p:cNvPr id="7" name="文本框 6"/>
          <p:cNvSpPr txBox="1"/>
          <p:nvPr/>
        </p:nvSpPr>
        <p:spPr>
          <a:xfrm>
            <a:off x="457200" y="4648200"/>
            <a:ext cx="1524000" cy="1295400"/>
          </a:xfrm>
          <a:prstGeom prst="rect">
            <a:avLst/>
          </a:prstGeom>
          <a:noFill/>
        </p:spPr>
        <p:txBody>
          <a:bodyPr wrap="square" rtlCol="0">
            <a:spAutoFit/>
          </a:bodyPr>
          <a:lstStyle/>
          <a:p>
            <a:endParaRPr lang="zh-CN" altLang="en-US" dirty="0"/>
          </a:p>
        </p:txBody>
      </p:sp>
      <p:sp>
        <p:nvSpPr>
          <p:cNvPr id="9" name="矩形 8"/>
          <p:cNvSpPr/>
          <p:nvPr/>
        </p:nvSpPr>
        <p:spPr>
          <a:xfrm>
            <a:off x="131444" y="4054282"/>
            <a:ext cx="2564675" cy="2308324"/>
          </a:xfrm>
          <a:prstGeom prst="rect">
            <a:avLst/>
          </a:prstGeom>
          <a:ln w="19050">
            <a:solidFill>
              <a:srgbClr val="00B050"/>
            </a:solidFill>
          </a:ln>
        </p:spPr>
        <p:txBody>
          <a:bodyPr wrap="square">
            <a:spAutoFit/>
          </a:bodyPr>
          <a:lstStyle/>
          <a:p>
            <a:pPr algn="just"/>
            <a:r>
              <a:rPr lang="en-US" altLang="zh-CN" b="1" dirty="0" err="1" smtClean="0">
                <a:solidFill>
                  <a:srgbClr val="C00000"/>
                </a:solidFill>
                <a:latin typeface="华文楷体" panose="02010600040101010101" pitchFamily="2" charset="-122"/>
                <a:ea typeface="华文楷体" panose="02010600040101010101" pitchFamily="2" charset="-122"/>
              </a:rPr>
              <a:t>Dijstra</a:t>
            </a:r>
            <a:r>
              <a:rPr lang="zh-CN" altLang="en-US" b="1" dirty="0" smtClean="0">
                <a:solidFill>
                  <a:srgbClr val="C00000"/>
                </a:solidFill>
                <a:latin typeface="华文楷体" panose="02010600040101010101" pitchFamily="2" charset="-122"/>
                <a:ea typeface="华文楷体" panose="02010600040101010101" pitchFamily="2" charset="-122"/>
              </a:rPr>
              <a:t>被</a:t>
            </a:r>
            <a:r>
              <a:rPr lang="zh-CN" altLang="en-US" b="1" dirty="0">
                <a:solidFill>
                  <a:srgbClr val="C00000"/>
                </a:solidFill>
                <a:latin typeface="华文楷体" panose="02010600040101010101" pitchFamily="2" charset="-122"/>
                <a:ea typeface="华文楷体" panose="02010600040101010101" pitchFamily="2" charset="-122"/>
              </a:rPr>
              <a:t>证明具有普遍最优性（</a:t>
            </a:r>
            <a:r>
              <a:rPr lang="en-US" altLang="zh-CN" b="1" dirty="0">
                <a:solidFill>
                  <a:srgbClr val="C00000"/>
                </a:solidFill>
                <a:latin typeface="华文楷体" panose="02010600040101010101" pitchFamily="2" charset="-122"/>
                <a:ea typeface="华文楷体" panose="02010600040101010101" pitchFamily="2" charset="-122"/>
              </a:rPr>
              <a:t>Universal </a:t>
            </a:r>
            <a:r>
              <a:rPr lang="en-US" altLang="zh-CN" b="1" dirty="0" smtClean="0">
                <a:solidFill>
                  <a:srgbClr val="C00000"/>
                </a:solidFill>
                <a:latin typeface="华文楷体" panose="02010600040101010101" pitchFamily="2" charset="-122"/>
                <a:ea typeface="华文楷体" panose="02010600040101010101" pitchFamily="2" charset="-122"/>
              </a:rPr>
              <a:t>Optimality</a:t>
            </a:r>
            <a:r>
              <a:rPr lang="zh-CN" altLang="en-US" b="1" dirty="0" smtClean="0">
                <a:solidFill>
                  <a:srgbClr val="C00000"/>
                </a:solidFill>
                <a:latin typeface="华文楷体" panose="02010600040101010101" pitchFamily="2" charset="-122"/>
                <a:ea typeface="华文楷体" panose="02010600040101010101" pitchFamily="2" charset="-122"/>
              </a:rPr>
              <a:t>）。</a:t>
            </a:r>
            <a:endParaRPr lang="en-US" altLang="zh-CN" b="1" dirty="0" smtClean="0">
              <a:solidFill>
                <a:srgbClr val="C00000"/>
              </a:solidFill>
              <a:latin typeface="华文楷体" panose="02010600040101010101" pitchFamily="2" charset="-122"/>
              <a:ea typeface="华文楷体" panose="02010600040101010101" pitchFamily="2" charset="-122"/>
            </a:endParaRPr>
          </a:p>
          <a:p>
            <a:pPr algn="just"/>
            <a:r>
              <a:rPr lang="zh-CN" altLang="en-US" b="1" dirty="0" smtClean="0">
                <a:solidFill>
                  <a:srgbClr val="C00000"/>
                </a:solidFill>
                <a:latin typeface="华文楷体" panose="02010600040101010101" pitchFamily="2" charset="-122"/>
                <a:ea typeface="华文楷体" panose="02010600040101010101" pitchFamily="2" charset="-122"/>
              </a:rPr>
              <a:t>这说明即使在最坏情况下</a:t>
            </a:r>
            <a:r>
              <a:rPr lang="en-US" altLang="zh-CN" b="1" dirty="0" err="1">
                <a:solidFill>
                  <a:srgbClr val="C00000"/>
                </a:solidFill>
                <a:latin typeface="华文楷体" panose="02010600040101010101" pitchFamily="2" charset="-122"/>
                <a:ea typeface="华文楷体" panose="02010600040101010101" pitchFamily="2" charset="-122"/>
              </a:rPr>
              <a:t>Dijstra</a:t>
            </a:r>
            <a:r>
              <a:rPr lang="zh-CN" altLang="en-US" b="1" dirty="0" smtClean="0">
                <a:solidFill>
                  <a:srgbClr val="C00000"/>
                </a:solidFill>
                <a:latin typeface="华文楷体" panose="02010600040101010101" pitchFamily="2" charset="-122"/>
                <a:ea typeface="华文楷体" panose="02010600040101010101" pitchFamily="2" charset="-122"/>
              </a:rPr>
              <a:t>都能达到理论上的最优。</a:t>
            </a:r>
            <a:endParaRPr lang="en-US" altLang="zh-CN" b="1" dirty="0" smtClean="0">
              <a:solidFill>
                <a:srgbClr val="C00000"/>
              </a:solidFill>
              <a:latin typeface="华文楷体" panose="02010600040101010101" pitchFamily="2" charset="-122"/>
              <a:ea typeface="华文楷体" panose="02010600040101010101" pitchFamily="2" charset="-122"/>
            </a:endParaRPr>
          </a:p>
          <a:p>
            <a:pPr algn="just"/>
            <a:r>
              <a:rPr lang="en-US" altLang="zh-CN" dirty="0" smtClean="0">
                <a:solidFill>
                  <a:srgbClr val="00B050"/>
                </a:solidFill>
                <a:latin typeface="Times New Roman" panose="02020603050405020304" pitchFamily="18" charset="0"/>
                <a:ea typeface="华文楷体" panose="02010600040101010101" pitchFamily="2" charset="-122"/>
              </a:rPr>
              <a:t>FOCS 2024(</a:t>
            </a:r>
            <a:r>
              <a:rPr lang="zh-CN" altLang="en-US" dirty="0" smtClean="0">
                <a:solidFill>
                  <a:srgbClr val="00B050"/>
                </a:solidFill>
                <a:latin typeface="Times New Roman" panose="02020603050405020304" pitchFamily="18" charset="0"/>
                <a:ea typeface="华文楷体" panose="02010600040101010101" pitchFamily="2" charset="-122"/>
              </a:rPr>
              <a:t>计算机顶会</a:t>
            </a:r>
            <a:r>
              <a:rPr lang="en-US" altLang="zh-CN" dirty="0" smtClean="0">
                <a:solidFill>
                  <a:srgbClr val="00B050"/>
                </a:solidFill>
                <a:latin typeface="Times New Roman" panose="02020603050405020304" pitchFamily="18" charset="0"/>
                <a:ea typeface="华文楷体" panose="02010600040101010101" pitchFamily="2" charset="-122"/>
              </a:rPr>
              <a:t>) Best </a:t>
            </a:r>
            <a:r>
              <a:rPr lang="en-US" altLang="zh-CN" dirty="0">
                <a:solidFill>
                  <a:srgbClr val="00B050"/>
                </a:solidFill>
                <a:latin typeface="Times New Roman" panose="02020603050405020304" pitchFamily="18" charset="0"/>
                <a:ea typeface="华文楷体" panose="02010600040101010101" pitchFamily="2" charset="-122"/>
              </a:rPr>
              <a:t>P</a:t>
            </a:r>
            <a:r>
              <a:rPr lang="en-US" altLang="zh-CN" dirty="0" smtClean="0">
                <a:solidFill>
                  <a:srgbClr val="00B050"/>
                </a:solidFill>
                <a:latin typeface="Times New Roman" panose="02020603050405020304" pitchFamily="18" charset="0"/>
                <a:ea typeface="华文楷体" panose="02010600040101010101" pitchFamily="2" charset="-122"/>
              </a:rPr>
              <a:t>aper</a:t>
            </a:r>
            <a:endParaRPr lang="en-US" altLang="zh-CN"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7.6.1 </a:t>
            </a:r>
            <a:r>
              <a:rPr lang="zh-CN" altLang="en-US" dirty="0">
                <a:ea typeface="华文楷体" panose="02010600040101010101" pitchFamily="2" charset="-122"/>
              </a:rPr>
              <a:t>所有顶点对的最短路径算法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04800" y="1152525"/>
                <a:ext cx="8686800" cy="5248275"/>
              </a:xfrm>
            </p:spPr>
            <p:txBody>
              <a:bodyPr/>
              <a:lstStyle/>
              <a:p>
                <a:pPr marL="0" indent="0">
                  <a:buNone/>
                </a:pPr>
                <a:r>
                  <a:rPr lang="en-US" altLang="zh-CN" sz="2200" b="1" dirty="0" smtClean="0">
                    <a:solidFill>
                      <a:srgbClr val="C00000"/>
                    </a:solidFill>
                    <a:ea typeface="华文楷体" panose="02010600040101010101" pitchFamily="2" charset="-122"/>
                  </a:rPr>
                  <a:t>[</a:t>
                </a:r>
                <a:r>
                  <a:rPr lang="en-US" altLang="zh-CN" sz="2200" b="1" dirty="0">
                    <a:solidFill>
                      <a:srgbClr val="C00000"/>
                    </a:solidFill>
                    <a:ea typeface="华文楷体" panose="02010600040101010101" pitchFamily="2" charset="-122"/>
                  </a:rPr>
                  <a:t>Johnson</a:t>
                </a:r>
                <a:r>
                  <a:rPr lang="zh-CN" altLang="en-US" sz="2200" b="1" dirty="0">
                    <a:solidFill>
                      <a:srgbClr val="C00000"/>
                    </a:solidFill>
                    <a:ea typeface="华文楷体" panose="02010600040101010101" pitchFamily="2" charset="-122"/>
                  </a:rPr>
                  <a:t>算法</a:t>
                </a:r>
                <a:r>
                  <a:rPr lang="en-US" altLang="zh-CN" sz="2200" b="1" dirty="0">
                    <a:solidFill>
                      <a:srgbClr val="C00000"/>
                    </a:solidFill>
                    <a:ea typeface="华文楷体" panose="02010600040101010101" pitchFamily="2" charset="-122"/>
                  </a:rPr>
                  <a:t>/n</a:t>
                </a:r>
                <a:r>
                  <a:rPr lang="zh-CN" altLang="en-US" sz="2200" b="1" dirty="0">
                    <a:solidFill>
                      <a:srgbClr val="C00000"/>
                    </a:solidFill>
                    <a:ea typeface="华文楷体" panose="02010600040101010101" pitchFamily="2" charset="-122"/>
                  </a:rPr>
                  <a:t>次</a:t>
                </a:r>
                <a:r>
                  <a:rPr lang="en-US" altLang="zh-CN" sz="2200" b="1" dirty="0" err="1" smtClean="0">
                    <a:solidFill>
                      <a:srgbClr val="C00000"/>
                    </a:solidFill>
                    <a:ea typeface="华文楷体" panose="02010600040101010101" pitchFamily="2" charset="-122"/>
                  </a:rPr>
                  <a:t>Dijstra</a:t>
                </a:r>
                <a:r>
                  <a:rPr lang="zh-CN" altLang="en-US" sz="2200" b="1" dirty="0">
                    <a:solidFill>
                      <a:srgbClr val="C00000"/>
                    </a:solidFill>
                    <a:ea typeface="华文楷体" panose="02010600040101010101" pitchFamily="2" charset="-122"/>
                  </a:rPr>
                  <a:t>算法</a:t>
                </a:r>
                <a:r>
                  <a:rPr lang="en-US" altLang="zh-CN" sz="2200" b="1" dirty="0">
                    <a:solidFill>
                      <a:srgbClr val="C00000"/>
                    </a:solidFill>
                    <a:ea typeface="华文楷体" panose="02010600040101010101" pitchFamily="2" charset="-122"/>
                  </a:rPr>
                  <a:t>]</a:t>
                </a:r>
                <a:endParaRPr lang="en-US" altLang="zh-CN" sz="2200" b="1" dirty="0">
                  <a:solidFill>
                    <a:srgbClr val="C00000"/>
                  </a:solidFill>
                  <a:ea typeface="华文楷体" panose="02010600040101010101" pitchFamily="2" charset="-122"/>
                </a:endParaRPr>
              </a:p>
              <a:p>
                <a:pPr marL="0" indent="0">
                  <a:buNone/>
                </a:pPr>
                <a:r>
                  <a:rPr lang="zh-CN" altLang="en-US" sz="2200" dirty="0">
                    <a:ea typeface="华文楷体" panose="02010600040101010101" pitchFamily="2" charset="-122"/>
                  </a:rPr>
                  <a:t>每次选一个顶点为源点，反复利用</a:t>
                </a:r>
                <a:r>
                  <a:rPr lang="en-US" altLang="zh-CN" sz="2200" dirty="0" err="1">
                    <a:ea typeface="华文楷体" panose="02010600040101010101" pitchFamily="2" charset="-122"/>
                  </a:rPr>
                  <a:t>Dijstra</a:t>
                </a:r>
                <a:r>
                  <a:rPr lang="zh-CN" altLang="en-US" sz="2200" dirty="0" smtClean="0">
                    <a:ea typeface="华文楷体" panose="02010600040101010101" pitchFamily="2" charset="-122"/>
                  </a:rPr>
                  <a:t>算法，要求：无负权重边。   时间复杂度：</a:t>
                </a:r>
                <a:r>
                  <a:rPr lang="en-US" altLang="zh-CN" sz="2200" dirty="0" smtClean="0">
                    <a:solidFill>
                      <a:schemeClr val="accent2"/>
                    </a:solidFill>
                    <a:ea typeface="华文楷体" panose="02010600040101010101" pitchFamily="2" charset="-122"/>
                  </a:rPr>
                  <a:t>O(n</a:t>
                </a:r>
                <a:r>
                  <a:rPr lang="en-US" altLang="zh-CN" sz="2200" baseline="30000" dirty="0" smtClean="0">
                    <a:solidFill>
                      <a:schemeClr val="accent2"/>
                    </a:solidFill>
                    <a:ea typeface="华文楷体" panose="02010600040101010101" pitchFamily="2" charset="-122"/>
                  </a:rPr>
                  <a:t>3</a:t>
                </a:r>
                <a:r>
                  <a:rPr lang="en-US" altLang="zh-CN" sz="2200" dirty="0" smtClean="0">
                    <a:solidFill>
                      <a:schemeClr val="accent2"/>
                    </a:solidFill>
                    <a:ea typeface="华文楷体" panose="02010600040101010101" pitchFamily="2" charset="-122"/>
                  </a:rPr>
                  <a:t>)</a:t>
                </a:r>
                <a:endParaRPr lang="en-US" altLang="zh-CN" sz="2200" dirty="0" smtClean="0"/>
              </a:p>
              <a:p>
                <a:pPr marL="0" indent="0">
                  <a:buNone/>
                </a:pPr>
                <a:r>
                  <a:rPr lang="en-US" altLang="zh-CN" sz="2200" b="1" dirty="0">
                    <a:solidFill>
                      <a:srgbClr val="C00000"/>
                    </a:solidFill>
                    <a:ea typeface="华文楷体" panose="02010600040101010101" pitchFamily="2" charset="-122"/>
                  </a:rPr>
                  <a:t>[</a:t>
                </a:r>
                <a:r>
                  <a:rPr lang="en-US" altLang="zh-CN" sz="2200" b="1" dirty="0" smtClean="0">
                    <a:solidFill>
                      <a:srgbClr val="C00000"/>
                    </a:solidFill>
                    <a:ea typeface="华文楷体" panose="02010600040101010101" pitchFamily="2" charset="-122"/>
                  </a:rPr>
                  <a:t>Floyd-</a:t>
                </a:r>
                <a:r>
                  <a:rPr lang="en-US" altLang="zh-CN" sz="2200" b="1" dirty="0" err="1" smtClean="0">
                    <a:solidFill>
                      <a:srgbClr val="C00000"/>
                    </a:solidFill>
                    <a:ea typeface="华文楷体" panose="02010600040101010101" pitchFamily="2" charset="-122"/>
                  </a:rPr>
                  <a:t>Warshall</a:t>
                </a:r>
                <a:r>
                  <a:rPr lang="en-US" altLang="zh-CN" sz="2200" b="1" dirty="0" smtClean="0">
                    <a:solidFill>
                      <a:srgbClr val="C00000"/>
                    </a:solidFill>
                    <a:ea typeface="华文楷体" panose="02010600040101010101" pitchFamily="2" charset="-122"/>
                  </a:rPr>
                  <a:t>/</a:t>
                </a:r>
                <a:r>
                  <a:rPr lang="en-US" altLang="zh-CN" sz="2000" dirty="0">
                    <a:ea typeface="华文楷体" panose="02010600040101010101" pitchFamily="2" charset="-122"/>
                  </a:rPr>
                  <a:t> </a:t>
                </a:r>
                <a:r>
                  <a:rPr lang="en-US" altLang="zh-CN" sz="2200" b="1" dirty="0" smtClean="0">
                    <a:solidFill>
                      <a:srgbClr val="C00000"/>
                    </a:solidFill>
                    <a:ea typeface="华文楷体" panose="02010600040101010101" pitchFamily="2" charset="-122"/>
                  </a:rPr>
                  <a:t>Floyd</a:t>
                </a:r>
                <a:r>
                  <a:rPr lang="zh-CN" altLang="en-US" sz="2200" b="1" dirty="0" smtClean="0">
                    <a:solidFill>
                      <a:srgbClr val="C00000"/>
                    </a:solidFill>
                    <a:ea typeface="华文楷体" panose="02010600040101010101" pitchFamily="2" charset="-122"/>
                  </a:rPr>
                  <a:t>算法</a:t>
                </a:r>
                <a:r>
                  <a:rPr lang="en-US" altLang="zh-CN" sz="2200" b="1" dirty="0">
                    <a:solidFill>
                      <a:srgbClr val="C00000"/>
                    </a:solidFill>
                    <a:ea typeface="华文楷体" panose="02010600040101010101" pitchFamily="2" charset="-122"/>
                  </a:rPr>
                  <a:t>]</a:t>
                </a:r>
                <a:endParaRPr lang="en-US" altLang="zh-CN" sz="2200" b="1" dirty="0">
                  <a:solidFill>
                    <a:srgbClr val="C00000"/>
                  </a:solidFill>
                  <a:ea typeface="华文楷体" panose="02010600040101010101" pitchFamily="2" charset="-122"/>
                </a:endParaRPr>
              </a:p>
              <a:p>
                <a:pPr marL="0" indent="0">
                  <a:buNone/>
                </a:pPr>
                <a:r>
                  <a:rPr lang="zh-CN" altLang="en-US" sz="2200" dirty="0" smtClean="0">
                    <a:ea typeface="华文楷体" panose="02010600040101010101" pitchFamily="2" charset="-122"/>
                  </a:rPr>
                  <a:t>采用动态规划，描述更简单，</a:t>
                </a:r>
                <a:r>
                  <a:rPr lang="zh-CN" altLang="en-US" sz="2200" dirty="0" smtClean="0">
                    <a:solidFill>
                      <a:srgbClr val="C00000"/>
                    </a:solidFill>
                    <a:ea typeface="华文楷体" panose="02010600040101010101" pitchFamily="2" charset="-122"/>
                  </a:rPr>
                  <a:t>负</a:t>
                </a:r>
                <a:r>
                  <a:rPr lang="zh-CN" altLang="en-US" sz="2200" dirty="0">
                    <a:solidFill>
                      <a:srgbClr val="C00000"/>
                    </a:solidFill>
                    <a:ea typeface="华文楷体" panose="02010600040101010101" pitchFamily="2" charset="-122"/>
                  </a:rPr>
                  <a:t>权重边</a:t>
                </a:r>
                <a:r>
                  <a:rPr lang="zh-CN" altLang="en-US" sz="2200" dirty="0" smtClean="0">
                    <a:solidFill>
                      <a:srgbClr val="C00000"/>
                    </a:solidFill>
                    <a:ea typeface="华文楷体" panose="02010600040101010101" pitchFamily="2" charset="-122"/>
                  </a:rPr>
                  <a:t>可存在</a:t>
                </a:r>
                <a:r>
                  <a:rPr lang="zh-CN" altLang="en-US" sz="2200" dirty="0">
                    <a:ea typeface="华文楷体" panose="02010600040101010101" pitchFamily="2" charset="-122"/>
                  </a:rPr>
                  <a:t>，但</a:t>
                </a:r>
                <a:r>
                  <a:rPr lang="zh-CN" altLang="en-US" sz="2200" dirty="0" smtClean="0">
                    <a:ea typeface="华文楷体" panose="02010600040101010101" pitchFamily="2" charset="-122"/>
                  </a:rPr>
                  <a:t>不能有负</a:t>
                </a:r>
                <a:r>
                  <a:rPr lang="zh-CN" altLang="en-US" sz="2200" dirty="0">
                    <a:ea typeface="华文楷体" panose="02010600040101010101" pitchFamily="2" charset="-122"/>
                  </a:rPr>
                  <a:t>权重环路</a:t>
                </a:r>
                <a:r>
                  <a:rPr lang="zh-CN" altLang="en-US" sz="2200" dirty="0" smtClean="0">
                    <a:ea typeface="华文楷体" panose="02010600040101010101" pitchFamily="2" charset="-122"/>
                  </a:rPr>
                  <a:t>。</a:t>
                </a:r>
                <a:r>
                  <a:rPr lang="en-US" altLang="zh-CN" sz="2200" dirty="0">
                    <a:solidFill>
                      <a:schemeClr val="accent2"/>
                    </a:solidFill>
                    <a:ea typeface="华文楷体" panose="02010600040101010101" pitchFamily="2" charset="-122"/>
                  </a:rPr>
                  <a:t> </a:t>
                </a:r>
                <a:r>
                  <a:rPr lang="zh-CN" altLang="en-US" sz="2200" dirty="0">
                    <a:ea typeface="华文楷体" panose="02010600040101010101" pitchFamily="2" charset="-122"/>
                  </a:rPr>
                  <a:t>时间复杂度：</a:t>
                </a:r>
                <a:r>
                  <a:rPr lang="en-US" altLang="zh-CN" sz="2200" dirty="0" smtClean="0">
                    <a:solidFill>
                      <a:schemeClr val="accent2"/>
                    </a:solidFill>
                    <a:ea typeface="华文楷体" panose="02010600040101010101" pitchFamily="2" charset="-122"/>
                  </a:rPr>
                  <a:t>O(n</a:t>
                </a:r>
                <a:r>
                  <a:rPr lang="en-US" altLang="zh-CN" sz="2200" baseline="30000" dirty="0" smtClean="0">
                    <a:solidFill>
                      <a:schemeClr val="accent2"/>
                    </a:solidFill>
                    <a:ea typeface="华文楷体" panose="02010600040101010101" pitchFamily="2" charset="-122"/>
                  </a:rPr>
                  <a:t>3</a:t>
                </a:r>
                <a:r>
                  <a:rPr lang="en-US" altLang="zh-CN" sz="2200" dirty="0">
                    <a:solidFill>
                      <a:schemeClr val="accent2"/>
                    </a:solidFill>
                    <a:ea typeface="华文楷体" panose="02010600040101010101" pitchFamily="2" charset="-122"/>
                  </a:rPr>
                  <a:t>)</a:t>
                </a:r>
                <a:endParaRPr lang="en-US" altLang="zh-CN" sz="2200" dirty="0">
                  <a:ea typeface="华文楷体" panose="02010600040101010101" pitchFamily="2" charset="-122"/>
                </a:endParaRPr>
              </a:p>
              <a:p>
                <a:pPr marL="0" indent="0">
                  <a:buNone/>
                </a:pPr>
                <a:r>
                  <a:rPr lang="en-US" altLang="zh-CN" sz="2200" dirty="0" smtClean="0">
                    <a:solidFill>
                      <a:srgbClr val="C00000"/>
                    </a:solidFill>
                    <a:ea typeface="华文楷体" panose="02010600040101010101" pitchFamily="2" charset="-122"/>
                  </a:rPr>
                  <a:t>[</a:t>
                </a:r>
                <a:r>
                  <a:rPr lang="zh-CN" altLang="en-US" sz="2200" dirty="0" smtClean="0">
                    <a:solidFill>
                      <a:srgbClr val="C00000"/>
                    </a:solidFill>
                    <a:ea typeface="华文楷体" panose="02010600040101010101" pitchFamily="2" charset="-122"/>
                  </a:rPr>
                  <a:t>最短路径结构</a:t>
                </a:r>
                <a:r>
                  <a:rPr lang="en-US" altLang="zh-CN" sz="2200" dirty="0" smtClean="0">
                    <a:solidFill>
                      <a:srgbClr val="C00000"/>
                    </a:solidFill>
                    <a:ea typeface="华文楷体" panose="02010600040101010101" pitchFamily="2" charset="-122"/>
                  </a:rPr>
                  <a:t>]</a:t>
                </a:r>
                <a:endParaRPr lang="en-US" altLang="zh-CN" sz="2200" dirty="0" smtClean="0">
                  <a:solidFill>
                    <a:srgbClr val="C00000"/>
                  </a:solidFill>
                  <a:ea typeface="华文楷体" panose="02010600040101010101" pitchFamily="2" charset="-122"/>
                </a:endParaRPr>
              </a:p>
              <a:p>
                <a:pPr marL="0" indent="0">
                  <a:buNone/>
                </a:pPr>
                <a:r>
                  <a:rPr lang="zh-CN" altLang="en-US" sz="2200" dirty="0" smtClean="0">
                    <a:ea typeface="华文楷体" panose="02010600040101010101" pitchFamily="2" charset="-122"/>
                  </a:rPr>
                  <a:t>采用邻接矩阵存储图</a:t>
                </a:r>
                <a:r>
                  <a:rPr lang="en-US" altLang="zh-CN" sz="2200" dirty="0" smtClean="0">
                    <a:ea typeface="华文楷体" panose="02010600040101010101" pitchFamily="2" charset="-122"/>
                  </a:rPr>
                  <a:t>G</a:t>
                </a:r>
                <a:r>
                  <a:rPr lang="zh-CN" altLang="en-US" sz="2200" dirty="0" smtClean="0">
                    <a:ea typeface="华文楷体" panose="02010600040101010101" pitchFamily="2" charset="-122"/>
                  </a:rPr>
                  <a:t>，假设用矩阵</a:t>
                </a:r>
                <a:r>
                  <a:rPr lang="en-US" altLang="zh-CN" sz="2200" dirty="0" smtClean="0">
                    <a:ea typeface="华文楷体" panose="02010600040101010101" pitchFamily="2" charset="-122"/>
                  </a:rPr>
                  <a:t>cost[1...n][1…n]</a:t>
                </a:r>
                <a:r>
                  <a:rPr lang="zh-CN" altLang="en-US" sz="2200" dirty="0" smtClean="0">
                    <a:ea typeface="华文楷体" panose="02010600040101010101" pitchFamily="2" charset="-122"/>
                  </a:rPr>
                  <a:t>存储边的权重，</a:t>
                </a:r>
                <a:r>
                  <a:rPr lang="en-US" altLang="zh-CN" sz="2200" dirty="0">
                    <a:ea typeface="华文楷体" panose="02010600040101010101" pitchFamily="2" charset="-122"/>
                  </a:rPr>
                  <a:t> cost[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存储边</a:t>
                </a:r>
                <a:r>
                  <a:rPr lang="en-US" altLang="zh-CN" sz="2200" dirty="0">
                    <a:ea typeface="华文楷体" panose="02010600040101010101" pitchFamily="2" charset="-122"/>
                  </a:rPr>
                  <a:t>&lt;</a:t>
                </a:r>
                <a:r>
                  <a:rPr lang="en-US" altLang="zh-CN" sz="2200" dirty="0" err="1">
                    <a:ea typeface="华文楷体" panose="02010600040101010101" pitchFamily="2" charset="-122"/>
                  </a:rPr>
                  <a:t>i</a:t>
                </a:r>
                <a:r>
                  <a:rPr lang="en-US" altLang="zh-CN" sz="2200" dirty="0">
                    <a:ea typeface="华文楷体" panose="02010600040101010101" pitchFamily="2" charset="-122"/>
                  </a:rPr>
                  <a:t>, j</a:t>
                </a:r>
                <a:r>
                  <a:rPr lang="en-US" altLang="zh-CN" sz="2200" dirty="0" smtClean="0">
                    <a:ea typeface="华文楷体" panose="02010600040101010101" pitchFamily="2" charset="-122"/>
                  </a:rPr>
                  <a:t>&gt;</a:t>
                </a:r>
                <a:r>
                  <a:rPr lang="zh-CN" altLang="en-US" sz="2200" dirty="0" smtClean="0">
                    <a:ea typeface="华文楷体" panose="02010600040101010101" pitchFamily="2" charset="-122"/>
                  </a:rPr>
                  <a:t>的权重。若</a:t>
                </a:r>
                <a:r>
                  <a:rPr lang="en-US" altLang="zh-CN" sz="2200" dirty="0" err="1" smtClean="0">
                    <a:ea typeface="华文楷体" panose="02010600040101010101" pitchFamily="2" charset="-122"/>
                  </a:rPr>
                  <a:t>i</a:t>
                </a:r>
                <a:r>
                  <a:rPr lang="en-US" altLang="zh-CN" sz="2200" dirty="0" smtClean="0">
                    <a:ea typeface="华文楷体" panose="02010600040101010101" pitchFamily="2" charset="-122"/>
                  </a:rPr>
                  <a:t>=j</a:t>
                </a:r>
                <a:r>
                  <a:rPr lang="zh-CN" altLang="en-US" sz="2200" dirty="0" smtClean="0">
                    <a:ea typeface="华文楷体" panose="02010600040101010101" pitchFamily="2" charset="-122"/>
                  </a:rPr>
                  <a:t>，</a:t>
                </a:r>
                <a:r>
                  <a:rPr lang="en-US" altLang="zh-CN" sz="2200" dirty="0" smtClean="0">
                    <a:ea typeface="华文楷体" panose="02010600040101010101" pitchFamily="2" charset="-122"/>
                  </a:rPr>
                  <a:t>cost[</a:t>
                </a:r>
                <a:r>
                  <a:rPr lang="en-US" altLang="zh-CN" sz="2200" dirty="0" err="1" smtClean="0">
                    <a:ea typeface="华文楷体" panose="02010600040101010101" pitchFamily="2" charset="-122"/>
                  </a:rPr>
                  <a:t>i</a:t>
                </a:r>
                <a:r>
                  <a:rPr lang="en-US" altLang="zh-CN" sz="2200" dirty="0" smtClean="0">
                    <a:ea typeface="华文楷体" panose="02010600040101010101" pitchFamily="2" charset="-122"/>
                  </a:rPr>
                  <a:t>][j]=0</a:t>
                </a:r>
                <a:r>
                  <a:rPr lang="zh-CN" altLang="en-US" sz="2200" dirty="0" smtClean="0">
                    <a:ea typeface="华文楷体" panose="02010600040101010101" pitchFamily="2" charset="-122"/>
                  </a:rPr>
                  <a:t>；若</a:t>
                </a:r>
                <a:r>
                  <a:rPr lang="en-US" altLang="zh-CN" sz="2200" dirty="0" err="1" smtClean="0">
                    <a:ea typeface="华文楷体" panose="02010600040101010101" pitchFamily="2" charset="-122"/>
                  </a:rPr>
                  <a:t>i</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oMath>
                </a14:m>
                <a:r>
                  <a:rPr lang="en-US" altLang="zh-CN" sz="2200" dirty="0" smtClean="0">
                    <a:ea typeface="华文楷体" panose="02010600040101010101" pitchFamily="2" charset="-122"/>
                  </a:rPr>
                  <a:t>j</a:t>
                </a:r>
                <a:r>
                  <a:rPr lang="zh-CN" altLang="en-US" sz="2200" dirty="0" smtClean="0">
                    <a:ea typeface="华文楷体" panose="02010600040101010101" pitchFamily="2" charset="-122"/>
                  </a:rPr>
                  <a:t>，且</a:t>
                </a:r>
                <a:r>
                  <a:rPr lang="en-US" altLang="zh-CN" sz="2200" dirty="0" smtClean="0">
                    <a:ea typeface="华文楷体" panose="02010600040101010101" pitchFamily="2" charset="-122"/>
                  </a:rPr>
                  <a:t>&lt;</a:t>
                </a:r>
                <a:r>
                  <a:rPr lang="en-US" altLang="zh-CN" sz="2200" dirty="0" err="1" smtClean="0">
                    <a:ea typeface="华文楷体" panose="02010600040101010101" pitchFamily="2" charset="-122"/>
                  </a:rPr>
                  <a:t>i</a:t>
                </a:r>
                <a:r>
                  <a:rPr lang="en-US" altLang="zh-CN" sz="2200" dirty="0" smtClean="0">
                    <a:ea typeface="华文楷体" panose="02010600040101010101" pitchFamily="2" charset="-122"/>
                  </a:rPr>
                  <a:t>, j&gt;</a:t>
                </a:r>
                <a:r>
                  <a:rPr lang="zh-CN" altLang="en-US" sz="2200" dirty="0" smtClean="0">
                    <a:ea typeface="华文楷体" panose="02010600040101010101" pitchFamily="2" charset="-122"/>
                  </a:rPr>
                  <a:t>不存在，</a:t>
                </a:r>
                <a:r>
                  <a:rPr lang="en-US" altLang="zh-CN" sz="2200" dirty="0">
                    <a:ea typeface="华文楷体" panose="02010600040101010101" pitchFamily="2" charset="-122"/>
                  </a:rPr>
                  <a:t> cost[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en-US" altLang="zh-CN" sz="2200" dirty="0" smtClean="0">
                    <a:ea typeface="华文楷体" panose="02010600040101010101" pitchFamily="2" charset="-122"/>
                  </a:rPr>
                  <a:t>] =</a:t>
                </a:r>
                <a14:m>
                  <m:oMath xmlns:m="http://schemas.openxmlformats.org/officeDocument/2006/math">
                    <m:r>
                      <a:rPr lang="en-US" altLang="zh-CN" sz="2200" i="1" dirty="0" smtClean="0">
                        <a:latin typeface="Cambria Math" panose="02040503050406030204" pitchFamily="18" charset="0"/>
                        <a:ea typeface="Cambria Math" panose="02040503050406030204" pitchFamily="18" charset="0"/>
                      </a:rPr>
                      <m:t>∞</m:t>
                    </m:r>
                    <m:r>
                      <a:rPr lang="zh-CN" altLang="en-US" sz="2200" i="1" dirty="0">
                        <a:latin typeface="Cambria Math" panose="02040503050406030204" pitchFamily="18" charset="0"/>
                        <a:ea typeface="Cambria Math" panose="02040503050406030204" pitchFamily="18" charset="0"/>
                      </a:rPr>
                      <m:t>。</m:t>
                    </m:r>
                  </m:oMath>
                </a14:m>
                <a:endParaRPr lang="en-US" altLang="zh-CN" sz="2200" dirty="0" smtClean="0">
                  <a:ea typeface="华文楷体" panose="02010600040101010101" pitchFamily="2" charset="-122"/>
                </a:endParaRPr>
              </a:p>
              <a:p>
                <a:pPr marL="0" indent="0">
                  <a:buNone/>
                </a:pPr>
                <a:r>
                  <a:rPr lang="en-US" altLang="zh-CN" sz="2200" dirty="0" smtClean="0">
                    <a:ea typeface="华文楷体" panose="02010600040101010101" pitchFamily="2" charset="-122"/>
                  </a:rPr>
                  <a:t>Floyd-Warshall</a:t>
                </a:r>
                <a:r>
                  <a:rPr lang="zh-CN" altLang="en-US" sz="2200" dirty="0">
                    <a:ea typeface="华文楷体" panose="02010600040101010101" pitchFamily="2" charset="-122"/>
                  </a:rPr>
                  <a:t>考虑的最短路径上的中间结点。假设图</a:t>
                </a:r>
                <a:r>
                  <a:rPr lang="en-US" altLang="zh-CN" sz="2200" dirty="0">
                    <a:ea typeface="华文楷体" panose="02010600040101010101" pitchFamily="2" charset="-122"/>
                  </a:rPr>
                  <a:t>G</a:t>
                </a:r>
                <a:r>
                  <a:rPr lang="zh-CN" altLang="en-US" sz="2200" dirty="0">
                    <a:ea typeface="华文楷体" panose="02010600040101010101" pitchFamily="2" charset="-122"/>
                  </a:rPr>
                  <a:t>的顶点为</a:t>
                </a:r>
                <a:r>
                  <a:rPr lang="en-US" altLang="zh-CN" sz="2200" dirty="0">
                    <a:ea typeface="华文楷体" panose="02010600040101010101" pitchFamily="2" charset="-122"/>
                  </a:rPr>
                  <a:t>V={1, 2, …, n</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，考虑其中一个子集</a:t>
                </a:r>
                <a:r>
                  <a:rPr lang="en-US" altLang="zh-CN" sz="2200" dirty="0" smtClean="0">
                    <a:ea typeface="华文楷体" panose="02010600040101010101" pitchFamily="2" charset="-122"/>
                  </a:rPr>
                  <a:t>{1, 2, .., k}(k</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oMath>
                </a14:m>
                <a:r>
                  <a:rPr lang="en-US" altLang="zh-CN" sz="2200" dirty="0" smtClean="0">
                    <a:ea typeface="华文楷体" panose="02010600040101010101" pitchFamily="2" charset="-122"/>
                  </a:rPr>
                  <a:t>n)</a:t>
                </a:r>
                <a:r>
                  <a:rPr lang="zh-CN" altLang="en-US" sz="2200" dirty="0" smtClean="0">
                    <a:ea typeface="华文楷体" panose="02010600040101010101" pitchFamily="2" charset="-122"/>
                  </a:rPr>
                  <a:t>，假设对任意两个顶点</a:t>
                </a:r>
                <a:r>
                  <a:rPr lang="en-US" altLang="zh-CN" sz="2200" dirty="0" err="1" smtClean="0">
                    <a:ea typeface="华文楷体" panose="02010600040101010101" pitchFamily="2" charset="-122"/>
                  </a:rPr>
                  <a:t>i,j</a:t>
                </a:r>
                <a:r>
                  <a:rPr lang="en-US" altLang="zh-CN" sz="2200" dirty="0" smtClean="0">
                    <a:ea typeface="Cambria Math" panose="02040503050406030204" pitchFamily="18" charset="0"/>
                  </a:rPr>
                  <a:t> </a:t>
                </a:r>
                <a14:m>
                  <m:oMath xmlns:m="http://schemas.openxmlformats.org/officeDocument/2006/math">
                    <m:r>
                      <a:rPr lang="en-US" altLang="zh-CN" sz="2200" i="1">
                        <a:latin typeface="Cambria Math" panose="02040503050406030204" pitchFamily="18" charset="0"/>
                        <a:ea typeface="Cambria Math" panose="02040503050406030204" pitchFamily="18" charset="0"/>
                      </a:rPr>
                      <m:t>∈</m:t>
                    </m:r>
                  </m:oMath>
                </a14:m>
                <a:r>
                  <a:rPr lang="en-US" altLang="zh-CN" sz="2200" dirty="0" smtClean="0">
                    <a:ea typeface="华文楷体" panose="02010600040101010101" pitchFamily="2" charset="-122"/>
                  </a:rPr>
                  <a:t>V</a:t>
                </a:r>
                <a:r>
                  <a:rPr lang="zh-CN" altLang="en-US" sz="2200" dirty="0" smtClean="0">
                    <a:ea typeface="华文楷体" panose="02010600040101010101" pitchFamily="2" charset="-122"/>
                  </a:rPr>
                  <a:t>，</a:t>
                </a:r>
                <a:r>
                  <a:rPr lang="en-US" altLang="zh-CN" sz="2200" dirty="0">
                    <a:solidFill>
                      <a:srgbClr val="C00000"/>
                    </a:solidFill>
                    <a:ea typeface="华文楷体" panose="02010600040101010101" pitchFamily="2" charset="-122"/>
                  </a:rPr>
                  <a:t>A</a:t>
                </a:r>
                <a:r>
                  <a:rPr lang="en-US" altLang="zh-CN" sz="2200" baseline="30000" dirty="0">
                    <a:solidFill>
                      <a:srgbClr val="C00000"/>
                    </a:solidFill>
                    <a:ea typeface="华文楷体" panose="02010600040101010101" pitchFamily="2" charset="-122"/>
                  </a:rPr>
                  <a:t>(k)</a:t>
                </a:r>
                <a:r>
                  <a:rPr lang="zh-CN" altLang="en-US" sz="2200" dirty="0">
                    <a:ea typeface="华文楷体" panose="02010600040101010101" pitchFamily="2" charset="-122"/>
                  </a:rPr>
                  <a:t>是路径权重</a:t>
                </a:r>
                <a:r>
                  <a:rPr lang="zh-CN" altLang="en-US" sz="2200" dirty="0" smtClean="0">
                    <a:ea typeface="华文楷体" panose="02010600040101010101" pitchFamily="2" charset="-122"/>
                  </a:rPr>
                  <a:t>矩阵，</a:t>
                </a:r>
                <a:r>
                  <a:rPr lang="en-US" altLang="zh-CN" sz="2200" dirty="0" smtClean="0">
                    <a:solidFill>
                      <a:srgbClr val="C00000"/>
                    </a:solidFill>
                    <a:ea typeface="华文楷体" panose="02010600040101010101" pitchFamily="2" charset="-122"/>
                  </a:rPr>
                  <a:t>A</a:t>
                </a:r>
                <a:r>
                  <a:rPr lang="en-US" altLang="zh-CN" sz="2200" baseline="30000" dirty="0" smtClean="0">
                    <a:solidFill>
                      <a:srgbClr val="C00000"/>
                    </a:solidFill>
                    <a:ea typeface="华文楷体" panose="02010600040101010101" pitchFamily="2" charset="-122"/>
                  </a:rPr>
                  <a:t>(k)</a:t>
                </a:r>
                <a:r>
                  <a:rPr lang="en-US" altLang="zh-CN" sz="2200" dirty="0" smtClean="0">
                    <a:solidFill>
                      <a:srgbClr val="C00000"/>
                    </a:solidFill>
                    <a:ea typeface="华文楷体" panose="02010600040101010101" pitchFamily="2" charset="-122"/>
                  </a:rPr>
                  <a:t>[</a:t>
                </a:r>
                <a:r>
                  <a:rPr lang="en-US" altLang="zh-CN" sz="2200" dirty="0" err="1" smtClean="0">
                    <a:solidFill>
                      <a:srgbClr val="C00000"/>
                    </a:solidFill>
                    <a:ea typeface="华文楷体" panose="02010600040101010101" pitchFamily="2" charset="-122"/>
                  </a:rPr>
                  <a:t>i</a:t>
                </a:r>
                <a:r>
                  <a:rPr lang="en-US" altLang="zh-CN" sz="2200" dirty="0" smtClean="0">
                    <a:solidFill>
                      <a:srgbClr val="C00000"/>
                    </a:solidFill>
                    <a:ea typeface="华文楷体" panose="02010600040101010101" pitchFamily="2" charset="-122"/>
                  </a:rPr>
                  <a:t>][j]</a:t>
                </a:r>
                <a:r>
                  <a:rPr lang="zh-CN" altLang="en-US" sz="2200" dirty="0" smtClean="0">
                    <a:ea typeface="华文楷体" panose="02010600040101010101" pitchFamily="2" charset="-122"/>
                  </a:rPr>
                  <a:t>表示从顶点</a:t>
                </a:r>
                <a:r>
                  <a:rPr lang="en-US" altLang="zh-CN" sz="2200" dirty="0" err="1" smtClean="0">
                    <a:ea typeface="华文楷体" panose="02010600040101010101" pitchFamily="2" charset="-122"/>
                  </a:rPr>
                  <a:t>i</a:t>
                </a:r>
                <a:r>
                  <a:rPr lang="zh-CN" altLang="en-US" sz="2200" dirty="0" smtClean="0">
                    <a:ea typeface="华文楷体" panose="02010600040101010101" pitchFamily="2" charset="-122"/>
                  </a:rPr>
                  <a:t>出发，只经过序号小或等于</a:t>
                </a:r>
                <a:r>
                  <a:rPr lang="en-US" altLang="zh-CN" sz="2200" dirty="0" smtClean="0">
                    <a:ea typeface="华文楷体" panose="02010600040101010101" pitchFamily="2" charset="-122"/>
                  </a:rPr>
                  <a:t>k</a:t>
                </a:r>
                <a:r>
                  <a:rPr lang="zh-CN" altLang="en-US" sz="2200" dirty="0" smtClean="0">
                    <a:ea typeface="华文楷体" panose="02010600040101010101" pitchFamily="2" charset="-122"/>
                  </a:rPr>
                  <a:t>的中间顶点，到达顶点</a:t>
                </a:r>
                <a:r>
                  <a:rPr lang="en-US" altLang="zh-CN" sz="2200" dirty="0" smtClean="0">
                    <a:ea typeface="华文楷体" panose="02010600040101010101" pitchFamily="2" charset="-122"/>
                  </a:rPr>
                  <a:t>j</a:t>
                </a:r>
                <a:r>
                  <a:rPr lang="zh-CN" altLang="en-US" sz="2200" dirty="0" smtClean="0">
                    <a:ea typeface="华文楷体" panose="02010600040101010101" pitchFamily="2" charset="-122"/>
                  </a:rPr>
                  <a:t>的最短路径</a:t>
                </a:r>
                <a:r>
                  <a:rPr lang="en-US" altLang="zh-CN" sz="2200" dirty="0" smtClean="0">
                    <a:ea typeface="华文楷体" panose="02010600040101010101" pitchFamily="2" charset="-122"/>
                  </a:rPr>
                  <a:t>p</a:t>
                </a:r>
                <a:r>
                  <a:rPr lang="zh-CN" altLang="en-US" sz="2200" dirty="0" smtClean="0">
                    <a:ea typeface="华文楷体" panose="02010600040101010101" pitchFamily="2" charset="-122"/>
                  </a:rPr>
                  <a:t>的权重。</a:t>
                </a:r>
                <a:endParaRPr lang="en-US" altLang="zh-CN" sz="2200" dirty="0" smtClean="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04800" y="1152525"/>
                <a:ext cx="8686800" cy="5248275"/>
              </a:xfrm>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en-US" altLang="zh-CN" sz="2200" dirty="0" smtClean="0">
                    <a:solidFill>
                      <a:srgbClr val="C00000"/>
                    </a:solidFill>
                    <a:ea typeface="华文楷体" panose="02010600040101010101" pitchFamily="2" charset="-122"/>
                  </a:rPr>
                  <a:t>[</a:t>
                </a:r>
                <a:r>
                  <a:rPr lang="zh-CN" altLang="en-US" sz="2200" dirty="0" smtClean="0">
                    <a:solidFill>
                      <a:srgbClr val="C00000"/>
                    </a:solidFill>
                    <a:ea typeface="华文楷体" panose="02010600040101010101" pitchFamily="2" charset="-122"/>
                  </a:rPr>
                  <a:t>最</a:t>
                </a:r>
                <a:r>
                  <a:rPr lang="zh-CN" altLang="en-US" sz="2200" dirty="0">
                    <a:solidFill>
                      <a:srgbClr val="C00000"/>
                    </a:solidFill>
                    <a:ea typeface="华文楷体" panose="02010600040101010101" pitchFamily="2" charset="-122"/>
                  </a:rPr>
                  <a:t>短路径</a:t>
                </a:r>
                <a:r>
                  <a:rPr lang="zh-CN" altLang="en-US" sz="2200" dirty="0" smtClean="0">
                    <a:solidFill>
                      <a:srgbClr val="C00000"/>
                    </a:solidFill>
                    <a:ea typeface="华文楷体" panose="02010600040101010101" pitchFamily="2" charset="-122"/>
                  </a:rPr>
                  <a:t>规则</a:t>
                </a:r>
                <a:r>
                  <a:rPr lang="en-US" altLang="zh-CN" sz="2200" dirty="0" smtClean="0">
                    <a:solidFill>
                      <a:srgbClr val="C00000"/>
                    </a:solidFill>
                    <a:ea typeface="华文楷体" panose="02010600040101010101" pitchFamily="2" charset="-122"/>
                  </a:rPr>
                  <a:t>]</a:t>
                </a:r>
                <a:endParaRPr lang="en-US" altLang="zh-CN" sz="2200" dirty="0">
                  <a:solidFill>
                    <a:srgbClr val="C00000"/>
                  </a:solidFill>
                  <a:ea typeface="华文楷体" panose="02010600040101010101" pitchFamily="2" charset="-122"/>
                </a:endParaRPr>
              </a:p>
              <a:p>
                <a:pPr marL="0" indent="0">
                  <a:buNone/>
                </a:pPr>
                <a:r>
                  <a:rPr lang="zh-CN" altLang="en-US" sz="2200" dirty="0">
                    <a:ea typeface="华文楷体" panose="02010600040101010101" pitchFamily="2" charset="-122"/>
                  </a:rPr>
                  <a:t>①顶点</a:t>
                </a:r>
                <a:r>
                  <a:rPr lang="en-US" altLang="zh-CN" sz="2200" dirty="0" err="1">
                    <a:ea typeface="华文楷体" panose="02010600040101010101" pitchFamily="2" charset="-122"/>
                  </a:rPr>
                  <a:t>i</a:t>
                </a:r>
                <a:r>
                  <a:rPr lang="zh-CN" altLang="en-US" sz="2200" dirty="0">
                    <a:ea typeface="华文楷体" panose="02010600040101010101" pitchFamily="2" charset="-122"/>
                  </a:rPr>
                  <a:t>到顶点</a:t>
                </a:r>
                <a:r>
                  <a:rPr lang="en-US" altLang="zh-CN" sz="2200" dirty="0">
                    <a:ea typeface="华文楷体" panose="02010600040101010101" pitchFamily="2" charset="-122"/>
                  </a:rPr>
                  <a:t>j</a:t>
                </a:r>
                <a:r>
                  <a:rPr lang="zh-CN" altLang="en-US" sz="2200" dirty="0">
                    <a:ea typeface="华文楷体" panose="02010600040101010101" pitchFamily="2" charset="-122"/>
                  </a:rPr>
                  <a:t>的最短路径</a:t>
                </a:r>
                <a14:m>
                  <m:oMath xmlns:m="http://schemas.openxmlformats.org/officeDocument/2006/math">
                    <m:r>
                      <a:rPr lang="zh-CN" altLang="en-US" sz="2200">
                        <a:latin typeface="Cambria Math" panose="02040503050406030204" pitchFamily="18" charset="0"/>
                        <a:ea typeface="华文楷体" panose="02010600040101010101" pitchFamily="2" charset="-122"/>
                      </a:rPr>
                      <m:t>𝛿</m:t>
                    </m:r>
                    <m:d>
                      <m:dPr>
                        <m:ctrlPr>
                          <a:rPr lang="en-US" altLang="zh-CN" sz="2200" i="1">
                            <a:latin typeface="Cambria Math" panose="02040503050406030204" pitchFamily="18" charset="0"/>
                            <a:ea typeface="华文楷体" panose="02010600040101010101" pitchFamily="2" charset="-122"/>
                          </a:rPr>
                        </m:ctrlPr>
                      </m:dPr>
                      <m:e>
                        <m:r>
                          <m:rPr>
                            <m:sty m:val="p"/>
                          </m:rPr>
                          <a:rPr lang="en-US" altLang="zh-CN" sz="2200" i="1">
                            <a:latin typeface="Cambria Math" panose="02040503050406030204" pitchFamily="18" charset="0"/>
                            <a:ea typeface="华文楷体" panose="02010600040101010101" pitchFamily="2" charset="-122"/>
                          </a:rPr>
                          <m:t>i</m:t>
                        </m:r>
                        <m:r>
                          <a:rPr lang="en-US" altLang="zh-CN" sz="2200">
                            <a:latin typeface="Cambria Math" panose="02040503050406030204" pitchFamily="18" charset="0"/>
                            <a:ea typeface="华文楷体" panose="02010600040101010101" pitchFamily="2" charset="-122"/>
                          </a:rPr>
                          <m:t>,</m:t>
                        </m:r>
                        <m:r>
                          <m:rPr>
                            <m:sty m:val="p"/>
                          </m:rPr>
                          <a:rPr lang="en-US" altLang="zh-CN" sz="2200" i="1">
                            <a:latin typeface="Cambria Math" panose="02040503050406030204" pitchFamily="18" charset="0"/>
                            <a:ea typeface="华文楷体" panose="02010600040101010101" pitchFamily="2" charset="-122"/>
                          </a:rPr>
                          <m:t>j</m:t>
                        </m:r>
                      </m:e>
                    </m:d>
                  </m:oMath>
                </a14:m>
                <a:r>
                  <a:rPr lang="zh-CN" altLang="en-US" sz="2200" dirty="0">
                    <a:ea typeface="华文楷体" panose="02010600040101010101" pitchFamily="2" charset="-122"/>
                  </a:rPr>
                  <a:t>可表示为：</a:t>
                </a:r>
                <a14:m>
                  <m:oMath xmlns:m="http://schemas.openxmlformats.org/officeDocument/2006/math">
                    <m:r>
                      <a:rPr lang="zh-CN" altLang="en-US" sz="2200">
                        <a:latin typeface="Cambria Math" panose="02040503050406030204" pitchFamily="18" charset="0"/>
                        <a:ea typeface="华文楷体" panose="02010600040101010101" pitchFamily="2" charset="-122"/>
                      </a:rPr>
                      <m:t>𝛿</m:t>
                    </m:r>
                    <m:d>
                      <m:dPr>
                        <m:ctrlPr>
                          <a:rPr lang="en-US" altLang="zh-CN" sz="2200" i="1">
                            <a:latin typeface="Cambria Math" panose="02040503050406030204" pitchFamily="18" charset="0"/>
                            <a:ea typeface="华文楷体" panose="02010600040101010101" pitchFamily="2" charset="-122"/>
                          </a:rPr>
                        </m:ctrlPr>
                      </m:dPr>
                      <m:e>
                        <m:r>
                          <m:rPr>
                            <m:sty m:val="p"/>
                          </m:rPr>
                          <a:rPr lang="en-US" altLang="zh-CN" sz="2200" i="1">
                            <a:latin typeface="Cambria Math" panose="02040503050406030204" pitchFamily="18" charset="0"/>
                            <a:ea typeface="华文楷体" panose="02010600040101010101" pitchFamily="2" charset="-122"/>
                          </a:rPr>
                          <m:t>i</m:t>
                        </m:r>
                        <m:r>
                          <a:rPr lang="en-US" altLang="zh-CN" sz="2200">
                            <a:latin typeface="Cambria Math" panose="02040503050406030204" pitchFamily="18" charset="0"/>
                            <a:ea typeface="华文楷体" panose="02010600040101010101" pitchFamily="2" charset="-122"/>
                          </a:rPr>
                          <m:t>,</m:t>
                        </m:r>
                        <m:r>
                          <m:rPr>
                            <m:sty m:val="p"/>
                          </m:rPr>
                          <a:rPr lang="en-US" altLang="zh-CN" sz="2200" i="1">
                            <a:latin typeface="Cambria Math" panose="02040503050406030204" pitchFamily="18" charset="0"/>
                            <a:ea typeface="华文楷体" panose="02010600040101010101" pitchFamily="2" charset="-122"/>
                          </a:rPr>
                          <m:t>j</m:t>
                        </m:r>
                      </m:e>
                    </m:d>
                  </m:oMath>
                </a14:m>
                <a:r>
                  <a:rPr lang="en-US" altLang="zh-CN" sz="2200" dirty="0">
                    <a:ea typeface="华文楷体" panose="02010600040101010101" pitchFamily="2" charset="-122"/>
                  </a:rPr>
                  <a:t>=</a:t>
                </a:r>
                <a:r>
                  <a:rPr lang="en-US" altLang="zh-CN" sz="2200" dirty="0">
                    <a:solidFill>
                      <a:srgbClr val="C00000"/>
                    </a:solidFill>
                    <a:ea typeface="华文楷体" panose="02010600040101010101" pitchFamily="2" charset="-122"/>
                  </a:rPr>
                  <a:t> </a:t>
                </a:r>
                <a:r>
                  <a:rPr lang="en-US" altLang="zh-CN" sz="2200" dirty="0" smtClean="0">
                    <a:ea typeface="华文楷体" panose="02010600040101010101" pitchFamily="2" charset="-122"/>
                  </a:rPr>
                  <a:t>A</a:t>
                </a:r>
                <a:r>
                  <a:rPr lang="en-US" altLang="zh-CN" sz="2200" baseline="30000" dirty="0" smtClean="0">
                    <a:ea typeface="华文楷体" panose="02010600040101010101" pitchFamily="2" charset="-122"/>
                  </a:rPr>
                  <a:t>(n)</a:t>
                </a:r>
                <a:r>
                  <a:rPr lang="en-US" altLang="zh-CN" sz="2200" dirty="0" smtClean="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zh-CN" altLang="en-US" sz="2200" dirty="0">
                    <a:ea typeface="华文楷体" panose="02010600040101010101" pitchFamily="2" charset="-122"/>
                  </a:rPr>
                  <a:t>。</a:t>
                </a:r>
                <a:endParaRPr lang="en-US" altLang="zh-CN" sz="2200" dirty="0">
                  <a:ea typeface="华文楷体" panose="02010600040101010101" pitchFamily="2" charset="-122"/>
                </a:endParaRPr>
              </a:p>
              <a:p>
                <a:pPr marL="0" indent="0">
                  <a:buNone/>
                </a:pPr>
                <a:r>
                  <a:rPr lang="en-US" altLang="zh-CN" sz="2200" dirty="0">
                    <a:ea typeface="华文楷体" panose="02010600040101010101" pitchFamily="2" charset="-122"/>
                  </a:rPr>
                  <a:t>②</a:t>
                </a:r>
                <a:r>
                  <a:rPr lang="en-US" altLang="zh-CN" sz="2200" dirty="0" smtClean="0">
                    <a:ea typeface="华文楷体" panose="02010600040101010101" pitchFamily="2" charset="-122"/>
                  </a:rPr>
                  <a:t>A</a:t>
                </a:r>
                <a:r>
                  <a:rPr lang="en-US" altLang="zh-CN" sz="2200" baseline="30000" dirty="0" smtClean="0">
                    <a:ea typeface="华文楷体" panose="02010600040101010101" pitchFamily="2" charset="-122"/>
                  </a:rPr>
                  <a:t>(0)</a:t>
                </a:r>
                <a:r>
                  <a:rPr lang="en-US" altLang="zh-CN" sz="2200" dirty="0" smtClean="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 cost[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zh-CN" altLang="en-US" sz="2200" dirty="0">
                    <a:ea typeface="华文楷体" panose="02010600040101010101" pitchFamily="2" charset="-122"/>
                  </a:rPr>
                  <a:t>。</a:t>
                </a:r>
                <a:endParaRPr lang="en-US" altLang="zh-CN" sz="2200" dirty="0">
                  <a:ea typeface="华文楷体" panose="02010600040101010101" pitchFamily="2" charset="-122"/>
                </a:endParaRPr>
              </a:p>
              <a:p>
                <a:pPr marL="0" indent="0">
                  <a:buNone/>
                </a:pPr>
                <a:r>
                  <a:rPr lang="zh-CN" altLang="en-US" sz="2200" dirty="0">
                    <a:ea typeface="华文楷体" panose="02010600040101010101" pitchFamily="2" charset="-122"/>
                  </a:rPr>
                  <a:t>③若路径权重为</a:t>
                </a:r>
                <a:r>
                  <a:rPr lang="en-US" altLang="zh-CN" sz="2200" dirty="0">
                    <a:ea typeface="华文楷体" panose="02010600040101010101" pitchFamily="2" charset="-122"/>
                  </a:rPr>
                  <a:t>A</a:t>
                </a:r>
                <a:r>
                  <a:rPr lang="en-US" altLang="zh-CN" sz="2200" baseline="30000" dirty="0">
                    <a:ea typeface="华文楷体" panose="02010600040101010101" pitchFamily="2" charset="-122"/>
                  </a:rPr>
                  <a:t>(k)</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zh-CN" altLang="en-US" sz="2200" dirty="0">
                    <a:ea typeface="华文楷体" panose="02010600040101010101" pitchFamily="2" charset="-122"/>
                  </a:rPr>
                  <a:t>的最短路径</a:t>
                </a:r>
                <a:r>
                  <a:rPr lang="en-US" altLang="zh-CN" sz="2200" dirty="0">
                    <a:ea typeface="华文楷体" panose="02010600040101010101" pitchFamily="2" charset="-122"/>
                  </a:rPr>
                  <a:t>p</a:t>
                </a:r>
                <a:r>
                  <a:rPr lang="zh-CN" altLang="en-US" sz="2200" dirty="0">
                    <a:ea typeface="华文楷体" panose="02010600040101010101" pitchFamily="2" charset="-122"/>
                  </a:rPr>
                  <a:t>不经过顶点</a:t>
                </a:r>
                <a:r>
                  <a:rPr lang="en-US" altLang="zh-CN" sz="2200" dirty="0">
                    <a:ea typeface="华文楷体" panose="02010600040101010101" pitchFamily="2" charset="-122"/>
                  </a:rPr>
                  <a:t>k</a:t>
                </a:r>
                <a:r>
                  <a:rPr lang="zh-CN" altLang="en-US" sz="2200" dirty="0">
                    <a:ea typeface="华文楷体" panose="02010600040101010101" pitchFamily="2" charset="-122"/>
                  </a:rPr>
                  <a:t>，则</a:t>
                </a:r>
                <a:r>
                  <a:rPr lang="en-US" altLang="zh-CN" sz="2200" dirty="0">
                    <a:ea typeface="华文楷体" panose="02010600040101010101" pitchFamily="2" charset="-122"/>
                  </a:rPr>
                  <a:t>A</a:t>
                </a:r>
                <a:r>
                  <a:rPr lang="en-US" altLang="zh-CN" sz="2200" baseline="30000" dirty="0">
                    <a:ea typeface="华文楷体" panose="02010600040101010101" pitchFamily="2" charset="-122"/>
                  </a:rPr>
                  <a:t>(k)</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 A</a:t>
                </a:r>
                <a:r>
                  <a:rPr lang="en-US" altLang="zh-CN" sz="2200" baseline="30000" dirty="0">
                    <a:ea typeface="华文楷体" panose="02010600040101010101" pitchFamily="2" charset="-122"/>
                  </a:rPr>
                  <a:t>(k-1)</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zh-CN" altLang="en-US" sz="2200" dirty="0">
                    <a:ea typeface="华文楷体" panose="02010600040101010101" pitchFamily="2" charset="-122"/>
                  </a:rPr>
                  <a:t>。</a:t>
                </a:r>
                <a:endParaRPr lang="en-US" altLang="zh-CN" sz="2200" dirty="0">
                  <a:ea typeface="华文楷体" panose="02010600040101010101" pitchFamily="2" charset="-122"/>
                </a:endParaRPr>
              </a:p>
              <a:p>
                <a:pPr marL="0" indent="0">
                  <a:buNone/>
                </a:pPr>
                <a:r>
                  <a:rPr lang="zh-CN" altLang="en-US" sz="2200" dirty="0">
                    <a:ea typeface="华文楷体" panose="02010600040101010101" pitchFamily="2" charset="-122"/>
                  </a:rPr>
                  <a:t>④</a:t>
                </a:r>
                <a:r>
                  <a:rPr lang="zh-CN" altLang="en-US" sz="2200" dirty="0" smtClean="0">
                    <a:ea typeface="华文楷体" panose="02010600040101010101" pitchFamily="2" charset="-122"/>
                  </a:rPr>
                  <a:t>若</a:t>
                </a:r>
                <a:r>
                  <a:rPr lang="zh-CN" altLang="en-US" sz="2200" dirty="0">
                    <a:ea typeface="华文楷体" panose="02010600040101010101" pitchFamily="2" charset="-122"/>
                  </a:rPr>
                  <a:t>路径权重为</a:t>
                </a:r>
                <a:r>
                  <a:rPr lang="en-US" altLang="zh-CN" sz="2200" dirty="0">
                    <a:ea typeface="华文楷体" panose="02010600040101010101" pitchFamily="2" charset="-122"/>
                  </a:rPr>
                  <a:t>A</a:t>
                </a:r>
                <a:r>
                  <a:rPr lang="en-US" altLang="zh-CN" sz="2200" baseline="30000" dirty="0">
                    <a:ea typeface="华文楷体" panose="02010600040101010101" pitchFamily="2" charset="-122"/>
                  </a:rPr>
                  <a:t>(k)</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zh-CN" altLang="en-US" sz="2200" dirty="0">
                    <a:ea typeface="华文楷体" panose="02010600040101010101" pitchFamily="2" charset="-122"/>
                  </a:rPr>
                  <a:t>的最短路径</a:t>
                </a:r>
                <a:r>
                  <a:rPr lang="en-US" altLang="zh-CN" sz="2200" dirty="0">
                    <a:ea typeface="华文楷体" panose="02010600040101010101" pitchFamily="2" charset="-122"/>
                  </a:rPr>
                  <a:t>p</a:t>
                </a:r>
                <a:r>
                  <a:rPr lang="zh-CN" altLang="en-US" sz="2200" dirty="0">
                    <a:ea typeface="华文楷体" panose="02010600040101010101" pitchFamily="2" charset="-122"/>
                  </a:rPr>
                  <a:t>经过顶点</a:t>
                </a:r>
                <a:r>
                  <a:rPr lang="en-US" altLang="zh-CN" sz="2200" dirty="0">
                    <a:ea typeface="华文楷体" panose="02010600040101010101" pitchFamily="2" charset="-122"/>
                  </a:rPr>
                  <a:t>k</a:t>
                </a:r>
                <a:r>
                  <a:rPr lang="zh-CN" altLang="en-US" sz="2200" dirty="0">
                    <a:ea typeface="华文楷体" panose="02010600040101010101" pitchFamily="2" charset="-122"/>
                  </a:rPr>
                  <a:t>，</a:t>
                </a:r>
                <a:r>
                  <a:rPr lang="zh-CN" altLang="en-US" sz="2200" dirty="0" smtClean="0">
                    <a:ea typeface="华文楷体" panose="02010600040101010101" pitchFamily="2" charset="-122"/>
                  </a:rPr>
                  <a:t>则该路径</a:t>
                </a:r>
                <a:r>
                  <a:rPr lang="en-US" altLang="zh-CN" sz="2200" dirty="0" smtClean="0">
                    <a:ea typeface="华文楷体" panose="02010600040101010101" pitchFamily="2" charset="-122"/>
                  </a:rPr>
                  <a:t>p</a:t>
                </a:r>
                <a:r>
                  <a:rPr lang="zh-CN" altLang="en-US" sz="2200" dirty="0" smtClean="0">
                    <a:ea typeface="华文楷体" panose="02010600040101010101" pitchFamily="2" charset="-122"/>
                  </a:rPr>
                  <a:t>可分解为两部分：</a:t>
                </a:r>
                <a:r>
                  <a:rPr lang="en-US" altLang="zh-CN" sz="2200" dirty="0" smtClean="0">
                    <a:ea typeface="华文楷体" panose="02010600040101010101" pitchFamily="2" charset="-122"/>
                  </a:rPr>
                  <a:t>(1)</a:t>
                </a:r>
                <a:r>
                  <a:rPr lang="zh-CN" altLang="en-US" sz="2200" dirty="0" smtClean="0">
                    <a:ea typeface="华文楷体" panose="02010600040101010101" pitchFamily="2" charset="-122"/>
                  </a:rPr>
                  <a:t>顶点</a:t>
                </a:r>
                <a:r>
                  <a:rPr lang="en-US" altLang="zh-CN" sz="2200" dirty="0" err="1" smtClean="0">
                    <a:ea typeface="华文楷体" panose="02010600040101010101" pitchFamily="2" charset="-122"/>
                  </a:rPr>
                  <a:t>i</a:t>
                </a:r>
                <a:r>
                  <a:rPr lang="zh-CN" altLang="en-US" sz="2200" dirty="0" smtClean="0">
                    <a:ea typeface="华文楷体" panose="02010600040101010101" pitchFamily="2" charset="-122"/>
                  </a:rPr>
                  <a:t>到顶点</a:t>
                </a:r>
                <a:r>
                  <a:rPr lang="en-US" altLang="zh-CN" sz="2200" dirty="0" smtClean="0">
                    <a:ea typeface="华文楷体" panose="02010600040101010101" pitchFamily="2" charset="-122"/>
                  </a:rPr>
                  <a:t>k</a:t>
                </a:r>
                <a:r>
                  <a:rPr lang="zh-CN" altLang="en-US" sz="2200" dirty="0" smtClean="0">
                    <a:ea typeface="华文楷体" panose="02010600040101010101" pitchFamily="2" charset="-122"/>
                  </a:rPr>
                  <a:t>的路径和</a:t>
                </a:r>
                <a:r>
                  <a:rPr lang="en-US" altLang="zh-CN" sz="2200" dirty="0" smtClean="0">
                    <a:ea typeface="华文楷体" panose="02010600040101010101" pitchFamily="2" charset="-122"/>
                  </a:rPr>
                  <a:t>(2)</a:t>
                </a:r>
                <a:r>
                  <a:rPr lang="zh-CN" altLang="en-US" sz="2200" dirty="0" smtClean="0">
                    <a:ea typeface="华文楷体" panose="02010600040101010101" pitchFamily="2" charset="-122"/>
                  </a:rPr>
                  <a:t>顶点</a:t>
                </a:r>
                <a:r>
                  <a:rPr lang="en-US" altLang="zh-CN" sz="2200" dirty="0" smtClean="0">
                    <a:ea typeface="华文楷体" panose="02010600040101010101" pitchFamily="2" charset="-122"/>
                  </a:rPr>
                  <a:t>k</a:t>
                </a:r>
                <a:r>
                  <a:rPr lang="zh-CN" altLang="en-US" sz="2200" dirty="0" smtClean="0">
                    <a:ea typeface="华文楷体" panose="02010600040101010101" pitchFamily="2" charset="-122"/>
                  </a:rPr>
                  <a:t>到顶点</a:t>
                </a:r>
                <a:r>
                  <a:rPr lang="en-US" altLang="zh-CN" sz="2200" dirty="0" smtClean="0">
                    <a:ea typeface="华文楷体" panose="02010600040101010101" pitchFamily="2" charset="-122"/>
                  </a:rPr>
                  <a:t>j</a:t>
                </a:r>
                <a:r>
                  <a:rPr lang="zh-CN" altLang="en-US" sz="2200" dirty="0" smtClean="0">
                    <a:ea typeface="华文楷体" panose="02010600040101010101" pitchFamily="2" charset="-122"/>
                  </a:rPr>
                  <a:t>的路径；由于路径</a:t>
                </a:r>
                <a:r>
                  <a:rPr lang="en-US" altLang="zh-CN" sz="2200" dirty="0">
                    <a:ea typeface="华文楷体" panose="02010600040101010101" pitchFamily="2" charset="-122"/>
                  </a:rPr>
                  <a:t>(1</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和</a:t>
                </a:r>
                <a:r>
                  <a:rPr lang="en-US" altLang="zh-CN" sz="2200" dirty="0">
                    <a:ea typeface="华文楷体" panose="02010600040101010101" pitchFamily="2" charset="-122"/>
                  </a:rPr>
                  <a:t>(2</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中间顶点都不包含顶点</a:t>
                </a:r>
                <a:r>
                  <a:rPr lang="en-US" altLang="zh-CN" sz="2200" dirty="0" smtClean="0">
                    <a:ea typeface="华文楷体" panose="02010600040101010101" pitchFamily="2" charset="-122"/>
                  </a:rPr>
                  <a:t>k</a:t>
                </a:r>
                <a:r>
                  <a:rPr lang="zh-CN" altLang="en-US" sz="2200" dirty="0" smtClean="0">
                    <a:ea typeface="华文楷体" panose="02010600040101010101" pitchFamily="2" charset="-122"/>
                  </a:rPr>
                  <a:t>，因此其路径权重分别为：</a:t>
                </a:r>
                <a:r>
                  <a:rPr lang="en-US" altLang="zh-CN" sz="2200" dirty="0" smtClean="0">
                    <a:ea typeface="华文楷体" panose="02010600040101010101" pitchFamily="2" charset="-122"/>
                  </a:rPr>
                  <a:t> A</a:t>
                </a:r>
                <a:r>
                  <a:rPr lang="en-US" altLang="zh-CN" sz="2200" baseline="30000" dirty="0" smtClean="0">
                    <a:ea typeface="华文楷体" panose="02010600040101010101" pitchFamily="2" charset="-122"/>
                  </a:rPr>
                  <a:t>(k-1)</a:t>
                </a:r>
                <a:r>
                  <a:rPr lang="en-US" altLang="zh-CN" sz="2200" dirty="0" smtClean="0">
                    <a:ea typeface="华文楷体" panose="02010600040101010101" pitchFamily="2" charset="-122"/>
                  </a:rPr>
                  <a:t>[</a:t>
                </a:r>
                <a:r>
                  <a:rPr lang="en-US" altLang="zh-CN" sz="2200" dirty="0" err="1">
                    <a:ea typeface="华文楷体" panose="02010600040101010101" pitchFamily="2" charset="-122"/>
                  </a:rPr>
                  <a:t>i</a:t>
                </a:r>
                <a:r>
                  <a:rPr lang="en-US" altLang="zh-CN" sz="2200" dirty="0" smtClean="0">
                    <a:ea typeface="华文楷体" panose="02010600040101010101" pitchFamily="2" charset="-122"/>
                  </a:rPr>
                  <a:t>][k]</a:t>
                </a:r>
                <a:r>
                  <a:rPr lang="zh-CN" altLang="en-US" sz="2200" dirty="0" smtClean="0">
                    <a:ea typeface="华文楷体" panose="02010600040101010101" pitchFamily="2" charset="-122"/>
                  </a:rPr>
                  <a:t>和</a:t>
                </a:r>
                <a:r>
                  <a:rPr lang="en-US" altLang="zh-CN" sz="2200" dirty="0" smtClean="0">
                    <a:ea typeface="华文楷体" panose="02010600040101010101" pitchFamily="2" charset="-122"/>
                  </a:rPr>
                  <a:t>A</a:t>
                </a:r>
                <a:r>
                  <a:rPr lang="en-US" altLang="zh-CN" sz="2200" baseline="30000" dirty="0" smtClean="0">
                    <a:ea typeface="华文楷体" panose="02010600040101010101" pitchFamily="2" charset="-122"/>
                  </a:rPr>
                  <a:t>(k-1)</a:t>
                </a:r>
                <a:r>
                  <a:rPr lang="en-US" altLang="zh-CN" sz="2200" dirty="0" smtClean="0">
                    <a:ea typeface="华文楷体" panose="02010600040101010101" pitchFamily="2" charset="-122"/>
                  </a:rPr>
                  <a:t>[k][</a:t>
                </a:r>
                <a:r>
                  <a:rPr lang="en-US" altLang="zh-CN" sz="2200" dirty="0">
                    <a:ea typeface="华文楷体" panose="02010600040101010101" pitchFamily="2" charset="-122"/>
                  </a:rPr>
                  <a:t>j</a:t>
                </a:r>
                <a:r>
                  <a:rPr lang="en-US" altLang="zh-CN" sz="2200" dirty="0" smtClean="0">
                    <a:ea typeface="华文楷体" panose="02010600040101010101" pitchFamily="2" charset="-122"/>
                  </a:rPr>
                  <a:t>]</a:t>
                </a:r>
                <a:r>
                  <a:rPr lang="zh-CN" altLang="en-US" sz="2200" dirty="0" smtClean="0">
                    <a:ea typeface="华文楷体" panose="02010600040101010101" pitchFamily="2" charset="-122"/>
                  </a:rPr>
                  <a:t>。</a:t>
                </a:r>
                <a:endParaRPr lang="en-US" altLang="zh-CN" sz="2200" dirty="0" smtClean="0">
                  <a:ea typeface="华文楷体" panose="02010600040101010101" pitchFamily="2" charset="-122"/>
                </a:endParaRPr>
              </a:p>
              <a:p>
                <a:pPr marL="0" indent="0">
                  <a:buNone/>
                </a:pPr>
                <a:r>
                  <a:rPr lang="zh-CN" altLang="en-US" sz="2200" dirty="0" smtClean="0">
                    <a:ea typeface="华文楷体" panose="02010600040101010101" pitchFamily="2" charset="-122"/>
                  </a:rPr>
                  <a:t>基于</a:t>
                </a:r>
                <a:r>
                  <a:rPr lang="zh-CN" altLang="en-US" sz="2200" dirty="0">
                    <a:ea typeface="华文楷体" panose="02010600040101010101" pitchFamily="2" charset="-122"/>
                  </a:rPr>
                  <a:t>上述</a:t>
                </a:r>
                <a:r>
                  <a:rPr lang="zh-CN" altLang="en-US" sz="2200" dirty="0" smtClean="0">
                    <a:ea typeface="华文楷体" panose="02010600040101010101" pitchFamily="2" charset="-122"/>
                  </a:rPr>
                  <a:t>规则</a:t>
                </a:r>
                <a:r>
                  <a:rPr lang="zh-CN" altLang="en-US" sz="2200" dirty="0" smtClean="0">
                    <a:latin typeface="宋体" panose="02010600030101010101" pitchFamily="2" charset="-122"/>
                    <a:ea typeface="宋体" panose="02010600030101010101" pitchFamily="2" charset="-122"/>
                  </a:rPr>
                  <a:t>，</a:t>
                </a:r>
                <a:r>
                  <a:rPr lang="zh-CN" altLang="en-US" sz="2200" dirty="0" smtClean="0">
                    <a:ea typeface="华文楷体" panose="02010600040101010101" pitchFamily="2" charset="-122"/>
                  </a:rPr>
                  <a:t>有：</a:t>
                </a:r>
                <a:endParaRPr lang="en-US" altLang="zh-CN" sz="2200" dirty="0" smtClean="0">
                  <a:ea typeface="华文楷体" panose="02010600040101010101" pitchFamily="2" charset="-122"/>
                </a:endParaRPr>
              </a:p>
              <a:p>
                <a:pPr marL="0" indent="0">
                  <a:buNone/>
                </a:pPr>
                <a:r>
                  <a:rPr lang="en-US" altLang="zh-CN" sz="2200" dirty="0" smtClean="0">
                    <a:ea typeface="华文楷体" panose="02010600040101010101" pitchFamily="2" charset="-122"/>
                  </a:rPr>
                  <a:t>A</a:t>
                </a:r>
                <a:r>
                  <a:rPr lang="en-US" altLang="zh-CN" sz="2200" baseline="30000" dirty="0" smtClean="0">
                    <a:ea typeface="华文楷体" panose="02010600040101010101" pitchFamily="2" charset="-122"/>
                  </a:rPr>
                  <a:t>(k</a:t>
                </a:r>
                <a:r>
                  <a:rPr lang="en-US" altLang="zh-CN" sz="2200" baseline="30000" dirty="0">
                    <a:ea typeface="华文楷体" panose="02010600040101010101" pitchFamily="2" charset="-122"/>
                  </a:rPr>
                  <a:t>)</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en-US" altLang="zh-CN" sz="2200" dirty="0" smtClean="0">
                    <a:ea typeface="华文楷体" panose="02010600040101010101" pitchFamily="2" charset="-122"/>
                  </a:rPr>
                  <a:t>]=min{</a:t>
                </a:r>
                <a:r>
                  <a:rPr lang="en-US" altLang="zh-CN" sz="2200" dirty="0">
                    <a:ea typeface="华文楷体" panose="02010600040101010101" pitchFamily="2" charset="-122"/>
                  </a:rPr>
                  <a:t>A</a:t>
                </a:r>
                <a:r>
                  <a:rPr lang="en-US" altLang="zh-CN" sz="2200" baseline="30000" dirty="0">
                    <a:ea typeface="华文楷体" panose="02010600040101010101" pitchFamily="2" charset="-122"/>
                  </a:rPr>
                  <a:t>(k-1)</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a:t>
                </a:r>
                <a:r>
                  <a:rPr lang="en-US" altLang="zh-CN" sz="2200" dirty="0" smtClean="0">
                    <a:ea typeface="华文楷体" panose="02010600040101010101" pitchFamily="2" charset="-122"/>
                  </a:rPr>
                  <a:t>],</a:t>
                </a:r>
                <a:r>
                  <a:rPr lang="en-US" altLang="zh-CN" sz="2200" dirty="0">
                    <a:ea typeface="华文楷体" panose="02010600040101010101" pitchFamily="2" charset="-122"/>
                  </a:rPr>
                  <a:t> A</a:t>
                </a:r>
                <a:r>
                  <a:rPr lang="en-US" altLang="zh-CN" sz="2200" baseline="30000" dirty="0">
                    <a:ea typeface="华文楷体" panose="02010600040101010101" pitchFamily="2" charset="-122"/>
                  </a:rPr>
                  <a:t>(k-1)</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][k</a:t>
                </a:r>
                <a:r>
                  <a:rPr lang="en-US" altLang="zh-CN" sz="2200" dirty="0" smtClean="0">
                    <a:ea typeface="华文楷体" panose="02010600040101010101" pitchFamily="2" charset="-122"/>
                  </a:rPr>
                  <a:t>]+A</a:t>
                </a:r>
                <a:r>
                  <a:rPr lang="en-US" altLang="zh-CN" sz="2200" baseline="30000" dirty="0" smtClean="0">
                    <a:ea typeface="华文楷体" panose="02010600040101010101" pitchFamily="2" charset="-122"/>
                  </a:rPr>
                  <a:t>(k-1</a:t>
                </a:r>
                <a:r>
                  <a:rPr lang="en-US" altLang="zh-CN" sz="2200" baseline="30000" dirty="0">
                    <a:ea typeface="华文楷体" panose="02010600040101010101" pitchFamily="2" charset="-122"/>
                  </a:rPr>
                  <a:t>)</a:t>
                </a:r>
                <a:r>
                  <a:rPr lang="en-US" altLang="zh-CN" sz="2200" dirty="0">
                    <a:ea typeface="华文楷体" panose="02010600040101010101" pitchFamily="2" charset="-122"/>
                  </a:rPr>
                  <a:t>[k][j</a:t>
                </a:r>
                <a:r>
                  <a:rPr lang="en-US" altLang="zh-CN" sz="2200" dirty="0" smtClean="0">
                    <a:ea typeface="华文楷体" panose="02010600040101010101" pitchFamily="2" charset="-122"/>
                  </a:rPr>
                  <a:t>]}(k</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oMath>
                </a14:m>
                <a:r>
                  <a:rPr lang="en-US" altLang="zh-CN" sz="2200" dirty="0" smtClean="0">
                    <a:ea typeface="华文楷体" panose="02010600040101010101" pitchFamily="2" charset="-122"/>
                  </a:rPr>
                  <a:t>1)</a:t>
                </a:r>
                <a:endParaRPr lang="en-US" altLang="zh-CN" sz="2200" dirty="0" smtClean="0">
                  <a:ea typeface="华文楷体" panose="02010600040101010101" pitchFamily="2" charset="-122"/>
                </a:endParaRPr>
              </a:p>
              <a:p>
                <a:pPr marL="0" indent="0">
                  <a:buNone/>
                </a:pPr>
                <a:r>
                  <a:rPr lang="en-US" altLang="zh-CN" sz="2200" dirty="0">
                    <a:ea typeface="华文楷体" panose="02010600040101010101" pitchFamily="2" charset="-122"/>
                  </a:rPr>
                  <a:t>A</a:t>
                </a:r>
                <a:r>
                  <a:rPr lang="en-US" altLang="zh-CN" sz="2200" baseline="30000" dirty="0">
                    <a:ea typeface="华文楷体" panose="02010600040101010101" pitchFamily="2" charset="-122"/>
                  </a:rPr>
                  <a:t>(0)</a:t>
                </a:r>
                <a:r>
                  <a:rPr lang="en-US" altLang="zh-CN" sz="2200" dirty="0">
                    <a:ea typeface="华文楷体" panose="02010600040101010101" pitchFamily="2" charset="-122"/>
                  </a:rPr>
                  <a:t>[</a:t>
                </a:r>
                <a:r>
                  <a:rPr lang="en-US" altLang="zh-CN" sz="2200" dirty="0" err="1">
                    <a:ea typeface="华文楷体" panose="02010600040101010101" pitchFamily="2" charset="-122"/>
                  </a:rPr>
                  <a:t>i</a:t>
                </a:r>
                <a:r>
                  <a:rPr lang="en-US" altLang="zh-CN" sz="2200" dirty="0">
                    <a:ea typeface="华文楷体" panose="02010600040101010101" pitchFamily="2" charset="-122"/>
                  </a:rPr>
                  <a:t>][j]= cost[</a:t>
                </a:r>
                <a:r>
                  <a:rPr lang="en-US" altLang="zh-CN" sz="2200" dirty="0" err="1">
                    <a:ea typeface="华文楷体" panose="02010600040101010101" pitchFamily="2" charset="-122"/>
                  </a:rPr>
                  <a:t>i</a:t>
                </a:r>
                <a:r>
                  <a:rPr lang="en-US" altLang="zh-CN" sz="2200" dirty="0">
                    <a:ea typeface="华文楷体" panose="02010600040101010101" pitchFamily="2" charset="-122"/>
                  </a:rPr>
                  <a:t>][j]</a:t>
                </a:r>
                <a:endParaRPr lang="zh-CN" altLang="en-US" sz="22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en-US" altLang="zh-CN" sz="2000" dirty="0" smtClean="0">
                    <a:solidFill>
                      <a:srgbClr val="C00000"/>
                    </a:solidFill>
                    <a:ea typeface="华文楷体" panose="02010600040101010101" pitchFamily="2" charset="-122"/>
                  </a:rPr>
                  <a:t>[</a:t>
                </a:r>
                <a:r>
                  <a:rPr lang="zh-CN" altLang="en-US" sz="2000" dirty="0" smtClean="0">
                    <a:solidFill>
                      <a:srgbClr val="C00000"/>
                    </a:solidFill>
                    <a:ea typeface="华文楷体" panose="02010600040101010101" pitchFamily="2" charset="-122"/>
                  </a:rPr>
                  <a:t>最短路径上的前驱顶点</a:t>
                </a:r>
                <a:r>
                  <a:rPr lang="en-US" altLang="zh-CN" sz="2000" dirty="0" smtClean="0">
                    <a:solidFill>
                      <a:srgbClr val="C00000"/>
                    </a:solidFill>
                    <a:ea typeface="华文楷体" panose="02010600040101010101" pitchFamily="2" charset="-122"/>
                  </a:rPr>
                  <a:t>]</a:t>
                </a:r>
                <a:endParaRPr lang="en-US" altLang="zh-CN" sz="2000" dirty="0" smtClean="0">
                  <a:solidFill>
                    <a:srgbClr val="C00000"/>
                  </a:solidFill>
                  <a:ea typeface="华文楷体" panose="02010600040101010101" pitchFamily="2" charset="-122"/>
                </a:endParaRPr>
              </a:p>
              <a:p>
                <a:pPr marL="0" indent="0">
                  <a:buNone/>
                </a:pPr>
                <a:r>
                  <a:rPr lang="en-US" altLang="zh-CN" sz="2000" dirty="0">
                    <a:solidFill>
                      <a:srgbClr val="C00000"/>
                    </a:solidFill>
                    <a:ea typeface="华文楷体" panose="02010600040101010101" pitchFamily="2" charset="-122"/>
                  </a:rPr>
                  <a:t>P</a:t>
                </a:r>
                <a:r>
                  <a:rPr lang="en-US" altLang="zh-CN" sz="2000" baseline="30000" dirty="0">
                    <a:solidFill>
                      <a:srgbClr val="C00000"/>
                    </a:solidFill>
                    <a:ea typeface="华文楷体" panose="02010600040101010101" pitchFamily="2" charset="-122"/>
                  </a:rPr>
                  <a:t>(k</a:t>
                </a:r>
                <a:r>
                  <a:rPr lang="en-US" altLang="zh-CN" sz="2000" baseline="30000" dirty="0" smtClean="0">
                    <a:solidFill>
                      <a:srgbClr val="C00000"/>
                    </a:solidFill>
                    <a:ea typeface="华文楷体" panose="02010600040101010101" pitchFamily="2" charset="-122"/>
                  </a:rPr>
                  <a:t>)</a:t>
                </a:r>
                <a:r>
                  <a:rPr lang="zh-CN" altLang="en-US" sz="2000" dirty="0" smtClean="0">
                    <a:ea typeface="华文楷体" panose="02010600040101010101" pitchFamily="2" charset="-122"/>
                  </a:rPr>
                  <a:t>是前驱矩阵，</a:t>
                </a:r>
                <a:r>
                  <a:rPr lang="en-US" altLang="zh-CN" sz="2000" dirty="0" smtClean="0">
                    <a:solidFill>
                      <a:srgbClr val="C00000"/>
                    </a:solidFill>
                    <a:ea typeface="华文楷体" panose="02010600040101010101" pitchFamily="2" charset="-122"/>
                  </a:rPr>
                  <a:t>P</a:t>
                </a:r>
                <a:r>
                  <a:rPr lang="en-US" altLang="zh-CN" sz="2000" baseline="30000" dirty="0" smtClean="0">
                    <a:solidFill>
                      <a:srgbClr val="C00000"/>
                    </a:solidFill>
                    <a:ea typeface="华文楷体" panose="02010600040101010101" pitchFamily="2" charset="-122"/>
                  </a:rPr>
                  <a:t>(k</a:t>
                </a:r>
                <a:r>
                  <a:rPr lang="en-US" altLang="zh-CN" sz="2000" baseline="30000" dirty="0">
                    <a:solidFill>
                      <a:srgbClr val="C00000"/>
                    </a:solidFill>
                    <a:ea typeface="华文楷体" panose="02010600040101010101" pitchFamily="2" charset="-122"/>
                  </a:rPr>
                  <a:t>)</a:t>
                </a:r>
                <a:r>
                  <a:rPr lang="en-US" altLang="zh-CN" sz="2000" dirty="0">
                    <a:solidFill>
                      <a:srgbClr val="C00000"/>
                    </a:solidFill>
                    <a:ea typeface="华文楷体" panose="02010600040101010101" pitchFamily="2" charset="-122"/>
                  </a:rPr>
                  <a:t>[</a:t>
                </a:r>
                <a:r>
                  <a:rPr lang="en-US" altLang="zh-CN" sz="2000" dirty="0" err="1">
                    <a:solidFill>
                      <a:srgbClr val="C00000"/>
                    </a:solidFill>
                    <a:ea typeface="华文楷体" panose="02010600040101010101" pitchFamily="2" charset="-122"/>
                  </a:rPr>
                  <a:t>i</a:t>
                </a:r>
                <a:r>
                  <a:rPr lang="en-US" altLang="zh-CN" sz="2000" dirty="0">
                    <a:solidFill>
                      <a:srgbClr val="C00000"/>
                    </a:solidFill>
                    <a:ea typeface="华文楷体" panose="02010600040101010101" pitchFamily="2" charset="-122"/>
                  </a:rPr>
                  <a:t>][j]</a:t>
                </a:r>
                <a:r>
                  <a:rPr lang="zh-CN" altLang="en-US" sz="2000" dirty="0">
                    <a:ea typeface="华文楷体" panose="02010600040101010101" pitchFamily="2" charset="-122"/>
                  </a:rPr>
                  <a:t>表示从顶点</a:t>
                </a:r>
                <a:r>
                  <a:rPr lang="en-US" altLang="zh-CN" sz="2000" dirty="0" err="1">
                    <a:ea typeface="华文楷体" panose="02010600040101010101" pitchFamily="2" charset="-122"/>
                  </a:rPr>
                  <a:t>i</a:t>
                </a:r>
                <a:r>
                  <a:rPr lang="zh-CN" altLang="en-US" sz="2000" dirty="0">
                    <a:ea typeface="华文楷体" panose="02010600040101010101" pitchFamily="2" charset="-122"/>
                  </a:rPr>
                  <a:t>出发，只经过序号小或等于</a:t>
                </a:r>
                <a:r>
                  <a:rPr lang="en-US" altLang="zh-CN" sz="2000" dirty="0">
                    <a:ea typeface="华文楷体" panose="02010600040101010101" pitchFamily="2" charset="-122"/>
                  </a:rPr>
                  <a:t>k</a:t>
                </a:r>
                <a:r>
                  <a:rPr lang="zh-CN" altLang="en-US" sz="2000" dirty="0">
                    <a:ea typeface="华文楷体" panose="02010600040101010101" pitchFamily="2" charset="-122"/>
                  </a:rPr>
                  <a:t>的中间顶点，到达顶点</a:t>
                </a:r>
                <a:r>
                  <a:rPr lang="en-US" altLang="zh-CN" sz="2000" dirty="0">
                    <a:ea typeface="华文楷体" panose="02010600040101010101" pitchFamily="2" charset="-122"/>
                  </a:rPr>
                  <a:t>j</a:t>
                </a:r>
                <a:r>
                  <a:rPr lang="zh-CN" altLang="en-US" sz="2000" dirty="0">
                    <a:ea typeface="华文楷体" panose="02010600040101010101" pitchFamily="2" charset="-122"/>
                  </a:rPr>
                  <a:t>的最短路径</a:t>
                </a:r>
                <a:r>
                  <a:rPr lang="en-US" altLang="zh-CN" sz="2000" dirty="0">
                    <a:ea typeface="华文楷体" panose="02010600040101010101" pitchFamily="2" charset="-122"/>
                  </a:rPr>
                  <a:t>p</a:t>
                </a:r>
                <a:r>
                  <a:rPr lang="zh-CN" altLang="en-US" sz="2000" dirty="0" smtClean="0">
                    <a:ea typeface="华文楷体" panose="02010600040101010101" pitchFamily="2" charset="-122"/>
                  </a:rPr>
                  <a:t>上</a:t>
                </a:r>
                <a:r>
                  <a:rPr lang="zh-CN" altLang="en-US" sz="2000" dirty="0">
                    <a:ea typeface="华文楷体" panose="02010600040101010101" pitchFamily="2" charset="-122"/>
                  </a:rPr>
                  <a:t>，</a:t>
                </a:r>
                <a:r>
                  <a:rPr lang="zh-CN" altLang="en-US" sz="2000" dirty="0" smtClean="0">
                    <a:ea typeface="华文楷体" panose="02010600040101010101" pitchFamily="2" charset="-122"/>
                  </a:rPr>
                  <a:t>顶点</a:t>
                </a:r>
                <a:r>
                  <a:rPr lang="en-US" altLang="zh-CN" sz="2000" dirty="0">
                    <a:ea typeface="华文楷体" panose="02010600040101010101" pitchFamily="2" charset="-122"/>
                  </a:rPr>
                  <a:t>j</a:t>
                </a:r>
                <a:r>
                  <a:rPr lang="zh-CN" altLang="en-US" sz="2000" dirty="0">
                    <a:ea typeface="华文楷体" panose="02010600040101010101" pitchFamily="2" charset="-122"/>
                  </a:rPr>
                  <a:t>的前驱顶点</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k=0</a:t>
                </a:r>
                <a:r>
                  <a:rPr lang="zh-CN" altLang="en-US" sz="2000" dirty="0" smtClean="0">
                    <a:ea typeface="华文楷体" panose="02010600040101010101" pitchFamily="2" charset="-122"/>
                  </a:rPr>
                  <a:t>；顶点</a:t>
                </a:r>
                <a:r>
                  <a:rPr lang="en-US" altLang="zh-CN" sz="2000" dirty="0" err="1" smtClean="0">
                    <a:ea typeface="华文楷体" panose="02010600040101010101" pitchFamily="2" charset="-122"/>
                  </a:rPr>
                  <a:t>i</a:t>
                </a:r>
                <a:r>
                  <a:rPr lang="zh-CN" altLang="en-US" sz="2000" dirty="0" smtClean="0">
                    <a:ea typeface="华文楷体" panose="02010600040101010101" pitchFamily="2" charset="-122"/>
                  </a:rPr>
                  <a:t>到顶点</a:t>
                </a:r>
                <a:r>
                  <a:rPr lang="en-US" altLang="zh-CN" sz="2000" dirty="0" smtClean="0">
                    <a:ea typeface="华文楷体" panose="02010600040101010101" pitchFamily="2" charset="-122"/>
                  </a:rPr>
                  <a:t>j</a:t>
                </a:r>
                <a:r>
                  <a:rPr lang="zh-CN" altLang="en-US" sz="2000" dirty="0" smtClean="0">
                    <a:ea typeface="华文楷体" panose="02010600040101010101" pitchFamily="2" charset="-122"/>
                  </a:rPr>
                  <a:t>的路径不包含中间顶点，因此：</a:t>
                </a:r>
                <a:endParaRPr lang="en-US" altLang="zh-CN" sz="2000" dirty="0" smtClean="0">
                  <a:ea typeface="华文楷体" panose="02010600040101010101" pitchFamily="2" charset="-122"/>
                </a:endParaRPr>
              </a:p>
              <a:p>
                <a:pPr marL="0" indent="0">
                  <a:buNone/>
                </a:pPr>
                <a:r>
                  <a:rPr lang="en-US" altLang="zh-CN" sz="2000" dirty="0" smtClean="0">
                    <a:solidFill>
                      <a:srgbClr val="C00000"/>
                    </a:solidFill>
                    <a:ea typeface="华文楷体" panose="02010600040101010101" pitchFamily="2" charset="-122"/>
                  </a:rPr>
                  <a:t> </a:t>
                </a:r>
                <a:r>
                  <a:rPr lang="en-US" altLang="zh-CN" sz="2000" dirty="0">
                    <a:ea typeface="华文楷体" panose="02010600040101010101" pitchFamily="2" charset="-122"/>
                  </a:rPr>
                  <a:t>P</a:t>
                </a:r>
                <a:r>
                  <a:rPr lang="en-US" altLang="zh-CN" sz="2000" baseline="30000" dirty="0">
                    <a:ea typeface="华文楷体" panose="02010600040101010101" pitchFamily="2" charset="-122"/>
                  </a:rPr>
                  <a:t>(0)</a:t>
                </a:r>
                <a:r>
                  <a:rPr lang="en-US" altLang="zh-CN" sz="2000" dirty="0">
                    <a:ea typeface="华文楷体" panose="02010600040101010101" pitchFamily="2" charset="-122"/>
                  </a:rPr>
                  <a:t>[</a:t>
                </a:r>
                <a:r>
                  <a:rPr lang="en-US" altLang="zh-CN" sz="2000" dirty="0" err="1">
                    <a:ea typeface="华文楷体" panose="02010600040101010101" pitchFamily="2" charset="-122"/>
                  </a:rPr>
                  <a:t>i</a:t>
                </a:r>
                <a:r>
                  <a:rPr lang="en-US" altLang="zh-CN" sz="2000" dirty="0">
                    <a:ea typeface="华文楷体" panose="02010600040101010101" pitchFamily="2" charset="-122"/>
                  </a:rPr>
                  <a:t>][j]=</a:t>
                </a:r>
                <a14:m>
                  <m:oMath xmlns:m="http://schemas.openxmlformats.org/officeDocument/2006/math">
                    <m:d>
                      <m:dPr>
                        <m:begChr m:val="{"/>
                        <m:endChr m:val=""/>
                        <m:ctrlPr>
                          <a:rPr lang="en-US" altLang="zh-CN" sz="2000" i="1">
                            <a:latin typeface="Cambria Math" panose="02040503050406030204" pitchFamily="18" charset="0"/>
                            <a:ea typeface="华文楷体" panose="02010600040101010101" pitchFamily="2" charset="-122"/>
                          </a:rPr>
                        </m:ctrlPr>
                      </m:dPr>
                      <m:e>
                        <m:eqArr>
                          <m:eqArrPr>
                            <m:ctrlPr>
                              <a:rPr lang="en-US" altLang="zh-CN" sz="2000" i="1">
                                <a:latin typeface="Cambria Math" panose="02040503050406030204" pitchFamily="18" charset="0"/>
                                <a:ea typeface="华文楷体" panose="02010600040101010101" pitchFamily="2" charset="-122"/>
                              </a:rPr>
                            </m:ctrlPr>
                          </m:eqArrPr>
                          <m:e>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        </m:t>
                            </m:r>
                            <m:r>
                              <a:rPr lang="en-US" altLang="zh-CN" sz="2000" i="1">
                                <a:latin typeface="Cambria Math" panose="02040503050406030204" pitchFamily="18" charset="0"/>
                                <a:ea typeface="华文楷体" panose="02010600040101010101" pitchFamily="2" charset="-122"/>
                              </a:rPr>
                              <m:t> </m:t>
                            </m:r>
                            <m:r>
                              <a:rPr lang="zh-CN" altLang="en-US" sz="2000" i="1">
                                <a:latin typeface="Cambria Math" panose="02040503050406030204" pitchFamily="18" charset="0"/>
                                <a:ea typeface="华文楷体" panose="02010600040101010101" pitchFamily="2" charset="-122"/>
                              </a:rPr>
                              <m:t>若</m:t>
                            </m:r>
                            <m:r>
                              <m:rPr>
                                <m:sty m:val="p"/>
                              </m:rPr>
                              <a:rPr lang="en-US" altLang="zh-CN" sz="2000" i="1">
                                <a:latin typeface="Cambria Math" panose="02040503050406030204" pitchFamily="18" charset="0"/>
                                <a:ea typeface="华文楷体" panose="02010600040101010101" pitchFamily="2" charset="-122"/>
                              </a:rPr>
                              <m:t>i</m:t>
                            </m:r>
                            <m:r>
                              <a:rPr lang="en-US" altLang="zh-CN" sz="2000" i="1">
                                <a:latin typeface="Cambria Math" panose="02040503050406030204" pitchFamily="18" charset="0"/>
                                <a:ea typeface="华文楷体" panose="02010600040101010101" pitchFamily="2" charset="-122"/>
                              </a:rPr>
                              <m:t>=</m:t>
                            </m:r>
                            <m:r>
                              <m:rPr>
                                <m:sty m:val="p"/>
                              </m:rPr>
                              <a:rPr lang="en-US" altLang="zh-CN" sz="2000" i="1">
                                <a:latin typeface="Cambria Math" panose="02040503050406030204" pitchFamily="18" charset="0"/>
                                <a:ea typeface="华文楷体" panose="02010600040101010101" pitchFamily="2" charset="-122"/>
                              </a:rPr>
                              <m:t>j</m:t>
                            </m:r>
                            <m:r>
                              <a:rPr lang="zh-CN" altLang="en-US" sz="2000" i="1">
                                <a:latin typeface="Cambria Math" panose="02040503050406030204" pitchFamily="18" charset="0"/>
                                <a:ea typeface="华文楷体" panose="02010600040101010101" pitchFamily="2" charset="-122"/>
                              </a:rPr>
                              <m:t>或</m:t>
                            </m:r>
                            <m:r>
                              <a:rPr lang="en-US" altLang="zh-CN" sz="2000" i="1">
                                <a:latin typeface="Cambria Math" panose="02040503050406030204" pitchFamily="18" charset="0"/>
                                <a:ea typeface="华文楷体" panose="02010600040101010101" pitchFamily="2" charset="-122"/>
                              </a:rPr>
                              <m:t>𝑤</m:t>
                            </m:r>
                            <m:r>
                              <a:rPr lang="en-US" altLang="zh-CN" sz="2000" i="1" baseline="-25000">
                                <a:latin typeface="Cambria Math" panose="02040503050406030204" pitchFamily="18" charset="0"/>
                                <a:ea typeface="华文楷体" panose="02010600040101010101" pitchFamily="2" charset="-122"/>
                              </a:rPr>
                              <m:t>𝑖𝑗</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Cambria Math" panose="02040503050406030204" pitchFamily="18" charset="0"/>
                              </a:rPr>
                              <m:t>∞</m:t>
                            </m:r>
                          </m:e>
                          <m:e>
                            <m:r>
                              <m:rPr>
                                <m:sty m:val="p"/>
                              </m:rPr>
                              <a:rPr lang="en-US" altLang="zh-CN" sz="2000" i="1">
                                <a:latin typeface="Cambria Math" panose="02040503050406030204" pitchFamily="18" charset="0"/>
                                <a:ea typeface="华文楷体" panose="02010600040101010101" pitchFamily="2" charset="-122"/>
                              </a:rPr>
                              <m:t>i</m:t>
                            </m:r>
                            <m:r>
                              <a:rPr lang="en-US" altLang="zh-CN" sz="2000" i="1">
                                <a:latin typeface="Cambria Math" panose="02040503050406030204" pitchFamily="18" charset="0"/>
                                <a:ea typeface="华文楷体" panose="02010600040101010101" pitchFamily="2" charset="-122"/>
                              </a:rPr>
                              <m:t>             </m:t>
                            </m:r>
                            <m:r>
                              <a:rPr lang="zh-CN" altLang="en-US" sz="2000" i="1">
                                <a:latin typeface="Cambria Math" panose="02040503050406030204" pitchFamily="18" charset="0"/>
                                <a:ea typeface="华文楷体" panose="02010600040101010101" pitchFamily="2" charset="-122"/>
                              </a:rPr>
                              <m:t>若</m:t>
                            </m:r>
                            <m:r>
                              <m:rPr>
                                <m:sty m:val="p"/>
                              </m:rPr>
                              <a:rPr lang="en-US" altLang="zh-CN" sz="2000" i="1">
                                <a:latin typeface="Cambria Math" panose="02040503050406030204" pitchFamily="18" charset="0"/>
                                <a:ea typeface="华文楷体" panose="02010600040101010101" pitchFamily="2" charset="-122"/>
                              </a:rPr>
                              <m:t>i</m:t>
                            </m:r>
                            <m:r>
                              <a:rPr lang="en-US" altLang="zh-CN" sz="2000" i="1">
                                <a:latin typeface="Cambria Math" panose="02040503050406030204" pitchFamily="18" charset="0"/>
                                <a:ea typeface="华文楷体" panose="02010600040101010101" pitchFamily="2" charset="-122"/>
                              </a:rPr>
                              <m:t> ≠</m:t>
                            </m:r>
                            <m:r>
                              <m:rPr>
                                <m:sty m:val="p"/>
                              </m:rPr>
                              <a:rPr lang="en-US" altLang="zh-CN" sz="2000" i="1">
                                <a:latin typeface="Cambria Math" panose="02040503050406030204" pitchFamily="18" charset="0"/>
                                <a:ea typeface="华文楷体" panose="02010600040101010101" pitchFamily="2" charset="-122"/>
                              </a:rPr>
                              <m:t>j</m:t>
                            </m:r>
                            <m:r>
                              <a:rPr lang="zh-CN" altLang="en-US" sz="2000" i="1">
                                <a:latin typeface="Cambria Math" panose="02040503050406030204" pitchFamily="18" charset="0"/>
                                <a:ea typeface="华文楷体" panose="02010600040101010101" pitchFamily="2" charset="-122"/>
                              </a:rPr>
                              <m:t>且</m:t>
                            </m:r>
                            <m:r>
                              <a:rPr lang="en-US" altLang="zh-CN" sz="2000" i="1">
                                <a:latin typeface="Cambria Math" panose="02040503050406030204" pitchFamily="18" charset="0"/>
                                <a:ea typeface="华文楷体" panose="02010600040101010101" pitchFamily="2" charset="-122"/>
                              </a:rPr>
                              <m:t>𝑤</m:t>
                            </m:r>
                            <m:r>
                              <a:rPr lang="en-US" altLang="zh-CN" sz="2000" i="1" baseline="-25000">
                                <a:latin typeface="Cambria Math" panose="02040503050406030204" pitchFamily="18" charset="0"/>
                                <a:ea typeface="华文楷体" panose="02010600040101010101" pitchFamily="2" charset="-122"/>
                              </a:rPr>
                              <m:t>𝑖𝑗</m:t>
                            </m:r>
                            <m:r>
                              <a:rPr lang="en-US" altLang="zh-CN" sz="2000" i="1">
                                <a:latin typeface="Cambria Math" panose="02040503050406030204" pitchFamily="18" charset="0"/>
                                <a:ea typeface="华文楷体" panose="02010600040101010101" pitchFamily="2" charset="-122"/>
                              </a:rPr>
                              <m:t>&lt;</m:t>
                            </m:r>
                            <m:r>
                              <a:rPr lang="en-US" altLang="zh-CN" sz="2000" i="1">
                                <a:latin typeface="Cambria Math" panose="02040503050406030204" pitchFamily="18" charset="0"/>
                                <a:ea typeface="Cambria Math" panose="02040503050406030204" pitchFamily="18" charset="0"/>
                              </a:rPr>
                              <m:t>∞</m:t>
                            </m:r>
                          </m:e>
                        </m:eqArr>
                      </m:e>
                    </m:d>
                  </m:oMath>
                </a14:m>
                <a:endParaRPr lang="en-US" altLang="zh-CN" sz="2000" dirty="0" smtClean="0"/>
              </a:p>
              <a:p>
                <a:pPr marL="0" indent="0">
                  <a:buNone/>
                </a:pPr>
                <a:r>
                  <a:rPr lang="zh-CN" altLang="en-US" sz="2000" dirty="0" smtClean="0">
                    <a:ea typeface="华文楷体" panose="02010600040101010101" pitchFamily="2" charset="-122"/>
                  </a:rPr>
                  <a:t>对于</a:t>
                </a:r>
                <a:r>
                  <a:rPr lang="en-US" altLang="zh-CN" sz="2000" dirty="0" smtClean="0">
                    <a:ea typeface="华文楷体" panose="02010600040101010101" pitchFamily="2" charset="-122"/>
                  </a:rPr>
                  <a:t>k</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oMath>
                </a14:m>
                <a:r>
                  <a:rPr lang="zh-CN" altLang="en-US" sz="2000" dirty="0" smtClean="0">
                    <a:ea typeface="华文楷体" panose="02010600040101010101" pitchFamily="2" charset="-122"/>
                  </a:rPr>
                  <a:t>，考虑路径</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~&gt;k </a:t>
                </a:r>
                <a:r>
                  <a:rPr lang="en-US" altLang="zh-CN" sz="2000" dirty="0">
                    <a:ea typeface="华文楷体" panose="02010600040101010101" pitchFamily="2" charset="-122"/>
                  </a:rPr>
                  <a:t>~&gt; </a:t>
                </a:r>
                <a:r>
                  <a:rPr lang="en-US" altLang="zh-CN" sz="2000" dirty="0" smtClean="0">
                    <a:ea typeface="华文楷体" panose="02010600040101010101" pitchFamily="2" charset="-122"/>
                  </a:rPr>
                  <a:t>j(k</a:t>
                </a:r>
                <a:r>
                  <a:rPr lang="zh-CN" altLang="en-US" sz="2000" dirty="0" smtClean="0">
                    <a:ea typeface="华文楷体" panose="02010600040101010101" pitchFamily="2" charset="-122"/>
                  </a:rPr>
                  <a:t> </a:t>
                </a:r>
                <a14:m>
                  <m:oMath xmlns:m="http://schemas.openxmlformats.org/officeDocument/2006/math">
                    <m:r>
                      <a:rPr lang="zh-CN" altLang="en-US" sz="2000" i="1">
                        <a:latin typeface="Cambria Math" panose="02040503050406030204" pitchFamily="18" charset="0"/>
                        <a:ea typeface="华文楷体" panose="02010600040101010101" pitchFamily="2" charset="-122"/>
                      </a:rPr>
                      <m:t>≠</m:t>
                    </m:r>
                    <m:r>
                      <m:rPr>
                        <m:sty m:val="p"/>
                      </m:rPr>
                      <a:rPr lang="en-US" altLang="zh-CN" sz="2000" i="1">
                        <a:latin typeface="Cambria Math" panose="02040503050406030204" pitchFamily="18" charset="0"/>
                        <a:ea typeface="华文楷体" panose="02010600040101010101" pitchFamily="2" charset="-122"/>
                      </a:rPr>
                      <m:t>j</m:t>
                    </m:r>
                  </m:oMath>
                </a14:m>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，则选择的顶点</a:t>
                </a:r>
                <a:r>
                  <a:rPr lang="en-US" altLang="zh-CN" sz="2000" dirty="0" smtClean="0">
                    <a:ea typeface="华文楷体" panose="02010600040101010101" pitchFamily="2" charset="-122"/>
                  </a:rPr>
                  <a:t>j</a:t>
                </a:r>
                <a:r>
                  <a:rPr lang="zh-CN" altLang="en-US" sz="2000" dirty="0" smtClean="0">
                    <a:ea typeface="华文楷体" panose="02010600040101010101" pitchFamily="2" charset="-122"/>
                  </a:rPr>
                  <a:t>的前驱与路径</a:t>
                </a:r>
                <a:r>
                  <a:rPr lang="en-US" altLang="zh-CN" sz="2000" dirty="0">
                    <a:ea typeface="华文楷体" panose="02010600040101010101" pitchFamily="2" charset="-122"/>
                  </a:rPr>
                  <a:t>k ~&gt; j(k</a:t>
                </a:r>
                <a:r>
                  <a:rPr lang="zh-CN" altLang="en-US" sz="2000" dirty="0">
                    <a:ea typeface="华文楷体" panose="02010600040101010101" pitchFamily="2" charset="-122"/>
                  </a:rPr>
                  <a:t> </a:t>
                </a:r>
                <a14:m>
                  <m:oMath xmlns:m="http://schemas.openxmlformats.org/officeDocument/2006/math">
                    <m:r>
                      <a:rPr lang="zh-CN" altLang="en-US" sz="2000" i="1">
                        <a:latin typeface="Cambria Math" panose="02040503050406030204" pitchFamily="18" charset="0"/>
                        <a:ea typeface="华文楷体" panose="02010600040101010101" pitchFamily="2" charset="-122"/>
                      </a:rPr>
                      <m:t>≠</m:t>
                    </m:r>
                    <m:r>
                      <m:rPr>
                        <m:sty m:val="p"/>
                      </m:rPr>
                      <a:rPr lang="en-US" altLang="zh-CN" sz="2000" i="1">
                        <a:latin typeface="Cambria Math" panose="02040503050406030204" pitchFamily="18" charset="0"/>
                        <a:ea typeface="华文楷体" panose="02010600040101010101" pitchFamily="2" charset="-122"/>
                      </a:rPr>
                      <m:t>j</m:t>
                    </m:r>
                  </m:oMath>
                </a14:m>
                <a:r>
                  <a:rPr lang="en-US" altLang="zh-CN" sz="2000" dirty="0" smtClean="0">
                    <a:ea typeface="华文楷体" panose="02010600040101010101" pitchFamily="2" charset="-122"/>
                  </a:rPr>
                  <a:t>)</a:t>
                </a:r>
                <a:r>
                  <a:rPr lang="zh-CN" altLang="en-US" sz="2000" dirty="0" smtClean="0">
                    <a:ea typeface="华文楷体" panose="02010600040101010101" pitchFamily="2" charset="-122"/>
                  </a:rPr>
                  <a:t>的前驱顶点是一样的，这里：路径</a:t>
                </a:r>
                <a:r>
                  <a:rPr lang="en-US" altLang="zh-CN" sz="2000" dirty="0">
                    <a:ea typeface="华文楷体" panose="02010600040101010101" pitchFamily="2" charset="-122"/>
                  </a:rPr>
                  <a:t>k ~&gt; j(k</a:t>
                </a:r>
                <a:r>
                  <a:rPr lang="zh-CN" altLang="en-US" sz="2000" dirty="0">
                    <a:ea typeface="华文楷体" panose="02010600040101010101" pitchFamily="2" charset="-122"/>
                  </a:rPr>
                  <a:t> </a:t>
                </a:r>
                <a14:m>
                  <m:oMath xmlns:m="http://schemas.openxmlformats.org/officeDocument/2006/math">
                    <m:r>
                      <a:rPr lang="zh-CN" altLang="en-US" sz="2000" i="1">
                        <a:latin typeface="Cambria Math" panose="02040503050406030204" pitchFamily="18" charset="0"/>
                        <a:ea typeface="华文楷体" panose="02010600040101010101" pitchFamily="2" charset="-122"/>
                      </a:rPr>
                      <m:t>≠</m:t>
                    </m:r>
                    <m:r>
                      <m:rPr>
                        <m:sty m:val="p"/>
                      </m:rPr>
                      <a:rPr lang="en-US" altLang="zh-CN" sz="2000" i="1">
                        <a:latin typeface="Cambria Math" panose="02040503050406030204" pitchFamily="18" charset="0"/>
                        <a:ea typeface="华文楷体" panose="02010600040101010101" pitchFamily="2" charset="-122"/>
                      </a:rPr>
                      <m:t>j</m:t>
                    </m:r>
                  </m:oMath>
                </a14:m>
                <a:r>
                  <a:rPr lang="en-US" altLang="zh-CN" sz="2000" dirty="0">
                    <a:ea typeface="华文楷体" panose="02010600040101010101" pitchFamily="2" charset="-122"/>
                  </a:rPr>
                  <a:t>)</a:t>
                </a:r>
                <a:r>
                  <a:rPr lang="zh-CN" altLang="en-US" sz="2000" dirty="0">
                    <a:ea typeface="华文楷体" panose="02010600040101010101" pitchFamily="2" charset="-122"/>
                  </a:rPr>
                  <a:t>的中间顶点全部取自于集合</a:t>
                </a:r>
                <a:r>
                  <a:rPr lang="en-US" altLang="zh-CN" sz="2000" dirty="0">
                    <a:ea typeface="华文楷体" panose="02010600040101010101" pitchFamily="2" charset="-122"/>
                  </a:rPr>
                  <a:t>{1, 2, .., k-1</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。否则，顶点</a:t>
                </a:r>
                <a:r>
                  <a:rPr lang="en-US" altLang="zh-CN" sz="2000" dirty="0">
                    <a:ea typeface="华文楷体" panose="02010600040101010101" pitchFamily="2" charset="-122"/>
                  </a:rPr>
                  <a:t>j</a:t>
                </a:r>
                <a:r>
                  <a:rPr lang="zh-CN" altLang="en-US" sz="2000" dirty="0">
                    <a:ea typeface="华文楷体" panose="02010600040101010101" pitchFamily="2" charset="-122"/>
                  </a:rPr>
                  <a:t>的前驱与</a:t>
                </a:r>
                <a:r>
                  <a:rPr lang="zh-CN" altLang="en-US" sz="2000" dirty="0" smtClean="0">
                    <a:ea typeface="华文楷体" panose="02010600040101010101" pitchFamily="2" charset="-122"/>
                  </a:rPr>
                  <a:t>路径</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a:t>
                </a:r>
                <a:r>
                  <a:rPr lang="en-US" altLang="zh-CN" sz="2000" dirty="0">
                    <a:ea typeface="华文楷体" panose="02010600040101010101" pitchFamily="2" charset="-122"/>
                  </a:rPr>
                  <a:t>~&gt; </a:t>
                </a:r>
                <a:r>
                  <a:rPr lang="en-US" altLang="zh-CN" sz="2000" dirty="0" smtClean="0">
                    <a:ea typeface="华文楷体" panose="02010600040101010101" pitchFamily="2" charset="-122"/>
                  </a:rPr>
                  <a:t>j</a:t>
                </a:r>
                <a:r>
                  <a:rPr lang="zh-CN" altLang="en-US" sz="2000" dirty="0" smtClean="0">
                    <a:ea typeface="华文楷体" panose="02010600040101010101" pitchFamily="2" charset="-122"/>
                  </a:rPr>
                  <a:t>的</a:t>
                </a:r>
                <a:r>
                  <a:rPr lang="zh-CN" altLang="en-US" sz="2000" dirty="0">
                    <a:ea typeface="华文楷体" panose="02010600040101010101" pitchFamily="2" charset="-122"/>
                  </a:rPr>
                  <a:t>前驱顶点是一样</a:t>
                </a:r>
                <a:r>
                  <a:rPr lang="zh-CN" altLang="en-US" sz="2000" dirty="0" smtClean="0">
                    <a:ea typeface="华文楷体" panose="02010600040101010101" pitchFamily="2" charset="-122"/>
                  </a:rPr>
                  <a:t>的，这里</a:t>
                </a:r>
                <a:r>
                  <a:rPr lang="zh-CN" altLang="en-US" sz="2000" dirty="0">
                    <a:ea typeface="华文楷体" panose="02010600040101010101" pitchFamily="2" charset="-122"/>
                  </a:rPr>
                  <a:t>：</a:t>
                </a:r>
                <a:r>
                  <a:rPr lang="zh-CN" altLang="en-US" sz="2000" dirty="0" smtClean="0">
                    <a:ea typeface="华文楷体" panose="02010600040101010101" pitchFamily="2" charset="-122"/>
                  </a:rPr>
                  <a:t>路径</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a:t>
                </a:r>
                <a:r>
                  <a:rPr lang="en-US" altLang="zh-CN" sz="2000" dirty="0">
                    <a:ea typeface="华文楷体" panose="02010600040101010101" pitchFamily="2" charset="-122"/>
                  </a:rPr>
                  <a:t>~&gt; </a:t>
                </a:r>
                <a:r>
                  <a:rPr lang="en-US" altLang="zh-CN" sz="2000" dirty="0" smtClean="0">
                    <a:ea typeface="华文楷体" panose="02010600040101010101" pitchFamily="2" charset="-122"/>
                  </a:rPr>
                  <a:t>j</a:t>
                </a:r>
                <a:r>
                  <a:rPr lang="zh-CN" altLang="en-US" sz="2000" dirty="0" smtClean="0">
                    <a:ea typeface="华文楷体" panose="02010600040101010101" pitchFamily="2" charset="-122"/>
                  </a:rPr>
                  <a:t>的</a:t>
                </a:r>
                <a:r>
                  <a:rPr lang="zh-CN" altLang="en-US" sz="2000" dirty="0">
                    <a:ea typeface="华文楷体" panose="02010600040101010101" pitchFamily="2" charset="-122"/>
                  </a:rPr>
                  <a:t>中间顶点全部取自于集合</a:t>
                </a:r>
                <a:r>
                  <a:rPr lang="en-US" altLang="zh-CN" sz="2000" dirty="0">
                    <a:ea typeface="华文楷体" panose="02010600040101010101" pitchFamily="2" charset="-122"/>
                  </a:rPr>
                  <a:t>{1, 2, .., k-1}</a:t>
                </a:r>
                <a:r>
                  <a:rPr lang="zh-CN" altLang="en-US" sz="2000" dirty="0" smtClean="0">
                    <a:ea typeface="华文楷体" panose="02010600040101010101" pitchFamily="2" charset="-122"/>
                  </a:rPr>
                  <a:t>。也即：</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P</a:t>
                </a:r>
                <a:r>
                  <a:rPr lang="en-US" altLang="zh-CN" sz="2000" baseline="30000" dirty="0" smtClean="0">
                    <a:ea typeface="华文楷体" panose="02010600040101010101" pitchFamily="2" charset="-122"/>
                  </a:rPr>
                  <a:t>(k)</a:t>
                </a:r>
                <a:r>
                  <a:rPr lang="en-US" altLang="zh-CN" sz="2000" dirty="0" smtClean="0">
                    <a:ea typeface="华文楷体" panose="02010600040101010101" pitchFamily="2" charset="-122"/>
                  </a:rPr>
                  <a:t>[</a:t>
                </a:r>
                <a:r>
                  <a:rPr lang="en-US" altLang="zh-CN" sz="2000" dirty="0" err="1">
                    <a:ea typeface="华文楷体" panose="02010600040101010101" pitchFamily="2" charset="-122"/>
                  </a:rPr>
                  <a:t>i</a:t>
                </a:r>
                <a:r>
                  <a:rPr lang="en-US" altLang="zh-CN" sz="2000" dirty="0">
                    <a:ea typeface="华文楷体" panose="02010600040101010101" pitchFamily="2" charset="-122"/>
                  </a:rPr>
                  <a:t>][j</a:t>
                </a:r>
                <a:r>
                  <a:rPr lang="en-US" altLang="zh-CN" sz="2000" dirty="0" smtClean="0">
                    <a:ea typeface="华文楷体" panose="02010600040101010101" pitchFamily="2" charset="-122"/>
                  </a:rPr>
                  <a:t>]=</a:t>
                </a:r>
                <a14:m>
                  <m:oMath xmlns:m="http://schemas.openxmlformats.org/officeDocument/2006/math">
                    <m:d>
                      <m:dPr>
                        <m:begChr m:val="{"/>
                        <m:endChr m:val=""/>
                        <m:ctrlPr>
                          <a:rPr lang="en-US" altLang="zh-CN" sz="2000" i="1" smtClean="0">
                            <a:latin typeface="Cambria Math" panose="02040503050406030204" pitchFamily="18" charset="0"/>
                            <a:ea typeface="华文楷体" panose="02010600040101010101" pitchFamily="2" charset="-122"/>
                          </a:rPr>
                        </m:ctrlPr>
                      </m:dPr>
                      <m:e>
                        <m:eqArr>
                          <m:eqArrPr>
                            <m:ctrlPr>
                              <a:rPr lang="en-US" altLang="zh-CN" sz="2000" i="1" smtClean="0">
                                <a:latin typeface="Cambria Math" panose="02040503050406030204" pitchFamily="18" charset="0"/>
                                <a:ea typeface="华文楷体" panose="02010600040101010101" pitchFamily="2" charset="-122"/>
                              </a:rPr>
                            </m:ctrlPr>
                          </m:eqArrPr>
                          <m:e>
                            <m:r>
                              <m:rPr>
                                <m:nor/>
                              </m:rPr>
                              <a:rPr lang="en-US" altLang="zh-CN" sz="2000" dirty="0">
                                <a:latin typeface="Cambria Math" panose="02040503050406030204" pitchFamily="18" charset="0"/>
                                <a:ea typeface="华文楷体" panose="02010600040101010101" pitchFamily="2" charset="-122"/>
                              </a:rPr>
                              <m:t>P</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0" i="0" baseline="30000" dirty="0" smtClean="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i</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  </m:t>
                            </m:r>
                            <m:r>
                              <a:rPr lang="zh-CN" altLang="en-US" sz="2000" i="1" dirty="0">
                                <a:latin typeface="Cambria Math" panose="02040503050406030204" pitchFamily="18" charset="0"/>
                                <a:ea typeface="华文楷体" panose="02010600040101010101" pitchFamily="2" charset="-122"/>
                              </a:rPr>
                              <m:t>若</m:t>
                            </m:r>
                            <m:r>
                              <m:rPr>
                                <m:nor/>
                              </m:rPr>
                              <a:rPr lang="en-US" altLang="zh-CN" sz="2000" dirty="0">
                                <a:latin typeface="Cambria Math" panose="02040503050406030204" pitchFamily="18" charset="0"/>
                                <a:ea typeface="华文楷体" panose="02010600040101010101" pitchFamily="2" charset="-122"/>
                              </a:rPr>
                              <m:t>A</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smtClean="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i</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m:t>
                            </m:r>
                            <m:r>
                              <a:rPr lang="en-US" altLang="zh-CN" sz="2000" b="0" i="1" dirty="0" smtClean="0">
                                <a:latin typeface="Cambria Math" panose="02040503050406030204" pitchFamily="18" charset="0"/>
                                <a:ea typeface="华文楷体" panose="02010600040101010101" pitchFamily="2" charset="-122"/>
                              </a:rPr>
                              <m:t> </m:t>
                            </m:r>
                            <m:r>
                              <a:rPr lang="en-US" altLang="zh-CN" sz="2000" b="0" i="1" dirty="0" smtClean="0">
                                <a:latin typeface="Cambria Math" panose="02040503050406030204" pitchFamily="18" charset="0"/>
                                <a:ea typeface="Cambria Math" panose="02040503050406030204" pitchFamily="18" charset="0"/>
                              </a:rPr>
                              <m:t>≤</m:t>
                            </m:r>
                            <m:r>
                              <m:rPr>
                                <m:nor/>
                              </m:rPr>
                              <a:rPr lang="en-US" altLang="zh-CN" sz="2000" dirty="0" smtClean="0">
                                <a:latin typeface="Cambria Math" panose="02040503050406030204" pitchFamily="18" charset="0"/>
                                <a:ea typeface="华文楷体" panose="02010600040101010101" pitchFamily="2" charset="-122"/>
                              </a:rPr>
                              <m:t>A</m:t>
                            </m:r>
                            <m:r>
                              <m:rPr>
                                <m:nor/>
                              </m:rPr>
                              <a:rPr lang="en-US" altLang="zh-CN" sz="2000" baseline="30000" dirty="0" smtClean="0">
                                <a:latin typeface="Cambria Math" panose="02040503050406030204" pitchFamily="18" charset="0"/>
                                <a:ea typeface="华文楷体" panose="02010600040101010101" pitchFamily="2" charset="-122"/>
                              </a:rPr>
                              <m:t>(</m:t>
                            </m:r>
                            <m:r>
                              <m:rPr>
                                <m:nor/>
                              </m:rPr>
                              <a:rPr lang="en-US" altLang="zh-CN" sz="2000" baseline="30000" dirty="0" smtClean="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smtClean="0">
                                <a:latin typeface="Cambria Math" panose="02040503050406030204" pitchFamily="18" charset="0"/>
                                <a:ea typeface="华文楷体" panose="02010600040101010101" pitchFamily="2" charset="-122"/>
                              </a:rPr>
                              <m:t>1</m:t>
                            </m:r>
                            <m:r>
                              <m:rPr>
                                <m:nor/>
                              </m:rPr>
                              <a:rPr lang="en-US" altLang="zh-CN" sz="2000" baseline="30000" dirty="0" smtClean="0">
                                <a:latin typeface="Cambria Math" panose="02040503050406030204" pitchFamily="18" charset="0"/>
                                <a:ea typeface="华文楷体" panose="02010600040101010101" pitchFamily="2" charset="-122"/>
                              </a:rPr>
                              <m:t>)</m:t>
                            </m:r>
                            <m:r>
                              <m:rPr>
                                <m:nor/>
                              </m:rPr>
                              <a:rPr lang="en-US" altLang="zh-CN" sz="2000" dirty="0" smtClean="0">
                                <a:latin typeface="Cambria Math" panose="02040503050406030204" pitchFamily="18" charset="0"/>
                                <a:ea typeface="华文楷体" panose="02010600040101010101" pitchFamily="2" charset="-122"/>
                              </a:rPr>
                              <m:t>[</m:t>
                            </m:r>
                            <m:r>
                              <m:rPr>
                                <m:nor/>
                              </m:rPr>
                              <a:rPr lang="en-US" altLang="zh-CN" sz="2000" dirty="0" smtClean="0">
                                <a:latin typeface="Cambria Math" panose="02040503050406030204" pitchFamily="18" charset="0"/>
                                <a:ea typeface="华文楷体" panose="02010600040101010101" pitchFamily="2" charset="-122"/>
                              </a:rPr>
                              <m:t>i</m:t>
                            </m:r>
                            <m:r>
                              <m:rPr>
                                <m:nor/>
                              </m:rPr>
                              <a:rPr lang="en-US" altLang="zh-CN" sz="2000" dirty="0" smtClean="0">
                                <a:latin typeface="Cambria Math" panose="02040503050406030204" pitchFamily="18" charset="0"/>
                                <a:ea typeface="华文楷体" panose="02010600040101010101" pitchFamily="2" charset="-122"/>
                              </a:rPr>
                              <m:t>][</m:t>
                            </m:r>
                            <m:r>
                              <m:rPr>
                                <m:nor/>
                              </m:rPr>
                              <a:rPr lang="en-US" altLang="zh-CN" sz="2000" b="0" i="0" dirty="0" smtClean="0">
                                <a:latin typeface="Cambria Math" panose="02040503050406030204" pitchFamily="18" charset="0"/>
                                <a:ea typeface="华文楷体" panose="02010600040101010101" pitchFamily="2" charset="-122"/>
                              </a:rPr>
                              <m:t>k</m:t>
                            </m:r>
                            <m:r>
                              <m:rPr>
                                <m:nor/>
                              </m:rPr>
                              <a:rPr lang="en-US" altLang="zh-CN" sz="2000" dirty="0" smtClean="0">
                                <a:latin typeface="Cambria Math" panose="02040503050406030204" pitchFamily="18" charset="0"/>
                                <a:ea typeface="华文楷体" panose="02010600040101010101" pitchFamily="2" charset="-122"/>
                              </a:rPr>
                              <m:t>]</m:t>
                            </m:r>
                            <m:r>
                              <m:rPr>
                                <m:nor/>
                              </m:rPr>
                              <a:rPr lang="en-US" altLang="zh-CN" sz="2000" b="0" i="0" dirty="0" smtClean="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A</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b="0" i="0" dirty="0" smtClean="0">
                                <a:latin typeface="Cambria Math" panose="02040503050406030204" pitchFamily="18" charset="0"/>
                                <a:ea typeface="华文楷体" panose="02010600040101010101" pitchFamily="2" charset="-122"/>
                              </a:rPr>
                              <m:t>k</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m:t>
                            </m:r>
                          </m:e>
                          <m:e>
                            <m:r>
                              <m:rPr>
                                <m:nor/>
                              </m:rPr>
                              <a:rPr lang="en-US" altLang="zh-CN" sz="2000" dirty="0">
                                <a:latin typeface="Cambria Math" panose="02040503050406030204" pitchFamily="18" charset="0"/>
                                <a:ea typeface="华文楷体" panose="02010600040101010101" pitchFamily="2" charset="-122"/>
                              </a:rPr>
                              <m:t>P</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1" baseline="30000" dirty="0" smtClean="0">
                                <a:latin typeface="Cambria Math" panose="02040503050406030204" pitchFamily="18" charset="0"/>
                                <a:ea typeface="华文楷体" panose="02010600040101010101" pitchFamily="2" charset="-122"/>
                              </a:rPr>
                              <m:t>−</m:t>
                            </m:r>
                            <m:r>
                              <a:rPr lang="en-US" altLang="zh-CN" sz="2000" b="0" i="1" baseline="30000" dirty="0" smtClean="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m:t>
                            </m:r>
                            <m:r>
                              <m:rPr>
                                <m:sty m:val="p"/>
                              </m:rPr>
                              <a:rPr lang="en-US" altLang="zh-CN" sz="2000" i="1" dirty="0" smtClean="0">
                                <a:solidFill>
                                  <a:srgbClr val="C00000"/>
                                </a:solidFill>
                                <a:latin typeface="Cambria Math" panose="02040503050406030204" pitchFamily="18" charset="0"/>
                                <a:ea typeface="华文楷体" panose="02010600040101010101" pitchFamily="2" charset="-122"/>
                              </a:rPr>
                              <m:t>k</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m:t>
                            </m:r>
                            <m:r>
                              <a:rPr lang="en-US" altLang="zh-CN" sz="2000" b="0" i="1" dirty="0" smtClean="0">
                                <a:latin typeface="Cambria Math" panose="02040503050406030204" pitchFamily="18" charset="0"/>
                                <a:ea typeface="华文楷体" panose="02010600040101010101" pitchFamily="2" charset="-122"/>
                              </a:rPr>
                              <m:t> </m:t>
                            </m:r>
                            <m:r>
                              <a:rPr lang="zh-CN" altLang="en-US" sz="2000" i="1" dirty="0">
                                <a:latin typeface="Cambria Math" panose="02040503050406030204" pitchFamily="18" charset="0"/>
                                <a:ea typeface="华文楷体" panose="02010600040101010101" pitchFamily="2" charset="-122"/>
                              </a:rPr>
                              <m:t>若</m:t>
                            </m:r>
                            <m:r>
                              <m:rPr>
                                <m:nor/>
                              </m:rPr>
                              <a:rPr lang="en-US" altLang="zh-CN" sz="2000" dirty="0">
                                <a:latin typeface="Cambria Math" panose="02040503050406030204" pitchFamily="18" charset="0"/>
                                <a:ea typeface="华文楷体" panose="02010600040101010101" pitchFamily="2" charset="-122"/>
                              </a:rPr>
                              <m:t>A</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smtClean="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i</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m:t>
                            </m:r>
                            <m:r>
                              <a:rPr lang="en-US" altLang="zh-CN" sz="2000" b="0" i="1" dirty="0" smtClean="0">
                                <a:latin typeface="Cambria Math" panose="02040503050406030204" pitchFamily="18" charset="0"/>
                                <a:ea typeface="Cambria Math" panose="02040503050406030204" pitchFamily="18" charset="0"/>
                              </a:rPr>
                              <m:t>&gt;</m:t>
                            </m:r>
                            <m:r>
                              <m:rPr>
                                <m:nor/>
                              </m:rPr>
                              <a:rPr lang="en-US" altLang="zh-CN" sz="2000" dirty="0">
                                <a:latin typeface="Cambria Math" panose="02040503050406030204" pitchFamily="18" charset="0"/>
                                <a:ea typeface="华文楷体" panose="02010600040101010101" pitchFamily="2" charset="-122"/>
                              </a:rPr>
                              <m:t>A</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i</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b="0" i="0" dirty="0" smtClean="0">
                                <a:latin typeface="Cambria Math" panose="02040503050406030204" pitchFamily="18" charset="0"/>
                                <a:ea typeface="华文楷体" panose="02010600040101010101" pitchFamily="2" charset="-122"/>
                              </a:rPr>
                              <m:t>k</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A</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k</m:t>
                            </m:r>
                            <m:r>
                              <m:rPr>
                                <m:nor/>
                              </m:rPr>
                              <a:rPr lang="en-US" altLang="zh-CN" sz="2000" b="0" i="0" baseline="30000" dirty="0" smtClean="0">
                                <a:latin typeface="Cambria Math" panose="02040503050406030204" pitchFamily="18" charset="0"/>
                                <a:ea typeface="华文楷体" panose="02010600040101010101" pitchFamily="2" charset="-122"/>
                              </a:rPr>
                              <m:t>−</m:t>
                            </m:r>
                            <m:r>
                              <m:rPr>
                                <m:nor/>
                              </m:rPr>
                              <a:rPr lang="en-US" altLang="zh-CN" sz="2000" baseline="30000" dirty="0">
                                <a:latin typeface="Cambria Math" panose="02040503050406030204" pitchFamily="18" charset="0"/>
                                <a:ea typeface="华文楷体" panose="02010600040101010101" pitchFamily="2" charset="-122"/>
                              </a:rPr>
                              <m:t>1</m:t>
                            </m:r>
                            <m:r>
                              <m:rPr>
                                <m:nor/>
                              </m:rPr>
                              <a:rPr lang="en-US" altLang="zh-CN" sz="2000" baseline="30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b="0" i="0" dirty="0" smtClean="0">
                                <a:latin typeface="Cambria Math" panose="02040503050406030204" pitchFamily="18" charset="0"/>
                                <a:ea typeface="华文楷体" panose="02010600040101010101" pitchFamily="2" charset="-122"/>
                              </a:rPr>
                              <m:t>k</m:t>
                            </m:r>
                            <m:r>
                              <m:rPr>
                                <m:nor/>
                              </m:rPr>
                              <a:rPr lang="en-US" altLang="zh-CN" sz="2000" dirty="0">
                                <a:latin typeface="Cambria Math" panose="02040503050406030204" pitchFamily="18" charset="0"/>
                                <a:ea typeface="华文楷体" panose="02010600040101010101" pitchFamily="2" charset="-122"/>
                              </a:rPr>
                              <m:t>][</m:t>
                            </m:r>
                            <m:r>
                              <m:rPr>
                                <m:nor/>
                              </m:rPr>
                              <a:rPr lang="en-US" altLang="zh-CN" sz="2000" dirty="0">
                                <a:latin typeface="Cambria Math" panose="02040503050406030204" pitchFamily="18" charset="0"/>
                                <a:ea typeface="华文楷体" panose="02010600040101010101" pitchFamily="2" charset="-122"/>
                              </a:rPr>
                              <m:t>j</m:t>
                            </m:r>
                            <m:r>
                              <m:rPr>
                                <m:nor/>
                              </m:rPr>
                              <a:rPr lang="en-US" altLang="zh-CN" sz="2000" dirty="0">
                                <a:latin typeface="Cambria Math" panose="02040503050406030204" pitchFamily="18" charset="0"/>
                                <a:ea typeface="华文楷体" panose="02010600040101010101" pitchFamily="2" charset="-122"/>
                              </a:rPr>
                              <m:t>]</m:t>
                            </m:r>
                          </m:e>
                        </m:eqArr>
                      </m:e>
                    </m:d>
                  </m:oMath>
                </a14:m>
                <a:endParaRPr lang="en-US" altLang="zh-CN" sz="2000" dirty="0" smtClean="0"/>
              </a:p>
              <a:p>
                <a:pPr marL="0" indent="0">
                  <a:buNone/>
                </a:pPr>
                <a:endParaRPr lang="zh-CN" altLang="en-US"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42888" y="1066800"/>
            <a:ext cx="8229600" cy="5248275"/>
          </a:xfrm>
        </p:spPr>
        <p:txBody>
          <a:bodyPr/>
          <a:lstStyle/>
          <a:p>
            <a:pPr marL="0" indent="0">
              <a:buNone/>
            </a:pPr>
            <a:r>
              <a:rPr lang="en-US" altLang="zh-CN" sz="2000" dirty="0">
                <a:solidFill>
                  <a:srgbClr val="C00000"/>
                </a:solidFill>
                <a:ea typeface="华文楷体" panose="02010600040101010101" pitchFamily="2" charset="-122"/>
              </a:rPr>
              <a:t>[</a:t>
            </a:r>
            <a:r>
              <a:rPr lang="zh-CN" altLang="en-US" sz="2000" dirty="0" smtClean="0">
                <a:solidFill>
                  <a:srgbClr val="C00000"/>
                </a:solidFill>
                <a:ea typeface="华文楷体" panose="02010600040101010101" pitchFamily="2" charset="-122"/>
              </a:rPr>
              <a:t>算法</a:t>
            </a:r>
            <a:r>
              <a:rPr lang="zh-CN" altLang="en-US" sz="2000" dirty="0">
                <a:solidFill>
                  <a:srgbClr val="C00000"/>
                </a:solidFill>
                <a:ea typeface="华文楷体" panose="02010600040101010101" pitchFamily="2" charset="-122"/>
              </a:rPr>
              <a:t>描述</a:t>
            </a:r>
            <a:r>
              <a:rPr lang="en-US" altLang="zh-CN" sz="2000" dirty="0" smtClean="0">
                <a:solidFill>
                  <a:srgbClr val="C00000"/>
                </a:solidFill>
              </a:rPr>
              <a:t>]</a:t>
            </a:r>
            <a:endParaRPr lang="en-US" altLang="zh-CN" sz="2000" dirty="0" smtClean="0">
              <a:solidFill>
                <a:srgbClr val="C00000"/>
              </a:solidFill>
            </a:endParaRPr>
          </a:p>
          <a:p>
            <a:pPr marL="0" indent="0">
              <a:buNone/>
            </a:pPr>
            <a:endParaRPr lang="zh-CN" altLang="en-US"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1905000" y="1143000"/>
            <a:ext cx="5859604" cy="5632311"/>
          </a:xfrm>
          <a:prstGeom prst="rect">
            <a:avLst/>
          </a:prstGeom>
          <a:noFill/>
          <a:ln>
            <a:solidFill>
              <a:schemeClr val="accent1"/>
            </a:solidFill>
          </a:ln>
        </p:spPr>
        <p:txBody>
          <a:bodyPr wrap="square" rtlCol="0">
            <a:spAutoFit/>
          </a:bodyPr>
          <a:lstStyle/>
          <a:p>
            <a:r>
              <a:rPr lang="en-US" altLang="zh-CN" sz="1500" dirty="0" smtClean="0">
                <a:latin typeface="Times New Roman" panose="02020603050405020304" pitchFamily="18" charset="0"/>
                <a:ea typeface="华文楷体" panose="02010600040101010101" pitchFamily="2" charset="-122"/>
              </a:rPr>
              <a:t>i</a:t>
            </a:r>
            <a:r>
              <a:rPr lang="en-US" altLang="zh-CN" sz="1500" dirty="0" err="1" smtClean="0">
                <a:latin typeface="Times New Roman" panose="02020603050405020304" pitchFamily="18" charset="0"/>
                <a:ea typeface="华文楷体" panose="02010600040101010101" pitchFamily="2" charset="-122"/>
              </a:rPr>
              <a:t>nt</a:t>
            </a:r>
            <a:r>
              <a:rPr lang="en-US" altLang="zh-CN" sz="1500" dirty="0" smtClean="0">
                <a:latin typeface="Times New Roman" panose="02020603050405020304" pitchFamily="18" charset="0"/>
                <a:ea typeface="华文楷体" panose="02010600040101010101" pitchFamily="2" charset="-122"/>
              </a:rPr>
              <a:t> P[1</a:t>
            </a:r>
            <a:r>
              <a:rPr lang="en-US" altLang="zh-CN" sz="1500" dirty="0">
                <a:latin typeface="Times New Roman" panose="02020603050405020304" pitchFamily="18" charset="0"/>
                <a:ea typeface="华文楷体" panose="02010600040101010101" pitchFamily="2" charset="-122"/>
              </a:rPr>
              <a:t>..MAXV][1..MAXV</a:t>
            </a:r>
            <a:r>
              <a:rPr lang="en-US" altLang="zh-CN" sz="1500" dirty="0" smtClean="0">
                <a:latin typeface="Times New Roman" panose="02020603050405020304" pitchFamily="18" charset="0"/>
                <a:ea typeface="华文楷体" panose="02010600040101010101" pitchFamily="2" charset="-122"/>
              </a:rPr>
              <a:t>]</a:t>
            </a:r>
            <a:r>
              <a:rPr lang="zh-CN" altLang="en-US" sz="1500" dirty="0" smtClean="0">
                <a:latin typeface="Times New Roman" panose="02020603050405020304" pitchFamily="18" charset="0"/>
                <a:ea typeface="华文楷体" panose="02010600040101010101" pitchFamily="2" charset="-122"/>
              </a:rPr>
              <a:t>；</a:t>
            </a:r>
            <a:r>
              <a:rPr lang="en-US" altLang="zh-CN" sz="1500" dirty="0" smtClean="0">
                <a:latin typeface="Times New Roman" panose="02020603050405020304" pitchFamily="18" charset="0"/>
                <a:ea typeface="华文楷体" panose="02010600040101010101" pitchFamily="2" charset="-122"/>
              </a:rPr>
              <a:t>//</a:t>
            </a:r>
            <a:r>
              <a:rPr lang="zh-CN" altLang="en-US" sz="1500" dirty="0" smtClean="0">
                <a:latin typeface="Times New Roman" panose="02020603050405020304" pitchFamily="18" charset="0"/>
                <a:ea typeface="华文楷体" panose="02010600040101010101" pitchFamily="2" charset="-122"/>
              </a:rPr>
              <a:t>全局变量，二</a:t>
            </a:r>
            <a:r>
              <a:rPr lang="zh-CN" altLang="en-US" sz="1500" dirty="0">
                <a:latin typeface="Times New Roman" panose="02020603050405020304" pitchFamily="18" charset="0"/>
                <a:ea typeface="华文楷体" panose="02010600040101010101" pitchFamily="2" charset="-122"/>
              </a:rPr>
              <a:t>维数</a:t>
            </a:r>
            <a:r>
              <a:rPr lang="zh-CN" altLang="en-US" sz="1500" dirty="0" smtClean="0">
                <a:latin typeface="Times New Roman" panose="02020603050405020304" pitchFamily="18" charset="0"/>
                <a:ea typeface="华文楷体" panose="02010600040101010101" pitchFamily="2" charset="-122"/>
              </a:rPr>
              <a:t>组</a:t>
            </a:r>
            <a:r>
              <a:rPr lang="en-US" altLang="zh-CN" sz="1500" dirty="0" smtClean="0">
                <a:latin typeface="Times New Roman" panose="02020603050405020304" pitchFamily="18" charset="0"/>
                <a:ea typeface="华文楷体" panose="02010600040101010101" pitchFamily="2" charset="-122"/>
              </a:rPr>
              <a:t>P</a:t>
            </a:r>
            <a:r>
              <a:rPr lang="zh-CN" altLang="en-US" sz="1500" dirty="0" smtClean="0">
                <a:latin typeface="Times New Roman" panose="02020603050405020304" pitchFamily="18" charset="0"/>
                <a:ea typeface="华文楷体" panose="02010600040101010101" pitchFamily="2" charset="-122"/>
              </a:rPr>
              <a:t>计算</a:t>
            </a:r>
            <a:r>
              <a:rPr lang="en-US" altLang="zh-CN" sz="1500" dirty="0">
                <a:latin typeface="Times New Roman" panose="02020603050405020304" pitchFamily="18" charset="0"/>
                <a:ea typeface="华文楷体" panose="02010600040101010101" pitchFamily="2" charset="-122"/>
              </a:rPr>
              <a:t>P</a:t>
            </a:r>
            <a:r>
              <a:rPr lang="en-US" altLang="zh-CN" sz="1500" baseline="30000" dirty="0" smtClean="0">
                <a:latin typeface="Times New Roman" panose="02020603050405020304" pitchFamily="18" charset="0"/>
                <a:ea typeface="华文楷体" panose="02010600040101010101" pitchFamily="2" charset="-122"/>
              </a:rPr>
              <a:t>(n</a:t>
            </a:r>
            <a:r>
              <a:rPr lang="en-US" altLang="zh-CN" sz="1500" baseline="30000" dirty="0">
                <a:latin typeface="Times New Roman" panose="02020603050405020304" pitchFamily="18" charset="0"/>
                <a:ea typeface="华文楷体" panose="02010600040101010101" pitchFamily="2" charset="-122"/>
              </a:rPr>
              <a:t>)</a:t>
            </a:r>
            <a:r>
              <a:rPr lang="en-US" altLang="zh-CN" sz="1500" dirty="0">
                <a:latin typeface="Times New Roman" panose="02020603050405020304" pitchFamily="18" charset="0"/>
                <a:ea typeface="华文楷体" panose="02010600040101010101" pitchFamily="2" charset="-122"/>
              </a:rPr>
              <a:t>[</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a:t>
            </a:r>
            <a:endParaRPr lang="en-US" altLang="zh-CN" sz="1500" dirty="0">
              <a:latin typeface="Times New Roman" panose="02020603050405020304" pitchFamily="18" charset="0"/>
              <a:ea typeface="华文楷体" panose="02010600040101010101" pitchFamily="2" charset="-122"/>
            </a:endParaRPr>
          </a:p>
          <a:p>
            <a:r>
              <a:rPr lang="en-US" altLang="zh-CN" sz="1500" dirty="0" err="1" smtClean="0">
                <a:latin typeface="Times New Roman" panose="02020603050405020304" pitchFamily="18" charset="0"/>
                <a:ea typeface="华文楷体" panose="02010600040101010101" pitchFamily="2" charset="-122"/>
              </a:rPr>
              <a:t>int</a:t>
            </a:r>
            <a:r>
              <a:rPr lang="en-US" altLang="zh-CN" sz="1500" dirty="0" smtClean="0">
                <a:latin typeface="Times New Roman" panose="02020603050405020304" pitchFamily="18" charset="0"/>
                <a:ea typeface="华文楷体" panose="02010600040101010101" pitchFamily="2" charset="-122"/>
              </a:rPr>
              <a:t> </a:t>
            </a:r>
            <a:r>
              <a:rPr lang="en-US" altLang="zh-CN" sz="1500" dirty="0">
                <a:latin typeface="Times New Roman" panose="02020603050405020304" pitchFamily="18" charset="0"/>
                <a:ea typeface="华文楷体" panose="02010600040101010101" pitchFamily="2" charset="-122"/>
              </a:rPr>
              <a:t>A[1..MAXV][1..MAXV</a:t>
            </a:r>
            <a:r>
              <a:rPr lang="en-US" altLang="zh-CN" sz="1500" dirty="0" smtClean="0">
                <a:latin typeface="Times New Roman" panose="02020603050405020304" pitchFamily="18" charset="0"/>
                <a:ea typeface="华文楷体" panose="02010600040101010101" pitchFamily="2" charset="-122"/>
              </a:rPr>
              <a:t>]; //</a:t>
            </a:r>
            <a:r>
              <a:rPr lang="zh-CN" altLang="en-US" sz="1500" dirty="0" smtClean="0">
                <a:latin typeface="Times New Roman" panose="02020603050405020304" pitchFamily="18" charset="0"/>
                <a:ea typeface="华文楷体" panose="02010600040101010101" pitchFamily="2" charset="-122"/>
              </a:rPr>
              <a:t>全局变量，二</a:t>
            </a:r>
            <a:r>
              <a:rPr lang="zh-CN" altLang="en-US" sz="1500" dirty="0">
                <a:latin typeface="Times New Roman" panose="02020603050405020304" pitchFamily="18" charset="0"/>
                <a:ea typeface="华文楷体" panose="02010600040101010101" pitchFamily="2" charset="-122"/>
              </a:rPr>
              <a:t>维数组</a:t>
            </a:r>
            <a:r>
              <a:rPr lang="en-US" altLang="zh-CN" sz="1500" dirty="0" smtClean="0">
                <a:latin typeface="Times New Roman" panose="02020603050405020304" pitchFamily="18" charset="0"/>
                <a:ea typeface="华文楷体" panose="02010600040101010101" pitchFamily="2" charset="-122"/>
              </a:rPr>
              <a:t>A</a:t>
            </a:r>
            <a:r>
              <a:rPr lang="zh-CN" altLang="en-US" sz="1500" dirty="0" smtClean="0">
                <a:latin typeface="Times New Roman" panose="02020603050405020304" pitchFamily="18" charset="0"/>
                <a:ea typeface="华文楷体" panose="02010600040101010101" pitchFamily="2" charset="-122"/>
              </a:rPr>
              <a:t>计算</a:t>
            </a:r>
            <a:r>
              <a:rPr lang="en-US" altLang="zh-CN" sz="1500" dirty="0">
                <a:latin typeface="Times New Roman" panose="02020603050405020304" pitchFamily="18" charset="0"/>
                <a:ea typeface="华文楷体" panose="02010600040101010101" pitchFamily="2" charset="-122"/>
              </a:rPr>
              <a:t>A</a:t>
            </a:r>
            <a:r>
              <a:rPr lang="en-US" altLang="zh-CN" sz="1500" baseline="30000" dirty="0">
                <a:latin typeface="Times New Roman" panose="02020603050405020304" pitchFamily="18" charset="0"/>
                <a:ea typeface="华文楷体" panose="02010600040101010101" pitchFamily="2" charset="-122"/>
              </a:rPr>
              <a:t>(n)</a:t>
            </a:r>
            <a:r>
              <a:rPr lang="en-US" altLang="zh-CN" sz="1500" dirty="0">
                <a:latin typeface="Times New Roman" panose="02020603050405020304" pitchFamily="18" charset="0"/>
                <a:ea typeface="华文楷体" panose="02010600040101010101" pitchFamily="2" charset="-122"/>
              </a:rPr>
              <a:t>[</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a:t>
            </a:r>
            <a:r>
              <a:rPr lang="en-US" altLang="zh-CN" sz="1500" dirty="0" smtClean="0">
                <a:latin typeface="Times New Roman" panose="02020603050405020304" pitchFamily="18" charset="0"/>
                <a:ea typeface="华文楷体" panose="02010600040101010101" pitchFamily="2" charset="-122"/>
              </a:rPr>
              <a:t>]</a:t>
            </a:r>
            <a:endParaRPr lang="en-US" altLang="zh-CN" sz="1500" dirty="0">
              <a:latin typeface="Times New Roman" panose="02020603050405020304" pitchFamily="18" charset="0"/>
              <a:ea typeface="华文楷体" panose="02010600040101010101" pitchFamily="2" charset="-122"/>
            </a:endParaRPr>
          </a:p>
          <a:p>
            <a:r>
              <a:rPr lang="en-US" altLang="zh-CN" sz="1500" dirty="0" smtClean="0">
                <a:latin typeface="Times New Roman" panose="02020603050405020304" pitchFamily="18" charset="0"/>
                <a:ea typeface="华文楷体" panose="02010600040101010101" pitchFamily="2" charset="-122"/>
              </a:rPr>
              <a:t>#define NIL -1</a:t>
            </a:r>
            <a:endParaRPr lang="en-US" altLang="zh-CN" sz="1500" dirty="0" smtClean="0">
              <a:latin typeface="Times New Roman" panose="02020603050405020304" pitchFamily="18" charset="0"/>
              <a:ea typeface="Cambria Math" panose="02040503050406030204" pitchFamily="18" charset="0"/>
            </a:endParaRPr>
          </a:p>
          <a:p>
            <a:r>
              <a:rPr lang="en-US" altLang="zh-CN" sz="1500" dirty="0" smtClean="0">
                <a:latin typeface="Times New Roman" panose="02020603050405020304" pitchFamily="18" charset="0"/>
                <a:ea typeface="华文楷体" panose="02010600040101010101" pitchFamily="2" charset="-122"/>
              </a:rPr>
              <a:t>void </a:t>
            </a:r>
            <a:r>
              <a:rPr lang="en-US" altLang="zh-CN" sz="1500" dirty="0">
                <a:latin typeface="Times New Roman" panose="02020603050405020304" pitchFamily="18" charset="0"/>
                <a:ea typeface="华文楷体" panose="02010600040101010101" pitchFamily="2" charset="-122"/>
              </a:rPr>
              <a:t>Floyd(</a:t>
            </a:r>
            <a:r>
              <a:rPr lang="en-US" altLang="zh-CN" sz="1500" dirty="0" err="1">
                <a:latin typeface="Times New Roman" panose="02020603050405020304" pitchFamily="18" charset="0"/>
                <a:ea typeface="华文楷体" panose="02010600040101010101" pitchFamily="2" charset="-122"/>
              </a:rPr>
              <a:t>int</a:t>
            </a:r>
            <a:r>
              <a:rPr lang="en-US" altLang="zh-CN" sz="1500" dirty="0">
                <a:latin typeface="Times New Roman" panose="02020603050405020304" pitchFamily="18" charset="0"/>
                <a:ea typeface="华文楷体" panose="02010600040101010101" pitchFamily="2" charset="-122"/>
              </a:rPr>
              <a:t> cost[][MAXV</a:t>
            </a:r>
            <a:r>
              <a:rPr lang="en-US" altLang="zh-CN" sz="1500" dirty="0" smtClean="0">
                <a:latin typeface="Times New Roman" panose="02020603050405020304" pitchFamily="18" charset="0"/>
                <a:ea typeface="华文楷体" panose="02010600040101010101" pitchFamily="2" charset="-122"/>
              </a:rPr>
              <a:t>], </a:t>
            </a:r>
            <a:r>
              <a:rPr lang="en-US" altLang="zh-CN" sz="1500" dirty="0" err="1">
                <a:latin typeface="Times New Roman" panose="02020603050405020304" pitchFamily="18" charset="0"/>
                <a:ea typeface="华文楷体" panose="02010600040101010101" pitchFamily="2" charset="-122"/>
              </a:rPr>
              <a:t>int</a:t>
            </a:r>
            <a:r>
              <a:rPr lang="en-US" altLang="zh-CN" sz="1500" dirty="0">
                <a:latin typeface="Times New Roman" panose="02020603050405020304" pitchFamily="18" charset="0"/>
                <a:ea typeface="华文楷体" panose="02010600040101010101" pitchFamily="2" charset="-122"/>
              </a:rPr>
              <a:t> n)</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err="1">
                <a:latin typeface="Times New Roman" panose="02020603050405020304" pitchFamily="18" charset="0"/>
                <a:ea typeface="华文楷体" panose="02010600040101010101" pitchFamily="2" charset="-122"/>
              </a:rPr>
              <a:t>int</a:t>
            </a:r>
            <a:r>
              <a:rPr lang="en-US" altLang="zh-CN" sz="1500" dirty="0">
                <a:latin typeface="Times New Roman" panose="02020603050405020304" pitchFamily="18" charset="0"/>
                <a:ea typeface="华文楷体" panose="02010600040101010101" pitchFamily="2" charset="-122"/>
              </a:rPr>
              <a:t> </a:t>
            </a:r>
            <a:r>
              <a:rPr lang="en-US" altLang="zh-CN" sz="1500" dirty="0" err="1">
                <a:latin typeface="Times New Roman" panose="02020603050405020304" pitchFamily="18" charset="0"/>
                <a:ea typeface="华文楷体" panose="02010600040101010101" pitchFamily="2" charset="-122"/>
              </a:rPr>
              <a:t>i,j,k</a:t>
            </a:r>
            <a:r>
              <a:rPr lang="en-US" altLang="zh-CN" sz="1500" dirty="0">
                <a:latin typeface="Times New Roman" panose="02020603050405020304" pitchFamily="18" charset="0"/>
                <a:ea typeface="华文楷体" panose="02010600040101010101" pitchFamily="2" charset="-122"/>
              </a:rPr>
              <a:t>;</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for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=1;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&lt;=n;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for (j=1; j&lt;=n; </a:t>
            </a:r>
            <a:r>
              <a:rPr lang="en-US" altLang="zh-CN" sz="1500" dirty="0" err="1">
                <a:latin typeface="Times New Roman" panose="02020603050405020304" pitchFamily="18" charset="0"/>
                <a:ea typeface="华文楷体" panose="02010600040101010101" pitchFamily="2" charset="-122"/>
              </a:rPr>
              <a:t>j</a:t>
            </a:r>
            <a:r>
              <a:rPr lang="en-US" altLang="zh-CN" sz="1500" dirty="0" err="1" smtClean="0">
                <a:latin typeface="Times New Roman" panose="02020603050405020304" pitchFamily="18" charset="0"/>
                <a:ea typeface="华文楷体" panose="02010600040101010101" pitchFamily="2" charset="-122"/>
              </a:rPr>
              <a:t>++</a:t>
            </a:r>
            <a:r>
              <a:rPr lang="en-US" altLang="zh-CN" sz="1500" dirty="0" smtClean="0">
                <a:latin typeface="Times New Roman" panose="02020603050405020304" pitchFamily="18" charset="0"/>
                <a:ea typeface="华文楷体" panose="02010600040101010101" pitchFamily="2" charset="-122"/>
              </a:rPr>
              <a:t>) </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smtClean="0">
                <a:latin typeface="Times New Roman" panose="02020603050405020304" pitchFamily="18" charset="0"/>
                <a:ea typeface="华文楷体" panose="02010600040101010101" pitchFamily="2" charset="-122"/>
              </a:rPr>
              <a:t>            </a:t>
            </a:r>
            <a:r>
              <a:rPr lang="en-US" altLang="zh-CN" sz="1500" dirty="0">
                <a:latin typeface="Times New Roman" panose="02020603050405020304" pitchFamily="18" charset="0"/>
                <a:ea typeface="华文楷体" panose="02010600040101010101" pitchFamily="2" charset="-122"/>
              </a:rPr>
              <a:t>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 = cost[</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a:t>
            </a:r>
            <a:r>
              <a:rPr lang="en-US" altLang="zh-CN" sz="1500" dirty="0" smtClean="0">
                <a:latin typeface="Times New Roman" panose="02020603050405020304" pitchFamily="18" charset="0"/>
                <a:ea typeface="华文楷体" panose="02010600040101010101" pitchFamily="2" charset="-122"/>
              </a:rPr>
              <a:t>];</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if(</a:t>
            </a:r>
            <a:r>
              <a:rPr lang="en-US" altLang="zh-CN" sz="1500" dirty="0">
                <a:latin typeface="Times New Roman" panose="02020603050405020304" pitchFamily="18" charset="0"/>
                <a:ea typeface="华文楷体" panose="02010600040101010101" pitchFamily="2" charset="-122"/>
              </a:rPr>
              <a:t>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a:t>
            </a:r>
            <a:r>
              <a:rPr lang="en-US" altLang="zh-CN" sz="1500" dirty="0" smtClean="0">
                <a:latin typeface="Times New Roman" panose="02020603050405020304" pitchFamily="18" charset="0"/>
                <a:ea typeface="华文楷体" panose="02010600040101010101" pitchFamily="2" charset="-122"/>
              </a:rPr>
              <a:t>]&lt;INF &amp;&amp; </a:t>
            </a:r>
            <a:r>
              <a:rPr lang="en-US" altLang="zh-CN" sz="1500" dirty="0" err="1" smtClean="0">
                <a:latin typeface="Times New Roman" panose="02020603050405020304" pitchFamily="18" charset="0"/>
                <a:ea typeface="华文楷体" panose="02010600040101010101" pitchFamily="2" charset="-122"/>
              </a:rPr>
              <a:t>i</a:t>
            </a:r>
            <a:r>
              <a:rPr lang="en-US" altLang="zh-CN" sz="1500" dirty="0" smtClean="0">
                <a:latin typeface="Times New Roman" panose="02020603050405020304" pitchFamily="18" charset="0"/>
                <a:ea typeface="华文楷体" panose="02010600040101010101" pitchFamily="2" charset="-122"/>
              </a:rPr>
              <a:t>!=j)    P[</a:t>
            </a:r>
            <a:r>
              <a:rPr lang="en-US" altLang="zh-CN" sz="1500" dirty="0" err="1" smtClean="0">
                <a:latin typeface="Times New Roman" panose="02020603050405020304" pitchFamily="18" charset="0"/>
                <a:ea typeface="华文楷体" panose="02010600040101010101" pitchFamily="2" charset="-122"/>
              </a:rPr>
              <a:t>i</a:t>
            </a:r>
            <a:r>
              <a:rPr lang="en-US" altLang="zh-CN" sz="1500" dirty="0" smtClean="0">
                <a:latin typeface="Times New Roman" panose="02020603050405020304" pitchFamily="18" charset="0"/>
                <a:ea typeface="华文楷体" panose="02010600040101010101" pitchFamily="2" charset="-122"/>
              </a:rPr>
              <a:t>][j] = </a:t>
            </a:r>
            <a:r>
              <a:rPr lang="en-US" altLang="zh-CN" sz="1500" dirty="0" err="1" smtClean="0">
                <a:latin typeface="Times New Roman" panose="02020603050405020304" pitchFamily="18" charset="0"/>
                <a:ea typeface="华文楷体" panose="02010600040101010101" pitchFamily="2" charset="-122"/>
              </a:rPr>
              <a:t>i</a:t>
            </a:r>
            <a:r>
              <a:rPr lang="en-US" altLang="zh-CN" sz="1500" dirty="0" smtClean="0">
                <a:latin typeface="Times New Roman" panose="02020603050405020304" pitchFamily="18" charset="0"/>
                <a:ea typeface="华文楷体" panose="02010600040101010101" pitchFamily="2" charset="-122"/>
              </a:rPr>
              <a:t>;</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else P[</a:t>
            </a:r>
            <a:r>
              <a:rPr lang="en-US" altLang="zh-CN" sz="1500" dirty="0" err="1" smtClean="0">
                <a:latin typeface="Times New Roman" panose="02020603050405020304" pitchFamily="18" charset="0"/>
                <a:ea typeface="华文楷体" panose="02010600040101010101" pitchFamily="2" charset="-122"/>
              </a:rPr>
              <a:t>i</a:t>
            </a:r>
            <a:r>
              <a:rPr lang="en-US" altLang="zh-CN" sz="1500" dirty="0" smtClean="0">
                <a:latin typeface="Times New Roman" panose="02020603050405020304" pitchFamily="18" charset="0"/>
                <a:ea typeface="华文楷体" panose="02010600040101010101" pitchFamily="2" charset="-122"/>
              </a:rPr>
              <a:t>][j] = NIL; //</a:t>
            </a:r>
            <a:r>
              <a:rPr lang="zh-CN" altLang="en-US" sz="1500" dirty="0" smtClean="0">
                <a:latin typeface="Times New Roman" panose="02020603050405020304" pitchFamily="18" charset="0"/>
                <a:ea typeface="华文楷体" panose="02010600040101010101" pitchFamily="2" charset="-122"/>
              </a:rPr>
              <a:t>无前驱，置空</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for (k=1; k&lt;=n; k++)</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for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=1;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&lt;=n; </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for (j=1; j&lt;=n; </a:t>
            </a:r>
            <a:r>
              <a:rPr lang="en-US" altLang="zh-CN" sz="1500" dirty="0" err="1">
                <a:latin typeface="Times New Roman" panose="02020603050405020304" pitchFamily="18" charset="0"/>
                <a:ea typeface="华文楷体" panose="02010600040101010101" pitchFamily="2" charset="-122"/>
              </a:rPr>
              <a:t>j</a:t>
            </a:r>
            <a:r>
              <a:rPr lang="en-US" altLang="zh-CN" sz="1500" dirty="0" err="1" smtClean="0">
                <a:latin typeface="Times New Roman" panose="02020603050405020304" pitchFamily="18" charset="0"/>
                <a:ea typeface="华文楷体" panose="02010600040101010101" pitchFamily="2" charset="-122"/>
              </a:rPr>
              <a:t>++</a:t>
            </a:r>
            <a:r>
              <a:rPr lang="en-US" altLang="zh-CN" sz="1500" dirty="0" smtClean="0">
                <a:latin typeface="Times New Roman" panose="02020603050405020304" pitchFamily="18" charset="0"/>
                <a:ea typeface="华文楷体" panose="02010600040101010101" pitchFamily="2" charset="-122"/>
              </a:rPr>
              <a:t>)</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if (A[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][k]+ A[k][j])&lt; 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 </a:t>
            </a:r>
            <a:r>
              <a:rPr lang="en-US" altLang="zh-CN" sz="1500" dirty="0" smtClean="0">
                <a:latin typeface="Times New Roman" panose="02020603050405020304" pitchFamily="18" charset="0"/>
                <a:ea typeface="华文楷体" panose="02010600040101010101" pitchFamily="2" charset="-122"/>
              </a:rPr>
              <a:t>)</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P[</a:t>
            </a:r>
            <a:r>
              <a:rPr lang="en-US" altLang="zh-CN" sz="1500" dirty="0" err="1" smtClean="0">
                <a:latin typeface="Times New Roman" panose="02020603050405020304" pitchFamily="18" charset="0"/>
                <a:ea typeface="华文楷体" panose="02010600040101010101" pitchFamily="2" charset="-122"/>
              </a:rPr>
              <a:t>i</a:t>
            </a:r>
            <a:r>
              <a:rPr lang="en-US" altLang="zh-CN" sz="1500" dirty="0" smtClean="0">
                <a:latin typeface="Times New Roman" panose="02020603050405020304" pitchFamily="18" charset="0"/>
                <a:ea typeface="华文楷体" panose="02010600040101010101" pitchFamily="2" charset="-122"/>
              </a:rPr>
              <a:t>][</a:t>
            </a:r>
            <a:r>
              <a:rPr lang="en-US" altLang="zh-CN" sz="1500" dirty="0">
                <a:latin typeface="Times New Roman" panose="02020603050405020304" pitchFamily="18" charset="0"/>
                <a:ea typeface="华文楷体" panose="02010600040101010101" pitchFamily="2" charset="-122"/>
              </a:rPr>
              <a:t>j</a:t>
            </a:r>
            <a:r>
              <a:rPr lang="en-US" altLang="zh-CN" sz="1500" dirty="0" smtClean="0">
                <a:latin typeface="Times New Roman" panose="02020603050405020304" pitchFamily="18" charset="0"/>
                <a:ea typeface="华文楷体" panose="02010600040101010101" pitchFamily="2" charset="-122"/>
              </a:rPr>
              <a:t>] = P[k][j];</a:t>
            </a:r>
            <a:endParaRPr lang="en-US" altLang="zh-CN" sz="1500" dirty="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][j] = A[</a:t>
            </a:r>
            <a:r>
              <a:rPr lang="en-US" altLang="zh-CN" sz="1500" dirty="0" err="1">
                <a:latin typeface="Times New Roman" panose="02020603050405020304" pitchFamily="18" charset="0"/>
                <a:ea typeface="华文楷体" panose="02010600040101010101" pitchFamily="2" charset="-122"/>
              </a:rPr>
              <a:t>i</a:t>
            </a:r>
            <a:r>
              <a:rPr lang="en-US" altLang="zh-CN" sz="1500" dirty="0">
                <a:latin typeface="Times New Roman" panose="02020603050405020304" pitchFamily="18" charset="0"/>
                <a:ea typeface="华文楷体" panose="02010600040101010101" pitchFamily="2" charset="-122"/>
              </a:rPr>
              <a:t>][k]+ A[k][j</a:t>
            </a:r>
            <a:r>
              <a:rPr lang="en-US" altLang="zh-CN" sz="1500" dirty="0" smtClean="0">
                <a:latin typeface="Times New Roman" panose="02020603050405020304" pitchFamily="18" charset="0"/>
                <a:ea typeface="华文楷体" panose="02010600040101010101" pitchFamily="2" charset="-122"/>
              </a:rPr>
              <a:t>];</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a:t>
            </a:r>
            <a:endParaRPr lang="en-US" altLang="zh-CN" sz="1500" dirty="0" smtClean="0">
              <a:latin typeface="Times New Roman" panose="02020603050405020304" pitchFamily="18" charset="0"/>
              <a:ea typeface="华文楷体" panose="02010600040101010101" pitchFamily="2" charset="-122"/>
            </a:endParaRPr>
          </a:p>
          <a:p>
            <a:r>
              <a:rPr lang="en-US" altLang="zh-CN" sz="1500" dirty="0">
                <a:latin typeface="Times New Roman" panose="02020603050405020304" pitchFamily="18" charset="0"/>
                <a:ea typeface="华文楷体" panose="02010600040101010101" pitchFamily="2" charset="-122"/>
              </a:rPr>
              <a:t> </a:t>
            </a:r>
            <a:r>
              <a:rPr lang="en-US" altLang="zh-CN" sz="1500" dirty="0" smtClean="0">
                <a:latin typeface="Times New Roman" panose="02020603050405020304" pitchFamily="18" charset="0"/>
                <a:ea typeface="华文楷体" panose="02010600040101010101" pitchFamily="2" charset="-122"/>
              </a:rPr>
              <a:t>           }    </a:t>
            </a:r>
            <a:endParaRPr lang="en-US" altLang="zh-CN" sz="1500" dirty="0">
              <a:latin typeface="Times New Roman" panose="02020603050405020304" pitchFamily="18" charset="0"/>
              <a:ea typeface="华文楷体" panose="02010600040101010101" pitchFamily="2" charset="-122"/>
            </a:endParaRPr>
          </a:p>
          <a:p>
            <a:r>
              <a:rPr lang="en-US" altLang="zh-CN" sz="1500" dirty="0" smtClean="0">
                <a:latin typeface="Times New Roman" panose="02020603050405020304" pitchFamily="18" charset="0"/>
                <a:ea typeface="华文楷体" panose="02010600040101010101" pitchFamily="2" charset="-122"/>
              </a:rPr>
              <a:t>}</a:t>
            </a:r>
            <a:endParaRPr lang="zh-CN" altLang="en-US" sz="15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1605" y="1075107"/>
            <a:ext cx="8229600" cy="5248275"/>
          </a:xfrm>
        </p:spPr>
        <p:txBody>
          <a:bodyPr/>
          <a:lstStyle/>
          <a:p>
            <a:pPr marL="0" indent="0">
              <a:buNone/>
            </a:pPr>
            <a:r>
              <a:rPr lang="en-US" altLang="zh-CN" sz="2000" dirty="0" smtClean="0">
                <a:solidFill>
                  <a:srgbClr val="C00000"/>
                </a:solidFill>
              </a:rPr>
              <a:t>[</a:t>
            </a:r>
            <a:r>
              <a:rPr lang="zh-CN" altLang="en-US" sz="2000" dirty="0" smtClean="0">
                <a:solidFill>
                  <a:srgbClr val="C00000"/>
                </a:solidFill>
                <a:ea typeface="华文楷体" panose="02010600040101010101" pitchFamily="2" charset="-122"/>
              </a:rPr>
              <a:t>算法实例</a:t>
            </a:r>
            <a:r>
              <a:rPr lang="en-US" altLang="zh-CN" sz="2000" dirty="0" smtClean="0">
                <a:solidFill>
                  <a:srgbClr val="C00000"/>
                </a:solidFill>
              </a:rPr>
              <a:t>]</a:t>
            </a:r>
            <a:endParaRPr lang="en-US" altLang="zh-CN" sz="2000" dirty="0">
              <a:solidFill>
                <a:srgbClr val="C00000"/>
              </a:solidFill>
            </a:endParaRPr>
          </a:p>
          <a:p>
            <a:pPr marL="0" indent="0">
              <a:buNone/>
            </a:pPr>
            <a:endParaRPr lang="zh-CN" altLang="en-US"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dirty="0" smtClean="0"/>
              <a:t>BUPT</a:t>
            </a:r>
            <a:endParaRPr lang="en-US" altLang="zh-CN" dirty="0"/>
          </a:p>
        </p:txBody>
      </p:sp>
      <p:pic>
        <p:nvPicPr>
          <p:cNvPr id="6" name="图片 5"/>
          <p:cNvPicPr>
            <a:picLocks noChangeAspect="1"/>
          </p:cNvPicPr>
          <p:nvPr/>
        </p:nvPicPr>
        <p:blipFill>
          <a:blip r:embed="rId1"/>
          <a:stretch>
            <a:fillRect/>
          </a:stretch>
        </p:blipFill>
        <p:spPr>
          <a:xfrm>
            <a:off x="761999" y="1189037"/>
            <a:ext cx="2710577" cy="2087563"/>
          </a:xfrm>
          <a:prstGeom prst="rect">
            <a:avLst/>
          </a:prstGeom>
        </p:spPr>
      </p:pic>
      <p:pic>
        <p:nvPicPr>
          <p:cNvPr id="8" name="图片 7"/>
          <p:cNvPicPr>
            <a:picLocks noChangeAspect="1"/>
          </p:cNvPicPr>
          <p:nvPr/>
        </p:nvPicPr>
        <p:blipFill>
          <a:blip r:embed="rId2"/>
          <a:stretch>
            <a:fillRect/>
          </a:stretch>
        </p:blipFill>
        <p:spPr>
          <a:xfrm>
            <a:off x="4620595" y="1181505"/>
            <a:ext cx="4526364" cy="1265010"/>
          </a:xfrm>
          <a:prstGeom prst="rect">
            <a:avLst/>
          </a:prstGeom>
        </p:spPr>
      </p:pic>
      <p:pic>
        <p:nvPicPr>
          <p:cNvPr id="9" name="图片 8"/>
          <p:cNvPicPr>
            <a:picLocks noChangeAspect="1"/>
          </p:cNvPicPr>
          <p:nvPr/>
        </p:nvPicPr>
        <p:blipFill>
          <a:blip r:embed="rId3"/>
          <a:stretch>
            <a:fillRect/>
          </a:stretch>
        </p:blipFill>
        <p:spPr>
          <a:xfrm>
            <a:off x="4625575" y="2554060"/>
            <a:ext cx="4521384" cy="1255940"/>
          </a:xfrm>
          <a:prstGeom prst="rect">
            <a:avLst/>
          </a:prstGeom>
        </p:spPr>
      </p:pic>
      <p:pic>
        <p:nvPicPr>
          <p:cNvPr id="10" name="图片 9"/>
          <p:cNvPicPr>
            <a:picLocks noChangeAspect="1"/>
          </p:cNvPicPr>
          <p:nvPr/>
        </p:nvPicPr>
        <p:blipFill>
          <a:blip r:embed="rId4"/>
          <a:stretch>
            <a:fillRect/>
          </a:stretch>
        </p:blipFill>
        <p:spPr>
          <a:xfrm>
            <a:off x="-27605" y="3897229"/>
            <a:ext cx="4648200" cy="1284371"/>
          </a:xfrm>
          <a:prstGeom prst="rect">
            <a:avLst/>
          </a:prstGeom>
        </p:spPr>
      </p:pic>
      <p:pic>
        <p:nvPicPr>
          <p:cNvPr id="11" name="图片 10"/>
          <p:cNvPicPr>
            <a:picLocks noChangeAspect="1"/>
          </p:cNvPicPr>
          <p:nvPr/>
        </p:nvPicPr>
        <p:blipFill>
          <a:blip r:embed="rId5"/>
          <a:stretch>
            <a:fillRect/>
          </a:stretch>
        </p:blipFill>
        <p:spPr>
          <a:xfrm>
            <a:off x="4649058" y="3897228"/>
            <a:ext cx="4494232" cy="1241827"/>
          </a:xfrm>
          <a:prstGeom prst="rect">
            <a:avLst/>
          </a:prstGeom>
        </p:spPr>
      </p:pic>
      <p:pic>
        <p:nvPicPr>
          <p:cNvPr id="14" name="图片 13"/>
          <p:cNvPicPr>
            <a:picLocks noChangeAspect="1"/>
          </p:cNvPicPr>
          <p:nvPr/>
        </p:nvPicPr>
        <p:blipFill>
          <a:blip r:embed="rId6"/>
          <a:stretch>
            <a:fillRect/>
          </a:stretch>
        </p:blipFill>
        <p:spPr>
          <a:xfrm>
            <a:off x="-27605" y="5283898"/>
            <a:ext cx="4633635" cy="1255085"/>
          </a:xfrm>
          <a:prstGeom prst="rect">
            <a:avLst/>
          </a:prstGeom>
        </p:spPr>
      </p:pic>
      <p:pic>
        <p:nvPicPr>
          <p:cNvPr id="15" name="图片 14"/>
          <p:cNvPicPr>
            <a:picLocks noChangeAspect="1"/>
          </p:cNvPicPr>
          <p:nvPr/>
        </p:nvPicPr>
        <p:blipFill>
          <a:blip r:embed="rId7"/>
          <a:stretch>
            <a:fillRect/>
          </a:stretch>
        </p:blipFill>
        <p:spPr>
          <a:xfrm>
            <a:off x="4649798" y="5264797"/>
            <a:ext cx="4493492" cy="1217125"/>
          </a:xfrm>
          <a:prstGeom prst="rect">
            <a:avLst/>
          </a:prstGeom>
        </p:spPr>
      </p:pic>
      <p:cxnSp>
        <p:nvCxnSpPr>
          <p:cNvPr id="17" name="直接连接符 16"/>
          <p:cNvCxnSpPr/>
          <p:nvPr/>
        </p:nvCxnSpPr>
        <p:spPr>
          <a:xfrm>
            <a:off x="4648200" y="1075107"/>
            <a:ext cx="0" cy="578289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直接连接符 18"/>
          <p:cNvCxnSpPr/>
          <p:nvPr/>
        </p:nvCxnSpPr>
        <p:spPr>
          <a:xfrm>
            <a:off x="4620595" y="2438400"/>
            <a:ext cx="4522695"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直接连接符 19"/>
          <p:cNvCxnSpPr/>
          <p:nvPr/>
        </p:nvCxnSpPr>
        <p:spPr>
          <a:xfrm flipV="1">
            <a:off x="-11605" y="3748017"/>
            <a:ext cx="9140330" cy="6198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接连接符 23"/>
          <p:cNvCxnSpPr/>
          <p:nvPr/>
        </p:nvCxnSpPr>
        <p:spPr>
          <a:xfrm flipV="1">
            <a:off x="3670" y="5181600"/>
            <a:ext cx="9140330" cy="6198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03428" name="Rectangle 2"/>
          <p:cNvSpPr>
            <a:spLocks noGrp="1" noChangeArrowheads="1"/>
          </p:cNvSpPr>
          <p:nvPr>
            <p:ph type="title"/>
          </p:nvPr>
        </p:nvSpPr>
        <p:spPr/>
        <p:txBody>
          <a:bodyPr/>
          <a:lstStyle/>
          <a:p>
            <a:pPr eaLnBrk="1" hangingPunct="1"/>
            <a:r>
              <a:rPr lang="zh-CN" altLang="en-US" dirty="0" smtClean="0">
                <a:ea typeface="华文楷体" panose="02010600040101010101" pitchFamily="2" charset="-122"/>
              </a:rPr>
              <a:t>作业</a:t>
            </a:r>
            <a:endParaRPr lang="zh-CN" altLang="zh-CN" dirty="0" smtClean="0">
              <a:ea typeface="华文楷体" panose="02010600040101010101" pitchFamily="2" charset="-122"/>
            </a:endParaRPr>
          </a:p>
        </p:txBody>
      </p:sp>
      <p:sp>
        <p:nvSpPr>
          <p:cNvPr id="10342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试证明：对于一个无向图</a:t>
            </a:r>
            <a:r>
              <a:rPr lang="en-US" altLang="zh-CN" sz="2400" dirty="0" smtClean="0">
                <a:ea typeface="华文楷体" panose="02010600040101010101" pitchFamily="2" charset="-122"/>
              </a:rPr>
              <a:t>G = (V, E)</a:t>
            </a:r>
            <a:r>
              <a:rPr lang="zh-CN" altLang="en-US" sz="2400" dirty="0" smtClean="0">
                <a:ea typeface="华文楷体" panose="02010600040101010101" pitchFamily="2" charset="-122"/>
              </a:rPr>
              <a:t>，若</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中各顶点的度均大于或等于</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G</a:t>
            </a:r>
            <a:r>
              <a:rPr lang="zh-CN" altLang="en-US" sz="2400" dirty="0" smtClean="0">
                <a:ea typeface="华文楷体" panose="02010600040101010101" pitchFamily="2" charset="-122"/>
              </a:rPr>
              <a:t>中必有回路</a:t>
            </a:r>
            <a:r>
              <a:rPr lang="zh-CN" altLang="en-US" dirty="0" smtClean="0">
                <a:ea typeface="华文楷体" panose="02010600040101010101" pitchFamily="2" charset="-122"/>
              </a:rPr>
              <a:t>。 </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已知某图的邻接表如下图所示</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）写出此邻接表对应的邻接矩阵；</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）写出由</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开始的深度优先遍历的序列；</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）写出由</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开始的深度优先的生成树；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）写出由</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开始的广度优先遍历的序列；</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5</a:t>
            </a:r>
            <a:r>
              <a:rPr lang="zh-CN" altLang="en-US" sz="2400" dirty="0" smtClean="0">
                <a:ea typeface="华文楷体" panose="02010600040101010101" pitchFamily="2" charset="-122"/>
              </a:rPr>
              <a:t>）写出由</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开始的广度优先的生成树；</a:t>
            </a:r>
            <a:endParaRPr lang="zh-CN" altLang="en-US" sz="2400" dirty="0" smtClean="0">
              <a:ea typeface="华文楷体" panose="02010600040101010101" pitchFamily="2" charset="-122"/>
            </a:endParaRPr>
          </a:p>
          <a:p>
            <a:pPr eaLnBrk="1" hangingPunct="1">
              <a:lnSpc>
                <a:spcPct val="90000"/>
              </a:lnSpc>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6</a:t>
            </a:r>
            <a:r>
              <a:rPr lang="zh-CN" altLang="en-US" sz="2400" dirty="0" smtClean="0">
                <a:ea typeface="华文楷体" panose="02010600040101010101" pitchFamily="2" charset="-122"/>
              </a:rPr>
              <a:t>）写出将无向图的邻接矩阵转换成邻接表的算法。</a:t>
            </a:r>
            <a:endParaRPr lang="en-US" altLang="zh-CN" sz="2400" dirty="0" smtClean="0">
              <a:ea typeface="华文楷体" panose="02010600040101010101" pitchFamily="2" charset="-122"/>
            </a:endParaRPr>
          </a:p>
          <a:p>
            <a:pPr eaLnBrk="1" hangingPunct="1">
              <a:lnSpc>
                <a:spcPct val="90000"/>
              </a:lnSpc>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void convert(</a:t>
            </a:r>
            <a:r>
              <a:rPr lang="en-US" altLang="zh-CN" sz="2400" dirty="0" err="1" smtClean="0">
                <a:ea typeface="华文楷体" panose="02010600040101010101" pitchFamily="2" charset="-122"/>
              </a:rPr>
              <a:t>Mgraph</a:t>
            </a:r>
            <a:r>
              <a:rPr lang="en-US" altLang="zh-CN" sz="2400" dirty="0" smtClean="0">
                <a:ea typeface="华文楷体" panose="02010600040101010101" pitchFamily="2" charset="-122"/>
              </a:rPr>
              <a:t> g, </a:t>
            </a:r>
            <a:r>
              <a:rPr lang="en-US" altLang="zh-CN" sz="2400" dirty="0" err="1" smtClean="0">
                <a:ea typeface="华文楷体" panose="02010600040101010101" pitchFamily="2" charset="-122"/>
              </a:rPr>
              <a:t>Agraph</a:t>
            </a:r>
            <a:r>
              <a:rPr lang="en-US" altLang="zh-CN" sz="2400" dirty="0" smtClean="0">
                <a:ea typeface="华文楷体" panose="02010600040101010101" pitchFamily="2" charset="-122"/>
              </a:rPr>
              <a:t> &amp;</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G)</a:t>
            </a:r>
            <a:r>
              <a:rPr lang="en-US" altLang="zh-CN" sz="2400" dirty="0">
                <a:ea typeface="华文楷体" panose="02010600040101010101" pitchFamily="2" charset="-122"/>
              </a:rPr>
              <a:t>.</a:t>
            </a:r>
            <a:endParaRPr lang="zh-CN" altLang="en-US" sz="2400" dirty="0" smtClean="0">
              <a:ea typeface="华文楷体" panose="02010600040101010101" pitchFamily="2" charset="-122"/>
            </a:endParaRPr>
          </a:p>
        </p:txBody>
      </p:sp>
      <p:pic>
        <p:nvPicPr>
          <p:cNvPr id="103430"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34000" y="4829175"/>
            <a:ext cx="34290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044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445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3. </a:t>
            </a:r>
            <a:r>
              <a:rPr lang="zh-CN" altLang="en-US" sz="2400" dirty="0" smtClean="0">
                <a:ea typeface="华文楷体" panose="02010600040101010101" pitchFamily="2" charset="-122"/>
              </a:rPr>
              <a:t>已知一图如下图所示：</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）．写出全部拓扑排序；</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）．以</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为源点</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以</a:t>
            </a:r>
            <a:r>
              <a:rPr lang="en-US" altLang="zh-CN" sz="2400" dirty="0" smtClean="0">
                <a:ea typeface="华文楷体" panose="02010600040101010101" pitchFamily="2" charset="-122"/>
              </a:rPr>
              <a:t>v8</a:t>
            </a:r>
            <a:r>
              <a:rPr lang="zh-CN" altLang="en-US" sz="2400" dirty="0" smtClean="0">
                <a:ea typeface="华文楷体" panose="02010600040101010101" pitchFamily="2" charset="-122"/>
              </a:rPr>
              <a:t>为汇点，给出所有事件允许发生的最早时间和最晚时间，并给出关键路径；</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）．利用</a:t>
            </a:r>
            <a:r>
              <a:rPr kumimoji="1" lang="en-US" altLang="zh-CN" sz="2400" dirty="0" err="1" smtClean="0">
                <a:ea typeface="华文楷体" panose="02010600040101010101" pitchFamily="2" charset="-122"/>
              </a:rPr>
              <a:t>Dijkstra</a:t>
            </a:r>
            <a:r>
              <a:rPr kumimoji="1" lang="zh-CN" altLang="en-US" sz="2400" dirty="0" smtClean="0">
                <a:ea typeface="华文楷体" panose="02010600040101010101" pitchFamily="2" charset="-122"/>
              </a:rPr>
              <a:t>算法</a:t>
            </a:r>
            <a:r>
              <a:rPr lang="zh-CN" altLang="en-US" sz="2400" dirty="0" smtClean="0">
                <a:ea typeface="华文楷体" panose="02010600040101010101" pitchFamily="2" charset="-122"/>
              </a:rPr>
              <a:t>求</a:t>
            </a:r>
            <a:r>
              <a:rPr lang="en-US" altLang="zh-CN" sz="2400" dirty="0" smtClean="0">
                <a:ea typeface="华文楷体" panose="02010600040101010101" pitchFamily="2" charset="-122"/>
              </a:rPr>
              <a:t>V1</a:t>
            </a:r>
            <a:r>
              <a:rPr lang="zh-CN" altLang="en-US" sz="2400" dirty="0" smtClean="0">
                <a:ea typeface="华文楷体" panose="02010600040101010101" pitchFamily="2" charset="-122"/>
              </a:rPr>
              <a:t>结点到各点的最短距离。</a:t>
            </a:r>
            <a:endParaRPr lang="zh-CN" altLang="en-US" sz="2400" dirty="0" smtClean="0">
              <a:ea typeface="华文楷体" panose="02010600040101010101" pitchFamily="2" charset="-122"/>
            </a:endParaRPr>
          </a:p>
        </p:txBody>
      </p:sp>
      <p:pic>
        <p:nvPicPr>
          <p:cNvPr id="10445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4059238"/>
            <a:ext cx="5181600"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054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547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4.</a:t>
            </a:r>
            <a:r>
              <a:rPr lang="zh-CN" altLang="en-US" dirty="0" smtClean="0">
                <a:ea typeface="华文楷体" panose="02010600040101010101" pitchFamily="2" charset="-122"/>
              </a:rPr>
              <a:t>有一图的邻接矩阵如下，试给出用</a:t>
            </a:r>
            <a:r>
              <a:rPr lang="en-US" altLang="zh-CN" dirty="0" smtClean="0">
                <a:ea typeface="华文楷体" panose="02010600040101010101" pitchFamily="2" charset="-122"/>
              </a:rPr>
              <a:t>Floyd</a:t>
            </a:r>
            <a:r>
              <a:rPr lang="zh-CN" altLang="en-US" dirty="0" smtClean="0">
                <a:ea typeface="华文楷体" panose="02010600040101010101" pitchFamily="2" charset="-122"/>
              </a:rPr>
              <a:t>算法求各点间最短距离的矩阵序列</a:t>
            </a:r>
            <a:r>
              <a:rPr lang="en-US" altLang="zh-CN" dirty="0" smtClean="0">
                <a:ea typeface="华文楷体" panose="02010600040101010101" pitchFamily="2" charset="-122"/>
              </a:rPr>
              <a:t>A</a:t>
            </a:r>
            <a:r>
              <a:rPr lang="en-US" altLang="zh-CN" baseline="30000" dirty="0" smtClean="0">
                <a:ea typeface="华文楷体" panose="02010600040101010101" pitchFamily="2" charset="-122"/>
              </a:rPr>
              <a:t>1</a:t>
            </a:r>
            <a:r>
              <a:rPr lang="zh-CN" altLang="en-US" dirty="0" smtClean="0">
                <a:ea typeface="华文楷体" panose="02010600040101010101" pitchFamily="2" charset="-122"/>
              </a:rPr>
              <a:t>，</a:t>
            </a:r>
            <a:r>
              <a:rPr lang="en-US" altLang="zh-CN" dirty="0" smtClean="0">
                <a:ea typeface="华文楷体" panose="02010600040101010101" pitchFamily="2" charset="-122"/>
              </a:rPr>
              <a:t>A</a:t>
            </a:r>
            <a:r>
              <a:rPr lang="en-US" altLang="zh-CN" baseline="30000" dirty="0" smtClean="0">
                <a:ea typeface="华文楷体" panose="02010600040101010101" pitchFamily="2" charset="-122"/>
              </a:rPr>
              <a:t>2</a:t>
            </a:r>
            <a:r>
              <a:rPr lang="zh-CN" altLang="en-US" dirty="0" smtClean="0">
                <a:ea typeface="华文楷体" panose="02010600040101010101" pitchFamily="2" charset="-122"/>
              </a:rPr>
              <a:t>，</a:t>
            </a:r>
            <a:r>
              <a:rPr lang="en-US" altLang="zh-CN" dirty="0" smtClean="0">
                <a:ea typeface="华文楷体" panose="02010600040101010101" pitchFamily="2" charset="-122"/>
              </a:rPr>
              <a:t>A</a:t>
            </a:r>
            <a:r>
              <a:rPr lang="en-US" altLang="zh-CN" baseline="30000" dirty="0" smtClean="0">
                <a:ea typeface="华文楷体" panose="02010600040101010101" pitchFamily="2" charset="-122"/>
              </a:rPr>
              <a:t>3</a:t>
            </a:r>
            <a:r>
              <a:rPr lang="zh-CN" altLang="en-US" dirty="0" smtClean="0">
                <a:ea typeface="华文楷体" panose="02010600040101010101" pitchFamily="2" charset="-122"/>
              </a:rPr>
              <a:t>，</a:t>
            </a:r>
            <a:r>
              <a:rPr lang="en-US" altLang="zh-CN" dirty="0" smtClean="0">
                <a:ea typeface="华文楷体" panose="02010600040101010101" pitchFamily="2" charset="-122"/>
              </a:rPr>
              <a:t>A</a:t>
            </a:r>
            <a:r>
              <a:rPr lang="en-US" altLang="zh-CN" baseline="30000" dirty="0" smtClean="0">
                <a:ea typeface="华文楷体" panose="02010600040101010101" pitchFamily="2" charset="-122"/>
              </a:rPr>
              <a:t>4</a:t>
            </a:r>
            <a:r>
              <a:rPr lang="zh-CN" altLang="en-US" dirty="0" smtClean="0">
                <a:ea typeface="华文楷体" panose="02010600040101010101" pitchFamily="2" charset="-122"/>
              </a:rPr>
              <a:t>。</a:t>
            </a: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r>
              <a:rPr lang="en-US" altLang="zh-CN" dirty="0" smtClean="0">
                <a:ea typeface="华文楷体" panose="02010600040101010101" pitchFamily="2" charset="-122"/>
              </a:rPr>
              <a:t>A= </a:t>
            </a:r>
            <a:endParaRPr lang="en-US" altLang="zh-CN" dirty="0" smtClean="0">
              <a:ea typeface="华文楷体" panose="02010600040101010101" pitchFamily="2" charset="-122"/>
            </a:endParaRPr>
          </a:p>
        </p:txBody>
      </p:sp>
      <p:pic>
        <p:nvPicPr>
          <p:cNvPr id="105478"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71600" y="2743200"/>
            <a:ext cx="28956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1065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650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5.</a:t>
            </a:r>
            <a:r>
              <a:rPr lang="zh-CN" altLang="en-US" sz="2400" dirty="0" smtClean="0">
                <a:ea typeface="华文楷体" panose="02010600040101010101" pitchFamily="2" charset="-122"/>
              </a:rPr>
              <a:t>已知某图的邻接矩阵为</a:t>
            </a:r>
            <a:r>
              <a:rPr lang="en-US" altLang="zh-CN" sz="2400" dirty="0" smtClean="0">
                <a:ea typeface="华文楷体" panose="02010600040101010101" pitchFamily="2" charset="-122"/>
              </a:rPr>
              <a:t>A</a:t>
            </a:r>
            <a:r>
              <a:rPr lang="zh-CN" altLang="en-US" sz="2400" dirty="0" smtClean="0">
                <a:ea typeface="华文楷体" panose="02010600040101010101" pitchFamily="2" charset="-122"/>
              </a:rPr>
              <a:t>，即若从</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到</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有边，则</a:t>
            </a:r>
            <a:r>
              <a:rPr lang="en-US" altLang="zh-CN" sz="2400" dirty="0" smtClean="0">
                <a:ea typeface="华文楷体" panose="02010600040101010101" pitchFamily="2" charset="-122"/>
              </a:rPr>
              <a:t>A[</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j]=1</a:t>
            </a:r>
            <a:r>
              <a:rPr lang="zh-CN" altLang="en-US" sz="2400" dirty="0" smtClean="0">
                <a:ea typeface="华文楷体" panose="02010600040101010101" pitchFamily="2" charset="-122"/>
              </a:rPr>
              <a:t>，否则</a:t>
            </a:r>
            <a:r>
              <a:rPr lang="en-US" altLang="zh-CN" sz="2400" dirty="0" smtClean="0">
                <a:ea typeface="华文楷体" panose="02010600040101010101" pitchFamily="2" charset="-122"/>
              </a:rPr>
              <a:t>A[</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j]=0</a:t>
            </a:r>
            <a:r>
              <a:rPr lang="zh-CN" altLang="en-US" sz="2400" dirty="0" smtClean="0">
                <a:ea typeface="华文楷体" panose="02010600040101010101" pitchFamily="2" charset="-122"/>
              </a:rPr>
              <a:t>。试编写一算法求矩阵</a:t>
            </a:r>
            <a:r>
              <a:rPr lang="en-US" altLang="zh-CN" sz="2400" dirty="0" smtClean="0">
                <a:ea typeface="华文楷体" panose="02010600040101010101" pitchFamily="2" charset="-122"/>
              </a:rPr>
              <a:t>A</a:t>
            </a:r>
            <a:r>
              <a:rPr lang="zh-CN" altLang="en-US" sz="2400" dirty="0" smtClean="0">
                <a:ea typeface="华文楷体" panose="02010600040101010101" pitchFamily="2" charset="-122"/>
              </a:rPr>
              <a:t>的传递闭包</a:t>
            </a:r>
            <a:r>
              <a:rPr lang="en-US" altLang="zh-CN" sz="2400" dirty="0" smtClean="0">
                <a:ea typeface="华文楷体" panose="02010600040101010101" pitchFamily="2" charset="-122"/>
              </a:rPr>
              <a:t>C</a:t>
            </a:r>
            <a:r>
              <a:rPr lang="zh-CN" altLang="en-US" sz="2400" dirty="0" smtClean="0">
                <a:ea typeface="华文楷体" panose="02010600040101010101" pitchFamily="2" charset="-122"/>
              </a:rPr>
              <a:t>：使得若从</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到</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有一条或多条路径，则</a:t>
            </a:r>
            <a:r>
              <a:rPr lang="en-US" altLang="zh-CN" sz="2400" dirty="0" smtClean="0">
                <a:ea typeface="华文楷体" panose="02010600040101010101" pitchFamily="2" charset="-122"/>
              </a:rPr>
              <a:t>C[</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j]=1</a:t>
            </a:r>
            <a:r>
              <a:rPr lang="zh-CN" altLang="en-US" sz="2400" dirty="0" smtClean="0">
                <a:ea typeface="华文楷体" panose="02010600040101010101" pitchFamily="2" charset="-122"/>
              </a:rPr>
              <a:t>，否则</a:t>
            </a:r>
            <a:r>
              <a:rPr lang="en-US" altLang="zh-CN" sz="2400" dirty="0" smtClean="0">
                <a:ea typeface="华文楷体" panose="02010600040101010101" pitchFamily="2" charset="-122"/>
              </a:rPr>
              <a:t>C[</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j]=0</a:t>
            </a:r>
            <a:r>
              <a:rPr lang="zh-CN" altLang="en-US" sz="2400" dirty="0" smtClean="0">
                <a:ea typeface="华文楷体" panose="02010600040101010101" pitchFamily="2" charset="-122"/>
              </a:rPr>
              <a:t>。</a:t>
            </a: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err="1" smtClean="0">
                <a:ea typeface="华文楷体" panose="02010600040101010101" pitchFamily="2" charset="-122"/>
              </a:rPr>
              <a:t>typedef</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adjmatrix</a:t>
            </a:r>
            <a:r>
              <a:rPr lang="en-US" altLang="zh-CN" sz="2400" b="1" dirty="0" smtClean="0">
                <a:ea typeface="华文楷体" panose="02010600040101010101" pitchFamily="2" charset="-122"/>
              </a:rPr>
              <a:t> [ </a:t>
            </a:r>
            <a:r>
              <a:rPr lang="en-US" altLang="zh-CN" sz="2400" b="1" dirty="0" err="1" smtClean="0">
                <a:ea typeface="华文楷体" panose="02010600040101010101" pitchFamily="2" charset="-122"/>
              </a:rPr>
              <a:t>maxvtxnum</a:t>
            </a:r>
            <a:r>
              <a:rPr lang="en-US" altLang="zh-CN" sz="2400" b="1" dirty="0" smtClean="0">
                <a:ea typeface="华文楷体" panose="02010600040101010101" pitchFamily="2" charset="-122"/>
              </a:rPr>
              <a:t> ] [ </a:t>
            </a:r>
            <a:r>
              <a:rPr lang="en-US" altLang="zh-CN" sz="2400" b="1" dirty="0" err="1" smtClean="0">
                <a:ea typeface="华文楷体" panose="02010600040101010101" pitchFamily="2" charset="-122"/>
              </a:rPr>
              <a:t>maxvtxnum</a:t>
            </a:r>
            <a:r>
              <a:rPr lang="en-US" altLang="zh-CN" sz="2400" b="1" dirty="0" smtClean="0">
                <a:ea typeface="华文楷体" panose="02010600040101010101" pitchFamily="2" charset="-122"/>
              </a:rPr>
              <a:t> ]; </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void  change</a:t>
            </a:r>
            <a:r>
              <a:rPr lang="zh-CN" altLang="en-US" sz="2400" b="1" dirty="0" smtClean="0">
                <a:ea typeface="华文楷体" panose="02010600040101010101" pitchFamily="2" charset="-122"/>
              </a:rPr>
              <a:t>（ </a:t>
            </a:r>
            <a:r>
              <a:rPr lang="en-US" altLang="zh-CN" sz="2400" b="1" dirty="0" err="1" smtClean="0">
                <a:ea typeface="华文楷体" panose="02010600040101010101" pitchFamily="2" charset="-122"/>
              </a:rPr>
              <a:t>adjmatrix</a:t>
            </a:r>
            <a:r>
              <a:rPr lang="en-US" altLang="zh-CN" sz="2400" b="1" dirty="0" smtClean="0">
                <a:ea typeface="华文楷体" panose="02010600040101010101" pitchFamily="2" charset="-122"/>
              </a:rPr>
              <a:t>  A,   </a:t>
            </a:r>
            <a:r>
              <a:rPr lang="en-US" altLang="zh-CN" sz="2400" b="1" dirty="0" err="1" smtClean="0">
                <a:ea typeface="华文楷体" panose="02010600040101010101" pitchFamily="2" charset="-122"/>
              </a:rPr>
              <a:t>adjmatrix</a:t>
            </a:r>
            <a:r>
              <a:rPr lang="en-US" altLang="zh-CN" sz="2400" b="1" dirty="0" smtClean="0">
                <a:ea typeface="华文楷体" panose="02010600040101010101" pitchFamily="2" charset="-122"/>
              </a:rPr>
              <a:t>  C,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n </a:t>
            </a:r>
            <a:r>
              <a:rPr lang="zh-CN" altLang="en-US" sz="2400" b="1" dirty="0" smtClean="0">
                <a:ea typeface="华文楷体" panose="02010600040101010101" pitchFamily="2" charset="-122"/>
              </a:rPr>
              <a:t>）</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107524"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实验</a:t>
            </a:r>
            <a:endParaRPr lang="zh-CN" altLang="en-US" sz="2800" dirty="0" smtClean="0">
              <a:ea typeface="华文楷体" panose="02010600040101010101" pitchFamily="2" charset="-122"/>
            </a:endParaRPr>
          </a:p>
        </p:txBody>
      </p:sp>
      <p:sp>
        <p:nvSpPr>
          <p:cNvPr id="107525"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dirty="0" smtClean="0">
                <a:ea typeface="华文楷体" panose="02010600040101010101" pitchFamily="2" charset="-122"/>
              </a:rPr>
              <a:t>从命令行接受整数</a:t>
            </a:r>
            <a:r>
              <a:rPr lang="en-US" altLang="zh-CN" dirty="0" smtClean="0">
                <a:ea typeface="华文楷体" panose="02010600040101010101" pitchFamily="2" charset="-122"/>
              </a:rPr>
              <a:t>V</a:t>
            </a:r>
            <a:r>
              <a:rPr lang="zh-CN" altLang="en-US" dirty="0" smtClean="0">
                <a:ea typeface="华文楷体" panose="02010600040101010101" pitchFamily="2" charset="-122"/>
              </a:rPr>
              <a:t>和</a:t>
            </a:r>
            <a:r>
              <a:rPr lang="en-US" altLang="zh-CN" dirty="0" smtClean="0">
                <a:ea typeface="华文楷体" panose="02010600040101010101" pitchFamily="2" charset="-122"/>
              </a:rPr>
              <a:t>E,</a:t>
            </a:r>
            <a:r>
              <a:rPr lang="zh-CN" altLang="en-US" dirty="0" smtClean="0">
                <a:ea typeface="华文楷体" panose="02010600040101010101" pitchFamily="2" charset="-122"/>
              </a:rPr>
              <a:t>随机生成含有</a:t>
            </a:r>
            <a:r>
              <a:rPr lang="en-US" altLang="zh-CN" dirty="0" smtClean="0">
                <a:ea typeface="华文楷体" panose="02010600040101010101" pitchFamily="2" charset="-122"/>
              </a:rPr>
              <a:t>V</a:t>
            </a:r>
            <a:r>
              <a:rPr lang="zh-CN" altLang="en-US" dirty="0" smtClean="0">
                <a:ea typeface="华文楷体" panose="02010600040101010101" pitchFamily="2" charset="-122"/>
              </a:rPr>
              <a:t>个顶点和</a:t>
            </a:r>
            <a:r>
              <a:rPr lang="en-US" altLang="zh-CN" dirty="0" smtClean="0">
                <a:ea typeface="华文楷体" panose="02010600040101010101" pitchFamily="2" charset="-122"/>
              </a:rPr>
              <a:t>E</a:t>
            </a:r>
            <a:r>
              <a:rPr lang="zh-CN" altLang="en-US" dirty="0" smtClean="0">
                <a:ea typeface="华文楷体" panose="02010600040101010101" pitchFamily="2" charset="-122"/>
              </a:rPr>
              <a:t>条边的简单有向图，即不包含自环和平行边，存储结构无限定。对此有向图，运行实验求从一个随机选定的顶点可以到达的顶点数量的平均值。</a:t>
            </a: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Tree>
  </p:cSld>
  <p:clrMapOvr>
    <a:masterClrMapping/>
  </p:clrMapOvr>
</p:sld>
</file>

<file path=ppt/theme/theme1.xml><?xml version="1.0" encoding="utf-8"?>
<a:theme xmlns:a="http://schemas.openxmlformats.org/drawingml/2006/main" name="国外精美的的PPT模板及图标之二">
  <a:themeElements>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国外精美的的PPT模板及图标之二">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国外精美的的PPT模板及图标之二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国外精美的的PPT模板及图标之二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0</TotalTime>
  <Words>41800</Words>
  <Application>WPS 演示</Application>
  <PresentationFormat>全屏显示(4:3)</PresentationFormat>
  <Paragraphs>4516</Paragraphs>
  <Slides>120</Slides>
  <Notes>2</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3</vt:i4>
      </vt:variant>
      <vt:variant>
        <vt:lpstr>幻灯片标题</vt:lpstr>
      </vt:variant>
      <vt:variant>
        <vt:i4>120</vt:i4>
      </vt:variant>
    </vt:vector>
  </HeadingPairs>
  <TitlesOfParts>
    <vt:vector size="144" baseType="lpstr">
      <vt:lpstr>Arial</vt:lpstr>
      <vt:lpstr>宋体</vt:lpstr>
      <vt:lpstr>Wingdings</vt:lpstr>
      <vt:lpstr>Times New Roman</vt:lpstr>
      <vt:lpstr>华文楷体</vt:lpstr>
      <vt:lpstr>Verdana</vt:lpstr>
      <vt:lpstr>Symbol</vt:lpstr>
      <vt:lpstr>楷体_GB2312</vt:lpstr>
      <vt:lpstr>新宋体</vt:lpstr>
      <vt:lpstr>Cambria Math</vt:lpstr>
      <vt:lpstr>微软雅黑</vt:lpstr>
      <vt:lpstr>Arial Unicode MS</vt:lpstr>
      <vt:lpstr>等线</vt:lpstr>
      <vt:lpstr>隶书</vt:lpstr>
      <vt:lpstr>Botanical</vt:lpstr>
      <vt:lpstr>Segoe Print</vt:lpstr>
      <vt:lpstr>Botanical</vt:lpstr>
      <vt:lpstr>Symbol</vt:lpstr>
      <vt:lpstr>Wingdings</vt:lpstr>
      <vt:lpstr>楷体_GB2312</vt:lpstr>
      <vt:lpstr>国外精美的的PPT模板及图标之二</vt:lpstr>
      <vt:lpstr>Equation.3</vt:lpstr>
      <vt:lpstr>MS_ClipArt_Gallery.2</vt:lpstr>
      <vt:lpstr>MS_ClipArt_Gallery.2</vt:lpstr>
      <vt:lpstr>第七章 图</vt:lpstr>
      <vt:lpstr>7.1 图的基本概念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图的存储结构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7.3 图的遍历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7.4 图的连通性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有向无环图的应用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最短路径</vt:lpstr>
      <vt:lpstr>PowerPoint 演示文稿</vt:lpstr>
      <vt:lpstr>PowerPoint 演示文稿</vt:lpstr>
      <vt:lpstr>PowerPoint 演示文稿</vt:lpstr>
      <vt:lpstr>PowerPoint 演示文稿</vt:lpstr>
      <vt:lpstr>PowerPoint 演示文稿</vt:lpstr>
      <vt:lpstr>7.6.1 单源点最短路径算法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7.6.1 所有顶点对的最短路径算法</vt:lpstr>
      <vt:lpstr>PowerPoint 演示文稿</vt:lpstr>
      <vt:lpstr>PowerPoint 演示文稿</vt:lpstr>
      <vt:lpstr>PowerPoint 演示文稿</vt:lpstr>
      <vt:lpstr>PowerPoint 演示文稿</vt:lpstr>
      <vt:lpstr>作业</vt:lpstr>
      <vt:lpstr>PowerPoint 演示文稿</vt:lpstr>
      <vt:lpstr>PowerPoint 演示文稿</vt:lpstr>
      <vt:lpstr>PowerPoint 演示文稿</vt:lpstr>
      <vt:lpstr>实验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sunnylife</dc:creator>
  <cp:lastModifiedBy>杨龙驹</cp:lastModifiedBy>
  <cp:revision>868</cp:revision>
  <cp:lastPrinted>2113-01-01T00:00:00Z</cp:lastPrinted>
  <dcterms:created xsi:type="dcterms:W3CDTF">2113-01-01T00:00:00Z</dcterms:created>
  <dcterms:modified xsi:type="dcterms:W3CDTF">2025-12-10T10:30:25Z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08AB995E5E954DC6BF46C73351352647_12</vt:lpwstr>
  </property>
  <property fmtid="{D5CDD505-2E9C-101B-9397-08002B2CF9AE}" pid="4" name="KSOProductBuildVer">
    <vt:lpwstr>2052-12.1.0.24034</vt:lpwstr>
  </property>
</Properties>
</file>