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3"/>
  </p:notesMasterIdLst>
  <p:handoutMasterIdLst>
    <p:handoutMasterId r:id="rId44"/>
  </p:handoutMasterIdLst>
  <p:sldIdLst>
    <p:sldId id="316" r:id="rId2"/>
    <p:sldId id="317" r:id="rId3"/>
    <p:sldId id="318" r:id="rId4"/>
    <p:sldId id="319" r:id="rId5"/>
    <p:sldId id="320" r:id="rId6"/>
    <p:sldId id="321" r:id="rId7"/>
    <p:sldId id="347" r:id="rId8"/>
    <p:sldId id="322" r:id="rId9"/>
    <p:sldId id="358" r:id="rId10"/>
    <p:sldId id="356" r:id="rId11"/>
    <p:sldId id="361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48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50" r:id="rId35"/>
    <p:sldId id="351" r:id="rId36"/>
    <p:sldId id="360" r:id="rId37"/>
    <p:sldId id="352" r:id="rId38"/>
    <p:sldId id="354" r:id="rId39"/>
    <p:sldId id="345" r:id="rId40"/>
    <p:sldId id="357" r:id="rId41"/>
    <p:sldId id="346" r:id="rId4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00000"/>
    <a:srgbClr val="FFCC66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3" autoAdjust="0"/>
  </p:normalViewPr>
  <p:slideViewPr>
    <p:cSldViewPr>
      <p:cViewPr varScale="1">
        <p:scale>
          <a:sx n="68" d="100"/>
          <a:sy n="68" d="100"/>
        </p:scale>
        <p:origin x="122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62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 dirty="0">
              <a:ea typeface="华文楷体" panose="02010600040101010101" pitchFamily="2" charset="-122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 dirty="0">
              <a:ea typeface="华文楷体" panose="02010600040101010101" pitchFamily="2" charset="-122"/>
            </a:endParaRPr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 dirty="0">
              <a:ea typeface="华文楷体" panose="02010600040101010101" pitchFamily="2" charset="-122"/>
            </a:endParaRPr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2458B74-77BE-447E-B0FC-AC94DF3F1894}" type="slidenum">
              <a:rPr lang="en-US" altLang="zh-CN">
                <a:ea typeface="华文楷体" panose="02010600040101010101" pitchFamily="2" charset="-122"/>
              </a:rPr>
              <a:pPr>
                <a:defRPr/>
              </a:pPr>
              <a:t>‹#›</a:t>
            </a:fld>
            <a:endParaRPr lang="en-US" altLang="zh-CN" dirty="0">
              <a:ea typeface="华文楷体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 smtClean="0"/>
              <a:t>单击此处编辑母版文本样式</a:t>
            </a:r>
          </a:p>
          <a:p>
            <a:pPr lvl="1"/>
            <a:r>
              <a:rPr lang="zh-CN" altLang="en-US" noProof="0" dirty="0" smtClean="0"/>
              <a:t>第二级</a:t>
            </a:r>
          </a:p>
          <a:p>
            <a:pPr lvl="2"/>
            <a:r>
              <a:rPr lang="zh-CN" altLang="en-US" noProof="0" dirty="0" smtClean="0"/>
              <a:t>第三级</a:t>
            </a:r>
          </a:p>
          <a:p>
            <a:pPr lvl="3"/>
            <a:r>
              <a:rPr lang="zh-CN" altLang="en-US" noProof="0" dirty="0" smtClean="0"/>
              <a:t>第四级</a:t>
            </a:r>
          </a:p>
          <a:p>
            <a:pPr lvl="4"/>
            <a:r>
              <a:rPr lang="zh-CN" altLang="en-US" noProof="0" dirty="0" smtClean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fld id="{099333CC-B3FA-4B1C-B81B-D43F39EB3286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BBA471-FF70-40E4-8864-DE704D0914B4}" type="slidenum">
              <a:rPr lang="en-US" altLang="zh-CN" smtClean="0">
                <a:latin typeface="Times New Roman" panose="02020603050405020304" pitchFamily="18" charset="0"/>
                <a:ea typeface="华文楷体" panose="02010600040101010101" pitchFamily="2" charset="-122"/>
              </a:rPr>
              <a:pPr/>
              <a:t>38</a:t>
            </a:fld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0" y="6611938"/>
            <a:ext cx="9144000" cy="260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76238" y="228600"/>
            <a:ext cx="1147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BUPT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371600" y="5867400"/>
            <a:ext cx="65532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868863"/>
            <a:ext cx="9144000" cy="720725"/>
          </a:xfr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tx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ko-KR" noProof="0" smtClean="0"/>
              <a:t>Click to edit Master title</a:t>
            </a:r>
            <a:br>
              <a:rPr lang="en-US" altLang="ko-KR" noProof="0" smtClean="0"/>
            </a:br>
            <a:r>
              <a:rPr lang="en-US" altLang="ko-KR" noProof="0" smtClean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71870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2785E-BE7B-4F3B-BEF0-28725DD975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8738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3DB64-7FF9-4398-AE22-A320CAE18A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54928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9EE877-65F5-4AF7-BC82-61ADC31F97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0364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581BDD-FEB9-42EF-A9DF-D999320834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412932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FA0FDD-83BC-4F7B-BBAA-0E9B645AD8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30610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17B5E-098F-4877-8857-A499D6A457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68384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4ABB7-D59E-4970-A690-533636296A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449092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B18E16-CBC9-481D-9172-0F1EF990B0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678338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C1FEA-B6AE-4CF6-9E6C-92755F17B4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423490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46E48F-86E6-497E-A51A-5761C24C27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676575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52525"/>
            <a:ext cx="4038600" cy="25479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852863"/>
            <a:ext cx="4038600" cy="25479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37CC0-A8F0-45F5-B126-31D4A14DAD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409777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51275" y="6461125"/>
            <a:ext cx="491172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21438"/>
            <a:ext cx="79216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fld id="{671DE171-5CB0-4B1C-AC8F-AD82B4AD5A92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gray">
          <a:xfrm>
            <a:off x="0" y="838200"/>
            <a:ext cx="9144000" cy="2444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 dirty="0" smtClean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9880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Times New Roman" panose="020206030504050203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0" dirty="0" smtClean="0">
                <a:ea typeface="华文楷体" panose="02010600040101010101" pitchFamily="2" charset="-122"/>
              </a:rPr>
              <a:t>第五章  数组和广义表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661025"/>
            <a:ext cx="6553200" cy="73977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ea typeface="华文楷体" panose="02010600040101010101" pitchFamily="2" charset="-122"/>
              </a:rPr>
              <a:t>杨震 计算机学院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en-US" altLang="zh-CN" dirty="0" smtClean="0">
                <a:ea typeface="华文楷体" panose="02010600040101010101" pitchFamily="2" charset="-122"/>
              </a:rPr>
              <a:t>yangzhen@bupt.edu.cn</a:t>
            </a:r>
            <a:endParaRPr lang="zh-CN" altLang="zh-CN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58DBDE-663D-4C79-84C5-B8676DC25E3F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12875"/>
            <a:ext cx="7766050" cy="4835525"/>
          </a:xfrm>
          <a:solidFill>
            <a:schemeClr val="bg1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5.1  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数组和线性表的关系以及数组的运算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5.2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数组的顺序存储结构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5.3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矩阵的压缩存储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5.4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广义表的定义和表示方法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5.5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广义表的存储结构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5.6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广义表的递归算法</a:t>
            </a:r>
          </a:p>
        </p:txBody>
      </p:sp>
      <p:sp>
        <p:nvSpPr>
          <p:cNvPr id="61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ea typeface="华文楷体" panose="02010600040101010101" pitchFamily="2" charset="-122"/>
              </a:rPr>
              <a:t>本章内容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2726BB-032E-426E-A6D2-003577AB51E2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382000" cy="7620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5.1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数组和线性表的关系以及数组的运算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031" y="1343025"/>
            <a:ext cx="7772400" cy="45720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任何数组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A</a:t>
            </a:r>
            <a:r>
              <a:rPr lang="zh-CN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都可以看作一个线性表</a:t>
            </a:r>
            <a:endParaRPr lang="zh-CN" altLang="zh-CN" sz="28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zh-CN" sz="2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A=(a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a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…,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, …a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二维数组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nm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时，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是数组中第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行所有元素，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1in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，表中每一个元素是一个一维数组；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三维数组时，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表中每一个元素是一个二维数组；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维数组时，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表中每一个元素是一个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(n-1)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维数组</a:t>
            </a:r>
            <a:endParaRPr lang="zh-CN" altLang="en-US" sz="2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5387975" y="3427413"/>
          <a:ext cx="3214688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" name="公式" r:id="rId4" imgW="2032000" imgH="1092200" progId="Equation.3">
                  <p:embed/>
                </p:oleObj>
              </mc:Choice>
              <mc:Fallback>
                <p:oleObj name="公式" r:id="rId4" imgW="2032000" imgH="1092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5" y="3427413"/>
                        <a:ext cx="3214688" cy="172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3" name="Group 5"/>
          <p:cNvGrpSpPr>
            <a:grpSpLocks/>
          </p:cNvGrpSpPr>
          <p:nvPr/>
        </p:nvGrpSpPr>
        <p:grpSpPr bwMode="auto">
          <a:xfrm>
            <a:off x="6096000" y="3430588"/>
            <a:ext cx="2511425" cy="1692275"/>
            <a:chOff x="2064" y="1440"/>
            <a:chExt cx="1582" cy="1066"/>
          </a:xfrm>
        </p:grpSpPr>
        <p:sp>
          <p:nvSpPr>
            <p:cNvPr id="7183" name="Text Box 6"/>
            <p:cNvSpPr txBox="1">
              <a:spLocks noChangeArrowheads="1"/>
            </p:cNvSpPr>
            <p:nvPr/>
          </p:nvSpPr>
          <p:spPr bwMode="auto">
            <a:xfrm>
              <a:off x="2064" y="1440"/>
              <a:ext cx="15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         )</a:t>
              </a:r>
            </a:p>
          </p:txBody>
        </p:sp>
        <p:sp>
          <p:nvSpPr>
            <p:cNvPr id="7184" name="Text Box 7"/>
            <p:cNvSpPr txBox="1">
              <a:spLocks noChangeArrowheads="1"/>
            </p:cNvSpPr>
            <p:nvPr/>
          </p:nvSpPr>
          <p:spPr bwMode="auto">
            <a:xfrm>
              <a:off x="2064" y="1728"/>
              <a:ext cx="15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         )</a:t>
              </a:r>
            </a:p>
          </p:txBody>
        </p:sp>
        <p:sp>
          <p:nvSpPr>
            <p:cNvPr id="7185" name="Text Box 8"/>
            <p:cNvSpPr txBox="1">
              <a:spLocks noChangeArrowheads="1"/>
            </p:cNvSpPr>
            <p:nvPr/>
          </p:nvSpPr>
          <p:spPr bwMode="auto">
            <a:xfrm>
              <a:off x="2064" y="2016"/>
              <a:ext cx="15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         )</a:t>
              </a:r>
            </a:p>
          </p:txBody>
        </p:sp>
        <p:sp>
          <p:nvSpPr>
            <p:cNvPr id="7186" name="Text Box 9"/>
            <p:cNvSpPr txBox="1">
              <a:spLocks noChangeArrowheads="1"/>
            </p:cNvSpPr>
            <p:nvPr/>
          </p:nvSpPr>
          <p:spPr bwMode="auto">
            <a:xfrm>
              <a:off x="2064" y="2256"/>
              <a:ext cx="15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         )</a:t>
              </a:r>
            </a:p>
          </p:txBody>
        </p:sp>
      </p:grpSp>
      <p:grpSp>
        <p:nvGrpSpPr>
          <p:cNvPr id="124938" name="Group 10"/>
          <p:cNvGrpSpPr>
            <a:grpSpLocks/>
          </p:cNvGrpSpPr>
          <p:nvPr/>
        </p:nvGrpSpPr>
        <p:grpSpPr bwMode="auto">
          <a:xfrm>
            <a:off x="6172200" y="3352800"/>
            <a:ext cx="2225675" cy="1943100"/>
            <a:chOff x="2112" y="1391"/>
            <a:chExt cx="1402" cy="1224"/>
          </a:xfrm>
        </p:grpSpPr>
        <p:sp>
          <p:nvSpPr>
            <p:cNvPr id="7178" name="Text Box 11"/>
            <p:cNvSpPr txBox="1">
              <a:spLocks noChangeArrowheads="1"/>
            </p:cNvSpPr>
            <p:nvPr/>
          </p:nvSpPr>
          <p:spPr bwMode="auto">
            <a:xfrm rot="-5400000">
              <a:off x="1626" y="1879"/>
              <a:ext cx="12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)</a:t>
              </a:r>
            </a:p>
          </p:txBody>
        </p:sp>
        <p:sp>
          <p:nvSpPr>
            <p:cNvPr id="7179" name="Text Box 12"/>
            <p:cNvSpPr txBox="1">
              <a:spLocks noChangeArrowheads="1"/>
            </p:cNvSpPr>
            <p:nvPr/>
          </p:nvSpPr>
          <p:spPr bwMode="auto">
            <a:xfrm rot="-5400000">
              <a:off x="1962" y="1878"/>
              <a:ext cx="12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)</a:t>
              </a:r>
            </a:p>
          </p:txBody>
        </p:sp>
        <p:sp>
          <p:nvSpPr>
            <p:cNvPr id="7180" name="Text Box 13"/>
            <p:cNvSpPr txBox="1">
              <a:spLocks noChangeArrowheads="1"/>
            </p:cNvSpPr>
            <p:nvPr/>
          </p:nvSpPr>
          <p:spPr bwMode="auto">
            <a:xfrm rot="-5400000">
              <a:off x="2298" y="1877"/>
              <a:ext cx="12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)</a:t>
              </a:r>
            </a:p>
          </p:txBody>
        </p:sp>
        <p:sp>
          <p:nvSpPr>
            <p:cNvPr id="7181" name="Text Box 14"/>
            <p:cNvSpPr txBox="1">
              <a:spLocks noChangeArrowheads="1"/>
            </p:cNvSpPr>
            <p:nvPr/>
          </p:nvSpPr>
          <p:spPr bwMode="auto">
            <a:xfrm rot="-5400000">
              <a:off x="2538" y="1877"/>
              <a:ext cx="12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)</a:t>
              </a:r>
            </a:p>
          </p:txBody>
        </p:sp>
        <p:sp>
          <p:nvSpPr>
            <p:cNvPr id="7182" name="Text Box 15"/>
            <p:cNvSpPr txBox="1">
              <a:spLocks noChangeArrowheads="1"/>
            </p:cNvSpPr>
            <p:nvPr/>
          </p:nvSpPr>
          <p:spPr bwMode="auto">
            <a:xfrm rot="-5400000">
              <a:off x="2778" y="1878"/>
              <a:ext cx="12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(                         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6056A1-B155-44DA-82C0-28AC73F0EC5F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58750"/>
            <a:ext cx="7772400" cy="533400"/>
          </a:xfrm>
        </p:spPr>
        <p:txBody>
          <a:bodyPr/>
          <a:lstStyle/>
          <a:p>
            <a:pPr algn="l" eaLnBrk="1" hangingPunct="1"/>
            <a:r>
              <a:rPr lang="zh-CN" altLang="en-US" sz="2400" b="0" dirty="0" smtClean="0">
                <a:ea typeface="华文楷体" panose="02010600040101010101" pitchFamily="2" charset="-122"/>
              </a:rPr>
              <a:t>数组与线性表之间的关系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76350"/>
            <a:ext cx="7772400" cy="5105400"/>
          </a:xfrm>
          <a:ln>
            <a:solidFill>
              <a:schemeClr val="accent1"/>
            </a:solidFill>
          </a:ln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线性表的扩展，其数据元素本身也是线性表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数组的特点</a:t>
            </a:r>
            <a:endParaRPr lang="zh-CN" altLang="en-US" sz="28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数组中各元素都具有统一的类型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可以认为，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维数组的非边界元素具有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个直接前趋和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个直接后继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数组维数确定后，数据元素个数和元素之间的关系不再发生改变，适合于顺序存储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每组有定义的下标都存在一个与其相对应的值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在数组上的基本操作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给定一组下标，取得相应的数据元素值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给定一组下标，修改相应的数据元素值</a:t>
            </a:r>
          </a:p>
        </p:txBody>
      </p:sp>
      <p:sp>
        <p:nvSpPr>
          <p:cNvPr id="8199" name="AutoShape 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0B764A5-44BA-47BA-96C1-1ADDE30A6A02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2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41275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5.2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数组的顺序存储结构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一维数组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9223" name="Rectangle 4"/>
          <p:cNvSpPr>
            <a:spLocks noChangeArrowheads="1"/>
          </p:cNvSpPr>
          <p:nvPr/>
        </p:nvSpPr>
        <p:spPr bwMode="auto">
          <a:xfrm>
            <a:off x="1752600" y="2286000"/>
            <a:ext cx="14478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4" name="Line 5"/>
          <p:cNvSpPr>
            <a:spLocks noChangeShapeType="1"/>
          </p:cNvSpPr>
          <p:nvPr/>
        </p:nvSpPr>
        <p:spPr bwMode="auto">
          <a:xfrm>
            <a:off x="1752600" y="2743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5" name="Line 6"/>
          <p:cNvSpPr>
            <a:spLocks noChangeShapeType="1"/>
          </p:cNvSpPr>
          <p:nvPr/>
        </p:nvSpPr>
        <p:spPr bwMode="auto">
          <a:xfrm>
            <a:off x="1752600" y="3200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6" name="Line 7"/>
          <p:cNvSpPr>
            <a:spLocks noChangeShapeType="1"/>
          </p:cNvSpPr>
          <p:nvPr/>
        </p:nvSpPr>
        <p:spPr bwMode="auto">
          <a:xfrm>
            <a:off x="1752600" y="4114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7" name="Line 8"/>
          <p:cNvSpPr>
            <a:spLocks noChangeShapeType="1"/>
          </p:cNvSpPr>
          <p:nvPr/>
        </p:nvSpPr>
        <p:spPr bwMode="auto">
          <a:xfrm>
            <a:off x="1752600" y="4572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28" name="Text Box 9"/>
          <p:cNvSpPr txBox="1">
            <a:spLocks noChangeArrowheads="1"/>
          </p:cNvSpPr>
          <p:nvPr/>
        </p:nvSpPr>
        <p:spPr bwMode="auto">
          <a:xfrm>
            <a:off x="1143000" y="2286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9229" name="Line 10"/>
          <p:cNvSpPr>
            <a:spLocks noChangeShapeType="1"/>
          </p:cNvSpPr>
          <p:nvPr/>
        </p:nvSpPr>
        <p:spPr bwMode="auto">
          <a:xfrm>
            <a:off x="1447800" y="2514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0" name="Text Box 11"/>
          <p:cNvSpPr txBox="1">
            <a:spLocks noChangeArrowheads="1"/>
          </p:cNvSpPr>
          <p:nvPr/>
        </p:nvSpPr>
        <p:spPr bwMode="auto">
          <a:xfrm>
            <a:off x="685800" y="25908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基地址</a:t>
            </a:r>
          </a:p>
        </p:txBody>
      </p:sp>
      <p:sp>
        <p:nvSpPr>
          <p:cNvPr id="9231" name="Text Box 12"/>
          <p:cNvSpPr txBox="1">
            <a:spLocks noChangeArrowheads="1"/>
          </p:cNvSpPr>
          <p:nvPr/>
        </p:nvSpPr>
        <p:spPr bwMode="auto">
          <a:xfrm>
            <a:off x="3505200" y="22860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个单元</a:t>
            </a:r>
          </a:p>
        </p:txBody>
      </p:sp>
      <p:sp>
        <p:nvSpPr>
          <p:cNvPr id="9232" name="AutoShape 13"/>
          <p:cNvSpPr>
            <a:spLocks/>
          </p:cNvSpPr>
          <p:nvPr/>
        </p:nvSpPr>
        <p:spPr bwMode="auto">
          <a:xfrm>
            <a:off x="3276600" y="2286000"/>
            <a:ext cx="152400" cy="381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3" name="Text Box 14"/>
          <p:cNvSpPr txBox="1">
            <a:spLocks noChangeArrowheads="1"/>
          </p:cNvSpPr>
          <p:nvPr/>
        </p:nvSpPr>
        <p:spPr bwMode="auto">
          <a:xfrm>
            <a:off x="2057400" y="22860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a[1]</a:t>
            </a:r>
          </a:p>
        </p:txBody>
      </p:sp>
      <p:sp>
        <p:nvSpPr>
          <p:cNvPr id="9234" name="Text Box 15"/>
          <p:cNvSpPr txBox="1">
            <a:spLocks noChangeArrowheads="1"/>
          </p:cNvSpPr>
          <p:nvPr/>
        </p:nvSpPr>
        <p:spPr bwMode="auto">
          <a:xfrm>
            <a:off x="2057400" y="2743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a[2]</a:t>
            </a:r>
          </a:p>
        </p:txBody>
      </p:sp>
      <p:sp>
        <p:nvSpPr>
          <p:cNvPr id="9235" name="Text Box 16"/>
          <p:cNvSpPr txBox="1">
            <a:spLocks noChangeArrowheads="1"/>
          </p:cNvSpPr>
          <p:nvPr/>
        </p:nvSpPr>
        <p:spPr bwMode="auto">
          <a:xfrm>
            <a:off x="2133600" y="4114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9236" name="Text Box 17"/>
          <p:cNvSpPr txBox="1">
            <a:spLocks noChangeArrowheads="1"/>
          </p:cNvSpPr>
          <p:nvPr/>
        </p:nvSpPr>
        <p:spPr bwMode="auto">
          <a:xfrm>
            <a:off x="4953000" y="3048000"/>
            <a:ext cx="2514600" cy="2677656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])=b+(i-1)c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=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b-c+i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*c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=C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+C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*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=c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=b- 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9237" name="AutoShape 18"/>
          <p:cNvSpPr>
            <a:spLocks/>
          </p:cNvSpPr>
          <p:nvPr/>
        </p:nvSpPr>
        <p:spPr bwMode="auto">
          <a:xfrm>
            <a:off x="4953000" y="4876800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238" name="Text Box 19"/>
          <p:cNvSpPr txBox="1">
            <a:spLocks noChangeArrowheads="1"/>
          </p:cNvSpPr>
          <p:nvPr/>
        </p:nvSpPr>
        <p:spPr bwMode="auto">
          <a:xfrm>
            <a:off x="2209800" y="1524000"/>
            <a:ext cx="23622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a[1,..,n]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9D9A6C-9EE6-486B-9908-861195BAB34A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3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300038"/>
          </a:xfrm>
        </p:spPr>
        <p:txBody>
          <a:bodyPr/>
          <a:lstStyle/>
          <a:p>
            <a:pPr algn="l" eaLnBrk="1" hangingPunct="1"/>
            <a:r>
              <a:rPr lang="zh-CN" altLang="en-US" sz="2800" b="0" dirty="0" smtClean="0">
                <a:ea typeface="华文楷体" panose="02010600040101010101" pitchFamily="2" charset="-122"/>
              </a:rPr>
              <a:t>二维数组</a:t>
            </a:r>
            <a:endParaRPr lang="zh-CN" altLang="en-US" sz="2800" dirty="0" smtClean="0">
              <a:ea typeface="华文楷体" panose="02010600040101010101" pitchFamily="2" charset="-122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          </a:t>
            </a:r>
            <a:r>
              <a:rPr lang="en-US" altLang="zh-CN" sz="2800" dirty="0" smtClean="0">
                <a:ea typeface="华文楷体" panose="02010600040101010101" pitchFamily="2" charset="-122"/>
              </a:rPr>
              <a:t>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11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12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13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...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1n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21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22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23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...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2n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aseline="-25000" dirty="0" smtClean="0">
                <a:ea typeface="华文楷体" panose="02010600040101010101" pitchFamily="2" charset="-122"/>
              </a:rPr>
              <a:t>               </a:t>
            </a:r>
            <a:r>
              <a:rPr lang="en-US" altLang="zh-CN" sz="28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:     :      :         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m1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m2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a</a:t>
            </a:r>
            <a:r>
              <a:rPr lang="en-US" altLang="zh-CN" sz="2800" baseline="-25000" dirty="0" smtClean="0">
                <a:ea typeface="华文楷体" panose="02010600040101010101" pitchFamily="2" charset="-122"/>
              </a:rPr>
              <a:t>m3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... 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a</a:t>
            </a:r>
            <a:r>
              <a:rPr lang="en-US" altLang="zh-CN" sz="2800" baseline="-25000" dirty="0" err="1" smtClean="0">
                <a:ea typeface="华文楷体" panose="02010600040101010101" pitchFamily="2" charset="-122"/>
              </a:rPr>
              <a:t>mn</a:t>
            </a:r>
            <a:endParaRPr lang="en-US" altLang="zh-CN" sz="2800" baseline="-25000" dirty="0" smtClean="0">
              <a:ea typeface="华文楷体" panose="02010600040101010101" pitchFamily="2" charset="-122"/>
            </a:endParaRPr>
          </a:p>
        </p:txBody>
      </p:sp>
      <p:sp>
        <p:nvSpPr>
          <p:cNvPr id="10247" name="Line 4"/>
          <p:cNvSpPr>
            <a:spLocks noChangeShapeType="1"/>
          </p:cNvSpPr>
          <p:nvPr/>
        </p:nvSpPr>
        <p:spPr bwMode="auto">
          <a:xfrm>
            <a:off x="1447800" y="1447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8" name="Line 5"/>
          <p:cNvSpPr>
            <a:spLocks noChangeShapeType="1"/>
          </p:cNvSpPr>
          <p:nvPr/>
        </p:nvSpPr>
        <p:spPr bwMode="auto">
          <a:xfrm>
            <a:off x="1447800" y="14478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9" name="Line 6"/>
          <p:cNvSpPr>
            <a:spLocks noChangeShapeType="1"/>
          </p:cNvSpPr>
          <p:nvPr/>
        </p:nvSpPr>
        <p:spPr bwMode="auto">
          <a:xfrm>
            <a:off x="1447800" y="3276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0" name="Line 7"/>
          <p:cNvSpPr>
            <a:spLocks noChangeShapeType="1"/>
          </p:cNvSpPr>
          <p:nvPr/>
        </p:nvSpPr>
        <p:spPr bwMode="auto">
          <a:xfrm>
            <a:off x="4729163" y="1524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1" name="Line 8"/>
          <p:cNvSpPr>
            <a:spLocks noChangeShapeType="1"/>
          </p:cNvSpPr>
          <p:nvPr/>
        </p:nvSpPr>
        <p:spPr bwMode="auto">
          <a:xfrm flipH="1">
            <a:off x="4500563" y="1524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2" name="Line 9"/>
          <p:cNvSpPr>
            <a:spLocks noChangeShapeType="1"/>
          </p:cNvSpPr>
          <p:nvPr/>
        </p:nvSpPr>
        <p:spPr bwMode="auto">
          <a:xfrm flipH="1">
            <a:off x="4576763" y="3200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3" name="Text Box 10"/>
          <p:cNvSpPr txBox="1">
            <a:spLocks noChangeArrowheads="1"/>
          </p:cNvSpPr>
          <p:nvPr/>
        </p:nvSpPr>
        <p:spPr bwMode="auto">
          <a:xfrm>
            <a:off x="838200" y="2057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a=</a:t>
            </a:r>
          </a:p>
        </p:txBody>
      </p:sp>
      <p:sp>
        <p:nvSpPr>
          <p:cNvPr id="10254" name="Text Box 11"/>
          <p:cNvSpPr txBox="1">
            <a:spLocks noChangeArrowheads="1"/>
          </p:cNvSpPr>
          <p:nvPr/>
        </p:nvSpPr>
        <p:spPr bwMode="auto">
          <a:xfrm>
            <a:off x="4572000" y="3048000"/>
            <a:ext cx="762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n</a:t>
            </a:r>
            <a:endParaRPr kumimoji="1" lang="en-US" altLang="zh-CN" sz="2400" baseline="-25000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255" name="Rectangle 12"/>
          <p:cNvSpPr>
            <a:spLocks noChangeArrowheads="1"/>
          </p:cNvSpPr>
          <p:nvPr/>
        </p:nvSpPr>
        <p:spPr bwMode="auto">
          <a:xfrm>
            <a:off x="5791200" y="1447800"/>
            <a:ext cx="1295400" cy="358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6" name="Line 13"/>
          <p:cNvSpPr>
            <a:spLocks noChangeShapeType="1"/>
          </p:cNvSpPr>
          <p:nvPr/>
        </p:nvSpPr>
        <p:spPr bwMode="auto">
          <a:xfrm>
            <a:off x="5791200" y="175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7" name="Line 14"/>
          <p:cNvSpPr>
            <a:spLocks noChangeShapeType="1"/>
          </p:cNvSpPr>
          <p:nvPr/>
        </p:nvSpPr>
        <p:spPr bwMode="auto">
          <a:xfrm>
            <a:off x="5791200" y="2209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8" name="Line 15"/>
          <p:cNvSpPr>
            <a:spLocks noChangeShapeType="1"/>
          </p:cNvSpPr>
          <p:nvPr/>
        </p:nvSpPr>
        <p:spPr bwMode="auto">
          <a:xfrm>
            <a:off x="5791200" y="2514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9" name="Line 16"/>
          <p:cNvSpPr>
            <a:spLocks noChangeShapeType="1"/>
          </p:cNvSpPr>
          <p:nvPr/>
        </p:nvSpPr>
        <p:spPr bwMode="auto">
          <a:xfrm>
            <a:off x="5791200" y="2819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0" name="Line 17"/>
          <p:cNvSpPr>
            <a:spLocks noChangeShapeType="1"/>
          </p:cNvSpPr>
          <p:nvPr/>
        </p:nvSpPr>
        <p:spPr bwMode="auto">
          <a:xfrm>
            <a:off x="5791200" y="3505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1" name="Line 18"/>
          <p:cNvSpPr>
            <a:spLocks noChangeShapeType="1"/>
          </p:cNvSpPr>
          <p:nvPr/>
        </p:nvSpPr>
        <p:spPr bwMode="auto">
          <a:xfrm>
            <a:off x="5791200" y="3810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2" name="Line 19"/>
          <p:cNvSpPr>
            <a:spLocks noChangeShapeType="1"/>
          </p:cNvSpPr>
          <p:nvPr/>
        </p:nvSpPr>
        <p:spPr bwMode="auto">
          <a:xfrm>
            <a:off x="5791200" y="4724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3" name="Text Box 20"/>
          <p:cNvSpPr txBox="1">
            <a:spLocks noChangeArrowheads="1"/>
          </p:cNvSpPr>
          <p:nvPr/>
        </p:nvSpPr>
        <p:spPr bwMode="auto">
          <a:xfrm>
            <a:off x="5943600" y="1371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a[1,1]</a:t>
            </a:r>
          </a:p>
        </p:txBody>
      </p:sp>
      <p:sp>
        <p:nvSpPr>
          <p:cNvPr id="10264" name="Text Box 21"/>
          <p:cNvSpPr txBox="1">
            <a:spLocks noChangeArrowheads="1"/>
          </p:cNvSpPr>
          <p:nvPr/>
        </p:nvSpPr>
        <p:spPr bwMode="auto">
          <a:xfrm>
            <a:off x="6019800" y="2133600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a[1,n]</a:t>
            </a:r>
          </a:p>
        </p:txBody>
      </p:sp>
      <p:sp>
        <p:nvSpPr>
          <p:cNvPr id="10265" name="Text Box 22"/>
          <p:cNvSpPr txBox="1">
            <a:spLocks noChangeArrowheads="1"/>
          </p:cNvSpPr>
          <p:nvPr/>
        </p:nvSpPr>
        <p:spPr bwMode="auto">
          <a:xfrm>
            <a:off x="6019800" y="2438400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a[2,1]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6" name="Text Box 23"/>
          <p:cNvSpPr txBox="1">
            <a:spLocks noChangeArrowheads="1"/>
          </p:cNvSpPr>
          <p:nvPr/>
        </p:nvSpPr>
        <p:spPr bwMode="auto">
          <a:xfrm>
            <a:off x="6019800" y="34290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10267" name="Text Box 24"/>
          <p:cNvSpPr txBox="1">
            <a:spLocks noChangeArrowheads="1"/>
          </p:cNvSpPr>
          <p:nvPr/>
        </p:nvSpPr>
        <p:spPr bwMode="auto">
          <a:xfrm>
            <a:off x="6019800" y="46482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m,n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10268" name="Line 25"/>
          <p:cNvSpPr>
            <a:spLocks noChangeShapeType="1"/>
          </p:cNvSpPr>
          <p:nvPr/>
        </p:nvSpPr>
        <p:spPr bwMode="auto">
          <a:xfrm>
            <a:off x="5486400" y="1524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69" name="Text Box 26"/>
          <p:cNvSpPr txBox="1">
            <a:spLocks noChangeArrowheads="1"/>
          </p:cNvSpPr>
          <p:nvPr/>
        </p:nvSpPr>
        <p:spPr bwMode="auto">
          <a:xfrm>
            <a:off x="5181600" y="1295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10270" name="Text Box 27"/>
          <p:cNvSpPr txBox="1">
            <a:spLocks noChangeArrowheads="1"/>
          </p:cNvSpPr>
          <p:nvPr/>
        </p:nvSpPr>
        <p:spPr bwMode="auto">
          <a:xfrm>
            <a:off x="7315200" y="1676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1" name="AutoShape 28"/>
          <p:cNvSpPr>
            <a:spLocks/>
          </p:cNvSpPr>
          <p:nvPr/>
        </p:nvSpPr>
        <p:spPr bwMode="auto">
          <a:xfrm>
            <a:off x="7162800" y="1447800"/>
            <a:ext cx="152400" cy="990600"/>
          </a:xfrm>
          <a:prstGeom prst="righ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2" name="Rectangle 29"/>
          <p:cNvSpPr>
            <a:spLocks noChangeArrowheads="1"/>
          </p:cNvSpPr>
          <p:nvPr/>
        </p:nvSpPr>
        <p:spPr bwMode="auto">
          <a:xfrm>
            <a:off x="1524000" y="1371600"/>
            <a:ext cx="3119438" cy="4572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3" name="Rectangle 30"/>
          <p:cNvSpPr>
            <a:spLocks noChangeArrowheads="1"/>
          </p:cNvSpPr>
          <p:nvPr/>
        </p:nvSpPr>
        <p:spPr bwMode="auto">
          <a:xfrm>
            <a:off x="1524000" y="1905000"/>
            <a:ext cx="3119438" cy="4572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4" name="Rectangle 31"/>
          <p:cNvSpPr>
            <a:spLocks noChangeArrowheads="1"/>
          </p:cNvSpPr>
          <p:nvPr/>
        </p:nvSpPr>
        <p:spPr bwMode="auto">
          <a:xfrm>
            <a:off x="1547813" y="2924175"/>
            <a:ext cx="3116262" cy="4572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5" name="Text Box 32"/>
          <p:cNvSpPr txBox="1">
            <a:spLocks noChangeArrowheads="1"/>
          </p:cNvSpPr>
          <p:nvPr/>
        </p:nvSpPr>
        <p:spPr bwMode="auto">
          <a:xfrm>
            <a:off x="1066800" y="3733800"/>
            <a:ext cx="41148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])=b+[(i-1)*n+(j-1)]*c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=C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+C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*i+C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*j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=c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=n* 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=b- 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- C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10276" name="AutoShape 33"/>
          <p:cNvSpPr>
            <a:spLocks/>
          </p:cNvSpPr>
          <p:nvPr/>
        </p:nvSpPr>
        <p:spPr bwMode="auto">
          <a:xfrm>
            <a:off x="1219200" y="502920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7" name="Text Box 34"/>
          <p:cNvSpPr txBox="1">
            <a:spLocks noChangeArrowheads="1"/>
          </p:cNvSpPr>
          <p:nvPr/>
        </p:nvSpPr>
        <p:spPr bwMode="auto">
          <a:xfrm>
            <a:off x="3668713" y="5367338"/>
            <a:ext cx="4648200" cy="101441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注：</a:t>
            </a:r>
            <a:r>
              <a:rPr kumimoji="1" lang="en-US" altLang="zh-CN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Pascal</a:t>
            </a: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kumimoji="1" lang="en-US" altLang="zh-CN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语言以行序为主序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kumimoji="1" lang="en-US" altLang="zh-CN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Fortran </a:t>
            </a:r>
            <a:r>
              <a:rPr kumimoji="1" lang="zh-CN" altLang="en-US" sz="24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语言以列序为主序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8" name="Text Box 35"/>
          <p:cNvSpPr txBox="1">
            <a:spLocks noChangeArrowheads="1"/>
          </p:cNvSpPr>
          <p:nvPr/>
        </p:nvSpPr>
        <p:spPr bwMode="auto">
          <a:xfrm>
            <a:off x="2014538" y="874713"/>
            <a:ext cx="52578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a[1..m][1..n];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95399C-33C0-477E-A6BA-053443F46872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2" name="日期占位符 7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kumimoji="1" lang="zh-CN" altLang="en-US" sz="2800" dirty="0" smtClean="0">
                <a:ea typeface="华文楷体" panose="02010600040101010101" pitchFamily="2" charset="-122"/>
              </a:rPr>
              <a:t>三维数组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52525"/>
            <a:ext cx="7715250" cy="52482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1" lang="zh-CN" altLang="en-US" sz="2000" dirty="0" smtClean="0">
                <a:ea typeface="华文楷体" panose="02010600040101010101" pitchFamily="2" charset="-122"/>
              </a:rPr>
              <a:t>三维数组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A</a:t>
            </a:r>
            <a:r>
              <a:rPr kumimoji="1" lang="zh-CN" altLang="en-US" sz="2000" dirty="0" smtClean="0">
                <a:ea typeface="华文楷体" panose="02010600040101010101" pitchFamily="2" charset="-122"/>
              </a:rPr>
              <a:t>（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1..r ,  1..m ,  1..n</a:t>
            </a:r>
            <a:r>
              <a:rPr kumimoji="1" lang="zh-CN" altLang="en-US" sz="2000" dirty="0" smtClean="0">
                <a:ea typeface="华文楷体" panose="02010600040101010101" pitchFamily="2" charset="-122"/>
              </a:rPr>
              <a:t>）可以看成是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r</a:t>
            </a:r>
            <a:r>
              <a:rPr kumimoji="1" lang="zh-CN" altLang="en-US" sz="2000" dirty="0" smtClean="0">
                <a:ea typeface="华文楷体" panose="02010600040101010101" pitchFamily="2" charset="-122"/>
              </a:rPr>
              <a:t>个</a:t>
            </a:r>
            <a:r>
              <a:rPr kumimoji="1" lang="en-US" altLang="zh-CN" sz="2000" dirty="0" err="1" smtClean="0">
                <a:ea typeface="华文楷体" panose="02010600040101010101" pitchFamily="2" charset="-122"/>
              </a:rPr>
              <a:t>m×n</a:t>
            </a:r>
            <a:r>
              <a:rPr kumimoji="1" lang="zh-CN" altLang="en-US" sz="2000" dirty="0" smtClean="0">
                <a:ea typeface="华文楷体" panose="02010600040101010101" pitchFamily="2" charset="-122"/>
              </a:rPr>
              <a:t>的二维数组</a:t>
            </a:r>
          </a:p>
        </p:txBody>
      </p:sp>
      <p:graphicFrame>
        <p:nvGraphicFramePr>
          <p:cNvPr id="1127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464050" y="1700213"/>
          <a:ext cx="4679950" cy="191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7" name="VISIO" r:id="rId3" imgW="3451860" imgH="1417320" progId="Visio.Drawing.4">
                  <p:embed/>
                </p:oleObj>
              </mc:Choice>
              <mc:Fallback>
                <p:oleObj name="VISIO" r:id="rId3" imgW="3451860" imgH="1417320" progId="Visio.Drawing.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1700213"/>
                        <a:ext cx="4679950" cy="191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6"/>
          <p:cNvSpPr>
            <a:spLocks noChangeArrowheads="1"/>
          </p:cNvSpPr>
          <p:nvPr/>
        </p:nvSpPr>
        <p:spPr bwMode="auto">
          <a:xfrm>
            <a:off x="368300" y="4392613"/>
            <a:ext cx="6506909" cy="445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［</a:t>
            </a:r>
            <a:r>
              <a:rPr kumimoji="1"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, j, k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］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kumimoji="1"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［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1, 1, 1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］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+[(i-1)×</a:t>
            </a:r>
            <a:r>
              <a:rPr kumimoji="1"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m×n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+(j-1)×n+(k-1)] ×c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323850" y="5013325"/>
            <a:ext cx="8135938" cy="7921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如果三维数组为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A[c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,d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][c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,d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][c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,d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],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每个数据元素占ｃ个单元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则</a:t>
            </a:r>
            <a:r>
              <a:rPr lang="en-US" altLang="zh-CN" sz="2000" b="1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［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］＝？</a:t>
            </a:r>
          </a:p>
        </p:txBody>
      </p:sp>
      <p:sp>
        <p:nvSpPr>
          <p:cNvPr id="154633" name="Rectangle 9"/>
          <p:cNvSpPr>
            <a:spLocks noChangeArrowheads="1"/>
          </p:cNvSpPr>
          <p:nvPr/>
        </p:nvSpPr>
        <p:spPr bwMode="auto">
          <a:xfrm>
            <a:off x="273050" y="5876925"/>
            <a:ext cx="7899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［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, 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, 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］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kumimoji="1"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［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, 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, 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］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ｃ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×(d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-c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+1)×(d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-c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+1)×(j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-c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+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ｃ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×(d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-c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+1)×(j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-c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)+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ｃ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×(j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-c</a:t>
            </a:r>
            <a:r>
              <a:rPr lang="en-US" altLang="zh-CN" sz="20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)</a:t>
            </a:r>
          </a:p>
        </p:txBody>
      </p:sp>
      <p:graphicFrame>
        <p:nvGraphicFramePr>
          <p:cNvPr id="11275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9388" y="1773238"/>
          <a:ext cx="4248150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" name="VISIO" r:id="rId5" imgW="2796540" imgH="1249680" progId="Visio.Drawing.4">
                  <p:embed/>
                </p:oleObj>
              </mc:Choice>
              <mc:Fallback>
                <p:oleObj name="VISIO" r:id="rId5" imgW="2796540" imgH="1249680" progId="Visio.Drawing.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773238"/>
                        <a:ext cx="4248150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539750" y="3500438"/>
            <a:ext cx="8353425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A[1,..,3][1,..,4][1,..,2]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行优先时存放顺序</a:t>
            </a: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: 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a111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a112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a121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a122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 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a331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a332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a341</a:t>
            </a:r>
            <a:r>
              <a:rPr kumimoji="1"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a342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1" grpId="0" animBg="1"/>
      <p:bldP spid="1546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601531C-86F1-4B52-B834-1749BB95099C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41275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维数组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762" y="1296541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loc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(a[i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 i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 ..., i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d</a:t>
            </a:r>
            <a:r>
              <a:rPr lang="en-US" altLang="zh-CN" sz="2400" dirty="0" smtClean="0">
                <a:ea typeface="华文楷体" panose="02010600040101010101" pitchFamily="2" charset="-122"/>
              </a:rPr>
              <a:t>])=C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0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*i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*i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+...+C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d</a:t>
            </a:r>
            <a:r>
              <a:rPr lang="en-US" altLang="zh-CN" sz="2400" dirty="0" smtClean="0">
                <a:ea typeface="华文楷体" panose="02010600040101010101" pitchFamily="2" charset="-122"/>
              </a:rPr>
              <a:t>*i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aseline="-250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aseline="-25000" dirty="0" smtClean="0">
                <a:ea typeface="华文楷体" panose="02010600040101010101" pitchFamily="2" charset="-122"/>
              </a:rPr>
              <a:t>    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d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=c;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t-1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*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(1&lt;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t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d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0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=b-C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-C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-...-C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d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b=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loc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(a[1,1,...,1])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数组是一种随机存取结构。</a:t>
            </a:r>
            <a:endParaRPr lang="zh-CN" altLang="en-US" sz="2400" b="1" dirty="0" smtClean="0">
              <a:ea typeface="华文楷体" panose="02010600040101010101" pitchFamily="2" charset="-122"/>
            </a:endParaRPr>
          </a:p>
        </p:txBody>
      </p:sp>
      <p:sp>
        <p:nvSpPr>
          <p:cNvPr id="12295" name="AutoShape 4"/>
          <p:cNvSpPr>
            <a:spLocks/>
          </p:cNvSpPr>
          <p:nvPr/>
        </p:nvSpPr>
        <p:spPr bwMode="auto">
          <a:xfrm>
            <a:off x="1295400" y="2362200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296" name="Text Box 5"/>
          <p:cNvSpPr txBox="1">
            <a:spLocks noChangeArrowheads="1"/>
          </p:cNvSpPr>
          <p:nvPr/>
        </p:nvSpPr>
        <p:spPr bwMode="auto">
          <a:xfrm>
            <a:off x="395536" y="952500"/>
            <a:ext cx="6553200" cy="4572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a[1..n</a:t>
            </a:r>
            <a:r>
              <a:rPr kumimoji="1" lang="en-US" altLang="zh-CN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][1..n</a:t>
            </a:r>
            <a:r>
              <a:rPr kumimoji="1" lang="en-US" altLang="zh-CN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 ,..., [1..n</a:t>
            </a:r>
            <a:r>
              <a:rPr kumimoji="1" lang="en-US" altLang="zh-CN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];</a:t>
            </a:r>
          </a:p>
        </p:txBody>
      </p:sp>
      <p:sp>
        <p:nvSpPr>
          <p:cNvPr id="12297" name="AutoShape 6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762000" y="4343400"/>
            <a:ext cx="784860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kumimoji="1"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思考： 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a [3..7][ 0..9][1..6][5..10];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设每数组元素占用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个存储单元，求按低下标优先（类似行优先）顺序存储时，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loc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(a[6, 3, 3, 7])=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？</a:t>
            </a:r>
            <a:endParaRPr kumimoji="1"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7243763" cy="563562"/>
          </a:xfrm>
        </p:spPr>
        <p:txBody>
          <a:bodyPr/>
          <a:lstStyle/>
          <a:p>
            <a:pPr algn="l" eaLnBrk="1" hangingPunct="1"/>
            <a:r>
              <a:rPr kumimoji="1" lang="en-US" altLang="zh-CN" sz="2800" dirty="0" smtClean="0">
                <a:ea typeface="华文楷体" panose="02010600040101010101" pitchFamily="2" charset="-122"/>
              </a:rPr>
              <a:t>C</a:t>
            </a:r>
            <a:r>
              <a:rPr kumimoji="1" lang="zh-CN" altLang="en-US" sz="2800" dirty="0" smtClean="0">
                <a:ea typeface="华文楷体" panose="02010600040101010101" pitchFamily="2" charset="-122"/>
              </a:rPr>
              <a:t>语言中的多维数组表示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457200" y="1152526"/>
            <a:ext cx="4042792" cy="4436714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定义和引用多维数组的唯一方法就是使用数组的数组。即</a:t>
            </a:r>
            <a:r>
              <a:rPr lang="zh-CN" altLang="en-US" sz="2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多维数组看成是某种对象的一维数组，数组的元素可以是另一个数组</a:t>
            </a:r>
            <a:r>
              <a:rPr lang="zh-CN" altLang="en-US" sz="2000" dirty="0" smtClean="0"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en-US" altLang="zh-CN" sz="2000" dirty="0" smtClean="0">
                <a:ea typeface="华文楷体" panose="02010600040101010101" pitchFamily="2" charset="-122"/>
              </a:rPr>
              <a:t>C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语言定义多维数组时，</a:t>
            </a:r>
            <a:r>
              <a:rPr lang="zh-CN" altLang="en-US" sz="2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最右边的下标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先变化，即行优先顺序。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en-US" altLang="zh-CN" sz="2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C</a:t>
            </a:r>
            <a:r>
              <a:rPr lang="zh-CN" altLang="en-US" sz="2000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语言中任何一维数组均可作为函数的实参，但无法向函数传递普通的多维数组。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这是因为我们需要知道每一维的长度，为地址运算提供正确的单位长度。因此必须提供</a:t>
            </a:r>
            <a:r>
              <a:rPr lang="zh-CN" altLang="en-US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除最左边一维外的所有维的长度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，把实参限制在除最左边一维外的所有维都必须与形参匹配的数组。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1600" dirty="0" smtClean="0"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	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407FD8-10D9-4976-ADD5-ED4C55770DD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004048" y="1127125"/>
            <a:ext cx="3600400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3300"/>
                </a:solidFill>
                <a:ea typeface="华文楷体" panose="02010600040101010101" pitchFamily="2" charset="-122"/>
              </a:rPr>
              <a:t>【</a:t>
            </a:r>
            <a:r>
              <a:rPr lang="zh-CN" altLang="en-US" b="1" dirty="0">
                <a:solidFill>
                  <a:srgbClr val="FF3300"/>
                </a:solidFill>
                <a:ea typeface="华文楷体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FF3300"/>
                </a:solidFill>
                <a:ea typeface="华文楷体" panose="02010600040101010101" pitchFamily="2" charset="-122"/>
              </a:rPr>
              <a:t>】</a:t>
            </a:r>
            <a:r>
              <a:rPr lang="en-US" altLang="zh-CN" dirty="0">
                <a:ea typeface="华文楷体" panose="02010600040101010101" pitchFamily="2" charset="-122"/>
              </a:rPr>
              <a:t>char carrot[10][20</a:t>
            </a:r>
            <a:r>
              <a:rPr lang="en-US" altLang="zh-CN" dirty="0" smtClean="0">
                <a:ea typeface="华文楷体" panose="02010600040101010101" pitchFamily="2" charset="-122"/>
              </a:rPr>
              <a:t>]; </a:t>
            </a:r>
            <a:r>
              <a:rPr lang="zh-CN" altLang="en-US" dirty="0" smtClean="0">
                <a:ea typeface="华文楷体" panose="02010600040101010101" pitchFamily="2" charset="-122"/>
              </a:rPr>
              <a:t>或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err="1">
                <a:ea typeface="华文楷体" panose="02010600040101010101" pitchFamily="2" charset="-122"/>
              </a:rPr>
              <a:t>t</a:t>
            </a:r>
            <a:r>
              <a:rPr lang="en-US" altLang="zh-CN" dirty="0" err="1" smtClean="0">
                <a:ea typeface="华文楷体" panose="02010600040101010101" pitchFamily="2" charset="-122"/>
              </a:rPr>
              <a:t>ypedef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ea typeface="华文楷体" panose="02010600040101010101" pitchFamily="2" charset="-122"/>
              </a:rPr>
              <a:t>char vegetable[20];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vegetable </a:t>
            </a:r>
            <a:r>
              <a:rPr lang="en-US" altLang="zh-CN" dirty="0">
                <a:ea typeface="华文楷体" panose="02010600040101010101" pitchFamily="2" charset="-122"/>
              </a:rPr>
              <a:t>carrot[10];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华文楷体" panose="02010600040101010101" pitchFamily="2" charset="-122"/>
              </a:rPr>
              <a:t>上述</a:t>
            </a:r>
            <a:r>
              <a:rPr lang="zh-CN" altLang="en-US" dirty="0">
                <a:ea typeface="华文楷体" panose="02010600040101010101" pitchFamily="2" charset="-122"/>
              </a:rPr>
              <a:t>两种形式，访问</a:t>
            </a:r>
            <a:r>
              <a:rPr lang="en-US" altLang="zh-CN" dirty="0">
                <a:ea typeface="华文楷体" panose="02010600040101010101" pitchFamily="2" charset="-122"/>
              </a:rPr>
              <a:t>carrot[</a:t>
            </a:r>
            <a:r>
              <a:rPr lang="en-US" altLang="zh-CN" dirty="0" err="1">
                <a:ea typeface="华文楷体" panose="02010600040101010101" pitchFamily="2" charset="-122"/>
              </a:rPr>
              <a:t>i</a:t>
            </a:r>
            <a:r>
              <a:rPr lang="en-US" altLang="zh-CN" dirty="0">
                <a:ea typeface="华文楷体" panose="02010600040101010101" pitchFamily="2" charset="-122"/>
              </a:rPr>
              <a:t>][j]</a:t>
            </a:r>
            <a:r>
              <a:rPr lang="zh-CN" altLang="en-US" dirty="0">
                <a:ea typeface="华文楷体" panose="02010600040101010101" pitchFamily="2" charset="-122"/>
              </a:rPr>
              <a:t>时，编译器编译时都解释成：</a:t>
            </a:r>
            <a:r>
              <a:rPr lang="en-US" altLang="zh-CN" dirty="0">
                <a:ea typeface="华文楷体" panose="02010600040101010101" pitchFamily="2" charset="-122"/>
              </a:rPr>
              <a:t>*(*(</a:t>
            </a:r>
            <a:r>
              <a:rPr lang="en-US" altLang="zh-CN" dirty="0" err="1">
                <a:ea typeface="华文楷体" panose="02010600040101010101" pitchFamily="2" charset="-122"/>
              </a:rPr>
              <a:t>carrot+i</a:t>
            </a:r>
            <a:r>
              <a:rPr lang="en-US" altLang="zh-CN" dirty="0">
                <a:ea typeface="华文楷体" panose="02010600040101010101" pitchFamily="2" charset="-122"/>
              </a:rPr>
              <a:t>)+j</a:t>
            </a:r>
            <a:r>
              <a:rPr lang="en-US" altLang="zh-CN" dirty="0" smtClean="0">
                <a:ea typeface="华文楷体" panose="0201060004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3300"/>
                </a:solidFill>
                <a:ea typeface="华文楷体" panose="02010600040101010101" pitchFamily="2" charset="-122"/>
              </a:rPr>
              <a:t>【</a:t>
            </a:r>
            <a:r>
              <a:rPr lang="zh-CN" altLang="en-US" b="1" dirty="0">
                <a:solidFill>
                  <a:srgbClr val="FF3300"/>
                </a:solidFill>
                <a:ea typeface="华文楷体" panose="02010600040101010101" pitchFamily="2" charset="-122"/>
              </a:rPr>
              <a:t>例</a:t>
            </a:r>
            <a:r>
              <a:rPr lang="en-US" altLang="zh-CN" b="1" dirty="0">
                <a:solidFill>
                  <a:srgbClr val="FF3300"/>
                </a:solidFill>
                <a:ea typeface="华文楷体" panose="02010600040101010101" pitchFamily="2" charset="-122"/>
              </a:rPr>
              <a:t>】</a:t>
            </a:r>
            <a:r>
              <a:rPr lang="zh-CN" altLang="en-US" dirty="0">
                <a:ea typeface="华文楷体" panose="02010600040101010101" pitchFamily="2" charset="-122"/>
              </a:rPr>
              <a:t>定义函数</a:t>
            </a:r>
            <a:r>
              <a:rPr lang="en-US" altLang="zh-CN" dirty="0">
                <a:ea typeface="华文楷体" panose="02010600040101010101" pitchFamily="2" charset="-122"/>
              </a:rPr>
              <a:t>fun(</a:t>
            </a:r>
            <a:r>
              <a:rPr lang="en-US" altLang="zh-CN" dirty="0" err="1">
                <a:ea typeface="华文楷体" panose="02010600040101010101" pitchFamily="2" charset="-122"/>
              </a:rPr>
              <a:t>int</a:t>
            </a:r>
            <a:r>
              <a:rPr lang="en-US" altLang="zh-CN" dirty="0">
                <a:ea typeface="华文楷体" panose="02010600040101010101" pitchFamily="2" charset="-122"/>
              </a:rPr>
              <a:t> a[][3][5])</a:t>
            </a:r>
            <a:r>
              <a:rPr lang="zh-CN" altLang="en-US" dirty="0">
                <a:ea typeface="华文楷体" panose="02010600040101010101" pitchFamily="2" charset="-122"/>
              </a:rPr>
              <a:t>下面调用方式可行的有哪些？</a:t>
            </a:r>
            <a:endParaRPr lang="en-US" altLang="zh-CN" dirty="0">
              <a:ea typeface="华文楷体" panose="02010600040101010101" pitchFamily="2" charset="-122"/>
            </a:endParaRPr>
          </a:p>
          <a:p>
            <a:r>
              <a:rPr lang="en-US" altLang="zh-CN" dirty="0" smtClean="0">
                <a:ea typeface="华文楷体" panose="02010600040101010101" pitchFamily="2" charset="-122"/>
              </a:rPr>
              <a:t>1. </a:t>
            </a:r>
            <a:r>
              <a:rPr lang="en-US" altLang="zh-CN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ea typeface="华文楷体" panose="02010600040101010101" pitchFamily="2" charset="-122"/>
              </a:rPr>
              <a:t>b[10][3][5]; fun(b); 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r>
              <a:rPr lang="en-US" altLang="zh-CN" dirty="0" smtClean="0">
                <a:ea typeface="华文楷体" panose="02010600040101010101" pitchFamily="2" charset="-122"/>
              </a:rPr>
              <a:t>2</a:t>
            </a:r>
            <a:r>
              <a:rPr lang="en-US" altLang="zh-CN" dirty="0">
                <a:ea typeface="华文楷体" panose="02010600040101010101" pitchFamily="2" charset="-122"/>
              </a:rPr>
              <a:t>. </a:t>
            </a:r>
            <a:r>
              <a:rPr lang="en-US" altLang="zh-CN" dirty="0" err="1">
                <a:ea typeface="华文楷体" panose="02010600040101010101" pitchFamily="2" charset="-122"/>
              </a:rPr>
              <a:t>int</a:t>
            </a:r>
            <a:r>
              <a:rPr lang="en-US" altLang="zh-CN" dirty="0">
                <a:ea typeface="华文楷体" panose="02010600040101010101" pitchFamily="2" charset="-122"/>
              </a:rPr>
              <a:t> c[10][5][5]; fun(b);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3</a:t>
            </a:r>
            <a:r>
              <a:rPr lang="en-US" altLang="zh-CN" dirty="0">
                <a:ea typeface="华文楷体" panose="02010600040101010101" pitchFamily="2" charset="-122"/>
              </a:rPr>
              <a:t>. </a:t>
            </a:r>
            <a:r>
              <a:rPr lang="en-US" altLang="zh-CN" dirty="0" err="1">
                <a:ea typeface="华文楷体" panose="02010600040101010101" pitchFamily="2" charset="-122"/>
              </a:rPr>
              <a:t>int</a:t>
            </a:r>
            <a:r>
              <a:rPr lang="en-US" altLang="zh-CN" dirty="0">
                <a:ea typeface="华文楷体" panose="02010600040101010101" pitchFamily="2" charset="-122"/>
              </a:rPr>
              <a:t> c[999][3][5]; fun(c); 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4</a:t>
            </a:r>
            <a:r>
              <a:rPr lang="en-US" altLang="zh-CN" dirty="0">
                <a:ea typeface="华文楷体" panose="02010600040101010101" pitchFamily="2" charset="-122"/>
              </a:rPr>
              <a:t>. </a:t>
            </a:r>
            <a:r>
              <a:rPr lang="en-US" altLang="zh-CN" dirty="0" err="1">
                <a:ea typeface="华文楷体" panose="02010600040101010101" pitchFamily="2" charset="-122"/>
              </a:rPr>
              <a:t>int</a:t>
            </a:r>
            <a:r>
              <a:rPr lang="en-US" altLang="zh-CN" dirty="0">
                <a:ea typeface="华文楷体" panose="02010600040101010101" pitchFamily="2" charset="-122"/>
              </a:rPr>
              <a:t> d[999][3][6]; fun(d);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674A02-D9A3-496A-A2D2-B6C827B5E905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endParaRPr lang="zh-CN" altLang="zh-CN" sz="2800" b="0" dirty="0" smtClean="0">
              <a:ea typeface="华文楷体" panose="02010600040101010101" pitchFamily="2" charset="-122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设矩阵</a:t>
            </a:r>
            <a:r>
              <a:rPr lang="en-US" altLang="zh-CN" sz="2800" dirty="0" smtClean="0">
                <a:ea typeface="华文楷体" panose="02010600040101010101" pitchFamily="2" charset="-122"/>
                <a:cs typeface="Times New Roman" panose="02020603050405020304" pitchFamily="18" charset="0"/>
              </a:rPr>
              <a:t>a[1,..3][1,..3]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如下，执行下列语句后，矩阵</a:t>
            </a:r>
            <a:r>
              <a:rPr lang="en-US" altLang="zh-CN" sz="2800" dirty="0" smtClean="0">
                <a:ea typeface="华文楷体" panose="02010600040101010101" pitchFamily="2" charset="-122"/>
              </a:rPr>
              <a:t>c[1,..3][1,..3]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800" dirty="0" smtClean="0">
                <a:ea typeface="华文楷体" panose="02010600040101010101" pitchFamily="2" charset="-122"/>
              </a:rPr>
              <a:t>a[1,..3][1,..3]</a:t>
            </a:r>
            <a:r>
              <a:rPr lang="zh-CN" altLang="en-US" sz="2800" dirty="0" smtClean="0">
                <a:ea typeface="华文楷体" panose="02010600040101010101" pitchFamily="2" charset="-122"/>
              </a:rPr>
              <a:t>的结果分别是什么？ </a:t>
            </a:r>
          </a:p>
        </p:txBody>
      </p:sp>
      <p:sp>
        <p:nvSpPr>
          <p:cNvPr id="14343" name="Rectangle 13"/>
          <p:cNvSpPr>
            <a:spLocks noChangeArrowheads="1"/>
          </p:cNvSpPr>
          <p:nvPr/>
        </p:nvSpPr>
        <p:spPr bwMode="auto">
          <a:xfrm>
            <a:off x="539750" y="2852738"/>
            <a:ext cx="678973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000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）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for  (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=1;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&lt;=3;i++)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　　　　　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for(j=1; j&lt;= 3;j++)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		 c[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 = a[a[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],a[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j,i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]]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（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for  (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=1;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&lt;=3;i++)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　　　　　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for(j=1; j&lt;= 3;j++)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a[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 = a[a[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],a[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j,i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]] </a:t>
            </a:r>
          </a:p>
        </p:txBody>
      </p:sp>
      <p:pic>
        <p:nvPicPr>
          <p:cNvPr id="1434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205038"/>
            <a:ext cx="103663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8975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48" y="4938621"/>
            <a:ext cx="1498600" cy="15827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6" name="Text Box 16"/>
          <p:cNvSpPr txBox="1">
            <a:spLocks noChangeArrowheads="1"/>
          </p:cNvSpPr>
          <p:nvPr/>
        </p:nvSpPr>
        <p:spPr bwMode="auto">
          <a:xfrm>
            <a:off x="455391" y="5292479"/>
            <a:ext cx="935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c=</a:t>
            </a:r>
            <a:endParaRPr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47" name="Text Box 17"/>
          <p:cNvSpPr txBox="1">
            <a:spLocks noChangeArrowheads="1"/>
          </p:cNvSpPr>
          <p:nvPr/>
        </p:nvSpPr>
        <p:spPr bwMode="auto">
          <a:xfrm>
            <a:off x="3926757" y="5300663"/>
            <a:ext cx="935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a=</a:t>
            </a:r>
          </a:p>
        </p:txBody>
      </p:sp>
      <p:pic>
        <p:nvPicPr>
          <p:cNvPr id="168978" name="Picture 1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433" y="4984073"/>
            <a:ext cx="1457325" cy="15843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752" y="1132059"/>
            <a:ext cx="8711736" cy="215292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【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示例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】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设计</a:t>
            </a:r>
            <a:r>
              <a:rPr lang="zh-CN" altLang="en-US" sz="2000" dirty="0">
                <a:ea typeface="华文楷体" panose="02010600040101010101" pitchFamily="2" charset="-122"/>
              </a:rPr>
              <a:t>一个算法，将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含有</a:t>
            </a:r>
            <a:r>
              <a:rPr lang="en-US" altLang="zh-CN" sz="2000" dirty="0" smtClean="0">
                <a:ea typeface="华文楷体" panose="02010600040101010101" pitchFamily="2" charset="-122"/>
              </a:rPr>
              <a:t>n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个元素的整形数组</a:t>
            </a:r>
            <a:r>
              <a:rPr lang="en-US" altLang="zh-CN" sz="2000" dirty="0" smtClean="0">
                <a:ea typeface="华文楷体" panose="02010600040101010101" pitchFamily="2" charset="-122"/>
              </a:rPr>
              <a:t>A[0..n-1]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的元素循环右移</a:t>
            </a:r>
            <a:r>
              <a:rPr lang="en-US" altLang="zh-CN" sz="2000" dirty="0" smtClean="0">
                <a:ea typeface="华文楷体" panose="02010600040101010101" pitchFamily="2" charset="-122"/>
              </a:rPr>
              <a:t>m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位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(1≤m≤n)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，要求</a:t>
            </a:r>
            <a:r>
              <a:rPr lang="zh-CN" altLang="en-US" sz="2000" dirty="0">
                <a:ea typeface="华文楷体" panose="02010600040101010101" pitchFamily="2" charset="-122"/>
              </a:rPr>
              <a:t>空间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复杂度为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O(1)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例如假设</a:t>
            </a:r>
            <a:r>
              <a:rPr lang="en-US" altLang="zh-CN" sz="2000" dirty="0" smtClean="0">
                <a:ea typeface="华文楷体" panose="02010600040101010101" pitchFamily="2" charset="-122"/>
              </a:rPr>
              <a:t>A[0..5]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是</a:t>
            </a:r>
            <a:r>
              <a:rPr lang="en-US" altLang="zh-CN" sz="2000" dirty="0" smtClean="0">
                <a:ea typeface="华文楷体" panose="02010600040101010101" pitchFamily="2" charset="-122"/>
              </a:rPr>
              <a:t>1 2 3 4 5 6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；循环右移</a:t>
            </a:r>
            <a:r>
              <a:rPr lang="en-US" altLang="zh-CN" sz="2000" dirty="0" smtClean="0">
                <a:ea typeface="华文楷体" panose="02010600040101010101" pitchFamily="2" charset="-122"/>
              </a:rPr>
              <a:t>2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位，则数组变为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5 6 1 2 3 4.</a:t>
            </a:r>
          </a:p>
          <a:p>
            <a:pPr marL="0" indent="0">
              <a:buNone/>
            </a:pPr>
            <a:r>
              <a:rPr lang="zh-CN" altLang="en-US" sz="20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思路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：假设将数组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A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表示为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XY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X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表示前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n-m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个元素，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Y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表示后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m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个元素。则循环右移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m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位后得到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YX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。那如何得到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YX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？</a:t>
            </a:r>
            <a:endParaRPr lang="en-US" altLang="zh-CN" sz="2000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可</a:t>
            </a:r>
            <a:r>
              <a:rPr lang="zh-CN" altLang="en-US" sz="2000" dirty="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置逆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X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，得到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X</a:t>
            </a:r>
            <a:r>
              <a:rPr lang="en-US" altLang="zh-CN" sz="1800" baseline="30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-1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Y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；</a:t>
            </a:r>
            <a:r>
              <a:rPr lang="zh-CN" altLang="en-US" sz="2000" dirty="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置逆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Y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，得到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X</a:t>
            </a:r>
            <a:r>
              <a:rPr lang="en-US" altLang="zh-CN" sz="1800" baseline="30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-1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Y</a:t>
            </a:r>
            <a:r>
              <a:rPr lang="en-US" altLang="zh-CN" sz="2000" baseline="30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-1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；</a:t>
            </a:r>
            <a:r>
              <a:rPr lang="zh-CN" altLang="en-US" sz="2000" dirty="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整体置逆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(X</a:t>
            </a:r>
            <a:r>
              <a:rPr lang="en-US" altLang="zh-CN" sz="1800" baseline="30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-1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Y</a:t>
            </a:r>
            <a:r>
              <a:rPr lang="en-US" altLang="zh-CN" sz="2000" baseline="30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-1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)</a:t>
            </a:r>
            <a:r>
              <a:rPr lang="en-US" altLang="zh-CN" sz="2000" baseline="30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-1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=YX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82785E-BE7B-4F3B-BEF0-28725DD9758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14757" y="3526228"/>
            <a:ext cx="4429546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800" dirty="0" smtClean="0">
                <a:ea typeface="华文楷体" panose="02010600040101010101" pitchFamily="2" charset="-122"/>
              </a:rPr>
              <a:t>Void Reverse(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A[],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j)</a:t>
            </a:r>
            <a:r>
              <a:rPr lang="zh-CN" altLang="en-US" sz="1800" dirty="0" smtClean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//</a:t>
            </a:r>
            <a:r>
              <a:rPr lang="zh-CN" altLang="en-US" sz="1800" dirty="0" smtClean="0">
                <a:ea typeface="华文楷体" panose="02010600040101010101" pitchFamily="2" charset="-122"/>
              </a:rPr>
              <a:t>置逆</a:t>
            </a:r>
            <a:r>
              <a:rPr lang="en-US" altLang="zh-CN" sz="1800" dirty="0" smtClean="0">
                <a:ea typeface="华文楷体" panose="02010600040101010101" pitchFamily="2" charset="-122"/>
              </a:rPr>
              <a:t>A[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..j]</a:t>
            </a:r>
          </a:p>
          <a:p>
            <a:r>
              <a:rPr lang="en-US" altLang="zh-CN" dirty="0" smtClean="0"/>
              <a:t>{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k, </a:t>
            </a:r>
            <a:r>
              <a:rPr lang="en-US" altLang="zh-CN" dirty="0" err="1" smtClean="0"/>
              <a:t>tmp</a:t>
            </a:r>
            <a:r>
              <a:rPr lang="en-US" altLang="zh-CN" dirty="0" smtClean="0"/>
              <a:t>;</a:t>
            </a:r>
          </a:p>
          <a:p>
            <a:r>
              <a:rPr lang="en-US" altLang="zh-CN" dirty="0" smtClean="0"/>
              <a:t>    for (k=0; k&lt;(j-i+1)/2; k++)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{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en-US" altLang="zh-CN" dirty="0" err="1" smtClean="0"/>
              <a:t>tmp</a:t>
            </a:r>
            <a:r>
              <a:rPr lang="en-US" altLang="zh-CN" dirty="0" smtClean="0"/>
              <a:t> = A[</a:t>
            </a:r>
            <a:r>
              <a:rPr lang="en-US" altLang="zh-CN" dirty="0" err="1" smtClean="0"/>
              <a:t>i+k</a:t>
            </a:r>
            <a:r>
              <a:rPr lang="en-US" altLang="zh-CN" dirty="0" smtClean="0"/>
              <a:t>];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A[</a:t>
            </a:r>
            <a:r>
              <a:rPr lang="en-US" altLang="zh-CN" dirty="0" err="1" smtClean="0"/>
              <a:t>i+k</a:t>
            </a:r>
            <a:r>
              <a:rPr lang="en-US" altLang="zh-CN" dirty="0" smtClean="0"/>
              <a:t>] = A[j-k];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A[j-k] = </a:t>
            </a:r>
            <a:r>
              <a:rPr lang="en-US" altLang="zh-CN" dirty="0" err="1" smtClean="0"/>
              <a:t>tmp</a:t>
            </a:r>
            <a:r>
              <a:rPr lang="en-US" altLang="zh-CN" dirty="0" smtClean="0"/>
              <a:t>;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968544" y="3504276"/>
            <a:ext cx="375895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RightMove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A[],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n,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m)</a:t>
            </a: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    Reverse(A, 0, n-m-1);</a:t>
            </a:r>
            <a:endParaRPr lang="en-US" altLang="zh-CN" sz="18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</a:t>
            </a:r>
            <a:r>
              <a:rPr lang="en-US" altLang="zh-CN" dirty="0" smtClean="0">
                <a:ea typeface="华文楷体" panose="02010600040101010101" pitchFamily="2" charset="-122"/>
              </a:rPr>
              <a:t>Reverse(A, n-m, n-1);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smtClean="0">
                <a:ea typeface="华文楷体" panose="02010600040101010101" pitchFamily="2" charset="-122"/>
              </a:rPr>
              <a:t>Reverse(A, 0, n-1);</a:t>
            </a: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}</a:t>
            </a:r>
            <a:endParaRPr lang="zh-CN" altLang="en-US" sz="1800" dirty="0" smtClean="0"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857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B14D185-12A7-4227-87F9-316606BCC114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2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5365" name="AutoShape 2"/>
          <p:cNvSpPr>
            <a:spLocks noChangeArrowheads="1"/>
          </p:cNvSpPr>
          <p:nvPr/>
        </p:nvSpPr>
        <p:spPr bwMode="auto">
          <a:xfrm>
            <a:off x="6705600" y="4800600"/>
            <a:ext cx="1447800" cy="14478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7772400" cy="838200"/>
          </a:xfrm>
        </p:spPr>
        <p:txBody>
          <a:bodyPr/>
          <a:lstStyle/>
          <a:p>
            <a:pPr algn="l" eaLnBrk="1" hangingPunct="1"/>
            <a:r>
              <a:rPr lang="en-US" altLang="zh-CN" sz="2800" b="0" dirty="0" smtClean="0">
                <a:ea typeface="华文楷体" panose="02010600040101010101" pitchFamily="2" charset="-122"/>
              </a:rPr>
              <a:t>5.3  </a:t>
            </a:r>
            <a:r>
              <a:rPr lang="zh-CN" altLang="en-US" sz="2800" b="0" dirty="0" smtClean="0">
                <a:ea typeface="华文楷体" panose="02010600040101010101" pitchFamily="2" charset="-122"/>
              </a:rPr>
              <a:t>矩阵的压缩存储</a:t>
            </a:r>
          </a:p>
        </p:txBody>
      </p:sp>
      <p:sp>
        <p:nvSpPr>
          <p:cNvPr id="1536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目的是节省空间。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5.3.1  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对称矩阵</a:t>
            </a:r>
            <a:endParaRPr lang="zh-CN" altLang="en-US" sz="2400" dirty="0" smtClean="0">
              <a:solidFill>
                <a:srgbClr val="8000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特点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在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n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的矩阵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中，满足如下性质：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ij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ji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(1 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j  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存储方法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只存储下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或者上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三角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包括主对角线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的数据元素。共占用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n(n+1)/2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个元素空间。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k=    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ea typeface="华文楷体" panose="02010600040101010101" pitchFamily="2" charset="-122"/>
              </a:rPr>
              <a:t>(i-1)/2+j     </a:t>
            </a:r>
            <a:r>
              <a:rPr lang="zh-CN" altLang="zh-CN" sz="2800" dirty="0" smtClean="0">
                <a:ea typeface="华文楷体" panose="02010600040101010101" pitchFamily="2" charset="-122"/>
              </a:rPr>
              <a:t>当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8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j</a:t>
            </a:r>
            <a:endParaRPr lang="en-US" altLang="zh-CN" sz="28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              j(j-1)/2+i     </a:t>
            </a:r>
            <a:r>
              <a:rPr lang="zh-CN" altLang="zh-CN" sz="2800" dirty="0" smtClean="0">
                <a:ea typeface="华文楷体" panose="02010600040101010101" pitchFamily="2" charset="-122"/>
              </a:rPr>
              <a:t>当</a:t>
            </a:r>
            <a:r>
              <a:rPr lang="en-US" altLang="zh-CN" sz="2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800" dirty="0" smtClean="0">
                <a:ea typeface="华文楷体" panose="02010600040101010101" pitchFamily="2" charset="-122"/>
              </a:rPr>
              <a:t>&lt;j</a:t>
            </a:r>
          </a:p>
        </p:txBody>
      </p:sp>
      <p:sp>
        <p:nvSpPr>
          <p:cNvPr id="15368" name="Text Box 5"/>
          <p:cNvSpPr txBox="1">
            <a:spLocks noChangeArrowheads="1"/>
          </p:cNvSpPr>
          <p:nvPr/>
        </p:nvSpPr>
        <p:spPr bwMode="auto">
          <a:xfrm>
            <a:off x="1752600" y="3810000"/>
            <a:ext cx="5486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a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a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a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ij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ji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 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nn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69" name="Line 6"/>
          <p:cNvSpPr>
            <a:spLocks noChangeShapeType="1"/>
          </p:cNvSpPr>
          <p:nvPr/>
        </p:nvSpPr>
        <p:spPr bwMode="auto">
          <a:xfrm>
            <a:off x="22860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0" name="Line 7"/>
          <p:cNvSpPr>
            <a:spLocks noChangeShapeType="1"/>
          </p:cNvSpPr>
          <p:nvPr/>
        </p:nvSpPr>
        <p:spPr bwMode="auto">
          <a:xfrm>
            <a:off x="27432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1" name="Line 8"/>
          <p:cNvSpPr>
            <a:spLocks noChangeShapeType="1"/>
          </p:cNvSpPr>
          <p:nvPr/>
        </p:nvSpPr>
        <p:spPr bwMode="auto">
          <a:xfrm>
            <a:off x="32004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2" name="Line 9"/>
          <p:cNvSpPr>
            <a:spLocks noChangeShapeType="1"/>
          </p:cNvSpPr>
          <p:nvPr/>
        </p:nvSpPr>
        <p:spPr bwMode="auto">
          <a:xfrm>
            <a:off x="36576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3" name="Line 10"/>
          <p:cNvSpPr>
            <a:spLocks noChangeShapeType="1"/>
          </p:cNvSpPr>
          <p:nvPr/>
        </p:nvSpPr>
        <p:spPr bwMode="auto">
          <a:xfrm>
            <a:off x="46482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4" name="Line 11"/>
          <p:cNvSpPr>
            <a:spLocks noChangeShapeType="1"/>
          </p:cNvSpPr>
          <p:nvPr/>
        </p:nvSpPr>
        <p:spPr bwMode="auto">
          <a:xfrm>
            <a:off x="54864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5" name="Line 12"/>
          <p:cNvSpPr>
            <a:spLocks noChangeShapeType="1"/>
          </p:cNvSpPr>
          <p:nvPr/>
        </p:nvSpPr>
        <p:spPr bwMode="auto">
          <a:xfrm>
            <a:off x="6629400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6" name="Text Box 13"/>
          <p:cNvSpPr txBox="1">
            <a:spLocks noChangeArrowheads="1"/>
          </p:cNvSpPr>
          <p:nvPr/>
        </p:nvSpPr>
        <p:spPr bwMode="auto">
          <a:xfrm>
            <a:off x="1143000" y="4267200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k    1      2       3     4                                               n(n+1)/2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7" name="AutoShape 14"/>
          <p:cNvSpPr>
            <a:spLocks/>
          </p:cNvSpPr>
          <p:nvPr/>
        </p:nvSpPr>
        <p:spPr bwMode="auto">
          <a:xfrm>
            <a:off x="3352800" y="5029200"/>
            <a:ext cx="76200" cy="762000"/>
          </a:xfrm>
          <a:prstGeom prst="leftBrace">
            <a:avLst>
              <a:gd name="adj1" fmla="val 8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8" name="Text Box 15"/>
          <p:cNvSpPr txBox="1">
            <a:spLocks noChangeArrowheads="1"/>
          </p:cNvSpPr>
          <p:nvPr/>
        </p:nvSpPr>
        <p:spPr bwMode="auto">
          <a:xfrm>
            <a:off x="1295400" y="3810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sa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79" name="Line 16"/>
          <p:cNvSpPr>
            <a:spLocks noChangeShapeType="1"/>
          </p:cNvSpPr>
          <p:nvPr/>
        </p:nvSpPr>
        <p:spPr bwMode="auto">
          <a:xfrm>
            <a:off x="6553200" y="48006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0" name="Line 17"/>
          <p:cNvSpPr>
            <a:spLocks noChangeShapeType="1"/>
          </p:cNvSpPr>
          <p:nvPr/>
        </p:nvSpPr>
        <p:spPr bwMode="auto">
          <a:xfrm>
            <a:off x="8305800" y="472440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1" name="Line 18"/>
          <p:cNvSpPr>
            <a:spLocks noChangeShapeType="1"/>
          </p:cNvSpPr>
          <p:nvPr/>
        </p:nvSpPr>
        <p:spPr bwMode="auto">
          <a:xfrm>
            <a:off x="6705600" y="4800600"/>
            <a:ext cx="1447800" cy="1447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2" name="Line 19"/>
          <p:cNvSpPr>
            <a:spLocks noChangeShapeType="1"/>
          </p:cNvSpPr>
          <p:nvPr/>
        </p:nvSpPr>
        <p:spPr bwMode="auto">
          <a:xfrm>
            <a:off x="6705600" y="4800600"/>
            <a:ext cx="1447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3" name="Line 20"/>
          <p:cNvSpPr>
            <a:spLocks noChangeShapeType="1"/>
          </p:cNvSpPr>
          <p:nvPr/>
        </p:nvSpPr>
        <p:spPr bwMode="auto">
          <a:xfrm>
            <a:off x="8153400" y="48006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4" name="Line 21"/>
          <p:cNvSpPr>
            <a:spLocks noChangeShapeType="1"/>
          </p:cNvSpPr>
          <p:nvPr/>
        </p:nvSpPr>
        <p:spPr bwMode="auto">
          <a:xfrm>
            <a:off x="6705600" y="48006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5" name="Line 22"/>
          <p:cNvSpPr>
            <a:spLocks noChangeShapeType="1"/>
          </p:cNvSpPr>
          <p:nvPr/>
        </p:nvSpPr>
        <p:spPr bwMode="auto">
          <a:xfrm>
            <a:off x="6705600" y="6248400"/>
            <a:ext cx="1447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386" name="Text Box 23"/>
          <p:cNvSpPr txBox="1">
            <a:spLocks noChangeArrowheads="1"/>
          </p:cNvSpPr>
          <p:nvPr/>
        </p:nvSpPr>
        <p:spPr bwMode="auto">
          <a:xfrm>
            <a:off x="6781800" y="5410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aseline="-25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ij</a:t>
            </a:r>
            <a:endParaRPr kumimoji="1" lang="en-US" altLang="zh-CN" sz="2800" baseline="-25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387" name="Text Box 24"/>
          <p:cNvSpPr txBox="1">
            <a:spLocks noChangeArrowheads="1"/>
          </p:cNvSpPr>
          <p:nvPr/>
        </p:nvSpPr>
        <p:spPr bwMode="auto">
          <a:xfrm>
            <a:off x="7543800" y="48006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aseline="-25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ji</a:t>
            </a:r>
            <a:endParaRPr kumimoji="1" lang="en-US" altLang="zh-CN" sz="2800" baseline="-250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388" name="Line 25"/>
          <p:cNvSpPr>
            <a:spLocks noChangeShapeType="1"/>
          </p:cNvSpPr>
          <p:nvPr/>
        </p:nvSpPr>
        <p:spPr bwMode="auto">
          <a:xfrm flipV="1">
            <a:off x="7162800" y="5257800"/>
            <a:ext cx="381000" cy="381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3981C0-395B-4B6E-AE91-1F5CE676BE60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90500"/>
            <a:ext cx="8458200" cy="300038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5.3.2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三角矩阵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924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特点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对角线以下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或者以上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的数据元素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不包括对角线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全部为常数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c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存储方法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重复元素</a:t>
            </a:r>
            <a:r>
              <a:rPr lang="en-US" altLang="zh-CN" sz="2400" dirty="0" smtClean="0">
                <a:ea typeface="华文楷体" panose="02010600040101010101" pitchFamily="2" charset="-122"/>
              </a:rPr>
              <a:t>c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共享一个元素存储空间，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共占用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n(n+1)/2+1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个元素空间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sa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[1.. n(n+1)/2+1]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上三角矩阵                       下三角矩阵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k=  (i-1)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(2n-i+2)/2+j-i+1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ij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k=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(i-1)/2+j  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ij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n(n+1)/2+1            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&gt;j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n(n+1)/2+1  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&lt;j</a:t>
            </a:r>
          </a:p>
        </p:txBody>
      </p:sp>
      <p:sp>
        <p:nvSpPr>
          <p:cNvPr id="16391" name="Line 4"/>
          <p:cNvSpPr>
            <a:spLocks noChangeShapeType="1"/>
          </p:cNvSpPr>
          <p:nvPr/>
        </p:nvSpPr>
        <p:spPr bwMode="auto">
          <a:xfrm>
            <a:off x="1752600" y="2209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2" name="Line 5"/>
          <p:cNvSpPr>
            <a:spLocks noChangeShapeType="1"/>
          </p:cNvSpPr>
          <p:nvPr/>
        </p:nvSpPr>
        <p:spPr bwMode="auto">
          <a:xfrm>
            <a:off x="3200400" y="2209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3" name="Text Box 6"/>
          <p:cNvSpPr txBox="1">
            <a:spLocks noChangeArrowheads="1"/>
          </p:cNvSpPr>
          <p:nvPr/>
        </p:nvSpPr>
        <p:spPr bwMode="auto">
          <a:xfrm>
            <a:off x="1905000" y="2590800"/>
            <a:ext cx="45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36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endParaRPr kumimoji="1" lang="en-US" altLang="zh-CN" sz="3600" dirty="0">
              <a:solidFill>
                <a:schemeClr val="accent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4" name="Line 7"/>
          <p:cNvSpPr>
            <a:spLocks noChangeShapeType="1"/>
          </p:cNvSpPr>
          <p:nvPr/>
        </p:nvSpPr>
        <p:spPr bwMode="auto">
          <a:xfrm>
            <a:off x="5257800" y="2133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5" name="Line 8"/>
          <p:cNvSpPr>
            <a:spLocks noChangeShapeType="1"/>
          </p:cNvSpPr>
          <p:nvPr/>
        </p:nvSpPr>
        <p:spPr bwMode="auto">
          <a:xfrm>
            <a:off x="6629400" y="2133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96" name="Text Box 9"/>
          <p:cNvSpPr txBox="1">
            <a:spLocks noChangeArrowheads="1"/>
          </p:cNvSpPr>
          <p:nvPr/>
        </p:nvSpPr>
        <p:spPr bwMode="auto">
          <a:xfrm>
            <a:off x="6019800" y="20574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36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</a:p>
        </p:txBody>
      </p:sp>
      <p:sp>
        <p:nvSpPr>
          <p:cNvPr id="16397" name="Text Box 10"/>
          <p:cNvSpPr txBox="1">
            <a:spLocks noChangeArrowheads="1"/>
          </p:cNvSpPr>
          <p:nvPr/>
        </p:nvSpPr>
        <p:spPr bwMode="auto">
          <a:xfrm>
            <a:off x="1676400" y="3200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上三角矩阵</a:t>
            </a:r>
          </a:p>
        </p:txBody>
      </p:sp>
      <p:sp>
        <p:nvSpPr>
          <p:cNvPr id="16398" name="Text Box 11"/>
          <p:cNvSpPr txBox="1">
            <a:spLocks noChangeArrowheads="1"/>
          </p:cNvSpPr>
          <p:nvPr/>
        </p:nvSpPr>
        <p:spPr bwMode="auto">
          <a:xfrm>
            <a:off x="5257800" y="32004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下三角矩阵</a:t>
            </a:r>
          </a:p>
        </p:txBody>
      </p:sp>
      <p:sp>
        <p:nvSpPr>
          <p:cNvPr id="16399" name="AutoShape 12"/>
          <p:cNvSpPr>
            <a:spLocks/>
          </p:cNvSpPr>
          <p:nvPr/>
        </p:nvSpPr>
        <p:spPr bwMode="auto">
          <a:xfrm>
            <a:off x="1371600" y="5410200"/>
            <a:ext cx="76200" cy="5334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0" name="AutoShape 13"/>
          <p:cNvSpPr>
            <a:spLocks/>
          </p:cNvSpPr>
          <p:nvPr/>
        </p:nvSpPr>
        <p:spPr bwMode="auto">
          <a:xfrm>
            <a:off x="5935663" y="5410200"/>
            <a:ext cx="76200" cy="6096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1" name="AutoShape 14"/>
          <p:cNvSpPr>
            <a:spLocks noChangeArrowheads="1"/>
          </p:cNvSpPr>
          <p:nvPr/>
        </p:nvSpPr>
        <p:spPr bwMode="auto">
          <a:xfrm rot="5400000" flipV="1">
            <a:off x="2057400" y="2057400"/>
            <a:ext cx="914400" cy="12192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402" name="AutoShape 15"/>
          <p:cNvSpPr>
            <a:spLocks noChangeArrowheads="1"/>
          </p:cNvSpPr>
          <p:nvPr/>
        </p:nvSpPr>
        <p:spPr bwMode="auto">
          <a:xfrm>
            <a:off x="5334000" y="2133600"/>
            <a:ext cx="1219200" cy="914400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BC07BC-1523-4214-A3C9-42BD573CFCF7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2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90500"/>
            <a:ext cx="8375650" cy="338138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5.3.3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带状矩阵（对角矩阵）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特点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在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n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的方阵中，非零元素集中在主对角线及其两侧共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L(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奇数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条对角线的带状区域内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— L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对角矩阵。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存储方法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只存储带状区内的元素。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）以对角线的顺序存储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共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n*L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个元素。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1   2  3  4  5  6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1  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8   2   3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0   0   0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2  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4   2   0   3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0   0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3  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5   7   7   6   8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4     0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9   6   9   1   5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5     0   0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6   1   4   2</a:t>
            </a:r>
            <a:endParaRPr lang="en-US" altLang="zh-CN" sz="20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6     0   0   0   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2   8   3</a:t>
            </a:r>
          </a:p>
        </p:txBody>
      </p:sp>
      <p:sp>
        <p:nvSpPr>
          <p:cNvPr id="17415" name="AutoShape 4"/>
          <p:cNvSpPr>
            <a:spLocks noChangeArrowheads="1"/>
          </p:cNvSpPr>
          <p:nvPr/>
        </p:nvSpPr>
        <p:spPr bwMode="auto">
          <a:xfrm>
            <a:off x="1104900" y="3593119"/>
            <a:ext cx="2209800" cy="21336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6" name="Line 5"/>
          <p:cNvSpPr>
            <a:spLocks noChangeShapeType="1"/>
          </p:cNvSpPr>
          <p:nvPr/>
        </p:nvSpPr>
        <p:spPr bwMode="auto">
          <a:xfrm>
            <a:off x="1447800" y="3810000"/>
            <a:ext cx="1524000" cy="18288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7" name="Text Box 6"/>
          <p:cNvSpPr txBox="1">
            <a:spLocks noChangeArrowheads="1"/>
          </p:cNvSpPr>
          <p:nvPr/>
        </p:nvSpPr>
        <p:spPr bwMode="auto">
          <a:xfrm>
            <a:off x="1371600" y="5715000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五对角矩阵</a:t>
            </a:r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4267200" y="3352800"/>
            <a:ext cx="2209800" cy="2295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       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3   3    8    5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2   0   6    1    2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8   2   7   9    4    3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4   7   6   1    8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5   9   6   2</a:t>
            </a:r>
            <a:endParaRPr kumimoji="1" lang="en-US" altLang="zh-CN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19" name="Line 8"/>
          <p:cNvSpPr>
            <a:spLocks noChangeShapeType="1"/>
          </p:cNvSpPr>
          <p:nvPr/>
        </p:nvSpPr>
        <p:spPr bwMode="auto">
          <a:xfrm>
            <a:off x="4267200" y="38100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0" name="Line 9"/>
          <p:cNvSpPr>
            <a:spLocks noChangeShapeType="1"/>
          </p:cNvSpPr>
          <p:nvPr/>
        </p:nvSpPr>
        <p:spPr bwMode="auto">
          <a:xfrm>
            <a:off x="4267200" y="42672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1" name="Line 10"/>
          <p:cNvSpPr>
            <a:spLocks noChangeShapeType="1"/>
          </p:cNvSpPr>
          <p:nvPr/>
        </p:nvSpPr>
        <p:spPr bwMode="auto">
          <a:xfrm>
            <a:off x="4267200" y="4724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2" name="Line 11"/>
          <p:cNvSpPr>
            <a:spLocks noChangeShapeType="1"/>
          </p:cNvSpPr>
          <p:nvPr/>
        </p:nvSpPr>
        <p:spPr bwMode="auto">
          <a:xfrm>
            <a:off x="4267200" y="5181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3" name="Text Box 12"/>
          <p:cNvSpPr txBox="1">
            <a:spLocks noChangeArrowheads="1"/>
          </p:cNvSpPr>
          <p:nvPr/>
        </p:nvSpPr>
        <p:spPr bwMode="auto">
          <a:xfrm>
            <a:off x="4267200" y="57150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s[-2..2;  1..6]</a:t>
            </a:r>
          </a:p>
        </p:txBody>
      </p:sp>
      <p:sp>
        <p:nvSpPr>
          <p:cNvPr id="17424" name="Text Box 13"/>
          <p:cNvSpPr txBox="1">
            <a:spLocks noChangeArrowheads="1"/>
          </p:cNvSpPr>
          <p:nvPr/>
        </p:nvSpPr>
        <p:spPr bwMode="auto">
          <a:xfrm>
            <a:off x="3886200" y="3352800"/>
            <a:ext cx="6096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-2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-1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0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1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2</a:t>
            </a:r>
          </a:p>
        </p:txBody>
      </p:sp>
      <p:sp>
        <p:nvSpPr>
          <p:cNvPr id="17425" name="Text Box 14"/>
          <p:cNvSpPr txBox="1">
            <a:spLocks noChangeArrowheads="1"/>
          </p:cNvSpPr>
          <p:nvPr/>
        </p:nvSpPr>
        <p:spPr bwMode="auto">
          <a:xfrm>
            <a:off x="4191000" y="2971800"/>
            <a:ext cx="2590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1   2   3   4    5    6 </a:t>
            </a:r>
          </a:p>
        </p:txBody>
      </p:sp>
      <p:sp>
        <p:nvSpPr>
          <p:cNvPr id="17426" name="Text Box 15"/>
          <p:cNvSpPr txBox="1">
            <a:spLocks noChangeArrowheads="1"/>
          </p:cNvSpPr>
          <p:nvPr/>
        </p:nvSpPr>
        <p:spPr bwMode="auto">
          <a:xfrm>
            <a:off x="7315200" y="3352800"/>
            <a:ext cx="1295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i1=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-j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j1=j</a:t>
            </a:r>
          </a:p>
        </p:txBody>
      </p:sp>
      <p:sp>
        <p:nvSpPr>
          <p:cNvPr id="17427" name="AutoShape 16"/>
          <p:cNvSpPr>
            <a:spLocks/>
          </p:cNvSpPr>
          <p:nvPr/>
        </p:nvSpPr>
        <p:spPr bwMode="auto">
          <a:xfrm>
            <a:off x="7086600" y="35814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2113" name="Text Box 17"/>
          <p:cNvSpPr txBox="1">
            <a:spLocks noChangeArrowheads="1"/>
          </p:cNvSpPr>
          <p:nvPr/>
        </p:nvSpPr>
        <p:spPr bwMode="auto">
          <a:xfrm>
            <a:off x="7162800" y="4572000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|</a:t>
            </a:r>
            <a:r>
              <a:rPr kumimoji="1"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-j|</a:t>
            </a:r>
            <a:r>
              <a:rPr kumimoji="1"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(L-1)/2</a:t>
            </a:r>
            <a:endParaRPr kumimoji="1"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29" name="Rectangle 18"/>
          <p:cNvSpPr>
            <a:spLocks noChangeArrowheads="1"/>
          </p:cNvSpPr>
          <p:nvPr/>
        </p:nvSpPr>
        <p:spPr bwMode="auto">
          <a:xfrm>
            <a:off x="6705600" y="5562600"/>
            <a:ext cx="1905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30" name="Text Box 19"/>
          <p:cNvSpPr txBox="1">
            <a:spLocks noChangeArrowheads="1"/>
          </p:cNvSpPr>
          <p:nvPr/>
        </p:nvSpPr>
        <p:spPr bwMode="auto">
          <a:xfrm>
            <a:off x="6477000" y="5867400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1                      n*L</a:t>
            </a:r>
          </a:p>
        </p:txBody>
      </p:sp>
      <p:sp>
        <p:nvSpPr>
          <p:cNvPr id="17431" name="Line 20"/>
          <p:cNvSpPr>
            <a:spLocks noChangeShapeType="1"/>
          </p:cNvSpPr>
          <p:nvPr/>
        </p:nvSpPr>
        <p:spPr bwMode="auto">
          <a:xfrm>
            <a:off x="6934200" y="556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32" name="Line 21"/>
          <p:cNvSpPr>
            <a:spLocks noChangeShapeType="1"/>
          </p:cNvSpPr>
          <p:nvPr/>
        </p:nvSpPr>
        <p:spPr bwMode="auto">
          <a:xfrm>
            <a:off x="8305800" y="556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33" name="Text Box 22"/>
          <p:cNvSpPr txBox="1">
            <a:spLocks noChangeArrowheads="1"/>
          </p:cNvSpPr>
          <p:nvPr/>
        </p:nvSpPr>
        <p:spPr bwMode="auto">
          <a:xfrm>
            <a:off x="6324600" y="5562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sa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34" name="AutoShape 23"/>
          <p:cNvSpPr>
            <a:spLocks noChangeArrowheads="1"/>
          </p:cNvSpPr>
          <p:nvPr/>
        </p:nvSpPr>
        <p:spPr bwMode="auto">
          <a:xfrm>
            <a:off x="3505200" y="43434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435" name="AutoShape 24"/>
          <p:cNvSpPr>
            <a:spLocks noChangeArrowheads="1"/>
          </p:cNvSpPr>
          <p:nvPr/>
        </p:nvSpPr>
        <p:spPr bwMode="auto">
          <a:xfrm flipV="1">
            <a:off x="6553200" y="4876800"/>
            <a:ext cx="533400" cy="5334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C02FAEA-9669-4A42-9BA6-C13D23E08D93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2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7772400" cy="762000"/>
          </a:xfrm>
        </p:spPr>
        <p:txBody>
          <a:bodyPr/>
          <a:lstStyle/>
          <a:p>
            <a:pPr algn="l" eaLnBrk="1" hangingPunct="1"/>
            <a:r>
              <a:rPr lang="en-US" altLang="zh-CN" sz="16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16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）只存储带状区内的元素。除首行和末行，按每行 </a:t>
            </a:r>
            <a:r>
              <a:rPr lang="en-US" altLang="zh-CN" sz="16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L</a:t>
            </a:r>
            <a:r>
              <a:rPr lang="zh-CN" altLang="zh-CN" sz="16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个元素，共</a:t>
            </a:r>
            <a:r>
              <a:rPr lang="en-US" altLang="zh-CN" sz="16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(n-2)L+(L+1)</a:t>
            </a:r>
            <a:r>
              <a:rPr lang="zh-CN" altLang="zh-CN" sz="16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个元素。</a:t>
            </a:r>
            <a:r>
              <a:rPr lang="en-US" altLang="zh-CN" sz="1600" dirty="0" err="1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sa</a:t>
            </a:r>
            <a:r>
              <a:rPr lang="en-US" altLang="zh-CN" sz="16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[1..(n-1)L+1]</a:t>
            </a:r>
            <a:endParaRPr lang="en-US" altLang="zh-CN" sz="1800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64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存储地址计算：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k=(i-1)L+1+(j-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 |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-j|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(L-1)/2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8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8   2   3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0   0   0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8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4   2   0   3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0   0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8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5   7   7   6   8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0   </a:t>
            </a:r>
            <a:r>
              <a:rPr lang="en-US" altLang="zh-CN" sz="28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9   6   9   1   5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0   0   </a:t>
            </a:r>
            <a:r>
              <a:rPr lang="en-US" altLang="zh-CN" sz="28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6   1   4   2</a:t>
            </a: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0   0   0   </a:t>
            </a:r>
            <a:r>
              <a:rPr lang="en-US" altLang="zh-CN" sz="28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2   8   3</a:t>
            </a:r>
            <a:endParaRPr lang="en-US" altLang="zh-CN" sz="2800" dirty="0" smtClean="0">
              <a:ea typeface="华文楷体" panose="02010600040101010101" pitchFamily="2" charset="-122"/>
            </a:endParaRPr>
          </a:p>
        </p:txBody>
      </p:sp>
      <p:sp>
        <p:nvSpPr>
          <p:cNvPr id="18439" name="Line 4"/>
          <p:cNvSpPr>
            <a:spLocks noChangeShapeType="1"/>
          </p:cNvSpPr>
          <p:nvPr/>
        </p:nvSpPr>
        <p:spPr bwMode="auto">
          <a:xfrm>
            <a:off x="914400" y="30480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0" name="Line 5"/>
          <p:cNvSpPr>
            <a:spLocks noChangeShapeType="1"/>
          </p:cNvSpPr>
          <p:nvPr/>
        </p:nvSpPr>
        <p:spPr bwMode="auto">
          <a:xfrm>
            <a:off x="914400" y="3048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1" name="Line 6"/>
          <p:cNvSpPr>
            <a:spLocks noChangeShapeType="1"/>
          </p:cNvSpPr>
          <p:nvPr/>
        </p:nvSpPr>
        <p:spPr bwMode="auto">
          <a:xfrm>
            <a:off x="914400" y="571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2" name="Line 7"/>
          <p:cNvSpPr>
            <a:spLocks noChangeShapeType="1"/>
          </p:cNvSpPr>
          <p:nvPr/>
        </p:nvSpPr>
        <p:spPr bwMode="auto">
          <a:xfrm>
            <a:off x="3854481" y="3081106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3" name="Line 8"/>
          <p:cNvSpPr>
            <a:spLocks noChangeShapeType="1"/>
          </p:cNvSpPr>
          <p:nvPr/>
        </p:nvSpPr>
        <p:spPr bwMode="auto">
          <a:xfrm flipH="1">
            <a:off x="3702081" y="3081106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4" name="Line 9"/>
          <p:cNvSpPr>
            <a:spLocks noChangeShapeType="1"/>
          </p:cNvSpPr>
          <p:nvPr/>
        </p:nvSpPr>
        <p:spPr bwMode="auto">
          <a:xfrm flipH="1">
            <a:off x="3702081" y="5748106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5" name="Line 10"/>
          <p:cNvSpPr>
            <a:spLocks noChangeShapeType="1"/>
          </p:cNvSpPr>
          <p:nvPr/>
        </p:nvSpPr>
        <p:spPr bwMode="auto">
          <a:xfrm>
            <a:off x="2286000" y="3200400"/>
            <a:ext cx="1219200" cy="1371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6" name="Line 11"/>
          <p:cNvSpPr>
            <a:spLocks noChangeShapeType="1"/>
          </p:cNvSpPr>
          <p:nvPr/>
        </p:nvSpPr>
        <p:spPr bwMode="auto">
          <a:xfrm>
            <a:off x="1371600" y="4267200"/>
            <a:ext cx="1295400" cy="1524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47" name="Text Box 12"/>
          <p:cNvSpPr txBox="1">
            <a:spLocks noChangeArrowheads="1"/>
          </p:cNvSpPr>
          <p:nvPr/>
        </p:nvSpPr>
        <p:spPr bwMode="auto">
          <a:xfrm>
            <a:off x="4419600" y="3276600"/>
            <a:ext cx="3352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8  2  3      4  2  0  3  5  7</a:t>
            </a:r>
          </a:p>
        </p:txBody>
      </p:sp>
      <p:sp>
        <p:nvSpPr>
          <p:cNvPr id="18448" name="Text Box 13"/>
          <p:cNvSpPr txBox="1">
            <a:spLocks noChangeArrowheads="1"/>
          </p:cNvSpPr>
          <p:nvPr/>
        </p:nvSpPr>
        <p:spPr bwMode="auto">
          <a:xfrm>
            <a:off x="4419600" y="4191000"/>
            <a:ext cx="3276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7  6  8  9  6   9  1  5  6  1 </a:t>
            </a:r>
          </a:p>
        </p:txBody>
      </p:sp>
      <p:sp>
        <p:nvSpPr>
          <p:cNvPr id="18449" name="Text Box 14"/>
          <p:cNvSpPr txBox="1">
            <a:spLocks noChangeArrowheads="1"/>
          </p:cNvSpPr>
          <p:nvPr/>
        </p:nvSpPr>
        <p:spPr bwMode="auto">
          <a:xfrm>
            <a:off x="4419600" y="5105400"/>
            <a:ext cx="3276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4  2       2  8  3</a:t>
            </a:r>
          </a:p>
        </p:txBody>
      </p:sp>
      <p:sp>
        <p:nvSpPr>
          <p:cNvPr id="18450" name="Line 15"/>
          <p:cNvSpPr>
            <a:spLocks noChangeShapeType="1"/>
          </p:cNvSpPr>
          <p:nvPr/>
        </p:nvSpPr>
        <p:spPr bwMode="auto">
          <a:xfrm>
            <a:off x="59436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1" name="Line 16"/>
          <p:cNvSpPr>
            <a:spLocks noChangeShapeType="1"/>
          </p:cNvSpPr>
          <p:nvPr/>
        </p:nvSpPr>
        <p:spPr bwMode="auto">
          <a:xfrm>
            <a:off x="59436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2" name="Line 17"/>
          <p:cNvSpPr>
            <a:spLocks noChangeShapeType="1"/>
          </p:cNvSpPr>
          <p:nvPr/>
        </p:nvSpPr>
        <p:spPr bwMode="auto">
          <a:xfrm>
            <a:off x="60198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3" name="Line 18"/>
          <p:cNvSpPr>
            <a:spLocks noChangeShapeType="1"/>
          </p:cNvSpPr>
          <p:nvPr/>
        </p:nvSpPr>
        <p:spPr bwMode="auto">
          <a:xfrm>
            <a:off x="47244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4" name="Line 19"/>
          <p:cNvSpPr>
            <a:spLocks noChangeShapeType="1"/>
          </p:cNvSpPr>
          <p:nvPr/>
        </p:nvSpPr>
        <p:spPr bwMode="auto">
          <a:xfrm>
            <a:off x="50292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5" name="Line 20"/>
          <p:cNvSpPr>
            <a:spLocks noChangeShapeType="1"/>
          </p:cNvSpPr>
          <p:nvPr/>
        </p:nvSpPr>
        <p:spPr bwMode="auto">
          <a:xfrm>
            <a:off x="53340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6" name="Line 21"/>
          <p:cNvSpPr>
            <a:spLocks noChangeShapeType="1"/>
          </p:cNvSpPr>
          <p:nvPr/>
        </p:nvSpPr>
        <p:spPr bwMode="auto">
          <a:xfrm>
            <a:off x="56388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7" name="Line 22"/>
          <p:cNvSpPr>
            <a:spLocks noChangeShapeType="1"/>
          </p:cNvSpPr>
          <p:nvPr/>
        </p:nvSpPr>
        <p:spPr bwMode="auto">
          <a:xfrm>
            <a:off x="1371600" y="3276600"/>
            <a:ext cx="1981200" cy="2286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8" name="Text Box 23"/>
          <p:cNvSpPr txBox="1">
            <a:spLocks noChangeArrowheads="1"/>
          </p:cNvSpPr>
          <p:nvPr/>
        </p:nvSpPr>
        <p:spPr bwMode="auto">
          <a:xfrm>
            <a:off x="4038600" y="3200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sa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8459" name="Text Box 24"/>
          <p:cNvSpPr txBox="1">
            <a:spLocks noChangeArrowheads="1"/>
          </p:cNvSpPr>
          <p:nvPr/>
        </p:nvSpPr>
        <p:spPr bwMode="auto">
          <a:xfrm>
            <a:off x="4038600" y="37338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  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1   2   3  4    5   6  7    8  9  10</a:t>
            </a:r>
          </a:p>
        </p:txBody>
      </p:sp>
      <p:sp>
        <p:nvSpPr>
          <p:cNvPr id="18460" name="Text Box 25"/>
          <p:cNvSpPr txBox="1">
            <a:spLocks noChangeArrowheads="1"/>
          </p:cNvSpPr>
          <p:nvPr/>
        </p:nvSpPr>
        <p:spPr bwMode="auto">
          <a:xfrm>
            <a:off x="4419600" y="4648200"/>
            <a:ext cx="335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11 12 13 14 15 16 17 18 19 20</a:t>
            </a:r>
          </a:p>
        </p:txBody>
      </p:sp>
      <p:sp>
        <p:nvSpPr>
          <p:cNvPr id="18461" name="Text Box 26"/>
          <p:cNvSpPr txBox="1">
            <a:spLocks noChangeArrowheads="1"/>
          </p:cNvSpPr>
          <p:nvPr/>
        </p:nvSpPr>
        <p:spPr bwMode="auto">
          <a:xfrm>
            <a:off x="4419600" y="5638800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21 22 23 24 25 26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D48B94-2B5C-4912-8D0F-8459831BEBD8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5.3.4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稀疏矩阵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3950"/>
            <a:ext cx="77724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特点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大多数元素为零。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常用存储方法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记录每一非零元素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i,j,a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ij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—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节省空间，但丧失随机存取功能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顺序存储：三元组表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链式存储：十字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正交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链表 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华文楷体" panose="02010600040101010101" pitchFamily="2" charset="-122"/>
              </a:rPr>
              <a:t>                 </a:t>
            </a:r>
            <a:r>
              <a:rPr lang="en-US" altLang="zh-CN" sz="2800" dirty="0" smtClean="0">
                <a:ea typeface="华文楷体" panose="02010600040101010101" pitchFamily="2" charset="-122"/>
              </a:rPr>
              <a:t>15      0      0      22      0     -15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0     11     3       0       0       0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0      0      0       -6      0       0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0      0      0        0      0       0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91      0      0        0      0       0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                  0      0     28       0      0       0</a:t>
            </a:r>
          </a:p>
        </p:txBody>
      </p:sp>
      <p:sp>
        <p:nvSpPr>
          <p:cNvPr id="19463" name="Line 4"/>
          <p:cNvSpPr>
            <a:spLocks noChangeShapeType="1"/>
          </p:cNvSpPr>
          <p:nvPr/>
        </p:nvSpPr>
        <p:spPr bwMode="auto">
          <a:xfrm>
            <a:off x="1905000" y="333375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4" name="Line 5"/>
          <p:cNvSpPr>
            <a:spLocks noChangeShapeType="1"/>
          </p:cNvSpPr>
          <p:nvPr/>
        </p:nvSpPr>
        <p:spPr bwMode="auto">
          <a:xfrm>
            <a:off x="1905000" y="33337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5" name="Line 6"/>
          <p:cNvSpPr>
            <a:spLocks noChangeShapeType="1"/>
          </p:cNvSpPr>
          <p:nvPr/>
        </p:nvSpPr>
        <p:spPr bwMode="auto">
          <a:xfrm>
            <a:off x="1905000" y="60007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6" name="Line 7"/>
          <p:cNvSpPr>
            <a:spLocks noChangeShapeType="1"/>
          </p:cNvSpPr>
          <p:nvPr/>
        </p:nvSpPr>
        <p:spPr bwMode="auto">
          <a:xfrm>
            <a:off x="7956550" y="333375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7" name="Line 8"/>
          <p:cNvSpPr>
            <a:spLocks noChangeShapeType="1"/>
          </p:cNvSpPr>
          <p:nvPr/>
        </p:nvSpPr>
        <p:spPr bwMode="auto">
          <a:xfrm flipH="1">
            <a:off x="7727950" y="33337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9468" name="Line 9"/>
          <p:cNvSpPr>
            <a:spLocks noChangeShapeType="1"/>
          </p:cNvSpPr>
          <p:nvPr/>
        </p:nvSpPr>
        <p:spPr bwMode="auto">
          <a:xfrm flipH="1">
            <a:off x="7727950" y="60007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097C4F-53B9-42F7-ADDD-DAA08AC25D45}" type="slidenum">
              <a:rPr lang="en-US" altLang="zh-CN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1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225425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5.3.4.1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三元组表</a:t>
            </a:r>
          </a:p>
        </p:txBody>
      </p:sp>
      <p:sp>
        <p:nvSpPr>
          <p:cNvPr id="2048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127136"/>
            <a:ext cx="77724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类型定义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FF505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</a:t>
            </a:r>
          </a:p>
        </p:txBody>
      </p:sp>
      <p:sp>
        <p:nvSpPr>
          <p:cNvPr id="20488" name="Text Box 5"/>
          <p:cNvSpPr txBox="1">
            <a:spLocks noChangeArrowheads="1"/>
          </p:cNvSpPr>
          <p:nvPr/>
        </p:nvSpPr>
        <p:spPr bwMode="auto">
          <a:xfrm>
            <a:off x="6444208" y="1844824"/>
            <a:ext cx="1752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j       v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1     1      15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1     4      22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6     -15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2     2      22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2     3       3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     4       -6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5     1       91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6     3       28</a:t>
            </a:r>
          </a:p>
        </p:txBody>
      </p:sp>
      <p:sp>
        <p:nvSpPr>
          <p:cNvPr id="20489" name="Line 6"/>
          <p:cNvSpPr>
            <a:spLocks noChangeShapeType="1"/>
          </p:cNvSpPr>
          <p:nvPr/>
        </p:nvSpPr>
        <p:spPr bwMode="auto">
          <a:xfrm>
            <a:off x="6368008" y="2302024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5175" name="Text Box 7"/>
          <p:cNvSpPr txBox="1">
            <a:spLocks noChangeArrowheads="1"/>
          </p:cNvSpPr>
          <p:nvPr/>
        </p:nvSpPr>
        <p:spPr bwMode="auto">
          <a:xfrm>
            <a:off x="6139408" y="2302024"/>
            <a:ext cx="304800" cy="290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  <a:endParaRPr kumimoji="1" lang="en-US" altLang="zh-CN" sz="24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800" y="1844824"/>
            <a:ext cx="4814138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#</a:t>
            </a:r>
            <a:r>
              <a:rPr lang="en-US" altLang="zh-CN" dirty="0">
                <a:ea typeface="华文楷体" panose="02010600040101010101" pitchFamily="2" charset="-122"/>
              </a:rPr>
              <a:t>define u=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矩阵中非零元素最大个数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  <a:r>
              <a:rPr lang="en-US" altLang="zh-CN" dirty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华文楷体" panose="02010600040101010101" pitchFamily="2" charset="-122"/>
              </a:rPr>
              <a:t>    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err="1" smtClean="0">
                <a:ea typeface="华文楷体" panose="02010600040101010101" pitchFamily="2" charset="-122"/>
              </a:rPr>
              <a:t>typedef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err="1" smtClean="0">
                <a:ea typeface="华文楷体" panose="02010600040101010101" pitchFamily="2" charset="-122"/>
              </a:rPr>
              <a:t>struct</a:t>
            </a:r>
            <a:r>
              <a:rPr lang="en-US" altLang="zh-CN" dirty="0" smtClean="0">
                <a:ea typeface="华文楷体" panose="02010600040101010101" pitchFamily="2" charset="-122"/>
              </a:rPr>
              <a:t>  </a:t>
            </a:r>
            <a:r>
              <a:rPr lang="en-US" altLang="zh-CN" dirty="0">
                <a:ea typeface="华文楷体" panose="02010600040101010101" pitchFamily="2" charset="-122"/>
              </a:rPr>
              <a:t>tuple 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err="1">
                <a:ea typeface="华文楷体" panose="02010600040101010101" pitchFamily="2" charset="-122"/>
              </a:rPr>
              <a:t>i,j</a:t>
            </a:r>
            <a:r>
              <a:rPr lang="en-US" altLang="zh-CN" dirty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华文楷体" panose="02010600040101010101" pitchFamily="2" charset="-122"/>
              </a:rPr>
              <a:t>    </a:t>
            </a:r>
            <a:r>
              <a:rPr lang="en-US" altLang="zh-CN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ea typeface="华文楷体" panose="02010600040101010101" pitchFamily="2" charset="-122"/>
              </a:rPr>
              <a:t>v;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} </a:t>
            </a:r>
            <a:r>
              <a:rPr lang="en-US" altLang="zh-CN" dirty="0" err="1">
                <a:ea typeface="华文楷体" panose="02010600040101010101" pitchFamily="2" charset="-122"/>
              </a:rPr>
              <a:t>TupleNode</a:t>
            </a:r>
            <a:r>
              <a:rPr lang="en-US" altLang="zh-CN" dirty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华文楷体" panose="02010600040101010101" pitchFamily="2" charset="-122"/>
              </a:rPr>
              <a:t>    </a:t>
            </a:r>
            <a:endParaRPr lang="en-US" altLang="zh-CN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err="1" smtClean="0">
                <a:solidFill>
                  <a:srgbClr val="FF3300"/>
                </a:solidFill>
                <a:ea typeface="华文楷体" panose="02010600040101010101" pitchFamily="2" charset="-122"/>
              </a:rPr>
              <a:t>struct</a:t>
            </a:r>
            <a:r>
              <a:rPr lang="en-US" altLang="zh-CN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b="1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sparmattp</a:t>
            </a:r>
            <a:endParaRPr lang="en-US" altLang="zh-CN" b="1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ea typeface="华文楷体" panose="02010600040101010101" pitchFamily="2" charset="-122"/>
              </a:rPr>
              <a:t>   </a:t>
            </a:r>
            <a:r>
              <a:rPr lang="en-US" altLang="zh-CN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err="1">
                <a:ea typeface="华文楷体" panose="02010600040101010101" pitchFamily="2" charset="-122"/>
              </a:rPr>
              <a:t>m,n,t</a:t>
            </a:r>
            <a:r>
              <a:rPr lang="en-US" altLang="zh-CN" dirty="0" smtClean="0">
                <a:ea typeface="华文楷体" panose="02010600040101010101" pitchFamily="2" charset="-122"/>
              </a:rPr>
              <a:t>; \\</a:t>
            </a:r>
            <a:r>
              <a:rPr lang="en-US" altLang="zh-CN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m</a:t>
            </a:r>
            <a:r>
              <a:rPr lang="en-US" altLang="zh-CN" dirty="0">
                <a:solidFill>
                  <a:schemeClr val="accent2"/>
                </a:solidFill>
                <a:ea typeface="华文楷体" panose="02010600040101010101" pitchFamily="2" charset="-122"/>
              </a:rPr>
              <a:t>:</a:t>
            </a:r>
            <a:r>
              <a:rPr lang="zh-CN" altLang="zh-CN" dirty="0">
                <a:solidFill>
                  <a:schemeClr val="accent2"/>
                </a:solidFill>
                <a:ea typeface="华文楷体" panose="02010600040101010101" pitchFamily="2" charset="-122"/>
              </a:rPr>
              <a:t>行数</a:t>
            </a:r>
            <a:r>
              <a:rPr lang="en-US" altLang="zh-CN" dirty="0">
                <a:solidFill>
                  <a:schemeClr val="accent2"/>
                </a:solidFill>
                <a:ea typeface="华文楷体" panose="02010600040101010101" pitchFamily="2" charset="-122"/>
              </a:rPr>
              <a:t>; n:</a:t>
            </a:r>
            <a:r>
              <a:rPr lang="zh-CN" altLang="en-US" dirty="0">
                <a:solidFill>
                  <a:schemeClr val="accent2"/>
                </a:solidFill>
                <a:ea typeface="华文楷体" panose="02010600040101010101" pitchFamily="2" charset="-122"/>
              </a:rPr>
              <a:t>列数</a:t>
            </a:r>
            <a:r>
              <a:rPr lang="en-US" altLang="zh-CN" dirty="0">
                <a:solidFill>
                  <a:schemeClr val="accent2"/>
                </a:solidFill>
                <a:ea typeface="华文楷体" panose="02010600040101010101" pitchFamily="2" charset="-122"/>
              </a:rPr>
              <a:t>; t:</a:t>
            </a:r>
            <a:r>
              <a:rPr lang="zh-CN" altLang="en-US" dirty="0">
                <a:solidFill>
                  <a:schemeClr val="accent2"/>
                </a:solidFill>
                <a:ea typeface="华文楷体" panose="02010600040101010101" pitchFamily="2" charset="-122"/>
              </a:rPr>
              <a:t>非零元素</a:t>
            </a:r>
            <a:r>
              <a:rPr lang="zh-CN" altLang="en-US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数目</a:t>
            </a:r>
            <a:endParaRPr lang="en-US" altLang="zh-CN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dirty="0">
                <a:ea typeface="华文楷体" panose="02010600040101010101" pitchFamily="2" charset="-122"/>
              </a:rPr>
              <a:t>   </a:t>
            </a:r>
            <a:r>
              <a:rPr lang="en-US" altLang="zh-CN" dirty="0" err="1" smtClean="0">
                <a:ea typeface="华文楷体" panose="02010600040101010101" pitchFamily="2" charset="-122"/>
              </a:rPr>
              <a:t>TupleNode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ea typeface="华文楷体" panose="02010600040101010101" pitchFamily="2" charset="-122"/>
              </a:rPr>
              <a:t>data[1..u]; </a:t>
            </a:r>
            <a:r>
              <a:rPr lang="en-US" altLang="zh-CN" dirty="0" smtClean="0">
                <a:ea typeface="华文楷体" panose="02010600040101010101" pitchFamily="2" charset="-122"/>
              </a:rPr>
              <a:t>                   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}</a:t>
            </a:r>
            <a:endParaRPr lang="en-US" altLang="zh-CN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dirty="0">
                <a:ea typeface="华文楷体" panose="02010600040101010101" pitchFamily="2" charset="-122"/>
              </a:rPr>
              <a:t>   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dirty="0" err="1" smtClean="0">
                <a:ea typeface="华文楷体" panose="02010600040101010101" pitchFamily="2" charset="-122"/>
              </a:rPr>
              <a:t>typedef</a:t>
            </a: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en-US" altLang="zh-CN" dirty="0" err="1">
                <a:ea typeface="华文楷体" panose="02010600040101010101" pitchFamily="2" charset="-122"/>
              </a:rPr>
              <a:t>struct</a:t>
            </a:r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b="1" dirty="0" err="1">
                <a:solidFill>
                  <a:schemeClr val="accent2"/>
                </a:solidFill>
                <a:ea typeface="华文楷体" panose="02010600040101010101" pitchFamily="2" charset="-122"/>
              </a:rPr>
              <a:t>sparmattp</a:t>
            </a:r>
            <a:r>
              <a:rPr lang="en-US" altLang="zh-CN" dirty="0">
                <a:ea typeface="华文楷体" panose="02010600040101010101" pitchFamily="2" charset="-122"/>
              </a:rPr>
              <a:t> </a:t>
            </a:r>
            <a:r>
              <a:rPr lang="en-US" altLang="zh-CN" dirty="0" err="1">
                <a:ea typeface="华文楷体" panose="02010600040101010101" pitchFamily="2" charset="-122"/>
              </a:rPr>
              <a:t>TSMatrix</a:t>
            </a:r>
            <a:r>
              <a:rPr lang="en-US" altLang="zh-CN" dirty="0">
                <a:ea typeface="华文楷体" panose="02010600040101010101" pitchFamily="2" charset="-122"/>
              </a:rPr>
              <a:t>;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D4CC9BE-B415-4F48-AF8C-C3C04D10C799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算法例</a:t>
            </a:r>
            <a:r>
              <a:rPr lang="en-US" altLang="zh-CN" sz="2400" b="0" dirty="0" smtClean="0">
                <a:ea typeface="华文楷体" panose="02010600040101010101" pitchFamily="2" charset="-122"/>
              </a:rPr>
              <a:t>]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求转置矩阵</a:t>
            </a:r>
          </a:p>
        </p:txBody>
      </p:sp>
      <p:sp>
        <p:nvSpPr>
          <p:cNvPr id="2151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153400" cy="5278438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算法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{ O(n*t) }</a:t>
            </a:r>
            <a:endParaRPr lang="en-US" altLang="zh-CN" sz="2400" dirty="0" smtClean="0">
              <a:solidFill>
                <a:schemeClr val="accent1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2400" dirty="0" err="1">
                <a:solidFill>
                  <a:srgbClr val="C00000"/>
                </a:solidFill>
                <a:ea typeface="华文楷体" panose="02010600040101010101" pitchFamily="2" charset="-122"/>
              </a:rPr>
              <a:t>trans_sparmat</a:t>
            </a:r>
            <a:r>
              <a:rPr lang="en-US" altLang="zh-CN" sz="2400" dirty="0">
                <a:ea typeface="华文楷体" panose="02010600040101010101" pitchFamily="2" charset="-122"/>
              </a:rPr>
              <a:t>(</a:t>
            </a:r>
            <a:r>
              <a:rPr lang="en-US" altLang="zh-CN" sz="2400" dirty="0" err="1">
                <a:ea typeface="华文楷体" panose="02010600040101010101" pitchFamily="2" charset="-122"/>
              </a:rPr>
              <a:t>TSMatrix</a:t>
            </a:r>
            <a:r>
              <a:rPr lang="en-US" altLang="zh-CN" sz="2400" dirty="0">
                <a:ea typeface="华文楷体" panose="02010600040101010101" pitchFamily="2" charset="-122"/>
              </a:rPr>
              <a:t> a, </a:t>
            </a:r>
            <a:r>
              <a:rPr lang="en-US" altLang="zh-CN" sz="2400" dirty="0" err="1">
                <a:ea typeface="华文楷体" panose="02010600040101010101" pitchFamily="2" charset="-122"/>
              </a:rPr>
              <a:t>TSMatrix</a:t>
            </a:r>
            <a:r>
              <a:rPr lang="en-US" altLang="zh-CN" sz="2400" dirty="0">
                <a:ea typeface="华文楷体" panose="02010600040101010101" pitchFamily="2" charset="-122"/>
              </a:rPr>
              <a:t> b)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b.m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;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b.n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a.m</a:t>
            </a:r>
            <a:r>
              <a:rPr lang="en-US" altLang="zh-CN" sz="2400" dirty="0" smtClean="0">
                <a:ea typeface="华文楷体" panose="02010600040101010101" pitchFamily="2" charset="-122"/>
              </a:rPr>
              <a:t>;  b.t=a.t;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if (b.t &gt;0)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{  q=1;        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指示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中存放数据的位置，初值为1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for (col=1; col&lt;=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a.n;col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++)   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扫描</a:t>
            </a:r>
            <a:r>
              <a:rPr lang="en-US" altLang="zh-CN" sz="2400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a.n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for (p=1;p&lt;=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a.t;p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++)       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a.t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个数据检查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if 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[p].</a:t>
            </a:r>
            <a:r>
              <a:rPr lang="en-US" altLang="zh-CN" sz="2400" dirty="0" smtClean="0">
                <a:ea typeface="华文楷体" panose="02010600040101010101" pitchFamily="2" charset="-122"/>
              </a:rPr>
              <a:t>j==col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    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满足当前扫描列号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{      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b.data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[q].</a:t>
            </a:r>
            <a:r>
              <a:rPr lang="en-US" altLang="zh-CN" sz="2400" b="1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[p].</a:t>
            </a:r>
            <a:r>
              <a:rPr lang="en-US" altLang="zh-CN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; 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向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赋值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b.data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[q].</a:t>
            </a:r>
            <a:r>
              <a:rPr lang="en-US" altLang="zh-CN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[p].</a:t>
            </a:r>
            <a:r>
              <a:rPr lang="en-US" altLang="zh-CN" sz="2400" b="1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b.data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[q].v=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[p].v;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      q=q+1;                         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{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修正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q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9784-5237-43A3-9F04-FB82192A38DA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2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2400" dirty="0" smtClean="0">
                <a:ea typeface="华文楷体" panose="02010600040101010101" pitchFamily="2" charset="-122"/>
              </a:rPr>
              <a:t>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算法</a:t>
            </a:r>
            <a:r>
              <a:rPr lang="en-US" altLang="zh-CN" sz="2400" b="0" dirty="0" smtClean="0">
                <a:ea typeface="华文楷体" panose="02010600040101010101" pitchFamily="2" charset="-122"/>
              </a:rPr>
              <a:t>2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快速转置法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{ O(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n+t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}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82000" cy="50292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引入两个辅助向量：</a:t>
            </a:r>
          </a:p>
          <a:p>
            <a:pPr lvl="1" eaLnBrk="1" hangingPunct="1"/>
            <a:r>
              <a:rPr lang="en-US" altLang="zh-CN" sz="2400" dirty="0" err="1" smtClean="0">
                <a:ea typeface="华文楷体" panose="02010600040101010101" pitchFamily="2" charset="-122"/>
              </a:rPr>
              <a:t>num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[1,..,a.n]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中每列的非零元素个数</a:t>
            </a:r>
          </a:p>
          <a:p>
            <a:pPr lvl="1" eaLnBrk="1" hangingPunct="1"/>
            <a:r>
              <a:rPr lang="en-US" altLang="zh-CN" sz="2400" dirty="0" err="1" smtClean="0">
                <a:ea typeface="华文楷体" panose="02010600040101010101" pitchFamily="2" charset="-122"/>
              </a:rPr>
              <a:t>cpot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[1,..,a.n]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中每列的第一个非零元素在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b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中的位置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1800" dirty="0" smtClean="0"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a</a:t>
            </a:r>
            <a:r>
              <a:rPr lang="zh-CN" altLang="en-US" sz="1800" dirty="0" smtClean="0">
                <a:ea typeface="华文楷体" panose="02010600040101010101" pitchFamily="2" charset="-122"/>
              </a:rPr>
              <a:t>中的列号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col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num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[col]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cpot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[col]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1     2              1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2     1              3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3     2              4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4     2              6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5     0              7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6     1              8</a:t>
            </a:r>
          </a:p>
        </p:txBody>
      </p:sp>
      <p:sp>
        <p:nvSpPr>
          <p:cNvPr id="22535" name="Text Box 4"/>
          <p:cNvSpPr txBox="1">
            <a:spLocks noChangeArrowheads="1"/>
          </p:cNvSpPr>
          <p:nvPr/>
        </p:nvSpPr>
        <p:spPr bwMode="auto">
          <a:xfrm>
            <a:off x="3657600" y="4953000"/>
            <a:ext cx="4572000" cy="112395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cpot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[1]=1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cpot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[col]=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cpot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[col-1] +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num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[col-1]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(2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coln)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536" name="Rectangle 5"/>
          <p:cNvSpPr>
            <a:spLocks noChangeArrowheads="1"/>
          </p:cNvSpPr>
          <p:nvPr/>
        </p:nvSpPr>
        <p:spPr bwMode="auto">
          <a:xfrm>
            <a:off x="1600200" y="3581400"/>
            <a:ext cx="19050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537" name="Line 6"/>
          <p:cNvSpPr>
            <a:spLocks noChangeShapeType="1"/>
          </p:cNvSpPr>
          <p:nvPr/>
        </p:nvSpPr>
        <p:spPr bwMode="auto">
          <a:xfrm>
            <a:off x="2514600" y="35814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538" name="Text Box 7"/>
          <p:cNvSpPr txBox="1">
            <a:spLocks noChangeArrowheads="1"/>
          </p:cNvSpPr>
          <p:nvPr/>
        </p:nvSpPr>
        <p:spPr bwMode="auto">
          <a:xfrm>
            <a:off x="4572000" y="2286000"/>
            <a:ext cx="17526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kumimoji="1" lang="en-US" altLang="zh-CN" sz="18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j       v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1   1     1      15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2   1     4      22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   1     6     -15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4   2     2      22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5   2     3       3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6   3     4       -6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7   5     1       91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8   6     3       28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539" name="Rectangle 8"/>
          <p:cNvSpPr>
            <a:spLocks noChangeArrowheads="1"/>
          </p:cNvSpPr>
          <p:nvPr/>
        </p:nvSpPr>
        <p:spPr bwMode="auto">
          <a:xfrm>
            <a:off x="4876800" y="2590800"/>
            <a:ext cx="1295400" cy="2286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25" name="Text Box 9"/>
          <p:cNvSpPr txBox="1">
            <a:spLocks noChangeArrowheads="1"/>
          </p:cNvSpPr>
          <p:nvPr/>
        </p:nvSpPr>
        <p:spPr bwMode="auto">
          <a:xfrm>
            <a:off x="4343400" y="22098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endParaRPr kumimoji="1"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541" name="AutoShape 10"/>
          <p:cNvSpPr>
            <a:spLocks noChangeArrowheads="1"/>
          </p:cNvSpPr>
          <p:nvPr/>
        </p:nvSpPr>
        <p:spPr bwMode="auto">
          <a:xfrm>
            <a:off x="6172200" y="3429000"/>
            <a:ext cx="762000" cy="76200"/>
          </a:xfrm>
          <a:prstGeom prst="rightArrow">
            <a:avLst>
              <a:gd name="adj1" fmla="val 50000"/>
              <a:gd name="adj2" fmla="val 2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27" name="Text Box 11"/>
          <p:cNvSpPr txBox="1">
            <a:spLocks noChangeArrowheads="1"/>
          </p:cNvSpPr>
          <p:nvPr/>
        </p:nvSpPr>
        <p:spPr bwMode="auto">
          <a:xfrm>
            <a:off x="6172200" y="30480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转置</a:t>
            </a:r>
          </a:p>
        </p:txBody>
      </p:sp>
      <p:sp>
        <p:nvSpPr>
          <p:cNvPr id="22543" name="Text Box 12"/>
          <p:cNvSpPr txBox="1">
            <a:spLocks noChangeArrowheads="1"/>
          </p:cNvSpPr>
          <p:nvPr/>
        </p:nvSpPr>
        <p:spPr bwMode="auto">
          <a:xfrm>
            <a:off x="7010400" y="2286000"/>
            <a:ext cx="17526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18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j       v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1    1     1      15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2    1     5      91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3    2     2      22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4    3     2       3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5    3     6      28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6    4     1      22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7    4     3      -6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8    6     1      -15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2544" name="Rectangle 13"/>
          <p:cNvSpPr>
            <a:spLocks noChangeArrowheads="1"/>
          </p:cNvSpPr>
          <p:nvPr/>
        </p:nvSpPr>
        <p:spPr bwMode="auto">
          <a:xfrm>
            <a:off x="7315200" y="2590800"/>
            <a:ext cx="1295400" cy="2286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6934200" y="2209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endParaRPr kumimoji="1"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31" name="Line 15"/>
          <p:cNvSpPr>
            <a:spLocks noChangeShapeType="1"/>
          </p:cNvSpPr>
          <p:nvPr/>
        </p:nvSpPr>
        <p:spPr bwMode="auto">
          <a:xfrm flipV="1">
            <a:off x="3200400" y="3276600"/>
            <a:ext cx="3886200" cy="8382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32" name="Line 16"/>
          <p:cNvSpPr>
            <a:spLocks noChangeShapeType="1"/>
          </p:cNvSpPr>
          <p:nvPr/>
        </p:nvSpPr>
        <p:spPr bwMode="auto">
          <a:xfrm flipV="1">
            <a:off x="3200400" y="3581400"/>
            <a:ext cx="3886200" cy="9906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33" name="Line 17"/>
          <p:cNvSpPr>
            <a:spLocks noChangeShapeType="1"/>
          </p:cNvSpPr>
          <p:nvPr/>
        </p:nvSpPr>
        <p:spPr bwMode="auto">
          <a:xfrm flipV="1">
            <a:off x="3124200" y="4114800"/>
            <a:ext cx="3962400" cy="9144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34" name="Line 18"/>
          <p:cNvSpPr>
            <a:spLocks noChangeShapeType="1"/>
          </p:cNvSpPr>
          <p:nvPr/>
        </p:nvSpPr>
        <p:spPr bwMode="auto">
          <a:xfrm flipV="1">
            <a:off x="3124200" y="4648200"/>
            <a:ext cx="3886200" cy="8382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35" name="Line 19"/>
          <p:cNvSpPr>
            <a:spLocks noChangeShapeType="1"/>
          </p:cNvSpPr>
          <p:nvPr/>
        </p:nvSpPr>
        <p:spPr bwMode="auto">
          <a:xfrm flipV="1">
            <a:off x="3200400" y="4724400"/>
            <a:ext cx="3810000" cy="12192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7236" name="Line 20"/>
          <p:cNvSpPr>
            <a:spLocks noChangeShapeType="1"/>
          </p:cNvSpPr>
          <p:nvPr/>
        </p:nvSpPr>
        <p:spPr bwMode="auto">
          <a:xfrm flipV="1">
            <a:off x="3276600" y="2743200"/>
            <a:ext cx="3810000" cy="914400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7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7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72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590DDF-4EA5-437E-874D-231882FCC648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1800" dirty="0" smtClean="0">
                <a:ea typeface="华文楷体" panose="02010600040101010101" pitchFamily="2" charset="-122"/>
              </a:rPr>
              <a:t>  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346" y="1123385"/>
            <a:ext cx="7414592" cy="5618728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2000" b="1" dirty="0" err="1" smtClean="0">
                <a:solidFill>
                  <a:schemeClr val="accent2"/>
                </a:solidFill>
                <a:ea typeface="华文楷体" panose="02010600040101010101" pitchFamily="2" charset="-122"/>
              </a:rPr>
              <a:t>fast_transpos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TSMatrix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a,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TSMatrix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b)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b.m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a.n</a:t>
            </a:r>
            <a:r>
              <a:rPr lang="en-US" altLang="zh-CN" sz="2000" dirty="0" smtClean="0">
                <a:ea typeface="华文楷体" panose="02010600040101010101" pitchFamily="2" charset="-122"/>
              </a:rPr>
              <a:t>;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b.n</a:t>
            </a:r>
            <a:r>
              <a:rPr lang="en-US" altLang="zh-CN" sz="2000" dirty="0" smtClean="0">
                <a:ea typeface="华文楷体" panose="02010600040101010101" pitchFamily="2" charset="-122"/>
              </a:rPr>
              <a:t>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;  b.t=a.t;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if (b.t &gt;0)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{   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for(col=1;col&lt;=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a.n;col</a:t>
            </a:r>
            <a:r>
              <a:rPr lang="en-US" altLang="zh-CN" sz="2000" dirty="0" smtClean="0">
                <a:ea typeface="华文楷体" panose="02010600040101010101" pitchFamily="2" charset="-122"/>
              </a:rPr>
              <a:t>++)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		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[col]=0;       {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num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清零</a:t>
            </a: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for (t=1;t&lt;=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a.t;t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++)                {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对</a:t>
            </a:r>
            <a:r>
              <a:rPr lang="en-US" altLang="zh-CN" sz="2000" dirty="0" smtClean="0">
                <a:ea typeface="华文楷体" panose="02010600040101010101" pitchFamily="2" charset="-122"/>
              </a:rPr>
              <a:t>a.t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个非零元素</a:t>
            </a: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[t].j]=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num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[t].j]+1;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｛按列号计数｝           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sz="2000" dirty="0" err="1" smtClean="0">
                <a:solidFill>
                  <a:srgbClr val="FF3300"/>
                </a:solidFill>
                <a:ea typeface="华文楷体" panose="02010600040101010101" pitchFamily="2" charset="-122"/>
              </a:rPr>
              <a:t>cpot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[1]=1;                                            {</a:t>
            </a:r>
            <a:r>
              <a:rPr lang="zh-CN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生成</a:t>
            </a:r>
            <a:r>
              <a:rPr lang="en-US" altLang="zh-CN" sz="2000" dirty="0" err="1" smtClean="0">
                <a:solidFill>
                  <a:srgbClr val="FF3300"/>
                </a:solidFill>
                <a:ea typeface="华文楷体" panose="02010600040101010101" pitchFamily="2" charset="-122"/>
              </a:rPr>
              <a:t>cpot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}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     for (col=2; col&lt;=</a:t>
            </a:r>
            <a:r>
              <a:rPr lang="en-US" altLang="zh-CN" sz="2000" dirty="0" err="1" smtClean="0">
                <a:solidFill>
                  <a:srgbClr val="FF3300"/>
                </a:solidFill>
                <a:ea typeface="华文楷体" panose="02010600040101010101" pitchFamily="2" charset="-122"/>
              </a:rPr>
              <a:t>a.n;col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++)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		      </a:t>
            </a:r>
            <a:r>
              <a:rPr lang="en-US" altLang="zh-CN" sz="2000" dirty="0" err="1" smtClean="0">
                <a:solidFill>
                  <a:srgbClr val="FF3300"/>
                </a:solidFill>
                <a:ea typeface="华文楷体" panose="02010600040101010101" pitchFamily="2" charset="-122"/>
              </a:rPr>
              <a:t>cpot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[col]=</a:t>
            </a:r>
            <a:r>
              <a:rPr lang="en-US" altLang="zh-CN" sz="2000" dirty="0" err="1" smtClean="0">
                <a:solidFill>
                  <a:srgbClr val="FF3300"/>
                </a:solidFill>
                <a:ea typeface="华文楷体" panose="02010600040101010101" pitchFamily="2" charset="-122"/>
              </a:rPr>
              <a:t>cpot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[col-1]+</a:t>
            </a:r>
            <a:r>
              <a:rPr lang="en-US" altLang="zh-CN" sz="2000" dirty="0" err="1" smtClean="0">
                <a:solidFill>
                  <a:srgbClr val="FF3300"/>
                </a:solidFill>
                <a:ea typeface="华文楷体" panose="02010600040101010101" pitchFamily="2" charset="-122"/>
              </a:rPr>
              <a:t>num</a:t>
            </a:r>
            <a:r>
              <a:rPr lang="en-US" altLang="zh-CN" sz="20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[col-1];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for (p=1; p&lt;= a.t; p++)           {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对</a:t>
            </a:r>
            <a:r>
              <a:rPr lang="en-US" altLang="zh-CN" sz="2000" dirty="0" smtClean="0">
                <a:ea typeface="华文楷体" panose="02010600040101010101" pitchFamily="2" charset="-122"/>
              </a:rPr>
              <a:t>a.t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个非零元素转置</a:t>
            </a: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	</a:t>
            </a: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{            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col=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[p].j;   q=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cpot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[col];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b.data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[q].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[p].j;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b.data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[q].j=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[p].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b.data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[q].v=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a.data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[p].v;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cpot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[col]=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cpot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[col]+1;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}</a:t>
            </a:r>
          </a:p>
          <a:p>
            <a:pPr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}</a:t>
            </a:r>
          </a:p>
          <a:p>
            <a:pPr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A38D90-7B15-442A-AC06-AD9406376D24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338138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5.3.4.2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十字（正交）链表</a:t>
            </a:r>
          </a:p>
        </p:txBody>
      </p:sp>
      <p:sp>
        <p:nvSpPr>
          <p:cNvPr id="2458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125538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［特点］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在行、列两个方向上，将非零元素链接在一起。克服三元组表在矩阵的非零元素位置或个数经常变动时的使用不便。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［结构］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200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</p:txBody>
      </p:sp>
      <p:sp>
        <p:nvSpPr>
          <p:cNvPr id="24583" name="Text Box 5"/>
          <p:cNvSpPr txBox="1">
            <a:spLocks noChangeArrowheads="1"/>
          </p:cNvSpPr>
          <p:nvPr/>
        </p:nvSpPr>
        <p:spPr bwMode="auto">
          <a:xfrm>
            <a:off x="900113" y="2777493"/>
            <a:ext cx="2911476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row    col    </a:t>
            </a:r>
            <a:r>
              <a:rPr kumimoji="1"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data</a:t>
            </a:r>
            <a:endParaRPr kumimoji="1" lang="en-US" altLang="zh-CN" sz="2400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down        right</a:t>
            </a:r>
          </a:p>
        </p:txBody>
      </p:sp>
      <p:sp>
        <p:nvSpPr>
          <p:cNvPr id="24584" name="Line 6"/>
          <p:cNvSpPr>
            <a:spLocks noChangeShapeType="1"/>
          </p:cNvSpPr>
          <p:nvPr/>
        </p:nvSpPr>
        <p:spPr bwMode="auto">
          <a:xfrm>
            <a:off x="900113" y="3264783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585" name="Line 7"/>
          <p:cNvSpPr>
            <a:spLocks noChangeShapeType="1"/>
          </p:cNvSpPr>
          <p:nvPr/>
        </p:nvSpPr>
        <p:spPr bwMode="auto">
          <a:xfrm>
            <a:off x="1585913" y="2800075"/>
            <a:ext cx="0" cy="4849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586" name="Line 8"/>
          <p:cNvSpPr>
            <a:spLocks noChangeShapeType="1"/>
          </p:cNvSpPr>
          <p:nvPr/>
        </p:nvSpPr>
        <p:spPr bwMode="auto">
          <a:xfrm>
            <a:off x="2347913" y="2800075"/>
            <a:ext cx="0" cy="4849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587" name="Line 9"/>
          <p:cNvSpPr>
            <a:spLocks noChangeShapeType="1"/>
          </p:cNvSpPr>
          <p:nvPr/>
        </p:nvSpPr>
        <p:spPr bwMode="auto">
          <a:xfrm>
            <a:off x="2123728" y="3276070"/>
            <a:ext cx="0" cy="4156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764088" y="2767997"/>
            <a:ext cx="2895600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row    col    </a:t>
            </a:r>
            <a:r>
              <a:rPr kumimoji="1"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next</a:t>
            </a:r>
            <a:endParaRPr kumimoji="1" lang="en-US" altLang="zh-CN" sz="2400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down        right</a:t>
            </a:r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4764088" y="3255288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>
            <a:off x="5449888" y="2800075"/>
            <a:ext cx="0" cy="4849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6211888" y="2800075"/>
            <a:ext cx="0" cy="4849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5983288" y="3276070"/>
            <a:ext cx="0" cy="4156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318258" y="2562855"/>
            <a:ext cx="13557" cy="1584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460878" y="37869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元素结点结构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49888" y="37732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头结点结构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16265" y="4142572"/>
            <a:ext cx="7506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668446" y="4237780"/>
            <a:ext cx="3326737" cy="24622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十字链表结点结构</a:t>
            </a:r>
            <a:endParaRPr lang="en-US" altLang="zh-CN" sz="1400" b="1" dirty="0" smtClean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typedef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struct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mtxn</a:t>
            </a:r>
            <a:endParaRPr lang="en-US" altLang="zh-CN" sz="1400" dirty="0">
              <a:latin typeface="Times New Roman" panose="02020603050405020304" pitchFamily="18" charset="0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 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int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row, col; //</a:t>
            </a:r>
            <a:r>
              <a:rPr lang="zh-CN" altLang="en-US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行号，列号</a:t>
            </a:r>
            <a:endParaRPr lang="en-US" altLang="zh-CN" sz="1400" dirty="0" smtClean="0">
              <a:latin typeface="Times New Roman" panose="02020603050405020304" pitchFamily="18" charset="0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  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struct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mtxn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*right, *down;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   union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      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int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data;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       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struct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mtxn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* next;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  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}</a:t>
            </a:r>
            <a:endParaRPr lang="zh-CN" altLang="en-US" sz="1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95BEBD-ADC5-46AF-80B3-C8CD507B8031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graphicFrame>
        <p:nvGraphicFramePr>
          <p:cNvPr id="25605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685800" y="762000"/>
          <a:ext cx="762000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6" name="文档" r:id="rId3" imgW="5373624" imgH="3764280" progId="Word.Document.8">
                  <p:embed/>
                </p:oleObj>
              </mc:Choice>
              <mc:Fallback>
                <p:oleObj name="文档" r:id="rId3" imgW="5373624" imgH="37642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62000"/>
                        <a:ext cx="7620000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FC48548-C290-451E-A676-AA56ED98F1BF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25538"/>
            <a:ext cx="8458200" cy="338137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算法示例</a:t>
            </a:r>
            <a:r>
              <a:rPr lang="en-US" altLang="zh-CN" sz="2400" b="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]  </a:t>
            </a:r>
            <a:r>
              <a:rPr lang="zh-CN" altLang="en-US" sz="2400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从终端接收信息建立稀疏矩阵的十字链表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16113"/>
            <a:ext cx="6334472" cy="3745135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算法思想：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）读入矩阵的行数</a:t>
            </a:r>
            <a:r>
              <a:rPr lang="en-US" altLang="zh-CN" sz="2000" dirty="0" smtClean="0">
                <a:ea typeface="华文楷体" panose="02010600040101010101" pitchFamily="2" charset="-122"/>
              </a:rPr>
              <a:t>m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和列数</a:t>
            </a:r>
            <a:r>
              <a:rPr lang="en-US" altLang="zh-CN" sz="2000" dirty="0" smtClean="0">
                <a:ea typeface="华文楷体" panose="02010600040101010101" pitchFamily="2" charset="-122"/>
              </a:rPr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2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）建立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hm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头结点，建立</a:t>
            </a:r>
            <a:r>
              <a:rPr lang="en-US" altLang="zh-CN" sz="2000" dirty="0" smtClean="0">
                <a:ea typeface="华文楷体" panose="02010600040101010101" pitchFamily="2" charset="-122"/>
              </a:rPr>
              <a:t>max(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m,n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</a:t>
            </a:r>
            <a:r>
              <a:rPr lang="en-US" altLang="zh-CN" sz="2000" dirty="0" smtClean="0">
                <a:ea typeface="华文楷体" panose="02010600040101010101" pitchFamily="2" charset="-122"/>
              </a:rPr>
              <a:t>H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头结点，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 并建立上述结点的循环链表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3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）读入一个非零元素的行号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r</a:t>
            </a:r>
            <a:r>
              <a:rPr lang="zh-CN" altLang="en-US" sz="2000" dirty="0" smtClean="0">
                <a:ea typeface="华文楷体" panose="02010600040101010101" pitchFamily="2" charset="-122"/>
              </a:rPr>
              <a:t>、列号</a:t>
            </a:r>
            <a:r>
              <a:rPr lang="en-US" altLang="zh-CN" sz="2000" dirty="0" smtClean="0">
                <a:ea typeface="华文楷体" panose="02010600040101010101" pitchFamily="2" charset="-122"/>
              </a:rPr>
              <a:t>c</a:t>
            </a:r>
            <a:r>
              <a:rPr lang="zh-CN" altLang="en-US" sz="2000" dirty="0" smtClean="0">
                <a:ea typeface="华文楷体" panose="02010600040101010101" pitchFamily="2" charset="-122"/>
              </a:rPr>
              <a:t>、值</a:t>
            </a:r>
            <a:r>
              <a:rPr lang="en-US" altLang="zh-CN" sz="2000" dirty="0" smtClean="0">
                <a:ea typeface="华文楷体" panose="02010600040101010101" pitchFamily="2" charset="-122"/>
              </a:rPr>
              <a:t>v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3.1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）建立该元素的结点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3.2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）寻找该结点在行表中的插入位置并插入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3.3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）寻找该结点在列表中的插入位置并插入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3.4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）存在下一个非零元素，转</a:t>
            </a:r>
            <a:r>
              <a:rPr lang="en-US" altLang="zh-CN" sz="2000" dirty="0" smtClean="0">
                <a:ea typeface="华文楷体" panose="02010600040101010101" pitchFamily="2" charset="-122"/>
              </a:rPr>
              <a:t>3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；否则，结束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13F62B-B1BC-40E5-BE2F-23BCCA0E0939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8001000" cy="6858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5.4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广义表（列表）的定义和表示方法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2705472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概念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广义表是由零个或多个原子或者子表组成的有限序列。可以记作：</a:t>
            </a:r>
            <a:r>
              <a:rPr lang="en-US" altLang="zh-CN" sz="2400" dirty="0" smtClean="0">
                <a:ea typeface="华文楷体" panose="02010600040101010101" pitchFamily="2" charset="-122"/>
              </a:rPr>
              <a:t>LS=(d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 d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, … ,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d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原子：逻辑上不能再分解的元素。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子表：作为广义表中元素的广义表。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逻辑定义</a:t>
            </a:r>
            <a:r>
              <a:rPr lang="zh-CN" altLang="en-US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Lists = (D,R)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5799" y="4392973"/>
            <a:ext cx="777240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CC6600"/>
                </a:solidFill>
                <a:ea typeface="华文楷体" panose="02010600040101010101" pitchFamily="2" charset="-122"/>
              </a:rPr>
              <a:t>与线性表的关系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广义</a:t>
            </a:r>
            <a:r>
              <a:rPr lang="zh-CN" altLang="en-US" sz="2400" dirty="0">
                <a:ea typeface="华文楷体" panose="02010600040101010101" pitchFamily="2" charset="-122"/>
              </a:rPr>
              <a:t>表中的元素全部为原子时即为线性表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线性表</a:t>
            </a:r>
            <a:r>
              <a:rPr lang="zh-CN" altLang="en-US" sz="2400" dirty="0">
                <a:ea typeface="华文楷体" panose="02010600040101010101" pitchFamily="2" charset="-122"/>
              </a:rPr>
              <a:t>是广义表的特例，广义表是线性表的推广。</a:t>
            </a:r>
            <a:endParaRPr lang="zh-CN" altLang="en-US" sz="2400" dirty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DF3A353-2F21-465D-9B68-198DF820EC69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1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263525"/>
          </a:xfrm>
        </p:spPr>
        <p:txBody>
          <a:bodyPr/>
          <a:lstStyle/>
          <a:p>
            <a:pPr algn="l" eaLnBrk="1" hangingPunct="1"/>
            <a:r>
              <a:rPr lang="zh-CN" altLang="en-US" sz="2400" b="0" dirty="0" smtClean="0">
                <a:ea typeface="华文楷体" panose="02010600040101010101" pitchFamily="2" charset="-122"/>
              </a:rPr>
              <a:t>广义表的表示方法和相关术语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01000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                                         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表长    表深     表头       表尾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ea typeface="华文楷体" panose="02010600040101010101" pitchFamily="2" charset="-122"/>
              </a:rPr>
              <a:t>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A=( )                                                        0         1           -              -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B=(a, A)=(a, ( ))                                      2          2          a             (( ))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C=((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a,b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), c, d)                                          3         2         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a,b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         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c,d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D=(a, D)=(a, (a, (a, …)))                         2        </a:t>
            </a:r>
            <a:r>
              <a:rPr lang="en-US" altLang="zh-CN" sz="2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           a             (D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</p:txBody>
      </p:sp>
      <p:sp>
        <p:nvSpPr>
          <p:cNvPr id="28679" name="Line 4"/>
          <p:cNvSpPr>
            <a:spLocks noChangeShapeType="1"/>
          </p:cNvSpPr>
          <p:nvPr/>
        </p:nvSpPr>
        <p:spPr bwMode="auto">
          <a:xfrm>
            <a:off x="838200" y="1798638"/>
            <a:ext cx="769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8680" name="Line 5"/>
          <p:cNvSpPr>
            <a:spLocks noChangeShapeType="1"/>
          </p:cNvSpPr>
          <p:nvPr/>
        </p:nvSpPr>
        <p:spPr bwMode="auto">
          <a:xfrm>
            <a:off x="4648200" y="1417638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8681" name="Line 6"/>
          <p:cNvSpPr>
            <a:spLocks noChangeShapeType="1"/>
          </p:cNvSpPr>
          <p:nvPr/>
        </p:nvSpPr>
        <p:spPr bwMode="auto">
          <a:xfrm>
            <a:off x="5562600" y="1417638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8682" name="Line 7"/>
          <p:cNvSpPr>
            <a:spLocks noChangeShapeType="1"/>
          </p:cNvSpPr>
          <p:nvPr/>
        </p:nvSpPr>
        <p:spPr bwMode="auto">
          <a:xfrm>
            <a:off x="6400800" y="1417638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8683" name="Line 8"/>
          <p:cNvSpPr>
            <a:spLocks noChangeShapeType="1"/>
          </p:cNvSpPr>
          <p:nvPr/>
        </p:nvSpPr>
        <p:spPr bwMode="auto">
          <a:xfrm>
            <a:off x="838200" y="3856038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8684" name="Line 9"/>
          <p:cNvSpPr>
            <a:spLocks noChangeShapeType="1"/>
          </p:cNvSpPr>
          <p:nvPr/>
        </p:nvSpPr>
        <p:spPr bwMode="auto">
          <a:xfrm>
            <a:off x="914400" y="1341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8685" name="Line 10"/>
          <p:cNvSpPr>
            <a:spLocks noChangeShapeType="1"/>
          </p:cNvSpPr>
          <p:nvPr/>
        </p:nvSpPr>
        <p:spPr bwMode="auto">
          <a:xfrm>
            <a:off x="7391400" y="1417638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0113" y="4221088"/>
            <a:ext cx="6624215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表的长度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表中的元素（第一层）个数。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表的深度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表中元素的最深嵌套层数。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表头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表中的第一个元素。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表尾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除第一个元素外，剩余元素构成的广义表。</a:t>
            </a:r>
          </a:p>
          <a:p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99EE96-AC84-4663-B3C8-BCF1589FF2EF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2" name="日期占位符 3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1116013" y="1196975"/>
            <a:ext cx="6760184" cy="15696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性质</a:t>
            </a:r>
            <a:r>
              <a:rPr kumimoji="1"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任何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一个非空广义表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LS = (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1,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2, …,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均可分解为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表头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Head(LS) =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表尾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Tail(LS) =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2, …,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两部分。</a:t>
            </a: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1085778" y="2996952"/>
            <a:ext cx="6797328" cy="34778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 dirty="0">
                <a:solidFill>
                  <a:srgbClr val="99003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示例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D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 ( E, F ) =  ((a, (b, c))</a:t>
            </a: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endParaRPr kumimoji="1"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Head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Tail(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F </a:t>
            </a:r>
            <a:r>
              <a:rPr kumimoji="1" lang="en-US" altLang="zh-CN" sz="2000" dirty="0" smtClean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endParaRPr kumimoji="1"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Head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E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Tail(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E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( b, c) )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endParaRPr kumimoji="1"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Head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(( b, c))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b, c)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Tail(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(( b, c))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)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endParaRPr kumimoji="1"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Head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( b, c) 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=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b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Tail(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b, c)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c )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endParaRPr kumimoji="1"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Head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c )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=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c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Tail(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c )</a:t>
            </a: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) = </a:t>
            </a:r>
            <a:r>
              <a:rPr kumimoji="1" lang="en-US" altLang="zh-CN" sz="2000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kumimoji="1" lang="en-US" altLang="zh-CN" sz="2000" dirty="0" smtClean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8729" name="AutoShape 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172200"/>
            <a:ext cx="381000" cy="381000"/>
          </a:xfrm>
          <a:prstGeom prst="actionButtonBackPrevious">
            <a:avLst/>
          </a:prstGeom>
          <a:solidFill>
            <a:srgbClr val="33CCFF"/>
          </a:solidFill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 animBg="1" autoUpdateAnimBg="0"/>
      <p:bldP spid="158723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C4CC6B-43D0-4E21-AB54-3C57EE9E32A0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6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376238"/>
          </a:xfrm>
        </p:spPr>
        <p:txBody>
          <a:bodyPr/>
          <a:lstStyle/>
          <a:p>
            <a:pPr algn="l" eaLnBrk="1" hangingPunct="1"/>
            <a:r>
              <a:rPr lang="zh-CN" altLang="en-US" sz="2400" b="0" dirty="0" smtClean="0">
                <a:ea typeface="华文楷体" panose="02010600040101010101" pitchFamily="2" charset="-122"/>
              </a:rPr>
              <a:t>广义表的图形表达方法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30727" name="Oval 4"/>
          <p:cNvSpPr>
            <a:spLocks noChangeArrowheads="1"/>
          </p:cNvSpPr>
          <p:nvPr/>
        </p:nvSpPr>
        <p:spPr bwMode="auto">
          <a:xfrm>
            <a:off x="1981200" y="1447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28" name="Rectangle 5"/>
          <p:cNvSpPr>
            <a:spLocks noChangeArrowheads="1"/>
          </p:cNvSpPr>
          <p:nvPr/>
        </p:nvSpPr>
        <p:spPr bwMode="auto">
          <a:xfrm>
            <a:off x="14478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29" name="Rectangle 6"/>
          <p:cNvSpPr>
            <a:spLocks noChangeArrowheads="1"/>
          </p:cNvSpPr>
          <p:nvPr/>
        </p:nvSpPr>
        <p:spPr bwMode="auto">
          <a:xfrm>
            <a:off x="2362200" y="2209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30" name="Line 7"/>
          <p:cNvSpPr>
            <a:spLocks noChangeShapeType="1"/>
          </p:cNvSpPr>
          <p:nvPr/>
        </p:nvSpPr>
        <p:spPr bwMode="auto">
          <a:xfrm flipH="1">
            <a:off x="1600200" y="1752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31" name="Line 8"/>
          <p:cNvSpPr>
            <a:spLocks noChangeShapeType="1"/>
          </p:cNvSpPr>
          <p:nvPr/>
        </p:nvSpPr>
        <p:spPr bwMode="auto">
          <a:xfrm>
            <a:off x="2133600" y="1752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32" name="Text Box 9"/>
          <p:cNvSpPr txBox="1">
            <a:spLocks noChangeArrowheads="1"/>
          </p:cNvSpPr>
          <p:nvPr/>
        </p:nvSpPr>
        <p:spPr bwMode="auto">
          <a:xfrm>
            <a:off x="1600200" y="29718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A=(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a,b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30733" name="Text Box 10"/>
          <p:cNvSpPr txBox="1">
            <a:spLocks noChangeArrowheads="1"/>
          </p:cNvSpPr>
          <p:nvPr/>
        </p:nvSpPr>
        <p:spPr bwMode="auto">
          <a:xfrm>
            <a:off x="1371600" y="2438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734" name="Text Box 11"/>
          <p:cNvSpPr txBox="1">
            <a:spLocks noChangeArrowheads="1"/>
          </p:cNvSpPr>
          <p:nvPr/>
        </p:nvSpPr>
        <p:spPr bwMode="auto">
          <a:xfrm>
            <a:off x="2438400" y="24384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30735" name="Text Box 12"/>
          <p:cNvSpPr txBox="1">
            <a:spLocks noChangeArrowheads="1"/>
          </p:cNvSpPr>
          <p:nvPr/>
        </p:nvSpPr>
        <p:spPr bwMode="auto">
          <a:xfrm>
            <a:off x="1600200" y="1295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736" name="Oval 13"/>
          <p:cNvSpPr>
            <a:spLocks noChangeArrowheads="1"/>
          </p:cNvSpPr>
          <p:nvPr/>
        </p:nvSpPr>
        <p:spPr bwMode="auto">
          <a:xfrm>
            <a:off x="5257800" y="1371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37" name="Text Box 14"/>
          <p:cNvSpPr txBox="1">
            <a:spLocks noChangeArrowheads="1"/>
          </p:cNvSpPr>
          <p:nvPr/>
        </p:nvSpPr>
        <p:spPr bwMode="auto">
          <a:xfrm>
            <a:off x="4800600" y="30480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B=(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A,c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30738" name="Text Box 15"/>
          <p:cNvSpPr txBox="1">
            <a:spLocks noChangeArrowheads="1"/>
          </p:cNvSpPr>
          <p:nvPr/>
        </p:nvSpPr>
        <p:spPr bwMode="auto">
          <a:xfrm>
            <a:off x="5562600" y="1143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30739" name="Oval 16"/>
          <p:cNvSpPr>
            <a:spLocks noChangeArrowheads="1"/>
          </p:cNvSpPr>
          <p:nvPr/>
        </p:nvSpPr>
        <p:spPr bwMode="auto">
          <a:xfrm>
            <a:off x="1981200" y="3886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40" name="Rectangle 17"/>
          <p:cNvSpPr>
            <a:spLocks noChangeArrowheads="1"/>
          </p:cNvSpPr>
          <p:nvPr/>
        </p:nvSpPr>
        <p:spPr bwMode="auto">
          <a:xfrm>
            <a:off x="1371600" y="46482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41" name="Arc 18"/>
          <p:cNvSpPr>
            <a:spLocks/>
          </p:cNvSpPr>
          <p:nvPr/>
        </p:nvSpPr>
        <p:spPr bwMode="auto">
          <a:xfrm>
            <a:off x="2362200" y="3657600"/>
            <a:ext cx="304800" cy="228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42" name="Arc 19"/>
          <p:cNvSpPr>
            <a:spLocks/>
          </p:cNvSpPr>
          <p:nvPr/>
        </p:nvSpPr>
        <p:spPr bwMode="auto">
          <a:xfrm flipV="1">
            <a:off x="2514600" y="3886200"/>
            <a:ext cx="152400" cy="304800"/>
          </a:xfrm>
          <a:custGeom>
            <a:avLst/>
            <a:gdLst>
              <a:gd name="T0" fmla="*/ 0 w 21600"/>
              <a:gd name="T1" fmla="*/ 0 h 21600"/>
              <a:gd name="T2" fmla="*/ 377667802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43" name="Line 20"/>
          <p:cNvSpPr>
            <a:spLocks noChangeShapeType="1"/>
          </p:cNvSpPr>
          <p:nvPr/>
        </p:nvSpPr>
        <p:spPr bwMode="auto">
          <a:xfrm flipH="1">
            <a:off x="1524000" y="4191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44" name="Text Box 21"/>
          <p:cNvSpPr txBox="1">
            <a:spLocks noChangeArrowheads="1"/>
          </p:cNvSpPr>
          <p:nvPr/>
        </p:nvSpPr>
        <p:spPr bwMode="auto">
          <a:xfrm>
            <a:off x="1676400" y="53340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D=(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a,D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30745" name="Line 22"/>
          <p:cNvSpPr>
            <a:spLocks noChangeShapeType="1"/>
          </p:cNvSpPr>
          <p:nvPr/>
        </p:nvSpPr>
        <p:spPr bwMode="auto">
          <a:xfrm>
            <a:off x="2286000" y="41148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46" name="Line 23"/>
          <p:cNvSpPr>
            <a:spLocks noChangeShapeType="1"/>
          </p:cNvSpPr>
          <p:nvPr/>
        </p:nvSpPr>
        <p:spPr bwMode="auto">
          <a:xfrm flipH="1">
            <a:off x="2209800" y="3657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47" name="Text Box 24"/>
          <p:cNvSpPr txBox="1">
            <a:spLocks noChangeArrowheads="1"/>
          </p:cNvSpPr>
          <p:nvPr/>
        </p:nvSpPr>
        <p:spPr bwMode="auto">
          <a:xfrm>
            <a:off x="1371600" y="48768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748" name="Text Box 25"/>
          <p:cNvSpPr txBox="1">
            <a:spLocks noChangeArrowheads="1"/>
          </p:cNvSpPr>
          <p:nvPr/>
        </p:nvSpPr>
        <p:spPr bwMode="auto">
          <a:xfrm>
            <a:off x="1676400" y="3733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</a:p>
        </p:txBody>
      </p:sp>
      <p:sp>
        <p:nvSpPr>
          <p:cNvPr id="30749" name="Oval 26"/>
          <p:cNvSpPr>
            <a:spLocks noChangeArrowheads="1"/>
          </p:cNvSpPr>
          <p:nvPr/>
        </p:nvSpPr>
        <p:spPr bwMode="auto">
          <a:xfrm>
            <a:off x="5638800" y="3581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0" name="Oval 27"/>
          <p:cNvSpPr>
            <a:spLocks noChangeArrowheads="1"/>
          </p:cNvSpPr>
          <p:nvPr/>
        </p:nvSpPr>
        <p:spPr bwMode="auto">
          <a:xfrm>
            <a:off x="5105400" y="4191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1" name="Oval 28"/>
          <p:cNvSpPr>
            <a:spLocks noChangeArrowheads="1"/>
          </p:cNvSpPr>
          <p:nvPr/>
        </p:nvSpPr>
        <p:spPr bwMode="auto">
          <a:xfrm>
            <a:off x="6324600" y="4114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2" name="Rectangle 29"/>
          <p:cNvSpPr>
            <a:spLocks noChangeArrowheads="1"/>
          </p:cNvSpPr>
          <p:nvPr/>
        </p:nvSpPr>
        <p:spPr bwMode="auto">
          <a:xfrm>
            <a:off x="4572000" y="4876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3" name="Rectangle 30"/>
          <p:cNvSpPr>
            <a:spLocks noChangeArrowheads="1"/>
          </p:cNvSpPr>
          <p:nvPr/>
        </p:nvSpPr>
        <p:spPr bwMode="auto">
          <a:xfrm>
            <a:off x="5486400" y="4876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4" name="Rectangle 31"/>
          <p:cNvSpPr>
            <a:spLocks noChangeArrowheads="1"/>
          </p:cNvSpPr>
          <p:nvPr/>
        </p:nvSpPr>
        <p:spPr bwMode="auto">
          <a:xfrm>
            <a:off x="6781800" y="48768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5" name="Line 32"/>
          <p:cNvSpPr>
            <a:spLocks noChangeShapeType="1"/>
          </p:cNvSpPr>
          <p:nvPr/>
        </p:nvSpPr>
        <p:spPr bwMode="auto">
          <a:xfrm flipH="1">
            <a:off x="53340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6" name="Line 33"/>
          <p:cNvSpPr>
            <a:spLocks noChangeShapeType="1"/>
          </p:cNvSpPr>
          <p:nvPr/>
        </p:nvSpPr>
        <p:spPr bwMode="auto">
          <a:xfrm>
            <a:off x="5791200" y="38862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7" name="Line 34"/>
          <p:cNvSpPr>
            <a:spLocks noChangeShapeType="1"/>
          </p:cNvSpPr>
          <p:nvPr/>
        </p:nvSpPr>
        <p:spPr bwMode="auto">
          <a:xfrm flipH="1">
            <a:off x="4724400" y="4495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8" name="Line 35"/>
          <p:cNvSpPr>
            <a:spLocks noChangeShapeType="1"/>
          </p:cNvSpPr>
          <p:nvPr/>
        </p:nvSpPr>
        <p:spPr bwMode="auto">
          <a:xfrm>
            <a:off x="5257800" y="44958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59" name="Line 36"/>
          <p:cNvSpPr>
            <a:spLocks noChangeShapeType="1"/>
          </p:cNvSpPr>
          <p:nvPr/>
        </p:nvSpPr>
        <p:spPr bwMode="auto">
          <a:xfrm>
            <a:off x="6477000" y="4419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60" name="Line 37"/>
          <p:cNvSpPr>
            <a:spLocks noChangeShapeType="1"/>
          </p:cNvSpPr>
          <p:nvPr/>
        </p:nvSpPr>
        <p:spPr bwMode="auto">
          <a:xfrm flipH="1">
            <a:off x="5410200" y="4343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61" name="Text Box 38"/>
          <p:cNvSpPr txBox="1">
            <a:spLocks noChangeArrowheads="1"/>
          </p:cNvSpPr>
          <p:nvPr/>
        </p:nvSpPr>
        <p:spPr bwMode="auto">
          <a:xfrm>
            <a:off x="5029200" y="53340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L=(A,B)</a:t>
            </a:r>
          </a:p>
        </p:txBody>
      </p:sp>
      <p:sp>
        <p:nvSpPr>
          <p:cNvPr id="30762" name="Text Box 39"/>
          <p:cNvSpPr txBox="1">
            <a:spLocks noChangeArrowheads="1"/>
          </p:cNvSpPr>
          <p:nvPr/>
        </p:nvSpPr>
        <p:spPr bwMode="auto">
          <a:xfrm>
            <a:off x="5943600" y="3429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</a:t>
            </a:r>
          </a:p>
        </p:txBody>
      </p:sp>
      <p:sp>
        <p:nvSpPr>
          <p:cNvPr id="30763" name="Text Box 40"/>
          <p:cNvSpPr txBox="1">
            <a:spLocks noChangeArrowheads="1"/>
          </p:cNvSpPr>
          <p:nvPr/>
        </p:nvSpPr>
        <p:spPr bwMode="auto">
          <a:xfrm>
            <a:off x="4800600" y="4038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764" name="Text Box 41"/>
          <p:cNvSpPr txBox="1">
            <a:spLocks noChangeArrowheads="1"/>
          </p:cNvSpPr>
          <p:nvPr/>
        </p:nvSpPr>
        <p:spPr bwMode="auto">
          <a:xfrm>
            <a:off x="6553200" y="3810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30765" name="Text Box 42"/>
          <p:cNvSpPr txBox="1">
            <a:spLocks noChangeArrowheads="1"/>
          </p:cNvSpPr>
          <p:nvPr/>
        </p:nvSpPr>
        <p:spPr bwMode="auto">
          <a:xfrm>
            <a:off x="4343400" y="5029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766" name="Text Box 43"/>
          <p:cNvSpPr txBox="1">
            <a:spLocks noChangeArrowheads="1"/>
          </p:cNvSpPr>
          <p:nvPr/>
        </p:nvSpPr>
        <p:spPr bwMode="auto">
          <a:xfrm>
            <a:off x="5791200" y="4953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30767" name="Text Box 44"/>
          <p:cNvSpPr txBox="1">
            <a:spLocks noChangeArrowheads="1"/>
          </p:cNvSpPr>
          <p:nvPr/>
        </p:nvSpPr>
        <p:spPr bwMode="auto">
          <a:xfrm>
            <a:off x="6934200" y="5029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</a:p>
        </p:txBody>
      </p:sp>
      <p:sp>
        <p:nvSpPr>
          <p:cNvPr id="30768" name="Line 45"/>
          <p:cNvSpPr>
            <a:spLocks noChangeShapeType="1"/>
          </p:cNvSpPr>
          <p:nvPr/>
        </p:nvSpPr>
        <p:spPr bwMode="auto">
          <a:xfrm flipH="1">
            <a:off x="4953000" y="1676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69" name="Line 46"/>
          <p:cNvSpPr>
            <a:spLocks noChangeShapeType="1"/>
          </p:cNvSpPr>
          <p:nvPr/>
        </p:nvSpPr>
        <p:spPr bwMode="auto">
          <a:xfrm>
            <a:off x="5486400" y="1676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70" name="Line 47"/>
          <p:cNvSpPr>
            <a:spLocks noChangeShapeType="1"/>
          </p:cNvSpPr>
          <p:nvPr/>
        </p:nvSpPr>
        <p:spPr bwMode="auto">
          <a:xfrm flipH="1">
            <a:off x="4267200" y="22098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71" name="Line 48"/>
          <p:cNvSpPr>
            <a:spLocks noChangeShapeType="1"/>
          </p:cNvSpPr>
          <p:nvPr/>
        </p:nvSpPr>
        <p:spPr bwMode="auto">
          <a:xfrm>
            <a:off x="5029200" y="2209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72" name="Text Box 49"/>
          <p:cNvSpPr txBox="1">
            <a:spLocks noChangeArrowheads="1"/>
          </p:cNvSpPr>
          <p:nvPr/>
        </p:nvSpPr>
        <p:spPr bwMode="auto">
          <a:xfrm>
            <a:off x="4495800" y="1752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773" name="Text Box 50"/>
          <p:cNvSpPr txBox="1">
            <a:spLocks noChangeArrowheads="1"/>
          </p:cNvSpPr>
          <p:nvPr/>
        </p:nvSpPr>
        <p:spPr bwMode="auto">
          <a:xfrm>
            <a:off x="3886200" y="2667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774" name="Text Box 51"/>
          <p:cNvSpPr txBox="1">
            <a:spLocks noChangeArrowheads="1"/>
          </p:cNvSpPr>
          <p:nvPr/>
        </p:nvSpPr>
        <p:spPr bwMode="auto">
          <a:xfrm>
            <a:off x="5105400" y="2667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30775" name="Text Box 52"/>
          <p:cNvSpPr txBox="1">
            <a:spLocks noChangeArrowheads="1"/>
          </p:cNvSpPr>
          <p:nvPr/>
        </p:nvSpPr>
        <p:spPr bwMode="auto">
          <a:xfrm>
            <a:off x="5867400" y="2133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</a:p>
        </p:txBody>
      </p:sp>
      <p:sp>
        <p:nvSpPr>
          <p:cNvPr id="30776" name="Rectangle 53"/>
          <p:cNvSpPr>
            <a:spLocks noChangeArrowheads="1"/>
          </p:cNvSpPr>
          <p:nvPr/>
        </p:nvSpPr>
        <p:spPr bwMode="auto">
          <a:xfrm>
            <a:off x="6781800" y="1219200"/>
            <a:ext cx="1447800" cy="1371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77" name="Oval 54"/>
          <p:cNvSpPr>
            <a:spLocks noChangeArrowheads="1"/>
          </p:cNvSpPr>
          <p:nvPr/>
        </p:nvSpPr>
        <p:spPr bwMode="auto">
          <a:xfrm>
            <a:off x="6934200" y="1371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78" name="Text Box 55"/>
          <p:cNvSpPr txBox="1">
            <a:spLocks noChangeArrowheads="1"/>
          </p:cNvSpPr>
          <p:nvPr/>
        </p:nvSpPr>
        <p:spPr bwMode="auto">
          <a:xfrm>
            <a:off x="6934200" y="21336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79" name="Rectangle 56"/>
          <p:cNvSpPr>
            <a:spLocks noChangeArrowheads="1"/>
          </p:cNvSpPr>
          <p:nvPr/>
        </p:nvSpPr>
        <p:spPr bwMode="auto">
          <a:xfrm>
            <a:off x="6934200" y="21336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80" name="Text Box 57"/>
          <p:cNvSpPr txBox="1">
            <a:spLocks noChangeArrowheads="1"/>
          </p:cNvSpPr>
          <p:nvPr/>
        </p:nvSpPr>
        <p:spPr bwMode="auto">
          <a:xfrm>
            <a:off x="7391400" y="1295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表</a:t>
            </a:r>
          </a:p>
        </p:txBody>
      </p:sp>
      <p:sp>
        <p:nvSpPr>
          <p:cNvPr id="30781" name="Text Box 58"/>
          <p:cNvSpPr txBox="1">
            <a:spLocks noChangeArrowheads="1"/>
          </p:cNvSpPr>
          <p:nvPr/>
        </p:nvSpPr>
        <p:spPr bwMode="auto">
          <a:xfrm>
            <a:off x="7391400" y="2057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</a:t>
            </a:r>
          </a:p>
        </p:txBody>
      </p:sp>
      <p:sp>
        <p:nvSpPr>
          <p:cNvPr id="30782" name="Rectangle 59"/>
          <p:cNvSpPr>
            <a:spLocks noChangeArrowheads="1"/>
          </p:cNvSpPr>
          <p:nvPr/>
        </p:nvSpPr>
        <p:spPr bwMode="auto">
          <a:xfrm>
            <a:off x="5867400" y="1905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83" name="Oval 60"/>
          <p:cNvSpPr>
            <a:spLocks noChangeArrowheads="1"/>
          </p:cNvSpPr>
          <p:nvPr/>
        </p:nvSpPr>
        <p:spPr bwMode="auto">
          <a:xfrm>
            <a:off x="4876800" y="1905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84" name="Rectangle 61"/>
          <p:cNvSpPr>
            <a:spLocks noChangeArrowheads="1"/>
          </p:cNvSpPr>
          <p:nvPr/>
        </p:nvSpPr>
        <p:spPr bwMode="auto">
          <a:xfrm>
            <a:off x="4191000" y="2667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0785" name="Rectangle 62"/>
          <p:cNvSpPr>
            <a:spLocks noChangeArrowheads="1"/>
          </p:cNvSpPr>
          <p:nvPr/>
        </p:nvSpPr>
        <p:spPr bwMode="auto">
          <a:xfrm>
            <a:off x="5334000" y="2667000"/>
            <a:ext cx="304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EE7F72-38D8-4483-8469-DAB9923725BB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23950"/>
            <a:ext cx="7772400" cy="52578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规定所有表都有名字时，广义表的表示方法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例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A(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B(A(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), c)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L(A(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), B(A(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),c))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D(a, D(a, D(…)))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广义表结构的分类</a:t>
            </a:r>
            <a:endParaRPr lang="zh-CN" altLang="en-US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marL="0" indent="0" eaLnBrk="1" hangingPunct="1"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zh-CN" altLang="en-US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纯表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：与树型结构对应的广义表。</a:t>
            </a:r>
          </a:p>
          <a:p>
            <a:pPr marL="0" indent="0" eaLnBrk="1" hangingPunct="1"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再入表：允许结点共享的广义表。</a:t>
            </a:r>
          </a:p>
          <a:p>
            <a:pPr marL="0" indent="0" eaLnBrk="1" hangingPunct="1">
              <a:buNone/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递归表：允许递归的广义表。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递归表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再入表纯表线性表</a:t>
            </a:r>
          </a:p>
        </p:txBody>
      </p:sp>
      <p:sp>
        <p:nvSpPr>
          <p:cNvPr id="31750" name="AutoShape 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3851275" y="2924175"/>
            <a:ext cx="4362450" cy="366713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zh-CN" altLang="en-US" sz="18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递归表的深度是无穷值，长度是有限值。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0ED3A1-0D2D-44B7-BCD9-3868EAC5995B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1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772400" cy="762000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5.5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广义表的存储结构</a:t>
            </a:r>
          </a:p>
        </p:txBody>
      </p:sp>
      <p:sp>
        <p:nvSpPr>
          <p:cNvPr id="3277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560" y="1219200"/>
            <a:ext cx="784664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5.5.1 </a:t>
            </a:r>
            <a:r>
              <a:rPr lang="zh-CN" altLang="en-US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方法１</a:t>
            </a:r>
            <a:r>
              <a:rPr lang="en-US" altLang="zh-CN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—</a:t>
            </a:r>
            <a:r>
              <a:rPr lang="zh-CN" altLang="en-US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头尾链表形式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   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类型定义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</p:txBody>
      </p:sp>
      <p:sp>
        <p:nvSpPr>
          <p:cNvPr id="32776" name="Text Box 5"/>
          <p:cNvSpPr txBox="1">
            <a:spLocks noChangeArrowheads="1"/>
          </p:cNvSpPr>
          <p:nvPr/>
        </p:nvSpPr>
        <p:spPr bwMode="auto">
          <a:xfrm>
            <a:off x="5867400" y="2362200"/>
            <a:ext cx="2057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tag=1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hp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tp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</a:p>
        </p:txBody>
      </p:sp>
      <p:sp>
        <p:nvSpPr>
          <p:cNvPr id="32777" name="Line 6"/>
          <p:cNvSpPr>
            <a:spLocks noChangeShapeType="1"/>
          </p:cNvSpPr>
          <p:nvPr/>
        </p:nvSpPr>
        <p:spPr bwMode="auto">
          <a:xfrm>
            <a:off x="6781800" y="236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2778" name="Line 7"/>
          <p:cNvSpPr>
            <a:spLocks noChangeShapeType="1"/>
          </p:cNvSpPr>
          <p:nvPr/>
        </p:nvSpPr>
        <p:spPr bwMode="auto">
          <a:xfrm>
            <a:off x="7315200" y="236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2779" name="Text Box 8"/>
          <p:cNvSpPr txBox="1">
            <a:spLocks noChangeArrowheads="1"/>
          </p:cNvSpPr>
          <p:nvPr/>
        </p:nvSpPr>
        <p:spPr bwMode="auto">
          <a:xfrm>
            <a:off x="6248400" y="1905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表结点</a:t>
            </a:r>
          </a:p>
        </p:txBody>
      </p:sp>
      <p:sp>
        <p:nvSpPr>
          <p:cNvPr id="32780" name="Text Box 9"/>
          <p:cNvSpPr txBox="1">
            <a:spLocks noChangeArrowheads="1"/>
          </p:cNvSpPr>
          <p:nvPr/>
        </p:nvSpPr>
        <p:spPr bwMode="auto">
          <a:xfrm>
            <a:off x="6096000" y="3505200"/>
            <a:ext cx="1752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tag=0   data</a:t>
            </a:r>
          </a:p>
        </p:txBody>
      </p:sp>
      <p:sp>
        <p:nvSpPr>
          <p:cNvPr id="32781" name="Line 10"/>
          <p:cNvSpPr>
            <a:spLocks noChangeShapeType="1"/>
          </p:cNvSpPr>
          <p:nvPr/>
        </p:nvSpPr>
        <p:spPr bwMode="auto">
          <a:xfrm>
            <a:off x="7010400" y="3505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2782" name="Text Box 11"/>
          <p:cNvSpPr txBox="1">
            <a:spLocks noChangeArrowheads="1"/>
          </p:cNvSpPr>
          <p:nvPr/>
        </p:nvSpPr>
        <p:spPr bwMode="auto">
          <a:xfrm>
            <a:off x="6248400" y="30480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原子结点</a:t>
            </a:r>
          </a:p>
        </p:txBody>
      </p:sp>
      <p:sp>
        <p:nvSpPr>
          <p:cNvPr id="32783" name="Text Box 12"/>
          <p:cNvSpPr txBox="1">
            <a:spLocks noChangeArrowheads="1"/>
          </p:cNvSpPr>
          <p:nvPr/>
        </p:nvSpPr>
        <p:spPr bwMode="auto">
          <a:xfrm>
            <a:off x="6012160" y="4076700"/>
            <a:ext cx="3047703" cy="86177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hp</a:t>
            </a:r>
            <a:r>
              <a:rPr kumimoji="1" lang="en-US" altLang="zh-CN" sz="20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kumimoji="1" lang="zh-CN" altLang="zh-CN" sz="20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指示表头的指针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tp</a:t>
            </a:r>
            <a:r>
              <a:rPr kumimoji="1" lang="en-US" altLang="zh-CN" sz="20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 </a:t>
            </a:r>
            <a:r>
              <a:rPr kumimoji="1" lang="zh-CN" altLang="zh-CN" sz="20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指示</a:t>
            </a:r>
            <a:r>
              <a:rPr kumimoji="1" lang="zh-CN" altLang="zh-CN" sz="20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表尾的</a:t>
            </a:r>
            <a:r>
              <a:rPr kumimoji="1" lang="zh-CN" altLang="zh-CN" sz="20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指针</a:t>
            </a:r>
            <a:endParaRPr kumimoji="1" lang="en-US" altLang="zh-CN" sz="2000" dirty="0" smtClean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7924800" y="2636838"/>
            <a:ext cx="228600" cy="10795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785" name="文本框 2"/>
          <p:cNvSpPr txBox="1">
            <a:spLocks noChangeArrowheads="1"/>
          </p:cNvSpPr>
          <p:nvPr/>
        </p:nvSpPr>
        <p:spPr bwMode="auto">
          <a:xfrm>
            <a:off x="8161338" y="2511425"/>
            <a:ext cx="898525" cy="12001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利用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tag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来区分类型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9846" y="1905000"/>
            <a:ext cx="5631354" cy="43838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typedef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enum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{ATOM,  LIST}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ElemTag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/*ATOM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＝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0,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原子；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LIST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＝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1,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子表 *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typedef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struct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GLNode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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{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ElemTag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tag;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/* 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标志位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tag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用来区别原子结点和表结点 *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/            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union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{                       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data;       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/* 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原子结点的值域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data */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struct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struct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GLNode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*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hp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,  *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tp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}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ptr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/* 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表结点的指针域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ptr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  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包括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表头和表尾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指  针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域 *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/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};               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/* 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原子结点的值域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atom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表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结点的指针域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htp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的联合体域 *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/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  *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GList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；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C23359-3C29-4716-B2CC-73ADC6B3573F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74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11138"/>
            <a:ext cx="8458200" cy="338137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示例</a:t>
            </a:r>
            <a:r>
              <a:rPr lang="en-US" altLang="zh-CN" sz="2400" b="0" dirty="0" smtClean="0"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A=( )</a:t>
            </a:r>
            <a:r>
              <a:rPr lang="en-US" altLang="zh-CN" sz="2800" dirty="0" smtClean="0">
                <a:ea typeface="华文楷体" panose="02010600040101010101" pitchFamily="2" charset="-122"/>
              </a:rPr>
              <a:t>    A - NIL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B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C</a:t>
            </a:r>
          </a:p>
        </p:txBody>
      </p:sp>
      <p:sp>
        <p:nvSpPr>
          <p:cNvPr id="33799" name="Text Box 4"/>
          <p:cNvSpPr txBox="1">
            <a:spLocks noChangeArrowheads="1"/>
          </p:cNvSpPr>
          <p:nvPr/>
        </p:nvSpPr>
        <p:spPr bwMode="auto">
          <a:xfrm>
            <a:off x="1447800" y="1905000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3800" name="Line 5"/>
          <p:cNvSpPr>
            <a:spLocks noChangeShapeType="1"/>
          </p:cNvSpPr>
          <p:nvPr/>
        </p:nvSpPr>
        <p:spPr bwMode="auto">
          <a:xfrm>
            <a:off x="1905000" y="190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01" name="Line 6"/>
          <p:cNvSpPr>
            <a:spLocks noChangeShapeType="1"/>
          </p:cNvSpPr>
          <p:nvPr/>
        </p:nvSpPr>
        <p:spPr bwMode="auto">
          <a:xfrm>
            <a:off x="2362200" y="190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02" name="Text Box 7"/>
          <p:cNvSpPr txBox="1">
            <a:spLocks noChangeArrowheads="1"/>
          </p:cNvSpPr>
          <p:nvPr/>
        </p:nvSpPr>
        <p:spPr bwMode="auto">
          <a:xfrm>
            <a:off x="3200400" y="19050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^   ^</a:t>
            </a:r>
          </a:p>
        </p:txBody>
      </p:sp>
      <p:sp>
        <p:nvSpPr>
          <p:cNvPr id="33803" name="Line 8"/>
          <p:cNvSpPr>
            <a:spLocks noChangeShapeType="1"/>
          </p:cNvSpPr>
          <p:nvPr/>
        </p:nvSpPr>
        <p:spPr bwMode="auto">
          <a:xfrm>
            <a:off x="3581400" y="190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04" name="Line 9"/>
          <p:cNvSpPr>
            <a:spLocks noChangeShapeType="1"/>
          </p:cNvSpPr>
          <p:nvPr/>
        </p:nvSpPr>
        <p:spPr bwMode="auto">
          <a:xfrm>
            <a:off x="4038600" y="190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05" name="Text Box 10"/>
          <p:cNvSpPr txBox="1">
            <a:spLocks noChangeArrowheads="1"/>
          </p:cNvSpPr>
          <p:nvPr/>
        </p:nvSpPr>
        <p:spPr bwMode="auto">
          <a:xfrm>
            <a:off x="1905000" y="26670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 a</a:t>
            </a:r>
          </a:p>
        </p:txBody>
      </p:sp>
      <p:sp>
        <p:nvSpPr>
          <p:cNvPr id="33806" name="Line 11"/>
          <p:cNvSpPr>
            <a:spLocks noChangeShapeType="1"/>
          </p:cNvSpPr>
          <p:nvPr/>
        </p:nvSpPr>
        <p:spPr bwMode="auto">
          <a:xfrm>
            <a:off x="2362200" y="2667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07" name="Line 12"/>
          <p:cNvSpPr>
            <a:spLocks noChangeShapeType="1"/>
          </p:cNvSpPr>
          <p:nvPr/>
        </p:nvSpPr>
        <p:spPr bwMode="auto">
          <a:xfrm>
            <a:off x="2590800" y="213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08" name="Line 13"/>
          <p:cNvSpPr>
            <a:spLocks noChangeShapeType="1"/>
          </p:cNvSpPr>
          <p:nvPr/>
        </p:nvSpPr>
        <p:spPr bwMode="auto">
          <a:xfrm>
            <a:off x="21336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09" name="Line 14"/>
          <p:cNvSpPr>
            <a:spLocks noChangeShapeType="1"/>
          </p:cNvSpPr>
          <p:nvPr/>
        </p:nvSpPr>
        <p:spPr bwMode="auto">
          <a:xfrm>
            <a:off x="1066800" y="2057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10" name="Text Box 15"/>
          <p:cNvSpPr txBox="1">
            <a:spLocks noChangeArrowheads="1"/>
          </p:cNvSpPr>
          <p:nvPr/>
        </p:nvSpPr>
        <p:spPr bwMode="auto">
          <a:xfrm>
            <a:off x="1447800" y="3352800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3811" name="Text Box 16"/>
          <p:cNvSpPr txBox="1">
            <a:spLocks noChangeArrowheads="1"/>
          </p:cNvSpPr>
          <p:nvPr/>
        </p:nvSpPr>
        <p:spPr bwMode="auto">
          <a:xfrm>
            <a:off x="3200400" y="33528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3812" name="Text Box 17"/>
          <p:cNvSpPr txBox="1">
            <a:spLocks noChangeArrowheads="1"/>
          </p:cNvSpPr>
          <p:nvPr/>
        </p:nvSpPr>
        <p:spPr bwMode="auto">
          <a:xfrm>
            <a:off x="4953000" y="3352800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   ^</a:t>
            </a:r>
          </a:p>
        </p:txBody>
      </p:sp>
      <p:sp>
        <p:nvSpPr>
          <p:cNvPr id="33813" name="Line 18"/>
          <p:cNvSpPr>
            <a:spLocks noChangeShapeType="1"/>
          </p:cNvSpPr>
          <p:nvPr/>
        </p:nvSpPr>
        <p:spPr bwMode="auto">
          <a:xfrm>
            <a:off x="1905000" y="3352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14" name="Line 19"/>
          <p:cNvSpPr>
            <a:spLocks noChangeShapeType="1"/>
          </p:cNvSpPr>
          <p:nvPr/>
        </p:nvSpPr>
        <p:spPr bwMode="auto">
          <a:xfrm>
            <a:off x="2286000" y="3352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15" name="Line 20"/>
          <p:cNvSpPr>
            <a:spLocks noChangeShapeType="1"/>
          </p:cNvSpPr>
          <p:nvPr/>
        </p:nvSpPr>
        <p:spPr bwMode="auto">
          <a:xfrm>
            <a:off x="3581400" y="3352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16" name="Line 21"/>
          <p:cNvSpPr>
            <a:spLocks noChangeShapeType="1"/>
          </p:cNvSpPr>
          <p:nvPr/>
        </p:nvSpPr>
        <p:spPr bwMode="auto">
          <a:xfrm>
            <a:off x="4038600" y="3352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17" name="Line 22"/>
          <p:cNvSpPr>
            <a:spLocks noChangeShapeType="1"/>
          </p:cNvSpPr>
          <p:nvPr/>
        </p:nvSpPr>
        <p:spPr bwMode="auto">
          <a:xfrm>
            <a:off x="5410200" y="3352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18" name="Line 23"/>
          <p:cNvSpPr>
            <a:spLocks noChangeShapeType="1"/>
          </p:cNvSpPr>
          <p:nvPr/>
        </p:nvSpPr>
        <p:spPr bwMode="auto">
          <a:xfrm>
            <a:off x="5867400" y="3352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19" name="Line 24"/>
          <p:cNvSpPr>
            <a:spLocks noChangeShapeType="1"/>
          </p:cNvSpPr>
          <p:nvPr/>
        </p:nvSpPr>
        <p:spPr bwMode="auto">
          <a:xfrm>
            <a:off x="990600" y="3581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20" name="Line 25"/>
          <p:cNvSpPr>
            <a:spLocks noChangeShapeType="1"/>
          </p:cNvSpPr>
          <p:nvPr/>
        </p:nvSpPr>
        <p:spPr bwMode="auto">
          <a:xfrm>
            <a:off x="2514600" y="3581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21" name="Line 26"/>
          <p:cNvSpPr>
            <a:spLocks noChangeShapeType="1"/>
          </p:cNvSpPr>
          <p:nvPr/>
        </p:nvSpPr>
        <p:spPr bwMode="auto">
          <a:xfrm>
            <a:off x="4267200" y="3581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22" name="Text Box 27"/>
          <p:cNvSpPr txBox="1">
            <a:spLocks noChangeArrowheads="1"/>
          </p:cNvSpPr>
          <p:nvPr/>
        </p:nvSpPr>
        <p:spPr bwMode="auto">
          <a:xfrm>
            <a:off x="3581400" y="3962400"/>
            <a:ext cx="838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 c</a:t>
            </a:r>
          </a:p>
        </p:txBody>
      </p:sp>
      <p:sp>
        <p:nvSpPr>
          <p:cNvPr id="33823" name="Text Box 28"/>
          <p:cNvSpPr txBox="1">
            <a:spLocks noChangeArrowheads="1"/>
          </p:cNvSpPr>
          <p:nvPr/>
        </p:nvSpPr>
        <p:spPr bwMode="auto">
          <a:xfrm>
            <a:off x="5410200" y="3962400"/>
            <a:ext cx="914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  d</a:t>
            </a:r>
          </a:p>
        </p:txBody>
      </p:sp>
      <p:sp>
        <p:nvSpPr>
          <p:cNvPr id="33824" name="Line 29"/>
          <p:cNvSpPr>
            <a:spLocks noChangeShapeType="1"/>
          </p:cNvSpPr>
          <p:nvPr/>
        </p:nvSpPr>
        <p:spPr bwMode="auto">
          <a:xfrm>
            <a:off x="39624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25" name="Line 30"/>
          <p:cNvSpPr>
            <a:spLocks noChangeShapeType="1"/>
          </p:cNvSpPr>
          <p:nvPr/>
        </p:nvSpPr>
        <p:spPr bwMode="auto">
          <a:xfrm>
            <a:off x="57912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26" name="Line 31"/>
          <p:cNvSpPr>
            <a:spLocks noChangeShapeType="1"/>
          </p:cNvSpPr>
          <p:nvPr/>
        </p:nvSpPr>
        <p:spPr bwMode="auto">
          <a:xfrm>
            <a:off x="3810000" y="3581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27" name="Line 32"/>
          <p:cNvSpPr>
            <a:spLocks noChangeShapeType="1"/>
          </p:cNvSpPr>
          <p:nvPr/>
        </p:nvSpPr>
        <p:spPr bwMode="auto">
          <a:xfrm>
            <a:off x="5638800" y="3581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28" name="Text Box 33"/>
          <p:cNvSpPr txBox="1">
            <a:spLocks noChangeArrowheads="1"/>
          </p:cNvSpPr>
          <p:nvPr/>
        </p:nvSpPr>
        <p:spPr bwMode="auto">
          <a:xfrm>
            <a:off x="1371600" y="4495800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3829" name="Text Box 34"/>
          <p:cNvSpPr txBox="1">
            <a:spLocks noChangeArrowheads="1"/>
          </p:cNvSpPr>
          <p:nvPr/>
        </p:nvSpPr>
        <p:spPr bwMode="auto">
          <a:xfrm>
            <a:off x="3200400" y="4495800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   ^</a:t>
            </a:r>
          </a:p>
        </p:txBody>
      </p:sp>
      <p:sp>
        <p:nvSpPr>
          <p:cNvPr id="33830" name="Line 35"/>
          <p:cNvSpPr>
            <a:spLocks noChangeShapeType="1"/>
          </p:cNvSpPr>
          <p:nvPr/>
        </p:nvSpPr>
        <p:spPr bwMode="auto">
          <a:xfrm>
            <a:off x="1828800" y="4495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31" name="Line 36"/>
          <p:cNvSpPr>
            <a:spLocks noChangeShapeType="1"/>
          </p:cNvSpPr>
          <p:nvPr/>
        </p:nvSpPr>
        <p:spPr bwMode="auto">
          <a:xfrm>
            <a:off x="2286000" y="4495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32" name="Line 37"/>
          <p:cNvSpPr>
            <a:spLocks noChangeShapeType="1"/>
          </p:cNvSpPr>
          <p:nvPr/>
        </p:nvSpPr>
        <p:spPr bwMode="auto">
          <a:xfrm>
            <a:off x="3581400" y="4495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33" name="Line 38"/>
          <p:cNvSpPr>
            <a:spLocks noChangeShapeType="1"/>
          </p:cNvSpPr>
          <p:nvPr/>
        </p:nvSpPr>
        <p:spPr bwMode="auto">
          <a:xfrm>
            <a:off x="4038600" y="4495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34" name="Line 39"/>
          <p:cNvSpPr>
            <a:spLocks noChangeShapeType="1"/>
          </p:cNvSpPr>
          <p:nvPr/>
        </p:nvSpPr>
        <p:spPr bwMode="auto">
          <a:xfrm>
            <a:off x="2057400" y="3581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35" name="Line 40"/>
          <p:cNvSpPr>
            <a:spLocks noChangeShapeType="1"/>
          </p:cNvSpPr>
          <p:nvPr/>
        </p:nvSpPr>
        <p:spPr bwMode="auto">
          <a:xfrm>
            <a:off x="2514600" y="4724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36" name="Text Box 41"/>
          <p:cNvSpPr txBox="1">
            <a:spLocks noChangeArrowheads="1"/>
          </p:cNvSpPr>
          <p:nvPr/>
        </p:nvSpPr>
        <p:spPr bwMode="auto">
          <a:xfrm>
            <a:off x="1828800" y="5181600"/>
            <a:ext cx="914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  a</a:t>
            </a:r>
          </a:p>
        </p:txBody>
      </p:sp>
      <p:sp>
        <p:nvSpPr>
          <p:cNvPr id="33837" name="Text Box 42"/>
          <p:cNvSpPr txBox="1">
            <a:spLocks noChangeArrowheads="1"/>
          </p:cNvSpPr>
          <p:nvPr/>
        </p:nvSpPr>
        <p:spPr bwMode="auto">
          <a:xfrm>
            <a:off x="3581400" y="5181600"/>
            <a:ext cx="914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  b</a:t>
            </a:r>
          </a:p>
        </p:txBody>
      </p:sp>
      <p:sp>
        <p:nvSpPr>
          <p:cNvPr id="33838" name="Line 43"/>
          <p:cNvSpPr>
            <a:spLocks noChangeShapeType="1"/>
          </p:cNvSpPr>
          <p:nvPr/>
        </p:nvSpPr>
        <p:spPr bwMode="auto">
          <a:xfrm>
            <a:off x="22860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39" name="Line 44"/>
          <p:cNvSpPr>
            <a:spLocks noChangeShapeType="1"/>
          </p:cNvSpPr>
          <p:nvPr/>
        </p:nvSpPr>
        <p:spPr bwMode="auto">
          <a:xfrm>
            <a:off x="39624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0" name="Line 45"/>
          <p:cNvSpPr>
            <a:spLocks noChangeShapeType="1"/>
          </p:cNvSpPr>
          <p:nvPr/>
        </p:nvSpPr>
        <p:spPr bwMode="auto">
          <a:xfrm>
            <a:off x="2057400" y="4724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1" name="Line 46"/>
          <p:cNvSpPr>
            <a:spLocks noChangeShapeType="1"/>
          </p:cNvSpPr>
          <p:nvPr/>
        </p:nvSpPr>
        <p:spPr bwMode="auto">
          <a:xfrm>
            <a:off x="3810000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2" name="Text Box 47"/>
          <p:cNvSpPr txBox="1">
            <a:spLocks noChangeArrowheads="1"/>
          </p:cNvSpPr>
          <p:nvPr/>
        </p:nvSpPr>
        <p:spPr bwMode="auto">
          <a:xfrm>
            <a:off x="5562600" y="1447800"/>
            <a:ext cx="1143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3843" name="Text Box 48"/>
          <p:cNvSpPr txBox="1">
            <a:spLocks noChangeArrowheads="1"/>
          </p:cNvSpPr>
          <p:nvPr/>
        </p:nvSpPr>
        <p:spPr bwMode="auto">
          <a:xfrm>
            <a:off x="7010400" y="14478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  ^</a:t>
            </a:r>
          </a:p>
        </p:txBody>
      </p:sp>
      <p:sp>
        <p:nvSpPr>
          <p:cNvPr id="33844" name="Line 49"/>
          <p:cNvSpPr>
            <a:spLocks noChangeShapeType="1"/>
          </p:cNvSpPr>
          <p:nvPr/>
        </p:nvSpPr>
        <p:spPr bwMode="auto">
          <a:xfrm>
            <a:off x="59436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5" name="Line 50"/>
          <p:cNvSpPr>
            <a:spLocks noChangeShapeType="1"/>
          </p:cNvSpPr>
          <p:nvPr/>
        </p:nvSpPr>
        <p:spPr bwMode="auto">
          <a:xfrm>
            <a:off x="63246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6" name="Line 51"/>
          <p:cNvSpPr>
            <a:spLocks noChangeShapeType="1"/>
          </p:cNvSpPr>
          <p:nvPr/>
        </p:nvSpPr>
        <p:spPr bwMode="auto">
          <a:xfrm>
            <a:off x="73914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7" name="Line 52"/>
          <p:cNvSpPr>
            <a:spLocks noChangeShapeType="1"/>
          </p:cNvSpPr>
          <p:nvPr/>
        </p:nvSpPr>
        <p:spPr bwMode="auto">
          <a:xfrm>
            <a:off x="77724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8" name="Line 53"/>
          <p:cNvSpPr>
            <a:spLocks noChangeShapeType="1"/>
          </p:cNvSpPr>
          <p:nvPr/>
        </p:nvSpPr>
        <p:spPr bwMode="auto">
          <a:xfrm>
            <a:off x="5029200" y="1676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49" name="Line 54"/>
          <p:cNvSpPr>
            <a:spLocks noChangeShapeType="1"/>
          </p:cNvSpPr>
          <p:nvPr/>
        </p:nvSpPr>
        <p:spPr bwMode="auto">
          <a:xfrm>
            <a:off x="6553200" y="1676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0" name="Text Box 55"/>
          <p:cNvSpPr txBox="1">
            <a:spLocks noChangeArrowheads="1"/>
          </p:cNvSpPr>
          <p:nvPr/>
        </p:nvSpPr>
        <p:spPr bwMode="auto">
          <a:xfrm>
            <a:off x="4572000" y="1447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</a:p>
        </p:txBody>
      </p:sp>
      <p:sp>
        <p:nvSpPr>
          <p:cNvPr id="33851" name="Text Box 56"/>
          <p:cNvSpPr txBox="1">
            <a:spLocks noChangeArrowheads="1"/>
          </p:cNvSpPr>
          <p:nvPr/>
        </p:nvSpPr>
        <p:spPr bwMode="auto">
          <a:xfrm>
            <a:off x="5943600" y="2133600"/>
            <a:ext cx="762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a</a:t>
            </a:r>
          </a:p>
        </p:txBody>
      </p:sp>
      <p:sp>
        <p:nvSpPr>
          <p:cNvPr id="33852" name="Line 57"/>
          <p:cNvSpPr>
            <a:spLocks noChangeShapeType="1"/>
          </p:cNvSpPr>
          <p:nvPr/>
        </p:nvSpPr>
        <p:spPr bwMode="auto">
          <a:xfrm>
            <a:off x="63246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3" name="Line 58"/>
          <p:cNvSpPr>
            <a:spLocks noChangeShapeType="1"/>
          </p:cNvSpPr>
          <p:nvPr/>
        </p:nvSpPr>
        <p:spPr bwMode="auto">
          <a:xfrm>
            <a:off x="6096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4" name="Line 59"/>
          <p:cNvSpPr>
            <a:spLocks noChangeShapeType="1"/>
          </p:cNvSpPr>
          <p:nvPr/>
        </p:nvSpPr>
        <p:spPr bwMode="auto">
          <a:xfrm flipV="1">
            <a:off x="75438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5" name="Line 60"/>
          <p:cNvSpPr>
            <a:spLocks noChangeShapeType="1"/>
          </p:cNvSpPr>
          <p:nvPr/>
        </p:nvSpPr>
        <p:spPr bwMode="auto">
          <a:xfrm flipH="1">
            <a:off x="5238750" y="1125538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6" name="Line 61"/>
          <p:cNvSpPr>
            <a:spLocks noChangeShapeType="1"/>
          </p:cNvSpPr>
          <p:nvPr/>
        </p:nvSpPr>
        <p:spPr bwMode="auto">
          <a:xfrm>
            <a:off x="5239675" y="11255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7" name="Text Box 62"/>
          <p:cNvSpPr txBox="1">
            <a:spLocks noChangeArrowheads="1"/>
          </p:cNvSpPr>
          <p:nvPr/>
        </p:nvSpPr>
        <p:spPr bwMode="auto">
          <a:xfrm>
            <a:off x="381000" y="2362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B=(</a:t>
            </a:r>
            <a:r>
              <a:rPr kumimoji="1" lang="en-US" altLang="zh-CN" sz="2400" dirty="0" err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a,A</a:t>
            </a: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kumimoji="1" lang="en-US" altLang="zh-CN" sz="2400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8" name="Text Box 63"/>
          <p:cNvSpPr txBox="1">
            <a:spLocks noChangeArrowheads="1"/>
          </p:cNvSpPr>
          <p:nvPr/>
        </p:nvSpPr>
        <p:spPr bwMode="auto">
          <a:xfrm>
            <a:off x="381000" y="38100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C=((</a:t>
            </a:r>
            <a:r>
              <a:rPr kumimoji="1" lang="en-US" altLang="zh-CN" sz="2400" dirty="0" err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a,b</a:t>
            </a: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),</a:t>
            </a:r>
            <a:r>
              <a:rPr kumimoji="1" lang="en-US" altLang="zh-CN" sz="2400" dirty="0" err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c,d</a:t>
            </a: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kumimoji="1" lang="en-US" altLang="zh-CN" sz="2400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3859" name="Text Box 64"/>
          <p:cNvSpPr txBox="1">
            <a:spLocks noChangeArrowheads="1"/>
          </p:cNvSpPr>
          <p:nvPr/>
        </p:nvSpPr>
        <p:spPr bwMode="auto">
          <a:xfrm>
            <a:off x="4648200" y="19050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D=(</a:t>
            </a:r>
            <a:r>
              <a:rPr kumimoji="1" lang="en-US" altLang="zh-CN" sz="2400" dirty="0" err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a,D</a:t>
            </a: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kumimoji="1" lang="en-US" altLang="zh-CN" sz="2400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7521" name="Text Box 65"/>
          <p:cNvSpPr txBox="1">
            <a:spLocks noChangeArrowheads="1"/>
          </p:cNvSpPr>
          <p:nvPr/>
        </p:nvSpPr>
        <p:spPr bwMode="auto">
          <a:xfrm>
            <a:off x="3276600" y="14478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(A)</a:t>
            </a:r>
          </a:p>
        </p:txBody>
      </p:sp>
      <p:sp>
        <p:nvSpPr>
          <p:cNvPr id="147522" name="Text Box 66"/>
          <p:cNvSpPr txBox="1">
            <a:spLocks noChangeArrowheads="1"/>
          </p:cNvSpPr>
          <p:nvPr/>
        </p:nvSpPr>
        <p:spPr bwMode="auto">
          <a:xfrm>
            <a:off x="7010400" y="1828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(D)</a:t>
            </a:r>
            <a:endParaRPr kumimoji="1" lang="en-US" altLang="zh-CN" sz="2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7523" name="Text Box 67"/>
          <p:cNvSpPr txBox="1">
            <a:spLocks noChangeArrowheads="1"/>
          </p:cNvSpPr>
          <p:nvPr/>
        </p:nvSpPr>
        <p:spPr bwMode="auto">
          <a:xfrm>
            <a:off x="2057400" y="4114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a,b</a:t>
            </a: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147524" name="Text Box 68"/>
          <p:cNvSpPr txBox="1">
            <a:spLocks noChangeArrowheads="1"/>
          </p:cNvSpPr>
          <p:nvPr/>
        </p:nvSpPr>
        <p:spPr bwMode="auto">
          <a:xfrm>
            <a:off x="3352800" y="2971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c,d</a:t>
            </a: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147525" name="Text Box 69"/>
          <p:cNvSpPr txBox="1">
            <a:spLocks noChangeArrowheads="1"/>
          </p:cNvSpPr>
          <p:nvPr/>
        </p:nvSpPr>
        <p:spPr bwMode="auto">
          <a:xfrm>
            <a:off x="5334000" y="2895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(d)</a:t>
            </a:r>
            <a:endParaRPr kumimoji="1" lang="en-US" altLang="zh-CN" sz="2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7526" name="Text Box 70"/>
          <p:cNvSpPr txBox="1">
            <a:spLocks noChangeArrowheads="1"/>
          </p:cNvSpPr>
          <p:nvPr/>
        </p:nvSpPr>
        <p:spPr bwMode="auto">
          <a:xfrm>
            <a:off x="4495800" y="44958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(b)</a:t>
            </a:r>
            <a:endParaRPr kumimoji="1"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7527" name="Text Box 71"/>
          <p:cNvSpPr txBox="1">
            <a:spLocks noChangeArrowheads="1"/>
          </p:cNvSpPr>
          <p:nvPr/>
        </p:nvSpPr>
        <p:spPr bwMode="auto">
          <a:xfrm>
            <a:off x="5219700" y="4652963"/>
            <a:ext cx="3743325" cy="17081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kumimoji="1"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在头尾链表存储方法中：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14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①</a:t>
            </a:r>
            <a:r>
              <a:rPr kumimoji="1" lang="zh-CN" altLang="en-US" sz="1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除</a:t>
            </a:r>
            <a:r>
              <a:rPr kumimoji="1"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空表的表头指针为空外，任何非空表的表头指针均指向一个表结点，且该结点的</a:t>
            </a:r>
            <a:r>
              <a:rPr kumimoji="1" lang="en-US" altLang="zh-CN" sz="1400" b="1" dirty="0" err="1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hp</a:t>
            </a:r>
            <a:r>
              <a:rPr kumimoji="1"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域指示表的表头，</a:t>
            </a:r>
            <a:r>
              <a:rPr kumimoji="1" lang="en-US" altLang="zh-CN" sz="1400" b="1" dirty="0" err="1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tp</a:t>
            </a:r>
            <a:r>
              <a:rPr kumimoji="1"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域指示表的表尾</a:t>
            </a:r>
            <a:r>
              <a:rPr kumimoji="1" lang="zh-CN" altLang="en-US" sz="1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；</a:t>
            </a:r>
            <a:endParaRPr kumimoji="1" lang="en-US" altLang="zh-CN" sz="1400" b="1" dirty="0" smtClean="0">
              <a:latin typeface="Times New Roman" panose="02020603050405020304" pitchFamily="18" charset="0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14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②</a:t>
            </a:r>
            <a:r>
              <a:rPr kumimoji="1" lang="zh-CN" altLang="en-US" sz="1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容易</a:t>
            </a:r>
            <a:r>
              <a:rPr kumimoji="1"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分清列表中的原子和子表所在的层次；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 </a:t>
            </a:r>
            <a:r>
              <a:rPr kumimoji="1" lang="zh-CN" altLang="en-US" sz="1400" b="1" dirty="0" smtClean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③</a:t>
            </a:r>
            <a:r>
              <a:rPr kumimoji="1" lang="zh-CN" altLang="en-US" sz="1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最</a:t>
            </a:r>
            <a:r>
              <a:rPr kumimoji="1"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sym typeface="Wingdings" panose="05000000000000000000" pitchFamily="2" charset="2"/>
              </a:rPr>
              <a:t>高层的表结点数即为列表的长度。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5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EF76FD-3DC5-401B-96B6-80EE68C7085D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1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091545"/>
            <a:ext cx="7810252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5.5.2  </a:t>
            </a:r>
            <a:r>
              <a:rPr lang="zh-CN" altLang="en-US" sz="28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方法</a:t>
            </a:r>
            <a:r>
              <a:rPr lang="en-US" altLang="zh-CN" sz="28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2—</a:t>
            </a:r>
            <a:r>
              <a:rPr lang="zh-CN" altLang="en-US" sz="28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扩展的线性链表形式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   </a:t>
            </a:r>
            <a:r>
              <a:rPr lang="en-US" altLang="zh-CN" sz="28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8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类型定义</a:t>
            </a:r>
            <a:r>
              <a:rPr lang="en-US" altLang="zh-CN" sz="28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 </a:t>
            </a:r>
            <a:endParaRPr kumimoji="1" lang="en-US" altLang="zh-CN" sz="1600" b="1" dirty="0" smtClean="0">
              <a:ea typeface="华文楷体" panose="02010600040101010101" pitchFamily="2" charset="-122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5867400" y="2362200"/>
            <a:ext cx="2057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tag=1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hp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tp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</a:p>
        </p:txBody>
      </p:sp>
      <p:sp>
        <p:nvSpPr>
          <p:cNvPr id="34824" name="Line 5"/>
          <p:cNvSpPr>
            <a:spLocks noChangeShapeType="1"/>
          </p:cNvSpPr>
          <p:nvPr/>
        </p:nvSpPr>
        <p:spPr bwMode="auto">
          <a:xfrm>
            <a:off x="6781800" y="236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4825" name="Line 6"/>
          <p:cNvSpPr>
            <a:spLocks noChangeShapeType="1"/>
          </p:cNvSpPr>
          <p:nvPr/>
        </p:nvSpPr>
        <p:spPr bwMode="auto">
          <a:xfrm>
            <a:off x="7315200" y="236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4826" name="Text Box 7"/>
          <p:cNvSpPr txBox="1">
            <a:spLocks noChangeArrowheads="1"/>
          </p:cNvSpPr>
          <p:nvPr/>
        </p:nvSpPr>
        <p:spPr bwMode="auto">
          <a:xfrm>
            <a:off x="6248400" y="1905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表结点</a:t>
            </a:r>
          </a:p>
        </p:txBody>
      </p:sp>
      <p:sp>
        <p:nvSpPr>
          <p:cNvPr id="34827" name="Text Box 8"/>
          <p:cNvSpPr txBox="1">
            <a:spLocks noChangeArrowheads="1"/>
          </p:cNvSpPr>
          <p:nvPr/>
        </p:nvSpPr>
        <p:spPr bwMode="auto">
          <a:xfrm>
            <a:off x="5867400" y="3505200"/>
            <a:ext cx="2057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tag=0  data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tp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4828" name="Line 9"/>
          <p:cNvSpPr>
            <a:spLocks noChangeShapeType="1"/>
          </p:cNvSpPr>
          <p:nvPr/>
        </p:nvSpPr>
        <p:spPr bwMode="auto">
          <a:xfrm>
            <a:off x="6781800" y="3505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4829" name="Text Box 10"/>
          <p:cNvSpPr txBox="1">
            <a:spLocks noChangeArrowheads="1"/>
          </p:cNvSpPr>
          <p:nvPr/>
        </p:nvSpPr>
        <p:spPr bwMode="auto">
          <a:xfrm>
            <a:off x="6248400" y="30480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原子结点</a:t>
            </a:r>
          </a:p>
        </p:txBody>
      </p:sp>
      <p:sp>
        <p:nvSpPr>
          <p:cNvPr id="34830" name="Line 11"/>
          <p:cNvSpPr>
            <a:spLocks noChangeShapeType="1"/>
          </p:cNvSpPr>
          <p:nvPr/>
        </p:nvSpPr>
        <p:spPr bwMode="auto">
          <a:xfrm>
            <a:off x="7391400" y="3505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4831" name="Text Box 12"/>
          <p:cNvSpPr txBox="1">
            <a:spLocks noChangeArrowheads="1"/>
          </p:cNvSpPr>
          <p:nvPr/>
        </p:nvSpPr>
        <p:spPr bwMode="auto">
          <a:xfrm>
            <a:off x="5436096" y="4004463"/>
            <a:ext cx="3456384" cy="272382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err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hp</a:t>
            </a:r>
            <a:r>
              <a:rPr kumimoji="1" lang="en-US" altLang="zh-CN" sz="18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kumimoji="1" lang="zh-CN" altLang="en-US" sz="18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指向表头的指针</a:t>
            </a:r>
            <a:endParaRPr kumimoji="1" lang="en-US" altLang="en-US" sz="1800" dirty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err="1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tp</a:t>
            </a:r>
            <a:r>
              <a:rPr kumimoji="1" lang="en-US" altLang="zh-CN" sz="18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kumimoji="1" lang="zh-CN" altLang="en-US" sz="18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指向同一层的</a:t>
            </a:r>
            <a:r>
              <a:rPr kumimoji="1" lang="zh-CN" altLang="en-US" sz="18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下一</a:t>
            </a:r>
            <a:r>
              <a:rPr kumimoji="1" lang="zh-CN" altLang="en-US" sz="18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个结点，与链表的</a:t>
            </a:r>
            <a:r>
              <a:rPr kumimoji="1" lang="en-US" altLang="zh-CN" sz="18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next</a:t>
            </a:r>
            <a:r>
              <a:rPr kumimoji="1" lang="zh-CN" altLang="en-US" sz="18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指针含义</a:t>
            </a:r>
            <a:r>
              <a:rPr kumimoji="1" lang="zh-CN" altLang="en-US" sz="18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相同</a:t>
            </a:r>
            <a:endParaRPr kumimoji="1" lang="en-US" altLang="zh-CN" sz="1800" dirty="0" smtClean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kumimoji="1" lang="zh-CN" altLang="en-US" sz="1800" dirty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对应着树的孩子兄弟</a:t>
            </a:r>
            <a:r>
              <a:rPr kumimoji="1" lang="zh-CN" altLang="en-US" sz="1800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链表</a:t>
            </a:r>
            <a:endParaRPr kumimoji="1" lang="en-US" altLang="zh-CN" sz="1800" dirty="0" smtClean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kumimoji="1" lang="en-US" altLang="zh-CN" sz="1800" dirty="0" err="1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hp</a:t>
            </a:r>
            <a:r>
              <a:rPr kumimoji="1" lang="zh-CN" altLang="en-US" sz="1800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指向孩子</a:t>
            </a:r>
            <a:r>
              <a:rPr kumimoji="1" lang="en-US" altLang="zh-CN" sz="1800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 </a:t>
            </a:r>
            <a:r>
              <a:rPr kumimoji="1" lang="en-US" altLang="zh-CN" sz="1800" dirty="0" err="1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tp</a:t>
            </a:r>
            <a:r>
              <a:rPr kumimoji="1" lang="zh-CN" altLang="en-US" sz="1800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指向兄弟；</a:t>
            </a:r>
            <a:endParaRPr kumimoji="1" lang="en-US" altLang="zh-CN" sz="1800" dirty="0" smtClean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kumimoji="1" lang="zh-CN" altLang="en-US" sz="1800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原子结点对应着叶子结点；</a:t>
            </a:r>
            <a:endParaRPr kumimoji="1" lang="en-US" altLang="zh-CN" sz="1800" dirty="0" smtClean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kumimoji="1" lang="zh-CN" altLang="en-US" sz="1800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表结点对应着非叶子结点</a:t>
            </a:r>
            <a:endParaRPr kumimoji="1" lang="zh-CN" altLang="en-US" sz="1800" dirty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3419475" y="6773863"/>
            <a:ext cx="7938" cy="7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14479" y="2191187"/>
            <a:ext cx="4573545" cy="41242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err="1" smtClean="0">
                <a:ea typeface="华文楷体" panose="02010600040101010101" pitchFamily="2" charset="-122"/>
              </a:rPr>
              <a:t>typedef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enum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{ATOM, LIST}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ElemTag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0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/* ATOM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＝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0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， 表示原子； 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LIST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＝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1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， 表示子表 *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/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err="1" smtClean="0">
                <a:ea typeface="华文楷体" panose="02010600040101010101" pitchFamily="2" charset="-122"/>
              </a:rPr>
              <a:t>struct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GLNode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{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   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ElemTag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  tag;            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    union                    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    {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AtomType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     data;     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struct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GLNode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 *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hp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;      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    };               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     /* 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原子结点的值域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atom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和</a:t>
            </a:r>
            <a:endParaRPr kumimoji="1"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     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表结点的表头指针域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hp</a:t>
            </a:r>
            <a:r>
              <a:rPr kumimoji="1" lang="zh-CN" altLang="en-US" sz="1600" dirty="0" smtClean="0">
                <a:ea typeface="华文楷体" panose="02010600040101010101" pitchFamily="2" charset="-122"/>
              </a:rPr>
              <a:t>的联合体域 *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/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     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struct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GLNode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  * </a:t>
            </a:r>
            <a:r>
              <a:rPr kumimoji="1" lang="en-US" altLang="zh-CN" sz="1600" dirty="0" err="1" smtClean="0">
                <a:ea typeface="华文楷体" panose="02010600040101010101" pitchFamily="2" charset="-122"/>
              </a:rPr>
              <a:t>tp</a:t>
            </a:r>
            <a:r>
              <a:rPr kumimoji="1" lang="en-US" altLang="zh-CN" sz="1600" dirty="0" smtClean="0">
                <a:ea typeface="华文楷体" panose="02010600040101010101" pitchFamily="2" charset="-122"/>
              </a:rPr>
              <a:t>;         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600" dirty="0" smtClean="0">
                <a:ea typeface="华文楷体" panose="02010600040101010101" pitchFamily="2" charset="-122"/>
              </a:rPr>
              <a:t>};</a:t>
            </a:r>
          </a:p>
          <a:p>
            <a:r>
              <a:rPr kumimoji="1" lang="en-US" altLang="zh-CN" dirty="0" err="1">
                <a:ea typeface="华文楷体" panose="02010600040101010101" pitchFamily="2" charset="-122"/>
              </a:rPr>
              <a:t>typedef</a:t>
            </a:r>
            <a:r>
              <a:rPr kumimoji="1" lang="en-US" altLang="zh-CN" dirty="0">
                <a:ea typeface="华文楷体" panose="02010600040101010101" pitchFamily="2" charset="-122"/>
              </a:rPr>
              <a:t> </a:t>
            </a:r>
            <a:r>
              <a:rPr kumimoji="1" lang="en-US" altLang="zh-CN" dirty="0" err="1">
                <a:ea typeface="华文楷体" panose="02010600040101010101" pitchFamily="2" charset="-122"/>
              </a:rPr>
              <a:t>struct</a:t>
            </a:r>
            <a:r>
              <a:rPr kumimoji="1" lang="en-US" altLang="zh-CN" dirty="0">
                <a:ea typeface="华文楷体" panose="02010600040101010101" pitchFamily="2" charset="-122"/>
              </a:rPr>
              <a:t> </a:t>
            </a:r>
            <a:r>
              <a:rPr kumimoji="1" lang="en-US" altLang="zh-CN" dirty="0" err="1" smtClean="0">
                <a:ea typeface="华文楷体" panose="02010600040101010101" pitchFamily="2" charset="-122"/>
              </a:rPr>
              <a:t>GLNode</a:t>
            </a:r>
            <a:r>
              <a:rPr kumimoji="1" lang="en-US" altLang="zh-CN" dirty="0" smtClean="0">
                <a:ea typeface="华文楷体" panose="02010600040101010101" pitchFamily="2" charset="-122"/>
              </a:rPr>
              <a:t> * </a:t>
            </a:r>
            <a:r>
              <a:rPr kumimoji="1" lang="en-US" altLang="zh-CN" dirty="0" err="1" smtClean="0">
                <a:ea typeface="华文楷体" panose="02010600040101010101" pitchFamily="2" charset="-122"/>
              </a:rPr>
              <a:t>GList</a:t>
            </a:r>
            <a:r>
              <a:rPr kumimoji="1" lang="en-US" altLang="zh-CN" dirty="0">
                <a:ea typeface="华文楷体" panose="02010600040101010101" pitchFamily="2" charset="-122"/>
              </a:rPr>
              <a:t>;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4E499D-588E-4AA4-924B-203B19DA5BCA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77" name="日期占位符 5"/>
          <p:cNvSpPr>
            <a:spLocks noGrp="1"/>
          </p:cNvSpPr>
          <p:nvPr>
            <p:ph type="dt" sz="quarter" idx="12"/>
          </p:nvPr>
        </p:nvSpPr>
        <p:spPr>
          <a:xfrm>
            <a:off x="114300" y="827088"/>
            <a:ext cx="8458200" cy="2286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263525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[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示例</a:t>
            </a:r>
            <a:r>
              <a:rPr lang="en-US" altLang="zh-CN" sz="2400" b="0" dirty="0" smtClean="0"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5847" name="Text Box 4"/>
          <p:cNvSpPr txBox="1">
            <a:spLocks noChangeArrowheads="1"/>
          </p:cNvSpPr>
          <p:nvPr/>
        </p:nvSpPr>
        <p:spPr bwMode="auto">
          <a:xfrm>
            <a:off x="1600200" y="1447800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1    ^    ^</a:t>
            </a:r>
          </a:p>
        </p:txBody>
      </p:sp>
      <p:sp>
        <p:nvSpPr>
          <p:cNvPr id="35848" name="Line 5"/>
          <p:cNvSpPr>
            <a:spLocks noChangeShapeType="1"/>
          </p:cNvSpPr>
          <p:nvPr/>
        </p:nvSpPr>
        <p:spPr bwMode="auto">
          <a:xfrm>
            <a:off x="20574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49" name="Line 6"/>
          <p:cNvSpPr>
            <a:spLocks noChangeShapeType="1"/>
          </p:cNvSpPr>
          <p:nvPr/>
        </p:nvSpPr>
        <p:spPr bwMode="auto">
          <a:xfrm>
            <a:off x="25146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0" name="Line 7"/>
          <p:cNvSpPr>
            <a:spLocks noChangeShapeType="1"/>
          </p:cNvSpPr>
          <p:nvPr/>
        </p:nvSpPr>
        <p:spPr bwMode="auto">
          <a:xfrm>
            <a:off x="1143000" y="1600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1" name="Text Box 8"/>
          <p:cNvSpPr txBox="1">
            <a:spLocks noChangeArrowheads="1"/>
          </p:cNvSpPr>
          <p:nvPr/>
        </p:nvSpPr>
        <p:spPr bwMode="auto">
          <a:xfrm>
            <a:off x="1600200" y="2209800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   ^     </a:t>
            </a:r>
          </a:p>
        </p:txBody>
      </p:sp>
      <p:sp>
        <p:nvSpPr>
          <p:cNvPr id="35852" name="Line 9"/>
          <p:cNvSpPr>
            <a:spLocks noChangeShapeType="1"/>
          </p:cNvSpPr>
          <p:nvPr/>
        </p:nvSpPr>
        <p:spPr bwMode="auto">
          <a:xfrm>
            <a:off x="20574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3" name="Line 10"/>
          <p:cNvSpPr>
            <a:spLocks noChangeShapeType="1"/>
          </p:cNvSpPr>
          <p:nvPr/>
        </p:nvSpPr>
        <p:spPr bwMode="auto">
          <a:xfrm>
            <a:off x="24384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4" name="Text Box 11"/>
          <p:cNvSpPr txBox="1">
            <a:spLocks noChangeArrowheads="1"/>
          </p:cNvSpPr>
          <p:nvPr/>
        </p:nvSpPr>
        <p:spPr bwMode="auto">
          <a:xfrm>
            <a:off x="1600200" y="2895600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 a         </a:t>
            </a:r>
          </a:p>
        </p:txBody>
      </p:sp>
      <p:sp>
        <p:nvSpPr>
          <p:cNvPr id="35855" name="Line 12"/>
          <p:cNvSpPr>
            <a:spLocks noChangeShapeType="1"/>
          </p:cNvSpPr>
          <p:nvPr/>
        </p:nvSpPr>
        <p:spPr bwMode="auto">
          <a:xfrm>
            <a:off x="19812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6" name="Line 13"/>
          <p:cNvSpPr>
            <a:spLocks noChangeShapeType="1"/>
          </p:cNvSpPr>
          <p:nvPr/>
        </p:nvSpPr>
        <p:spPr bwMode="auto">
          <a:xfrm>
            <a:off x="24384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7" name="Text Box 14"/>
          <p:cNvSpPr txBox="1">
            <a:spLocks noChangeArrowheads="1"/>
          </p:cNvSpPr>
          <p:nvPr/>
        </p:nvSpPr>
        <p:spPr bwMode="auto">
          <a:xfrm>
            <a:off x="457200" y="1676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A=( )</a:t>
            </a:r>
          </a:p>
        </p:txBody>
      </p:sp>
      <p:sp>
        <p:nvSpPr>
          <p:cNvPr id="35858" name="Line 15"/>
          <p:cNvSpPr>
            <a:spLocks noChangeShapeType="1"/>
          </p:cNvSpPr>
          <p:nvPr/>
        </p:nvSpPr>
        <p:spPr bwMode="auto">
          <a:xfrm>
            <a:off x="2209800" y="2438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9" name="Text Box 16"/>
          <p:cNvSpPr txBox="1">
            <a:spLocks noChangeArrowheads="1"/>
          </p:cNvSpPr>
          <p:nvPr/>
        </p:nvSpPr>
        <p:spPr bwMode="auto">
          <a:xfrm>
            <a:off x="3276600" y="2895600"/>
            <a:ext cx="11652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^    ^</a:t>
            </a:r>
          </a:p>
        </p:txBody>
      </p:sp>
      <p:sp>
        <p:nvSpPr>
          <p:cNvPr id="35860" name="Line 17"/>
          <p:cNvSpPr>
            <a:spLocks noChangeShapeType="1"/>
          </p:cNvSpPr>
          <p:nvPr/>
        </p:nvSpPr>
        <p:spPr bwMode="auto">
          <a:xfrm>
            <a:off x="36576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61" name="Line 18"/>
          <p:cNvSpPr>
            <a:spLocks noChangeShapeType="1"/>
          </p:cNvSpPr>
          <p:nvPr/>
        </p:nvSpPr>
        <p:spPr bwMode="auto">
          <a:xfrm>
            <a:off x="4038600" y="2895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62" name="Line 19"/>
          <p:cNvSpPr>
            <a:spLocks noChangeShapeType="1"/>
          </p:cNvSpPr>
          <p:nvPr/>
        </p:nvSpPr>
        <p:spPr bwMode="auto">
          <a:xfrm>
            <a:off x="2667000" y="312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63" name="Line 20"/>
          <p:cNvSpPr>
            <a:spLocks noChangeShapeType="1"/>
          </p:cNvSpPr>
          <p:nvPr/>
        </p:nvSpPr>
        <p:spPr bwMode="auto">
          <a:xfrm>
            <a:off x="1143000" y="2438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64" name="Text Box 21"/>
          <p:cNvSpPr txBox="1">
            <a:spLocks noChangeArrowheads="1"/>
          </p:cNvSpPr>
          <p:nvPr/>
        </p:nvSpPr>
        <p:spPr bwMode="auto">
          <a:xfrm>
            <a:off x="762000" y="21336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65" name="Text Box 22"/>
          <p:cNvSpPr txBox="1">
            <a:spLocks noChangeArrowheads="1"/>
          </p:cNvSpPr>
          <p:nvPr/>
        </p:nvSpPr>
        <p:spPr bwMode="auto">
          <a:xfrm>
            <a:off x="457200" y="2590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B=(a, A)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66" name="Text Box 23"/>
          <p:cNvSpPr txBox="1">
            <a:spLocks noChangeArrowheads="1"/>
          </p:cNvSpPr>
          <p:nvPr/>
        </p:nvSpPr>
        <p:spPr bwMode="auto">
          <a:xfrm>
            <a:off x="533400" y="38100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C=((a, b), c, d)</a:t>
            </a:r>
            <a:endParaRPr kumimoji="1" lang="en-US" altLang="zh-CN" sz="2400" dirty="0">
              <a:solidFill>
                <a:srgbClr val="FF33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67" name="Text Box 24"/>
          <p:cNvSpPr txBox="1">
            <a:spLocks noChangeArrowheads="1"/>
          </p:cNvSpPr>
          <p:nvPr/>
        </p:nvSpPr>
        <p:spPr bwMode="auto">
          <a:xfrm>
            <a:off x="2286000" y="35052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</a:p>
        </p:txBody>
      </p:sp>
      <p:sp>
        <p:nvSpPr>
          <p:cNvPr id="35868" name="Text Box 25"/>
          <p:cNvSpPr txBox="1">
            <a:spLocks noChangeArrowheads="1"/>
          </p:cNvSpPr>
          <p:nvPr/>
        </p:nvSpPr>
        <p:spPr bwMode="auto">
          <a:xfrm>
            <a:off x="3276600" y="35814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  ^</a:t>
            </a:r>
          </a:p>
        </p:txBody>
      </p:sp>
      <p:sp>
        <p:nvSpPr>
          <p:cNvPr id="35869" name="Line 26"/>
          <p:cNvSpPr>
            <a:spLocks noChangeShapeType="1"/>
          </p:cNvSpPr>
          <p:nvPr/>
        </p:nvSpPr>
        <p:spPr bwMode="auto">
          <a:xfrm>
            <a:off x="2743200" y="3733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0" name="Line 27"/>
          <p:cNvSpPr>
            <a:spLocks noChangeShapeType="1"/>
          </p:cNvSpPr>
          <p:nvPr/>
        </p:nvSpPr>
        <p:spPr bwMode="auto">
          <a:xfrm>
            <a:off x="3657600" y="3581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1" name="Line 28"/>
          <p:cNvSpPr>
            <a:spLocks noChangeShapeType="1"/>
          </p:cNvSpPr>
          <p:nvPr/>
        </p:nvSpPr>
        <p:spPr bwMode="auto">
          <a:xfrm>
            <a:off x="4038600" y="3581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2" name="Text Box 29"/>
          <p:cNvSpPr txBox="1">
            <a:spLocks noChangeArrowheads="1"/>
          </p:cNvSpPr>
          <p:nvPr/>
        </p:nvSpPr>
        <p:spPr bwMode="auto">
          <a:xfrm>
            <a:off x="3276600" y="4343400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</a:t>
            </a:r>
          </a:p>
        </p:txBody>
      </p:sp>
      <p:sp>
        <p:nvSpPr>
          <p:cNvPr id="35873" name="Line 30"/>
          <p:cNvSpPr>
            <a:spLocks noChangeShapeType="1"/>
          </p:cNvSpPr>
          <p:nvPr/>
        </p:nvSpPr>
        <p:spPr bwMode="auto">
          <a:xfrm>
            <a:off x="36576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4" name="Line 31"/>
          <p:cNvSpPr>
            <a:spLocks noChangeShapeType="1"/>
          </p:cNvSpPr>
          <p:nvPr/>
        </p:nvSpPr>
        <p:spPr bwMode="auto">
          <a:xfrm>
            <a:off x="41148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5" name="Line 32"/>
          <p:cNvSpPr>
            <a:spLocks noChangeShapeType="1"/>
          </p:cNvSpPr>
          <p:nvPr/>
        </p:nvSpPr>
        <p:spPr bwMode="auto">
          <a:xfrm>
            <a:off x="4343400" y="4648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6" name="Text Box 33"/>
          <p:cNvSpPr txBox="1">
            <a:spLocks noChangeArrowheads="1"/>
          </p:cNvSpPr>
          <p:nvPr/>
        </p:nvSpPr>
        <p:spPr bwMode="auto">
          <a:xfrm>
            <a:off x="4953000" y="4343400"/>
            <a:ext cx="1143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c</a:t>
            </a:r>
          </a:p>
        </p:txBody>
      </p:sp>
      <p:sp>
        <p:nvSpPr>
          <p:cNvPr id="35877" name="Line 34"/>
          <p:cNvSpPr>
            <a:spLocks noChangeShapeType="1"/>
          </p:cNvSpPr>
          <p:nvPr/>
        </p:nvSpPr>
        <p:spPr bwMode="auto">
          <a:xfrm>
            <a:off x="53340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8" name="Line 35"/>
          <p:cNvSpPr>
            <a:spLocks noChangeShapeType="1"/>
          </p:cNvSpPr>
          <p:nvPr/>
        </p:nvSpPr>
        <p:spPr bwMode="auto">
          <a:xfrm>
            <a:off x="57150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79" name="Line 36"/>
          <p:cNvSpPr>
            <a:spLocks noChangeShapeType="1"/>
          </p:cNvSpPr>
          <p:nvPr/>
        </p:nvSpPr>
        <p:spPr bwMode="auto">
          <a:xfrm>
            <a:off x="5943600" y="4648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80" name="Text Box 37"/>
          <p:cNvSpPr txBox="1">
            <a:spLocks noChangeArrowheads="1"/>
          </p:cNvSpPr>
          <p:nvPr/>
        </p:nvSpPr>
        <p:spPr bwMode="auto">
          <a:xfrm>
            <a:off x="6477000" y="4343400"/>
            <a:ext cx="1295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d    ^</a:t>
            </a:r>
          </a:p>
        </p:txBody>
      </p:sp>
      <p:sp>
        <p:nvSpPr>
          <p:cNvPr id="35881" name="Line 38"/>
          <p:cNvSpPr>
            <a:spLocks noChangeShapeType="1"/>
          </p:cNvSpPr>
          <p:nvPr/>
        </p:nvSpPr>
        <p:spPr bwMode="auto">
          <a:xfrm>
            <a:off x="68580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82" name="Line 39"/>
          <p:cNvSpPr>
            <a:spLocks noChangeShapeType="1"/>
          </p:cNvSpPr>
          <p:nvPr/>
        </p:nvSpPr>
        <p:spPr bwMode="auto">
          <a:xfrm>
            <a:off x="7239000" y="434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83" name="Line 40"/>
          <p:cNvSpPr>
            <a:spLocks noChangeShapeType="1"/>
          </p:cNvSpPr>
          <p:nvPr/>
        </p:nvSpPr>
        <p:spPr bwMode="auto">
          <a:xfrm>
            <a:off x="38862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84" name="Text Box 41"/>
          <p:cNvSpPr txBox="1">
            <a:spLocks noChangeArrowheads="1"/>
          </p:cNvSpPr>
          <p:nvPr/>
        </p:nvSpPr>
        <p:spPr bwMode="auto">
          <a:xfrm>
            <a:off x="3352800" y="51816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a</a:t>
            </a:r>
          </a:p>
        </p:txBody>
      </p:sp>
      <p:sp>
        <p:nvSpPr>
          <p:cNvPr id="35885" name="Line 42"/>
          <p:cNvSpPr>
            <a:spLocks noChangeShapeType="1"/>
          </p:cNvSpPr>
          <p:nvPr/>
        </p:nvSpPr>
        <p:spPr bwMode="auto">
          <a:xfrm>
            <a:off x="37338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86" name="Line 43"/>
          <p:cNvSpPr>
            <a:spLocks noChangeShapeType="1"/>
          </p:cNvSpPr>
          <p:nvPr/>
        </p:nvSpPr>
        <p:spPr bwMode="auto">
          <a:xfrm>
            <a:off x="41910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87" name="Line 44"/>
          <p:cNvSpPr>
            <a:spLocks noChangeShapeType="1"/>
          </p:cNvSpPr>
          <p:nvPr/>
        </p:nvSpPr>
        <p:spPr bwMode="auto">
          <a:xfrm>
            <a:off x="3886200" y="4648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88" name="Text Box 45"/>
          <p:cNvSpPr txBox="1">
            <a:spLocks noChangeArrowheads="1"/>
          </p:cNvSpPr>
          <p:nvPr/>
        </p:nvSpPr>
        <p:spPr bwMode="auto">
          <a:xfrm>
            <a:off x="4953000" y="5181600"/>
            <a:ext cx="1143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b   ^</a:t>
            </a:r>
          </a:p>
        </p:txBody>
      </p:sp>
      <p:sp>
        <p:nvSpPr>
          <p:cNvPr id="35889" name="Line 46"/>
          <p:cNvSpPr>
            <a:spLocks noChangeShapeType="1"/>
          </p:cNvSpPr>
          <p:nvPr/>
        </p:nvSpPr>
        <p:spPr bwMode="auto">
          <a:xfrm>
            <a:off x="53340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90" name="Line 47"/>
          <p:cNvSpPr>
            <a:spLocks noChangeShapeType="1"/>
          </p:cNvSpPr>
          <p:nvPr/>
        </p:nvSpPr>
        <p:spPr bwMode="auto">
          <a:xfrm>
            <a:off x="57150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91" name="Line 48"/>
          <p:cNvSpPr>
            <a:spLocks noChangeShapeType="1"/>
          </p:cNvSpPr>
          <p:nvPr/>
        </p:nvSpPr>
        <p:spPr bwMode="auto">
          <a:xfrm>
            <a:off x="43434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92" name="Text Box 49"/>
          <p:cNvSpPr txBox="1">
            <a:spLocks noChangeArrowheads="1"/>
          </p:cNvSpPr>
          <p:nvPr/>
        </p:nvSpPr>
        <p:spPr bwMode="auto">
          <a:xfrm>
            <a:off x="4648200" y="14478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 ^</a:t>
            </a:r>
          </a:p>
        </p:txBody>
      </p:sp>
      <p:sp>
        <p:nvSpPr>
          <p:cNvPr id="35893" name="Line 50"/>
          <p:cNvSpPr>
            <a:spLocks noChangeShapeType="1"/>
          </p:cNvSpPr>
          <p:nvPr/>
        </p:nvSpPr>
        <p:spPr bwMode="auto">
          <a:xfrm>
            <a:off x="50292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94" name="Line 51"/>
          <p:cNvSpPr>
            <a:spLocks noChangeShapeType="1"/>
          </p:cNvSpPr>
          <p:nvPr/>
        </p:nvSpPr>
        <p:spPr bwMode="auto">
          <a:xfrm>
            <a:off x="53340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95" name="Line 52"/>
          <p:cNvSpPr>
            <a:spLocks noChangeShapeType="1"/>
          </p:cNvSpPr>
          <p:nvPr/>
        </p:nvSpPr>
        <p:spPr bwMode="auto">
          <a:xfrm>
            <a:off x="4191000" y="1600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96" name="Text Box 53"/>
          <p:cNvSpPr txBox="1">
            <a:spLocks noChangeArrowheads="1"/>
          </p:cNvSpPr>
          <p:nvPr/>
        </p:nvSpPr>
        <p:spPr bwMode="auto">
          <a:xfrm>
            <a:off x="3733800" y="12954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</a:p>
        </p:txBody>
      </p:sp>
      <p:sp>
        <p:nvSpPr>
          <p:cNvPr id="35897" name="Text Box 54"/>
          <p:cNvSpPr txBox="1">
            <a:spLocks noChangeArrowheads="1"/>
          </p:cNvSpPr>
          <p:nvPr/>
        </p:nvSpPr>
        <p:spPr bwMode="auto">
          <a:xfrm>
            <a:off x="3429000" y="16002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D=(a, D)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98" name="Text Box 55"/>
          <p:cNvSpPr txBox="1">
            <a:spLocks noChangeArrowheads="1"/>
          </p:cNvSpPr>
          <p:nvPr/>
        </p:nvSpPr>
        <p:spPr bwMode="auto">
          <a:xfrm>
            <a:off x="4648200" y="22098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    a</a:t>
            </a:r>
          </a:p>
        </p:txBody>
      </p:sp>
      <p:sp>
        <p:nvSpPr>
          <p:cNvPr id="35899" name="Line 56"/>
          <p:cNvSpPr>
            <a:spLocks noChangeShapeType="1"/>
          </p:cNvSpPr>
          <p:nvPr/>
        </p:nvSpPr>
        <p:spPr bwMode="auto">
          <a:xfrm>
            <a:off x="50292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00" name="Line 57"/>
          <p:cNvSpPr>
            <a:spLocks noChangeShapeType="1"/>
          </p:cNvSpPr>
          <p:nvPr/>
        </p:nvSpPr>
        <p:spPr bwMode="auto">
          <a:xfrm>
            <a:off x="54864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01" name="Line 58"/>
          <p:cNvSpPr>
            <a:spLocks noChangeShapeType="1"/>
          </p:cNvSpPr>
          <p:nvPr/>
        </p:nvSpPr>
        <p:spPr bwMode="auto">
          <a:xfrm>
            <a:off x="5181600" y="167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02" name="Text Box 59"/>
          <p:cNvSpPr txBox="1">
            <a:spLocks noChangeArrowheads="1"/>
          </p:cNvSpPr>
          <p:nvPr/>
        </p:nvSpPr>
        <p:spPr bwMode="auto">
          <a:xfrm>
            <a:off x="6172200" y="22098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    ^</a:t>
            </a:r>
          </a:p>
        </p:txBody>
      </p:sp>
      <p:sp>
        <p:nvSpPr>
          <p:cNvPr id="35903" name="Line 60"/>
          <p:cNvSpPr>
            <a:spLocks noChangeShapeType="1"/>
          </p:cNvSpPr>
          <p:nvPr/>
        </p:nvSpPr>
        <p:spPr bwMode="auto">
          <a:xfrm>
            <a:off x="5715000" y="2438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04" name="Line 61"/>
          <p:cNvSpPr>
            <a:spLocks noChangeShapeType="1"/>
          </p:cNvSpPr>
          <p:nvPr/>
        </p:nvSpPr>
        <p:spPr bwMode="auto">
          <a:xfrm>
            <a:off x="65532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05" name="Line 62"/>
          <p:cNvSpPr>
            <a:spLocks noChangeShapeType="1"/>
          </p:cNvSpPr>
          <p:nvPr/>
        </p:nvSpPr>
        <p:spPr bwMode="auto">
          <a:xfrm>
            <a:off x="69342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06" name="Line 63"/>
          <p:cNvSpPr>
            <a:spLocks noChangeShapeType="1"/>
          </p:cNvSpPr>
          <p:nvPr/>
        </p:nvSpPr>
        <p:spPr bwMode="auto">
          <a:xfrm flipV="1">
            <a:off x="6781800" y="1981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07" name="Line 64"/>
          <p:cNvSpPr>
            <a:spLocks noChangeShapeType="1"/>
          </p:cNvSpPr>
          <p:nvPr/>
        </p:nvSpPr>
        <p:spPr bwMode="auto">
          <a:xfrm flipH="1">
            <a:off x="5181600" y="1981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9569" name="Text Box 65"/>
          <p:cNvSpPr txBox="1">
            <a:spLocks noChangeArrowheads="1"/>
          </p:cNvSpPr>
          <p:nvPr/>
        </p:nvSpPr>
        <p:spPr bwMode="auto">
          <a:xfrm>
            <a:off x="5105400" y="2590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endParaRPr kumimoji="1" lang="en-US" altLang="zh-CN" sz="2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9570" name="Text Box 66"/>
          <p:cNvSpPr txBox="1">
            <a:spLocks noChangeArrowheads="1"/>
          </p:cNvSpPr>
          <p:nvPr/>
        </p:nvSpPr>
        <p:spPr bwMode="auto">
          <a:xfrm>
            <a:off x="6553200" y="259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</a:p>
        </p:txBody>
      </p:sp>
      <p:sp>
        <p:nvSpPr>
          <p:cNvPr id="149571" name="Text Box 67"/>
          <p:cNvSpPr txBox="1">
            <a:spLocks noChangeArrowheads="1"/>
          </p:cNvSpPr>
          <p:nvPr/>
        </p:nvSpPr>
        <p:spPr bwMode="auto">
          <a:xfrm>
            <a:off x="1600200" y="3276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endParaRPr kumimoji="1" lang="en-US" altLang="zh-CN" sz="2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9572" name="Text Box 68"/>
          <p:cNvSpPr txBox="1">
            <a:spLocks noChangeArrowheads="1"/>
          </p:cNvSpPr>
          <p:nvPr/>
        </p:nvSpPr>
        <p:spPr bwMode="auto">
          <a:xfrm>
            <a:off x="4419600" y="2895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endParaRPr kumimoji="1"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9573" name="Text Box 69"/>
          <p:cNvSpPr txBox="1">
            <a:spLocks noChangeArrowheads="1"/>
          </p:cNvSpPr>
          <p:nvPr/>
        </p:nvSpPr>
        <p:spPr bwMode="auto">
          <a:xfrm>
            <a:off x="2514600" y="4343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a,b</a:t>
            </a: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149574" name="Text Box 70"/>
          <p:cNvSpPr txBox="1">
            <a:spLocks noChangeArrowheads="1"/>
          </p:cNvSpPr>
          <p:nvPr/>
        </p:nvSpPr>
        <p:spPr bwMode="auto">
          <a:xfrm>
            <a:off x="5181600" y="3962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</a:p>
        </p:txBody>
      </p:sp>
      <p:sp>
        <p:nvSpPr>
          <p:cNvPr id="149575" name="Text Box 71"/>
          <p:cNvSpPr txBox="1">
            <a:spLocks noChangeArrowheads="1"/>
          </p:cNvSpPr>
          <p:nvPr/>
        </p:nvSpPr>
        <p:spPr bwMode="auto">
          <a:xfrm>
            <a:off x="6858000" y="3962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endParaRPr kumimoji="1" lang="en-US" altLang="zh-CN" sz="2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9576" name="Text Box 72"/>
          <p:cNvSpPr txBox="1">
            <a:spLocks noChangeArrowheads="1"/>
          </p:cNvSpPr>
          <p:nvPr/>
        </p:nvSpPr>
        <p:spPr bwMode="auto">
          <a:xfrm>
            <a:off x="3810000" y="5638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endParaRPr kumimoji="1" lang="en-US" altLang="zh-CN" sz="2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9577" name="Text Box 73"/>
          <p:cNvSpPr txBox="1">
            <a:spLocks noChangeArrowheads="1"/>
          </p:cNvSpPr>
          <p:nvPr/>
        </p:nvSpPr>
        <p:spPr bwMode="auto">
          <a:xfrm>
            <a:off x="5334000" y="5562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endParaRPr kumimoji="1" lang="en-US" altLang="zh-CN" sz="2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917" name="AutoShape 74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57338" y="1058863"/>
            <a:ext cx="1577975" cy="37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相当于头结点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10001" y="405237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子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533159" y="425692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兄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828680" y="480802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子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057900" y="433232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兄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499992" y="5085184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兄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5868" y="4806951"/>
            <a:ext cx="275042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8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扩展的线性链表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带头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结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点又称</a:t>
            </a:r>
            <a:r>
              <a:rPr lang="zh-CN" altLang="en-US" b="1" dirty="0" smtClean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带头结点的广义表链式存储结构</a:t>
            </a:r>
            <a:endParaRPr lang="zh-CN" altLang="en-US" b="1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6" name="直接箭头连接符 5"/>
          <p:cNvCxnSpPr>
            <a:endCxn id="35847" idx="3"/>
          </p:cNvCxnSpPr>
          <p:nvPr/>
        </p:nvCxnSpPr>
        <p:spPr>
          <a:xfrm flipH="1">
            <a:off x="2971800" y="1447800"/>
            <a:ext cx="152400" cy="233363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2895600" y="1447800"/>
            <a:ext cx="239713" cy="829072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135313" y="1447800"/>
            <a:ext cx="286419" cy="213360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BB66C92-3AD2-438C-B6AC-89B1337D7704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231074" y="330772"/>
            <a:ext cx="8458200" cy="263525"/>
          </a:xfrm>
        </p:spPr>
        <p:txBody>
          <a:bodyPr/>
          <a:lstStyle/>
          <a:p>
            <a:pPr algn="l" eaLnBrk="1" hangingPunct="1"/>
            <a:r>
              <a:rPr lang="en-US" altLang="zh-CN" sz="2400" b="0" dirty="0" smtClean="0">
                <a:ea typeface="华文楷体" panose="02010600040101010101" pitchFamily="2" charset="-122"/>
              </a:rPr>
              <a:t>5.6  </a:t>
            </a:r>
            <a:r>
              <a:rPr lang="zh-CN" altLang="en-US" sz="2400" b="0" dirty="0" smtClean="0">
                <a:ea typeface="华文楷体" panose="02010600040101010101" pitchFamily="2" charset="-122"/>
              </a:rPr>
              <a:t>广义表的递归算法</a:t>
            </a: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6982544" cy="1117104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广义表的特点：定义是递归的。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示例约定：非递归表且无共享子表。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 smtClean="0">
              <a:solidFill>
                <a:schemeClr val="accent1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 smtClean="0">
              <a:solidFill>
                <a:schemeClr val="accent1"/>
              </a:solidFill>
              <a:ea typeface="华文楷体" panose="0201060004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5800" y="2772032"/>
            <a:ext cx="79867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例一 求</a:t>
            </a:r>
            <a:r>
              <a:rPr kumimoji="1"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广义表</a:t>
            </a: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kumimoji="1" lang="zh-CN" altLang="en-US" sz="24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深度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2400" b="1" dirty="0">
              <a:solidFill>
                <a:srgbClr val="CC33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544" y="3412706"/>
            <a:ext cx="8352928" cy="26961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思路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将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广义表分解成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个子表，分别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递归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求得每个子表的深度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广义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表的深度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=Max {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子表的深度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 +1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③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可以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直接求解的两种简单情况为：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空表的深度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 1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原子的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深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 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700287-56EA-4B25-AF23-B0463F076F81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1187624" y="1582738"/>
            <a:ext cx="6321602" cy="51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GlistDepth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Glist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L) {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//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返回指针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所指的广义表的深度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for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(max=0, pp=L;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pp!= NULL;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pp=pp-&gt;ptr.tp)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{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dep = 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GlistDepth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(pp-&gt;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if (dep &gt; max) max = dep;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}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return max + 1;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} // 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GlistDepth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1795" name="Rectangle 3"/>
          <p:cNvSpPr>
            <a:spLocks noChangeArrowheads="1"/>
          </p:cNvSpPr>
          <p:nvPr/>
        </p:nvSpPr>
        <p:spPr bwMode="auto">
          <a:xfrm>
            <a:off x="1619672" y="2499518"/>
            <a:ext cx="4184650" cy="1006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if </a:t>
            </a:r>
            <a:r>
              <a:rPr kumimoji="1" lang="en-US" altLang="zh-CN" sz="24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400" b="1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!</a:t>
            </a:r>
            <a:r>
              <a:rPr kumimoji="1" lang="en-US" altLang="zh-CN" sz="24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L) </a:t>
            </a:r>
            <a:r>
              <a:rPr kumimoji="1" lang="en-US" altLang="zh-CN" sz="2400" b="1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</a:t>
            </a:r>
            <a:r>
              <a:rPr kumimoji="1" lang="en-US" altLang="zh-CN" sz="24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if</a:t>
            </a:r>
            <a:r>
              <a:rPr kumimoji="1" lang="en-US" altLang="zh-CN" sz="24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(L-&gt;tag == ATOM) </a:t>
            </a:r>
            <a:r>
              <a:rPr kumimoji="1" lang="en-US" altLang="zh-CN" sz="2400" b="1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</a:t>
            </a:r>
            <a:r>
              <a:rPr kumimoji="1" lang="en-US" altLang="zh-CN" sz="24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0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</a:t>
            </a:r>
          </a:p>
        </p:txBody>
      </p:sp>
      <p:sp>
        <p:nvSpPr>
          <p:cNvPr id="38919" name="Text Box 5"/>
          <p:cNvSpPr txBox="1">
            <a:spLocks noChangeArrowheads="1"/>
          </p:cNvSpPr>
          <p:nvPr/>
        </p:nvSpPr>
        <p:spPr bwMode="auto">
          <a:xfrm>
            <a:off x="1116013" y="1125538"/>
            <a:ext cx="3960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CC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1" lang="zh-CN" altLang="en-US" sz="2400" b="1" dirty="0">
                <a:solidFill>
                  <a:srgbClr val="CC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头尾链表</a:t>
            </a:r>
            <a:r>
              <a:rPr kumimoji="1" lang="en-US" altLang="zh-CN" sz="2400" b="1" dirty="0">
                <a:solidFill>
                  <a:srgbClr val="CC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endParaRPr lang="zh-CN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 animBg="1" autoUpdateAnimBg="0"/>
      <p:bldP spid="16179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C72D9-232B-442C-9B2B-C7D8AD5A25EA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40" name="日期占位符 3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62818" name="Line 2"/>
          <p:cNvSpPr>
            <a:spLocks noChangeShapeType="1"/>
          </p:cNvSpPr>
          <p:nvPr/>
        </p:nvSpPr>
        <p:spPr bwMode="auto">
          <a:xfrm>
            <a:off x="448322" y="2445738"/>
            <a:ext cx="990600" cy="0"/>
          </a:xfrm>
          <a:prstGeom prst="line">
            <a:avLst/>
          </a:prstGeom>
          <a:noFill/>
          <a:ln w="25400">
            <a:solidFill>
              <a:srgbClr val="9933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1438922" y="2064738"/>
            <a:ext cx="1803400" cy="6604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1           </a:t>
            </a:r>
            <a:endParaRPr kumimoji="1" lang="en-US" altLang="zh-CN" sz="4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0" name="Line 4"/>
          <p:cNvSpPr>
            <a:spLocks noChangeShapeType="1"/>
          </p:cNvSpPr>
          <p:nvPr/>
        </p:nvSpPr>
        <p:spPr bwMode="auto">
          <a:xfrm>
            <a:off x="2048522" y="2064738"/>
            <a:ext cx="0" cy="6858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1" name="Line 5"/>
          <p:cNvSpPr>
            <a:spLocks noChangeShapeType="1"/>
          </p:cNvSpPr>
          <p:nvPr/>
        </p:nvSpPr>
        <p:spPr bwMode="auto">
          <a:xfrm>
            <a:off x="2658122" y="2064738"/>
            <a:ext cx="0" cy="6858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2" name="Line 6"/>
          <p:cNvSpPr>
            <a:spLocks noChangeShapeType="1"/>
          </p:cNvSpPr>
          <p:nvPr/>
        </p:nvSpPr>
        <p:spPr bwMode="auto">
          <a:xfrm>
            <a:off x="2353322" y="2445738"/>
            <a:ext cx="0" cy="1187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3" name="Rectangle 7"/>
          <p:cNvSpPr>
            <a:spLocks noChangeArrowheads="1"/>
          </p:cNvSpPr>
          <p:nvPr/>
        </p:nvSpPr>
        <p:spPr bwMode="auto">
          <a:xfrm>
            <a:off x="3648722" y="2064738"/>
            <a:ext cx="1803400" cy="6604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1           </a:t>
            </a:r>
            <a:endParaRPr kumimoji="1" lang="en-US" altLang="zh-CN" sz="4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4" name="Line 8"/>
          <p:cNvSpPr>
            <a:spLocks noChangeShapeType="1"/>
          </p:cNvSpPr>
          <p:nvPr/>
        </p:nvSpPr>
        <p:spPr bwMode="auto">
          <a:xfrm>
            <a:off x="4258322" y="2064738"/>
            <a:ext cx="0" cy="6858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5" name="Line 9"/>
          <p:cNvSpPr>
            <a:spLocks noChangeShapeType="1"/>
          </p:cNvSpPr>
          <p:nvPr/>
        </p:nvSpPr>
        <p:spPr bwMode="auto">
          <a:xfrm>
            <a:off x="4867922" y="2064738"/>
            <a:ext cx="0" cy="6858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6" name="Line 10"/>
          <p:cNvSpPr>
            <a:spLocks noChangeShapeType="1"/>
          </p:cNvSpPr>
          <p:nvPr/>
        </p:nvSpPr>
        <p:spPr bwMode="auto">
          <a:xfrm>
            <a:off x="4563122" y="2445738"/>
            <a:ext cx="0" cy="1187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7" name="Rectangle 11"/>
          <p:cNvSpPr>
            <a:spLocks noChangeArrowheads="1"/>
          </p:cNvSpPr>
          <p:nvPr/>
        </p:nvSpPr>
        <p:spPr bwMode="auto">
          <a:xfrm>
            <a:off x="7103122" y="2064738"/>
            <a:ext cx="1803400" cy="6604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1           </a:t>
            </a:r>
            <a:endParaRPr kumimoji="1" lang="en-US" altLang="zh-CN" sz="4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8" name="Line 12"/>
          <p:cNvSpPr>
            <a:spLocks noChangeShapeType="1"/>
          </p:cNvSpPr>
          <p:nvPr/>
        </p:nvSpPr>
        <p:spPr bwMode="auto">
          <a:xfrm>
            <a:off x="7712722" y="2064738"/>
            <a:ext cx="0" cy="6858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29" name="Line 13"/>
          <p:cNvSpPr>
            <a:spLocks noChangeShapeType="1"/>
          </p:cNvSpPr>
          <p:nvPr/>
        </p:nvSpPr>
        <p:spPr bwMode="auto">
          <a:xfrm>
            <a:off x="8322322" y="2064738"/>
            <a:ext cx="0" cy="685801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0" name="Line 14"/>
          <p:cNvSpPr>
            <a:spLocks noChangeShapeType="1"/>
          </p:cNvSpPr>
          <p:nvPr/>
        </p:nvSpPr>
        <p:spPr bwMode="auto">
          <a:xfrm>
            <a:off x="2962922" y="2445738"/>
            <a:ext cx="6858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1" name="Line 15"/>
          <p:cNvSpPr>
            <a:spLocks noChangeShapeType="1"/>
          </p:cNvSpPr>
          <p:nvPr/>
        </p:nvSpPr>
        <p:spPr bwMode="auto">
          <a:xfrm>
            <a:off x="5172722" y="2445738"/>
            <a:ext cx="6858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2" name="Line 16"/>
          <p:cNvSpPr>
            <a:spLocks noChangeShapeType="1"/>
          </p:cNvSpPr>
          <p:nvPr/>
        </p:nvSpPr>
        <p:spPr bwMode="auto">
          <a:xfrm>
            <a:off x="6391922" y="2445738"/>
            <a:ext cx="6858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3" name="Rectangle 17"/>
          <p:cNvSpPr>
            <a:spLocks noChangeArrowheads="1"/>
          </p:cNvSpPr>
          <p:nvPr/>
        </p:nvSpPr>
        <p:spPr bwMode="auto">
          <a:xfrm>
            <a:off x="340372" y="1880588"/>
            <a:ext cx="463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1" i="1" dirty="0">
                <a:solidFill>
                  <a:srgbClr val="9933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</a:t>
            </a:r>
          </a:p>
        </p:txBody>
      </p:sp>
      <p:sp>
        <p:nvSpPr>
          <p:cNvPr id="162834" name="Text Box 18"/>
          <p:cNvSpPr txBox="1">
            <a:spLocks noChangeArrowheads="1"/>
          </p:cNvSpPr>
          <p:nvPr/>
        </p:nvSpPr>
        <p:spPr bwMode="auto">
          <a:xfrm>
            <a:off x="5801372" y="1912338"/>
            <a:ext cx="7429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endParaRPr kumimoji="1" lang="en-US" altLang="zh-CN" sz="4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5" name="Text Box 19"/>
          <p:cNvSpPr txBox="1">
            <a:spLocks noChangeArrowheads="1"/>
          </p:cNvSpPr>
          <p:nvPr/>
        </p:nvSpPr>
        <p:spPr bwMode="auto">
          <a:xfrm>
            <a:off x="8384235" y="1988538"/>
            <a:ext cx="52228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4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endParaRPr kumimoji="1" lang="en-US" altLang="zh-CN" sz="4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6" name="Rectangle 20"/>
          <p:cNvSpPr>
            <a:spLocks noChangeArrowheads="1"/>
          </p:cNvSpPr>
          <p:nvPr/>
        </p:nvSpPr>
        <p:spPr bwMode="auto">
          <a:xfrm>
            <a:off x="1771433" y="3936400"/>
            <a:ext cx="6013826" cy="221599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for (max=0, pp=L;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pp!= NULL;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pp=pp-&gt;ptr.tp)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dep = 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GlistDepth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(pp-&gt;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if (dep &gt; max) max = dep;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7" name="Text Box 21"/>
          <p:cNvSpPr txBox="1">
            <a:spLocks noChangeArrowheads="1"/>
          </p:cNvSpPr>
          <p:nvPr/>
        </p:nvSpPr>
        <p:spPr bwMode="auto">
          <a:xfrm>
            <a:off x="160984" y="1255907"/>
            <a:ext cx="9204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例如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endParaRPr kumimoji="1" lang="en-US" altLang="zh-CN" sz="28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8" name="AutoShape 22"/>
          <p:cNvSpPr>
            <a:spLocks noChangeArrowheads="1"/>
          </p:cNvSpPr>
          <p:nvPr/>
        </p:nvSpPr>
        <p:spPr bwMode="auto">
          <a:xfrm>
            <a:off x="1819922" y="1347188"/>
            <a:ext cx="152400" cy="685801"/>
          </a:xfrm>
          <a:prstGeom prst="downArrow">
            <a:avLst>
              <a:gd name="adj1" fmla="val 50000"/>
              <a:gd name="adj2" fmla="val 11250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39" name="Text Box 23"/>
          <p:cNvSpPr txBox="1">
            <a:spLocks noChangeArrowheads="1"/>
          </p:cNvSpPr>
          <p:nvPr/>
        </p:nvSpPr>
        <p:spPr bwMode="auto">
          <a:xfrm>
            <a:off x="1956447" y="1086838"/>
            <a:ext cx="692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1" dirty="0">
                <a:solidFill>
                  <a:srgbClr val="0066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pp</a:t>
            </a:r>
            <a:endParaRPr kumimoji="1" lang="en-US" altLang="zh-CN" sz="3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40" name="Text Box 24"/>
          <p:cNvSpPr txBox="1">
            <a:spLocks noChangeArrowheads="1"/>
          </p:cNvSpPr>
          <p:nvPr/>
        </p:nvSpPr>
        <p:spPr bwMode="auto">
          <a:xfrm>
            <a:off x="2345385" y="2748951"/>
            <a:ext cx="1912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pp-&gt;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endParaRPr kumimoji="1"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41" name="AutoShape 25"/>
          <p:cNvSpPr>
            <a:spLocks noChangeArrowheads="1"/>
          </p:cNvSpPr>
          <p:nvPr/>
        </p:nvSpPr>
        <p:spPr bwMode="auto">
          <a:xfrm>
            <a:off x="4039247" y="1378938"/>
            <a:ext cx="152400" cy="685801"/>
          </a:xfrm>
          <a:prstGeom prst="downArrow">
            <a:avLst>
              <a:gd name="adj1" fmla="val 50000"/>
              <a:gd name="adj2" fmla="val 11250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42" name="Text Box 26"/>
          <p:cNvSpPr txBox="1">
            <a:spLocks noChangeArrowheads="1"/>
          </p:cNvSpPr>
          <p:nvPr/>
        </p:nvSpPr>
        <p:spPr bwMode="auto">
          <a:xfrm>
            <a:off x="4175772" y="1118588"/>
            <a:ext cx="692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1" dirty="0">
                <a:solidFill>
                  <a:srgbClr val="0066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pp</a:t>
            </a:r>
            <a:endParaRPr kumimoji="1" lang="en-US" altLang="zh-CN" sz="3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43" name="AutoShape 27"/>
          <p:cNvSpPr>
            <a:spLocks noChangeArrowheads="1"/>
          </p:cNvSpPr>
          <p:nvPr/>
        </p:nvSpPr>
        <p:spPr bwMode="auto">
          <a:xfrm>
            <a:off x="7392047" y="1378938"/>
            <a:ext cx="152400" cy="685801"/>
          </a:xfrm>
          <a:prstGeom prst="downArrow">
            <a:avLst>
              <a:gd name="adj1" fmla="val 50000"/>
              <a:gd name="adj2" fmla="val 11250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44" name="Text Box 28"/>
          <p:cNvSpPr txBox="1">
            <a:spLocks noChangeArrowheads="1"/>
          </p:cNvSpPr>
          <p:nvPr/>
        </p:nvSpPr>
        <p:spPr bwMode="auto">
          <a:xfrm>
            <a:off x="7528572" y="1118588"/>
            <a:ext cx="692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1" dirty="0">
                <a:solidFill>
                  <a:srgbClr val="006666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pp</a:t>
            </a:r>
            <a:endParaRPr kumimoji="1" lang="en-US" altLang="zh-CN" sz="3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45" name="Text Box 29"/>
          <p:cNvSpPr txBox="1">
            <a:spLocks noChangeArrowheads="1"/>
          </p:cNvSpPr>
          <p:nvPr/>
        </p:nvSpPr>
        <p:spPr bwMode="auto">
          <a:xfrm>
            <a:off x="4555185" y="2794988"/>
            <a:ext cx="1912937" cy="579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pp-&gt;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endParaRPr kumimoji="1"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46" name="Text Box 30"/>
          <p:cNvSpPr txBox="1">
            <a:spLocks noChangeArrowheads="1"/>
          </p:cNvSpPr>
          <p:nvPr/>
        </p:nvSpPr>
        <p:spPr bwMode="auto">
          <a:xfrm>
            <a:off x="7231063" y="2590800"/>
            <a:ext cx="19129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pp-&gt;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endParaRPr kumimoji="1" lang="en-US" altLang="zh-CN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 useBgFill="1">
        <p:nvSpPr>
          <p:cNvPr id="162847" name="Rectangle 31"/>
          <p:cNvSpPr>
            <a:spLocks noChangeArrowheads="1"/>
          </p:cNvSpPr>
          <p:nvPr/>
        </p:nvSpPr>
        <p:spPr bwMode="auto">
          <a:xfrm>
            <a:off x="1515122" y="1194788"/>
            <a:ext cx="1066800" cy="838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 useBgFill="1">
        <p:nvSpPr>
          <p:cNvPr id="162848" name="Rectangle 32"/>
          <p:cNvSpPr>
            <a:spLocks noChangeArrowheads="1"/>
          </p:cNvSpPr>
          <p:nvPr/>
        </p:nvSpPr>
        <p:spPr bwMode="auto">
          <a:xfrm>
            <a:off x="3801122" y="1194788"/>
            <a:ext cx="1066800" cy="838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 useBgFill="1">
        <p:nvSpPr>
          <p:cNvPr id="162849" name="Rectangle 33"/>
          <p:cNvSpPr>
            <a:spLocks noChangeArrowheads="1"/>
          </p:cNvSpPr>
          <p:nvPr/>
        </p:nvSpPr>
        <p:spPr bwMode="auto">
          <a:xfrm>
            <a:off x="7153922" y="1194788"/>
            <a:ext cx="1066800" cy="838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 useBgFill="1">
        <p:nvSpPr>
          <p:cNvPr id="162850" name="Rectangle 34"/>
          <p:cNvSpPr>
            <a:spLocks noChangeArrowheads="1"/>
          </p:cNvSpPr>
          <p:nvPr/>
        </p:nvSpPr>
        <p:spPr bwMode="auto">
          <a:xfrm>
            <a:off x="2429522" y="2871188"/>
            <a:ext cx="19050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 useBgFill="1">
        <p:nvSpPr>
          <p:cNvPr id="162851" name="Rectangle 35"/>
          <p:cNvSpPr>
            <a:spLocks noChangeArrowheads="1"/>
          </p:cNvSpPr>
          <p:nvPr/>
        </p:nvSpPr>
        <p:spPr bwMode="auto">
          <a:xfrm>
            <a:off x="4639322" y="2871188"/>
            <a:ext cx="19050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 useBgFill="1">
        <p:nvSpPr>
          <p:cNvPr id="162852" name="Rectangle 36"/>
          <p:cNvSpPr>
            <a:spLocks noChangeArrowheads="1"/>
          </p:cNvSpPr>
          <p:nvPr/>
        </p:nvSpPr>
        <p:spPr bwMode="auto">
          <a:xfrm>
            <a:off x="7153922" y="2871188"/>
            <a:ext cx="19050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2853" name="Line 37"/>
          <p:cNvSpPr>
            <a:spLocks noChangeShapeType="1"/>
          </p:cNvSpPr>
          <p:nvPr/>
        </p:nvSpPr>
        <p:spPr bwMode="auto">
          <a:xfrm>
            <a:off x="7992122" y="2445738"/>
            <a:ext cx="0" cy="1187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0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62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6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6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6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6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6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6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6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6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6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1" dur="500"/>
                                        <p:tgtEl>
                                          <p:spTgt spid="16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5" dur="500"/>
                                        <p:tgtEl>
                                          <p:spTgt spid="16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6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6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62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animBg="1" autoUpdateAnimBg="0"/>
      <p:bldP spid="162823" grpId="0" animBg="1" autoUpdateAnimBg="0"/>
      <p:bldP spid="162827" grpId="0" animBg="1" autoUpdateAnimBg="0"/>
      <p:bldP spid="162833" grpId="0" autoUpdateAnimBg="0"/>
      <p:bldP spid="162834" grpId="0" autoUpdateAnimBg="0"/>
      <p:bldP spid="162835" grpId="0" autoUpdateAnimBg="0"/>
      <p:bldP spid="162836" grpId="0" animBg="1" autoUpdateAnimBg="0"/>
      <p:bldP spid="162837" grpId="0" autoUpdateAnimBg="0"/>
      <p:bldP spid="162839" grpId="0" autoUpdateAnimBg="0"/>
      <p:bldP spid="162840" grpId="0" autoUpdateAnimBg="0"/>
      <p:bldP spid="162842" grpId="0" autoUpdateAnimBg="0"/>
      <p:bldP spid="162844" grpId="0" autoUpdateAnimBg="0"/>
      <p:bldP spid="162845" grpId="0" autoUpdateAnimBg="0"/>
      <p:bldP spid="16284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 smtClean="0"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100" y="1442052"/>
            <a:ext cx="8257356" cy="533974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lang="en-US" altLang="zh-CN" sz="1600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GLDepth</a:t>
            </a:r>
            <a:r>
              <a:rPr lang="en-US" altLang="zh-CN" sz="1600" dirty="0" smtClean="0">
                <a:ea typeface="华文楷体" panose="02010600040101010101" pitchFamily="2" charset="-122"/>
              </a:rPr>
              <a:t>(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GLNode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*g)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求带头节点的广义表</a:t>
            </a:r>
            <a:r>
              <a:rPr lang="en-US" altLang="zh-CN" sz="1600" dirty="0" smtClean="0">
                <a:ea typeface="华文楷体" panose="02010600040101010101" pitchFamily="2" charset="-122"/>
              </a:rPr>
              <a:t>g</a:t>
            </a:r>
            <a:r>
              <a:rPr lang="zh-CN" altLang="en-US" sz="1600" dirty="0" smtClean="0">
                <a:ea typeface="华文楷体" panose="02010600040101010101" pitchFamily="2" charset="-122"/>
              </a:rPr>
              <a:t>的深度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max=0,dep;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  if (g-&gt;tag==0) return 0;  //</a:t>
            </a:r>
            <a:r>
              <a:rPr lang="zh-CN" altLang="en-US" sz="16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为原子时返回</a:t>
            </a:r>
            <a:r>
              <a:rPr lang="en-US" altLang="zh-CN" sz="16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0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g=g-&gt;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hp</a:t>
            </a:r>
            <a:r>
              <a:rPr lang="en-US" altLang="zh-CN" sz="1600" dirty="0" smtClean="0">
                <a:ea typeface="华文楷体" panose="02010600040101010101" pitchFamily="2" charset="-122"/>
              </a:rPr>
              <a:t>;       //g</a:t>
            </a:r>
            <a:r>
              <a:rPr lang="zh-CN" altLang="en-US" sz="1600" dirty="0" smtClean="0">
                <a:ea typeface="华文楷体" panose="02010600040101010101" pitchFamily="2" charset="-122"/>
              </a:rPr>
              <a:t>指向第一个元素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  </a:t>
            </a:r>
            <a:r>
              <a:rPr lang="en-US" altLang="zh-CN" sz="16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if  (g==NULL) return  1;   //</a:t>
            </a:r>
            <a:r>
              <a:rPr lang="zh-CN" altLang="en-US" sz="16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为空表时返回</a:t>
            </a:r>
            <a:r>
              <a:rPr lang="en-US" altLang="zh-CN" sz="16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while (g!=NULL)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遍历表中的每一个元素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6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{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      if (g-&gt;tag==1)     </a:t>
            </a: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　　　</a:t>
            </a: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//</a:t>
            </a: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元素为子表的情况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      </a:t>
            </a: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{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        dep=</a:t>
            </a:r>
            <a:r>
              <a:rPr lang="en-US" altLang="zh-CN" sz="1600" dirty="0" err="1" smtClean="0">
                <a:solidFill>
                  <a:srgbClr val="FF6A6A"/>
                </a:solidFill>
                <a:ea typeface="华文楷体" panose="02010600040101010101" pitchFamily="2" charset="-122"/>
              </a:rPr>
              <a:t>GLDepth</a:t>
            </a: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(g); //</a:t>
            </a: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递归调用求出子表的深度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         </a:t>
            </a: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if (dep&gt;max) max=dep;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            //max</a:t>
            </a: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为同一层所求过的子表中深度的最大值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      </a:t>
            </a: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      g=g-&gt;</a:t>
            </a:r>
            <a:r>
              <a:rPr lang="en-US" altLang="zh-CN" sz="1600" dirty="0" err="1" smtClean="0">
                <a:solidFill>
                  <a:srgbClr val="FF6A6A"/>
                </a:solidFill>
                <a:ea typeface="华文楷体" panose="02010600040101010101" pitchFamily="2" charset="-122"/>
              </a:rPr>
              <a:t>tp</a:t>
            </a: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;  //</a:t>
            </a: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使</a:t>
            </a:r>
            <a:r>
              <a:rPr lang="en-US" altLang="zh-CN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g</a:t>
            </a:r>
            <a:r>
              <a:rPr lang="zh-CN" altLang="en-US" sz="1600" dirty="0" smtClean="0">
                <a:solidFill>
                  <a:srgbClr val="FF6A6A"/>
                </a:solidFill>
                <a:ea typeface="华文楷体" panose="02010600040101010101" pitchFamily="2" charset="-122"/>
              </a:rPr>
              <a:t>指向下一个元素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6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return(max+1);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返回表的深度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}</a:t>
            </a:r>
            <a:endParaRPr lang="zh-CN" altLang="en-US" sz="1600" dirty="0" smtClean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112F2E-336D-46E8-8608-5EAD8EBC7EF8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296900" y="1027413"/>
            <a:ext cx="2978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smtClean="0">
                <a:solidFill>
                  <a:srgbClr val="CC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1" lang="zh-CN" altLang="en-US" sz="2400" b="1" dirty="0" smtClean="0">
                <a:solidFill>
                  <a:srgbClr val="CC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扩展的线性链表</a:t>
            </a:r>
            <a:r>
              <a:rPr kumimoji="1" lang="en-US" altLang="zh-CN" sz="2400" b="1" dirty="0" smtClean="0">
                <a:solidFill>
                  <a:srgbClr val="CC33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D34B74-4B0C-4AFC-995A-CF0768B99FE0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8" name="日期占位符 3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504031" y="1086569"/>
            <a:ext cx="43560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例二  复制广义表</a:t>
            </a:r>
            <a:r>
              <a:rPr kumimoji="1"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头尾链表</a:t>
            </a:r>
            <a:r>
              <a:rPr kumimoji="1"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endParaRPr kumimoji="1"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2400" b="1" dirty="0">
              <a:solidFill>
                <a:srgbClr val="CC3399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328467" y="1700808"/>
            <a:ext cx="8144021" cy="286232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kumimoji="1" lang="zh-CN" alt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思路</a:t>
            </a:r>
            <a:endParaRPr kumimoji="1" lang="en-US" altLang="zh-CN" sz="2400" dirty="0" smtClean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①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将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广义表分解成表头和表尾两部分，分别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递归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复制求得新的表头和表尾，新的广义表由新的表头和表尾构成。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kumimoji="1"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②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可以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直接求解的两种简单情况为：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空表复制求得的新表自然也是空表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原子结点可以直接复制求得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kumimoji="1" lang="zh-CN" altLang="en-US" sz="2400" dirty="0">
              <a:solidFill>
                <a:srgbClr val="0000CC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331640" y="4621209"/>
            <a:ext cx="3867103" cy="216059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1600" dirty="0">
                <a:solidFill>
                  <a:srgbClr val="00808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 </a:t>
            </a:r>
            <a:r>
              <a:rPr kumimoji="1" lang="en-US" altLang="zh-CN" sz="1600" dirty="0">
                <a:solidFill>
                  <a:srgbClr val="00808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ls= NULL  </a:t>
            </a:r>
            <a:r>
              <a:rPr kumimoji="1" lang="zh-CN" altLang="en-US" sz="1600" dirty="0">
                <a:solidFill>
                  <a:srgbClr val="00808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则 </a:t>
            </a:r>
            <a:r>
              <a:rPr kumimoji="1" lang="en-US" altLang="zh-CN" sz="1600" dirty="0" err="1">
                <a:solidFill>
                  <a:srgbClr val="00808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newls</a:t>
            </a:r>
            <a:r>
              <a:rPr kumimoji="1" lang="en-US" altLang="zh-CN" sz="1600" dirty="0">
                <a:solidFill>
                  <a:srgbClr val="00808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NULL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否则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构造结点 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newls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zh-CN" altLang="en-US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由 表头</a:t>
            </a:r>
            <a:r>
              <a:rPr kumimoji="1" lang="en-US" altLang="zh-CN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ls-&gt;</a:t>
            </a:r>
            <a:r>
              <a:rPr kumimoji="1" lang="en-US" altLang="zh-CN" sz="1600" dirty="0" err="1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r>
              <a:rPr kumimoji="1" lang="en-US" altLang="zh-CN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zh-CN" altLang="en-US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复制得 </a:t>
            </a:r>
            <a:r>
              <a:rPr kumimoji="1" lang="en-US" altLang="zh-CN" sz="1600" dirty="0" err="1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newhp</a:t>
            </a:r>
            <a:endParaRPr kumimoji="1" lang="en-US" altLang="zh-CN" sz="1600" dirty="0">
              <a:solidFill>
                <a:srgbClr val="6600CC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zh-CN" altLang="en-US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由 表尾 </a:t>
            </a:r>
            <a:r>
              <a:rPr kumimoji="1" lang="en-US" altLang="zh-CN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ls-&gt;ptr.tp </a:t>
            </a:r>
            <a:r>
              <a:rPr kumimoji="1" lang="zh-CN" altLang="en-US" sz="1600" dirty="0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复制得 </a:t>
            </a:r>
            <a:r>
              <a:rPr kumimoji="1" lang="en-US" altLang="zh-CN" sz="1600" dirty="0" err="1">
                <a:solidFill>
                  <a:srgbClr val="6600CC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newtp</a:t>
            </a:r>
            <a:endParaRPr kumimoji="1"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并使 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newls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-&gt;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newhp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newls</a:t>
            </a:r>
            <a:r>
              <a:rPr kumimoji="1"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-&gt;ptr.tp = </a:t>
            </a:r>
            <a:r>
              <a:rPr kumimoji="1"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newtp</a:t>
            </a:r>
            <a:endParaRPr kumimoji="1"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 autoUpdateAnimBg="0"/>
      <p:bldP spid="163845" grpId="0" animBg="1" autoUpdateAnimBg="0"/>
      <p:bldP spid="10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AF92CD-E938-4AA2-9FD7-DA9839F3467C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4037" name="Text Box 2"/>
          <p:cNvSpPr txBox="1">
            <a:spLocks noChangeArrowheads="1"/>
          </p:cNvSpPr>
          <p:nvPr/>
        </p:nvSpPr>
        <p:spPr bwMode="auto">
          <a:xfrm>
            <a:off x="777640" y="1160394"/>
            <a:ext cx="6931496" cy="55769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Bool </a:t>
            </a:r>
            <a:r>
              <a:rPr kumimoji="1" lang="en-US" altLang="zh-CN" sz="1800" dirty="0" err="1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CopyGList</a:t>
            </a:r>
            <a:r>
              <a:rPr kumimoji="1" lang="en-US" altLang="zh-CN" sz="18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18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Glist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&amp;T</a:t>
            </a:r>
            <a:r>
              <a:rPr kumimoji="1" lang="en-US" altLang="zh-CN" sz="18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kumimoji="1" lang="en-US" altLang="zh-CN" sz="1800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Glist</a:t>
            </a:r>
            <a:r>
              <a:rPr kumimoji="1"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L</a:t>
            </a:r>
            <a:r>
              <a:rPr kumimoji="1" lang="en-US" altLang="zh-CN" sz="1800" dirty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endParaRPr kumimoji="1" lang="en-US" altLang="zh-CN" sz="1800" dirty="0" smtClean="0">
              <a:solidFill>
                <a:srgbClr val="CC3399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rgbClr val="00808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if (!</a:t>
            </a:r>
            <a:r>
              <a:rPr kumimoji="1"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</a:t>
            </a:r>
            <a:r>
              <a:rPr kumimoji="1" lang="en-US" altLang="zh-CN" sz="1800" dirty="0">
                <a:solidFill>
                  <a:srgbClr val="00808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T = NULL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 // </a:t>
            </a:r>
            <a:r>
              <a:rPr kumimoji="1"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复制空表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else </a:t>
            </a:r>
            <a:endParaRPr kumimoji="1" lang="en-US" altLang="zh-CN" sz="18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{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if ( </a:t>
            </a:r>
            <a:r>
              <a:rPr kumimoji="1" lang="en-US" altLang="zh-CN" sz="1800" dirty="0">
                <a:solidFill>
                  <a:srgbClr val="99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!(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 = (</a:t>
            </a:r>
            <a:r>
              <a:rPr kumimoji="1" lang="en-US" altLang="zh-CN" sz="18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Glist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en-US" altLang="zh-CN" sz="18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malloc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18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sizeof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18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GLNode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))</a:t>
            </a:r>
            <a:r>
              <a:rPr kumimoji="1" lang="en-US" altLang="zh-CN" sz="1800" dirty="0">
                <a:solidFill>
                  <a:srgbClr val="99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// </a:t>
            </a:r>
            <a:r>
              <a:rPr kumimoji="1" lang="zh-CN" altLang="en-US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建表结点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</a:t>
            </a:r>
            <a:r>
              <a:rPr kumimoji="1" lang="en-US" altLang="zh-CN" sz="1800" dirty="0" smtClean="0">
                <a:solidFill>
                  <a:srgbClr val="99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 FALSE;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T-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&gt;tag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</a:t>
            </a:r>
            <a:r>
              <a:rPr kumimoji="1"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L-&gt;tag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if (L-&gt;tag == ATOM)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T-&gt;data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kumimoji="1"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L-&gt;data</a:t>
            </a: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 // </a:t>
            </a:r>
            <a:r>
              <a:rPr kumimoji="1"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复制单原子结点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else  //</a:t>
            </a:r>
            <a:r>
              <a:rPr kumimoji="1"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分别复制表头和表尾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{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</a:t>
            </a:r>
            <a:r>
              <a:rPr kumimoji="1" lang="en-US" altLang="zh-CN" sz="1800" dirty="0" err="1" smtClean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CopyGList</a:t>
            </a:r>
            <a:r>
              <a:rPr kumimoji="1" lang="en-US" altLang="zh-CN" sz="1800" dirty="0" smtClean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T-&gt;</a:t>
            </a:r>
            <a:r>
              <a:rPr kumimoji="1" lang="en-US" altLang="zh-CN" sz="18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r>
              <a:rPr kumimoji="1"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kumimoji="1" lang="en-US" altLang="zh-CN" sz="1800" dirty="0" smtClean="0">
                <a:solidFill>
                  <a:srgbClr val="FF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L-&gt;</a:t>
            </a:r>
            <a:r>
              <a:rPr kumimoji="1" lang="en-US" altLang="zh-CN" sz="18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ptr.hp</a:t>
            </a:r>
            <a:r>
              <a:rPr kumimoji="1" lang="en-US" altLang="zh-CN" sz="1800" dirty="0" smtClean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en-US" altLang="zh-CN" sz="1800" dirty="0" smtClean="0">
                <a:solidFill>
                  <a:srgbClr val="D6009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</a:t>
            </a:r>
            <a:r>
              <a:rPr kumimoji="1" lang="en-US" altLang="zh-CN" sz="1800" dirty="0" err="1" smtClean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CopyGList</a:t>
            </a:r>
            <a:r>
              <a:rPr kumimoji="1" lang="en-US" altLang="zh-CN" sz="1800" dirty="0" smtClean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T-&gt;ptr.tp,</a:t>
            </a:r>
            <a:r>
              <a:rPr kumimoji="1" lang="en-US" altLang="zh-CN" sz="1800" dirty="0" smtClean="0">
                <a:solidFill>
                  <a:srgbClr val="FF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L-&gt;ptr.tp</a:t>
            </a:r>
            <a:r>
              <a:rPr kumimoji="1" lang="en-US" altLang="zh-CN" sz="1800" dirty="0" smtClean="0">
                <a:solidFill>
                  <a:srgbClr val="CC3399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en-US" altLang="zh-CN" sz="1800" dirty="0" smtClean="0">
                <a:solidFill>
                  <a:srgbClr val="D6009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}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None/>
            </a:pPr>
            <a:r>
              <a:rPr kumimoji="1" lang="en-US" altLang="zh-CN" sz="1800" b="1" dirty="0" smtClean="0">
                <a:solidFill>
                  <a:srgbClr val="D60093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1"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return TRUE;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77FD663-4419-4935-9232-68B175FDDA7A}" type="slidenum">
              <a:rPr lang="en-US" altLang="zh-CN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381000"/>
          </a:xfrm>
        </p:spPr>
        <p:txBody>
          <a:bodyPr/>
          <a:lstStyle/>
          <a:p>
            <a:pPr algn="l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作业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953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1.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设计</a:t>
            </a:r>
            <a:r>
              <a:rPr lang="zh-CN" altLang="en-US" sz="2400" dirty="0">
                <a:ea typeface="华文楷体" panose="02010600040101010101" pitchFamily="2" charset="-122"/>
                <a:sym typeface="Symbol" panose="05050102010706020507" pitchFamily="18" charset="2"/>
              </a:rPr>
              <a:t>算法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，给定两个均含有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个元素的整形数组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       判定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是否是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循环右移若干位得到的。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buNone/>
            </a:pPr>
            <a:r>
              <a:rPr lang="en-US" altLang="zh-CN" sz="2400" dirty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bool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isRightMove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A[],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B[],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n)</a:t>
            </a:r>
            <a:endParaRPr lang="zh-CN" altLang="en-US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2.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设对称矩阵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如下所示：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(1)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若将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视为对称矩阵，画出对其压缩存储的存储表，并讨论如何存取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中元素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a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ij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(1&lt;=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i,j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&lt;=4)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；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(2)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若将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视为稀疏矩阵，画出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的十字链表结构。 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zh-CN" altLang="en-US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zh-CN" altLang="en-US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zh-CN" altLang="en-US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zh-CN" altLang="en-US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zh-CN" altLang="en-US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zh-CN" altLang="en-US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CN" sz="3600" dirty="0" smtClean="0">
              <a:ea typeface="华文楷体" panose="02010600040101010101" pitchFamily="2" charset="-122"/>
            </a:endParaRPr>
          </a:p>
        </p:txBody>
      </p:sp>
      <p:pic>
        <p:nvPicPr>
          <p:cNvPr id="4813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933825"/>
            <a:ext cx="2208213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69F41D-172A-4BCC-B236-84C24FEF2944}" type="slidenum">
              <a:rPr lang="en-US" altLang="zh-CN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3.</a:t>
            </a:r>
            <a:r>
              <a:rPr lang="zh-CN" altLang="en-US" sz="2400" dirty="0">
                <a:ea typeface="华文楷体" panose="02010600040101010101" pitchFamily="2" charset="-122"/>
              </a:rPr>
              <a:t>求下列广义表操作的结果：</a:t>
            </a:r>
          </a:p>
          <a:p>
            <a:pPr marL="609600" indent="-609600" eaLnBrk="1" hangingPunct="1">
              <a:buNone/>
            </a:pPr>
            <a:r>
              <a:rPr lang="zh-CN" altLang="en-US" sz="2400" dirty="0">
                <a:ea typeface="华文楷体" panose="02010600040101010101" pitchFamily="2" charset="-122"/>
              </a:rPr>
              <a:t>    </a:t>
            </a:r>
            <a:r>
              <a:rPr lang="en-US" altLang="zh-CN" sz="2400" dirty="0">
                <a:ea typeface="华文楷体" panose="02010600040101010101" pitchFamily="2" charset="-122"/>
              </a:rPr>
              <a:t>(1)Head[Tail[Head[((</a:t>
            </a:r>
            <a:r>
              <a:rPr lang="en-US" altLang="zh-CN" sz="2400" dirty="0" err="1">
                <a:ea typeface="华文楷体" panose="02010600040101010101" pitchFamily="2" charset="-122"/>
              </a:rPr>
              <a:t>a,b</a:t>
            </a:r>
            <a:r>
              <a:rPr lang="en-US" altLang="zh-CN" sz="2400" dirty="0">
                <a:ea typeface="华文楷体" panose="02010600040101010101" pitchFamily="2" charset="-122"/>
              </a:rPr>
              <a:t>),(</a:t>
            </a:r>
            <a:r>
              <a:rPr lang="en-US" altLang="zh-CN" sz="2400" dirty="0" err="1">
                <a:ea typeface="华文楷体" panose="02010600040101010101" pitchFamily="2" charset="-122"/>
              </a:rPr>
              <a:t>c,d</a:t>
            </a:r>
            <a:r>
              <a:rPr lang="en-US" altLang="zh-CN" sz="2400" dirty="0">
                <a:ea typeface="华文楷体" panose="02010600040101010101" pitchFamily="2" charset="-122"/>
              </a:rPr>
              <a:t>))]]]</a:t>
            </a:r>
          </a:p>
          <a:p>
            <a:pPr marL="609600" indent="-609600" eaLnBrk="1" hangingPunct="1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(2)Tail[Head[Tail [((</a:t>
            </a:r>
            <a:r>
              <a:rPr lang="en-US" altLang="zh-CN" sz="2400" dirty="0" err="1">
                <a:ea typeface="华文楷体" panose="02010600040101010101" pitchFamily="2" charset="-122"/>
              </a:rPr>
              <a:t>a,b</a:t>
            </a:r>
            <a:r>
              <a:rPr lang="en-US" altLang="zh-CN" sz="2400" dirty="0">
                <a:ea typeface="华文楷体" panose="02010600040101010101" pitchFamily="2" charset="-122"/>
              </a:rPr>
              <a:t>),(</a:t>
            </a:r>
            <a:r>
              <a:rPr lang="en-US" altLang="zh-CN" sz="2400" dirty="0" err="1">
                <a:ea typeface="华文楷体" panose="02010600040101010101" pitchFamily="2" charset="-122"/>
              </a:rPr>
              <a:t>c,d</a:t>
            </a:r>
            <a:r>
              <a:rPr lang="en-US" altLang="zh-CN" sz="2400" dirty="0">
                <a:ea typeface="华文楷体" panose="02010600040101010101" pitchFamily="2" charset="-122"/>
              </a:rPr>
              <a:t>))]]]</a:t>
            </a:r>
          </a:p>
          <a:p>
            <a:pPr marL="609600" indent="-609600" eaLnBrk="1" hangingPunct="1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 </a:t>
            </a:r>
            <a:r>
              <a:rPr lang="zh-CN" altLang="en-US" sz="2400" dirty="0">
                <a:ea typeface="华文楷体" panose="02010600040101010101" pitchFamily="2" charset="-122"/>
              </a:rPr>
              <a:t>注：</a:t>
            </a:r>
            <a:r>
              <a:rPr lang="en-US" altLang="zh-CN" sz="2400" dirty="0">
                <a:ea typeface="华文楷体" panose="02010600040101010101" pitchFamily="2" charset="-122"/>
              </a:rPr>
              <a:t>[ ]</a:t>
            </a:r>
            <a:r>
              <a:rPr lang="zh-CN" altLang="en-US" sz="2400" dirty="0">
                <a:ea typeface="华文楷体" panose="02010600040101010101" pitchFamily="2" charset="-122"/>
              </a:rPr>
              <a:t>是函数的符号</a:t>
            </a:r>
          </a:p>
          <a:p>
            <a:pPr marL="609600" indent="-609600" eaLnBrk="1" hangingPunct="1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.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利用</a:t>
            </a:r>
            <a:r>
              <a:rPr lang="zh-CN" altLang="en-US" sz="2400" dirty="0">
                <a:ea typeface="华文楷体" panose="02010600040101010101" pitchFamily="2" charset="-122"/>
              </a:rPr>
              <a:t>广义表的</a:t>
            </a:r>
            <a:r>
              <a:rPr lang="en-US" altLang="zh-CN" sz="2400" dirty="0">
                <a:ea typeface="华文楷体" panose="02010600040101010101" pitchFamily="2" charset="-122"/>
              </a:rPr>
              <a:t>Head</a:t>
            </a:r>
            <a:r>
              <a:rPr lang="zh-CN" altLang="en-US" sz="2400" dirty="0">
                <a:ea typeface="华文楷体" panose="02010600040101010101" pitchFamily="2" charset="-122"/>
              </a:rPr>
              <a:t>和</a:t>
            </a:r>
            <a:r>
              <a:rPr lang="en-US" altLang="zh-CN" sz="2400" dirty="0">
                <a:ea typeface="华文楷体" panose="02010600040101010101" pitchFamily="2" charset="-122"/>
              </a:rPr>
              <a:t>Tail</a:t>
            </a:r>
            <a:r>
              <a:rPr lang="zh-CN" altLang="en-US" sz="2400" dirty="0">
                <a:ea typeface="华文楷体" panose="02010600040101010101" pitchFamily="2" charset="-122"/>
              </a:rPr>
              <a:t>操作把原子</a:t>
            </a:r>
            <a:r>
              <a:rPr lang="en-US" altLang="zh-CN" sz="2400" dirty="0">
                <a:ea typeface="华文楷体" panose="02010600040101010101" pitchFamily="2" charset="-122"/>
              </a:rPr>
              <a:t>c</a:t>
            </a:r>
            <a:r>
              <a:rPr lang="zh-CN" altLang="en-US" sz="2400" dirty="0">
                <a:ea typeface="华文楷体" panose="02010600040101010101" pitchFamily="2" charset="-122"/>
              </a:rPr>
              <a:t>从广义表</a:t>
            </a:r>
            <a:r>
              <a:rPr lang="en-US" altLang="zh-CN" sz="2400" dirty="0">
                <a:ea typeface="华文楷体" panose="02010600040101010101" pitchFamily="2" charset="-122"/>
              </a:rPr>
              <a:t>L=((</a:t>
            </a:r>
            <a:r>
              <a:rPr lang="en-US" altLang="zh-CN" sz="2400" dirty="0" err="1">
                <a:ea typeface="华文楷体" panose="02010600040101010101" pitchFamily="2" charset="-122"/>
              </a:rPr>
              <a:t>a,b</a:t>
            </a:r>
            <a:r>
              <a:rPr lang="en-US" altLang="zh-CN" sz="2400" dirty="0">
                <a:ea typeface="华文楷体" panose="02010600040101010101" pitchFamily="2" charset="-122"/>
              </a:rPr>
              <a:t>),(</a:t>
            </a:r>
            <a:r>
              <a:rPr lang="en-US" altLang="zh-CN" sz="2400" dirty="0" err="1">
                <a:ea typeface="华文楷体" panose="02010600040101010101" pitchFamily="2" charset="-122"/>
              </a:rPr>
              <a:t>c,d</a:t>
            </a:r>
            <a:r>
              <a:rPr lang="en-US" altLang="zh-CN" sz="2400" dirty="0">
                <a:ea typeface="华文楷体" panose="02010600040101010101" pitchFamily="2" charset="-122"/>
              </a:rPr>
              <a:t>))</a:t>
            </a:r>
            <a:r>
              <a:rPr lang="zh-CN" altLang="en-US" sz="2400" dirty="0">
                <a:ea typeface="华文楷体" panose="02010600040101010101" pitchFamily="2" charset="-122"/>
              </a:rPr>
              <a:t>中分离出来，并求表</a:t>
            </a:r>
            <a:r>
              <a:rPr lang="en-US" altLang="zh-CN" sz="2400" dirty="0">
                <a:ea typeface="华文楷体" panose="02010600040101010101" pitchFamily="2" charset="-122"/>
              </a:rPr>
              <a:t>L</a:t>
            </a:r>
            <a:r>
              <a:rPr lang="zh-CN" altLang="en-US" sz="2400" dirty="0">
                <a:ea typeface="华文楷体" panose="02010600040101010101" pitchFamily="2" charset="-122"/>
              </a:rPr>
              <a:t>的长度和深度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5.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假设一个稀疏矩阵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的行列数</a:t>
            </a:r>
            <a:r>
              <a:rPr lang="zh-CN" altLang="en-US" sz="2400" dirty="0">
                <a:ea typeface="华文楷体" panose="02010600040101010101" pitchFamily="2" charset="-122"/>
              </a:rPr>
              <a:t>相同，采用三元组</a:t>
            </a:r>
            <a:r>
              <a:rPr lang="en-US" altLang="zh-CN" sz="2400" dirty="0" err="1">
                <a:ea typeface="华文楷体" panose="02010600040101010101" pitchFamily="2" charset="-122"/>
              </a:rPr>
              <a:t>TSMatrix</a:t>
            </a:r>
            <a:r>
              <a:rPr lang="en-US" altLang="zh-CN" sz="2400" dirty="0">
                <a:ea typeface="华文楷体" panose="02010600040101010101" pitchFamily="2" charset="-122"/>
              </a:rPr>
              <a:t> </a:t>
            </a:r>
            <a:endParaRPr lang="zh-CN" altLang="en-US" sz="2400" dirty="0">
              <a:ea typeface="华文楷体" panose="02010600040101010101" pitchFamily="2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dirty="0">
                <a:ea typeface="华文楷体" panose="02010600040101010101" pitchFamily="2" charset="-122"/>
              </a:rPr>
              <a:t>表示，</a:t>
            </a:r>
            <a:r>
              <a:rPr lang="en-US" altLang="zh-CN" sz="2400" dirty="0">
                <a:ea typeface="华文楷体" panose="02010600040101010101" pitchFamily="2" charset="-122"/>
              </a:rPr>
              <a:t> </a:t>
            </a:r>
            <a:r>
              <a:rPr lang="en-US" altLang="zh-CN" sz="2400" dirty="0" err="1">
                <a:ea typeface="华文楷体" panose="02010600040101010101" pitchFamily="2" charset="-122"/>
              </a:rPr>
              <a:t>TSMatrix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结构参见课件第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17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页，设计算法求左上</a:t>
            </a:r>
            <a:r>
              <a:rPr lang="en-US" altLang="zh-CN" sz="2400" dirty="0" smtClean="0">
                <a:ea typeface="华文楷体" panose="02010600040101010101" pitchFamily="2" charset="-122"/>
              </a:rPr>
              <a:t>-&gt;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右下对角线上非</a:t>
            </a:r>
            <a:r>
              <a:rPr lang="en-US" altLang="zh-CN" sz="2400" dirty="0" smtClean="0">
                <a:ea typeface="华文楷体" panose="02010600040101010101" pitchFamily="2" charset="-122"/>
              </a:rPr>
              <a:t>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元素之和。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marL="609600" indent="-609600" eaLnBrk="1" hangingPunct="1"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bool Sum(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TSMAtrix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t,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&amp;sum)</a:t>
            </a:r>
          </a:p>
          <a:p>
            <a:pPr marL="609600" indent="-609600" eaLnBrk="1" hangingPunct="1"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\\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函数返回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false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表示行列不等不</a:t>
            </a:r>
            <a:r>
              <a:rPr lang="zh-CN" altLang="en-US" sz="2400" dirty="0">
                <a:ea typeface="华文楷体" panose="02010600040101010101" pitchFamily="2" charset="-122"/>
              </a:rPr>
              <a:t>能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求和；函数返回</a:t>
            </a:r>
            <a:r>
              <a:rPr lang="en-US" altLang="zh-CN" sz="2400" dirty="0" smtClean="0">
                <a:ea typeface="华文楷体" panose="02010600040101010101" pitchFamily="2" charset="-122"/>
              </a:rPr>
              <a:t>true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表示能求和，并用参数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sum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返回所求的和</a:t>
            </a:r>
            <a:r>
              <a:rPr lang="zh-CN" altLang="en-US" sz="2400" dirty="0">
                <a:ea typeface="华文楷体" panose="02010600040101010101" pitchFamily="2" charset="-122"/>
              </a:rPr>
              <a:t>。</a:t>
            </a:r>
            <a:endParaRPr lang="en-US" altLang="zh-CN" sz="2400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E3449B-F1FD-4632-A4E9-457055B91238}" type="slidenum">
              <a:rPr lang="en-US" altLang="zh-CN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188" y="1196975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华文楷体" panose="02010600040101010101" pitchFamily="2" charset="-122"/>
              </a:rPr>
              <a:t>假设稀疏矩阵</a:t>
            </a:r>
            <a:r>
              <a:rPr lang="en-US" altLang="zh-CN" dirty="0" smtClean="0">
                <a:ea typeface="华文楷体" panose="02010600040101010101" pitchFamily="2" charset="-122"/>
              </a:rPr>
              <a:t>A</a:t>
            </a:r>
            <a:r>
              <a:rPr lang="zh-CN" altLang="en-US" dirty="0" smtClean="0">
                <a:ea typeface="华文楷体" panose="02010600040101010101" pitchFamily="2" charset="-122"/>
              </a:rPr>
              <a:t>和</a:t>
            </a:r>
            <a:r>
              <a:rPr lang="en-US" altLang="zh-CN" dirty="0" smtClean="0">
                <a:ea typeface="华文楷体" panose="02010600040101010101" pitchFamily="2" charset="-122"/>
              </a:rPr>
              <a:t>B</a:t>
            </a:r>
            <a:r>
              <a:rPr lang="zh-CN" altLang="en-US" dirty="0" smtClean="0">
                <a:ea typeface="华文楷体" panose="02010600040101010101" pitchFamily="2" charset="-122"/>
              </a:rPr>
              <a:t>均以三元组表作为存储结构，试写出矩阵</a:t>
            </a:r>
            <a:r>
              <a:rPr lang="zh-CN" altLang="en-US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相加和相乘</a:t>
            </a:r>
            <a:r>
              <a:rPr lang="zh-CN" altLang="en-US" dirty="0" smtClean="0">
                <a:ea typeface="华文楷体" panose="02010600040101010101" pitchFamily="2" charset="-122"/>
              </a:rPr>
              <a:t>的算法，另设三元组表</a:t>
            </a:r>
            <a:r>
              <a:rPr lang="en-US" altLang="zh-CN" dirty="0" smtClean="0">
                <a:ea typeface="华文楷体" panose="02010600040101010101" pitchFamily="2" charset="-122"/>
              </a:rPr>
              <a:t>C</a:t>
            </a:r>
            <a:r>
              <a:rPr lang="zh-CN" altLang="en-US" dirty="0" smtClean="0">
                <a:ea typeface="华文楷体" panose="02010600040101010101" pitchFamily="2" charset="-122"/>
              </a:rPr>
              <a:t>存放结果矩阵。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华文楷体" panose="02010600040101010101" pitchFamily="2" charset="-122"/>
              </a:rPr>
              <a:t>要求：</a:t>
            </a:r>
          </a:p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从键盘输入稀疏矩阵</a:t>
            </a:r>
            <a:r>
              <a:rPr lang="en-US" altLang="zh-CN" dirty="0" smtClean="0">
                <a:ea typeface="华文楷体" panose="02010600040101010101" pitchFamily="2" charset="-122"/>
              </a:rPr>
              <a:t>A</a:t>
            </a:r>
            <a:r>
              <a:rPr lang="zh-CN" altLang="en-US" dirty="0" smtClean="0">
                <a:ea typeface="华文楷体" panose="02010600040101010101" pitchFamily="2" charset="-122"/>
              </a:rPr>
              <a:t>和</a:t>
            </a:r>
            <a:r>
              <a:rPr lang="en-US" altLang="zh-CN" dirty="0" smtClean="0">
                <a:ea typeface="华文楷体" panose="02010600040101010101" pitchFamily="2" charset="-122"/>
              </a:rPr>
              <a:t>B</a:t>
            </a:r>
          </a:p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检测</a:t>
            </a:r>
            <a:r>
              <a:rPr lang="en-US" altLang="zh-CN" dirty="0" smtClean="0">
                <a:ea typeface="华文楷体" panose="02010600040101010101" pitchFamily="2" charset="-122"/>
              </a:rPr>
              <a:t>A</a:t>
            </a:r>
            <a:r>
              <a:rPr lang="zh-CN" altLang="en-US" dirty="0" smtClean="0">
                <a:ea typeface="华文楷体" panose="02010600040101010101" pitchFamily="2" charset="-122"/>
              </a:rPr>
              <a:t>和</a:t>
            </a:r>
            <a:r>
              <a:rPr lang="en-US" altLang="zh-CN" dirty="0" smtClean="0">
                <a:ea typeface="华文楷体" panose="02010600040101010101" pitchFamily="2" charset="-122"/>
              </a:rPr>
              <a:t>B</a:t>
            </a:r>
            <a:r>
              <a:rPr lang="zh-CN" altLang="en-US" dirty="0" smtClean="0">
                <a:ea typeface="华文楷体" panose="02010600040101010101" pitchFamily="2" charset="-122"/>
              </a:rPr>
              <a:t>能否相加</a:t>
            </a:r>
            <a:r>
              <a:rPr lang="en-US" altLang="zh-CN" dirty="0" smtClean="0">
                <a:ea typeface="华文楷体" panose="02010600040101010101" pitchFamily="2" charset="-122"/>
              </a:rPr>
              <a:t>/</a:t>
            </a:r>
            <a:r>
              <a:rPr lang="zh-CN" altLang="en-US" dirty="0" smtClean="0">
                <a:ea typeface="华文楷体" panose="02010600040101010101" pitchFamily="2" charset="-122"/>
              </a:rPr>
              <a:t>相乘</a:t>
            </a:r>
          </a:p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如能，做矩阵相加和相乘运算，并打印运算结果</a:t>
            </a:r>
          </a:p>
          <a:p>
            <a:pPr lvl="1" eaLnBrk="1" hangingPunct="1"/>
            <a:r>
              <a:rPr lang="zh-CN" altLang="en-US" dirty="0" smtClean="0">
                <a:ea typeface="华文楷体" panose="02010600040101010101" pitchFamily="2" charset="-122"/>
              </a:rPr>
              <a:t>如不能，应显示出原因</a:t>
            </a:r>
          </a:p>
        </p:txBody>
      </p:sp>
      <p:sp>
        <p:nvSpPr>
          <p:cNvPr id="50182" name="AutoShape 7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048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0183" name="Rectangle 9"/>
          <p:cNvSpPr>
            <a:spLocks noChangeArrowheads="1"/>
          </p:cNvSpPr>
          <p:nvPr/>
        </p:nvSpPr>
        <p:spPr bwMode="auto">
          <a:xfrm>
            <a:off x="3851275" y="376979"/>
            <a:ext cx="971741" cy="396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实验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国外精美的的PPT模板及图标之二">
  <a:themeElements>
    <a:clrScheme name="1_国外精美的的PPT模板及图标之二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1_国外精美的的PPT模板及图标之二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国外精美的的PPT模板及图标之二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外精美的的PPT模板及图标之二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外精美的的PPT模板及图标之二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2683</TotalTime>
  <Words>5030</Words>
  <Application>Microsoft Office PowerPoint</Application>
  <PresentationFormat>全屏显示(4:3)</PresentationFormat>
  <Paragraphs>813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华文楷体</vt:lpstr>
      <vt:lpstr>宋体</vt:lpstr>
      <vt:lpstr>Arial</vt:lpstr>
      <vt:lpstr>Symbol</vt:lpstr>
      <vt:lpstr>Times New Roman</vt:lpstr>
      <vt:lpstr>Verdana</vt:lpstr>
      <vt:lpstr>Wingdings</vt:lpstr>
      <vt:lpstr>1_国外精美的的PPT模板及图标之二</vt:lpstr>
      <vt:lpstr>公式</vt:lpstr>
      <vt:lpstr>VISIO</vt:lpstr>
      <vt:lpstr>文档</vt:lpstr>
      <vt:lpstr>第五章  数组和广义表</vt:lpstr>
      <vt:lpstr>本章内容</vt:lpstr>
      <vt:lpstr>5.1 数组和线性表的关系以及数组的运算</vt:lpstr>
      <vt:lpstr>数组与线性表之间的关系</vt:lpstr>
      <vt:lpstr>5.2  数组的顺序存储结构</vt:lpstr>
      <vt:lpstr>二维数组</vt:lpstr>
      <vt:lpstr>三维数组</vt:lpstr>
      <vt:lpstr>d维数组</vt:lpstr>
      <vt:lpstr>C语言中的多维数组表示</vt:lpstr>
      <vt:lpstr>PowerPoint 演示文稿</vt:lpstr>
      <vt:lpstr>PowerPoint 演示文稿</vt:lpstr>
      <vt:lpstr>5.3  矩阵的压缩存储</vt:lpstr>
      <vt:lpstr>5.3.2  三角矩阵</vt:lpstr>
      <vt:lpstr>5.3.3  带状矩阵（对角矩阵）</vt:lpstr>
      <vt:lpstr>2）只存储带状区内的元素。除首行和末行，按每行 L个元素，共(n-2)L+(L+1)个元素。sa[1..(n-1)L+1]</vt:lpstr>
      <vt:lpstr>5.3.4  稀疏矩阵</vt:lpstr>
      <vt:lpstr>5.3.4.1  三元组表</vt:lpstr>
      <vt:lpstr>[算法例] 求转置矩阵</vt:lpstr>
      <vt:lpstr>  算法2 快速转置法  { O(n+t) }</vt:lpstr>
      <vt:lpstr>  </vt:lpstr>
      <vt:lpstr>5.3.4.2  十字（正交）链表</vt:lpstr>
      <vt:lpstr>PowerPoint 演示文稿</vt:lpstr>
      <vt:lpstr>[算法示例]  从终端接收信息建立稀疏矩阵的十字链表</vt:lpstr>
      <vt:lpstr>5.4  广义表（列表）的定义和表示方法</vt:lpstr>
      <vt:lpstr>广义表的表示方法和相关术语</vt:lpstr>
      <vt:lpstr>PowerPoint 演示文稿</vt:lpstr>
      <vt:lpstr>广义表的图形表达方法</vt:lpstr>
      <vt:lpstr>PowerPoint 演示文稿</vt:lpstr>
      <vt:lpstr>5.5  广义表的存储结构</vt:lpstr>
      <vt:lpstr>[示例]</vt:lpstr>
      <vt:lpstr>PowerPoint 演示文稿</vt:lpstr>
      <vt:lpstr>[示例]</vt:lpstr>
      <vt:lpstr>5.6  广义表的递归算法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本章内容</dc:title>
  <dc:creator>xush</dc:creator>
  <cp:lastModifiedBy>sunnylife</cp:lastModifiedBy>
  <cp:revision>310</cp:revision>
  <cp:lastPrinted>2000-02-22T03:30:58Z</cp:lastPrinted>
  <dcterms:created xsi:type="dcterms:W3CDTF">2000-02-21T01:53:45Z</dcterms:created>
  <dcterms:modified xsi:type="dcterms:W3CDTF">2024-04-02T06:26:43Z</dcterms:modified>
</cp:coreProperties>
</file>