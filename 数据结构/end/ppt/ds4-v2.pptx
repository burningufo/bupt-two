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83" r:id="rId6"/>
    <p:sldId id="259" r:id="rId7"/>
    <p:sldId id="284" r:id="rId8"/>
    <p:sldId id="285" r:id="rId9"/>
    <p:sldId id="274" r:id="rId10"/>
    <p:sldId id="275" r:id="rId11"/>
    <p:sldId id="276" r:id="rId12"/>
    <p:sldId id="277" r:id="rId13"/>
    <p:sldId id="278" r:id="rId14"/>
    <p:sldId id="279" r:id="rId15"/>
    <p:sldId id="261" r:id="rId16"/>
    <p:sldId id="280" r:id="rId17"/>
    <p:sldId id="263" r:id="rId18"/>
    <p:sldId id="287" r:id="rId19"/>
    <p:sldId id="264" r:id="rId20"/>
    <p:sldId id="265" r:id="rId21"/>
    <p:sldId id="282" r:id="rId22"/>
    <p:sldId id="286" r:id="rId23"/>
    <p:sldId id="267" r:id="rId24"/>
    <p:sldId id="268" r:id="rId25"/>
    <p:sldId id="271" r:id="rId26"/>
    <p:sldId id="288" r:id="rId27"/>
    <p:sldId id="289" r:id="rId28"/>
    <p:sldId id="290" r:id="rId29"/>
    <p:sldId id="272" r:id="rId30"/>
    <p:sldId id="273" r:id="rId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BUPT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ctrTitle" sz="quarter" hasCustomPrompt="1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  <a:endParaRPr lang="en-US" altLang="ko-KR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CCA2D-BCA6-43D9-A36F-FC4BE49260C2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13C81-0C3B-4018-849B-94CCB27CACD3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79D6C-1109-43A3-AFB2-C6E8A9D9D9F9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F7434-C440-493B-9F00-17FDAD33BE1C}" type="slidenum">
              <a:rPr lang="en-US" altLang="zh-CN"/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4E7AF-448F-48E1-91B1-96B5583E31CC}" type="slidenum">
              <a:rPr lang="en-US" altLang="zh-CN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A3A02-246B-41A1-A1BE-31F79E1A77D7}" type="slidenum">
              <a:rPr lang="en-US" altLang="zh-CN"/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2EC71-0334-4048-896B-2A740F9FB19F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FEEB1-11C1-4AEB-BE11-C5B10DD46ADA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3EB42-925C-438A-88DC-7F25587652FB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2EDA0-4952-440A-A285-66C2209C3BFE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 smtClean="0"/>
              <a:t>Click to edit Master text styles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Second level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Third level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Fourth level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Fifth level</a:t>
            </a:r>
            <a:endParaRPr lang="en-US" altLang="zh-CN" dirty="0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854DEEA7-E76F-4CAD-864A-F6F22757160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 dirty="0" smtClea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file:///\\s1" TargetMode="External"/><Relationship Id="rId3" Type="http://schemas.openxmlformats.org/officeDocument/2006/relationships/hyperlink" Target="file:///\\s2" TargetMode="External"/><Relationship Id="rId2" Type="http://schemas.openxmlformats.org/officeDocument/2006/relationships/hyperlink" Target="file:///\\s1.data%5b0..i" TargetMode="External"/><Relationship Id="rId1" Type="http://schemas.openxmlformats.org/officeDocument/2006/relationships/hyperlink" Target="file:///\\s&#30340;&#31532;i..i+j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第四章 字符串与模式匹配</a:t>
            </a:r>
            <a:endParaRPr lang="zh-CN" altLang="en-US" dirty="0" smtClean="0">
              <a:ea typeface="华文楷体" panose="02010600040101010101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648" y="5877272"/>
            <a:ext cx="6553200" cy="5334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杨震     计算机学院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华文楷体" panose="02010600040101010101" pitchFamily="2" charset="-122"/>
              </a:rPr>
              <a:t>yangzhen@bupt.edu.cn</a:t>
            </a:r>
            <a:endParaRPr lang="zh-CN" altLang="en-US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3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提    纲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grpSp>
        <p:nvGrpSpPr>
          <p:cNvPr id="4101" name="Group 4"/>
          <p:cNvGrpSpPr/>
          <p:nvPr/>
        </p:nvGrpSpPr>
        <p:grpSpPr bwMode="auto">
          <a:xfrm>
            <a:off x="2779713" y="1587500"/>
            <a:ext cx="762000" cy="665163"/>
            <a:chOff x="1110" y="2656"/>
            <a:chExt cx="1549" cy="1351"/>
          </a:xfrm>
        </p:grpSpPr>
        <p:sp>
          <p:nvSpPr>
            <p:cNvPr id="4133" name="AutoShape 5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34" name="AutoShape 6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7175" name="AutoShape 7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4102" name="Group 8"/>
          <p:cNvGrpSpPr/>
          <p:nvPr/>
        </p:nvGrpSpPr>
        <p:grpSpPr bwMode="auto">
          <a:xfrm>
            <a:off x="2779713" y="3227388"/>
            <a:ext cx="762000" cy="665162"/>
            <a:chOff x="3174" y="2656"/>
            <a:chExt cx="1549" cy="1351"/>
          </a:xfrm>
        </p:grpSpPr>
        <p:sp>
          <p:nvSpPr>
            <p:cNvPr id="4130" name="AutoShape 9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31" name="AutoShape 10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7179" name="AutoShape 11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103" name="Line 12"/>
          <p:cNvSpPr>
            <a:spLocks noChangeShapeType="1"/>
          </p:cNvSpPr>
          <p:nvPr/>
        </p:nvSpPr>
        <p:spPr bwMode="auto">
          <a:xfrm flipV="1">
            <a:off x="3389313" y="2189163"/>
            <a:ext cx="2774950" cy="15875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4" name="Text Box 13"/>
          <p:cNvSpPr txBox="1">
            <a:spLocks noChangeArrowheads="1"/>
          </p:cNvSpPr>
          <p:nvPr/>
        </p:nvSpPr>
        <p:spPr bwMode="auto">
          <a:xfrm>
            <a:off x="3643313" y="1644650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串的概念和基本操作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5" name="Text Box 14"/>
          <p:cNvSpPr txBox="1">
            <a:spLocks noChangeArrowheads="1"/>
          </p:cNvSpPr>
          <p:nvPr/>
        </p:nvSpPr>
        <p:spPr bwMode="gray">
          <a:xfrm>
            <a:off x="2984292" y="168592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6" name="Line 15"/>
          <p:cNvSpPr>
            <a:spLocks noChangeShapeType="1"/>
          </p:cNvSpPr>
          <p:nvPr/>
        </p:nvSpPr>
        <p:spPr bwMode="auto">
          <a:xfrm flipV="1">
            <a:off x="3355975" y="3862388"/>
            <a:ext cx="2808288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7" name="Text Box 16"/>
          <p:cNvSpPr txBox="1">
            <a:spLocks noChangeArrowheads="1"/>
          </p:cNvSpPr>
          <p:nvPr/>
        </p:nvSpPr>
        <p:spPr bwMode="auto">
          <a:xfrm>
            <a:off x="3668713" y="3284538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串的模式匹配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8" name="Text Box 17"/>
          <p:cNvSpPr txBox="1">
            <a:spLocks noChangeArrowheads="1"/>
          </p:cNvSpPr>
          <p:nvPr/>
        </p:nvSpPr>
        <p:spPr bwMode="gray">
          <a:xfrm>
            <a:off x="2984292" y="332581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109" name="Group 18"/>
          <p:cNvGrpSpPr/>
          <p:nvPr/>
        </p:nvGrpSpPr>
        <p:grpSpPr bwMode="auto">
          <a:xfrm>
            <a:off x="2779713" y="4276725"/>
            <a:ext cx="762000" cy="665163"/>
            <a:chOff x="1110" y="2656"/>
            <a:chExt cx="1549" cy="1351"/>
          </a:xfrm>
        </p:grpSpPr>
        <p:sp>
          <p:nvSpPr>
            <p:cNvPr id="4127" name="AutoShape 19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28" name="AutoShape 20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7189" name="AutoShape 21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110" name="Line 22"/>
          <p:cNvSpPr>
            <a:spLocks noChangeShapeType="1"/>
          </p:cNvSpPr>
          <p:nvPr/>
        </p:nvSpPr>
        <p:spPr bwMode="auto">
          <a:xfrm>
            <a:off x="3427413" y="4797425"/>
            <a:ext cx="273685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11" name="Text Box 23"/>
          <p:cNvSpPr txBox="1">
            <a:spLocks noChangeArrowheads="1"/>
          </p:cNvSpPr>
          <p:nvPr/>
        </p:nvSpPr>
        <p:spPr bwMode="auto">
          <a:xfrm>
            <a:off x="3630613" y="4352925"/>
            <a:ext cx="1468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KMP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算法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12" name="Text Box 24"/>
          <p:cNvSpPr txBox="1">
            <a:spLocks noChangeArrowheads="1"/>
          </p:cNvSpPr>
          <p:nvPr/>
        </p:nvSpPr>
        <p:spPr bwMode="gray">
          <a:xfrm>
            <a:off x="2984292" y="437515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113" name="Group 25"/>
          <p:cNvGrpSpPr/>
          <p:nvPr/>
        </p:nvGrpSpPr>
        <p:grpSpPr bwMode="auto">
          <a:xfrm>
            <a:off x="2843213" y="5284788"/>
            <a:ext cx="762000" cy="665162"/>
            <a:chOff x="3174" y="2656"/>
            <a:chExt cx="1549" cy="1351"/>
          </a:xfrm>
        </p:grpSpPr>
        <p:sp>
          <p:nvSpPr>
            <p:cNvPr id="4124" name="AutoShape 26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25" name="AutoShape 27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7196" name="AutoShape 28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114" name="Line 29"/>
          <p:cNvSpPr>
            <a:spLocks noChangeShapeType="1"/>
          </p:cNvSpPr>
          <p:nvPr/>
        </p:nvSpPr>
        <p:spPr bwMode="auto">
          <a:xfrm flipV="1">
            <a:off x="3419475" y="5919788"/>
            <a:ext cx="2808288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15" name="Text Box 30"/>
          <p:cNvSpPr txBox="1">
            <a:spLocks noChangeArrowheads="1"/>
          </p:cNvSpPr>
          <p:nvPr/>
        </p:nvSpPr>
        <p:spPr bwMode="auto">
          <a:xfrm>
            <a:off x="3732213" y="5341938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作业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16" name="Text Box 31"/>
          <p:cNvSpPr txBox="1">
            <a:spLocks noChangeArrowheads="1"/>
          </p:cNvSpPr>
          <p:nvPr/>
        </p:nvSpPr>
        <p:spPr bwMode="gray">
          <a:xfrm>
            <a:off x="3047792" y="538321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117" name="Group 32"/>
          <p:cNvGrpSpPr/>
          <p:nvPr/>
        </p:nvGrpSpPr>
        <p:grpSpPr bwMode="auto">
          <a:xfrm>
            <a:off x="2819400" y="2435225"/>
            <a:ext cx="762000" cy="665163"/>
            <a:chOff x="3174" y="2656"/>
            <a:chExt cx="1549" cy="1351"/>
          </a:xfrm>
        </p:grpSpPr>
        <p:sp>
          <p:nvSpPr>
            <p:cNvPr id="4121" name="AutoShape 33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22" name="AutoShape 34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7203" name="AutoShape 35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118" name="Line 36"/>
          <p:cNvSpPr>
            <a:spLocks noChangeShapeType="1"/>
          </p:cNvSpPr>
          <p:nvPr/>
        </p:nvSpPr>
        <p:spPr bwMode="auto">
          <a:xfrm flipV="1">
            <a:off x="3395663" y="3070225"/>
            <a:ext cx="2808287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19" name="Text Box 37"/>
          <p:cNvSpPr txBox="1">
            <a:spLocks noChangeArrowheads="1"/>
          </p:cNvSpPr>
          <p:nvPr/>
        </p:nvSpPr>
        <p:spPr bwMode="auto">
          <a:xfrm>
            <a:off x="3708400" y="251142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串的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存储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20" name="Text Box 38"/>
          <p:cNvSpPr txBox="1">
            <a:spLocks noChangeArrowheads="1"/>
          </p:cNvSpPr>
          <p:nvPr/>
        </p:nvSpPr>
        <p:spPr bwMode="gray">
          <a:xfrm>
            <a:off x="3023979" y="253365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4.1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串的概念和基本操作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95288" y="1125538"/>
            <a:ext cx="8062912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串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字符串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）：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是由零个或多个字符组成的有限序列。    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   记作：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s = ‘a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…a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’        (n0)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串是特殊的线性表，数据元素是单个字符。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串长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串中字符的个数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子串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和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主串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：串中任意个连续的字符组成的子序列称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为该串的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子串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。包含子串的串称为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主串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串相等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：两个串长度相等，且对应位置的字符都相等。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空串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和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空格串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空串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不包含任何字符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表示为；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   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空格串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由一个或多个空格组成，如‘  ’。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212850"/>
            <a:ext cx="8229600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800000"/>
                </a:solidFill>
                <a:ea typeface="华文楷体" panose="02010600040101010101" pitchFamily="2" charset="-122"/>
              </a:rPr>
              <a:t>【</a:t>
            </a:r>
            <a:r>
              <a:rPr lang="zh-CN" altLang="en-US" sz="2800" b="1" dirty="0">
                <a:solidFill>
                  <a:srgbClr val="800000"/>
                </a:solidFill>
                <a:ea typeface="华文楷体" panose="02010600040101010101" pitchFamily="2" charset="-122"/>
              </a:rPr>
              <a:t>顺序串的定义</a:t>
            </a:r>
            <a:r>
              <a:rPr lang="en-US" altLang="zh-CN" sz="2800" b="1" dirty="0">
                <a:solidFill>
                  <a:srgbClr val="800000"/>
                </a:solidFill>
                <a:ea typeface="华文楷体" panose="02010600040101010101" pitchFamily="2" charset="-122"/>
              </a:rPr>
              <a:t>】</a:t>
            </a:r>
            <a:endParaRPr lang="en-US" altLang="zh-CN" sz="2800" b="1" dirty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519908" y="3502243"/>
            <a:ext cx="475252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ypedef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struct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char data[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Maxsize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存放串字符</a:t>
            </a:r>
            <a:endParaRPr lang="en-US" altLang="zh-CN" sz="2400" dirty="0" smtClean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length;\\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存放串长</a:t>
            </a:r>
            <a:endParaRPr lang="en-US" altLang="zh-CN" sz="2400" dirty="0" smtClean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SqString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 \\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顺序串类型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1600" y="2121582"/>
            <a:ext cx="731802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语言：以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\0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结尾的字符数组。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语言中的数组继续有效，还提供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std:string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类。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教材书中默认下标从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开始，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存放串长度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685800" y="1027113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串的基本操作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endParaRPr lang="en-US" altLang="zh-CN" sz="2800" b="1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5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484313"/>
            <a:ext cx="7986713" cy="52578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用串常量赋值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StrAssign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&amp;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str,char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cstr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[]) 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用串变量赋值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StrCopy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&amp;s,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(2)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判等函数    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StrCompare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</a:t>
            </a:r>
            <a:r>
              <a:rPr lang="en-US" altLang="zh-CN" sz="2400" dirty="0">
                <a:solidFill>
                  <a:srgbClr val="163794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endParaRPr lang="en-US" altLang="zh-CN" sz="2400" dirty="0" smtClean="0">
              <a:solidFill>
                <a:srgbClr val="163794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163794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163794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    (</a:t>
            </a:r>
            <a:r>
              <a:rPr lang="zh-CN" altLang="en-US" sz="2400" dirty="0">
                <a:solidFill>
                  <a:srgbClr val="163794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词典次序</a:t>
            </a:r>
            <a:r>
              <a:rPr lang="en-US" altLang="zh-CN" sz="2400" dirty="0">
                <a:solidFill>
                  <a:srgbClr val="163794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,&gt;=&lt;0) 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(3)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求长函数    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StrLength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(4)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连接函数    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Concat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(5)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求子串函数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SubStr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j)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(6)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定位函数  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Index(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t,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(7)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置换函数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Replace(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&amp;s,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sub,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(8)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插入操作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InsStr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s1,int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s2)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(9)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删除操作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StrDelete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s,int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j)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**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线性表的操作通常以“数据元素”为操作对象；串的操作主要以“串的整体”为操作对象。</a:t>
            </a:r>
            <a:endParaRPr lang="zh-CN" altLang="en-US" sz="2400" b="1" dirty="0" smtClean="0">
              <a:solidFill>
                <a:schemeClr val="accent2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1211965"/>
            <a:ext cx="4267200" cy="2649083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用串常量赋值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void </a:t>
            </a:r>
            <a:r>
              <a:rPr lang="en-US" altLang="zh-CN" sz="1800" dirty="0" err="1">
                <a:ea typeface="华文楷体" panose="02010600040101010101" pitchFamily="2" charset="-122"/>
                <a:sym typeface="Symbol" panose="05050102010706020507" pitchFamily="18" charset="2"/>
              </a:rPr>
              <a:t>StrAssign</a:t>
            </a: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&amp;</a:t>
            </a:r>
            <a:r>
              <a:rPr lang="en-US" altLang="zh-CN" sz="1800" dirty="0" err="1">
                <a:ea typeface="华文楷体" panose="02010600040101010101" pitchFamily="2" charset="-122"/>
                <a:sym typeface="Symbol" panose="05050102010706020507" pitchFamily="18" charset="2"/>
              </a:rPr>
              <a:t>str,char</a:t>
            </a: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err="1">
                <a:ea typeface="华文楷体" panose="02010600040101010101" pitchFamily="2" charset="-122"/>
                <a:sym typeface="Symbol" panose="05050102010706020507" pitchFamily="18" charset="2"/>
              </a:rPr>
              <a:t>cstr</a:t>
            </a: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[]) 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for(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=0;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cstr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!= ‘\0’;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cstr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str.length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1800" dirty="0" smtClean="0"/>
              <a:t> </a:t>
            </a:r>
            <a:endParaRPr lang="zh-CN" altLang="en-US" sz="1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644008" y="1211965"/>
            <a:ext cx="4267200" cy="264908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用串</a:t>
            </a:r>
            <a:r>
              <a:rPr lang="zh-CN" altLang="en-US" sz="1800" dirty="0">
                <a:ea typeface="华文楷体" panose="02010600040101010101" pitchFamily="2" charset="-122"/>
                <a:sym typeface="Symbol" panose="05050102010706020507" pitchFamily="18" charset="2"/>
              </a:rPr>
              <a:t>变</a:t>
            </a: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量赋值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void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StrCopy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&amp;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 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for(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=0;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t.length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s.data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s.data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t.length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</a:t>
            </a:r>
            <a:endParaRPr lang="zh-CN" altLang="en-US" sz="1800" dirty="0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369119" y="3933056"/>
            <a:ext cx="2721124" cy="273630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求长函数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void 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StrLength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s) 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return s. length;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1800" dirty="0" smtClean="0"/>
              <a:t> </a:t>
            </a:r>
            <a:endParaRPr lang="zh-CN" altLang="en-US" sz="1800" dirty="0"/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3343920" y="3933056"/>
            <a:ext cx="4396432" cy="288918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连接函数</a:t>
            </a:r>
            <a:endParaRPr lang="en-US" altLang="zh-CN" sz="1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Concat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t)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{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str.length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t.length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for (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=0;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s.data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];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for (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=0;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t.length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s.length+i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t.data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];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  <a:sym typeface="Symbol" panose="05050102010706020507" pitchFamily="18" charset="2"/>
              </a:rPr>
              <a:t>    return </a:t>
            </a:r>
            <a:r>
              <a:rPr lang="en-US" altLang="zh-CN" sz="1400" dirty="0" err="1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1600" dirty="0" smtClean="0"/>
              <a:t> 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07504" y="1178438"/>
            <a:ext cx="4392488" cy="423325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求子串函数 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从第</a:t>
            </a:r>
            <a:r>
              <a:rPr lang="en-US" altLang="zh-CN" sz="1800" dirty="0" err="1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个字符开始连续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j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个字符 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SubStr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s,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j)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k;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str. length = 0;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if(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&lt;=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0 ||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|| j&lt;0 || i+j-1&gt;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)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return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for(k=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i-1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k&lt;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i+j-1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\\s</a:t>
            </a:r>
            <a:r>
              <a:rPr lang="zh-CN" altLang="en-US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的第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..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i+j</a:t>
            </a:r>
            <a:r>
              <a:rPr lang="zh-CN" altLang="en-US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个复制给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[k-i+1] =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s.data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[k];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j;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return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1600" dirty="0" smtClean="0"/>
              <a:t> </a:t>
            </a:r>
            <a:endParaRPr lang="zh-CN" altLang="en-US" sz="1600" dirty="0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4532913" y="1189277"/>
            <a:ext cx="4392488" cy="483201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插入操作 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s2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插入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s1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sz="1800" dirty="0" err="1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(1≤i ≤ n)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个字符前</a:t>
            </a:r>
            <a:endParaRPr lang="en-US" altLang="zh-CN" sz="1800" dirty="0" smtClean="0">
              <a:solidFill>
                <a:srgbClr val="C000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InsStr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s1,int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s2)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SqString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j;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str. length = 0;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if(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&lt;=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0 ||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&gt;s1.length+1 )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return s1;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for(j=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j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&lt;i-1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j++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2" action="ppaction://hlinkfile"/>
              </a:rPr>
              <a:t>\\</a:t>
            </a: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  <a:hlinkClick r:id="rId2" action="ppaction://hlinkfile"/>
              </a:rPr>
              <a:t>s1.data[0..i</a:t>
            </a: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-2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复制给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[j] = s1.data[j];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for(j=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j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s2.length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j++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3" action="ppaction://hlinkfile"/>
              </a:rPr>
              <a:t>\\s2</a:t>
            </a:r>
            <a:r>
              <a:rPr lang="zh-CN" altLang="en-US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全部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-&gt;str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i+j-1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s2.data[j];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for(j=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i-1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j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s1.length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++) 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  <a:hlinkClick r:id="rId4" action="ppaction://hlinkfile"/>
              </a:rPr>
              <a:t>\\s1</a:t>
            </a:r>
            <a:r>
              <a:rPr lang="zh-CN" altLang="en-US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剩余部分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-&gt;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1600" dirty="0" err="1">
                <a:ea typeface="华文楷体" panose="02010600040101010101" pitchFamily="2" charset="-122"/>
                <a:sym typeface="Symbol" panose="05050102010706020507" pitchFamily="18" charset="2"/>
              </a:rPr>
              <a:t>str.data</a:t>
            </a:r>
            <a:r>
              <a:rPr lang="en-US" altLang="zh-CN" sz="1600" dirty="0"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600" b="1" dirty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s2.length +j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 = s1.data[j];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str.length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s1.length+s2.length;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return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str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1600" dirty="0" smtClean="0"/>
              <a:t> 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47800"/>
            <a:ext cx="7848600" cy="48006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设</a:t>
            </a:r>
            <a:r>
              <a:rPr lang="en-US" altLang="zh-CN" sz="2400" dirty="0" smtClean="0">
                <a:ea typeface="华文楷体" panose="02010600040101010101" pitchFamily="2" charset="-122"/>
              </a:rPr>
              <a:t>s=‘I am a student.’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t=‘OK!’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p=‘student’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q=‘nurse’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r=‘good 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(1) l=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Concat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(s, t 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l=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‘I am a student. OK!’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(2)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Replace(s, p , q);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s=‘I am a nurse.’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(3) l =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InsStr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(s, 8, r)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l =‘I am a good nurse.’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8198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610600" y="6248400"/>
            <a:ext cx="3048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2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1066800" y="1981200"/>
            <a:ext cx="5334000" cy="1905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800" b="0" dirty="0" smtClean="0">
                <a:ea typeface="华文楷体" panose="02010600040101010101" pitchFamily="2" charset="-122"/>
              </a:rPr>
              <a:t>4.2 </a:t>
            </a:r>
            <a:r>
              <a:rPr lang="zh-CN" altLang="zh-CN" sz="2800" b="0" dirty="0" smtClean="0">
                <a:ea typeface="华文楷体" panose="02010600040101010101" pitchFamily="2" charset="-122"/>
              </a:rPr>
              <a:t>串的存储结构</a:t>
            </a:r>
            <a:endParaRPr lang="zh-CN" altLang="en-US" sz="2800" b="0" dirty="0" smtClean="0">
              <a:ea typeface="华文楷体" panose="02010600040101010101" pitchFamily="2" charset="-122"/>
            </a:endParaRP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131888"/>
            <a:ext cx="77724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4.2.1  </a:t>
            </a:r>
            <a:r>
              <a:rPr lang="zh-CN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静态存储结构</a:t>
            </a:r>
            <a:endParaRPr lang="zh-CN" altLang="zh-CN" sz="2400" b="1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1）非紧缩格式</a:t>
            </a:r>
            <a:r>
              <a:rPr lang="zh-CN" altLang="zh-CN" sz="2800" dirty="0" smtClean="0">
                <a:ea typeface="华文楷体" panose="02010600040101010101" pitchFamily="2" charset="-122"/>
              </a:rPr>
              <a:t>   </a:t>
            </a:r>
            <a:r>
              <a:rPr lang="zh-CN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串空间+串长</a:t>
            </a:r>
            <a:endParaRPr lang="zh-CN" altLang="zh-CN" sz="2400" dirty="0" smtClean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b="1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#define m=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18{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用户定义</a:t>
            </a:r>
            <a:r>
              <a:rPr lang="zh-CN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串的最大长度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          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struct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char data[</a:t>
            </a:r>
            <a:r>
              <a:rPr lang="en-US" altLang="zh-CN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..</a:t>
            </a:r>
            <a:r>
              <a:rPr lang="en-US" altLang="zh-CN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];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length;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};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</a:t>
            </a:r>
            <a:r>
              <a:rPr lang="en-US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类型定义不用</a:t>
            </a:r>
            <a:r>
              <a:rPr lang="en-US" altLang="zh-CN" sz="2400" dirty="0" err="1" smtClean="0">
                <a:solidFill>
                  <a:srgbClr val="FF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strlen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时，应约定</a:t>
            </a:r>
            <a:endParaRPr lang="zh-CN" altLang="en-US" sz="2400" dirty="0" smtClean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标志串结尾的特殊字符</a:t>
            </a:r>
            <a:r>
              <a:rPr lang="en-US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en-US" altLang="zh-CN" sz="24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特点：存储器采用字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(16bit)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编址结构时，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空间浪费较多。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6858000" y="2362200"/>
            <a:ext cx="76200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4" name="Rectangle 6"/>
          <p:cNvSpPr>
            <a:spLocks noChangeArrowheads="1"/>
          </p:cNvSpPr>
          <p:nvPr/>
        </p:nvSpPr>
        <p:spPr bwMode="auto">
          <a:xfrm>
            <a:off x="6858000" y="2286000"/>
            <a:ext cx="1524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5" name="Line 7"/>
          <p:cNvSpPr>
            <a:spLocks noChangeShapeType="1"/>
          </p:cNvSpPr>
          <p:nvPr/>
        </p:nvSpPr>
        <p:spPr bwMode="auto">
          <a:xfrm>
            <a:off x="7239000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6" name="Line 8"/>
          <p:cNvSpPr>
            <a:spLocks noChangeShapeType="1"/>
          </p:cNvSpPr>
          <p:nvPr/>
        </p:nvSpPr>
        <p:spPr bwMode="auto">
          <a:xfrm>
            <a:off x="7620000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>
            <a:off x="8001000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>
            <a:off x="6858000" y="2743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9" name="Line 11"/>
          <p:cNvSpPr>
            <a:spLocks noChangeShapeType="1"/>
          </p:cNvSpPr>
          <p:nvPr/>
        </p:nvSpPr>
        <p:spPr bwMode="auto">
          <a:xfrm>
            <a:off x="6858000" y="3200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0" name="Line 12"/>
          <p:cNvSpPr>
            <a:spLocks noChangeShapeType="1"/>
          </p:cNvSpPr>
          <p:nvPr/>
        </p:nvSpPr>
        <p:spPr bwMode="auto">
          <a:xfrm>
            <a:off x="6858000" y="3657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1" name="Line 13"/>
          <p:cNvSpPr>
            <a:spLocks noChangeShapeType="1"/>
          </p:cNvSpPr>
          <p:nvPr/>
        </p:nvSpPr>
        <p:spPr bwMode="auto">
          <a:xfrm>
            <a:off x="6858000" y="4114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2" name="Line 14"/>
          <p:cNvSpPr>
            <a:spLocks noChangeShapeType="1"/>
          </p:cNvSpPr>
          <p:nvPr/>
        </p:nvSpPr>
        <p:spPr bwMode="auto">
          <a:xfrm>
            <a:off x="6858000" y="4572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3" name="Line 15"/>
          <p:cNvSpPr>
            <a:spLocks noChangeShapeType="1"/>
          </p:cNvSpPr>
          <p:nvPr/>
        </p:nvSpPr>
        <p:spPr bwMode="auto">
          <a:xfrm>
            <a:off x="6858000" y="5105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4" name="Line 16"/>
          <p:cNvSpPr>
            <a:spLocks noChangeShapeType="1"/>
          </p:cNvSpPr>
          <p:nvPr/>
        </p:nvSpPr>
        <p:spPr bwMode="auto">
          <a:xfrm>
            <a:off x="6858000" y="5486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5" name="Text Box 17"/>
          <p:cNvSpPr txBox="1">
            <a:spLocks noChangeArrowheads="1"/>
          </p:cNvSpPr>
          <p:nvPr/>
        </p:nvSpPr>
        <p:spPr bwMode="auto">
          <a:xfrm>
            <a:off x="6553200" y="2286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6" name="Text Box 18"/>
          <p:cNvSpPr txBox="1">
            <a:spLocks noChangeArrowheads="1"/>
          </p:cNvSpPr>
          <p:nvPr/>
        </p:nvSpPr>
        <p:spPr bwMode="auto">
          <a:xfrm>
            <a:off x="6477000" y="5562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7" name="AutoShape 19">
            <a:hlinkClick r:id="" action="ppaction://hlinkshowjump?jump=lastslideviewed"/>
          </p:cNvPr>
          <p:cNvSpPr>
            <a:spLocks noChangeArrowheads="1"/>
          </p:cNvSpPr>
          <p:nvPr/>
        </p:nvSpPr>
        <p:spPr bwMode="auto">
          <a:xfrm>
            <a:off x="8534400" y="6324600"/>
            <a:ext cx="304800" cy="228600"/>
          </a:xfrm>
          <a:prstGeom prst="lef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755650" y="1557338"/>
            <a:ext cx="7010400" cy="20875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125538"/>
            <a:ext cx="8458200" cy="300037"/>
          </a:xfrm>
        </p:spPr>
        <p:txBody>
          <a:bodyPr/>
          <a:lstStyle/>
          <a:p>
            <a:pPr algn="l" eaLnBrk="1" hangingPunct="1"/>
            <a:r>
              <a:rPr lang="zh-CN" altLang="zh-CN" sz="2400" b="0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2） 紧缩格式</a:t>
            </a:r>
            <a:r>
              <a:rPr lang="zh-CN" altLang="zh-CN" sz="2400" b="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</a:t>
            </a:r>
            <a:r>
              <a:rPr lang="zh-CN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串空间+串长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02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132762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#define m=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12{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用户定义</a:t>
            </a:r>
            <a:r>
              <a:rPr lang="zh-CN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串的最大长度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               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struct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node{   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          char data[</a:t>
            </a:r>
            <a:r>
              <a:rPr lang="en-US" altLang="zh-CN" sz="28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1</a:t>
            </a:r>
            <a:r>
              <a:rPr lang="en-US" altLang="zh-CN" sz="2800" dirty="0" smtClean="0">
                <a:ea typeface="华文楷体" panose="02010600040101010101" pitchFamily="2" charset="-122"/>
              </a:rPr>
              <a:t>..</a:t>
            </a:r>
            <a:r>
              <a:rPr lang="en-US" altLang="zh-CN" sz="28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m</a:t>
            </a:r>
            <a:r>
              <a:rPr lang="en-US" altLang="zh-CN" sz="2800" dirty="0" smtClean="0">
                <a:ea typeface="华文楷体" panose="02010600040101010101" pitchFamily="2" charset="-122"/>
              </a:rPr>
              <a:t>];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           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length; 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      };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特点：存储器采用字节编址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 结构时，节省空间且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 操作方便，否则分离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 同一存储单元字符需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时间开销。</a:t>
            </a:r>
            <a:endParaRPr lang="zh-CN" altLang="en-US" sz="3600" dirty="0" smtClean="0">
              <a:ea typeface="华文楷体" panose="02010600040101010101" pitchFamily="2" charset="-122"/>
            </a:endParaRPr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5791200" y="3810000"/>
            <a:ext cx="1828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       B  O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  K  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8" name="Rectangle 6"/>
          <p:cNvSpPr>
            <a:spLocks noChangeArrowheads="1"/>
          </p:cNvSpPr>
          <p:nvPr/>
        </p:nvSpPr>
        <p:spPr bwMode="auto">
          <a:xfrm>
            <a:off x="5715000" y="3810000"/>
            <a:ext cx="16002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9" name="Line 7"/>
          <p:cNvSpPr>
            <a:spLocks noChangeShapeType="1"/>
          </p:cNvSpPr>
          <p:nvPr/>
        </p:nvSpPr>
        <p:spPr bwMode="auto">
          <a:xfrm>
            <a:off x="5715000" y="4343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0" name="Line 8"/>
          <p:cNvSpPr>
            <a:spLocks noChangeShapeType="1"/>
          </p:cNvSpPr>
          <p:nvPr/>
        </p:nvSpPr>
        <p:spPr bwMode="auto">
          <a:xfrm>
            <a:off x="5715000" y="4876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1" name="Line 9"/>
          <p:cNvSpPr>
            <a:spLocks noChangeShapeType="1"/>
          </p:cNvSpPr>
          <p:nvPr/>
        </p:nvSpPr>
        <p:spPr bwMode="auto">
          <a:xfrm>
            <a:off x="6172200" y="38100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2" name="Line 10"/>
          <p:cNvSpPr>
            <a:spLocks noChangeShapeType="1"/>
          </p:cNvSpPr>
          <p:nvPr/>
        </p:nvSpPr>
        <p:spPr bwMode="auto">
          <a:xfrm>
            <a:off x="6553200" y="38100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3" name="Line 11"/>
          <p:cNvSpPr>
            <a:spLocks noChangeShapeType="1"/>
          </p:cNvSpPr>
          <p:nvPr/>
        </p:nvSpPr>
        <p:spPr bwMode="auto">
          <a:xfrm>
            <a:off x="6934200" y="38100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4" name="Text Box 12"/>
          <p:cNvSpPr txBox="1">
            <a:spLocks noChangeArrowheads="1"/>
          </p:cNvSpPr>
          <p:nvPr/>
        </p:nvSpPr>
        <p:spPr bwMode="auto">
          <a:xfrm>
            <a:off x="5334000" y="3810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5" name="Line 13"/>
          <p:cNvSpPr>
            <a:spLocks noChangeShapeType="1"/>
          </p:cNvSpPr>
          <p:nvPr/>
        </p:nvSpPr>
        <p:spPr bwMode="auto">
          <a:xfrm>
            <a:off x="5715000" y="5638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6" name="Text Box 14"/>
          <p:cNvSpPr txBox="1">
            <a:spLocks noChangeArrowheads="1"/>
          </p:cNvSpPr>
          <p:nvPr/>
        </p:nvSpPr>
        <p:spPr bwMode="auto">
          <a:xfrm>
            <a:off x="5334000" y="5638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4.2.2  </a:t>
            </a:r>
            <a:r>
              <a:rPr lang="zh-CN" altLang="zh-CN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动态存储结构</a:t>
            </a:r>
            <a:endParaRPr lang="zh-CN" altLang="en-US" sz="2400" b="0" dirty="0" smtClean="0">
              <a:ea typeface="华文楷体" panose="02010600040101010101" pitchFamily="2" charset="-122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）块链存储方式</a:t>
            </a:r>
            <a:r>
              <a:rPr lang="zh-CN" altLang="en-US" sz="28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字符串块链表的头指针</a:t>
            </a:r>
            <a:r>
              <a:rPr lang="en-US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串长</a:t>
            </a:r>
            <a:endParaRPr lang="zh-CN" altLang="en-US" sz="2400" dirty="0" smtClean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971550" y="1844675"/>
            <a:ext cx="6781800" cy="1865126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#define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chunksize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kumimoji="1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4{</a:t>
            </a:r>
            <a:r>
              <a:rPr kumimoji="1"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用户定义的结点大小}；</a:t>
            </a:r>
            <a:endParaRPr kumimoji="1" lang="zh-CN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chunk{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char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data[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..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chunksize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];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chunk * next;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} 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1" name="Text Box 5"/>
          <p:cNvSpPr txBox="1">
            <a:spLocks noChangeArrowheads="1"/>
          </p:cNvSpPr>
          <p:nvPr/>
        </p:nvSpPr>
        <p:spPr bwMode="auto">
          <a:xfrm>
            <a:off x="1371600" y="4800600"/>
            <a:ext cx="1676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      B O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2" name="Text Box 6"/>
          <p:cNvSpPr txBox="1">
            <a:spLocks noChangeArrowheads="1"/>
          </p:cNvSpPr>
          <p:nvPr/>
        </p:nvSpPr>
        <p:spPr bwMode="auto">
          <a:xfrm>
            <a:off x="3352800" y="4800600"/>
            <a:ext cx="1752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 K  #  #  ^        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3" name="Line 7"/>
          <p:cNvSpPr>
            <a:spLocks noChangeShapeType="1"/>
          </p:cNvSpPr>
          <p:nvPr/>
        </p:nvSpPr>
        <p:spPr bwMode="auto">
          <a:xfrm>
            <a:off x="27432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4" name="Line 8"/>
          <p:cNvSpPr>
            <a:spLocks noChangeShapeType="1"/>
          </p:cNvSpPr>
          <p:nvPr/>
        </p:nvSpPr>
        <p:spPr bwMode="auto">
          <a:xfrm>
            <a:off x="2895600" y="5029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5" name="Line 9"/>
          <p:cNvSpPr>
            <a:spLocks noChangeShapeType="1"/>
          </p:cNvSpPr>
          <p:nvPr/>
        </p:nvSpPr>
        <p:spPr bwMode="auto">
          <a:xfrm>
            <a:off x="46482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6" name="Line 10"/>
          <p:cNvSpPr>
            <a:spLocks noChangeShapeType="1"/>
          </p:cNvSpPr>
          <p:nvPr/>
        </p:nvSpPr>
        <p:spPr bwMode="auto">
          <a:xfrm>
            <a:off x="16764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7" name="Line 11"/>
          <p:cNvSpPr>
            <a:spLocks noChangeShapeType="1"/>
          </p:cNvSpPr>
          <p:nvPr/>
        </p:nvSpPr>
        <p:spPr bwMode="auto">
          <a:xfrm>
            <a:off x="19812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8" name="Line 12"/>
          <p:cNvSpPr>
            <a:spLocks noChangeShapeType="1"/>
          </p:cNvSpPr>
          <p:nvPr/>
        </p:nvSpPr>
        <p:spPr bwMode="auto">
          <a:xfrm>
            <a:off x="23622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79" name="Line 13"/>
          <p:cNvSpPr>
            <a:spLocks noChangeShapeType="1"/>
          </p:cNvSpPr>
          <p:nvPr/>
        </p:nvSpPr>
        <p:spPr bwMode="auto">
          <a:xfrm>
            <a:off x="43434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0" name="Line 14"/>
          <p:cNvSpPr>
            <a:spLocks noChangeShapeType="1"/>
          </p:cNvSpPr>
          <p:nvPr/>
        </p:nvSpPr>
        <p:spPr bwMode="auto">
          <a:xfrm>
            <a:off x="40386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1" name="Line 15"/>
          <p:cNvSpPr>
            <a:spLocks noChangeShapeType="1"/>
          </p:cNvSpPr>
          <p:nvPr/>
        </p:nvSpPr>
        <p:spPr bwMode="auto">
          <a:xfrm>
            <a:off x="36576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2" name="Text Box 16"/>
          <p:cNvSpPr txBox="1">
            <a:spLocks noChangeArrowheads="1"/>
          </p:cNvSpPr>
          <p:nvPr/>
        </p:nvSpPr>
        <p:spPr bwMode="auto">
          <a:xfrm>
            <a:off x="838200" y="5410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3" name="Line 17"/>
          <p:cNvSpPr>
            <a:spLocks noChangeShapeType="1"/>
          </p:cNvSpPr>
          <p:nvPr/>
        </p:nvSpPr>
        <p:spPr bwMode="auto">
          <a:xfrm>
            <a:off x="1143000" y="502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4" name="Line 18"/>
          <p:cNvSpPr>
            <a:spLocks noChangeShapeType="1"/>
          </p:cNvSpPr>
          <p:nvPr/>
        </p:nvSpPr>
        <p:spPr bwMode="auto">
          <a:xfrm>
            <a:off x="1143000" y="502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5" name="Text Box 19"/>
          <p:cNvSpPr txBox="1">
            <a:spLocks noChangeArrowheads="1"/>
          </p:cNvSpPr>
          <p:nvPr/>
        </p:nvSpPr>
        <p:spPr bwMode="auto">
          <a:xfrm>
            <a:off x="2133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6" name="Line 20"/>
          <p:cNvSpPr>
            <a:spLocks noChangeShapeType="1"/>
          </p:cNvSpPr>
          <p:nvPr/>
        </p:nvSpPr>
        <p:spPr bwMode="auto">
          <a:xfrm>
            <a:off x="2590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7" name="Line 21"/>
          <p:cNvSpPr>
            <a:spLocks noChangeShapeType="1"/>
          </p:cNvSpPr>
          <p:nvPr/>
        </p:nvSpPr>
        <p:spPr bwMode="auto">
          <a:xfrm>
            <a:off x="2819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8" name="Text Box 22"/>
          <p:cNvSpPr txBox="1">
            <a:spLocks noChangeArrowheads="1"/>
          </p:cNvSpPr>
          <p:nvPr/>
        </p:nvSpPr>
        <p:spPr bwMode="auto">
          <a:xfrm>
            <a:off x="3276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89" name="Line 23"/>
          <p:cNvSpPr>
            <a:spLocks noChangeShapeType="1"/>
          </p:cNvSpPr>
          <p:nvPr/>
        </p:nvSpPr>
        <p:spPr bwMode="auto">
          <a:xfrm>
            <a:off x="3733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0" name="Line 24"/>
          <p:cNvSpPr>
            <a:spLocks noChangeShapeType="1"/>
          </p:cNvSpPr>
          <p:nvPr/>
        </p:nvSpPr>
        <p:spPr bwMode="auto">
          <a:xfrm>
            <a:off x="3962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1" name="Text Box 25"/>
          <p:cNvSpPr txBox="1">
            <a:spLocks noChangeArrowheads="1"/>
          </p:cNvSpPr>
          <p:nvPr/>
        </p:nvSpPr>
        <p:spPr bwMode="auto">
          <a:xfrm>
            <a:off x="4419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2" name="Line 26"/>
          <p:cNvSpPr>
            <a:spLocks noChangeShapeType="1"/>
          </p:cNvSpPr>
          <p:nvPr/>
        </p:nvSpPr>
        <p:spPr bwMode="auto">
          <a:xfrm>
            <a:off x="4876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3" name="Line 27"/>
          <p:cNvSpPr>
            <a:spLocks noChangeShapeType="1"/>
          </p:cNvSpPr>
          <p:nvPr/>
        </p:nvSpPr>
        <p:spPr bwMode="auto">
          <a:xfrm>
            <a:off x="5105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4" name="Text Box 28"/>
          <p:cNvSpPr txBox="1">
            <a:spLocks noChangeArrowheads="1"/>
          </p:cNvSpPr>
          <p:nvPr/>
        </p:nvSpPr>
        <p:spPr bwMode="auto">
          <a:xfrm>
            <a:off x="5562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5" name="Line 29"/>
          <p:cNvSpPr>
            <a:spLocks noChangeShapeType="1"/>
          </p:cNvSpPr>
          <p:nvPr/>
        </p:nvSpPr>
        <p:spPr bwMode="auto">
          <a:xfrm>
            <a:off x="6019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6" name="Line 30"/>
          <p:cNvSpPr>
            <a:spLocks noChangeShapeType="1"/>
          </p:cNvSpPr>
          <p:nvPr/>
        </p:nvSpPr>
        <p:spPr bwMode="auto">
          <a:xfrm>
            <a:off x="6248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7" name="Text Box 31"/>
          <p:cNvSpPr txBox="1">
            <a:spLocks noChangeArrowheads="1"/>
          </p:cNvSpPr>
          <p:nvPr/>
        </p:nvSpPr>
        <p:spPr bwMode="auto">
          <a:xfrm>
            <a:off x="6705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8" name="Line 32"/>
          <p:cNvSpPr>
            <a:spLocks noChangeShapeType="1"/>
          </p:cNvSpPr>
          <p:nvPr/>
        </p:nvSpPr>
        <p:spPr bwMode="auto">
          <a:xfrm>
            <a:off x="7162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99" name="Line 33"/>
          <p:cNvSpPr>
            <a:spLocks noChangeShapeType="1"/>
          </p:cNvSpPr>
          <p:nvPr/>
        </p:nvSpPr>
        <p:spPr bwMode="auto">
          <a:xfrm>
            <a:off x="7391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300" name="Text Box 34"/>
          <p:cNvSpPr txBox="1">
            <a:spLocks noChangeArrowheads="1"/>
          </p:cNvSpPr>
          <p:nvPr/>
        </p:nvSpPr>
        <p:spPr bwMode="auto">
          <a:xfrm>
            <a:off x="7848600" y="55626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  ^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301" name="Line 35"/>
          <p:cNvSpPr>
            <a:spLocks noChangeShapeType="1"/>
          </p:cNvSpPr>
          <p:nvPr/>
        </p:nvSpPr>
        <p:spPr bwMode="auto">
          <a:xfrm>
            <a:off x="8305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302" name="Text Box 36"/>
          <p:cNvSpPr txBox="1">
            <a:spLocks noChangeArrowheads="1"/>
          </p:cNvSpPr>
          <p:nvPr/>
        </p:nvSpPr>
        <p:spPr bwMode="auto">
          <a:xfrm>
            <a:off x="1600200" y="6172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303" name="Line 37"/>
          <p:cNvSpPr>
            <a:spLocks noChangeShapeType="1"/>
          </p:cNvSpPr>
          <p:nvPr/>
        </p:nvSpPr>
        <p:spPr bwMode="auto">
          <a:xfrm>
            <a:off x="1905000" y="5791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304" name="Line 38"/>
          <p:cNvSpPr>
            <a:spLocks noChangeShapeType="1"/>
          </p:cNvSpPr>
          <p:nvPr/>
        </p:nvSpPr>
        <p:spPr bwMode="auto">
          <a:xfrm>
            <a:off x="1905000" y="579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35" name="AutoShape 39"/>
          <p:cNvSpPr>
            <a:spLocks noChangeArrowheads="1"/>
          </p:cNvSpPr>
          <p:nvPr/>
        </p:nvSpPr>
        <p:spPr bwMode="auto">
          <a:xfrm>
            <a:off x="5638800" y="3124200"/>
            <a:ext cx="2819400" cy="1905000"/>
          </a:xfrm>
          <a:prstGeom prst="cloudCallout">
            <a:avLst>
              <a:gd name="adj1" fmla="val -55407"/>
              <a:gd name="adj2" fmla="val 6241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块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en-US" altLang="zh-CN" sz="2400" b="1" dirty="0" err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chunksize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kumimoji="1" lang="en-US" altLang="zh-CN" sz="2400" b="1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大小的影响</a:t>
            </a:r>
            <a:endParaRPr kumimoji="1" lang="zh-CN" altLang="en-US" sz="2400" b="1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3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25538"/>
            <a:ext cx="8458200" cy="300037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2</a:t>
            </a:r>
            <a:r>
              <a:rPr lang="zh-CN" altLang="en-US" sz="2400" b="0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）堆结构存储方式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696200" cy="46116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系统分配一个大容量连续存储空间作为串值的可利用空间。每个串使用时动态申请一组地址连续的存储单元。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3352800" y="2819400"/>
            <a:ext cx="4648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5" name="Line 5"/>
          <p:cNvSpPr>
            <a:spLocks noChangeShapeType="1"/>
          </p:cNvSpPr>
          <p:nvPr/>
        </p:nvSpPr>
        <p:spPr bwMode="auto">
          <a:xfrm>
            <a:off x="3352800" y="4495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6" name="Line 6"/>
          <p:cNvSpPr>
            <a:spLocks noChangeShapeType="1"/>
          </p:cNvSpPr>
          <p:nvPr/>
        </p:nvSpPr>
        <p:spPr bwMode="auto">
          <a:xfrm flipV="1">
            <a:off x="46482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7" name="Line 7"/>
          <p:cNvSpPr>
            <a:spLocks noChangeShapeType="1"/>
          </p:cNvSpPr>
          <p:nvPr/>
        </p:nvSpPr>
        <p:spPr bwMode="auto">
          <a:xfrm>
            <a:off x="4648200" y="4114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 flipV="1">
            <a:off x="3352800" y="4495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9" name="Line 9"/>
          <p:cNvSpPr>
            <a:spLocks noChangeShapeType="1"/>
          </p:cNvSpPr>
          <p:nvPr/>
        </p:nvSpPr>
        <p:spPr bwMode="auto">
          <a:xfrm flipV="1">
            <a:off x="3352800" y="4114800"/>
            <a:ext cx="2362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 flipV="1">
            <a:off x="4114800" y="4114800"/>
            <a:ext cx="2438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1" name="Line 11"/>
          <p:cNvSpPr>
            <a:spLocks noChangeShapeType="1"/>
          </p:cNvSpPr>
          <p:nvPr/>
        </p:nvSpPr>
        <p:spPr bwMode="auto">
          <a:xfrm flipV="1">
            <a:off x="5029200" y="4114800"/>
            <a:ext cx="2286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2" name="Line 12"/>
          <p:cNvSpPr>
            <a:spLocks noChangeShapeType="1"/>
          </p:cNvSpPr>
          <p:nvPr/>
        </p:nvSpPr>
        <p:spPr bwMode="auto">
          <a:xfrm flipV="1">
            <a:off x="5791200" y="4191000"/>
            <a:ext cx="2209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3" name="Line 13"/>
          <p:cNvSpPr>
            <a:spLocks noChangeShapeType="1"/>
          </p:cNvSpPr>
          <p:nvPr/>
        </p:nvSpPr>
        <p:spPr bwMode="auto">
          <a:xfrm flipV="1">
            <a:off x="6629400" y="4724400"/>
            <a:ext cx="1371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4" name="Line 14"/>
          <p:cNvSpPr>
            <a:spLocks noChangeShapeType="1"/>
          </p:cNvSpPr>
          <p:nvPr/>
        </p:nvSpPr>
        <p:spPr bwMode="auto">
          <a:xfrm flipV="1">
            <a:off x="7543800" y="52578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5" name="Text Box 15"/>
          <p:cNvSpPr txBox="1">
            <a:spLocks noChangeArrowheads="1"/>
          </p:cNvSpPr>
          <p:nvPr/>
        </p:nvSpPr>
        <p:spPr bwMode="auto">
          <a:xfrm>
            <a:off x="5181600" y="22860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Store(1:maxsize)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6" name="Line 16"/>
          <p:cNvSpPr>
            <a:spLocks noChangeShapeType="1"/>
          </p:cNvSpPr>
          <p:nvPr/>
        </p:nvSpPr>
        <p:spPr bwMode="auto">
          <a:xfrm>
            <a:off x="4800600" y="3810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7" name="Text Box 17"/>
          <p:cNvSpPr txBox="1">
            <a:spLocks noChangeArrowheads="1"/>
          </p:cNvSpPr>
          <p:nvPr/>
        </p:nvSpPr>
        <p:spPr bwMode="auto">
          <a:xfrm>
            <a:off x="4572000" y="34290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free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8" name="Text Box 18"/>
          <p:cNvSpPr txBox="1">
            <a:spLocks noChangeArrowheads="1"/>
          </p:cNvSpPr>
          <p:nvPr/>
        </p:nvSpPr>
        <p:spPr bwMode="auto">
          <a:xfrm>
            <a:off x="1066800" y="3048000"/>
            <a:ext cx="1905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      8      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      6      9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     13    22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09" name="Rectangle 19"/>
          <p:cNvSpPr>
            <a:spLocks noChangeArrowheads="1"/>
          </p:cNvSpPr>
          <p:nvPr/>
        </p:nvSpPr>
        <p:spPr bwMode="auto">
          <a:xfrm>
            <a:off x="914400" y="3048000"/>
            <a:ext cx="1828800" cy="2438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0" name="Line 20"/>
          <p:cNvSpPr>
            <a:spLocks noChangeShapeType="1"/>
          </p:cNvSpPr>
          <p:nvPr/>
        </p:nvSpPr>
        <p:spPr bwMode="auto">
          <a:xfrm>
            <a:off x="914400" y="35814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1" name="Line 21"/>
          <p:cNvSpPr>
            <a:spLocks noChangeShapeType="1"/>
          </p:cNvSpPr>
          <p:nvPr/>
        </p:nvSpPr>
        <p:spPr bwMode="auto">
          <a:xfrm>
            <a:off x="914400" y="4114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2" name="Line 22"/>
          <p:cNvSpPr>
            <a:spLocks noChangeShapeType="1"/>
          </p:cNvSpPr>
          <p:nvPr/>
        </p:nvSpPr>
        <p:spPr bwMode="auto">
          <a:xfrm>
            <a:off x="914400" y="46482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3" name="Line 23"/>
          <p:cNvSpPr>
            <a:spLocks noChangeShapeType="1"/>
          </p:cNvSpPr>
          <p:nvPr/>
        </p:nvSpPr>
        <p:spPr bwMode="auto">
          <a:xfrm>
            <a:off x="1447800" y="30480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4" name="Line 24"/>
          <p:cNvSpPr>
            <a:spLocks noChangeShapeType="1"/>
          </p:cNvSpPr>
          <p:nvPr/>
        </p:nvSpPr>
        <p:spPr bwMode="auto">
          <a:xfrm>
            <a:off x="2133600" y="30480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5" name="Line 25"/>
          <p:cNvSpPr>
            <a:spLocks noChangeShapeType="1"/>
          </p:cNvSpPr>
          <p:nvPr/>
        </p:nvSpPr>
        <p:spPr bwMode="auto">
          <a:xfrm>
            <a:off x="3581400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6" name="Text Box 26"/>
          <p:cNvSpPr txBox="1">
            <a:spLocks noChangeArrowheads="1"/>
          </p:cNvSpPr>
          <p:nvPr/>
        </p:nvSpPr>
        <p:spPr bwMode="auto">
          <a:xfrm>
            <a:off x="3429000" y="220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7" name="Line 27"/>
          <p:cNvSpPr>
            <a:spLocks noChangeShapeType="1"/>
          </p:cNvSpPr>
          <p:nvPr/>
        </p:nvSpPr>
        <p:spPr bwMode="auto">
          <a:xfrm flipV="1">
            <a:off x="7772400" y="5486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8" name="Text Box 28"/>
          <p:cNvSpPr txBox="1">
            <a:spLocks noChangeArrowheads="1"/>
          </p:cNvSpPr>
          <p:nvPr/>
        </p:nvSpPr>
        <p:spPr bwMode="auto">
          <a:xfrm>
            <a:off x="7010400" y="56388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maxsize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19" name="Text Box 29"/>
          <p:cNvSpPr txBox="1">
            <a:spLocks noChangeArrowheads="1"/>
          </p:cNvSpPr>
          <p:nvPr/>
        </p:nvSpPr>
        <p:spPr bwMode="auto">
          <a:xfrm>
            <a:off x="5334000" y="3200400"/>
            <a:ext cx="1828800" cy="46672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    B O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K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0" name="Line 30"/>
          <p:cNvSpPr>
            <a:spLocks noChangeShapeType="1"/>
          </p:cNvSpPr>
          <p:nvPr/>
        </p:nvSpPr>
        <p:spPr bwMode="auto">
          <a:xfrm>
            <a:off x="56388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1" name="Line 31"/>
          <p:cNvSpPr>
            <a:spLocks noChangeShapeType="1"/>
          </p:cNvSpPr>
          <p:nvPr/>
        </p:nvSpPr>
        <p:spPr bwMode="auto">
          <a:xfrm>
            <a:off x="58674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2" name="Line 32"/>
          <p:cNvSpPr>
            <a:spLocks noChangeShapeType="1"/>
          </p:cNvSpPr>
          <p:nvPr/>
        </p:nvSpPr>
        <p:spPr bwMode="auto">
          <a:xfrm>
            <a:off x="61722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3" name="Line 33"/>
          <p:cNvSpPr>
            <a:spLocks noChangeShapeType="1"/>
          </p:cNvSpPr>
          <p:nvPr/>
        </p:nvSpPr>
        <p:spPr bwMode="auto">
          <a:xfrm>
            <a:off x="6477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4" name="Line 34"/>
          <p:cNvSpPr>
            <a:spLocks noChangeShapeType="1"/>
          </p:cNvSpPr>
          <p:nvPr/>
        </p:nvSpPr>
        <p:spPr bwMode="auto">
          <a:xfrm>
            <a:off x="67818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5" name="Text Box 35"/>
          <p:cNvSpPr txBox="1">
            <a:spLocks noChangeArrowheads="1"/>
          </p:cNvSpPr>
          <p:nvPr/>
        </p:nvSpPr>
        <p:spPr bwMode="auto">
          <a:xfrm>
            <a:off x="762000" y="5486400"/>
            <a:ext cx="24384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串名 串长 起始地址</a:t>
            </a:r>
            <a:endParaRPr kumimoji="1"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length  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stadr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6" name="Line 36"/>
          <p:cNvSpPr>
            <a:spLocks noChangeShapeType="1"/>
          </p:cNvSpPr>
          <p:nvPr/>
        </p:nvSpPr>
        <p:spPr bwMode="auto">
          <a:xfrm>
            <a:off x="2514600" y="3886200"/>
            <a:ext cx="1219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7" name="Line 37"/>
          <p:cNvSpPr>
            <a:spLocks noChangeShapeType="1"/>
          </p:cNvSpPr>
          <p:nvPr/>
        </p:nvSpPr>
        <p:spPr bwMode="auto">
          <a:xfrm flipV="1">
            <a:off x="3733800" y="3429000"/>
            <a:ext cx="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8" name="Line 38"/>
          <p:cNvSpPr>
            <a:spLocks noChangeShapeType="1"/>
          </p:cNvSpPr>
          <p:nvPr/>
        </p:nvSpPr>
        <p:spPr bwMode="auto">
          <a:xfrm>
            <a:off x="3733800" y="3429000"/>
            <a:ext cx="1600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329" name="Text Box 39"/>
          <p:cNvSpPr txBox="1">
            <a:spLocks noChangeArrowheads="1"/>
          </p:cNvSpPr>
          <p:nvPr/>
        </p:nvSpPr>
        <p:spPr bwMode="auto">
          <a:xfrm>
            <a:off x="376277" y="3200400"/>
            <a:ext cx="55399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符号表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2888" y="1484784"/>
            <a:ext cx="8229600" cy="31115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堆结构存储的特点：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通过串名存储映象访问串值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动态分配存储空间，对串长没有限制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要使可利用空间的使用更加有效，回收废弃的旧串和申请新串空间需进行动态存储管理。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3317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534400" y="6096000"/>
            <a:ext cx="3048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4.3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串的模式匹配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  <a:defRPr/>
            </a:pPr>
            <a:r>
              <a:rPr lang="en-US" altLang="zh-CN" sz="2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lang="en-US" altLang="zh-CN" sz="2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在主串中寻找子串（第一个字符</a:t>
            </a:r>
            <a:r>
              <a:rPr lang="en-US" altLang="zh-CN" sz="2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）在主串中的位置</a:t>
            </a:r>
            <a:r>
              <a:rPr lang="en-US" altLang="zh-CN" sz="24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；匹配成功返回</a:t>
            </a:r>
            <a:r>
              <a:rPr lang="en-US" altLang="zh-CN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(1≤i≤n);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匹配失败返回</a:t>
            </a:r>
            <a:r>
              <a:rPr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     在模式匹配中，子串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又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称为</a:t>
            </a:r>
            <a:r>
              <a:rPr lang="zh-CN" alt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模式串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，主串又称为</a:t>
            </a:r>
            <a:r>
              <a:rPr lang="zh-CN" alt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目标串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记模式串为：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p=p</a:t>
            </a:r>
            <a:r>
              <a:rPr lang="en-US" altLang="zh-CN" sz="2400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…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endParaRPr lang="en-US" altLang="zh-CN" sz="2400" baseline="-250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记目标串为：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t=t</a:t>
            </a:r>
            <a:r>
              <a:rPr lang="en-US" altLang="zh-CN" sz="2400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…</a:t>
            </a:r>
            <a:r>
              <a:rPr lang="en-US" altLang="zh-CN" sz="2400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endParaRPr lang="en-US" altLang="zh-CN" sz="2400" baseline="-250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b="1" dirty="0" smtClean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60" y="3343187"/>
            <a:ext cx="763284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****</a:t>
            </a:r>
            <a:r>
              <a:rPr lang="en-US" altLang="zh-CN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说明</a:t>
            </a:r>
            <a:r>
              <a:rPr lang="en-US" altLang="zh-CN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：在模式匹配算法及描述中，假设字符串下标从</a:t>
            </a:r>
            <a:r>
              <a:rPr lang="en-US" altLang="zh-CN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开始****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584" y="4149081"/>
            <a:ext cx="302369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示例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en-US" altLang="zh-CN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endParaRPr lang="en-US" altLang="zh-CN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目标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t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en-US" altLang="zh-CN" dirty="0">
                <a:ea typeface="华文楷体" panose="02010600040101010101" pitchFamily="2" charset="-122"/>
              </a:rPr>
              <a:t>“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Beijing</a:t>
            </a:r>
            <a:r>
              <a:rPr lang="en-US" altLang="zh-CN" dirty="0">
                <a:ea typeface="华文楷体" panose="02010600040101010101" pitchFamily="2" charset="-122"/>
              </a:rPr>
              <a:t>”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模式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en-US" altLang="zh-CN" dirty="0">
                <a:ea typeface="华文楷体" panose="02010600040101010101" pitchFamily="2" charset="-122"/>
              </a:rPr>
              <a:t>“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jin</a:t>
            </a:r>
            <a:r>
              <a:rPr lang="en-US" altLang="zh-CN" dirty="0">
                <a:ea typeface="华文楷体" panose="02010600040101010101" pitchFamily="2" charset="-122"/>
              </a:rPr>
              <a:t>”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匹配结果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= 4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若模式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en-US" altLang="zh-CN" dirty="0">
                <a:ea typeface="华文楷体" panose="02010600040101010101" pitchFamily="2" charset="-122"/>
              </a:rPr>
              <a:t>“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xin</a:t>
            </a:r>
            <a:r>
              <a:rPr lang="en-US" altLang="zh-CN" dirty="0">
                <a:ea typeface="华文楷体" panose="02010600040101010101" pitchFamily="2" charset="-122"/>
              </a:rPr>
              <a:t>”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匹配结果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= 0  //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失败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30384" y="3966830"/>
            <a:ext cx="484401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例</a:t>
            </a:r>
            <a:r>
              <a:rPr lang="zh-CN" altLang="en-US" sz="1800" dirty="0" smtClean="0">
                <a:ea typeface="华文楷体" panose="02010600040101010101" pitchFamily="2" charset="-122"/>
              </a:rPr>
              <a:t>：</a:t>
            </a:r>
            <a:r>
              <a:rPr lang="zh-CN" altLang="en-US" dirty="0" smtClean="0">
                <a:ea typeface="华文楷体" panose="02010600040101010101" pitchFamily="2" charset="-122"/>
              </a:rPr>
              <a:t>目标</a:t>
            </a:r>
            <a:r>
              <a:rPr lang="en-US" altLang="zh-CN" dirty="0" smtClean="0">
                <a:ea typeface="华文楷体" panose="02010600040101010101" pitchFamily="2" charset="-122"/>
              </a:rPr>
              <a:t>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=‘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abca</a:t>
            </a:r>
            <a:r>
              <a:rPr lang="en-US" altLang="zh-CN" sz="1800" b="1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bcd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efabcdmn</a:t>
            </a:r>
            <a:r>
              <a:rPr lang="en-US" altLang="zh-CN" sz="1800" dirty="0" smtClean="0">
                <a:ea typeface="华文楷体" panose="02010600040101010101" pitchFamily="2" charset="-122"/>
              </a:rPr>
              <a:t>’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    </a:t>
            </a:r>
            <a:r>
              <a:rPr lang="zh-CN" altLang="en-US" dirty="0" smtClean="0">
                <a:ea typeface="华文楷体" panose="02010600040101010101" pitchFamily="2" charset="-122"/>
              </a:rPr>
              <a:t>模式</a:t>
            </a:r>
            <a:r>
              <a:rPr lang="en-US" altLang="zh-CN" sz="1800" dirty="0" smtClean="0">
                <a:ea typeface="华文楷体" panose="02010600040101010101" pitchFamily="2" charset="-122"/>
              </a:rPr>
              <a:t>p=‘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efapq</a:t>
            </a:r>
            <a:r>
              <a:rPr lang="en-US" altLang="zh-CN" sz="1800" dirty="0" smtClean="0">
                <a:ea typeface="华文楷体" panose="02010600040101010101" pitchFamily="2" charset="-122"/>
              </a:rPr>
              <a:t>’   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匹配失败， 有效位移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=0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 smtClean="0">
                <a:ea typeface="华文楷体" panose="02010600040101010101" pitchFamily="2" charset="-122"/>
              </a:rPr>
              <a:t>       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模式</a:t>
            </a:r>
            <a:r>
              <a:rPr lang="en-US" altLang="zh-CN" sz="1800" dirty="0" smtClean="0">
                <a:ea typeface="华文楷体" panose="02010600040101010101" pitchFamily="2" charset="-122"/>
              </a:rPr>
              <a:t>p=‘</a:t>
            </a:r>
            <a:r>
              <a:rPr lang="en-US" altLang="zh-CN" sz="18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bcd</a:t>
            </a:r>
            <a:r>
              <a:rPr lang="en-US" altLang="zh-CN" sz="1800" dirty="0" smtClean="0">
                <a:ea typeface="华文楷体" panose="02010600040101010101" pitchFamily="2" charset="-122"/>
              </a:rPr>
              <a:t>’      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匹配成功，有效位移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=5</a:t>
            </a:r>
            <a:endParaRPr lang="en-US" altLang="zh-CN" sz="18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962400" y="6286500"/>
            <a:ext cx="4911725" cy="32067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  <a:endParaRPr lang="en-US" altLang="zh-CN" dirty="0"/>
          </a:p>
        </p:txBody>
      </p:sp>
      <p:sp>
        <p:nvSpPr>
          <p:cNvPr id="8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</a:t>
            </a: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2057400" y="2734935"/>
            <a:ext cx="4800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2057400" y="3725535"/>
            <a:ext cx="2438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1143000" y="273493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主串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1143000" y="3725535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子串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2057400" y="235393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0" name="Text Box 8"/>
          <p:cNvSpPr txBox="1">
            <a:spLocks noChangeArrowheads="1"/>
          </p:cNvSpPr>
          <p:nvPr/>
        </p:nvSpPr>
        <p:spPr bwMode="auto">
          <a:xfrm>
            <a:off x="6324600" y="2277735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s.curlen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1" name="Line 9"/>
          <p:cNvSpPr>
            <a:spLocks noChangeShapeType="1"/>
          </p:cNvSpPr>
          <p:nvPr/>
        </p:nvSpPr>
        <p:spPr bwMode="auto">
          <a:xfrm>
            <a:off x="6553200" y="273493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2" name="Text Box 10"/>
          <p:cNvSpPr txBox="1">
            <a:spLocks noChangeArrowheads="1"/>
          </p:cNvSpPr>
          <p:nvPr/>
        </p:nvSpPr>
        <p:spPr bwMode="auto">
          <a:xfrm>
            <a:off x="2057400" y="3344535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3" name="Text Box 11"/>
          <p:cNvSpPr txBox="1">
            <a:spLocks noChangeArrowheads="1"/>
          </p:cNvSpPr>
          <p:nvPr/>
        </p:nvSpPr>
        <p:spPr bwMode="auto">
          <a:xfrm>
            <a:off x="4038600" y="3344535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t.curlen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4" name="Line 12"/>
          <p:cNvSpPr>
            <a:spLocks noChangeShapeType="1"/>
          </p:cNvSpPr>
          <p:nvPr/>
        </p:nvSpPr>
        <p:spPr bwMode="auto">
          <a:xfrm>
            <a:off x="4267200" y="372553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5" name="Text Box 13"/>
          <p:cNvSpPr txBox="1">
            <a:spLocks noChangeArrowheads="1"/>
          </p:cNvSpPr>
          <p:nvPr/>
        </p:nvSpPr>
        <p:spPr bwMode="auto">
          <a:xfrm>
            <a:off x="3505200" y="2353935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6" name="Text Box 14"/>
          <p:cNvSpPr txBox="1">
            <a:spLocks noChangeArrowheads="1"/>
          </p:cNvSpPr>
          <p:nvPr/>
        </p:nvSpPr>
        <p:spPr bwMode="auto">
          <a:xfrm>
            <a:off x="3505200" y="326833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7" name="Rectangle 15"/>
          <p:cNvSpPr>
            <a:spLocks noChangeArrowheads="1"/>
          </p:cNvSpPr>
          <p:nvPr/>
        </p:nvSpPr>
        <p:spPr bwMode="auto">
          <a:xfrm>
            <a:off x="3505200" y="2734935"/>
            <a:ext cx="228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8" name="Rectangle 16"/>
          <p:cNvSpPr>
            <a:spLocks noChangeArrowheads="1"/>
          </p:cNvSpPr>
          <p:nvPr/>
        </p:nvSpPr>
        <p:spPr bwMode="auto">
          <a:xfrm>
            <a:off x="3505200" y="3725535"/>
            <a:ext cx="228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9" name="Rectangle 17"/>
          <p:cNvSpPr>
            <a:spLocks noChangeArrowheads="1"/>
          </p:cNvSpPr>
          <p:nvPr/>
        </p:nvSpPr>
        <p:spPr bwMode="auto">
          <a:xfrm>
            <a:off x="2057400" y="2734935"/>
            <a:ext cx="14478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0" name="Rectangle 18"/>
          <p:cNvSpPr>
            <a:spLocks noChangeArrowheads="1"/>
          </p:cNvSpPr>
          <p:nvPr/>
        </p:nvSpPr>
        <p:spPr bwMode="auto">
          <a:xfrm>
            <a:off x="2057400" y="3725535"/>
            <a:ext cx="14478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1" name="Line 19"/>
          <p:cNvSpPr>
            <a:spLocks noChangeShapeType="1"/>
          </p:cNvSpPr>
          <p:nvPr/>
        </p:nvSpPr>
        <p:spPr bwMode="auto">
          <a:xfrm>
            <a:off x="2286000" y="273493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2" name="Line 20"/>
          <p:cNvSpPr>
            <a:spLocks noChangeShapeType="1"/>
          </p:cNvSpPr>
          <p:nvPr/>
        </p:nvSpPr>
        <p:spPr bwMode="auto">
          <a:xfrm>
            <a:off x="2286000" y="372553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3" name="Line 21"/>
          <p:cNvSpPr>
            <a:spLocks noChangeShapeType="1"/>
          </p:cNvSpPr>
          <p:nvPr/>
        </p:nvSpPr>
        <p:spPr bwMode="auto">
          <a:xfrm>
            <a:off x="4495800" y="273493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32790" name="Group 22"/>
          <p:cNvGrpSpPr/>
          <p:nvPr/>
        </p:nvGrpSpPr>
        <p:grpSpPr bwMode="auto">
          <a:xfrm>
            <a:off x="838200" y="2277735"/>
            <a:ext cx="7162800" cy="2362200"/>
            <a:chOff x="576" y="1632"/>
            <a:chExt cx="4512" cy="1488"/>
          </a:xfrm>
        </p:grpSpPr>
        <p:sp>
          <p:nvSpPr>
            <p:cNvPr id="15424" name="Rectangle 23"/>
            <p:cNvSpPr>
              <a:spLocks noChangeArrowheads="1"/>
            </p:cNvSpPr>
            <p:nvPr/>
          </p:nvSpPr>
          <p:spPr bwMode="auto">
            <a:xfrm>
              <a:off x="576" y="1680"/>
              <a:ext cx="4512" cy="1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5" name="Rectangle 24"/>
            <p:cNvSpPr>
              <a:spLocks noChangeArrowheads="1"/>
            </p:cNvSpPr>
            <p:nvPr/>
          </p:nvSpPr>
          <p:spPr bwMode="auto">
            <a:xfrm>
              <a:off x="1344" y="1920"/>
              <a:ext cx="302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6" name="Rectangle 25"/>
            <p:cNvSpPr>
              <a:spLocks noChangeArrowheads="1"/>
            </p:cNvSpPr>
            <p:nvPr/>
          </p:nvSpPr>
          <p:spPr bwMode="auto">
            <a:xfrm>
              <a:off x="1488" y="2496"/>
              <a:ext cx="17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7" name="Text Box 26"/>
            <p:cNvSpPr txBox="1">
              <a:spLocks noChangeArrowheads="1"/>
            </p:cNvSpPr>
            <p:nvPr/>
          </p:nvSpPr>
          <p:spPr bwMode="auto">
            <a:xfrm>
              <a:off x="768" y="192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主串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s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8" name="Text Box 27"/>
            <p:cNvSpPr txBox="1">
              <a:spLocks noChangeArrowheads="1"/>
            </p:cNvSpPr>
            <p:nvPr/>
          </p:nvSpPr>
          <p:spPr bwMode="auto">
            <a:xfrm>
              <a:off x="768" y="2496"/>
              <a:ext cx="6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子串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9" name="Text Box 28"/>
            <p:cNvSpPr txBox="1">
              <a:spLocks noChangeArrowheads="1"/>
            </p:cNvSpPr>
            <p:nvPr/>
          </p:nvSpPr>
          <p:spPr bwMode="auto">
            <a:xfrm>
              <a:off x="1344" y="16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0" name="Line 29"/>
            <p:cNvSpPr>
              <a:spLocks noChangeShapeType="1"/>
            </p:cNvSpPr>
            <p:nvPr/>
          </p:nvSpPr>
          <p:spPr bwMode="auto">
            <a:xfrm>
              <a:off x="1488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1" name="Text Box 30"/>
            <p:cNvSpPr txBox="1">
              <a:spLocks noChangeArrowheads="1"/>
            </p:cNvSpPr>
            <p:nvPr/>
          </p:nvSpPr>
          <p:spPr bwMode="auto">
            <a:xfrm>
              <a:off x="4032" y="1632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n(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s.curlen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2" name="Line 31"/>
            <p:cNvSpPr>
              <a:spLocks noChangeShapeType="1"/>
            </p:cNvSpPr>
            <p:nvPr/>
          </p:nvSpPr>
          <p:spPr bwMode="auto">
            <a:xfrm>
              <a:off x="4176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3" name="Text Box 32"/>
            <p:cNvSpPr txBox="1">
              <a:spLocks noChangeArrowheads="1"/>
            </p:cNvSpPr>
            <p:nvPr/>
          </p:nvSpPr>
          <p:spPr bwMode="auto">
            <a:xfrm>
              <a:off x="1440" y="225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4" name="Text Box 33"/>
            <p:cNvSpPr txBox="1">
              <a:spLocks noChangeArrowheads="1"/>
            </p:cNvSpPr>
            <p:nvPr/>
          </p:nvSpPr>
          <p:spPr bwMode="auto">
            <a:xfrm>
              <a:off x="2784" y="2256"/>
              <a:ext cx="1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m(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t.curlen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5" name="Line 34"/>
            <p:cNvSpPr>
              <a:spLocks noChangeShapeType="1"/>
            </p:cNvSpPr>
            <p:nvPr/>
          </p:nvSpPr>
          <p:spPr bwMode="auto">
            <a:xfrm>
              <a:off x="2928" y="249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6" name="Text Box 35"/>
            <p:cNvSpPr txBox="1">
              <a:spLocks noChangeArrowheads="1"/>
            </p:cNvSpPr>
            <p:nvPr/>
          </p:nvSpPr>
          <p:spPr bwMode="auto">
            <a:xfrm>
              <a:off x="2448" y="163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7" name="Text Box 36"/>
            <p:cNvSpPr txBox="1">
              <a:spLocks noChangeArrowheads="1"/>
            </p:cNvSpPr>
            <p:nvPr/>
          </p:nvSpPr>
          <p:spPr bwMode="auto">
            <a:xfrm>
              <a:off x="2400" y="22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j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8" name="Rectangle 37"/>
            <p:cNvSpPr>
              <a:spLocks noChangeArrowheads="1"/>
            </p:cNvSpPr>
            <p:nvPr/>
          </p:nvSpPr>
          <p:spPr bwMode="auto">
            <a:xfrm>
              <a:off x="2448" y="1920"/>
              <a:ext cx="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39" name="Rectangle 38"/>
            <p:cNvSpPr>
              <a:spLocks noChangeArrowheads="1"/>
            </p:cNvSpPr>
            <p:nvPr/>
          </p:nvSpPr>
          <p:spPr bwMode="auto">
            <a:xfrm>
              <a:off x="2448" y="2496"/>
              <a:ext cx="15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40" name="Rectangle 39"/>
            <p:cNvSpPr>
              <a:spLocks noChangeArrowheads="1"/>
            </p:cNvSpPr>
            <p:nvPr/>
          </p:nvSpPr>
          <p:spPr bwMode="auto">
            <a:xfrm>
              <a:off x="1488" y="192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41" name="Rectangle 40"/>
            <p:cNvSpPr>
              <a:spLocks noChangeArrowheads="1"/>
            </p:cNvSpPr>
            <p:nvPr/>
          </p:nvSpPr>
          <p:spPr bwMode="auto">
            <a:xfrm>
              <a:off x="1488" y="249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32809" name="Group 41"/>
          <p:cNvGrpSpPr/>
          <p:nvPr/>
        </p:nvGrpSpPr>
        <p:grpSpPr bwMode="auto">
          <a:xfrm>
            <a:off x="609600" y="2125335"/>
            <a:ext cx="7848600" cy="3733800"/>
            <a:chOff x="384" y="672"/>
            <a:chExt cx="4944" cy="2592"/>
          </a:xfrm>
        </p:grpSpPr>
        <p:sp>
          <p:nvSpPr>
            <p:cNvPr id="15387" name="Rectangle 42"/>
            <p:cNvSpPr>
              <a:spLocks noChangeArrowheads="1"/>
            </p:cNvSpPr>
            <p:nvPr/>
          </p:nvSpPr>
          <p:spPr bwMode="auto">
            <a:xfrm>
              <a:off x="384" y="672"/>
              <a:ext cx="4944" cy="25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88" name="Rectangle 43"/>
            <p:cNvSpPr>
              <a:spLocks noChangeArrowheads="1"/>
            </p:cNvSpPr>
            <p:nvPr/>
          </p:nvSpPr>
          <p:spPr bwMode="auto">
            <a:xfrm>
              <a:off x="1104" y="1056"/>
              <a:ext cx="305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89" name="Rectangle 44"/>
            <p:cNvSpPr>
              <a:spLocks noChangeArrowheads="1"/>
            </p:cNvSpPr>
            <p:nvPr/>
          </p:nvSpPr>
          <p:spPr bwMode="auto">
            <a:xfrm>
              <a:off x="1824" y="1632"/>
              <a:ext cx="1551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0" name="Text Box 45"/>
            <p:cNvSpPr txBox="1">
              <a:spLocks noChangeArrowheads="1"/>
            </p:cNvSpPr>
            <p:nvPr/>
          </p:nvSpPr>
          <p:spPr bwMode="auto">
            <a:xfrm>
              <a:off x="528" y="1056"/>
              <a:ext cx="727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主</a:t>
              </a:r>
              <a:r>
                <a:rPr kumimoji="1" lang="zh-CN" altLang="en-US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串</a:t>
              </a:r>
              <a:r>
                <a:rPr kumimoji="1"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1" name="Text Box 46"/>
            <p:cNvSpPr txBox="1">
              <a:spLocks noChangeArrowheads="1"/>
            </p:cNvSpPr>
            <p:nvPr/>
          </p:nvSpPr>
          <p:spPr bwMode="auto">
            <a:xfrm>
              <a:off x="1248" y="1632"/>
              <a:ext cx="633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子</a:t>
              </a:r>
              <a:r>
                <a:rPr kumimoji="1" lang="zh-CN" altLang="en-US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串</a:t>
              </a:r>
              <a:r>
                <a:rPr kumimoji="1"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2" name="Text Box 47"/>
            <p:cNvSpPr txBox="1">
              <a:spLocks noChangeArrowheads="1"/>
            </p:cNvSpPr>
            <p:nvPr/>
          </p:nvSpPr>
          <p:spPr bwMode="auto">
            <a:xfrm>
              <a:off x="1104" y="816"/>
              <a:ext cx="38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3" name="Line 48"/>
            <p:cNvSpPr>
              <a:spLocks noChangeShapeType="1"/>
            </p:cNvSpPr>
            <p:nvPr/>
          </p:nvSpPr>
          <p:spPr bwMode="auto">
            <a:xfrm>
              <a:off x="1248" y="105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4" name="Text Box 49"/>
            <p:cNvSpPr txBox="1">
              <a:spLocks noChangeArrowheads="1"/>
            </p:cNvSpPr>
            <p:nvPr/>
          </p:nvSpPr>
          <p:spPr bwMode="auto">
            <a:xfrm>
              <a:off x="3935" y="768"/>
              <a:ext cx="875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5" name="Line 50"/>
            <p:cNvSpPr>
              <a:spLocks noChangeShapeType="1"/>
            </p:cNvSpPr>
            <p:nvPr/>
          </p:nvSpPr>
          <p:spPr bwMode="auto">
            <a:xfrm>
              <a:off x="3936" y="105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6" name="Rectangle 51"/>
            <p:cNvSpPr>
              <a:spLocks noChangeArrowheads="1"/>
            </p:cNvSpPr>
            <p:nvPr/>
          </p:nvSpPr>
          <p:spPr bwMode="auto">
            <a:xfrm>
              <a:off x="1776" y="1056"/>
              <a:ext cx="969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7" name="Text Box 52"/>
            <p:cNvSpPr txBox="1">
              <a:spLocks noChangeArrowheads="1"/>
            </p:cNvSpPr>
            <p:nvPr/>
          </p:nvSpPr>
          <p:spPr bwMode="auto">
            <a:xfrm>
              <a:off x="1776" y="1392"/>
              <a:ext cx="19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8" name="Text Box 53"/>
            <p:cNvSpPr txBox="1">
              <a:spLocks noChangeArrowheads="1"/>
            </p:cNvSpPr>
            <p:nvPr/>
          </p:nvSpPr>
          <p:spPr bwMode="auto">
            <a:xfrm>
              <a:off x="3168" y="1392"/>
              <a:ext cx="101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m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399" name="Line 54"/>
            <p:cNvSpPr>
              <a:spLocks noChangeShapeType="1"/>
            </p:cNvSpPr>
            <p:nvPr/>
          </p:nvSpPr>
          <p:spPr bwMode="auto">
            <a:xfrm>
              <a:off x="3216" y="1632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0" name="Text Box 55"/>
            <p:cNvSpPr txBox="1">
              <a:spLocks noChangeArrowheads="1"/>
            </p:cNvSpPr>
            <p:nvPr/>
          </p:nvSpPr>
          <p:spPr bwMode="auto">
            <a:xfrm>
              <a:off x="2736" y="768"/>
              <a:ext cx="19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1" name="Rectangle 56"/>
            <p:cNvSpPr>
              <a:spLocks noChangeArrowheads="1"/>
            </p:cNvSpPr>
            <p:nvPr/>
          </p:nvSpPr>
          <p:spPr bwMode="auto">
            <a:xfrm>
              <a:off x="1056" y="2208"/>
              <a:ext cx="310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2" name="Rectangle 57"/>
            <p:cNvSpPr>
              <a:spLocks noChangeArrowheads="1"/>
            </p:cNvSpPr>
            <p:nvPr/>
          </p:nvSpPr>
          <p:spPr bwMode="auto">
            <a:xfrm>
              <a:off x="3216" y="2736"/>
              <a:ext cx="969" cy="28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3" name="Text Box 58"/>
            <p:cNvSpPr txBox="1">
              <a:spLocks noChangeArrowheads="1"/>
            </p:cNvSpPr>
            <p:nvPr/>
          </p:nvSpPr>
          <p:spPr bwMode="auto">
            <a:xfrm>
              <a:off x="784" y="2182"/>
              <a:ext cx="436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4" name="Text Box 59"/>
            <p:cNvSpPr txBox="1">
              <a:spLocks noChangeArrowheads="1"/>
            </p:cNvSpPr>
            <p:nvPr/>
          </p:nvSpPr>
          <p:spPr bwMode="auto">
            <a:xfrm>
              <a:off x="2928" y="2784"/>
              <a:ext cx="38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5" name="Text Box 60"/>
            <p:cNvSpPr txBox="1">
              <a:spLocks noChangeArrowheads="1"/>
            </p:cNvSpPr>
            <p:nvPr/>
          </p:nvSpPr>
          <p:spPr bwMode="auto">
            <a:xfrm>
              <a:off x="1056" y="1968"/>
              <a:ext cx="485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6" name="Text Box 61"/>
            <p:cNvSpPr txBox="1">
              <a:spLocks noChangeArrowheads="1"/>
            </p:cNvSpPr>
            <p:nvPr/>
          </p:nvSpPr>
          <p:spPr bwMode="auto">
            <a:xfrm>
              <a:off x="3943" y="1968"/>
              <a:ext cx="381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n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7" name="Text Box 62"/>
            <p:cNvSpPr txBox="1">
              <a:spLocks noChangeArrowheads="1"/>
            </p:cNvSpPr>
            <p:nvPr/>
          </p:nvSpPr>
          <p:spPr bwMode="auto">
            <a:xfrm>
              <a:off x="3216" y="2496"/>
              <a:ext cx="291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8" name="Rectangle 63"/>
            <p:cNvSpPr>
              <a:spLocks noChangeArrowheads="1"/>
            </p:cNvSpPr>
            <p:nvPr/>
          </p:nvSpPr>
          <p:spPr bwMode="auto">
            <a:xfrm>
              <a:off x="3216" y="2208"/>
              <a:ext cx="969" cy="28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09" name="Text Box 64"/>
            <p:cNvSpPr txBox="1">
              <a:spLocks noChangeArrowheads="1"/>
            </p:cNvSpPr>
            <p:nvPr/>
          </p:nvSpPr>
          <p:spPr bwMode="auto">
            <a:xfrm>
              <a:off x="3072" y="1968"/>
              <a:ext cx="727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n-m+1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0" name="Line 65"/>
            <p:cNvSpPr>
              <a:spLocks noChangeShapeType="1"/>
            </p:cNvSpPr>
            <p:nvPr/>
          </p:nvSpPr>
          <p:spPr bwMode="auto">
            <a:xfrm>
              <a:off x="3408" y="2208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1" name="Line 66"/>
            <p:cNvSpPr>
              <a:spLocks noChangeShapeType="1"/>
            </p:cNvSpPr>
            <p:nvPr/>
          </p:nvSpPr>
          <p:spPr bwMode="auto">
            <a:xfrm>
              <a:off x="3408" y="273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2" name="Line 67"/>
            <p:cNvSpPr>
              <a:spLocks noChangeShapeType="1"/>
            </p:cNvSpPr>
            <p:nvPr/>
          </p:nvSpPr>
          <p:spPr bwMode="auto">
            <a:xfrm>
              <a:off x="3984" y="2208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3" name="Line 68"/>
            <p:cNvSpPr>
              <a:spLocks noChangeShapeType="1"/>
            </p:cNvSpPr>
            <p:nvPr/>
          </p:nvSpPr>
          <p:spPr bwMode="auto">
            <a:xfrm>
              <a:off x="4032" y="273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4" name="Line 69"/>
            <p:cNvSpPr>
              <a:spLocks noChangeShapeType="1"/>
            </p:cNvSpPr>
            <p:nvPr/>
          </p:nvSpPr>
          <p:spPr bwMode="auto">
            <a:xfrm>
              <a:off x="1200" y="2208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5" name="Line 70"/>
            <p:cNvSpPr>
              <a:spLocks noChangeShapeType="1"/>
            </p:cNvSpPr>
            <p:nvPr/>
          </p:nvSpPr>
          <p:spPr bwMode="auto">
            <a:xfrm>
              <a:off x="2736" y="105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6" name="Text Box 71"/>
            <p:cNvSpPr txBox="1">
              <a:spLocks noChangeArrowheads="1"/>
            </p:cNvSpPr>
            <p:nvPr/>
          </p:nvSpPr>
          <p:spPr bwMode="auto">
            <a:xfrm>
              <a:off x="3984" y="2496"/>
              <a:ext cx="291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m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7" name="Text Box 72"/>
            <p:cNvSpPr txBox="1">
              <a:spLocks noChangeArrowheads="1"/>
            </p:cNvSpPr>
            <p:nvPr/>
          </p:nvSpPr>
          <p:spPr bwMode="auto">
            <a:xfrm>
              <a:off x="2736" y="1344"/>
              <a:ext cx="291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j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8" name="Text Box 73"/>
            <p:cNvSpPr txBox="1">
              <a:spLocks noChangeArrowheads="1"/>
            </p:cNvSpPr>
            <p:nvPr/>
          </p:nvSpPr>
          <p:spPr bwMode="auto">
            <a:xfrm>
              <a:off x="1632" y="768"/>
              <a:ext cx="63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i-j+1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19" name="Line 74"/>
            <p:cNvSpPr>
              <a:spLocks noChangeShapeType="1"/>
            </p:cNvSpPr>
            <p:nvPr/>
          </p:nvSpPr>
          <p:spPr bwMode="auto">
            <a:xfrm>
              <a:off x="1920" y="105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0" name="Rectangle 75"/>
            <p:cNvSpPr>
              <a:spLocks noChangeArrowheads="1"/>
            </p:cNvSpPr>
            <p:nvPr/>
          </p:nvSpPr>
          <p:spPr bwMode="auto">
            <a:xfrm>
              <a:off x="1776" y="1632"/>
              <a:ext cx="969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1" name="Rectangle 76"/>
            <p:cNvSpPr>
              <a:spLocks noChangeArrowheads="1"/>
            </p:cNvSpPr>
            <p:nvPr/>
          </p:nvSpPr>
          <p:spPr bwMode="auto">
            <a:xfrm>
              <a:off x="2736" y="1056"/>
              <a:ext cx="145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2" name="Rectangle 77"/>
            <p:cNvSpPr>
              <a:spLocks noChangeArrowheads="1"/>
            </p:cNvSpPr>
            <p:nvPr/>
          </p:nvSpPr>
          <p:spPr bwMode="auto">
            <a:xfrm>
              <a:off x="2736" y="1632"/>
              <a:ext cx="145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5423" name="Line 78"/>
            <p:cNvSpPr>
              <a:spLocks noChangeShapeType="1"/>
            </p:cNvSpPr>
            <p:nvPr/>
          </p:nvSpPr>
          <p:spPr bwMode="auto">
            <a:xfrm>
              <a:off x="1920" y="1632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2847" name="Freeform 79"/>
          <p:cNvSpPr/>
          <p:nvPr/>
        </p:nvSpPr>
        <p:spPr bwMode="auto">
          <a:xfrm>
            <a:off x="3121025" y="2310897"/>
            <a:ext cx="1219200" cy="368300"/>
          </a:xfrm>
          <a:custGeom>
            <a:avLst/>
            <a:gdLst>
              <a:gd name="T0" fmla="*/ 1935480000 w 768"/>
              <a:gd name="T1" fmla="*/ 318350628 h 280"/>
              <a:gd name="T2" fmla="*/ 1451610000 w 768"/>
              <a:gd name="T3" fmla="*/ 69206201 h 280"/>
              <a:gd name="T4" fmla="*/ 362902500 w 768"/>
              <a:gd name="T5" fmla="*/ 69206201 h 280"/>
              <a:gd name="T6" fmla="*/ 0 w 768"/>
              <a:gd name="T7" fmla="*/ 484446036 h 2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8" h="280">
                <a:moveTo>
                  <a:pt x="768" y="184"/>
                </a:moveTo>
                <a:cubicBezTo>
                  <a:pt x="724" y="124"/>
                  <a:pt x="680" y="64"/>
                  <a:pt x="576" y="40"/>
                </a:cubicBezTo>
                <a:cubicBezTo>
                  <a:pt x="472" y="16"/>
                  <a:pt x="240" y="0"/>
                  <a:pt x="144" y="40"/>
                </a:cubicBezTo>
                <a:cubicBezTo>
                  <a:pt x="48" y="80"/>
                  <a:pt x="24" y="180"/>
                  <a:pt x="0" y="280"/>
                </a:cubicBezTo>
              </a:path>
            </a:pathLst>
          </a:custGeom>
          <a:noFill/>
          <a:ln w="38100" cmpd="sng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67910" y="1206488"/>
            <a:ext cx="751278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Brute-Force(BF)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  又称 蛮力搜索算法：从目标串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第一个字符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开始与模式串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第一个字符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对比，若相等，则继续逐个比较后续字符，否则从目标串的第二个字符开始与模式串的第一个字符比较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华文楷体" panose="02010600040101010101" pitchFamily="2" charset="-122"/>
              </a:rPr>
              <a:t>Brute-Force(BF)</a:t>
            </a:r>
            <a:r>
              <a:rPr lang="zh-CN" altLang="en-US" sz="2800" dirty="0">
                <a:ea typeface="华文楷体" panose="02010600040101010101" pitchFamily="2" charset="-122"/>
              </a:rPr>
              <a:t>算法</a:t>
            </a:r>
            <a:endParaRPr lang="zh-CN" altLang="en-US" sz="2800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548442"/>
            <a:ext cx="5194920" cy="5118101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index</a:t>
            </a:r>
            <a:r>
              <a:rPr lang="en-US" altLang="zh-CN" sz="1600" dirty="0" smtClean="0">
                <a:ea typeface="华文楷体" panose="02010600040101010101" pitchFamily="2" charset="-122"/>
              </a:rPr>
              <a:t>(char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const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*t, char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const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*p) //</a:t>
            </a:r>
            <a:r>
              <a:rPr lang="zh-CN" altLang="en-US" sz="1600" b="1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蛮力搜索</a:t>
            </a:r>
            <a:endParaRPr lang="zh-CN" altLang="en-US" sz="1600" b="1" dirty="0" smtClean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{</a:t>
            </a:r>
            <a:r>
              <a:rPr lang="en-US" altLang="zh-CN" sz="16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</a:t>
            </a:r>
            <a:endParaRPr lang="en-US" altLang="zh-CN" sz="16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lang="en-US" altLang="zh-CN" sz="1600" dirty="0" err="1">
                <a:ea typeface="华文楷体" panose="02010600040101010101" pitchFamily="2" charset="-122"/>
              </a:rPr>
              <a:t>i</a:t>
            </a:r>
            <a:r>
              <a:rPr lang="en-US" altLang="zh-CN" sz="1600" dirty="0">
                <a:ea typeface="华文楷体" panose="02010600040101010101" pitchFamily="2" charset="-122"/>
              </a:rPr>
              <a:t>=</a:t>
            </a:r>
            <a:r>
              <a:rPr lang="en-US" altLang="zh-CN" sz="1600" b="1" dirty="0">
                <a:solidFill>
                  <a:srgbClr val="FF0000"/>
                </a:solidFill>
                <a:ea typeface="华文楷体" panose="02010600040101010101" pitchFamily="2" charset="-122"/>
              </a:rPr>
              <a:t>1</a:t>
            </a:r>
            <a:r>
              <a:rPr lang="en-US" altLang="zh-CN" sz="1600" dirty="0">
                <a:ea typeface="华文楷体" panose="02010600040101010101" pitchFamily="2" charset="-122"/>
              </a:rPr>
              <a:t>; j=</a:t>
            </a:r>
            <a:r>
              <a:rPr lang="en-US" altLang="zh-CN" sz="1600" b="1" dirty="0">
                <a:solidFill>
                  <a:srgbClr val="FF0000"/>
                </a:solidFill>
                <a:ea typeface="华文楷体" panose="02010600040101010101" pitchFamily="2" charset="-122"/>
              </a:rPr>
              <a:t>1</a:t>
            </a:r>
            <a:r>
              <a:rPr lang="en-US" altLang="zh-CN" sz="1600" dirty="0">
                <a:ea typeface="华文楷体" panose="02010600040101010101" pitchFamily="2" charset="-122"/>
              </a:rPr>
              <a:t>;//</a:t>
            </a:r>
            <a:r>
              <a:rPr lang="zh-CN" altLang="en-US" sz="1600" dirty="0">
                <a:ea typeface="华文楷体" panose="02010600040101010101" pitchFamily="2" charset="-122"/>
              </a:rPr>
              <a:t>假设字符数组的下标从</a:t>
            </a:r>
            <a:r>
              <a:rPr lang="en-US" altLang="zh-CN" sz="1600" dirty="0">
                <a:ea typeface="华文楷体" panose="02010600040101010101" pitchFamily="2" charset="-122"/>
              </a:rPr>
              <a:t>1</a:t>
            </a:r>
            <a:r>
              <a:rPr lang="zh-CN" altLang="en-US" sz="1600" dirty="0">
                <a:ea typeface="华文楷体" panose="02010600040101010101" pitchFamily="2" charset="-122"/>
              </a:rPr>
              <a:t>算起</a:t>
            </a:r>
            <a:endParaRPr lang="zh-CN" altLang="en-US" sz="16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     </a:t>
            </a:r>
            <a:r>
              <a:rPr lang="en-US" altLang="zh-CN" sz="16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16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 n=</a:t>
            </a:r>
            <a:r>
              <a:rPr lang="en-US" altLang="zh-CN" sz="16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strlen</a:t>
            </a:r>
            <a:r>
              <a:rPr lang="en-US" altLang="zh-CN" sz="16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(t); m=</a:t>
            </a:r>
            <a:r>
              <a:rPr lang="en-US" altLang="zh-CN" sz="16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strlen</a:t>
            </a:r>
            <a:r>
              <a:rPr lang="en-US" altLang="zh-CN" sz="16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(p);</a:t>
            </a:r>
            <a:endParaRPr lang="en-US" altLang="zh-CN" sz="1600" b="1" dirty="0" smtClean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 while ((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&lt;=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n) &amp;&amp; (j &lt;=m) )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{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if (t[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]==p[j])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{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</a:t>
            </a:r>
            <a:r>
              <a:rPr lang="en-US" altLang="zh-CN" sz="16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=i+1;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j=j+1;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}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else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{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</a:t>
            </a:r>
            <a:r>
              <a:rPr lang="en-US" altLang="zh-CN" sz="1600" b="1" u="sng" dirty="0" err="1" smtClean="0">
                <a:solidFill>
                  <a:srgbClr val="FF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b="1" u="sng" dirty="0" smtClean="0">
                <a:solidFill>
                  <a:srgbClr val="FF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=i-j+2</a:t>
            </a:r>
            <a:r>
              <a:rPr lang="en-US" altLang="zh-CN" sz="1600" b="1" u="sng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</a:t>
            </a:r>
            <a:r>
              <a:rPr lang="en-US" altLang="zh-CN" sz="16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j=1;</a:t>
            </a:r>
            <a:endParaRPr lang="en-US" altLang="zh-CN" sz="1600" b="1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}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if (</a:t>
            </a:r>
            <a:r>
              <a:rPr lang="en-US" altLang="zh-CN" sz="1600" b="1" dirty="0" smtClean="0">
                <a:solidFill>
                  <a:srgbClr val="FF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j== m+1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  \\</a:t>
            </a:r>
            <a:r>
              <a:rPr lang="zh-CN" altLang="en-US" sz="1600" b="1" dirty="0" smtClean="0">
                <a:solidFill>
                  <a:srgbClr val="FF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匹配成功</a:t>
            </a:r>
            <a:endParaRPr lang="en-US" altLang="zh-CN" sz="1600" b="1" dirty="0" smtClean="0">
              <a:solidFill>
                <a:srgbClr val="FF00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return (</a:t>
            </a:r>
            <a:r>
              <a:rPr lang="en-US" altLang="zh-CN" sz="1600" b="1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6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-m</a:t>
            </a: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else 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return(0);</a:t>
            </a:r>
            <a:endParaRPr lang="en-US" altLang="zh-CN" sz="16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}</a:t>
            </a:r>
            <a:endParaRPr kumimoji="1"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 smtClean="0"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6136" y="1916832"/>
            <a:ext cx="2966863" cy="40626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defRPr/>
            </a:pPr>
            <a:r>
              <a:rPr kumimoji="1" lang="en-US" altLang="zh-CN" sz="2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【</a:t>
            </a:r>
            <a:r>
              <a:rPr kumimoji="1" lang="zh-CN" alt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分析</a:t>
            </a:r>
            <a:r>
              <a:rPr kumimoji="1" lang="en-US" altLang="zh-CN" sz="2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】</a:t>
            </a:r>
            <a:endParaRPr kumimoji="1" lang="en-US" altLang="zh-CN" sz="2000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最坏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情况字符比较次数为：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(n-m+1)*m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最坏情况下算法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复杂度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: O(m*n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，具体取决于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的关系</a:t>
            </a:r>
            <a:endParaRPr kumimoji="1" lang="en-US" altLang="zh-CN" dirty="0" smtClean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原因在于每趟重新比较时，目标串的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检测指针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要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回退到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i-j+2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改进的模式匹配算法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可使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目标串的检测指针每趟不回退</a:t>
            </a:r>
            <a:r>
              <a:rPr kumimoji="1"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kumimoji="1"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5536" y="1179350"/>
            <a:ext cx="275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Brute-Force(BF)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算法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描述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 bwMode="auto">
          <a:xfrm>
            <a:off x="899592" y="2150453"/>
            <a:ext cx="144016" cy="549368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5868144" y="3972769"/>
            <a:ext cx="216024" cy="500347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652120" y="2249176"/>
            <a:ext cx="144016" cy="531752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331640" y="5589240"/>
            <a:ext cx="144016" cy="432048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115616" y="3861048"/>
            <a:ext cx="144016" cy="504056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39552" y="3234105"/>
            <a:ext cx="352839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=2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=i-j+2=3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b  a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b  c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j=1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9552" y="4908881"/>
            <a:ext cx="396044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=i-j+2=4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j=5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j=1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560" y="1153284"/>
            <a:ext cx="2787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【BF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算法匹配过程示例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】</a:t>
            </a:r>
            <a:endParaRPr lang="en-US" altLang="zh-CN" sz="18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 bwMode="auto">
          <a:xfrm flipV="1">
            <a:off x="1115616" y="3356992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/>
          <p:nvPr/>
        </p:nvCxnSpPr>
        <p:spPr bwMode="auto">
          <a:xfrm>
            <a:off x="1115616" y="4365104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箭头连接符 18"/>
          <p:cNvCxnSpPr/>
          <p:nvPr/>
        </p:nvCxnSpPr>
        <p:spPr bwMode="auto">
          <a:xfrm flipV="1">
            <a:off x="2339752" y="5013176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箭头连接符 20"/>
          <p:cNvCxnSpPr/>
          <p:nvPr/>
        </p:nvCxnSpPr>
        <p:spPr bwMode="auto">
          <a:xfrm flipV="1">
            <a:off x="2339752" y="6021288"/>
            <a:ext cx="0" cy="288032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/>
          <p:cNvSpPr txBox="1"/>
          <p:nvPr/>
        </p:nvSpPr>
        <p:spPr>
          <a:xfrm>
            <a:off x="4623639" y="1629630"/>
            <a:ext cx="396044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④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=i-j+2=5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b  c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j=1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/>
          <p:nvPr/>
        </p:nvCxnSpPr>
        <p:spPr bwMode="auto">
          <a:xfrm flipV="1">
            <a:off x="5652120" y="1799615"/>
            <a:ext cx="0" cy="218867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箭头连接符 29"/>
          <p:cNvCxnSpPr/>
          <p:nvPr/>
        </p:nvCxnSpPr>
        <p:spPr bwMode="auto">
          <a:xfrm>
            <a:off x="5659029" y="2812382"/>
            <a:ext cx="0" cy="217188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文本框 30"/>
          <p:cNvSpPr txBox="1"/>
          <p:nvPr/>
        </p:nvSpPr>
        <p:spPr>
          <a:xfrm>
            <a:off x="4661117" y="3350776"/>
            <a:ext cx="396044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⑤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a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c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           j=6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成功 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7092280" y="4421797"/>
            <a:ext cx="0" cy="347140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/>
          <p:cNvCxnSpPr/>
          <p:nvPr/>
        </p:nvCxnSpPr>
        <p:spPr bwMode="auto">
          <a:xfrm flipV="1">
            <a:off x="7092280" y="3401304"/>
            <a:ext cx="0" cy="2668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文本框 37"/>
          <p:cNvSpPr txBox="1"/>
          <p:nvPr/>
        </p:nvSpPr>
        <p:spPr>
          <a:xfrm>
            <a:off x="539553" y="1548962"/>
            <a:ext cx="352839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=5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=i-j+2=2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j=5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j=1 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/>
          <p:cNvCxnSpPr/>
          <p:nvPr/>
        </p:nvCxnSpPr>
        <p:spPr bwMode="auto">
          <a:xfrm flipV="1">
            <a:off x="1835696" y="1693743"/>
            <a:ext cx="0" cy="228759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箭头连接符 42"/>
          <p:cNvCxnSpPr/>
          <p:nvPr/>
        </p:nvCxnSpPr>
        <p:spPr bwMode="auto">
          <a:xfrm>
            <a:off x="1835696" y="2699821"/>
            <a:ext cx="0" cy="225123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905000" y="3733800"/>
            <a:ext cx="26670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3879068" y="3314700"/>
            <a:ext cx="304800" cy="838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612775" y="1219200"/>
            <a:ext cx="8207375" cy="51621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改进之处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在比较过程中，主串的下标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只增不减，不回溯，可使算法复杂度提高到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O(</a:t>
            </a:r>
            <a:r>
              <a:rPr lang="en-US" altLang="zh-CN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m+n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分析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1   2  3   4  5  6   7   8  9 10 11 12   13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主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串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   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   b   c  d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 b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c   d   a  b   e   g   h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en-US" altLang="zh-CN" sz="2400" dirty="0" err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endParaRPr lang="en-US" altLang="zh-CN" sz="2400" baseline="-25000" dirty="0">
              <a:solidFill>
                <a:schemeClr val="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子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串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 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  b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c  d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 b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e   g                       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…p</a:t>
            </a:r>
            <a:r>
              <a:rPr lang="en-US" altLang="zh-CN" sz="2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4.4 KMP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算法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17416" name="Text Box 7"/>
          <p:cNvSpPr txBox="1">
            <a:spLocks noChangeArrowheads="1"/>
          </p:cNvSpPr>
          <p:nvPr/>
        </p:nvSpPr>
        <p:spPr bwMode="auto">
          <a:xfrm>
            <a:off x="8305800" y="3573463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m&lt;n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3851275" y="2654727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=7</a:t>
            </a:r>
            <a:endParaRPr kumimoji="1"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8" name="Text Box 9"/>
          <p:cNvSpPr txBox="1">
            <a:spLocks noChangeArrowheads="1"/>
          </p:cNvSpPr>
          <p:nvPr/>
        </p:nvSpPr>
        <p:spPr bwMode="auto">
          <a:xfrm>
            <a:off x="3851275" y="4060825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j=7</a:t>
            </a:r>
            <a:endParaRPr kumimoji="1"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15370" name="Group 10"/>
          <p:cNvGrpSpPr/>
          <p:nvPr/>
        </p:nvGrpSpPr>
        <p:grpSpPr bwMode="auto">
          <a:xfrm>
            <a:off x="3241675" y="4347952"/>
            <a:ext cx="3048000" cy="777875"/>
            <a:chOff x="2064" y="2736"/>
            <a:chExt cx="1920" cy="490"/>
          </a:xfrm>
        </p:grpSpPr>
        <p:sp>
          <p:nvSpPr>
            <p:cNvPr id="17424" name="Rectangle 11"/>
            <p:cNvSpPr>
              <a:spLocks noChangeArrowheads="1"/>
            </p:cNvSpPr>
            <p:nvPr/>
          </p:nvSpPr>
          <p:spPr bwMode="auto">
            <a:xfrm>
              <a:off x="2064" y="2832"/>
              <a:ext cx="1728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7425" name="Text Box 12"/>
            <p:cNvSpPr txBox="1">
              <a:spLocks noChangeArrowheads="1"/>
            </p:cNvSpPr>
            <p:nvPr/>
          </p:nvSpPr>
          <p:spPr bwMode="auto">
            <a:xfrm>
              <a:off x="2064" y="2736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a  b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 c   d   a  b   e   g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7426" name="Text Box 13"/>
            <p:cNvSpPr txBox="1">
              <a:spLocks noChangeArrowheads="1"/>
            </p:cNvSpPr>
            <p:nvPr/>
          </p:nvSpPr>
          <p:spPr bwMode="auto">
            <a:xfrm>
              <a:off x="2448" y="297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j=3</a:t>
              </a:r>
              <a:endPara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374" name="Group 14"/>
          <p:cNvGrpSpPr/>
          <p:nvPr/>
        </p:nvGrpSpPr>
        <p:grpSpPr bwMode="auto">
          <a:xfrm>
            <a:off x="787400" y="5097463"/>
            <a:ext cx="7620000" cy="1200150"/>
            <a:chOff x="528" y="3168"/>
            <a:chExt cx="4800" cy="756"/>
          </a:xfrm>
        </p:grpSpPr>
        <p:sp>
          <p:nvSpPr>
            <p:cNvPr id="17421" name="Rectangle 15"/>
            <p:cNvSpPr>
              <a:spLocks noChangeArrowheads="1"/>
            </p:cNvSpPr>
            <p:nvPr/>
          </p:nvSpPr>
          <p:spPr bwMode="auto">
            <a:xfrm>
              <a:off x="3360" y="3456"/>
              <a:ext cx="1776" cy="33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7422" name="Text Box 16"/>
            <p:cNvSpPr txBox="1">
              <a:spLocks noChangeArrowheads="1"/>
            </p:cNvSpPr>
            <p:nvPr/>
          </p:nvSpPr>
          <p:spPr bwMode="auto">
            <a:xfrm>
              <a:off x="528" y="3168"/>
              <a:ext cx="4800" cy="7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本趟比较失配点：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=7, j=7 (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即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sym typeface="Symbol" panose="05050102010706020507" pitchFamily="18" charset="2"/>
                </a:rPr>
                <a:t>p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sym typeface="Symbol" panose="05050102010706020507" pitchFamily="18" charset="2"/>
                </a:rPr>
                <a:t>7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  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失配点处  </a:t>
              </a: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r>
                <a:rPr kumimoji="1" lang="en-US" altLang="zh-CN" sz="24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r>
                <a:rPr kumimoji="1" lang="en-US" altLang="zh-CN" sz="24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2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=t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=</a:t>
              </a: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r>
                <a:rPr kumimoji="1" lang="en-US" altLang="zh-CN" sz="24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5</a:t>
              </a: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r>
                <a:rPr kumimoji="1" lang="en-US" altLang="zh-CN" sz="24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6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                  </a:t>
              </a:r>
              <a:r>
                <a:rPr kumimoji="1"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r>
                <a:rPr kumimoji="1" lang="en-US" altLang="zh-CN" sz="24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  <a:r>
                <a:rPr kumimoji="1"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…p</a:t>
              </a:r>
              <a:r>
                <a:rPr kumimoji="1" lang="en-US" altLang="zh-CN" sz="24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k-1</a:t>
              </a:r>
              <a:r>
                <a:rPr kumimoji="1"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=p</a:t>
              </a:r>
              <a:r>
                <a:rPr kumimoji="1" lang="en-US" altLang="zh-CN" sz="24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j-k+1</a:t>
              </a:r>
              <a:r>
                <a:rPr kumimoji="1"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…p</a:t>
              </a:r>
              <a:r>
                <a:rPr kumimoji="1" lang="en-US" altLang="zh-CN" sz="24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j-1</a:t>
              </a:r>
              <a:endParaRPr kumimoji="1" lang="en-US" altLang="zh-CN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下趟比较：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不变，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j=k(</a:t>
              </a:r>
              <a:r>
                <a:rPr kumimoji="1" lang="zh-CN" altLang="zh-CN" sz="2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此处即</a:t>
              </a:r>
              <a:r>
                <a:rPr kumimoji="1" lang="en-US" altLang="zh-CN" sz="2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7423" name="AutoShape 17"/>
            <p:cNvSpPr>
              <a:spLocks noChangeArrowheads="1"/>
            </p:cNvSpPr>
            <p:nvPr/>
          </p:nvSpPr>
          <p:spPr bwMode="auto">
            <a:xfrm>
              <a:off x="2880" y="3552"/>
              <a:ext cx="432" cy="48"/>
            </a:xfrm>
            <a:prstGeom prst="rightArrow">
              <a:avLst>
                <a:gd name="adj1" fmla="val 50000"/>
                <a:gd name="adj2" fmla="val 225000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2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0" y="1052513"/>
            <a:ext cx="8001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引入</a:t>
            </a:r>
            <a:r>
              <a:rPr lang="en-US" altLang="zh-CN" sz="24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</a:t>
            </a: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数组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3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200150"/>
            <a:ext cx="8077200" cy="5181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next[j]=k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：</a:t>
            </a:r>
            <a:r>
              <a:rPr lang="en-US" altLang="zh-CN" sz="2000" dirty="0" smtClean="0">
                <a:ea typeface="华文楷体" panose="02010600040101010101" pitchFamily="2" charset="-122"/>
              </a:rPr>
              <a:t>k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是当模式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子串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中第</a:t>
            </a:r>
            <a:r>
              <a:rPr lang="en-US" altLang="zh-CN" sz="2000" dirty="0" smtClean="0">
                <a:ea typeface="华文楷体" panose="02010600040101010101" pitchFamily="2" charset="-122"/>
              </a:rPr>
              <a:t>j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个字符与主串中相应字符（第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个）“失配” 时，在模式中需重新和主串中该字符进行比较的字符的位置。</a:t>
            </a:r>
            <a:endParaRPr lang="zh-CN" altLang="en-US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              </a:t>
            </a:r>
            <a:endParaRPr lang="zh-CN" altLang="en-US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         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0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j=1 </a:t>
            </a:r>
            <a:r>
              <a:rPr lang="zh-CN" altLang="zh-CN" sz="2000" dirty="0" smtClean="0">
                <a:ea typeface="华文楷体" panose="02010600040101010101" pitchFamily="2" charset="-122"/>
              </a:rPr>
              <a:t>时 {</a:t>
            </a:r>
            <a:r>
              <a:rPr lang="zh-CN" altLang="zh-CN" sz="2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代表下一趟比较</a:t>
            </a:r>
            <a:r>
              <a:rPr lang="en-US" altLang="zh-CN" sz="2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=i+1</a:t>
            </a:r>
            <a:r>
              <a:rPr lang="zh-CN" altLang="en-US" sz="2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j=j+1=1</a:t>
            </a: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max{k |</a:t>
            </a:r>
            <a:r>
              <a:rPr lang="en-US" altLang="zh-CN" sz="20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1&lt;k&lt;j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zh-CN" altLang="zh-CN" sz="2000" dirty="0" smtClean="0">
                <a:ea typeface="华文楷体" panose="02010600040101010101" pitchFamily="2" charset="-122"/>
              </a:rPr>
              <a:t>且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‘</a:t>
            </a:r>
            <a:r>
              <a:rPr lang="en-US" altLang="zh-CN" sz="2000" dirty="0" smtClean="0">
                <a:ea typeface="华文楷体" panose="02010600040101010101" pitchFamily="2" charset="-122"/>
              </a:rPr>
              <a:t>p</a:t>
            </a:r>
            <a:r>
              <a:rPr lang="en-US" altLang="zh-CN" sz="20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000" dirty="0" smtClean="0">
                <a:ea typeface="华文楷体" panose="02010600040101010101" pitchFamily="2" charset="-122"/>
              </a:rPr>
              <a:t>…p</a:t>
            </a:r>
            <a:r>
              <a:rPr lang="en-US" altLang="zh-CN" sz="2000" baseline="-25000" dirty="0" smtClean="0">
                <a:ea typeface="华文楷体" panose="02010600040101010101" pitchFamily="2" charset="-122"/>
              </a:rPr>
              <a:t>k-1</a:t>
            </a:r>
            <a:r>
              <a:rPr lang="en-US" altLang="zh-CN" sz="2000" dirty="0" smtClean="0">
                <a:ea typeface="华文楷体" panose="02010600040101010101" pitchFamily="2" charset="-122"/>
              </a:rPr>
              <a:t>’=‘p</a:t>
            </a:r>
            <a:r>
              <a:rPr lang="en-US" altLang="zh-CN" sz="2000" baseline="-25000" dirty="0" smtClean="0">
                <a:ea typeface="华文楷体" panose="02010600040101010101" pitchFamily="2" charset="-122"/>
              </a:rPr>
              <a:t>j-k+1</a:t>
            </a:r>
            <a:r>
              <a:rPr lang="en-US" altLang="zh-CN" sz="2000" dirty="0" smtClean="0">
                <a:ea typeface="华文楷体" panose="02010600040101010101" pitchFamily="2" charset="-122"/>
              </a:rPr>
              <a:t>…p</a:t>
            </a:r>
            <a:r>
              <a:rPr lang="en-US" altLang="zh-CN" sz="20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000" dirty="0" smtClean="0">
                <a:ea typeface="华文楷体" panose="02010600040101010101" pitchFamily="2" charset="-122"/>
              </a:rPr>
              <a:t>’}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当此集合不空时</a:t>
            </a:r>
            <a:endParaRPr lang="zh-CN" altLang="en-US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          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 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其它情况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zh-CN" sz="2000" dirty="0" smtClean="0">
                <a:ea typeface="华文楷体" panose="02010600040101010101" pitchFamily="2" charset="-122"/>
              </a:rPr>
              <a:t>即</a:t>
            </a:r>
            <a:r>
              <a:rPr lang="en-US" altLang="zh-CN" sz="2000" dirty="0" smtClean="0">
                <a:ea typeface="华文楷体" panose="02010600040101010101" pitchFamily="2" charset="-122"/>
              </a:rPr>
              <a:t>j</a:t>
            </a:r>
            <a:r>
              <a:rPr lang="en-US" altLang="zh-CN" sz="2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1</a:t>
            </a:r>
            <a:r>
              <a:rPr lang="zh-CN" altLang="zh-CN" sz="2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且</a:t>
            </a:r>
            <a:r>
              <a:rPr lang="zh-CN" altLang="zh-CN" sz="2000" dirty="0" smtClean="0">
                <a:ea typeface="华文楷体" panose="02010600040101010101" pitchFamily="2" charset="-122"/>
              </a:rPr>
              <a:t>上述集合为空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ea typeface="华文楷体" panose="02010600040101010101" pitchFamily="2" charset="-122"/>
            </a:endParaRPr>
          </a:p>
        </p:txBody>
      </p:sp>
      <p:sp>
        <p:nvSpPr>
          <p:cNvPr id="18439" name="AutoShape 6"/>
          <p:cNvSpPr/>
          <p:nvPr/>
        </p:nvSpPr>
        <p:spPr bwMode="auto">
          <a:xfrm>
            <a:off x="1730949" y="2663825"/>
            <a:ext cx="304800" cy="2209800"/>
          </a:xfrm>
          <a:prstGeom prst="leftBrace">
            <a:avLst>
              <a:gd name="adj1" fmla="val 6041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0" name="Text Box 7"/>
          <p:cNvSpPr txBox="1">
            <a:spLocks noChangeArrowheads="1"/>
          </p:cNvSpPr>
          <p:nvPr/>
        </p:nvSpPr>
        <p:spPr bwMode="auto">
          <a:xfrm>
            <a:off x="357916" y="3509454"/>
            <a:ext cx="1601788" cy="518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next[j]=</a:t>
            </a:r>
            <a:endParaRPr kumimoji="1"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1" name="Text Box 8"/>
          <p:cNvSpPr txBox="1">
            <a:spLocks noChangeArrowheads="1"/>
          </p:cNvSpPr>
          <p:nvPr/>
        </p:nvSpPr>
        <p:spPr bwMode="auto">
          <a:xfrm>
            <a:off x="4859338" y="36195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下一趟比较</a:t>
            </a:r>
            <a:r>
              <a:rPr kumimoji="1" lang="en-US" altLang="zh-CN" sz="2400" dirty="0" err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不变，</a:t>
            </a: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j=k}</a:t>
            </a:r>
            <a:endParaRPr kumimoji="1"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2" name="Text Box 9"/>
          <p:cNvSpPr txBox="1">
            <a:spLocks noChangeArrowheads="1"/>
          </p:cNvSpPr>
          <p:nvPr/>
        </p:nvSpPr>
        <p:spPr bwMode="auto">
          <a:xfrm>
            <a:off x="4427538" y="4411663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下一趟比较</a:t>
            </a:r>
            <a:r>
              <a:rPr kumimoji="1" lang="en-US" altLang="zh-CN" sz="2400" dirty="0" err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不变，</a:t>
            </a: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j=1}</a:t>
            </a:r>
            <a:endParaRPr kumimoji="1" lang="en-US" altLang="zh-CN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443" name="Text Box 10"/>
          <p:cNvSpPr txBox="1">
            <a:spLocks noChangeArrowheads="1"/>
          </p:cNvSpPr>
          <p:nvPr/>
        </p:nvSpPr>
        <p:spPr bwMode="auto">
          <a:xfrm>
            <a:off x="1028700" y="393898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16395" name="Group 11"/>
          <p:cNvGrpSpPr/>
          <p:nvPr/>
        </p:nvGrpSpPr>
        <p:grpSpPr bwMode="auto">
          <a:xfrm>
            <a:off x="3717925" y="578485"/>
            <a:ext cx="4495800" cy="2133600"/>
            <a:chOff x="2160" y="1824"/>
            <a:chExt cx="2832" cy="1344"/>
          </a:xfrm>
        </p:grpSpPr>
        <p:sp>
          <p:nvSpPr>
            <p:cNvPr id="18445" name="Rectangle 12"/>
            <p:cNvSpPr>
              <a:spLocks noChangeArrowheads="1"/>
            </p:cNvSpPr>
            <p:nvPr/>
          </p:nvSpPr>
          <p:spPr bwMode="auto">
            <a:xfrm>
              <a:off x="2160" y="1824"/>
              <a:ext cx="2832" cy="134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46" name="Rectangle 13"/>
            <p:cNvSpPr>
              <a:spLocks noChangeArrowheads="1"/>
            </p:cNvSpPr>
            <p:nvPr/>
          </p:nvSpPr>
          <p:spPr bwMode="auto">
            <a:xfrm>
              <a:off x="2544" y="2352"/>
              <a:ext cx="2352" cy="192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47" name="Rectangle 14"/>
            <p:cNvSpPr>
              <a:spLocks noChangeArrowheads="1"/>
            </p:cNvSpPr>
            <p:nvPr/>
          </p:nvSpPr>
          <p:spPr bwMode="auto">
            <a:xfrm>
              <a:off x="2832" y="2064"/>
              <a:ext cx="1440" cy="1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48" name="Text Box 15"/>
            <p:cNvSpPr txBox="1">
              <a:spLocks noChangeArrowheads="1"/>
            </p:cNvSpPr>
            <p:nvPr/>
          </p:nvSpPr>
          <p:spPr bwMode="auto">
            <a:xfrm>
              <a:off x="2304" y="2304"/>
              <a:ext cx="3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t</a:t>
              </a:r>
              <a:endPara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49" name="Rectangle 16"/>
            <p:cNvSpPr>
              <a:spLocks noChangeArrowheads="1"/>
            </p:cNvSpPr>
            <p:nvPr/>
          </p:nvSpPr>
          <p:spPr bwMode="auto">
            <a:xfrm>
              <a:off x="3120" y="2688"/>
              <a:ext cx="1440" cy="1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0" name="Line 17"/>
            <p:cNvSpPr>
              <a:spLocks noChangeShapeType="1"/>
            </p:cNvSpPr>
            <p:nvPr/>
          </p:nvSpPr>
          <p:spPr bwMode="auto">
            <a:xfrm>
              <a:off x="3696" y="2064"/>
              <a:ext cx="0" cy="816"/>
            </a:xfrm>
            <a:prstGeom prst="line">
              <a:avLst/>
            </a:prstGeom>
            <a:noFill/>
            <a:ln w="9525">
              <a:noFill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1" name="Line 18"/>
            <p:cNvSpPr>
              <a:spLocks noChangeShapeType="1"/>
            </p:cNvSpPr>
            <p:nvPr/>
          </p:nvSpPr>
          <p:spPr bwMode="auto">
            <a:xfrm>
              <a:off x="3840" y="2064"/>
              <a:ext cx="0" cy="816"/>
            </a:xfrm>
            <a:prstGeom prst="line">
              <a:avLst/>
            </a:prstGeom>
            <a:noFill/>
            <a:ln w="9525">
              <a:noFill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2" name="Text Box 19"/>
            <p:cNvSpPr txBox="1">
              <a:spLocks noChangeArrowheads="1"/>
            </p:cNvSpPr>
            <p:nvPr/>
          </p:nvSpPr>
          <p:spPr bwMode="auto">
            <a:xfrm>
              <a:off x="3696" y="1824"/>
              <a:ext cx="3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j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3" name="Text Box 20"/>
            <p:cNvSpPr txBox="1">
              <a:spLocks noChangeArrowheads="1"/>
            </p:cNvSpPr>
            <p:nvPr/>
          </p:nvSpPr>
          <p:spPr bwMode="auto">
            <a:xfrm>
              <a:off x="3648" y="2880"/>
              <a:ext cx="192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k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4" name="Line 21"/>
            <p:cNvSpPr>
              <a:spLocks noChangeShapeType="1"/>
            </p:cNvSpPr>
            <p:nvPr/>
          </p:nvSpPr>
          <p:spPr bwMode="auto">
            <a:xfrm flipV="1">
              <a:off x="3120" y="2064"/>
              <a:ext cx="0" cy="624"/>
            </a:xfrm>
            <a:prstGeom prst="line">
              <a:avLst/>
            </a:prstGeom>
            <a:noFill/>
            <a:ln w="9525">
              <a:noFill/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5" name="Text Box 22"/>
            <p:cNvSpPr txBox="1">
              <a:spLocks noChangeArrowheads="1"/>
            </p:cNvSpPr>
            <p:nvPr/>
          </p:nvSpPr>
          <p:spPr bwMode="auto">
            <a:xfrm>
              <a:off x="2592" y="201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endPara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6" name="Text Box 23"/>
            <p:cNvSpPr txBox="1">
              <a:spLocks noChangeArrowheads="1"/>
            </p:cNvSpPr>
            <p:nvPr/>
          </p:nvSpPr>
          <p:spPr bwMode="auto">
            <a:xfrm>
              <a:off x="2880" y="268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p</a:t>
              </a:r>
              <a:endPara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7" name="Rectangle 24" descr="宽下对角线"/>
            <p:cNvSpPr>
              <a:spLocks noChangeArrowheads="1"/>
            </p:cNvSpPr>
            <p:nvPr/>
          </p:nvSpPr>
          <p:spPr bwMode="auto">
            <a:xfrm>
              <a:off x="3120" y="2064"/>
              <a:ext cx="576" cy="192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8" name="Rectangle 25" descr="宽上对角线"/>
            <p:cNvSpPr>
              <a:spLocks noChangeArrowheads="1"/>
            </p:cNvSpPr>
            <p:nvPr/>
          </p:nvSpPr>
          <p:spPr bwMode="auto">
            <a:xfrm>
              <a:off x="3120" y="2688"/>
              <a:ext cx="576" cy="19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4106" y="4900696"/>
          <a:ext cx="5537996" cy="1170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164"/>
                <a:gridCol w="320038"/>
                <a:gridCol w="291513"/>
                <a:gridCol w="395571"/>
                <a:gridCol w="395571"/>
                <a:gridCol w="395571"/>
                <a:gridCol w="395571"/>
                <a:gridCol w="395571"/>
                <a:gridCol w="395571"/>
                <a:gridCol w="395571"/>
                <a:gridCol w="395571"/>
                <a:gridCol w="395571"/>
                <a:gridCol w="395571"/>
                <a:gridCol w="395571"/>
              </a:tblGrid>
              <a:tr h="375843"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j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7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8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9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10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12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13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5053">
                <a:tc>
                  <a:txBody>
                    <a:bodyPr/>
                    <a:lstStyle/>
                    <a:p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b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c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d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b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c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d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b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e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g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h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9894">
                <a:tc>
                  <a:txBody>
                    <a:bodyPr/>
                    <a:lstStyle/>
                    <a:p>
                      <a:r>
                        <a:rPr lang="en-US" altLang="zh-CN" sz="1200" baseline="0" dirty="0" smtClean="0">
                          <a:latin typeface="Times New Roman" panose="02020603050405020304" pitchFamily="18" charset="0"/>
                        </a:rPr>
                        <a:t>next[j]</a:t>
                      </a:r>
                      <a:endParaRPr lang="zh-CN" altLang="en-US" sz="12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7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400" baseline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686402" y="5451624"/>
          <a:ext cx="335269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69"/>
                <a:gridCol w="469495"/>
                <a:gridCol w="558782"/>
                <a:gridCol w="558782"/>
                <a:gridCol w="558782"/>
                <a:gridCol w="558782"/>
              </a:tblGrid>
              <a:tr h="293364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3364"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3364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next[j]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0450"/>
            <a:ext cx="822960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KMP</a:t>
            </a:r>
            <a:r>
              <a:rPr lang="zh-CN" altLang="zh-CN" sz="1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算法描述</a:t>
            </a:r>
            <a:endParaRPr lang="zh-CN" altLang="en-US" sz="1800" b="1" dirty="0" smtClean="0">
              <a:solidFill>
                <a:srgbClr val="993300"/>
              </a:solidFill>
              <a:ea typeface="华文楷体" panose="02010600040101010101" pitchFamily="2" charset="-122"/>
            </a:endParaRPr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323851" y="1414463"/>
            <a:ext cx="7416502" cy="5183187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KMP-index(char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*t, char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*p,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*next)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=1; j=1;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 = 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(t); m = 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(p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while((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&lt;=n) &amp;&amp; (j&lt;=m))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if ((t[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]==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p[j]) 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||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j==0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++;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}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else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j=next[j];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}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if (j==m+1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\\</a:t>
            </a:r>
            <a:r>
              <a:rPr lang="zh-CN" altLang="en-US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匹配成功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return (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-m);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else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return 0;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 bwMode="auto">
          <a:xfrm>
            <a:off x="971600" y="2708920"/>
            <a:ext cx="216024" cy="432048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2339752" y="5940616"/>
            <a:ext cx="216024" cy="460184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1907704" y="4221088"/>
            <a:ext cx="144016" cy="576064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【KMP</a:t>
            </a:r>
            <a:r>
              <a:rPr lang="zh-CN" altLang="en-US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算法匹配过程示例</a:t>
            </a:r>
            <a:r>
              <a:rPr lang="en-US" altLang="zh-CN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】</a:t>
            </a:r>
            <a:endParaRPr lang="en-US" altLang="zh-CN" sz="24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模式串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 =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ababc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next[j] = 01123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8766" y="2019166"/>
            <a:ext cx="513129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=5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j=5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j=next[5] =3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8766" y="3624471"/>
            <a:ext cx="513129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j=5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j=next[5] =3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8766" y="5299247"/>
            <a:ext cx="513129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=10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1  2  3  4  5  6  7  8  9  10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a  b  a  b  c  a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b  a  b  c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j=6 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成功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flipV="1">
            <a:off x="1979712" y="2204864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/>
          <p:nvPr/>
        </p:nvCxnSpPr>
        <p:spPr bwMode="auto">
          <a:xfrm>
            <a:off x="1979712" y="3140968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2411760" y="3717032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箭头连接符 22"/>
          <p:cNvCxnSpPr/>
          <p:nvPr/>
        </p:nvCxnSpPr>
        <p:spPr bwMode="auto">
          <a:xfrm>
            <a:off x="2411760" y="4725144"/>
            <a:ext cx="0" cy="288032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箭头连接符 25"/>
          <p:cNvCxnSpPr/>
          <p:nvPr/>
        </p:nvCxnSpPr>
        <p:spPr bwMode="auto">
          <a:xfrm flipV="1">
            <a:off x="3203848" y="5373216"/>
            <a:ext cx="0" cy="304647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箭头连接符 27"/>
          <p:cNvCxnSpPr/>
          <p:nvPr/>
        </p:nvCxnSpPr>
        <p:spPr bwMode="auto">
          <a:xfrm>
            <a:off x="3131840" y="6400800"/>
            <a:ext cx="0" cy="268560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114800" y="3135313"/>
            <a:ext cx="41910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2819400" y="2601913"/>
            <a:ext cx="44196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133600" y="2133600"/>
            <a:ext cx="44958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2819400" y="2133600"/>
            <a:ext cx="2209800" cy="381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7772400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b="0" dirty="0" smtClean="0">
                <a:ea typeface="华文楷体" panose="02010600040101010101" pitchFamily="2" charset="-122"/>
              </a:rPr>
              <a:t>求</a:t>
            </a:r>
            <a:r>
              <a:rPr lang="en-US" altLang="zh-CN" b="0" dirty="0" smtClean="0">
                <a:ea typeface="华文楷体" panose="02010600040101010101" pitchFamily="2" charset="-122"/>
              </a:rPr>
              <a:t>next</a:t>
            </a:r>
            <a:r>
              <a:rPr lang="zh-CN" altLang="en-US" b="0" dirty="0" smtClean="0">
                <a:ea typeface="华文楷体" panose="02010600040101010101" pitchFamily="2" charset="-122"/>
              </a:rPr>
              <a:t>数组值</a:t>
            </a:r>
            <a:endParaRPr lang="zh-CN" altLang="en-US" b="0" dirty="0" smtClean="0">
              <a:ea typeface="华文楷体" panose="02010600040101010101" pitchFamily="2" charset="-122"/>
            </a:endParaRP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819400" y="2601913"/>
            <a:ext cx="2209800" cy="381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8686800" cy="51816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算法思想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：利用递推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即已知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next[1]=0, … next[j]=k;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求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next[j+1]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主串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...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j-k+1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j-k+2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…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j-1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j+1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m</a:t>
            </a:r>
            <a:endParaRPr lang="en-US" altLang="zh-CN" sz="2400" baseline="-250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子串  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…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k-1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4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…  ... … 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m</a:t>
            </a:r>
            <a:endParaRPr lang="en-US" altLang="zh-CN" sz="2400" baseline="-25000" dirty="0" smtClean="0">
              <a:ea typeface="华文楷体" panose="02010600040101010101" pitchFamily="2" charset="-122"/>
            </a:endParaRPr>
          </a:p>
          <a:p>
            <a:pPr eaLnBrk="1" hangingPunct="1"/>
            <a:endParaRPr lang="zh-CN" altLang="zh-CN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next</a:t>
            </a:r>
            <a:r>
              <a:rPr lang="zh-CN" altLang="en-US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求值</a:t>
            </a:r>
            <a:r>
              <a:rPr lang="zh-CN" altLang="zh-CN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算法描述</a:t>
            </a:r>
            <a:endParaRPr lang="zh-CN" altLang="en-US" sz="2400" b="1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4114800" y="3135313"/>
            <a:ext cx="914400" cy="457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4114800" y="3059113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... </a:t>
            </a:r>
            <a:r>
              <a:rPr kumimoji="1" lang="en-US" altLang="zh-CN" sz="24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kumimoji="1" lang="en-US" altLang="zh-CN" sz="2400" baseline="-25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</a:t>
            </a:r>
            <a:r>
              <a:rPr kumimoji="1" lang="en-US" altLang="zh-CN" sz="2400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[k]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...        ...        ... p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0493" name="Rectangle 14"/>
          <p:cNvSpPr>
            <a:spLocks noChangeArrowheads="1"/>
          </p:cNvSpPr>
          <p:nvPr/>
        </p:nvSpPr>
        <p:spPr bwMode="auto">
          <a:xfrm>
            <a:off x="611189" y="3933825"/>
            <a:ext cx="7161212" cy="2735263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get_next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*next, char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*p)   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j=1; k=0; next[1] =0;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while(j &lt;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(p))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{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if ((k==0) || (p[k]==p[j])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kumimoji="1" lang="en-US" altLang="zh-CN" sz="1800" b="1" u="sng" dirty="0">
                <a:latin typeface="Times New Roman" panose="02020603050405020304" pitchFamily="18" charset="0"/>
                <a:ea typeface="华文楷体" panose="02010600040101010101" pitchFamily="2" charset="-122"/>
              </a:rPr>
              <a:t>next[++j]=++k;</a:t>
            </a:r>
            <a:endParaRPr kumimoji="1" lang="en-US" altLang="zh-CN" sz="18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else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k=next[k];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}  }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85800"/>
          </a:xfrm>
          <a:noFill/>
        </p:spPr>
        <p:txBody>
          <a:bodyPr/>
          <a:lstStyle/>
          <a:p>
            <a:pPr algn="l" eaLnBrk="1" hangingPunct="1"/>
            <a:r>
              <a:rPr lang="zh-CN" altLang="en-US" b="0" dirty="0" smtClean="0">
                <a:ea typeface="华文楷体" panose="02010600040101010101" pitchFamily="2" charset="-122"/>
              </a:rPr>
              <a:t>修正</a:t>
            </a:r>
            <a:r>
              <a:rPr lang="en-US" altLang="zh-CN" b="0" dirty="0" smtClean="0">
                <a:ea typeface="华文楷体" panose="02010600040101010101" pitchFamily="2" charset="-122"/>
              </a:rPr>
              <a:t>next</a:t>
            </a:r>
            <a:r>
              <a:rPr lang="zh-CN" altLang="en-US" b="0" dirty="0" smtClean="0">
                <a:ea typeface="华文楷体" panose="02010600040101010101" pitchFamily="2" charset="-122"/>
              </a:rPr>
              <a:t>数组</a:t>
            </a:r>
            <a:endParaRPr lang="zh-CN" altLang="en-US" b="0" dirty="0" smtClean="0">
              <a:ea typeface="华文楷体" panose="02010600040101010101" pitchFamily="2" charset="-122"/>
            </a:endParaRP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11288"/>
            <a:ext cx="7772400" cy="5257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next</a:t>
            </a:r>
            <a:r>
              <a:rPr lang="zh-CN" altLang="zh-CN" sz="2400" b="1" dirty="0" smtClean="0">
                <a:ea typeface="华文楷体" panose="02010600040101010101" pitchFamily="2" charset="-122"/>
              </a:rPr>
              <a:t>数组的缺陷</a:t>
            </a:r>
            <a:endParaRPr lang="zh-CN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T= a b c a b c a x a b c a b c a b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 c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P= a b c a b c a b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 c                          next[8]=5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a b c a b c a b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 c                 next[5]=2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a b c a b c a b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 c        next[2]=1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a b c a b c a b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 c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存在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8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5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因此当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8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p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8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时，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8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5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、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p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的比较是无意义的。</a:t>
            </a:r>
            <a:endParaRPr lang="zh-CN" altLang="en-US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改进方法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用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nextval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数组代替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next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数组</a:t>
            </a:r>
            <a:endParaRPr lang="zh-CN" altLang="en-US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求出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处的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值；若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nextval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[j]=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nextval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[k]    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否则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nextval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[j]=k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H="1">
            <a:off x="2959101" y="2187575"/>
            <a:ext cx="139699" cy="1905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3098800" y="2187575"/>
            <a:ext cx="0" cy="304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3098800" y="2624138"/>
            <a:ext cx="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3030942" y="2624138"/>
            <a:ext cx="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3098800" y="3055938"/>
            <a:ext cx="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3030942" y="3055938"/>
            <a:ext cx="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946400" y="1479281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kumimoji="1"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2870200" y="37274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flipV="1">
            <a:off x="2959101" y="2301875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err="1" smtClean="0">
                <a:solidFill>
                  <a:srgbClr val="993300"/>
                </a:solidFill>
                <a:ea typeface="华文楷体" panose="02010600040101010101" pitchFamily="2" charset="-122"/>
              </a:rPr>
              <a:t>nextval</a:t>
            </a:r>
            <a:r>
              <a:rPr lang="zh-CN" altLang="en-US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求值算法描述</a:t>
            </a:r>
            <a:endParaRPr lang="zh-CN" altLang="en-US" b="1" dirty="0" smtClean="0">
              <a:solidFill>
                <a:srgbClr val="99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rgbClr val="993300"/>
              </a:solidFill>
              <a:ea typeface="华文楷体" panose="02010600040101010101" pitchFamily="2" charset="-122"/>
            </a:endParaRP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179512" y="1748060"/>
            <a:ext cx="8424863" cy="4824413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get_nextval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, char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*p)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j=1; k=0;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[1]=0;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while (j &lt;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(p))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{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if (k==0 || p[j]==p[k])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2000" u="sng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if (p[++j] != p[++k])</a:t>
            </a:r>
            <a:endParaRPr lang="en-US" altLang="zh-CN" sz="2000" u="sng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</a:t>
            </a:r>
            <a:r>
              <a:rPr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[j]=k;</a:t>
            </a:r>
            <a:endParaRPr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else</a:t>
            </a:r>
            <a:endParaRPr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</a:t>
            </a:r>
            <a:r>
              <a:rPr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[j]=</a:t>
            </a:r>
            <a:r>
              <a:rPr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[k];</a:t>
            </a:r>
            <a:endParaRPr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else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k=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[k];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}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491880" y="2959938"/>
            <a:ext cx="4847093" cy="1200329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1800" b="1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</a:t>
            </a: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    1  2 3 4 5 6 7 8 9 10 11     </a:t>
            </a:r>
            <a:r>
              <a:rPr kumimoji="1" lang="en-US" altLang="zh-CN" sz="1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1 2 3 4  5</a:t>
            </a:r>
            <a:endParaRPr kumimoji="1" lang="en-US" altLang="zh-CN" sz="18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 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 c a b c a b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a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c        a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b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next[j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    0  1 1 1 2 3 4 5 6  1  2      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1 2 3 4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[j]    0  1 1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1 1 0 1 6  0  2     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0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0 4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改进的</a:t>
            </a:r>
            <a:r>
              <a:rPr lang="en-US" altLang="zh-CN" sz="2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KMP</a:t>
            </a:r>
            <a:r>
              <a:rPr lang="zh-CN" altLang="zh-CN" sz="2800" b="1" dirty="0">
                <a:solidFill>
                  <a:srgbClr val="993300"/>
                </a:solidFill>
                <a:ea typeface="华文楷体" panose="02010600040101010101" pitchFamily="2" charset="-122"/>
              </a:rPr>
              <a:t>算法描述</a:t>
            </a:r>
            <a:endParaRPr lang="zh-CN" altLang="en-US" sz="2800" b="1" dirty="0">
              <a:solidFill>
                <a:srgbClr val="9933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9418" y="1593504"/>
            <a:ext cx="8208963" cy="5183187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KMP-index(char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*t, char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*p,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=1; j=1;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 = 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(t); m = 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strlen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(p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while((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&lt;=n) &amp;&amp; (j&lt;=m))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if ((t[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]==</a:t>
            </a: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p[j]) 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|| j==0)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{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++;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}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else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b="1" u="sng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j=</a:t>
            </a:r>
            <a:r>
              <a:rPr lang="en-US" altLang="zh-CN" sz="1800" b="1" u="sng" dirty="0" err="1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nextval</a:t>
            </a:r>
            <a:r>
              <a:rPr lang="en-US" altLang="zh-CN" sz="1800" b="1" u="sng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[j</a:t>
            </a:r>
            <a:r>
              <a:rPr lang="en-US" altLang="zh-CN" sz="18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];</a:t>
            </a:r>
            <a:endParaRPr lang="en-US" altLang="zh-CN" sz="1800" b="1" u="sng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}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if (j==m+1)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return (</a:t>
            </a:r>
            <a:r>
              <a:rPr lang="en-US" altLang="zh-CN" sz="18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-m);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else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return 0;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 bwMode="auto">
          <a:xfrm>
            <a:off x="2699792" y="6036798"/>
            <a:ext cx="216024" cy="473178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5508104" y="4365104"/>
            <a:ext cx="216024" cy="576064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508104" y="2780928"/>
            <a:ext cx="216024" cy="619498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475656" y="4509120"/>
            <a:ext cx="144016" cy="504056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27584" y="2924944"/>
            <a:ext cx="144016" cy="504056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92894"/>
            <a:ext cx="8229600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C00000"/>
                </a:solidFill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ext</a:t>
            </a:r>
            <a:r>
              <a:rPr lang="zh-CN" altLang="en-US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数组修订前后匹配过程对比示例</a:t>
            </a:r>
            <a:endParaRPr lang="en-US" altLang="zh-CN" sz="24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模式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串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aaaab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next[j]=01234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nextval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[j] =00004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57200" y="2299334"/>
            <a:ext cx="361074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j=next[4] =3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7516" y="1898644"/>
            <a:ext cx="239039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修订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前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next[j]=01234 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7200" y="3887291"/>
            <a:ext cx="361074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j=3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j=next[3] =2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1547664" y="2348880"/>
            <a:ext cx="0" cy="288032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>
            <a:off x="1547664" y="3429000"/>
            <a:ext cx="0" cy="288032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1547664" y="4005064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箭头连接符 18"/>
          <p:cNvCxnSpPr/>
          <p:nvPr/>
        </p:nvCxnSpPr>
        <p:spPr bwMode="auto">
          <a:xfrm>
            <a:off x="1547664" y="5013176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/>
          <p:cNvSpPr txBox="1"/>
          <p:nvPr/>
        </p:nvSpPr>
        <p:spPr>
          <a:xfrm>
            <a:off x="4501765" y="2239704"/>
            <a:ext cx="361074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j=2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j=next[2] =1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 flipV="1">
            <a:off x="5616116" y="2348880"/>
            <a:ext cx="0" cy="288032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/>
          <p:nvPr/>
        </p:nvCxnSpPr>
        <p:spPr bwMode="auto">
          <a:xfrm>
            <a:off x="5616116" y="3400426"/>
            <a:ext cx="0" cy="244598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文本框 25"/>
          <p:cNvSpPr txBox="1"/>
          <p:nvPr/>
        </p:nvSpPr>
        <p:spPr>
          <a:xfrm>
            <a:off x="4494819" y="3788897"/>
            <a:ext cx="439701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④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=i+1=5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j=1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j=next[1] =0,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</a:t>
            </a:r>
            <a:r>
              <a:rPr lang="en-US" altLang="zh-CN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j++</a:t>
            </a:r>
            <a:r>
              <a:rPr lang="zh-CN" altLang="en-US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j=1</a:t>
            </a:r>
            <a:endParaRPr lang="zh-CN" altLang="en-US" b="1" u="sng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75656" y="5383998"/>
            <a:ext cx="504056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⑤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=10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j=6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成功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 flipV="1">
            <a:off x="3851275" y="5475248"/>
            <a:ext cx="0" cy="216703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/>
          <p:cNvCxnSpPr/>
          <p:nvPr/>
        </p:nvCxnSpPr>
        <p:spPr bwMode="auto">
          <a:xfrm>
            <a:off x="3851275" y="6556920"/>
            <a:ext cx="0" cy="256456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2051720" y="4437112"/>
            <a:ext cx="216024" cy="483969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187624" y="2492896"/>
            <a:ext cx="144016" cy="504056"/>
          </a:xfrm>
          <a:prstGeom prst="rect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34116" y="1346766"/>
            <a:ext cx="268535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修订后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nextval</a:t>
            </a:r>
            <a:r>
              <a:rPr lang="en-US" altLang="zh-CN" sz="1800" dirty="0" smtClean="0">
                <a:ea typeface="华文楷体" panose="02010600040101010101" pitchFamily="2" charset="-122"/>
              </a:rPr>
              <a:t>[j] =00004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4116" y="1844824"/>
            <a:ext cx="467398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修订为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=i+1=5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j=4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nextval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[4] =0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，后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j=j+1=1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1907704" y="1988840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/>
          <p:nvPr/>
        </p:nvCxnSpPr>
        <p:spPr bwMode="auto">
          <a:xfrm>
            <a:off x="1907704" y="2996952"/>
            <a:ext cx="0" cy="216024"/>
          </a:xfrm>
          <a:prstGeom prst="straightConnector1">
            <a:avLst/>
          </a:prstGeom>
          <a:solidFill>
            <a:srgbClr val="CCFFFF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/>
          <p:cNvSpPr txBox="1"/>
          <p:nvPr/>
        </p:nvSpPr>
        <p:spPr>
          <a:xfrm>
            <a:off x="834116" y="3773510"/>
            <a:ext cx="504056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 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=10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1  2  3  4  5  6  7  8  9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主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ea typeface="华文楷体" panose="02010600040101010101" pitchFamily="2" charset="-122"/>
              </a:rPr>
              <a:t>子             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b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         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j=6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成功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609600" y="118745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KMP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算法时间复杂度分析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949450"/>
            <a:ext cx="7772400" cy="46482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</a:t>
            </a:r>
            <a:r>
              <a:rPr lang="zh-CN" altLang="en-US" dirty="0" smtClean="0">
                <a:ea typeface="华文楷体" panose="02010600040101010101" pitchFamily="2" charset="-122"/>
              </a:rPr>
              <a:t>通常，</a:t>
            </a:r>
            <a:r>
              <a:rPr lang="zh-CN" altLang="zh-CN" dirty="0" smtClean="0">
                <a:ea typeface="华文楷体" panose="02010600040101010101" pitchFamily="2" charset="-122"/>
              </a:rPr>
              <a:t>模式串长度</a:t>
            </a:r>
            <a:r>
              <a:rPr lang="en-US" altLang="zh-CN" dirty="0" smtClean="0">
                <a:ea typeface="华文楷体" panose="02010600040101010101" pitchFamily="2" charset="-122"/>
              </a:rPr>
              <a:t>m&lt;&lt;</a:t>
            </a:r>
            <a:r>
              <a:rPr lang="zh-CN" altLang="zh-CN" dirty="0" smtClean="0">
                <a:ea typeface="华文楷体" panose="02010600040101010101" pitchFamily="2" charset="-122"/>
              </a:rPr>
              <a:t>主串长度</a:t>
            </a:r>
            <a:r>
              <a:rPr lang="en-US" altLang="zh-CN" dirty="0" smtClean="0">
                <a:ea typeface="华文楷体" panose="02010600040101010101" pitchFamily="2" charset="-122"/>
              </a:rPr>
              <a:t>n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华文楷体" panose="02010600040101010101" pitchFamily="2" charset="-122"/>
              </a:rPr>
              <a:t>求</a:t>
            </a:r>
            <a:r>
              <a:rPr lang="en-US" altLang="zh-CN" dirty="0" smtClean="0">
                <a:ea typeface="华文楷体" panose="02010600040101010101" pitchFamily="2" charset="-122"/>
              </a:rPr>
              <a:t>next(</a:t>
            </a:r>
            <a:r>
              <a:rPr lang="en-US" altLang="zh-CN" dirty="0" err="1" smtClean="0">
                <a:ea typeface="华文楷体" panose="02010600040101010101" pitchFamily="2" charset="-122"/>
              </a:rPr>
              <a:t>nextval</a:t>
            </a:r>
            <a:r>
              <a:rPr lang="en-US" altLang="zh-CN" dirty="0" smtClean="0">
                <a:ea typeface="华文楷体" panose="02010600040101010101" pitchFamily="2" charset="-122"/>
              </a:rPr>
              <a:t>)</a:t>
            </a:r>
            <a:r>
              <a:rPr lang="zh-CN" altLang="en-US" dirty="0" smtClean="0">
                <a:ea typeface="华文楷体" panose="02010600040101010101" pitchFamily="2" charset="-122"/>
              </a:rPr>
              <a:t>数组：</a:t>
            </a:r>
            <a:r>
              <a:rPr lang="en-US" altLang="zh-CN" dirty="0" smtClean="0">
                <a:ea typeface="华文楷体" panose="02010600040101010101" pitchFamily="2" charset="-122"/>
              </a:rPr>
              <a:t>O(m)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zh-CN" dirty="0" smtClean="0">
                <a:ea typeface="华文楷体" panose="02010600040101010101" pitchFamily="2" charset="-122"/>
              </a:rPr>
              <a:t>主串与模式串匹配： </a:t>
            </a:r>
            <a:r>
              <a:rPr lang="en-US" altLang="zh-CN" dirty="0" smtClean="0">
                <a:ea typeface="华文楷体" panose="02010600040101010101" pitchFamily="2" charset="-122"/>
              </a:rPr>
              <a:t>O(n)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</a:t>
            </a:r>
            <a:r>
              <a:rPr lang="zh-CN" altLang="en-US" dirty="0" smtClean="0">
                <a:ea typeface="华文楷体" panose="02010600040101010101" pitchFamily="2" charset="-122"/>
              </a:rPr>
              <a:t>整个匹配算法</a:t>
            </a:r>
            <a:r>
              <a:rPr lang="en-US" altLang="zh-CN" dirty="0" smtClean="0">
                <a:ea typeface="华文楷体" panose="02010600040101010101" pitchFamily="2" charset="-122"/>
              </a:rPr>
              <a:t>O(</a:t>
            </a:r>
            <a:r>
              <a:rPr lang="en-US" altLang="zh-CN" dirty="0" err="1" smtClean="0">
                <a:ea typeface="华文楷体" panose="02010600040101010101" pitchFamily="2" charset="-122"/>
              </a:rPr>
              <a:t>m+n</a:t>
            </a:r>
            <a:r>
              <a:rPr lang="en-US" altLang="zh-CN" dirty="0" smtClean="0">
                <a:ea typeface="华文楷体" panose="02010600040101010101" pitchFamily="2" charset="-122"/>
              </a:rPr>
              <a:t>) </a:t>
            </a:r>
            <a:endParaRPr lang="en-US" altLang="zh-CN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作  业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1.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分别求出下列模式串的</a:t>
            </a:r>
            <a:r>
              <a:rPr lang="en-US" altLang="zh-CN" sz="2800" dirty="0" smtClean="0">
                <a:ea typeface="华文楷体" panose="02010600040101010101" pitchFamily="2" charset="-122"/>
              </a:rPr>
              <a:t>next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nextval</a:t>
            </a:r>
            <a:r>
              <a:rPr lang="zh-CN" altLang="en-US" sz="2800" dirty="0" smtClean="0">
                <a:ea typeface="华文楷体" panose="02010600040101010101" pitchFamily="2" charset="-122"/>
              </a:rPr>
              <a:t>数组值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t1=‘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aaab</a:t>
            </a:r>
            <a:r>
              <a:rPr lang="en-US" altLang="zh-CN" sz="2800" dirty="0" smtClean="0">
                <a:ea typeface="华文楷体" panose="02010600040101010101" pitchFamily="2" charset="-122"/>
              </a:rPr>
              <a:t>’         t2=‘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abcabaa</a:t>
            </a:r>
            <a:r>
              <a:rPr lang="en-US" altLang="zh-CN" sz="2800" dirty="0" smtClean="0">
                <a:ea typeface="华文楷体" panose="02010600040101010101" pitchFamily="2" charset="-122"/>
              </a:rPr>
              <a:t>’          t3=‘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adabbadada</a:t>
            </a:r>
            <a:r>
              <a:rPr lang="en-US" altLang="zh-CN" sz="2800" dirty="0" smtClean="0">
                <a:ea typeface="华文楷体" panose="02010600040101010101" pitchFamily="2" charset="-122"/>
              </a:rPr>
              <a:t>’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2.</a:t>
            </a:r>
            <a:r>
              <a:rPr lang="zh-CN" altLang="en-US" sz="2800" dirty="0" smtClean="0">
                <a:ea typeface="华文楷体" panose="02010600040101010101" pitchFamily="2" charset="-122"/>
              </a:rPr>
              <a:t>重复子串的含义是由一个或多个连续相等的字符组成的子串</a:t>
            </a:r>
            <a:r>
              <a:rPr lang="en-US" altLang="zh-CN" sz="2800" dirty="0" smtClean="0">
                <a:ea typeface="华文楷体" panose="02010600040101010101" pitchFamily="2" charset="-122"/>
              </a:rPr>
              <a:t>(</a:t>
            </a:r>
            <a:r>
              <a:rPr lang="zh-CN" altLang="en-US" sz="2800" dirty="0" smtClean="0">
                <a:ea typeface="华文楷体" panose="02010600040101010101" pitchFamily="2" charset="-122"/>
              </a:rPr>
              <a:t>不重叠</a:t>
            </a:r>
            <a:r>
              <a:rPr lang="en-US" altLang="zh-CN" sz="2800" dirty="0" smtClean="0">
                <a:ea typeface="华文楷体" panose="02010600040101010101" pitchFamily="2" charset="-122"/>
              </a:rPr>
              <a:t>);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现有某个串用一维字符数组</a:t>
            </a:r>
            <a:r>
              <a:rPr lang="en-US" altLang="zh-CN" sz="2800" dirty="0" smtClean="0">
                <a:ea typeface="华文楷体" panose="02010600040101010101" pitchFamily="2" charset="-122"/>
              </a:rPr>
              <a:t>s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存储，长度为</a:t>
            </a:r>
            <a:r>
              <a:rPr lang="en-US" altLang="zh-CN" sz="2800" dirty="0" smtClean="0"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ea typeface="华文楷体" panose="02010600040101010101" pitchFamily="2" charset="-122"/>
              </a:rPr>
              <a:t>，设计算法求</a:t>
            </a:r>
            <a:r>
              <a:rPr lang="en-US" altLang="zh-CN" sz="2800" dirty="0" smtClean="0">
                <a:ea typeface="华文楷体" panose="02010600040101010101" pitchFamily="2" charset="-122"/>
              </a:rPr>
              <a:t>s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的最长重复子串的长度</a:t>
            </a:r>
            <a:r>
              <a:rPr lang="en-US" altLang="zh-CN" sz="2800" dirty="0" smtClean="0">
                <a:ea typeface="华文楷体" panose="02010600040101010101" pitchFamily="2" charset="-122"/>
              </a:rPr>
              <a:t>.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LongestString</a:t>
            </a:r>
            <a:r>
              <a:rPr lang="en-US" altLang="zh-CN" sz="2800" dirty="0" smtClean="0">
                <a:ea typeface="华文楷体" panose="02010600040101010101" pitchFamily="2" charset="-122"/>
              </a:rPr>
              <a:t>(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char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s[],</a:t>
            </a:r>
            <a:r>
              <a:rPr lang="en-US" altLang="zh-CN" sz="28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n)  //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函数返回所求长度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/>
            <a:endParaRPr lang="en-US" altLang="zh-CN" sz="28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国外精美的的PPT模板及图标之二">
  <a:themeElements>
    <a:clrScheme name="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国外精美的的PPT模板及图标之二 1">
    <a:dk1>
      <a:srgbClr val="163794"/>
    </a:dk1>
    <a:lt1>
      <a:srgbClr val="FFFFFF"/>
    </a:lt1>
    <a:dk2>
      <a:srgbClr val="000000"/>
    </a:dk2>
    <a:lt2>
      <a:srgbClr val="C0C0C0"/>
    </a:lt2>
    <a:accent1>
      <a:srgbClr val="009999"/>
    </a:accent1>
    <a:accent2>
      <a:srgbClr val="990000"/>
    </a:accent2>
    <a:accent3>
      <a:srgbClr val="FFFFFF"/>
    </a:accent3>
    <a:accent4>
      <a:srgbClr val="112D7E"/>
    </a:accent4>
    <a:accent5>
      <a:srgbClr val="AACACA"/>
    </a:accent5>
    <a:accent6>
      <a:srgbClr val="8A0000"/>
    </a:accent6>
    <a:hlink>
      <a:srgbClr val="6699FF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11395</Words>
  <Application>WPS 演示</Application>
  <PresentationFormat>全屏显示(4:3)</PresentationFormat>
  <Paragraphs>892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华文楷体</vt:lpstr>
      <vt:lpstr>Verdana</vt:lpstr>
      <vt:lpstr>Symbol</vt:lpstr>
      <vt:lpstr>微软雅黑</vt:lpstr>
      <vt:lpstr>Arial Unicode MS</vt:lpstr>
      <vt:lpstr>Calibri</vt:lpstr>
      <vt:lpstr>国外精美的的PPT模板及图标之二</vt:lpstr>
      <vt:lpstr>第四章 字符串与模式匹配</vt:lpstr>
      <vt:lpstr>提    纲</vt:lpstr>
      <vt:lpstr>4.1 串的概念和基本操作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串的存储结构</vt:lpstr>
      <vt:lpstr>2） 紧缩格式    串空间+串长</vt:lpstr>
      <vt:lpstr>4.2.2  动态存储结构</vt:lpstr>
      <vt:lpstr>2）堆结构存储方式</vt:lpstr>
      <vt:lpstr>PowerPoint 演示文稿</vt:lpstr>
      <vt:lpstr>4.3 串的模式匹配</vt:lpstr>
      <vt:lpstr>Brute-Force(BF)算法</vt:lpstr>
      <vt:lpstr>PowerPoint 演示文稿</vt:lpstr>
      <vt:lpstr>PowerPoint 演示文稿</vt:lpstr>
      <vt:lpstr>4.4 KMP算法</vt:lpstr>
      <vt:lpstr>PowerPoint 演示文稿</vt:lpstr>
      <vt:lpstr>PowerPoint 演示文稿</vt:lpstr>
      <vt:lpstr>PowerPoint 演示文稿</vt:lpstr>
      <vt:lpstr>求next数组值</vt:lpstr>
      <vt:lpstr>修正next数组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  业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字符串与模式匹配</dc:title>
  <dc:creator>User</dc:creator>
  <cp:lastModifiedBy>岁月无声</cp:lastModifiedBy>
  <cp:revision>175</cp:revision>
  <dcterms:created xsi:type="dcterms:W3CDTF">2009-10-10T11:28:00Z</dcterms:created>
  <dcterms:modified xsi:type="dcterms:W3CDTF">2025-09-04T06:19:32Z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89203EF6701A46DE8692FE93521FAFD7_12</vt:lpwstr>
  </property>
  <property fmtid="{D5CDD505-2E9C-101B-9397-08002B2CF9AE}" pid="3" name="KSOProductBuildVer">
    <vt:lpwstr>2052-12.1.0.21915</vt:lpwstr>
  </property>
</Properties>
</file>