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93"/>
  </p:handoutMasterIdLst>
  <p:sldIdLst>
    <p:sldId id="316" r:id="rId3"/>
    <p:sldId id="407" r:id="rId4"/>
    <p:sldId id="315" r:id="rId5"/>
    <p:sldId id="404" r:id="rId6"/>
    <p:sldId id="410" r:id="rId7"/>
    <p:sldId id="419" r:id="rId8"/>
    <p:sldId id="411" r:id="rId10"/>
    <p:sldId id="412" r:id="rId11"/>
    <p:sldId id="413" r:id="rId12"/>
    <p:sldId id="414" r:id="rId13"/>
    <p:sldId id="415" r:id="rId14"/>
    <p:sldId id="416" r:id="rId15"/>
    <p:sldId id="417" r:id="rId16"/>
    <p:sldId id="338" r:id="rId17"/>
    <p:sldId id="353" r:id="rId18"/>
    <p:sldId id="313" r:id="rId19"/>
    <p:sldId id="319" r:id="rId20"/>
    <p:sldId id="320" r:id="rId21"/>
    <p:sldId id="312" r:id="rId22"/>
    <p:sldId id="311" r:id="rId23"/>
    <p:sldId id="310" r:id="rId24"/>
    <p:sldId id="398" r:id="rId25"/>
    <p:sldId id="399" r:id="rId26"/>
    <p:sldId id="400" r:id="rId27"/>
    <p:sldId id="402" r:id="rId28"/>
    <p:sldId id="401" r:id="rId29"/>
    <p:sldId id="394" r:id="rId30"/>
    <p:sldId id="396" r:id="rId31"/>
    <p:sldId id="397" r:id="rId32"/>
    <p:sldId id="280" r:id="rId33"/>
    <p:sldId id="299" r:id="rId34"/>
    <p:sldId id="321" r:id="rId35"/>
    <p:sldId id="322" r:id="rId36"/>
    <p:sldId id="323" r:id="rId37"/>
    <p:sldId id="324" r:id="rId38"/>
    <p:sldId id="325" r:id="rId39"/>
    <p:sldId id="301" r:id="rId40"/>
    <p:sldId id="295" r:id="rId41"/>
    <p:sldId id="286" r:id="rId42"/>
    <p:sldId id="339" r:id="rId43"/>
    <p:sldId id="341" r:id="rId44"/>
    <p:sldId id="408" r:id="rId45"/>
    <p:sldId id="343" r:id="rId46"/>
    <p:sldId id="344" r:id="rId47"/>
    <p:sldId id="345" r:id="rId48"/>
    <p:sldId id="346" r:id="rId49"/>
    <p:sldId id="350" r:id="rId50"/>
    <p:sldId id="352" r:id="rId51"/>
    <p:sldId id="351" r:id="rId52"/>
    <p:sldId id="357" r:id="rId53"/>
    <p:sldId id="358" r:id="rId54"/>
    <p:sldId id="359" r:id="rId55"/>
    <p:sldId id="360" r:id="rId56"/>
    <p:sldId id="361" r:id="rId57"/>
    <p:sldId id="362" r:id="rId58"/>
    <p:sldId id="363" r:id="rId59"/>
    <p:sldId id="364" r:id="rId60"/>
    <p:sldId id="365" r:id="rId61"/>
    <p:sldId id="366" r:id="rId62"/>
    <p:sldId id="367" r:id="rId63"/>
    <p:sldId id="368" r:id="rId64"/>
    <p:sldId id="369" r:id="rId65"/>
    <p:sldId id="370" r:id="rId66"/>
    <p:sldId id="371" r:id="rId67"/>
    <p:sldId id="372" r:id="rId68"/>
    <p:sldId id="373" r:id="rId69"/>
    <p:sldId id="374" r:id="rId70"/>
    <p:sldId id="375" r:id="rId71"/>
    <p:sldId id="376" r:id="rId72"/>
    <p:sldId id="403" r:id="rId73"/>
    <p:sldId id="405" r:id="rId74"/>
    <p:sldId id="406" r:id="rId75"/>
    <p:sldId id="377" r:id="rId76"/>
    <p:sldId id="378" r:id="rId77"/>
    <p:sldId id="379" r:id="rId78"/>
    <p:sldId id="380" r:id="rId79"/>
    <p:sldId id="381" r:id="rId80"/>
    <p:sldId id="382" r:id="rId81"/>
    <p:sldId id="383" r:id="rId82"/>
    <p:sldId id="384" r:id="rId83"/>
    <p:sldId id="385" r:id="rId84"/>
    <p:sldId id="386" r:id="rId85"/>
    <p:sldId id="387" r:id="rId86"/>
    <p:sldId id="388" r:id="rId87"/>
    <p:sldId id="389" r:id="rId88"/>
    <p:sldId id="390" r:id="rId89"/>
    <p:sldId id="391" r:id="rId90"/>
    <p:sldId id="392" r:id="rId91"/>
    <p:sldId id="393" r:id="rId9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800000"/>
    <a:srgbClr val="FFCC66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3" autoAdjust="0"/>
  </p:normalViewPr>
  <p:slideViewPr>
    <p:cSldViewPr showGuides="1">
      <p:cViewPr varScale="1">
        <p:scale>
          <a:sx n="68" d="100"/>
          <a:sy n="68" d="100"/>
        </p:scale>
        <p:origin x="144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622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6" Type="http://schemas.openxmlformats.org/officeDocument/2006/relationships/tableStyles" Target="tableStyles.xml"/><Relationship Id="rId95" Type="http://schemas.openxmlformats.org/officeDocument/2006/relationships/viewProps" Target="viewProps.xml"/><Relationship Id="rId94" Type="http://schemas.openxmlformats.org/officeDocument/2006/relationships/presProps" Target="presProps.xml"/><Relationship Id="rId93" Type="http://schemas.openxmlformats.org/officeDocument/2006/relationships/handoutMaster" Target="handoutMasters/handoutMaster1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notesMaster" Target="notesMasters/notesMaster1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1843BF8-524E-4AEA-94B5-02982E24B1F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1171B6C-C656-4797-AF8D-B3FE3024A14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35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35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35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35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35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35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35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35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ltGray">
          <a:xfrm>
            <a:off x="0" y="6611938"/>
            <a:ext cx="9144000" cy="2603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37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76238" y="228600"/>
            <a:ext cx="11477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chemeClr val="tx2"/>
                </a:solidFill>
                <a:latin typeface="华文楷体" panose="02010600040101010101" pitchFamily="2" charset="-122"/>
              </a:rPr>
              <a:t>BUPT</a:t>
            </a:r>
            <a:endParaRPr lang="en-US" altLang="zh-CN" sz="2400" b="1" dirty="0">
              <a:latin typeface="华文楷体" panose="02010600040101010101" pitchFamily="2" charset="-122"/>
            </a:endParaRPr>
          </a:p>
        </p:txBody>
      </p:sp>
      <p:sp>
        <p:nvSpPr>
          <p:cNvPr id="80900" name="Rectangle 4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371600" y="5867400"/>
            <a:ext cx="6553200" cy="533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80902" name="Rectangle 6"/>
          <p:cNvSpPr>
            <a:spLocks noGrp="1" noChangeArrowheads="1"/>
          </p:cNvSpPr>
          <p:nvPr>
            <p:ph type="ctrTitle" sz="quarter" hasCustomPrompt="1"/>
          </p:nvPr>
        </p:nvSpPr>
        <p:spPr bwMode="gray">
          <a:xfrm>
            <a:off x="0" y="4868863"/>
            <a:ext cx="9144000" cy="720725"/>
          </a:xfrm>
          <a:gradFill rotWithShape="1">
            <a:gsLst>
              <a:gs pos="0">
                <a:schemeClr val="tx1">
                  <a:gamma/>
                  <a:shade val="46275"/>
                  <a:invGamma/>
                </a:schemeClr>
              </a:gs>
              <a:gs pos="5000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lin ang="0" scaled="1"/>
          </a:gradFill>
          <a:extLst>
            <a:ext uri="{AF507438-7753-43E0-B8FC-AC1667EBCBE1}">
              <a14:hiddenEffects xmlns:a14="http://schemas.microsoft.com/office/drawing/2010/main">
                <a:effectLst>
                  <a:outerShdw dist="81320" dir="3080412" algn="ctr" rotWithShape="0">
                    <a:schemeClr val="tx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n-US" altLang="ko-KR" noProof="0" smtClean="0"/>
              <a:t>Click to edit Master title</a:t>
            </a:r>
            <a:br>
              <a:rPr lang="en-US" altLang="ko-KR" noProof="0" smtClean="0"/>
            </a:br>
            <a:r>
              <a:rPr lang="en-US" altLang="ko-KR" noProof="0" smtClean="0"/>
              <a:t> style</a:t>
            </a:r>
            <a:endParaRPr lang="en-US" altLang="ko-KR" noProof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EF5022-25BF-4E3C-8D1D-8C255762D1DE}" type="slidenum">
              <a:rPr lang="en-US" altLang="zh-CN"/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81E09D-F5FA-4F95-81E5-DAAA90539E82}" type="slidenum">
              <a:rPr lang="en-US" altLang="zh-CN"/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7200" y="1152525"/>
            <a:ext cx="4038600" cy="52482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152525"/>
            <a:ext cx="4038600" cy="52482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CDBACC-8DB9-4F09-B77F-581929CEDA39}" type="slidenum">
              <a:rPr lang="en-US" altLang="zh-CN"/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0922A9-FA01-4078-8E86-4E3B81F7F761}" type="slidenum">
              <a:rPr lang="en-US" altLang="zh-CN"/>
            </a:fld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72A6B6-81E2-4376-90AE-71272992CB34}" type="slidenum">
              <a:rPr lang="en-US" altLang="zh-CN"/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758408-F8F9-4D9E-89C4-6F8469C79BC4}" type="slidenum">
              <a:rPr lang="en-US" altLang="zh-CN"/>
            </a:fld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15C752-89C8-4487-A622-4930D79C24F9}" type="slidenum">
              <a:rPr lang="en-US" altLang="zh-CN"/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823463-970F-47D3-9097-3F0E265B178C}" type="slidenum">
              <a:rPr lang="en-US" altLang="zh-CN"/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39A798-C84B-479A-B0F6-D7568D333F81}" type="slidenum">
              <a:rPr lang="en-US" altLang="zh-CN"/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0E7880-E8F3-4457-B41C-1A259E380288}" type="slidenum">
              <a:rPr lang="en-US" altLang="zh-CN"/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457200" y="1152525"/>
            <a:ext cx="4038600" cy="52482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152525"/>
            <a:ext cx="4038600" cy="52482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9E19E-6CA5-4DC0-9651-65E6A05DAC68}" type="slidenum">
              <a:rPr lang="en-US" altLang="zh-CN"/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gradFill rotWithShape="1">
            <a:gsLst>
              <a:gs pos="0">
                <a:schemeClr val="tx1">
                  <a:gamma/>
                  <a:shade val="46275"/>
                  <a:invGamma/>
                </a:schemeClr>
              </a:gs>
              <a:gs pos="5000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52525"/>
            <a:ext cx="82296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dirty="0" smtClean="0"/>
              <a:t>Click to edit Master text styles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Second level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Third level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Fourth level</a:t>
            </a:r>
            <a:endParaRPr lang="en-US" altLang="zh-CN" dirty="0" smtClean="0"/>
          </a:p>
          <a:p>
            <a:pPr lvl="4"/>
            <a:r>
              <a:rPr lang="en-US" altLang="zh-CN" dirty="0" smtClean="0"/>
              <a:t>Fifth level</a:t>
            </a:r>
            <a:endParaRPr lang="en-US" altLang="zh-CN" dirty="0" smtClean="0"/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51275" y="6461125"/>
            <a:ext cx="4911725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1" smtClean="0">
                <a:latin typeface="+mj-lt"/>
              </a:defRPr>
            </a:lvl1pPr>
          </a:lstStyle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7987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421438"/>
            <a:ext cx="792163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smtClean="0">
                <a:latin typeface="+mj-lt"/>
              </a:defRPr>
            </a:lvl1pPr>
          </a:lstStyle>
          <a:p>
            <a:pPr>
              <a:defRPr/>
            </a:pPr>
            <a:fld id="{D9E1A629-AEEA-4229-AAED-5969316887C8}" type="slidenum">
              <a:rPr lang="en-US" altLang="zh-CN"/>
            </a:fld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smtClean="0"/>
              <a:t>Click to edit Master title style</a:t>
            </a:r>
            <a:endParaRPr lang="en-US" altLang="zh-CN" smtClean="0"/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gray">
          <a:xfrm>
            <a:off x="0" y="838200"/>
            <a:ext cx="9144000" cy="24447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1000" b="1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79880" name="Rectangle 8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14288" y="838200"/>
            <a:ext cx="8458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b="1" smtClean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华文楷体" panose="02010600040101010101" pitchFamily="2" charset="-122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华文楷体" panose="02010600040101010101" pitchFamily="2" charset="-122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 kern="1200">
          <a:solidFill>
            <a:schemeClr val="tx1"/>
          </a:solidFill>
          <a:latin typeface="华文楷体" panose="02010600040101010101" pitchFamily="2" charset="-122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华文楷体" panose="02010600040101010101" pitchFamily="2" charset="-122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华文楷体" panose="02010600040101010101" pitchFamily="2" charset="-12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tongyi.aliyun.com/lingma/" TargetMode="External"/><Relationship Id="rId2" Type="http://schemas.openxmlformats.org/officeDocument/2006/relationships/image" Target="../media/image6.png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tags" Target="../tags/tag6.xml"/><Relationship Id="rId1" Type="http://schemas.openxmlformats.org/officeDocument/2006/relationships/hyperlink" Target="https://tongyi.aliyun.com/lingma/" TargetMode="Externa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tags" Target="../tags/tag7.xml"/><Relationship Id="rId1" Type="http://schemas.openxmlformats.org/officeDocument/2006/relationships/hyperlink" Target="https://tongyi.aliyun.com/lingma/" TargetMode="Externa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tags" Target="../tags/tag8.xml"/><Relationship Id="rId1" Type="http://schemas.openxmlformats.org/officeDocument/2006/relationships/hyperlink" Target="https://tongyi.aliyun.com/lingma/" TargetMode="Externa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tags" Target="../tags/tag9.xml"/><Relationship Id="rId1" Type="http://schemas.openxmlformats.org/officeDocument/2006/relationships/hyperlink" Target="https://tongyi.aliyun.com/lingma/" TargetMode="Externa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tags" Target="../tags/tag10.xml"/><Relationship Id="rId1" Type="http://schemas.openxmlformats.org/officeDocument/2006/relationships/hyperlink" Target="https://tongyi.aliyun.com/lingma/" TargetMode="Externa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tags" Target="../tags/tag11.xml"/><Relationship Id="rId1" Type="http://schemas.openxmlformats.org/officeDocument/2006/relationships/hyperlink" Target="https://tongyi.aliyun.com/lingma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emf"/><Relationship Id="rId1" Type="http://schemas.openxmlformats.org/officeDocument/2006/relationships/oleObject" Target="../embeddings/oleObject1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2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5661025"/>
            <a:ext cx="6553200" cy="739775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数据结构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北京邮电大学计算机学院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杨震 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yangzhen@bupt.edu.cn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5780" name="Rectangle 4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第一章  绪论</a:t>
            </a:r>
            <a:endParaRPr lang="zh-CN" altLang="en-US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课程说明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rPr>
              <a:t>课程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QQ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群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EF5022-25BF-4E3C-8D1D-8C255762D1DE}" type="slidenum">
              <a:rPr lang="en-US" altLang="zh-CN" smtClean="0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pic>
        <p:nvPicPr>
          <p:cNvPr id="9" name="图片 8" descr="微信图片_20250904141327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2870" y="0"/>
            <a:ext cx="385762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1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64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学时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考核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algn="l" eaLnBrk="1" hangingPunct="1">
              <a:buSzTx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考勤（10%）-&gt;</a:t>
            </a:r>
            <a:r>
              <a:rPr lang="en-US" altLang="zh-CN" dirty="0">
                <a:solidFill>
                  <a:srgbClr val="FF0000"/>
                </a:solidFill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课前扫码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签到（请大家提前几分钟到课堂），无故缺课，且未按学校规定请假累计5次以0分计。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lvl="1" algn="l" eaLnBrk="1" hangingPunct="1">
              <a:buSzTx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平时作业（10%）-&gt;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  <a:sym typeface="+mn-lt"/>
              </a:rPr>
              <a:t>每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章讲完后1周之内提交到教学云平台。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lvl="1" algn="l" eaLnBrk="1" hangingPunct="1">
              <a:buSzTx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课后实验（10%）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-&gt;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  <a:sym typeface="+mn-lt"/>
              </a:rPr>
              <a:t>单独完成，每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章讲完后2周之内提交到教学云平台。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lvl="1" algn="l" eaLnBrk="1" hangingPunct="1">
              <a:buSzTx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期中考试（10%）-&gt;第六章结束后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（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1-6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章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）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lvl="1" algn="l" eaLnBrk="1" hangingPunct="1">
              <a:buSzTx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期末考试（60%）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-&gt;考试范围全部内容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。</a:t>
            </a:r>
            <a:endParaRPr lang="zh-CN" altLang="en-US" dirty="0" smtClean="0">
              <a:solidFill>
                <a:schemeClr val="tx1">
                  <a:lumMod val="85000"/>
                  <a:lumOff val="15000"/>
                </a:schemeClr>
              </a:solidFill>
              <a:ea typeface="华文楷体" panose="02010600040101010101" pitchFamily="2" charset="-122"/>
              <a:cs typeface="华文楷体" panose="02010600040101010101" pitchFamily="2" charset="-122"/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8CC4AE4-796D-47CA-89D2-47160FE1F168}" type="slidenum">
              <a:rPr lang="en-US" altLang="zh-CN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EF5022-25BF-4E3C-8D1D-8C255762D1DE}" type="slidenum">
              <a:rPr lang="en-US" altLang="zh-CN" smtClean="0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grpSp>
        <p:nvGrpSpPr>
          <p:cNvPr id="7" name="组合 6"/>
          <p:cNvGrpSpPr/>
          <p:nvPr/>
        </p:nvGrpSpPr>
        <p:grpSpPr>
          <a:xfrm>
            <a:off x="728073" y="1848444"/>
            <a:ext cx="3139652" cy="2379464"/>
            <a:chOff x="2658682" y="1645565"/>
            <a:chExt cx="1724004" cy="2451831"/>
          </a:xfrm>
        </p:grpSpPr>
        <p:grpSp>
          <p:nvGrpSpPr>
            <p:cNvPr id="8" name="组合 7"/>
            <p:cNvGrpSpPr/>
            <p:nvPr/>
          </p:nvGrpSpPr>
          <p:grpSpPr>
            <a:xfrm>
              <a:off x="2658682" y="3669459"/>
              <a:ext cx="1638970" cy="427937"/>
              <a:chOff x="2904447" y="4292705"/>
              <a:chExt cx="1638970" cy="427937"/>
            </a:xfrm>
          </p:grpSpPr>
          <p:sp>
            <p:nvSpPr>
              <p:cNvPr id="14" name="矩形: 圆角 5"/>
              <p:cNvSpPr/>
              <p:nvPr/>
            </p:nvSpPr>
            <p:spPr>
              <a:xfrm>
                <a:off x="2904447" y="4292705"/>
                <a:ext cx="1638970" cy="415768"/>
              </a:xfrm>
              <a:prstGeom prst="roundRect">
                <a:avLst/>
              </a:prstGeom>
              <a:solidFill>
                <a:srgbClr val="187C86"/>
              </a:solidFill>
              <a:ln>
                <a:solidFill>
                  <a:srgbClr val="187C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3195683" y="4308363"/>
                <a:ext cx="383072" cy="4122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 smtClean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+mn-ea"/>
                    <a:sym typeface="+mn-lt"/>
                  </a:rPr>
                  <a:t>教材</a:t>
                </a:r>
                <a:endParaRPr lang="zh-CN" altLang="en-US" sz="20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2658682" y="1645565"/>
              <a:ext cx="1724004" cy="1781593"/>
              <a:chOff x="3021937" y="1858507"/>
              <a:chExt cx="1724004" cy="1781593"/>
            </a:xfrm>
          </p:grpSpPr>
          <p:grpSp>
            <p:nvGrpSpPr>
              <p:cNvPr id="10" name="组合 9"/>
              <p:cNvGrpSpPr/>
              <p:nvPr/>
            </p:nvGrpSpPr>
            <p:grpSpPr>
              <a:xfrm rot="10800000">
                <a:off x="3021937" y="1858507"/>
                <a:ext cx="1724004" cy="1781593"/>
                <a:chOff x="5204460" y="4087615"/>
                <a:chExt cx="1483995" cy="1533566"/>
              </a:xfrm>
              <a:effectLst>
                <a:outerShdw blurRad="127000" sx="104000" sy="104000" algn="ctr" rotWithShape="0">
                  <a:prstClr val="black">
                    <a:alpha val="30000"/>
                  </a:prstClr>
                </a:outerShdw>
              </a:effectLst>
            </p:grpSpPr>
            <p:sp>
              <p:nvSpPr>
                <p:cNvPr id="12" name="任意多边形 109"/>
                <p:cNvSpPr/>
                <p:nvPr/>
              </p:nvSpPr>
              <p:spPr>
                <a:xfrm>
                  <a:off x="5204460" y="4087615"/>
                  <a:ext cx="1483995" cy="1533566"/>
                </a:xfrm>
                <a:prstGeom prst="wedgeRoundRectCallout">
                  <a:avLst>
                    <a:gd name="adj1" fmla="val -14256"/>
                    <a:gd name="adj2" fmla="val -56522"/>
                    <a:gd name="adj3" fmla="val 1666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任意多边形 110"/>
                <p:cNvSpPr/>
                <p:nvPr/>
              </p:nvSpPr>
              <p:spPr>
                <a:xfrm>
                  <a:off x="5204460" y="5496560"/>
                  <a:ext cx="1483995" cy="124618"/>
                </a:xfrm>
                <a:custGeom>
                  <a:avLst/>
                  <a:gdLst>
                    <a:gd name="connsiteX0" fmla="*/ 0 w 1483995"/>
                    <a:gd name="connsiteY0" fmla="*/ 0 h 124618"/>
                    <a:gd name="connsiteX1" fmla="*/ 1483995 w 1483995"/>
                    <a:gd name="connsiteY1" fmla="*/ 0 h 124618"/>
                    <a:gd name="connsiteX2" fmla="*/ 1483995 w 1483995"/>
                    <a:gd name="connsiteY2" fmla="*/ 20160 h 124618"/>
                    <a:gd name="connsiteX3" fmla="*/ 1379537 w 1483995"/>
                    <a:gd name="connsiteY3" fmla="*/ 124618 h 124618"/>
                    <a:gd name="connsiteX4" fmla="*/ 104458 w 1483995"/>
                    <a:gd name="connsiteY4" fmla="*/ 124618 h 124618"/>
                    <a:gd name="connsiteX5" fmla="*/ 0 w 1483995"/>
                    <a:gd name="connsiteY5" fmla="*/ 20160 h 1246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83995" h="124618">
                      <a:moveTo>
                        <a:pt x="0" y="0"/>
                      </a:moveTo>
                      <a:lnTo>
                        <a:pt x="1483995" y="0"/>
                      </a:lnTo>
                      <a:lnTo>
                        <a:pt x="1483995" y="20160"/>
                      </a:lnTo>
                      <a:cubicBezTo>
                        <a:pt x="1483995" y="77851"/>
                        <a:pt x="1437228" y="124618"/>
                        <a:pt x="1379537" y="124618"/>
                      </a:cubicBezTo>
                      <a:lnTo>
                        <a:pt x="104458" y="124618"/>
                      </a:lnTo>
                      <a:cubicBezTo>
                        <a:pt x="46767" y="124618"/>
                        <a:pt x="0" y="77851"/>
                        <a:pt x="0" y="20160"/>
                      </a:cubicBezTo>
                      <a:close/>
                    </a:path>
                  </a:pathLst>
                </a:custGeom>
                <a:solidFill>
                  <a:srgbClr val="187C8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1" name="PA-FooterText "/>
              <p:cNvSpPr txBox="1"/>
              <p:nvPr>
                <p:custDataLst>
                  <p:tags r:id="rId1"/>
                </p:custDataLst>
              </p:nvPr>
            </p:nvSpPr>
            <p:spPr>
              <a:xfrm flipH="1">
                <a:off x="3164861" y="2168639"/>
                <a:ext cx="1483994" cy="6025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30000"/>
                  </a:lnSpc>
                  <a:spcBef>
                    <a:spcPts val="600"/>
                  </a:spcBef>
                  <a:spcAft>
                    <a:spcPts val="600"/>
                  </a:spcAft>
                  <a:defRPr sz="1600">
                    <a:solidFill>
                      <a:schemeClr val="bg1">
                        <a:lumMod val="75000"/>
                      </a:schemeClr>
                    </a:solidFill>
                  </a:defRPr>
                </a:lvl1pPr>
              </a:lstStyle>
              <a:p>
                <a:pPr algn="l">
                  <a:lnSpc>
                    <a:spcPct val="100000"/>
                  </a:lnSpc>
                  <a:defRPr/>
                </a:pPr>
                <a:r>
                  <a:rPr lang="zh-CN" altLang="en-US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数据结构 </a:t>
                </a:r>
                <a:r>
                  <a:rPr lang="en-US" altLang="zh-CN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C</a:t>
                </a:r>
                <a:r>
                  <a:rPr lang="zh-CN" altLang="en-US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语言版，</a:t>
                </a:r>
                <a:r>
                  <a: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第二</a:t>
                </a:r>
                <a:r>
                  <a:rPr lang="zh-CN" altLang="en-US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版，清华大学，严蔚敏等</a:t>
                </a:r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4932040" y="1863641"/>
            <a:ext cx="3139652" cy="2367654"/>
            <a:chOff x="5276515" y="1645565"/>
            <a:chExt cx="1724004" cy="2439662"/>
          </a:xfrm>
        </p:grpSpPr>
        <p:grpSp>
          <p:nvGrpSpPr>
            <p:cNvPr id="17" name="组合 16"/>
            <p:cNvGrpSpPr/>
            <p:nvPr/>
          </p:nvGrpSpPr>
          <p:grpSpPr>
            <a:xfrm>
              <a:off x="5276515" y="3669458"/>
              <a:ext cx="1638970" cy="415769"/>
              <a:chOff x="2904447" y="4292704"/>
              <a:chExt cx="1638970" cy="415769"/>
            </a:xfrm>
          </p:grpSpPr>
          <p:sp>
            <p:nvSpPr>
              <p:cNvPr id="23" name="矩形: 圆角 49"/>
              <p:cNvSpPr/>
              <p:nvPr/>
            </p:nvSpPr>
            <p:spPr>
              <a:xfrm>
                <a:off x="2904447" y="4292705"/>
                <a:ext cx="1638970" cy="415768"/>
              </a:xfrm>
              <a:prstGeom prst="roundRect">
                <a:avLst/>
              </a:prstGeom>
              <a:solidFill>
                <a:srgbClr val="187C86"/>
              </a:solidFill>
              <a:ln>
                <a:solidFill>
                  <a:srgbClr val="187C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3259152" y="4292704"/>
                <a:ext cx="664742" cy="4122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 smtClean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+mn-ea"/>
                    <a:sym typeface="+mn-lt"/>
                  </a:rPr>
                  <a:t>参考用书</a:t>
                </a:r>
                <a:endParaRPr lang="zh-CN" altLang="en-US" sz="20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5276515" y="1645565"/>
              <a:ext cx="1724004" cy="1781593"/>
              <a:chOff x="3021937" y="1858507"/>
              <a:chExt cx="1724004" cy="1781593"/>
            </a:xfrm>
          </p:grpSpPr>
          <p:grpSp>
            <p:nvGrpSpPr>
              <p:cNvPr id="19" name="组合 18"/>
              <p:cNvGrpSpPr/>
              <p:nvPr/>
            </p:nvGrpSpPr>
            <p:grpSpPr>
              <a:xfrm rot="10800000">
                <a:off x="3021937" y="1858507"/>
                <a:ext cx="1724004" cy="1781593"/>
                <a:chOff x="5204460" y="4087615"/>
                <a:chExt cx="1483995" cy="1533566"/>
              </a:xfrm>
              <a:effectLst>
                <a:outerShdw blurRad="127000" sx="104000" sy="104000" algn="ctr" rotWithShape="0">
                  <a:prstClr val="black">
                    <a:alpha val="30000"/>
                  </a:prstClr>
                </a:outerShdw>
              </a:effectLst>
            </p:grpSpPr>
            <p:sp>
              <p:nvSpPr>
                <p:cNvPr id="21" name="任意多边形 109"/>
                <p:cNvSpPr/>
                <p:nvPr/>
              </p:nvSpPr>
              <p:spPr>
                <a:xfrm>
                  <a:off x="5204460" y="4087615"/>
                  <a:ext cx="1483995" cy="1533566"/>
                </a:xfrm>
                <a:prstGeom prst="wedgeRoundRectCallout">
                  <a:avLst>
                    <a:gd name="adj1" fmla="val -20613"/>
                    <a:gd name="adj2" fmla="val -55818"/>
                    <a:gd name="adj3" fmla="val 1666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任意多边形 110"/>
                <p:cNvSpPr/>
                <p:nvPr/>
              </p:nvSpPr>
              <p:spPr>
                <a:xfrm>
                  <a:off x="5204460" y="5496560"/>
                  <a:ext cx="1483995" cy="124618"/>
                </a:xfrm>
                <a:custGeom>
                  <a:avLst/>
                  <a:gdLst>
                    <a:gd name="connsiteX0" fmla="*/ 0 w 1483995"/>
                    <a:gd name="connsiteY0" fmla="*/ 0 h 124618"/>
                    <a:gd name="connsiteX1" fmla="*/ 1483995 w 1483995"/>
                    <a:gd name="connsiteY1" fmla="*/ 0 h 124618"/>
                    <a:gd name="connsiteX2" fmla="*/ 1483995 w 1483995"/>
                    <a:gd name="connsiteY2" fmla="*/ 20160 h 124618"/>
                    <a:gd name="connsiteX3" fmla="*/ 1379537 w 1483995"/>
                    <a:gd name="connsiteY3" fmla="*/ 124618 h 124618"/>
                    <a:gd name="connsiteX4" fmla="*/ 104458 w 1483995"/>
                    <a:gd name="connsiteY4" fmla="*/ 124618 h 124618"/>
                    <a:gd name="connsiteX5" fmla="*/ 0 w 1483995"/>
                    <a:gd name="connsiteY5" fmla="*/ 20160 h 1246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83995" h="124618">
                      <a:moveTo>
                        <a:pt x="0" y="0"/>
                      </a:moveTo>
                      <a:lnTo>
                        <a:pt x="1483995" y="0"/>
                      </a:lnTo>
                      <a:lnTo>
                        <a:pt x="1483995" y="20160"/>
                      </a:lnTo>
                      <a:cubicBezTo>
                        <a:pt x="1483995" y="77851"/>
                        <a:pt x="1437228" y="124618"/>
                        <a:pt x="1379537" y="124618"/>
                      </a:cubicBezTo>
                      <a:lnTo>
                        <a:pt x="104458" y="124618"/>
                      </a:lnTo>
                      <a:cubicBezTo>
                        <a:pt x="46767" y="124618"/>
                        <a:pt x="0" y="77851"/>
                        <a:pt x="0" y="20160"/>
                      </a:cubicBezTo>
                      <a:close/>
                    </a:path>
                  </a:pathLst>
                </a:custGeom>
                <a:solidFill>
                  <a:srgbClr val="187C8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0" name="PA-FooterText "/>
              <p:cNvSpPr txBox="1"/>
              <p:nvPr>
                <p:custDataLst>
                  <p:tags r:id="rId2"/>
                </p:custDataLst>
              </p:nvPr>
            </p:nvSpPr>
            <p:spPr>
              <a:xfrm flipH="1">
                <a:off x="3141940" y="2080993"/>
                <a:ext cx="1483994" cy="14271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30000"/>
                  </a:lnSpc>
                  <a:spcBef>
                    <a:spcPts val="600"/>
                  </a:spcBef>
                  <a:spcAft>
                    <a:spcPts val="600"/>
                  </a:spcAft>
                  <a:defRPr sz="1600">
                    <a:solidFill>
                      <a:schemeClr val="bg1">
                        <a:lumMod val="75000"/>
                      </a:schemeClr>
                    </a:solidFill>
                  </a:defRPr>
                </a:lvl1pPr>
              </a:lstStyle>
              <a:p>
                <a:pPr algn="l">
                  <a:lnSpc>
                    <a:spcPct val="100000"/>
                  </a:lnSpc>
                  <a:defRPr/>
                </a:pPr>
                <a:r>
                  <a: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算法导论（第二版）</a:t>
                </a:r>
                <a:endPara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+mn-ea"/>
                  <a:sym typeface="+mn-lt"/>
                </a:endParaRPr>
              </a:p>
              <a:p>
                <a:pPr algn="l">
                  <a:lnSpc>
                    <a:spcPct val="100000"/>
                  </a:lnSpc>
                  <a:defRPr/>
                </a:pPr>
                <a:r>
                  <a: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算法（第四版）</a:t>
                </a:r>
                <a:endPara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+mn-ea"/>
                  <a:sym typeface="+mn-lt"/>
                </a:endParaRPr>
              </a:p>
              <a:p>
                <a:pPr algn="l">
                  <a:lnSpc>
                    <a:spcPct val="100000"/>
                  </a:lnSpc>
                  <a:defRPr/>
                </a:pPr>
                <a:r>
                  <a: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数据结构与算法分析：</a:t>
                </a:r>
                <a:r>
                  <a:rPr lang="en-US" altLang="zh-CN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c</a:t>
                </a:r>
                <a:r>
                  <a: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语言描述</a:t>
                </a:r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499107" y="4343927"/>
            <a:ext cx="3234548" cy="2379464"/>
            <a:chOff x="7809316" y="1645565"/>
            <a:chExt cx="1724004" cy="2451831"/>
          </a:xfrm>
        </p:grpSpPr>
        <p:grpSp>
          <p:nvGrpSpPr>
            <p:cNvPr id="26" name="组合 25"/>
            <p:cNvGrpSpPr/>
            <p:nvPr/>
          </p:nvGrpSpPr>
          <p:grpSpPr>
            <a:xfrm>
              <a:off x="7809316" y="3669459"/>
              <a:ext cx="1638970" cy="427937"/>
              <a:chOff x="2904447" y="4292705"/>
              <a:chExt cx="1638970" cy="427937"/>
            </a:xfrm>
          </p:grpSpPr>
          <p:sp>
            <p:nvSpPr>
              <p:cNvPr id="32" name="矩形: 圆角 58"/>
              <p:cNvSpPr/>
              <p:nvPr/>
            </p:nvSpPr>
            <p:spPr>
              <a:xfrm>
                <a:off x="2904447" y="4292705"/>
                <a:ext cx="1638970" cy="415768"/>
              </a:xfrm>
              <a:prstGeom prst="roundRect">
                <a:avLst/>
              </a:prstGeom>
              <a:solidFill>
                <a:srgbClr val="187C86"/>
              </a:solidFill>
              <a:ln>
                <a:solidFill>
                  <a:srgbClr val="187C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3081800" y="4308363"/>
                <a:ext cx="508536" cy="4122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 smtClean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+mn-ea"/>
                    <a:sym typeface="+mn-lt"/>
                  </a:rPr>
                  <a:t>公开课</a:t>
                </a:r>
                <a:endParaRPr lang="zh-CN" altLang="en-US" sz="20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7809316" y="1645565"/>
              <a:ext cx="1724004" cy="1793669"/>
              <a:chOff x="3021937" y="1858507"/>
              <a:chExt cx="1724004" cy="1793669"/>
            </a:xfrm>
          </p:grpSpPr>
          <p:grpSp>
            <p:nvGrpSpPr>
              <p:cNvPr id="28" name="组合 27"/>
              <p:cNvGrpSpPr/>
              <p:nvPr/>
            </p:nvGrpSpPr>
            <p:grpSpPr>
              <a:xfrm rot="10800000">
                <a:off x="3021937" y="1858507"/>
                <a:ext cx="1724004" cy="1781593"/>
                <a:chOff x="5204460" y="4087615"/>
                <a:chExt cx="1483995" cy="1533566"/>
              </a:xfrm>
              <a:effectLst>
                <a:outerShdw blurRad="127000" sx="104000" sy="104000" algn="ctr" rotWithShape="0">
                  <a:prstClr val="black">
                    <a:alpha val="30000"/>
                  </a:prstClr>
                </a:outerShdw>
              </a:effectLst>
            </p:grpSpPr>
            <p:sp>
              <p:nvSpPr>
                <p:cNvPr id="30" name="任意多边形 109"/>
                <p:cNvSpPr/>
                <p:nvPr/>
              </p:nvSpPr>
              <p:spPr>
                <a:xfrm>
                  <a:off x="5204460" y="4087615"/>
                  <a:ext cx="1483995" cy="1533566"/>
                </a:xfrm>
                <a:prstGeom prst="wedgeRoundRectCallout">
                  <a:avLst>
                    <a:gd name="adj1" fmla="val -17992"/>
                    <a:gd name="adj2" fmla="val -57225"/>
                    <a:gd name="adj3" fmla="val 1666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任意多边形 110"/>
                <p:cNvSpPr/>
                <p:nvPr/>
              </p:nvSpPr>
              <p:spPr>
                <a:xfrm>
                  <a:off x="5204460" y="5496560"/>
                  <a:ext cx="1483995" cy="124618"/>
                </a:xfrm>
                <a:custGeom>
                  <a:avLst/>
                  <a:gdLst>
                    <a:gd name="connsiteX0" fmla="*/ 0 w 1483995"/>
                    <a:gd name="connsiteY0" fmla="*/ 0 h 124618"/>
                    <a:gd name="connsiteX1" fmla="*/ 1483995 w 1483995"/>
                    <a:gd name="connsiteY1" fmla="*/ 0 h 124618"/>
                    <a:gd name="connsiteX2" fmla="*/ 1483995 w 1483995"/>
                    <a:gd name="connsiteY2" fmla="*/ 20160 h 124618"/>
                    <a:gd name="connsiteX3" fmla="*/ 1379537 w 1483995"/>
                    <a:gd name="connsiteY3" fmla="*/ 124618 h 124618"/>
                    <a:gd name="connsiteX4" fmla="*/ 104458 w 1483995"/>
                    <a:gd name="connsiteY4" fmla="*/ 124618 h 124618"/>
                    <a:gd name="connsiteX5" fmla="*/ 0 w 1483995"/>
                    <a:gd name="connsiteY5" fmla="*/ 20160 h 1246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83995" h="124618">
                      <a:moveTo>
                        <a:pt x="0" y="0"/>
                      </a:moveTo>
                      <a:lnTo>
                        <a:pt x="1483995" y="0"/>
                      </a:lnTo>
                      <a:lnTo>
                        <a:pt x="1483995" y="20160"/>
                      </a:lnTo>
                      <a:cubicBezTo>
                        <a:pt x="1483995" y="77851"/>
                        <a:pt x="1437228" y="124618"/>
                        <a:pt x="1379537" y="124618"/>
                      </a:cubicBezTo>
                      <a:lnTo>
                        <a:pt x="104458" y="124618"/>
                      </a:lnTo>
                      <a:cubicBezTo>
                        <a:pt x="46767" y="124618"/>
                        <a:pt x="0" y="77851"/>
                        <a:pt x="0" y="20160"/>
                      </a:cubicBezTo>
                      <a:close/>
                    </a:path>
                  </a:pathLst>
                </a:custGeom>
                <a:solidFill>
                  <a:srgbClr val="187C8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9" name="PA-FooterText "/>
              <p:cNvSpPr txBox="1"/>
              <p:nvPr>
                <p:custDataLst>
                  <p:tags r:id="rId3"/>
                </p:custDataLst>
              </p:nvPr>
            </p:nvSpPr>
            <p:spPr>
              <a:xfrm flipH="1">
                <a:off x="3146637" y="2066490"/>
                <a:ext cx="1569067" cy="15856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30000"/>
                  </a:lnSpc>
                  <a:spcBef>
                    <a:spcPts val="600"/>
                  </a:spcBef>
                  <a:spcAft>
                    <a:spcPts val="600"/>
                  </a:spcAft>
                  <a:defRPr sz="1600">
                    <a:solidFill>
                      <a:schemeClr val="bg1">
                        <a:lumMod val="75000"/>
                      </a:schemeClr>
                    </a:solidFill>
                  </a:defRPr>
                </a:lvl1pPr>
              </a:lstStyle>
              <a:p>
                <a:pPr algn="l">
                  <a:lnSpc>
                    <a:spcPct val="100000"/>
                  </a:lnSpc>
                  <a:defRPr/>
                </a:pPr>
                <a:r>
                  <a: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清华大学 邓俊辉</a:t>
                </a:r>
                <a:endPara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+mn-ea"/>
                  <a:sym typeface="+mn-lt"/>
                </a:endParaRPr>
              </a:p>
              <a:p>
                <a:pPr algn="l">
                  <a:lnSpc>
                    <a:spcPct val="100000"/>
                  </a:lnSpc>
                  <a:defRPr/>
                </a:pPr>
                <a:r>
                  <a: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浙江大学 陈越</a:t>
                </a:r>
                <a:endPara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+mn-ea"/>
                  <a:sym typeface="+mn-lt"/>
                </a:endParaRPr>
              </a:p>
              <a:p>
                <a:pPr algn="l">
                  <a:lnSpc>
                    <a:spcPct val="100000"/>
                  </a:lnSpc>
                  <a:defRPr/>
                </a:pPr>
                <a:r>
                  <a: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北京大学 张铭</a:t>
                </a:r>
                <a:endPara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+mn-ea"/>
                  <a:sym typeface="+mn-lt"/>
                </a:endParaRPr>
              </a:p>
              <a:p>
                <a:pPr algn="l">
                  <a:lnSpc>
                    <a:spcPct val="100000"/>
                  </a:lnSpc>
                  <a:defRPr/>
                </a:pPr>
                <a:r>
                  <a:rPr lang="en-US" altLang="zh-CN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</a:rPr>
                  <a:t>MIT 6.851</a:t>
                </a:r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4" name="组合 33"/>
          <p:cNvGrpSpPr/>
          <p:nvPr/>
        </p:nvGrpSpPr>
        <p:grpSpPr>
          <a:xfrm>
            <a:off x="4932038" y="4303764"/>
            <a:ext cx="3754762" cy="2372507"/>
            <a:chOff x="7809314" y="1645565"/>
            <a:chExt cx="1724008" cy="2444662"/>
          </a:xfrm>
        </p:grpSpPr>
        <p:grpSp>
          <p:nvGrpSpPr>
            <p:cNvPr id="35" name="组合 34"/>
            <p:cNvGrpSpPr/>
            <p:nvPr/>
          </p:nvGrpSpPr>
          <p:grpSpPr>
            <a:xfrm>
              <a:off x="7809316" y="3669459"/>
              <a:ext cx="1638970" cy="420768"/>
              <a:chOff x="2904447" y="4292705"/>
              <a:chExt cx="1638970" cy="420768"/>
            </a:xfrm>
          </p:grpSpPr>
          <p:sp>
            <p:nvSpPr>
              <p:cNvPr id="41" name="矩形: 圆角 81"/>
              <p:cNvSpPr/>
              <p:nvPr/>
            </p:nvSpPr>
            <p:spPr>
              <a:xfrm>
                <a:off x="2904447" y="4292705"/>
                <a:ext cx="1638970" cy="415768"/>
              </a:xfrm>
              <a:prstGeom prst="roundRect">
                <a:avLst/>
              </a:prstGeom>
              <a:solidFill>
                <a:srgbClr val="187C86"/>
              </a:solidFill>
              <a:ln>
                <a:solidFill>
                  <a:srgbClr val="187C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3032397" y="4301194"/>
                <a:ext cx="996663" cy="4122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+mn-ea"/>
                    <a:sym typeface="+mn-lt"/>
                  </a:rPr>
                  <a:t>算法</a:t>
                </a:r>
                <a:r>
                  <a:rPr lang="zh-CN" altLang="en-US" sz="2000" b="1" dirty="0" smtClean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+mn-ea"/>
                    <a:sym typeface="+mn-lt"/>
                  </a:rPr>
                  <a:t>演示与辅助</a:t>
                </a:r>
                <a:endParaRPr lang="zh-CN" altLang="en-US" sz="20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7809314" y="1645565"/>
              <a:ext cx="1724008" cy="1944704"/>
              <a:chOff x="3021935" y="1858507"/>
              <a:chExt cx="1724008" cy="1944704"/>
            </a:xfrm>
          </p:grpSpPr>
          <p:grpSp>
            <p:nvGrpSpPr>
              <p:cNvPr id="37" name="组合 36"/>
              <p:cNvGrpSpPr/>
              <p:nvPr/>
            </p:nvGrpSpPr>
            <p:grpSpPr>
              <a:xfrm rot="10800000">
                <a:off x="3021936" y="1858507"/>
                <a:ext cx="1724007" cy="1781593"/>
                <a:chOff x="5204460" y="4087615"/>
                <a:chExt cx="1483998" cy="1533566"/>
              </a:xfrm>
              <a:effectLst>
                <a:outerShdw blurRad="127000" sx="104000" sy="104000" algn="ctr" rotWithShape="0">
                  <a:prstClr val="black">
                    <a:alpha val="30000"/>
                  </a:prstClr>
                </a:outerShdw>
              </a:effectLst>
            </p:grpSpPr>
            <p:sp>
              <p:nvSpPr>
                <p:cNvPr id="39" name="任意多边形 109"/>
                <p:cNvSpPr/>
                <p:nvPr/>
              </p:nvSpPr>
              <p:spPr>
                <a:xfrm>
                  <a:off x="5204460" y="4087615"/>
                  <a:ext cx="1483995" cy="1533566"/>
                </a:xfrm>
                <a:prstGeom prst="wedgeRoundRectCallout">
                  <a:avLst>
                    <a:gd name="adj1" fmla="val -20665"/>
                    <a:gd name="adj2" fmla="val -53709"/>
                    <a:gd name="adj3" fmla="val 1666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任意多边形 110"/>
                <p:cNvSpPr/>
                <p:nvPr/>
              </p:nvSpPr>
              <p:spPr>
                <a:xfrm>
                  <a:off x="5204463" y="5496560"/>
                  <a:ext cx="1483995" cy="124618"/>
                </a:xfrm>
                <a:custGeom>
                  <a:avLst/>
                  <a:gdLst>
                    <a:gd name="connsiteX0" fmla="*/ 0 w 1483995"/>
                    <a:gd name="connsiteY0" fmla="*/ 0 h 124618"/>
                    <a:gd name="connsiteX1" fmla="*/ 1483995 w 1483995"/>
                    <a:gd name="connsiteY1" fmla="*/ 0 h 124618"/>
                    <a:gd name="connsiteX2" fmla="*/ 1483995 w 1483995"/>
                    <a:gd name="connsiteY2" fmla="*/ 20160 h 124618"/>
                    <a:gd name="connsiteX3" fmla="*/ 1379537 w 1483995"/>
                    <a:gd name="connsiteY3" fmla="*/ 124618 h 124618"/>
                    <a:gd name="connsiteX4" fmla="*/ 104458 w 1483995"/>
                    <a:gd name="connsiteY4" fmla="*/ 124618 h 124618"/>
                    <a:gd name="connsiteX5" fmla="*/ 0 w 1483995"/>
                    <a:gd name="connsiteY5" fmla="*/ 20160 h 1246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83995" h="124618">
                      <a:moveTo>
                        <a:pt x="0" y="0"/>
                      </a:moveTo>
                      <a:lnTo>
                        <a:pt x="1483995" y="0"/>
                      </a:lnTo>
                      <a:lnTo>
                        <a:pt x="1483995" y="20160"/>
                      </a:lnTo>
                      <a:cubicBezTo>
                        <a:pt x="1483995" y="77851"/>
                        <a:pt x="1437228" y="124618"/>
                        <a:pt x="1379537" y="124618"/>
                      </a:cubicBezTo>
                      <a:lnTo>
                        <a:pt x="104458" y="124618"/>
                      </a:lnTo>
                      <a:cubicBezTo>
                        <a:pt x="46767" y="124618"/>
                        <a:pt x="0" y="77851"/>
                        <a:pt x="0" y="20160"/>
                      </a:cubicBezTo>
                      <a:close/>
                    </a:path>
                  </a:pathLst>
                </a:custGeom>
                <a:solidFill>
                  <a:srgbClr val="187C8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8" name="PA-FooterText 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3021935" y="1868676"/>
                <a:ext cx="1724003" cy="19345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30000"/>
                  </a:lnSpc>
                  <a:spcBef>
                    <a:spcPts val="600"/>
                  </a:spcBef>
                  <a:spcAft>
                    <a:spcPts val="600"/>
                  </a:spcAft>
                  <a:defRPr sz="1600">
                    <a:solidFill>
                      <a:schemeClr val="bg1">
                        <a:lumMod val="75000"/>
                      </a:schemeClr>
                    </a:solidFill>
                  </a:defRPr>
                </a:lvl1pPr>
              </a:lstStyle>
              <a:p>
                <a:pPr algn="l">
                  <a:lnSpc>
                    <a:spcPct val="100000"/>
                  </a:lnSpc>
                  <a:defRPr/>
                </a:pPr>
                <a:r>
                  <a:rPr lang="zh-CN" altLang="en-US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动画：</a:t>
                </a:r>
                <a:r>
                  <a:rPr lang="en-US" altLang="zh-CN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https</a:t>
                </a:r>
                <a:r>
                  <a:rPr lang="en-US" altLang="zh-CN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://visualgo.net/</a:t>
                </a:r>
                <a:endPara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+mn-ea"/>
                  <a:sym typeface="+mn-lt"/>
                </a:endParaRPr>
              </a:p>
              <a:p>
                <a:pPr algn="l">
                  <a:lnSpc>
                    <a:spcPct val="100000"/>
                  </a:lnSpc>
                  <a:defRPr/>
                </a:pPr>
                <a:r>
                  <a: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动画： </a:t>
                </a:r>
                <a:r>
                  <a:rPr lang="en-US" altLang="zh-CN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https</a:t>
                </a:r>
                <a:r>
                  <a:rPr lang="en-US" altLang="zh-CN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://www.cs.usfca.edu/~galles/visualization</a:t>
                </a:r>
                <a:endPara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+mn-ea"/>
                  <a:sym typeface="+mn-lt"/>
                </a:endParaRPr>
              </a:p>
              <a:p>
                <a:pPr algn="l">
                  <a:lnSpc>
                    <a:spcPct val="100000"/>
                  </a:lnSpc>
                  <a:defRPr/>
                </a:pPr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大模型辅助算法设计与代码优化</a:t>
                </a:r>
                <a:r>
                  <a:rPr lang="zh-CN" altLang="en-US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：码上 </a:t>
                </a:r>
                <a:r>
                  <a:rPr lang="en-US" altLang="zh-CN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DeepSeek</a:t>
                </a:r>
                <a:r>
                  <a:rPr lang="en-US" altLang="zh-CN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 </a:t>
                </a:r>
                <a:r>
                  <a:rPr lang="zh-CN" altLang="en-US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豆包 通义灵码 </a:t>
                </a:r>
                <a:r>
                  <a:rPr lang="en-US" altLang="zh-CN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Chatgpt</a:t>
                </a:r>
                <a:r>
                  <a:rPr lang="zh-CN" altLang="en-US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+mn-ea"/>
                    <a:sym typeface="+mn-lt"/>
                  </a:rPr>
                  <a:t>等</a:t>
                </a:r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+mn-ea"/>
                  <a:sym typeface="+mn-lt"/>
                </a:endParaRPr>
              </a:p>
            </p:txBody>
          </p:sp>
        </p:grpSp>
      </p:grpSp>
      <p:cxnSp>
        <p:nvCxnSpPr>
          <p:cNvPr id="43" name="直接连接符 42"/>
          <p:cNvCxnSpPr/>
          <p:nvPr/>
        </p:nvCxnSpPr>
        <p:spPr>
          <a:xfrm flipV="1">
            <a:off x="3462502" y="1655633"/>
            <a:ext cx="2142795" cy="217"/>
          </a:xfrm>
          <a:prstGeom prst="line">
            <a:avLst/>
          </a:prstGeom>
          <a:ln w="19050">
            <a:solidFill>
              <a:srgbClr val="187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3317220" y="990750"/>
            <a:ext cx="2766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187C86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课程资料汇总</a:t>
            </a:r>
            <a:endParaRPr lang="zh-CN" altLang="en-US" sz="2800" b="1" dirty="0">
              <a:solidFill>
                <a:srgbClr val="187C86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1036367"/>
            <a:ext cx="8458200" cy="563563"/>
          </a:xfr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187C86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</a:rPr>
              <a:t>智能时代已经到来</a:t>
            </a:r>
            <a:endParaRPr lang="zh-CN" altLang="en-US" sz="2800" dirty="0">
              <a:solidFill>
                <a:srgbClr val="187C86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52600"/>
            <a:ext cx="3355851" cy="2237234"/>
          </a:xfrm>
          <a:prstGeom prst="rect">
            <a:avLst/>
          </a:prstGeom>
        </p:spPr>
      </p:pic>
      <p:pic>
        <p:nvPicPr>
          <p:cNvPr id="1028" name="Picture 4" descr="https://i1.hdslb.com/bfs/archive/475d528e31bb52469bd5cd017d66e27ee6d386f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751561"/>
            <a:ext cx="3240360" cy="223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307" y="4293096"/>
            <a:ext cx="4320480" cy="22455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idx="1" hasCustomPrompt="1"/>
          </p:nvPr>
        </p:nvSpPr>
        <p:spPr>
          <a:xfrm>
            <a:off x="467544" y="1196752"/>
            <a:ext cx="8263255" cy="5762625"/>
          </a:xfrm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90000"/>
              </a:lnSpc>
              <a:buNone/>
              <a:defRPr/>
            </a:pPr>
            <a:r>
              <a:rPr lang="zh-CN" altLang="en-US" sz="4000" dirty="0" smtClean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探索</a:t>
            </a:r>
            <a:r>
              <a:rPr lang="en-US" altLang="zh-CN" sz="4000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AI</a:t>
            </a:r>
            <a:r>
              <a:rPr lang="zh-CN" altLang="en-US" sz="4000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辅助的软件开发模式</a:t>
            </a:r>
            <a:endParaRPr lang="en-US" altLang="zh-CN" sz="4000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）</a:t>
            </a:r>
            <a:r>
              <a:rPr lang="zh-CN" altLang="en-US" sz="2000" dirty="0"/>
              <a:t>选用大模型，可选码上大模型</a:t>
            </a:r>
            <a:r>
              <a:rPr lang="zh-CN" altLang="en-US" sz="2000" dirty="0" smtClean="0"/>
              <a:t>、</a:t>
            </a:r>
            <a:r>
              <a:rPr lang="en-US" altLang="zh-CN" sz="2000" dirty="0" err="1" smtClean="0"/>
              <a:t>deepseek</a:t>
            </a:r>
            <a:r>
              <a:rPr lang="zh-CN" altLang="en-US" sz="2000" dirty="0" smtClean="0"/>
              <a:t>等</a:t>
            </a:r>
            <a:endParaRPr lang="en-US" altLang="zh-CN" sz="2000" dirty="0"/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）</a:t>
            </a:r>
            <a:r>
              <a:rPr lang="zh-CN" altLang="en-US" sz="2000" dirty="0"/>
              <a:t>利用大模型进行系统总体设计，并编写需求文档；</a:t>
            </a:r>
            <a:endParaRPr lang="en-US" altLang="zh-CN" sz="2000" dirty="0"/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3</a:t>
            </a:r>
            <a:r>
              <a:rPr lang="zh-CN" altLang="en-US" sz="2000" dirty="0" smtClean="0"/>
              <a:t>）</a:t>
            </a:r>
            <a:r>
              <a:rPr lang="zh-CN" altLang="en-US" sz="2000" dirty="0"/>
              <a:t>利用大模型进行算法的对比、选型和设计；</a:t>
            </a:r>
            <a:endParaRPr lang="en-US" altLang="zh-CN" sz="2000" dirty="0"/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4</a:t>
            </a:r>
            <a:r>
              <a:rPr lang="zh-CN" altLang="en-US" sz="2000" dirty="0" smtClean="0"/>
              <a:t>）</a:t>
            </a:r>
            <a:r>
              <a:rPr lang="zh-CN" altLang="en-US" sz="2000" dirty="0"/>
              <a:t>利用大模型编写设计文档；</a:t>
            </a:r>
            <a:endParaRPr lang="en-US" altLang="zh-CN" sz="2000" dirty="0"/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5</a:t>
            </a:r>
            <a:r>
              <a:rPr lang="zh-CN" altLang="en-US" sz="2000" dirty="0" smtClean="0"/>
              <a:t>）</a:t>
            </a:r>
            <a:r>
              <a:rPr lang="zh-CN" altLang="en-US" sz="2000" dirty="0"/>
              <a:t>利用大模型进行算法的实现；</a:t>
            </a:r>
            <a:endParaRPr lang="en-US" altLang="zh-CN" sz="2000" dirty="0"/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7</a:t>
            </a:r>
            <a:r>
              <a:rPr lang="zh-CN" altLang="en-US" sz="2000" dirty="0"/>
              <a:t>）利用爬虫构造数据集，进行测试；</a:t>
            </a:r>
            <a:endParaRPr lang="en-US" altLang="zh-CN" sz="20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zh-CN" sz="20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idx="1" hasCustomPrompt="1"/>
          </p:nvPr>
        </p:nvSpPr>
        <p:spPr>
          <a:xfrm>
            <a:off x="577852" y="331472"/>
            <a:ext cx="8263255" cy="5762625"/>
          </a:xfrm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90000"/>
              </a:lnSpc>
              <a:buNone/>
              <a:defRPr/>
            </a:pPr>
            <a:r>
              <a:rPr lang="zh-CN" altLang="en-US" sz="4000" dirty="0" smtClean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探索</a:t>
            </a:r>
            <a:r>
              <a:rPr lang="zh-CN" altLang="en-US" sz="4000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AI辅助的软件开发模式</a:t>
            </a:r>
            <a:endParaRPr lang="zh-CN" altLang="en-US" sz="4000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zh-CN" sz="20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zh-CN" sz="20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1460" y="1701167"/>
            <a:ext cx="8759190" cy="40925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95605" y="1123952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hlinkClick r:id="rId3" action="ppaction://hlinkfile"/>
              </a:rPr>
              <a:t>https://tongyi.aliyun.com/lingma</a:t>
            </a:r>
            <a:r>
              <a:rPr lang="zh-CN" altLang="en-US"/>
              <a:t>/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idx="1" hasCustomPrompt="1"/>
          </p:nvPr>
        </p:nvSpPr>
        <p:spPr>
          <a:xfrm>
            <a:off x="577852" y="331472"/>
            <a:ext cx="8263255" cy="5762625"/>
          </a:xfrm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90000"/>
              </a:lnSpc>
              <a:buNone/>
              <a:defRPr/>
            </a:pPr>
            <a:r>
              <a:rPr lang="zh-CN" altLang="en-US" sz="4000" dirty="0" smtClean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探索</a:t>
            </a:r>
            <a:r>
              <a:rPr lang="zh-CN" altLang="en-US" sz="4000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AI辅助的软件开发模式</a:t>
            </a:r>
            <a:endParaRPr lang="zh-CN" altLang="en-US" sz="4000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zh-CN" sz="20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zh-CN" sz="20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395605" y="1123952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hlinkClick r:id="rId1" action="ppaction://hlinkfile"/>
              </a:rPr>
              <a:t>https://tongyi.aliyun.com/lingma</a:t>
            </a:r>
            <a:r>
              <a:rPr lang="zh-CN" altLang="en-US"/>
              <a:t>/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0340" y="1773557"/>
            <a:ext cx="8868410" cy="40557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idx="1" hasCustomPrompt="1"/>
          </p:nvPr>
        </p:nvSpPr>
        <p:spPr>
          <a:xfrm>
            <a:off x="577852" y="331472"/>
            <a:ext cx="8263255" cy="5762625"/>
          </a:xfrm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90000"/>
              </a:lnSpc>
              <a:buNone/>
              <a:defRPr/>
            </a:pPr>
            <a:r>
              <a:rPr lang="zh-CN" altLang="en-US" sz="4000" dirty="0" smtClean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探索</a:t>
            </a:r>
            <a:r>
              <a:rPr lang="zh-CN" altLang="en-US" sz="4000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AI辅助的软件开发模式</a:t>
            </a:r>
            <a:endParaRPr lang="zh-CN" altLang="en-US" sz="4000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zh-CN" sz="20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zh-CN" sz="20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395605" y="1123952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hlinkClick r:id="rId1" action="ppaction://hlinkfile"/>
              </a:rPr>
              <a:t>https://tongyi.aliyun.com/lingma</a:t>
            </a:r>
            <a:r>
              <a:rPr lang="zh-CN" altLang="en-US"/>
              <a:t>/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2095" y="2853055"/>
            <a:ext cx="8732520" cy="31838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3852" y="1656080"/>
            <a:ext cx="8515985" cy="1414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行级/函数级实时续写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sz="2000"/>
              <a:t>根据当前语法和跨文件的代码上下文，实时生成行、函数建议代码。</a:t>
            </a:r>
            <a:endParaRPr lang="zh-CN" altLang="en-US" sz="2000"/>
          </a:p>
          <a:p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idx="1" hasCustomPrompt="1"/>
          </p:nvPr>
        </p:nvSpPr>
        <p:spPr>
          <a:xfrm>
            <a:off x="577852" y="331472"/>
            <a:ext cx="8263255" cy="5762625"/>
          </a:xfrm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90000"/>
              </a:lnSpc>
              <a:buNone/>
              <a:defRPr/>
            </a:pPr>
            <a:r>
              <a:rPr lang="zh-CN" altLang="en-US" sz="4000" dirty="0" smtClean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探索</a:t>
            </a:r>
            <a:r>
              <a:rPr lang="zh-CN" altLang="en-US" sz="4000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AI辅助的软件开发模式</a:t>
            </a:r>
            <a:endParaRPr lang="zh-CN" altLang="en-US" sz="4000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zh-CN" sz="20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zh-CN" sz="20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395605" y="1123952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hlinkClick r:id="rId1" action="ppaction://hlinkfile"/>
              </a:rPr>
              <a:t>https://tongyi.aliyun.com/lingma</a:t>
            </a:r>
            <a:r>
              <a:rPr lang="zh-CN" altLang="en-US"/>
              <a:t>/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3852" y="1656082"/>
            <a:ext cx="8515985" cy="1876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自然语言生成代码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通过自然语言描述你想要的功能，可直接在编辑器区生成代码，编码心流不间断。</a:t>
            </a:r>
            <a:endParaRPr lang="zh-CN" altLang="en-US" sz="2000" dirty="0"/>
          </a:p>
          <a:p>
            <a:endParaRPr lang="zh-CN" altLang="en-US" sz="2000" dirty="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5267" y="3235325"/>
            <a:ext cx="8886825" cy="330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idx="1" hasCustomPrompt="1"/>
          </p:nvPr>
        </p:nvSpPr>
        <p:spPr>
          <a:xfrm>
            <a:off x="577852" y="331472"/>
            <a:ext cx="8263255" cy="5762625"/>
          </a:xfrm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90000"/>
              </a:lnSpc>
              <a:buNone/>
              <a:defRPr/>
            </a:pPr>
            <a:r>
              <a:rPr lang="zh-CN" altLang="en-US" sz="4000" dirty="0" smtClean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探索</a:t>
            </a:r>
            <a:r>
              <a:rPr lang="zh-CN" altLang="en-US" sz="4000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AI辅助的软件开发模式</a:t>
            </a:r>
            <a:endParaRPr lang="zh-CN" altLang="en-US" sz="4000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zh-CN" sz="20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zh-CN" sz="20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395605" y="1123952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hlinkClick r:id="rId1" action="ppaction://hlinkfile"/>
              </a:rPr>
              <a:t>https://tongyi.aliyun.com/lingma</a:t>
            </a:r>
            <a:r>
              <a:rPr lang="zh-CN" altLang="en-US"/>
              <a:t>/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3852" y="1656080"/>
            <a:ext cx="851598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代码优化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sz="2000"/>
              <a:t>深度分析代码及其上下文，迅速识别潜在的编码问题，从简单的语法错误到复杂的性能瓶颈，均能够指出问题所在，并提供具体的优化建议代码。</a:t>
            </a:r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23215" y="3284855"/>
            <a:ext cx="8516620" cy="33769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idx="1" hasCustomPrompt="1"/>
          </p:nvPr>
        </p:nvSpPr>
        <p:spPr>
          <a:xfrm>
            <a:off x="577852" y="331472"/>
            <a:ext cx="8263255" cy="5762625"/>
          </a:xfrm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90000"/>
              </a:lnSpc>
              <a:buNone/>
              <a:defRPr/>
            </a:pPr>
            <a:r>
              <a:rPr lang="zh-CN" altLang="en-US" sz="4000" dirty="0" smtClean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探索</a:t>
            </a:r>
            <a:r>
              <a:rPr lang="zh-CN" altLang="en-US" sz="4000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AI辅助的软件开发模式</a:t>
            </a:r>
            <a:endParaRPr lang="zh-CN" altLang="en-US" sz="4000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zh-CN" sz="20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zh-CN" sz="20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395605" y="1123952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hlinkClick r:id="rId1" action="ppaction://hlinkfile"/>
              </a:rPr>
              <a:t>https://tongyi.aliyun.com/lingma</a:t>
            </a:r>
            <a:r>
              <a:rPr lang="zh-CN" altLang="en-US"/>
              <a:t>/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3852" y="1656082"/>
            <a:ext cx="851598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研发领域自由问答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sz="2000"/>
              <a:t>遇到编码疑问、技术难题时，一键唤起通义灵码，无需离开 IDE 客户端，即可快速获得答案和解决思路。聚焦研发领域知识的问答，帮助开发者快速解决问题。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43307" y="3657602"/>
            <a:ext cx="6842125" cy="29267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idx="1" hasCustomPrompt="1"/>
          </p:nvPr>
        </p:nvSpPr>
        <p:spPr>
          <a:xfrm>
            <a:off x="577852" y="331472"/>
            <a:ext cx="8263255" cy="5762625"/>
          </a:xfrm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90000"/>
              </a:lnSpc>
              <a:buNone/>
              <a:defRPr/>
            </a:pPr>
            <a:r>
              <a:rPr lang="zh-CN" altLang="en-US" sz="4000" dirty="0" smtClean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探索</a:t>
            </a:r>
            <a:r>
              <a:rPr lang="zh-CN" altLang="en-US" sz="4000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AI辅助的软件开发模式</a:t>
            </a:r>
            <a:endParaRPr lang="zh-CN" altLang="en-US" sz="4000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zh-CN" sz="20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zh-CN" sz="20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395605" y="1123952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hlinkClick r:id="rId1" action="ppaction://hlinkfile"/>
              </a:rPr>
              <a:t>https://tongyi.aliyun.com/lingma</a:t>
            </a:r>
            <a:r>
              <a:rPr lang="zh-CN" altLang="en-US"/>
              <a:t>/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3852" y="1656080"/>
            <a:ext cx="851598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异常报错智能排查（Java）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sz="2000"/>
              <a:t>当运行出现异常报错时，一键启动报错排查的智能答疑，可结合运行代码、异常堆栈等报错上下文，快速给出排查思路或修复建议代码。</a:t>
            </a:r>
            <a:endParaRPr lang="zh-CN" altLang="en-US" sz="2000"/>
          </a:p>
        </p:txBody>
      </p:sp>
      <p:pic>
        <p:nvPicPr>
          <p:cNvPr id="3" name="图片 2" descr="/private/var/folders/6h/tb8dzc4s2gngzw_whxq9dfk00000gn/T/com.kingsoft.wpsoffice.mac/picturecompress_20240228000935/output_1.pngoutput_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03350" y="3196590"/>
            <a:ext cx="5769610" cy="3566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本章内容</a:t>
            </a:r>
            <a:endParaRPr lang="zh-CN" altLang="en-US" sz="28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8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3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E17BF8-4A79-408F-A39E-DC92F7E83C37}" type="slidenum">
              <a:rPr lang="en-US" altLang="zh-CN"/>
            </a:fld>
            <a:endParaRPr lang="en-US" altLang="zh-CN"/>
          </a:p>
        </p:txBody>
      </p:sp>
      <p:sp>
        <p:nvSpPr>
          <p:cNvPr id="40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grpSp>
        <p:nvGrpSpPr>
          <p:cNvPr id="7174" name="Group 4"/>
          <p:cNvGrpSpPr/>
          <p:nvPr/>
        </p:nvGrpSpPr>
        <p:grpSpPr bwMode="auto">
          <a:xfrm>
            <a:off x="2133600" y="1125538"/>
            <a:ext cx="4814888" cy="685800"/>
            <a:chOff x="1296" y="1824"/>
            <a:chExt cx="2976" cy="432"/>
          </a:xfrm>
        </p:grpSpPr>
        <p:sp>
          <p:nvSpPr>
            <p:cNvPr id="105477" name="AutoShape 5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7206" name="AutoShape 6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7207" name="Text Box 7"/>
            <p:cNvSpPr txBox="1">
              <a:spLocks noChangeArrowheads="1"/>
            </p:cNvSpPr>
            <p:nvPr/>
          </p:nvSpPr>
          <p:spPr bwMode="gray">
            <a:xfrm>
              <a:off x="1679" y="1934"/>
              <a:ext cx="21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="1" dirty="0" smtClean="0">
                  <a:solidFill>
                    <a:srgbClr val="000000"/>
                  </a:solidFill>
                  <a:latin typeface="华文楷体" panose="02010600040101010101" pitchFamily="2" charset="-122"/>
                </a:rPr>
                <a:t>预备知识</a:t>
              </a:r>
              <a:endParaRPr lang="zh-CN" altLang="en-US" b="1" dirty="0">
                <a:solidFill>
                  <a:srgbClr val="000000"/>
                </a:solidFill>
                <a:latin typeface="华文楷体" panose="02010600040101010101" pitchFamily="2" charset="-122"/>
              </a:endParaRPr>
            </a:p>
          </p:txBody>
        </p:sp>
        <p:sp>
          <p:nvSpPr>
            <p:cNvPr id="7208" name="Text Box 8"/>
            <p:cNvSpPr txBox="1">
              <a:spLocks noChangeArrowheads="1"/>
            </p:cNvSpPr>
            <p:nvPr/>
          </p:nvSpPr>
          <p:spPr bwMode="gray">
            <a:xfrm>
              <a:off x="1404" y="1886"/>
              <a:ext cx="20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华文楷体" panose="02010600040101010101" pitchFamily="2" charset="-122"/>
                </a:rPr>
                <a:t>1</a:t>
              </a:r>
              <a:endParaRPr lang="en-US" altLang="zh-CN" sz="2400" dirty="0">
                <a:solidFill>
                  <a:schemeClr val="bg1"/>
                </a:solidFill>
                <a:latin typeface="华文楷体" panose="02010600040101010101" pitchFamily="2" charset="-122"/>
              </a:endParaRPr>
            </a:p>
          </p:txBody>
        </p:sp>
      </p:grpSp>
      <p:grpSp>
        <p:nvGrpSpPr>
          <p:cNvPr id="7175" name="Group 9"/>
          <p:cNvGrpSpPr/>
          <p:nvPr/>
        </p:nvGrpSpPr>
        <p:grpSpPr bwMode="auto">
          <a:xfrm>
            <a:off x="2133600" y="1916113"/>
            <a:ext cx="4814888" cy="685800"/>
            <a:chOff x="1296" y="1824"/>
            <a:chExt cx="2976" cy="432"/>
          </a:xfrm>
        </p:grpSpPr>
        <p:sp>
          <p:nvSpPr>
            <p:cNvPr id="105482" name="AutoShape 10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7202" name="AutoShape 11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7203" name="Text Box 12"/>
            <p:cNvSpPr txBox="1">
              <a:spLocks noChangeArrowheads="1"/>
            </p:cNvSpPr>
            <p:nvPr/>
          </p:nvSpPr>
          <p:spPr bwMode="gray">
            <a:xfrm>
              <a:off x="1680" y="1934"/>
              <a:ext cx="21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rgbClr val="000000"/>
                  </a:solidFill>
                  <a:latin typeface="华文楷体" panose="02010600040101010101" pitchFamily="2" charset="-122"/>
                </a:rPr>
                <a:t>基本概念与术语</a:t>
              </a:r>
              <a:endParaRPr lang="zh-CN" altLang="en-US" b="1" dirty="0">
                <a:solidFill>
                  <a:srgbClr val="000000"/>
                </a:solidFill>
                <a:latin typeface="华文楷体" panose="02010600040101010101" pitchFamily="2" charset="-122"/>
              </a:endParaRPr>
            </a:p>
          </p:txBody>
        </p:sp>
        <p:sp>
          <p:nvSpPr>
            <p:cNvPr id="7204" name="Text Box 13"/>
            <p:cNvSpPr txBox="1">
              <a:spLocks noChangeArrowheads="1"/>
            </p:cNvSpPr>
            <p:nvPr/>
          </p:nvSpPr>
          <p:spPr bwMode="gray">
            <a:xfrm>
              <a:off x="1403" y="1886"/>
              <a:ext cx="20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华文楷体" panose="02010600040101010101" pitchFamily="2" charset="-122"/>
                </a:rPr>
                <a:t>2</a:t>
              </a:r>
              <a:endParaRPr lang="en-US" altLang="zh-CN" sz="2400" dirty="0">
                <a:solidFill>
                  <a:schemeClr val="bg1"/>
                </a:solidFill>
                <a:latin typeface="华文楷体" panose="02010600040101010101" pitchFamily="2" charset="-122"/>
              </a:endParaRPr>
            </a:p>
          </p:txBody>
        </p:sp>
      </p:grpSp>
      <p:grpSp>
        <p:nvGrpSpPr>
          <p:cNvPr id="7176" name="Group 14"/>
          <p:cNvGrpSpPr/>
          <p:nvPr/>
        </p:nvGrpSpPr>
        <p:grpSpPr bwMode="auto">
          <a:xfrm>
            <a:off x="2133600" y="2708275"/>
            <a:ext cx="4814888" cy="685800"/>
            <a:chOff x="1296" y="1824"/>
            <a:chExt cx="2976" cy="432"/>
          </a:xfrm>
        </p:grpSpPr>
        <p:sp>
          <p:nvSpPr>
            <p:cNvPr id="105487" name="AutoShape 15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7198" name="AutoShape 16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7199" name="Text Box 17"/>
            <p:cNvSpPr txBox="1">
              <a:spLocks noChangeArrowheads="1"/>
            </p:cNvSpPr>
            <p:nvPr/>
          </p:nvSpPr>
          <p:spPr bwMode="gray">
            <a:xfrm>
              <a:off x="1680" y="1934"/>
              <a:ext cx="21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rgbClr val="000000"/>
                  </a:solidFill>
                  <a:latin typeface="华文楷体" panose="02010600040101010101" pitchFamily="2" charset="-122"/>
                </a:rPr>
                <a:t>逻辑结构</a:t>
              </a:r>
              <a:endParaRPr lang="zh-CN" altLang="en-US" b="1" dirty="0">
                <a:solidFill>
                  <a:srgbClr val="000000"/>
                </a:solidFill>
                <a:latin typeface="华文楷体" panose="02010600040101010101" pitchFamily="2" charset="-122"/>
              </a:endParaRPr>
            </a:p>
          </p:txBody>
        </p:sp>
        <p:sp>
          <p:nvSpPr>
            <p:cNvPr id="7200" name="Text Box 18"/>
            <p:cNvSpPr txBox="1">
              <a:spLocks noChangeArrowheads="1"/>
            </p:cNvSpPr>
            <p:nvPr/>
          </p:nvSpPr>
          <p:spPr bwMode="gray">
            <a:xfrm>
              <a:off x="1403" y="1886"/>
              <a:ext cx="20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华文楷体" panose="02010600040101010101" pitchFamily="2" charset="-122"/>
                </a:rPr>
                <a:t>3</a:t>
              </a:r>
              <a:endParaRPr lang="en-US" altLang="zh-CN" sz="2400" dirty="0">
                <a:solidFill>
                  <a:schemeClr val="bg1"/>
                </a:solidFill>
                <a:latin typeface="华文楷体" panose="02010600040101010101" pitchFamily="2" charset="-122"/>
              </a:endParaRPr>
            </a:p>
          </p:txBody>
        </p:sp>
      </p:grpSp>
      <p:grpSp>
        <p:nvGrpSpPr>
          <p:cNvPr id="7177" name="Group 19"/>
          <p:cNvGrpSpPr/>
          <p:nvPr/>
        </p:nvGrpSpPr>
        <p:grpSpPr bwMode="auto">
          <a:xfrm>
            <a:off x="2133600" y="3573463"/>
            <a:ext cx="4814888" cy="685800"/>
            <a:chOff x="1296" y="1824"/>
            <a:chExt cx="2976" cy="432"/>
          </a:xfrm>
        </p:grpSpPr>
        <p:sp>
          <p:nvSpPr>
            <p:cNvPr id="105492" name="AutoShape 20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7194" name="AutoShape 21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7195" name="Text Box 22"/>
            <p:cNvSpPr txBox="1">
              <a:spLocks noChangeArrowheads="1"/>
            </p:cNvSpPr>
            <p:nvPr/>
          </p:nvSpPr>
          <p:spPr bwMode="gray">
            <a:xfrm>
              <a:off x="1680" y="1934"/>
              <a:ext cx="21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rgbClr val="000000"/>
                  </a:solidFill>
                  <a:latin typeface="华文楷体" panose="02010600040101010101" pitchFamily="2" charset="-122"/>
                </a:rPr>
                <a:t>操作</a:t>
              </a:r>
              <a:endParaRPr lang="zh-CN" altLang="en-US" b="1" dirty="0">
                <a:solidFill>
                  <a:srgbClr val="000000"/>
                </a:solidFill>
                <a:latin typeface="华文楷体" panose="02010600040101010101" pitchFamily="2" charset="-122"/>
              </a:endParaRPr>
            </a:p>
          </p:txBody>
        </p:sp>
        <p:sp>
          <p:nvSpPr>
            <p:cNvPr id="7196" name="Text Box 23"/>
            <p:cNvSpPr txBox="1">
              <a:spLocks noChangeArrowheads="1"/>
            </p:cNvSpPr>
            <p:nvPr/>
          </p:nvSpPr>
          <p:spPr bwMode="gray">
            <a:xfrm>
              <a:off x="1403" y="1886"/>
              <a:ext cx="20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华文楷体" panose="02010600040101010101" pitchFamily="2" charset="-122"/>
                </a:rPr>
                <a:t>4</a:t>
              </a:r>
              <a:endParaRPr lang="en-US" altLang="zh-CN" sz="2400" dirty="0">
                <a:solidFill>
                  <a:schemeClr val="bg1"/>
                </a:solidFill>
                <a:latin typeface="华文楷体" panose="02010600040101010101" pitchFamily="2" charset="-122"/>
              </a:endParaRPr>
            </a:p>
          </p:txBody>
        </p:sp>
      </p:grpSp>
      <p:grpSp>
        <p:nvGrpSpPr>
          <p:cNvPr id="7178" name="Group 24"/>
          <p:cNvGrpSpPr/>
          <p:nvPr/>
        </p:nvGrpSpPr>
        <p:grpSpPr bwMode="auto">
          <a:xfrm>
            <a:off x="2152650" y="4365625"/>
            <a:ext cx="4814888" cy="685800"/>
            <a:chOff x="1296" y="1824"/>
            <a:chExt cx="2976" cy="432"/>
          </a:xfrm>
        </p:grpSpPr>
        <p:sp>
          <p:nvSpPr>
            <p:cNvPr id="105497" name="AutoShape 25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7190" name="AutoShape 26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7191" name="Text Box 27"/>
            <p:cNvSpPr txBox="1">
              <a:spLocks noChangeArrowheads="1"/>
            </p:cNvSpPr>
            <p:nvPr/>
          </p:nvSpPr>
          <p:spPr bwMode="gray">
            <a:xfrm>
              <a:off x="1680" y="1934"/>
              <a:ext cx="21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rgbClr val="000000"/>
                  </a:solidFill>
                  <a:latin typeface="华文楷体" panose="02010600040101010101" pitchFamily="2" charset="-122"/>
                </a:rPr>
                <a:t>存储结构</a:t>
              </a:r>
              <a:endParaRPr lang="zh-CN" altLang="en-US" b="1" dirty="0">
                <a:solidFill>
                  <a:srgbClr val="000000"/>
                </a:solidFill>
                <a:latin typeface="华文楷体" panose="02010600040101010101" pitchFamily="2" charset="-122"/>
              </a:endParaRPr>
            </a:p>
          </p:txBody>
        </p:sp>
        <p:sp>
          <p:nvSpPr>
            <p:cNvPr id="7192" name="Text Box 28"/>
            <p:cNvSpPr txBox="1">
              <a:spLocks noChangeArrowheads="1"/>
            </p:cNvSpPr>
            <p:nvPr/>
          </p:nvSpPr>
          <p:spPr bwMode="gray">
            <a:xfrm>
              <a:off x="1403" y="1886"/>
              <a:ext cx="20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华文楷体" panose="02010600040101010101" pitchFamily="2" charset="-122"/>
                </a:rPr>
                <a:t>5</a:t>
              </a:r>
              <a:endParaRPr lang="en-US" altLang="zh-CN" sz="2400" dirty="0">
                <a:solidFill>
                  <a:schemeClr val="bg1"/>
                </a:solidFill>
                <a:latin typeface="华文楷体" panose="02010600040101010101" pitchFamily="2" charset="-122"/>
              </a:endParaRPr>
            </a:p>
          </p:txBody>
        </p:sp>
      </p:grpSp>
      <p:grpSp>
        <p:nvGrpSpPr>
          <p:cNvPr id="7179" name="Group 29"/>
          <p:cNvGrpSpPr/>
          <p:nvPr/>
        </p:nvGrpSpPr>
        <p:grpSpPr bwMode="auto">
          <a:xfrm>
            <a:off x="2124075" y="5157788"/>
            <a:ext cx="4814888" cy="685800"/>
            <a:chOff x="1296" y="1824"/>
            <a:chExt cx="2976" cy="432"/>
          </a:xfrm>
        </p:grpSpPr>
        <p:sp>
          <p:nvSpPr>
            <p:cNvPr id="105502" name="AutoShape 30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7186" name="AutoShape 31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7187" name="Text Box 32"/>
            <p:cNvSpPr txBox="1">
              <a:spLocks noChangeArrowheads="1"/>
            </p:cNvSpPr>
            <p:nvPr/>
          </p:nvSpPr>
          <p:spPr bwMode="gray">
            <a:xfrm>
              <a:off x="1680" y="1934"/>
              <a:ext cx="21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rgbClr val="000000"/>
                  </a:solidFill>
                  <a:latin typeface="华文楷体" panose="02010600040101010101" pitchFamily="2" charset="-122"/>
                </a:rPr>
                <a:t>算法的基本概念</a:t>
              </a:r>
              <a:endParaRPr lang="zh-CN" altLang="en-US" b="1" dirty="0">
                <a:solidFill>
                  <a:srgbClr val="000000"/>
                </a:solidFill>
                <a:latin typeface="华文楷体" panose="02010600040101010101" pitchFamily="2" charset="-122"/>
              </a:endParaRPr>
            </a:p>
          </p:txBody>
        </p:sp>
        <p:sp>
          <p:nvSpPr>
            <p:cNvPr id="7188" name="Text Box 33"/>
            <p:cNvSpPr txBox="1">
              <a:spLocks noChangeArrowheads="1"/>
            </p:cNvSpPr>
            <p:nvPr/>
          </p:nvSpPr>
          <p:spPr bwMode="gray">
            <a:xfrm>
              <a:off x="1403" y="1886"/>
              <a:ext cx="20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华文楷体" panose="02010600040101010101" pitchFamily="2" charset="-122"/>
                </a:rPr>
                <a:t>6</a:t>
              </a:r>
              <a:endParaRPr lang="en-US" altLang="zh-CN" sz="2400" dirty="0">
                <a:solidFill>
                  <a:schemeClr val="bg1"/>
                </a:solidFill>
                <a:latin typeface="华文楷体" panose="02010600040101010101" pitchFamily="2" charset="-122"/>
              </a:endParaRPr>
            </a:p>
          </p:txBody>
        </p:sp>
      </p:grpSp>
      <p:grpSp>
        <p:nvGrpSpPr>
          <p:cNvPr id="7180" name="Group 34"/>
          <p:cNvGrpSpPr/>
          <p:nvPr/>
        </p:nvGrpSpPr>
        <p:grpSpPr bwMode="auto">
          <a:xfrm>
            <a:off x="2152650" y="5949950"/>
            <a:ext cx="4724400" cy="685800"/>
            <a:chOff x="1296" y="1824"/>
            <a:chExt cx="2976" cy="432"/>
          </a:xfrm>
        </p:grpSpPr>
        <p:sp>
          <p:nvSpPr>
            <p:cNvPr id="105507" name="AutoShape 35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7182" name="AutoShape 36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7183" name="Text Box 37"/>
            <p:cNvSpPr txBox="1">
              <a:spLocks noChangeArrowheads="1"/>
            </p:cNvSpPr>
            <p:nvPr/>
          </p:nvSpPr>
          <p:spPr bwMode="gray">
            <a:xfrm>
              <a:off x="1680" y="1934"/>
              <a:ext cx="21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rgbClr val="000000"/>
                  </a:solidFill>
                  <a:latin typeface="华文楷体" panose="02010600040101010101" pitchFamily="2" charset="-122"/>
                </a:rPr>
                <a:t>算法分析技术</a:t>
              </a:r>
              <a:endParaRPr lang="zh-CN" altLang="en-US" b="1" dirty="0">
                <a:solidFill>
                  <a:srgbClr val="000000"/>
                </a:solidFill>
                <a:latin typeface="华文楷体" panose="02010600040101010101" pitchFamily="2" charset="-122"/>
              </a:endParaRPr>
            </a:p>
          </p:txBody>
        </p:sp>
        <p:sp>
          <p:nvSpPr>
            <p:cNvPr id="7184" name="Text Box 38"/>
            <p:cNvSpPr txBox="1">
              <a:spLocks noChangeArrowheads="1"/>
            </p:cNvSpPr>
            <p:nvPr/>
          </p:nvSpPr>
          <p:spPr bwMode="gray">
            <a:xfrm>
              <a:off x="1401" y="1886"/>
              <a:ext cx="2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华文楷体" panose="02010600040101010101" pitchFamily="2" charset="-122"/>
                </a:rPr>
                <a:t>7</a:t>
              </a:r>
              <a:endParaRPr lang="en-US" altLang="zh-CN" sz="2400" dirty="0">
                <a:solidFill>
                  <a:schemeClr val="bg1"/>
                </a:solidFill>
                <a:latin typeface="华文楷体" panose="020106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1.1 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预备知识</a:t>
            </a:r>
            <a:endParaRPr lang="zh-CN" altLang="en-US" sz="28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1860" name="Text Box 4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kumimoji="1" lang="en-US" altLang="zh-CN" sz="2000" dirty="0" err="1" smtClean="0">
                <a:ea typeface="宋体" panose="02010600030101010101" pitchFamily="2" charset="-122"/>
              </a:rPr>
              <a:t>Niklaus</a:t>
            </a:r>
            <a:r>
              <a:rPr kumimoji="1" lang="en-US" altLang="zh-CN" sz="2000" dirty="0" smtClean="0">
                <a:ea typeface="宋体" panose="02010600030101010101" pitchFamily="2" charset="-122"/>
              </a:rPr>
              <a:t> Wirth</a:t>
            </a:r>
            <a:r>
              <a:rPr kumimoji="1" lang="zh-CN" altLang="en-US" sz="2000" dirty="0" smtClean="0">
                <a:ea typeface="宋体" panose="02010600030101010101" pitchFamily="2" charset="-122"/>
              </a:rPr>
              <a:t>：</a:t>
            </a:r>
            <a:r>
              <a:rPr kumimoji="1" lang="en-US" altLang="zh-CN" sz="2000" b="1" dirty="0" smtClean="0">
                <a:solidFill>
                  <a:srgbClr val="FF3300"/>
                </a:solidFill>
                <a:ea typeface="宋体" panose="02010600030101010101" pitchFamily="2" charset="-122"/>
              </a:rPr>
              <a:t>Algorithm + Data Structures = Programs</a:t>
            </a:r>
            <a:endParaRPr kumimoji="1" lang="en-US" altLang="zh-CN" sz="2000" b="1" dirty="0" smtClean="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81FCD8-BB7D-4DB1-A66D-5401006F60C5}" type="slidenum">
              <a:rPr lang="en-US" altLang="zh-CN"/>
            </a:fld>
            <a:endParaRPr lang="en-US" altLang="zh-CN"/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pic>
        <p:nvPicPr>
          <p:cNvPr id="8199" name="Picture 5" descr="niklaus_wirth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356" y="1640682"/>
            <a:ext cx="3525837" cy="477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458200" cy="684213"/>
          </a:xfrm>
        </p:spPr>
        <p:txBody>
          <a:bodyPr/>
          <a:lstStyle/>
          <a:p>
            <a:pPr eaLnBrk="1" hangingPunct="1"/>
            <a:endParaRPr lang="zh-CN" altLang="zh-CN" sz="2800" u="sng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22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125538"/>
            <a:ext cx="7772400" cy="4970462"/>
          </a:xfrm>
        </p:spPr>
        <p:txBody>
          <a:bodyPr/>
          <a:lstStyle/>
          <a:p>
            <a:pPr eaLnBrk="1" hangingPunct="1"/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算法与数据结构是为研究和解决如何有效地组织和处理</a:t>
            </a:r>
            <a:r>
              <a:rPr lang="zh-CN" altLang="en-US" sz="2400" b="1" dirty="0" smtClean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非数值数据</a:t>
            </a:r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而产生的理论、技术和方法。</a:t>
            </a:r>
            <a:endParaRPr lang="zh-CN" altLang="en-US" sz="24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是计算机科学中的一门综合性的专业基础课，是后续课程（操作系统、数据库、编译原理）的先修课。</a:t>
            </a:r>
            <a:r>
              <a:rPr lang="zh-CN" altLang="en-US" sz="2400" b="1" dirty="0">
                <a:ea typeface="华文楷体" panose="02010600040101010101" pitchFamily="2" charset="-122"/>
              </a:rPr>
              <a:t>也是理解和设计高级算法和高级数据结构的</a:t>
            </a:r>
            <a:r>
              <a:rPr lang="zh-CN" altLang="en-US" sz="2400" b="1" dirty="0" smtClean="0">
                <a:ea typeface="华文楷体" panose="02010600040101010101" pitchFamily="2" charset="-122"/>
              </a:rPr>
              <a:t>必修课</a:t>
            </a:r>
            <a:r>
              <a:rPr lang="zh-CN" altLang="en-US" sz="2400" b="1" dirty="0">
                <a:ea typeface="华文楷体" panose="02010600040101010101" pitchFamily="2" charset="-122"/>
              </a:rPr>
              <a:t>。</a:t>
            </a:r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涉及计算机软件、硬件以及数学等。</a:t>
            </a:r>
            <a:endParaRPr lang="zh-CN" altLang="en-US" sz="24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数据结构知识贯穿软件开发各阶段：</a:t>
            </a:r>
            <a:endParaRPr lang="zh-CN" altLang="en-US" sz="24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/>
            <a:endParaRPr lang="en-US" altLang="zh-CN" sz="24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1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BUPT SCST</a:t>
            </a:r>
            <a:endParaRPr lang="en-US" altLang="zh-CN" dirty="0"/>
          </a:p>
        </p:txBody>
      </p:sp>
      <p:sp>
        <p:nvSpPr>
          <p:cNvPr id="5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CC7404-EA27-4D53-A339-5663C033D242}" type="slidenum">
              <a:rPr lang="en-US" altLang="zh-CN"/>
            </a:fld>
            <a:endParaRPr lang="en-US" altLang="zh-CN"/>
          </a:p>
        </p:txBody>
      </p:sp>
      <p:sp>
        <p:nvSpPr>
          <p:cNvPr id="53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9223" name="AutoShape 25"/>
          <p:cNvSpPr>
            <a:spLocks noChangeArrowheads="1"/>
          </p:cNvSpPr>
          <p:nvPr/>
        </p:nvSpPr>
        <p:spPr bwMode="gray">
          <a:xfrm>
            <a:off x="1963738" y="5168900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9224" name="AutoShape 26"/>
          <p:cNvSpPr>
            <a:spLocks noChangeArrowheads="1"/>
          </p:cNvSpPr>
          <p:nvPr/>
        </p:nvSpPr>
        <p:spPr bwMode="gray">
          <a:xfrm>
            <a:off x="4425950" y="5168900"/>
            <a:ext cx="398463" cy="449263"/>
          </a:xfrm>
          <a:prstGeom prst="chevron">
            <a:avLst>
              <a:gd name="adj" fmla="val 52514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66587" name="Oval 27"/>
          <p:cNvSpPr>
            <a:spLocks noChangeArrowheads="1"/>
          </p:cNvSpPr>
          <p:nvPr/>
        </p:nvSpPr>
        <p:spPr bwMode="gray">
          <a:xfrm>
            <a:off x="5033963" y="5133856"/>
            <a:ext cx="259766" cy="519351"/>
          </a:xfrm>
          <a:prstGeom prst="ellipse">
            <a:avLst/>
          </a:prstGeom>
          <a:gradFill rotWithShape="1">
            <a:gsLst>
              <a:gs pos="0">
                <a:schemeClr val="hlink">
                  <a:gamma/>
                  <a:tint val="0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tint val="0"/>
                  <a:invGamma/>
                </a:scheme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66588" name="Oval 28"/>
          <p:cNvSpPr>
            <a:spLocks noChangeArrowheads="1"/>
          </p:cNvSpPr>
          <p:nvPr/>
        </p:nvSpPr>
        <p:spPr bwMode="gray">
          <a:xfrm>
            <a:off x="5033963" y="5133856"/>
            <a:ext cx="1703387" cy="519351"/>
          </a:xfrm>
          <a:prstGeom prst="ellipse">
            <a:avLst/>
          </a:prstGeom>
          <a:gradFill rotWithShape="1">
            <a:gsLst>
              <a:gs pos="0">
                <a:schemeClr val="hlink">
                  <a:alpha val="32001"/>
                </a:schemeClr>
              </a:gs>
              <a:gs pos="100000">
                <a:schemeClr val="hlink">
                  <a:gamma/>
                  <a:shade val="0"/>
                  <a:invGamma/>
                  <a:alpha val="89999"/>
                </a:scheme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66589" name="Oval 29"/>
          <p:cNvSpPr>
            <a:spLocks noChangeArrowheads="1"/>
          </p:cNvSpPr>
          <p:nvPr/>
        </p:nvSpPr>
        <p:spPr bwMode="gray">
          <a:xfrm>
            <a:off x="5145088" y="5134649"/>
            <a:ext cx="1481137" cy="519351"/>
          </a:xfrm>
          <a:prstGeom prst="ellipse">
            <a:avLst/>
          </a:prstGeom>
          <a:gradFill rotWithShape="1">
            <a:gsLst>
              <a:gs pos="0">
                <a:schemeClr val="hlink">
                  <a:gamma/>
                  <a:shade val="54118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54118"/>
                  <a:invGamma/>
                </a:schemeClr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66590" name="Oval 30"/>
          <p:cNvSpPr>
            <a:spLocks noChangeArrowheads="1"/>
          </p:cNvSpPr>
          <p:nvPr/>
        </p:nvSpPr>
        <p:spPr bwMode="gray">
          <a:xfrm>
            <a:off x="5170488" y="5142587"/>
            <a:ext cx="1481137" cy="519351"/>
          </a:xfrm>
          <a:prstGeom prst="ellipse">
            <a:avLst/>
          </a:prstGeom>
          <a:gradFill rotWithShape="1">
            <a:gsLst>
              <a:gs pos="0">
                <a:schemeClr val="hlink">
                  <a:gamma/>
                  <a:shade val="63529"/>
                  <a:invGamma/>
                </a:schemeClr>
              </a:gs>
              <a:gs pos="100000">
                <a:schemeClr val="hlink">
                  <a:alpha val="0"/>
                </a:scheme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9229" name="Oval 31"/>
          <p:cNvSpPr>
            <a:spLocks noChangeArrowheads="1"/>
          </p:cNvSpPr>
          <p:nvPr/>
        </p:nvSpPr>
        <p:spPr bwMode="gray">
          <a:xfrm>
            <a:off x="5224463" y="5133062"/>
            <a:ext cx="1335087" cy="519351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66592" name="Oval 32"/>
          <p:cNvSpPr>
            <a:spLocks noChangeArrowheads="1"/>
          </p:cNvSpPr>
          <p:nvPr/>
        </p:nvSpPr>
        <p:spPr bwMode="gray">
          <a:xfrm>
            <a:off x="107950" y="5129093"/>
            <a:ext cx="259766" cy="519351"/>
          </a:xfrm>
          <a:prstGeom prst="ellipse">
            <a:avLst/>
          </a:prstGeom>
          <a:gradFill rotWithShape="1">
            <a:gsLst>
              <a:gs pos="0">
                <a:schemeClr val="folHlink">
                  <a:gamma/>
                  <a:tint val="0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tint val="0"/>
                  <a:invGamma/>
                </a:scheme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66593" name="Oval 33"/>
          <p:cNvSpPr>
            <a:spLocks noChangeArrowheads="1"/>
          </p:cNvSpPr>
          <p:nvPr/>
        </p:nvSpPr>
        <p:spPr bwMode="gray">
          <a:xfrm>
            <a:off x="107950" y="5129093"/>
            <a:ext cx="259766" cy="519351"/>
          </a:xfrm>
          <a:prstGeom prst="ellipse">
            <a:avLst/>
          </a:prstGeom>
          <a:gradFill rotWithShape="1">
            <a:gsLst>
              <a:gs pos="0">
                <a:schemeClr val="folHlink">
                  <a:alpha val="32001"/>
                </a:schemeClr>
              </a:gs>
              <a:gs pos="100000">
                <a:schemeClr val="folHlink">
                  <a:gamma/>
                  <a:shade val="0"/>
                  <a:invGamma/>
                  <a:alpha val="89999"/>
                </a:scheme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66594" name="Oval 34"/>
          <p:cNvSpPr>
            <a:spLocks noChangeArrowheads="1"/>
          </p:cNvSpPr>
          <p:nvPr/>
        </p:nvSpPr>
        <p:spPr bwMode="gray">
          <a:xfrm>
            <a:off x="219075" y="5128299"/>
            <a:ext cx="1481138" cy="519351"/>
          </a:xfrm>
          <a:prstGeom prst="ellipse">
            <a:avLst/>
          </a:prstGeom>
          <a:gradFill rotWithShape="1">
            <a:gsLst>
              <a:gs pos="0">
                <a:schemeClr val="folHlink">
                  <a:gamma/>
                  <a:shade val="54118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54118"/>
                  <a:invGamma/>
                </a:schemeClr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66595" name="Oval 35"/>
          <p:cNvSpPr>
            <a:spLocks noChangeArrowheads="1"/>
          </p:cNvSpPr>
          <p:nvPr/>
        </p:nvSpPr>
        <p:spPr bwMode="gray">
          <a:xfrm>
            <a:off x="220663" y="5131474"/>
            <a:ext cx="1481137" cy="519351"/>
          </a:xfrm>
          <a:prstGeom prst="ellipse">
            <a:avLst/>
          </a:prstGeom>
          <a:gradFill rotWithShape="1">
            <a:gsLst>
              <a:gs pos="0">
                <a:schemeClr val="folHlink">
                  <a:gamma/>
                  <a:shade val="63529"/>
                  <a:invGamma/>
                </a:schemeClr>
              </a:gs>
              <a:gs pos="100000">
                <a:schemeClr val="folHlink">
                  <a:alpha val="0"/>
                </a:scheme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9234" name="Oval 36"/>
          <p:cNvSpPr>
            <a:spLocks noChangeArrowheads="1"/>
          </p:cNvSpPr>
          <p:nvPr/>
        </p:nvSpPr>
        <p:spPr bwMode="gray">
          <a:xfrm>
            <a:off x="293688" y="5129887"/>
            <a:ext cx="1333500" cy="519351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grpSp>
        <p:nvGrpSpPr>
          <p:cNvPr id="9235" name="Group 37"/>
          <p:cNvGrpSpPr/>
          <p:nvPr/>
        </p:nvGrpSpPr>
        <p:grpSpPr bwMode="auto">
          <a:xfrm>
            <a:off x="314325" y="4748213"/>
            <a:ext cx="1290638" cy="1277937"/>
            <a:chOff x="4166" y="1706"/>
            <a:chExt cx="1252" cy="1252"/>
          </a:xfrm>
        </p:grpSpPr>
        <p:sp>
          <p:nvSpPr>
            <p:cNvPr id="9266" name="Oval 38"/>
            <p:cNvSpPr>
              <a:spLocks noChangeArrowheads="1"/>
            </p:cNvSpPr>
            <p:nvPr/>
          </p:nvSpPr>
          <p:spPr bwMode="gray">
            <a:xfrm>
              <a:off x="4166" y="1706"/>
              <a:ext cx="1252" cy="1252"/>
            </a:xfrm>
            <a:prstGeom prst="ellipse">
              <a:avLst/>
            </a:prstGeom>
            <a:gradFill rotWithShape="1">
              <a:gsLst>
                <a:gs pos="0">
                  <a:srgbClr val="636869"/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9267" name="Oval 39"/>
            <p:cNvSpPr>
              <a:spLocks noChangeArrowheads="1"/>
            </p:cNvSpPr>
            <p:nvPr/>
          </p:nvSpPr>
          <p:spPr bwMode="gray">
            <a:xfrm>
              <a:off x="4182" y="1713"/>
              <a:ext cx="1222" cy="122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F1F5F5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9268" name="Oval 40"/>
            <p:cNvSpPr>
              <a:spLocks noChangeArrowheads="1"/>
            </p:cNvSpPr>
            <p:nvPr/>
          </p:nvSpPr>
          <p:spPr bwMode="gray">
            <a:xfrm>
              <a:off x="4195" y="1725"/>
              <a:ext cx="1162" cy="1141"/>
            </a:xfrm>
            <a:prstGeom prst="ellipse">
              <a:avLst/>
            </a:prstGeom>
            <a:gradFill rotWithShape="1">
              <a:gsLst>
                <a:gs pos="0">
                  <a:srgbClr val="AAB2B3"/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9269" name="Oval 41"/>
            <p:cNvSpPr>
              <a:spLocks noChangeArrowheads="1"/>
            </p:cNvSpPr>
            <p:nvPr/>
          </p:nvSpPr>
          <p:spPr bwMode="gray">
            <a:xfrm>
              <a:off x="4263" y="1757"/>
              <a:ext cx="1033" cy="92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6E1E2">
                    <a:alpha val="37999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</p:grpSp>
      <p:sp>
        <p:nvSpPr>
          <p:cNvPr id="66602" name="Oval 42"/>
          <p:cNvSpPr>
            <a:spLocks noChangeArrowheads="1"/>
          </p:cNvSpPr>
          <p:nvPr/>
        </p:nvSpPr>
        <p:spPr bwMode="gray">
          <a:xfrm>
            <a:off x="2571750" y="5133856"/>
            <a:ext cx="259766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tint val="0"/>
                  <a:invGamma/>
                </a:scheme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66603" name="Oval 43"/>
          <p:cNvSpPr>
            <a:spLocks noChangeArrowheads="1"/>
          </p:cNvSpPr>
          <p:nvPr/>
        </p:nvSpPr>
        <p:spPr bwMode="gray">
          <a:xfrm>
            <a:off x="2571750" y="5133856"/>
            <a:ext cx="259766" cy="519351"/>
          </a:xfrm>
          <a:prstGeom prst="ellipse">
            <a:avLst/>
          </a:prstGeom>
          <a:gradFill rotWithShape="1">
            <a:gsLst>
              <a:gs pos="0">
                <a:schemeClr val="accent1">
                  <a:alpha val="32001"/>
                </a:schemeClr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66604" name="Oval 44"/>
          <p:cNvSpPr>
            <a:spLocks noChangeArrowheads="1"/>
          </p:cNvSpPr>
          <p:nvPr/>
        </p:nvSpPr>
        <p:spPr bwMode="gray">
          <a:xfrm>
            <a:off x="2682875" y="5134649"/>
            <a:ext cx="1481138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54118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54118"/>
                  <a:invGamma/>
                </a:schemeClr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66605" name="Oval 45"/>
          <p:cNvSpPr>
            <a:spLocks noChangeArrowheads="1"/>
          </p:cNvSpPr>
          <p:nvPr/>
        </p:nvSpPr>
        <p:spPr bwMode="gray">
          <a:xfrm>
            <a:off x="2684463" y="5136237"/>
            <a:ext cx="1481137" cy="519351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63529"/>
                  <a:invGamma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9240" name="Oval 46"/>
          <p:cNvSpPr>
            <a:spLocks noChangeArrowheads="1"/>
          </p:cNvSpPr>
          <p:nvPr/>
        </p:nvSpPr>
        <p:spPr bwMode="gray">
          <a:xfrm>
            <a:off x="2755900" y="5133062"/>
            <a:ext cx="1333500" cy="519351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grpSp>
        <p:nvGrpSpPr>
          <p:cNvPr id="9241" name="Group 47"/>
          <p:cNvGrpSpPr/>
          <p:nvPr/>
        </p:nvGrpSpPr>
        <p:grpSpPr bwMode="auto">
          <a:xfrm>
            <a:off x="2778125" y="4748213"/>
            <a:ext cx="1290638" cy="1277937"/>
            <a:chOff x="4166" y="1706"/>
            <a:chExt cx="1252" cy="1252"/>
          </a:xfrm>
        </p:grpSpPr>
        <p:sp>
          <p:nvSpPr>
            <p:cNvPr id="9262" name="Oval 48"/>
            <p:cNvSpPr>
              <a:spLocks noChangeArrowheads="1"/>
            </p:cNvSpPr>
            <p:nvPr/>
          </p:nvSpPr>
          <p:spPr bwMode="gray">
            <a:xfrm>
              <a:off x="4166" y="1706"/>
              <a:ext cx="1252" cy="1252"/>
            </a:xfrm>
            <a:prstGeom prst="ellipse">
              <a:avLst/>
            </a:prstGeom>
            <a:gradFill rotWithShape="1">
              <a:gsLst>
                <a:gs pos="0">
                  <a:srgbClr val="636869"/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9263" name="Oval 49"/>
            <p:cNvSpPr>
              <a:spLocks noChangeArrowheads="1"/>
            </p:cNvSpPr>
            <p:nvPr/>
          </p:nvSpPr>
          <p:spPr bwMode="gray">
            <a:xfrm>
              <a:off x="4182" y="1713"/>
              <a:ext cx="1222" cy="122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F1F5F5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9264" name="Oval 50"/>
            <p:cNvSpPr>
              <a:spLocks noChangeArrowheads="1"/>
            </p:cNvSpPr>
            <p:nvPr/>
          </p:nvSpPr>
          <p:spPr bwMode="gray">
            <a:xfrm>
              <a:off x="4195" y="1725"/>
              <a:ext cx="1162" cy="1141"/>
            </a:xfrm>
            <a:prstGeom prst="ellipse">
              <a:avLst/>
            </a:prstGeom>
            <a:gradFill rotWithShape="1">
              <a:gsLst>
                <a:gs pos="0">
                  <a:srgbClr val="AAB2B3"/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9265" name="Oval 51"/>
            <p:cNvSpPr>
              <a:spLocks noChangeArrowheads="1"/>
            </p:cNvSpPr>
            <p:nvPr/>
          </p:nvSpPr>
          <p:spPr bwMode="gray">
            <a:xfrm>
              <a:off x="4263" y="1757"/>
              <a:ext cx="1033" cy="92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6E1E2">
                    <a:alpha val="37999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</p:grpSp>
      <p:grpSp>
        <p:nvGrpSpPr>
          <p:cNvPr id="9242" name="Group 52"/>
          <p:cNvGrpSpPr/>
          <p:nvPr/>
        </p:nvGrpSpPr>
        <p:grpSpPr bwMode="auto">
          <a:xfrm>
            <a:off x="5248275" y="4748213"/>
            <a:ext cx="1292225" cy="1277937"/>
            <a:chOff x="4166" y="1706"/>
            <a:chExt cx="1252" cy="1252"/>
          </a:xfrm>
        </p:grpSpPr>
        <p:sp>
          <p:nvSpPr>
            <p:cNvPr id="9258" name="Oval 53"/>
            <p:cNvSpPr>
              <a:spLocks noChangeArrowheads="1"/>
            </p:cNvSpPr>
            <p:nvPr/>
          </p:nvSpPr>
          <p:spPr bwMode="gray">
            <a:xfrm>
              <a:off x="4166" y="1706"/>
              <a:ext cx="1252" cy="1252"/>
            </a:xfrm>
            <a:prstGeom prst="ellipse">
              <a:avLst/>
            </a:prstGeom>
            <a:gradFill rotWithShape="1">
              <a:gsLst>
                <a:gs pos="0">
                  <a:srgbClr val="636869"/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9259" name="Oval 54"/>
            <p:cNvSpPr>
              <a:spLocks noChangeArrowheads="1"/>
            </p:cNvSpPr>
            <p:nvPr/>
          </p:nvSpPr>
          <p:spPr bwMode="gray">
            <a:xfrm>
              <a:off x="4182" y="1713"/>
              <a:ext cx="1222" cy="122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F1F5F5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9260" name="Oval 55"/>
            <p:cNvSpPr>
              <a:spLocks noChangeArrowheads="1"/>
            </p:cNvSpPr>
            <p:nvPr/>
          </p:nvSpPr>
          <p:spPr bwMode="gray">
            <a:xfrm>
              <a:off x="4195" y="1725"/>
              <a:ext cx="1162" cy="1141"/>
            </a:xfrm>
            <a:prstGeom prst="ellipse">
              <a:avLst/>
            </a:prstGeom>
            <a:gradFill rotWithShape="1">
              <a:gsLst>
                <a:gs pos="0">
                  <a:srgbClr val="AAB2B3"/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9261" name="Oval 56"/>
            <p:cNvSpPr>
              <a:spLocks noChangeArrowheads="1"/>
            </p:cNvSpPr>
            <p:nvPr/>
          </p:nvSpPr>
          <p:spPr bwMode="gray">
            <a:xfrm>
              <a:off x="4263" y="1757"/>
              <a:ext cx="1033" cy="92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6E1E2">
                    <a:alpha val="37999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</p:grpSp>
      <p:sp>
        <p:nvSpPr>
          <p:cNvPr id="9243" name="Text Box 57"/>
          <p:cNvSpPr txBox="1">
            <a:spLocks noChangeArrowheads="1"/>
          </p:cNvSpPr>
          <p:nvPr/>
        </p:nvSpPr>
        <p:spPr bwMode="gray">
          <a:xfrm>
            <a:off x="179388" y="5221288"/>
            <a:ext cx="14398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系统分析</a:t>
            </a:r>
            <a:endParaRPr lang="zh-CN" altLang="en-US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244" name="Text Box 58"/>
          <p:cNvSpPr txBox="1">
            <a:spLocks noChangeArrowheads="1"/>
          </p:cNvSpPr>
          <p:nvPr/>
        </p:nvSpPr>
        <p:spPr bwMode="gray">
          <a:xfrm>
            <a:off x="2700338" y="5222875"/>
            <a:ext cx="151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系统设计</a:t>
            </a:r>
            <a:endParaRPr lang="zh-CN" altLang="en-US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245" name="Text Box 59"/>
          <p:cNvSpPr txBox="1">
            <a:spLocks noChangeArrowheads="1"/>
          </p:cNvSpPr>
          <p:nvPr/>
        </p:nvSpPr>
        <p:spPr bwMode="gray">
          <a:xfrm>
            <a:off x="5219700" y="5280025"/>
            <a:ext cx="1368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系统实现</a:t>
            </a:r>
            <a:endParaRPr lang="zh-CN" altLang="en-US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246" name="AutoShape 60"/>
          <p:cNvSpPr>
            <a:spLocks noChangeArrowheads="1"/>
          </p:cNvSpPr>
          <p:nvPr/>
        </p:nvSpPr>
        <p:spPr bwMode="gray">
          <a:xfrm>
            <a:off x="6877050" y="5157788"/>
            <a:ext cx="400050" cy="449262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66631" name="Oval 71"/>
          <p:cNvSpPr>
            <a:spLocks noChangeArrowheads="1"/>
          </p:cNvSpPr>
          <p:nvPr/>
        </p:nvSpPr>
        <p:spPr bwMode="gray">
          <a:xfrm>
            <a:off x="7332663" y="5165606"/>
            <a:ext cx="259766" cy="519351"/>
          </a:xfrm>
          <a:prstGeom prst="ellipse">
            <a:avLst/>
          </a:prstGeom>
          <a:gradFill rotWithShape="1">
            <a:gsLst>
              <a:gs pos="0">
                <a:schemeClr val="folHlink">
                  <a:gamma/>
                  <a:tint val="0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tint val="0"/>
                  <a:invGamma/>
                </a:scheme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66632" name="Oval 72"/>
          <p:cNvSpPr>
            <a:spLocks noChangeArrowheads="1"/>
          </p:cNvSpPr>
          <p:nvPr/>
        </p:nvSpPr>
        <p:spPr bwMode="gray">
          <a:xfrm>
            <a:off x="7332663" y="5165606"/>
            <a:ext cx="259766" cy="519351"/>
          </a:xfrm>
          <a:prstGeom prst="ellipse">
            <a:avLst/>
          </a:prstGeom>
          <a:gradFill rotWithShape="1">
            <a:gsLst>
              <a:gs pos="0">
                <a:schemeClr val="folHlink">
                  <a:alpha val="32001"/>
                </a:schemeClr>
              </a:gs>
              <a:gs pos="100000">
                <a:schemeClr val="folHlink">
                  <a:gamma/>
                  <a:shade val="0"/>
                  <a:invGamma/>
                  <a:alpha val="89999"/>
                </a:scheme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66633" name="Oval 73"/>
          <p:cNvSpPr>
            <a:spLocks noChangeArrowheads="1"/>
          </p:cNvSpPr>
          <p:nvPr/>
        </p:nvSpPr>
        <p:spPr bwMode="gray">
          <a:xfrm>
            <a:off x="7443788" y="5164812"/>
            <a:ext cx="1481137" cy="519351"/>
          </a:xfrm>
          <a:prstGeom prst="ellipse">
            <a:avLst/>
          </a:prstGeom>
          <a:gradFill rotWithShape="1">
            <a:gsLst>
              <a:gs pos="0">
                <a:schemeClr val="folHlink">
                  <a:gamma/>
                  <a:shade val="54118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54118"/>
                  <a:invGamma/>
                </a:schemeClr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66634" name="Oval 74"/>
          <p:cNvSpPr>
            <a:spLocks noChangeArrowheads="1"/>
          </p:cNvSpPr>
          <p:nvPr/>
        </p:nvSpPr>
        <p:spPr bwMode="gray">
          <a:xfrm>
            <a:off x="7445375" y="5167987"/>
            <a:ext cx="1481138" cy="519351"/>
          </a:xfrm>
          <a:prstGeom prst="ellipse">
            <a:avLst/>
          </a:prstGeom>
          <a:gradFill rotWithShape="1">
            <a:gsLst>
              <a:gs pos="0">
                <a:schemeClr val="folHlink">
                  <a:gamma/>
                  <a:shade val="63529"/>
                  <a:invGamma/>
                </a:schemeClr>
              </a:gs>
              <a:gs pos="100000">
                <a:schemeClr val="folHlink">
                  <a:alpha val="0"/>
                </a:scheme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9251" name="Oval 75"/>
          <p:cNvSpPr>
            <a:spLocks noChangeArrowheads="1"/>
          </p:cNvSpPr>
          <p:nvPr/>
        </p:nvSpPr>
        <p:spPr bwMode="gray">
          <a:xfrm>
            <a:off x="7518400" y="5166399"/>
            <a:ext cx="1333500" cy="519351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grpSp>
        <p:nvGrpSpPr>
          <p:cNvPr id="9252" name="Group 76"/>
          <p:cNvGrpSpPr/>
          <p:nvPr/>
        </p:nvGrpSpPr>
        <p:grpSpPr bwMode="auto">
          <a:xfrm>
            <a:off x="7539038" y="4784725"/>
            <a:ext cx="1290637" cy="1277938"/>
            <a:chOff x="4166" y="1706"/>
            <a:chExt cx="1252" cy="1252"/>
          </a:xfrm>
        </p:grpSpPr>
        <p:sp>
          <p:nvSpPr>
            <p:cNvPr id="9254" name="Oval 77"/>
            <p:cNvSpPr>
              <a:spLocks noChangeArrowheads="1"/>
            </p:cNvSpPr>
            <p:nvPr/>
          </p:nvSpPr>
          <p:spPr bwMode="gray">
            <a:xfrm>
              <a:off x="4166" y="1706"/>
              <a:ext cx="1252" cy="1252"/>
            </a:xfrm>
            <a:prstGeom prst="ellipse">
              <a:avLst/>
            </a:prstGeom>
            <a:gradFill rotWithShape="1">
              <a:gsLst>
                <a:gs pos="0">
                  <a:srgbClr val="636869"/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9255" name="Oval 78"/>
            <p:cNvSpPr>
              <a:spLocks noChangeArrowheads="1"/>
            </p:cNvSpPr>
            <p:nvPr/>
          </p:nvSpPr>
          <p:spPr bwMode="gray">
            <a:xfrm>
              <a:off x="4182" y="1713"/>
              <a:ext cx="1222" cy="122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F1F5F5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9256" name="Oval 79"/>
            <p:cNvSpPr>
              <a:spLocks noChangeArrowheads="1"/>
            </p:cNvSpPr>
            <p:nvPr/>
          </p:nvSpPr>
          <p:spPr bwMode="gray">
            <a:xfrm>
              <a:off x="4195" y="1725"/>
              <a:ext cx="1162" cy="1141"/>
            </a:xfrm>
            <a:prstGeom prst="ellipse">
              <a:avLst/>
            </a:prstGeom>
            <a:gradFill rotWithShape="1">
              <a:gsLst>
                <a:gs pos="0">
                  <a:srgbClr val="AAB2B3"/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9257" name="Oval 80"/>
            <p:cNvSpPr>
              <a:spLocks noChangeArrowheads="1"/>
            </p:cNvSpPr>
            <p:nvPr/>
          </p:nvSpPr>
          <p:spPr bwMode="gray">
            <a:xfrm>
              <a:off x="4263" y="1757"/>
              <a:ext cx="1033" cy="92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6E1E2">
                    <a:alpha val="37999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</p:grpSp>
      <p:sp>
        <p:nvSpPr>
          <p:cNvPr id="9253" name="Text Box 81"/>
          <p:cNvSpPr txBox="1">
            <a:spLocks noChangeArrowheads="1"/>
          </p:cNvSpPr>
          <p:nvPr/>
        </p:nvSpPr>
        <p:spPr bwMode="gray">
          <a:xfrm>
            <a:off x="7640638" y="5300663"/>
            <a:ext cx="1098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系统维护</a:t>
            </a:r>
            <a:endParaRPr lang="zh-CN" altLang="en-US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利用计算机解决问题的步骤</a:t>
            </a:r>
            <a:endParaRPr lang="zh-CN" altLang="en-US" sz="24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B467E2-E825-4B37-8905-73575D7CB8F0}" type="slidenum">
              <a:rPr lang="en-US" altLang="zh-CN"/>
            </a:fld>
            <a:endParaRPr lang="en-US" altLang="zh-CN"/>
          </a:p>
        </p:txBody>
      </p:sp>
      <p:sp>
        <p:nvSpPr>
          <p:cNvPr id="14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10246" name="AutoShape 4"/>
          <p:cNvSpPr>
            <a:spLocks noChangeArrowheads="1"/>
          </p:cNvSpPr>
          <p:nvPr/>
        </p:nvSpPr>
        <p:spPr bwMode="gray">
          <a:xfrm>
            <a:off x="6307137" y="4044434"/>
            <a:ext cx="2819400" cy="369332"/>
          </a:xfrm>
          <a:prstGeom prst="chevron">
            <a:avLst>
              <a:gd name="adj" fmla="val 16468"/>
            </a:avLst>
          </a:prstGeom>
          <a:solidFill>
            <a:schemeClr val="accent2"/>
          </a:solidFill>
          <a:ln w="38100">
            <a:solidFill>
              <a:srgbClr val="EAEAEA"/>
            </a:solidFill>
            <a:miter lim="800000"/>
          </a:ln>
          <a:effectLst>
            <a:outerShdw dist="109250" dir="3267739" algn="ctr" rotWithShape="0">
              <a:srgbClr val="333333">
                <a:alpha val="50000"/>
              </a:srgbClr>
            </a:outerShdw>
          </a:effec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10247" name="AutoShape 5"/>
          <p:cNvSpPr>
            <a:spLocks noChangeArrowheads="1"/>
          </p:cNvSpPr>
          <p:nvPr/>
        </p:nvSpPr>
        <p:spPr bwMode="gray">
          <a:xfrm>
            <a:off x="3352800" y="4044434"/>
            <a:ext cx="2819400" cy="369332"/>
          </a:xfrm>
          <a:prstGeom prst="chevron">
            <a:avLst>
              <a:gd name="adj" fmla="val 17384"/>
            </a:avLst>
          </a:prstGeom>
          <a:solidFill>
            <a:schemeClr val="hlink"/>
          </a:solidFill>
          <a:ln w="38100">
            <a:solidFill>
              <a:schemeClr val="tx2"/>
            </a:solidFill>
            <a:miter lim="800000"/>
          </a:ln>
          <a:effectLst>
            <a:outerShdw dist="109250" dir="3267739" algn="ctr" rotWithShape="0">
              <a:srgbClr val="333333">
                <a:alpha val="50000"/>
              </a:srgbClr>
            </a:outerShdw>
          </a:effec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10248" name="AutoShape 6"/>
          <p:cNvSpPr>
            <a:spLocks noChangeArrowheads="1"/>
          </p:cNvSpPr>
          <p:nvPr/>
        </p:nvSpPr>
        <p:spPr bwMode="gray">
          <a:xfrm>
            <a:off x="552426" y="4018589"/>
            <a:ext cx="2641600" cy="369332"/>
          </a:xfrm>
          <a:prstGeom prst="chevron">
            <a:avLst>
              <a:gd name="adj" fmla="val 17384"/>
            </a:avLst>
          </a:prstGeom>
          <a:solidFill>
            <a:schemeClr val="accent1"/>
          </a:solidFill>
          <a:ln w="38100">
            <a:solidFill>
              <a:srgbClr val="EAEAEA"/>
            </a:solidFill>
            <a:miter lim="800000"/>
          </a:ln>
          <a:effectLst>
            <a:outerShdw dist="109250" dir="3267739" algn="ctr" rotWithShape="0">
              <a:srgbClr val="333333">
                <a:alpha val="50000"/>
              </a:srgbClr>
            </a:outerShdw>
          </a:effec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dirty="0">
              <a:latin typeface="华文楷体" panose="02010600040101010101" pitchFamily="2" charset="-122"/>
            </a:endParaRPr>
          </a:p>
        </p:txBody>
      </p:sp>
      <p:sp>
        <p:nvSpPr>
          <p:cNvPr id="82951" name="AutoShape 7"/>
          <p:cNvSpPr>
            <a:spLocks noChangeArrowheads="1"/>
          </p:cNvSpPr>
          <p:nvPr/>
        </p:nvSpPr>
        <p:spPr bwMode="gray">
          <a:xfrm>
            <a:off x="1087438" y="2057400"/>
            <a:ext cx="1828800" cy="4222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38100" algn="ctr">
            <a:solidFill>
              <a:srgbClr val="FFFFFF"/>
            </a:solidFill>
            <a:round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2000" b="1" dirty="0">
                <a:solidFill>
                  <a:schemeClr val="tx2"/>
                </a:solidFill>
                <a:latin typeface="华文楷体" panose="02010600040101010101" pitchFamily="2" charset="-122"/>
              </a:rPr>
              <a:t>Step 1</a:t>
            </a:r>
            <a:endParaRPr lang="en-US" altLang="zh-CN" sz="2000" b="1" dirty="0">
              <a:solidFill>
                <a:schemeClr val="tx2"/>
              </a:solidFill>
              <a:latin typeface="华文楷体" panose="02010600040101010101" pitchFamily="2" charset="-122"/>
            </a:endParaRPr>
          </a:p>
        </p:txBody>
      </p:sp>
      <p:sp>
        <p:nvSpPr>
          <p:cNvPr id="82952" name="AutoShape 8"/>
          <p:cNvSpPr>
            <a:spLocks noChangeArrowheads="1"/>
          </p:cNvSpPr>
          <p:nvPr/>
        </p:nvSpPr>
        <p:spPr bwMode="gray">
          <a:xfrm>
            <a:off x="3824098" y="2057400"/>
            <a:ext cx="1828800" cy="4222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hlink">
                  <a:gamma/>
                  <a:shade val="46275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 w="38100" algn="ctr">
            <a:solidFill>
              <a:srgbClr val="FFFFFF"/>
            </a:solidFill>
            <a:round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CN" sz="2000" b="1" dirty="0">
                <a:solidFill>
                  <a:schemeClr val="tx2"/>
                </a:solidFill>
                <a:latin typeface="华文楷体" panose="02010600040101010101" pitchFamily="2" charset="-122"/>
              </a:rPr>
              <a:t>Step 2</a:t>
            </a:r>
            <a:endParaRPr lang="en-US" altLang="zh-CN" sz="2000" b="1" dirty="0">
              <a:solidFill>
                <a:schemeClr val="tx2"/>
              </a:solidFill>
              <a:latin typeface="华文楷体" panose="02010600040101010101" pitchFamily="2" charset="-122"/>
            </a:endParaRPr>
          </a:p>
        </p:txBody>
      </p:sp>
      <p:sp>
        <p:nvSpPr>
          <p:cNvPr id="82953" name="AutoShape 9"/>
          <p:cNvSpPr>
            <a:spLocks noChangeArrowheads="1"/>
          </p:cNvSpPr>
          <p:nvPr/>
        </p:nvSpPr>
        <p:spPr bwMode="gray">
          <a:xfrm>
            <a:off x="6545214" y="2049721"/>
            <a:ext cx="1828800" cy="4222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100000">
                <a:schemeClr val="accent2"/>
              </a:gs>
            </a:gsLst>
            <a:lin ang="0" scaled="1"/>
          </a:gradFill>
          <a:ln w="38100" algn="ctr">
            <a:solidFill>
              <a:srgbClr val="FFFFFF"/>
            </a:solidFill>
            <a:round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CN" sz="2000" b="1" dirty="0">
                <a:solidFill>
                  <a:schemeClr val="tx2"/>
                </a:solidFill>
                <a:latin typeface="华文楷体" panose="02010600040101010101" pitchFamily="2" charset="-122"/>
              </a:rPr>
              <a:t>Step 3</a:t>
            </a:r>
            <a:endParaRPr lang="en-US" altLang="zh-CN" sz="2000" b="1" dirty="0">
              <a:solidFill>
                <a:schemeClr val="tx2"/>
              </a:solidFill>
              <a:latin typeface="华文楷体" panose="02010600040101010101" pitchFamily="2" charset="-122"/>
            </a:endParaRPr>
          </a:p>
        </p:txBody>
      </p:sp>
      <p:sp>
        <p:nvSpPr>
          <p:cNvPr id="10252" name="Text Box 11"/>
          <p:cNvSpPr txBox="1">
            <a:spLocks noChangeArrowheads="1"/>
          </p:cNvSpPr>
          <p:nvPr/>
        </p:nvSpPr>
        <p:spPr bwMode="auto">
          <a:xfrm>
            <a:off x="900113" y="2813566"/>
            <a:ext cx="201612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分析问题，设计合适的数学模型；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b="1" dirty="0">
              <a:latin typeface="华文楷体" panose="02010600040101010101" pitchFamily="2" charset="-122"/>
            </a:endParaRPr>
          </a:p>
        </p:txBody>
      </p:sp>
      <p:sp>
        <p:nvSpPr>
          <p:cNvPr id="10253" name="Text Box 12"/>
          <p:cNvSpPr txBox="1">
            <a:spLocks noChangeArrowheads="1"/>
          </p:cNvSpPr>
          <p:nvPr/>
        </p:nvSpPr>
        <p:spPr bwMode="auto">
          <a:xfrm>
            <a:off x="3754437" y="2720511"/>
            <a:ext cx="2016125" cy="127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设计求解数学模型的算法；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en-US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254" name="Text Box 13"/>
          <p:cNvSpPr txBox="1">
            <a:spLocks noChangeArrowheads="1"/>
          </p:cNvSpPr>
          <p:nvPr/>
        </p:nvSpPr>
        <p:spPr bwMode="auto">
          <a:xfrm>
            <a:off x="6456363" y="2759631"/>
            <a:ext cx="2016125" cy="123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编程实现算法，求解。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b="1" dirty="0">
              <a:latin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z="2800" smtClean="0">
              <a:ea typeface="宋体" panose="02010600030101010101" pitchFamily="2" charset="-122"/>
            </a:endParaRPr>
          </a:p>
        </p:txBody>
      </p:sp>
      <p:sp>
        <p:nvSpPr>
          <p:cNvPr id="112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BE7865-39E0-4612-A292-33AC8415FAFC}" type="slidenum">
              <a:rPr lang="en-US" altLang="zh-CN"/>
            </a:fld>
            <a:endParaRPr lang="en-US" altLang="zh-CN"/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pic>
        <p:nvPicPr>
          <p:cNvPr id="11271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1268413"/>
            <a:ext cx="4184650" cy="394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2" name="Text Box 7"/>
          <p:cNvSpPr txBox="1">
            <a:spLocks noChangeArrowheads="1"/>
          </p:cNvSpPr>
          <p:nvPr/>
        </p:nvSpPr>
        <p:spPr bwMode="auto">
          <a:xfrm>
            <a:off x="539552" y="1182689"/>
            <a:ext cx="3637722" cy="28623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例</a:t>
            </a:r>
            <a:r>
              <a:rPr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【</a:t>
            </a:r>
            <a:r>
              <a:rPr lang="zh-CN" altLang="en-US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人口问题</a:t>
            </a:r>
            <a:r>
              <a:rPr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】</a:t>
            </a:r>
            <a:endParaRPr lang="en-US" altLang="zh-CN" sz="200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已知：</a:t>
            </a:r>
            <a:endParaRPr lang="zh-CN" altLang="en-US" sz="200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每个人的净生殖率为</a:t>
            </a:r>
            <a:r>
              <a:rPr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</a:t>
            </a:r>
            <a:r>
              <a:rPr lang="zh-CN" altLang="en-US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（净生殖率</a:t>
            </a:r>
            <a:r>
              <a:rPr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=</a:t>
            </a:r>
            <a:r>
              <a:rPr lang="zh-CN" altLang="en-US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出生率</a:t>
            </a:r>
            <a:r>
              <a:rPr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-</a:t>
            </a:r>
            <a:r>
              <a:rPr lang="zh-CN" altLang="en-US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死亡率）；</a:t>
            </a:r>
            <a:endParaRPr lang="zh-CN" altLang="en-US" sz="200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时间</a:t>
            </a:r>
            <a:r>
              <a:rPr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zh-CN" altLang="en-US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；</a:t>
            </a:r>
            <a:endParaRPr lang="zh-CN" altLang="en-US" sz="200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r>
              <a:rPr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t=0</a:t>
            </a:r>
            <a:r>
              <a:rPr lang="zh-CN" altLang="en-US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时的人口为</a:t>
            </a:r>
            <a:r>
              <a:rPr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N(0)</a:t>
            </a:r>
            <a:r>
              <a:rPr lang="zh-CN" altLang="en-US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；</a:t>
            </a:r>
            <a:endParaRPr lang="zh-CN" altLang="en-US" sz="200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求：</a:t>
            </a:r>
            <a:endParaRPr lang="zh-CN" altLang="en-US" sz="200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r>
              <a:rPr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zh-CN" altLang="en-US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时间的人口数。</a:t>
            </a:r>
            <a:endParaRPr lang="zh-CN" altLang="en-US" sz="200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6206" y="5661248"/>
            <a:ext cx="5555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数据结构包含解决纯数学问题，但不局限于此</a:t>
            </a:r>
            <a:endParaRPr lang="zh-CN" altLang="en-US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52513"/>
            <a:ext cx="7772400" cy="914400"/>
          </a:xfrm>
        </p:spPr>
        <p:txBody>
          <a:bodyPr/>
          <a:lstStyle/>
          <a:p>
            <a:pPr algn="l" eaLnBrk="1" hangingPunct="1"/>
            <a:r>
              <a:rPr lang="en-US" altLang="zh-CN" sz="2000" smtClean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sz="2000" smtClean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lang="en-US" altLang="zh-CN" sz="2000" smtClean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]  </a:t>
            </a:r>
            <a:r>
              <a:rPr lang="zh-CN" altLang="en-US" sz="2000" smtClean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查找某人的社会关系</a:t>
            </a:r>
            <a:endParaRPr lang="zh-CN" altLang="en-US" sz="2000" smtClean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294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246063"/>
            <a:ext cx="8229600" cy="661987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chemeClr val="bg1"/>
                </a:solidFill>
                <a:ea typeface="华文楷体" panose="02010600040101010101" pitchFamily="2" charset="-122"/>
              </a:rPr>
              <a:t>计算机中如何表示</a:t>
            </a:r>
            <a:r>
              <a:rPr lang="en-US" altLang="zh-CN" sz="2400" b="1" dirty="0" smtClean="0">
                <a:solidFill>
                  <a:schemeClr val="bg1"/>
                </a:solidFill>
                <a:ea typeface="华文楷体" panose="02010600040101010101" pitchFamily="2" charset="-122"/>
              </a:rPr>
              <a:t>/</a:t>
            </a:r>
            <a:r>
              <a:rPr lang="zh-CN" altLang="en-US" sz="2400" b="1" dirty="0" smtClean="0">
                <a:solidFill>
                  <a:schemeClr val="bg1"/>
                </a:solidFill>
                <a:ea typeface="华文楷体" panose="02010600040101010101" pitchFamily="2" charset="-122"/>
              </a:rPr>
              <a:t>存储和操作？</a:t>
            </a:r>
            <a:endParaRPr lang="zh-CN" altLang="en-US" sz="2400" b="1" dirty="0" smtClean="0">
              <a:solidFill>
                <a:schemeClr val="bg1"/>
              </a:solidFill>
              <a:ea typeface="华文楷体" panose="02010600040101010101" pitchFamily="2" charset="-122"/>
            </a:endParaRPr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BUPT SCST</a:t>
            </a:r>
            <a:endParaRPr lang="en-US" altLang="zh-CN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689493-3AF5-440C-9CFC-CD12D730E7B1}" type="slidenum"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</a:fld>
            <a:endParaRPr lang="en-US" altLang="zh-CN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BUPT</a:t>
            </a:r>
            <a:endParaRPr lang="en-US" altLang="zh-CN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295" name="Text Box 4"/>
          <p:cNvSpPr txBox="1">
            <a:spLocks noChangeArrowheads="1"/>
          </p:cNvSpPr>
          <p:nvPr/>
        </p:nvSpPr>
        <p:spPr bwMode="auto">
          <a:xfrm>
            <a:off x="3733800" y="1447800"/>
            <a:ext cx="838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张三</a:t>
            </a:r>
            <a:endParaRPr kumimoji="1"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296" name="Text Box 5"/>
          <p:cNvSpPr txBox="1">
            <a:spLocks noChangeArrowheads="1"/>
          </p:cNvSpPr>
          <p:nvPr/>
        </p:nvSpPr>
        <p:spPr bwMode="auto">
          <a:xfrm>
            <a:off x="2514600" y="2590800"/>
            <a:ext cx="838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李四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297" name="Text Box 6"/>
          <p:cNvSpPr txBox="1">
            <a:spLocks noChangeArrowheads="1"/>
          </p:cNvSpPr>
          <p:nvPr/>
        </p:nvSpPr>
        <p:spPr bwMode="auto">
          <a:xfrm>
            <a:off x="5791200" y="2133600"/>
            <a:ext cx="838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王五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298" name="Text Box 7"/>
          <p:cNvSpPr txBox="1">
            <a:spLocks noChangeArrowheads="1"/>
          </p:cNvSpPr>
          <p:nvPr/>
        </p:nvSpPr>
        <p:spPr bwMode="auto">
          <a:xfrm>
            <a:off x="4191000" y="3657600"/>
            <a:ext cx="838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陈六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299" name="Text Box 8"/>
          <p:cNvSpPr txBox="1">
            <a:spLocks noChangeArrowheads="1"/>
          </p:cNvSpPr>
          <p:nvPr/>
        </p:nvSpPr>
        <p:spPr bwMode="auto">
          <a:xfrm>
            <a:off x="5867400" y="3429000"/>
            <a:ext cx="838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赵七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300" name="Line 9"/>
          <p:cNvSpPr>
            <a:spLocks noChangeShapeType="1"/>
          </p:cNvSpPr>
          <p:nvPr/>
        </p:nvSpPr>
        <p:spPr bwMode="auto">
          <a:xfrm flipH="1">
            <a:off x="3048000" y="1905000"/>
            <a:ext cx="990600" cy="685800"/>
          </a:xfrm>
          <a:prstGeom prst="line">
            <a:avLst/>
          </a:prstGeom>
          <a:noFill/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301" name="Line 10"/>
          <p:cNvSpPr>
            <a:spLocks noChangeShapeType="1"/>
          </p:cNvSpPr>
          <p:nvPr/>
        </p:nvSpPr>
        <p:spPr bwMode="auto">
          <a:xfrm>
            <a:off x="4267200" y="1905000"/>
            <a:ext cx="0" cy="1752600"/>
          </a:xfrm>
          <a:prstGeom prst="line">
            <a:avLst/>
          </a:prstGeom>
          <a:noFill/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302" name="Line 11"/>
          <p:cNvSpPr>
            <a:spLocks noChangeShapeType="1"/>
          </p:cNvSpPr>
          <p:nvPr/>
        </p:nvSpPr>
        <p:spPr bwMode="auto">
          <a:xfrm flipV="1">
            <a:off x="3352800" y="2362200"/>
            <a:ext cx="2438400" cy="457200"/>
          </a:xfrm>
          <a:prstGeom prst="line">
            <a:avLst/>
          </a:prstGeom>
          <a:noFill/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303" name="Line 12"/>
          <p:cNvSpPr>
            <a:spLocks noChangeShapeType="1"/>
          </p:cNvSpPr>
          <p:nvPr/>
        </p:nvSpPr>
        <p:spPr bwMode="auto">
          <a:xfrm>
            <a:off x="4572000" y="1676400"/>
            <a:ext cx="1600200" cy="457200"/>
          </a:xfrm>
          <a:prstGeom prst="line">
            <a:avLst/>
          </a:prstGeom>
          <a:noFill/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304" name="Line 13"/>
          <p:cNvSpPr>
            <a:spLocks noChangeShapeType="1"/>
          </p:cNvSpPr>
          <p:nvPr/>
        </p:nvSpPr>
        <p:spPr bwMode="auto">
          <a:xfrm>
            <a:off x="6172200" y="2590800"/>
            <a:ext cx="0" cy="838200"/>
          </a:xfrm>
          <a:prstGeom prst="line">
            <a:avLst/>
          </a:prstGeom>
          <a:noFill/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305" name="Line 14"/>
          <p:cNvSpPr>
            <a:spLocks noChangeShapeType="1"/>
          </p:cNvSpPr>
          <p:nvPr/>
        </p:nvSpPr>
        <p:spPr bwMode="auto">
          <a:xfrm flipV="1">
            <a:off x="5029200" y="3581400"/>
            <a:ext cx="838200" cy="228600"/>
          </a:xfrm>
          <a:prstGeom prst="line">
            <a:avLst/>
          </a:prstGeom>
          <a:noFill/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BUPT SCST</a:t>
            </a:r>
            <a:endParaRPr lang="en-US" altLang="zh-CN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FEDA79-53C6-43C3-ACEF-65596042A64F}" type="slidenum"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</a:fld>
            <a:endParaRPr lang="en-US" altLang="zh-CN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BUPT</a:t>
            </a:r>
            <a:endParaRPr lang="en-US" altLang="zh-CN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17" name="Text Box 2"/>
          <p:cNvSpPr txBox="1">
            <a:spLocks noChangeArrowheads="1"/>
          </p:cNvSpPr>
          <p:nvPr/>
        </p:nvSpPr>
        <p:spPr bwMode="auto">
          <a:xfrm>
            <a:off x="685800" y="1752600"/>
            <a:ext cx="1752600" cy="10144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      输出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18" name="Line 3"/>
          <p:cNvSpPr>
            <a:spLocks noChangeShapeType="1"/>
          </p:cNvSpPr>
          <p:nvPr/>
        </p:nvSpPr>
        <p:spPr bwMode="auto">
          <a:xfrm flipV="1">
            <a:off x="685800" y="1828800"/>
            <a:ext cx="1752600" cy="914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19" name="Rectangle 4"/>
          <p:cNvSpPr>
            <a:spLocks noChangeArrowheads="1"/>
          </p:cNvSpPr>
          <p:nvPr/>
        </p:nvSpPr>
        <p:spPr bwMode="auto">
          <a:xfrm>
            <a:off x="2895600" y="1065213"/>
            <a:ext cx="1981200" cy="28336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20" name="Text Box 5"/>
          <p:cNvSpPr txBox="1">
            <a:spLocks noChangeArrowheads="1"/>
          </p:cNvSpPr>
          <p:nvPr/>
        </p:nvSpPr>
        <p:spPr bwMode="auto">
          <a:xfrm>
            <a:off x="3352800" y="4572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CPU</a:t>
            </a: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21" name="Text Box 6"/>
          <p:cNvSpPr txBox="1">
            <a:spLocks noChangeArrowheads="1"/>
          </p:cNvSpPr>
          <p:nvPr/>
        </p:nvSpPr>
        <p:spPr bwMode="auto">
          <a:xfrm>
            <a:off x="3200400" y="1447800"/>
            <a:ext cx="1371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控制器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22" name="Text Box 7"/>
          <p:cNvSpPr txBox="1">
            <a:spLocks noChangeArrowheads="1"/>
          </p:cNvSpPr>
          <p:nvPr/>
        </p:nvSpPr>
        <p:spPr bwMode="auto">
          <a:xfrm>
            <a:off x="3200400" y="2209800"/>
            <a:ext cx="1371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运算器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23" name="Text Box 8"/>
          <p:cNvSpPr txBox="1">
            <a:spLocks noChangeArrowheads="1"/>
          </p:cNvSpPr>
          <p:nvPr/>
        </p:nvSpPr>
        <p:spPr bwMode="auto">
          <a:xfrm>
            <a:off x="3048000" y="2971800"/>
            <a:ext cx="1752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寄存器</a:t>
            </a:r>
            <a:r>
              <a:rPr kumimoji="1"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组</a:t>
            </a:r>
            <a:r>
              <a:rPr kumimoji="1"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24" name="Rectangle 9"/>
          <p:cNvSpPr>
            <a:spLocks noChangeArrowheads="1"/>
          </p:cNvSpPr>
          <p:nvPr/>
        </p:nvSpPr>
        <p:spPr bwMode="auto">
          <a:xfrm>
            <a:off x="762000" y="2971800"/>
            <a:ext cx="16002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25" name="Text Box 10"/>
          <p:cNvSpPr txBox="1">
            <a:spLocks noChangeArrowheads="1"/>
          </p:cNvSpPr>
          <p:nvPr/>
        </p:nvSpPr>
        <p:spPr bwMode="auto">
          <a:xfrm>
            <a:off x="762000" y="30480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内存储器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26" name="Rectangle 11"/>
          <p:cNvSpPr>
            <a:spLocks noChangeArrowheads="1"/>
          </p:cNvSpPr>
          <p:nvPr/>
        </p:nvSpPr>
        <p:spPr bwMode="auto">
          <a:xfrm>
            <a:off x="838200" y="4267200"/>
            <a:ext cx="16002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27" name="Text Box 12"/>
          <p:cNvSpPr txBox="1">
            <a:spLocks noChangeArrowheads="1"/>
          </p:cNvSpPr>
          <p:nvPr/>
        </p:nvSpPr>
        <p:spPr bwMode="auto">
          <a:xfrm>
            <a:off x="838200" y="43434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外存储器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28" name="Line 13"/>
          <p:cNvSpPr>
            <a:spLocks noChangeShapeType="1"/>
          </p:cNvSpPr>
          <p:nvPr/>
        </p:nvSpPr>
        <p:spPr bwMode="auto">
          <a:xfrm>
            <a:off x="2438400" y="22098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29" name="Line 14"/>
          <p:cNvSpPr>
            <a:spLocks noChangeShapeType="1"/>
          </p:cNvSpPr>
          <p:nvPr/>
        </p:nvSpPr>
        <p:spPr bwMode="auto">
          <a:xfrm>
            <a:off x="2362200" y="32766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30" name="Line 15"/>
          <p:cNvSpPr>
            <a:spLocks noChangeShapeType="1"/>
          </p:cNvSpPr>
          <p:nvPr/>
        </p:nvSpPr>
        <p:spPr bwMode="auto">
          <a:xfrm>
            <a:off x="1524000" y="373380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31" name="Text Box 16"/>
          <p:cNvSpPr txBox="1">
            <a:spLocks noChangeArrowheads="1"/>
          </p:cNvSpPr>
          <p:nvPr/>
        </p:nvSpPr>
        <p:spPr bwMode="auto">
          <a:xfrm>
            <a:off x="2743200" y="4267200"/>
            <a:ext cx="6400800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控制器：控制系统一步步从存储器中取出指令、译码</a:t>
            </a:r>
            <a:endParaRPr kumimoji="1"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运算器：根据指令完成算术</a:t>
            </a:r>
            <a:r>
              <a:rPr kumimoji="1"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kumimoji="1"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逻辑运算</a:t>
            </a:r>
            <a:endParaRPr kumimoji="1"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寄存器：保持程序运行状态、存储当前指令信息</a:t>
            </a:r>
            <a:endParaRPr kumimoji="1"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及下一条指令地址等</a:t>
            </a:r>
            <a:endParaRPr kumimoji="1"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32" name="Rectangle 17"/>
          <p:cNvSpPr>
            <a:spLocks noChangeArrowheads="1"/>
          </p:cNvSpPr>
          <p:nvPr/>
        </p:nvSpPr>
        <p:spPr bwMode="auto">
          <a:xfrm>
            <a:off x="6443663" y="1125538"/>
            <a:ext cx="1371600" cy="314007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33" name="Text Box 18"/>
          <p:cNvSpPr txBox="1">
            <a:spLocks noChangeArrowheads="1"/>
          </p:cNvSpPr>
          <p:nvPr/>
        </p:nvSpPr>
        <p:spPr bwMode="auto">
          <a:xfrm>
            <a:off x="6019800" y="3733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endParaRPr kumimoji="1" lang="en-US" altLang="zh-CN" sz="2400" b="1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34" name="Text Box 19"/>
          <p:cNvSpPr txBox="1">
            <a:spLocks noChangeArrowheads="1"/>
          </p:cNvSpPr>
          <p:nvPr/>
        </p:nvSpPr>
        <p:spPr bwMode="auto">
          <a:xfrm>
            <a:off x="5276850" y="1052513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OxFF</a:t>
            </a:r>
            <a:r>
              <a:rPr kumimoji="1"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…</a:t>
            </a:r>
            <a:endParaRPr kumimoji="1"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35" name="Line 20"/>
          <p:cNvSpPr>
            <a:spLocks noChangeShapeType="1"/>
          </p:cNvSpPr>
          <p:nvPr/>
        </p:nvSpPr>
        <p:spPr bwMode="auto">
          <a:xfrm>
            <a:off x="6443663" y="1412875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36" name="Line 21"/>
          <p:cNvSpPr>
            <a:spLocks noChangeShapeType="1"/>
          </p:cNvSpPr>
          <p:nvPr/>
        </p:nvSpPr>
        <p:spPr bwMode="auto">
          <a:xfrm>
            <a:off x="6477000" y="1143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37" name="Line 22"/>
          <p:cNvSpPr>
            <a:spLocks noChangeShapeType="1"/>
          </p:cNvSpPr>
          <p:nvPr/>
        </p:nvSpPr>
        <p:spPr bwMode="auto">
          <a:xfrm>
            <a:off x="6477000" y="2819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38" name="Text Box 23"/>
          <p:cNvSpPr txBox="1">
            <a:spLocks noChangeArrowheads="1"/>
          </p:cNvSpPr>
          <p:nvPr/>
        </p:nvSpPr>
        <p:spPr bwMode="auto">
          <a:xfrm>
            <a:off x="6781800" y="2971800"/>
            <a:ext cx="9144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操作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系统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39" name="Text Box 24"/>
          <p:cNvSpPr txBox="1">
            <a:spLocks noChangeArrowheads="1"/>
          </p:cNvSpPr>
          <p:nvPr/>
        </p:nvSpPr>
        <p:spPr bwMode="auto">
          <a:xfrm>
            <a:off x="6659563" y="1773238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内存</a:t>
            </a:r>
            <a:endParaRPr kumimoji="1" lang="zh-CN" altLang="en-US" sz="2400">
              <a:solidFill>
                <a:schemeClr val="accent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57200"/>
          </a:xfrm>
        </p:spPr>
        <p:txBody>
          <a:bodyPr/>
          <a:lstStyle/>
          <a:p>
            <a:pPr algn="l" eaLnBrk="1" hangingPunct="1"/>
            <a:r>
              <a:rPr lang="en-US" altLang="zh-CN" sz="1600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</a:t>
            </a:r>
            <a:r>
              <a:rPr lang="zh-CN" altLang="en-US" sz="1600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存储方案</a:t>
            </a:r>
            <a:r>
              <a:rPr lang="en-US" altLang="zh-CN" sz="1600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1600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                        存储方案</a:t>
            </a:r>
            <a:r>
              <a:rPr lang="en-US" altLang="zh-CN" sz="1600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1600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                       存储方案</a:t>
            </a:r>
            <a:r>
              <a:rPr lang="en-US" altLang="zh-CN" sz="1600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1600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 </a:t>
            </a:r>
            <a:endParaRPr lang="zh-CN" altLang="en-US" sz="1600" dirty="0" smtClean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8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BUPT SCST</a:t>
            </a:r>
            <a:endParaRPr lang="en-US" altLang="zh-CN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7380CDE-A173-423C-BA21-EB1EEA5A1E8C}" type="slidenum"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</a:fld>
            <a:endParaRPr lang="en-US" altLang="zh-CN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0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BUPT</a:t>
            </a:r>
            <a:endParaRPr lang="en-US" altLang="zh-CN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42" name="Text Box 3"/>
          <p:cNvSpPr txBox="1">
            <a:spLocks noChangeArrowheads="1"/>
          </p:cNvSpPr>
          <p:nvPr/>
        </p:nvSpPr>
        <p:spPr bwMode="auto">
          <a:xfrm>
            <a:off x="1381835" y="861889"/>
            <a:ext cx="1143000" cy="594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张三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…...</a:t>
            </a: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李四</a:t>
            </a:r>
            <a:endParaRPr kumimoji="1" lang="zh-CN" altLang="en-US" sz="2400">
              <a:solidFill>
                <a:schemeClr val="accent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王五</a:t>
            </a:r>
            <a:endParaRPr kumimoji="1" lang="zh-CN" altLang="en-US" sz="2400">
              <a:solidFill>
                <a:schemeClr val="accent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陈六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李四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……</a:t>
            </a: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王五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……</a:t>
            </a: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…...</a:t>
            </a: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43" name="Line 4"/>
          <p:cNvSpPr>
            <a:spLocks noChangeShapeType="1"/>
          </p:cNvSpPr>
          <p:nvPr/>
        </p:nvSpPr>
        <p:spPr bwMode="auto">
          <a:xfrm>
            <a:off x="1381835" y="3605089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44" name="Line 5"/>
          <p:cNvSpPr>
            <a:spLocks noChangeShapeType="1"/>
          </p:cNvSpPr>
          <p:nvPr/>
        </p:nvSpPr>
        <p:spPr bwMode="auto">
          <a:xfrm>
            <a:off x="1381835" y="4671889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45" name="Text Box 6"/>
          <p:cNvSpPr txBox="1">
            <a:spLocks noChangeArrowheads="1"/>
          </p:cNvSpPr>
          <p:nvPr/>
        </p:nvSpPr>
        <p:spPr bwMode="auto">
          <a:xfrm>
            <a:off x="696035" y="785689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latin typeface="华文楷体" panose="02010600040101010101" pitchFamily="2" charset="-122"/>
                <a:ea typeface="华文楷体" panose="02010600040101010101" pitchFamily="2" charset="-122"/>
              </a:rPr>
              <a:t>2040</a:t>
            </a:r>
            <a:endParaRPr kumimoji="1" lang="en-US" altLang="zh-CN" sz="20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46" name="Text Box 7"/>
          <p:cNvSpPr txBox="1">
            <a:spLocks noChangeArrowheads="1"/>
          </p:cNvSpPr>
          <p:nvPr/>
        </p:nvSpPr>
        <p:spPr bwMode="auto">
          <a:xfrm>
            <a:off x="772235" y="3528889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latin typeface="华文楷体" panose="02010600040101010101" pitchFamily="2" charset="-122"/>
                <a:ea typeface="华文楷体" panose="02010600040101010101" pitchFamily="2" charset="-122"/>
              </a:rPr>
              <a:t>2080</a:t>
            </a:r>
            <a:endParaRPr kumimoji="1" lang="en-US" altLang="zh-CN" sz="20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47" name="Text Box 8"/>
          <p:cNvSpPr txBox="1">
            <a:spLocks noChangeArrowheads="1"/>
          </p:cNvSpPr>
          <p:nvPr/>
        </p:nvSpPr>
        <p:spPr bwMode="auto">
          <a:xfrm>
            <a:off x="772235" y="4595689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latin typeface="华文楷体" panose="02010600040101010101" pitchFamily="2" charset="-122"/>
                <a:ea typeface="华文楷体" panose="02010600040101010101" pitchFamily="2" charset="-122"/>
              </a:rPr>
              <a:t>2120</a:t>
            </a: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48" name="Text Box 9"/>
          <p:cNvSpPr txBox="1">
            <a:spLocks noChangeArrowheads="1"/>
          </p:cNvSpPr>
          <p:nvPr/>
        </p:nvSpPr>
        <p:spPr bwMode="auto">
          <a:xfrm>
            <a:off x="4201235" y="861889"/>
            <a:ext cx="1143000" cy="53959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张三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…...</a:t>
            </a: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endParaRPr kumimoji="1" lang="en-US" altLang="zh-CN" sz="2400">
              <a:solidFill>
                <a:schemeClr val="accent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endParaRPr kumimoji="1" lang="en-US" altLang="zh-CN" sz="2400">
              <a:solidFill>
                <a:schemeClr val="accent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李四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……</a:t>
            </a: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王五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…...</a:t>
            </a: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49" name="Line 10"/>
          <p:cNvSpPr>
            <a:spLocks noChangeShapeType="1"/>
          </p:cNvSpPr>
          <p:nvPr/>
        </p:nvSpPr>
        <p:spPr bwMode="auto">
          <a:xfrm>
            <a:off x="4201235" y="3605089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50" name="Line 11"/>
          <p:cNvSpPr>
            <a:spLocks noChangeShapeType="1"/>
          </p:cNvSpPr>
          <p:nvPr/>
        </p:nvSpPr>
        <p:spPr bwMode="auto">
          <a:xfrm>
            <a:off x="4201235" y="4671889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51" name="Text Box 12"/>
          <p:cNvSpPr txBox="1">
            <a:spLocks noChangeArrowheads="1"/>
          </p:cNvSpPr>
          <p:nvPr/>
        </p:nvSpPr>
        <p:spPr bwMode="auto">
          <a:xfrm>
            <a:off x="3515435" y="785689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latin typeface="华文楷体" panose="02010600040101010101" pitchFamily="2" charset="-122"/>
                <a:ea typeface="华文楷体" panose="02010600040101010101" pitchFamily="2" charset="-122"/>
              </a:rPr>
              <a:t>2040</a:t>
            </a:r>
            <a:endParaRPr kumimoji="1" lang="en-US" altLang="zh-CN" sz="20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52" name="Text Box 13"/>
          <p:cNvSpPr txBox="1">
            <a:spLocks noChangeArrowheads="1"/>
          </p:cNvSpPr>
          <p:nvPr/>
        </p:nvSpPr>
        <p:spPr bwMode="auto">
          <a:xfrm>
            <a:off x="3591635" y="3528889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latin typeface="华文楷体" panose="02010600040101010101" pitchFamily="2" charset="-122"/>
                <a:ea typeface="华文楷体" panose="02010600040101010101" pitchFamily="2" charset="-122"/>
              </a:rPr>
              <a:t>2080</a:t>
            </a:r>
            <a:endParaRPr kumimoji="1" lang="en-US" altLang="zh-CN" sz="20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53" name="Text Box 14"/>
          <p:cNvSpPr txBox="1">
            <a:spLocks noChangeArrowheads="1"/>
          </p:cNvSpPr>
          <p:nvPr/>
        </p:nvSpPr>
        <p:spPr bwMode="auto">
          <a:xfrm>
            <a:off x="3591635" y="4595689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latin typeface="华文楷体" panose="02010600040101010101" pitchFamily="2" charset="-122"/>
                <a:ea typeface="华文楷体" panose="02010600040101010101" pitchFamily="2" charset="-122"/>
              </a:rPr>
              <a:t>2120</a:t>
            </a: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54" name="Text Box 15"/>
          <p:cNvSpPr txBox="1">
            <a:spLocks noChangeArrowheads="1"/>
          </p:cNvSpPr>
          <p:nvPr/>
        </p:nvSpPr>
        <p:spPr bwMode="auto">
          <a:xfrm>
            <a:off x="3591635" y="1014289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latin typeface="华文楷体" panose="02010600040101010101" pitchFamily="2" charset="-122"/>
                <a:ea typeface="华文楷体" panose="02010600040101010101" pitchFamily="2" charset="-122"/>
              </a:rPr>
              <a:t>(1)</a:t>
            </a:r>
            <a:endParaRPr kumimoji="1" lang="en-US" altLang="zh-CN" sz="20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55" name="Text Box 16"/>
          <p:cNvSpPr txBox="1">
            <a:spLocks noChangeArrowheads="1"/>
          </p:cNvSpPr>
          <p:nvPr/>
        </p:nvSpPr>
        <p:spPr bwMode="auto">
          <a:xfrm>
            <a:off x="3667835" y="3757489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latin typeface="华文楷体" panose="02010600040101010101" pitchFamily="2" charset="-122"/>
                <a:ea typeface="华文楷体" panose="02010600040101010101" pitchFamily="2" charset="-122"/>
              </a:rPr>
              <a:t>(2)</a:t>
            </a:r>
            <a:endParaRPr kumimoji="1" lang="en-US" altLang="zh-CN" sz="20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56" name="Text Box 17"/>
          <p:cNvSpPr txBox="1">
            <a:spLocks noChangeArrowheads="1"/>
          </p:cNvSpPr>
          <p:nvPr/>
        </p:nvSpPr>
        <p:spPr bwMode="auto">
          <a:xfrm>
            <a:off x="3667835" y="4824289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latin typeface="华文楷体" panose="02010600040101010101" pitchFamily="2" charset="-122"/>
                <a:ea typeface="华文楷体" panose="02010600040101010101" pitchFamily="2" charset="-122"/>
              </a:rPr>
              <a:t>(3)</a:t>
            </a:r>
            <a:endParaRPr kumimoji="1" lang="en-US" altLang="zh-CN" sz="20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57" name="AutoShape 18"/>
          <p:cNvSpPr/>
          <p:nvPr/>
        </p:nvSpPr>
        <p:spPr bwMode="auto">
          <a:xfrm>
            <a:off x="2601035" y="861889"/>
            <a:ext cx="152400" cy="2647137"/>
          </a:xfrm>
          <a:prstGeom prst="rightBrace">
            <a:avLst>
              <a:gd name="adj1" fmla="val 1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58" name="Text Box 19"/>
          <p:cNvSpPr txBox="1">
            <a:spLocks noChangeArrowheads="1"/>
          </p:cNvSpPr>
          <p:nvPr/>
        </p:nvSpPr>
        <p:spPr bwMode="auto">
          <a:xfrm>
            <a:off x="2753435" y="2004889"/>
            <a:ext cx="990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latin typeface="华文楷体" panose="02010600040101010101" pitchFamily="2" charset="-122"/>
                <a:ea typeface="华文楷体" panose="02010600040101010101" pitchFamily="2" charset="-122"/>
              </a:rPr>
              <a:t>40Byte</a:t>
            </a: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59" name="Text Box 20"/>
          <p:cNvSpPr txBox="1">
            <a:spLocks noChangeArrowheads="1"/>
          </p:cNvSpPr>
          <p:nvPr/>
        </p:nvSpPr>
        <p:spPr bwMode="auto">
          <a:xfrm>
            <a:off x="7020635" y="861889"/>
            <a:ext cx="1143000" cy="53959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张三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…...</a:t>
            </a: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3118</a:t>
            </a:r>
            <a:endParaRPr kumimoji="1" lang="en-US" altLang="zh-CN" sz="2400">
              <a:solidFill>
                <a:schemeClr val="accent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3060</a:t>
            </a:r>
            <a:endParaRPr kumimoji="1" lang="en-US" altLang="zh-CN" sz="2400">
              <a:solidFill>
                <a:schemeClr val="accent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1596</a:t>
            </a: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王五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……</a:t>
            </a: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李四</a:t>
            </a: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…...</a:t>
            </a: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60" name="Line 21"/>
          <p:cNvSpPr>
            <a:spLocks noChangeShapeType="1"/>
          </p:cNvSpPr>
          <p:nvPr/>
        </p:nvSpPr>
        <p:spPr bwMode="auto">
          <a:xfrm>
            <a:off x="7020635" y="3605089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61" name="Line 22"/>
          <p:cNvSpPr>
            <a:spLocks noChangeShapeType="1"/>
          </p:cNvSpPr>
          <p:nvPr/>
        </p:nvSpPr>
        <p:spPr bwMode="auto">
          <a:xfrm>
            <a:off x="7020635" y="4671889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62" name="Text Box 23"/>
          <p:cNvSpPr txBox="1">
            <a:spLocks noChangeArrowheads="1"/>
          </p:cNvSpPr>
          <p:nvPr/>
        </p:nvSpPr>
        <p:spPr bwMode="auto">
          <a:xfrm>
            <a:off x="6334835" y="785689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latin typeface="华文楷体" panose="02010600040101010101" pitchFamily="2" charset="-122"/>
                <a:ea typeface="华文楷体" panose="02010600040101010101" pitchFamily="2" charset="-122"/>
              </a:rPr>
              <a:t>2040</a:t>
            </a:r>
            <a:endParaRPr kumimoji="1" lang="en-US" altLang="zh-CN" sz="20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63" name="Text Box 24"/>
          <p:cNvSpPr txBox="1">
            <a:spLocks noChangeArrowheads="1"/>
          </p:cNvSpPr>
          <p:nvPr/>
        </p:nvSpPr>
        <p:spPr bwMode="auto">
          <a:xfrm>
            <a:off x="6411035" y="3528889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latin typeface="华文楷体" panose="02010600040101010101" pitchFamily="2" charset="-122"/>
                <a:ea typeface="华文楷体" panose="02010600040101010101" pitchFamily="2" charset="-122"/>
              </a:rPr>
              <a:t>3060</a:t>
            </a:r>
            <a:endParaRPr kumimoji="1" lang="en-US" altLang="zh-CN" sz="20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64" name="Text Box 25"/>
          <p:cNvSpPr txBox="1">
            <a:spLocks noChangeArrowheads="1"/>
          </p:cNvSpPr>
          <p:nvPr/>
        </p:nvSpPr>
        <p:spPr bwMode="auto">
          <a:xfrm>
            <a:off x="6411035" y="4595689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latin typeface="华文楷体" panose="02010600040101010101" pitchFamily="2" charset="-122"/>
                <a:ea typeface="华文楷体" panose="02010600040101010101" pitchFamily="2" charset="-122"/>
              </a:rPr>
              <a:t>3118</a:t>
            </a: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65" name="Line 29"/>
          <p:cNvSpPr>
            <a:spLocks noChangeShapeType="1"/>
          </p:cNvSpPr>
          <p:nvPr/>
        </p:nvSpPr>
        <p:spPr bwMode="auto">
          <a:xfrm>
            <a:off x="1381835" y="5738689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66" name="AutoShape 33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8398585" y="6424489"/>
            <a:ext cx="228600" cy="220595"/>
          </a:xfrm>
          <a:prstGeom prst="lef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C/C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++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常见</a:t>
            </a: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问题回顾</a:t>
            </a: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8796"/>
            <a:ext cx="8229600" cy="524827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Switch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语句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Switch(2) {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case 1: 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printf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(“case 1\n”);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case 2: 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printf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(“case 2\n”);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case 3: 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printf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(“case 3\n”);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default: 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printf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(“case default \n”);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运行结果？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每个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case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标签后的语句执行完毕不会自动停止，执行完某个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case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，程序会依次执行后续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case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，除非遇到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break</a:t>
            </a:r>
            <a:endParaRPr lang="zh-CN" altLang="en-US" sz="2800" dirty="0" smtClean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EF5022-25BF-4E3C-8D1D-8C255762D1DE}" type="slidenum">
              <a:rPr lang="en-US" altLang="zh-CN" smtClean="0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函数定义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fuction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a();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extern </a:t>
            </a:r>
            <a:r>
              <a:rPr lang="en-US" altLang="zh-CN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fuction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 a();</a:t>
            </a: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static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fuction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a();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哪些函数任何地方可见？哪些文件之外不可见？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定义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语言函数时，缺省情况下函数名全局可见！想限制对函数的访问必须要加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static</a:t>
            </a:r>
            <a:endParaRPr lang="en-US" altLang="zh-CN" dirty="0" smtClean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EF5022-25BF-4E3C-8D1D-8C255762D1DE}" type="slidenum">
              <a:rPr lang="en-US" altLang="zh-CN" smtClean="0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优先级问题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语句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*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p.f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代表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==》(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*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p).f   or 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*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p.f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)</a:t>
            </a:r>
            <a:endParaRPr lang="zh-CN" altLang="en-US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.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的优先级高于*和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-&gt;</a:t>
            </a:r>
            <a:endParaRPr lang="en-US" altLang="zh-CN" sz="2000" dirty="0" smtClean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语句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*a[]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代表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==》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(*a)[]  or  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* (a[]) </a:t>
            </a:r>
            <a:endParaRPr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[]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的优先级高于*</a:t>
            </a:r>
            <a:endParaRPr lang="en-US" altLang="zh-CN" sz="2000" dirty="0" smtClean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nt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*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f()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代表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==》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(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*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f)()  or 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*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(f() )</a:t>
            </a:r>
            <a:endParaRPr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函数（）优先级高于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*</a:t>
            </a:r>
            <a:endParaRPr lang="en-US" altLang="zh-CN" sz="2000" dirty="0" smtClean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val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&amp; mask !=0)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代表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==》(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val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&amp; mask) !=0  or (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val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&amp; mask !=0) </a:t>
            </a:r>
            <a:endParaRPr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!=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==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优先级高于位操作</a:t>
            </a:r>
            <a:endParaRPr lang="en-US" altLang="zh-CN" sz="2000" dirty="0" smtClean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a&lt;&lt;4+b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代表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==》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(a&lt;&lt;4)+b or a&lt;&lt;(4+b)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算术运算高于位运算</a:t>
            </a:r>
            <a:endParaRPr lang="en-US" altLang="zh-CN" sz="2000" dirty="0" smtClean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=1,2;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代表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==》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=(1,2); or (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=1),2;</a:t>
            </a:r>
            <a:endParaRPr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逗号在所有运算符中优先级最低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sz="1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sz="1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sz="1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sz="1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sz="1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sz="1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sz="1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sz="1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EF5022-25BF-4E3C-8D1D-8C255762D1DE}" type="slidenum">
              <a:rPr lang="en-US" altLang="zh-CN" smtClean="0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2033" y="1065664"/>
            <a:ext cx="8229600" cy="5248275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数组与指针的访问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char a[9]=“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abcdefgh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”; char *p=“</a:t>
            </a:r>
            <a:r>
              <a:rPr lang="en-US" altLang="zh-CN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abcdefgh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”;</a:t>
            </a:r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c=a[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]; 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9980     +1    +2     …      +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c=p[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];</a:t>
            </a:r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EF5022-25BF-4E3C-8D1D-8C255762D1DE}" type="slidenum">
              <a:rPr lang="en-US" altLang="zh-CN" smtClean="0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93435" y="3032284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atin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华文楷体" panose="0201060004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4932040" y="3032284"/>
            <a:ext cx="1008112" cy="3708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47664" y="4812650"/>
            <a:ext cx="914400" cy="91440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2"/>
                </a:solidFill>
                <a:latin typeface="华文楷体" panose="02010600040101010101" pitchFamily="2" charset="-122"/>
              </a:rPr>
              <a:t>5081</a:t>
            </a:r>
            <a:endParaRPr lang="zh-CN" altLang="en-US" b="1" dirty="0">
              <a:solidFill>
                <a:schemeClr val="tx2"/>
              </a:solidFill>
              <a:latin typeface="华文楷体" panose="02010600040101010101" pitchFamily="2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613653" y="5269850"/>
            <a:ext cx="934011" cy="634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57200" y="490051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华文楷体" panose="02010600040101010101" pitchFamily="2" charset="-122"/>
              </a:rPr>
              <a:t>p</a:t>
            </a:r>
            <a:endParaRPr lang="zh-CN" altLang="en-US" dirty="0">
              <a:latin typeface="华文楷体" panose="02010600040101010101" pitchFamily="2" charset="-122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2627784" y="5085184"/>
            <a:ext cx="1440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4098707" y="4917123"/>
          <a:ext cx="51579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587"/>
                <a:gridCol w="1031587"/>
                <a:gridCol w="1031587"/>
                <a:gridCol w="1031587"/>
                <a:gridCol w="1031587"/>
              </a:tblGrid>
              <a:tr h="139040">
                <a:tc>
                  <a:txBody>
                    <a:bodyPr/>
                    <a:lstStyle/>
                    <a:p>
                      <a:endParaRPr lang="zh-CN" altLang="en-US" dirty="0">
                        <a:latin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华文楷体" panose="0201060004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4355976" y="551723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华文楷体" panose="02010600040101010101" pitchFamily="2" charset="-122"/>
              </a:rPr>
              <a:t>5081</a:t>
            </a:r>
            <a:endParaRPr lang="zh-CN" altLang="en-US" b="1" dirty="0">
              <a:latin typeface="华文楷体" panose="0201060004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350653" y="55120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华文楷体" panose="02010600040101010101" pitchFamily="2" charset="-122"/>
              </a:rPr>
              <a:t>+1</a:t>
            </a: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503300" y="55120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华文楷体" panose="02010600040101010101" pitchFamily="2" charset="-122"/>
              </a:rPr>
              <a:t>+2</a:t>
            </a: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501827" y="551207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华文楷体" panose="02010600040101010101" pitchFamily="2" charset="-122"/>
              </a:rPr>
              <a:t>…</a:t>
            </a: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63021" y="5534779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华文楷体" panose="02010600040101010101" pitchFamily="2" charset="-122"/>
              </a:rPr>
              <a:t>+</a:t>
            </a:r>
            <a:r>
              <a:rPr lang="en-US" altLang="zh-CN" dirty="0" err="1" smtClean="0">
                <a:latin typeface="华文楷体" panose="02010600040101010101" pitchFamily="2" charset="-122"/>
              </a:rPr>
              <a:t>i</a:t>
            </a: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198126" y="4912043"/>
            <a:ext cx="1008112" cy="3708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华文楷体" panose="0201060004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763688" y="5904111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华文楷体" panose="02010600040101010101" pitchFamily="2" charset="-122"/>
              </a:rPr>
              <a:t>4624</a:t>
            </a:r>
            <a:endParaRPr lang="zh-CN" altLang="en-US" b="1" dirty="0">
              <a:latin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/>
      <p:bldP spid="17" grpId="0"/>
      <p:bldP spid="19" grpId="0"/>
      <p:bldP spid="20" grpId="0"/>
      <p:bldP spid="21" grpId="0"/>
      <p:bldP spid="22" grpId="0"/>
      <p:bldP spid="23" grpId="0" animBg="1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const</a:t>
            </a:r>
            <a:r>
              <a:rPr lang="zh-CN" altLang="en-US" dirty="0" smtClean="0"/>
              <a:t>声明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*a;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*b;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*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c;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*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d;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*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e;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哪些指针只读？哪些指针指向的对象只读？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第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个指针只读，前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个所指对象只读，最后两个指针和对象都只读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!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char *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*(*a) (); 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如何理解？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是一个指向函数的指针，该函数返回另一个指针，该指针指向一个只读的指向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char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的指针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!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EF5022-25BF-4E3C-8D1D-8C255762D1DE}" type="slidenum">
              <a:rPr lang="en-US" altLang="zh-CN" smtClean="0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52525"/>
            <a:ext cx="8015288" cy="5248275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ea typeface="华文楷体" panose="02010600040101010101" pitchFamily="2" charset="-122"/>
              </a:rPr>
              <a:t>传值、传址、传引用调用</a:t>
            </a:r>
            <a:endParaRPr lang="en-US" altLang="zh-CN" dirty="0" smtClean="0">
              <a:ea typeface="华文楷体" panose="02010600040101010101" pitchFamily="2" charset="-122"/>
            </a:endParaRPr>
          </a:p>
          <a:p>
            <a:pPr lvl="1" eaLnBrk="1" hangingPunct="1"/>
            <a:r>
              <a:rPr lang="zh-CN" altLang="en-US" dirty="0">
                <a:ea typeface="华文楷体" panose="02010600040101010101" pitchFamily="2" charset="-122"/>
              </a:rPr>
              <a:t>传值调用</a:t>
            </a:r>
            <a:endParaRPr lang="en-US" altLang="zh-CN" dirty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f( 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4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a)</a:t>
            </a:r>
            <a:endParaRPr lang="en-US" altLang="zh-CN" sz="24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lang="en-US" altLang="zh-CN" sz="24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cout</a:t>
            </a:r>
            <a:r>
              <a:rPr lang="en-US" altLang="zh-CN" sz="24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&lt;&lt;“a=”&lt;&lt;a&lt;&lt;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endl</a:t>
            </a:r>
            <a:r>
              <a:rPr lang="en-US" altLang="zh-CN" sz="24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sz="24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a=5;</a:t>
            </a:r>
            <a:endParaRPr lang="en-US" altLang="zh-CN" sz="24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cout</a:t>
            </a:r>
            <a:r>
              <a:rPr lang="en-US" altLang="zh-CN" sz="24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&lt;&lt;“a=”&lt;&lt;a&lt;&lt;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endl</a:t>
            </a:r>
            <a:r>
              <a:rPr lang="en-US" altLang="zh-CN" sz="24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sz="24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en-US" altLang="zh-CN" sz="24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9801723-0D3E-48C3-84FC-6FE22BF8AE1A}" type="slidenum">
              <a:rPr lang="en-US" altLang="zh-CN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4788024" y="1997353"/>
            <a:ext cx="4104456" cy="313932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err="1" smtClean="0">
                <a:latin typeface="华文楷体" panose="02010600040101010101" pitchFamily="2" charset="-122"/>
              </a:rPr>
              <a:t>int</a:t>
            </a:r>
            <a:r>
              <a:rPr lang="en-US" altLang="zh-CN" sz="2000" dirty="0" smtClean="0">
                <a:latin typeface="华文楷体" panose="02010600040101010101" pitchFamily="2" charset="-122"/>
              </a:rPr>
              <a:t> </a:t>
            </a:r>
            <a:r>
              <a:rPr lang="en-US" altLang="zh-CN" sz="2000" dirty="0">
                <a:latin typeface="华文楷体" panose="02010600040101010101" pitchFamily="2" charset="-122"/>
              </a:rPr>
              <a:t>main()</a:t>
            </a:r>
            <a:endParaRPr lang="en-US" altLang="zh-CN" sz="2000" dirty="0">
              <a:latin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华文楷体" panose="02010600040101010101" pitchFamily="2" charset="-122"/>
              </a:rPr>
              <a:t>{</a:t>
            </a:r>
            <a:endParaRPr lang="en-US" altLang="zh-CN" sz="2000" dirty="0">
              <a:latin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华文楷体" panose="02010600040101010101" pitchFamily="2" charset="-122"/>
              </a:rPr>
              <a:t>	</a:t>
            </a:r>
            <a:r>
              <a:rPr lang="en-US" altLang="zh-CN" sz="2000" dirty="0" err="1">
                <a:latin typeface="华文楷体" panose="02010600040101010101" pitchFamily="2" charset="-122"/>
              </a:rPr>
              <a:t>int</a:t>
            </a:r>
            <a:r>
              <a:rPr lang="en-US" altLang="zh-CN" sz="2000" dirty="0">
                <a:latin typeface="华文楷体" panose="02010600040101010101" pitchFamily="2" charset="-122"/>
              </a:rPr>
              <a:t> x=47;</a:t>
            </a:r>
            <a:endParaRPr lang="en-US" altLang="zh-CN" sz="2000" dirty="0">
              <a:latin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华文楷体" panose="02010600040101010101" pitchFamily="2" charset="-122"/>
              </a:rPr>
              <a:t>	</a:t>
            </a:r>
            <a:r>
              <a:rPr lang="en-US" altLang="zh-CN" sz="2000" dirty="0" err="1">
                <a:latin typeface="华文楷体" panose="02010600040101010101" pitchFamily="2" charset="-122"/>
              </a:rPr>
              <a:t>cout</a:t>
            </a:r>
            <a:r>
              <a:rPr lang="en-US" altLang="zh-CN" sz="2000" dirty="0">
                <a:latin typeface="华文楷体" panose="02010600040101010101" pitchFamily="2" charset="-122"/>
              </a:rPr>
              <a:t>&lt;&lt;“x=”&lt;&lt;x&lt;&lt;</a:t>
            </a:r>
            <a:r>
              <a:rPr lang="en-US" altLang="zh-CN" sz="2000" dirty="0" err="1">
                <a:latin typeface="华文楷体" panose="02010600040101010101" pitchFamily="2" charset="-122"/>
              </a:rPr>
              <a:t>endl</a:t>
            </a:r>
            <a:r>
              <a:rPr lang="en-US" altLang="zh-CN" sz="2000" dirty="0">
                <a:latin typeface="华文楷体" panose="02010600040101010101" pitchFamily="2" charset="-122"/>
              </a:rPr>
              <a:t>;</a:t>
            </a:r>
            <a:endParaRPr lang="en-US" altLang="zh-CN" sz="2000" dirty="0">
              <a:latin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华文楷体" panose="02010600040101010101" pitchFamily="2" charset="-122"/>
              </a:rPr>
              <a:t>	f(x);</a:t>
            </a:r>
            <a:endParaRPr lang="en-US" altLang="zh-CN" sz="2000" dirty="0">
              <a:latin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华文楷体" panose="02010600040101010101" pitchFamily="2" charset="-122"/>
              </a:rPr>
              <a:t>	</a:t>
            </a:r>
            <a:r>
              <a:rPr lang="en-US" altLang="zh-CN" sz="2000" dirty="0" err="1">
                <a:latin typeface="华文楷体" panose="02010600040101010101" pitchFamily="2" charset="-122"/>
              </a:rPr>
              <a:t>cout</a:t>
            </a:r>
            <a:r>
              <a:rPr lang="en-US" altLang="zh-CN" sz="2000" dirty="0">
                <a:latin typeface="华文楷体" panose="02010600040101010101" pitchFamily="2" charset="-122"/>
              </a:rPr>
              <a:t>&lt;&lt;“x=”&lt;&lt;x&lt;&lt;</a:t>
            </a:r>
            <a:r>
              <a:rPr lang="en-US" altLang="zh-CN" sz="2000" dirty="0" err="1">
                <a:latin typeface="华文楷体" panose="02010600040101010101" pitchFamily="2" charset="-122"/>
              </a:rPr>
              <a:t>endl</a:t>
            </a:r>
            <a:r>
              <a:rPr lang="en-US" altLang="zh-CN" sz="2000" dirty="0">
                <a:latin typeface="华文楷体" panose="02010600040101010101" pitchFamily="2" charset="-122"/>
              </a:rPr>
              <a:t>;</a:t>
            </a:r>
            <a:endParaRPr lang="en-US" altLang="zh-CN" sz="2000" dirty="0">
              <a:latin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华文楷体" panose="02010600040101010101" pitchFamily="2" charset="-122"/>
              </a:rPr>
              <a:t>}</a:t>
            </a:r>
            <a:endParaRPr lang="en-US" altLang="zh-CN" sz="2000" dirty="0" smtClean="0">
              <a:latin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000" dirty="0">
              <a:latin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输出结果是多少？</a:t>
            </a:r>
            <a:endParaRPr lang="zh-CN" altLang="en-US" sz="2000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>
              <a:latin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52525"/>
            <a:ext cx="3826768" cy="3932659"/>
          </a:xfrm>
        </p:spPr>
        <p:txBody>
          <a:bodyPr/>
          <a:lstStyle/>
          <a:p>
            <a:pPr lvl="1" eaLnBrk="1" hangingPunct="1"/>
            <a:r>
              <a:rPr lang="zh-CN" altLang="en-US" dirty="0" smtClean="0">
                <a:ea typeface="华文楷体" panose="02010600040101010101" pitchFamily="2" charset="-122"/>
              </a:rPr>
              <a:t>传址调用</a:t>
            </a:r>
            <a:endParaRPr lang="en-US" altLang="zh-CN" dirty="0" smtClean="0">
              <a:ea typeface="华文楷体" panose="02010600040101010101" pitchFamily="2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 sz="2000" dirty="0" smtClean="0">
              <a:ea typeface="宋体" panose="02010600030101010101" pitchFamily="2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 sz="2000" dirty="0">
              <a:ea typeface="宋体" panose="02010600030101010101" pitchFamily="2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f( 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p)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cout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&lt;&lt;“p=”&lt;&lt;p&lt;&lt;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endl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cout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&lt;&lt;“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p=”&lt;&lt;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p&lt;&lt;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endl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*p=5;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cout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&lt;&lt;“p=”&lt;&lt;p&lt;&lt;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endl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2D63AED-A159-4C1D-A7D5-A02FC685DBCA}" type="slidenum">
              <a:rPr lang="en-US" altLang="zh-CN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 flipH="1">
            <a:off x="5148064" y="2132856"/>
            <a:ext cx="3456384" cy="317009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x=47;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&lt;&lt;“x=”&lt;&lt;x&lt;&lt;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&lt;&lt;“&amp;x=”&lt;&lt;&amp;x&lt;&lt;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f(&amp;x);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&lt;&lt;“x=”&lt;&lt;x&lt;&lt;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输出结果是多少？</a:t>
            </a:r>
            <a:endParaRPr lang="zh-CN" altLang="en-US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000" dirty="0">
              <a:latin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457200" y="1152525"/>
            <a:ext cx="5626968" cy="5248275"/>
          </a:xfrm>
        </p:spPr>
        <p:txBody>
          <a:bodyPr/>
          <a:lstStyle/>
          <a:p>
            <a:pPr lvl="1" eaLnBrk="1" hangingPunct="1"/>
            <a:r>
              <a:rPr lang="zh-CN" altLang="en-US" dirty="0" smtClean="0">
                <a:ea typeface="宋体" panose="02010600030101010101" pitchFamily="2" charset="-122"/>
              </a:rPr>
              <a:t>传引用调用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f( 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&amp;r)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cout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&lt;&lt;“r=”&lt;&lt;r&lt;&lt;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endl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cout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&lt;&lt;“&amp;r=”&lt;&lt;&amp;r&lt;&lt;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endl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r=5;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cout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&lt;&lt;“r=”&lt;&lt;r&lt;&lt;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endl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C298B4-4B7F-4066-8A21-BE16EDA98259}" type="slidenum">
              <a:rPr lang="en-US" altLang="zh-CN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4499992" y="1916832"/>
            <a:ext cx="4464496" cy="378565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err="1" smtClean="0">
                <a:latin typeface="华文楷体" panose="02010600040101010101" pitchFamily="2" charset="-122"/>
              </a:rPr>
              <a:t>int</a:t>
            </a:r>
            <a:r>
              <a:rPr lang="en-US" altLang="zh-CN" sz="2000" dirty="0" smtClean="0">
                <a:latin typeface="华文楷体" panose="02010600040101010101" pitchFamily="2" charset="-122"/>
              </a:rPr>
              <a:t> </a:t>
            </a:r>
            <a:r>
              <a:rPr lang="en-US" altLang="zh-CN" sz="2000" dirty="0">
                <a:latin typeface="华文楷体" panose="02010600040101010101" pitchFamily="2" charset="-122"/>
              </a:rPr>
              <a:t>main()</a:t>
            </a:r>
            <a:endParaRPr lang="en-US" altLang="zh-CN" sz="2000" dirty="0">
              <a:latin typeface="华文楷体" panose="02010600040101010101" pitchFamily="2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华文楷体" panose="02010600040101010101" pitchFamily="2" charset="-122"/>
              </a:rPr>
              <a:t>{</a:t>
            </a:r>
            <a:endParaRPr lang="en-US" altLang="zh-CN" sz="2000" dirty="0">
              <a:latin typeface="华文楷体" panose="02010600040101010101" pitchFamily="2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华文楷体" panose="02010600040101010101" pitchFamily="2" charset="-122"/>
              </a:rPr>
              <a:t>	</a:t>
            </a:r>
            <a:r>
              <a:rPr lang="en-US" altLang="zh-CN" sz="2000" dirty="0" err="1">
                <a:latin typeface="华文楷体" panose="02010600040101010101" pitchFamily="2" charset="-122"/>
              </a:rPr>
              <a:t>int</a:t>
            </a:r>
            <a:r>
              <a:rPr lang="en-US" altLang="zh-CN" sz="2000" dirty="0">
                <a:latin typeface="华文楷体" panose="02010600040101010101" pitchFamily="2" charset="-122"/>
              </a:rPr>
              <a:t> x=47;</a:t>
            </a:r>
            <a:endParaRPr lang="en-US" altLang="zh-CN" sz="2000" dirty="0">
              <a:latin typeface="华文楷体" panose="02010600040101010101" pitchFamily="2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华文楷体" panose="02010600040101010101" pitchFamily="2" charset="-122"/>
              </a:rPr>
              <a:t>	</a:t>
            </a:r>
            <a:r>
              <a:rPr lang="en-US" altLang="zh-CN" sz="2000" dirty="0" err="1">
                <a:latin typeface="华文楷体" panose="02010600040101010101" pitchFamily="2" charset="-122"/>
              </a:rPr>
              <a:t>cout</a:t>
            </a:r>
            <a:r>
              <a:rPr lang="en-US" altLang="zh-CN" sz="2000" dirty="0">
                <a:latin typeface="华文楷体" panose="02010600040101010101" pitchFamily="2" charset="-122"/>
              </a:rPr>
              <a:t>&lt;&lt;“x=”&lt;&lt;x&lt;&lt;</a:t>
            </a:r>
            <a:r>
              <a:rPr lang="en-US" altLang="zh-CN" sz="2000" dirty="0" err="1">
                <a:latin typeface="华文楷体" panose="02010600040101010101" pitchFamily="2" charset="-122"/>
              </a:rPr>
              <a:t>endl</a:t>
            </a:r>
            <a:r>
              <a:rPr lang="en-US" altLang="zh-CN" sz="2000" dirty="0">
                <a:latin typeface="华文楷体" panose="02010600040101010101" pitchFamily="2" charset="-122"/>
              </a:rPr>
              <a:t>;</a:t>
            </a:r>
            <a:endParaRPr lang="en-US" altLang="zh-CN" sz="2000" dirty="0">
              <a:latin typeface="华文楷体" panose="02010600040101010101" pitchFamily="2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华文楷体" panose="02010600040101010101" pitchFamily="2" charset="-122"/>
              </a:rPr>
              <a:t>	</a:t>
            </a:r>
            <a:r>
              <a:rPr lang="en-US" altLang="zh-CN" sz="2000" dirty="0" err="1">
                <a:latin typeface="华文楷体" panose="02010600040101010101" pitchFamily="2" charset="-122"/>
              </a:rPr>
              <a:t>cout</a:t>
            </a:r>
            <a:r>
              <a:rPr lang="en-US" altLang="zh-CN" sz="2000" dirty="0">
                <a:latin typeface="华文楷体" panose="02010600040101010101" pitchFamily="2" charset="-122"/>
              </a:rPr>
              <a:t>&lt;&lt;“&amp;x=”&lt;&lt;&amp;x&lt;&lt;</a:t>
            </a:r>
            <a:r>
              <a:rPr lang="en-US" altLang="zh-CN" sz="2000" dirty="0" err="1">
                <a:latin typeface="华文楷体" panose="02010600040101010101" pitchFamily="2" charset="-122"/>
              </a:rPr>
              <a:t>endl</a:t>
            </a:r>
            <a:r>
              <a:rPr lang="en-US" altLang="zh-CN" sz="2000" dirty="0">
                <a:latin typeface="华文楷体" panose="02010600040101010101" pitchFamily="2" charset="-122"/>
              </a:rPr>
              <a:t>;</a:t>
            </a:r>
            <a:endParaRPr lang="en-US" altLang="zh-CN" sz="2000" dirty="0">
              <a:latin typeface="华文楷体" panose="02010600040101010101" pitchFamily="2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华文楷体" panose="02010600040101010101" pitchFamily="2" charset="-122"/>
              </a:rPr>
              <a:t>	f(x);//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看似传值，实则传引用，与传址效果同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华文楷体" panose="02010600040101010101" pitchFamily="2" charset="-122"/>
              </a:rPr>
              <a:t>	</a:t>
            </a:r>
            <a:r>
              <a:rPr lang="en-US" altLang="zh-CN" sz="2000" dirty="0" err="1">
                <a:latin typeface="华文楷体" panose="02010600040101010101" pitchFamily="2" charset="-122"/>
              </a:rPr>
              <a:t>cout</a:t>
            </a:r>
            <a:r>
              <a:rPr lang="en-US" altLang="zh-CN" sz="2000" dirty="0">
                <a:latin typeface="华文楷体" panose="02010600040101010101" pitchFamily="2" charset="-122"/>
              </a:rPr>
              <a:t>&lt;&lt;“x=”&lt;&lt;x&lt;&lt;</a:t>
            </a:r>
            <a:r>
              <a:rPr lang="en-US" altLang="zh-CN" sz="2000" dirty="0" err="1">
                <a:latin typeface="华文楷体" panose="02010600040101010101" pitchFamily="2" charset="-122"/>
              </a:rPr>
              <a:t>endl</a:t>
            </a:r>
            <a:r>
              <a:rPr lang="en-US" altLang="zh-CN" sz="2000" dirty="0">
                <a:latin typeface="华文楷体" panose="02010600040101010101" pitchFamily="2" charset="-122"/>
              </a:rPr>
              <a:t>;</a:t>
            </a:r>
            <a:endParaRPr lang="en-US" altLang="zh-CN" sz="2000" dirty="0">
              <a:latin typeface="华文楷体" panose="02010600040101010101" pitchFamily="2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华文楷体" panose="02010600040101010101" pitchFamily="2" charset="-122"/>
              </a:rPr>
              <a:t>}</a:t>
            </a:r>
            <a:endParaRPr lang="en-US" altLang="zh-CN" sz="2000" dirty="0" smtClean="0">
              <a:latin typeface="华文楷体" panose="02010600040101010101" pitchFamily="2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 sz="2000" dirty="0">
              <a:latin typeface="华文楷体" panose="02010600040101010101" pitchFamily="2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输出结果是多少？</a:t>
            </a:r>
            <a:endParaRPr lang="zh-CN" altLang="en-US" sz="2000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000" dirty="0">
              <a:latin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88913"/>
            <a:ext cx="7772400" cy="457200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1.2  </a:t>
            </a:r>
            <a:r>
              <a:rPr lang="zh-CN" altLang="en-US" sz="24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基本概念和术语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38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600200"/>
            <a:ext cx="8496300" cy="449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数据</a:t>
            </a:r>
            <a:r>
              <a:rPr lang="zh-CN" altLang="en-US" sz="2400" b="1" dirty="0" smtClean="0">
                <a:ea typeface="华文楷体" panose="02010600040101010101" pitchFamily="2" charset="-122"/>
              </a:rPr>
              <a:t>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是客观事物的数字化表示，是被计算机加工处理的对象。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数据元素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（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记录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、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表目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）  数据的基本单位，是数据集合中的一个个体。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一个数据元素可由若干个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数据项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组成，数据项是不可分割的最小单位。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 smtClean="0">
              <a:ea typeface="华文楷体" panose="02010600040101010101" pitchFamily="2" charset="-122"/>
            </a:endParaRPr>
          </a:p>
        </p:txBody>
      </p:sp>
      <p:sp>
        <p:nvSpPr>
          <p:cNvPr id="18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1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8AD4E4-B28B-46A4-A8D3-AAB0911C4FF4}" type="slidenum">
              <a:rPr lang="en-US" altLang="zh-CN"/>
            </a:fld>
            <a:endParaRPr lang="en-US" altLang="zh-CN"/>
          </a:p>
        </p:txBody>
      </p:sp>
      <p:sp>
        <p:nvSpPr>
          <p:cNvPr id="20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18439" name="Text Box 4"/>
          <p:cNvSpPr txBox="1">
            <a:spLocks noChangeArrowheads="1"/>
          </p:cNvSpPr>
          <p:nvPr/>
        </p:nvSpPr>
        <p:spPr bwMode="auto">
          <a:xfrm>
            <a:off x="5029200" y="5486400"/>
            <a:ext cx="1524000" cy="650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组合项</a:t>
            </a:r>
            <a:endParaRPr kumimoji="1"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440" name="AutoShape 5"/>
          <p:cNvSpPr/>
          <p:nvPr/>
        </p:nvSpPr>
        <p:spPr bwMode="auto">
          <a:xfrm rot="-5400000">
            <a:off x="5686425" y="4305300"/>
            <a:ext cx="381000" cy="1828800"/>
          </a:xfrm>
          <a:prstGeom prst="leftBrace">
            <a:avLst>
              <a:gd name="adj1" fmla="val 40000"/>
              <a:gd name="adj2" fmla="val 50000"/>
            </a:avLst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grpSp>
        <p:nvGrpSpPr>
          <p:cNvPr id="18441" name="Group 6"/>
          <p:cNvGrpSpPr/>
          <p:nvPr/>
        </p:nvGrpSpPr>
        <p:grpSpPr bwMode="auto">
          <a:xfrm>
            <a:off x="4962525" y="4343400"/>
            <a:ext cx="1828800" cy="685800"/>
            <a:chOff x="3126" y="2736"/>
            <a:chExt cx="1152" cy="432"/>
          </a:xfrm>
        </p:grpSpPr>
        <p:sp>
          <p:nvSpPr>
            <p:cNvPr id="18450" name="Text Box 7"/>
            <p:cNvSpPr txBox="1">
              <a:spLocks noChangeArrowheads="1"/>
            </p:cNvSpPr>
            <p:nvPr/>
          </p:nvSpPr>
          <p:spPr bwMode="auto">
            <a:xfrm>
              <a:off x="3126" y="2758"/>
              <a:ext cx="1152" cy="41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36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年 月 日</a:t>
              </a:r>
              <a:endParaRPr kumimoji="1" lang="zh-CN" altLang="en-US" sz="36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8451" name="Line 8"/>
            <p:cNvSpPr>
              <a:spLocks noChangeShapeType="1"/>
            </p:cNvSpPr>
            <p:nvPr/>
          </p:nvSpPr>
          <p:spPr bwMode="auto">
            <a:xfrm>
              <a:off x="3510" y="273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18452" name="Line 9"/>
            <p:cNvSpPr>
              <a:spLocks noChangeShapeType="1"/>
            </p:cNvSpPr>
            <p:nvPr/>
          </p:nvSpPr>
          <p:spPr bwMode="auto">
            <a:xfrm>
              <a:off x="3894" y="273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华文楷体" panose="02010600040101010101" pitchFamily="2" charset="-122"/>
              </a:endParaRPr>
            </a:p>
          </p:txBody>
        </p:sp>
      </p:grpSp>
      <p:grpSp>
        <p:nvGrpSpPr>
          <p:cNvPr id="18442" name="Group 10"/>
          <p:cNvGrpSpPr/>
          <p:nvPr/>
        </p:nvGrpSpPr>
        <p:grpSpPr bwMode="auto">
          <a:xfrm>
            <a:off x="514350" y="3733800"/>
            <a:ext cx="8248650" cy="685800"/>
            <a:chOff x="324" y="2352"/>
            <a:chExt cx="5196" cy="432"/>
          </a:xfrm>
        </p:grpSpPr>
        <p:sp>
          <p:nvSpPr>
            <p:cNvPr id="18444" name="Text Box 11"/>
            <p:cNvSpPr txBox="1">
              <a:spLocks noChangeArrowheads="1"/>
            </p:cNvSpPr>
            <p:nvPr/>
          </p:nvSpPr>
          <p:spPr bwMode="auto">
            <a:xfrm>
              <a:off x="324" y="2352"/>
              <a:ext cx="5196" cy="41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36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学 </a:t>
              </a:r>
              <a:r>
                <a:rPr kumimoji="1" lang="zh-CN" altLang="en-US" sz="36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号 姓 名 班 </a:t>
              </a:r>
              <a:r>
                <a:rPr kumimoji="1" lang="zh-CN" altLang="en-US" sz="36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号</a:t>
              </a:r>
              <a:r>
                <a:rPr kumimoji="1" lang="zh-CN" altLang="en-US" sz="36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性别 出生</a:t>
              </a:r>
              <a:r>
                <a:rPr kumimoji="1" lang="zh-CN" altLang="en-US" sz="36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日期入学成绩</a:t>
              </a:r>
              <a:endParaRPr kumimoji="1" lang="zh-CN" altLang="en-US" sz="36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8445" name="Line 12"/>
            <p:cNvSpPr>
              <a:spLocks noChangeShapeType="1"/>
            </p:cNvSpPr>
            <p:nvPr/>
          </p:nvSpPr>
          <p:spPr bwMode="auto">
            <a:xfrm>
              <a:off x="1104" y="235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18446" name="Line 13"/>
            <p:cNvSpPr>
              <a:spLocks noChangeShapeType="1"/>
            </p:cNvSpPr>
            <p:nvPr/>
          </p:nvSpPr>
          <p:spPr bwMode="auto">
            <a:xfrm>
              <a:off x="2496" y="235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18447" name="Line 14"/>
            <p:cNvSpPr>
              <a:spLocks noChangeShapeType="1"/>
            </p:cNvSpPr>
            <p:nvPr/>
          </p:nvSpPr>
          <p:spPr bwMode="auto">
            <a:xfrm>
              <a:off x="3120" y="235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18448" name="Line 15"/>
            <p:cNvSpPr>
              <a:spLocks noChangeShapeType="1"/>
            </p:cNvSpPr>
            <p:nvPr/>
          </p:nvSpPr>
          <p:spPr bwMode="auto">
            <a:xfrm>
              <a:off x="4272" y="235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18449" name="Line 16"/>
            <p:cNvSpPr>
              <a:spLocks noChangeShapeType="1"/>
            </p:cNvSpPr>
            <p:nvPr/>
          </p:nvSpPr>
          <p:spPr bwMode="auto">
            <a:xfrm>
              <a:off x="1824" y="235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华文楷体" panose="02010600040101010101" pitchFamily="2" charset="-122"/>
              </a:endParaRPr>
            </a:p>
          </p:txBody>
        </p:sp>
      </p:grpSp>
      <p:sp>
        <p:nvSpPr>
          <p:cNvPr id="30737" name="AutoShape 17"/>
          <p:cNvSpPr>
            <a:spLocks noChangeArrowheads="1"/>
          </p:cNvSpPr>
          <p:nvPr/>
        </p:nvSpPr>
        <p:spPr bwMode="auto">
          <a:xfrm>
            <a:off x="1547813" y="4868863"/>
            <a:ext cx="1295400" cy="609600"/>
          </a:xfrm>
          <a:prstGeom prst="wedgeRoundRectCallout">
            <a:avLst>
              <a:gd name="adj1" fmla="val 19116"/>
              <a:gd name="adj2" fmla="val -131509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数据项</a:t>
            </a:r>
            <a:endParaRPr kumimoji="1" lang="zh-CN" altLang="en-US" sz="36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7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195388"/>
            <a:ext cx="7772400" cy="5257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数据对象</a:t>
            </a:r>
            <a:r>
              <a:rPr lang="zh-CN" altLang="en-US" sz="2800" dirty="0" smtClean="0">
                <a:ea typeface="华文楷体" panose="02010600040101010101" pitchFamily="2" charset="-122"/>
              </a:rPr>
              <a:t>  是性质相同的数据元素的集合，是数据的一个子集。</a:t>
            </a:r>
            <a:endParaRPr lang="zh-CN" altLang="en-US" sz="28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      </a:t>
            </a:r>
            <a:r>
              <a:rPr lang="zh-CN" altLang="en-US" sz="2400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学号   姓名  班号  性别    出生日期    入学成绩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en-US" altLang="zh-CN" sz="2400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001     </a:t>
            </a:r>
            <a:r>
              <a:rPr lang="zh-CN" altLang="en-US" sz="2400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刘影    </a:t>
            </a:r>
            <a:r>
              <a:rPr lang="en-US" altLang="zh-CN" sz="2400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01      </a:t>
            </a:r>
            <a:r>
              <a:rPr lang="zh-CN" altLang="en-US" sz="2400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女       </a:t>
            </a:r>
            <a:r>
              <a:rPr lang="en-US" altLang="zh-CN" sz="2400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20040417       623</a:t>
            </a:r>
            <a:endParaRPr lang="en-US" altLang="zh-CN" sz="2400" dirty="0" smtClean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002     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李恒   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01      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男      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20031211       679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003     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陈诚   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02      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男      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200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0910       638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…        …       …      …       …                  …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b="1" dirty="0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 smtClean="0">
              <a:ea typeface="宋体" panose="02010600030101010101" pitchFamily="2" charset="-122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005DC82-84E0-4C18-9515-092754E2D8BF}" type="slidenum">
              <a:rPr lang="en-US" altLang="zh-CN"/>
            </a:fld>
            <a:endParaRPr lang="en-US" altLang="zh-CN"/>
          </a:p>
        </p:txBody>
      </p:sp>
      <p:sp>
        <p:nvSpPr>
          <p:cNvPr id="18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19462" name="Rectangle 4"/>
          <p:cNvSpPr>
            <a:spLocks noChangeArrowheads="1"/>
          </p:cNvSpPr>
          <p:nvPr/>
        </p:nvSpPr>
        <p:spPr bwMode="auto">
          <a:xfrm>
            <a:off x="1116013" y="2808288"/>
            <a:ext cx="6624637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19463" name="Line 5"/>
          <p:cNvSpPr>
            <a:spLocks noChangeShapeType="1"/>
          </p:cNvSpPr>
          <p:nvPr/>
        </p:nvSpPr>
        <p:spPr bwMode="auto">
          <a:xfrm>
            <a:off x="1143000" y="4581525"/>
            <a:ext cx="6597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19464" name="Line 6"/>
          <p:cNvSpPr>
            <a:spLocks noChangeShapeType="1"/>
          </p:cNvSpPr>
          <p:nvPr/>
        </p:nvSpPr>
        <p:spPr bwMode="auto">
          <a:xfrm>
            <a:off x="1116013" y="3213100"/>
            <a:ext cx="6624637" cy="39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19465" name="Line 7"/>
          <p:cNvSpPr>
            <a:spLocks noChangeShapeType="1"/>
          </p:cNvSpPr>
          <p:nvPr/>
        </p:nvSpPr>
        <p:spPr bwMode="auto">
          <a:xfrm>
            <a:off x="1143000" y="3633788"/>
            <a:ext cx="6597650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19466" name="Line 8"/>
          <p:cNvSpPr>
            <a:spLocks noChangeShapeType="1"/>
          </p:cNvSpPr>
          <p:nvPr/>
        </p:nvSpPr>
        <p:spPr bwMode="auto">
          <a:xfrm flipV="1">
            <a:off x="1143000" y="4005263"/>
            <a:ext cx="6597650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19467" name="Line 9"/>
          <p:cNvSpPr>
            <a:spLocks noChangeShapeType="1"/>
          </p:cNvSpPr>
          <p:nvPr/>
        </p:nvSpPr>
        <p:spPr bwMode="auto">
          <a:xfrm>
            <a:off x="2195513" y="2808288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19468" name="Line 10"/>
          <p:cNvSpPr>
            <a:spLocks noChangeShapeType="1"/>
          </p:cNvSpPr>
          <p:nvPr/>
        </p:nvSpPr>
        <p:spPr bwMode="auto">
          <a:xfrm>
            <a:off x="4716463" y="2808288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19469" name="Line 11"/>
          <p:cNvSpPr>
            <a:spLocks noChangeShapeType="1"/>
          </p:cNvSpPr>
          <p:nvPr/>
        </p:nvSpPr>
        <p:spPr bwMode="auto">
          <a:xfrm>
            <a:off x="3059113" y="2808288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19470" name="Line 12"/>
          <p:cNvSpPr>
            <a:spLocks noChangeShapeType="1"/>
          </p:cNvSpPr>
          <p:nvPr/>
        </p:nvSpPr>
        <p:spPr bwMode="auto">
          <a:xfrm>
            <a:off x="3851275" y="27813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19471" name="Line 13"/>
          <p:cNvSpPr>
            <a:spLocks noChangeShapeType="1"/>
          </p:cNvSpPr>
          <p:nvPr/>
        </p:nvSpPr>
        <p:spPr bwMode="auto">
          <a:xfrm>
            <a:off x="6443663" y="27813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19472" name="AutoShape 15"/>
          <p:cNvSpPr>
            <a:spLocks noChangeArrowheads="1"/>
          </p:cNvSpPr>
          <p:nvPr/>
        </p:nvSpPr>
        <p:spPr bwMode="auto">
          <a:xfrm>
            <a:off x="7642225" y="2782888"/>
            <a:ext cx="1447800" cy="457200"/>
          </a:xfrm>
          <a:prstGeom prst="wedgeRoundRectCallout">
            <a:avLst>
              <a:gd name="adj1" fmla="val -76866"/>
              <a:gd name="adj2" fmla="val 6701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19473" name="Text Box 16"/>
          <p:cNvSpPr txBox="1">
            <a:spLocks noChangeArrowheads="1"/>
          </p:cNvSpPr>
          <p:nvPr/>
        </p:nvSpPr>
        <p:spPr bwMode="auto">
          <a:xfrm>
            <a:off x="7661275" y="27813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数据元素</a:t>
            </a:r>
            <a:endParaRPr kumimoji="1" lang="zh-CN" altLang="en-US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9474" name="AutoShape 17"/>
          <p:cNvSpPr/>
          <p:nvPr/>
        </p:nvSpPr>
        <p:spPr bwMode="auto">
          <a:xfrm>
            <a:off x="914400" y="2871788"/>
            <a:ext cx="152400" cy="1752600"/>
          </a:xfrm>
          <a:prstGeom prst="leftBrace">
            <a:avLst>
              <a:gd name="adj1" fmla="val 9583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2048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4581525"/>
            <a:ext cx="8229600" cy="1819275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 smtClean="0">
              <a:solidFill>
                <a:srgbClr val="FF33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数据结构</a:t>
            </a:r>
            <a:r>
              <a:rPr lang="en-US" altLang="zh-CN" sz="2400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=(</a:t>
            </a:r>
            <a:r>
              <a:rPr lang="en-US" altLang="zh-CN" sz="2400" dirty="0" err="1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D,S,Op</a:t>
            </a:r>
            <a:r>
              <a:rPr lang="en-US" altLang="zh-CN" sz="2400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400" dirty="0" smtClean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其中：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D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为数据元素集合；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为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D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上的关系；            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Op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为定义在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D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上的运算；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D40CD32-587A-4240-88D4-FD7E036CD887}" type="slidenum">
              <a:rPr lang="en-US" altLang="zh-CN"/>
            </a:fld>
            <a:endParaRPr lang="en-US" altLang="zh-CN"/>
          </a:p>
        </p:txBody>
      </p:sp>
      <p:sp>
        <p:nvSpPr>
          <p:cNvPr id="13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85001" name="AutoShape 9"/>
          <p:cNvSpPr>
            <a:spLocks noChangeArrowheads="1"/>
          </p:cNvSpPr>
          <p:nvPr/>
        </p:nvSpPr>
        <p:spPr bwMode="ltGray">
          <a:xfrm>
            <a:off x="1042988" y="765175"/>
            <a:ext cx="5775325" cy="3344863"/>
          </a:xfrm>
          <a:prstGeom prst="rightArrow">
            <a:avLst>
              <a:gd name="adj1" fmla="val 79306"/>
              <a:gd name="adj2" fmla="val 42766"/>
            </a:avLst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85002" name="AutoShape 10"/>
          <p:cNvSpPr>
            <a:spLocks noChangeArrowheads="1"/>
          </p:cNvSpPr>
          <p:nvPr/>
        </p:nvSpPr>
        <p:spPr bwMode="blackWhite">
          <a:xfrm>
            <a:off x="1331913" y="1196975"/>
            <a:ext cx="4103687" cy="762000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69804"/>
                  <a:invGamma/>
                </a:schemeClr>
              </a:gs>
            </a:gsLst>
            <a:lin ang="5400000" scaled="1"/>
          </a:gradFill>
          <a:ln w="25400">
            <a:solidFill>
              <a:schemeClr val="bg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数据元素的集合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489" name="AutoShape 11"/>
          <p:cNvSpPr>
            <a:spLocks noChangeArrowheads="1"/>
          </p:cNvSpPr>
          <p:nvPr/>
        </p:nvSpPr>
        <p:spPr bwMode="blackWhite">
          <a:xfrm>
            <a:off x="1331913" y="2032000"/>
            <a:ext cx="4098925" cy="762000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rgbClr val="699D5F"/>
              </a:gs>
              <a:gs pos="100000">
                <a:srgbClr val="96BB8F"/>
              </a:gs>
            </a:gsLst>
            <a:lin ang="5400000" scaled="1"/>
          </a:gradFill>
          <a:ln w="25400">
            <a:solidFill>
              <a:schemeClr val="bg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元素之间的关系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5004" name="AutoShape 12"/>
          <p:cNvSpPr>
            <a:spLocks noChangeArrowheads="1"/>
          </p:cNvSpPr>
          <p:nvPr/>
        </p:nvSpPr>
        <p:spPr bwMode="blackWhite">
          <a:xfrm>
            <a:off x="1331913" y="2895600"/>
            <a:ext cx="4025900" cy="762000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tint val="69804"/>
                  <a:invGamma/>
                </a:schemeClr>
              </a:gs>
            </a:gsLst>
            <a:lin ang="5400000" scaled="1"/>
          </a:gradFill>
          <a:ln w="25400">
            <a:solidFill>
              <a:schemeClr val="bg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定义在元素上的运算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491" name="AutoShape 13"/>
          <p:cNvSpPr>
            <a:spLocks noChangeArrowheads="1"/>
          </p:cNvSpPr>
          <p:nvPr/>
        </p:nvSpPr>
        <p:spPr bwMode="auto">
          <a:xfrm>
            <a:off x="6745288" y="1916113"/>
            <a:ext cx="2003425" cy="996950"/>
          </a:xfrm>
          <a:prstGeom prst="roundRect">
            <a:avLst>
              <a:gd name="adj" fmla="val 9106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ACDD4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数据结构</a:t>
            </a:r>
            <a:endParaRPr lang="zh-CN" altLang="en-US" sz="3200" b="1" dirty="0">
              <a:solidFill>
                <a:srgbClr val="FF33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5006" name="Text Box 14"/>
          <p:cNvSpPr txBox="1">
            <a:spLocks noChangeArrowheads="1"/>
          </p:cNvSpPr>
          <p:nvPr/>
        </p:nvSpPr>
        <p:spPr bwMode="auto">
          <a:xfrm>
            <a:off x="1331913" y="4149724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数据结构：</a:t>
            </a:r>
            <a:endParaRPr kumimoji="1"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5007" name="Text Box 15"/>
          <p:cNvSpPr txBox="1">
            <a:spLocks noChangeArrowheads="1"/>
          </p:cNvSpPr>
          <p:nvPr/>
        </p:nvSpPr>
        <p:spPr bwMode="auto">
          <a:xfrm>
            <a:off x="2905125" y="4149725"/>
            <a:ext cx="35702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带</a:t>
            </a:r>
            <a:r>
              <a:rPr kumimoji="1"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结构</a:t>
            </a:r>
            <a:r>
              <a: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的数据元素的集合</a:t>
            </a:r>
            <a:endParaRPr kumimoji="1" lang="zh-CN" altLang="en-US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06" grpId="0" autoUpdateAnimBg="0"/>
      <p:bldP spid="85007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1.3 </a:t>
            </a: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逻辑结构</a:t>
            </a:r>
            <a:endParaRPr lang="zh-CN" altLang="en-US" sz="28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5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逻辑结构</a:t>
            </a:r>
            <a:r>
              <a:rPr lang="zh-CN" altLang="en-US" dirty="0" smtClean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数据元素之间的逻辑关系，与计算机无关。 </a:t>
            </a:r>
            <a:r>
              <a:rPr lang="zh-CN" altLang="en-US" b="1" dirty="0" smtClean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逻辑结构</a:t>
            </a:r>
            <a:r>
              <a:rPr lang="zh-CN" altLang="en-US" b="1" dirty="0" smtClean="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FF3300"/>
                </a:solidFill>
                <a:ea typeface="宋体" panose="02010600030101010101" pitchFamily="2" charset="-122"/>
              </a:rPr>
              <a:t>= (D,S)</a:t>
            </a:r>
            <a:endParaRPr lang="en-US" altLang="zh-CN" b="1" dirty="0" smtClean="0">
              <a:solidFill>
                <a:srgbClr val="FF3300"/>
              </a:solidFill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 smtClean="0">
              <a:solidFill>
                <a:srgbClr val="996633"/>
              </a:solidFill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例</a:t>
            </a:r>
            <a:r>
              <a:rPr lang="en-US" altLang="zh-CN" sz="2400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设有逻辑结构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 = (D,S) 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 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其中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D= {d1, d2, d3, d4, d5, d6}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S={s}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  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s={&lt;d1,d2&gt;, &lt;d1,d3&gt;,   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&lt;d1,d4&gt;, &lt;d3,d5&gt;, &lt;d3,d6&gt;}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试画出其逻辑结构图。</a:t>
            </a:r>
            <a:endParaRPr lang="zh-CN" altLang="en-US" sz="2400" b="1" dirty="0" smtClean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	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19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2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AC84E2D-58A3-4048-A2EB-BA9F8D533A68}" type="slidenum">
              <a:rPr lang="en-US" altLang="zh-CN"/>
            </a:fld>
            <a:endParaRPr lang="en-US" altLang="zh-CN"/>
          </a:p>
        </p:txBody>
      </p:sp>
      <p:sp>
        <p:nvSpPr>
          <p:cNvPr id="21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grpSp>
        <p:nvGrpSpPr>
          <p:cNvPr id="86020" name="Group 4"/>
          <p:cNvGrpSpPr/>
          <p:nvPr/>
        </p:nvGrpSpPr>
        <p:grpSpPr bwMode="auto">
          <a:xfrm>
            <a:off x="6851650" y="3001963"/>
            <a:ext cx="1752600" cy="2514600"/>
            <a:chOff x="3936" y="1968"/>
            <a:chExt cx="1104" cy="1584"/>
          </a:xfrm>
        </p:grpSpPr>
        <p:sp>
          <p:nvSpPr>
            <p:cNvPr id="21512" name="Oval 5"/>
            <p:cNvSpPr>
              <a:spLocks noChangeArrowheads="1"/>
            </p:cNvSpPr>
            <p:nvPr/>
          </p:nvSpPr>
          <p:spPr bwMode="auto">
            <a:xfrm>
              <a:off x="4320" y="1968"/>
              <a:ext cx="336" cy="288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21513" name="Oval 6"/>
            <p:cNvSpPr>
              <a:spLocks noChangeArrowheads="1"/>
            </p:cNvSpPr>
            <p:nvPr/>
          </p:nvSpPr>
          <p:spPr bwMode="auto">
            <a:xfrm>
              <a:off x="3936" y="2592"/>
              <a:ext cx="336" cy="288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21514" name="Oval 7"/>
            <p:cNvSpPr>
              <a:spLocks noChangeArrowheads="1"/>
            </p:cNvSpPr>
            <p:nvPr/>
          </p:nvSpPr>
          <p:spPr bwMode="auto">
            <a:xfrm>
              <a:off x="4320" y="2592"/>
              <a:ext cx="336" cy="288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21515" name="Oval 8"/>
            <p:cNvSpPr>
              <a:spLocks noChangeArrowheads="1"/>
            </p:cNvSpPr>
            <p:nvPr/>
          </p:nvSpPr>
          <p:spPr bwMode="auto">
            <a:xfrm>
              <a:off x="4704" y="2592"/>
              <a:ext cx="336" cy="288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21516" name="Oval 9"/>
            <p:cNvSpPr>
              <a:spLocks noChangeArrowheads="1"/>
            </p:cNvSpPr>
            <p:nvPr/>
          </p:nvSpPr>
          <p:spPr bwMode="auto">
            <a:xfrm>
              <a:off x="4128" y="3264"/>
              <a:ext cx="336" cy="288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21517" name="Oval 10"/>
            <p:cNvSpPr>
              <a:spLocks noChangeArrowheads="1"/>
            </p:cNvSpPr>
            <p:nvPr/>
          </p:nvSpPr>
          <p:spPr bwMode="auto">
            <a:xfrm>
              <a:off x="4608" y="3264"/>
              <a:ext cx="336" cy="288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21518" name="Line 11"/>
            <p:cNvSpPr>
              <a:spLocks noChangeShapeType="1"/>
            </p:cNvSpPr>
            <p:nvPr/>
          </p:nvSpPr>
          <p:spPr bwMode="auto">
            <a:xfrm flipH="1">
              <a:off x="4128" y="2256"/>
              <a:ext cx="336" cy="3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21519" name="Line 12"/>
            <p:cNvSpPr>
              <a:spLocks noChangeShapeType="1"/>
            </p:cNvSpPr>
            <p:nvPr/>
          </p:nvSpPr>
          <p:spPr bwMode="auto">
            <a:xfrm>
              <a:off x="4512" y="2256"/>
              <a:ext cx="0" cy="3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21520" name="Line 13"/>
            <p:cNvSpPr>
              <a:spLocks noChangeShapeType="1"/>
            </p:cNvSpPr>
            <p:nvPr/>
          </p:nvSpPr>
          <p:spPr bwMode="auto">
            <a:xfrm>
              <a:off x="4608" y="2208"/>
              <a:ext cx="240" cy="38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21521" name="Line 14"/>
            <p:cNvSpPr>
              <a:spLocks noChangeShapeType="1"/>
            </p:cNvSpPr>
            <p:nvPr/>
          </p:nvSpPr>
          <p:spPr bwMode="auto">
            <a:xfrm flipH="1">
              <a:off x="4272" y="2880"/>
              <a:ext cx="192" cy="38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21522" name="Line 15"/>
            <p:cNvSpPr>
              <a:spLocks noChangeShapeType="1"/>
            </p:cNvSpPr>
            <p:nvPr/>
          </p:nvSpPr>
          <p:spPr bwMode="auto">
            <a:xfrm>
              <a:off x="4512" y="2880"/>
              <a:ext cx="240" cy="38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华文楷体" panose="02010600040101010101" pitchFamily="2" charset="-122"/>
              </a:endParaRPr>
            </a:p>
          </p:txBody>
        </p:sp>
        <p:sp>
          <p:nvSpPr>
            <p:cNvPr id="21523" name="Text Box 16"/>
            <p:cNvSpPr txBox="1">
              <a:spLocks noChangeArrowheads="1"/>
            </p:cNvSpPr>
            <p:nvPr/>
          </p:nvSpPr>
          <p:spPr bwMode="auto">
            <a:xfrm>
              <a:off x="4320" y="196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d1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1524" name="Text Box 17"/>
            <p:cNvSpPr txBox="1">
              <a:spLocks noChangeArrowheads="1"/>
            </p:cNvSpPr>
            <p:nvPr/>
          </p:nvSpPr>
          <p:spPr bwMode="auto">
            <a:xfrm>
              <a:off x="3936" y="2592"/>
              <a:ext cx="11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d2    d3    d4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1525" name="Text Box 18"/>
            <p:cNvSpPr txBox="1">
              <a:spLocks noChangeArrowheads="1"/>
            </p:cNvSpPr>
            <p:nvPr/>
          </p:nvSpPr>
          <p:spPr bwMode="auto">
            <a:xfrm>
              <a:off x="4128" y="3264"/>
              <a:ext cx="8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d5      d6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四种基本的逻辑结构</a:t>
            </a:r>
            <a:endParaRPr lang="zh-CN" altLang="en-US" sz="24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5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60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B517EFC-E882-4E52-ABB2-2C3BA9D45D4D}" type="slidenum">
              <a:rPr lang="en-US" altLang="zh-CN"/>
            </a:fld>
            <a:endParaRPr lang="en-US" altLang="zh-CN"/>
          </a:p>
        </p:txBody>
      </p:sp>
      <p:sp>
        <p:nvSpPr>
          <p:cNvPr id="62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22535" name="AutoShape 5"/>
          <p:cNvSpPr>
            <a:spLocks noChangeArrowheads="1"/>
          </p:cNvSpPr>
          <p:nvPr/>
        </p:nvSpPr>
        <p:spPr bwMode="auto">
          <a:xfrm>
            <a:off x="539750" y="1196975"/>
            <a:ext cx="3671888" cy="2447925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 sz="1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536" name="Rectangle 6"/>
          <p:cNvSpPr>
            <a:spLocks noChangeArrowheads="1"/>
          </p:cNvSpPr>
          <p:nvPr/>
        </p:nvSpPr>
        <p:spPr bwMode="auto">
          <a:xfrm>
            <a:off x="684213" y="1235075"/>
            <a:ext cx="3441700" cy="754063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集合结构</a:t>
            </a:r>
            <a:endParaRPr lang="zh-CN" altLang="en-US" sz="24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537" name="Text Box 7"/>
          <p:cNvSpPr txBox="1">
            <a:spLocks noChangeArrowheads="1"/>
          </p:cNvSpPr>
          <p:nvPr/>
        </p:nvSpPr>
        <p:spPr bwMode="auto">
          <a:xfrm>
            <a:off x="684213" y="2060575"/>
            <a:ext cx="187166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数据元素属于同一集合外，无其它的关系。</a:t>
            </a:r>
            <a:endParaRPr lang="zh-CN" altLang="en-US" sz="240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538" name="AutoShape 8"/>
          <p:cNvSpPr>
            <a:spLocks noChangeArrowheads="1"/>
          </p:cNvSpPr>
          <p:nvPr/>
        </p:nvSpPr>
        <p:spPr bwMode="auto">
          <a:xfrm>
            <a:off x="4643438" y="1196975"/>
            <a:ext cx="3671887" cy="2447925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 sz="1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539" name="Rectangle 9"/>
          <p:cNvSpPr>
            <a:spLocks noChangeArrowheads="1"/>
          </p:cNvSpPr>
          <p:nvPr/>
        </p:nvSpPr>
        <p:spPr bwMode="auto">
          <a:xfrm>
            <a:off x="4787900" y="1235075"/>
            <a:ext cx="3441700" cy="754063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线性结构</a:t>
            </a:r>
            <a:endParaRPr lang="zh-CN" altLang="en-US" sz="24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540" name="Text Box 10"/>
          <p:cNvSpPr txBox="1">
            <a:spLocks noChangeArrowheads="1"/>
          </p:cNvSpPr>
          <p:nvPr/>
        </p:nvSpPr>
        <p:spPr bwMode="auto">
          <a:xfrm>
            <a:off x="4787900" y="2205038"/>
            <a:ext cx="33115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数据元素之间存在一对一的关系。</a:t>
            </a:r>
            <a:endParaRPr lang="zh-CN" altLang="en-US" sz="240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541" name="AutoShape 11"/>
          <p:cNvSpPr>
            <a:spLocks noChangeArrowheads="1"/>
          </p:cNvSpPr>
          <p:nvPr/>
        </p:nvSpPr>
        <p:spPr bwMode="auto">
          <a:xfrm>
            <a:off x="539750" y="3789363"/>
            <a:ext cx="3671888" cy="2447925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 sz="1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542" name="Rectangle 12"/>
          <p:cNvSpPr>
            <a:spLocks noChangeArrowheads="1"/>
          </p:cNvSpPr>
          <p:nvPr/>
        </p:nvSpPr>
        <p:spPr bwMode="auto">
          <a:xfrm>
            <a:off x="611188" y="3789363"/>
            <a:ext cx="3441700" cy="754062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树型结构</a:t>
            </a:r>
            <a:endParaRPr lang="zh-CN" altLang="en-US" sz="24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543" name="Text Box 13"/>
          <p:cNvSpPr txBox="1">
            <a:spLocks noChangeArrowheads="1"/>
          </p:cNvSpPr>
          <p:nvPr/>
        </p:nvSpPr>
        <p:spPr bwMode="auto">
          <a:xfrm>
            <a:off x="684213" y="4581525"/>
            <a:ext cx="158432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数据元素之间存在一对多的关系。</a:t>
            </a:r>
            <a:endParaRPr lang="zh-CN" altLang="en-US" sz="240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544" name="AutoShape 14"/>
          <p:cNvSpPr>
            <a:spLocks noChangeArrowheads="1"/>
          </p:cNvSpPr>
          <p:nvPr/>
        </p:nvSpPr>
        <p:spPr bwMode="auto">
          <a:xfrm>
            <a:off x="4645025" y="3789363"/>
            <a:ext cx="3671888" cy="2447925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 sz="1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545" name="Rectangle 15"/>
          <p:cNvSpPr>
            <a:spLocks noChangeArrowheads="1"/>
          </p:cNvSpPr>
          <p:nvPr/>
        </p:nvSpPr>
        <p:spPr bwMode="auto">
          <a:xfrm>
            <a:off x="4789488" y="3827463"/>
            <a:ext cx="3441700" cy="754062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图状结构</a:t>
            </a:r>
            <a:endParaRPr lang="zh-CN" altLang="en-US" sz="24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546" name="Text Box 16"/>
          <p:cNvSpPr txBox="1">
            <a:spLocks noChangeArrowheads="1"/>
          </p:cNvSpPr>
          <p:nvPr/>
        </p:nvSpPr>
        <p:spPr bwMode="auto">
          <a:xfrm>
            <a:off x="4714875" y="4652963"/>
            <a:ext cx="17287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数据元素之间存在多对多的关系。</a:t>
            </a:r>
            <a:endParaRPr lang="zh-CN" altLang="en-US" sz="240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547" name="Oval 17"/>
          <p:cNvSpPr>
            <a:spLocks noChangeArrowheads="1"/>
          </p:cNvSpPr>
          <p:nvPr/>
        </p:nvSpPr>
        <p:spPr bwMode="auto">
          <a:xfrm>
            <a:off x="3533775" y="2060575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48" name="Oval 18"/>
          <p:cNvSpPr>
            <a:spLocks noChangeArrowheads="1"/>
          </p:cNvSpPr>
          <p:nvPr/>
        </p:nvSpPr>
        <p:spPr bwMode="auto">
          <a:xfrm>
            <a:off x="3076575" y="2136775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49" name="Oval 19"/>
          <p:cNvSpPr>
            <a:spLocks noChangeArrowheads="1"/>
          </p:cNvSpPr>
          <p:nvPr/>
        </p:nvSpPr>
        <p:spPr bwMode="auto">
          <a:xfrm>
            <a:off x="3381375" y="2441575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50" name="Oval 20"/>
          <p:cNvSpPr>
            <a:spLocks noChangeArrowheads="1"/>
          </p:cNvSpPr>
          <p:nvPr/>
        </p:nvSpPr>
        <p:spPr bwMode="auto">
          <a:xfrm>
            <a:off x="2847975" y="2898775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51" name="Oval 21"/>
          <p:cNvSpPr>
            <a:spLocks noChangeArrowheads="1"/>
          </p:cNvSpPr>
          <p:nvPr/>
        </p:nvSpPr>
        <p:spPr bwMode="auto">
          <a:xfrm>
            <a:off x="3305175" y="2974975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52" name="Oval 22"/>
          <p:cNvSpPr>
            <a:spLocks noChangeArrowheads="1"/>
          </p:cNvSpPr>
          <p:nvPr/>
        </p:nvSpPr>
        <p:spPr bwMode="auto">
          <a:xfrm>
            <a:off x="3686175" y="2746375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53" name="Text Box 23"/>
          <p:cNvSpPr txBox="1">
            <a:spLocks noChangeArrowheads="1"/>
          </p:cNvSpPr>
          <p:nvPr/>
        </p:nvSpPr>
        <p:spPr bwMode="auto">
          <a:xfrm>
            <a:off x="2700338" y="3103563"/>
            <a:ext cx="1219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dirty="0">
                <a:solidFill>
                  <a:srgbClr val="0526E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成员关系</a:t>
            </a:r>
            <a:endParaRPr kumimoji="1" lang="zh-CN" altLang="en-US" sz="2000" dirty="0">
              <a:solidFill>
                <a:srgbClr val="0526E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554" name="Oval 24"/>
          <p:cNvSpPr>
            <a:spLocks noChangeArrowheads="1"/>
          </p:cNvSpPr>
          <p:nvPr/>
        </p:nvSpPr>
        <p:spPr bwMode="auto">
          <a:xfrm>
            <a:off x="6567488" y="27813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55" name="Oval 25"/>
          <p:cNvSpPr>
            <a:spLocks noChangeArrowheads="1"/>
          </p:cNvSpPr>
          <p:nvPr/>
        </p:nvSpPr>
        <p:spPr bwMode="auto">
          <a:xfrm>
            <a:off x="7024688" y="27813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56" name="Oval 26"/>
          <p:cNvSpPr>
            <a:spLocks noChangeArrowheads="1"/>
          </p:cNvSpPr>
          <p:nvPr/>
        </p:nvSpPr>
        <p:spPr bwMode="auto">
          <a:xfrm>
            <a:off x="7481888" y="27813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57" name="Oval 27"/>
          <p:cNvSpPr>
            <a:spLocks noChangeArrowheads="1"/>
          </p:cNvSpPr>
          <p:nvPr/>
        </p:nvSpPr>
        <p:spPr bwMode="auto">
          <a:xfrm>
            <a:off x="8091488" y="27813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58" name="Line 28"/>
          <p:cNvSpPr>
            <a:spLocks noChangeShapeType="1"/>
          </p:cNvSpPr>
          <p:nvPr/>
        </p:nvSpPr>
        <p:spPr bwMode="auto">
          <a:xfrm>
            <a:off x="6719888" y="28575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59" name="Line 29"/>
          <p:cNvSpPr>
            <a:spLocks noChangeShapeType="1"/>
          </p:cNvSpPr>
          <p:nvPr/>
        </p:nvSpPr>
        <p:spPr bwMode="auto">
          <a:xfrm>
            <a:off x="7177088" y="28575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60" name="Line 30"/>
          <p:cNvSpPr>
            <a:spLocks noChangeShapeType="1"/>
          </p:cNvSpPr>
          <p:nvPr/>
        </p:nvSpPr>
        <p:spPr bwMode="auto">
          <a:xfrm>
            <a:off x="7634288" y="28575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61" name="Text Box 31"/>
          <p:cNvSpPr txBox="1">
            <a:spLocks noChangeArrowheads="1"/>
          </p:cNvSpPr>
          <p:nvPr/>
        </p:nvSpPr>
        <p:spPr bwMode="auto">
          <a:xfrm>
            <a:off x="6796088" y="3086100"/>
            <a:ext cx="137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dirty="0">
                <a:solidFill>
                  <a:srgbClr val="0526E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长幼关系</a:t>
            </a:r>
            <a:endParaRPr kumimoji="1" lang="zh-CN" altLang="en-US" sz="2000" dirty="0">
              <a:solidFill>
                <a:srgbClr val="0526E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562" name="Oval 32"/>
          <p:cNvSpPr>
            <a:spLocks noChangeArrowheads="1"/>
          </p:cNvSpPr>
          <p:nvPr/>
        </p:nvSpPr>
        <p:spPr bwMode="auto">
          <a:xfrm>
            <a:off x="3386138" y="4500563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63" name="Oval 33"/>
          <p:cNvSpPr>
            <a:spLocks noChangeArrowheads="1"/>
          </p:cNvSpPr>
          <p:nvPr/>
        </p:nvSpPr>
        <p:spPr bwMode="auto">
          <a:xfrm>
            <a:off x="2624138" y="5033963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64" name="Oval 34"/>
          <p:cNvSpPr>
            <a:spLocks noChangeArrowheads="1"/>
          </p:cNvSpPr>
          <p:nvPr/>
        </p:nvSpPr>
        <p:spPr bwMode="auto">
          <a:xfrm>
            <a:off x="3767138" y="5033963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65" name="Oval 35"/>
          <p:cNvSpPr>
            <a:spLocks noChangeArrowheads="1"/>
          </p:cNvSpPr>
          <p:nvPr/>
        </p:nvSpPr>
        <p:spPr bwMode="auto">
          <a:xfrm>
            <a:off x="2166938" y="5719763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66" name="Oval 36"/>
          <p:cNvSpPr>
            <a:spLocks noChangeArrowheads="1"/>
          </p:cNvSpPr>
          <p:nvPr/>
        </p:nvSpPr>
        <p:spPr bwMode="auto">
          <a:xfrm>
            <a:off x="2547938" y="5719763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67" name="Oval 37"/>
          <p:cNvSpPr>
            <a:spLocks noChangeArrowheads="1"/>
          </p:cNvSpPr>
          <p:nvPr/>
        </p:nvSpPr>
        <p:spPr bwMode="auto">
          <a:xfrm>
            <a:off x="3005138" y="5719763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68" name="Oval 38"/>
          <p:cNvSpPr>
            <a:spLocks noChangeArrowheads="1"/>
          </p:cNvSpPr>
          <p:nvPr/>
        </p:nvSpPr>
        <p:spPr bwMode="auto">
          <a:xfrm>
            <a:off x="3614738" y="5719763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69" name="Oval 39"/>
          <p:cNvSpPr>
            <a:spLocks noChangeArrowheads="1"/>
          </p:cNvSpPr>
          <p:nvPr/>
        </p:nvSpPr>
        <p:spPr bwMode="auto">
          <a:xfrm>
            <a:off x="4148138" y="5719763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70" name="Line 40"/>
          <p:cNvSpPr>
            <a:spLocks noChangeShapeType="1"/>
          </p:cNvSpPr>
          <p:nvPr/>
        </p:nvSpPr>
        <p:spPr bwMode="auto">
          <a:xfrm flipH="1">
            <a:off x="2700338" y="4652963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71" name="Line 41"/>
          <p:cNvSpPr>
            <a:spLocks noChangeShapeType="1"/>
          </p:cNvSpPr>
          <p:nvPr/>
        </p:nvSpPr>
        <p:spPr bwMode="auto">
          <a:xfrm>
            <a:off x="3462338" y="4652963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72" name="Line 42"/>
          <p:cNvSpPr>
            <a:spLocks noChangeShapeType="1"/>
          </p:cNvSpPr>
          <p:nvPr/>
        </p:nvSpPr>
        <p:spPr bwMode="auto">
          <a:xfrm flipH="1">
            <a:off x="2243138" y="5186363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73" name="Line 43"/>
          <p:cNvSpPr>
            <a:spLocks noChangeShapeType="1"/>
          </p:cNvSpPr>
          <p:nvPr/>
        </p:nvSpPr>
        <p:spPr bwMode="auto">
          <a:xfrm flipH="1">
            <a:off x="2624138" y="5186363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74" name="Line 44"/>
          <p:cNvSpPr>
            <a:spLocks noChangeShapeType="1"/>
          </p:cNvSpPr>
          <p:nvPr/>
        </p:nvSpPr>
        <p:spPr bwMode="auto">
          <a:xfrm>
            <a:off x="2700338" y="5186363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75" name="Line 45"/>
          <p:cNvSpPr>
            <a:spLocks noChangeShapeType="1"/>
          </p:cNvSpPr>
          <p:nvPr/>
        </p:nvSpPr>
        <p:spPr bwMode="auto">
          <a:xfrm flipH="1">
            <a:off x="3690938" y="5186363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76" name="Line 46"/>
          <p:cNvSpPr>
            <a:spLocks noChangeShapeType="1"/>
          </p:cNvSpPr>
          <p:nvPr/>
        </p:nvSpPr>
        <p:spPr bwMode="auto">
          <a:xfrm>
            <a:off x="3919538" y="5186363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77" name="Text Box 47"/>
          <p:cNvSpPr txBox="1">
            <a:spLocks noChangeArrowheads="1"/>
          </p:cNvSpPr>
          <p:nvPr/>
        </p:nvSpPr>
        <p:spPr bwMode="auto">
          <a:xfrm>
            <a:off x="2608263" y="5876925"/>
            <a:ext cx="1676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dirty="0">
                <a:solidFill>
                  <a:srgbClr val="0526E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管理关系</a:t>
            </a:r>
            <a:endParaRPr kumimoji="1"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578" name="Oval 48"/>
          <p:cNvSpPr>
            <a:spLocks noChangeArrowheads="1"/>
          </p:cNvSpPr>
          <p:nvPr/>
        </p:nvSpPr>
        <p:spPr bwMode="auto">
          <a:xfrm>
            <a:off x="7092950" y="4581525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79" name="Oval 49"/>
          <p:cNvSpPr>
            <a:spLocks noChangeArrowheads="1"/>
          </p:cNvSpPr>
          <p:nvPr/>
        </p:nvSpPr>
        <p:spPr bwMode="auto">
          <a:xfrm>
            <a:off x="7778750" y="4581525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80" name="Oval 50"/>
          <p:cNvSpPr>
            <a:spLocks noChangeArrowheads="1"/>
          </p:cNvSpPr>
          <p:nvPr/>
        </p:nvSpPr>
        <p:spPr bwMode="auto">
          <a:xfrm>
            <a:off x="7169150" y="5267325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81" name="Oval 51"/>
          <p:cNvSpPr>
            <a:spLocks noChangeArrowheads="1"/>
          </p:cNvSpPr>
          <p:nvPr/>
        </p:nvSpPr>
        <p:spPr bwMode="auto">
          <a:xfrm>
            <a:off x="8007350" y="5191125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82" name="Oval 52"/>
          <p:cNvSpPr>
            <a:spLocks noChangeArrowheads="1"/>
          </p:cNvSpPr>
          <p:nvPr/>
        </p:nvSpPr>
        <p:spPr bwMode="auto">
          <a:xfrm>
            <a:off x="7702550" y="5876925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83" name="Line 53"/>
          <p:cNvSpPr>
            <a:spLocks noChangeShapeType="1"/>
          </p:cNvSpPr>
          <p:nvPr/>
        </p:nvSpPr>
        <p:spPr bwMode="auto">
          <a:xfrm>
            <a:off x="7169150" y="4733925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84" name="Line 54"/>
          <p:cNvSpPr>
            <a:spLocks noChangeShapeType="1"/>
          </p:cNvSpPr>
          <p:nvPr/>
        </p:nvSpPr>
        <p:spPr bwMode="auto">
          <a:xfrm flipV="1">
            <a:off x="7245350" y="4652963"/>
            <a:ext cx="566738" cy="4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85" name="Line 55"/>
          <p:cNvSpPr>
            <a:spLocks noChangeShapeType="1"/>
          </p:cNvSpPr>
          <p:nvPr/>
        </p:nvSpPr>
        <p:spPr bwMode="auto">
          <a:xfrm>
            <a:off x="7854950" y="4733925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86" name="Line 56"/>
          <p:cNvSpPr>
            <a:spLocks noChangeShapeType="1"/>
          </p:cNvSpPr>
          <p:nvPr/>
        </p:nvSpPr>
        <p:spPr bwMode="auto">
          <a:xfrm flipH="1">
            <a:off x="7778750" y="5343525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87" name="Line 57"/>
          <p:cNvSpPr>
            <a:spLocks noChangeShapeType="1"/>
          </p:cNvSpPr>
          <p:nvPr/>
        </p:nvSpPr>
        <p:spPr bwMode="auto">
          <a:xfrm>
            <a:off x="7245350" y="5419725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88" name="Line 58"/>
          <p:cNvSpPr>
            <a:spLocks noChangeShapeType="1"/>
          </p:cNvSpPr>
          <p:nvPr/>
        </p:nvSpPr>
        <p:spPr bwMode="auto">
          <a:xfrm flipV="1">
            <a:off x="7245350" y="5267325"/>
            <a:ext cx="762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89" name="Line 59"/>
          <p:cNvSpPr>
            <a:spLocks noChangeShapeType="1"/>
          </p:cNvSpPr>
          <p:nvPr/>
        </p:nvSpPr>
        <p:spPr bwMode="auto">
          <a:xfrm flipH="1">
            <a:off x="7321550" y="4733925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2590" name="Text Box 60"/>
          <p:cNvSpPr txBox="1">
            <a:spLocks noChangeArrowheads="1"/>
          </p:cNvSpPr>
          <p:nvPr/>
        </p:nvSpPr>
        <p:spPr bwMode="auto">
          <a:xfrm>
            <a:off x="7161213" y="5876925"/>
            <a:ext cx="137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dirty="0">
                <a:solidFill>
                  <a:srgbClr val="0526E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朋友关系</a:t>
            </a:r>
            <a:endParaRPr kumimoji="1" lang="zh-CN" altLang="en-US" sz="2000" dirty="0">
              <a:solidFill>
                <a:srgbClr val="0526E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1.4 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操作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9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2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A3F8C3D-2F18-4882-8F3B-0FBD08256D05}" type="slidenum">
              <a:rPr lang="en-US" altLang="zh-CN"/>
            </a:fld>
            <a:endParaRPr lang="en-US" altLang="zh-CN"/>
          </a:p>
        </p:txBody>
      </p:sp>
      <p:sp>
        <p:nvSpPr>
          <p:cNvPr id="21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1782763" y="2484438"/>
            <a:ext cx="1668462" cy="395287"/>
          </a:xfrm>
          <a:prstGeom prst="rect">
            <a:avLst/>
          </a:prstGeom>
          <a:gradFill rotWithShape="0">
            <a:gsLst>
              <a:gs pos="0">
                <a:srgbClr val="339966"/>
              </a:gs>
              <a:gs pos="50000">
                <a:schemeClr val="accent1"/>
              </a:gs>
              <a:gs pos="100000">
                <a:srgbClr val="339966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3559" name="Rectangle 5"/>
          <p:cNvSpPr>
            <a:spLocks noChangeArrowheads="1"/>
          </p:cNvSpPr>
          <p:nvPr/>
        </p:nvSpPr>
        <p:spPr bwMode="auto">
          <a:xfrm>
            <a:off x="1782763" y="3006725"/>
            <a:ext cx="1668462" cy="18621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60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询问类操作</a:t>
            </a:r>
            <a:endParaRPr kumimoji="1"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判空</a:t>
            </a:r>
            <a:endParaRPr kumimoji="1"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求长度</a:t>
            </a:r>
            <a:endParaRPr kumimoji="1"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…….</a:t>
            </a:r>
            <a:endParaRPr kumimoji="1"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3560" name="Text Box 6"/>
          <p:cNvSpPr txBox="1">
            <a:spLocks noChangeArrowheads="1"/>
          </p:cNvSpPr>
          <p:nvPr/>
        </p:nvSpPr>
        <p:spPr bwMode="auto">
          <a:xfrm>
            <a:off x="2092325" y="2540000"/>
            <a:ext cx="10604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rIns="18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20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71" name="Rectangle 7"/>
          <p:cNvSpPr>
            <a:spLocks noChangeArrowheads="1"/>
          </p:cNvSpPr>
          <p:nvPr/>
        </p:nvSpPr>
        <p:spPr bwMode="auto">
          <a:xfrm>
            <a:off x="3805238" y="2484438"/>
            <a:ext cx="1990725" cy="395287"/>
          </a:xfrm>
          <a:prstGeom prst="rect">
            <a:avLst/>
          </a:prstGeom>
          <a:gradFill rotWithShape="0">
            <a:gsLst>
              <a:gs pos="0">
                <a:srgbClr val="339966"/>
              </a:gs>
              <a:gs pos="50000">
                <a:schemeClr val="accent1"/>
              </a:gs>
              <a:gs pos="100000">
                <a:srgbClr val="339966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3562" name="Rectangle 8"/>
          <p:cNvSpPr>
            <a:spLocks noChangeArrowheads="1"/>
          </p:cNvSpPr>
          <p:nvPr/>
        </p:nvSpPr>
        <p:spPr bwMode="auto">
          <a:xfrm>
            <a:off x="3779838" y="2989263"/>
            <a:ext cx="2020887" cy="1862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 dirty="0">
                <a:latin typeface="宋体" panose="02010600030101010101" pitchFamily="2" charset="-122"/>
              </a:rPr>
              <a:t> </a:t>
            </a:r>
            <a:r>
              <a:rPr kumimoji="1"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查找类操作</a:t>
            </a:r>
            <a:endParaRPr kumimoji="1"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Tx/>
              <a:buChar char="•"/>
            </a:pPr>
            <a:r>
              <a:rPr kumimoji="1"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查找某个元素的位置</a:t>
            </a:r>
            <a:endParaRPr kumimoji="1"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Tx/>
              <a:buChar char="•"/>
            </a:pPr>
            <a:r>
              <a:rPr kumimoji="1"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遍历</a:t>
            </a:r>
            <a:endParaRPr kumimoji="1"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/>
            <a:r>
              <a:rPr kumimoji="1"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……</a:t>
            </a:r>
            <a:endParaRPr kumimoji="1"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Tx/>
              <a:buChar char="•"/>
            </a:pPr>
            <a:endParaRPr kumimoji="1" lang="en-US" altLang="zh-CN" sz="1200" dirty="0">
              <a:latin typeface="宋体" panose="02010600030101010101" pitchFamily="2" charset="-122"/>
            </a:endParaRPr>
          </a:p>
        </p:txBody>
      </p:sp>
      <p:sp>
        <p:nvSpPr>
          <p:cNvPr id="23563" name="Text Box 9"/>
          <p:cNvSpPr txBox="1">
            <a:spLocks noChangeArrowheads="1"/>
          </p:cNvSpPr>
          <p:nvPr/>
        </p:nvSpPr>
        <p:spPr bwMode="auto">
          <a:xfrm>
            <a:off x="4186238" y="2540000"/>
            <a:ext cx="11779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rIns="18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endParaRPr kumimoji="1" lang="en-US" altLang="zh-CN" sz="20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74" name="Rectangle 10"/>
          <p:cNvSpPr>
            <a:spLocks noChangeArrowheads="1"/>
          </p:cNvSpPr>
          <p:nvPr/>
        </p:nvSpPr>
        <p:spPr bwMode="auto">
          <a:xfrm>
            <a:off x="63500" y="2484438"/>
            <a:ext cx="1362075" cy="395287"/>
          </a:xfrm>
          <a:prstGeom prst="rect">
            <a:avLst/>
          </a:prstGeom>
          <a:gradFill rotWithShape="0">
            <a:gsLst>
              <a:gs pos="0">
                <a:srgbClr val="339966"/>
              </a:gs>
              <a:gs pos="50000">
                <a:schemeClr val="accent1"/>
              </a:gs>
              <a:gs pos="100000">
                <a:srgbClr val="339966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3565" name="Rectangle 11"/>
          <p:cNvSpPr>
            <a:spLocks noChangeArrowheads="1"/>
          </p:cNvSpPr>
          <p:nvPr/>
        </p:nvSpPr>
        <p:spPr bwMode="auto">
          <a:xfrm>
            <a:off x="63500" y="3006725"/>
            <a:ext cx="1346200" cy="18621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kumimoji="1"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构造函数</a:t>
            </a:r>
            <a:endParaRPr kumimoji="1"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Tx/>
              <a:buChar char="•"/>
            </a:pPr>
            <a:r>
              <a:rPr kumimoji="1"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析构函数</a:t>
            </a:r>
            <a:endParaRPr kumimoji="1"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3566" name="Text Box 12"/>
          <p:cNvSpPr txBox="1">
            <a:spLocks noChangeArrowheads="1"/>
          </p:cNvSpPr>
          <p:nvPr/>
        </p:nvSpPr>
        <p:spPr bwMode="auto">
          <a:xfrm>
            <a:off x="234950" y="2540000"/>
            <a:ext cx="965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rIns="18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0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77" name="Rectangle 13"/>
          <p:cNvSpPr>
            <a:spLocks noChangeArrowheads="1"/>
          </p:cNvSpPr>
          <p:nvPr/>
        </p:nvSpPr>
        <p:spPr bwMode="auto">
          <a:xfrm>
            <a:off x="6300788" y="2484438"/>
            <a:ext cx="2627312" cy="395287"/>
          </a:xfrm>
          <a:prstGeom prst="rect">
            <a:avLst/>
          </a:prstGeom>
          <a:gradFill rotWithShape="0">
            <a:gsLst>
              <a:gs pos="0">
                <a:srgbClr val="339966"/>
              </a:gs>
              <a:gs pos="50000">
                <a:schemeClr val="accent1"/>
              </a:gs>
              <a:gs pos="100000">
                <a:srgbClr val="339966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3568" name="Rectangle 14"/>
          <p:cNvSpPr>
            <a:spLocks noChangeArrowheads="1"/>
          </p:cNvSpPr>
          <p:nvPr/>
        </p:nvSpPr>
        <p:spPr bwMode="auto">
          <a:xfrm>
            <a:off x="6300788" y="3006725"/>
            <a:ext cx="2627312" cy="18621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添加和删除类操作</a:t>
            </a:r>
            <a:endParaRPr kumimoji="1"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1"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添加一个数据元素；</a:t>
            </a:r>
            <a:endParaRPr kumimoji="1"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1"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删除一个数据元素；</a:t>
            </a:r>
            <a:endParaRPr kumimoji="1"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1"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置空；</a:t>
            </a:r>
            <a:endParaRPr kumimoji="1"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……</a:t>
            </a:r>
            <a:endParaRPr kumimoji="1"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3569" name="Rectangle 16"/>
          <p:cNvSpPr>
            <a:spLocks noChangeArrowheads="1"/>
          </p:cNvSpPr>
          <p:nvPr/>
        </p:nvSpPr>
        <p:spPr bwMode="auto">
          <a:xfrm>
            <a:off x="80963" y="1549400"/>
            <a:ext cx="8840787" cy="809625"/>
          </a:xfrm>
          <a:prstGeom prst="rect">
            <a:avLst/>
          </a:prstGeom>
          <a:solidFill>
            <a:srgbClr val="C0C0C0">
              <a:alpha val="50195"/>
            </a:srgbClr>
          </a:solidFill>
          <a:ln w="254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不同的数据结构有不同的操作集合，这些操作可以分为四类</a:t>
            </a:r>
            <a:endParaRPr kumimoji="1"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3570" name="AutoShape 17"/>
          <p:cNvSpPr>
            <a:spLocks noChangeArrowheads="1"/>
          </p:cNvSpPr>
          <p:nvPr/>
        </p:nvSpPr>
        <p:spPr bwMode="auto">
          <a:xfrm rot="5400000">
            <a:off x="1447007" y="2309693"/>
            <a:ext cx="330200" cy="733663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3571" name="AutoShape 18"/>
          <p:cNvSpPr>
            <a:spLocks noChangeArrowheads="1"/>
          </p:cNvSpPr>
          <p:nvPr/>
        </p:nvSpPr>
        <p:spPr bwMode="auto">
          <a:xfrm rot="5400000">
            <a:off x="3467894" y="2320807"/>
            <a:ext cx="330200" cy="733663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3572" name="AutoShape 19"/>
          <p:cNvSpPr>
            <a:spLocks noChangeArrowheads="1"/>
          </p:cNvSpPr>
          <p:nvPr/>
        </p:nvSpPr>
        <p:spPr bwMode="auto">
          <a:xfrm rot="5400000">
            <a:off x="5891213" y="2317631"/>
            <a:ext cx="330200" cy="733663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3573" name="Text Box 21"/>
          <p:cNvSpPr txBox="1">
            <a:spLocks noChangeArrowheads="1"/>
          </p:cNvSpPr>
          <p:nvPr/>
        </p:nvSpPr>
        <p:spPr bwMode="auto">
          <a:xfrm>
            <a:off x="7019925" y="2486025"/>
            <a:ext cx="11779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rIns="18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endParaRPr kumimoji="1" lang="en-US" altLang="zh-CN" sz="20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1.5</a:t>
            </a:r>
            <a:r>
              <a:rPr lang="en-US" altLang="zh-CN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存储结构</a:t>
            </a:r>
            <a:endParaRPr lang="zh-CN" altLang="en-US" sz="28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58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52525"/>
            <a:ext cx="8291513" cy="5013325"/>
          </a:xfrm>
        </p:spPr>
        <p:txBody>
          <a:bodyPr/>
          <a:lstStyle/>
          <a:p>
            <a:pPr eaLnBrk="1" hangingPunct="1"/>
            <a:r>
              <a:rPr lang="zh-CN" altLang="en-US" sz="2400" b="1" dirty="0" smtClean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存储结构</a:t>
            </a:r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zh-CN" altLang="en-US" sz="2400" b="1" dirty="0" smtClean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物理结构</a:t>
            </a:r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：指数据的逻辑结构在计算机存储器中的映象表示。</a:t>
            </a:r>
            <a:endParaRPr lang="zh-CN" altLang="en-US" sz="24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sz="2400" b="1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数据元素的映象</a:t>
            </a:r>
            <a:endParaRPr lang="zh-CN" altLang="en-US" sz="2400" dirty="0" smtClean="0">
              <a:solidFill>
                <a:srgbClr val="996633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    用二进制位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(bit)</a:t>
            </a: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的位串表示数据元素。</a:t>
            </a:r>
            <a:endParaRPr lang="zh-CN" altLang="en-US" sz="24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          每个数据元素的映象称为</a:t>
            </a:r>
            <a:r>
              <a:rPr lang="zh-CN" altLang="en-US" sz="2400" b="1" dirty="0" smtClean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结点</a:t>
            </a:r>
            <a:endParaRPr lang="zh-CN" altLang="en-US" sz="24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          每个数据项的映象称为</a:t>
            </a:r>
            <a:r>
              <a:rPr lang="zh-CN" altLang="en-US" sz="2400" b="1" dirty="0" smtClean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数据域</a:t>
            </a:r>
            <a:endParaRPr lang="zh-CN" altLang="en-US" sz="24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/>
            <a:endParaRPr lang="en-US" altLang="zh-CN" sz="24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7A345AB-F096-4FF8-8EBF-7C9F572440D1}" type="slidenum">
              <a:rPr lang="en-US" altLang="zh-CN"/>
            </a:fld>
            <a:endParaRPr lang="en-US" altLang="zh-CN"/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24583" name="Rectangle 58"/>
          <p:cNvSpPr>
            <a:spLocks noChangeArrowheads="1"/>
          </p:cNvSpPr>
          <p:nvPr/>
        </p:nvSpPr>
        <p:spPr bwMode="auto">
          <a:xfrm>
            <a:off x="1828800" y="4427538"/>
            <a:ext cx="5048250" cy="1665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233680" indent="-23368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11175" indent="-1638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1.	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顺序存储结构</a:t>
            </a:r>
            <a:endParaRPr lang="zh-CN" altLang="en-US" sz="20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2.	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链式存储结构</a:t>
            </a:r>
            <a:endParaRPr lang="zh-CN" altLang="en-US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3.	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哈希存储结构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	 </a:t>
            </a:r>
            <a:endParaRPr lang="zh-CN" altLang="en-US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4.	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索引存储结构</a:t>
            </a:r>
            <a:r>
              <a:rPr lang="zh-CN" altLang="en-US" sz="16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endParaRPr lang="zh-CN" altLang="en-US" sz="16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4584" name="Rectangle 59"/>
          <p:cNvSpPr>
            <a:spLocks noChangeArrowheads="1"/>
          </p:cNvSpPr>
          <p:nvPr/>
        </p:nvSpPr>
        <p:spPr bwMode="auto">
          <a:xfrm>
            <a:off x="1828800" y="3859213"/>
            <a:ext cx="5048250" cy="56832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1700"/>
              </a:lnSpc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四种不同的存储结构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219200"/>
            <a:ext cx="77724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(1)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顺序存储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：数据元素依次放在连续的存储单元中</a:t>
            </a:r>
            <a:r>
              <a:rPr lang="zh-CN" altLang="en-US" sz="2800" dirty="0" smtClean="0">
                <a:ea typeface="华文楷体" panose="02010600040101010101" pitchFamily="2" charset="-122"/>
              </a:rPr>
              <a:t>。</a:t>
            </a:r>
            <a:endParaRPr lang="zh-CN" altLang="en-US" sz="28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</a:t>
            </a:r>
            <a:r>
              <a:rPr lang="en-US" altLang="zh-CN" sz="2800" dirty="0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a</a:t>
            </a:r>
            <a:r>
              <a:rPr lang="en-US" altLang="zh-CN" sz="2800" baseline="-25000" dirty="0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dirty="0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...       </a:t>
            </a:r>
            <a:r>
              <a:rPr lang="en-US" altLang="zh-CN" sz="2800" dirty="0" err="1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err="1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aseline="-25000" dirty="0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800" dirty="0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...    a</a:t>
            </a:r>
            <a:r>
              <a:rPr lang="en-US" altLang="zh-CN" sz="2800" baseline="-25000" dirty="0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endParaRPr lang="en-US" altLang="zh-CN" sz="2800" dirty="0" smtClean="0">
              <a:solidFill>
                <a:srgbClr val="0526E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(2)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链式存储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：在存储结点中增加若干指针域，记录后继或者相关结点的地址（指针）。</a:t>
            </a:r>
            <a:endParaRPr lang="zh-CN" altLang="en-US" sz="28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宋体" panose="02010600030101010101" pitchFamily="2" charset="-122"/>
              </a:rPr>
              <a:t>                   </a:t>
            </a:r>
            <a:endParaRPr lang="zh-CN" altLang="en-US" sz="2800" dirty="0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宋体" panose="02010600030101010101" pitchFamily="2" charset="-122"/>
              </a:rPr>
              <a:t>           </a:t>
            </a:r>
            <a:r>
              <a:rPr lang="en-US" altLang="zh-CN" sz="2800" dirty="0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1600" dirty="0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1220</a:t>
            </a:r>
            <a:r>
              <a:rPr lang="en-US" altLang="zh-CN" sz="2800" dirty="0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...    a</a:t>
            </a:r>
            <a:r>
              <a:rPr lang="en-US" altLang="zh-CN" sz="2800" baseline="-25000" dirty="0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800" dirty="0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600" dirty="0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1342</a:t>
            </a:r>
            <a:r>
              <a:rPr lang="en-US" altLang="zh-CN" sz="2800" dirty="0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...       a</a:t>
            </a:r>
            <a:r>
              <a:rPr lang="en-US" altLang="zh-CN" sz="2800" baseline="-25000" dirty="0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dirty="0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600" dirty="0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1072</a:t>
            </a:r>
            <a:r>
              <a:rPr lang="en-US" altLang="zh-CN" sz="2800" dirty="0" smtClean="0">
                <a:solidFill>
                  <a:srgbClr val="0526E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...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b="1" dirty="0" smtClean="0">
              <a:ea typeface="宋体" panose="02010600030101010101" pitchFamily="2" charset="-122"/>
            </a:endParaRPr>
          </a:p>
        </p:txBody>
      </p:sp>
      <p:sp>
        <p:nvSpPr>
          <p:cNvPr id="41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4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AD114CC-18D3-41A2-A800-1B86A3F92BFB}" type="slidenum">
              <a:rPr lang="en-US" altLang="zh-CN"/>
            </a:fld>
            <a:endParaRPr lang="en-US" altLang="zh-CN"/>
          </a:p>
        </p:txBody>
      </p:sp>
      <p:sp>
        <p:nvSpPr>
          <p:cNvPr id="43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25606" name="Line 4"/>
          <p:cNvSpPr>
            <a:spLocks noChangeShapeType="1"/>
          </p:cNvSpPr>
          <p:nvPr/>
        </p:nvSpPr>
        <p:spPr bwMode="auto">
          <a:xfrm>
            <a:off x="1981200" y="2286000"/>
            <a:ext cx="5029200" cy="0"/>
          </a:xfrm>
          <a:prstGeom prst="line">
            <a:avLst/>
          </a:prstGeom>
          <a:noFill/>
          <a:ln w="12700" cap="sq">
            <a:solidFill>
              <a:srgbClr val="0526E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07" name="Line 5"/>
          <p:cNvSpPr>
            <a:spLocks noChangeShapeType="1"/>
          </p:cNvSpPr>
          <p:nvPr/>
        </p:nvSpPr>
        <p:spPr bwMode="auto">
          <a:xfrm>
            <a:off x="1905000" y="2743200"/>
            <a:ext cx="5029200" cy="0"/>
          </a:xfrm>
          <a:prstGeom prst="line">
            <a:avLst/>
          </a:prstGeom>
          <a:noFill/>
          <a:ln w="12700" cap="sq">
            <a:solidFill>
              <a:srgbClr val="0526E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08" name="Line 6"/>
          <p:cNvSpPr>
            <a:spLocks noChangeShapeType="1"/>
          </p:cNvSpPr>
          <p:nvPr/>
        </p:nvSpPr>
        <p:spPr bwMode="auto">
          <a:xfrm>
            <a:off x="2514600" y="2286000"/>
            <a:ext cx="0" cy="457200"/>
          </a:xfrm>
          <a:prstGeom prst="line">
            <a:avLst/>
          </a:prstGeom>
          <a:noFill/>
          <a:ln w="12700" cap="sq">
            <a:solidFill>
              <a:srgbClr val="0526E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09" name="Line 7"/>
          <p:cNvSpPr>
            <a:spLocks noChangeShapeType="1"/>
          </p:cNvSpPr>
          <p:nvPr/>
        </p:nvSpPr>
        <p:spPr bwMode="auto">
          <a:xfrm>
            <a:off x="3048000" y="2286000"/>
            <a:ext cx="0" cy="457200"/>
          </a:xfrm>
          <a:prstGeom prst="line">
            <a:avLst/>
          </a:prstGeom>
          <a:noFill/>
          <a:ln w="12700" cap="sq">
            <a:solidFill>
              <a:srgbClr val="0526E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10" name="Line 8"/>
          <p:cNvSpPr>
            <a:spLocks noChangeShapeType="1"/>
          </p:cNvSpPr>
          <p:nvPr/>
        </p:nvSpPr>
        <p:spPr bwMode="auto">
          <a:xfrm>
            <a:off x="3581400" y="2286000"/>
            <a:ext cx="0" cy="457200"/>
          </a:xfrm>
          <a:prstGeom prst="line">
            <a:avLst/>
          </a:prstGeom>
          <a:noFill/>
          <a:ln w="12700" cap="sq">
            <a:solidFill>
              <a:srgbClr val="0526E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11" name="Line 9"/>
          <p:cNvSpPr>
            <a:spLocks noChangeShapeType="1"/>
          </p:cNvSpPr>
          <p:nvPr/>
        </p:nvSpPr>
        <p:spPr bwMode="auto">
          <a:xfrm>
            <a:off x="4724400" y="2286000"/>
            <a:ext cx="0" cy="457200"/>
          </a:xfrm>
          <a:prstGeom prst="line">
            <a:avLst/>
          </a:prstGeom>
          <a:noFill/>
          <a:ln w="12700" cap="sq">
            <a:solidFill>
              <a:srgbClr val="0526E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12" name="Line 10"/>
          <p:cNvSpPr>
            <a:spLocks noChangeShapeType="1"/>
          </p:cNvSpPr>
          <p:nvPr/>
        </p:nvSpPr>
        <p:spPr bwMode="auto">
          <a:xfrm>
            <a:off x="5181600" y="2286000"/>
            <a:ext cx="0" cy="457200"/>
          </a:xfrm>
          <a:prstGeom prst="line">
            <a:avLst/>
          </a:prstGeom>
          <a:noFill/>
          <a:ln w="12700" cap="sq">
            <a:solidFill>
              <a:srgbClr val="0526E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13" name="Line 11"/>
          <p:cNvSpPr>
            <a:spLocks noChangeShapeType="1"/>
          </p:cNvSpPr>
          <p:nvPr/>
        </p:nvSpPr>
        <p:spPr bwMode="auto">
          <a:xfrm>
            <a:off x="6019800" y="2286000"/>
            <a:ext cx="0" cy="457200"/>
          </a:xfrm>
          <a:prstGeom prst="line">
            <a:avLst/>
          </a:prstGeom>
          <a:noFill/>
          <a:ln w="12700" cap="sq">
            <a:solidFill>
              <a:srgbClr val="0526E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14" name="Line 12"/>
          <p:cNvSpPr>
            <a:spLocks noChangeShapeType="1"/>
          </p:cNvSpPr>
          <p:nvPr/>
        </p:nvSpPr>
        <p:spPr bwMode="auto">
          <a:xfrm>
            <a:off x="6477000" y="2286000"/>
            <a:ext cx="0" cy="457200"/>
          </a:xfrm>
          <a:prstGeom prst="line">
            <a:avLst/>
          </a:prstGeom>
          <a:noFill/>
          <a:ln w="12700" cap="sq">
            <a:solidFill>
              <a:srgbClr val="0526E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15" name="Text Box 13"/>
          <p:cNvSpPr txBox="1">
            <a:spLocks noChangeArrowheads="1"/>
          </p:cNvSpPr>
          <p:nvPr/>
        </p:nvSpPr>
        <p:spPr bwMode="auto">
          <a:xfrm>
            <a:off x="2286000" y="1981200"/>
            <a:ext cx="1295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600">
                <a:solidFill>
                  <a:srgbClr val="0526EF"/>
                </a:solidFill>
                <a:latin typeface="Times New Roman" panose="02020603050405020304" pitchFamily="18" charset="0"/>
              </a:rPr>
              <a:t>1000    1004</a:t>
            </a:r>
            <a:endParaRPr kumimoji="1" lang="en-US" altLang="zh-CN" sz="1600">
              <a:solidFill>
                <a:srgbClr val="0526E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6" name="Line 14"/>
          <p:cNvSpPr>
            <a:spLocks noChangeShapeType="1"/>
          </p:cNvSpPr>
          <p:nvPr/>
        </p:nvSpPr>
        <p:spPr bwMode="auto">
          <a:xfrm>
            <a:off x="1524000" y="4648200"/>
            <a:ext cx="5562600" cy="0"/>
          </a:xfrm>
          <a:prstGeom prst="line">
            <a:avLst/>
          </a:prstGeom>
          <a:noFill/>
          <a:ln w="12700" cap="sq">
            <a:solidFill>
              <a:srgbClr val="0526E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17" name="Line 15"/>
          <p:cNvSpPr>
            <a:spLocks noChangeShapeType="1"/>
          </p:cNvSpPr>
          <p:nvPr/>
        </p:nvSpPr>
        <p:spPr bwMode="auto">
          <a:xfrm>
            <a:off x="1524000" y="5105400"/>
            <a:ext cx="5638800" cy="0"/>
          </a:xfrm>
          <a:prstGeom prst="line">
            <a:avLst/>
          </a:prstGeom>
          <a:noFill/>
          <a:ln w="12700" cap="sq">
            <a:solidFill>
              <a:srgbClr val="0526E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18" name="Line 16"/>
          <p:cNvSpPr>
            <a:spLocks noChangeShapeType="1"/>
          </p:cNvSpPr>
          <p:nvPr/>
        </p:nvSpPr>
        <p:spPr bwMode="auto">
          <a:xfrm>
            <a:off x="1763713" y="4648200"/>
            <a:ext cx="0" cy="457200"/>
          </a:xfrm>
          <a:prstGeom prst="line">
            <a:avLst/>
          </a:prstGeom>
          <a:noFill/>
          <a:ln w="12700" cap="sq">
            <a:solidFill>
              <a:srgbClr val="0526E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19" name="Line 17"/>
          <p:cNvSpPr>
            <a:spLocks noChangeShapeType="1"/>
          </p:cNvSpPr>
          <p:nvPr/>
        </p:nvSpPr>
        <p:spPr bwMode="auto">
          <a:xfrm>
            <a:off x="2411413" y="4648200"/>
            <a:ext cx="0" cy="457200"/>
          </a:xfrm>
          <a:prstGeom prst="line">
            <a:avLst/>
          </a:prstGeom>
          <a:noFill/>
          <a:ln w="12700" cap="sq">
            <a:solidFill>
              <a:srgbClr val="0526E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20" name="Line 18"/>
          <p:cNvSpPr>
            <a:spLocks noChangeShapeType="1"/>
          </p:cNvSpPr>
          <p:nvPr/>
        </p:nvSpPr>
        <p:spPr bwMode="auto">
          <a:xfrm>
            <a:off x="2916238" y="4648200"/>
            <a:ext cx="0" cy="457200"/>
          </a:xfrm>
          <a:prstGeom prst="line">
            <a:avLst/>
          </a:prstGeom>
          <a:noFill/>
          <a:ln w="12700" cap="sq">
            <a:solidFill>
              <a:srgbClr val="0526E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21" name="Line 19"/>
          <p:cNvSpPr>
            <a:spLocks noChangeShapeType="1"/>
          </p:cNvSpPr>
          <p:nvPr/>
        </p:nvSpPr>
        <p:spPr bwMode="auto">
          <a:xfrm>
            <a:off x="5219700" y="4648200"/>
            <a:ext cx="0" cy="457200"/>
          </a:xfrm>
          <a:prstGeom prst="line">
            <a:avLst/>
          </a:prstGeom>
          <a:noFill/>
          <a:ln w="12700" cap="sq">
            <a:solidFill>
              <a:srgbClr val="0526E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22" name="Line 20"/>
          <p:cNvSpPr>
            <a:spLocks noChangeShapeType="1"/>
          </p:cNvSpPr>
          <p:nvPr/>
        </p:nvSpPr>
        <p:spPr bwMode="auto">
          <a:xfrm>
            <a:off x="4191000" y="4648200"/>
            <a:ext cx="0" cy="457200"/>
          </a:xfrm>
          <a:prstGeom prst="line">
            <a:avLst/>
          </a:prstGeom>
          <a:noFill/>
          <a:ln w="12700" cap="sq">
            <a:solidFill>
              <a:srgbClr val="0526E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23" name="Line 21"/>
          <p:cNvSpPr>
            <a:spLocks noChangeShapeType="1"/>
          </p:cNvSpPr>
          <p:nvPr/>
        </p:nvSpPr>
        <p:spPr bwMode="auto">
          <a:xfrm>
            <a:off x="4648200" y="4648200"/>
            <a:ext cx="0" cy="457200"/>
          </a:xfrm>
          <a:prstGeom prst="line">
            <a:avLst/>
          </a:prstGeom>
          <a:noFill/>
          <a:ln w="12700" cap="sq">
            <a:solidFill>
              <a:srgbClr val="0526E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24" name="Line 22"/>
          <p:cNvSpPr>
            <a:spLocks noChangeShapeType="1"/>
          </p:cNvSpPr>
          <p:nvPr/>
        </p:nvSpPr>
        <p:spPr bwMode="auto">
          <a:xfrm>
            <a:off x="6156325" y="4648200"/>
            <a:ext cx="0" cy="457200"/>
          </a:xfrm>
          <a:prstGeom prst="line">
            <a:avLst/>
          </a:prstGeom>
          <a:noFill/>
          <a:ln w="12700" cap="sq">
            <a:solidFill>
              <a:srgbClr val="0526E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25" name="Line 23"/>
          <p:cNvSpPr>
            <a:spLocks noChangeShapeType="1"/>
          </p:cNvSpPr>
          <p:nvPr/>
        </p:nvSpPr>
        <p:spPr bwMode="auto">
          <a:xfrm>
            <a:off x="6659563" y="4648200"/>
            <a:ext cx="0" cy="457200"/>
          </a:xfrm>
          <a:prstGeom prst="line">
            <a:avLst/>
          </a:prstGeom>
          <a:noFill/>
          <a:ln w="12700" cap="sq">
            <a:solidFill>
              <a:srgbClr val="0526E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26" name="Line 24"/>
          <p:cNvSpPr>
            <a:spLocks noChangeShapeType="1"/>
          </p:cNvSpPr>
          <p:nvPr/>
        </p:nvSpPr>
        <p:spPr bwMode="auto">
          <a:xfrm>
            <a:off x="7164388" y="4648200"/>
            <a:ext cx="0" cy="457200"/>
          </a:xfrm>
          <a:prstGeom prst="line">
            <a:avLst/>
          </a:prstGeom>
          <a:noFill/>
          <a:ln w="12700" cap="sq">
            <a:solidFill>
              <a:srgbClr val="0526E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27" name="Text Box 25"/>
          <p:cNvSpPr txBox="1">
            <a:spLocks noChangeArrowheads="1"/>
          </p:cNvSpPr>
          <p:nvPr/>
        </p:nvSpPr>
        <p:spPr bwMode="auto">
          <a:xfrm>
            <a:off x="1447800" y="4343400"/>
            <a:ext cx="6003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600">
                <a:solidFill>
                  <a:srgbClr val="0526EF"/>
                </a:solidFill>
                <a:latin typeface="Times New Roman" panose="02020603050405020304" pitchFamily="18" charset="0"/>
              </a:rPr>
              <a:t> 1000   1004                                1072   1076                    1220  1224</a:t>
            </a:r>
            <a:endParaRPr kumimoji="1"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25628" name="Freeform 28"/>
          <p:cNvSpPr/>
          <p:nvPr/>
        </p:nvSpPr>
        <p:spPr bwMode="auto">
          <a:xfrm>
            <a:off x="2555875" y="4292600"/>
            <a:ext cx="3887788" cy="469900"/>
          </a:xfrm>
          <a:custGeom>
            <a:avLst/>
            <a:gdLst>
              <a:gd name="T0" fmla="*/ 0 w 1920"/>
              <a:gd name="T1" fmla="*/ 469900 h 296"/>
              <a:gd name="T2" fmla="*/ 291584 w 1920"/>
              <a:gd name="T3" fmla="*/ 317500 h 296"/>
              <a:gd name="T4" fmla="*/ 1069142 w 1920"/>
              <a:gd name="T5" fmla="*/ 88900 h 296"/>
              <a:gd name="T6" fmla="*/ 3110230 w 1920"/>
              <a:gd name="T7" fmla="*/ 12700 h 296"/>
              <a:gd name="T8" fmla="*/ 3887788 w 1920"/>
              <a:gd name="T9" fmla="*/ 165100 h 2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920" h="296">
                <a:moveTo>
                  <a:pt x="0" y="296"/>
                </a:moveTo>
                <a:cubicBezTo>
                  <a:pt x="28" y="268"/>
                  <a:pt x="56" y="240"/>
                  <a:pt x="144" y="200"/>
                </a:cubicBezTo>
                <a:cubicBezTo>
                  <a:pt x="232" y="160"/>
                  <a:pt x="296" y="88"/>
                  <a:pt x="528" y="56"/>
                </a:cubicBezTo>
                <a:cubicBezTo>
                  <a:pt x="760" y="24"/>
                  <a:pt x="1304" y="0"/>
                  <a:pt x="1536" y="8"/>
                </a:cubicBezTo>
                <a:cubicBezTo>
                  <a:pt x="1768" y="16"/>
                  <a:pt x="1856" y="96"/>
                  <a:pt x="1920" y="104"/>
                </a:cubicBezTo>
              </a:path>
            </a:pathLst>
          </a:custGeom>
          <a:noFill/>
          <a:ln w="12700" cmpd="sng">
            <a:solidFill>
              <a:srgbClr val="996633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29" name="Freeform 29"/>
          <p:cNvSpPr/>
          <p:nvPr/>
        </p:nvSpPr>
        <p:spPr bwMode="auto">
          <a:xfrm>
            <a:off x="4500563" y="5013325"/>
            <a:ext cx="2247900" cy="457200"/>
          </a:xfrm>
          <a:custGeom>
            <a:avLst/>
            <a:gdLst>
              <a:gd name="T0" fmla="*/ 2247900 w 1536"/>
              <a:gd name="T1" fmla="*/ 0 h 320"/>
              <a:gd name="T2" fmla="*/ 2037159 w 1536"/>
              <a:gd name="T3" fmla="*/ 342900 h 320"/>
              <a:gd name="T4" fmla="*/ 1685925 w 1536"/>
              <a:gd name="T5" fmla="*/ 411480 h 320"/>
              <a:gd name="T6" fmla="*/ 561975 w 1536"/>
              <a:gd name="T7" fmla="*/ 411480 h 320"/>
              <a:gd name="T8" fmla="*/ 0 w 1536"/>
              <a:gd name="T9" fmla="*/ 137160 h 3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36" h="320">
                <a:moveTo>
                  <a:pt x="1536" y="0"/>
                </a:moveTo>
                <a:cubicBezTo>
                  <a:pt x="1496" y="96"/>
                  <a:pt x="1456" y="192"/>
                  <a:pt x="1392" y="240"/>
                </a:cubicBezTo>
                <a:cubicBezTo>
                  <a:pt x="1328" y="288"/>
                  <a:pt x="1320" y="280"/>
                  <a:pt x="1152" y="288"/>
                </a:cubicBezTo>
                <a:cubicBezTo>
                  <a:pt x="984" y="296"/>
                  <a:pt x="576" y="320"/>
                  <a:pt x="384" y="288"/>
                </a:cubicBezTo>
                <a:cubicBezTo>
                  <a:pt x="192" y="256"/>
                  <a:pt x="96" y="176"/>
                  <a:pt x="0" y="96"/>
                </a:cubicBezTo>
              </a:path>
            </a:pathLst>
          </a:custGeom>
          <a:noFill/>
          <a:ln w="12700" cmpd="sng">
            <a:solidFill>
              <a:srgbClr val="996633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30" name="Freeform 30"/>
          <p:cNvSpPr/>
          <p:nvPr/>
        </p:nvSpPr>
        <p:spPr bwMode="auto">
          <a:xfrm>
            <a:off x="4859338" y="5013325"/>
            <a:ext cx="3429000" cy="355600"/>
          </a:xfrm>
          <a:custGeom>
            <a:avLst/>
            <a:gdLst>
              <a:gd name="T0" fmla="*/ 0 w 2160"/>
              <a:gd name="T1" fmla="*/ 0 h 224"/>
              <a:gd name="T2" fmla="*/ 838200 w 2160"/>
              <a:gd name="T3" fmla="*/ 304800 h 224"/>
              <a:gd name="T4" fmla="*/ 2438400 w 2160"/>
              <a:gd name="T5" fmla="*/ 304800 h 224"/>
              <a:gd name="T6" fmla="*/ 3429000 w 2160"/>
              <a:gd name="T7" fmla="*/ 76200 h 2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" h="224">
                <a:moveTo>
                  <a:pt x="0" y="0"/>
                </a:moveTo>
                <a:cubicBezTo>
                  <a:pt x="136" y="80"/>
                  <a:pt x="272" y="160"/>
                  <a:pt x="528" y="192"/>
                </a:cubicBezTo>
                <a:cubicBezTo>
                  <a:pt x="784" y="224"/>
                  <a:pt x="1264" y="216"/>
                  <a:pt x="1536" y="192"/>
                </a:cubicBezTo>
                <a:cubicBezTo>
                  <a:pt x="1808" y="168"/>
                  <a:pt x="1984" y="108"/>
                  <a:pt x="2160" y="48"/>
                </a:cubicBezTo>
              </a:path>
            </a:pathLst>
          </a:custGeom>
          <a:noFill/>
          <a:ln w="12700" cmpd="sng">
            <a:solidFill>
              <a:srgbClr val="996633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31" name="AutoShape 31"/>
          <p:cNvSpPr>
            <a:spLocks noChangeArrowheads="1"/>
          </p:cNvSpPr>
          <p:nvPr/>
        </p:nvSpPr>
        <p:spPr bwMode="auto">
          <a:xfrm flipV="1">
            <a:off x="2286000" y="5334000"/>
            <a:ext cx="914400" cy="457200"/>
          </a:xfrm>
          <a:prstGeom prst="wedgeRoundRectCallout">
            <a:avLst>
              <a:gd name="adj1" fmla="val -31426"/>
              <a:gd name="adj2" fmla="val 13298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25632" name="Text Box 32"/>
          <p:cNvSpPr txBox="1">
            <a:spLocks noChangeArrowheads="1"/>
          </p:cNvSpPr>
          <p:nvPr/>
        </p:nvSpPr>
        <p:spPr bwMode="auto">
          <a:xfrm>
            <a:off x="2286000" y="533400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指针</a:t>
            </a:r>
            <a:endParaRPr kumimoji="1"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5633" name="Oval 33"/>
          <p:cNvSpPr>
            <a:spLocks noChangeArrowheads="1"/>
          </p:cNvSpPr>
          <p:nvPr/>
        </p:nvSpPr>
        <p:spPr bwMode="auto">
          <a:xfrm>
            <a:off x="1849438" y="4652963"/>
            <a:ext cx="1066800" cy="4572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34" name="Oval 34"/>
          <p:cNvSpPr>
            <a:spLocks noChangeArrowheads="1"/>
          </p:cNvSpPr>
          <p:nvPr/>
        </p:nvSpPr>
        <p:spPr bwMode="auto">
          <a:xfrm>
            <a:off x="4211638" y="4648200"/>
            <a:ext cx="1066800" cy="4572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35" name="Oval 35"/>
          <p:cNvSpPr>
            <a:spLocks noChangeArrowheads="1"/>
          </p:cNvSpPr>
          <p:nvPr/>
        </p:nvSpPr>
        <p:spPr bwMode="auto">
          <a:xfrm>
            <a:off x="6173788" y="4627563"/>
            <a:ext cx="990600" cy="4572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36" name="AutoShape 36"/>
          <p:cNvSpPr>
            <a:spLocks noChangeArrowheads="1"/>
          </p:cNvSpPr>
          <p:nvPr/>
        </p:nvSpPr>
        <p:spPr bwMode="auto">
          <a:xfrm flipH="1" flipV="1">
            <a:off x="914400" y="5257800"/>
            <a:ext cx="990600" cy="457200"/>
          </a:xfrm>
          <a:prstGeom prst="wedgeRoundRectCallout">
            <a:avLst>
              <a:gd name="adj1" fmla="val -45356"/>
              <a:gd name="adj2" fmla="val 8680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25637" name="Text Box 37"/>
          <p:cNvSpPr txBox="1">
            <a:spLocks noChangeArrowheads="1"/>
          </p:cNvSpPr>
          <p:nvPr/>
        </p:nvSpPr>
        <p:spPr bwMode="auto">
          <a:xfrm>
            <a:off x="990600" y="52578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结点</a:t>
            </a:r>
            <a:endParaRPr kumimoji="1"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5638" name="Oval 38"/>
          <p:cNvSpPr>
            <a:spLocks noChangeArrowheads="1"/>
          </p:cNvSpPr>
          <p:nvPr/>
        </p:nvSpPr>
        <p:spPr bwMode="auto">
          <a:xfrm>
            <a:off x="2514600" y="2209800"/>
            <a:ext cx="533400" cy="5334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39" name="Oval 40"/>
          <p:cNvSpPr>
            <a:spLocks noChangeArrowheads="1"/>
          </p:cNvSpPr>
          <p:nvPr/>
        </p:nvSpPr>
        <p:spPr bwMode="auto">
          <a:xfrm>
            <a:off x="3048000" y="2209800"/>
            <a:ext cx="533400" cy="5334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40" name="Oval 41"/>
          <p:cNvSpPr>
            <a:spLocks noChangeArrowheads="1"/>
          </p:cNvSpPr>
          <p:nvPr/>
        </p:nvSpPr>
        <p:spPr bwMode="auto">
          <a:xfrm>
            <a:off x="4724400" y="2209800"/>
            <a:ext cx="533400" cy="5334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5641" name="Oval 42"/>
          <p:cNvSpPr>
            <a:spLocks noChangeArrowheads="1"/>
          </p:cNvSpPr>
          <p:nvPr/>
        </p:nvSpPr>
        <p:spPr bwMode="auto">
          <a:xfrm>
            <a:off x="6019800" y="2209800"/>
            <a:ext cx="533400" cy="5334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42" name="AutoShape 43"/>
          <p:cNvSpPr>
            <a:spLocks noChangeArrowheads="1"/>
          </p:cNvSpPr>
          <p:nvPr/>
        </p:nvSpPr>
        <p:spPr bwMode="auto">
          <a:xfrm>
            <a:off x="6400800" y="1752600"/>
            <a:ext cx="914400" cy="457200"/>
          </a:xfrm>
          <a:prstGeom prst="wedgeRoundRectCallout">
            <a:avLst>
              <a:gd name="adj1" fmla="val -33157"/>
              <a:gd name="adj2" fmla="val 9270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25643" name="Text Box 45"/>
          <p:cNvSpPr txBox="1">
            <a:spLocks noChangeArrowheads="1"/>
          </p:cNvSpPr>
          <p:nvPr/>
        </p:nvSpPr>
        <p:spPr bwMode="auto">
          <a:xfrm>
            <a:off x="6400800" y="17526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结点</a:t>
            </a:r>
            <a:endParaRPr kumimoji="1"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052513"/>
            <a:ext cx="7772400" cy="5562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(3)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索引存储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：将数据元素分为若干子表，子表的开始位置存放在索引表中。</a:t>
            </a:r>
            <a:endParaRPr lang="zh-CN" altLang="en-US" sz="28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solidFill>
                  <a:schemeClr val="accent2"/>
                </a:solidFill>
                <a:ea typeface="宋体" panose="02010600030101010101" pitchFamily="2" charset="-122"/>
              </a:rPr>
              <a:t>      </a:t>
            </a:r>
            <a:r>
              <a:rPr lang="zh-CN" alt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索引表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班级  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addr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</a:t>
            </a:r>
            <a:r>
              <a:rPr lang="zh-CN" alt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主表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01       1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02       31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03       54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……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(4)</a:t>
            </a: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散列存储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：根据数据元素的关键字值，由散列函数计算出存储地址。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LOC(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400" baseline="-25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)=H(key)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                   ……  </a:t>
            </a:r>
            <a:r>
              <a:rPr lang="en-US" altLang="zh-CN" sz="24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432</a:t>
            </a:r>
            <a:r>
              <a:rPr lang="en-US" altLang="zh-CN" sz="2400" dirty="0" smtClean="0">
                <a:ea typeface="宋体" panose="02010600030101010101" pitchFamily="2" charset="-122"/>
              </a:rPr>
              <a:t>       ……     </a:t>
            </a:r>
            <a:r>
              <a:rPr lang="en-US" altLang="zh-CN" sz="24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713</a:t>
            </a:r>
            <a:r>
              <a:rPr lang="en-US" altLang="zh-CN" sz="2400" dirty="0" smtClean="0">
                <a:ea typeface="宋体" panose="02010600030101010101" pitchFamily="2" charset="-122"/>
              </a:rPr>
              <a:t>       ……</a:t>
            </a:r>
            <a:endParaRPr lang="en-US" altLang="zh-CN" sz="2800" dirty="0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                  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王小二</a:t>
            </a:r>
            <a:r>
              <a:rPr lang="zh-CN" altLang="en-US" dirty="0" smtClean="0">
                <a:ea typeface="华文楷体" panose="02010600040101010101" pitchFamily="2" charset="-122"/>
              </a:rPr>
              <a:t>  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李一凡</a:t>
            </a:r>
            <a:endParaRPr lang="zh-CN" altLang="en-US" sz="2400" dirty="0" smtClean="0">
              <a:ea typeface="华文楷体" panose="02010600040101010101" pitchFamily="2" charset="-122"/>
            </a:endParaRPr>
          </a:p>
        </p:txBody>
      </p:sp>
      <p:sp>
        <p:nvSpPr>
          <p:cNvPr id="2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2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7E46943-6834-4A1B-BF37-C141F4561EAE}" type="slidenum">
              <a:rPr lang="en-US" altLang="zh-CN"/>
            </a:fld>
            <a:endParaRPr lang="en-US" altLang="zh-CN"/>
          </a:p>
        </p:txBody>
      </p:sp>
      <p:sp>
        <p:nvSpPr>
          <p:cNvPr id="2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26630" name="Line 4"/>
          <p:cNvSpPr>
            <a:spLocks noChangeShapeType="1"/>
          </p:cNvSpPr>
          <p:nvPr/>
        </p:nvSpPr>
        <p:spPr bwMode="auto">
          <a:xfrm>
            <a:off x="2362200" y="19050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6631" name="Line 5"/>
          <p:cNvSpPr>
            <a:spLocks noChangeShapeType="1"/>
          </p:cNvSpPr>
          <p:nvPr/>
        </p:nvSpPr>
        <p:spPr bwMode="auto">
          <a:xfrm>
            <a:off x="2362200" y="19050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6632" name="Line 6"/>
          <p:cNvSpPr>
            <a:spLocks noChangeShapeType="1"/>
          </p:cNvSpPr>
          <p:nvPr/>
        </p:nvSpPr>
        <p:spPr bwMode="auto">
          <a:xfrm>
            <a:off x="3886200" y="190500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6633" name="Line 7"/>
          <p:cNvSpPr>
            <a:spLocks noChangeShapeType="1"/>
          </p:cNvSpPr>
          <p:nvPr/>
        </p:nvSpPr>
        <p:spPr bwMode="auto">
          <a:xfrm>
            <a:off x="2362200" y="23622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6634" name="Line 8"/>
          <p:cNvSpPr>
            <a:spLocks noChangeShapeType="1"/>
          </p:cNvSpPr>
          <p:nvPr/>
        </p:nvSpPr>
        <p:spPr bwMode="auto">
          <a:xfrm>
            <a:off x="2362200" y="28194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6635" name="Line 9"/>
          <p:cNvSpPr>
            <a:spLocks noChangeShapeType="1"/>
          </p:cNvSpPr>
          <p:nvPr/>
        </p:nvSpPr>
        <p:spPr bwMode="auto">
          <a:xfrm>
            <a:off x="2362200" y="32766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6636" name="Line 10"/>
          <p:cNvSpPr>
            <a:spLocks noChangeShapeType="1"/>
          </p:cNvSpPr>
          <p:nvPr/>
        </p:nvSpPr>
        <p:spPr bwMode="auto">
          <a:xfrm>
            <a:off x="3124200" y="19050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6637" name="Rectangle 11"/>
          <p:cNvSpPr>
            <a:spLocks noChangeArrowheads="1"/>
          </p:cNvSpPr>
          <p:nvPr/>
        </p:nvSpPr>
        <p:spPr bwMode="auto">
          <a:xfrm>
            <a:off x="6324600" y="1412875"/>
            <a:ext cx="1066800" cy="2895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6638" name="Text Box 12"/>
          <p:cNvSpPr txBox="1">
            <a:spLocks noChangeArrowheads="1"/>
          </p:cNvSpPr>
          <p:nvPr/>
        </p:nvSpPr>
        <p:spPr bwMode="auto">
          <a:xfrm>
            <a:off x="5943600" y="1341438"/>
            <a:ext cx="1524000" cy="22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latin typeface="Times New Roman" panose="02020603050405020304" pitchFamily="18" charset="0"/>
              </a:rPr>
              <a:t>1       a1</a:t>
            </a:r>
            <a:endParaRPr kumimoji="1" lang="en-US" altLang="zh-CN" sz="20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latin typeface="Times New Roman" panose="02020603050405020304" pitchFamily="18" charset="0"/>
              </a:rPr>
              <a:t>2       a2</a:t>
            </a:r>
            <a:endParaRPr kumimoji="1" lang="en-US" altLang="zh-CN" sz="20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latin typeface="Times New Roman" panose="02020603050405020304" pitchFamily="18" charset="0"/>
              </a:rPr>
              <a:t>       ……</a:t>
            </a:r>
            <a:endParaRPr kumimoji="1" lang="en-US" altLang="zh-CN" sz="20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latin typeface="Times New Roman" panose="02020603050405020304" pitchFamily="18" charset="0"/>
              </a:rPr>
              <a:t>31    a31</a:t>
            </a:r>
            <a:endParaRPr kumimoji="1" lang="en-US" altLang="zh-CN" sz="20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latin typeface="Times New Roman" panose="02020603050405020304" pitchFamily="18" charset="0"/>
              </a:rPr>
              <a:t>      ……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26639" name="Line 13"/>
          <p:cNvSpPr>
            <a:spLocks noChangeShapeType="1"/>
          </p:cNvSpPr>
          <p:nvPr/>
        </p:nvSpPr>
        <p:spPr bwMode="auto">
          <a:xfrm>
            <a:off x="6324600" y="3141663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6640" name="Line 14"/>
          <p:cNvSpPr>
            <a:spLocks noChangeShapeType="1"/>
          </p:cNvSpPr>
          <p:nvPr/>
        </p:nvSpPr>
        <p:spPr bwMode="auto">
          <a:xfrm>
            <a:off x="6324600" y="1828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6641" name="Line 15"/>
          <p:cNvSpPr>
            <a:spLocks noChangeShapeType="1"/>
          </p:cNvSpPr>
          <p:nvPr/>
        </p:nvSpPr>
        <p:spPr bwMode="auto">
          <a:xfrm>
            <a:off x="6324600" y="2362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6642" name="Line 16"/>
          <p:cNvSpPr>
            <a:spLocks noChangeShapeType="1"/>
          </p:cNvSpPr>
          <p:nvPr/>
        </p:nvSpPr>
        <p:spPr bwMode="auto">
          <a:xfrm>
            <a:off x="6324600" y="2743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6643" name="Rectangle 17"/>
          <p:cNvSpPr>
            <a:spLocks noChangeArrowheads="1"/>
          </p:cNvSpPr>
          <p:nvPr/>
        </p:nvSpPr>
        <p:spPr bwMode="auto">
          <a:xfrm>
            <a:off x="1905000" y="5410200"/>
            <a:ext cx="5105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6644" name="Line 18"/>
          <p:cNvSpPr>
            <a:spLocks noChangeShapeType="1"/>
          </p:cNvSpPr>
          <p:nvPr/>
        </p:nvSpPr>
        <p:spPr bwMode="auto">
          <a:xfrm>
            <a:off x="2971800" y="5410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6645" name="Line 19"/>
          <p:cNvSpPr>
            <a:spLocks noChangeShapeType="1"/>
          </p:cNvSpPr>
          <p:nvPr/>
        </p:nvSpPr>
        <p:spPr bwMode="auto">
          <a:xfrm>
            <a:off x="3886200" y="5410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6646" name="Line 20"/>
          <p:cNvSpPr>
            <a:spLocks noChangeShapeType="1"/>
          </p:cNvSpPr>
          <p:nvPr/>
        </p:nvSpPr>
        <p:spPr bwMode="auto">
          <a:xfrm>
            <a:off x="4953000" y="5410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6647" name="Line 21"/>
          <p:cNvSpPr>
            <a:spLocks noChangeShapeType="1"/>
          </p:cNvSpPr>
          <p:nvPr/>
        </p:nvSpPr>
        <p:spPr bwMode="auto">
          <a:xfrm>
            <a:off x="5867400" y="5410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6648" name="Line 22"/>
          <p:cNvSpPr>
            <a:spLocks noChangeShapeType="1"/>
          </p:cNvSpPr>
          <p:nvPr/>
        </p:nvSpPr>
        <p:spPr bwMode="auto">
          <a:xfrm flipV="1">
            <a:off x="3708400" y="1628775"/>
            <a:ext cx="2592388" cy="90963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lg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6649" name="Line 23"/>
          <p:cNvSpPr>
            <a:spLocks noChangeShapeType="1"/>
          </p:cNvSpPr>
          <p:nvPr/>
        </p:nvSpPr>
        <p:spPr bwMode="auto">
          <a:xfrm flipV="1">
            <a:off x="3779838" y="2924175"/>
            <a:ext cx="2133600" cy="762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lg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26650" name="Line 24"/>
          <p:cNvSpPr>
            <a:spLocks noChangeShapeType="1"/>
          </p:cNvSpPr>
          <p:nvPr/>
        </p:nvSpPr>
        <p:spPr bwMode="auto">
          <a:xfrm>
            <a:off x="3851275" y="3429000"/>
            <a:ext cx="2438400" cy="3810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lg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188913"/>
            <a:ext cx="7772400" cy="685800"/>
          </a:xfrm>
        </p:spPr>
        <p:txBody>
          <a:bodyPr/>
          <a:lstStyle/>
          <a:p>
            <a:pPr algn="l" eaLnBrk="1" hangingPunct="1"/>
            <a:r>
              <a:rPr lang="en-US" altLang="zh-CN" sz="28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1.6  </a:t>
            </a:r>
            <a:r>
              <a:rPr lang="zh-CN" altLang="en-US" sz="2800" b="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算法的基本概念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765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219200"/>
            <a:ext cx="7772400" cy="4648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算法的概念</a:t>
            </a:r>
            <a:endParaRPr lang="zh-CN" altLang="en-US" sz="2400" b="1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建立在数据结构基础上的、求解问题的一系列确切的步骤。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996633"/>
                </a:solidFill>
                <a:ea typeface="华文楷体" panose="02010600040101010101" pitchFamily="2" charset="-122"/>
              </a:rPr>
              <a:t>一个算法必须满足以下五个重要特性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有穷性：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对任何合法输入执行有穷步后能结束。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确定性：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每条指令必须有确切的含义。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可行性：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算法的每一条指令均能执行。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输入：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有零个或多个输入。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输出：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有一个或多个输出。</a:t>
            </a:r>
            <a:endParaRPr lang="zh-CN" altLang="en-US" sz="2400" dirty="0" smtClean="0"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BE8F5F-9108-4088-B8E7-2E527BD569F4}" type="slidenum">
              <a:rPr lang="en-US" altLang="zh-CN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算法设计方法</a:t>
            </a:r>
            <a:endParaRPr lang="zh-CN" altLang="zh-CN" sz="28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D4E6AE1-7C1E-409F-8508-E312E9B1F240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61443" name="Rectangle 3"/>
          <p:cNvSpPr>
            <a:spLocks noChangeArrowheads="1"/>
          </p:cNvSpPr>
          <p:nvPr/>
        </p:nvSpPr>
        <p:spPr bwMode="auto">
          <a:xfrm>
            <a:off x="609600" y="1906588"/>
            <a:ext cx="85344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3731" tIns="56866" rIns="113731" bIns="56866"/>
          <a:lstStyle>
            <a:lvl1pPr marL="424180" indent="-424180" defTabSz="112903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12903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12903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12903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12903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12903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12903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12903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12903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zh-CN" altLang="en-US" sz="2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事例学习：</a:t>
            </a:r>
            <a:r>
              <a:rPr lang="zh-CN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选择排序问题</a:t>
            </a:r>
            <a:endParaRPr lang="zh-CN" altLang="en-US" sz="2400" b="1" dirty="0" smtClean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defRPr/>
            </a:pPr>
            <a:r>
              <a:rPr lang="zh-CN" altLang="en-US" sz="2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明确问题：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非递减排序</a:t>
            </a:r>
            <a:endParaRPr lang="zh-CN" altLang="en-US" sz="24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defRPr/>
            </a:pPr>
            <a:r>
              <a:rPr lang="zh-CN" altLang="en-US" sz="2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解决方案：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逐个选择最小数据</a:t>
            </a:r>
            <a:endParaRPr lang="zh-CN" altLang="en-US" sz="24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defRPr/>
            </a:pPr>
            <a:r>
              <a:rPr lang="zh-CN" altLang="en-US" sz="2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算法框架：</a:t>
            </a:r>
            <a:b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</a:b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for ( </a:t>
            </a:r>
            <a:r>
              <a:rPr lang="en-US" altLang="zh-CN" sz="2400" b="1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400" b="1" i="1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=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0;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400" b="1" i="1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&lt;n-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1;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400" b="1" i="1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++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 ) {    //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-1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趟</a:t>
            </a:r>
            <a:b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</a:b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      	从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en-US" altLang="zh-CN" sz="2400" b="1" i="1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检查到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n-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1];</a:t>
            </a:r>
            <a:b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</a:b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若最小的整数在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], 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交换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en-US" altLang="zh-CN" sz="2400" b="1" i="1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与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en-US" altLang="zh-CN" sz="2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];</a:t>
            </a:r>
            <a:b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</a:b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 }</a:t>
            </a:r>
            <a:endParaRPr lang="en-US" altLang="zh-CN" sz="24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defRPr/>
            </a:pPr>
            <a:r>
              <a:rPr lang="zh-CN" altLang="en-US" sz="2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细化程序：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程序 </a:t>
            </a:r>
            <a:r>
              <a:rPr lang="en-US" altLang="en-US" sz="2400" b="1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SelectSort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</a:t>
            </a:r>
            <a:r>
              <a:rPr lang="en-US" altLang="zh-CN" sz="2400" dirty="0" smtClean="0">
                <a:latin typeface="华文楷体" panose="02010600040101010101" pitchFamily="2" charset="-122"/>
              </a:rPr>
              <a:t>   </a:t>
            </a:r>
            <a:endParaRPr lang="en-US" altLang="zh-CN" sz="2400" dirty="0" smtClean="0">
              <a:latin typeface="华文楷体" panose="02010600040101010101" pitchFamily="2" charset="-122"/>
            </a:endParaRPr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596900" y="1231900"/>
            <a:ext cx="3305866" cy="48338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2947" tIns="56473" rIns="112947" bIns="56473">
            <a:spAutoFit/>
          </a:bodyPr>
          <a:lstStyle>
            <a:lvl1pPr defTabSz="11290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290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290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290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290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290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290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290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290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自顶向下，逐步求精    </a:t>
            </a:r>
            <a:endParaRPr lang="zh-CN" altLang="en-US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算法性能度量</a:t>
            </a: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93E016-BC4B-445C-A931-35CB0B2C41E5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29702" name="Rectangle 2"/>
          <p:cNvSpPr>
            <a:spLocks noChangeArrowheads="1"/>
          </p:cNvSpPr>
          <p:nvPr/>
        </p:nvSpPr>
        <p:spPr bwMode="auto">
          <a:xfrm>
            <a:off x="107950" y="1146175"/>
            <a:ext cx="39909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3731" tIns="56866" rIns="113731" bIns="56866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3200" b="1" dirty="0">
              <a:latin typeface="华文楷体" panose="02010600040101010101" pitchFamily="2" charset="-122"/>
              <a:ea typeface="黑体" panose="02010609060101010101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67544" y="2001470"/>
            <a:ext cx="5286633" cy="703003"/>
            <a:chOff x="6153786" y="2180797"/>
            <a:chExt cx="5286633" cy="703003"/>
          </a:xfrm>
        </p:grpSpPr>
        <p:grpSp>
          <p:nvGrpSpPr>
            <p:cNvPr id="11" name="íṡľíḑè"/>
            <p:cNvGrpSpPr/>
            <p:nvPr/>
          </p:nvGrpSpPr>
          <p:grpSpPr>
            <a:xfrm>
              <a:off x="6153786" y="2294290"/>
              <a:ext cx="589510" cy="589510"/>
              <a:chOff x="7553961" y="1784207"/>
              <a:chExt cx="589510" cy="589510"/>
            </a:xfrm>
            <a:effectLst>
              <a:outerShdw blurRad="50800" dist="76200" dir="5400000" algn="ctr" rotWithShape="0">
                <a:srgbClr val="000000">
                  <a:alpha val="43137"/>
                </a:srgbClr>
              </a:outerShdw>
            </a:effectLst>
          </p:grpSpPr>
          <p:sp>
            <p:nvSpPr>
              <p:cNvPr id="15" name="PA-isľîḋè"/>
              <p:cNvSpPr/>
              <p:nvPr>
                <p:custDataLst>
                  <p:tags r:id="rId1"/>
                </p:custDataLst>
              </p:nvPr>
            </p:nvSpPr>
            <p:spPr>
              <a:xfrm>
                <a:off x="7553961" y="1784207"/>
                <a:ext cx="589510" cy="589510"/>
              </a:xfrm>
              <a:prstGeom prst="ellipse">
                <a:avLst/>
              </a:prstGeom>
              <a:solidFill>
                <a:srgbClr val="187C86"/>
              </a:solidFill>
              <a:ln w="2222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PA-íŝľidê"/>
              <p:cNvSpPr/>
              <p:nvPr>
                <p:custDataLst>
                  <p:tags r:id="rId2"/>
                </p:custDataLst>
              </p:nvPr>
            </p:nvSpPr>
            <p:spPr bwMode="auto">
              <a:xfrm>
                <a:off x="7686915" y="1901547"/>
                <a:ext cx="323603" cy="354830"/>
              </a:xfrm>
              <a:custGeom>
                <a:avLst/>
                <a:gdLst>
                  <a:gd name="connsiteX0" fmla="*/ 257952 w 552598"/>
                  <a:gd name="connsiteY0" fmla="*/ 238897 h 605921"/>
                  <a:gd name="connsiteX1" fmla="*/ 252845 w 552598"/>
                  <a:gd name="connsiteY1" fmla="*/ 243996 h 605921"/>
                  <a:gd name="connsiteX2" fmla="*/ 252845 w 552598"/>
                  <a:gd name="connsiteY2" fmla="*/ 308986 h 605921"/>
                  <a:gd name="connsiteX3" fmla="*/ 228056 w 552598"/>
                  <a:gd name="connsiteY3" fmla="*/ 308986 h 605921"/>
                  <a:gd name="connsiteX4" fmla="*/ 225642 w 552598"/>
                  <a:gd name="connsiteY4" fmla="*/ 314085 h 605921"/>
                  <a:gd name="connsiteX5" fmla="*/ 273271 w 552598"/>
                  <a:gd name="connsiteY5" fmla="*/ 372123 h 605921"/>
                  <a:gd name="connsiteX6" fmla="*/ 279306 w 552598"/>
                  <a:gd name="connsiteY6" fmla="*/ 372123 h 605921"/>
                  <a:gd name="connsiteX7" fmla="*/ 327027 w 552598"/>
                  <a:gd name="connsiteY7" fmla="*/ 314085 h 605921"/>
                  <a:gd name="connsiteX8" fmla="*/ 324520 w 552598"/>
                  <a:gd name="connsiteY8" fmla="*/ 308986 h 605921"/>
                  <a:gd name="connsiteX9" fmla="*/ 299731 w 552598"/>
                  <a:gd name="connsiteY9" fmla="*/ 308986 h 605921"/>
                  <a:gd name="connsiteX10" fmla="*/ 299731 w 552598"/>
                  <a:gd name="connsiteY10" fmla="*/ 243996 h 605921"/>
                  <a:gd name="connsiteX11" fmla="*/ 294718 w 552598"/>
                  <a:gd name="connsiteY11" fmla="*/ 238897 h 605921"/>
                  <a:gd name="connsiteX12" fmla="*/ 260737 w 552598"/>
                  <a:gd name="connsiteY12" fmla="*/ 130146 h 605921"/>
                  <a:gd name="connsiteX13" fmla="*/ 291932 w 552598"/>
                  <a:gd name="connsiteY13" fmla="*/ 130146 h 605921"/>
                  <a:gd name="connsiteX14" fmla="*/ 303445 w 552598"/>
                  <a:gd name="connsiteY14" fmla="*/ 141642 h 605921"/>
                  <a:gd name="connsiteX15" fmla="*/ 303445 w 552598"/>
                  <a:gd name="connsiteY15" fmla="*/ 167602 h 605921"/>
                  <a:gd name="connsiteX16" fmla="*/ 353580 w 552598"/>
                  <a:gd name="connsiteY16" fmla="*/ 188369 h 605921"/>
                  <a:gd name="connsiteX17" fmla="*/ 371963 w 552598"/>
                  <a:gd name="connsiteY17" fmla="*/ 170012 h 605921"/>
                  <a:gd name="connsiteX18" fmla="*/ 388118 w 552598"/>
                  <a:gd name="connsiteY18" fmla="*/ 170012 h 605921"/>
                  <a:gd name="connsiteX19" fmla="*/ 410215 w 552598"/>
                  <a:gd name="connsiteY19" fmla="*/ 192077 h 605921"/>
                  <a:gd name="connsiteX20" fmla="*/ 410215 w 552598"/>
                  <a:gd name="connsiteY20" fmla="*/ 208209 h 605921"/>
                  <a:gd name="connsiteX21" fmla="*/ 391832 w 552598"/>
                  <a:gd name="connsiteY21" fmla="*/ 226566 h 605921"/>
                  <a:gd name="connsiteX22" fmla="*/ 412628 w 552598"/>
                  <a:gd name="connsiteY22" fmla="*/ 276630 h 605921"/>
                  <a:gd name="connsiteX23" fmla="*/ 438625 w 552598"/>
                  <a:gd name="connsiteY23" fmla="*/ 276630 h 605921"/>
                  <a:gd name="connsiteX24" fmla="*/ 450137 w 552598"/>
                  <a:gd name="connsiteY24" fmla="*/ 288126 h 605921"/>
                  <a:gd name="connsiteX25" fmla="*/ 450137 w 552598"/>
                  <a:gd name="connsiteY25" fmla="*/ 319277 h 605921"/>
                  <a:gd name="connsiteX26" fmla="*/ 438625 w 552598"/>
                  <a:gd name="connsiteY26" fmla="*/ 330773 h 605921"/>
                  <a:gd name="connsiteX27" fmla="*/ 412628 w 552598"/>
                  <a:gd name="connsiteY27" fmla="*/ 330773 h 605921"/>
                  <a:gd name="connsiteX28" fmla="*/ 391832 w 552598"/>
                  <a:gd name="connsiteY28" fmla="*/ 380838 h 605921"/>
                  <a:gd name="connsiteX29" fmla="*/ 410215 w 552598"/>
                  <a:gd name="connsiteY29" fmla="*/ 399102 h 605921"/>
                  <a:gd name="connsiteX30" fmla="*/ 410215 w 552598"/>
                  <a:gd name="connsiteY30" fmla="*/ 415326 h 605921"/>
                  <a:gd name="connsiteX31" fmla="*/ 388118 w 552598"/>
                  <a:gd name="connsiteY31" fmla="*/ 437299 h 605921"/>
                  <a:gd name="connsiteX32" fmla="*/ 371963 w 552598"/>
                  <a:gd name="connsiteY32" fmla="*/ 437299 h 605921"/>
                  <a:gd name="connsiteX33" fmla="*/ 353580 w 552598"/>
                  <a:gd name="connsiteY33" fmla="*/ 419035 h 605921"/>
                  <a:gd name="connsiteX34" fmla="*/ 303445 w 552598"/>
                  <a:gd name="connsiteY34" fmla="*/ 439802 h 605921"/>
                  <a:gd name="connsiteX35" fmla="*/ 303445 w 552598"/>
                  <a:gd name="connsiteY35" fmla="*/ 465761 h 605921"/>
                  <a:gd name="connsiteX36" fmla="*/ 291932 w 552598"/>
                  <a:gd name="connsiteY36" fmla="*/ 477257 h 605921"/>
                  <a:gd name="connsiteX37" fmla="*/ 260737 w 552598"/>
                  <a:gd name="connsiteY37" fmla="*/ 477257 h 605921"/>
                  <a:gd name="connsiteX38" fmla="*/ 249224 w 552598"/>
                  <a:gd name="connsiteY38" fmla="*/ 465761 h 605921"/>
                  <a:gd name="connsiteX39" fmla="*/ 249224 w 552598"/>
                  <a:gd name="connsiteY39" fmla="*/ 439802 h 605921"/>
                  <a:gd name="connsiteX40" fmla="*/ 199089 w 552598"/>
                  <a:gd name="connsiteY40" fmla="*/ 419035 h 605921"/>
                  <a:gd name="connsiteX41" fmla="*/ 180799 w 552598"/>
                  <a:gd name="connsiteY41" fmla="*/ 437299 h 605921"/>
                  <a:gd name="connsiteX42" fmla="*/ 164551 w 552598"/>
                  <a:gd name="connsiteY42" fmla="*/ 437299 h 605921"/>
                  <a:gd name="connsiteX43" fmla="*/ 142547 w 552598"/>
                  <a:gd name="connsiteY43" fmla="*/ 415326 h 605921"/>
                  <a:gd name="connsiteX44" fmla="*/ 142547 w 552598"/>
                  <a:gd name="connsiteY44" fmla="*/ 399102 h 605921"/>
                  <a:gd name="connsiteX45" fmla="*/ 160837 w 552598"/>
                  <a:gd name="connsiteY45" fmla="*/ 380838 h 605921"/>
                  <a:gd name="connsiteX46" fmla="*/ 140041 w 552598"/>
                  <a:gd name="connsiteY46" fmla="*/ 330773 h 605921"/>
                  <a:gd name="connsiteX47" fmla="*/ 114044 w 552598"/>
                  <a:gd name="connsiteY47" fmla="*/ 330773 h 605921"/>
                  <a:gd name="connsiteX48" fmla="*/ 102532 w 552598"/>
                  <a:gd name="connsiteY48" fmla="*/ 319277 h 605921"/>
                  <a:gd name="connsiteX49" fmla="*/ 102532 w 552598"/>
                  <a:gd name="connsiteY49" fmla="*/ 288126 h 605921"/>
                  <a:gd name="connsiteX50" fmla="*/ 114044 w 552598"/>
                  <a:gd name="connsiteY50" fmla="*/ 276630 h 605921"/>
                  <a:gd name="connsiteX51" fmla="*/ 140041 w 552598"/>
                  <a:gd name="connsiteY51" fmla="*/ 276630 h 605921"/>
                  <a:gd name="connsiteX52" fmla="*/ 160837 w 552598"/>
                  <a:gd name="connsiteY52" fmla="*/ 226566 h 605921"/>
                  <a:gd name="connsiteX53" fmla="*/ 142547 w 552598"/>
                  <a:gd name="connsiteY53" fmla="*/ 208209 h 605921"/>
                  <a:gd name="connsiteX54" fmla="*/ 142547 w 552598"/>
                  <a:gd name="connsiteY54" fmla="*/ 192077 h 605921"/>
                  <a:gd name="connsiteX55" fmla="*/ 164551 w 552598"/>
                  <a:gd name="connsiteY55" fmla="*/ 170012 h 605921"/>
                  <a:gd name="connsiteX56" fmla="*/ 180799 w 552598"/>
                  <a:gd name="connsiteY56" fmla="*/ 170012 h 605921"/>
                  <a:gd name="connsiteX57" fmla="*/ 199089 w 552598"/>
                  <a:gd name="connsiteY57" fmla="*/ 188369 h 605921"/>
                  <a:gd name="connsiteX58" fmla="*/ 249224 w 552598"/>
                  <a:gd name="connsiteY58" fmla="*/ 167602 h 605921"/>
                  <a:gd name="connsiteX59" fmla="*/ 249224 w 552598"/>
                  <a:gd name="connsiteY59" fmla="*/ 141642 h 605921"/>
                  <a:gd name="connsiteX60" fmla="*/ 260737 w 552598"/>
                  <a:gd name="connsiteY60" fmla="*/ 130146 h 605921"/>
                  <a:gd name="connsiteX61" fmla="*/ 438507 w 552598"/>
                  <a:gd name="connsiteY61" fmla="*/ 79551 h 605921"/>
                  <a:gd name="connsiteX62" fmla="*/ 552598 w 552598"/>
                  <a:gd name="connsiteY62" fmla="*/ 302952 h 605921"/>
                  <a:gd name="connsiteX63" fmla="*/ 276329 w 552598"/>
                  <a:gd name="connsiteY63" fmla="*/ 578821 h 605921"/>
                  <a:gd name="connsiteX64" fmla="*/ 276329 w 552598"/>
                  <a:gd name="connsiteY64" fmla="*/ 602737 h 605921"/>
                  <a:gd name="connsiteX65" fmla="*/ 271316 w 552598"/>
                  <a:gd name="connsiteY65" fmla="*/ 605332 h 605921"/>
                  <a:gd name="connsiteX66" fmla="*/ 206426 w 552598"/>
                  <a:gd name="connsiteY66" fmla="*/ 560837 h 605921"/>
                  <a:gd name="connsiteX67" fmla="*/ 206426 w 552598"/>
                  <a:gd name="connsiteY67" fmla="*/ 555553 h 605921"/>
                  <a:gd name="connsiteX68" fmla="*/ 271316 w 552598"/>
                  <a:gd name="connsiteY68" fmla="*/ 511059 h 605921"/>
                  <a:gd name="connsiteX69" fmla="*/ 276329 w 552598"/>
                  <a:gd name="connsiteY69" fmla="*/ 513654 h 605921"/>
                  <a:gd name="connsiteX70" fmla="*/ 276329 w 552598"/>
                  <a:gd name="connsiteY70" fmla="*/ 537663 h 605921"/>
                  <a:gd name="connsiteX71" fmla="*/ 511381 w 552598"/>
                  <a:gd name="connsiteY71" fmla="*/ 302952 h 605921"/>
                  <a:gd name="connsiteX72" fmla="*/ 414278 w 552598"/>
                  <a:gd name="connsiteY72" fmla="*/ 112830 h 605921"/>
                  <a:gd name="connsiteX73" fmla="*/ 281414 w 552598"/>
                  <a:gd name="connsiteY73" fmla="*/ 589 h 605921"/>
                  <a:gd name="connsiteX74" fmla="*/ 346313 w 552598"/>
                  <a:gd name="connsiteY74" fmla="*/ 45086 h 605921"/>
                  <a:gd name="connsiteX75" fmla="*/ 346313 w 552598"/>
                  <a:gd name="connsiteY75" fmla="*/ 50277 h 605921"/>
                  <a:gd name="connsiteX76" fmla="*/ 281414 w 552598"/>
                  <a:gd name="connsiteY76" fmla="*/ 94775 h 605921"/>
                  <a:gd name="connsiteX77" fmla="*/ 276308 w 552598"/>
                  <a:gd name="connsiteY77" fmla="*/ 92179 h 605921"/>
                  <a:gd name="connsiteX78" fmla="*/ 276308 w 552598"/>
                  <a:gd name="connsiteY78" fmla="*/ 68262 h 605921"/>
                  <a:gd name="connsiteX79" fmla="*/ 41223 w 552598"/>
                  <a:gd name="connsiteY79" fmla="*/ 303077 h 605921"/>
                  <a:gd name="connsiteX80" fmla="*/ 138432 w 552598"/>
                  <a:gd name="connsiteY80" fmla="*/ 493302 h 605921"/>
                  <a:gd name="connsiteX81" fmla="*/ 114200 w 552598"/>
                  <a:gd name="connsiteY81" fmla="*/ 526582 h 605921"/>
                  <a:gd name="connsiteX82" fmla="*/ 0 w 552598"/>
                  <a:gd name="connsiteY82" fmla="*/ 303077 h 605921"/>
                  <a:gd name="connsiteX83" fmla="*/ 276308 w 552598"/>
                  <a:gd name="connsiteY83" fmla="*/ 27195 h 605921"/>
                  <a:gd name="connsiteX84" fmla="*/ 276308 w 552598"/>
                  <a:gd name="connsiteY84" fmla="*/ 3185 h 605921"/>
                  <a:gd name="connsiteX85" fmla="*/ 281414 w 552598"/>
                  <a:gd name="connsiteY85" fmla="*/ 589 h 605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552598" h="605921">
                    <a:moveTo>
                      <a:pt x="257952" y="238897"/>
                    </a:moveTo>
                    <a:cubicBezTo>
                      <a:pt x="255074" y="238897"/>
                      <a:pt x="252845" y="241122"/>
                      <a:pt x="252845" y="243996"/>
                    </a:cubicBezTo>
                    <a:lnTo>
                      <a:pt x="252845" y="308986"/>
                    </a:lnTo>
                    <a:lnTo>
                      <a:pt x="228056" y="308986"/>
                    </a:lnTo>
                    <a:cubicBezTo>
                      <a:pt x="225364" y="308986"/>
                      <a:pt x="223878" y="311953"/>
                      <a:pt x="225642" y="314085"/>
                    </a:cubicBezTo>
                    <a:lnTo>
                      <a:pt x="273271" y="372123"/>
                    </a:lnTo>
                    <a:cubicBezTo>
                      <a:pt x="274849" y="373977"/>
                      <a:pt x="277727" y="373977"/>
                      <a:pt x="279306" y="372123"/>
                    </a:cubicBezTo>
                    <a:lnTo>
                      <a:pt x="327027" y="314085"/>
                    </a:lnTo>
                    <a:cubicBezTo>
                      <a:pt x="328605" y="311953"/>
                      <a:pt x="327213" y="308894"/>
                      <a:pt x="324520" y="308986"/>
                    </a:cubicBezTo>
                    <a:lnTo>
                      <a:pt x="299731" y="308986"/>
                    </a:lnTo>
                    <a:lnTo>
                      <a:pt x="299731" y="243996"/>
                    </a:lnTo>
                    <a:cubicBezTo>
                      <a:pt x="299731" y="241122"/>
                      <a:pt x="297503" y="238897"/>
                      <a:pt x="294718" y="238897"/>
                    </a:cubicBezTo>
                    <a:close/>
                    <a:moveTo>
                      <a:pt x="260737" y="130146"/>
                    </a:moveTo>
                    <a:lnTo>
                      <a:pt x="291932" y="130146"/>
                    </a:lnTo>
                    <a:cubicBezTo>
                      <a:pt x="298431" y="130146"/>
                      <a:pt x="303445" y="135338"/>
                      <a:pt x="303445" y="141642"/>
                    </a:cubicBezTo>
                    <a:lnTo>
                      <a:pt x="303445" y="167602"/>
                    </a:lnTo>
                    <a:cubicBezTo>
                      <a:pt x="321642" y="171125"/>
                      <a:pt x="338632" y="178356"/>
                      <a:pt x="353580" y="188369"/>
                    </a:cubicBezTo>
                    <a:lnTo>
                      <a:pt x="371963" y="170012"/>
                    </a:lnTo>
                    <a:cubicBezTo>
                      <a:pt x="376420" y="165562"/>
                      <a:pt x="383661" y="165562"/>
                      <a:pt x="388118" y="170012"/>
                    </a:cubicBezTo>
                    <a:lnTo>
                      <a:pt x="410215" y="192077"/>
                    </a:lnTo>
                    <a:cubicBezTo>
                      <a:pt x="414671" y="196528"/>
                      <a:pt x="414671" y="203759"/>
                      <a:pt x="410215" y="208209"/>
                    </a:cubicBezTo>
                    <a:lnTo>
                      <a:pt x="391832" y="226566"/>
                    </a:lnTo>
                    <a:cubicBezTo>
                      <a:pt x="401859" y="241400"/>
                      <a:pt x="409100" y="258459"/>
                      <a:pt x="412628" y="276630"/>
                    </a:cubicBezTo>
                    <a:lnTo>
                      <a:pt x="438625" y="276630"/>
                    </a:lnTo>
                    <a:cubicBezTo>
                      <a:pt x="445124" y="276630"/>
                      <a:pt x="450137" y="281822"/>
                      <a:pt x="450137" y="288126"/>
                    </a:cubicBezTo>
                    <a:lnTo>
                      <a:pt x="450137" y="319277"/>
                    </a:lnTo>
                    <a:cubicBezTo>
                      <a:pt x="450137" y="325674"/>
                      <a:pt x="444938" y="330773"/>
                      <a:pt x="438625" y="330773"/>
                    </a:cubicBezTo>
                    <a:lnTo>
                      <a:pt x="412628" y="330773"/>
                    </a:lnTo>
                    <a:cubicBezTo>
                      <a:pt x="409100" y="348945"/>
                      <a:pt x="401859" y="365818"/>
                      <a:pt x="391832" y="380838"/>
                    </a:cubicBezTo>
                    <a:lnTo>
                      <a:pt x="410215" y="399102"/>
                    </a:lnTo>
                    <a:cubicBezTo>
                      <a:pt x="414671" y="403552"/>
                      <a:pt x="414671" y="410876"/>
                      <a:pt x="410215" y="415326"/>
                    </a:cubicBezTo>
                    <a:lnTo>
                      <a:pt x="388118" y="437299"/>
                    </a:lnTo>
                    <a:cubicBezTo>
                      <a:pt x="383661" y="441749"/>
                      <a:pt x="376420" y="441749"/>
                      <a:pt x="371963" y="437299"/>
                    </a:cubicBezTo>
                    <a:lnTo>
                      <a:pt x="353580" y="419035"/>
                    </a:lnTo>
                    <a:cubicBezTo>
                      <a:pt x="338725" y="429047"/>
                      <a:pt x="321642" y="436186"/>
                      <a:pt x="303445" y="439802"/>
                    </a:cubicBezTo>
                    <a:lnTo>
                      <a:pt x="303445" y="465761"/>
                    </a:lnTo>
                    <a:cubicBezTo>
                      <a:pt x="303445" y="472158"/>
                      <a:pt x="298246" y="477257"/>
                      <a:pt x="291932" y="477257"/>
                    </a:cubicBezTo>
                    <a:lnTo>
                      <a:pt x="260737" y="477257"/>
                    </a:lnTo>
                    <a:cubicBezTo>
                      <a:pt x="254331" y="477257"/>
                      <a:pt x="249224" y="472065"/>
                      <a:pt x="249224" y="465761"/>
                    </a:cubicBezTo>
                    <a:lnTo>
                      <a:pt x="249224" y="439802"/>
                    </a:lnTo>
                    <a:cubicBezTo>
                      <a:pt x="231027" y="436186"/>
                      <a:pt x="214130" y="429047"/>
                      <a:pt x="199089" y="419035"/>
                    </a:cubicBezTo>
                    <a:lnTo>
                      <a:pt x="180799" y="437299"/>
                    </a:lnTo>
                    <a:cubicBezTo>
                      <a:pt x="176342" y="441749"/>
                      <a:pt x="169008" y="441749"/>
                      <a:pt x="164551" y="437299"/>
                    </a:cubicBezTo>
                    <a:lnTo>
                      <a:pt x="142547" y="415326"/>
                    </a:lnTo>
                    <a:cubicBezTo>
                      <a:pt x="138091" y="410876"/>
                      <a:pt x="138091" y="403552"/>
                      <a:pt x="142547" y="399102"/>
                    </a:cubicBezTo>
                    <a:lnTo>
                      <a:pt x="160837" y="380838"/>
                    </a:lnTo>
                    <a:cubicBezTo>
                      <a:pt x="150810" y="366004"/>
                      <a:pt x="143661" y="348945"/>
                      <a:pt x="140041" y="330773"/>
                    </a:cubicBezTo>
                    <a:lnTo>
                      <a:pt x="114044" y="330773"/>
                    </a:lnTo>
                    <a:cubicBezTo>
                      <a:pt x="107638" y="330773"/>
                      <a:pt x="102532" y="325582"/>
                      <a:pt x="102532" y="319277"/>
                    </a:cubicBezTo>
                    <a:lnTo>
                      <a:pt x="102532" y="288126"/>
                    </a:lnTo>
                    <a:cubicBezTo>
                      <a:pt x="102532" y="281636"/>
                      <a:pt x="107731" y="276630"/>
                      <a:pt x="114044" y="276630"/>
                    </a:cubicBezTo>
                    <a:lnTo>
                      <a:pt x="140041" y="276630"/>
                    </a:lnTo>
                    <a:cubicBezTo>
                      <a:pt x="143661" y="258459"/>
                      <a:pt x="150810" y="241492"/>
                      <a:pt x="160837" y="226566"/>
                    </a:cubicBezTo>
                    <a:lnTo>
                      <a:pt x="142547" y="208209"/>
                    </a:lnTo>
                    <a:cubicBezTo>
                      <a:pt x="138091" y="203759"/>
                      <a:pt x="138091" y="196528"/>
                      <a:pt x="142547" y="192077"/>
                    </a:cubicBezTo>
                    <a:lnTo>
                      <a:pt x="164551" y="170012"/>
                    </a:lnTo>
                    <a:cubicBezTo>
                      <a:pt x="169008" y="165562"/>
                      <a:pt x="176342" y="165562"/>
                      <a:pt x="180799" y="170012"/>
                    </a:cubicBezTo>
                    <a:lnTo>
                      <a:pt x="199089" y="188369"/>
                    </a:lnTo>
                    <a:cubicBezTo>
                      <a:pt x="213944" y="178356"/>
                      <a:pt x="231027" y="171125"/>
                      <a:pt x="249224" y="167602"/>
                    </a:cubicBezTo>
                    <a:lnTo>
                      <a:pt x="249224" y="141642"/>
                    </a:lnTo>
                    <a:cubicBezTo>
                      <a:pt x="249224" y="135153"/>
                      <a:pt x="254424" y="130146"/>
                      <a:pt x="260737" y="130146"/>
                    </a:cubicBezTo>
                    <a:close/>
                    <a:moveTo>
                      <a:pt x="438507" y="79551"/>
                    </a:moveTo>
                    <a:cubicBezTo>
                      <a:pt x="510081" y="131462"/>
                      <a:pt x="552598" y="214890"/>
                      <a:pt x="552598" y="302952"/>
                    </a:cubicBezTo>
                    <a:cubicBezTo>
                      <a:pt x="552598" y="455069"/>
                      <a:pt x="428760" y="578821"/>
                      <a:pt x="276329" y="578821"/>
                    </a:cubicBezTo>
                    <a:lnTo>
                      <a:pt x="276329" y="602737"/>
                    </a:lnTo>
                    <a:cubicBezTo>
                      <a:pt x="276329" y="605332"/>
                      <a:pt x="273358" y="606815"/>
                      <a:pt x="271316" y="605332"/>
                    </a:cubicBezTo>
                    <a:lnTo>
                      <a:pt x="206426" y="560837"/>
                    </a:lnTo>
                    <a:cubicBezTo>
                      <a:pt x="204569" y="559539"/>
                      <a:pt x="204569" y="556759"/>
                      <a:pt x="206426" y="555553"/>
                    </a:cubicBezTo>
                    <a:lnTo>
                      <a:pt x="271316" y="511059"/>
                    </a:lnTo>
                    <a:cubicBezTo>
                      <a:pt x="273544" y="509575"/>
                      <a:pt x="276329" y="511059"/>
                      <a:pt x="276329" y="513654"/>
                    </a:cubicBezTo>
                    <a:lnTo>
                      <a:pt x="276329" y="537663"/>
                    </a:lnTo>
                    <a:cubicBezTo>
                      <a:pt x="405923" y="537663"/>
                      <a:pt x="511381" y="432358"/>
                      <a:pt x="511381" y="302952"/>
                    </a:cubicBezTo>
                    <a:cubicBezTo>
                      <a:pt x="511381" y="228053"/>
                      <a:pt x="475176" y="156954"/>
                      <a:pt x="414278" y="112830"/>
                    </a:cubicBezTo>
                    <a:close/>
                    <a:moveTo>
                      <a:pt x="281414" y="589"/>
                    </a:moveTo>
                    <a:lnTo>
                      <a:pt x="346313" y="45086"/>
                    </a:lnTo>
                    <a:cubicBezTo>
                      <a:pt x="348170" y="46384"/>
                      <a:pt x="348170" y="49072"/>
                      <a:pt x="346313" y="50277"/>
                    </a:cubicBezTo>
                    <a:lnTo>
                      <a:pt x="281414" y="94775"/>
                    </a:lnTo>
                    <a:cubicBezTo>
                      <a:pt x="279186" y="96258"/>
                      <a:pt x="276308" y="94775"/>
                      <a:pt x="276308" y="92179"/>
                    </a:cubicBezTo>
                    <a:lnTo>
                      <a:pt x="276308" y="68262"/>
                    </a:lnTo>
                    <a:cubicBezTo>
                      <a:pt x="146695" y="68262"/>
                      <a:pt x="41223" y="173665"/>
                      <a:pt x="41223" y="303077"/>
                    </a:cubicBezTo>
                    <a:cubicBezTo>
                      <a:pt x="41223" y="377980"/>
                      <a:pt x="77526" y="449176"/>
                      <a:pt x="138432" y="493302"/>
                    </a:cubicBezTo>
                    <a:lnTo>
                      <a:pt x="114200" y="526582"/>
                    </a:lnTo>
                    <a:cubicBezTo>
                      <a:pt x="42709" y="474762"/>
                      <a:pt x="0" y="391237"/>
                      <a:pt x="0" y="303077"/>
                    </a:cubicBezTo>
                    <a:cubicBezTo>
                      <a:pt x="0" y="150953"/>
                      <a:pt x="123948" y="27195"/>
                      <a:pt x="276308" y="27195"/>
                    </a:cubicBezTo>
                    <a:lnTo>
                      <a:pt x="276308" y="3185"/>
                    </a:lnTo>
                    <a:cubicBezTo>
                      <a:pt x="276308" y="589"/>
                      <a:pt x="279279" y="-894"/>
                      <a:pt x="281414" y="589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wrap="square" lIns="91440" tIns="45720" rIns="91440" bIns="4572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6876248" y="2180797"/>
              <a:ext cx="4564171" cy="619105"/>
              <a:chOff x="6888477" y="2391654"/>
              <a:chExt cx="4564171" cy="619105"/>
            </a:xfrm>
          </p:grpSpPr>
          <p:cxnSp>
            <p:nvCxnSpPr>
              <p:cNvPr id="13" name="PA-直接连接符 30"/>
              <p:cNvCxnSpPr/>
              <p:nvPr>
                <p:custDataLst>
                  <p:tags r:id="rId3"/>
                </p:custDataLst>
              </p:nvPr>
            </p:nvCxnSpPr>
            <p:spPr>
              <a:xfrm>
                <a:off x="7017671" y="3010759"/>
                <a:ext cx="3398778" cy="0"/>
              </a:xfrm>
              <a:prstGeom prst="line">
                <a:avLst/>
              </a:prstGeom>
              <a:noFill/>
              <a:ln w="3175" cap="rnd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</a:ln>
              <a:effectLst/>
            </p:spPr>
          </p:cxnSp>
          <p:sp>
            <p:nvSpPr>
              <p:cNvPr id="14" name="矩形 13"/>
              <p:cNvSpPr/>
              <p:nvPr/>
            </p:nvSpPr>
            <p:spPr>
              <a:xfrm>
                <a:off x="6888477" y="2391654"/>
                <a:ext cx="456417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24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华文楷体" panose="02010600040101010101" pitchFamily="2" charset="-122"/>
                    <a:ea typeface="华文楷体" panose="02010600040101010101" pitchFamily="2" charset="-122"/>
                    <a:sym typeface="+mn-lt"/>
                  </a:rPr>
                  <a:t>1.</a:t>
                </a:r>
                <a:r>
                  <a:rPr lang="zh-CN" altLang="en-US" sz="24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华文楷体" panose="02010600040101010101" pitchFamily="2" charset="-122"/>
                    <a:ea typeface="华文楷体" panose="02010600040101010101" pitchFamily="2" charset="-122"/>
                    <a:sym typeface="+mn-lt"/>
                  </a:rPr>
                  <a:t>算法</a:t>
                </a:r>
                <a:r>
                  <a:rPr lang="zh-CN" altLang="en-US" sz="2400" b="1" dirty="0" smtClean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性能评价标准</a:t>
                </a:r>
                <a:endParaRPr lang="zh-CN" altLang="en-US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467544" y="2956587"/>
            <a:ext cx="5221734" cy="681317"/>
            <a:chOff x="6153786" y="3135914"/>
            <a:chExt cx="4794961" cy="681317"/>
          </a:xfrm>
        </p:grpSpPr>
        <p:grpSp>
          <p:nvGrpSpPr>
            <p:cNvPr id="18" name="î$lïdè"/>
            <p:cNvGrpSpPr/>
            <p:nvPr/>
          </p:nvGrpSpPr>
          <p:grpSpPr>
            <a:xfrm>
              <a:off x="6153786" y="3227721"/>
              <a:ext cx="589510" cy="589510"/>
              <a:chOff x="7553961" y="3029932"/>
              <a:chExt cx="589510" cy="589510"/>
            </a:xfrm>
            <a:effectLst>
              <a:outerShdw blurRad="50800" dist="76200" dir="5400000" algn="ctr" rotWithShape="0">
                <a:srgbClr val="000000">
                  <a:alpha val="43137"/>
                </a:srgbClr>
              </a:outerShdw>
            </a:effectLst>
          </p:grpSpPr>
          <p:sp>
            <p:nvSpPr>
              <p:cNvPr id="22" name="PA-í$ḷiďe"/>
              <p:cNvSpPr/>
              <p:nvPr>
                <p:custDataLst>
                  <p:tags r:id="rId4"/>
                </p:custDataLst>
              </p:nvPr>
            </p:nvSpPr>
            <p:spPr>
              <a:xfrm>
                <a:off x="7553961" y="3029932"/>
                <a:ext cx="589510" cy="589510"/>
              </a:xfrm>
              <a:prstGeom prst="ellipse">
                <a:avLst/>
              </a:prstGeom>
              <a:solidFill>
                <a:srgbClr val="187C86"/>
              </a:solidFill>
              <a:ln w="2222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PA-iṧlïḓe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7667621" y="3132150"/>
                <a:ext cx="362190" cy="385074"/>
              </a:xfrm>
              <a:custGeom>
                <a:avLst/>
                <a:gdLst>
                  <a:gd name="connsiteX0" fmla="*/ 133148 w 570667"/>
                  <a:gd name="connsiteY0" fmla="*/ 372716 h 606722"/>
                  <a:gd name="connsiteX1" fmla="*/ 98615 w 570667"/>
                  <a:gd name="connsiteY1" fmla="*/ 385336 h 606722"/>
                  <a:gd name="connsiteX2" fmla="*/ 157624 w 570667"/>
                  <a:gd name="connsiteY2" fmla="*/ 426037 h 606722"/>
                  <a:gd name="connsiteX3" fmla="*/ 133148 w 570667"/>
                  <a:gd name="connsiteY3" fmla="*/ 372716 h 606722"/>
                  <a:gd name="connsiteX4" fmla="*/ 222418 w 570667"/>
                  <a:gd name="connsiteY4" fmla="*/ 358586 h 606722"/>
                  <a:gd name="connsiteX5" fmla="*/ 170885 w 570667"/>
                  <a:gd name="connsiteY5" fmla="*/ 364096 h 606722"/>
                  <a:gd name="connsiteX6" fmla="*/ 222418 w 570667"/>
                  <a:gd name="connsiteY6" fmla="*/ 439368 h 606722"/>
                  <a:gd name="connsiteX7" fmla="*/ 152195 w 570667"/>
                  <a:gd name="connsiteY7" fmla="*/ 260564 h 606722"/>
                  <a:gd name="connsiteX8" fmla="*/ 160472 w 570667"/>
                  <a:gd name="connsiteY8" fmla="*/ 326949 h 606722"/>
                  <a:gd name="connsiteX9" fmla="*/ 222418 w 570667"/>
                  <a:gd name="connsiteY9" fmla="*/ 320195 h 606722"/>
                  <a:gd name="connsiteX10" fmla="*/ 222418 w 570667"/>
                  <a:gd name="connsiteY10" fmla="*/ 260564 h 606722"/>
                  <a:gd name="connsiteX11" fmla="*/ 39339 w 570667"/>
                  <a:gd name="connsiteY11" fmla="*/ 260564 h 606722"/>
                  <a:gd name="connsiteX12" fmla="*/ 73338 w 570667"/>
                  <a:gd name="connsiteY12" fmla="*/ 354854 h 606722"/>
                  <a:gd name="connsiteX13" fmla="*/ 123091 w 570667"/>
                  <a:gd name="connsiteY13" fmla="*/ 335658 h 606722"/>
                  <a:gd name="connsiteX14" fmla="*/ 113657 w 570667"/>
                  <a:gd name="connsiteY14" fmla="*/ 260564 h 606722"/>
                  <a:gd name="connsiteX15" fmla="*/ 435071 w 570667"/>
                  <a:gd name="connsiteY15" fmla="*/ 190994 h 606722"/>
                  <a:gd name="connsiteX16" fmla="*/ 449493 w 570667"/>
                  <a:gd name="connsiteY16" fmla="*/ 199593 h 606722"/>
                  <a:gd name="connsiteX17" fmla="*/ 568250 w 570667"/>
                  <a:gd name="connsiteY17" fmla="*/ 420443 h 606722"/>
                  <a:gd name="connsiteX18" fmla="*/ 550445 w 570667"/>
                  <a:gd name="connsiteY18" fmla="*/ 450127 h 606722"/>
                  <a:gd name="connsiteX19" fmla="*/ 488574 w 570667"/>
                  <a:gd name="connsiteY19" fmla="*/ 450127 h 606722"/>
                  <a:gd name="connsiteX20" fmla="*/ 488574 w 570667"/>
                  <a:gd name="connsiteY20" fmla="*/ 590370 h 606722"/>
                  <a:gd name="connsiteX21" fmla="*/ 472194 w 570667"/>
                  <a:gd name="connsiteY21" fmla="*/ 606722 h 606722"/>
                  <a:gd name="connsiteX22" fmla="*/ 397948 w 570667"/>
                  <a:gd name="connsiteY22" fmla="*/ 606722 h 606722"/>
                  <a:gd name="connsiteX23" fmla="*/ 381568 w 570667"/>
                  <a:gd name="connsiteY23" fmla="*/ 590370 h 606722"/>
                  <a:gd name="connsiteX24" fmla="*/ 381568 w 570667"/>
                  <a:gd name="connsiteY24" fmla="*/ 450127 h 606722"/>
                  <a:gd name="connsiteX25" fmla="*/ 319697 w 570667"/>
                  <a:gd name="connsiteY25" fmla="*/ 450127 h 606722"/>
                  <a:gd name="connsiteX26" fmla="*/ 301892 w 570667"/>
                  <a:gd name="connsiteY26" fmla="*/ 420443 h 606722"/>
                  <a:gd name="connsiteX27" fmla="*/ 420649 w 570667"/>
                  <a:gd name="connsiteY27" fmla="*/ 199593 h 606722"/>
                  <a:gd name="connsiteX28" fmla="*/ 435071 w 570667"/>
                  <a:gd name="connsiteY28" fmla="*/ 190994 h 606722"/>
                  <a:gd name="connsiteX29" fmla="*/ 322724 w 570667"/>
                  <a:gd name="connsiteY29" fmla="*/ 155254 h 606722"/>
                  <a:gd name="connsiteX30" fmla="*/ 260956 w 570667"/>
                  <a:gd name="connsiteY30" fmla="*/ 162008 h 606722"/>
                  <a:gd name="connsiteX31" fmla="*/ 260956 w 570667"/>
                  <a:gd name="connsiteY31" fmla="*/ 222083 h 606722"/>
                  <a:gd name="connsiteX32" fmla="*/ 331180 w 570667"/>
                  <a:gd name="connsiteY32" fmla="*/ 222083 h 606722"/>
                  <a:gd name="connsiteX33" fmla="*/ 322724 w 570667"/>
                  <a:gd name="connsiteY33" fmla="*/ 155254 h 606722"/>
                  <a:gd name="connsiteX34" fmla="*/ 160650 w 570667"/>
                  <a:gd name="connsiteY34" fmla="*/ 155254 h 606722"/>
                  <a:gd name="connsiteX35" fmla="*/ 152195 w 570667"/>
                  <a:gd name="connsiteY35" fmla="*/ 222083 h 606722"/>
                  <a:gd name="connsiteX36" fmla="*/ 222418 w 570667"/>
                  <a:gd name="connsiteY36" fmla="*/ 222083 h 606722"/>
                  <a:gd name="connsiteX37" fmla="*/ 222418 w 570667"/>
                  <a:gd name="connsiteY37" fmla="*/ 162008 h 606722"/>
                  <a:gd name="connsiteX38" fmla="*/ 160650 w 570667"/>
                  <a:gd name="connsiteY38" fmla="*/ 155254 h 606722"/>
                  <a:gd name="connsiteX39" fmla="*/ 73605 w 570667"/>
                  <a:gd name="connsiteY39" fmla="*/ 127438 h 606722"/>
                  <a:gd name="connsiteX40" fmla="*/ 39339 w 570667"/>
                  <a:gd name="connsiteY40" fmla="*/ 222083 h 606722"/>
                  <a:gd name="connsiteX41" fmla="*/ 113746 w 570667"/>
                  <a:gd name="connsiteY41" fmla="*/ 222083 h 606722"/>
                  <a:gd name="connsiteX42" fmla="*/ 123269 w 570667"/>
                  <a:gd name="connsiteY42" fmla="*/ 146544 h 606722"/>
                  <a:gd name="connsiteX43" fmla="*/ 73605 w 570667"/>
                  <a:gd name="connsiteY43" fmla="*/ 127438 h 606722"/>
                  <a:gd name="connsiteX44" fmla="*/ 325305 w 570667"/>
                  <a:gd name="connsiteY44" fmla="*/ 56431 h 606722"/>
                  <a:gd name="connsiteX45" fmla="*/ 349870 w 570667"/>
                  <a:gd name="connsiteY45" fmla="*/ 109575 h 606722"/>
                  <a:gd name="connsiteX46" fmla="*/ 384403 w 570667"/>
                  <a:gd name="connsiteY46" fmla="*/ 97045 h 606722"/>
                  <a:gd name="connsiteX47" fmla="*/ 325305 w 570667"/>
                  <a:gd name="connsiteY47" fmla="*/ 56431 h 606722"/>
                  <a:gd name="connsiteX48" fmla="*/ 158069 w 570667"/>
                  <a:gd name="connsiteY48" fmla="*/ 56431 h 606722"/>
                  <a:gd name="connsiteX49" fmla="*/ 98971 w 570667"/>
                  <a:gd name="connsiteY49" fmla="*/ 97045 h 606722"/>
                  <a:gd name="connsiteX50" fmla="*/ 133504 w 570667"/>
                  <a:gd name="connsiteY50" fmla="*/ 109575 h 606722"/>
                  <a:gd name="connsiteX51" fmla="*/ 158069 w 570667"/>
                  <a:gd name="connsiteY51" fmla="*/ 56431 h 606722"/>
                  <a:gd name="connsiteX52" fmla="*/ 260956 w 570667"/>
                  <a:gd name="connsiteY52" fmla="*/ 43723 h 606722"/>
                  <a:gd name="connsiteX53" fmla="*/ 260956 w 570667"/>
                  <a:gd name="connsiteY53" fmla="*/ 123616 h 606722"/>
                  <a:gd name="connsiteX54" fmla="*/ 312222 w 570667"/>
                  <a:gd name="connsiteY54" fmla="*/ 118195 h 606722"/>
                  <a:gd name="connsiteX55" fmla="*/ 260956 w 570667"/>
                  <a:gd name="connsiteY55" fmla="*/ 43723 h 606722"/>
                  <a:gd name="connsiteX56" fmla="*/ 222418 w 570667"/>
                  <a:gd name="connsiteY56" fmla="*/ 43723 h 606722"/>
                  <a:gd name="connsiteX57" fmla="*/ 171152 w 570667"/>
                  <a:gd name="connsiteY57" fmla="*/ 118195 h 606722"/>
                  <a:gd name="connsiteX58" fmla="*/ 222418 w 570667"/>
                  <a:gd name="connsiteY58" fmla="*/ 123616 h 606722"/>
                  <a:gd name="connsiteX59" fmla="*/ 241643 w 570667"/>
                  <a:gd name="connsiteY59" fmla="*/ 0 h 606722"/>
                  <a:gd name="connsiteX60" fmla="*/ 471448 w 570667"/>
                  <a:gd name="connsiteY60" fmla="*/ 166362 h 606722"/>
                  <a:gd name="connsiteX61" fmla="*/ 424900 w 570667"/>
                  <a:gd name="connsiteY61" fmla="*/ 153565 h 606722"/>
                  <a:gd name="connsiteX62" fmla="*/ 409769 w 570667"/>
                  <a:gd name="connsiteY62" fmla="*/ 127438 h 606722"/>
                  <a:gd name="connsiteX63" fmla="*/ 360105 w 570667"/>
                  <a:gd name="connsiteY63" fmla="*/ 146544 h 606722"/>
                  <a:gd name="connsiteX64" fmla="*/ 369273 w 570667"/>
                  <a:gd name="connsiteY64" fmla="*/ 213996 h 606722"/>
                  <a:gd name="connsiteX65" fmla="*/ 329043 w 570667"/>
                  <a:gd name="connsiteY65" fmla="*/ 288824 h 606722"/>
                  <a:gd name="connsiteX66" fmla="*/ 331180 w 570667"/>
                  <a:gd name="connsiteY66" fmla="*/ 260564 h 606722"/>
                  <a:gd name="connsiteX67" fmla="*/ 260956 w 570667"/>
                  <a:gd name="connsiteY67" fmla="*/ 260564 h 606722"/>
                  <a:gd name="connsiteX68" fmla="*/ 260956 w 570667"/>
                  <a:gd name="connsiteY68" fmla="*/ 320195 h 606722"/>
                  <a:gd name="connsiteX69" fmla="*/ 309730 w 570667"/>
                  <a:gd name="connsiteY69" fmla="*/ 324727 h 606722"/>
                  <a:gd name="connsiteX70" fmla="*/ 290238 w 570667"/>
                  <a:gd name="connsiteY70" fmla="*/ 360897 h 606722"/>
                  <a:gd name="connsiteX71" fmla="*/ 260956 w 570667"/>
                  <a:gd name="connsiteY71" fmla="*/ 358586 h 606722"/>
                  <a:gd name="connsiteX72" fmla="*/ 260956 w 570667"/>
                  <a:gd name="connsiteY72" fmla="*/ 439368 h 606722"/>
                  <a:gd name="connsiteX73" fmla="*/ 261757 w 570667"/>
                  <a:gd name="connsiteY73" fmla="*/ 438835 h 606722"/>
                  <a:gd name="connsiteX74" fmla="*/ 287212 w 570667"/>
                  <a:gd name="connsiteY74" fmla="*/ 478648 h 606722"/>
                  <a:gd name="connsiteX75" fmla="*/ 241643 w 570667"/>
                  <a:gd name="connsiteY75" fmla="*/ 483091 h 606722"/>
                  <a:gd name="connsiteX76" fmla="*/ 0 w 570667"/>
                  <a:gd name="connsiteY76" fmla="*/ 241368 h 606722"/>
                  <a:gd name="connsiteX77" fmla="*/ 241643 w 570667"/>
                  <a:gd name="connsiteY77" fmla="*/ 0 h 60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570667" h="606722">
                    <a:moveTo>
                      <a:pt x="133148" y="372716"/>
                    </a:moveTo>
                    <a:cubicBezTo>
                      <a:pt x="120866" y="376271"/>
                      <a:pt x="109295" y="380537"/>
                      <a:pt x="98615" y="385336"/>
                    </a:cubicBezTo>
                    <a:cubicBezTo>
                      <a:pt x="115615" y="402132"/>
                      <a:pt x="135551" y="415995"/>
                      <a:pt x="157624" y="426037"/>
                    </a:cubicBezTo>
                    <a:cubicBezTo>
                      <a:pt x="147478" y="409597"/>
                      <a:pt x="139467" y="391379"/>
                      <a:pt x="133148" y="372716"/>
                    </a:cubicBezTo>
                    <a:close/>
                    <a:moveTo>
                      <a:pt x="222418" y="358586"/>
                    </a:moveTo>
                    <a:cubicBezTo>
                      <a:pt x="204618" y="359386"/>
                      <a:pt x="187351" y="361252"/>
                      <a:pt x="170885" y="364096"/>
                    </a:cubicBezTo>
                    <a:cubicBezTo>
                      <a:pt x="180320" y="391023"/>
                      <a:pt x="197586" y="425682"/>
                      <a:pt x="222418" y="439368"/>
                    </a:cubicBezTo>
                    <a:close/>
                    <a:moveTo>
                      <a:pt x="152195" y="260564"/>
                    </a:moveTo>
                    <a:cubicBezTo>
                      <a:pt x="153174" y="283758"/>
                      <a:pt x="156022" y="306153"/>
                      <a:pt x="160472" y="326949"/>
                    </a:cubicBezTo>
                    <a:cubicBezTo>
                      <a:pt x="180320" y="323305"/>
                      <a:pt x="201057" y="320994"/>
                      <a:pt x="222418" y="320195"/>
                    </a:cubicBezTo>
                    <a:lnTo>
                      <a:pt x="222418" y="260564"/>
                    </a:lnTo>
                    <a:close/>
                    <a:moveTo>
                      <a:pt x="39339" y="260564"/>
                    </a:moveTo>
                    <a:cubicBezTo>
                      <a:pt x="42632" y="295223"/>
                      <a:pt x="54737" y="327482"/>
                      <a:pt x="73338" y="354854"/>
                    </a:cubicBezTo>
                    <a:cubicBezTo>
                      <a:pt x="88291" y="347389"/>
                      <a:pt x="105023" y="340901"/>
                      <a:pt x="123091" y="335658"/>
                    </a:cubicBezTo>
                    <a:cubicBezTo>
                      <a:pt x="117929" y="312019"/>
                      <a:pt x="114725" y="286691"/>
                      <a:pt x="113657" y="260564"/>
                    </a:cubicBezTo>
                    <a:close/>
                    <a:moveTo>
                      <a:pt x="435071" y="190994"/>
                    </a:moveTo>
                    <a:cubicBezTo>
                      <a:pt x="440746" y="190994"/>
                      <a:pt x="446422" y="193861"/>
                      <a:pt x="449493" y="199593"/>
                    </a:cubicBezTo>
                    <a:lnTo>
                      <a:pt x="568250" y="420443"/>
                    </a:lnTo>
                    <a:cubicBezTo>
                      <a:pt x="575461" y="433863"/>
                      <a:pt x="565668" y="450127"/>
                      <a:pt x="550445" y="450127"/>
                    </a:cubicBezTo>
                    <a:lnTo>
                      <a:pt x="488574" y="450127"/>
                    </a:lnTo>
                    <a:lnTo>
                      <a:pt x="488574" y="590370"/>
                    </a:lnTo>
                    <a:cubicBezTo>
                      <a:pt x="488574" y="599346"/>
                      <a:pt x="481274" y="606722"/>
                      <a:pt x="472194" y="606722"/>
                    </a:cubicBezTo>
                    <a:lnTo>
                      <a:pt x="397948" y="606722"/>
                    </a:lnTo>
                    <a:cubicBezTo>
                      <a:pt x="388868" y="606722"/>
                      <a:pt x="381568" y="599346"/>
                      <a:pt x="381568" y="590370"/>
                    </a:cubicBezTo>
                    <a:lnTo>
                      <a:pt x="381568" y="450127"/>
                    </a:lnTo>
                    <a:lnTo>
                      <a:pt x="319697" y="450127"/>
                    </a:lnTo>
                    <a:cubicBezTo>
                      <a:pt x="304474" y="450127"/>
                      <a:pt x="294681" y="433863"/>
                      <a:pt x="301892" y="420443"/>
                    </a:cubicBezTo>
                    <a:lnTo>
                      <a:pt x="420649" y="199593"/>
                    </a:lnTo>
                    <a:cubicBezTo>
                      <a:pt x="423720" y="193861"/>
                      <a:pt x="429396" y="190994"/>
                      <a:pt x="435071" y="190994"/>
                    </a:cubicBezTo>
                    <a:close/>
                    <a:moveTo>
                      <a:pt x="322724" y="155254"/>
                    </a:moveTo>
                    <a:cubicBezTo>
                      <a:pt x="302966" y="158897"/>
                      <a:pt x="282228" y="161208"/>
                      <a:pt x="260956" y="162008"/>
                    </a:cubicBezTo>
                    <a:lnTo>
                      <a:pt x="260956" y="222083"/>
                    </a:lnTo>
                    <a:lnTo>
                      <a:pt x="331180" y="222083"/>
                    </a:lnTo>
                    <a:cubicBezTo>
                      <a:pt x="330112" y="198711"/>
                      <a:pt x="327263" y="176227"/>
                      <a:pt x="322724" y="155254"/>
                    </a:cubicBezTo>
                    <a:close/>
                    <a:moveTo>
                      <a:pt x="160650" y="155254"/>
                    </a:moveTo>
                    <a:cubicBezTo>
                      <a:pt x="156111" y="176227"/>
                      <a:pt x="153263" y="198711"/>
                      <a:pt x="152195" y="222083"/>
                    </a:cubicBezTo>
                    <a:lnTo>
                      <a:pt x="222418" y="222083"/>
                    </a:lnTo>
                    <a:lnTo>
                      <a:pt x="222418" y="162008"/>
                    </a:lnTo>
                    <a:cubicBezTo>
                      <a:pt x="201146" y="161119"/>
                      <a:pt x="180409" y="158897"/>
                      <a:pt x="160650" y="155254"/>
                    </a:cubicBezTo>
                    <a:close/>
                    <a:moveTo>
                      <a:pt x="73605" y="127438"/>
                    </a:moveTo>
                    <a:cubicBezTo>
                      <a:pt x="54826" y="154898"/>
                      <a:pt x="42632" y="187246"/>
                      <a:pt x="39339" y="222083"/>
                    </a:cubicBezTo>
                    <a:lnTo>
                      <a:pt x="113746" y="222083"/>
                    </a:lnTo>
                    <a:cubicBezTo>
                      <a:pt x="114814" y="195778"/>
                      <a:pt x="118018" y="170361"/>
                      <a:pt x="123269" y="146544"/>
                    </a:cubicBezTo>
                    <a:cubicBezTo>
                      <a:pt x="105201" y="141390"/>
                      <a:pt x="88558" y="134903"/>
                      <a:pt x="73605" y="127438"/>
                    </a:cubicBezTo>
                    <a:close/>
                    <a:moveTo>
                      <a:pt x="325305" y="56431"/>
                    </a:moveTo>
                    <a:cubicBezTo>
                      <a:pt x="335719" y="72961"/>
                      <a:pt x="343729" y="91179"/>
                      <a:pt x="349870" y="109575"/>
                    </a:cubicBezTo>
                    <a:cubicBezTo>
                      <a:pt x="362242" y="106020"/>
                      <a:pt x="373812" y="101843"/>
                      <a:pt x="384403" y="97045"/>
                    </a:cubicBezTo>
                    <a:cubicBezTo>
                      <a:pt x="367404" y="80248"/>
                      <a:pt x="347378" y="66385"/>
                      <a:pt x="325305" y="56431"/>
                    </a:cubicBezTo>
                    <a:close/>
                    <a:moveTo>
                      <a:pt x="158069" y="56431"/>
                    </a:moveTo>
                    <a:cubicBezTo>
                      <a:pt x="135996" y="66385"/>
                      <a:pt x="115971" y="80248"/>
                      <a:pt x="98971" y="97045"/>
                    </a:cubicBezTo>
                    <a:cubicBezTo>
                      <a:pt x="109562" y="101843"/>
                      <a:pt x="121133" y="106020"/>
                      <a:pt x="133504" y="109575"/>
                    </a:cubicBezTo>
                    <a:cubicBezTo>
                      <a:pt x="139645" y="91179"/>
                      <a:pt x="147656" y="72961"/>
                      <a:pt x="158069" y="56431"/>
                    </a:cubicBezTo>
                    <a:close/>
                    <a:moveTo>
                      <a:pt x="260956" y="43723"/>
                    </a:moveTo>
                    <a:lnTo>
                      <a:pt x="260956" y="123616"/>
                    </a:lnTo>
                    <a:cubicBezTo>
                      <a:pt x="278579" y="122816"/>
                      <a:pt x="295845" y="120950"/>
                      <a:pt x="312222" y="118195"/>
                    </a:cubicBezTo>
                    <a:cubicBezTo>
                      <a:pt x="302699" y="91446"/>
                      <a:pt x="285610" y="57320"/>
                      <a:pt x="260956" y="43723"/>
                    </a:cubicBezTo>
                    <a:close/>
                    <a:moveTo>
                      <a:pt x="222418" y="43723"/>
                    </a:moveTo>
                    <a:cubicBezTo>
                      <a:pt x="197764" y="57231"/>
                      <a:pt x="180676" y="91446"/>
                      <a:pt x="171152" y="118195"/>
                    </a:cubicBezTo>
                    <a:cubicBezTo>
                      <a:pt x="187529" y="120950"/>
                      <a:pt x="204707" y="122816"/>
                      <a:pt x="222418" y="123616"/>
                    </a:cubicBezTo>
                    <a:close/>
                    <a:moveTo>
                      <a:pt x="241643" y="0"/>
                    </a:moveTo>
                    <a:cubicBezTo>
                      <a:pt x="348802" y="0"/>
                      <a:pt x="439763" y="69940"/>
                      <a:pt x="471448" y="166362"/>
                    </a:cubicBezTo>
                    <a:cubicBezTo>
                      <a:pt x="458988" y="155342"/>
                      <a:pt x="441988" y="150366"/>
                      <a:pt x="424900" y="153565"/>
                    </a:cubicBezTo>
                    <a:cubicBezTo>
                      <a:pt x="420449" y="144500"/>
                      <a:pt x="415465" y="135702"/>
                      <a:pt x="409769" y="127438"/>
                    </a:cubicBezTo>
                    <a:cubicBezTo>
                      <a:pt x="394817" y="134903"/>
                      <a:pt x="378173" y="141390"/>
                      <a:pt x="360105" y="146544"/>
                    </a:cubicBezTo>
                    <a:cubicBezTo>
                      <a:pt x="364823" y="167873"/>
                      <a:pt x="367849" y="190535"/>
                      <a:pt x="369273" y="213996"/>
                    </a:cubicBezTo>
                    <a:lnTo>
                      <a:pt x="329043" y="288824"/>
                    </a:lnTo>
                    <a:cubicBezTo>
                      <a:pt x="330022" y="279582"/>
                      <a:pt x="330735" y="270162"/>
                      <a:pt x="331180" y="260564"/>
                    </a:cubicBezTo>
                    <a:lnTo>
                      <a:pt x="260956" y="260564"/>
                    </a:lnTo>
                    <a:lnTo>
                      <a:pt x="260956" y="320195"/>
                    </a:lnTo>
                    <a:cubicBezTo>
                      <a:pt x="277600" y="320817"/>
                      <a:pt x="293887" y="322416"/>
                      <a:pt x="309730" y="324727"/>
                    </a:cubicBezTo>
                    <a:lnTo>
                      <a:pt x="290238" y="360897"/>
                    </a:lnTo>
                    <a:cubicBezTo>
                      <a:pt x="280715" y="359830"/>
                      <a:pt x="270925" y="359030"/>
                      <a:pt x="260956" y="358586"/>
                    </a:cubicBezTo>
                    <a:lnTo>
                      <a:pt x="260956" y="439368"/>
                    </a:lnTo>
                    <a:cubicBezTo>
                      <a:pt x="261223" y="439190"/>
                      <a:pt x="261490" y="439012"/>
                      <a:pt x="261757" y="438835"/>
                    </a:cubicBezTo>
                    <a:cubicBezTo>
                      <a:pt x="264249" y="455186"/>
                      <a:pt x="273417" y="469494"/>
                      <a:pt x="287212" y="478648"/>
                    </a:cubicBezTo>
                    <a:cubicBezTo>
                      <a:pt x="272438" y="481580"/>
                      <a:pt x="257218" y="483091"/>
                      <a:pt x="241643" y="483091"/>
                    </a:cubicBezTo>
                    <a:cubicBezTo>
                      <a:pt x="112233" y="483091"/>
                      <a:pt x="0" y="377337"/>
                      <a:pt x="0" y="241368"/>
                    </a:cubicBezTo>
                    <a:cubicBezTo>
                      <a:pt x="0" y="108242"/>
                      <a:pt x="108405" y="0"/>
                      <a:pt x="241643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6876798" y="3135914"/>
              <a:ext cx="4071949" cy="606197"/>
              <a:chOff x="6876798" y="3135914"/>
              <a:chExt cx="4071949" cy="606197"/>
            </a:xfrm>
          </p:grpSpPr>
          <p:cxnSp>
            <p:nvCxnSpPr>
              <p:cNvPr id="20" name="PA-直接连接符 31"/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7005442" y="3742111"/>
                <a:ext cx="3398778" cy="0"/>
              </a:xfrm>
              <a:prstGeom prst="line">
                <a:avLst/>
              </a:prstGeom>
              <a:noFill/>
              <a:ln w="3175" cap="rnd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</a:ln>
              <a:effectLst/>
            </p:spPr>
          </p:cxnSp>
          <p:sp>
            <p:nvSpPr>
              <p:cNvPr id="21" name="矩形 20"/>
              <p:cNvSpPr/>
              <p:nvPr/>
            </p:nvSpPr>
            <p:spPr>
              <a:xfrm>
                <a:off x="6876798" y="3135914"/>
                <a:ext cx="407194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24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华文楷体" panose="02010600040101010101" pitchFamily="2" charset="-122"/>
                    <a:ea typeface="华文楷体" panose="02010600040101010101" pitchFamily="2" charset="-122"/>
                    <a:sym typeface="+mn-lt"/>
                  </a:rPr>
                  <a:t>2.</a:t>
                </a:r>
                <a:r>
                  <a:rPr lang="zh-CN" altLang="en-US" sz="24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算法的后期测试</a:t>
                </a:r>
                <a:endParaRPr lang="zh-CN" altLang="en-US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</p:grpSp>
      <p:grpSp>
        <p:nvGrpSpPr>
          <p:cNvPr id="24" name="组合 23"/>
          <p:cNvGrpSpPr/>
          <p:nvPr/>
        </p:nvGrpSpPr>
        <p:grpSpPr>
          <a:xfrm>
            <a:off x="467544" y="3911180"/>
            <a:ext cx="5318156" cy="660157"/>
            <a:chOff x="6153786" y="4090507"/>
            <a:chExt cx="5318156" cy="660157"/>
          </a:xfrm>
        </p:grpSpPr>
        <p:grpSp>
          <p:nvGrpSpPr>
            <p:cNvPr id="25" name="îSľîḑe"/>
            <p:cNvGrpSpPr/>
            <p:nvPr/>
          </p:nvGrpSpPr>
          <p:grpSpPr>
            <a:xfrm>
              <a:off x="6153786" y="4161154"/>
              <a:ext cx="589510" cy="589510"/>
              <a:chOff x="7553961" y="4275658"/>
              <a:chExt cx="589510" cy="589510"/>
            </a:xfrm>
            <a:effectLst>
              <a:outerShdw blurRad="50800" dist="76200" dir="5400000" algn="ctr" rotWithShape="0">
                <a:srgbClr val="000000">
                  <a:alpha val="43137"/>
                </a:srgbClr>
              </a:outerShdw>
            </a:effectLst>
          </p:grpSpPr>
          <p:sp>
            <p:nvSpPr>
              <p:cNvPr id="29" name="PA-íṩḻíḋé"/>
              <p:cNvSpPr/>
              <p:nvPr>
                <p:custDataLst>
                  <p:tags r:id="rId7"/>
                </p:custDataLst>
              </p:nvPr>
            </p:nvSpPr>
            <p:spPr>
              <a:xfrm>
                <a:off x="7553961" y="4275658"/>
                <a:ext cx="589510" cy="589510"/>
              </a:xfrm>
              <a:prstGeom prst="ellipse">
                <a:avLst/>
              </a:prstGeom>
              <a:solidFill>
                <a:srgbClr val="187C86"/>
              </a:solidFill>
              <a:ln w="2222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" name="PA-ïṧḻïḋe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7655392" y="4383277"/>
                <a:ext cx="386648" cy="374272"/>
              </a:xfrm>
              <a:custGeom>
                <a:avLst/>
                <a:gdLst>
                  <a:gd name="connsiteX0" fmla="*/ 452855 w 582453"/>
                  <a:gd name="connsiteY0" fmla="*/ 373207 h 563815"/>
                  <a:gd name="connsiteX1" fmla="*/ 462456 w 582453"/>
                  <a:gd name="connsiteY1" fmla="*/ 374525 h 563815"/>
                  <a:gd name="connsiteX2" fmla="*/ 539855 w 582453"/>
                  <a:gd name="connsiteY2" fmla="*/ 418461 h 563815"/>
                  <a:gd name="connsiteX3" fmla="*/ 545132 w 582453"/>
                  <a:gd name="connsiteY3" fmla="*/ 436035 h 563815"/>
                  <a:gd name="connsiteX4" fmla="*/ 534578 w 582453"/>
                  <a:gd name="connsiteY4" fmla="*/ 443065 h 563815"/>
                  <a:gd name="connsiteX5" fmla="*/ 527541 w 582453"/>
                  <a:gd name="connsiteY5" fmla="*/ 441308 h 563815"/>
                  <a:gd name="connsiteX6" fmla="*/ 450729 w 582453"/>
                  <a:gd name="connsiteY6" fmla="*/ 397372 h 563815"/>
                  <a:gd name="connsiteX7" fmla="*/ 445452 w 582453"/>
                  <a:gd name="connsiteY7" fmla="*/ 379797 h 563815"/>
                  <a:gd name="connsiteX8" fmla="*/ 452855 w 582453"/>
                  <a:gd name="connsiteY8" fmla="*/ 373207 h 563815"/>
                  <a:gd name="connsiteX9" fmla="*/ 128583 w 582453"/>
                  <a:gd name="connsiteY9" fmla="*/ 372080 h 563815"/>
                  <a:gd name="connsiteX10" fmla="*/ 136726 w 582453"/>
                  <a:gd name="connsiteY10" fmla="*/ 378020 h 563815"/>
                  <a:gd name="connsiteX11" fmla="*/ 131444 w 582453"/>
                  <a:gd name="connsiteY11" fmla="*/ 395617 h 563815"/>
                  <a:gd name="connsiteX12" fmla="*/ 54564 w 582453"/>
                  <a:gd name="connsiteY12" fmla="*/ 439610 h 563815"/>
                  <a:gd name="connsiteX13" fmla="*/ 47522 w 582453"/>
                  <a:gd name="connsiteY13" fmla="*/ 441370 h 563815"/>
                  <a:gd name="connsiteX14" fmla="*/ 36958 w 582453"/>
                  <a:gd name="connsiteY14" fmla="*/ 434331 h 563815"/>
                  <a:gd name="connsiteX15" fmla="*/ 42240 w 582453"/>
                  <a:gd name="connsiteY15" fmla="*/ 416734 h 563815"/>
                  <a:gd name="connsiteX16" fmla="*/ 119120 w 582453"/>
                  <a:gd name="connsiteY16" fmla="*/ 372740 h 563815"/>
                  <a:gd name="connsiteX17" fmla="*/ 128583 w 582453"/>
                  <a:gd name="connsiteY17" fmla="*/ 372080 h 563815"/>
                  <a:gd name="connsiteX18" fmla="*/ 481761 w 582453"/>
                  <a:gd name="connsiteY18" fmla="*/ 276633 h 563815"/>
                  <a:gd name="connsiteX19" fmla="*/ 569792 w 582453"/>
                  <a:gd name="connsiteY19" fmla="*/ 276633 h 563815"/>
                  <a:gd name="connsiteX20" fmla="*/ 582116 w 582453"/>
                  <a:gd name="connsiteY20" fmla="*/ 288924 h 563815"/>
                  <a:gd name="connsiteX21" fmla="*/ 569792 w 582453"/>
                  <a:gd name="connsiteY21" fmla="*/ 301216 h 563815"/>
                  <a:gd name="connsiteX22" fmla="*/ 481761 w 582453"/>
                  <a:gd name="connsiteY22" fmla="*/ 301216 h 563815"/>
                  <a:gd name="connsiteX23" fmla="*/ 469437 w 582453"/>
                  <a:gd name="connsiteY23" fmla="*/ 288924 h 563815"/>
                  <a:gd name="connsiteX24" fmla="*/ 481761 w 582453"/>
                  <a:gd name="connsiteY24" fmla="*/ 276633 h 563815"/>
                  <a:gd name="connsiteX25" fmla="*/ 12323 w 582453"/>
                  <a:gd name="connsiteY25" fmla="*/ 276633 h 563815"/>
                  <a:gd name="connsiteX26" fmla="*/ 99762 w 582453"/>
                  <a:gd name="connsiteY26" fmla="*/ 276633 h 563815"/>
                  <a:gd name="connsiteX27" fmla="*/ 112085 w 582453"/>
                  <a:gd name="connsiteY27" fmla="*/ 288940 h 563815"/>
                  <a:gd name="connsiteX28" fmla="*/ 99762 w 582453"/>
                  <a:gd name="connsiteY28" fmla="*/ 301248 h 563815"/>
                  <a:gd name="connsiteX29" fmla="*/ 12323 w 582453"/>
                  <a:gd name="connsiteY29" fmla="*/ 301248 h 563815"/>
                  <a:gd name="connsiteX30" fmla="*/ 0 w 582453"/>
                  <a:gd name="connsiteY30" fmla="*/ 288940 h 563815"/>
                  <a:gd name="connsiteX31" fmla="*/ 12323 w 582453"/>
                  <a:gd name="connsiteY31" fmla="*/ 276633 h 563815"/>
                  <a:gd name="connsiteX32" fmla="*/ 291091 w 582453"/>
                  <a:gd name="connsiteY32" fmla="*/ 230905 h 563815"/>
                  <a:gd name="connsiteX33" fmla="*/ 273482 w 582453"/>
                  <a:gd name="connsiteY33" fmla="*/ 462418 h 563815"/>
                  <a:gd name="connsiteX34" fmla="*/ 291091 w 582453"/>
                  <a:gd name="connsiteY34" fmla="*/ 324096 h 563815"/>
                  <a:gd name="connsiteX35" fmla="*/ 291091 w 582453"/>
                  <a:gd name="connsiteY35" fmla="*/ 488207 h 563815"/>
                  <a:gd name="connsiteX36" fmla="*/ 291091 w 582453"/>
                  <a:gd name="connsiteY36" fmla="*/ 230905 h 563815"/>
                  <a:gd name="connsiteX37" fmla="*/ 291091 w 582453"/>
                  <a:gd name="connsiteY37" fmla="*/ 155883 h 563815"/>
                  <a:gd name="connsiteX38" fmla="*/ 433138 w 582453"/>
                  <a:gd name="connsiteY38" fmla="*/ 301238 h 563815"/>
                  <a:gd name="connsiteX39" fmla="*/ 352136 w 582453"/>
                  <a:gd name="connsiteY39" fmla="*/ 480001 h 563815"/>
                  <a:gd name="connsiteX40" fmla="*/ 348614 w 582453"/>
                  <a:gd name="connsiteY40" fmla="*/ 512824 h 563815"/>
                  <a:gd name="connsiteX41" fmla="*/ 289330 w 582453"/>
                  <a:gd name="connsiteY41" fmla="*/ 563815 h 563815"/>
                  <a:gd name="connsiteX42" fmla="*/ 229459 w 582453"/>
                  <a:gd name="connsiteY42" fmla="*/ 512824 h 563815"/>
                  <a:gd name="connsiteX43" fmla="*/ 225937 w 582453"/>
                  <a:gd name="connsiteY43" fmla="*/ 480001 h 563815"/>
                  <a:gd name="connsiteX44" fmla="*/ 145522 w 582453"/>
                  <a:gd name="connsiteY44" fmla="*/ 301238 h 563815"/>
                  <a:gd name="connsiteX45" fmla="*/ 291091 w 582453"/>
                  <a:gd name="connsiteY45" fmla="*/ 155883 h 563815"/>
                  <a:gd name="connsiteX46" fmla="*/ 536996 w 582453"/>
                  <a:gd name="connsiteY46" fmla="*/ 136984 h 563815"/>
                  <a:gd name="connsiteX47" fmla="*/ 545132 w 582453"/>
                  <a:gd name="connsiteY47" fmla="*/ 143583 h 563815"/>
                  <a:gd name="connsiteX48" fmla="*/ 539855 w 582453"/>
                  <a:gd name="connsiteY48" fmla="*/ 161180 h 563815"/>
                  <a:gd name="connsiteX49" fmla="*/ 462456 w 582453"/>
                  <a:gd name="connsiteY49" fmla="*/ 205173 h 563815"/>
                  <a:gd name="connsiteX50" fmla="*/ 456007 w 582453"/>
                  <a:gd name="connsiteY50" fmla="*/ 206933 h 563815"/>
                  <a:gd name="connsiteX51" fmla="*/ 445452 w 582453"/>
                  <a:gd name="connsiteY51" fmla="*/ 199894 h 563815"/>
                  <a:gd name="connsiteX52" fmla="*/ 450729 w 582453"/>
                  <a:gd name="connsiteY52" fmla="*/ 182297 h 563815"/>
                  <a:gd name="connsiteX53" fmla="*/ 527541 w 582453"/>
                  <a:gd name="connsiteY53" fmla="*/ 138303 h 563815"/>
                  <a:gd name="connsiteX54" fmla="*/ 536996 w 582453"/>
                  <a:gd name="connsiteY54" fmla="*/ 136984 h 563815"/>
                  <a:gd name="connsiteX55" fmla="*/ 44441 w 582453"/>
                  <a:gd name="connsiteY55" fmla="*/ 136984 h 563815"/>
                  <a:gd name="connsiteX56" fmla="*/ 54564 w 582453"/>
                  <a:gd name="connsiteY56" fmla="*/ 138303 h 563815"/>
                  <a:gd name="connsiteX57" fmla="*/ 131444 w 582453"/>
                  <a:gd name="connsiteY57" fmla="*/ 182297 h 563815"/>
                  <a:gd name="connsiteX58" fmla="*/ 136726 w 582453"/>
                  <a:gd name="connsiteY58" fmla="*/ 199894 h 563815"/>
                  <a:gd name="connsiteX59" fmla="*/ 126162 w 582453"/>
                  <a:gd name="connsiteY59" fmla="*/ 206933 h 563815"/>
                  <a:gd name="connsiteX60" fmla="*/ 119120 w 582453"/>
                  <a:gd name="connsiteY60" fmla="*/ 205173 h 563815"/>
                  <a:gd name="connsiteX61" fmla="*/ 42240 w 582453"/>
                  <a:gd name="connsiteY61" fmla="*/ 161180 h 563815"/>
                  <a:gd name="connsiteX62" fmla="*/ 36958 w 582453"/>
                  <a:gd name="connsiteY62" fmla="*/ 143583 h 563815"/>
                  <a:gd name="connsiteX63" fmla="*/ 44441 w 582453"/>
                  <a:gd name="connsiteY63" fmla="*/ 136984 h 563815"/>
                  <a:gd name="connsiteX64" fmla="*/ 426494 w 582453"/>
                  <a:gd name="connsiteY64" fmla="*/ 35635 h 563815"/>
                  <a:gd name="connsiteX65" fmla="*/ 436617 w 582453"/>
                  <a:gd name="connsiteY65" fmla="*/ 36954 h 563815"/>
                  <a:gd name="connsiteX66" fmla="*/ 441898 w 582453"/>
                  <a:gd name="connsiteY66" fmla="*/ 54539 h 563815"/>
                  <a:gd name="connsiteX67" fmla="*/ 397887 w 582453"/>
                  <a:gd name="connsiteY67" fmla="*/ 131329 h 563815"/>
                  <a:gd name="connsiteX68" fmla="*/ 387325 w 582453"/>
                  <a:gd name="connsiteY68" fmla="*/ 138363 h 563815"/>
                  <a:gd name="connsiteX69" fmla="*/ 380283 w 582453"/>
                  <a:gd name="connsiteY69" fmla="*/ 136604 h 563815"/>
                  <a:gd name="connsiteX70" fmla="*/ 375002 w 582453"/>
                  <a:gd name="connsiteY70" fmla="*/ 119019 h 563815"/>
                  <a:gd name="connsiteX71" fmla="*/ 419013 w 582453"/>
                  <a:gd name="connsiteY71" fmla="*/ 42230 h 563815"/>
                  <a:gd name="connsiteX72" fmla="*/ 426494 w 582453"/>
                  <a:gd name="connsiteY72" fmla="*/ 35635 h 563815"/>
                  <a:gd name="connsiteX73" fmla="*/ 155032 w 582453"/>
                  <a:gd name="connsiteY73" fmla="*/ 33845 h 563815"/>
                  <a:gd name="connsiteX74" fmla="*/ 163176 w 582453"/>
                  <a:gd name="connsiteY74" fmla="*/ 40440 h 563815"/>
                  <a:gd name="connsiteX75" fmla="*/ 206613 w 582453"/>
                  <a:gd name="connsiteY75" fmla="*/ 117229 h 563815"/>
                  <a:gd name="connsiteX76" fmla="*/ 201330 w 582453"/>
                  <a:gd name="connsiteY76" fmla="*/ 134814 h 563815"/>
                  <a:gd name="connsiteX77" fmla="*/ 194873 w 582453"/>
                  <a:gd name="connsiteY77" fmla="*/ 136573 h 563815"/>
                  <a:gd name="connsiteX78" fmla="*/ 184308 w 582453"/>
                  <a:gd name="connsiteY78" fmla="*/ 129539 h 563815"/>
                  <a:gd name="connsiteX79" fmla="*/ 140284 w 582453"/>
                  <a:gd name="connsiteY79" fmla="*/ 52749 h 563815"/>
                  <a:gd name="connsiteX80" fmla="*/ 145567 w 582453"/>
                  <a:gd name="connsiteY80" fmla="*/ 35164 h 563815"/>
                  <a:gd name="connsiteX81" fmla="*/ 155032 w 582453"/>
                  <a:gd name="connsiteY81" fmla="*/ 33845 h 563815"/>
                  <a:gd name="connsiteX82" fmla="*/ 291044 w 582453"/>
                  <a:gd name="connsiteY82" fmla="*/ 0 h 563815"/>
                  <a:gd name="connsiteX83" fmla="*/ 303382 w 582453"/>
                  <a:gd name="connsiteY83" fmla="*/ 12313 h 563815"/>
                  <a:gd name="connsiteX84" fmla="*/ 303382 w 582453"/>
                  <a:gd name="connsiteY84" fmla="*/ 99678 h 563815"/>
                  <a:gd name="connsiteX85" fmla="*/ 291044 w 582453"/>
                  <a:gd name="connsiteY85" fmla="*/ 111991 h 563815"/>
                  <a:gd name="connsiteX86" fmla="*/ 278705 w 582453"/>
                  <a:gd name="connsiteY86" fmla="*/ 99678 h 563815"/>
                  <a:gd name="connsiteX87" fmla="*/ 278705 w 582453"/>
                  <a:gd name="connsiteY87" fmla="*/ 12313 h 563815"/>
                  <a:gd name="connsiteX88" fmla="*/ 291044 w 582453"/>
                  <a:gd name="connsiteY88" fmla="*/ 0 h 563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582453" h="563815">
                    <a:moveTo>
                      <a:pt x="452855" y="373207"/>
                    </a:moveTo>
                    <a:cubicBezTo>
                      <a:pt x="455860" y="372328"/>
                      <a:pt x="459231" y="372767"/>
                      <a:pt x="462456" y="374525"/>
                    </a:cubicBezTo>
                    <a:lnTo>
                      <a:pt x="539855" y="418461"/>
                    </a:lnTo>
                    <a:cubicBezTo>
                      <a:pt x="545132" y="421976"/>
                      <a:pt x="548650" y="429005"/>
                      <a:pt x="545132" y="436035"/>
                    </a:cubicBezTo>
                    <a:cubicBezTo>
                      <a:pt x="543373" y="441308"/>
                      <a:pt x="539855" y="443065"/>
                      <a:pt x="534578" y="443065"/>
                    </a:cubicBezTo>
                    <a:cubicBezTo>
                      <a:pt x="531060" y="443065"/>
                      <a:pt x="529300" y="443065"/>
                      <a:pt x="527541" y="441308"/>
                    </a:cubicBezTo>
                    <a:lnTo>
                      <a:pt x="450729" y="397372"/>
                    </a:lnTo>
                    <a:cubicBezTo>
                      <a:pt x="443693" y="393857"/>
                      <a:pt x="441934" y="386827"/>
                      <a:pt x="445452" y="379797"/>
                    </a:cubicBezTo>
                    <a:cubicBezTo>
                      <a:pt x="447211" y="376282"/>
                      <a:pt x="449850" y="374085"/>
                      <a:pt x="452855" y="373207"/>
                    </a:cubicBezTo>
                    <a:close/>
                    <a:moveTo>
                      <a:pt x="128583" y="372080"/>
                    </a:moveTo>
                    <a:cubicBezTo>
                      <a:pt x="131884" y="373180"/>
                      <a:pt x="134965" y="375380"/>
                      <a:pt x="136726" y="378020"/>
                    </a:cubicBezTo>
                    <a:cubicBezTo>
                      <a:pt x="140247" y="383299"/>
                      <a:pt x="138486" y="392098"/>
                      <a:pt x="131444" y="395617"/>
                    </a:cubicBezTo>
                    <a:lnTo>
                      <a:pt x="54564" y="439610"/>
                    </a:lnTo>
                    <a:cubicBezTo>
                      <a:pt x="52804" y="441370"/>
                      <a:pt x="49283" y="441370"/>
                      <a:pt x="47522" y="441370"/>
                    </a:cubicBezTo>
                    <a:cubicBezTo>
                      <a:pt x="44001" y="441370"/>
                      <a:pt x="38719" y="437851"/>
                      <a:pt x="36958" y="434331"/>
                    </a:cubicBezTo>
                    <a:cubicBezTo>
                      <a:pt x="33437" y="429052"/>
                      <a:pt x="35198" y="420253"/>
                      <a:pt x="42240" y="416734"/>
                    </a:cubicBezTo>
                    <a:lnTo>
                      <a:pt x="119120" y="372740"/>
                    </a:lnTo>
                    <a:cubicBezTo>
                      <a:pt x="121761" y="370981"/>
                      <a:pt x="125282" y="370981"/>
                      <a:pt x="128583" y="372080"/>
                    </a:cubicBezTo>
                    <a:close/>
                    <a:moveTo>
                      <a:pt x="481761" y="276633"/>
                    </a:moveTo>
                    <a:lnTo>
                      <a:pt x="569792" y="276633"/>
                    </a:lnTo>
                    <a:cubicBezTo>
                      <a:pt x="578595" y="276633"/>
                      <a:pt x="583877" y="281901"/>
                      <a:pt x="582116" y="288924"/>
                    </a:cubicBezTo>
                    <a:cubicBezTo>
                      <a:pt x="582116" y="295948"/>
                      <a:pt x="576835" y="301216"/>
                      <a:pt x="569792" y="301216"/>
                    </a:cubicBezTo>
                    <a:lnTo>
                      <a:pt x="481761" y="301216"/>
                    </a:lnTo>
                    <a:cubicBezTo>
                      <a:pt x="474719" y="301216"/>
                      <a:pt x="469437" y="295948"/>
                      <a:pt x="469437" y="288924"/>
                    </a:cubicBezTo>
                    <a:cubicBezTo>
                      <a:pt x="469437" y="281901"/>
                      <a:pt x="474719" y="276633"/>
                      <a:pt x="481761" y="276633"/>
                    </a:cubicBezTo>
                    <a:close/>
                    <a:moveTo>
                      <a:pt x="12323" y="276633"/>
                    </a:moveTo>
                    <a:lnTo>
                      <a:pt x="99762" y="276633"/>
                    </a:lnTo>
                    <a:cubicBezTo>
                      <a:pt x="106804" y="276633"/>
                      <a:pt x="112085" y="281908"/>
                      <a:pt x="112085" y="288940"/>
                    </a:cubicBezTo>
                    <a:cubicBezTo>
                      <a:pt x="112085" y="295973"/>
                      <a:pt x="106804" y="303006"/>
                      <a:pt x="99762" y="301248"/>
                    </a:cubicBezTo>
                    <a:lnTo>
                      <a:pt x="12323" y="301248"/>
                    </a:lnTo>
                    <a:cubicBezTo>
                      <a:pt x="5281" y="301248"/>
                      <a:pt x="0" y="295973"/>
                      <a:pt x="0" y="288940"/>
                    </a:cubicBezTo>
                    <a:cubicBezTo>
                      <a:pt x="0" y="281908"/>
                      <a:pt x="5281" y="276633"/>
                      <a:pt x="12323" y="276633"/>
                    </a:cubicBezTo>
                    <a:close/>
                    <a:moveTo>
                      <a:pt x="291091" y="230905"/>
                    </a:moveTo>
                    <a:cubicBezTo>
                      <a:pt x="193067" y="324096"/>
                      <a:pt x="232981" y="407910"/>
                      <a:pt x="273482" y="462418"/>
                    </a:cubicBezTo>
                    <a:cubicBezTo>
                      <a:pt x="277004" y="465935"/>
                      <a:pt x="257634" y="379777"/>
                      <a:pt x="291091" y="324096"/>
                    </a:cubicBezTo>
                    <a:cubicBezTo>
                      <a:pt x="273482" y="378018"/>
                      <a:pt x="296374" y="457143"/>
                      <a:pt x="291091" y="488207"/>
                    </a:cubicBezTo>
                    <a:cubicBezTo>
                      <a:pt x="403203" y="374502"/>
                      <a:pt x="324548" y="280138"/>
                      <a:pt x="291091" y="230905"/>
                    </a:cubicBezTo>
                    <a:close/>
                    <a:moveTo>
                      <a:pt x="291091" y="155883"/>
                    </a:moveTo>
                    <a:cubicBezTo>
                      <a:pt x="371506" y="155883"/>
                      <a:pt x="436660" y="220941"/>
                      <a:pt x="433138" y="301238"/>
                    </a:cubicBezTo>
                    <a:cubicBezTo>
                      <a:pt x="433138" y="407910"/>
                      <a:pt x="357419" y="421977"/>
                      <a:pt x="352136" y="480001"/>
                    </a:cubicBezTo>
                    <a:lnTo>
                      <a:pt x="348614" y="512824"/>
                    </a:lnTo>
                    <a:cubicBezTo>
                      <a:pt x="343332" y="542715"/>
                      <a:pt x="319266" y="563815"/>
                      <a:pt x="289330" y="563815"/>
                    </a:cubicBezTo>
                    <a:cubicBezTo>
                      <a:pt x="259395" y="563815"/>
                      <a:pt x="234742" y="540957"/>
                      <a:pt x="229459" y="512824"/>
                    </a:cubicBezTo>
                    <a:lnTo>
                      <a:pt x="225937" y="480001"/>
                    </a:lnTo>
                    <a:cubicBezTo>
                      <a:pt x="222415" y="421977"/>
                      <a:pt x="145522" y="409668"/>
                      <a:pt x="145522" y="301238"/>
                    </a:cubicBezTo>
                    <a:cubicBezTo>
                      <a:pt x="145522" y="220941"/>
                      <a:pt x="210089" y="155883"/>
                      <a:pt x="291091" y="155883"/>
                    </a:cubicBezTo>
                    <a:close/>
                    <a:moveTo>
                      <a:pt x="536996" y="136984"/>
                    </a:moveTo>
                    <a:cubicBezTo>
                      <a:pt x="540295" y="137864"/>
                      <a:pt x="543373" y="140064"/>
                      <a:pt x="545132" y="143583"/>
                    </a:cubicBezTo>
                    <a:cubicBezTo>
                      <a:pt x="548650" y="148862"/>
                      <a:pt x="546891" y="157661"/>
                      <a:pt x="539855" y="161180"/>
                    </a:cubicBezTo>
                    <a:lnTo>
                      <a:pt x="462456" y="205173"/>
                    </a:lnTo>
                    <a:cubicBezTo>
                      <a:pt x="460697" y="206933"/>
                      <a:pt x="457766" y="206933"/>
                      <a:pt x="456007" y="206933"/>
                    </a:cubicBezTo>
                    <a:cubicBezTo>
                      <a:pt x="452488" y="206933"/>
                      <a:pt x="447211" y="205173"/>
                      <a:pt x="445452" y="199894"/>
                    </a:cubicBezTo>
                    <a:cubicBezTo>
                      <a:pt x="441934" y="194615"/>
                      <a:pt x="443693" y="185816"/>
                      <a:pt x="450729" y="182297"/>
                    </a:cubicBezTo>
                    <a:lnTo>
                      <a:pt x="527541" y="138303"/>
                    </a:lnTo>
                    <a:cubicBezTo>
                      <a:pt x="530180" y="136544"/>
                      <a:pt x="533698" y="136104"/>
                      <a:pt x="536996" y="136984"/>
                    </a:cubicBezTo>
                    <a:close/>
                    <a:moveTo>
                      <a:pt x="44441" y="136984"/>
                    </a:moveTo>
                    <a:cubicBezTo>
                      <a:pt x="47522" y="136104"/>
                      <a:pt x="51043" y="136544"/>
                      <a:pt x="54564" y="138303"/>
                    </a:cubicBezTo>
                    <a:lnTo>
                      <a:pt x="131444" y="182297"/>
                    </a:lnTo>
                    <a:cubicBezTo>
                      <a:pt x="138486" y="185816"/>
                      <a:pt x="140247" y="194615"/>
                      <a:pt x="136726" y="199894"/>
                    </a:cubicBezTo>
                    <a:cubicBezTo>
                      <a:pt x="134965" y="205173"/>
                      <a:pt x="131444" y="206933"/>
                      <a:pt x="126162" y="206933"/>
                    </a:cubicBezTo>
                    <a:cubicBezTo>
                      <a:pt x="122641" y="206933"/>
                      <a:pt x="120880" y="206933"/>
                      <a:pt x="119120" y="205173"/>
                    </a:cubicBezTo>
                    <a:lnTo>
                      <a:pt x="42240" y="161180"/>
                    </a:lnTo>
                    <a:cubicBezTo>
                      <a:pt x="35198" y="157661"/>
                      <a:pt x="33437" y="150622"/>
                      <a:pt x="36958" y="143583"/>
                    </a:cubicBezTo>
                    <a:cubicBezTo>
                      <a:pt x="38719" y="140064"/>
                      <a:pt x="41360" y="137864"/>
                      <a:pt x="44441" y="136984"/>
                    </a:cubicBezTo>
                    <a:close/>
                    <a:moveTo>
                      <a:pt x="426494" y="35635"/>
                    </a:moveTo>
                    <a:cubicBezTo>
                      <a:pt x="429575" y="34756"/>
                      <a:pt x="433096" y="35196"/>
                      <a:pt x="436617" y="36954"/>
                    </a:cubicBezTo>
                    <a:cubicBezTo>
                      <a:pt x="443659" y="40471"/>
                      <a:pt x="445419" y="49264"/>
                      <a:pt x="441898" y="54539"/>
                    </a:cubicBezTo>
                    <a:lnTo>
                      <a:pt x="397887" y="131329"/>
                    </a:lnTo>
                    <a:cubicBezTo>
                      <a:pt x="396127" y="136604"/>
                      <a:pt x="392606" y="138363"/>
                      <a:pt x="387325" y="138363"/>
                    </a:cubicBezTo>
                    <a:cubicBezTo>
                      <a:pt x="383804" y="138363"/>
                      <a:pt x="382044" y="138363"/>
                      <a:pt x="380283" y="136604"/>
                    </a:cubicBezTo>
                    <a:cubicBezTo>
                      <a:pt x="373241" y="133087"/>
                      <a:pt x="371481" y="126053"/>
                      <a:pt x="375002" y="119019"/>
                    </a:cubicBezTo>
                    <a:lnTo>
                      <a:pt x="419013" y="42230"/>
                    </a:lnTo>
                    <a:cubicBezTo>
                      <a:pt x="420773" y="38713"/>
                      <a:pt x="423414" y="36515"/>
                      <a:pt x="426494" y="35635"/>
                    </a:cubicBezTo>
                    <a:close/>
                    <a:moveTo>
                      <a:pt x="155032" y="33845"/>
                    </a:moveTo>
                    <a:cubicBezTo>
                      <a:pt x="158334" y="34725"/>
                      <a:pt x="161415" y="36923"/>
                      <a:pt x="163176" y="40440"/>
                    </a:cubicBezTo>
                    <a:lnTo>
                      <a:pt x="206613" y="117229"/>
                    </a:lnTo>
                    <a:cubicBezTo>
                      <a:pt x="210135" y="122505"/>
                      <a:pt x="208374" y="131297"/>
                      <a:pt x="201330" y="134814"/>
                    </a:cubicBezTo>
                    <a:cubicBezTo>
                      <a:pt x="199569" y="136573"/>
                      <a:pt x="196634" y="136573"/>
                      <a:pt x="194873" y="136573"/>
                    </a:cubicBezTo>
                    <a:cubicBezTo>
                      <a:pt x="191352" y="136573"/>
                      <a:pt x="186069" y="134814"/>
                      <a:pt x="184308" y="129539"/>
                    </a:cubicBezTo>
                    <a:lnTo>
                      <a:pt x="140284" y="52749"/>
                    </a:lnTo>
                    <a:cubicBezTo>
                      <a:pt x="136762" y="47474"/>
                      <a:pt x="138523" y="38681"/>
                      <a:pt x="145567" y="35164"/>
                    </a:cubicBezTo>
                    <a:cubicBezTo>
                      <a:pt x="148208" y="33406"/>
                      <a:pt x="151730" y="32966"/>
                      <a:pt x="155032" y="33845"/>
                    </a:cubicBezTo>
                    <a:close/>
                    <a:moveTo>
                      <a:pt x="291044" y="0"/>
                    </a:moveTo>
                    <a:cubicBezTo>
                      <a:pt x="298094" y="0"/>
                      <a:pt x="303382" y="5277"/>
                      <a:pt x="303382" y="12313"/>
                    </a:cubicBezTo>
                    <a:lnTo>
                      <a:pt x="303382" y="99678"/>
                    </a:lnTo>
                    <a:cubicBezTo>
                      <a:pt x="303382" y="106714"/>
                      <a:pt x="298094" y="111991"/>
                      <a:pt x="291044" y="111991"/>
                    </a:cubicBezTo>
                    <a:cubicBezTo>
                      <a:pt x="283993" y="111991"/>
                      <a:pt x="278705" y="104955"/>
                      <a:pt x="278705" y="99678"/>
                    </a:cubicBezTo>
                    <a:lnTo>
                      <a:pt x="278705" y="12313"/>
                    </a:lnTo>
                    <a:cubicBezTo>
                      <a:pt x="278705" y="5277"/>
                      <a:pt x="283993" y="0"/>
                      <a:pt x="291044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6941149" y="4090507"/>
              <a:ext cx="4530793" cy="660157"/>
              <a:chOff x="6941149" y="4090507"/>
              <a:chExt cx="4530793" cy="660157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6941149" y="4090507"/>
                <a:ext cx="453079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3</a:t>
                </a:r>
                <a:r>
                  <a:rPr lang="en-US" altLang="zh-CN" sz="24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.</a:t>
                </a:r>
                <a:r>
                  <a:rPr lang="zh-CN" altLang="en-US" sz="24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算法的事前估计</a:t>
                </a:r>
                <a:endParaRPr lang="zh-CN" altLang="en-US" sz="24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cxnSp>
            <p:nvCxnSpPr>
              <p:cNvPr id="28" name="PA-直接连接符 31"/>
              <p:cNvCxnSpPr/>
              <p:nvPr>
                <p:custDataLst>
                  <p:tags r:id="rId9"/>
                </p:custDataLst>
              </p:nvPr>
            </p:nvCxnSpPr>
            <p:spPr>
              <a:xfrm>
                <a:off x="7081243" y="4750664"/>
                <a:ext cx="3398778" cy="0"/>
              </a:xfrm>
              <a:prstGeom prst="line">
                <a:avLst/>
              </a:prstGeom>
              <a:noFill/>
              <a:ln w="3175" cap="rnd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</a:ln>
              <a:effectLst/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算法性能评价</a:t>
            </a: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标准</a:t>
            </a: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3919978" y="5236791"/>
            <a:ext cx="4911725" cy="320675"/>
          </a:xfrm>
        </p:spPr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180603" y="5722823"/>
            <a:ext cx="792163" cy="320675"/>
          </a:xfrm>
        </p:spPr>
        <p:txBody>
          <a:bodyPr/>
          <a:lstStyle/>
          <a:p>
            <a:pPr>
              <a:defRPr/>
            </a:pPr>
            <a:fld id="{E5EF5022-25BF-4E3C-8D1D-8C255762D1DE}" type="slidenum">
              <a:rPr lang="en-US" altLang="zh-CN" smtClean="0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grpSp>
        <p:nvGrpSpPr>
          <p:cNvPr id="7" name="组合 6"/>
          <p:cNvGrpSpPr/>
          <p:nvPr/>
        </p:nvGrpSpPr>
        <p:grpSpPr>
          <a:xfrm>
            <a:off x="304800" y="1157698"/>
            <a:ext cx="8077877" cy="1100032"/>
            <a:chOff x="2143642" y="2279812"/>
            <a:chExt cx="8077877" cy="1100032"/>
          </a:xfrm>
        </p:grpSpPr>
        <p:grpSp>
          <p:nvGrpSpPr>
            <p:cNvPr id="8" name="组合 7"/>
            <p:cNvGrpSpPr/>
            <p:nvPr/>
          </p:nvGrpSpPr>
          <p:grpSpPr>
            <a:xfrm>
              <a:off x="2143642" y="2279812"/>
              <a:ext cx="8077877" cy="1100032"/>
              <a:chOff x="2143642" y="2279812"/>
              <a:chExt cx="8077877" cy="1100032"/>
            </a:xfrm>
          </p:grpSpPr>
          <p:sp>
            <p:nvSpPr>
              <p:cNvPr id="12" name="矩形 3"/>
              <p:cNvSpPr/>
              <p:nvPr/>
            </p:nvSpPr>
            <p:spPr>
              <a:xfrm>
                <a:off x="2143642" y="2279812"/>
                <a:ext cx="8077877" cy="1100032"/>
              </a:xfrm>
              <a:custGeom>
                <a:avLst/>
                <a:gdLst/>
                <a:ahLst/>
                <a:cxnLst/>
                <a:rect l="l" t="t" r="r" b="b"/>
                <a:pathLst>
                  <a:path w="6025861" h="1158747">
                    <a:moveTo>
                      <a:pt x="575194" y="0"/>
                    </a:moveTo>
                    <a:lnTo>
                      <a:pt x="1992514" y="0"/>
                    </a:lnTo>
                    <a:lnTo>
                      <a:pt x="4154179" y="0"/>
                    </a:lnTo>
                    <a:lnTo>
                      <a:pt x="5571499" y="0"/>
                    </a:lnTo>
                    <a:lnTo>
                      <a:pt x="5571499" y="474"/>
                    </a:lnTo>
                    <a:lnTo>
                      <a:pt x="5639364" y="474"/>
                    </a:lnTo>
                    <a:cubicBezTo>
                      <a:pt x="5661410" y="0"/>
                      <a:pt x="5683924" y="5211"/>
                      <a:pt x="5704562" y="17528"/>
                    </a:cubicBezTo>
                    <a:cubicBezTo>
                      <a:pt x="5723793" y="28424"/>
                      <a:pt x="5739272" y="44057"/>
                      <a:pt x="5749591" y="62533"/>
                    </a:cubicBezTo>
                    <a:lnTo>
                      <a:pt x="6008038" y="514473"/>
                    </a:lnTo>
                    <a:cubicBezTo>
                      <a:pt x="6019294" y="533422"/>
                      <a:pt x="6025861" y="555687"/>
                      <a:pt x="6025861" y="579374"/>
                    </a:cubicBezTo>
                    <a:cubicBezTo>
                      <a:pt x="6025861" y="603534"/>
                      <a:pt x="6019294" y="625799"/>
                      <a:pt x="6007568" y="644749"/>
                    </a:cubicBezTo>
                    <a:lnTo>
                      <a:pt x="5749591" y="1096688"/>
                    </a:lnTo>
                    <a:cubicBezTo>
                      <a:pt x="5738803" y="1114690"/>
                      <a:pt x="5723793" y="1130324"/>
                      <a:pt x="5704562" y="1141693"/>
                    </a:cubicBezTo>
                    <a:cubicBezTo>
                      <a:pt x="5684393" y="1153536"/>
                      <a:pt x="5662348" y="1158747"/>
                      <a:pt x="5640302" y="1158273"/>
                    </a:cubicBezTo>
                    <a:lnTo>
                      <a:pt x="5571499" y="1158273"/>
                    </a:lnTo>
                    <a:lnTo>
                      <a:pt x="5571499" y="1158747"/>
                    </a:lnTo>
                    <a:lnTo>
                      <a:pt x="4154179" y="1158747"/>
                    </a:lnTo>
                    <a:lnTo>
                      <a:pt x="1992514" y="1158747"/>
                    </a:lnTo>
                    <a:lnTo>
                      <a:pt x="575194" y="1158747"/>
                    </a:lnTo>
                    <a:lnTo>
                      <a:pt x="575194" y="1158273"/>
                    </a:lnTo>
                    <a:lnTo>
                      <a:pt x="382745" y="1158273"/>
                    </a:lnTo>
                    <a:cubicBezTo>
                      <a:pt x="362107" y="1158273"/>
                      <a:pt x="340530" y="1153062"/>
                      <a:pt x="321299" y="1141693"/>
                    </a:cubicBezTo>
                    <a:cubicBezTo>
                      <a:pt x="302069" y="1130324"/>
                      <a:pt x="286590" y="1114690"/>
                      <a:pt x="276270" y="1096215"/>
                    </a:cubicBezTo>
                    <a:lnTo>
                      <a:pt x="16886" y="642380"/>
                    </a:lnTo>
                    <a:cubicBezTo>
                      <a:pt x="6098" y="623904"/>
                      <a:pt x="0" y="602587"/>
                      <a:pt x="0" y="579374"/>
                    </a:cubicBezTo>
                    <a:cubicBezTo>
                      <a:pt x="0" y="556161"/>
                      <a:pt x="6098" y="534843"/>
                      <a:pt x="16886" y="515894"/>
                    </a:cubicBezTo>
                    <a:lnTo>
                      <a:pt x="275332" y="63954"/>
                    </a:lnTo>
                    <a:cubicBezTo>
                      <a:pt x="286120" y="45478"/>
                      <a:pt x="301599" y="28898"/>
                      <a:pt x="321299" y="17528"/>
                    </a:cubicBezTo>
                    <a:cubicBezTo>
                      <a:pt x="339592" y="6633"/>
                      <a:pt x="359762" y="948"/>
                      <a:pt x="379930" y="474"/>
                    </a:cubicBezTo>
                    <a:lnTo>
                      <a:pt x="575194" y="474"/>
                    </a:lnTo>
                    <a:close/>
                  </a:path>
                </a:pathLst>
              </a:custGeom>
              <a:noFill/>
              <a:ln w="19050">
                <a:solidFill>
                  <a:srgbClr val="187C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901" tIns="60949" rIns="121901" bIns="60949" rtlCol="0" anchor="ctr"/>
              <a:lstStyle/>
              <a:p>
                <a:pPr algn="ctr"/>
                <a:endPara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460951" y="2520564"/>
                <a:ext cx="64060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kumimoji="1" lang="zh-CN" altLang="en-US" sz="24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正确性</a:t>
                </a:r>
                <a:endParaRPr kumimoji="1" lang="zh-CN" altLang="en-US" sz="24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2604205" y="2527505"/>
              <a:ext cx="648589" cy="584775"/>
              <a:chOff x="1842389" y="2211400"/>
              <a:chExt cx="1740040" cy="1568839"/>
            </a:xfrm>
          </p:grpSpPr>
          <p:sp>
            <p:nvSpPr>
              <p:cNvPr id="10" name="Freeform 5"/>
              <p:cNvSpPr/>
              <p:nvPr/>
            </p:nvSpPr>
            <p:spPr bwMode="auto">
              <a:xfrm>
                <a:off x="1842389" y="2211400"/>
                <a:ext cx="1740040" cy="1568839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187C86"/>
              </a:solidFill>
              <a:ln w="9525" cap="flat">
                <a:noFill/>
                <a:prstDash val="solid"/>
                <a:miter lim="800000"/>
              </a:ln>
              <a:effectLst>
                <a:outerShdw blurRad="50800" dist="63500" dir="5400000" algn="ctr" rotWithShape="0">
                  <a:srgbClr val="000000">
                    <a:alpha val="43137"/>
                  </a:srgbClr>
                </a:outerShdw>
              </a:effectLst>
            </p:spPr>
            <p:txBody>
              <a:bodyPr vert="horz" wrap="square" lIns="121901" tIns="60949" rIns="121901" bIns="60949" numCol="1" anchor="t" anchorCtr="0" compatLnSpc="1"/>
              <a:lstStyle/>
              <a:p>
                <a:endParaRPr lang="zh-CN" altLang="en-US" sz="3200" b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TextBox 45"/>
              <p:cNvSpPr txBox="1"/>
              <p:nvPr/>
            </p:nvSpPr>
            <p:spPr>
              <a:xfrm>
                <a:off x="2400834" y="2499778"/>
                <a:ext cx="767203" cy="990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zh-CN"/>
                </a:defPPr>
                <a:lvl1pPr>
                  <a:defRPr sz="22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defRPr>
                </a:lvl1pPr>
              </a:lstStyle>
              <a:p>
                <a:pPr lvl="0">
                  <a:spcBef>
                    <a:spcPct val="0"/>
                  </a:spcBef>
                </a:pPr>
                <a:r>
                  <a:rPr lang="en-US" altLang="zh-CN" sz="2400" b="1" spc="100" dirty="0">
                    <a:latin typeface="+mn-lt"/>
                    <a:ea typeface="+mn-ea"/>
                    <a:cs typeface="+mn-ea"/>
                    <a:sym typeface="+mn-lt"/>
                  </a:rPr>
                  <a:t>1</a:t>
                </a:r>
                <a:endParaRPr lang="zh-CN" altLang="en-US" sz="2400" b="1" dirty="0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4" name="组合 13"/>
          <p:cNvGrpSpPr/>
          <p:nvPr/>
        </p:nvGrpSpPr>
        <p:grpSpPr>
          <a:xfrm>
            <a:off x="302825" y="2365221"/>
            <a:ext cx="8077877" cy="1100032"/>
            <a:chOff x="2143642" y="3749413"/>
            <a:chExt cx="8077877" cy="1100032"/>
          </a:xfrm>
        </p:grpSpPr>
        <p:grpSp>
          <p:nvGrpSpPr>
            <p:cNvPr id="15" name="组合 14"/>
            <p:cNvGrpSpPr/>
            <p:nvPr/>
          </p:nvGrpSpPr>
          <p:grpSpPr>
            <a:xfrm>
              <a:off x="2143642" y="3749413"/>
              <a:ext cx="8077877" cy="1100032"/>
              <a:chOff x="2143642" y="3749413"/>
              <a:chExt cx="8077877" cy="1100032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3475744" y="4007041"/>
                <a:ext cx="614137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kumimoji="1" lang="zh-CN" altLang="en-US" sz="24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可读性</a:t>
                </a:r>
                <a:endParaRPr kumimoji="1" lang="zh-CN" altLang="en-US" sz="24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20" name="矩形 3"/>
              <p:cNvSpPr/>
              <p:nvPr/>
            </p:nvSpPr>
            <p:spPr>
              <a:xfrm>
                <a:off x="2143642" y="3749413"/>
                <a:ext cx="8077877" cy="1100032"/>
              </a:xfrm>
              <a:custGeom>
                <a:avLst/>
                <a:gdLst/>
                <a:ahLst/>
                <a:cxnLst/>
                <a:rect l="l" t="t" r="r" b="b"/>
                <a:pathLst>
                  <a:path w="6025861" h="1158747">
                    <a:moveTo>
                      <a:pt x="575194" y="0"/>
                    </a:moveTo>
                    <a:lnTo>
                      <a:pt x="1992514" y="0"/>
                    </a:lnTo>
                    <a:lnTo>
                      <a:pt x="4154179" y="0"/>
                    </a:lnTo>
                    <a:lnTo>
                      <a:pt x="5571499" y="0"/>
                    </a:lnTo>
                    <a:lnTo>
                      <a:pt x="5571499" y="474"/>
                    </a:lnTo>
                    <a:lnTo>
                      <a:pt x="5639364" y="474"/>
                    </a:lnTo>
                    <a:cubicBezTo>
                      <a:pt x="5661410" y="0"/>
                      <a:pt x="5683924" y="5211"/>
                      <a:pt x="5704562" y="17528"/>
                    </a:cubicBezTo>
                    <a:cubicBezTo>
                      <a:pt x="5723793" y="28424"/>
                      <a:pt x="5739272" y="44057"/>
                      <a:pt x="5749591" y="62533"/>
                    </a:cubicBezTo>
                    <a:lnTo>
                      <a:pt x="6008038" y="514473"/>
                    </a:lnTo>
                    <a:cubicBezTo>
                      <a:pt x="6019294" y="533422"/>
                      <a:pt x="6025861" y="555687"/>
                      <a:pt x="6025861" y="579374"/>
                    </a:cubicBezTo>
                    <a:cubicBezTo>
                      <a:pt x="6025861" y="603534"/>
                      <a:pt x="6019294" y="625799"/>
                      <a:pt x="6007568" y="644749"/>
                    </a:cubicBezTo>
                    <a:lnTo>
                      <a:pt x="5749591" y="1096688"/>
                    </a:lnTo>
                    <a:cubicBezTo>
                      <a:pt x="5738803" y="1114690"/>
                      <a:pt x="5723793" y="1130324"/>
                      <a:pt x="5704562" y="1141693"/>
                    </a:cubicBezTo>
                    <a:cubicBezTo>
                      <a:pt x="5684393" y="1153536"/>
                      <a:pt x="5662348" y="1158747"/>
                      <a:pt x="5640302" y="1158273"/>
                    </a:cubicBezTo>
                    <a:lnTo>
                      <a:pt x="5571499" y="1158273"/>
                    </a:lnTo>
                    <a:lnTo>
                      <a:pt x="5571499" y="1158747"/>
                    </a:lnTo>
                    <a:lnTo>
                      <a:pt x="4154179" y="1158747"/>
                    </a:lnTo>
                    <a:lnTo>
                      <a:pt x="1992514" y="1158747"/>
                    </a:lnTo>
                    <a:lnTo>
                      <a:pt x="575194" y="1158747"/>
                    </a:lnTo>
                    <a:lnTo>
                      <a:pt x="575194" y="1158273"/>
                    </a:lnTo>
                    <a:lnTo>
                      <a:pt x="382745" y="1158273"/>
                    </a:lnTo>
                    <a:cubicBezTo>
                      <a:pt x="362107" y="1158273"/>
                      <a:pt x="340530" y="1153062"/>
                      <a:pt x="321299" y="1141693"/>
                    </a:cubicBezTo>
                    <a:cubicBezTo>
                      <a:pt x="302069" y="1130324"/>
                      <a:pt x="286590" y="1114690"/>
                      <a:pt x="276270" y="1096215"/>
                    </a:cubicBezTo>
                    <a:lnTo>
                      <a:pt x="16886" y="642380"/>
                    </a:lnTo>
                    <a:cubicBezTo>
                      <a:pt x="6098" y="623904"/>
                      <a:pt x="0" y="602587"/>
                      <a:pt x="0" y="579374"/>
                    </a:cubicBezTo>
                    <a:cubicBezTo>
                      <a:pt x="0" y="556161"/>
                      <a:pt x="6098" y="534843"/>
                      <a:pt x="16886" y="515894"/>
                    </a:cubicBezTo>
                    <a:lnTo>
                      <a:pt x="275332" y="63954"/>
                    </a:lnTo>
                    <a:cubicBezTo>
                      <a:pt x="286120" y="45478"/>
                      <a:pt x="301599" y="28898"/>
                      <a:pt x="321299" y="17528"/>
                    </a:cubicBezTo>
                    <a:cubicBezTo>
                      <a:pt x="339592" y="6633"/>
                      <a:pt x="359762" y="948"/>
                      <a:pt x="379930" y="474"/>
                    </a:cubicBezTo>
                    <a:lnTo>
                      <a:pt x="575194" y="474"/>
                    </a:lnTo>
                    <a:close/>
                  </a:path>
                </a:pathLst>
              </a:custGeom>
              <a:noFill/>
              <a:ln w="19050">
                <a:solidFill>
                  <a:srgbClr val="187C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901" tIns="60949" rIns="121901" bIns="60949" rtlCol="0" anchor="ctr"/>
              <a:lstStyle/>
              <a:p>
                <a:pPr algn="ctr"/>
                <a:endPara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2604205" y="4007041"/>
              <a:ext cx="648589" cy="584775"/>
              <a:chOff x="1842389" y="2211400"/>
              <a:chExt cx="1740040" cy="1568839"/>
            </a:xfrm>
          </p:grpSpPr>
          <p:sp>
            <p:nvSpPr>
              <p:cNvPr id="17" name="Freeform 5"/>
              <p:cNvSpPr/>
              <p:nvPr/>
            </p:nvSpPr>
            <p:spPr bwMode="auto">
              <a:xfrm>
                <a:off x="1842389" y="2211400"/>
                <a:ext cx="1740040" cy="1568839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187C86"/>
              </a:solidFill>
              <a:ln w="9525" cap="flat">
                <a:noFill/>
                <a:prstDash val="solid"/>
                <a:miter lim="800000"/>
              </a:ln>
              <a:effectLst>
                <a:outerShdw blurRad="50800" dist="63500" dir="5400000" algn="ctr" rotWithShape="0">
                  <a:srgbClr val="000000">
                    <a:alpha val="43137"/>
                  </a:srgbClr>
                </a:outerShdw>
              </a:effectLst>
            </p:spPr>
            <p:txBody>
              <a:bodyPr vert="horz" wrap="square" lIns="121901" tIns="60949" rIns="121901" bIns="60949" numCol="1" anchor="t" anchorCtr="0" compatLnSpc="1"/>
              <a:lstStyle/>
              <a:p>
                <a:endParaRPr lang="zh-CN" altLang="en-US" sz="32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8" name="TextBox 45"/>
              <p:cNvSpPr txBox="1"/>
              <p:nvPr/>
            </p:nvSpPr>
            <p:spPr>
              <a:xfrm>
                <a:off x="2400834" y="2499778"/>
                <a:ext cx="767203" cy="990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zh-CN"/>
                </a:defPPr>
                <a:lvl1pPr>
                  <a:defRPr sz="22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defRPr>
                </a:lvl1pPr>
              </a:lstStyle>
              <a:p>
                <a:pPr lvl="0">
                  <a:spcBef>
                    <a:spcPct val="0"/>
                  </a:spcBef>
                </a:pPr>
                <a:r>
                  <a:rPr lang="en-US" altLang="zh-CN" sz="2400" b="1" spc="100" dirty="0">
                    <a:latin typeface="+mn-lt"/>
                    <a:ea typeface="+mn-ea"/>
                    <a:cs typeface="+mn-ea"/>
                    <a:sym typeface="+mn-lt"/>
                  </a:rPr>
                  <a:t>2</a:t>
                </a:r>
                <a:endParaRPr lang="zh-CN" altLang="en-US" sz="2400" b="1" dirty="0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1" name="组合 20"/>
          <p:cNvGrpSpPr/>
          <p:nvPr/>
        </p:nvGrpSpPr>
        <p:grpSpPr>
          <a:xfrm>
            <a:off x="248215" y="3540441"/>
            <a:ext cx="8077877" cy="1100032"/>
            <a:chOff x="2143642" y="2279812"/>
            <a:chExt cx="8077877" cy="1100032"/>
          </a:xfrm>
        </p:grpSpPr>
        <p:grpSp>
          <p:nvGrpSpPr>
            <p:cNvPr id="22" name="组合 21"/>
            <p:cNvGrpSpPr/>
            <p:nvPr/>
          </p:nvGrpSpPr>
          <p:grpSpPr>
            <a:xfrm>
              <a:off x="2143642" y="2279812"/>
              <a:ext cx="8077877" cy="1100032"/>
              <a:chOff x="2143642" y="2279812"/>
              <a:chExt cx="8077877" cy="1100032"/>
            </a:xfrm>
          </p:grpSpPr>
          <p:sp>
            <p:nvSpPr>
              <p:cNvPr id="26" name="矩形 3"/>
              <p:cNvSpPr/>
              <p:nvPr/>
            </p:nvSpPr>
            <p:spPr>
              <a:xfrm>
                <a:off x="2143642" y="2279812"/>
                <a:ext cx="8077877" cy="1100032"/>
              </a:xfrm>
              <a:custGeom>
                <a:avLst/>
                <a:gdLst/>
                <a:ahLst/>
                <a:cxnLst/>
                <a:rect l="l" t="t" r="r" b="b"/>
                <a:pathLst>
                  <a:path w="6025861" h="1158747">
                    <a:moveTo>
                      <a:pt x="575194" y="0"/>
                    </a:moveTo>
                    <a:lnTo>
                      <a:pt x="1992514" y="0"/>
                    </a:lnTo>
                    <a:lnTo>
                      <a:pt x="4154179" y="0"/>
                    </a:lnTo>
                    <a:lnTo>
                      <a:pt x="5571499" y="0"/>
                    </a:lnTo>
                    <a:lnTo>
                      <a:pt x="5571499" y="474"/>
                    </a:lnTo>
                    <a:lnTo>
                      <a:pt x="5639364" y="474"/>
                    </a:lnTo>
                    <a:cubicBezTo>
                      <a:pt x="5661410" y="0"/>
                      <a:pt x="5683924" y="5211"/>
                      <a:pt x="5704562" y="17528"/>
                    </a:cubicBezTo>
                    <a:cubicBezTo>
                      <a:pt x="5723793" y="28424"/>
                      <a:pt x="5739272" y="44057"/>
                      <a:pt x="5749591" y="62533"/>
                    </a:cubicBezTo>
                    <a:lnTo>
                      <a:pt x="6008038" y="514473"/>
                    </a:lnTo>
                    <a:cubicBezTo>
                      <a:pt x="6019294" y="533422"/>
                      <a:pt x="6025861" y="555687"/>
                      <a:pt x="6025861" y="579374"/>
                    </a:cubicBezTo>
                    <a:cubicBezTo>
                      <a:pt x="6025861" y="603534"/>
                      <a:pt x="6019294" y="625799"/>
                      <a:pt x="6007568" y="644749"/>
                    </a:cubicBezTo>
                    <a:lnTo>
                      <a:pt x="5749591" y="1096688"/>
                    </a:lnTo>
                    <a:cubicBezTo>
                      <a:pt x="5738803" y="1114690"/>
                      <a:pt x="5723793" y="1130324"/>
                      <a:pt x="5704562" y="1141693"/>
                    </a:cubicBezTo>
                    <a:cubicBezTo>
                      <a:pt x="5684393" y="1153536"/>
                      <a:pt x="5662348" y="1158747"/>
                      <a:pt x="5640302" y="1158273"/>
                    </a:cubicBezTo>
                    <a:lnTo>
                      <a:pt x="5571499" y="1158273"/>
                    </a:lnTo>
                    <a:lnTo>
                      <a:pt x="5571499" y="1158747"/>
                    </a:lnTo>
                    <a:lnTo>
                      <a:pt x="4154179" y="1158747"/>
                    </a:lnTo>
                    <a:lnTo>
                      <a:pt x="1992514" y="1158747"/>
                    </a:lnTo>
                    <a:lnTo>
                      <a:pt x="575194" y="1158747"/>
                    </a:lnTo>
                    <a:lnTo>
                      <a:pt x="575194" y="1158273"/>
                    </a:lnTo>
                    <a:lnTo>
                      <a:pt x="382745" y="1158273"/>
                    </a:lnTo>
                    <a:cubicBezTo>
                      <a:pt x="362107" y="1158273"/>
                      <a:pt x="340530" y="1153062"/>
                      <a:pt x="321299" y="1141693"/>
                    </a:cubicBezTo>
                    <a:cubicBezTo>
                      <a:pt x="302069" y="1130324"/>
                      <a:pt x="286590" y="1114690"/>
                      <a:pt x="276270" y="1096215"/>
                    </a:cubicBezTo>
                    <a:lnTo>
                      <a:pt x="16886" y="642380"/>
                    </a:lnTo>
                    <a:cubicBezTo>
                      <a:pt x="6098" y="623904"/>
                      <a:pt x="0" y="602587"/>
                      <a:pt x="0" y="579374"/>
                    </a:cubicBezTo>
                    <a:cubicBezTo>
                      <a:pt x="0" y="556161"/>
                      <a:pt x="6098" y="534843"/>
                      <a:pt x="16886" y="515894"/>
                    </a:cubicBezTo>
                    <a:lnTo>
                      <a:pt x="275332" y="63954"/>
                    </a:lnTo>
                    <a:cubicBezTo>
                      <a:pt x="286120" y="45478"/>
                      <a:pt x="301599" y="28898"/>
                      <a:pt x="321299" y="17528"/>
                    </a:cubicBezTo>
                    <a:cubicBezTo>
                      <a:pt x="339592" y="6633"/>
                      <a:pt x="359762" y="948"/>
                      <a:pt x="379930" y="474"/>
                    </a:cubicBezTo>
                    <a:lnTo>
                      <a:pt x="575194" y="474"/>
                    </a:lnTo>
                    <a:close/>
                  </a:path>
                </a:pathLst>
              </a:custGeom>
              <a:noFill/>
              <a:ln w="19050">
                <a:solidFill>
                  <a:srgbClr val="187C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901" tIns="60949" rIns="121901" bIns="60949" rtlCol="0" anchor="ctr"/>
              <a:lstStyle/>
              <a:p>
                <a:pPr algn="ctr"/>
                <a:endPara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3460951" y="2520564"/>
                <a:ext cx="64060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kumimoji="1" lang="zh-CN" altLang="en-US" sz="2400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健壮性</a:t>
                </a:r>
                <a:endParaRPr kumimoji="1" lang="zh-CN" altLang="en-US" sz="24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2604205" y="2527505"/>
              <a:ext cx="648589" cy="584775"/>
              <a:chOff x="1842389" y="2211400"/>
              <a:chExt cx="1740040" cy="1568839"/>
            </a:xfrm>
          </p:grpSpPr>
          <p:sp>
            <p:nvSpPr>
              <p:cNvPr id="24" name="Freeform 5"/>
              <p:cNvSpPr/>
              <p:nvPr/>
            </p:nvSpPr>
            <p:spPr bwMode="auto">
              <a:xfrm>
                <a:off x="1842389" y="2211400"/>
                <a:ext cx="1740040" cy="1568839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187C86"/>
              </a:solidFill>
              <a:ln w="9525" cap="flat">
                <a:noFill/>
                <a:prstDash val="solid"/>
                <a:miter lim="800000"/>
              </a:ln>
              <a:effectLst>
                <a:outerShdw blurRad="50800" dist="63500" dir="5400000" algn="ctr" rotWithShape="0">
                  <a:srgbClr val="000000">
                    <a:alpha val="43137"/>
                  </a:srgbClr>
                </a:outerShdw>
              </a:effectLst>
            </p:spPr>
            <p:txBody>
              <a:bodyPr vert="horz" wrap="square" lIns="121901" tIns="60949" rIns="121901" bIns="60949" numCol="1" anchor="t" anchorCtr="0" compatLnSpc="1"/>
              <a:lstStyle/>
              <a:p>
                <a:endParaRPr lang="zh-CN" altLang="en-US" sz="3200" b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5" name="TextBox 45"/>
              <p:cNvSpPr txBox="1"/>
              <p:nvPr/>
            </p:nvSpPr>
            <p:spPr>
              <a:xfrm>
                <a:off x="2400834" y="2499778"/>
                <a:ext cx="767203" cy="990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zh-CN"/>
                </a:defPPr>
                <a:lvl1pPr>
                  <a:defRPr sz="22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defRPr>
                </a:lvl1pPr>
              </a:lstStyle>
              <a:p>
                <a:pPr lvl="0">
                  <a:spcBef>
                    <a:spcPct val="0"/>
                  </a:spcBef>
                </a:pPr>
                <a:r>
                  <a:rPr lang="en-US" altLang="zh-CN" sz="2400" b="1" spc="100" dirty="0" smtClean="0">
                    <a:latin typeface="+mn-lt"/>
                    <a:ea typeface="+mn-ea"/>
                    <a:cs typeface="+mn-ea"/>
                    <a:sym typeface="+mn-lt"/>
                  </a:rPr>
                  <a:t>3</a:t>
                </a:r>
                <a:endParaRPr lang="zh-CN" altLang="en-US" sz="2400" b="1" dirty="0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252162" y="4887120"/>
            <a:ext cx="8077877" cy="1100032"/>
            <a:chOff x="2143642" y="3749413"/>
            <a:chExt cx="8077877" cy="1100032"/>
          </a:xfrm>
        </p:grpSpPr>
        <p:grpSp>
          <p:nvGrpSpPr>
            <p:cNvPr id="29" name="组合 28"/>
            <p:cNvGrpSpPr/>
            <p:nvPr/>
          </p:nvGrpSpPr>
          <p:grpSpPr>
            <a:xfrm>
              <a:off x="2143642" y="3749413"/>
              <a:ext cx="8077877" cy="1100032"/>
              <a:chOff x="2143642" y="3749413"/>
              <a:chExt cx="8077877" cy="1100032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3475744" y="4007041"/>
                <a:ext cx="614137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kumimoji="1" lang="zh-CN" altLang="en-US" sz="2400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高效率与低存储需求</a:t>
                </a:r>
                <a:endParaRPr kumimoji="1" lang="zh-CN" altLang="en-US" sz="24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4" name="矩形 3"/>
              <p:cNvSpPr/>
              <p:nvPr/>
            </p:nvSpPr>
            <p:spPr>
              <a:xfrm>
                <a:off x="2143642" y="3749413"/>
                <a:ext cx="8077877" cy="1100032"/>
              </a:xfrm>
              <a:custGeom>
                <a:avLst/>
                <a:gdLst/>
                <a:ahLst/>
                <a:cxnLst/>
                <a:rect l="l" t="t" r="r" b="b"/>
                <a:pathLst>
                  <a:path w="6025861" h="1158747">
                    <a:moveTo>
                      <a:pt x="575194" y="0"/>
                    </a:moveTo>
                    <a:lnTo>
                      <a:pt x="1992514" y="0"/>
                    </a:lnTo>
                    <a:lnTo>
                      <a:pt x="4154179" y="0"/>
                    </a:lnTo>
                    <a:lnTo>
                      <a:pt x="5571499" y="0"/>
                    </a:lnTo>
                    <a:lnTo>
                      <a:pt x="5571499" y="474"/>
                    </a:lnTo>
                    <a:lnTo>
                      <a:pt x="5639364" y="474"/>
                    </a:lnTo>
                    <a:cubicBezTo>
                      <a:pt x="5661410" y="0"/>
                      <a:pt x="5683924" y="5211"/>
                      <a:pt x="5704562" y="17528"/>
                    </a:cubicBezTo>
                    <a:cubicBezTo>
                      <a:pt x="5723793" y="28424"/>
                      <a:pt x="5739272" y="44057"/>
                      <a:pt x="5749591" y="62533"/>
                    </a:cubicBezTo>
                    <a:lnTo>
                      <a:pt x="6008038" y="514473"/>
                    </a:lnTo>
                    <a:cubicBezTo>
                      <a:pt x="6019294" y="533422"/>
                      <a:pt x="6025861" y="555687"/>
                      <a:pt x="6025861" y="579374"/>
                    </a:cubicBezTo>
                    <a:cubicBezTo>
                      <a:pt x="6025861" y="603534"/>
                      <a:pt x="6019294" y="625799"/>
                      <a:pt x="6007568" y="644749"/>
                    </a:cubicBezTo>
                    <a:lnTo>
                      <a:pt x="5749591" y="1096688"/>
                    </a:lnTo>
                    <a:cubicBezTo>
                      <a:pt x="5738803" y="1114690"/>
                      <a:pt x="5723793" y="1130324"/>
                      <a:pt x="5704562" y="1141693"/>
                    </a:cubicBezTo>
                    <a:cubicBezTo>
                      <a:pt x="5684393" y="1153536"/>
                      <a:pt x="5662348" y="1158747"/>
                      <a:pt x="5640302" y="1158273"/>
                    </a:cubicBezTo>
                    <a:lnTo>
                      <a:pt x="5571499" y="1158273"/>
                    </a:lnTo>
                    <a:lnTo>
                      <a:pt x="5571499" y="1158747"/>
                    </a:lnTo>
                    <a:lnTo>
                      <a:pt x="4154179" y="1158747"/>
                    </a:lnTo>
                    <a:lnTo>
                      <a:pt x="1992514" y="1158747"/>
                    </a:lnTo>
                    <a:lnTo>
                      <a:pt x="575194" y="1158747"/>
                    </a:lnTo>
                    <a:lnTo>
                      <a:pt x="575194" y="1158273"/>
                    </a:lnTo>
                    <a:lnTo>
                      <a:pt x="382745" y="1158273"/>
                    </a:lnTo>
                    <a:cubicBezTo>
                      <a:pt x="362107" y="1158273"/>
                      <a:pt x="340530" y="1153062"/>
                      <a:pt x="321299" y="1141693"/>
                    </a:cubicBezTo>
                    <a:cubicBezTo>
                      <a:pt x="302069" y="1130324"/>
                      <a:pt x="286590" y="1114690"/>
                      <a:pt x="276270" y="1096215"/>
                    </a:cubicBezTo>
                    <a:lnTo>
                      <a:pt x="16886" y="642380"/>
                    </a:lnTo>
                    <a:cubicBezTo>
                      <a:pt x="6098" y="623904"/>
                      <a:pt x="0" y="602587"/>
                      <a:pt x="0" y="579374"/>
                    </a:cubicBezTo>
                    <a:cubicBezTo>
                      <a:pt x="0" y="556161"/>
                      <a:pt x="6098" y="534843"/>
                      <a:pt x="16886" y="515894"/>
                    </a:cubicBezTo>
                    <a:lnTo>
                      <a:pt x="275332" y="63954"/>
                    </a:lnTo>
                    <a:cubicBezTo>
                      <a:pt x="286120" y="45478"/>
                      <a:pt x="301599" y="28898"/>
                      <a:pt x="321299" y="17528"/>
                    </a:cubicBezTo>
                    <a:cubicBezTo>
                      <a:pt x="339592" y="6633"/>
                      <a:pt x="359762" y="948"/>
                      <a:pt x="379930" y="474"/>
                    </a:cubicBezTo>
                    <a:lnTo>
                      <a:pt x="575194" y="474"/>
                    </a:lnTo>
                    <a:close/>
                  </a:path>
                </a:pathLst>
              </a:custGeom>
              <a:noFill/>
              <a:ln w="19050">
                <a:solidFill>
                  <a:srgbClr val="187C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901" tIns="60949" rIns="121901" bIns="60949" rtlCol="0" anchor="ctr"/>
              <a:lstStyle/>
              <a:p>
                <a:pPr algn="ctr"/>
                <a:endPara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2604205" y="4007041"/>
              <a:ext cx="648589" cy="584775"/>
              <a:chOff x="1842389" y="2211400"/>
              <a:chExt cx="1740040" cy="1568839"/>
            </a:xfrm>
          </p:grpSpPr>
          <p:sp>
            <p:nvSpPr>
              <p:cNvPr id="31" name="Freeform 5"/>
              <p:cNvSpPr/>
              <p:nvPr/>
            </p:nvSpPr>
            <p:spPr bwMode="auto">
              <a:xfrm>
                <a:off x="1842389" y="2211400"/>
                <a:ext cx="1740040" cy="1568839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187C86"/>
              </a:solidFill>
              <a:ln w="9525" cap="flat">
                <a:noFill/>
                <a:prstDash val="solid"/>
                <a:miter lim="800000"/>
              </a:ln>
              <a:effectLst>
                <a:outerShdw blurRad="50800" dist="63500" dir="5400000" algn="ctr" rotWithShape="0">
                  <a:srgbClr val="000000">
                    <a:alpha val="43137"/>
                  </a:srgbClr>
                </a:outerShdw>
              </a:effectLst>
            </p:spPr>
            <p:txBody>
              <a:bodyPr vert="horz" wrap="square" lIns="121901" tIns="60949" rIns="121901" bIns="60949" numCol="1" anchor="t" anchorCtr="0" compatLnSpc="1"/>
              <a:lstStyle/>
              <a:p>
                <a:endParaRPr lang="zh-CN" altLang="en-US" sz="32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2" name="TextBox 45"/>
              <p:cNvSpPr txBox="1"/>
              <p:nvPr/>
            </p:nvSpPr>
            <p:spPr>
              <a:xfrm>
                <a:off x="2400834" y="2499778"/>
                <a:ext cx="767203" cy="990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zh-CN"/>
                </a:defPPr>
                <a:lvl1pPr>
                  <a:defRPr sz="22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defRPr>
                </a:lvl1pPr>
              </a:lstStyle>
              <a:p>
                <a:pPr lvl="0">
                  <a:spcBef>
                    <a:spcPct val="0"/>
                  </a:spcBef>
                </a:pPr>
                <a:r>
                  <a:rPr lang="en-US" altLang="zh-CN" sz="2400" b="1" spc="100" dirty="0" smtClean="0">
                    <a:latin typeface="+mn-lt"/>
                    <a:ea typeface="+mn-ea"/>
                    <a:cs typeface="+mn-ea"/>
                    <a:sym typeface="+mn-lt"/>
                  </a:rPr>
                  <a:t>4</a:t>
                </a:r>
                <a:endParaRPr lang="zh-CN" altLang="en-US" sz="2400" b="1" dirty="0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算法的后期测试</a:t>
            </a:r>
            <a:endParaRPr lang="zh-CN" altLang="zh-CN" sz="28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顺序搜索</a:t>
            </a:r>
            <a:r>
              <a:rPr lang="zh-CN" altLang="en-US" sz="2800" b="1" dirty="0" smtClean="0">
                <a:solidFill>
                  <a:srgbClr val="6600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800" b="1" dirty="0" smtClean="0">
                <a:solidFill>
                  <a:srgbClr val="6600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b="1" i="1" dirty="0" err="1" smtClean="0">
                <a:solidFill>
                  <a:srgbClr val="6600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Sequenial</a:t>
            </a:r>
            <a:r>
              <a:rPr lang="en-US" altLang="zh-CN" sz="2800" b="1" i="1" dirty="0" smtClean="0">
                <a:solidFill>
                  <a:srgbClr val="6600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Search</a:t>
            </a:r>
            <a:r>
              <a:rPr lang="en-US" altLang="zh-CN" sz="2800" b="1" dirty="0" smtClean="0">
                <a:solidFill>
                  <a:srgbClr val="6600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2800" b="1" dirty="0" smtClean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行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lang="en-US" altLang="zh-CN" sz="2800" b="1" dirty="0" err="1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800" i="1" dirty="0" err="1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seqsearch</a:t>
            </a:r>
            <a:r>
              <a:rPr lang="en-US" altLang="zh-CN" sz="2800" i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800" b="1" dirty="0" err="1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800" i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a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 ],</a:t>
            </a:r>
            <a:r>
              <a:rPr lang="en-US" altLang="zh-CN" sz="2800" i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800" b="1" dirty="0" err="1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en-US" altLang="zh-CN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800" b="1" dirty="0" err="1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800" i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n, </a:t>
            </a:r>
            <a:r>
              <a:rPr lang="en-US" altLang="zh-CN" sz="2800" b="1" dirty="0" err="1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en-US" altLang="zh-CN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800" b="1" dirty="0" err="1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800" i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x 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en-US" altLang="zh-CN" sz="2800" i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//</a:t>
            </a:r>
            <a:r>
              <a:rPr lang="en-US" altLang="zh-CN" sz="2800" b="1" i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[0],</a:t>
            </a:r>
            <a:r>
              <a:rPr lang="en-US" altLang="zh-CN" sz="2800" b="1" i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…,a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en-US" altLang="zh-CN" sz="2800" b="1" i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-1]</a:t>
            </a:r>
            <a:endParaRPr lang="en-US" altLang="zh-CN" sz="2800" dirty="0" smtClean="0">
              <a:solidFill>
                <a:srgbClr val="CC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lang="en-US" altLang="zh-CN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{</a:t>
            </a:r>
            <a:endParaRPr lang="en-US" altLang="zh-CN" sz="2800" dirty="0" smtClean="0">
              <a:solidFill>
                <a:srgbClr val="CC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</a:t>
            </a:r>
            <a:r>
              <a:rPr lang="en-US" altLang="zh-CN" sz="2800" b="1" dirty="0" err="1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800" i="1" dirty="0" err="1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800" i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= 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lang="en-US" altLang="zh-CN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lang="en-US" altLang="zh-CN" sz="2800" dirty="0" smtClean="0">
              <a:solidFill>
                <a:srgbClr val="CC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</a:t>
            </a:r>
            <a:r>
              <a:rPr lang="en-US" altLang="zh-CN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while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( </a:t>
            </a:r>
            <a:r>
              <a:rPr lang="en-US" altLang="zh-CN" sz="2800" i="1" dirty="0" err="1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&lt; </a:t>
            </a:r>
            <a:r>
              <a:rPr lang="en-US" altLang="zh-CN" sz="2800" i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&amp;&amp;</a:t>
            </a:r>
            <a:r>
              <a:rPr lang="en-US" altLang="zh-CN" sz="2800" i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a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en-US" altLang="zh-CN" sz="2800" i="1" dirty="0" err="1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] !</a:t>
            </a:r>
            <a:r>
              <a:rPr lang="en-US" altLang="zh-CN" sz="2800" i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= x 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800" dirty="0" smtClean="0">
              <a:solidFill>
                <a:srgbClr val="CC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4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 </a:t>
            </a:r>
            <a:r>
              <a:rPr lang="en-US" altLang="zh-CN" sz="2800" i="1" dirty="0" err="1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800" i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++</a:t>
            </a:r>
            <a:r>
              <a:rPr lang="en-US" altLang="zh-CN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lang="en-US" altLang="zh-CN" sz="2800" i="1" dirty="0" smtClean="0">
              <a:solidFill>
                <a:srgbClr val="CC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5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</a:t>
            </a:r>
            <a:r>
              <a:rPr lang="en-US" altLang="zh-CN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if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( </a:t>
            </a:r>
            <a:r>
              <a:rPr lang="en-US" altLang="zh-CN" sz="2800" i="1" dirty="0" err="1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800" i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== n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) </a:t>
            </a:r>
            <a:r>
              <a:rPr lang="en-US" altLang="zh-CN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return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-1</a:t>
            </a:r>
            <a:r>
              <a:rPr lang="en-US" altLang="zh-CN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lang="en-US" altLang="zh-CN" sz="2800" dirty="0" smtClean="0">
              <a:solidFill>
                <a:srgbClr val="CC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6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</a:t>
            </a:r>
            <a:r>
              <a:rPr lang="en-US" altLang="zh-CN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return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800" i="1" dirty="0" err="1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lang="en-US" altLang="zh-CN" sz="2800" b="1" dirty="0" smtClean="0">
              <a:solidFill>
                <a:srgbClr val="CC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7</a:t>
            </a:r>
            <a:r>
              <a:rPr lang="en-US" altLang="zh-CN" sz="2800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lang="en-US" altLang="zh-CN" sz="2800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lang="en-US" altLang="zh-CN" sz="2800" b="1" dirty="0" smtClean="0">
              <a:solidFill>
                <a:srgbClr val="CC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ea typeface="宋体" panose="02010600030101010101" pitchFamily="2" charset="-122"/>
              </a:rPr>
              <a:t>					</a:t>
            </a:r>
            <a:endParaRPr lang="en-US" altLang="zh-CN" sz="2800" dirty="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0624B2B-6D61-4BF6-B1CF-431976202B7C}" type="slidenum">
              <a:rPr lang="en-US" altLang="zh-CN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A017A3-6EBE-4964-BCCD-C0D268534A49}" type="slidenum">
              <a:rPr lang="en-US" altLang="zh-CN"/>
            </a:fld>
            <a:endParaRPr lang="en-US" altLang="zh-CN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71682" name="Text Box 2"/>
          <p:cNvSpPr txBox="1">
            <a:spLocks noChangeArrowheads="1"/>
          </p:cNvSpPr>
          <p:nvPr/>
        </p:nvSpPr>
        <p:spPr bwMode="auto">
          <a:xfrm>
            <a:off x="34925" y="1238250"/>
            <a:ext cx="9144000" cy="45460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12947" tIns="56473" rIns="112947" bIns="56473">
            <a:spAutoFit/>
          </a:bodyPr>
          <a:lstStyle>
            <a:lvl1pPr defTabSz="11290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290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290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290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2903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290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290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290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290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0" lang="en-US" altLang="zh-CN" dirty="0" smtClean="0">
                <a:ea typeface="隶书" panose="02010509060101010101" pitchFamily="49" charset="-122"/>
              </a:rPr>
              <a:t> </a:t>
            </a:r>
            <a:r>
              <a:rPr kumimoji="0" lang="zh-CN" altLang="en-US" b="1" dirty="0" smtClean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插装</a:t>
            </a:r>
            <a:r>
              <a:rPr kumimoji="0" lang="en-US" altLang="en-US" b="1" i="1" dirty="0" smtClean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time</a:t>
            </a:r>
            <a:r>
              <a:rPr kumimoji="0" lang="en-US" altLang="en-US" b="1" dirty="0" smtClean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()</a:t>
            </a:r>
            <a:r>
              <a:rPr kumimoji="0" lang="zh-CN" altLang="en-US" b="1" dirty="0" smtClean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的计时程序</a:t>
            </a:r>
            <a:endParaRPr kumimoji="0" lang="zh-CN" altLang="en-US" dirty="0" smtClean="0">
              <a:ea typeface="华文楷体" panose="02010600040101010101" pitchFamily="2" charset="-122"/>
            </a:endParaRPr>
          </a:p>
          <a:p>
            <a:pPr>
              <a:defRPr/>
            </a:pPr>
            <a:r>
              <a:rPr kumimoji="0" lang="zh-CN" altLang="zh-CN" b="1" dirty="0" smtClean="0">
                <a:ea typeface="华文楷体" panose="02010600040101010101" pitchFamily="2" charset="-122"/>
              </a:rPr>
              <a:t>    </a:t>
            </a:r>
            <a:r>
              <a:rPr kumimoji="0" lang="en-US" altLang="zh-CN" b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void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</a:t>
            </a:r>
            <a:r>
              <a:rPr kumimoji="0" lang="en-US" altLang="zh-CN" i="1" dirty="0" err="1" smtClean="0">
                <a:solidFill>
                  <a:srgbClr val="CC0000"/>
                </a:solidFill>
                <a:ea typeface="华文楷体" panose="02010600040101010101" pitchFamily="2" charset="-122"/>
              </a:rPr>
              <a:t>TimeSearch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( ) </a:t>
            </a:r>
            <a:endParaRPr kumimoji="0" lang="en-US" altLang="zh-CN" dirty="0" smtClean="0">
              <a:solidFill>
                <a:srgbClr val="CC0000"/>
              </a:solidFill>
              <a:ea typeface="华文楷体" panose="02010600040101010101" pitchFamily="2" charset="-122"/>
            </a:endParaRPr>
          </a:p>
          <a:p>
            <a:pPr>
              <a:defRPr/>
            </a:pP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   </a:t>
            </a:r>
            <a:r>
              <a:rPr kumimoji="0" lang="en-US" altLang="zh-CN" b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{    </a:t>
            </a:r>
            <a:r>
              <a:rPr kumimoji="0" lang="en-US" altLang="zh-CN" b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//</a:t>
            </a:r>
            <a:r>
              <a:rPr kumimoji="0" lang="zh-CN" altLang="zh-CN" b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在1</a:t>
            </a:r>
            <a:r>
              <a:rPr kumimoji="0" lang="en-US" altLang="zh-CN" b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..</a:t>
            </a:r>
            <a:r>
              <a:rPr kumimoji="0" lang="zh-CN" altLang="zh-CN" b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1000中搜索0</a:t>
            </a:r>
            <a:r>
              <a:rPr kumimoji="0" lang="en-US" altLang="zh-CN" b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,10,…,90,100,200,…,1000</a:t>
            </a:r>
            <a:endParaRPr kumimoji="0" lang="zh-CN" altLang="zh-CN" b="1" dirty="0" smtClean="0">
              <a:solidFill>
                <a:srgbClr val="CC0000"/>
              </a:solidFill>
              <a:ea typeface="华文楷体" panose="02010600040101010101" pitchFamily="2" charset="-122"/>
            </a:endParaRPr>
          </a:p>
          <a:p>
            <a:pPr>
              <a:defRPr/>
            </a:pPr>
            <a:r>
              <a:rPr kumimoji="0" lang="zh-CN" altLang="zh-CN" b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       </a:t>
            </a:r>
            <a:r>
              <a:rPr kumimoji="0" lang="en-US" altLang="zh-CN" b="1" dirty="0" err="1" smtClean="0">
                <a:solidFill>
                  <a:srgbClr val="CC0000"/>
                </a:solidFill>
                <a:ea typeface="华文楷体" panose="02010600040101010101" pitchFamily="2" charset="-122"/>
              </a:rPr>
              <a:t>int</a:t>
            </a:r>
            <a:r>
              <a:rPr kumimoji="0" lang="en-US" altLang="zh-CN" b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a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[1001],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n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[20]</a:t>
            </a:r>
            <a:r>
              <a:rPr kumimoji="0" lang="en-US" altLang="zh-CN" b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;</a:t>
            </a:r>
            <a:endParaRPr kumimoji="0" lang="en-US" altLang="zh-CN" i="1" dirty="0" smtClean="0">
              <a:solidFill>
                <a:srgbClr val="CC0000"/>
              </a:solidFill>
              <a:ea typeface="华文楷体" panose="02010600040101010101" pitchFamily="2" charset="-122"/>
            </a:endParaRPr>
          </a:p>
          <a:p>
            <a:pPr>
              <a:defRPr/>
            </a:pP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       </a:t>
            </a:r>
            <a:r>
              <a:rPr kumimoji="0" lang="en-US" altLang="zh-CN" b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for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(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</a:t>
            </a:r>
            <a:r>
              <a:rPr kumimoji="0" lang="en-US" altLang="zh-CN" b="1" dirty="0" err="1" smtClean="0">
                <a:solidFill>
                  <a:srgbClr val="CC0000"/>
                </a:solidFill>
                <a:ea typeface="华文楷体" panose="02010600040101010101" pitchFamily="2" charset="-122"/>
              </a:rPr>
              <a:t>int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j=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1</a:t>
            </a:r>
            <a:r>
              <a:rPr kumimoji="0" lang="en-US" altLang="zh-CN" b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;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j&lt;=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1000</a:t>
            </a:r>
            <a:r>
              <a:rPr kumimoji="0" lang="en-US" altLang="zh-CN" b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;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</a:t>
            </a:r>
            <a:r>
              <a:rPr kumimoji="0" lang="en-US" altLang="zh-CN" i="1" dirty="0" err="1" smtClean="0">
                <a:solidFill>
                  <a:srgbClr val="CC0000"/>
                </a:solidFill>
                <a:ea typeface="华文楷体" panose="02010600040101010101" pitchFamily="2" charset="-122"/>
              </a:rPr>
              <a:t>j++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)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</a:t>
            </a:r>
            <a:endParaRPr kumimoji="0" lang="en-US" altLang="zh-CN" i="1" dirty="0" smtClean="0">
              <a:solidFill>
                <a:srgbClr val="CC0000"/>
              </a:solidFill>
              <a:ea typeface="华文楷体" panose="02010600040101010101" pitchFamily="2" charset="-122"/>
            </a:endParaRPr>
          </a:p>
          <a:p>
            <a:pPr>
              <a:defRPr/>
            </a:pP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             a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[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j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]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= j</a:t>
            </a:r>
            <a:r>
              <a:rPr kumimoji="0" lang="en-US" altLang="zh-CN" b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;           </a:t>
            </a:r>
            <a:r>
              <a:rPr kumimoji="0" lang="en-US" altLang="zh-CN" b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//</a:t>
            </a:r>
            <a:r>
              <a:rPr kumimoji="0" lang="en-US" altLang="zh-CN" b="1" i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a</a:t>
            </a:r>
            <a:r>
              <a:rPr kumimoji="0" lang="en-US" altLang="zh-CN" b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[1]=1, </a:t>
            </a:r>
            <a:r>
              <a:rPr kumimoji="0" lang="en-US" altLang="zh-CN" b="1" i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a</a:t>
            </a:r>
            <a:r>
              <a:rPr kumimoji="0" lang="en-US" altLang="zh-CN" b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[2]=2, …</a:t>
            </a:r>
            <a:endParaRPr kumimoji="0" lang="en-US" altLang="zh-CN" dirty="0" smtClean="0">
              <a:solidFill>
                <a:srgbClr val="CC0000"/>
              </a:solidFill>
              <a:ea typeface="华文楷体" panose="02010600040101010101" pitchFamily="2" charset="-122"/>
            </a:endParaRPr>
          </a:p>
          <a:p>
            <a:pPr>
              <a:defRPr/>
            </a:pP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       </a:t>
            </a:r>
            <a:r>
              <a:rPr kumimoji="0" lang="en-US" altLang="zh-CN" b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for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(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j=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0</a:t>
            </a:r>
            <a:r>
              <a:rPr kumimoji="0" lang="en-US" altLang="zh-CN" b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;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j&lt;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10</a:t>
            </a:r>
            <a:r>
              <a:rPr kumimoji="0" lang="en-US" altLang="zh-CN" b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;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</a:t>
            </a:r>
            <a:r>
              <a:rPr kumimoji="0" lang="en-US" altLang="zh-CN" i="1" dirty="0" err="1" smtClean="0">
                <a:solidFill>
                  <a:srgbClr val="CC0000"/>
                </a:solidFill>
                <a:ea typeface="华文楷体" panose="02010600040101010101" pitchFamily="2" charset="-122"/>
              </a:rPr>
              <a:t>j++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)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</a:t>
            </a:r>
            <a:r>
              <a:rPr kumimoji="0" lang="en-US" altLang="zh-CN" b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{		</a:t>
            </a:r>
            <a:endParaRPr kumimoji="0" lang="en-US" altLang="zh-CN" dirty="0" smtClean="0">
              <a:solidFill>
                <a:srgbClr val="CC0000"/>
              </a:solidFill>
              <a:ea typeface="华文楷体" panose="02010600040101010101" pitchFamily="2" charset="-122"/>
            </a:endParaRPr>
          </a:p>
          <a:p>
            <a:pPr>
              <a:defRPr/>
            </a:pP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	     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n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[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j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]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= 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10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*j</a:t>
            </a:r>
            <a:r>
              <a:rPr kumimoji="0" lang="en-US" altLang="zh-CN" b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;   </a:t>
            </a:r>
            <a:r>
              <a:rPr kumimoji="0" lang="en-US" altLang="zh-CN" b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//</a:t>
            </a:r>
            <a:r>
              <a:rPr kumimoji="0" lang="en-US" altLang="zh-CN" b="1" i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n</a:t>
            </a:r>
            <a:r>
              <a:rPr kumimoji="0" lang="en-US" altLang="zh-CN" b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[0]=0, </a:t>
            </a:r>
            <a:r>
              <a:rPr kumimoji="0" lang="en-US" altLang="zh-CN" b="1" i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n</a:t>
            </a:r>
            <a:r>
              <a:rPr kumimoji="0" lang="en-US" altLang="zh-CN" b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[1]=10, </a:t>
            </a:r>
            <a:r>
              <a:rPr kumimoji="0" lang="en-US" altLang="zh-CN" b="1" i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n</a:t>
            </a:r>
            <a:r>
              <a:rPr kumimoji="0" lang="en-US" altLang="zh-CN" b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[2]=20</a:t>
            </a:r>
            <a:endParaRPr kumimoji="0" lang="en-US" altLang="zh-CN" b="1" dirty="0" smtClean="0">
              <a:solidFill>
                <a:srgbClr val="CC0000"/>
              </a:solidFill>
              <a:ea typeface="华文楷体" panose="02010600040101010101" pitchFamily="2" charset="-122"/>
            </a:endParaRPr>
          </a:p>
          <a:p>
            <a:pPr>
              <a:defRPr/>
            </a:pPr>
            <a:r>
              <a:rPr kumimoji="0" lang="en-US" altLang="zh-CN" b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            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 n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[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j+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10]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= 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100*(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j+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1 )</a:t>
            </a:r>
            <a:r>
              <a:rPr kumimoji="0" lang="en-US" altLang="zh-CN" b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;</a:t>
            </a:r>
            <a:endParaRPr kumimoji="0" lang="en-US" altLang="zh-CN" b="1" dirty="0" smtClean="0">
              <a:solidFill>
                <a:srgbClr val="CC0000"/>
              </a:solidFill>
              <a:ea typeface="华文楷体" panose="02010600040101010101" pitchFamily="2" charset="-122"/>
            </a:endParaRPr>
          </a:p>
          <a:p>
            <a:pPr>
              <a:defRPr/>
            </a:pPr>
            <a:r>
              <a:rPr kumimoji="0" lang="en-US" altLang="zh-CN" b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   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   </a:t>
            </a:r>
            <a:r>
              <a:rPr kumimoji="0" lang="en-US" altLang="zh-CN" b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}            </a:t>
            </a:r>
            <a:r>
              <a:rPr kumimoji="0" lang="en-US" altLang="zh-CN" b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//</a:t>
            </a:r>
            <a:r>
              <a:rPr kumimoji="0" lang="en-US" altLang="zh-CN" b="1" i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n</a:t>
            </a:r>
            <a:r>
              <a:rPr kumimoji="0" lang="en-US" altLang="zh-CN" b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[10]=100, </a:t>
            </a:r>
            <a:r>
              <a:rPr kumimoji="0" lang="en-US" altLang="zh-CN" b="1" i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n</a:t>
            </a:r>
            <a:r>
              <a:rPr kumimoji="0" lang="en-US" altLang="zh-CN" b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[11]=200, </a:t>
            </a:r>
            <a:r>
              <a:rPr kumimoji="0" lang="en-US" altLang="zh-CN" b="1" i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n</a:t>
            </a:r>
            <a:r>
              <a:rPr kumimoji="0" lang="en-US" altLang="zh-CN" b="1" dirty="0" smtClean="0">
                <a:solidFill>
                  <a:srgbClr val="0000FF"/>
                </a:solidFill>
                <a:ea typeface="华文楷体" panose="02010600040101010101" pitchFamily="2" charset="-122"/>
              </a:rPr>
              <a:t>[12]=300 ...</a:t>
            </a:r>
            <a:endParaRPr kumimoji="0" lang="en-US" altLang="zh-CN" b="1" dirty="0" smtClean="0">
              <a:solidFill>
                <a:srgbClr val="CC0000"/>
              </a:solidFill>
              <a:ea typeface="华文楷体" panose="02010600040101010101" pitchFamily="2" charset="-122"/>
            </a:endParaRPr>
          </a:p>
          <a:p>
            <a:pPr>
              <a:defRPr/>
            </a:pPr>
            <a:r>
              <a:rPr kumimoji="0" lang="en-US" altLang="zh-CN" b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       </a:t>
            </a:r>
            <a:r>
              <a:rPr kumimoji="0" lang="en-US" altLang="zh-CN" b="1" dirty="0" err="1" smtClean="0">
                <a:solidFill>
                  <a:srgbClr val="CC0000"/>
                </a:solidFill>
                <a:ea typeface="华文楷体" panose="02010600040101010101" pitchFamily="2" charset="-122"/>
              </a:rPr>
              <a:t>cout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</a:t>
            </a:r>
            <a:r>
              <a:rPr kumimoji="0" lang="en-US" altLang="zh-CN" i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&lt;&lt; " n     time" &lt;&lt;</a:t>
            </a:r>
            <a:r>
              <a:rPr kumimoji="0" lang="en-US" altLang="zh-CN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 </a:t>
            </a:r>
            <a:r>
              <a:rPr kumimoji="0" lang="en-US" altLang="zh-CN" b="1" dirty="0" err="1" smtClean="0">
                <a:solidFill>
                  <a:srgbClr val="CC0000"/>
                </a:solidFill>
                <a:ea typeface="华文楷体" panose="02010600040101010101" pitchFamily="2" charset="-122"/>
              </a:rPr>
              <a:t>endl</a:t>
            </a:r>
            <a:r>
              <a:rPr kumimoji="0" lang="en-US" altLang="zh-CN" b="1" dirty="0" smtClean="0">
                <a:solidFill>
                  <a:srgbClr val="CC0000"/>
                </a:solidFill>
                <a:ea typeface="华文楷体" panose="02010600040101010101" pitchFamily="2" charset="-122"/>
              </a:rPr>
              <a:t>;</a:t>
            </a:r>
            <a:endParaRPr kumimoji="0" lang="en-US" altLang="zh-CN" b="1" dirty="0" smtClean="0">
              <a:solidFill>
                <a:srgbClr val="CC0000"/>
              </a:solidFill>
              <a:ea typeface="华文楷体" panose="02010600040101010101" pitchFamily="2" charset="-122"/>
            </a:endParaRPr>
          </a:p>
          <a:p>
            <a:pPr>
              <a:defRPr/>
            </a:pPr>
            <a:r>
              <a:rPr kumimoji="0" lang="en-US" altLang="zh-CN" b="1" dirty="0" smtClean="0">
                <a:ea typeface="隶书" panose="02010509060101010101" pitchFamily="49" charset="-122"/>
              </a:rPr>
              <a:t>	   </a:t>
            </a:r>
            <a:r>
              <a:rPr kumimoji="0" lang="en-US" altLang="zh-CN" dirty="0" smtClean="0">
                <a:ea typeface="隶书" panose="02010509060101010101" pitchFamily="49" charset="-122"/>
              </a:rPr>
              <a:t>						</a:t>
            </a:r>
            <a:endParaRPr kumimoji="0" lang="en-US" altLang="zh-CN" dirty="0" smtClean="0"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pull dir="lu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A9CA3F-93DB-4C0D-B969-B526AD7BB2A4}" type="slidenum">
              <a:rPr lang="en-US" altLang="zh-CN"/>
            </a:fld>
            <a:endParaRPr lang="en-US" altLang="zh-CN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34821" name="Rectangle 2"/>
          <p:cNvSpPr>
            <a:spLocks noChangeArrowheads="1"/>
          </p:cNvSpPr>
          <p:nvPr/>
        </p:nvSpPr>
        <p:spPr bwMode="auto">
          <a:xfrm>
            <a:off x="0" y="1165225"/>
            <a:ext cx="9144000" cy="521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        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for</a:t>
            </a: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j=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0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j&lt;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20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800" i="1" dirty="0" err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j++</a:t>
            </a: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{		</a:t>
            </a:r>
            <a:endParaRPr lang="en-US" altLang="zh-CN" sz="2800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      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long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start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,</a:t>
            </a: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stop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  <a:endParaRPr lang="en-US" altLang="zh-CN" sz="2800" i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      time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(</a:t>
            </a: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start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			</a:t>
            </a:r>
            <a:endParaRPr lang="en-US" altLang="zh-CN" sz="2800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      </a:t>
            </a:r>
            <a:r>
              <a:rPr lang="en-US" altLang="zh-CN" sz="2800" b="1" dirty="0" err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k = </a:t>
            </a:r>
            <a:r>
              <a:rPr lang="en-US" altLang="zh-CN" sz="2800" i="1" dirty="0" err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seqsearch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(</a:t>
            </a: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a, n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[</a:t>
            </a: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j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], 0)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	</a:t>
            </a:r>
            <a:endParaRPr lang="en-US" altLang="zh-CN" sz="2800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      </a:t>
            </a: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time 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stop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			</a:t>
            </a:r>
            <a:endParaRPr lang="en-US" altLang="zh-CN" sz="2800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      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long </a:t>
            </a:r>
            <a:r>
              <a:rPr lang="en-US" altLang="zh-CN" sz="2800" i="1" dirty="0" err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runTime</a:t>
            </a: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= stop </a:t>
            </a: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- </a:t>
            </a: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start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	</a:t>
            </a:r>
            <a:endParaRPr lang="en-US" altLang="zh-CN" sz="2800" i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      </a:t>
            </a:r>
            <a:r>
              <a:rPr lang="en-US" altLang="zh-CN" sz="2800" b="1" dirty="0" err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cout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&lt;&lt; " " &lt;&lt; n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[</a:t>
            </a: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j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]</a:t>
            </a: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&lt;&lt; " " &lt;&lt;</a:t>
            </a:r>
            <a:endParaRPr lang="en-US" altLang="zh-CN" sz="2800" i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			 </a:t>
            </a:r>
            <a:r>
              <a:rPr lang="en-US" altLang="zh-CN" sz="2800" i="1" dirty="0" err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runTime</a:t>
            </a: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&lt;&lt;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800" b="1" dirty="0" err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endl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   </a:t>
            </a:r>
            <a:endParaRPr lang="en-US" altLang="zh-CN" sz="2800" b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}	 </a:t>
            </a:r>
            <a:endParaRPr lang="en-US" altLang="zh-CN" sz="2800" b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 </a:t>
            </a:r>
            <a:r>
              <a:rPr lang="en-US" altLang="zh-CN" sz="2800" b="1" dirty="0" err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cout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&lt;&lt; "Times are in hundredths of a</a:t>
            </a:r>
            <a:endParaRPr lang="en-US" altLang="zh-CN" sz="2800" i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 i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		 second." &lt;&lt;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800" b="1" dirty="0" err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endl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   </a:t>
            </a:r>
            <a:endParaRPr lang="en-US" altLang="zh-CN" sz="2800" b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}</a:t>
            </a:r>
            <a:endParaRPr lang="en-US" altLang="zh-CN" sz="2800" b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pull dir="lu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413C3-F101-43B5-9F2E-2F38C1FC8164}" type="slidenum">
              <a:rPr lang="en-US" altLang="zh-CN"/>
            </a:fld>
            <a:endParaRPr lang="en-US" altLang="zh-CN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727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581400" y="1295400"/>
            <a:ext cx="5562600" cy="914400"/>
          </a:xfrm>
        </p:spPr>
        <p:txBody>
          <a:bodyPr lIns="113731" tIns="56866" rIns="113731" bIns="56866"/>
          <a:lstStyle/>
          <a:p>
            <a:pPr eaLnBrk="1" hangingPunct="1">
              <a:defRPr/>
            </a:pPr>
            <a:r>
              <a:rPr lang="zh-CN" altLang="en-US" sz="2600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程序测试结果输出</a:t>
            </a:r>
            <a:endParaRPr lang="zh-CN" altLang="en-US" dirty="0" smtClean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35846" name="Object 0"/>
          <p:cNvGraphicFramePr>
            <a:graphicFrameLocks noGrp="1" noChangeAspect="1"/>
          </p:cNvGraphicFramePr>
          <p:nvPr>
            <p:ph type="tbl" idx="4294967295"/>
          </p:nvPr>
        </p:nvGraphicFramePr>
        <p:xfrm>
          <a:off x="7938" y="2593975"/>
          <a:ext cx="9015412" cy="387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3" name="Document" r:id="rId1" imgW="4655820" imgH="2001520" progId="Word.Document.8">
                  <p:embed/>
                </p:oleObj>
              </mc:Choice>
              <mc:Fallback>
                <p:oleObj name="Document" r:id="rId1" imgW="4655820" imgH="2001520" progId="Word.Document.8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8" y="2593975"/>
                        <a:ext cx="9015412" cy="3871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算法的事前估计</a:t>
            </a:r>
            <a:endParaRPr lang="zh-CN" altLang="zh-CN" sz="28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EBEC29-7D56-4252-AF2C-AEC768B470B0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117762" name="Rectangle 2"/>
          <p:cNvSpPr>
            <a:spLocks noChangeArrowheads="1"/>
          </p:cNvSpPr>
          <p:nvPr/>
        </p:nvSpPr>
        <p:spPr bwMode="auto">
          <a:xfrm>
            <a:off x="468313" y="1524000"/>
            <a:ext cx="4648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3731" tIns="56866" rIns="113731" bIns="56866" anchor="ctr"/>
          <a:lstStyle>
            <a:lvl1pPr algn="ctr"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1pPr>
            <a:lvl2pPr algn="ctr"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defRPr/>
            </a:pPr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117763" name="Rectangle 3"/>
          <p:cNvSpPr>
            <a:spLocks noChangeArrowheads="1"/>
          </p:cNvSpPr>
          <p:nvPr/>
        </p:nvSpPr>
        <p:spPr bwMode="auto">
          <a:xfrm>
            <a:off x="755650" y="1524000"/>
            <a:ext cx="4572000" cy="2265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3731" tIns="56866" rIns="113731" bIns="56866"/>
          <a:lstStyle>
            <a:lvl1pPr marL="342900" indent="-342900" defTabSz="112903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7575" indent="-352425" defTabSz="112903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12903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12903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12903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12903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12903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12903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12903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4000" b="1" dirty="0" smtClean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时间复杂度</a:t>
            </a:r>
            <a:endParaRPr lang="en-US" altLang="zh-CN" sz="4000" b="1" dirty="0" smtClean="0"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110000"/>
              </a:lnSpc>
              <a:defRPr/>
            </a:pPr>
            <a:endParaRPr lang="en-US" altLang="zh-CN" sz="4000" b="1" dirty="0"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65150" lvl="1" indent="0" eaLnBrk="1" hangingPunct="1">
              <a:lnSpc>
                <a:spcPct val="110000"/>
              </a:lnSpc>
              <a:buNone/>
              <a:defRPr/>
            </a:pPr>
            <a:endParaRPr lang="zh-CN" altLang="en-US" sz="4000" b="1" dirty="0" smtClean="0"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4000" b="1" dirty="0" smtClean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空间复杂度</a:t>
            </a:r>
            <a:endParaRPr lang="zh-CN" altLang="en-US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D34B78B-8F69-4165-8F78-8C9D3C71DAB7}" type="slidenum">
              <a:rPr lang="en-US" altLang="zh-CN"/>
            </a:fld>
            <a:endParaRPr lang="en-US" altLang="zh-CN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5774" y="76200"/>
            <a:ext cx="5486400" cy="762000"/>
          </a:xfrm>
        </p:spPr>
        <p:txBody>
          <a:bodyPr lIns="113731" tIns="56866" rIns="113731" bIns="56866"/>
          <a:lstStyle/>
          <a:p>
            <a:pPr algn="l" eaLnBrk="1" hangingPunct="1">
              <a:defRPr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时间复杂度度量</a:t>
            </a: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79512" y="990600"/>
            <a:ext cx="8964488" cy="5257800"/>
          </a:xfrm>
        </p:spPr>
        <p:txBody>
          <a:bodyPr lIns="113731" tIns="56866" rIns="113731" bIns="56866"/>
          <a:lstStyle/>
          <a:p>
            <a:pPr marL="424180" indent="-424180" defTabSz="1129030" eaLnBrk="1" hangingPunct="1">
              <a:defRPr/>
            </a:pPr>
            <a:r>
              <a:rPr lang="zh-CN" altLang="en-US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编译时间</a:t>
            </a:r>
            <a:endParaRPr lang="zh-CN" altLang="en-US" sz="28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24180" indent="-424180" defTabSz="1129030" eaLnBrk="1" hangingPunct="1">
              <a:defRPr/>
            </a:pP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运行时间</a:t>
            </a:r>
            <a:endParaRPr lang="zh-CN" altLang="en-US" sz="2800" b="1" dirty="0" smtClean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917575" lvl="1" indent="-352425" defTabSz="1129030" eaLnBrk="1" hangingPunct="1">
              <a:defRPr/>
            </a:pPr>
            <a:r>
              <a:rPr lang="zh-CN" altLang="en-US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程序步</a:t>
            </a:r>
            <a:endParaRPr lang="zh-CN" altLang="en-US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411605" lvl="2" indent="-282575" defTabSz="1129030" eaLnBrk="1" hangingPunct="1">
              <a:defRPr/>
            </a:pPr>
            <a:r>
              <a:rPr lang="zh-CN" altLang="en-US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语法上或语义上有意义的一段指令序列</a:t>
            </a:r>
            <a:endParaRPr lang="zh-CN" altLang="en-US" sz="28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411605" lvl="2" indent="-282575" defTabSz="1129030" eaLnBrk="1" hangingPunct="1">
              <a:defRPr/>
            </a:pPr>
            <a:r>
              <a:rPr lang="zh-CN" altLang="en-US" sz="2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执行时间与实例特性无关</a:t>
            </a:r>
            <a:endParaRPr lang="zh-CN" altLang="en-US" sz="2800" b="1" dirty="0" smtClean="0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411605" lvl="2" indent="-282575" defTabSz="1129030" eaLnBrk="1" hangingPunct="1">
              <a:defRPr/>
            </a:pPr>
            <a:r>
              <a:rPr lang="zh-CN" altLang="en-US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例如：</a:t>
            </a:r>
            <a:br>
              <a:rPr lang="zh-CN" altLang="en-US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en-US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注释</a:t>
            </a:r>
            <a:r>
              <a:rPr lang="zh-CN" altLang="en-US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：程序步数为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br>
              <a:rPr lang="en-US" altLang="zh-CN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声明语句</a:t>
            </a:r>
            <a:r>
              <a:rPr lang="zh-CN" altLang="en-US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：程序步数为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br>
              <a:rPr lang="en-US" altLang="zh-CN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简单语句</a:t>
            </a:r>
            <a:r>
              <a:rPr lang="zh-CN" altLang="en-US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：表达式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赋值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打印等，程序步为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endParaRPr lang="en-US" altLang="zh-CN" sz="28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586230" lvl="3" indent="0" defTabSz="1129030" eaLnBrk="1" hangingPunct="1">
              <a:buNone/>
              <a:defRPr/>
            </a:pPr>
            <a:r>
              <a:rPr lang="zh-CN" alt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复杂语句或函数调用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：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换算成简单</a:t>
            </a:r>
            <a:r>
              <a:rPr lang="zh-CN" altLang="en-US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语句再计算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空间复杂度度量</a:t>
            </a: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71C4F9-8174-44B2-A47B-7A95A298A3C8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37894" name="Rectangle 4"/>
          <p:cNvSpPr>
            <a:spLocks noChangeArrowheads="1"/>
          </p:cNvSpPr>
          <p:nvPr/>
        </p:nvSpPr>
        <p:spPr bwMode="auto">
          <a:xfrm>
            <a:off x="107950" y="1017588"/>
            <a:ext cx="4572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3731" tIns="56866" rIns="113731" bIns="56866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3200" b="1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75781" name="Rectangle 5"/>
          <p:cNvSpPr>
            <a:spLocks noChangeArrowheads="1"/>
          </p:cNvSpPr>
          <p:nvPr/>
        </p:nvSpPr>
        <p:spPr bwMode="auto">
          <a:xfrm>
            <a:off x="107950" y="1412875"/>
            <a:ext cx="8610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3731" tIns="56866" rIns="113731" bIns="56866"/>
          <a:lstStyle>
            <a:lvl1pPr marL="424180" indent="-424180" defTabSz="112903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12903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12903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12903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12903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12903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12903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12903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12903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zh-CN" altLang="en-US" sz="33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存储空间的固定部分</a:t>
            </a:r>
            <a:br>
              <a:rPr lang="zh-CN" altLang="en-US" sz="33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程序指令代码的空间，常数、简单变量、定长成分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如数组元素、结构成分、对象的数据成员等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变量所占的空间</a:t>
            </a:r>
            <a:endParaRPr lang="zh-CN" altLang="en-US" sz="2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defRPr/>
            </a:pPr>
            <a:r>
              <a:rPr lang="zh-CN" altLang="en-US" sz="33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可变部分</a:t>
            </a:r>
            <a:br>
              <a:rPr lang="zh-CN" altLang="en-US" sz="33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尺寸与实例特性有关的成分变量所占空间、引用变量所占空间、递归栈所用的空间、通过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new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delete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命令动态使用的空间</a:t>
            </a:r>
            <a:endParaRPr lang="zh-CN" altLang="en-US" sz="2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1.7</a:t>
            </a:r>
            <a:r>
              <a:rPr lang="en-US" altLang="zh-CN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算法分析技术</a:t>
            </a:r>
            <a:r>
              <a:rPr lang="en-US" altLang="zh-CN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无穷大的阶</a:t>
            </a:r>
            <a:endParaRPr lang="zh-CN" altLang="en-US" sz="28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99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定义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无穷大的阶</a:t>
            </a:r>
            <a:r>
              <a:rPr lang="en-US" altLang="zh-CN" sz="2800" b="1" i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O</a:t>
            </a:r>
            <a:endParaRPr lang="en-US" altLang="zh-CN" sz="2800" b="1" i="1" dirty="0" smtClean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若存在正常数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，使得当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充分大（即存在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，使得当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&gt;n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时），有：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		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t(n) </a:t>
            </a:r>
            <a:r>
              <a:rPr lang="en-US" altLang="zh-CN" sz="28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≤ 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2800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则，称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t(n)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趋于无穷大的阶</a:t>
            </a:r>
            <a:r>
              <a:rPr lang="zh-CN" altLang="en-US" sz="28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≤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趋于无穷大的阶，记为：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		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(f(n))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3E5BE9B-FBF7-46E9-AB6E-14ACDCDB7505}" type="slidenum">
              <a:rPr lang="en-US" altLang="zh-CN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409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定义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无穷大的阶</a:t>
            </a:r>
            <a:r>
              <a:rPr lang="el-GR" altLang="zh-CN" sz="2800" b="1" i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Ω</a:t>
            </a:r>
            <a:endParaRPr lang="el-GR" altLang="zh-CN" sz="2800" b="1" i="1" dirty="0" smtClean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若存在正常数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，使得当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充分大（即存在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，使得当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&gt;n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时），有：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		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t(n) </a:t>
            </a:r>
            <a:r>
              <a:rPr lang="en-US" altLang="zh-CN" sz="28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≥ 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2800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则，称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t(n)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趋于无穷大的阶</a:t>
            </a:r>
            <a:r>
              <a:rPr lang="zh-CN" altLang="en-US" sz="28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≥ 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趋于无穷大的阶，记为：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		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 </a:t>
            </a:r>
            <a:r>
              <a:rPr lang="el-GR" altLang="zh-CN" sz="2800" b="1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Ω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(f(n))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D48B67-1BB3-4319-8F05-1854487DEABA}" type="slidenum">
              <a:rPr lang="en-US" altLang="zh-CN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419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定义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无穷大的阶</a:t>
            </a:r>
            <a:r>
              <a:rPr lang="el-GR" altLang="zh-CN" sz="2800" b="1" i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Θ</a:t>
            </a:r>
            <a:endParaRPr lang="el-GR" altLang="zh-CN" sz="2800" b="1" i="1" dirty="0" smtClean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若满足：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	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O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(f(n))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且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 </a:t>
            </a:r>
            <a:r>
              <a:rPr lang="el-GR" altLang="zh-CN" sz="2800" b="1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Ω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(f(n))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则，称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t(n)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趋于无穷大的阶</a:t>
            </a:r>
            <a:r>
              <a:rPr lang="en-US" altLang="zh-CN" sz="28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= 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趋于无穷大的阶，记为：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		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 </a:t>
            </a:r>
            <a:r>
              <a:rPr lang="el-GR" altLang="zh-CN" sz="2800" b="1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Θ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(f(n))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D432A5B-1637-44A6-A16D-1791B13FAB66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128004" name="Rectangle 4"/>
          <p:cNvSpPr>
            <a:spLocks noChangeArrowheads="1"/>
          </p:cNvSpPr>
          <p:nvPr/>
        </p:nvSpPr>
        <p:spPr bwMode="auto">
          <a:xfrm>
            <a:off x="278266" y="4348828"/>
            <a:ext cx="5554960" cy="1828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结论：由</a:t>
            </a:r>
            <a:r>
              <a:rPr lang="el-GR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Θ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确定的关系为等价关系。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举例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若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分别为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,3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+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logn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则</a:t>
            </a:r>
            <a:r>
              <a:rPr lang="el-GR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Θ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)=</a:t>
            </a:r>
            <a:r>
              <a:rPr lang="el-GR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Θ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(3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)=</a:t>
            </a:r>
            <a:r>
              <a:rPr lang="el-GR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Θ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b="1" i="1" dirty="0" err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+</a:t>
            </a:r>
            <a:r>
              <a:rPr lang="en-US" altLang="zh-CN" sz="2800" b="1" i="1" dirty="0" err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logn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6307137" y="5661248"/>
            <a:ext cx="23796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6307137" y="3501008"/>
            <a:ext cx="0" cy="2160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 11"/>
          <p:cNvSpPr/>
          <p:nvPr/>
        </p:nvSpPr>
        <p:spPr>
          <a:xfrm>
            <a:off x="6330462" y="3615397"/>
            <a:ext cx="2208627" cy="2053883"/>
          </a:xfrm>
          <a:custGeom>
            <a:avLst/>
            <a:gdLst>
              <a:gd name="connsiteX0" fmla="*/ 0 w 2208627"/>
              <a:gd name="connsiteY0" fmla="*/ 2053883 h 2053883"/>
              <a:gd name="connsiteX1" fmla="*/ 14067 w 2208627"/>
              <a:gd name="connsiteY1" fmla="*/ 1659988 h 2053883"/>
              <a:gd name="connsiteX2" fmla="*/ 28135 w 2208627"/>
              <a:gd name="connsiteY2" fmla="*/ 1617785 h 2053883"/>
              <a:gd name="connsiteX3" fmla="*/ 56270 w 2208627"/>
              <a:gd name="connsiteY3" fmla="*/ 1575581 h 2053883"/>
              <a:gd name="connsiteX4" fmla="*/ 98473 w 2208627"/>
              <a:gd name="connsiteY4" fmla="*/ 1519311 h 2053883"/>
              <a:gd name="connsiteX5" fmla="*/ 140676 w 2208627"/>
              <a:gd name="connsiteY5" fmla="*/ 1448972 h 2053883"/>
              <a:gd name="connsiteX6" fmla="*/ 196947 w 2208627"/>
              <a:gd name="connsiteY6" fmla="*/ 1364566 h 2053883"/>
              <a:gd name="connsiteX7" fmla="*/ 253218 w 2208627"/>
              <a:gd name="connsiteY7" fmla="*/ 1308295 h 2053883"/>
              <a:gd name="connsiteX8" fmla="*/ 295421 w 2208627"/>
              <a:gd name="connsiteY8" fmla="*/ 1280160 h 2053883"/>
              <a:gd name="connsiteX9" fmla="*/ 393895 w 2208627"/>
              <a:gd name="connsiteY9" fmla="*/ 1252025 h 2053883"/>
              <a:gd name="connsiteX10" fmla="*/ 548640 w 2208627"/>
              <a:gd name="connsiteY10" fmla="*/ 1237957 h 2053883"/>
              <a:gd name="connsiteX11" fmla="*/ 661181 w 2208627"/>
              <a:gd name="connsiteY11" fmla="*/ 1223889 h 2053883"/>
              <a:gd name="connsiteX12" fmla="*/ 801858 w 2208627"/>
              <a:gd name="connsiteY12" fmla="*/ 1181686 h 2053883"/>
              <a:gd name="connsiteX13" fmla="*/ 900332 w 2208627"/>
              <a:gd name="connsiteY13" fmla="*/ 1139483 h 2053883"/>
              <a:gd name="connsiteX14" fmla="*/ 942535 w 2208627"/>
              <a:gd name="connsiteY14" fmla="*/ 1097280 h 2053883"/>
              <a:gd name="connsiteX15" fmla="*/ 1026941 w 2208627"/>
              <a:gd name="connsiteY15" fmla="*/ 1069145 h 2053883"/>
              <a:gd name="connsiteX16" fmla="*/ 1055076 w 2208627"/>
              <a:gd name="connsiteY16" fmla="*/ 1026941 h 2053883"/>
              <a:gd name="connsiteX17" fmla="*/ 1167618 w 2208627"/>
              <a:gd name="connsiteY17" fmla="*/ 942535 h 2053883"/>
              <a:gd name="connsiteX18" fmla="*/ 1223889 w 2208627"/>
              <a:gd name="connsiteY18" fmla="*/ 844061 h 2053883"/>
              <a:gd name="connsiteX19" fmla="*/ 1266092 w 2208627"/>
              <a:gd name="connsiteY19" fmla="*/ 801858 h 2053883"/>
              <a:gd name="connsiteX20" fmla="*/ 1294227 w 2208627"/>
              <a:gd name="connsiteY20" fmla="*/ 745588 h 2053883"/>
              <a:gd name="connsiteX21" fmla="*/ 1308295 w 2208627"/>
              <a:gd name="connsiteY21" fmla="*/ 703385 h 2053883"/>
              <a:gd name="connsiteX22" fmla="*/ 1350498 w 2208627"/>
              <a:gd name="connsiteY22" fmla="*/ 661181 h 2053883"/>
              <a:gd name="connsiteX23" fmla="*/ 1364566 w 2208627"/>
              <a:gd name="connsiteY23" fmla="*/ 618978 h 2053883"/>
              <a:gd name="connsiteX24" fmla="*/ 1392701 w 2208627"/>
              <a:gd name="connsiteY24" fmla="*/ 520505 h 2053883"/>
              <a:gd name="connsiteX25" fmla="*/ 1406769 w 2208627"/>
              <a:gd name="connsiteY25" fmla="*/ 253218 h 2053883"/>
              <a:gd name="connsiteX26" fmla="*/ 1519310 w 2208627"/>
              <a:gd name="connsiteY26" fmla="*/ 196948 h 2053883"/>
              <a:gd name="connsiteX27" fmla="*/ 1603716 w 2208627"/>
              <a:gd name="connsiteY27" fmla="*/ 168812 h 2053883"/>
              <a:gd name="connsiteX28" fmla="*/ 1899138 w 2208627"/>
              <a:gd name="connsiteY28" fmla="*/ 140677 h 2053883"/>
              <a:gd name="connsiteX29" fmla="*/ 1969476 w 2208627"/>
              <a:gd name="connsiteY29" fmla="*/ 126609 h 2053883"/>
              <a:gd name="connsiteX30" fmla="*/ 2082018 w 2208627"/>
              <a:gd name="connsiteY30" fmla="*/ 98474 h 2053883"/>
              <a:gd name="connsiteX31" fmla="*/ 2124221 w 2208627"/>
              <a:gd name="connsiteY31" fmla="*/ 84406 h 2053883"/>
              <a:gd name="connsiteX32" fmla="*/ 2194560 w 2208627"/>
              <a:gd name="connsiteY32" fmla="*/ 28135 h 2053883"/>
              <a:gd name="connsiteX33" fmla="*/ 2208627 w 2208627"/>
              <a:gd name="connsiteY33" fmla="*/ 0 h 2053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208627" h="2053883">
                <a:moveTo>
                  <a:pt x="0" y="2053883"/>
                </a:moveTo>
                <a:cubicBezTo>
                  <a:pt x="4689" y="1922585"/>
                  <a:pt x="5608" y="1791097"/>
                  <a:pt x="14067" y="1659988"/>
                </a:cubicBezTo>
                <a:cubicBezTo>
                  <a:pt x="15022" y="1645190"/>
                  <a:pt x="21503" y="1631048"/>
                  <a:pt x="28135" y="1617785"/>
                </a:cubicBezTo>
                <a:cubicBezTo>
                  <a:pt x="35696" y="1602662"/>
                  <a:pt x="46443" y="1589339"/>
                  <a:pt x="56270" y="1575581"/>
                </a:cubicBezTo>
                <a:cubicBezTo>
                  <a:pt x="69898" y="1556502"/>
                  <a:pt x="84405" y="1538068"/>
                  <a:pt x="98473" y="1519311"/>
                </a:cubicBezTo>
                <a:cubicBezTo>
                  <a:pt x="125371" y="1438620"/>
                  <a:pt x="94332" y="1510764"/>
                  <a:pt x="140676" y="1448972"/>
                </a:cubicBezTo>
                <a:cubicBezTo>
                  <a:pt x="160965" y="1421920"/>
                  <a:pt x="173037" y="1388476"/>
                  <a:pt x="196947" y="1364566"/>
                </a:cubicBezTo>
                <a:cubicBezTo>
                  <a:pt x="215704" y="1345809"/>
                  <a:pt x="231147" y="1323009"/>
                  <a:pt x="253218" y="1308295"/>
                </a:cubicBezTo>
                <a:cubicBezTo>
                  <a:pt x="267286" y="1298917"/>
                  <a:pt x="280299" y="1287721"/>
                  <a:pt x="295421" y="1280160"/>
                </a:cubicBezTo>
                <a:cubicBezTo>
                  <a:pt x="311206" y="1272267"/>
                  <a:pt x="381598" y="1253665"/>
                  <a:pt x="393895" y="1252025"/>
                </a:cubicBezTo>
                <a:cubicBezTo>
                  <a:pt x="445235" y="1245180"/>
                  <a:pt x="497130" y="1243379"/>
                  <a:pt x="548640" y="1237957"/>
                </a:cubicBezTo>
                <a:cubicBezTo>
                  <a:pt x="586238" y="1233999"/>
                  <a:pt x="623890" y="1230104"/>
                  <a:pt x="661181" y="1223889"/>
                </a:cubicBezTo>
                <a:cubicBezTo>
                  <a:pt x="691470" y="1218841"/>
                  <a:pt x="783098" y="1191066"/>
                  <a:pt x="801858" y="1181686"/>
                </a:cubicBezTo>
                <a:cubicBezTo>
                  <a:pt x="871392" y="1146920"/>
                  <a:pt x="838234" y="1160183"/>
                  <a:pt x="900332" y="1139483"/>
                </a:cubicBezTo>
                <a:cubicBezTo>
                  <a:pt x="914400" y="1125415"/>
                  <a:pt x="925144" y="1106942"/>
                  <a:pt x="942535" y="1097280"/>
                </a:cubicBezTo>
                <a:cubicBezTo>
                  <a:pt x="968460" y="1082877"/>
                  <a:pt x="1026941" y="1069145"/>
                  <a:pt x="1026941" y="1069145"/>
                </a:cubicBezTo>
                <a:cubicBezTo>
                  <a:pt x="1036319" y="1055077"/>
                  <a:pt x="1042352" y="1038075"/>
                  <a:pt x="1055076" y="1026941"/>
                </a:cubicBezTo>
                <a:cubicBezTo>
                  <a:pt x="1115092" y="974427"/>
                  <a:pt x="1129468" y="990223"/>
                  <a:pt x="1167618" y="942535"/>
                </a:cubicBezTo>
                <a:cubicBezTo>
                  <a:pt x="1256234" y="831763"/>
                  <a:pt x="1127603" y="978861"/>
                  <a:pt x="1223889" y="844061"/>
                </a:cubicBezTo>
                <a:cubicBezTo>
                  <a:pt x="1235453" y="827872"/>
                  <a:pt x="1254528" y="818047"/>
                  <a:pt x="1266092" y="801858"/>
                </a:cubicBezTo>
                <a:cubicBezTo>
                  <a:pt x="1278281" y="784794"/>
                  <a:pt x="1285966" y="764863"/>
                  <a:pt x="1294227" y="745588"/>
                </a:cubicBezTo>
                <a:cubicBezTo>
                  <a:pt x="1300068" y="731958"/>
                  <a:pt x="1300070" y="715723"/>
                  <a:pt x="1308295" y="703385"/>
                </a:cubicBezTo>
                <a:cubicBezTo>
                  <a:pt x="1319331" y="686831"/>
                  <a:pt x="1336430" y="675249"/>
                  <a:pt x="1350498" y="661181"/>
                </a:cubicBezTo>
                <a:cubicBezTo>
                  <a:pt x="1355187" y="647113"/>
                  <a:pt x="1360492" y="633236"/>
                  <a:pt x="1364566" y="618978"/>
                </a:cubicBezTo>
                <a:cubicBezTo>
                  <a:pt x="1399894" y="495329"/>
                  <a:pt x="1358971" y="621694"/>
                  <a:pt x="1392701" y="520505"/>
                </a:cubicBezTo>
                <a:cubicBezTo>
                  <a:pt x="1397390" y="431409"/>
                  <a:pt x="1374258" y="336303"/>
                  <a:pt x="1406769" y="253218"/>
                </a:cubicBezTo>
                <a:cubicBezTo>
                  <a:pt x="1422052" y="214160"/>
                  <a:pt x="1479521" y="210211"/>
                  <a:pt x="1519310" y="196948"/>
                </a:cubicBezTo>
                <a:lnTo>
                  <a:pt x="1603716" y="168812"/>
                </a:lnTo>
                <a:cubicBezTo>
                  <a:pt x="1726109" y="128015"/>
                  <a:pt x="1631167" y="155565"/>
                  <a:pt x="1899138" y="140677"/>
                </a:cubicBezTo>
                <a:cubicBezTo>
                  <a:pt x="1922584" y="135988"/>
                  <a:pt x="1946178" y="131985"/>
                  <a:pt x="1969476" y="126609"/>
                </a:cubicBezTo>
                <a:cubicBezTo>
                  <a:pt x="2007154" y="117914"/>
                  <a:pt x="2045334" y="110702"/>
                  <a:pt x="2082018" y="98474"/>
                </a:cubicBezTo>
                <a:cubicBezTo>
                  <a:pt x="2096086" y="93785"/>
                  <a:pt x="2110958" y="91038"/>
                  <a:pt x="2124221" y="84406"/>
                </a:cubicBezTo>
                <a:cubicBezTo>
                  <a:pt x="2146370" y="73331"/>
                  <a:pt x="2178858" y="49071"/>
                  <a:pt x="2194560" y="28135"/>
                </a:cubicBezTo>
                <a:cubicBezTo>
                  <a:pt x="2200851" y="19747"/>
                  <a:pt x="2203938" y="9378"/>
                  <a:pt x="2208627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6344529" y="4093617"/>
            <a:ext cx="2489982" cy="1589731"/>
          </a:xfrm>
          <a:custGeom>
            <a:avLst/>
            <a:gdLst>
              <a:gd name="connsiteX0" fmla="*/ 0 w 2489982"/>
              <a:gd name="connsiteY0" fmla="*/ 1589731 h 1589731"/>
              <a:gd name="connsiteX1" fmla="*/ 56271 w 2489982"/>
              <a:gd name="connsiteY1" fmla="*/ 1463121 h 1589731"/>
              <a:gd name="connsiteX2" fmla="*/ 112542 w 2489982"/>
              <a:gd name="connsiteY2" fmla="*/ 1378715 h 1589731"/>
              <a:gd name="connsiteX3" fmla="*/ 168813 w 2489982"/>
              <a:gd name="connsiteY3" fmla="*/ 1308377 h 1589731"/>
              <a:gd name="connsiteX4" fmla="*/ 267286 w 2489982"/>
              <a:gd name="connsiteY4" fmla="*/ 1252106 h 1589731"/>
              <a:gd name="connsiteX5" fmla="*/ 295422 w 2489982"/>
              <a:gd name="connsiteY5" fmla="*/ 1223971 h 1589731"/>
              <a:gd name="connsiteX6" fmla="*/ 379828 w 2489982"/>
              <a:gd name="connsiteY6" fmla="*/ 1195835 h 1589731"/>
              <a:gd name="connsiteX7" fmla="*/ 548640 w 2489982"/>
              <a:gd name="connsiteY7" fmla="*/ 1167700 h 1589731"/>
              <a:gd name="connsiteX8" fmla="*/ 647114 w 2489982"/>
              <a:gd name="connsiteY8" fmla="*/ 1153632 h 1589731"/>
              <a:gd name="connsiteX9" fmla="*/ 1111348 w 2489982"/>
              <a:gd name="connsiteY9" fmla="*/ 1125497 h 1589731"/>
              <a:gd name="connsiteX10" fmla="*/ 1209822 w 2489982"/>
              <a:gd name="connsiteY10" fmla="*/ 1111429 h 1589731"/>
              <a:gd name="connsiteX11" fmla="*/ 1336431 w 2489982"/>
              <a:gd name="connsiteY11" fmla="*/ 1069226 h 1589731"/>
              <a:gd name="connsiteX12" fmla="*/ 1378634 w 2489982"/>
              <a:gd name="connsiteY12" fmla="*/ 1055158 h 1589731"/>
              <a:gd name="connsiteX13" fmla="*/ 1406769 w 2489982"/>
              <a:gd name="connsiteY13" fmla="*/ 1012955 h 1589731"/>
              <a:gd name="connsiteX14" fmla="*/ 1463040 w 2489982"/>
              <a:gd name="connsiteY14" fmla="*/ 970752 h 1589731"/>
              <a:gd name="connsiteX15" fmla="*/ 1491176 w 2489982"/>
              <a:gd name="connsiteY15" fmla="*/ 942617 h 1589731"/>
              <a:gd name="connsiteX16" fmla="*/ 1505243 w 2489982"/>
              <a:gd name="connsiteY16" fmla="*/ 886346 h 1589731"/>
              <a:gd name="connsiteX17" fmla="*/ 1561514 w 2489982"/>
              <a:gd name="connsiteY17" fmla="*/ 830075 h 1589731"/>
              <a:gd name="connsiteX18" fmla="*/ 1617785 w 2489982"/>
              <a:gd name="connsiteY18" fmla="*/ 717534 h 1589731"/>
              <a:gd name="connsiteX19" fmla="*/ 1645920 w 2489982"/>
              <a:gd name="connsiteY19" fmla="*/ 619060 h 1589731"/>
              <a:gd name="connsiteX20" fmla="*/ 1674056 w 2489982"/>
              <a:gd name="connsiteY20" fmla="*/ 576857 h 1589731"/>
              <a:gd name="connsiteX21" fmla="*/ 1702191 w 2489982"/>
              <a:gd name="connsiteY21" fmla="*/ 492451 h 1589731"/>
              <a:gd name="connsiteX22" fmla="*/ 1716259 w 2489982"/>
              <a:gd name="connsiteY22" fmla="*/ 450248 h 1589731"/>
              <a:gd name="connsiteX23" fmla="*/ 1730326 w 2489982"/>
              <a:gd name="connsiteY23" fmla="*/ 393977 h 1589731"/>
              <a:gd name="connsiteX24" fmla="*/ 1758462 w 2489982"/>
              <a:gd name="connsiteY24" fmla="*/ 309571 h 1589731"/>
              <a:gd name="connsiteX25" fmla="*/ 1786597 w 2489982"/>
              <a:gd name="connsiteY25" fmla="*/ 281435 h 1589731"/>
              <a:gd name="connsiteX26" fmla="*/ 1969477 w 2489982"/>
              <a:gd name="connsiteY26" fmla="*/ 239232 h 1589731"/>
              <a:gd name="connsiteX27" fmla="*/ 2222696 w 2489982"/>
              <a:gd name="connsiteY27" fmla="*/ 211097 h 1589731"/>
              <a:gd name="connsiteX28" fmla="*/ 2278966 w 2489982"/>
              <a:gd name="connsiteY28" fmla="*/ 197029 h 1589731"/>
              <a:gd name="connsiteX29" fmla="*/ 2307102 w 2489982"/>
              <a:gd name="connsiteY29" fmla="*/ 168894 h 1589731"/>
              <a:gd name="connsiteX30" fmla="*/ 2349305 w 2489982"/>
              <a:gd name="connsiteY30" fmla="*/ 154826 h 1589731"/>
              <a:gd name="connsiteX31" fmla="*/ 2391508 w 2489982"/>
              <a:gd name="connsiteY31" fmla="*/ 126691 h 1589731"/>
              <a:gd name="connsiteX32" fmla="*/ 2447779 w 2489982"/>
              <a:gd name="connsiteY32" fmla="*/ 42285 h 1589731"/>
              <a:gd name="connsiteX33" fmla="*/ 2489982 w 2489982"/>
              <a:gd name="connsiteY33" fmla="*/ 81 h 158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489982" h="1589731">
                <a:moveTo>
                  <a:pt x="0" y="1589731"/>
                </a:moveTo>
                <a:cubicBezTo>
                  <a:pt x="20204" y="1488713"/>
                  <a:pt x="-1786" y="1546060"/>
                  <a:pt x="56271" y="1463121"/>
                </a:cubicBezTo>
                <a:cubicBezTo>
                  <a:pt x="75662" y="1435419"/>
                  <a:pt x="93785" y="1406850"/>
                  <a:pt x="112542" y="1378715"/>
                </a:cubicBezTo>
                <a:cubicBezTo>
                  <a:pt x="127595" y="1356136"/>
                  <a:pt x="144756" y="1324415"/>
                  <a:pt x="168813" y="1308377"/>
                </a:cubicBezTo>
                <a:cubicBezTo>
                  <a:pt x="255457" y="1250614"/>
                  <a:pt x="195338" y="1309663"/>
                  <a:pt x="267286" y="1252106"/>
                </a:cubicBezTo>
                <a:cubicBezTo>
                  <a:pt x="277643" y="1243821"/>
                  <a:pt x="283559" y="1229902"/>
                  <a:pt x="295422" y="1223971"/>
                </a:cubicBezTo>
                <a:cubicBezTo>
                  <a:pt x="321948" y="1210708"/>
                  <a:pt x="351693" y="1205213"/>
                  <a:pt x="379828" y="1195835"/>
                </a:cubicBezTo>
                <a:cubicBezTo>
                  <a:pt x="465599" y="1167245"/>
                  <a:pt x="397888" y="1186544"/>
                  <a:pt x="548640" y="1167700"/>
                </a:cubicBezTo>
                <a:cubicBezTo>
                  <a:pt x="581542" y="1163587"/>
                  <a:pt x="614289" y="1158321"/>
                  <a:pt x="647114" y="1153632"/>
                </a:cubicBezTo>
                <a:cubicBezTo>
                  <a:pt x="826265" y="1093918"/>
                  <a:pt x="642082" y="1150863"/>
                  <a:pt x="1111348" y="1125497"/>
                </a:cubicBezTo>
                <a:cubicBezTo>
                  <a:pt x="1144458" y="1123707"/>
                  <a:pt x="1176997" y="1116118"/>
                  <a:pt x="1209822" y="1111429"/>
                </a:cubicBezTo>
                <a:lnTo>
                  <a:pt x="1336431" y="1069226"/>
                </a:lnTo>
                <a:lnTo>
                  <a:pt x="1378634" y="1055158"/>
                </a:lnTo>
                <a:cubicBezTo>
                  <a:pt x="1388012" y="1041090"/>
                  <a:pt x="1394814" y="1024910"/>
                  <a:pt x="1406769" y="1012955"/>
                </a:cubicBezTo>
                <a:cubicBezTo>
                  <a:pt x="1423348" y="996376"/>
                  <a:pt x="1445028" y="985762"/>
                  <a:pt x="1463040" y="970752"/>
                </a:cubicBezTo>
                <a:cubicBezTo>
                  <a:pt x="1473229" y="962261"/>
                  <a:pt x="1481797" y="951995"/>
                  <a:pt x="1491176" y="942617"/>
                </a:cubicBezTo>
                <a:cubicBezTo>
                  <a:pt x="1495865" y="923860"/>
                  <a:pt x="1494996" y="902741"/>
                  <a:pt x="1505243" y="886346"/>
                </a:cubicBezTo>
                <a:cubicBezTo>
                  <a:pt x="1519302" y="863852"/>
                  <a:pt x="1561514" y="830075"/>
                  <a:pt x="1561514" y="830075"/>
                </a:cubicBezTo>
                <a:cubicBezTo>
                  <a:pt x="1593843" y="733086"/>
                  <a:pt x="1568678" y="766639"/>
                  <a:pt x="1617785" y="717534"/>
                </a:cubicBezTo>
                <a:cubicBezTo>
                  <a:pt x="1622291" y="699511"/>
                  <a:pt x="1635831" y="639237"/>
                  <a:pt x="1645920" y="619060"/>
                </a:cubicBezTo>
                <a:cubicBezTo>
                  <a:pt x="1653481" y="603938"/>
                  <a:pt x="1664677" y="590925"/>
                  <a:pt x="1674056" y="576857"/>
                </a:cubicBezTo>
                <a:lnTo>
                  <a:pt x="1702191" y="492451"/>
                </a:lnTo>
                <a:cubicBezTo>
                  <a:pt x="1706880" y="478383"/>
                  <a:pt x="1712663" y="464634"/>
                  <a:pt x="1716259" y="450248"/>
                </a:cubicBezTo>
                <a:cubicBezTo>
                  <a:pt x="1720948" y="431491"/>
                  <a:pt x="1724770" y="412496"/>
                  <a:pt x="1730326" y="393977"/>
                </a:cubicBezTo>
                <a:cubicBezTo>
                  <a:pt x="1738848" y="365570"/>
                  <a:pt x="1737491" y="330542"/>
                  <a:pt x="1758462" y="309571"/>
                </a:cubicBezTo>
                <a:cubicBezTo>
                  <a:pt x="1767840" y="300192"/>
                  <a:pt x="1774734" y="287367"/>
                  <a:pt x="1786597" y="281435"/>
                </a:cubicBezTo>
                <a:cubicBezTo>
                  <a:pt x="1843468" y="252999"/>
                  <a:pt x="1907599" y="246107"/>
                  <a:pt x="1969477" y="239232"/>
                </a:cubicBezTo>
                <a:cubicBezTo>
                  <a:pt x="2082009" y="226729"/>
                  <a:pt x="2121112" y="229567"/>
                  <a:pt x="2222696" y="211097"/>
                </a:cubicBezTo>
                <a:cubicBezTo>
                  <a:pt x="2241718" y="207638"/>
                  <a:pt x="2260209" y="201718"/>
                  <a:pt x="2278966" y="197029"/>
                </a:cubicBezTo>
                <a:cubicBezTo>
                  <a:pt x="2288345" y="187651"/>
                  <a:pt x="2295729" y="175718"/>
                  <a:pt x="2307102" y="168894"/>
                </a:cubicBezTo>
                <a:cubicBezTo>
                  <a:pt x="2319818" y="161265"/>
                  <a:pt x="2336042" y="161458"/>
                  <a:pt x="2349305" y="154826"/>
                </a:cubicBezTo>
                <a:cubicBezTo>
                  <a:pt x="2364427" y="147265"/>
                  <a:pt x="2377440" y="136069"/>
                  <a:pt x="2391508" y="126691"/>
                </a:cubicBezTo>
                <a:lnTo>
                  <a:pt x="2447779" y="42285"/>
                </a:lnTo>
                <a:cubicBezTo>
                  <a:pt x="2478516" y="-3821"/>
                  <a:pt x="2459006" y="81"/>
                  <a:pt x="2489982" y="8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6246055" y="3826412"/>
            <a:ext cx="2560320" cy="1814733"/>
          </a:xfrm>
          <a:custGeom>
            <a:avLst/>
            <a:gdLst>
              <a:gd name="connsiteX0" fmla="*/ 70339 w 2560320"/>
              <a:gd name="connsiteY0" fmla="*/ 1814733 h 1814733"/>
              <a:gd name="connsiteX1" fmla="*/ 42203 w 2560320"/>
              <a:gd name="connsiteY1" fmla="*/ 1730326 h 1814733"/>
              <a:gd name="connsiteX2" fmla="*/ 28136 w 2560320"/>
              <a:gd name="connsiteY2" fmla="*/ 1659988 h 1814733"/>
              <a:gd name="connsiteX3" fmla="*/ 0 w 2560320"/>
              <a:gd name="connsiteY3" fmla="*/ 1575582 h 1814733"/>
              <a:gd name="connsiteX4" fmla="*/ 14068 w 2560320"/>
              <a:gd name="connsiteY4" fmla="*/ 1350499 h 1814733"/>
              <a:gd name="connsiteX5" fmla="*/ 70339 w 2560320"/>
              <a:gd name="connsiteY5" fmla="*/ 1308296 h 1814733"/>
              <a:gd name="connsiteX6" fmla="*/ 112542 w 2560320"/>
              <a:gd name="connsiteY6" fmla="*/ 1237957 h 1814733"/>
              <a:gd name="connsiteX7" fmla="*/ 168813 w 2560320"/>
              <a:gd name="connsiteY7" fmla="*/ 1167619 h 1814733"/>
              <a:gd name="connsiteX8" fmla="*/ 196948 w 2560320"/>
              <a:gd name="connsiteY8" fmla="*/ 1139483 h 1814733"/>
              <a:gd name="connsiteX9" fmla="*/ 337625 w 2560320"/>
              <a:gd name="connsiteY9" fmla="*/ 1055077 h 1814733"/>
              <a:gd name="connsiteX10" fmla="*/ 379828 w 2560320"/>
              <a:gd name="connsiteY10" fmla="*/ 1041010 h 1814733"/>
              <a:gd name="connsiteX11" fmla="*/ 548640 w 2560320"/>
              <a:gd name="connsiteY11" fmla="*/ 1055077 h 1814733"/>
              <a:gd name="connsiteX12" fmla="*/ 647114 w 2560320"/>
              <a:gd name="connsiteY12" fmla="*/ 1083213 h 1814733"/>
              <a:gd name="connsiteX13" fmla="*/ 717453 w 2560320"/>
              <a:gd name="connsiteY13" fmla="*/ 1125416 h 1814733"/>
              <a:gd name="connsiteX14" fmla="*/ 759656 w 2560320"/>
              <a:gd name="connsiteY14" fmla="*/ 1153551 h 1814733"/>
              <a:gd name="connsiteX15" fmla="*/ 858130 w 2560320"/>
              <a:gd name="connsiteY15" fmla="*/ 1181686 h 1814733"/>
              <a:gd name="connsiteX16" fmla="*/ 928468 w 2560320"/>
              <a:gd name="connsiteY16" fmla="*/ 1195754 h 1814733"/>
              <a:gd name="connsiteX17" fmla="*/ 984739 w 2560320"/>
              <a:gd name="connsiteY17" fmla="*/ 1209822 h 1814733"/>
              <a:gd name="connsiteX18" fmla="*/ 1097280 w 2560320"/>
              <a:gd name="connsiteY18" fmla="*/ 1223890 h 1814733"/>
              <a:gd name="connsiteX19" fmla="*/ 1280160 w 2560320"/>
              <a:gd name="connsiteY19" fmla="*/ 1181686 h 1814733"/>
              <a:gd name="connsiteX20" fmla="*/ 1350499 w 2560320"/>
              <a:gd name="connsiteY20" fmla="*/ 1111348 h 1814733"/>
              <a:gd name="connsiteX21" fmla="*/ 1392702 w 2560320"/>
              <a:gd name="connsiteY21" fmla="*/ 1069145 h 1814733"/>
              <a:gd name="connsiteX22" fmla="*/ 1434905 w 2560320"/>
              <a:gd name="connsiteY22" fmla="*/ 998806 h 1814733"/>
              <a:gd name="connsiteX23" fmla="*/ 1463040 w 2560320"/>
              <a:gd name="connsiteY23" fmla="*/ 900333 h 1814733"/>
              <a:gd name="connsiteX24" fmla="*/ 1491176 w 2560320"/>
              <a:gd name="connsiteY24" fmla="*/ 872197 h 1814733"/>
              <a:gd name="connsiteX25" fmla="*/ 1505243 w 2560320"/>
              <a:gd name="connsiteY25" fmla="*/ 829994 h 1814733"/>
              <a:gd name="connsiteX26" fmla="*/ 1533379 w 2560320"/>
              <a:gd name="connsiteY26" fmla="*/ 787791 h 1814733"/>
              <a:gd name="connsiteX27" fmla="*/ 1547447 w 2560320"/>
              <a:gd name="connsiteY27" fmla="*/ 731520 h 1814733"/>
              <a:gd name="connsiteX28" fmla="*/ 1561514 w 2560320"/>
              <a:gd name="connsiteY28" fmla="*/ 689317 h 1814733"/>
              <a:gd name="connsiteX29" fmla="*/ 1603717 w 2560320"/>
              <a:gd name="connsiteY29" fmla="*/ 590843 h 1814733"/>
              <a:gd name="connsiteX30" fmla="*/ 1674056 w 2560320"/>
              <a:gd name="connsiteY30" fmla="*/ 520505 h 1814733"/>
              <a:gd name="connsiteX31" fmla="*/ 1744394 w 2560320"/>
              <a:gd name="connsiteY31" fmla="*/ 464234 h 1814733"/>
              <a:gd name="connsiteX32" fmla="*/ 1772530 w 2560320"/>
              <a:gd name="connsiteY32" fmla="*/ 422031 h 1814733"/>
              <a:gd name="connsiteX33" fmla="*/ 1814733 w 2560320"/>
              <a:gd name="connsiteY33" fmla="*/ 393896 h 1814733"/>
              <a:gd name="connsiteX34" fmla="*/ 1842868 w 2560320"/>
              <a:gd name="connsiteY34" fmla="*/ 365760 h 1814733"/>
              <a:gd name="connsiteX35" fmla="*/ 1927274 w 2560320"/>
              <a:gd name="connsiteY35" fmla="*/ 323557 h 1814733"/>
              <a:gd name="connsiteX36" fmla="*/ 1997613 w 2560320"/>
              <a:gd name="connsiteY36" fmla="*/ 281354 h 1814733"/>
              <a:gd name="connsiteX37" fmla="*/ 2039816 w 2560320"/>
              <a:gd name="connsiteY37" fmla="*/ 239151 h 1814733"/>
              <a:gd name="connsiteX38" fmla="*/ 2082019 w 2560320"/>
              <a:gd name="connsiteY38" fmla="*/ 211016 h 1814733"/>
              <a:gd name="connsiteX39" fmla="*/ 2138290 w 2560320"/>
              <a:gd name="connsiteY39" fmla="*/ 154745 h 1814733"/>
              <a:gd name="connsiteX40" fmla="*/ 2194560 w 2560320"/>
              <a:gd name="connsiteY40" fmla="*/ 84406 h 1814733"/>
              <a:gd name="connsiteX41" fmla="*/ 2250831 w 2560320"/>
              <a:gd name="connsiteY41" fmla="*/ 70339 h 1814733"/>
              <a:gd name="connsiteX42" fmla="*/ 2447779 w 2560320"/>
              <a:gd name="connsiteY42" fmla="*/ 42203 h 1814733"/>
              <a:gd name="connsiteX43" fmla="*/ 2560320 w 2560320"/>
              <a:gd name="connsiteY43" fmla="*/ 0 h 181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2560320" h="1814733">
                <a:moveTo>
                  <a:pt x="70339" y="1814733"/>
                </a:moveTo>
                <a:cubicBezTo>
                  <a:pt x="60960" y="1786597"/>
                  <a:pt x="50006" y="1758939"/>
                  <a:pt x="42203" y="1730326"/>
                </a:cubicBezTo>
                <a:cubicBezTo>
                  <a:pt x="35912" y="1707258"/>
                  <a:pt x="34427" y="1683056"/>
                  <a:pt x="28136" y="1659988"/>
                </a:cubicBezTo>
                <a:cubicBezTo>
                  <a:pt x="20333" y="1631376"/>
                  <a:pt x="0" y="1575582"/>
                  <a:pt x="0" y="1575582"/>
                </a:cubicBezTo>
                <a:cubicBezTo>
                  <a:pt x="4689" y="1500554"/>
                  <a:pt x="-5063" y="1423198"/>
                  <a:pt x="14068" y="1350499"/>
                </a:cubicBezTo>
                <a:cubicBezTo>
                  <a:pt x="20035" y="1327825"/>
                  <a:pt x="55329" y="1326308"/>
                  <a:pt x="70339" y="1308296"/>
                </a:cubicBezTo>
                <a:cubicBezTo>
                  <a:pt x="252995" y="1089111"/>
                  <a:pt x="-73117" y="1423623"/>
                  <a:pt x="112542" y="1237957"/>
                </a:cubicBezTo>
                <a:cubicBezTo>
                  <a:pt x="134856" y="1171016"/>
                  <a:pt x="110966" y="1213897"/>
                  <a:pt x="168813" y="1167619"/>
                </a:cubicBezTo>
                <a:cubicBezTo>
                  <a:pt x="179170" y="1159333"/>
                  <a:pt x="186337" y="1147441"/>
                  <a:pt x="196948" y="1139483"/>
                </a:cubicBezTo>
                <a:cubicBezTo>
                  <a:pt x="241389" y="1106152"/>
                  <a:pt x="286717" y="1076895"/>
                  <a:pt x="337625" y="1055077"/>
                </a:cubicBezTo>
                <a:cubicBezTo>
                  <a:pt x="351255" y="1049236"/>
                  <a:pt x="365760" y="1045699"/>
                  <a:pt x="379828" y="1041010"/>
                </a:cubicBezTo>
                <a:cubicBezTo>
                  <a:pt x="436099" y="1045699"/>
                  <a:pt x="492610" y="1048073"/>
                  <a:pt x="548640" y="1055077"/>
                </a:cubicBezTo>
                <a:cubicBezTo>
                  <a:pt x="576903" y="1058610"/>
                  <a:pt x="619084" y="1073869"/>
                  <a:pt x="647114" y="1083213"/>
                </a:cubicBezTo>
                <a:cubicBezTo>
                  <a:pt x="702070" y="1138167"/>
                  <a:pt x="644405" y="1088892"/>
                  <a:pt x="717453" y="1125416"/>
                </a:cubicBezTo>
                <a:cubicBezTo>
                  <a:pt x="732575" y="1132977"/>
                  <a:pt x="744534" y="1145990"/>
                  <a:pt x="759656" y="1153551"/>
                </a:cubicBezTo>
                <a:cubicBezTo>
                  <a:pt x="778459" y="1162953"/>
                  <a:pt x="841898" y="1178079"/>
                  <a:pt x="858130" y="1181686"/>
                </a:cubicBezTo>
                <a:cubicBezTo>
                  <a:pt x="881471" y="1186873"/>
                  <a:pt x="905127" y="1190567"/>
                  <a:pt x="928468" y="1195754"/>
                </a:cubicBezTo>
                <a:cubicBezTo>
                  <a:pt x="947342" y="1199948"/>
                  <a:pt x="965668" y="1206643"/>
                  <a:pt x="984739" y="1209822"/>
                </a:cubicBezTo>
                <a:cubicBezTo>
                  <a:pt x="1022030" y="1216037"/>
                  <a:pt x="1059766" y="1219201"/>
                  <a:pt x="1097280" y="1223890"/>
                </a:cubicBezTo>
                <a:cubicBezTo>
                  <a:pt x="1193783" y="1214239"/>
                  <a:pt x="1220630" y="1233775"/>
                  <a:pt x="1280160" y="1181686"/>
                </a:cubicBezTo>
                <a:cubicBezTo>
                  <a:pt x="1305114" y="1159851"/>
                  <a:pt x="1327053" y="1134794"/>
                  <a:pt x="1350499" y="1111348"/>
                </a:cubicBezTo>
                <a:lnTo>
                  <a:pt x="1392702" y="1069145"/>
                </a:lnTo>
                <a:cubicBezTo>
                  <a:pt x="1432554" y="949591"/>
                  <a:pt x="1376974" y="1095359"/>
                  <a:pt x="1434905" y="998806"/>
                </a:cubicBezTo>
                <a:cubicBezTo>
                  <a:pt x="1455654" y="964223"/>
                  <a:pt x="1444637" y="937139"/>
                  <a:pt x="1463040" y="900333"/>
                </a:cubicBezTo>
                <a:cubicBezTo>
                  <a:pt x="1468972" y="888470"/>
                  <a:pt x="1481797" y="881576"/>
                  <a:pt x="1491176" y="872197"/>
                </a:cubicBezTo>
                <a:cubicBezTo>
                  <a:pt x="1495865" y="858129"/>
                  <a:pt x="1498611" y="843257"/>
                  <a:pt x="1505243" y="829994"/>
                </a:cubicBezTo>
                <a:cubicBezTo>
                  <a:pt x="1512804" y="814872"/>
                  <a:pt x="1526719" y="803331"/>
                  <a:pt x="1533379" y="787791"/>
                </a:cubicBezTo>
                <a:cubicBezTo>
                  <a:pt x="1540995" y="770020"/>
                  <a:pt x="1542136" y="750110"/>
                  <a:pt x="1547447" y="731520"/>
                </a:cubicBezTo>
                <a:cubicBezTo>
                  <a:pt x="1551521" y="717262"/>
                  <a:pt x="1557440" y="703575"/>
                  <a:pt x="1561514" y="689317"/>
                </a:cubicBezTo>
                <a:cubicBezTo>
                  <a:pt x="1576802" y="635807"/>
                  <a:pt x="1567376" y="632375"/>
                  <a:pt x="1603717" y="590843"/>
                </a:cubicBezTo>
                <a:cubicBezTo>
                  <a:pt x="1625552" y="565889"/>
                  <a:pt x="1646467" y="538898"/>
                  <a:pt x="1674056" y="520505"/>
                </a:cubicBezTo>
                <a:cubicBezTo>
                  <a:pt x="1705396" y="499612"/>
                  <a:pt x="1721483" y="492873"/>
                  <a:pt x="1744394" y="464234"/>
                </a:cubicBezTo>
                <a:cubicBezTo>
                  <a:pt x="1754956" y="451032"/>
                  <a:pt x="1760575" y="433986"/>
                  <a:pt x="1772530" y="422031"/>
                </a:cubicBezTo>
                <a:cubicBezTo>
                  <a:pt x="1784485" y="410076"/>
                  <a:pt x="1801531" y="404458"/>
                  <a:pt x="1814733" y="393896"/>
                </a:cubicBezTo>
                <a:cubicBezTo>
                  <a:pt x="1825090" y="385610"/>
                  <a:pt x="1832511" y="374046"/>
                  <a:pt x="1842868" y="365760"/>
                </a:cubicBezTo>
                <a:cubicBezTo>
                  <a:pt x="1881824" y="334595"/>
                  <a:pt x="1882701" y="338415"/>
                  <a:pt x="1927274" y="323557"/>
                </a:cubicBezTo>
                <a:cubicBezTo>
                  <a:pt x="2014903" y="235931"/>
                  <a:pt x="1888036" y="354406"/>
                  <a:pt x="1997613" y="281354"/>
                </a:cubicBezTo>
                <a:cubicBezTo>
                  <a:pt x="2014166" y="270318"/>
                  <a:pt x="2024532" y="251887"/>
                  <a:pt x="2039816" y="239151"/>
                </a:cubicBezTo>
                <a:cubicBezTo>
                  <a:pt x="2052804" y="228327"/>
                  <a:pt x="2069182" y="222019"/>
                  <a:pt x="2082019" y="211016"/>
                </a:cubicBezTo>
                <a:cubicBezTo>
                  <a:pt x="2102159" y="193753"/>
                  <a:pt x="2123576" y="176816"/>
                  <a:pt x="2138290" y="154745"/>
                </a:cubicBezTo>
                <a:cubicBezTo>
                  <a:pt x="2148228" y="139837"/>
                  <a:pt x="2174516" y="94428"/>
                  <a:pt x="2194560" y="84406"/>
                </a:cubicBezTo>
                <a:cubicBezTo>
                  <a:pt x="2211853" y="75759"/>
                  <a:pt x="2232241" y="75650"/>
                  <a:pt x="2250831" y="70339"/>
                </a:cubicBezTo>
                <a:cubicBezTo>
                  <a:pt x="2364504" y="37861"/>
                  <a:pt x="2200257" y="64705"/>
                  <a:pt x="2447779" y="42203"/>
                </a:cubicBezTo>
                <a:cubicBezTo>
                  <a:pt x="2542132" y="10752"/>
                  <a:pt x="2505659" y="27331"/>
                  <a:pt x="2560320" y="0"/>
                </a:cubicBezTo>
              </a:path>
            </a:pathLst>
          </a:cu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083858" y="3837872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华文楷体" panose="02010600040101010101" pitchFamily="2" charset="-122"/>
              </a:rPr>
              <a:t>t(n)</a:t>
            </a: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452320" y="3522703"/>
            <a:ext cx="1020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华文楷体" panose="02010600040101010101" pitchFamily="2" charset="-122"/>
              </a:rPr>
              <a:t>C</a:t>
            </a:r>
            <a:r>
              <a:rPr lang="en-US" altLang="zh-CN" baseline="-25000" dirty="0" smtClean="0">
                <a:latin typeface="华文楷体" panose="02010600040101010101" pitchFamily="2" charset="-122"/>
              </a:rPr>
              <a:t>2</a:t>
            </a:r>
            <a:r>
              <a:rPr lang="en-US" altLang="zh-CN" dirty="0" smtClean="0">
                <a:latin typeface="华文楷体" panose="02010600040101010101" pitchFamily="2" charset="-122"/>
              </a:rPr>
              <a:t>*f(n)</a:t>
            </a:r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812360" y="4348828"/>
            <a:ext cx="914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华文楷体" panose="02010600040101010101" pitchFamily="2" charset="-122"/>
              </a:rPr>
              <a:t>C</a:t>
            </a:r>
            <a:r>
              <a:rPr lang="en-US" altLang="zh-CN" baseline="-25000" dirty="0" smtClean="0">
                <a:latin typeface="华文楷体" panose="02010600040101010101" pitchFamily="2" charset="-122"/>
              </a:rPr>
              <a:t>1</a:t>
            </a:r>
            <a:r>
              <a:rPr lang="en-US" altLang="zh-CN" dirty="0" smtClean="0">
                <a:latin typeface="华文楷体" panose="02010600040101010101" pitchFamily="2" charset="-122"/>
              </a:rPr>
              <a:t>*f(n)</a:t>
            </a:r>
            <a:endParaRPr lang="zh-CN" altLang="en-US" dirty="0">
              <a:latin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1.7 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算法分析技术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一些重要的函数和序列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30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zh-CN" altLang="en-US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调和级数</a:t>
            </a:r>
            <a:endParaRPr lang="zh-CN" altLang="en-US" sz="2800" b="1" dirty="0" smtClean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lang="en-US" altLang="zh-CN" sz="2800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H</a:t>
            </a:r>
            <a:r>
              <a:rPr lang="en-US" altLang="zh-CN" sz="2800" i="1" baseline="-25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=1+1/2+1/3+……+1/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    =</a:t>
            </a:r>
            <a:r>
              <a:rPr lang="en-US" altLang="zh-CN" sz="2800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lnn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+</a:t>
            </a:r>
            <a:r>
              <a:rPr lang="el-GR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γ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+</a:t>
            </a:r>
            <a:r>
              <a:rPr lang="ru-RU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Є</a:t>
            </a:r>
            <a:r>
              <a:rPr lang="en-US" altLang="zh-CN" sz="28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n</a:t>
            </a:r>
            <a:endParaRPr lang="en-US" altLang="zh-CN" sz="2800" i="1" baseline="-250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	    ≈0.693log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n+ </a:t>
            </a:r>
            <a:r>
              <a:rPr lang="el-GR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γ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其中：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	   欧拉常数</a:t>
            </a:r>
            <a:r>
              <a:rPr lang="el-GR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γ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 ≈0.57721566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   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24DE67F-29C9-4F7B-A91C-AA8921A9C179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pic>
        <p:nvPicPr>
          <p:cNvPr id="4301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5" y="4495800"/>
            <a:ext cx="2505075" cy="790575"/>
          </a:xfrm>
          <a:prstGeom prst="rect">
            <a:avLst/>
          </a:prstGeom>
          <a:solidFill>
            <a:srgbClr val="CCFFCC">
              <a:alpha val="92940"/>
            </a:srgbClr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440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Fibonacci</a:t>
            </a:r>
            <a:r>
              <a:rPr lang="zh-CN" altLang="en-US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序列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： 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=0; 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=1; </a:t>
            </a:r>
            <a:r>
              <a:rPr lang="en-US" altLang="zh-CN" sz="2800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i="1" baseline="-25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-1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+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-2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,(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&gt;1). 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令</a:t>
            </a:r>
            <a:r>
              <a:rPr lang="en-US" altLang="zh-CN" sz="2800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i="1" baseline="-25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+1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lang="en-US" altLang="zh-CN" sz="2800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i="1" baseline="-25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en-US" altLang="zh-CN" sz="2800" i="1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，则：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其特征值为：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故：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68C6CE3-131F-4918-A1F4-9116914FDE80}" type="slidenum">
              <a:rPr lang="en-US" altLang="zh-CN"/>
            </a:fld>
            <a:endParaRPr lang="en-US" altLang="zh-CN"/>
          </a:p>
        </p:txBody>
      </p:sp>
      <p:sp>
        <p:nvSpPr>
          <p:cNvPr id="9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pic>
        <p:nvPicPr>
          <p:cNvPr id="44039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752600"/>
            <a:ext cx="3886200" cy="2384425"/>
          </a:xfrm>
          <a:prstGeom prst="rect">
            <a:avLst/>
          </a:prstGeom>
          <a:solidFill>
            <a:srgbClr val="CCFFCC">
              <a:alpha val="92940"/>
            </a:srgbClr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404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4419600"/>
            <a:ext cx="8231187" cy="1046163"/>
          </a:xfrm>
          <a:prstGeom prst="rect">
            <a:avLst/>
          </a:prstGeom>
          <a:solidFill>
            <a:srgbClr val="CCFFCC">
              <a:alpha val="92940"/>
            </a:srgbClr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404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557838"/>
            <a:ext cx="6553200" cy="1001712"/>
          </a:xfrm>
          <a:prstGeom prst="rect">
            <a:avLst/>
          </a:prstGeom>
          <a:solidFill>
            <a:srgbClr val="CCFFCC">
              <a:alpha val="92940"/>
            </a:srgbClr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450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b="1" i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log</a:t>
            </a:r>
            <a:r>
              <a:rPr lang="en-US" altLang="zh-CN" b="1" baseline="-250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*</a:t>
            </a:r>
            <a:r>
              <a:rPr lang="zh-CN" altLang="en-US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：缓慢增长的单调函数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理论上：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现实中：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	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log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5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FEF63D-60EF-49F2-B01C-618BDFD50723}" type="slidenum">
              <a:rPr lang="en-US" altLang="zh-CN"/>
            </a:fld>
            <a:endParaRPr lang="en-US" altLang="zh-CN"/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pic>
        <p:nvPicPr>
          <p:cNvPr id="4506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676400"/>
            <a:ext cx="8286750" cy="1443038"/>
          </a:xfrm>
          <a:prstGeom prst="rect">
            <a:avLst/>
          </a:prstGeom>
          <a:solidFill>
            <a:srgbClr val="CCFFCC">
              <a:alpha val="92940"/>
            </a:srgbClr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506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025" y="3857625"/>
            <a:ext cx="3305175" cy="790575"/>
          </a:xfrm>
          <a:prstGeom prst="rect">
            <a:avLst/>
          </a:prstGeom>
          <a:solidFill>
            <a:srgbClr val="CCFFCC">
              <a:alpha val="92940"/>
            </a:srgbClr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52525"/>
            <a:ext cx="8229600" cy="5248275"/>
          </a:xfrm>
        </p:spPr>
        <p:txBody>
          <a:bodyPr/>
          <a:lstStyle/>
          <a:p>
            <a:pPr eaLnBrk="1" hangingPunct="1"/>
            <a:r>
              <a:rPr lang="zh-CN" altLang="en-US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一个快增长序列</a:t>
            </a:r>
            <a:endParaRPr lang="zh-CN" altLang="en-US" sz="2800" b="1" dirty="0" smtClean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=0, </a:t>
            </a:r>
            <a:r>
              <a:rPr lang="en-US" altLang="zh-CN" sz="2800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baseline="-25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=2</a:t>
            </a:r>
            <a:r>
              <a:rPr lang="en-US" altLang="zh-CN" sz="2800" i="1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(n-1)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严格单调递增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83587EE-FBEF-48F3-8248-B897ECF35FFE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pic>
        <p:nvPicPr>
          <p:cNvPr id="46087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200400"/>
            <a:ext cx="8077200" cy="1422400"/>
          </a:xfrm>
          <a:prstGeom prst="rect">
            <a:avLst/>
          </a:prstGeom>
          <a:solidFill>
            <a:srgbClr val="CCFFCC">
              <a:alpha val="92940"/>
            </a:srgbClr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471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反函数</a:t>
            </a:r>
            <a:endParaRPr lang="zh-CN" altLang="en-US" b="1" dirty="0" smtClean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对</a:t>
            </a:r>
            <a:r>
              <a:rPr lang="zh-CN" altLang="en-US" sz="2800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严格单调增函数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，其反函数记为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-1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，有：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[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-1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)]=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, 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-1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)]=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.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推广：若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{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)}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为严格单调增序列且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=0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，则该序列反函数的定义域为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[0, </a:t>
            </a:r>
            <a:r>
              <a:rPr lang="en-US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∞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，反函数为：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-1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</a:t>
            </a:r>
            <a:r>
              <a:rPr lang="en-US" altLang="zh-CN" sz="2800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其中：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ru-RU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∈ 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8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+1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1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19D45D-2ABF-44B2-AF5F-FBF9F26EAEDB}" type="slidenum">
              <a:rPr lang="en-US" altLang="zh-CN"/>
            </a:fld>
            <a:endParaRPr lang="en-US" altLang="zh-CN"/>
          </a:p>
        </p:txBody>
      </p:sp>
      <p:sp>
        <p:nvSpPr>
          <p:cNvPr id="1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47111" name="Line 4"/>
          <p:cNvSpPr>
            <a:spLocks noChangeShapeType="1"/>
          </p:cNvSpPr>
          <p:nvPr/>
        </p:nvSpPr>
        <p:spPr bwMode="auto">
          <a:xfrm>
            <a:off x="1524000" y="4738688"/>
            <a:ext cx="1600200" cy="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47112" name="Text Box 5"/>
          <p:cNvSpPr txBox="1">
            <a:spLocks noChangeArrowheads="1"/>
          </p:cNvSpPr>
          <p:nvPr/>
        </p:nvSpPr>
        <p:spPr bwMode="auto">
          <a:xfrm>
            <a:off x="1143000" y="4433888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1" dirty="0" err="1">
                <a:latin typeface="华文楷体" panose="02010600040101010101" pitchFamily="2" charset="-122"/>
              </a:rPr>
              <a:t>f</a:t>
            </a:r>
            <a:r>
              <a:rPr lang="en-US" altLang="zh-CN" sz="2800" i="1" baseline="-25000" dirty="0" err="1">
                <a:latin typeface="华文楷体" panose="02010600040101010101" pitchFamily="2" charset="-122"/>
              </a:rPr>
              <a:t>n</a:t>
            </a:r>
            <a:endParaRPr lang="en-US" altLang="zh-CN" sz="2800" i="1" baseline="-25000" dirty="0">
              <a:latin typeface="华文楷体" panose="02010600040101010101" pitchFamily="2" charset="-122"/>
            </a:endParaRPr>
          </a:p>
        </p:txBody>
      </p:sp>
      <p:sp>
        <p:nvSpPr>
          <p:cNvPr id="47113" name="Text Box 6"/>
          <p:cNvSpPr txBox="1">
            <a:spLocks noChangeArrowheads="1"/>
          </p:cNvSpPr>
          <p:nvPr/>
        </p:nvSpPr>
        <p:spPr bwMode="auto">
          <a:xfrm>
            <a:off x="3048000" y="4433888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latin typeface="华文楷体" panose="02010600040101010101" pitchFamily="2" charset="-122"/>
              </a:rPr>
              <a:t>∞</a:t>
            </a:r>
            <a:endParaRPr lang="en-US" altLang="zh-CN" sz="2800" b="1" dirty="0">
              <a:latin typeface="华文楷体" panose="02010600040101010101" pitchFamily="2" charset="-122"/>
            </a:endParaRPr>
          </a:p>
        </p:txBody>
      </p:sp>
      <p:sp>
        <p:nvSpPr>
          <p:cNvPr id="47114" name="Line 7"/>
          <p:cNvSpPr>
            <a:spLocks noChangeShapeType="1"/>
          </p:cNvSpPr>
          <p:nvPr/>
        </p:nvSpPr>
        <p:spPr bwMode="auto">
          <a:xfrm>
            <a:off x="4191000" y="4738688"/>
            <a:ext cx="1600200" cy="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47115" name="Text Box 8"/>
          <p:cNvSpPr txBox="1">
            <a:spLocks noChangeArrowheads="1"/>
          </p:cNvSpPr>
          <p:nvPr/>
        </p:nvSpPr>
        <p:spPr bwMode="auto">
          <a:xfrm>
            <a:off x="3810000" y="4433888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1" dirty="0">
                <a:latin typeface="华文楷体" panose="02010600040101010101" pitchFamily="2" charset="-122"/>
              </a:rPr>
              <a:t>f</a:t>
            </a:r>
            <a:r>
              <a:rPr lang="en-US" altLang="zh-CN" sz="2800" i="1" baseline="-25000" dirty="0">
                <a:latin typeface="华文楷体" panose="02010600040101010101" pitchFamily="2" charset="-122"/>
              </a:rPr>
              <a:t>n</a:t>
            </a:r>
            <a:r>
              <a:rPr lang="en-US" altLang="zh-CN" sz="2800" i="1" baseline="30000" dirty="0">
                <a:latin typeface="华文楷体" panose="02010600040101010101" pitchFamily="2" charset="-122"/>
              </a:rPr>
              <a:t>-1</a:t>
            </a:r>
            <a:endParaRPr lang="en-US" altLang="zh-CN" sz="2800" i="1" baseline="30000" dirty="0">
              <a:latin typeface="华文楷体" panose="02010600040101010101" pitchFamily="2" charset="-122"/>
            </a:endParaRPr>
          </a:p>
        </p:txBody>
      </p:sp>
      <p:sp>
        <p:nvSpPr>
          <p:cNvPr id="47116" name="Text Box 9"/>
          <p:cNvSpPr txBox="1">
            <a:spLocks noChangeArrowheads="1"/>
          </p:cNvSpPr>
          <p:nvPr/>
        </p:nvSpPr>
        <p:spPr bwMode="auto">
          <a:xfrm>
            <a:off x="5715000" y="4433888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latin typeface="华文楷体" panose="02010600040101010101" pitchFamily="2" charset="-122"/>
              </a:rPr>
              <a:t>∞</a:t>
            </a:r>
            <a:endParaRPr lang="en-US" altLang="zh-CN" sz="2800" b="1" dirty="0">
              <a:latin typeface="华文楷体" panose="02010600040101010101" pitchFamily="2" charset="-122"/>
            </a:endParaRPr>
          </a:p>
        </p:txBody>
      </p:sp>
      <p:sp>
        <p:nvSpPr>
          <p:cNvPr id="133130" name="Text Box 10"/>
          <p:cNvSpPr txBox="1">
            <a:spLocks noChangeArrowheads="1"/>
          </p:cNvSpPr>
          <p:nvPr/>
        </p:nvSpPr>
        <p:spPr bwMode="auto">
          <a:xfrm>
            <a:off x="1600200" y="4353719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快</a:t>
            </a:r>
            <a:endParaRPr lang="zh-CN" altLang="en-US" sz="2400" b="1" dirty="0">
              <a:solidFill>
                <a:srgbClr val="FF33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131" name="Text Box 11"/>
          <p:cNvSpPr txBox="1">
            <a:spLocks noChangeArrowheads="1"/>
          </p:cNvSpPr>
          <p:nvPr/>
        </p:nvSpPr>
        <p:spPr bwMode="auto">
          <a:xfrm>
            <a:off x="4419600" y="4343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慢</a:t>
            </a:r>
            <a:endParaRPr lang="zh-CN" altLang="en-US" sz="2400" b="1" dirty="0">
              <a:solidFill>
                <a:srgbClr val="FF33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132" name="Text Box 12"/>
          <p:cNvSpPr txBox="1">
            <a:spLocks noChangeArrowheads="1"/>
          </p:cNvSpPr>
          <p:nvPr/>
        </p:nvSpPr>
        <p:spPr bwMode="auto">
          <a:xfrm>
            <a:off x="2438400" y="43434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慢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133" name="Text Box 13"/>
          <p:cNvSpPr txBox="1">
            <a:spLocks noChangeArrowheads="1"/>
          </p:cNvSpPr>
          <p:nvPr/>
        </p:nvSpPr>
        <p:spPr bwMode="auto">
          <a:xfrm>
            <a:off x="5013294" y="4343400"/>
            <a:ext cx="838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快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134" name="Rectangle 14"/>
          <p:cNvSpPr>
            <a:spLocks noChangeArrowheads="1"/>
          </p:cNvSpPr>
          <p:nvPr/>
        </p:nvSpPr>
        <p:spPr bwMode="auto">
          <a:xfrm>
            <a:off x="443400" y="5085953"/>
            <a:ext cx="8305800" cy="1143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性质：</a:t>
            </a:r>
            <a:r>
              <a:rPr lang="en-US" altLang="zh-CN" sz="3200" b="1" i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log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*x=F</a:t>
            </a:r>
            <a:r>
              <a:rPr lang="en-US" altLang="zh-CN" sz="3200" b="1" i="1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-1</a:t>
            </a: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), </a:t>
            </a:r>
            <a:r>
              <a:rPr lang="en-US" altLang="zh-CN" sz="3200" b="1" i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≥0</a:t>
            </a:r>
            <a:endParaRPr lang="en-US" altLang="en-US" sz="3200" b="1" dirty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6" dur="500"/>
                                        <p:tgtEl>
                                          <p:spTgt spid="133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9" dur="500"/>
                                        <p:tgtEl>
                                          <p:spTgt spid="133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13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13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2" dur="500"/>
                                        <p:tgtEl>
                                          <p:spTgt spid="133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5" dur="500"/>
                                        <p:tgtEl>
                                          <p:spTgt spid="133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3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30" grpId="0"/>
      <p:bldP spid="133130" grpId="1"/>
      <p:bldP spid="133131" grpId="0"/>
      <p:bldP spid="133131" grpId="1"/>
      <p:bldP spid="133132" grpId="0"/>
      <p:bldP spid="133132" grpId="1"/>
      <p:bldP spid="133133" grpId="0"/>
      <p:bldP spid="133133" grpId="1"/>
      <p:bldP spid="13313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endParaRPr lang="zh-CN" altLang="zh-CN" sz="2800" smtClean="0">
              <a:ea typeface="宋体" panose="02010600030101010101" pitchFamily="2" charset="-122"/>
            </a:endParaRPr>
          </a:p>
        </p:txBody>
      </p:sp>
      <p:sp>
        <p:nvSpPr>
          <p:cNvPr id="481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基本定理</a:t>
            </a:r>
            <a:endParaRPr lang="zh-CN" altLang="en-US" b="1" dirty="0" smtClean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如果实函数：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:[1,+∞] →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R</a:t>
            </a:r>
            <a:endParaRPr lang="en-US" altLang="zh-CN" i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在区间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[1,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是</a:t>
            </a:r>
            <a:r>
              <a:rPr lang="zh-CN" altLang="en-US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非负有界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的。则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: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990600" lvl="1" indent="-533400" eaLnBrk="1" hangingPunct="1"/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存在正常数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&gt;0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，使得当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∈[1,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b&gt;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1)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时，有：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0≤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)≤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endParaRPr lang="en-US" altLang="zh-CN" i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990600" lvl="1" indent="-533400" eaLnBrk="1" hangingPunct="1"/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存在正常数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&gt;0,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当</a:t>
            </a:r>
            <a:r>
              <a:rPr lang="en-US" altLang="zh-CN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≥</a:t>
            </a:r>
            <a:r>
              <a:rPr lang="en-US" altLang="zh-CN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时，有：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zh-CN" altLang="en-US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</a:t>
            </a:r>
            <a:r>
              <a:rPr lang="en-US" altLang="zh-CN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af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)+</a:t>
            </a:r>
            <a:r>
              <a:rPr lang="en-US" altLang="zh-CN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i="1" baseline="30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E347985-8931-43BD-9086-5D155C12B1CB}" type="slidenum">
              <a:rPr lang="en-US" altLang="zh-CN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491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6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可推导出函数</a:t>
            </a:r>
            <a:r>
              <a:rPr lang="en-US" altLang="zh-CN" sz="36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f(x)</a:t>
            </a:r>
            <a:r>
              <a:rPr lang="zh-CN" altLang="en-US" sz="36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的值为：</a:t>
            </a:r>
            <a:endParaRPr lang="zh-CN" altLang="en-US" sz="36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36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36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36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6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其中</a:t>
            </a:r>
            <a:r>
              <a:rPr lang="en-US" altLang="zh-CN" sz="36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:</a:t>
            </a:r>
            <a:endParaRPr lang="en-US" altLang="zh-CN" sz="36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36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6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3600" i="1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log</a:t>
            </a:r>
            <a:r>
              <a:rPr lang="en-US" altLang="zh-CN" sz="3600" i="1" baseline="-25000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600" i="1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x</a:t>
            </a:r>
            <a:r>
              <a:rPr lang="zh-CN" altLang="en-US" sz="36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的小数部分</a:t>
            </a:r>
            <a:endParaRPr lang="zh-CN" altLang="en-US" sz="36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0DC963F-6025-4003-9D87-5176CA9DA2A1}" type="slidenum">
              <a:rPr lang="en-US" altLang="zh-CN"/>
            </a:fld>
            <a:endParaRPr lang="en-US" altLang="zh-CN"/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pic>
        <p:nvPicPr>
          <p:cNvPr id="49159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28800"/>
            <a:ext cx="8686800" cy="1622425"/>
          </a:xfrm>
          <a:prstGeom prst="rect">
            <a:avLst/>
          </a:prstGeom>
          <a:solidFill>
            <a:srgbClr val="CCFFCC">
              <a:alpha val="92940"/>
            </a:srgbClr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916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400550"/>
            <a:ext cx="5410200" cy="552450"/>
          </a:xfrm>
          <a:prstGeom prst="rect">
            <a:avLst/>
          </a:prstGeom>
          <a:solidFill>
            <a:srgbClr val="CCFFCC">
              <a:alpha val="92940"/>
            </a:srgbClr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5018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ea typeface="华文楷体" panose="02010600040101010101" pitchFamily="2" charset="-122"/>
              </a:rPr>
              <a:t>也即：</a:t>
            </a:r>
            <a:endParaRPr lang="zh-CN" altLang="en-US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24D862-0450-4629-9824-30BD3A635332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pic>
        <p:nvPicPr>
          <p:cNvPr id="136196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43125"/>
            <a:ext cx="8085138" cy="2124075"/>
          </a:xfrm>
          <a:prstGeom prst="rect">
            <a:avLst/>
          </a:prstGeom>
          <a:solidFill>
            <a:srgbClr val="CCFFCC">
              <a:alpha val="92940"/>
            </a:srgbClr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512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根据无穷大阶的定义，有以下定理：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Th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: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若当</a:t>
            </a:r>
            <a:r>
              <a:rPr lang="en-US" altLang="zh-CN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≥</a:t>
            </a:r>
            <a:r>
              <a:rPr lang="en-US" altLang="zh-CN" i="1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时，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f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满足：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			 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f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)≤</a:t>
            </a:r>
            <a:r>
              <a:rPr lang="en-US" altLang="zh-CN" i="1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af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/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)+</a:t>
            </a:r>
            <a:r>
              <a:rPr lang="en-US" altLang="zh-CN" i="1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cx</a:t>
            </a:r>
            <a:r>
              <a:rPr lang="en-US" altLang="zh-CN" i="1" baseline="30000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常数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≥0)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则：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EE2837-8649-4352-B37B-58AD6061D07A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pic>
        <p:nvPicPr>
          <p:cNvPr id="137220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3686175"/>
            <a:ext cx="7904162" cy="1952625"/>
          </a:xfrm>
          <a:prstGeom prst="rect">
            <a:avLst/>
          </a:prstGeom>
          <a:solidFill>
            <a:srgbClr val="CCFFCC">
              <a:alpha val="92940"/>
            </a:srgbClr>
          </a:solidFill>
          <a:ln w="2540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3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5223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Catalan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级数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=1,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en-US" altLang="zh-CN" sz="28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+1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en-US" altLang="zh-CN" sz="28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+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en-US" altLang="zh-CN" sz="28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-1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+……+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en-US" altLang="zh-CN" sz="28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&gt;0)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{</a:t>
            </a:r>
            <a:r>
              <a:rPr lang="en-US" altLang="zh-CN" sz="2800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en-US" altLang="zh-CN" sz="2800" i="1" baseline="-25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} 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</a:t>
            </a:r>
            <a:r>
              <a:rPr lang="zh-CN" altLang="en-US" sz="28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发生函数</a:t>
            </a:r>
            <a:r>
              <a:rPr lang="en-US" altLang="zh-CN" sz="2800" b="1" i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en-US" altLang="zh-CN" sz="28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b="1" i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28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800" b="1" dirty="0" smtClean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可求得：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E151655-074A-49B9-B1D3-9E46DB762CBF}" type="slidenum">
              <a:rPr lang="en-US" altLang="zh-CN"/>
            </a:fld>
            <a:endParaRPr lang="en-US" altLang="zh-CN"/>
          </a:p>
        </p:txBody>
      </p:sp>
      <p:sp>
        <p:nvSpPr>
          <p:cNvPr id="9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pic>
        <p:nvPicPr>
          <p:cNvPr id="52231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362200"/>
            <a:ext cx="3057525" cy="1241425"/>
          </a:xfrm>
          <a:prstGeom prst="rect">
            <a:avLst/>
          </a:prstGeom>
          <a:solidFill>
            <a:srgbClr val="CCFFCC">
              <a:alpha val="92940"/>
            </a:srgbClr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223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886200"/>
            <a:ext cx="6399213" cy="838200"/>
          </a:xfrm>
          <a:prstGeom prst="rect">
            <a:avLst/>
          </a:prstGeom>
          <a:solidFill>
            <a:srgbClr val="CCFFCC">
              <a:alpha val="92940"/>
            </a:srgbClr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223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848225"/>
            <a:ext cx="4619625" cy="1247775"/>
          </a:xfrm>
          <a:prstGeom prst="rect">
            <a:avLst/>
          </a:prstGeom>
          <a:solidFill>
            <a:srgbClr val="CCFFCC">
              <a:alpha val="92940"/>
            </a:srgbClr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1.7 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算法分析技术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时间复杂度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9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算法的消耗时间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：算法中每条语句执行时间之和。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时间复杂度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：算法中各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语句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的频度之和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频度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—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语句的执行次数；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—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问题的规模，一般为数据的输入量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注意：复杂语句应该换算成简单语句再计算语句频度！</a:t>
            </a:r>
            <a:endParaRPr lang="zh-CN" altLang="en-US" sz="2400" u="sng" dirty="0" smtClean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渐近时间复杂度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：当问题的规模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趋于无穷大时，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的数量级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阶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。记为：					                 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</a:t>
            </a:r>
            <a:r>
              <a:rPr lang="el-GR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Θ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 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 )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zh-CN" sz="24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实际中，将</a:t>
            </a:r>
            <a:r>
              <a:rPr lang="zh-CN" altLang="zh-CN" sz="2400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渐近时间复杂度</a:t>
            </a:r>
            <a:r>
              <a:rPr lang="zh-CN" altLang="zh-CN" sz="24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简称为</a:t>
            </a:r>
            <a:r>
              <a:rPr lang="zh-CN" altLang="zh-CN" sz="2400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时间复杂度</a:t>
            </a:r>
            <a:r>
              <a:rPr lang="zh-CN" altLang="zh-CN" sz="24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，用以描述算法的时间特性。</a:t>
            </a:r>
            <a:endParaRPr lang="zh-CN" altLang="en-US" sz="2400" dirty="0" smtClean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计算机执行下面的语句时，语句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的频度为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_______ 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for(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=1; 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&lt;n; 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++)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	 for(j=n; j&gt;=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; j--)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	    s; 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9C41B52-2C37-4DAF-9BC9-6DA3156B1B63}" type="slidenum">
              <a:rPr lang="en-US" altLang="zh-CN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39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39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39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5427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注意到，欲求： 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	        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</a:t>
            </a:r>
            <a:r>
              <a:rPr lang="el-GR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 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 )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就必须证明：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)=O(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))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且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</a:t>
            </a:r>
            <a:r>
              <a:rPr lang="el-GR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Ω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))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因此，现实中只求：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	        </a:t>
            </a:r>
            <a:r>
              <a:rPr lang="en-US" altLang="zh-CN" b="1" i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b="1" i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)= O(</a:t>
            </a:r>
            <a:r>
              <a:rPr lang="en-US" altLang="zh-CN" b="1" i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b="1" i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))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即满足：</a:t>
            </a:r>
            <a:r>
              <a:rPr lang="zh-CN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存在正常数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lang="zh-CN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，使得</a:t>
            </a:r>
            <a:r>
              <a:rPr lang="zh-CN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当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lang="zh-CN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时，</a:t>
            </a:r>
            <a:endParaRPr lang="zh-CN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 </a:t>
            </a:r>
            <a:r>
              <a:rPr lang="zh-CN" altLang="zh-CN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lang="zh-CN" altLang="zh-CN" b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b="1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b="1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 </a:t>
            </a:r>
            <a:r>
              <a:rPr lang="en-US" altLang="zh-CN" b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b="1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lang="en-US" altLang="zh-CN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*</a:t>
            </a:r>
            <a:r>
              <a:rPr lang="en-US" altLang="zh-CN" b="1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b="1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87A611-F3DE-43B2-A420-0D9E79961A8A}" type="slidenum">
              <a:rPr lang="en-US" altLang="zh-CN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553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zh-CN" sz="2400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时间复杂度的求法</a:t>
            </a:r>
            <a:endParaRPr lang="zh-CN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计算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从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中推断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影响算法时间复杂度的因素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问题的规模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输入实例的初态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zh-CN" sz="2400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常见的时间复杂度</a:t>
            </a:r>
            <a:endParaRPr lang="zh-CN" altLang="zh-CN" sz="2400" b="1" dirty="0" smtClean="0">
              <a:solidFill>
                <a:srgbClr val="996633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O(1), O(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log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), O(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), O(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nlog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), O(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b="1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), O(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b="1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), O(2</a:t>
            </a:r>
            <a:r>
              <a:rPr lang="en-US" altLang="zh-CN" sz="2400" b="1" i="1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zh-CN" altLang="zh-CN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好</a:t>
            </a:r>
            <a:r>
              <a:rPr lang="zh-CN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                                                      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</a:t>
            </a:r>
            <a:r>
              <a:rPr lang="zh-CN" altLang="zh-CN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差</a:t>
            </a:r>
            <a:endParaRPr lang="zh-CN" altLang="en-US" sz="2400" b="1" dirty="0" smtClean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2AC197-B4FD-4774-9B12-35998D8971B7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55303" name="Line 4"/>
          <p:cNvSpPr>
            <a:spLocks noChangeShapeType="1"/>
          </p:cNvSpPr>
          <p:nvPr/>
        </p:nvSpPr>
        <p:spPr bwMode="auto">
          <a:xfrm>
            <a:off x="1066800" y="5334000"/>
            <a:ext cx="6934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5632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ea typeface="华文楷体" panose="02010600040101010101" pitchFamily="2" charset="-122"/>
              </a:rPr>
              <a:t>一般而言，当算法的时间复杂度</a:t>
            </a:r>
            <a:r>
              <a:rPr lang="zh-CN" altLang="en-US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与输入实例有关</a:t>
            </a:r>
            <a:r>
              <a:rPr lang="zh-CN" altLang="en-US" dirty="0" smtClean="0">
                <a:ea typeface="华文楷体" panose="02010600040101010101" pitchFamily="2" charset="-122"/>
              </a:rPr>
              <a:t>时，需考虑：</a:t>
            </a:r>
            <a:endParaRPr lang="zh-CN" altLang="en-US" dirty="0" smtClean="0">
              <a:ea typeface="华文楷体" panose="02010600040101010101" pitchFamily="2" charset="-122"/>
            </a:endParaRPr>
          </a:p>
          <a:p>
            <a:pPr lvl="1" eaLnBrk="1" hangingPunct="1"/>
            <a:r>
              <a:rPr lang="zh-CN" altLang="en-US" dirty="0" smtClean="0">
                <a:ea typeface="华文楷体" panose="02010600040101010101" pitchFamily="2" charset="-122"/>
              </a:rPr>
              <a:t>最好情况下的时间复杂度</a:t>
            </a:r>
            <a:endParaRPr lang="zh-CN" altLang="en-US" dirty="0" smtClean="0">
              <a:ea typeface="华文楷体" panose="02010600040101010101" pitchFamily="2" charset="-122"/>
            </a:endParaRPr>
          </a:p>
          <a:p>
            <a:pPr lvl="1" eaLnBrk="1" hangingPunct="1"/>
            <a:r>
              <a:rPr lang="zh-CN" altLang="en-US" dirty="0" smtClean="0">
                <a:ea typeface="华文楷体" panose="02010600040101010101" pitchFamily="2" charset="-122"/>
              </a:rPr>
              <a:t>最坏情况下的时间复杂度</a:t>
            </a:r>
            <a:endParaRPr lang="zh-CN" altLang="en-US" dirty="0" smtClean="0">
              <a:ea typeface="华文楷体" panose="02010600040101010101" pitchFamily="2" charset="-122"/>
            </a:endParaRPr>
          </a:p>
          <a:p>
            <a:pPr lvl="1" eaLnBrk="1" hangingPunct="1"/>
            <a:r>
              <a:rPr lang="zh-CN" altLang="en-US" dirty="0" smtClean="0">
                <a:ea typeface="华文楷体" panose="02010600040101010101" pitchFamily="2" charset="-122"/>
              </a:rPr>
              <a:t>平均时间复杂度</a:t>
            </a:r>
            <a:endParaRPr lang="zh-CN" altLang="en-US" dirty="0" smtClean="0"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平均时间复杂度</a:t>
            </a:r>
            <a:r>
              <a:rPr lang="zh-CN" altLang="en-US" dirty="0" smtClean="0">
                <a:ea typeface="华文楷体" panose="02010600040101010101" pitchFamily="2" charset="-122"/>
              </a:rPr>
              <a:t>：对算法在所有情况下的时间复杂度，按照</a:t>
            </a:r>
            <a:r>
              <a:rPr lang="zh-CN" altLang="en-US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等概率</a:t>
            </a:r>
            <a:r>
              <a:rPr lang="zh-CN" altLang="en-US" dirty="0" smtClean="0">
                <a:ea typeface="华文楷体" panose="02010600040101010101" pitchFamily="2" charset="-122"/>
              </a:rPr>
              <a:t>情况，取算术平均值</a:t>
            </a:r>
            <a:r>
              <a:rPr lang="en-US" altLang="zh-CN" dirty="0" smtClean="0">
                <a:ea typeface="华文楷体" panose="02010600040101010101" pitchFamily="2" charset="-122"/>
              </a:rPr>
              <a:t>(</a:t>
            </a:r>
            <a:r>
              <a:rPr lang="zh-CN" altLang="en-US" dirty="0" smtClean="0">
                <a:ea typeface="华文楷体" panose="02010600040101010101" pitchFamily="2" charset="-122"/>
              </a:rPr>
              <a:t>即：数学期望</a:t>
            </a:r>
            <a:r>
              <a:rPr lang="en-US" altLang="zh-CN" dirty="0" smtClean="0">
                <a:ea typeface="华文楷体" panose="02010600040101010101" pitchFamily="2" charset="-122"/>
              </a:rPr>
              <a:t>)</a:t>
            </a:r>
            <a:endParaRPr lang="en-US" altLang="zh-CN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E361CE-82F4-452D-B346-BA9C213B3A79}" type="slidenum">
              <a:rPr lang="en-US" altLang="zh-CN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2"/>
          <p:cNvSpPr>
            <a:spLocks noChangeArrowheads="1"/>
          </p:cNvSpPr>
          <p:nvPr/>
        </p:nvSpPr>
        <p:spPr bwMode="auto">
          <a:xfrm>
            <a:off x="990600" y="1524000"/>
            <a:ext cx="4953000" cy="2667000"/>
          </a:xfrm>
          <a:prstGeom prst="rect">
            <a:avLst/>
          </a:prstGeom>
          <a:solidFill>
            <a:srgbClr val="FFFF00">
              <a:alpha val="92940"/>
            </a:srgbClr>
          </a:solidFill>
          <a:ln w="9525" algn="ctr">
            <a:solidFill>
              <a:schemeClr val="bg1"/>
            </a:solidFill>
            <a:miter lim="800000"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5735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57351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例</a:t>
            </a:r>
            <a:r>
              <a:rPr lang="en-US" altLang="zh-CN" sz="2400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1]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zh-CN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400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400" i="1" dirty="0" err="1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矩阵相乘的算法语句</a:t>
            </a:r>
            <a:endParaRPr lang="zh-CN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   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for (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=0; 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n;i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++ )                                     </a:t>
            </a:r>
            <a:r>
              <a:rPr lang="en-US" altLang="zh-CN" sz="2400" b="1" i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+1</a:t>
            </a:r>
            <a:endParaRPr lang="en-US" altLang="zh-CN" sz="2400" b="1" dirty="0" smtClean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         for( j=0;j&lt;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n;j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++)                               </a:t>
            </a:r>
            <a:r>
              <a:rPr lang="en-US" altLang="zh-CN" sz="2400" b="1" i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b="1" i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+1)</a:t>
            </a:r>
            <a:endParaRPr lang="en-US" altLang="zh-CN" sz="2400" b="1" dirty="0" smtClean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         {   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		        c[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][j]=0;                                        </a:t>
            </a:r>
            <a:r>
              <a:rPr lang="en-US" altLang="zh-CN" sz="2400" b="1" i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b="1" baseline="30000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2</a:t>
            </a:r>
            <a:endParaRPr lang="en-US" altLang="zh-CN" sz="2400" b="1" dirty="0" smtClean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                for (k=0;k&lt;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n;k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++)                      </a:t>
            </a:r>
            <a:r>
              <a:rPr lang="en-US" altLang="zh-CN" sz="2400" b="1" i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b="1" baseline="30000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(n+1)</a:t>
            </a:r>
            <a:endParaRPr lang="en-US" altLang="zh-CN" sz="2400" b="1" dirty="0" smtClean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                     c[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][j]=c[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][j]+a[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][k]*b[k][j];    </a:t>
            </a:r>
            <a:r>
              <a:rPr lang="en-US" altLang="zh-CN" sz="2400" b="1" i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b="1" baseline="30000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3</a:t>
            </a:r>
            <a:endParaRPr lang="en-US" altLang="zh-CN" sz="2400" b="1" dirty="0" smtClean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         }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解：</a:t>
            </a:r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语句频度</a:t>
            </a:r>
            <a:r>
              <a:rPr lang="zh-CN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)=2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baseline="300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+3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baseline="300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+2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+1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</a:t>
            </a:r>
            <a:r>
              <a:rPr lang="zh-CN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当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=1</a:t>
            </a:r>
            <a:r>
              <a:rPr lang="zh-CN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时，有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T(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)8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baseline="300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，</a:t>
            </a:r>
            <a:r>
              <a:rPr lang="zh-CN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即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=8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，由此取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)=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baseline="300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3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</a:t>
            </a:r>
            <a:r>
              <a:rPr lang="zh-CN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则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)=O(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baseline="300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)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</a:t>
            </a:r>
            <a:r>
              <a:rPr lang="zh-CN" altLang="en-US" sz="24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算法中存在循环时，通常</a:t>
            </a:r>
            <a:r>
              <a:rPr lang="zh-CN" altLang="zh-CN" sz="24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由嵌套层数最深的循环语句的最内层语句决定</a:t>
            </a:r>
            <a:endParaRPr lang="zh-CN" altLang="en-US" sz="2400" dirty="0" smtClean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D997A4-3585-405E-8EDB-0DA4163FA66B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3" name="Rectangle 2"/>
          <p:cNvSpPr>
            <a:spLocks noChangeArrowheads="1"/>
          </p:cNvSpPr>
          <p:nvPr/>
        </p:nvSpPr>
        <p:spPr bwMode="auto">
          <a:xfrm>
            <a:off x="1295400" y="1600200"/>
            <a:ext cx="4724400" cy="1752600"/>
          </a:xfrm>
          <a:prstGeom prst="rect">
            <a:avLst/>
          </a:prstGeom>
          <a:solidFill>
            <a:srgbClr val="CCFFCC">
              <a:alpha val="92940"/>
            </a:srgbClr>
          </a:solidFill>
          <a:ln w="9525" algn="ctr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5837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58375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sz="2800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2]</a:t>
            </a:r>
            <a:r>
              <a:rPr lang="zh-CN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在数组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A[n]</a:t>
            </a:r>
            <a:r>
              <a:rPr lang="zh-CN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查找给定值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(1)      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=n-1;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(2)      while ((i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0) &amp;&amp; (A[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]!=K))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(3)          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=i-1;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(4)      return(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);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解：最好情况的时间复杂度 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)=O(1)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最坏情况的时间复杂度 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)=O(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查找成功时平均时间复杂度：所有可能的输入实例以等概率出现的情况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)=(1+2+...+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)/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查找失败时：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while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循环执行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次，当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=-1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时退出，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因此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复杂度为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O(n)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</a:t>
            </a:r>
            <a:r>
              <a:rPr lang="en-US" altLang="zh-CN" sz="28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zh-CN" altLang="en-US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算法与数据状态有关时，需讨论不同情况</a:t>
            </a:r>
            <a:endParaRPr lang="zh-CN" altLang="en-US" sz="2800" b="1" dirty="0" smtClean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AC99F0C-8AE9-4C74-82A1-D15258A600A7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7" name="Rectangle 2"/>
          <p:cNvSpPr>
            <a:spLocks noChangeArrowheads="1"/>
          </p:cNvSpPr>
          <p:nvPr/>
        </p:nvSpPr>
        <p:spPr bwMode="auto">
          <a:xfrm>
            <a:off x="1371600" y="1752600"/>
            <a:ext cx="5257800" cy="2590800"/>
          </a:xfrm>
          <a:prstGeom prst="rect">
            <a:avLst/>
          </a:prstGeom>
          <a:solidFill>
            <a:srgbClr val="CCFFCC">
              <a:alpha val="92940"/>
            </a:srgbClr>
          </a:solidFill>
          <a:ln w="9525" algn="ctr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593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593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例</a:t>
            </a:r>
            <a:r>
              <a:rPr lang="en-US" altLang="zh-CN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3]</a:t>
            </a:r>
            <a:r>
              <a:rPr lang="zh-CN" altLang="en-US" sz="2800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设</a:t>
            </a:r>
            <a:r>
              <a:rPr lang="en-US" altLang="zh-CN" sz="2800" i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sz="2800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为正整数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分析以下程序段的时间复杂度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buFontTx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=1;  k=0;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buFontTx/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while (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&lt;=n-1)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buFontTx/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    {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buFontTx/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k+=10*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;                    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buFontTx/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++;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buFontTx/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}</a:t>
            </a:r>
            <a:endParaRPr lang="en-US" altLang="zh-CN" sz="3200" b="1" dirty="0" smtClean="0">
              <a:solidFill>
                <a:srgbClr val="996633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解：    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)=O(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BFD707-F8A7-4E3D-A55E-3C12E467D0D4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3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00113" y="1988840"/>
            <a:ext cx="4463975" cy="1512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例</a:t>
            </a:r>
            <a:r>
              <a:rPr lang="en-US" altLang="zh-CN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4]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分析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rPr>
              <a:t>以下程序段的时间复杂度</a:t>
            </a:r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800100" lvl="2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for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=1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;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&lt;n;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*=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2 )</a:t>
            </a:r>
            <a:b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</a:b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    for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j=0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; j&lt;n;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j++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)</a:t>
            </a:r>
            <a:b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</a:b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        x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++;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800100" lvl="2" indent="0">
              <a:buNone/>
            </a:pPr>
            <a:endParaRPr lang="en-US" altLang="zh-CN" dirty="0" smtClean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800100" lvl="2" indent="0">
              <a:buNone/>
            </a:pP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循环终止条件：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2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k-1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&lt;n&lt;2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endParaRPr lang="en-US" altLang="zh-CN" dirty="0" smtClean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800100" lvl="2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T(n)=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O(nlog</a:t>
            </a:r>
            <a:r>
              <a:rPr lang="en-US" altLang="zh-CN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EF5022-25BF-4E3C-8D1D-8C255762D1DE}" type="slidenum">
              <a:rPr lang="en-US" altLang="zh-CN" smtClean="0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例</a:t>
            </a:r>
            <a:r>
              <a:rPr lang="en-US" altLang="zh-CN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5]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分析下面两个判断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是否为素数的算法，哪个更好？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EF5022-25BF-4E3C-8D1D-8C255762D1DE}" type="slidenum">
              <a:rPr lang="en-US" altLang="zh-CN" smtClean="0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457200" y="2132856"/>
            <a:ext cx="2818656" cy="203132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int</a:t>
            </a:r>
            <a:r>
              <a:rPr lang="en-US" altLang="zh-CN" dirty="0" smtClean="0"/>
              <a:t> isprime1(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n)</a:t>
            </a:r>
            <a:endParaRPr lang="en-US" altLang="zh-CN" dirty="0" smtClean="0"/>
          </a:p>
          <a:p>
            <a:r>
              <a:rPr lang="en-US" altLang="zh-CN" dirty="0" smtClean="0"/>
              <a:t>{</a:t>
            </a:r>
            <a:endParaRPr lang="en-US" altLang="zh-CN" dirty="0" smtClean="0"/>
          </a:p>
          <a:p>
            <a:r>
              <a:rPr lang="en-US" altLang="zh-CN" dirty="0" smtClean="0"/>
              <a:t>    for (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j=2; j&lt;n, </a:t>
            </a:r>
            <a:r>
              <a:rPr lang="en-US" altLang="zh-CN" dirty="0" err="1" smtClean="0"/>
              <a:t>j++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r>
              <a:rPr lang="en-US" altLang="zh-CN" dirty="0" smtClean="0"/>
              <a:t>        if(</a:t>
            </a:r>
            <a:r>
              <a:rPr lang="en-US" altLang="zh-CN" dirty="0" err="1" smtClean="0"/>
              <a:t>n%j</a:t>
            </a:r>
            <a:r>
              <a:rPr lang="en-US" altLang="zh-CN" dirty="0" smtClean="0"/>
              <a:t> == 0)</a:t>
            </a:r>
            <a:endParaRPr lang="en-US" altLang="zh-CN" dirty="0" smtClean="0"/>
          </a:p>
          <a:p>
            <a:r>
              <a:rPr lang="en-US" altLang="zh-CN" dirty="0"/>
              <a:t>	</a:t>
            </a:r>
            <a:r>
              <a:rPr lang="en-US" altLang="zh-CN" dirty="0" smtClean="0"/>
              <a:t>return 0;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return 1;</a:t>
            </a:r>
            <a:endParaRPr lang="en-US" altLang="zh-CN" dirty="0" smtClean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923928" y="2132856"/>
            <a:ext cx="3044423" cy="203132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int</a:t>
            </a:r>
            <a:r>
              <a:rPr lang="en-US" altLang="zh-CN" dirty="0" smtClean="0"/>
              <a:t> isprime2(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n)</a:t>
            </a:r>
            <a:endParaRPr lang="en-US" altLang="zh-CN" dirty="0" smtClean="0"/>
          </a:p>
          <a:p>
            <a:r>
              <a:rPr lang="en-US" altLang="zh-CN" dirty="0" smtClean="0"/>
              <a:t>{</a:t>
            </a:r>
            <a:endParaRPr lang="en-US" altLang="zh-CN" dirty="0" smtClean="0"/>
          </a:p>
          <a:p>
            <a:r>
              <a:rPr lang="en-US" altLang="zh-CN" dirty="0" smtClean="0"/>
              <a:t>    for (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j=2; j&lt;</a:t>
            </a:r>
            <a:r>
              <a:rPr lang="en-US" altLang="zh-CN" dirty="0" err="1" smtClean="0"/>
              <a:t>sqrt</a:t>
            </a:r>
            <a:r>
              <a:rPr lang="en-US" altLang="zh-CN" dirty="0" smtClean="0"/>
              <a:t>(n), </a:t>
            </a:r>
            <a:r>
              <a:rPr lang="en-US" altLang="zh-CN" dirty="0" err="1" smtClean="0"/>
              <a:t>j++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r>
              <a:rPr lang="en-US" altLang="zh-CN" dirty="0" smtClean="0"/>
              <a:t>        if(</a:t>
            </a:r>
            <a:r>
              <a:rPr lang="en-US" altLang="zh-CN" dirty="0" err="1" smtClean="0"/>
              <a:t>n%j</a:t>
            </a:r>
            <a:r>
              <a:rPr lang="en-US" altLang="zh-CN" dirty="0" smtClean="0"/>
              <a:t> == 0)</a:t>
            </a:r>
            <a:endParaRPr lang="en-US" altLang="zh-CN" dirty="0" smtClean="0"/>
          </a:p>
          <a:p>
            <a:r>
              <a:rPr lang="en-US" altLang="zh-CN" dirty="0"/>
              <a:t>	</a:t>
            </a:r>
            <a:r>
              <a:rPr lang="en-US" altLang="zh-CN" dirty="0" smtClean="0"/>
              <a:t>return 0;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return 1;</a:t>
            </a:r>
            <a:endParaRPr lang="en-US" altLang="zh-CN" dirty="0" smtClean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835696" y="4869160"/>
                <a:ext cx="2311851" cy="666977"/>
              </a:xfrm>
              <a:prstGeom prst="rect">
                <a:avLst/>
              </a:prstGeom>
              <a:noFill/>
              <a:ln>
                <a:solidFill>
                  <a:srgbClr val="92D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算法</a:t>
                </a:r>
                <a:r>
                  <a:rPr lang="en-US" altLang="zh-CN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1</a:t>
                </a:r>
                <a:r>
                  <a:rPr lang="zh-CN" altLang="en-US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复杂度：</a:t>
                </a:r>
                <a:r>
                  <a:rPr lang="en-US" altLang="zh-CN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O(n)</a:t>
                </a:r>
                <a:endParaRPr lang="en-US" altLang="zh-CN" dirty="0" smtClean="0">
                  <a:solidFill>
                    <a:srgbClr val="C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  <a:p>
                <a:r>
                  <a:rPr lang="zh-CN" altLang="en-US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算法</a:t>
                </a:r>
                <a:r>
                  <a:rPr lang="en-US" altLang="zh-CN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2</a:t>
                </a:r>
                <a:r>
                  <a:rPr lang="zh-CN" altLang="en-US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复杂</a:t>
                </a:r>
                <a:r>
                  <a:rPr lang="zh-CN" alt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度：</a:t>
                </a:r>
                <a:r>
                  <a:rPr lang="en-US" altLang="zh-CN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O(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</m:t>
                    </m:r>
                    <m:r>
                      <m:rPr>
                        <m:sty m:val="p"/>
                      </m:rPr>
                      <a:rPr lang="en-US" altLang="zh-CN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altLang="zh-CN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)</a:t>
                </a:r>
                <a:endParaRPr lang="zh-CN" altLang="en-US" dirty="0">
                  <a:solidFill>
                    <a:srgbClr val="C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4869160"/>
                <a:ext cx="2311851" cy="666977"/>
              </a:xfrm>
              <a:prstGeom prst="rect">
                <a:avLst/>
              </a:prstGeom>
              <a:blipFill rotWithShape="1">
                <a:blip r:embed="rId1"/>
                <a:stretch>
                  <a:fillRect l="-216" t="-759" r="-204" b="-635"/>
                </a:stretch>
              </a:blipFill>
              <a:ln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b="1" dirty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例</a:t>
            </a:r>
            <a:r>
              <a:rPr lang="en-US" altLang="zh-CN" b="1" dirty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5]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分析如下递归程序的时间复杂度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EF5022-25BF-4E3C-8D1D-8C255762D1DE}" type="slidenum">
              <a:rPr lang="en-US" altLang="zh-CN" smtClean="0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904552" y="2060848"/>
            <a:ext cx="2454518" cy="2308324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fact(</a:t>
            </a:r>
            <a:r>
              <a:rPr lang="en-US" altLang="zh-CN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 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{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if (n&lt;=1)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return 1;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else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return(n*fact(n-1));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lang="zh-CN" altLang="en-US" dirty="0"/>
          </a:p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3684989" y="2420888"/>
                <a:ext cx="5032147" cy="1541191"/>
              </a:xfrm>
              <a:prstGeom prst="rect">
                <a:avLst/>
              </a:prstGeom>
              <a:noFill/>
              <a:ln>
                <a:solidFill>
                  <a:srgbClr val="92D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分析：最后一个语句有函数调用，为非简单语句</a:t>
                </a:r>
                <a:endParaRPr lang="en-US" altLang="zh-CN" dirty="0" smtClean="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其执行时间假设为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T(n)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，则：</a:t>
                </a:r>
                <a:endParaRPr lang="en-US" altLang="zh-CN" dirty="0" smtClean="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 smtClean="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  <a:p>
                <a:r>
                  <a:rPr lang="en-US" altLang="zh-CN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T(n) =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zh-CN" altLang="en-US" dirty="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989" y="2420888"/>
                <a:ext cx="5032147" cy="1541191"/>
              </a:xfrm>
              <a:prstGeom prst="rect">
                <a:avLst/>
              </a:prstGeom>
              <a:blipFill rotWithShape="1">
                <a:blip r:embed="rId1"/>
                <a:stretch>
                  <a:fillRect l="-103" t="-347" r="-91" b="-268"/>
                </a:stretch>
              </a:blipFill>
              <a:ln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1.7 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算法分析技术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分摊复杂度***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04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定义：考虑有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个操作组成其计算序列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,O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,…,O</a:t>
            </a:r>
            <a:r>
              <a:rPr lang="en-US" altLang="zh-CN" sz="28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。假设操作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</a:t>
            </a:r>
            <a:r>
              <a:rPr lang="en-US" altLang="zh-CN" sz="28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的运行时间为</a:t>
            </a:r>
            <a:r>
              <a:rPr lang="en-US" altLang="zh-CN" sz="2800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800" i="1" baseline="-25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，则称其中一个运算的分摊时间复杂度为：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即：</a:t>
            </a:r>
            <a:r>
              <a:rPr lang="zh-CN" altLang="en-US" sz="2800" dirty="0" smtClean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分摊复杂度是将</a:t>
            </a:r>
            <a:r>
              <a:rPr lang="en-US" altLang="zh-CN" sz="2800" dirty="0" smtClean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r>
              <a:rPr lang="zh-CN" altLang="en-US" sz="2800" dirty="0" smtClean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个操作的总工作量按照</a:t>
            </a:r>
            <a:r>
              <a:rPr lang="zh-CN" altLang="en-US" sz="28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平均分摊</a:t>
            </a:r>
            <a:r>
              <a:rPr lang="zh-CN" altLang="en-US" sz="2800" dirty="0" smtClean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到每个操作之上。</a:t>
            </a:r>
            <a:endParaRPr lang="zh-CN" altLang="en-US" sz="2800" dirty="0" smtClean="0">
              <a:solidFill>
                <a:schemeClr val="tx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B6FE8A1-EC36-4600-91E9-4D7EC4478A13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pic>
        <p:nvPicPr>
          <p:cNvPr id="6042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248025"/>
            <a:ext cx="4229100" cy="1476375"/>
          </a:xfrm>
          <a:prstGeom prst="rect">
            <a:avLst/>
          </a:prstGeom>
          <a:solidFill>
            <a:srgbClr val="CCFFCC">
              <a:alpha val="92940"/>
            </a:srgbClr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5" name="Rectangle 2"/>
          <p:cNvSpPr>
            <a:spLocks noChangeArrowheads="1"/>
          </p:cNvSpPr>
          <p:nvPr/>
        </p:nvSpPr>
        <p:spPr bwMode="auto">
          <a:xfrm>
            <a:off x="1143000" y="2590800"/>
            <a:ext cx="6248400" cy="3124200"/>
          </a:xfrm>
          <a:prstGeom prst="rect">
            <a:avLst/>
          </a:prstGeom>
          <a:solidFill>
            <a:srgbClr val="CCFFCC">
              <a:alpha val="92940"/>
            </a:srgbClr>
          </a:solidFill>
          <a:ln w="9525" algn="ctr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6144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61447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sz="2800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4] 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对非负整数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，其奇度为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的二进制表示中从</a:t>
            </a:r>
            <a:r>
              <a:rPr lang="zh-CN" altLang="en-US" sz="28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最低位起连续</a:t>
            </a:r>
            <a:r>
              <a:rPr lang="en-US" altLang="zh-CN" sz="28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zh-CN" altLang="en-US" sz="28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的个数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。利用下面算法连续计算区间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[0,n)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中每一个数的奇度，分析其分摊复杂度。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od(unsigned k)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{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    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result=0;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    for (;(k&amp;1)!=0;k&gt;&gt;=1)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u="sng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S1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++result;  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    return result;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}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      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A945EE-A89D-477F-85B9-56F595FD7F1E}" type="slidenum">
              <a:rPr lang="en-US" altLang="zh-CN"/>
            </a:fld>
            <a:endParaRPr lang="en-US" altLang="zh-CN"/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61448" name="Line 5"/>
          <p:cNvSpPr>
            <a:spLocks noChangeShapeType="1"/>
          </p:cNvSpPr>
          <p:nvPr/>
        </p:nvSpPr>
        <p:spPr bwMode="auto">
          <a:xfrm>
            <a:off x="914400" y="4572000"/>
            <a:ext cx="9144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624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sz="2800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分析</a:t>
            </a:r>
            <a:r>
              <a:rPr lang="en-US" altLang="zh-CN" sz="2800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  <a:endParaRPr lang="en-US" altLang="zh-CN" sz="2800" b="1" dirty="0" smtClean="0">
              <a:solidFill>
                <a:srgbClr val="996633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	 1. 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od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(1)=1,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od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(3)=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od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(11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)=2,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od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(23)=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od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(10111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)=3;…….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     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od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偶数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)=0;	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 </a:t>
            </a:r>
            <a:r>
              <a:rPr lang="en-US" altLang="zh-CN" sz="2800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2.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只计算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[0,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中某个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od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/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最坏情况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=2</a:t>
            </a:r>
            <a:r>
              <a:rPr lang="en-US" altLang="zh-CN" i="1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-1)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，时间复杂度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O(</a:t>
            </a:r>
            <a:r>
              <a:rPr lang="en-US" altLang="zh-CN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logn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/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最好情况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为偶数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，时间复杂度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O(1)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9966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3.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计算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[0,n)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中每个数的奇度，即计算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od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(1), 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od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(2),…, 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od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-1).   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3D62998-1B64-45D9-9217-4229E4086FBB}" type="slidenum">
              <a:rPr lang="en-US" altLang="zh-CN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634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代价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(cost)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：任一运算只要能用在固定时间内完成，就可视作单位时间来考虑。为区别于时间，称其为代价单位。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假设执行操作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</a:t>
            </a:r>
            <a:r>
              <a:rPr lang="en-US" altLang="zh-CN" sz="28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的代价为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lang="en-US" altLang="zh-CN" sz="28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，则分摊复杂度可记为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: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i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i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</a:t>
            </a:r>
            <a:endParaRPr lang="el-GR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BEE61BD-9154-4401-BAB2-14392AB6A9F4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pic>
        <p:nvPicPr>
          <p:cNvPr id="6349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925" y="3933825"/>
            <a:ext cx="3876675" cy="1400175"/>
          </a:xfrm>
          <a:prstGeom prst="rect">
            <a:avLst/>
          </a:prstGeom>
          <a:solidFill>
            <a:srgbClr val="CCFFCC">
              <a:alpha val="92940"/>
            </a:srgbClr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645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对</a:t>
            </a:r>
            <a:r>
              <a:rPr lang="en-US" altLang="zh-CN" sz="24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例</a:t>
            </a:r>
            <a:r>
              <a:rPr lang="en-US" altLang="zh-CN" sz="24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4]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而言：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od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的准确运算时间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：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循环执行次数*执行一次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S1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的时间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+</a:t>
            </a:r>
            <a:r>
              <a:rPr lang="el-GR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δ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		  =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od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)*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执行一次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S1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的时间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+ </a:t>
            </a:r>
            <a:r>
              <a:rPr lang="el-GR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δ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执行一次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S1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的时间是常数，视为代价；故：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计算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od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的代价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od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)+</a:t>
            </a:r>
            <a:r>
              <a:rPr lang="el-GR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δ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计算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{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od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|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=0,1,…,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-1}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，其中一个操作的分摊复杂度为：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E2C19AF-A4E2-4962-9856-4AF48269E394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pic>
        <p:nvPicPr>
          <p:cNvPr id="64519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495800"/>
            <a:ext cx="6751638" cy="1390650"/>
          </a:xfrm>
          <a:prstGeom prst="rect">
            <a:avLst/>
          </a:prstGeom>
          <a:solidFill>
            <a:srgbClr val="CCFFCC">
              <a:alpha val="92940"/>
            </a:srgbClr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655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分摊复杂度分析方法：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/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累计法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/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/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势函数法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/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/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捐款记账法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7CB652-E73D-4129-951E-8F601762DF8F}" type="slidenum">
              <a:rPr lang="en-US" altLang="zh-CN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665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累计法</a:t>
            </a:r>
            <a:r>
              <a:rPr lang="en-US" altLang="zh-CN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将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个运算的时间代价相加再求平均。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以</a:t>
            </a:r>
            <a:r>
              <a:rPr lang="en-US" altLang="zh-CN" sz="28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sz="28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例</a:t>
            </a:r>
            <a:r>
              <a:rPr lang="en-US" altLang="zh-CN" sz="28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4]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为例：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假设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=2</a:t>
            </a:r>
            <a:r>
              <a:rPr lang="en-US" altLang="zh-CN" sz="2800" i="1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q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.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在区间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[0,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，有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400" i="1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q</a:t>
            </a:r>
            <a:r>
              <a:rPr lang="en-US" altLang="zh-CN" sz="2400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-1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个偶数，其奇度为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；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在区间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[0,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，有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400" i="1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q</a:t>
            </a:r>
            <a:r>
              <a:rPr lang="en-US" altLang="zh-CN" sz="2400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-2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个为***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01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，其奇度为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；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在区间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[0,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，有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400" i="1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q</a:t>
            </a:r>
            <a:r>
              <a:rPr lang="en-US" altLang="zh-CN" sz="2400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</a:t>
            </a:r>
            <a:r>
              <a:rPr lang="en-US" altLang="zh-CN" sz="2400" i="1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个为***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01…1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，其奇度为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-1(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=1,…,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q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=2</a:t>
            </a:r>
            <a:r>
              <a:rPr lang="en-US" altLang="zh-CN" sz="2400" i="1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q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-1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时，其奇度为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q</a:t>
            </a:r>
            <a:endParaRPr lang="en-US" altLang="zh-CN" sz="2400" i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8F8C2A6-E15E-4500-8087-183EDA9211BD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pic>
        <p:nvPicPr>
          <p:cNvPr id="66567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029200"/>
            <a:ext cx="8686800" cy="1465263"/>
          </a:xfrm>
          <a:prstGeom prst="rect">
            <a:avLst/>
          </a:prstGeom>
          <a:solidFill>
            <a:srgbClr val="CCFFCC">
              <a:alpha val="92940"/>
            </a:srgbClr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675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当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为一般形式时，假设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i="1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q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&lt;2</a:t>
            </a:r>
            <a:r>
              <a:rPr lang="en-US" altLang="zh-CN" i="1" baseline="300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q+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，则：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		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/2-1 ≤ 2</a:t>
            </a:r>
            <a:r>
              <a:rPr lang="en-US" altLang="zh-CN" i="1" baseline="300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q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-1 = 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(2</a:t>
            </a:r>
            <a:r>
              <a:rPr lang="en-US" altLang="zh-CN" i="1" baseline="300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q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) 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                 ≤  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)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		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) ≤ 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(2</a:t>
            </a:r>
            <a:r>
              <a:rPr lang="en-US" altLang="zh-CN" i="1" baseline="300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q+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) = 2</a:t>
            </a:r>
            <a:r>
              <a:rPr lang="en-US" altLang="zh-CN" i="1" baseline="300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q+1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-1&lt;2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-1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即：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/2-1 ≤ 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) &lt; 2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-1                 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)=</a:t>
            </a:r>
            <a:r>
              <a:rPr lang="el-GR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计算一个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od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的分摊复杂度为：	</a:t>
            </a: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 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 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)/</a:t>
            </a:r>
            <a:r>
              <a:rPr lang="en-US" altLang="zh-CN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= </a:t>
            </a:r>
            <a:r>
              <a:rPr lang="el-GR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(1)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317C636-3AD0-4F50-A655-2836306895CE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sp>
        <p:nvSpPr>
          <p:cNvPr id="67591" name="Line 4"/>
          <p:cNvSpPr>
            <a:spLocks noChangeShapeType="1"/>
          </p:cNvSpPr>
          <p:nvPr/>
        </p:nvSpPr>
        <p:spPr bwMode="auto">
          <a:xfrm>
            <a:off x="3635896" y="4365104"/>
            <a:ext cx="18288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686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势函数法</a:t>
            </a:r>
            <a:r>
              <a:rPr lang="en-US" altLang="zh-CN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将操作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看出是将事物从一个状态变成另一状态：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en-US" altLang="zh-CN" sz="24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i-1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OS</a:t>
            </a:r>
            <a:r>
              <a:rPr lang="en-US" altLang="zh-CN" sz="24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endParaRPr lang="en-US" altLang="zh-CN" sz="2400" i="1" baseline="-25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个操作和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+1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个状态可看成是一个序列：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	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……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</a:t>
            </a:r>
            <a:r>
              <a:rPr lang="en-US" altLang="zh-CN" sz="24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en-US" altLang="zh-CN" sz="24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endParaRPr lang="en-US" altLang="zh-CN" sz="2400" i="1" baseline="-25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对每个状态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en-US" altLang="zh-CN" sz="24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，定义值</a:t>
            </a:r>
            <a:r>
              <a:rPr lang="el-GR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Φ</a:t>
            </a:r>
            <a:r>
              <a:rPr lang="en-US" altLang="zh-CN" sz="2400" i="1" baseline="-25000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i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，称其为状态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i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的势函数，称</a:t>
            </a:r>
            <a:r>
              <a:rPr lang="el-GR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Δ</a:t>
            </a:r>
            <a:r>
              <a:rPr lang="el-GR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Φ</a:t>
            </a:r>
            <a:r>
              <a:rPr lang="en-US" altLang="zh-CN" sz="2400" i="1" baseline="-25000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i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为势函数增量：</a:t>
            </a:r>
            <a:endParaRPr lang="zh-CN" altLang="el-GR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	</a:t>
            </a:r>
            <a:r>
              <a:rPr lang="el-GR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Δ</a:t>
            </a:r>
            <a:r>
              <a:rPr lang="el-GR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Φ</a:t>
            </a:r>
            <a:r>
              <a:rPr lang="en-US" altLang="zh-CN" sz="2400" i="1" baseline="-25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l-GR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 </a:t>
            </a:r>
            <a:r>
              <a:rPr lang="el-GR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Φ</a:t>
            </a:r>
            <a:r>
              <a:rPr lang="en-US" altLang="zh-CN" sz="2400" i="1" baseline="-25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– </a:t>
            </a:r>
            <a:r>
              <a:rPr lang="el-GR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Φ</a:t>
            </a:r>
            <a:r>
              <a:rPr lang="en-US" altLang="zh-CN" sz="24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i-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endParaRPr lang="el-GR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l-GR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Δ</a:t>
            </a:r>
            <a:r>
              <a:rPr lang="el-GR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Φ</a:t>
            </a:r>
            <a:r>
              <a:rPr lang="en-US" altLang="zh-CN" sz="2400" i="1" baseline="-25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是由操作引起的势函数的变化。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对势函数要求：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	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lang="en-US" altLang="zh-CN" sz="24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+ </a:t>
            </a:r>
            <a:r>
              <a:rPr lang="el-GR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Δ</a:t>
            </a:r>
            <a:r>
              <a:rPr lang="el-GR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Φ</a:t>
            </a:r>
            <a:r>
              <a:rPr lang="en-US" altLang="zh-CN" sz="2400" i="1" baseline="-25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l-GR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≤ </a:t>
            </a:r>
            <a:r>
              <a:rPr lang="el-GR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β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其中， </a:t>
            </a:r>
            <a:r>
              <a:rPr lang="el-GR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β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与运算的次数</a:t>
            </a:r>
            <a:r>
              <a:rPr lang="en-US" altLang="zh-CN" sz="2400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无关，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lang="en-US" altLang="zh-CN" sz="24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为操作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</a:t>
            </a:r>
            <a:r>
              <a:rPr lang="en-US" altLang="zh-CN" sz="24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的代价。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84375CC-602C-417D-AD66-37EB6D1530C5}" type="slidenum">
              <a:rPr lang="en-US" altLang="zh-CN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696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此时有：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而，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(</a:t>
            </a:r>
            <a:r>
              <a:rPr lang="el-GR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Φ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0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– </a:t>
            </a:r>
            <a:r>
              <a:rPr lang="el-GR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Φ</a:t>
            </a:r>
            <a:r>
              <a:rPr lang="en-US" altLang="zh-CN" sz="28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M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)/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较小，或为负。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因此：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				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)=O(</a:t>
            </a:r>
            <a:r>
              <a:rPr lang="el-GR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β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)			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即：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		分摊复杂度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=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操作实际代价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势函数变化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31A4DC0-FB9C-423B-A8EC-8BA9523E3874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pic>
        <p:nvPicPr>
          <p:cNvPr id="69639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068513"/>
            <a:ext cx="4724400" cy="903287"/>
          </a:xfrm>
          <a:prstGeom prst="rect">
            <a:avLst/>
          </a:prstGeom>
          <a:solidFill>
            <a:srgbClr val="CCFFCC">
              <a:alpha val="92940"/>
            </a:srgbClr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706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以</a:t>
            </a:r>
            <a:r>
              <a:rPr lang="en-US" altLang="zh-CN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例</a:t>
            </a:r>
            <a:r>
              <a:rPr lang="en-US" altLang="zh-CN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4]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为例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将区间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[0,n)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中每个数视为一个状态，其势函数为：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Φ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0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= 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pop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 = (</a:t>
            </a:r>
            <a:r>
              <a:rPr lang="en-US" altLang="zh-CN" sz="2800" i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的二进制表示中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的个数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而：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</a:t>
            </a:r>
            <a:r>
              <a:rPr lang="el-GR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Φ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= </a:t>
            </a:r>
            <a:r>
              <a:rPr lang="el-GR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Φ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– od(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 +1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从而有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由于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pop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)/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是无穷小量，因此：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	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 = </a:t>
            </a:r>
            <a:r>
              <a:rPr lang="el-GR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Θ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	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1A3BB0-3160-4BF3-B7F0-8C2D71AE59A4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pic>
        <p:nvPicPr>
          <p:cNvPr id="7066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950" y="4267200"/>
            <a:ext cx="6134100" cy="942975"/>
          </a:xfrm>
          <a:prstGeom prst="rect">
            <a:avLst/>
          </a:prstGeom>
          <a:solidFill>
            <a:srgbClr val="CCFFCC">
              <a:alpha val="92940"/>
            </a:srgbClr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716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捐款记账法</a:t>
            </a:r>
            <a:r>
              <a:rPr lang="en-US" altLang="zh-CN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  <a:endParaRPr lang="en-US" altLang="zh-CN" sz="2800" b="1" dirty="0" smtClean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按照操作代价进行捐款，用总捐款额度量操作的代价总和。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假设操作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</a:t>
            </a:r>
            <a:r>
              <a:rPr lang="en-US" altLang="zh-CN" sz="28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的代价为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lang="en-US" altLang="zh-CN" sz="28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，所捐款额为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D</a:t>
            </a:r>
            <a:r>
              <a:rPr lang="en-US" altLang="zh-CN" sz="28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，要求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lang="en-US" altLang="zh-CN" sz="28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≤ 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D</a:t>
            </a:r>
            <a:r>
              <a:rPr lang="en-US" altLang="zh-CN" sz="2800" i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，使得：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现实中的两种做法：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/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捐款额大于代价，但设置上届；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/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将操作分类，对不同类型操作捐不同的货币；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2958DD-3B99-4654-80D2-6F6225598359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  <p:pic>
        <p:nvPicPr>
          <p:cNvPr id="71687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50" y="3762375"/>
            <a:ext cx="2762250" cy="496888"/>
          </a:xfrm>
          <a:prstGeom prst="rect">
            <a:avLst/>
          </a:prstGeom>
          <a:solidFill>
            <a:srgbClr val="CCFFCC">
              <a:alpha val="92940"/>
            </a:srgbClr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727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分摊复杂度约定</a:t>
            </a:r>
            <a:endParaRPr lang="zh-CN" altLang="en-US" sz="2800" dirty="0" smtClean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若操作次数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与问题规模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有关，则约定：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</a:t>
            </a:r>
            <a:r>
              <a:rPr lang="el-GR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Ω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)</a:t>
            </a: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即：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	存在常数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&gt;0)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，使得</a:t>
            </a:r>
            <a:r>
              <a:rPr lang="en-US" altLang="zh-CN" sz="2800" i="1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M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2800" i="1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cn</a:t>
            </a:r>
            <a:endParaRPr lang="en-US" altLang="zh-CN" sz="2800" i="1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若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操作次数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与问题规模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无关，则分摊复杂度与时间复杂度等同。</a:t>
            </a:r>
            <a:endParaRPr lang="el-GR" altLang="zh-CN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CBE6A9-F00F-4A38-A5AD-D9632061C28A}" type="slidenum">
              <a:rPr lang="en-US" altLang="zh-CN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1.7 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算法分析技术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空间复杂度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37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算法的存储空间</a:t>
            </a:r>
            <a:endParaRPr lang="zh-CN" altLang="en-US" sz="2400" b="1" dirty="0" smtClean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输入数据所占空间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程序本身所占空间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辅助变量所占空间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空间复杂度</a:t>
            </a:r>
            <a:endParaRPr lang="zh-CN" altLang="en-US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)=O(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))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或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)= </a:t>
            </a:r>
            <a:r>
              <a:rPr lang="el-GR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Θ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))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lang="zh-CN" alt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表示随着问题规模 </a:t>
            </a:r>
            <a:r>
              <a:rPr lang="en-US" altLang="zh-CN" sz="2400" dirty="0" smtClean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 </a:t>
            </a:r>
            <a:r>
              <a:rPr lang="zh-CN" alt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的增大，算法运行所需存储量的增长率与 </a:t>
            </a:r>
            <a:r>
              <a:rPr lang="en-US" altLang="zh-CN" sz="2400" dirty="0" smtClean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f(n) </a:t>
            </a:r>
            <a:r>
              <a:rPr lang="zh-CN" alt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的增长率相同。</a:t>
            </a:r>
            <a:endParaRPr lang="zh-CN" altLang="en-US" sz="2400" dirty="0" smtClean="0">
              <a:solidFill>
                <a:schemeClr val="tx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原地算法</a:t>
            </a:r>
            <a:endParaRPr lang="zh-CN" altLang="en-US" sz="2400" b="1" dirty="0" smtClean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当某个算法空间复杂度为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O(1)</a:t>
            </a:r>
            <a:r>
              <a:rPr lang="zh-CN" alt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时，称该算法为原地算法</a:t>
            </a:r>
            <a:endParaRPr lang="zh-CN" altLang="en-US" sz="2400" dirty="0" smtClean="0">
              <a:solidFill>
                <a:schemeClr val="tx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存储密度</a:t>
            </a:r>
            <a:endParaRPr lang="zh-CN" altLang="en-US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d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</a:t>
            </a:r>
            <a:r>
              <a:rPr lang="zh-CN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数据本身存储量/实际所占存储量</a:t>
            </a:r>
            <a:endParaRPr lang="zh-CN" altLang="en-US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02AF929-65AE-4EE7-8811-5E4897D9C1EC}" type="slidenum">
              <a:rPr lang="en-US" altLang="zh-CN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7" name="Rectangle 2"/>
          <p:cNvSpPr>
            <a:spLocks noChangeArrowheads="1"/>
          </p:cNvSpPr>
          <p:nvPr/>
        </p:nvSpPr>
        <p:spPr bwMode="auto">
          <a:xfrm>
            <a:off x="838200" y="2819400"/>
            <a:ext cx="5943600" cy="2841625"/>
          </a:xfrm>
          <a:prstGeom prst="rect">
            <a:avLst/>
          </a:prstGeom>
          <a:solidFill>
            <a:srgbClr val="CCFFCC">
              <a:alpha val="92940"/>
            </a:srgbClr>
          </a:solidFill>
          <a:ln w="9525" algn="ctr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7475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 smtClean="0">
                <a:ea typeface="华文楷体" panose="02010600040101010101" pitchFamily="2" charset="-122"/>
              </a:rPr>
              <a:t>本章作业</a:t>
            </a:r>
            <a:endParaRPr lang="zh-CN" altLang="en-US" sz="2800" dirty="0" smtClean="0">
              <a:ea typeface="华文楷体" panose="02010600040101010101" pitchFamily="2" charset="-122"/>
            </a:endParaRPr>
          </a:p>
        </p:txBody>
      </p:sp>
      <p:sp>
        <p:nvSpPr>
          <p:cNvPr id="74759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1.  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设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是</a:t>
            </a:r>
            <a:r>
              <a:rPr lang="zh-CN" altLang="en-US" sz="28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偶数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，试计算运行下列程序段后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的值，并给出该程序段的时间复杂度。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endParaRPr lang="en-US" altLang="zh-CN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endParaRPr lang="en-US" altLang="zh-CN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m=0;</a:t>
            </a:r>
            <a:endParaRPr lang="en-US" altLang="zh-CN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for  (</a:t>
            </a:r>
            <a:r>
              <a:rPr lang="en-US" altLang="zh-CN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=1; </a:t>
            </a:r>
            <a:r>
              <a:rPr lang="en-US" altLang="zh-CN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&lt;=n; </a:t>
            </a:r>
            <a:r>
              <a:rPr lang="en-US" altLang="zh-CN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++)</a:t>
            </a:r>
            <a:endParaRPr lang="en-US" altLang="zh-CN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for (j=2*</a:t>
            </a:r>
            <a:r>
              <a:rPr lang="en-US" altLang="zh-CN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; j&lt;=n; </a:t>
            </a:r>
            <a:r>
              <a:rPr lang="en-US" altLang="zh-CN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j++</a:t>
            </a:r>
            <a:r>
              <a:rPr lang="en-US" altLang="zh-CN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 </a:t>
            </a:r>
            <a:endParaRPr lang="en-US" altLang="zh-CN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m=m+1; </a:t>
            </a:r>
            <a:endParaRPr lang="en-US" altLang="zh-CN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B947CB-545E-4A8D-8765-EA5E613144C9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1" name="Rectangle 2"/>
          <p:cNvSpPr>
            <a:spLocks noChangeArrowheads="1"/>
          </p:cNvSpPr>
          <p:nvPr/>
        </p:nvSpPr>
        <p:spPr bwMode="auto">
          <a:xfrm>
            <a:off x="457200" y="2590800"/>
            <a:ext cx="8001000" cy="3810000"/>
          </a:xfrm>
          <a:prstGeom prst="rect">
            <a:avLst/>
          </a:prstGeom>
          <a:solidFill>
            <a:srgbClr val="CCFFCC">
              <a:alpha val="92940"/>
            </a:srgbClr>
          </a:solidFill>
          <a:ln w="9525" algn="ctr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7578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75783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2. 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下列算法对一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位二进制数加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zh-CN" altLang="en-US" sz="2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，假如无溢出，该算法在最坏情况下时间复杂度是什么？并分析它的平均时间复杂度。</a:t>
            </a: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void  </a:t>
            </a:r>
            <a:r>
              <a:rPr lang="en-US" altLang="zh-CN" sz="2400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func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(</a:t>
            </a:r>
            <a:r>
              <a:rPr lang="en-US" altLang="zh-CN" sz="2400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A[n]) 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//A[n]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中每个元素取值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或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，假设下标从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1-&gt;n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{</a:t>
            </a:r>
            <a:endParaRPr lang="en-US" altLang="zh-CN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= n;</a:t>
            </a:r>
            <a:endParaRPr lang="en-US" altLang="zh-CN" sz="20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while (A[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] == 1)</a:t>
            </a:r>
            <a:endParaRPr lang="en-US" altLang="zh-CN" sz="20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{    </a:t>
            </a:r>
            <a:endParaRPr lang="en-US" altLang="zh-CN" sz="20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	      A[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] = 0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；  </a:t>
            </a:r>
            <a:endParaRPr lang="zh-CN" altLang="en-US" sz="20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zh-CN" altLang="en-US" sz="20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--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；</a:t>
            </a:r>
            <a:endParaRPr lang="zh-CN" altLang="en-US" sz="20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zh-CN" altLang="en-US" sz="20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lang="en-US" altLang="zh-CN" sz="20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A[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]=1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；</a:t>
            </a:r>
            <a:endParaRPr lang="zh-CN" altLang="en-US" sz="20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} </a:t>
            </a:r>
            <a:endParaRPr lang="en-US" altLang="zh-CN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284EE84-A277-4BB7-BBBA-C1925116DB76}" type="slidenum">
              <a:rPr lang="en-US" altLang="zh-CN"/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5576" y="2204864"/>
            <a:ext cx="7344816" cy="3672408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8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768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3. 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调用下列函数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f(n) 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回答下列问题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:</a:t>
            </a:r>
            <a:endParaRPr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（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） 试给出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f(n)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值的大小，并写出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f(n) 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值的推导过程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（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） 假定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n= 5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，试指出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f(5)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值的大小和执行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f(5)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时的输出结果 。   </a:t>
            </a:r>
            <a:endParaRPr lang="zh-CN" altLang="en-US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endParaRPr lang="zh-CN" altLang="en-US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zh-CN" sz="1800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f(</a:t>
            </a:r>
            <a:r>
              <a:rPr lang="en-US" altLang="zh-CN" sz="1800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n)</a:t>
            </a:r>
            <a:endParaRPr lang="en-US" altLang="zh-CN" sz="18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zh-CN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{</a:t>
            </a:r>
            <a:endParaRPr lang="en-US" altLang="zh-CN" sz="18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zh-CN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	      </a:t>
            </a:r>
            <a:r>
              <a:rPr lang="en-US" altLang="zh-CN" sz="1800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800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, j</a:t>
            </a:r>
            <a:r>
              <a:rPr lang="zh-CN" altLang="en-US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lang="en-US" altLang="zh-CN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k, sum= 0;</a:t>
            </a:r>
            <a:endParaRPr lang="en-US" altLang="zh-CN" sz="18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zh-CN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for(</a:t>
            </a:r>
            <a:r>
              <a:rPr lang="en-US" altLang="zh-CN" sz="1800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=1; </a:t>
            </a:r>
            <a:r>
              <a:rPr lang="en-US" altLang="zh-CN" sz="1800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&lt;n+1;i++)</a:t>
            </a:r>
            <a:endParaRPr lang="en-US" altLang="zh-CN" sz="18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zh-CN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{</a:t>
            </a:r>
            <a:endParaRPr lang="en-US" altLang="zh-CN" sz="18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zh-CN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for(j=n; j&gt;i-1; j--)</a:t>
            </a:r>
            <a:endParaRPr lang="en-US" altLang="zh-CN" sz="18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zh-CN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 for(k=1; k&lt;j+1; k++ ) </a:t>
            </a:r>
            <a:endParaRPr lang="en-US" altLang="zh-CN" sz="18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zh-CN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          sum++;</a:t>
            </a:r>
            <a:endParaRPr lang="en-US" altLang="zh-CN" sz="18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zh-CN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</a:t>
            </a:r>
            <a:r>
              <a:rPr lang="en-US" altLang="zh-CN" sz="1800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printf</a:t>
            </a:r>
            <a:r>
              <a:rPr lang="en-US" altLang="zh-CN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("sum=%d\</a:t>
            </a:r>
            <a:r>
              <a:rPr lang="en-US" altLang="zh-CN" sz="1800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n",sum</a:t>
            </a:r>
            <a:r>
              <a:rPr lang="en-US" altLang="zh-CN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；</a:t>
            </a:r>
            <a:endParaRPr lang="zh-CN" altLang="en-US" sz="18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zh-CN" altLang="en-US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</a:t>
            </a:r>
            <a:r>
              <a:rPr lang="en-US" altLang="zh-CN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lang="en-US" altLang="zh-CN" sz="18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zh-CN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return (sum);</a:t>
            </a:r>
            <a:endParaRPr lang="en-US" altLang="zh-CN" sz="18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zh-CN" sz="1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} </a:t>
            </a:r>
            <a:endParaRPr lang="en-US" altLang="zh-CN" sz="18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E1C9A69-1445-4A18-98DE-7B7508476786}" type="slidenum">
              <a:rPr lang="en-US" altLang="zh-CN"/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PA" val="v5.2.2"/>
</p:tagLst>
</file>

<file path=ppt/tags/tag2.xml><?xml version="1.0" encoding="utf-8"?>
<p:tagLst xmlns:p="http://schemas.openxmlformats.org/presentationml/2006/main">
  <p:tag name="PA" val="v5.2.2"/>
</p:tagLst>
</file>

<file path=ppt/tags/tag3.xml><?xml version="1.0" encoding="utf-8"?>
<p:tagLst xmlns:p="http://schemas.openxmlformats.org/presentationml/2006/main">
  <p:tag name="PA" val="v5.2.2"/>
</p:tagLst>
</file>

<file path=ppt/tags/tag4.xml><?xml version="1.0" encoding="utf-8"?>
<p:tagLst xmlns:p="http://schemas.openxmlformats.org/presentationml/2006/main">
  <p:tag name="PA" val="v5.2.2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PA" val="v5.2.2"/>
</p:tagLst>
</file>

<file path=ppt/tags/tag13.xml><?xml version="1.0" encoding="utf-8"?>
<p:tagLst xmlns:p="http://schemas.openxmlformats.org/presentationml/2006/main">
  <p:tag name="PA" val="v5.2.2"/>
</p:tagLst>
</file>

<file path=ppt/tags/tag14.xml><?xml version="1.0" encoding="utf-8"?>
<p:tagLst xmlns:p="http://schemas.openxmlformats.org/presentationml/2006/main">
  <p:tag name="PA" val="v5.2.2"/>
</p:tagLst>
</file>

<file path=ppt/tags/tag15.xml><?xml version="1.0" encoding="utf-8"?>
<p:tagLst xmlns:p="http://schemas.openxmlformats.org/presentationml/2006/main">
  <p:tag name="PA" val="v5.2.2"/>
</p:tagLst>
</file>

<file path=ppt/tags/tag16.xml><?xml version="1.0" encoding="utf-8"?>
<p:tagLst xmlns:p="http://schemas.openxmlformats.org/presentationml/2006/main">
  <p:tag name="PA" val="v5.2.2"/>
</p:tagLst>
</file>

<file path=ppt/tags/tag17.xml><?xml version="1.0" encoding="utf-8"?>
<p:tagLst xmlns:p="http://schemas.openxmlformats.org/presentationml/2006/main">
  <p:tag name="PA" val="v5.2.2"/>
</p:tagLst>
</file>

<file path=ppt/tags/tag18.xml><?xml version="1.0" encoding="utf-8"?>
<p:tagLst xmlns:p="http://schemas.openxmlformats.org/presentationml/2006/main">
  <p:tag name="PA" val="v5.2.2"/>
</p:tagLst>
</file>

<file path=ppt/tags/tag19.xml><?xml version="1.0" encoding="utf-8"?>
<p:tagLst xmlns:p="http://schemas.openxmlformats.org/presentationml/2006/main">
  <p:tag name="PA" val="v5.2.2"/>
</p:tagLst>
</file>

<file path=ppt/tags/tag20.xml><?xml version="1.0" encoding="utf-8"?>
<p:tagLst xmlns:p="http://schemas.openxmlformats.org/presentationml/2006/main">
  <p:tag name="PA" val="v5.2.2"/>
</p:tagLst>
</file>

<file path=ppt/theme/theme1.xml><?xml version="1.0" encoding="utf-8"?>
<a:theme xmlns:a="http://schemas.openxmlformats.org/drawingml/2006/main" name="1_国外精美的的PPT模板及图标之二">
  <a:themeElements>
    <a:clrScheme name="1_国外精美的的PPT模板及图标之二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1_国外精美的的PPT模板及图标之二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1_国外精美的的PPT模板及图标之二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国外精美的的PPT模板及图标之二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国外精美的的PPT模板及图标之二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14121</Words>
  <Application>WPS 演示</Application>
  <PresentationFormat>全屏显示(4:3)</PresentationFormat>
  <Paragraphs>1722</Paragraphs>
  <Slides>89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89</vt:i4>
      </vt:variant>
    </vt:vector>
  </HeadingPairs>
  <TitlesOfParts>
    <vt:vector size="106" baseType="lpstr">
      <vt:lpstr>Arial</vt:lpstr>
      <vt:lpstr>宋体</vt:lpstr>
      <vt:lpstr>Wingdings</vt:lpstr>
      <vt:lpstr>华文楷体</vt:lpstr>
      <vt:lpstr>Verdana</vt:lpstr>
      <vt:lpstr>Times New Roman</vt:lpstr>
      <vt:lpstr>隶书</vt:lpstr>
      <vt:lpstr>微软雅黑</vt:lpstr>
      <vt:lpstr>Arial Unicode MS</vt:lpstr>
      <vt:lpstr>楷体_GB2312</vt:lpstr>
      <vt:lpstr>新宋体</vt:lpstr>
      <vt:lpstr>黑体</vt:lpstr>
      <vt:lpstr>Symbol</vt:lpstr>
      <vt:lpstr>Cambria Math</vt:lpstr>
      <vt:lpstr>华文彩云</vt:lpstr>
      <vt:lpstr>1_国外精美的的PPT模板及图标之二</vt:lpstr>
      <vt:lpstr>Word.Document.8</vt:lpstr>
      <vt:lpstr>第一章  绪论</vt:lpstr>
      <vt:lpstr>课程说明</vt:lpstr>
      <vt:lpstr>PowerPoint 演示文稿</vt:lpstr>
      <vt:lpstr>PowerPoint 演示文稿</vt:lpstr>
      <vt:lpstr>智能时代已经到来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本章内容</vt:lpstr>
      <vt:lpstr>1.1 预备知识</vt:lpstr>
      <vt:lpstr>PowerPoint 演示文稿</vt:lpstr>
      <vt:lpstr>利用计算机解决问题的步骤</vt:lpstr>
      <vt:lpstr>PowerPoint 演示文稿</vt:lpstr>
      <vt:lpstr>[例]  查找某人的社会关系</vt:lpstr>
      <vt:lpstr>PowerPoint 演示文稿</vt:lpstr>
      <vt:lpstr>         存储方案1：                        存储方案2：                       存储方案3： </vt:lpstr>
      <vt:lpstr>C/C++常见问题回顾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1.2  基本概念和术语</vt:lpstr>
      <vt:lpstr>PowerPoint 演示文稿</vt:lpstr>
      <vt:lpstr>PowerPoint 演示文稿</vt:lpstr>
      <vt:lpstr>1.3 逻辑结构</vt:lpstr>
      <vt:lpstr>四种基本的逻辑结构</vt:lpstr>
      <vt:lpstr>1.4 操作</vt:lpstr>
      <vt:lpstr>1.5 存储结构</vt:lpstr>
      <vt:lpstr>PowerPoint 演示文稿</vt:lpstr>
      <vt:lpstr>PowerPoint 演示文稿</vt:lpstr>
      <vt:lpstr>1.6  算法的基本概念</vt:lpstr>
      <vt:lpstr>算法设计方法</vt:lpstr>
      <vt:lpstr>算法性能度量</vt:lpstr>
      <vt:lpstr>算法性能评价标准</vt:lpstr>
      <vt:lpstr>算法的后期测试</vt:lpstr>
      <vt:lpstr>PowerPoint 演示文稿</vt:lpstr>
      <vt:lpstr>PowerPoint 演示文稿</vt:lpstr>
      <vt:lpstr>程序测试结果输出</vt:lpstr>
      <vt:lpstr>算法的事前估计</vt:lpstr>
      <vt:lpstr>时间复杂度度量</vt:lpstr>
      <vt:lpstr>空间复杂度度量</vt:lpstr>
      <vt:lpstr>1.7 算法分析技术-无穷大的阶</vt:lpstr>
      <vt:lpstr>PowerPoint 演示文稿</vt:lpstr>
      <vt:lpstr>PowerPoint 演示文稿</vt:lpstr>
      <vt:lpstr>1.7 算法分析技术-一些重要的函数和序列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1.7 算法分析技术-时间复杂度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1.7 算法分析技术-分摊复杂度***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1.7 算法分析技术-空间复杂度</vt:lpstr>
      <vt:lpstr>本章作业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本章内容</dc:title>
  <dc:creator>xush</dc:creator>
  <cp:lastModifiedBy>岁月无声</cp:lastModifiedBy>
  <cp:revision>344</cp:revision>
  <cp:lastPrinted>2000-02-22T03:30:00Z</cp:lastPrinted>
  <dcterms:created xsi:type="dcterms:W3CDTF">2000-02-21T01:53:00Z</dcterms:created>
  <dcterms:modified xsi:type="dcterms:W3CDTF">2025-09-04T06:16:59Z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66FF222723B14F189466E26A1FF6EC9A_12</vt:lpwstr>
  </property>
  <property fmtid="{D5CDD505-2E9C-101B-9397-08002B2CF9AE}" pid="3" name="KSOProductBuildVer">
    <vt:lpwstr>2052-12.1.0.21915</vt:lpwstr>
  </property>
</Properties>
</file>